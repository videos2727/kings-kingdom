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06" r:id="rId1"/>
  </p:sldMasterIdLst>
  <p:notesMasterIdLst>
    <p:notesMasterId r:id="rId17"/>
  </p:notesMasterIdLst>
  <p:sldIdLst>
    <p:sldId id="262" r:id="rId2"/>
    <p:sldId id="285" r:id="rId3"/>
    <p:sldId id="593" r:id="rId4"/>
    <p:sldId id="594" r:id="rId5"/>
    <p:sldId id="616" r:id="rId6"/>
    <p:sldId id="614" r:id="rId7"/>
    <p:sldId id="622" r:id="rId8"/>
    <p:sldId id="620" r:id="rId9"/>
    <p:sldId id="601" r:id="rId10"/>
    <p:sldId id="626" r:id="rId11"/>
    <p:sldId id="619" r:id="rId12"/>
    <p:sldId id="407" r:id="rId13"/>
    <p:sldId id="597" r:id="rId14"/>
    <p:sldId id="598" r:id="rId15"/>
    <p:sldId id="61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A00"/>
    <a:srgbClr val="E4650C"/>
    <a:srgbClr val="FF9300"/>
    <a:srgbClr val="FF2F92"/>
    <a:srgbClr val="0096FF"/>
    <a:srgbClr val="D883FF"/>
    <a:srgbClr val="943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75"/>
    <p:restoredTop sz="83008"/>
  </p:normalViewPr>
  <p:slideViewPr>
    <p:cSldViewPr snapToGrid="0">
      <p:cViewPr varScale="1">
        <p:scale>
          <a:sx n="94" d="100"/>
          <a:sy n="94" d="100"/>
        </p:scale>
        <p:origin x="114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925D76E-EC58-4998-AAB4-B13CD039A6B0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70A902F-D177-41C8-8291-0C68BD9FCA3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Placed around the room are response cards </a:t>
          </a:r>
        </a:p>
      </dgm:t>
    </dgm:pt>
    <dgm:pt modelId="{E677CDB8-CD7C-40BE-9C5D-E813A8B81BEC}" type="parTrans" cxnId="{2D1CE0BB-49E7-4FC1-BE2A-4EB1AE8844F1}">
      <dgm:prSet/>
      <dgm:spPr/>
      <dgm:t>
        <a:bodyPr/>
        <a:lstStyle/>
        <a:p>
          <a:endParaRPr lang="en-US"/>
        </a:p>
      </dgm:t>
    </dgm:pt>
    <dgm:pt modelId="{8C11CB5B-93AB-4B30-8DF7-CF433AB62CCA}" type="sibTrans" cxnId="{2D1CE0BB-49E7-4FC1-BE2A-4EB1AE8844F1}">
      <dgm:prSet/>
      <dgm:spPr/>
      <dgm:t>
        <a:bodyPr/>
        <a:lstStyle/>
        <a:p>
          <a:endParaRPr lang="en-US"/>
        </a:p>
      </dgm:t>
    </dgm:pt>
    <dgm:pt modelId="{21226F8E-9C82-45F3-AABE-FBF830F6F89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 dirty="0"/>
            <a:t>Strongly Agree </a:t>
          </a:r>
          <a:r>
            <a:rPr lang="en-US" sz="2400" dirty="0">
              <a:sym typeface="Wingdings" panose="05000000000000000000" pitchFamily="2" charset="2"/>
            </a:rPr>
            <a:t></a:t>
          </a:r>
          <a:r>
            <a:rPr lang="en-US" sz="2400" dirty="0"/>
            <a:t> Strongly Disagree</a:t>
          </a:r>
        </a:p>
      </dgm:t>
    </dgm:pt>
    <dgm:pt modelId="{1F9CA17A-2682-46EA-8CA2-FCF306E02D92}" type="parTrans" cxnId="{558A5905-92D6-47EF-AAFB-0EFCF3BA989B}">
      <dgm:prSet/>
      <dgm:spPr/>
      <dgm:t>
        <a:bodyPr/>
        <a:lstStyle/>
        <a:p>
          <a:endParaRPr lang="en-US"/>
        </a:p>
      </dgm:t>
    </dgm:pt>
    <dgm:pt modelId="{F3EEE2D8-BF2B-4E1C-A1B9-5FD4ED8DD5D3}" type="sibTrans" cxnId="{558A5905-92D6-47EF-AAFB-0EFCF3BA989B}">
      <dgm:prSet/>
      <dgm:spPr/>
      <dgm:t>
        <a:bodyPr/>
        <a:lstStyle/>
        <a:p>
          <a:endParaRPr lang="en-US"/>
        </a:p>
      </dgm:t>
    </dgm:pt>
    <dgm:pt modelId="{A2599C3D-FF1A-410C-A98A-FC1E6F81FF7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Your teacher will read out a statement and you need to decide how you feel about it and move to the card that best describes how you feel. </a:t>
          </a:r>
        </a:p>
      </dgm:t>
    </dgm:pt>
    <dgm:pt modelId="{51C0F6D7-EAE2-4AD9-B4AC-99D51A73F2FB}" type="parTrans" cxnId="{F3966E25-B518-4A8A-9CFE-7F77C2BD90F3}">
      <dgm:prSet/>
      <dgm:spPr/>
      <dgm:t>
        <a:bodyPr/>
        <a:lstStyle/>
        <a:p>
          <a:endParaRPr lang="en-US"/>
        </a:p>
      </dgm:t>
    </dgm:pt>
    <dgm:pt modelId="{A45A7E49-1834-4C5D-9752-5593FD8BBDE3}" type="sibTrans" cxnId="{F3966E25-B518-4A8A-9CFE-7F77C2BD90F3}">
      <dgm:prSet/>
      <dgm:spPr/>
      <dgm:t>
        <a:bodyPr/>
        <a:lstStyle/>
        <a:p>
          <a:endParaRPr lang="en-US"/>
        </a:p>
      </dgm:t>
    </dgm:pt>
    <dgm:pt modelId="{3E39DEC6-B849-4426-8332-216176B02DF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When doing this activity, really think about </a:t>
          </a:r>
          <a:r>
            <a:rPr lang="en-US" b="1" u="sng" dirty="0"/>
            <a:t>WHY</a:t>
          </a:r>
          <a:r>
            <a:rPr lang="en-US" dirty="0"/>
            <a:t> you feel that way. </a:t>
          </a:r>
        </a:p>
        <a:p>
          <a:pPr>
            <a:lnSpc>
              <a:spcPct val="100000"/>
            </a:lnSpc>
          </a:pPr>
          <a:r>
            <a:rPr lang="en-US" dirty="0"/>
            <a:t>Be prepared to share your response and reasoning.</a:t>
          </a:r>
        </a:p>
      </dgm:t>
    </dgm:pt>
    <dgm:pt modelId="{F6A88918-C76D-4F6C-AAF8-A9CAFF2DDE68}" type="parTrans" cxnId="{08EBDBE2-B977-43E5-9567-0AE3153B947D}">
      <dgm:prSet/>
      <dgm:spPr/>
      <dgm:t>
        <a:bodyPr/>
        <a:lstStyle/>
        <a:p>
          <a:endParaRPr lang="en-US"/>
        </a:p>
      </dgm:t>
    </dgm:pt>
    <dgm:pt modelId="{4B956BF0-4A18-44AB-9F6B-8E70B31AAEDA}" type="sibTrans" cxnId="{08EBDBE2-B977-43E5-9567-0AE3153B947D}">
      <dgm:prSet/>
      <dgm:spPr/>
      <dgm:t>
        <a:bodyPr/>
        <a:lstStyle/>
        <a:p>
          <a:endParaRPr lang="en-US"/>
        </a:p>
      </dgm:t>
    </dgm:pt>
    <dgm:pt modelId="{37E636D3-7329-4D03-8F4A-0B8B48414723}" type="pres">
      <dgm:prSet presAssocID="{A925D76E-EC58-4998-AAB4-B13CD039A6B0}" presName="root" presStyleCnt="0">
        <dgm:presLayoutVars>
          <dgm:dir/>
          <dgm:resizeHandles val="exact"/>
        </dgm:presLayoutVars>
      </dgm:prSet>
      <dgm:spPr/>
    </dgm:pt>
    <dgm:pt modelId="{6DA74D99-FA3F-40F6-B7F4-BB6CFE47DCFB}" type="pres">
      <dgm:prSet presAssocID="{D70A902F-D177-41C8-8291-0C68BD9FCA34}" presName="compNode" presStyleCnt="0"/>
      <dgm:spPr/>
    </dgm:pt>
    <dgm:pt modelId="{83ADF342-61C8-41B5-86DF-B8E578DAA602}" type="pres">
      <dgm:prSet presAssocID="{D70A902F-D177-41C8-8291-0C68BD9FCA34}" presName="bgRect" presStyleLbl="bgShp" presStyleIdx="0" presStyleCnt="3"/>
      <dgm:spPr/>
    </dgm:pt>
    <dgm:pt modelId="{D0EAB6C1-3526-4971-A1D2-1F45F464DD69}" type="pres">
      <dgm:prSet presAssocID="{D70A902F-D177-41C8-8291-0C68BD9FCA3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miling Face with No Fill"/>
        </a:ext>
      </dgm:extLst>
    </dgm:pt>
    <dgm:pt modelId="{4EC35A75-01DB-4D37-9D40-D01743A58A66}" type="pres">
      <dgm:prSet presAssocID="{D70A902F-D177-41C8-8291-0C68BD9FCA34}" presName="spaceRect" presStyleCnt="0"/>
      <dgm:spPr/>
    </dgm:pt>
    <dgm:pt modelId="{9002E3D5-3FCD-4CEA-A313-A8AAEDEFE558}" type="pres">
      <dgm:prSet presAssocID="{D70A902F-D177-41C8-8291-0C68BD9FCA34}" presName="parTx" presStyleLbl="revTx" presStyleIdx="0" presStyleCnt="4">
        <dgm:presLayoutVars>
          <dgm:chMax val="0"/>
          <dgm:chPref val="0"/>
        </dgm:presLayoutVars>
      </dgm:prSet>
      <dgm:spPr/>
    </dgm:pt>
    <dgm:pt modelId="{36F26006-4E54-4DE2-A4AE-9E00DF875068}" type="pres">
      <dgm:prSet presAssocID="{D70A902F-D177-41C8-8291-0C68BD9FCA34}" presName="desTx" presStyleLbl="revTx" presStyleIdx="1" presStyleCnt="4">
        <dgm:presLayoutVars/>
      </dgm:prSet>
      <dgm:spPr/>
    </dgm:pt>
    <dgm:pt modelId="{504F2D9F-0840-44F9-9B28-54056939553C}" type="pres">
      <dgm:prSet presAssocID="{8C11CB5B-93AB-4B30-8DF7-CF433AB62CCA}" presName="sibTrans" presStyleCnt="0"/>
      <dgm:spPr/>
    </dgm:pt>
    <dgm:pt modelId="{93C900CC-F566-49E2-9E82-2C78FDB3C244}" type="pres">
      <dgm:prSet presAssocID="{A2599C3D-FF1A-410C-A98A-FC1E6F81FF72}" presName="compNode" presStyleCnt="0"/>
      <dgm:spPr/>
    </dgm:pt>
    <dgm:pt modelId="{94D466C9-3006-4E39-A4B3-6AE0F4D3D293}" type="pres">
      <dgm:prSet presAssocID="{A2599C3D-FF1A-410C-A98A-FC1E6F81FF72}" presName="bgRect" presStyleLbl="bgShp" presStyleIdx="1" presStyleCnt="3"/>
      <dgm:spPr/>
    </dgm:pt>
    <dgm:pt modelId="{DBB8625B-3413-462D-8E7F-FD8DE7E7F53B}" type="pres">
      <dgm:prSet presAssocID="{A2599C3D-FF1A-410C-A98A-FC1E6F81FF7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9BE49C39-9B59-49EB-9A11-944ADECF868D}" type="pres">
      <dgm:prSet presAssocID="{A2599C3D-FF1A-410C-A98A-FC1E6F81FF72}" presName="spaceRect" presStyleCnt="0"/>
      <dgm:spPr/>
    </dgm:pt>
    <dgm:pt modelId="{6A307F96-5D8D-494A-8D5F-E7343041F49C}" type="pres">
      <dgm:prSet presAssocID="{A2599C3D-FF1A-410C-A98A-FC1E6F81FF72}" presName="parTx" presStyleLbl="revTx" presStyleIdx="2" presStyleCnt="4">
        <dgm:presLayoutVars>
          <dgm:chMax val="0"/>
          <dgm:chPref val="0"/>
        </dgm:presLayoutVars>
      </dgm:prSet>
      <dgm:spPr/>
    </dgm:pt>
    <dgm:pt modelId="{EA89BE3A-745F-419C-B4A7-239B44AE8963}" type="pres">
      <dgm:prSet presAssocID="{A45A7E49-1834-4C5D-9752-5593FD8BBDE3}" presName="sibTrans" presStyleCnt="0"/>
      <dgm:spPr/>
    </dgm:pt>
    <dgm:pt modelId="{0EB3406B-94A9-4BEA-84A2-0FB7B53FE7A5}" type="pres">
      <dgm:prSet presAssocID="{3E39DEC6-B849-4426-8332-216176B02DFE}" presName="compNode" presStyleCnt="0"/>
      <dgm:spPr/>
    </dgm:pt>
    <dgm:pt modelId="{FADDB4BA-31F4-4DEC-9336-77A71272B5B7}" type="pres">
      <dgm:prSet presAssocID="{3E39DEC6-B849-4426-8332-216176B02DFE}" presName="bgRect" presStyleLbl="bgShp" presStyleIdx="2" presStyleCnt="3"/>
      <dgm:spPr/>
    </dgm:pt>
    <dgm:pt modelId="{3128BCAC-E4DC-4266-B9B1-70A62CDA1C15}" type="pres">
      <dgm:prSet presAssocID="{3E39DEC6-B849-4426-8332-216176B02DF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ustomer Review"/>
        </a:ext>
      </dgm:extLst>
    </dgm:pt>
    <dgm:pt modelId="{10D0DCF4-BE82-4781-9081-620B715AA7C2}" type="pres">
      <dgm:prSet presAssocID="{3E39DEC6-B849-4426-8332-216176B02DFE}" presName="spaceRect" presStyleCnt="0"/>
      <dgm:spPr/>
    </dgm:pt>
    <dgm:pt modelId="{EA23042D-B88D-4414-BA99-7FEEC45F0541}" type="pres">
      <dgm:prSet presAssocID="{3E39DEC6-B849-4426-8332-216176B02DFE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558A5905-92D6-47EF-AAFB-0EFCF3BA989B}" srcId="{D70A902F-D177-41C8-8291-0C68BD9FCA34}" destId="{21226F8E-9C82-45F3-AABE-FBF830F6F899}" srcOrd="0" destOrd="0" parTransId="{1F9CA17A-2682-46EA-8CA2-FCF306E02D92}" sibTransId="{F3EEE2D8-BF2B-4E1C-A1B9-5FD4ED8DD5D3}"/>
    <dgm:cxn modelId="{8F0F0306-4F44-4687-804F-31F37EC4FE76}" type="presOf" srcId="{3E39DEC6-B849-4426-8332-216176B02DFE}" destId="{EA23042D-B88D-4414-BA99-7FEEC45F0541}" srcOrd="0" destOrd="0" presId="urn:microsoft.com/office/officeart/2018/2/layout/IconVerticalSolidList"/>
    <dgm:cxn modelId="{41881108-A7B4-4EA6-B7E8-6023A941BEFF}" type="presOf" srcId="{A925D76E-EC58-4998-AAB4-B13CD039A6B0}" destId="{37E636D3-7329-4D03-8F4A-0B8B48414723}" srcOrd="0" destOrd="0" presId="urn:microsoft.com/office/officeart/2018/2/layout/IconVerticalSolidList"/>
    <dgm:cxn modelId="{F3966E25-B518-4A8A-9CFE-7F77C2BD90F3}" srcId="{A925D76E-EC58-4998-AAB4-B13CD039A6B0}" destId="{A2599C3D-FF1A-410C-A98A-FC1E6F81FF72}" srcOrd="1" destOrd="0" parTransId="{51C0F6D7-EAE2-4AD9-B4AC-99D51A73F2FB}" sibTransId="{A45A7E49-1834-4C5D-9752-5593FD8BBDE3}"/>
    <dgm:cxn modelId="{44A935A1-6282-4ECE-B7A0-1248A2C0E952}" type="presOf" srcId="{A2599C3D-FF1A-410C-A98A-FC1E6F81FF72}" destId="{6A307F96-5D8D-494A-8D5F-E7343041F49C}" srcOrd="0" destOrd="0" presId="urn:microsoft.com/office/officeart/2018/2/layout/IconVerticalSolidList"/>
    <dgm:cxn modelId="{60DAC9B4-4CD2-4515-A65F-92D85E366817}" type="presOf" srcId="{D70A902F-D177-41C8-8291-0C68BD9FCA34}" destId="{9002E3D5-3FCD-4CEA-A313-A8AAEDEFE558}" srcOrd="0" destOrd="0" presId="urn:microsoft.com/office/officeart/2018/2/layout/IconVerticalSolidList"/>
    <dgm:cxn modelId="{2D1CE0BB-49E7-4FC1-BE2A-4EB1AE8844F1}" srcId="{A925D76E-EC58-4998-AAB4-B13CD039A6B0}" destId="{D70A902F-D177-41C8-8291-0C68BD9FCA34}" srcOrd="0" destOrd="0" parTransId="{E677CDB8-CD7C-40BE-9C5D-E813A8B81BEC}" sibTransId="{8C11CB5B-93AB-4B30-8DF7-CF433AB62CCA}"/>
    <dgm:cxn modelId="{6A3FC3CD-0700-47A4-84C2-D7407ED2A289}" type="presOf" srcId="{21226F8E-9C82-45F3-AABE-FBF830F6F899}" destId="{36F26006-4E54-4DE2-A4AE-9E00DF875068}" srcOrd="0" destOrd="0" presId="urn:microsoft.com/office/officeart/2018/2/layout/IconVerticalSolidList"/>
    <dgm:cxn modelId="{08EBDBE2-B977-43E5-9567-0AE3153B947D}" srcId="{A925D76E-EC58-4998-AAB4-B13CD039A6B0}" destId="{3E39DEC6-B849-4426-8332-216176B02DFE}" srcOrd="2" destOrd="0" parTransId="{F6A88918-C76D-4F6C-AAF8-A9CAFF2DDE68}" sibTransId="{4B956BF0-4A18-44AB-9F6B-8E70B31AAEDA}"/>
    <dgm:cxn modelId="{802217BF-9BFE-455A-8B53-3ED546A13DEE}" type="presParOf" srcId="{37E636D3-7329-4D03-8F4A-0B8B48414723}" destId="{6DA74D99-FA3F-40F6-B7F4-BB6CFE47DCFB}" srcOrd="0" destOrd="0" presId="urn:microsoft.com/office/officeart/2018/2/layout/IconVerticalSolidList"/>
    <dgm:cxn modelId="{C0461017-1C81-4570-9DE0-56022AA086B3}" type="presParOf" srcId="{6DA74D99-FA3F-40F6-B7F4-BB6CFE47DCFB}" destId="{83ADF342-61C8-41B5-86DF-B8E578DAA602}" srcOrd="0" destOrd="0" presId="urn:microsoft.com/office/officeart/2018/2/layout/IconVerticalSolidList"/>
    <dgm:cxn modelId="{D44B9411-3F29-46FF-BCFB-BB3218B6C3DD}" type="presParOf" srcId="{6DA74D99-FA3F-40F6-B7F4-BB6CFE47DCFB}" destId="{D0EAB6C1-3526-4971-A1D2-1F45F464DD69}" srcOrd="1" destOrd="0" presId="urn:microsoft.com/office/officeart/2018/2/layout/IconVerticalSolidList"/>
    <dgm:cxn modelId="{3B0F729B-CE79-4339-A75A-B9DED8567064}" type="presParOf" srcId="{6DA74D99-FA3F-40F6-B7F4-BB6CFE47DCFB}" destId="{4EC35A75-01DB-4D37-9D40-D01743A58A66}" srcOrd="2" destOrd="0" presId="urn:microsoft.com/office/officeart/2018/2/layout/IconVerticalSolidList"/>
    <dgm:cxn modelId="{D7E51B09-C302-4784-83A2-037A01ED71EC}" type="presParOf" srcId="{6DA74D99-FA3F-40F6-B7F4-BB6CFE47DCFB}" destId="{9002E3D5-3FCD-4CEA-A313-A8AAEDEFE558}" srcOrd="3" destOrd="0" presId="urn:microsoft.com/office/officeart/2018/2/layout/IconVerticalSolidList"/>
    <dgm:cxn modelId="{C07BA142-5BD2-4FCC-900B-A1733AFDBB75}" type="presParOf" srcId="{6DA74D99-FA3F-40F6-B7F4-BB6CFE47DCFB}" destId="{36F26006-4E54-4DE2-A4AE-9E00DF875068}" srcOrd="4" destOrd="0" presId="urn:microsoft.com/office/officeart/2018/2/layout/IconVerticalSolidList"/>
    <dgm:cxn modelId="{F635561C-B268-48BB-943A-95B526DEA70C}" type="presParOf" srcId="{37E636D3-7329-4D03-8F4A-0B8B48414723}" destId="{504F2D9F-0840-44F9-9B28-54056939553C}" srcOrd="1" destOrd="0" presId="urn:microsoft.com/office/officeart/2018/2/layout/IconVerticalSolidList"/>
    <dgm:cxn modelId="{EC150FA8-A40C-4D55-9815-37CB28191E34}" type="presParOf" srcId="{37E636D3-7329-4D03-8F4A-0B8B48414723}" destId="{93C900CC-F566-49E2-9E82-2C78FDB3C244}" srcOrd="2" destOrd="0" presId="urn:microsoft.com/office/officeart/2018/2/layout/IconVerticalSolidList"/>
    <dgm:cxn modelId="{FDC63F8B-6548-42C8-BF41-EA6ED001080B}" type="presParOf" srcId="{93C900CC-F566-49E2-9E82-2C78FDB3C244}" destId="{94D466C9-3006-4E39-A4B3-6AE0F4D3D293}" srcOrd="0" destOrd="0" presId="urn:microsoft.com/office/officeart/2018/2/layout/IconVerticalSolidList"/>
    <dgm:cxn modelId="{7ACEBA9A-5708-47C7-B4B2-3F980EA507EF}" type="presParOf" srcId="{93C900CC-F566-49E2-9E82-2C78FDB3C244}" destId="{DBB8625B-3413-462D-8E7F-FD8DE7E7F53B}" srcOrd="1" destOrd="0" presId="urn:microsoft.com/office/officeart/2018/2/layout/IconVerticalSolidList"/>
    <dgm:cxn modelId="{BCF915A3-AA49-446F-A8B4-4A76C6448468}" type="presParOf" srcId="{93C900CC-F566-49E2-9E82-2C78FDB3C244}" destId="{9BE49C39-9B59-49EB-9A11-944ADECF868D}" srcOrd="2" destOrd="0" presId="urn:microsoft.com/office/officeart/2018/2/layout/IconVerticalSolidList"/>
    <dgm:cxn modelId="{B8A4178A-6ED7-4079-973B-62A809B5FEB1}" type="presParOf" srcId="{93C900CC-F566-49E2-9E82-2C78FDB3C244}" destId="{6A307F96-5D8D-494A-8D5F-E7343041F49C}" srcOrd="3" destOrd="0" presId="urn:microsoft.com/office/officeart/2018/2/layout/IconVerticalSolidList"/>
    <dgm:cxn modelId="{C1738ACE-0BE3-4C28-AB74-552C0E4C9AC4}" type="presParOf" srcId="{37E636D3-7329-4D03-8F4A-0B8B48414723}" destId="{EA89BE3A-745F-419C-B4A7-239B44AE8963}" srcOrd="3" destOrd="0" presId="urn:microsoft.com/office/officeart/2018/2/layout/IconVerticalSolidList"/>
    <dgm:cxn modelId="{94BF0D9D-B7C8-4B95-8FDC-521BDFE78FDD}" type="presParOf" srcId="{37E636D3-7329-4D03-8F4A-0B8B48414723}" destId="{0EB3406B-94A9-4BEA-84A2-0FB7B53FE7A5}" srcOrd="4" destOrd="0" presId="urn:microsoft.com/office/officeart/2018/2/layout/IconVerticalSolidList"/>
    <dgm:cxn modelId="{32A83790-5B7B-4632-812A-3404E077B5EF}" type="presParOf" srcId="{0EB3406B-94A9-4BEA-84A2-0FB7B53FE7A5}" destId="{FADDB4BA-31F4-4DEC-9336-77A71272B5B7}" srcOrd="0" destOrd="0" presId="urn:microsoft.com/office/officeart/2018/2/layout/IconVerticalSolidList"/>
    <dgm:cxn modelId="{3B78D5CD-0924-46F2-BB1E-92A1F2721D35}" type="presParOf" srcId="{0EB3406B-94A9-4BEA-84A2-0FB7B53FE7A5}" destId="{3128BCAC-E4DC-4266-B9B1-70A62CDA1C15}" srcOrd="1" destOrd="0" presId="urn:microsoft.com/office/officeart/2018/2/layout/IconVerticalSolidList"/>
    <dgm:cxn modelId="{30C68735-8ABB-4189-AC70-E47704AC81E3}" type="presParOf" srcId="{0EB3406B-94A9-4BEA-84A2-0FB7B53FE7A5}" destId="{10D0DCF4-BE82-4781-9081-620B715AA7C2}" srcOrd="2" destOrd="0" presId="urn:microsoft.com/office/officeart/2018/2/layout/IconVerticalSolidList"/>
    <dgm:cxn modelId="{148AF73E-B2BA-49C8-B751-CE73A4F271B1}" type="presParOf" srcId="{0EB3406B-94A9-4BEA-84A2-0FB7B53FE7A5}" destId="{EA23042D-B88D-4414-BA99-7FEEC45F054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6CC552A-87BF-4482-BED4-648EC9CCF222}" type="doc">
      <dgm:prSet loTypeId="urn:microsoft.com/office/officeart/2008/layout/LinedLis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783D33A2-2BB2-4D50-A3D5-1FF9B86B2012}">
      <dgm:prSet/>
      <dgm:spPr/>
      <dgm:t>
        <a:bodyPr/>
        <a:lstStyle/>
        <a:p>
          <a:r>
            <a:rPr lang="en-US" b="1" dirty="0">
              <a:highlight>
                <a:srgbClr val="FFFF00"/>
              </a:highlight>
            </a:rPr>
            <a:t>You may work in groups of 2, 3 or 4 (max). </a:t>
          </a:r>
          <a:r>
            <a:rPr lang="en-US" dirty="0"/>
            <a:t>Each group will be allocated a different STI to research and present on. </a:t>
          </a:r>
        </a:p>
      </dgm:t>
    </dgm:pt>
    <dgm:pt modelId="{ED038D9C-C994-470A-97AC-4FDBD308FA4E}" type="parTrans" cxnId="{269B6017-3F4C-4877-996B-1A3BF18F19C2}">
      <dgm:prSet/>
      <dgm:spPr/>
      <dgm:t>
        <a:bodyPr/>
        <a:lstStyle/>
        <a:p>
          <a:endParaRPr lang="en-US"/>
        </a:p>
      </dgm:t>
    </dgm:pt>
    <dgm:pt modelId="{BFEC237E-033A-4622-A450-6CDF49E2F19E}" type="sibTrans" cxnId="{269B6017-3F4C-4877-996B-1A3BF18F19C2}">
      <dgm:prSet/>
      <dgm:spPr/>
      <dgm:t>
        <a:bodyPr/>
        <a:lstStyle/>
        <a:p>
          <a:endParaRPr lang="en-US"/>
        </a:p>
      </dgm:t>
    </dgm:pt>
    <dgm:pt modelId="{9E0A744D-4FBB-4121-AFF0-D48D94F55E0F}">
      <dgm:prSet/>
      <dgm:spPr/>
      <dgm:t>
        <a:bodyPr/>
        <a:lstStyle/>
        <a:p>
          <a:r>
            <a:rPr lang="en-US" dirty="0"/>
            <a:t>While groups are presenting, the audience will have a worksheet/table to fill out. By the end of all the presentations you will have a collection of information on all the different STI’s.</a:t>
          </a:r>
        </a:p>
      </dgm:t>
    </dgm:pt>
    <dgm:pt modelId="{DE74A40A-41DC-4CB1-A917-C67C0B962545}" type="parTrans" cxnId="{3A680C08-7836-43C0-BD23-C5CB19AF02C5}">
      <dgm:prSet/>
      <dgm:spPr/>
      <dgm:t>
        <a:bodyPr/>
        <a:lstStyle/>
        <a:p>
          <a:endParaRPr lang="en-US"/>
        </a:p>
      </dgm:t>
    </dgm:pt>
    <dgm:pt modelId="{F5C1335A-A099-4F77-AAFE-1035FFBBCB75}" type="sibTrans" cxnId="{3A680C08-7836-43C0-BD23-C5CB19AF02C5}">
      <dgm:prSet/>
      <dgm:spPr/>
      <dgm:t>
        <a:bodyPr/>
        <a:lstStyle/>
        <a:p>
          <a:endParaRPr lang="en-US"/>
        </a:p>
      </dgm:t>
    </dgm:pt>
    <dgm:pt modelId="{A4CF66F8-08A9-426F-86BD-ED85953880C6}">
      <dgm:prSet/>
      <dgm:spPr/>
      <dgm:t>
        <a:bodyPr/>
        <a:lstStyle/>
        <a:p>
          <a:r>
            <a:rPr lang="en-US" b="1" dirty="0">
              <a:highlight>
                <a:srgbClr val="FFFF00"/>
              </a:highlight>
            </a:rPr>
            <a:t>All assignments will be due by Week 9</a:t>
          </a:r>
          <a:r>
            <a:rPr lang="en-US" b="1" dirty="0"/>
            <a:t> (regardless of when you are presenting).</a:t>
          </a:r>
          <a:endParaRPr lang="en-US" dirty="0"/>
        </a:p>
      </dgm:t>
    </dgm:pt>
    <dgm:pt modelId="{4622FD5D-2115-4F70-A7FA-106D47407EF0}" type="parTrans" cxnId="{8848D82B-8908-4969-B938-3317A02521B5}">
      <dgm:prSet/>
      <dgm:spPr/>
      <dgm:t>
        <a:bodyPr/>
        <a:lstStyle/>
        <a:p>
          <a:endParaRPr lang="en-US"/>
        </a:p>
      </dgm:t>
    </dgm:pt>
    <dgm:pt modelId="{A64A25B4-9858-42CB-A884-06DB6AB9C8CF}" type="sibTrans" cxnId="{8848D82B-8908-4969-B938-3317A02521B5}">
      <dgm:prSet/>
      <dgm:spPr/>
      <dgm:t>
        <a:bodyPr/>
        <a:lstStyle/>
        <a:p>
          <a:endParaRPr lang="en-US"/>
        </a:p>
      </dgm:t>
    </dgm:pt>
    <dgm:pt modelId="{C608B4DD-DABB-4990-BB3B-EB5D88B1DD33}">
      <dgm:prSet/>
      <dgm:spPr/>
      <dgm:t>
        <a:bodyPr/>
        <a:lstStyle/>
        <a:p>
          <a:r>
            <a:rPr lang="en-US" u="sng" dirty="0"/>
            <a:t>Each group member needs to talk </a:t>
          </a:r>
          <a:r>
            <a:rPr lang="en-US" dirty="0"/>
            <a:t>during the presentation.</a:t>
          </a:r>
        </a:p>
      </dgm:t>
    </dgm:pt>
    <dgm:pt modelId="{09148888-0D1D-4F56-B556-BAA6DAEE4F0F}" type="parTrans" cxnId="{918DB4BB-F7FA-4687-9260-E9749AF3D545}">
      <dgm:prSet/>
      <dgm:spPr/>
      <dgm:t>
        <a:bodyPr/>
        <a:lstStyle/>
        <a:p>
          <a:endParaRPr lang="en-US"/>
        </a:p>
      </dgm:t>
    </dgm:pt>
    <dgm:pt modelId="{04D0AC37-F72F-4D66-B626-913641D7EDFF}" type="sibTrans" cxnId="{918DB4BB-F7FA-4687-9260-E9749AF3D545}">
      <dgm:prSet/>
      <dgm:spPr/>
      <dgm:t>
        <a:bodyPr/>
        <a:lstStyle/>
        <a:p>
          <a:endParaRPr lang="en-US"/>
        </a:p>
      </dgm:t>
    </dgm:pt>
    <dgm:pt modelId="{9A23E9AC-D65C-44E9-8C64-C6F441AD45C8}">
      <dgm:prSet/>
      <dgm:spPr/>
      <dgm:t>
        <a:bodyPr/>
        <a:lstStyle/>
        <a:p>
          <a:r>
            <a:rPr lang="en-US" b="1" dirty="0">
              <a:highlight>
                <a:srgbClr val="FFFF00"/>
              </a:highlight>
            </a:rPr>
            <a:t>Four parts to the task: </a:t>
          </a:r>
          <a:r>
            <a:rPr lang="en-US" dirty="0"/>
            <a:t>PowerPoint </a:t>
          </a:r>
          <a:r>
            <a:rPr lang="en-US" dirty="0">
              <a:sym typeface="Wingdings" panose="05000000000000000000" pitchFamily="2" charset="2"/>
            </a:rPr>
            <a:t></a:t>
          </a:r>
          <a:r>
            <a:rPr lang="en-US" dirty="0"/>
            <a:t> Brochure </a:t>
          </a:r>
          <a:r>
            <a:rPr lang="en-US" dirty="0">
              <a:sym typeface="Wingdings" panose="05000000000000000000" pitchFamily="2" charset="2"/>
            </a:rPr>
            <a:t></a:t>
          </a:r>
          <a:r>
            <a:rPr lang="en-US" dirty="0"/>
            <a:t> Presentation </a:t>
          </a:r>
          <a:r>
            <a:rPr lang="en-US" dirty="0">
              <a:sym typeface="Wingdings" panose="05000000000000000000" pitchFamily="2" charset="2"/>
            </a:rPr>
            <a:t></a:t>
          </a:r>
          <a:r>
            <a:rPr lang="en-US" dirty="0"/>
            <a:t> Individual Group Reflection (all due week 9).</a:t>
          </a:r>
        </a:p>
      </dgm:t>
    </dgm:pt>
    <dgm:pt modelId="{1E5DEA46-F2CB-4906-ACC9-261C51FF26DB}" type="parTrans" cxnId="{60992119-4ED8-4781-A9CA-9D0A886AF9B9}">
      <dgm:prSet/>
      <dgm:spPr/>
      <dgm:t>
        <a:bodyPr/>
        <a:lstStyle/>
        <a:p>
          <a:endParaRPr lang="en-US"/>
        </a:p>
      </dgm:t>
    </dgm:pt>
    <dgm:pt modelId="{6FD847F2-75FB-46EC-8D65-64BEF565B9EE}" type="sibTrans" cxnId="{60992119-4ED8-4781-A9CA-9D0A886AF9B9}">
      <dgm:prSet/>
      <dgm:spPr/>
      <dgm:t>
        <a:bodyPr/>
        <a:lstStyle/>
        <a:p>
          <a:endParaRPr lang="en-US"/>
        </a:p>
      </dgm:t>
    </dgm:pt>
    <dgm:pt modelId="{33B73260-92B0-874A-8E48-273E1B2A11D5}" type="pres">
      <dgm:prSet presAssocID="{A6CC552A-87BF-4482-BED4-648EC9CCF222}" presName="vert0" presStyleCnt="0">
        <dgm:presLayoutVars>
          <dgm:dir/>
          <dgm:animOne val="branch"/>
          <dgm:animLvl val="lvl"/>
        </dgm:presLayoutVars>
      </dgm:prSet>
      <dgm:spPr/>
    </dgm:pt>
    <dgm:pt modelId="{DE4D3C12-1519-3644-86EE-A9611A5ED8DA}" type="pres">
      <dgm:prSet presAssocID="{783D33A2-2BB2-4D50-A3D5-1FF9B86B2012}" presName="thickLine" presStyleLbl="alignNode1" presStyleIdx="0" presStyleCnt="5"/>
      <dgm:spPr/>
    </dgm:pt>
    <dgm:pt modelId="{08DC2BA1-897C-AC48-854C-C8BA049536E0}" type="pres">
      <dgm:prSet presAssocID="{783D33A2-2BB2-4D50-A3D5-1FF9B86B2012}" presName="horz1" presStyleCnt="0"/>
      <dgm:spPr/>
    </dgm:pt>
    <dgm:pt modelId="{23A947CA-9127-2447-8B4C-30FC982FC2C0}" type="pres">
      <dgm:prSet presAssocID="{783D33A2-2BB2-4D50-A3D5-1FF9B86B2012}" presName="tx1" presStyleLbl="revTx" presStyleIdx="0" presStyleCnt="5"/>
      <dgm:spPr/>
    </dgm:pt>
    <dgm:pt modelId="{F1A209E2-73E3-4048-95C9-A82A6554C57F}" type="pres">
      <dgm:prSet presAssocID="{783D33A2-2BB2-4D50-A3D5-1FF9B86B2012}" presName="vert1" presStyleCnt="0"/>
      <dgm:spPr/>
    </dgm:pt>
    <dgm:pt modelId="{F210BEE8-1F7A-7449-8DB9-85F0C41AC92B}" type="pres">
      <dgm:prSet presAssocID="{9E0A744D-4FBB-4121-AFF0-D48D94F55E0F}" presName="thickLine" presStyleLbl="alignNode1" presStyleIdx="1" presStyleCnt="5"/>
      <dgm:spPr/>
    </dgm:pt>
    <dgm:pt modelId="{9E13DA29-C6D7-394F-9095-3A7ADB0E20B0}" type="pres">
      <dgm:prSet presAssocID="{9E0A744D-4FBB-4121-AFF0-D48D94F55E0F}" presName="horz1" presStyleCnt="0"/>
      <dgm:spPr/>
    </dgm:pt>
    <dgm:pt modelId="{F09815AE-9582-BE40-A8A3-43F30D43A936}" type="pres">
      <dgm:prSet presAssocID="{9E0A744D-4FBB-4121-AFF0-D48D94F55E0F}" presName="tx1" presStyleLbl="revTx" presStyleIdx="1" presStyleCnt="5"/>
      <dgm:spPr/>
    </dgm:pt>
    <dgm:pt modelId="{BA627FDB-8D16-EF44-AF20-7FF8CCC764A1}" type="pres">
      <dgm:prSet presAssocID="{9E0A744D-4FBB-4121-AFF0-D48D94F55E0F}" presName="vert1" presStyleCnt="0"/>
      <dgm:spPr/>
    </dgm:pt>
    <dgm:pt modelId="{86E8E211-0460-324E-B741-9769763C1030}" type="pres">
      <dgm:prSet presAssocID="{A4CF66F8-08A9-426F-86BD-ED85953880C6}" presName="thickLine" presStyleLbl="alignNode1" presStyleIdx="2" presStyleCnt="5"/>
      <dgm:spPr/>
    </dgm:pt>
    <dgm:pt modelId="{C30198D0-BA8F-B244-A647-7C2DB8AF9217}" type="pres">
      <dgm:prSet presAssocID="{A4CF66F8-08A9-426F-86BD-ED85953880C6}" presName="horz1" presStyleCnt="0"/>
      <dgm:spPr/>
    </dgm:pt>
    <dgm:pt modelId="{8F0BA13D-E079-A046-B9D6-183915BF9B49}" type="pres">
      <dgm:prSet presAssocID="{A4CF66F8-08A9-426F-86BD-ED85953880C6}" presName="tx1" presStyleLbl="revTx" presStyleIdx="2" presStyleCnt="5"/>
      <dgm:spPr/>
    </dgm:pt>
    <dgm:pt modelId="{6FC7E674-322A-7843-BEC9-D342408FED37}" type="pres">
      <dgm:prSet presAssocID="{A4CF66F8-08A9-426F-86BD-ED85953880C6}" presName="vert1" presStyleCnt="0"/>
      <dgm:spPr/>
    </dgm:pt>
    <dgm:pt modelId="{95A9CD63-425F-9847-AF49-FB0A4A902A5A}" type="pres">
      <dgm:prSet presAssocID="{C608B4DD-DABB-4990-BB3B-EB5D88B1DD33}" presName="thickLine" presStyleLbl="alignNode1" presStyleIdx="3" presStyleCnt="5"/>
      <dgm:spPr/>
    </dgm:pt>
    <dgm:pt modelId="{3E41AC73-BE55-5149-84F9-59F2F709F7B5}" type="pres">
      <dgm:prSet presAssocID="{C608B4DD-DABB-4990-BB3B-EB5D88B1DD33}" presName="horz1" presStyleCnt="0"/>
      <dgm:spPr/>
    </dgm:pt>
    <dgm:pt modelId="{D4845925-3A0E-3745-B823-37F5F2FAB2E7}" type="pres">
      <dgm:prSet presAssocID="{C608B4DD-DABB-4990-BB3B-EB5D88B1DD33}" presName="tx1" presStyleLbl="revTx" presStyleIdx="3" presStyleCnt="5"/>
      <dgm:spPr/>
    </dgm:pt>
    <dgm:pt modelId="{70539747-1920-E84B-9884-C36F5C11E8F5}" type="pres">
      <dgm:prSet presAssocID="{C608B4DD-DABB-4990-BB3B-EB5D88B1DD33}" presName="vert1" presStyleCnt="0"/>
      <dgm:spPr/>
    </dgm:pt>
    <dgm:pt modelId="{DC90E70E-82AF-8849-B520-22EF8A88FD7C}" type="pres">
      <dgm:prSet presAssocID="{9A23E9AC-D65C-44E9-8C64-C6F441AD45C8}" presName="thickLine" presStyleLbl="alignNode1" presStyleIdx="4" presStyleCnt="5"/>
      <dgm:spPr/>
    </dgm:pt>
    <dgm:pt modelId="{8C03D5BD-3EED-0049-9015-5FD35B68DB91}" type="pres">
      <dgm:prSet presAssocID="{9A23E9AC-D65C-44E9-8C64-C6F441AD45C8}" presName="horz1" presStyleCnt="0"/>
      <dgm:spPr/>
    </dgm:pt>
    <dgm:pt modelId="{B67FD673-3B4F-B142-BAA4-C4E81277212B}" type="pres">
      <dgm:prSet presAssocID="{9A23E9AC-D65C-44E9-8C64-C6F441AD45C8}" presName="tx1" presStyleLbl="revTx" presStyleIdx="4" presStyleCnt="5"/>
      <dgm:spPr/>
    </dgm:pt>
    <dgm:pt modelId="{80D3284B-67A1-C549-9CC1-36A02CD1B52E}" type="pres">
      <dgm:prSet presAssocID="{9A23E9AC-D65C-44E9-8C64-C6F441AD45C8}" presName="vert1" presStyleCnt="0"/>
      <dgm:spPr/>
    </dgm:pt>
  </dgm:ptLst>
  <dgm:cxnLst>
    <dgm:cxn modelId="{3A680C08-7836-43C0-BD23-C5CB19AF02C5}" srcId="{A6CC552A-87BF-4482-BED4-648EC9CCF222}" destId="{9E0A744D-4FBB-4121-AFF0-D48D94F55E0F}" srcOrd="1" destOrd="0" parTransId="{DE74A40A-41DC-4CB1-A917-C67C0B962545}" sibTransId="{F5C1335A-A099-4F77-AAFE-1035FFBBCB75}"/>
    <dgm:cxn modelId="{269B6017-3F4C-4877-996B-1A3BF18F19C2}" srcId="{A6CC552A-87BF-4482-BED4-648EC9CCF222}" destId="{783D33A2-2BB2-4D50-A3D5-1FF9B86B2012}" srcOrd="0" destOrd="0" parTransId="{ED038D9C-C994-470A-97AC-4FDBD308FA4E}" sibTransId="{BFEC237E-033A-4622-A450-6CDF49E2F19E}"/>
    <dgm:cxn modelId="{60992119-4ED8-4781-A9CA-9D0A886AF9B9}" srcId="{A6CC552A-87BF-4482-BED4-648EC9CCF222}" destId="{9A23E9AC-D65C-44E9-8C64-C6F441AD45C8}" srcOrd="4" destOrd="0" parTransId="{1E5DEA46-F2CB-4906-ACC9-261C51FF26DB}" sibTransId="{6FD847F2-75FB-46EC-8D65-64BEF565B9EE}"/>
    <dgm:cxn modelId="{8848D82B-8908-4969-B938-3317A02521B5}" srcId="{A6CC552A-87BF-4482-BED4-648EC9CCF222}" destId="{A4CF66F8-08A9-426F-86BD-ED85953880C6}" srcOrd="2" destOrd="0" parTransId="{4622FD5D-2115-4F70-A7FA-106D47407EF0}" sibTransId="{A64A25B4-9858-42CB-A884-06DB6AB9C8CF}"/>
    <dgm:cxn modelId="{E678CA64-AD34-C146-97AE-0A959DC84690}" type="presOf" srcId="{A6CC552A-87BF-4482-BED4-648EC9CCF222}" destId="{33B73260-92B0-874A-8E48-273E1B2A11D5}" srcOrd="0" destOrd="0" presId="urn:microsoft.com/office/officeart/2008/layout/LinedList"/>
    <dgm:cxn modelId="{6E979075-7F93-0D4A-9DAC-2E4FC9672029}" type="presOf" srcId="{9E0A744D-4FBB-4121-AFF0-D48D94F55E0F}" destId="{F09815AE-9582-BE40-A8A3-43F30D43A936}" srcOrd="0" destOrd="0" presId="urn:microsoft.com/office/officeart/2008/layout/LinedList"/>
    <dgm:cxn modelId="{25AB3892-6931-724E-92DE-F5BFD7F42383}" type="presOf" srcId="{C608B4DD-DABB-4990-BB3B-EB5D88B1DD33}" destId="{D4845925-3A0E-3745-B823-37F5F2FAB2E7}" srcOrd="0" destOrd="0" presId="urn:microsoft.com/office/officeart/2008/layout/LinedList"/>
    <dgm:cxn modelId="{5139FDAB-A857-AA44-A1FD-59E20B9DA8A1}" type="presOf" srcId="{A4CF66F8-08A9-426F-86BD-ED85953880C6}" destId="{8F0BA13D-E079-A046-B9D6-183915BF9B49}" srcOrd="0" destOrd="0" presId="urn:microsoft.com/office/officeart/2008/layout/LinedList"/>
    <dgm:cxn modelId="{918DB4BB-F7FA-4687-9260-E9749AF3D545}" srcId="{A6CC552A-87BF-4482-BED4-648EC9CCF222}" destId="{C608B4DD-DABB-4990-BB3B-EB5D88B1DD33}" srcOrd="3" destOrd="0" parTransId="{09148888-0D1D-4F56-B556-BAA6DAEE4F0F}" sibTransId="{04D0AC37-F72F-4D66-B626-913641D7EDFF}"/>
    <dgm:cxn modelId="{C9E065C4-9206-8F4D-A46A-1691B0B5F3B6}" type="presOf" srcId="{783D33A2-2BB2-4D50-A3D5-1FF9B86B2012}" destId="{23A947CA-9127-2447-8B4C-30FC982FC2C0}" srcOrd="0" destOrd="0" presId="urn:microsoft.com/office/officeart/2008/layout/LinedList"/>
    <dgm:cxn modelId="{7637E0FD-54AE-1843-A2B3-C5373A438715}" type="presOf" srcId="{9A23E9AC-D65C-44E9-8C64-C6F441AD45C8}" destId="{B67FD673-3B4F-B142-BAA4-C4E81277212B}" srcOrd="0" destOrd="0" presId="urn:microsoft.com/office/officeart/2008/layout/LinedList"/>
    <dgm:cxn modelId="{45C9F8E3-2CD1-6141-8F14-451BD66CB3B8}" type="presParOf" srcId="{33B73260-92B0-874A-8E48-273E1B2A11D5}" destId="{DE4D3C12-1519-3644-86EE-A9611A5ED8DA}" srcOrd="0" destOrd="0" presId="urn:microsoft.com/office/officeart/2008/layout/LinedList"/>
    <dgm:cxn modelId="{70027059-98E8-2648-82C6-95F5515F6445}" type="presParOf" srcId="{33B73260-92B0-874A-8E48-273E1B2A11D5}" destId="{08DC2BA1-897C-AC48-854C-C8BA049536E0}" srcOrd="1" destOrd="0" presId="urn:microsoft.com/office/officeart/2008/layout/LinedList"/>
    <dgm:cxn modelId="{FCEAC235-A64C-7440-932E-31917EE723A6}" type="presParOf" srcId="{08DC2BA1-897C-AC48-854C-C8BA049536E0}" destId="{23A947CA-9127-2447-8B4C-30FC982FC2C0}" srcOrd="0" destOrd="0" presId="urn:microsoft.com/office/officeart/2008/layout/LinedList"/>
    <dgm:cxn modelId="{BB661749-C5EA-084A-8A2F-4D6CE9D1BE56}" type="presParOf" srcId="{08DC2BA1-897C-AC48-854C-C8BA049536E0}" destId="{F1A209E2-73E3-4048-95C9-A82A6554C57F}" srcOrd="1" destOrd="0" presId="urn:microsoft.com/office/officeart/2008/layout/LinedList"/>
    <dgm:cxn modelId="{D97B6B1F-6FE6-2647-818F-07EBF8C0104E}" type="presParOf" srcId="{33B73260-92B0-874A-8E48-273E1B2A11D5}" destId="{F210BEE8-1F7A-7449-8DB9-85F0C41AC92B}" srcOrd="2" destOrd="0" presId="urn:microsoft.com/office/officeart/2008/layout/LinedList"/>
    <dgm:cxn modelId="{BB07A925-80E3-0E4F-806B-F3A1A62C62D9}" type="presParOf" srcId="{33B73260-92B0-874A-8E48-273E1B2A11D5}" destId="{9E13DA29-C6D7-394F-9095-3A7ADB0E20B0}" srcOrd="3" destOrd="0" presId="urn:microsoft.com/office/officeart/2008/layout/LinedList"/>
    <dgm:cxn modelId="{F073727F-4994-9D45-B1E7-AE9156939A25}" type="presParOf" srcId="{9E13DA29-C6D7-394F-9095-3A7ADB0E20B0}" destId="{F09815AE-9582-BE40-A8A3-43F30D43A936}" srcOrd="0" destOrd="0" presId="urn:microsoft.com/office/officeart/2008/layout/LinedList"/>
    <dgm:cxn modelId="{4DA5AC8B-BA50-A942-9DB4-345699A79366}" type="presParOf" srcId="{9E13DA29-C6D7-394F-9095-3A7ADB0E20B0}" destId="{BA627FDB-8D16-EF44-AF20-7FF8CCC764A1}" srcOrd="1" destOrd="0" presId="urn:microsoft.com/office/officeart/2008/layout/LinedList"/>
    <dgm:cxn modelId="{33B48E58-75F1-4346-941E-F384138AEE10}" type="presParOf" srcId="{33B73260-92B0-874A-8E48-273E1B2A11D5}" destId="{86E8E211-0460-324E-B741-9769763C1030}" srcOrd="4" destOrd="0" presId="urn:microsoft.com/office/officeart/2008/layout/LinedList"/>
    <dgm:cxn modelId="{F1F8FDC2-3FF1-C743-B5ED-7272272AA69F}" type="presParOf" srcId="{33B73260-92B0-874A-8E48-273E1B2A11D5}" destId="{C30198D0-BA8F-B244-A647-7C2DB8AF9217}" srcOrd="5" destOrd="0" presId="urn:microsoft.com/office/officeart/2008/layout/LinedList"/>
    <dgm:cxn modelId="{B302DC41-7DFD-8F44-853A-F8D535B79372}" type="presParOf" srcId="{C30198D0-BA8F-B244-A647-7C2DB8AF9217}" destId="{8F0BA13D-E079-A046-B9D6-183915BF9B49}" srcOrd="0" destOrd="0" presId="urn:microsoft.com/office/officeart/2008/layout/LinedList"/>
    <dgm:cxn modelId="{DD5BB70D-615C-694C-B2E5-360DCF955C54}" type="presParOf" srcId="{C30198D0-BA8F-B244-A647-7C2DB8AF9217}" destId="{6FC7E674-322A-7843-BEC9-D342408FED37}" srcOrd="1" destOrd="0" presId="urn:microsoft.com/office/officeart/2008/layout/LinedList"/>
    <dgm:cxn modelId="{FC693FC0-9301-8648-AE74-7455B0C23D3E}" type="presParOf" srcId="{33B73260-92B0-874A-8E48-273E1B2A11D5}" destId="{95A9CD63-425F-9847-AF49-FB0A4A902A5A}" srcOrd="6" destOrd="0" presId="urn:microsoft.com/office/officeart/2008/layout/LinedList"/>
    <dgm:cxn modelId="{5999FA5C-B908-E04F-8E14-F29D6A34AAF7}" type="presParOf" srcId="{33B73260-92B0-874A-8E48-273E1B2A11D5}" destId="{3E41AC73-BE55-5149-84F9-59F2F709F7B5}" srcOrd="7" destOrd="0" presId="urn:microsoft.com/office/officeart/2008/layout/LinedList"/>
    <dgm:cxn modelId="{AE8A0216-FFCC-9D4A-9C96-11FBC3E159E8}" type="presParOf" srcId="{3E41AC73-BE55-5149-84F9-59F2F709F7B5}" destId="{D4845925-3A0E-3745-B823-37F5F2FAB2E7}" srcOrd="0" destOrd="0" presId="urn:microsoft.com/office/officeart/2008/layout/LinedList"/>
    <dgm:cxn modelId="{1F23CE23-7552-7C45-833B-CACE7A9CCE4C}" type="presParOf" srcId="{3E41AC73-BE55-5149-84F9-59F2F709F7B5}" destId="{70539747-1920-E84B-9884-C36F5C11E8F5}" srcOrd="1" destOrd="0" presId="urn:microsoft.com/office/officeart/2008/layout/LinedList"/>
    <dgm:cxn modelId="{61F7A1F3-61E8-F74D-B5CE-E0123C30E49C}" type="presParOf" srcId="{33B73260-92B0-874A-8E48-273E1B2A11D5}" destId="{DC90E70E-82AF-8849-B520-22EF8A88FD7C}" srcOrd="8" destOrd="0" presId="urn:microsoft.com/office/officeart/2008/layout/LinedList"/>
    <dgm:cxn modelId="{B543BAA4-CC8D-3E42-8EC6-1413880193D3}" type="presParOf" srcId="{33B73260-92B0-874A-8E48-273E1B2A11D5}" destId="{8C03D5BD-3EED-0049-9015-5FD35B68DB91}" srcOrd="9" destOrd="0" presId="urn:microsoft.com/office/officeart/2008/layout/LinedList"/>
    <dgm:cxn modelId="{B82954B6-14D4-6B4F-B410-27EF82B20E01}" type="presParOf" srcId="{8C03D5BD-3EED-0049-9015-5FD35B68DB91}" destId="{B67FD673-3B4F-B142-BAA4-C4E81277212B}" srcOrd="0" destOrd="0" presId="urn:microsoft.com/office/officeart/2008/layout/LinedList"/>
    <dgm:cxn modelId="{0EEAAF45-E7FA-FA4C-AD93-ED59CC4BB8CE}" type="presParOf" srcId="{8C03D5BD-3EED-0049-9015-5FD35B68DB91}" destId="{80D3284B-67A1-C549-9CC1-36A02CD1B52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ADF342-61C8-41B5-86DF-B8E578DAA602}">
      <dsp:nvSpPr>
        <dsp:cNvPr id="0" name=""/>
        <dsp:cNvSpPr/>
      </dsp:nvSpPr>
      <dsp:spPr>
        <a:xfrm>
          <a:off x="0" y="519"/>
          <a:ext cx="10515600" cy="121454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EAB6C1-3526-4971-A1D2-1F45F464DD69}">
      <dsp:nvSpPr>
        <dsp:cNvPr id="0" name=""/>
        <dsp:cNvSpPr/>
      </dsp:nvSpPr>
      <dsp:spPr>
        <a:xfrm>
          <a:off x="367401" y="273792"/>
          <a:ext cx="668002" cy="66800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02E3D5-3FCD-4CEA-A313-A8AAEDEFE558}">
      <dsp:nvSpPr>
        <dsp:cNvPr id="0" name=""/>
        <dsp:cNvSpPr/>
      </dsp:nvSpPr>
      <dsp:spPr>
        <a:xfrm>
          <a:off x="1402804" y="519"/>
          <a:ext cx="4732020" cy="12145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540" tIns="128540" rIns="128540" bIns="128540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Placed around the room are response cards </a:t>
          </a:r>
        </a:p>
      </dsp:txBody>
      <dsp:txXfrm>
        <a:off x="1402804" y="519"/>
        <a:ext cx="4732020" cy="1214549"/>
      </dsp:txXfrm>
    </dsp:sp>
    <dsp:sp modelId="{36F26006-4E54-4DE2-A4AE-9E00DF875068}">
      <dsp:nvSpPr>
        <dsp:cNvPr id="0" name=""/>
        <dsp:cNvSpPr/>
      </dsp:nvSpPr>
      <dsp:spPr>
        <a:xfrm>
          <a:off x="6134824" y="519"/>
          <a:ext cx="4380775" cy="12145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540" tIns="128540" rIns="128540" bIns="12854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Strongly Agree </a:t>
          </a:r>
          <a:r>
            <a:rPr lang="en-US" sz="2400" kern="1200" dirty="0">
              <a:sym typeface="Wingdings" panose="05000000000000000000" pitchFamily="2" charset="2"/>
            </a:rPr>
            <a:t></a:t>
          </a:r>
          <a:r>
            <a:rPr lang="en-US" sz="2400" kern="1200" dirty="0"/>
            <a:t> Strongly Disagree</a:t>
          </a:r>
        </a:p>
      </dsp:txBody>
      <dsp:txXfrm>
        <a:off x="6134824" y="519"/>
        <a:ext cx="4380775" cy="1214549"/>
      </dsp:txXfrm>
    </dsp:sp>
    <dsp:sp modelId="{94D466C9-3006-4E39-A4B3-6AE0F4D3D293}">
      <dsp:nvSpPr>
        <dsp:cNvPr id="0" name=""/>
        <dsp:cNvSpPr/>
      </dsp:nvSpPr>
      <dsp:spPr>
        <a:xfrm>
          <a:off x="0" y="1518705"/>
          <a:ext cx="10515600" cy="121454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B8625B-3413-462D-8E7F-FD8DE7E7F53B}">
      <dsp:nvSpPr>
        <dsp:cNvPr id="0" name=""/>
        <dsp:cNvSpPr/>
      </dsp:nvSpPr>
      <dsp:spPr>
        <a:xfrm>
          <a:off x="367401" y="1791978"/>
          <a:ext cx="668002" cy="66800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307F96-5D8D-494A-8D5F-E7343041F49C}">
      <dsp:nvSpPr>
        <dsp:cNvPr id="0" name=""/>
        <dsp:cNvSpPr/>
      </dsp:nvSpPr>
      <dsp:spPr>
        <a:xfrm>
          <a:off x="1402804" y="1518705"/>
          <a:ext cx="9112795" cy="12145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540" tIns="128540" rIns="128540" bIns="128540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Your teacher will read out a statement and you need to decide how you feel about it and move to the card that best describes how you feel. </a:t>
          </a:r>
        </a:p>
      </dsp:txBody>
      <dsp:txXfrm>
        <a:off x="1402804" y="1518705"/>
        <a:ext cx="9112795" cy="1214549"/>
      </dsp:txXfrm>
    </dsp:sp>
    <dsp:sp modelId="{FADDB4BA-31F4-4DEC-9336-77A71272B5B7}">
      <dsp:nvSpPr>
        <dsp:cNvPr id="0" name=""/>
        <dsp:cNvSpPr/>
      </dsp:nvSpPr>
      <dsp:spPr>
        <a:xfrm>
          <a:off x="0" y="3036891"/>
          <a:ext cx="10515600" cy="121454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28BCAC-E4DC-4266-B9B1-70A62CDA1C15}">
      <dsp:nvSpPr>
        <dsp:cNvPr id="0" name=""/>
        <dsp:cNvSpPr/>
      </dsp:nvSpPr>
      <dsp:spPr>
        <a:xfrm>
          <a:off x="367401" y="3310165"/>
          <a:ext cx="668002" cy="66800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23042D-B88D-4414-BA99-7FEEC45F0541}">
      <dsp:nvSpPr>
        <dsp:cNvPr id="0" name=""/>
        <dsp:cNvSpPr/>
      </dsp:nvSpPr>
      <dsp:spPr>
        <a:xfrm>
          <a:off x="1402804" y="3036891"/>
          <a:ext cx="9112795" cy="12145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540" tIns="128540" rIns="128540" bIns="128540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When doing this activity, really think about </a:t>
          </a:r>
          <a:r>
            <a:rPr lang="en-US" sz="2500" b="1" u="sng" kern="1200" dirty="0"/>
            <a:t>WHY</a:t>
          </a:r>
          <a:r>
            <a:rPr lang="en-US" sz="2500" kern="1200" dirty="0"/>
            <a:t> you feel that way. </a:t>
          </a:r>
        </a:p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Be prepared to share your response and reasoning.</a:t>
          </a:r>
        </a:p>
      </dsp:txBody>
      <dsp:txXfrm>
        <a:off x="1402804" y="3036891"/>
        <a:ext cx="9112795" cy="121454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4D3C12-1519-3644-86EE-A9611A5ED8DA}">
      <dsp:nvSpPr>
        <dsp:cNvPr id="0" name=""/>
        <dsp:cNvSpPr/>
      </dsp:nvSpPr>
      <dsp:spPr>
        <a:xfrm>
          <a:off x="0" y="516"/>
          <a:ext cx="10915869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A947CA-9127-2447-8B4C-30FC982FC2C0}">
      <dsp:nvSpPr>
        <dsp:cNvPr id="0" name=""/>
        <dsp:cNvSpPr/>
      </dsp:nvSpPr>
      <dsp:spPr>
        <a:xfrm>
          <a:off x="0" y="516"/>
          <a:ext cx="10915869" cy="8456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highlight>
                <a:srgbClr val="FFFF00"/>
              </a:highlight>
            </a:rPr>
            <a:t>You may work in groups of 2, 3 or 4 (max). </a:t>
          </a:r>
          <a:r>
            <a:rPr lang="en-US" sz="2400" kern="1200" dirty="0"/>
            <a:t>Each group will be allocated a different STI to research and present on. </a:t>
          </a:r>
        </a:p>
      </dsp:txBody>
      <dsp:txXfrm>
        <a:off x="0" y="516"/>
        <a:ext cx="10915869" cy="845613"/>
      </dsp:txXfrm>
    </dsp:sp>
    <dsp:sp modelId="{F210BEE8-1F7A-7449-8DB9-85F0C41AC92B}">
      <dsp:nvSpPr>
        <dsp:cNvPr id="0" name=""/>
        <dsp:cNvSpPr/>
      </dsp:nvSpPr>
      <dsp:spPr>
        <a:xfrm>
          <a:off x="0" y="846129"/>
          <a:ext cx="10915869" cy="0"/>
        </a:xfrm>
        <a:prstGeom prst="line">
          <a:avLst/>
        </a:prstGeom>
        <a:solidFill>
          <a:schemeClr val="accent5">
            <a:hueOff val="4352466"/>
            <a:satOff val="1923"/>
            <a:lumOff val="-2108"/>
            <a:alphaOff val="0"/>
          </a:schemeClr>
        </a:solidFill>
        <a:ln w="12700" cap="flat" cmpd="sng" algn="ctr">
          <a:solidFill>
            <a:schemeClr val="accent5">
              <a:hueOff val="4352466"/>
              <a:satOff val="1923"/>
              <a:lumOff val="-21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9815AE-9582-BE40-A8A3-43F30D43A936}">
      <dsp:nvSpPr>
        <dsp:cNvPr id="0" name=""/>
        <dsp:cNvSpPr/>
      </dsp:nvSpPr>
      <dsp:spPr>
        <a:xfrm>
          <a:off x="0" y="846129"/>
          <a:ext cx="10915869" cy="8456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While groups are presenting, the audience will have a worksheet/table to fill out. By the end of all the presentations you will have a collection of information on all the different STI’s.</a:t>
          </a:r>
        </a:p>
      </dsp:txBody>
      <dsp:txXfrm>
        <a:off x="0" y="846129"/>
        <a:ext cx="10915869" cy="845613"/>
      </dsp:txXfrm>
    </dsp:sp>
    <dsp:sp modelId="{86E8E211-0460-324E-B741-9769763C1030}">
      <dsp:nvSpPr>
        <dsp:cNvPr id="0" name=""/>
        <dsp:cNvSpPr/>
      </dsp:nvSpPr>
      <dsp:spPr>
        <a:xfrm>
          <a:off x="0" y="1691743"/>
          <a:ext cx="10915869" cy="0"/>
        </a:xfrm>
        <a:prstGeom prst="line">
          <a:avLst/>
        </a:prstGeom>
        <a:solidFill>
          <a:schemeClr val="accent5">
            <a:hueOff val="8704933"/>
            <a:satOff val="3846"/>
            <a:lumOff val="-4216"/>
            <a:alphaOff val="0"/>
          </a:schemeClr>
        </a:solidFill>
        <a:ln w="12700" cap="flat" cmpd="sng" algn="ctr">
          <a:solidFill>
            <a:schemeClr val="accent5">
              <a:hueOff val="8704933"/>
              <a:satOff val="3846"/>
              <a:lumOff val="-421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0BA13D-E079-A046-B9D6-183915BF9B49}">
      <dsp:nvSpPr>
        <dsp:cNvPr id="0" name=""/>
        <dsp:cNvSpPr/>
      </dsp:nvSpPr>
      <dsp:spPr>
        <a:xfrm>
          <a:off x="0" y="1691743"/>
          <a:ext cx="10915869" cy="8456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highlight>
                <a:srgbClr val="FFFF00"/>
              </a:highlight>
            </a:rPr>
            <a:t>All assignments will be due by Week 9</a:t>
          </a:r>
          <a:r>
            <a:rPr lang="en-US" sz="2400" b="1" kern="1200" dirty="0"/>
            <a:t> (regardless of when you are presenting).</a:t>
          </a:r>
          <a:endParaRPr lang="en-US" sz="2400" kern="1200" dirty="0"/>
        </a:p>
      </dsp:txBody>
      <dsp:txXfrm>
        <a:off x="0" y="1691743"/>
        <a:ext cx="10915869" cy="845613"/>
      </dsp:txXfrm>
    </dsp:sp>
    <dsp:sp modelId="{95A9CD63-425F-9847-AF49-FB0A4A902A5A}">
      <dsp:nvSpPr>
        <dsp:cNvPr id="0" name=""/>
        <dsp:cNvSpPr/>
      </dsp:nvSpPr>
      <dsp:spPr>
        <a:xfrm>
          <a:off x="0" y="2537356"/>
          <a:ext cx="10915869" cy="0"/>
        </a:xfrm>
        <a:prstGeom prst="line">
          <a:avLst/>
        </a:prstGeom>
        <a:solidFill>
          <a:schemeClr val="accent5">
            <a:hueOff val="13057399"/>
            <a:satOff val="5769"/>
            <a:lumOff val="-6324"/>
            <a:alphaOff val="0"/>
          </a:schemeClr>
        </a:solidFill>
        <a:ln w="12700" cap="flat" cmpd="sng" algn="ctr">
          <a:solidFill>
            <a:schemeClr val="accent5">
              <a:hueOff val="13057399"/>
              <a:satOff val="5769"/>
              <a:lumOff val="-632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845925-3A0E-3745-B823-37F5F2FAB2E7}">
      <dsp:nvSpPr>
        <dsp:cNvPr id="0" name=""/>
        <dsp:cNvSpPr/>
      </dsp:nvSpPr>
      <dsp:spPr>
        <a:xfrm>
          <a:off x="0" y="2537356"/>
          <a:ext cx="10915869" cy="8456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u="sng" kern="1200" dirty="0"/>
            <a:t>Each group member needs to talk </a:t>
          </a:r>
          <a:r>
            <a:rPr lang="en-US" sz="2400" kern="1200" dirty="0"/>
            <a:t>during the presentation.</a:t>
          </a:r>
        </a:p>
      </dsp:txBody>
      <dsp:txXfrm>
        <a:off x="0" y="2537356"/>
        <a:ext cx="10915869" cy="845613"/>
      </dsp:txXfrm>
    </dsp:sp>
    <dsp:sp modelId="{DC90E70E-82AF-8849-B520-22EF8A88FD7C}">
      <dsp:nvSpPr>
        <dsp:cNvPr id="0" name=""/>
        <dsp:cNvSpPr/>
      </dsp:nvSpPr>
      <dsp:spPr>
        <a:xfrm>
          <a:off x="0" y="3382970"/>
          <a:ext cx="10915869" cy="0"/>
        </a:xfrm>
        <a:prstGeom prst="line">
          <a:avLst/>
        </a:prstGeom>
        <a:solidFill>
          <a:schemeClr val="accent5">
            <a:hueOff val="17409866"/>
            <a:satOff val="7692"/>
            <a:lumOff val="-8432"/>
            <a:alphaOff val="0"/>
          </a:schemeClr>
        </a:solidFill>
        <a:ln w="12700" cap="flat" cmpd="sng" algn="ctr">
          <a:solidFill>
            <a:schemeClr val="accent5">
              <a:hueOff val="17409866"/>
              <a:satOff val="7692"/>
              <a:lumOff val="-843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7FD673-3B4F-B142-BAA4-C4E81277212B}">
      <dsp:nvSpPr>
        <dsp:cNvPr id="0" name=""/>
        <dsp:cNvSpPr/>
      </dsp:nvSpPr>
      <dsp:spPr>
        <a:xfrm>
          <a:off x="0" y="3382970"/>
          <a:ext cx="10915869" cy="8456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highlight>
                <a:srgbClr val="FFFF00"/>
              </a:highlight>
            </a:rPr>
            <a:t>Four parts to the task: </a:t>
          </a:r>
          <a:r>
            <a:rPr lang="en-US" sz="2400" kern="1200" dirty="0"/>
            <a:t>PowerPoint </a:t>
          </a:r>
          <a:r>
            <a:rPr lang="en-US" sz="2400" kern="1200" dirty="0">
              <a:sym typeface="Wingdings" panose="05000000000000000000" pitchFamily="2" charset="2"/>
            </a:rPr>
            <a:t></a:t>
          </a:r>
          <a:r>
            <a:rPr lang="en-US" sz="2400" kern="1200" dirty="0"/>
            <a:t> Brochure </a:t>
          </a:r>
          <a:r>
            <a:rPr lang="en-US" sz="2400" kern="1200" dirty="0">
              <a:sym typeface="Wingdings" panose="05000000000000000000" pitchFamily="2" charset="2"/>
            </a:rPr>
            <a:t></a:t>
          </a:r>
          <a:r>
            <a:rPr lang="en-US" sz="2400" kern="1200" dirty="0"/>
            <a:t> Presentation </a:t>
          </a:r>
          <a:r>
            <a:rPr lang="en-US" sz="2400" kern="1200" dirty="0">
              <a:sym typeface="Wingdings" panose="05000000000000000000" pitchFamily="2" charset="2"/>
            </a:rPr>
            <a:t></a:t>
          </a:r>
          <a:r>
            <a:rPr lang="en-US" sz="2400" kern="1200" dirty="0"/>
            <a:t> Individual Group Reflection (all due week 9).</a:t>
          </a:r>
        </a:p>
      </dsp:txBody>
      <dsp:txXfrm>
        <a:off x="0" y="3382970"/>
        <a:ext cx="10915869" cy="84561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FFA96B-52EF-9242-8C41-C7CBD737B41E}" type="datetimeFigureOut">
              <a:rPr lang="en-US" smtClean="0"/>
              <a:t>3/3/24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5F8A8C-F201-E64D-999A-A6161AAF20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3796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Resources = Response cards (available in Health Storeroom) and </a:t>
            </a:r>
            <a:r>
              <a:rPr lang="en-US" dirty="0" err="1"/>
              <a:t>blutack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Place STRONGLY AGREE, AGREE, NEUTRAL, DISAGREE, STRONGLY DISAGREE cards around the room.</a:t>
            </a:r>
          </a:p>
          <a:p>
            <a:r>
              <a:rPr lang="en-US" dirty="0"/>
              <a:t>Read the statement out to students. </a:t>
            </a:r>
          </a:p>
          <a:p>
            <a:r>
              <a:rPr lang="en-US" dirty="0"/>
              <a:t>Give them 20 seconds to move to the card that best describes their response to the statement. </a:t>
            </a:r>
          </a:p>
          <a:p>
            <a:r>
              <a:rPr lang="en-US" dirty="0"/>
              <a:t>Ask students why they feel the way they feel. </a:t>
            </a:r>
          </a:p>
          <a:p>
            <a:endParaRPr lang="en-US" dirty="0"/>
          </a:p>
          <a:p>
            <a:r>
              <a:rPr lang="en-US" dirty="0"/>
              <a:t>This activity allows students to consider their values when it comes to relationships and sexual relationships. </a:t>
            </a:r>
          </a:p>
          <a:p>
            <a:endParaRPr lang="en-US" dirty="0"/>
          </a:p>
          <a:p>
            <a:r>
              <a:rPr lang="en-US" dirty="0"/>
              <a:t>You can use the statements on the following slides OR read them out from a piece of paper.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5F8A8C-F201-E64D-999A-A6161AAF201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309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out the statement. Allow students 20 seconds to move to the appropriate card that describes their response. Encourage students to discuss and share their answers.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5F8A8C-F201-E64D-999A-A6161AAF201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8479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is included in their books with space to complete the headings under neath each tip.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5F8A8C-F201-E64D-999A-A6161AAF201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0948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add these to their books.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5F8A8C-F201-E64D-999A-A6161AAF201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9325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what trends they can </a:t>
            </a:r>
            <a:r>
              <a:rPr lang="en-US" dirty="0" err="1"/>
              <a:t>idenifty</a:t>
            </a:r>
            <a:r>
              <a:rPr lang="en-US" dirty="0"/>
              <a:t> from the graph about STI rates from 1996-2017.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5F8A8C-F201-E64D-999A-A6161AAF201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1184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www.kirby.unsw.edu.au</a:t>
            </a:r>
            <a:r>
              <a:rPr lang="en-US" dirty="0"/>
              <a:t>/news/sexually-transmissible-infections-are-rise-australia-syphilis-rates-tripling-over-decade#:~:text=Early%20testing%2C%20diagnosis%2C%20and%20treatment,6%2C036%20diagnoses%20of%20infectious%20syphilis.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5F8A8C-F201-E64D-999A-A6161AAF201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1287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contribute their answers. </a:t>
            </a:r>
          </a:p>
          <a:p>
            <a:endParaRPr lang="en-US" dirty="0"/>
          </a:p>
          <a:p>
            <a:r>
              <a:rPr lang="en-US" dirty="0"/>
              <a:t>Think about this when creating their own presentation and make it as engaging and entertaining as possible.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5F8A8C-F201-E64D-999A-A6161AAF201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8817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Allocate one group to a different STI. </a:t>
            </a:r>
          </a:p>
          <a:p>
            <a:endParaRPr lang="en-US" dirty="0"/>
          </a:p>
          <a:p>
            <a:r>
              <a:rPr lang="en-US" dirty="0"/>
              <a:t>When students are presenting their assignments, the audience will need to complete a table about each different STI that is presented. By the end of the presentations, students will have collated information on all the different STI’s into their workbooks.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5F8A8C-F201-E64D-999A-A6161AAF201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5572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DA381740-063A-41A4-836D-85D14980EEF0}"/>
              </a:ext>
            </a:extLst>
          </p:cNvPr>
          <p:cNvSpPr/>
          <p:nvPr/>
        </p:nvSpPr>
        <p:spPr>
          <a:xfrm>
            <a:off x="838200" y="4736883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EF9DF8-704A-44AE-8850-307DDACC93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448056"/>
            <a:ext cx="10515600" cy="4069080"/>
          </a:xfrm>
        </p:spPr>
        <p:txBody>
          <a:bodyPr anchor="b">
            <a:noAutofit/>
          </a:bodyPr>
          <a:lstStyle>
            <a:lvl1pPr algn="l">
              <a:defRPr sz="9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C72E09-06F3-48B9-9B95-DE15EC9801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4983480"/>
            <a:ext cx="10515600" cy="1124712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CD474-E5E1-4D01-97F6-0C9FC0933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3/3/24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6BBC7-EB9B-4B36-88E9-DBF65D270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786C7-DD8D-492F-9A9A-A7B3EBE27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378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61642-BFBA-48AE-A29C-C2AA7386A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 descr="Tag=AccentColor&#10;Flavor=Light&#10;Target=FillAndLine">
            <a:extLst>
              <a:ext uri="{FF2B5EF4-FFF2-40B4-BE49-F238E27FC236}">
                <a16:creationId xmlns:a16="http://schemas.microsoft.com/office/drawing/2014/main" id="{EBDD1931-9E86-4402-9A68-33A2D9EFB198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8133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218C0-6540-400C-BB51-353D5FD5C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48056"/>
            <a:ext cx="10515600" cy="4069080"/>
          </a:xfrm>
        </p:spPr>
        <p:txBody>
          <a:bodyPr anchor="b">
            <a:normAutofit/>
          </a:bodyPr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81CD69-43B3-4FF7-AA41-30C36C957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4983480"/>
            <a:ext cx="10515600" cy="1124712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BF300D-5CBE-47E9-A193-E23C8314D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7DF3F-C51A-4DB1-9FCE-E3E0D8E92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269CF4-FAAB-44EF-A2A5-8352B4AA3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417A8947-4521-4FE1-8E44-27363435CE1B}"/>
              </a:ext>
            </a:extLst>
          </p:cNvPr>
          <p:cNvSpPr/>
          <p:nvPr/>
        </p:nvSpPr>
        <p:spPr>
          <a:xfrm>
            <a:off x="838200" y="4736883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4494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DE264-531D-49C1-A8AF-2B4C1D218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9A1B8-2F1B-46AA-858A-CFFF5AF7CE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9384"/>
            <a:ext cx="5181600" cy="42519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6B9631-18C0-43BD-8AF3-9137D6D4C2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9384"/>
            <a:ext cx="5181600" cy="4251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032FCA-14C6-4497-9C27-3F5806244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1E5057-693B-4E10-958E-0ABE79FEC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0CECB1-0A35-4C10-9D3D-FE4404283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descr="Tag=AccentColor&#10;Flavor=Light&#10;Target=FillAndLine">
            <a:extLst>
              <a:ext uri="{FF2B5EF4-FFF2-40B4-BE49-F238E27FC236}">
                <a16:creationId xmlns:a16="http://schemas.microsoft.com/office/drawing/2014/main" id="{2FAAC677-2D37-4F63-9C4B-711A2988EE02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6216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AE282-8875-4F49-AB21-E1C2BCAEA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12EA2-EF8C-4F18-BECF-AD121F7281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38528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7B59D4-E93F-40C1-A1A2-F1867830C6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926080"/>
            <a:ext cx="5157787" cy="326440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810616-1C77-42AE-8449-D0B64E2B84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38528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74E172-AFE8-48E4-BBB0-CA6D4EC112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26080"/>
            <a:ext cx="5183188" cy="32644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9407CC-270D-4C98-B95C-7AE67D2E1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3/3/24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4070D5-9B7B-47FC-9F75-F6AD96074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8EAC17-33BE-4265-8C06-644C2D34F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 descr="Tag=AccentColor&#10;Flavor=Light&#10;Target=FillAndLine">
            <a:extLst>
              <a:ext uri="{FF2B5EF4-FFF2-40B4-BE49-F238E27FC236}">
                <a16:creationId xmlns:a16="http://schemas.microsoft.com/office/drawing/2014/main" id="{F634C457-AEBF-47D7-9200-BAD05D138B12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9193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E9AC0-40CD-4451-BF00-5E2FC7B74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3704" y="1728216"/>
            <a:ext cx="7781544" cy="3392424"/>
          </a:xfrm>
        </p:spPr>
        <p:txBody>
          <a:bodyPr>
            <a:normAutofit/>
          </a:bodyPr>
          <a:lstStyle>
            <a:lvl1pPr algn="ctr">
              <a:defRPr sz="7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FD9A32-9C83-452B-BC69-CC6E95D3C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3/3/24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87B83E-E23E-42DE-876D-F55908A97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1C03A8-D428-4010-B413-13B1E9922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6" descr="Tag=AccentColor&#10;Flavor=Light&#10;Target=FillAndLine">
            <a:extLst>
              <a:ext uri="{FF2B5EF4-FFF2-40B4-BE49-F238E27FC236}">
                <a16:creationId xmlns:a16="http://schemas.microsoft.com/office/drawing/2014/main" id="{17F03060-85EC-4182-8C18-C6EE0D373E4B}"/>
              </a:ext>
            </a:extLst>
          </p:cNvPr>
          <p:cNvSpPr/>
          <p:nvPr/>
        </p:nvSpPr>
        <p:spPr>
          <a:xfrm>
            <a:off x="3974206" y="5126892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7560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2816A0-77C4-4A3F-87BD-A7321E3C8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3/3/24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FC3464-F026-4C77-9441-55ECA5054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7D9257-BADE-4D0B-AF0B-D09FE95FA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595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1C48E-F751-45A2-9010-208B81EDB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501F6-8430-4758-8636-74D68E990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3520" y="548640"/>
            <a:ext cx="6053328" cy="5431536"/>
          </a:xfrm>
        </p:spPr>
        <p:txBody>
          <a:bodyPr anchor="ctr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79DC39-A29C-494C-98B6-999746C5F3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2237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84C988-A6DB-469A-B8AA-31866F36E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BC39C3-81EB-4828-9AD3-2F1FAC521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59376C-9810-49A5-BC9A-4E6A02175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:a16="http://schemas.microsoft.com/office/drawing/2014/main" id="{B9F96F3A-E64D-4401-B02C-BCD5CAA97CFF}"/>
              </a:ext>
            </a:extLst>
          </p:cNvPr>
          <p:cNvSpPr/>
          <p:nvPr/>
        </p:nvSpPr>
        <p:spPr>
          <a:xfrm rot="5400000">
            <a:off x="2797492" y="3254143"/>
            <a:ext cx="4480560" cy="27432"/>
          </a:xfrm>
          <a:custGeom>
            <a:avLst/>
            <a:gdLst>
              <a:gd name="connsiteX0" fmla="*/ 0 w 4480560"/>
              <a:gd name="connsiteY0" fmla="*/ 0 h 27432"/>
              <a:gd name="connsiteX1" fmla="*/ 595274 w 4480560"/>
              <a:gd name="connsiteY1" fmla="*/ 0 h 27432"/>
              <a:gd name="connsiteX2" fmla="*/ 1100938 w 4480560"/>
              <a:gd name="connsiteY2" fmla="*/ 0 h 27432"/>
              <a:gd name="connsiteX3" fmla="*/ 1651406 w 4480560"/>
              <a:gd name="connsiteY3" fmla="*/ 0 h 27432"/>
              <a:gd name="connsiteX4" fmla="*/ 2336292 w 4480560"/>
              <a:gd name="connsiteY4" fmla="*/ 0 h 27432"/>
              <a:gd name="connsiteX5" fmla="*/ 2931566 w 4480560"/>
              <a:gd name="connsiteY5" fmla="*/ 0 h 27432"/>
              <a:gd name="connsiteX6" fmla="*/ 3482035 w 4480560"/>
              <a:gd name="connsiteY6" fmla="*/ 0 h 27432"/>
              <a:gd name="connsiteX7" fmla="*/ 4480560 w 4480560"/>
              <a:gd name="connsiteY7" fmla="*/ 0 h 27432"/>
              <a:gd name="connsiteX8" fmla="*/ 4480560 w 4480560"/>
              <a:gd name="connsiteY8" fmla="*/ 27432 h 27432"/>
              <a:gd name="connsiteX9" fmla="*/ 3840480 w 4480560"/>
              <a:gd name="connsiteY9" fmla="*/ 27432 h 27432"/>
              <a:gd name="connsiteX10" fmla="*/ 3290011 w 4480560"/>
              <a:gd name="connsiteY10" fmla="*/ 27432 h 27432"/>
              <a:gd name="connsiteX11" fmla="*/ 2560320 w 4480560"/>
              <a:gd name="connsiteY11" fmla="*/ 27432 h 27432"/>
              <a:gd name="connsiteX12" fmla="*/ 1965046 w 4480560"/>
              <a:gd name="connsiteY12" fmla="*/ 27432 h 27432"/>
              <a:gd name="connsiteX13" fmla="*/ 1459382 w 4480560"/>
              <a:gd name="connsiteY13" fmla="*/ 27432 h 27432"/>
              <a:gd name="connsiteX14" fmla="*/ 774497 w 4480560"/>
              <a:gd name="connsiteY14" fmla="*/ 27432 h 27432"/>
              <a:gd name="connsiteX15" fmla="*/ 0 w 4480560"/>
              <a:gd name="connsiteY15" fmla="*/ 27432 h 27432"/>
              <a:gd name="connsiteX16" fmla="*/ 0 w 4480560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712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37704-80BD-41B0-8395-41618EC3A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1920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DA4032-EC66-4974-BD30-898B60E4B5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03520" y="548640"/>
            <a:ext cx="6053328" cy="543153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1802D0-5574-4631-BA49-92362F8E40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1920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2C2F5B-DDDD-4E64-94A9-99E46F4B0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FA8D36-8865-48E7-8249-ED729A5F7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0F98C3-0B62-4361-8408-A01F70807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:a16="http://schemas.microsoft.com/office/drawing/2014/main" id="{FE511AB6-FEAF-4549-BA88-0764BD10B63D}"/>
              </a:ext>
            </a:extLst>
          </p:cNvPr>
          <p:cNvSpPr/>
          <p:nvPr/>
        </p:nvSpPr>
        <p:spPr>
          <a:xfrm rot="5400000">
            <a:off x="2798064" y="3254143"/>
            <a:ext cx="4480560" cy="27432"/>
          </a:xfrm>
          <a:custGeom>
            <a:avLst/>
            <a:gdLst>
              <a:gd name="connsiteX0" fmla="*/ 0 w 4480560"/>
              <a:gd name="connsiteY0" fmla="*/ 0 h 27432"/>
              <a:gd name="connsiteX1" fmla="*/ 595274 w 4480560"/>
              <a:gd name="connsiteY1" fmla="*/ 0 h 27432"/>
              <a:gd name="connsiteX2" fmla="*/ 1100938 w 4480560"/>
              <a:gd name="connsiteY2" fmla="*/ 0 h 27432"/>
              <a:gd name="connsiteX3" fmla="*/ 1651406 w 4480560"/>
              <a:gd name="connsiteY3" fmla="*/ 0 h 27432"/>
              <a:gd name="connsiteX4" fmla="*/ 2336292 w 4480560"/>
              <a:gd name="connsiteY4" fmla="*/ 0 h 27432"/>
              <a:gd name="connsiteX5" fmla="*/ 2931566 w 4480560"/>
              <a:gd name="connsiteY5" fmla="*/ 0 h 27432"/>
              <a:gd name="connsiteX6" fmla="*/ 3482035 w 4480560"/>
              <a:gd name="connsiteY6" fmla="*/ 0 h 27432"/>
              <a:gd name="connsiteX7" fmla="*/ 4480560 w 4480560"/>
              <a:gd name="connsiteY7" fmla="*/ 0 h 27432"/>
              <a:gd name="connsiteX8" fmla="*/ 4480560 w 4480560"/>
              <a:gd name="connsiteY8" fmla="*/ 27432 h 27432"/>
              <a:gd name="connsiteX9" fmla="*/ 3840480 w 4480560"/>
              <a:gd name="connsiteY9" fmla="*/ 27432 h 27432"/>
              <a:gd name="connsiteX10" fmla="*/ 3290011 w 4480560"/>
              <a:gd name="connsiteY10" fmla="*/ 27432 h 27432"/>
              <a:gd name="connsiteX11" fmla="*/ 2560320 w 4480560"/>
              <a:gd name="connsiteY11" fmla="*/ 27432 h 27432"/>
              <a:gd name="connsiteX12" fmla="*/ 1965046 w 4480560"/>
              <a:gd name="connsiteY12" fmla="*/ 27432 h 27432"/>
              <a:gd name="connsiteX13" fmla="*/ 1459382 w 4480560"/>
              <a:gd name="connsiteY13" fmla="*/ 27432 h 27432"/>
              <a:gd name="connsiteX14" fmla="*/ 774497 w 4480560"/>
              <a:gd name="connsiteY14" fmla="*/ 27432 h 27432"/>
              <a:gd name="connsiteX15" fmla="*/ 0 w 4480560"/>
              <a:gd name="connsiteY15" fmla="*/ 27432 h 27432"/>
              <a:gd name="connsiteX16" fmla="*/ 0 w 4480560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817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7CF8D-FF51-4FD8-B968-A2C850734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61A953-02EA-491B-A215-AF8420D74D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84D1E-BC98-44E4-8D2C-89CCDC293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019EB-9C2B-4833-B72A-147694159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6E764-5688-45F5-94ED-A7357D2F5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447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0E3CB6-3025-40BF-A04B-A7B0CB4C01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DD5CB3-8B24-48C7-89D3-8DCAD36A45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BC931-E2BF-4C1D-91AA-89F82F826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8A135-AEE9-4483-957E-3D143318D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8DEFD4-A052-46B3-B2AE-F3091D8A2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710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72D13B-FFCB-4650-AD3C-CB5037352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CA9470-DF15-46A1-BF0E-8A5367A4B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3047CB-E94D-482F-BACA-681E96C0EC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345051-2045-45DA-935E-2E3CA1A69ADC}" type="datetimeFigureOut">
              <a:rPr lang="en-US" smtClean="0"/>
              <a:t>3/3/24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DA4B5-E797-42FC-8B7A-2294DF24A3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ED201-6D0E-422C-B4EC-566A3DC298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CD31F4-64FA-4BA0-9498-67783267A8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3933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95" r:id="rId1"/>
    <p:sldLayoutId id="2147484096" r:id="rId2"/>
    <p:sldLayoutId id="2147484097" r:id="rId3"/>
    <p:sldLayoutId id="2147484098" r:id="rId4"/>
    <p:sldLayoutId id="2147484099" r:id="rId5"/>
    <p:sldLayoutId id="2147484105" r:id="rId6"/>
    <p:sldLayoutId id="2147484100" r:id="rId7"/>
    <p:sldLayoutId id="2147484101" r:id="rId8"/>
    <p:sldLayoutId id="2147484102" r:id="rId9"/>
    <p:sldLayoutId id="2147484104" r:id="rId10"/>
    <p:sldLayoutId id="2147484103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5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healthdirect.gov.au/sexually-transmitted-infections-sti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aihw.gov.au/reports/men-women/male-health/contents/how-healthy/sexual-health" TargetMode="External"/><Relationship Id="rId5" Type="http://schemas.openxmlformats.org/officeDocument/2006/relationships/hyperlink" Target="https://www.aihw.gov.au/reports/men-women/female-health/contents/how-healthy/sexual-health" TargetMode="External"/><Relationship Id="rId4" Type="http://schemas.openxmlformats.org/officeDocument/2006/relationships/hyperlink" Target="https://www.healthdirect.gov.au/hiv-infection-and-aids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5" name="Rectangle 74">
            <a:extLst>
              <a:ext uri="{FF2B5EF4-FFF2-40B4-BE49-F238E27FC236}">
                <a16:creationId xmlns:a16="http://schemas.microsoft.com/office/drawing/2014/main" id="{93245F62-CCC4-49E4-B95B-EA6C1E7905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rainbow colored splatter&#10;&#10;Description automatically generated">
            <a:extLst>
              <a:ext uri="{FF2B5EF4-FFF2-40B4-BE49-F238E27FC236}">
                <a16:creationId xmlns:a16="http://schemas.microsoft.com/office/drawing/2014/main" id="{EEA83DFB-1DE6-B5DE-A972-635BA224801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747"/>
          <a:stretch/>
        </p:blipFill>
        <p:spPr>
          <a:xfrm>
            <a:off x="1298963" y="266542"/>
            <a:ext cx="9589477" cy="5394065"/>
          </a:xfrm>
          <a:prstGeom prst="rect">
            <a:avLst/>
          </a:prstGeom>
        </p:spPr>
      </p:pic>
      <p:pic>
        <p:nvPicPr>
          <p:cNvPr id="1028" name="Picture 4" descr="Sexually Transmitted Infections and HIV">
            <a:extLst>
              <a:ext uri="{FF2B5EF4-FFF2-40B4-BE49-F238E27FC236}">
                <a16:creationId xmlns:a16="http://schemas.microsoft.com/office/drawing/2014/main" id="{BDCE080E-9344-5EDA-E414-5ED90ABD48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5312" t="22731" r="26524" b="12904"/>
          <a:stretch/>
        </p:blipFill>
        <p:spPr bwMode="auto">
          <a:xfrm>
            <a:off x="9472614" y="266542"/>
            <a:ext cx="2614612" cy="1929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657FBC4-0AFB-ADB7-F057-3A68585499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8882" y="3577456"/>
            <a:ext cx="10909640" cy="1687814"/>
          </a:xfrm>
        </p:spPr>
        <p:txBody>
          <a:bodyPr anchor="b">
            <a:normAutofit/>
          </a:bodyPr>
          <a:lstStyle/>
          <a:p>
            <a:pPr algn="ctr"/>
            <a:r>
              <a:rPr lang="en-US" sz="10000" dirty="0"/>
              <a:t>CONTRACEPTION &amp; STI’s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D7FC79-1308-3C8D-6F49-05BF0614DD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8881" y="5660607"/>
            <a:ext cx="10909643" cy="1060868"/>
          </a:xfrm>
        </p:spPr>
        <p:txBody>
          <a:bodyPr anchor="t">
            <a:normAutofit/>
          </a:bodyPr>
          <a:lstStyle/>
          <a:p>
            <a:pPr algn="ctr"/>
            <a:r>
              <a:rPr lang="en-US" sz="3200" b="1" dirty="0"/>
              <a:t>Year 10 Health 			Lesson 6			Term 2, 2024</a:t>
            </a:r>
          </a:p>
        </p:txBody>
      </p:sp>
      <p:sp>
        <p:nvSpPr>
          <p:cNvPr id="77" name="Rectangle 6">
            <a:extLst>
              <a:ext uri="{FF2B5EF4-FFF2-40B4-BE49-F238E27FC236}">
                <a16:creationId xmlns:a16="http://schemas.microsoft.com/office/drawing/2014/main" id="{E6C0DD6B-6AA3-448F-9B99-8386295BC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5509052"/>
            <a:ext cx="4572000" cy="27432"/>
          </a:xfrm>
          <a:custGeom>
            <a:avLst/>
            <a:gdLst>
              <a:gd name="connsiteX0" fmla="*/ 0 w 4572000"/>
              <a:gd name="connsiteY0" fmla="*/ 0 h 27432"/>
              <a:gd name="connsiteX1" fmla="*/ 607423 w 4572000"/>
              <a:gd name="connsiteY1" fmla="*/ 0 h 27432"/>
              <a:gd name="connsiteX2" fmla="*/ 1123406 w 4572000"/>
              <a:gd name="connsiteY2" fmla="*/ 0 h 27432"/>
              <a:gd name="connsiteX3" fmla="*/ 1685109 w 4572000"/>
              <a:gd name="connsiteY3" fmla="*/ 0 h 27432"/>
              <a:gd name="connsiteX4" fmla="*/ 2383971 w 4572000"/>
              <a:gd name="connsiteY4" fmla="*/ 0 h 27432"/>
              <a:gd name="connsiteX5" fmla="*/ 2991394 w 4572000"/>
              <a:gd name="connsiteY5" fmla="*/ 0 h 27432"/>
              <a:gd name="connsiteX6" fmla="*/ 3553097 w 4572000"/>
              <a:gd name="connsiteY6" fmla="*/ 0 h 27432"/>
              <a:gd name="connsiteX7" fmla="*/ 4572000 w 4572000"/>
              <a:gd name="connsiteY7" fmla="*/ 0 h 27432"/>
              <a:gd name="connsiteX8" fmla="*/ 4572000 w 4572000"/>
              <a:gd name="connsiteY8" fmla="*/ 27432 h 27432"/>
              <a:gd name="connsiteX9" fmla="*/ 3918857 w 4572000"/>
              <a:gd name="connsiteY9" fmla="*/ 27432 h 27432"/>
              <a:gd name="connsiteX10" fmla="*/ 3357154 w 4572000"/>
              <a:gd name="connsiteY10" fmla="*/ 27432 h 27432"/>
              <a:gd name="connsiteX11" fmla="*/ 2612571 w 4572000"/>
              <a:gd name="connsiteY11" fmla="*/ 27432 h 27432"/>
              <a:gd name="connsiteX12" fmla="*/ 2005149 w 4572000"/>
              <a:gd name="connsiteY12" fmla="*/ 27432 h 27432"/>
              <a:gd name="connsiteX13" fmla="*/ 1489166 w 4572000"/>
              <a:gd name="connsiteY13" fmla="*/ 27432 h 27432"/>
              <a:gd name="connsiteX14" fmla="*/ 790303 w 4572000"/>
              <a:gd name="connsiteY14" fmla="*/ 27432 h 27432"/>
              <a:gd name="connsiteX15" fmla="*/ 0 w 4572000"/>
              <a:gd name="connsiteY15" fmla="*/ 27432 h 27432"/>
              <a:gd name="connsiteX16" fmla="*/ 0 w 4572000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27432" fill="none" extrusionOk="0">
                <a:moveTo>
                  <a:pt x="0" y="0"/>
                </a:moveTo>
                <a:cubicBezTo>
                  <a:pt x="150397" y="-23421"/>
                  <a:pt x="474161" y="9174"/>
                  <a:pt x="607423" y="0"/>
                </a:cubicBezTo>
                <a:cubicBezTo>
                  <a:pt x="740685" y="-9174"/>
                  <a:pt x="868821" y="-4258"/>
                  <a:pt x="1123406" y="0"/>
                </a:cubicBezTo>
                <a:cubicBezTo>
                  <a:pt x="1377991" y="4258"/>
                  <a:pt x="1567664" y="-12410"/>
                  <a:pt x="1685109" y="0"/>
                </a:cubicBezTo>
                <a:cubicBezTo>
                  <a:pt x="1802554" y="12410"/>
                  <a:pt x="2193086" y="-14353"/>
                  <a:pt x="2383971" y="0"/>
                </a:cubicBezTo>
                <a:cubicBezTo>
                  <a:pt x="2574856" y="14353"/>
                  <a:pt x="2697477" y="-26142"/>
                  <a:pt x="2991394" y="0"/>
                </a:cubicBezTo>
                <a:cubicBezTo>
                  <a:pt x="3285311" y="26142"/>
                  <a:pt x="3423667" y="26544"/>
                  <a:pt x="3553097" y="0"/>
                </a:cubicBezTo>
                <a:cubicBezTo>
                  <a:pt x="3682527" y="-26544"/>
                  <a:pt x="4344147" y="50350"/>
                  <a:pt x="4572000" y="0"/>
                </a:cubicBezTo>
                <a:cubicBezTo>
                  <a:pt x="4571027" y="8304"/>
                  <a:pt x="4571522" y="21512"/>
                  <a:pt x="4572000" y="27432"/>
                </a:cubicBezTo>
                <a:cubicBezTo>
                  <a:pt x="4438349" y="5490"/>
                  <a:pt x="4090129" y="31231"/>
                  <a:pt x="3918857" y="27432"/>
                </a:cubicBezTo>
                <a:cubicBezTo>
                  <a:pt x="3747585" y="23633"/>
                  <a:pt x="3498826" y="6883"/>
                  <a:pt x="3357154" y="27432"/>
                </a:cubicBezTo>
                <a:cubicBezTo>
                  <a:pt x="3215482" y="47981"/>
                  <a:pt x="2784289" y="56849"/>
                  <a:pt x="2612571" y="27432"/>
                </a:cubicBezTo>
                <a:cubicBezTo>
                  <a:pt x="2440853" y="-1985"/>
                  <a:pt x="2261292" y="25951"/>
                  <a:pt x="2005149" y="27432"/>
                </a:cubicBezTo>
                <a:cubicBezTo>
                  <a:pt x="1749006" y="28913"/>
                  <a:pt x="1700078" y="34342"/>
                  <a:pt x="1489166" y="27432"/>
                </a:cubicBezTo>
                <a:cubicBezTo>
                  <a:pt x="1278254" y="20522"/>
                  <a:pt x="1077188" y="56916"/>
                  <a:pt x="790303" y="27432"/>
                </a:cubicBezTo>
                <a:cubicBezTo>
                  <a:pt x="503418" y="-2052"/>
                  <a:pt x="359168" y="57044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572000" h="27432" stroke="0" extrusionOk="0">
                <a:moveTo>
                  <a:pt x="0" y="0"/>
                </a:moveTo>
                <a:cubicBezTo>
                  <a:pt x="155698" y="6780"/>
                  <a:pt x="465972" y="13197"/>
                  <a:pt x="607423" y="0"/>
                </a:cubicBezTo>
                <a:cubicBezTo>
                  <a:pt x="748874" y="-13197"/>
                  <a:pt x="1014133" y="22994"/>
                  <a:pt x="1123406" y="0"/>
                </a:cubicBezTo>
                <a:cubicBezTo>
                  <a:pt x="1232679" y="-22994"/>
                  <a:pt x="1639431" y="-2997"/>
                  <a:pt x="1867989" y="0"/>
                </a:cubicBezTo>
                <a:cubicBezTo>
                  <a:pt x="2096547" y="2997"/>
                  <a:pt x="2265668" y="29557"/>
                  <a:pt x="2475411" y="0"/>
                </a:cubicBezTo>
                <a:cubicBezTo>
                  <a:pt x="2685154" y="-29557"/>
                  <a:pt x="2951491" y="73"/>
                  <a:pt x="3082834" y="0"/>
                </a:cubicBezTo>
                <a:cubicBezTo>
                  <a:pt x="3214177" y="-73"/>
                  <a:pt x="3641000" y="-33478"/>
                  <a:pt x="3827417" y="0"/>
                </a:cubicBezTo>
                <a:cubicBezTo>
                  <a:pt x="4013834" y="33478"/>
                  <a:pt x="4345917" y="14255"/>
                  <a:pt x="4572000" y="0"/>
                </a:cubicBezTo>
                <a:cubicBezTo>
                  <a:pt x="4572485" y="9333"/>
                  <a:pt x="4573278" y="19699"/>
                  <a:pt x="4572000" y="27432"/>
                </a:cubicBezTo>
                <a:cubicBezTo>
                  <a:pt x="4318030" y="43025"/>
                  <a:pt x="4161104" y="34314"/>
                  <a:pt x="4010297" y="27432"/>
                </a:cubicBezTo>
                <a:cubicBezTo>
                  <a:pt x="3859490" y="20550"/>
                  <a:pt x="3592529" y="6613"/>
                  <a:pt x="3357154" y="27432"/>
                </a:cubicBezTo>
                <a:cubicBezTo>
                  <a:pt x="3121779" y="48251"/>
                  <a:pt x="2884285" y="3780"/>
                  <a:pt x="2704011" y="27432"/>
                </a:cubicBezTo>
                <a:cubicBezTo>
                  <a:pt x="2523737" y="51084"/>
                  <a:pt x="2295944" y="32081"/>
                  <a:pt x="2096589" y="27432"/>
                </a:cubicBezTo>
                <a:cubicBezTo>
                  <a:pt x="1897234" y="22783"/>
                  <a:pt x="1623782" y="52518"/>
                  <a:pt x="1352006" y="27432"/>
                </a:cubicBezTo>
                <a:cubicBezTo>
                  <a:pt x="1080230" y="2346"/>
                  <a:pt x="869959" y="12864"/>
                  <a:pt x="607423" y="27432"/>
                </a:cubicBezTo>
                <a:cubicBezTo>
                  <a:pt x="344887" y="42000"/>
                  <a:pt x="188100" y="40051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rgbClr val="7EB8FB"/>
          </a:solidFill>
          <a:ln w="38100" cap="rnd">
            <a:solidFill>
              <a:srgbClr val="7EB8FB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Date Placeholder 26">
            <a:extLst>
              <a:ext uri="{FF2B5EF4-FFF2-40B4-BE49-F238E27FC236}">
                <a16:creationId xmlns:a16="http://schemas.microsoft.com/office/drawing/2014/main" id="{F28B82B1-E269-4325-A665-6CFE5DEE5D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1" name="Footer Placeholder 27">
            <a:extLst>
              <a:ext uri="{FF2B5EF4-FFF2-40B4-BE49-F238E27FC236}">
                <a16:creationId xmlns:a16="http://schemas.microsoft.com/office/drawing/2014/main" id="{7C700527-76FD-4DF4-A597-6F5E089CA0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3" name="Slide Number Placeholder 28">
            <a:extLst>
              <a:ext uri="{FF2B5EF4-FFF2-40B4-BE49-F238E27FC236}">
                <a16:creationId xmlns:a16="http://schemas.microsoft.com/office/drawing/2014/main" id="{B5EA49A9-01EB-4D60-A392-7DC9B625D6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6753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1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-1.11111E-6 C -0.01679 -0.02407 -0.07395 -0.04745 -0.09492 -0.04745 C -0.22226 -0.04745 -0.35377 0.32408 -0.35377 0.69583 C -0.35377 0.50857 -0.41966 0.32408 -0.48112 0.32408 C -0.547 0.32408 -0.60846 0.51134 -0.60846 0.69583 C -0.60846 0.60347 -0.64114 0.50857 -0.67421 0.50857 C -0.70703 0.50857 -0.74023 0.6007 -0.74023 0.69583 C -0.74023 0.64815 -0.75664 0.60347 -0.77278 0.60347 C -0.78945 0.60347 -0.80546 0.65093 -0.80546 0.69583 C -0.80546 0.67153 -0.81341 0.64815 -0.822 0.64815 C -0.8263 0.64815 -0.83867 0.67222 -0.83867 0.69583 C -0.83867 0.68403 -0.84296 0.67153 -0.84661 0.67153 C -0.84661 0.66898 -0.85468 0.68333 -0.85468 0.69583 C -0.85468 0.68958 -0.85468 0.68403 -0.85898 0.68403 C -0.85898 0.68681 -0.86328 0.69028 -0.86328 0.69583 C -0.86328 0.69306 -0.86328 0.68958 -0.86328 0.68681 C -0.86757 0.68681 -0.86757 0.68958 -0.86757 0.69306 C -0.87187 0.69306 -0.87187 0.69028 -0.87187 0.68681 C -0.87591 0.68681 -0.87591 0.68958 -0.87591 0.69306 " pathEditMode="relative" rAng="0" ptsTypes="AAAAAAAAAAAAAAAAAAA">
                                      <p:cBhvr>
                                        <p:cTn id="9" dur="5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802" y="3240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04FFB5-DE23-4D74-BEF9-CC7D947D3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6600"/>
              <a:t>Today’s Focus</a:t>
            </a:r>
          </a:p>
        </p:txBody>
      </p:sp>
      <p:sp>
        <p:nvSpPr>
          <p:cNvPr id="28" name="Rectangle 6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093" y="2563839"/>
            <a:ext cx="3931920" cy="27432"/>
          </a:xfrm>
          <a:custGeom>
            <a:avLst/>
            <a:gdLst>
              <a:gd name="connsiteX0" fmla="*/ 0 w 3931920"/>
              <a:gd name="connsiteY0" fmla="*/ 0 h 27432"/>
              <a:gd name="connsiteX1" fmla="*/ 733958 w 3931920"/>
              <a:gd name="connsiteY1" fmla="*/ 0 h 27432"/>
              <a:gd name="connsiteX2" fmla="*/ 1428598 w 3931920"/>
              <a:gd name="connsiteY2" fmla="*/ 0 h 27432"/>
              <a:gd name="connsiteX3" fmla="*/ 2123237 w 3931920"/>
              <a:gd name="connsiteY3" fmla="*/ 0 h 27432"/>
              <a:gd name="connsiteX4" fmla="*/ 2660599 w 3931920"/>
              <a:gd name="connsiteY4" fmla="*/ 0 h 27432"/>
              <a:gd name="connsiteX5" fmla="*/ 3237281 w 3931920"/>
              <a:gd name="connsiteY5" fmla="*/ 0 h 27432"/>
              <a:gd name="connsiteX6" fmla="*/ 3931920 w 3931920"/>
              <a:gd name="connsiteY6" fmla="*/ 0 h 27432"/>
              <a:gd name="connsiteX7" fmla="*/ 3931920 w 3931920"/>
              <a:gd name="connsiteY7" fmla="*/ 27432 h 27432"/>
              <a:gd name="connsiteX8" fmla="*/ 3276600 w 3931920"/>
              <a:gd name="connsiteY8" fmla="*/ 27432 h 27432"/>
              <a:gd name="connsiteX9" fmla="*/ 2739238 w 3931920"/>
              <a:gd name="connsiteY9" fmla="*/ 27432 h 27432"/>
              <a:gd name="connsiteX10" fmla="*/ 2201875 w 3931920"/>
              <a:gd name="connsiteY10" fmla="*/ 27432 h 27432"/>
              <a:gd name="connsiteX11" fmla="*/ 1507236 w 3931920"/>
              <a:gd name="connsiteY11" fmla="*/ 27432 h 27432"/>
              <a:gd name="connsiteX12" fmla="*/ 930554 w 3931920"/>
              <a:gd name="connsiteY12" fmla="*/ 27432 h 27432"/>
              <a:gd name="connsiteX13" fmla="*/ 0 w 3931920"/>
              <a:gd name="connsiteY13" fmla="*/ 27432 h 27432"/>
              <a:gd name="connsiteX14" fmla="*/ 0 w 3931920"/>
              <a:gd name="connsiteY14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931920" h="27432" fill="none" extrusionOk="0">
                <a:moveTo>
                  <a:pt x="0" y="0"/>
                </a:moveTo>
                <a:cubicBezTo>
                  <a:pt x="245351" y="16874"/>
                  <a:pt x="509174" y="13736"/>
                  <a:pt x="733958" y="0"/>
                </a:cubicBezTo>
                <a:cubicBezTo>
                  <a:pt x="958742" y="-13736"/>
                  <a:pt x="1245406" y="-17215"/>
                  <a:pt x="1428598" y="0"/>
                </a:cubicBezTo>
                <a:cubicBezTo>
                  <a:pt x="1611790" y="17215"/>
                  <a:pt x="1930525" y="20562"/>
                  <a:pt x="2123237" y="0"/>
                </a:cubicBezTo>
                <a:cubicBezTo>
                  <a:pt x="2315949" y="-20562"/>
                  <a:pt x="2485508" y="11332"/>
                  <a:pt x="2660599" y="0"/>
                </a:cubicBezTo>
                <a:cubicBezTo>
                  <a:pt x="2835690" y="-11332"/>
                  <a:pt x="3075198" y="-14809"/>
                  <a:pt x="3237281" y="0"/>
                </a:cubicBezTo>
                <a:cubicBezTo>
                  <a:pt x="3399364" y="14809"/>
                  <a:pt x="3745084" y="-4992"/>
                  <a:pt x="3931920" y="0"/>
                </a:cubicBezTo>
                <a:cubicBezTo>
                  <a:pt x="3930963" y="8431"/>
                  <a:pt x="3931571" y="14612"/>
                  <a:pt x="3931920" y="27432"/>
                </a:cubicBezTo>
                <a:cubicBezTo>
                  <a:pt x="3765435" y="40792"/>
                  <a:pt x="3452398" y="38703"/>
                  <a:pt x="3276600" y="27432"/>
                </a:cubicBezTo>
                <a:cubicBezTo>
                  <a:pt x="3100802" y="16161"/>
                  <a:pt x="2914889" y="26998"/>
                  <a:pt x="2739238" y="27432"/>
                </a:cubicBezTo>
                <a:cubicBezTo>
                  <a:pt x="2563587" y="27866"/>
                  <a:pt x="2395484" y="39154"/>
                  <a:pt x="2201875" y="27432"/>
                </a:cubicBezTo>
                <a:cubicBezTo>
                  <a:pt x="2008266" y="15710"/>
                  <a:pt x="1781367" y="4899"/>
                  <a:pt x="1507236" y="27432"/>
                </a:cubicBezTo>
                <a:cubicBezTo>
                  <a:pt x="1233105" y="49965"/>
                  <a:pt x="1075495" y="47542"/>
                  <a:pt x="930554" y="27432"/>
                </a:cubicBezTo>
                <a:cubicBezTo>
                  <a:pt x="785613" y="7322"/>
                  <a:pt x="268930" y="30433"/>
                  <a:pt x="0" y="27432"/>
                </a:cubicBezTo>
                <a:cubicBezTo>
                  <a:pt x="226" y="18208"/>
                  <a:pt x="-648" y="12891"/>
                  <a:pt x="0" y="0"/>
                </a:cubicBezTo>
                <a:close/>
              </a:path>
              <a:path w="3931920" h="27432" stroke="0" extrusionOk="0">
                <a:moveTo>
                  <a:pt x="0" y="0"/>
                </a:moveTo>
                <a:cubicBezTo>
                  <a:pt x="278269" y="4786"/>
                  <a:pt x="349028" y="-10422"/>
                  <a:pt x="616001" y="0"/>
                </a:cubicBezTo>
                <a:cubicBezTo>
                  <a:pt x="882974" y="10422"/>
                  <a:pt x="931617" y="-15515"/>
                  <a:pt x="1153363" y="0"/>
                </a:cubicBezTo>
                <a:cubicBezTo>
                  <a:pt x="1375109" y="15515"/>
                  <a:pt x="1704089" y="-3631"/>
                  <a:pt x="1887322" y="0"/>
                </a:cubicBezTo>
                <a:cubicBezTo>
                  <a:pt x="2070555" y="3631"/>
                  <a:pt x="2344155" y="2213"/>
                  <a:pt x="2503322" y="0"/>
                </a:cubicBezTo>
                <a:cubicBezTo>
                  <a:pt x="2662489" y="-2213"/>
                  <a:pt x="2976859" y="26691"/>
                  <a:pt x="3119323" y="0"/>
                </a:cubicBezTo>
                <a:cubicBezTo>
                  <a:pt x="3261787" y="-26691"/>
                  <a:pt x="3588171" y="-28651"/>
                  <a:pt x="3931920" y="0"/>
                </a:cubicBezTo>
                <a:cubicBezTo>
                  <a:pt x="3930565" y="9524"/>
                  <a:pt x="3930718" y="13975"/>
                  <a:pt x="3931920" y="27432"/>
                </a:cubicBezTo>
                <a:cubicBezTo>
                  <a:pt x="3664329" y="4021"/>
                  <a:pt x="3437686" y="14511"/>
                  <a:pt x="3276600" y="27432"/>
                </a:cubicBezTo>
                <a:cubicBezTo>
                  <a:pt x="3115514" y="40353"/>
                  <a:pt x="2913592" y="48967"/>
                  <a:pt x="2739238" y="27432"/>
                </a:cubicBezTo>
                <a:cubicBezTo>
                  <a:pt x="2564884" y="5897"/>
                  <a:pt x="2294049" y="39820"/>
                  <a:pt x="2083918" y="27432"/>
                </a:cubicBezTo>
                <a:cubicBezTo>
                  <a:pt x="1873787" y="15044"/>
                  <a:pt x="1718903" y="21388"/>
                  <a:pt x="1428598" y="27432"/>
                </a:cubicBezTo>
                <a:cubicBezTo>
                  <a:pt x="1138293" y="33476"/>
                  <a:pt x="952209" y="50441"/>
                  <a:pt x="812597" y="27432"/>
                </a:cubicBezTo>
                <a:cubicBezTo>
                  <a:pt x="672985" y="4423"/>
                  <a:pt x="305800" y="28240"/>
                  <a:pt x="0" y="27432"/>
                </a:cubicBezTo>
                <a:cubicBezTo>
                  <a:pt x="-800" y="16780"/>
                  <a:pt x="-583" y="12910"/>
                  <a:pt x="0" y="0"/>
                </a:cubicBezTo>
                <a:close/>
              </a:path>
            </a:pathLst>
          </a:custGeom>
          <a:solidFill>
            <a:srgbClr val="E5B399"/>
          </a:solidFill>
          <a:ln w="38100" cap="rnd">
            <a:solidFill>
              <a:srgbClr val="E5B399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63D7FC-176D-B898-C622-E503B972CD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en-US" dirty="0"/>
              <a:t>Consider your own values regarding your own sexual health.</a:t>
            </a:r>
          </a:p>
          <a:p>
            <a:r>
              <a:rPr lang="en-US" dirty="0"/>
              <a:t>Discuss barriers to getting tested</a:t>
            </a:r>
          </a:p>
          <a:p>
            <a:r>
              <a:rPr lang="en-US" dirty="0"/>
              <a:t>STI’s task – allocate groups and start working</a:t>
            </a:r>
          </a:p>
        </p:txBody>
      </p:sp>
      <p:pic>
        <p:nvPicPr>
          <p:cNvPr id="5" name="Picture 4" descr="Writing an appointment on a paper agenda">
            <a:extLst>
              <a:ext uri="{FF2B5EF4-FFF2-40B4-BE49-F238E27FC236}">
                <a16:creationId xmlns:a16="http://schemas.microsoft.com/office/drawing/2014/main" id="{EDE161DE-AC56-B92C-DAD0-35C65DB943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3047" b="-1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1749225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47B52-9CFE-A1C6-888B-2A1BFDDFE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1: values walk around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FCA9B35-2ABC-2F7C-8A69-94EA6A4292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26785002"/>
              </p:ext>
            </p:extLst>
          </p:nvPr>
        </p:nvGraphicFramePr>
        <p:xfrm>
          <a:off x="838200" y="1929384"/>
          <a:ext cx="10515600" cy="42519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461787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0D86B-DE8E-EB15-91C9-DB88BB9FF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Values Statements: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550ACCC-E950-7858-24B7-6666774620D5}"/>
              </a:ext>
            </a:extLst>
          </p:cNvPr>
          <p:cNvSpPr/>
          <p:nvPr/>
        </p:nvSpPr>
        <p:spPr>
          <a:xfrm>
            <a:off x="596900" y="2163573"/>
            <a:ext cx="3124200" cy="1945386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It is mainly the boy's responsibility to buy condoms</a:t>
            </a:r>
            <a:r>
              <a:rPr lang="en-US" sz="32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4D5D47F-2E57-C90D-DF1C-796E22EB3597}"/>
              </a:ext>
            </a:extLst>
          </p:cNvPr>
          <p:cNvSpPr/>
          <p:nvPr/>
        </p:nvSpPr>
        <p:spPr>
          <a:xfrm>
            <a:off x="4578350" y="2125981"/>
            <a:ext cx="3124200" cy="1945386"/>
          </a:xfrm>
          <a:prstGeom prst="roundRect">
            <a:avLst/>
          </a:prstGeom>
          <a:solidFill>
            <a:srgbClr val="00FA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Teens who abstain from sex are less likely to be emotionally harmed. 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A0C1D9D-5170-33BC-9C7B-63861795386A}"/>
              </a:ext>
            </a:extLst>
          </p:cNvPr>
          <p:cNvSpPr/>
          <p:nvPr/>
        </p:nvSpPr>
        <p:spPr>
          <a:xfrm>
            <a:off x="596900" y="4547489"/>
            <a:ext cx="3124200" cy="1945386"/>
          </a:xfrm>
          <a:prstGeom prst="roundRect">
            <a:avLst/>
          </a:prstGeom>
          <a:solidFill>
            <a:srgbClr val="D883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If you can’t talk with your partner about sex or contraception ahead of time, then you shouldn’t even consider having sex.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35FAFB2-45A4-0369-C21C-F3095C6D315F}"/>
              </a:ext>
            </a:extLst>
          </p:cNvPr>
          <p:cNvSpPr/>
          <p:nvPr/>
        </p:nvSpPr>
        <p:spPr>
          <a:xfrm>
            <a:off x="4533900" y="4541329"/>
            <a:ext cx="3124200" cy="1945386"/>
          </a:xfrm>
          <a:prstGeom prst="roundRect">
            <a:avLst/>
          </a:prstGeom>
          <a:solidFill>
            <a:srgbClr val="FF2F9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I would not buy condoms from a store where I might know someone. 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56C7441-A5F2-A714-B628-3560AECB00DA}"/>
              </a:ext>
            </a:extLst>
          </p:cNvPr>
          <p:cNvSpPr/>
          <p:nvPr/>
        </p:nvSpPr>
        <p:spPr>
          <a:xfrm>
            <a:off x="8559800" y="4541329"/>
            <a:ext cx="3124200" cy="1945386"/>
          </a:xfrm>
          <a:prstGeom prst="roundRect">
            <a:avLst/>
          </a:prstGeom>
          <a:solidFill>
            <a:srgbClr val="FF93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Having sex without using contraception for the first one or two times is OK because the chances of getting pregnant are minimal. 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9F27F1C9-CEE8-7A80-E1E7-3B94FBA800AF}"/>
              </a:ext>
            </a:extLst>
          </p:cNvPr>
          <p:cNvSpPr/>
          <p:nvPr/>
        </p:nvSpPr>
        <p:spPr>
          <a:xfrm>
            <a:off x="8559800" y="2163573"/>
            <a:ext cx="3124200" cy="1945386"/>
          </a:xfrm>
          <a:prstGeom prst="roundRect">
            <a:avLst/>
          </a:prstGeom>
          <a:solidFill>
            <a:srgbClr val="0096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Teens who abstain from sex are less likely to be physically harmed. </a:t>
            </a:r>
          </a:p>
        </p:txBody>
      </p:sp>
    </p:spTree>
    <p:extLst>
      <p:ext uri="{BB962C8B-B14F-4D97-AF65-F5344CB8AC3E}">
        <p14:creationId xmlns:p14="http://schemas.microsoft.com/office/powerpoint/2010/main" val="2040143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10" grpId="0" animBg="1"/>
      <p:bldP spid="12" grpId="0" animBg="1"/>
      <p:bldP spid="12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8EDE85-3CE9-2675-DD33-023F986C3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4296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n-US" sz="7200" dirty="0"/>
              <a:t>Prevention (pg. 21)</a:t>
            </a:r>
          </a:p>
        </p:txBody>
      </p:sp>
      <p:pic>
        <p:nvPicPr>
          <p:cNvPr id="4" name="Picture 2" descr="Sexually Transmitted Infections (STIs): Sexually Transmitted Diseases (STDs)">
            <a:extLst>
              <a:ext uri="{FF2B5EF4-FFF2-40B4-BE49-F238E27FC236}">
                <a16:creationId xmlns:a16="http://schemas.microsoft.com/office/drawing/2014/main" id="{C1FA6FB7-8871-372D-592D-6B0E2BD73FB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1" b="6671"/>
          <a:stretch/>
        </p:blipFill>
        <p:spPr bwMode="auto">
          <a:xfrm>
            <a:off x="19" y="1"/>
            <a:ext cx="4386629" cy="6857999"/>
          </a:xfrm>
          <a:custGeom>
            <a:avLst/>
            <a:gdLst/>
            <a:ahLst/>
            <a:cxnLst/>
            <a:rect l="l" t="t" r="r" b="b"/>
            <a:pathLst>
              <a:path w="4052542" h="6858000">
                <a:moveTo>
                  <a:pt x="0" y="0"/>
                </a:moveTo>
                <a:lnTo>
                  <a:pt x="4020923" y="0"/>
                </a:lnTo>
                <a:lnTo>
                  <a:pt x="4022656" y="14697"/>
                </a:lnTo>
                <a:cubicBezTo>
                  <a:pt x="4037606" y="98462"/>
                  <a:pt x="4035072" y="183369"/>
                  <a:pt x="4039126" y="267642"/>
                </a:cubicBezTo>
                <a:cubicBezTo>
                  <a:pt x="4043941" y="370699"/>
                  <a:pt x="4037860" y="474136"/>
                  <a:pt x="4035579" y="577446"/>
                </a:cubicBezTo>
                <a:cubicBezTo>
                  <a:pt x="4033805" y="665399"/>
                  <a:pt x="4025063" y="753226"/>
                  <a:pt x="4027724" y="841306"/>
                </a:cubicBezTo>
                <a:cubicBezTo>
                  <a:pt x="4027914" y="844352"/>
                  <a:pt x="4027914" y="847398"/>
                  <a:pt x="4027724" y="850444"/>
                </a:cubicBezTo>
                <a:cubicBezTo>
                  <a:pt x="4019615" y="947281"/>
                  <a:pt x="4019615" y="1044626"/>
                  <a:pt x="4027724" y="1141464"/>
                </a:cubicBezTo>
                <a:cubicBezTo>
                  <a:pt x="4030296" y="1181772"/>
                  <a:pt x="4029574" y="1222221"/>
                  <a:pt x="4025570" y="1262415"/>
                </a:cubicBezTo>
                <a:cubicBezTo>
                  <a:pt x="4021769" y="1313563"/>
                  <a:pt x="4009606" y="1365472"/>
                  <a:pt x="4018348" y="1416238"/>
                </a:cubicBezTo>
                <a:cubicBezTo>
                  <a:pt x="4024037" y="1458058"/>
                  <a:pt x="4027166" y="1500194"/>
                  <a:pt x="4027724" y="1542394"/>
                </a:cubicBezTo>
                <a:cubicBezTo>
                  <a:pt x="4032158" y="1636820"/>
                  <a:pt x="4027977" y="1731753"/>
                  <a:pt x="4026330" y="1826433"/>
                </a:cubicBezTo>
                <a:cubicBezTo>
                  <a:pt x="4024556" y="1936724"/>
                  <a:pt x="4027344" y="2047015"/>
                  <a:pt x="4018475" y="2157432"/>
                </a:cubicBezTo>
                <a:cubicBezTo>
                  <a:pt x="4013597" y="2246629"/>
                  <a:pt x="4013597" y="2336029"/>
                  <a:pt x="4018475" y="2425226"/>
                </a:cubicBezTo>
                <a:cubicBezTo>
                  <a:pt x="4020882" y="2506961"/>
                  <a:pt x="4033172" y="2587934"/>
                  <a:pt x="4031145" y="2670557"/>
                </a:cubicBezTo>
                <a:cubicBezTo>
                  <a:pt x="4028737" y="2766886"/>
                  <a:pt x="4017335" y="2862962"/>
                  <a:pt x="4020882" y="2959546"/>
                </a:cubicBezTo>
                <a:cubicBezTo>
                  <a:pt x="4022529" y="3005617"/>
                  <a:pt x="4022656" y="3051688"/>
                  <a:pt x="4023543" y="3097758"/>
                </a:cubicBezTo>
                <a:cubicBezTo>
                  <a:pt x="4024683" y="3153221"/>
                  <a:pt x="4034692" y="3208556"/>
                  <a:pt x="4029117" y="3263892"/>
                </a:cubicBezTo>
                <a:cubicBezTo>
                  <a:pt x="4019869" y="3356161"/>
                  <a:pt x="3995923" y="3446906"/>
                  <a:pt x="4010873" y="3541459"/>
                </a:cubicBezTo>
                <a:cubicBezTo>
                  <a:pt x="4019108" y="3593495"/>
                  <a:pt x="4028357" y="3645658"/>
                  <a:pt x="4033172" y="3698201"/>
                </a:cubicBezTo>
                <a:cubicBezTo>
                  <a:pt x="4037353" y="3745160"/>
                  <a:pt x="4047868" y="3792881"/>
                  <a:pt x="4039886" y="3839586"/>
                </a:cubicBezTo>
                <a:cubicBezTo>
                  <a:pt x="4033045" y="3879565"/>
                  <a:pt x="4036592" y="3919544"/>
                  <a:pt x="4031271" y="3959523"/>
                </a:cubicBezTo>
                <a:cubicBezTo>
                  <a:pt x="4024303" y="4011939"/>
                  <a:pt x="4020629" y="4065244"/>
                  <a:pt x="4015308" y="4118042"/>
                </a:cubicBezTo>
                <a:cubicBezTo>
                  <a:pt x="4010620" y="4165889"/>
                  <a:pt x="4006946" y="4213610"/>
                  <a:pt x="4019615" y="4258539"/>
                </a:cubicBezTo>
                <a:cubicBezTo>
                  <a:pt x="4050656" y="4371622"/>
                  <a:pt x="4033679" y="4484070"/>
                  <a:pt x="4022023" y="4596391"/>
                </a:cubicBezTo>
                <a:cubicBezTo>
                  <a:pt x="4016321" y="4650965"/>
                  <a:pt x="4007959" y="4708712"/>
                  <a:pt x="4020629" y="4758718"/>
                </a:cubicBezTo>
                <a:cubicBezTo>
                  <a:pt x="4043941" y="4847432"/>
                  <a:pt x="4025697" y="4931705"/>
                  <a:pt x="4015561" y="5016866"/>
                </a:cubicBezTo>
                <a:cubicBezTo>
                  <a:pt x="4003335" y="5100174"/>
                  <a:pt x="4005096" y="5184929"/>
                  <a:pt x="4020756" y="5267654"/>
                </a:cubicBezTo>
                <a:cubicBezTo>
                  <a:pt x="4033172" y="5326035"/>
                  <a:pt x="4033172" y="5385432"/>
                  <a:pt x="4034692" y="5444194"/>
                </a:cubicBezTo>
                <a:cubicBezTo>
                  <a:pt x="4035579" y="5481001"/>
                  <a:pt x="4022023" y="5518441"/>
                  <a:pt x="4013027" y="5555120"/>
                </a:cubicBezTo>
                <a:cubicBezTo>
                  <a:pt x="3996937" y="5621371"/>
                  <a:pt x="3991109" y="5688636"/>
                  <a:pt x="4013027" y="5753237"/>
                </a:cubicBezTo>
                <a:cubicBezTo>
                  <a:pt x="4043561" y="5842713"/>
                  <a:pt x="4061045" y="5932189"/>
                  <a:pt x="4048375" y="6026870"/>
                </a:cubicBezTo>
                <a:cubicBezTo>
                  <a:pt x="4041027" y="6085251"/>
                  <a:pt x="4039380" y="6144902"/>
                  <a:pt x="4028357" y="6202522"/>
                </a:cubicBezTo>
                <a:cubicBezTo>
                  <a:pt x="4010240" y="6298091"/>
                  <a:pt x="4016701" y="6393024"/>
                  <a:pt x="4031145" y="6487196"/>
                </a:cubicBezTo>
                <a:cubicBezTo>
                  <a:pt x="4041293" y="6565885"/>
                  <a:pt x="4042395" y="6645474"/>
                  <a:pt x="4034439" y="6724403"/>
                </a:cubicBezTo>
                <a:lnTo>
                  <a:pt x="4025206" y="6858000"/>
                </a:lnTo>
                <a:lnTo>
                  <a:pt x="0" y="685800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6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2395728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rgbClr val="FF6F4B"/>
          </a:solidFill>
          <a:ln w="38100" cap="rnd">
            <a:solidFill>
              <a:srgbClr val="FF6F4B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139D96-A307-B7A3-EFE6-B8D4644EC4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6" y="2612713"/>
            <a:ext cx="7208190" cy="3916103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STI’s can only be 100% prevented by being abstinent (not engaging in sexual behaviours). </a:t>
            </a:r>
          </a:p>
          <a:p>
            <a:r>
              <a:rPr lang="en-US" dirty="0"/>
              <a:t>The only methods of contraception that protect against STI’s are condoms. But why?</a:t>
            </a:r>
          </a:p>
          <a:p>
            <a:r>
              <a:rPr lang="en-US" dirty="0"/>
              <a:t>Choose sexual partners wisely – the more sexual partners a person has, the higher the risk of contracting an STI. </a:t>
            </a:r>
          </a:p>
          <a:p>
            <a:r>
              <a:rPr lang="en-US" dirty="0"/>
              <a:t>Get tested regularly. </a:t>
            </a:r>
          </a:p>
          <a:p>
            <a:r>
              <a:rPr lang="en-US" dirty="0"/>
              <a:t>Avoid alcohol/drugs when engaging in sexual behaviours so you have a clear mind and can consider all associated risks, and don’t share needles.</a:t>
            </a:r>
          </a:p>
          <a:p>
            <a:r>
              <a:rPr lang="en-US" dirty="0"/>
              <a:t>Learn the signs/symptoms – this can help with early diagnosis and prevent further spread.</a:t>
            </a:r>
          </a:p>
          <a:p>
            <a:r>
              <a:rPr lang="en-US" dirty="0"/>
              <a:t>HPV and Hepatitis have effective vaccines available.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99477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96ECB-8631-51BA-9921-16BABF4B9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Diagnosis &amp; TREATMENT </a:t>
            </a:r>
            <a:r>
              <a:rPr lang="en-US" sz="5400" dirty="0"/>
              <a:t>(pg. 22)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8E31F-2AA5-684F-31BA-2929C5F42E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48505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STI’s can be diagnosed through a variety of methods including:</a:t>
            </a:r>
          </a:p>
          <a:p>
            <a:pPr lvl="1"/>
            <a:r>
              <a:rPr lang="en-US" dirty="0"/>
              <a:t>Urine sample</a:t>
            </a:r>
          </a:p>
          <a:p>
            <a:pPr lvl="1"/>
            <a:r>
              <a:rPr lang="en-US" dirty="0"/>
              <a:t>Blood test </a:t>
            </a:r>
          </a:p>
          <a:p>
            <a:pPr lvl="1"/>
            <a:r>
              <a:rPr lang="en-US" dirty="0"/>
              <a:t>Swab test</a:t>
            </a:r>
          </a:p>
          <a:p>
            <a:r>
              <a:rPr lang="en-US" dirty="0"/>
              <a:t>The type of STI being tested for determines the diagnosis method used. </a:t>
            </a:r>
          </a:p>
          <a:p>
            <a:r>
              <a:rPr lang="en-US" dirty="0"/>
              <a:t>Treatment varies depending on the STI:</a:t>
            </a:r>
          </a:p>
          <a:p>
            <a:pPr lvl="1"/>
            <a:r>
              <a:rPr lang="en-US" dirty="0"/>
              <a:t>Viral – cannot be cured but medication may be available to treat the symptoms.</a:t>
            </a:r>
          </a:p>
          <a:p>
            <a:pPr lvl="1"/>
            <a:r>
              <a:rPr lang="en-US" dirty="0"/>
              <a:t>Bacterial – can be cured/treated with antibiotics. </a:t>
            </a:r>
          </a:p>
          <a:p>
            <a:pPr lvl="1"/>
            <a:r>
              <a:rPr lang="en-US" dirty="0"/>
              <a:t>Parasitic - through medication, creams, shampoos, lotions or ointments.</a:t>
            </a:r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EAB2B9C3-56F8-2CD6-C714-5EFCCC7441FC}"/>
              </a:ext>
            </a:extLst>
          </p:cNvPr>
          <p:cNvSpPr/>
          <p:nvPr/>
        </p:nvSpPr>
        <p:spPr>
          <a:xfrm>
            <a:off x="7896654" y="300878"/>
            <a:ext cx="3867664" cy="2779620"/>
          </a:xfrm>
          <a:prstGeom prst="hexagon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A person should </a:t>
            </a:r>
            <a:r>
              <a:rPr lang="en-US" sz="2800" b="1" u="sng" dirty="0"/>
              <a:t>abstain</a:t>
            </a:r>
            <a:r>
              <a:rPr lang="en-US" sz="2800" b="1" dirty="0"/>
              <a:t> from sexual behaviours if they believe they may have an STI, are currently being treated, or awaiting test results. </a:t>
            </a:r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976721C2-8478-54A0-3E2A-7EB0F6E10FB4}"/>
              </a:ext>
            </a:extLst>
          </p:cNvPr>
          <p:cNvSpPr/>
          <p:nvPr/>
        </p:nvSpPr>
        <p:spPr>
          <a:xfrm>
            <a:off x="7896654" y="3634818"/>
            <a:ext cx="3867664" cy="2779620"/>
          </a:xfrm>
          <a:prstGeom prst="hexagon">
            <a:avLst/>
          </a:prstGeom>
          <a:solidFill>
            <a:srgbClr val="FF00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If diagnosed with an STI, it is important to inform your sexual partners. </a:t>
            </a:r>
          </a:p>
          <a:p>
            <a:pPr algn="ctr"/>
            <a:r>
              <a:rPr lang="en-US" sz="2800" b="1" dirty="0" err="1"/>
              <a:t>www.letthemknow.org.au</a:t>
            </a:r>
            <a:r>
              <a:rPr lang="en-US" sz="2800" b="1" dirty="0"/>
              <a:t> is an anonymous notification service.</a:t>
            </a:r>
          </a:p>
        </p:txBody>
      </p:sp>
    </p:spTree>
    <p:extLst>
      <p:ext uri="{BB962C8B-B14F-4D97-AF65-F5344CB8AC3E}">
        <p14:creationId xmlns:p14="http://schemas.microsoft.com/office/powerpoint/2010/main" val="23157400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067C5-3E2A-5B58-CD6F-F63628B75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should a person Get tested? </a:t>
            </a:r>
            <a:r>
              <a:rPr lang="en-US" sz="5400" dirty="0"/>
              <a:t>(pg. 22)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435F44-4C3D-7F9B-D7B3-8C91B8ACC9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5599670" cy="425196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Yearly, once becoming sexually active.</a:t>
            </a:r>
          </a:p>
          <a:p>
            <a:r>
              <a:rPr lang="en-US" dirty="0"/>
              <a:t>Have engaged in unprotected sexual intercourse or the condom broke.</a:t>
            </a:r>
          </a:p>
          <a:p>
            <a:r>
              <a:rPr lang="en-US" dirty="0"/>
              <a:t>Partner has an STI.</a:t>
            </a:r>
          </a:p>
          <a:p>
            <a:r>
              <a:rPr lang="en-US" dirty="0"/>
              <a:t>Partner is having sex with someone else. </a:t>
            </a:r>
          </a:p>
          <a:p>
            <a:r>
              <a:rPr lang="en-US" dirty="0"/>
              <a:t>Have ever injected drugs. </a:t>
            </a:r>
          </a:p>
          <a:p>
            <a:r>
              <a:rPr lang="en-US" dirty="0"/>
              <a:t>You or partner have any STI symptoms.</a:t>
            </a:r>
          </a:p>
          <a:p>
            <a:r>
              <a:rPr lang="en-US" dirty="0"/>
              <a:t>Have been a victim of sexual assault (i.e., rape).</a:t>
            </a:r>
          </a:p>
        </p:txBody>
      </p:sp>
      <p:pic>
        <p:nvPicPr>
          <p:cNvPr id="4" name="Picture 2" descr="How STDs Are Diagnosed">
            <a:extLst>
              <a:ext uri="{FF2B5EF4-FFF2-40B4-BE49-F238E27FC236}">
                <a16:creationId xmlns:a16="http://schemas.microsoft.com/office/drawing/2014/main" id="{B7832B76-F0E1-3E26-6D7D-EE979AD864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6000" y="2226363"/>
            <a:ext cx="5925065" cy="3954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How STDs Are Diagnosed">
            <a:extLst>
              <a:ext uri="{FF2B5EF4-FFF2-40B4-BE49-F238E27FC236}">
                <a16:creationId xmlns:a16="http://schemas.microsoft.com/office/drawing/2014/main" id="{BAC1C658-C153-5E01-881C-4017ADE67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48400" y="2378763"/>
            <a:ext cx="5925065" cy="3954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937941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7">
            <a:extLst>
              <a:ext uri="{FF2B5EF4-FFF2-40B4-BE49-F238E27FC236}">
                <a16:creationId xmlns:a16="http://schemas.microsoft.com/office/drawing/2014/main" id="{EBDD1931-9E86-4402-9A68-33A2D9EF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5217023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90BBA3-BB95-1109-3BD5-DA42F01BA80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673770"/>
            <a:ext cx="3220329" cy="2027227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5600" dirty="0">
                <a:solidFill>
                  <a:schemeClr val="bg1"/>
                </a:solidFill>
              </a:rPr>
              <a:t>Barriers to getting tested:</a:t>
            </a:r>
            <a:br>
              <a:rPr lang="en-US" sz="5600" dirty="0">
                <a:solidFill>
                  <a:schemeClr val="bg1"/>
                </a:solidFill>
              </a:rPr>
            </a:br>
            <a:r>
              <a:rPr lang="en-US" sz="6000" dirty="0"/>
              <a:t>(pg. 23)</a:t>
            </a:r>
            <a:endParaRPr lang="en-US" sz="56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881C71-D61A-690B-79B0-BE88EA06B31D}"/>
              </a:ext>
            </a:extLst>
          </p:cNvPr>
          <p:cNvSpPr txBox="1"/>
          <p:nvPr/>
        </p:nvSpPr>
        <p:spPr>
          <a:xfrm>
            <a:off x="4058529" y="3539610"/>
            <a:ext cx="763647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Have a group discussion about what you believe would prevent/stop a person from getting tested for an STI.</a:t>
            </a:r>
          </a:p>
          <a:p>
            <a:endParaRPr lang="en-US" sz="2800" dirty="0"/>
          </a:p>
          <a:p>
            <a:r>
              <a:rPr lang="en-US" sz="2800" dirty="0"/>
              <a:t>You have 90 seconds to discuss. </a:t>
            </a:r>
          </a:p>
          <a:p>
            <a:endParaRPr lang="en-US" sz="2800" dirty="0"/>
          </a:p>
          <a:p>
            <a:r>
              <a:rPr lang="en-US" sz="2800" dirty="0"/>
              <a:t>Be prepared to share your thoughts. </a:t>
            </a:r>
          </a:p>
        </p:txBody>
      </p:sp>
      <p:pic>
        <p:nvPicPr>
          <p:cNvPr id="6146" name="Picture 2" descr="Discussion Word Animated GIF Logo Designs">
            <a:extLst>
              <a:ext uri="{FF2B5EF4-FFF2-40B4-BE49-F238E27FC236}">
                <a16:creationId xmlns:a16="http://schemas.microsoft.com/office/drawing/2014/main" id="{C7284BC4-8B71-F8A5-260F-6FEFB489A75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903"/>
          <a:stretch/>
        </p:blipFill>
        <p:spPr bwMode="auto">
          <a:xfrm>
            <a:off x="4815926" y="-1"/>
            <a:ext cx="7373026" cy="3318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61300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7">
            <a:extLst>
              <a:ext uri="{FF2B5EF4-FFF2-40B4-BE49-F238E27FC236}">
                <a16:creationId xmlns:a16="http://schemas.microsoft.com/office/drawing/2014/main" id="{EBDD1931-9E86-4402-9A68-33A2D9EF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5217023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90BBA3-BB95-1109-3BD5-DA42F01BA80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673770"/>
            <a:ext cx="3220329" cy="2274058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5600" dirty="0">
                <a:solidFill>
                  <a:schemeClr val="bg1"/>
                </a:solidFill>
              </a:rPr>
              <a:t>Barriers to getting tested:</a:t>
            </a:r>
            <a:br>
              <a:rPr lang="en-US" sz="5600" dirty="0">
                <a:solidFill>
                  <a:schemeClr val="bg1"/>
                </a:solidFill>
              </a:rPr>
            </a:br>
            <a:r>
              <a:rPr lang="en-US" sz="6000" dirty="0"/>
              <a:t>(pg. 23)</a:t>
            </a:r>
            <a:endParaRPr lang="en-US" sz="5600" dirty="0">
              <a:solidFill>
                <a:schemeClr val="bg1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D883ABD-C7CB-6FFD-419B-D5B8E58BD379}"/>
              </a:ext>
            </a:extLst>
          </p:cNvPr>
          <p:cNvSpPr/>
          <p:nvPr/>
        </p:nvSpPr>
        <p:spPr>
          <a:xfrm>
            <a:off x="4609047" y="2500223"/>
            <a:ext cx="2892351" cy="1228765"/>
          </a:xfrm>
          <a:prstGeom prst="ellipse">
            <a:avLst/>
          </a:prstGeom>
          <a:solidFill>
            <a:srgbClr val="92D050"/>
          </a:solidFill>
          <a:ln w="381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spcAft>
                <a:spcPts val="600"/>
              </a:spcAft>
            </a:pPr>
            <a:r>
              <a:rPr lang="en-US" sz="3200" kern="1200" dirty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+mn-lt"/>
                <a:ea typeface="+mn-ea"/>
                <a:cs typeface="+mn-cs"/>
              </a:rPr>
              <a:t>Inconvenient.</a:t>
            </a:r>
            <a:endParaRPr lang="en-US" sz="6600" dirty="0">
              <a:ln>
                <a:solidFill>
                  <a:sysClr val="windowText" lastClr="000000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6F984E8-77A9-C2DD-A5D9-8A300E32AB26}"/>
              </a:ext>
            </a:extLst>
          </p:cNvPr>
          <p:cNvSpPr/>
          <p:nvPr/>
        </p:nvSpPr>
        <p:spPr>
          <a:xfrm>
            <a:off x="8977730" y="1383006"/>
            <a:ext cx="2892351" cy="1228765"/>
          </a:xfrm>
          <a:prstGeom prst="ellipse">
            <a:avLst/>
          </a:prstGeom>
          <a:solidFill>
            <a:srgbClr val="92D050"/>
          </a:solidFill>
          <a:ln w="381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spcAft>
                <a:spcPts val="600"/>
              </a:spcAft>
            </a:pPr>
            <a:r>
              <a:rPr lang="en-US" sz="2800" kern="1200" dirty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+mn-lt"/>
                <a:ea typeface="+mn-ea"/>
                <a:cs typeface="+mn-cs"/>
              </a:rPr>
              <a:t>Costs time and money.</a:t>
            </a:r>
            <a:endParaRPr lang="en-US" sz="6000" dirty="0">
              <a:ln>
                <a:solidFill>
                  <a:sysClr val="windowText" lastClr="000000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8E26A27-549F-55F8-7E71-8E6B527767E1}"/>
              </a:ext>
            </a:extLst>
          </p:cNvPr>
          <p:cNvSpPr/>
          <p:nvPr/>
        </p:nvSpPr>
        <p:spPr>
          <a:xfrm>
            <a:off x="7986322" y="5233568"/>
            <a:ext cx="2892351" cy="1228765"/>
          </a:xfrm>
          <a:prstGeom prst="ellipse">
            <a:avLst/>
          </a:prstGeom>
          <a:solidFill>
            <a:srgbClr val="92D050"/>
          </a:solidFill>
          <a:ln w="381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spcAft>
                <a:spcPts val="600"/>
              </a:spcAft>
            </a:pPr>
            <a:r>
              <a:rPr lang="en-US" sz="2400" kern="1200" dirty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+mn-lt"/>
                <a:ea typeface="+mn-ea"/>
                <a:cs typeface="+mn-cs"/>
              </a:rPr>
              <a:t>Associated stigma, embarrassment or shame.</a:t>
            </a:r>
            <a:endParaRPr lang="en-US" sz="5400" dirty="0">
              <a:ln>
                <a:solidFill>
                  <a:sysClr val="windowText" lastClr="000000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5FF319B-05CD-A2D2-D36E-5E2E1EAA9D72}"/>
              </a:ext>
            </a:extLst>
          </p:cNvPr>
          <p:cNvSpPr/>
          <p:nvPr/>
        </p:nvSpPr>
        <p:spPr>
          <a:xfrm>
            <a:off x="507918" y="5003172"/>
            <a:ext cx="2892351" cy="1228765"/>
          </a:xfrm>
          <a:prstGeom prst="ellipse">
            <a:avLst/>
          </a:prstGeom>
          <a:solidFill>
            <a:srgbClr val="92D050"/>
          </a:solidFill>
          <a:ln w="381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spcAft>
                <a:spcPts val="600"/>
              </a:spcAft>
            </a:pPr>
            <a:r>
              <a:rPr lang="en-US" sz="2800" kern="1200" dirty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+mn-lt"/>
                <a:ea typeface="+mn-ea"/>
                <a:cs typeface="+mn-cs"/>
              </a:rPr>
              <a:t>Lack of knowledge of signs/symptoms.</a:t>
            </a:r>
            <a:endParaRPr lang="en-US" sz="6000" dirty="0">
              <a:ln>
                <a:solidFill>
                  <a:sysClr val="windowText" lastClr="000000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85AEAB2-8791-9D20-6A50-1788D6D4FA13}"/>
              </a:ext>
            </a:extLst>
          </p:cNvPr>
          <p:cNvSpPr/>
          <p:nvPr/>
        </p:nvSpPr>
        <p:spPr>
          <a:xfrm>
            <a:off x="5810636" y="495927"/>
            <a:ext cx="2892351" cy="1228765"/>
          </a:xfrm>
          <a:prstGeom prst="ellipse">
            <a:avLst/>
          </a:prstGeom>
          <a:solidFill>
            <a:srgbClr val="92D050"/>
          </a:solidFill>
          <a:ln w="381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spcAft>
                <a:spcPts val="600"/>
              </a:spcAft>
            </a:pPr>
            <a:r>
              <a:rPr lang="en-US" sz="2800" kern="1200" dirty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+mn-lt"/>
                <a:ea typeface="+mn-ea"/>
                <a:cs typeface="+mn-cs"/>
              </a:rPr>
              <a:t>Don’t know where to go for help or testing.</a:t>
            </a:r>
            <a:endParaRPr lang="en-US" sz="6000" dirty="0">
              <a:ln>
                <a:solidFill>
                  <a:sysClr val="windowText" lastClr="000000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37AE01C-B851-CE7D-76BD-4291F0E10CAA}"/>
              </a:ext>
            </a:extLst>
          </p:cNvPr>
          <p:cNvSpPr/>
          <p:nvPr/>
        </p:nvSpPr>
        <p:spPr>
          <a:xfrm>
            <a:off x="4205679" y="4388789"/>
            <a:ext cx="2892351" cy="1228765"/>
          </a:xfrm>
          <a:prstGeom prst="ellipse">
            <a:avLst/>
          </a:prstGeom>
          <a:solidFill>
            <a:srgbClr val="92D050"/>
          </a:solidFill>
          <a:ln w="381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spcAft>
                <a:spcPts val="600"/>
              </a:spcAft>
            </a:pPr>
            <a:r>
              <a:rPr lang="en-US" sz="3200" kern="1200" dirty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+mn-lt"/>
                <a:ea typeface="+mn-ea"/>
                <a:cs typeface="+mn-cs"/>
              </a:rPr>
              <a:t>Fear of a positive result.</a:t>
            </a:r>
            <a:endParaRPr lang="en-US" sz="6600" dirty="0">
              <a:ln>
                <a:solidFill>
                  <a:sysClr val="windowText" lastClr="000000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FA9BECF-0952-29BB-8A00-839B30703B3C}"/>
              </a:ext>
            </a:extLst>
          </p:cNvPr>
          <p:cNvSpPr/>
          <p:nvPr/>
        </p:nvSpPr>
        <p:spPr>
          <a:xfrm>
            <a:off x="8318149" y="3335111"/>
            <a:ext cx="2892351" cy="1228765"/>
          </a:xfrm>
          <a:prstGeom prst="ellipse">
            <a:avLst/>
          </a:prstGeom>
          <a:solidFill>
            <a:srgbClr val="92D050"/>
          </a:solidFill>
          <a:ln w="381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spcAft>
                <a:spcPts val="600"/>
              </a:spcAft>
            </a:pPr>
            <a:r>
              <a:rPr lang="en-US" sz="2800" kern="1200" dirty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+mn-lt"/>
                <a:ea typeface="+mn-ea"/>
                <a:cs typeface="+mn-cs"/>
              </a:rPr>
              <a:t>Perception that it ‘won’t happen to me’.</a:t>
            </a:r>
            <a:endParaRPr lang="en-US" sz="6000" dirty="0">
              <a:ln>
                <a:solidFill>
                  <a:sysClr val="windowText" lastClr="000000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45204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6">
            <a:extLst>
              <a:ext uri="{FF2B5EF4-FFF2-40B4-BE49-F238E27FC236}">
                <a16:creationId xmlns:a16="http://schemas.microsoft.com/office/drawing/2014/main" id="{DA381740-063A-41A4-836D-85D14980EE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36883"/>
            <a:ext cx="4243589" cy="27432"/>
          </a:xfrm>
          <a:custGeom>
            <a:avLst/>
            <a:gdLst>
              <a:gd name="connsiteX0" fmla="*/ 0 w 4243589"/>
              <a:gd name="connsiteY0" fmla="*/ 0 h 27432"/>
              <a:gd name="connsiteX1" fmla="*/ 563791 w 4243589"/>
              <a:gd name="connsiteY1" fmla="*/ 0 h 27432"/>
              <a:gd name="connsiteX2" fmla="*/ 1042710 w 4243589"/>
              <a:gd name="connsiteY2" fmla="*/ 0 h 27432"/>
              <a:gd name="connsiteX3" fmla="*/ 1564066 w 4243589"/>
              <a:gd name="connsiteY3" fmla="*/ 0 h 27432"/>
              <a:gd name="connsiteX4" fmla="*/ 2212729 w 4243589"/>
              <a:gd name="connsiteY4" fmla="*/ 0 h 27432"/>
              <a:gd name="connsiteX5" fmla="*/ 2776520 w 4243589"/>
              <a:gd name="connsiteY5" fmla="*/ 0 h 27432"/>
              <a:gd name="connsiteX6" fmla="*/ 3297875 w 4243589"/>
              <a:gd name="connsiteY6" fmla="*/ 0 h 27432"/>
              <a:gd name="connsiteX7" fmla="*/ 4243589 w 4243589"/>
              <a:gd name="connsiteY7" fmla="*/ 0 h 27432"/>
              <a:gd name="connsiteX8" fmla="*/ 4243589 w 4243589"/>
              <a:gd name="connsiteY8" fmla="*/ 27432 h 27432"/>
              <a:gd name="connsiteX9" fmla="*/ 3637362 w 4243589"/>
              <a:gd name="connsiteY9" fmla="*/ 27432 h 27432"/>
              <a:gd name="connsiteX10" fmla="*/ 3116007 w 4243589"/>
              <a:gd name="connsiteY10" fmla="*/ 27432 h 27432"/>
              <a:gd name="connsiteX11" fmla="*/ 2424908 w 4243589"/>
              <a:gd name="connsiteY11" fmla="*/ 27432 h 27432"/>
              <a:gd name="connsiteX12" fmla="*/ 1861117 w 4243589"/>
              <a:gd name="connsiteY12" fmla="*/ 27432 h 27432"/>
              <a:gd name="connsiteX13" fmla="*/ 1382198 w 4243589"/>
              <a:gd name="connsiteY13" fmla="*/ 27432 h 27432"/>
              <a:gd name="connsiteX14" fmla="*/ 733535 w 4243589"/>
              <a:gd name="connsiteY14" fmla="*/ 27432 h 27432"/>
              <a:gd name="connsiteX15" fmla="*/ 0 w 4243589"/>
              <a:gd name="connsiteY15" fmla="*/ 27432 h 27432"/>
              <a:gd name="connsiteX16" fmla="*/ 0 w 4243589"/>
              <a:gd name="connsiteY16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27432"/>
          </a:xfrm>
          <a:custGeom>
            <a:avLst/>
            <a:gdLst>
              <a:gd name="connsiteX0" fmla="*/ 0 w 3255095"/>
              <a:gd name="connsiteY0" fmla="*/ 0 h 27432"/>
              <a:gd name="connsiteX1" fmla="*/ 618468 w 3255095"/>
              <a:gd name="connsiteY1" fmla="*/ 0 h 27432"/>
              <a:gd name="connsiteX2" fmla="*/ 1269487 w 3255095"/>
              <a:gd name="connsiteY2" fmla="*/ 0 h 27432"/>
              <a:gd name="connsiteX3" fmla="*/ 1953057 w 3255095"/>
              <a:gd name="connsiteY3" fmla="*/ 0 h 27432"/>
              <a:gd name="connsiteX4" fmla="*/ 2636627 w 3255095"/>
              <a:gd name="connsiteY4" fmla="*/ 0 h 27432"/>
              <a:gd name="connsiteX5" fmla="*/ 3255095 w 3255095"/>
              <a:gd name="connsiteY5" fmla="*/ 0 h 27432"/>
              <a:gd name="connsiteX6" fmla="*/ 3255095 w 3255095"/>
              <a:gd name="connsiteY6" fmla="*/ 27432 h 27432"/>
              <a:gd name="connsiteX7" fmla="*/ 2538974 w 3255095"/>
              <a:gd name="connsiteY7" fmla="*/ 27432 h 27432"/>
              <a:gd name="connsiteX8" fmla="*/ 1822853 w 3255095"/>
              <a:gd name="connsiteY8" fmla="*/ 27432 h 27432"/>
              <a:gd name="connsiteX9" fmla="*/ 1171834 w 3255095"/>
              <a:gd name="connsiteY9" fmla="*/ 27432 h 27432"/>
              <a:gd name="connsiteX10" fmla="*/ 0 w 3255095"/>
              <a:gd name="connsiteY10" fmla="*/ 27432 h 27432"/>
              <a:gd name="connsiteX11" fmla="*/ 0 w 3255095"/>
              <a:gd name="connsiteY11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27432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3929" y="7395"/>
                  <a:pt x="3255140" y="21864"/>
                  <a:pt x="3255095" y="27432"/>
                </a:cubicBezTo>
                <a:cubicBezTo>
                  <a:pt x="3088545" y="32347"/>
                  <a:pt x="2687475" y="16563"/>
                  <a:pt x="2538974" y="27432"/>
                </a:cubicBezTo>
                <a:cubicBezTo>
                  <a:pt x="2390473" y="38301"/>
                  <a:pt x="2137381" y="185"/>
                  <a:pt x="1822853" y="27432"/>
                </a:cubicBezTo>
                <a:cubicBezTo>
                  <a:pt x="1508325" y="54679"/>
                  <a:pt x="1466437" y="29529"/>
                  <a:pt x="1171834" y="27432"/>
                </a:cubicBezTo>
                <a:cubicBezTo>
                  <a:pt x="877231" y="25335"/>
                  <a:pt x="561097" y="46787"/>
                  <a:pt x="0" y="27432"/>
                </a:cubicBezTo>
                <a:cubicBezTo>
                  <a:pt x="-503" y="20663"/>
                  <a:pt x="1168" y="5855"/>
                  <a:pt x="0" y="0"/>
                </a:cubicBezTo>
                <a:close/>
              </a:path>
              <a:path w="3255095" h="27432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5288" y="12649"/>
                  <a:pt x="3254107" y="17989"/>
                  <a:pt x="3255095" y="27432"/>
                </a:cubicBezTo>
                <a:cubicBezTo>
                  <a:pt x="3120743" y="25834"/>
                  <a:pt x="2759628" y="51606"/>
                  <a:pt x="2604076" y="27432"/>
                </a:cubicBezTo>
                <a:cubicBezTo>
                  <a:pt x="2448524" y="3258"/>
                  <a:pt x="2184336" y="28743"/>
                  <a:pt x="1887955" y="27432"/>
                </a:cubicBezTo>
                <a:cubicBezTo>
                  <a:pt x="1591574" y="26121"/>
                  <a:pt x="1548845" y="16014"/>
                  <a:pt x="1334589" y="27432"/>
                </a:cubicBezTo>
                <a:cubicBezTo>
                  <a:pt x="1120333" y="38850"/>
                  <a:pt x="996014" y="18806"/>
                  <a:pt x="683570" y="27432"/>
                </a:cubicBezTo>
                <a:cubicBezTo>
                  <a:pt x="371126" y="36058"/>
                  <a:pt x="198687" y="25311"/>
                  <a:pt x="0" y="27432"/>
                </a:cubicBezTo>
                <a:cubicBezTo>
                  <a:pt x="1300" y="19678"/>
                  <a:pt x="-86" y="12044"/>
                  <a:pt x="0" y="0"/>
                </a:cubicBezTo>
                <a:close/>
              </a:path>
            </a:pathLst>
          </a:custGeom>
          <a:solidFill>
            <a:srgbClr val="F08A4B"/>
          </a:solidFill>
          <a:ln w="38100" cap="rnd">
            <a:solidFill>
              <a:srgbClr val="F08A4B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5C5B44E-F44B-74B4-A880-44AB1701A5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736573" y="128193"/>
            <a:ext cx="7194872" cy="67023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B19E649-6C59-E939-BF72-3D348048E7B6}"/>
              </a:ext>
            </a:extLst>
          </p:cNvPr>
          <p:cNvSpPr txBox="1"/>
          <p:nvPr/>
        </p:nvSpPr>
        <p:spPr>
          <a:xfrm>
            <a:off x="354455" y="974681"/>
            <a:ext cx="412156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Big spike in no. of Chlamydia notifications from 1999 - 2017.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Steady decline of Hep 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Hep B remains steady.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HIV has seen no notable increase &lt;1997.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Spike in Gonorrhoea since 2009.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Spike in Syphilis from 2013.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D5319C-F9E7-5F17-0A2C-3D9C43EF5F79}"/>
              </a:ext>
            </a:extLst>
          </p:cNvPr>
          <p:cNvSpPr txBox="1"/>
          <p:nvPr/>
        </p:nvSpPr>
        <p:spPr>
          <a:xfrm>
            <a:off x="523993" y="4711171"/>
            <a:ext cx="337438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 dirty="0">
                <a:latin typeface="+mj-lt"/>
              </a:rPr>
              <a:t>What’s trending?</a:t>
            </a:r>
          </a:p>
        </p:txBody>
      </p:sp>
    </p:spTree>
    <p:extLst>
      <p:ext uri="{BB962C8B-B14F-4D97-AF65-F5344CB8AC3E}">
        <p14:creationId xmlns:p14="http://schemas.microsoft.com/office/powerpoint/2010/main" val="3334512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83664-BB50-C041-7D72-DF99A09AA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Statistics: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06265B-ED10-E31E-404B-6C2A5B8FB9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929384"/>
            <a:ext cx="11061357" cy="425196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In Australia between approx. 2013-2023:</a:t>
            </a:r>
          </a:p>
          <a:p>
            <a:pPr lvl="1"/>
            <a:r>
              <a:rPr lang="en-US" dirty="0"/>
              <a:t>Gonorrhoea cases have doubled</a:t>
            </a:r>
          </a:p>
          <a:p>
            <a:pPr lvl="1"/>
            <a:r>
              <a:rPr lang="en-US" dirty="0"/>
              <a:t>Syphilis cases have more than tripled</a:t>
            </a:r>
          </a:p>
          <a:p>
            <a:pPr lvl="1"/>
            <a:r>
              <a:rPr lang="en-US" dirty="0"/>
              <a:t>Chlamydia cases have increased 12% since 2013</a:t>
            </a:r>
          </a:p>
          <a:p>
            <a:pPr lvl="1"/>
            <a:endParaRPr lang="en-US" dirty="0"/>
          </a:p>
          <a:p>
            <a:r>
              <a:rPr lang="en-US" dirty="0"/>
              <a:t>In Australia in 2022:</a:t>
            </a:r>
          </a:p>
          <a:p>
            <a:pPr lvl="1"/>
            <a:r>
              <a:rPr lang="en-US" dirty="0"/>
              <a:t>93,777 diagnoses of Chlamydia (still often undiagnosed)</a:t>
            </a:r>
          </a:p>
          <a:p>
            <a:pPr lvl="2"/>
            <a:r>
              <a:rPr lang="en-US" dirty="0"/>
              <a:t>most common STI, with more than 2 in 3 diagnoses occurring in 15-29 year-olds.</a:t>
            </a:r>
          </a:p>
          <a:p>
            <a:pPr lvl="1"/>
            <a:r>
              <a:rPr lang="en-US" dirty="0"/>
              <a:t>32,877 diagnoses of Gonorrhoea</a:t>
            </a:r>
          </a:p>
          <a:p>
            <a:pPr lvl="1"/>
            <a:r>
              <a:rPr lang="en-US" dirty="0"/>
              <a:t>6036 diagnoses of Syphilis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721D07-FE36-8868-E4F4-2401ECE88B69}"/>
              </a:ext>
            </a:extLst>
          </p:cNvPr>
          <p:cNvSpPr txBox="1"/>
          <p:nvPr/>
        </p:nvSpPr>
        <p:spPr>
          <a:xfrm>
            <a:off x="6236043" y="1874728"/>
            <a:ext cx="595595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AU" sz="2400" dirty="0">
                <a:solidFill>
                  <a:srgbClr val="313131"/>
                </a:solidFill>
              </a:rPr>
              <a:t> A</a:t>
            </a:r>
            <a:r>
              <a:rPr lang="en-AU" sz="2400" b="0" i="0" dirty="0">
                <a:solidFill>
                  <a:srgbClr val="313131"/>
                </a:solidFill>
                <a:effectLst/>
              </a:rPr>
              <a:t>bout 16% of Australians have had an </a:t>
            </a:r>
            <a:r>
              <a:rPr lang="en-AU" sz="2400" b="0" i="0" u="sng" dirty="0">
                <a:solidFill>
                  <a:srgbClr val="006FB0"/>
                </a:solidFill>
                <a:effectLst/>
                <a:hlinkClick r:id="rId3"/>
              </a:rPr>
              <a:t>STI</a:t>
            </a:r>
            <a:r>
              <a:rPr lang="en-AU" sz="2400" b="0" i="0" dirty="0">
                <a:solidFill>
                  <a:srgbClr val="313131"/>
                </a:solidFill>
                <a:effectLst/>
              </a:rPr>
              <a:t> in their lifetime.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AU" sz="2400" b="0" i="0" dirty="0">
              <a:solidFill>
                <a:srgbClr val="313131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AU" sz="2400" dirty="0">
                <a:solidFill>
                  <a:srgbClr val="313131"/>
                </a:solidFill>
              </a:rPr>
              <a:t> I</a:t>
            </a:r>
            <a:r>
              <a:rPr lang="en-AU" sz="2400" b="0" i="0" dirty="0">
                <a:solidFill>
                  <a:srgbClr val="313131"/>
                </a:solidFill>
                <a:effectLst/>
              </a:rPr>
              <a:t>n 2020, more than 29,000 Australians were living with </a:t>
            </a:r>
            <a:r>
              <a:rPr lang="en-AU" sz="2400" b="0" i="0" u="sng" dirty="0">
                <a:solidFill>
                  <a:srgbClr val="006FB0"/>
                </a:solidFill>
                <a:effectLst/>
                <a:hlinkClick r:id="rId4"/>
              </a:rPr>
              <a:t>HIV</a:t>
            </a:r>
            <a:r>
              <a:rPr lang="en-AU" sz="2400" b="0" i="0" dirty="0">
                <a:solidFill>
                  <a:srgbClr val="313131"/>
                </a:solidFill>
                <a:effectLst/>
              </a:rPr>
              <a:t> (an 18% drop of HIV notifications since 2015).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AU" sz="2400" b="0" i="0" dirty="0">
              <a:solidFill>
                <a:srgbClr val="313131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AU" sz="2400" dirty="0">
                <a:solidFill>
                  <a:srgbClr val="313131"/>
                </a:solidFill>
              </a:rPr>
              <a:t> I</a:t>
            </a:r>
            <a:r>
              <a:rPr lang="en-AU" sz="2400" b="0" i="0" dirty="0">
                <a:solidFill>
                  <a:srgbClr val="313131"/>
                </a:solidFill>
                <a:effectLst/>
              </a:rPr>
              <a:t>n 2020, there were about 57,500 new cases of notifiable STI among </a:t>
            </a:r>
            <a:r>
              <a:rPr lang="en-AU" sz="2400" b="0" i="0" u="sng" dirty="0">
                <a:solidFill>
                  <a:srgbClr val="006FB0"/>
                </a:solidFill>
                <a:effectLst/>
                <a:hlinkClick r:id="rId5"/>
              </a:rPr>
              <a:t>females</a:t>
            </a:r>
            <a:r>
              <a:rPr lang="en-AU" sz="2400" b="0" i="0" dirty="0">
                <a:solidFill>
                  <a:srgbClr val="313131"/>
                </a:solidFill>
                <a:effectLst/>
              </a:rPr>
              <a:t> and 67,400 among </a:t>
            </a:r>
            <a:r>
              <a:rPr lang="en-AU" sz="2400" b="0" i="0" u="sng" dirty="0">
                <a:solidFill>
                  <a:srgbClr val="006FB0"/>
                </a:solidFill>
                <a:effectLst/>
                <a:hlinkClick r:id="rId6"/>
              </a:rPr>
              <a:t>males</a:t>
            </a:r>
            <a:endParaRPr lang="en-AU" sz="2400" b="0" i="0" dirty="0">
              <a:solidFill>
                <a:srgbClr val="31313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0191747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7">
            <a:extLst>
              <a:ext uri="{FF2B5EF4-FFF2-40B4-BE49-F238E27FC236}">
                <a16:creationId xmlns:a16="http://schemas.microsoft.com/office/drawing/2014/main" id="{EBDD1931-9E86-4402-9A68-33A2D9EF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47B6BBF-09F2-4A29-AE4E-3771E29248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4A68B5-51F0-06BB-1D85-13FF0CDDA97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35000" y="634029"/>
            <a:ext cx="10921640" cy="131469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4400" dirty="0"/>
              <a:t>Assignments: Task 3</a:t>
            </a:r>
            <a:br>
              <a:rPr lang="en-US" sz="4400" dirty="0"/>
            </a:br>
            <a:r>
              <a:rPr lang="en-US" sz="4400" dirty="0"/>
              <a:t>STI Oral Presentation (pg. 4-6)</a:t>
            </a:r>
          </a:p>
        </p:txBody>
      </p:sp>
      <p:sp>
        <p:nvSpPr>
          <p:cNvPr id="21" name="Rectangle 22">
            <a:extLst>
              <a:ext uri="{FF2B5EF4-FFF2-40B4-BE49-F238E27FC236}">
                <a16:creationId xmlns:a16="http://schemas.microsoft.com/office/drawing/2014/main" id="{535742DD-1B16-4E9D-B715-0D74B4574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48305" y="2241737"/>
            <a:ext cx="10900219" cy="18288"/>
          </a:xfrm>
          <a:custGeom>
            <a:avLst/>
            <a:gdLst>
              <a:gd name="connsiteX0" fmla="*/ 0 w 10900219"/>
              <a:gd name="connsiteY0" fmla="*/ 0 h 18288"/>
              <a:gd name="connsiteX1" fmla="*/ 463259 w 10900219"/>
              <a:gd name="connsiteY1" fmla="*/ 0 h 18288"/>
              <a:gd name="connsiteX2" fmla="*/ 1144523 w 10900219"/>
              <a:gd name="connsiteY2" fmla="*/ 0 h 18288"/>
              <a:gd name="connsiteX3" fmla="*/ 1934789 w 10900219"/>
              <a:gd name="connsiteY3" fmla="*/ 0 h 18288"/>
              <a:gd name="connsiteX4" fmla="*/ 2289046 w 10900219"/>
              <a:gd name="connsiteY4" fmla="*/ 0 h 18288"/>
              <a:gd name="connsiteX5" fmla="*/ 2643303 w 10900219"/>
              <a:gd name="connsiteY5" fmla="*/ 0 h 18288"/>
              <a:gd name="connsiteX6" fmla="*/ 3542571 w 10900219"/>
              <a:gd name="connsiteY6" fmla="*/ 0 h 18288"/>
              <a:gd name="connsiteX7" fmla="*/ 4223835 w 10900219"/>
              <a:gd name="connsiteY7" fmla="*/ 0 h 18288"/>
              <a:gd name="connsiteX8" fmla="*/ 4578092 w 10900219"/>
              <a:gd name="connsiteY8" fmla="*/ 0 h 18288"/>
              <a:gd name="connsiteX9" fmla="*/ 5259356 w 10900219"/>
              <a:gd name="connsiteY9" fmla="*/ 0 h 18288"/>
              <a:gd name="connsiteX10" fmla="*/ 6158624 w 10900219"/>
              <a:gd name="connsiteY10" fmla="*/ 0 h 18288"/>
              <a:gd name="connsiteX11" fmla="*/ 6730885 w 10900219"/>
              <a:gd name="connsiteY11" fmla="*/ 0 h 18288"/>
              <a:gd name="connsiteX12" fmla="*/ 7303147 w 10900219"/>
              <a:gd name="connsiteY12" fmla="*/ 0 h 18288"/>
              <a:gd name="connsiteX13" fmla="*/ 7984410 w 10900219"/>
              <a:gd name="connsiteY13" fmla="*/ 0 h 18288"/>
              <a:gd name="connsiteX14" fmla="*/ 8774676 w 10900219"/>
              <a:gd name="connsiteY14" fmla="*/ 0 h 18288"/>
              <a:gd name="connsiteX15" fmla="*/ 9564942 w 10900219"/>
              <a:gd name="connsiteY15" fmla="*/ 0 h 18288"/>
              <a:gd name="connsiteX16" fmla="*/ 10900219 w 10900219"/>
              <a:gd name="connsiteY16" fmla="*/ 0 h 18288"/>
              <a:gd name="connsiteX17" fmla="*/ 10900219 w 10900219"/>
              <a:gd name="connsiteY17" fmla="*/ 18288 h 18288"/>
              <a:gd name="connsiteX18" fmla="*/ 10436960 w 10900219"/>
              <a:gd name="connsiteY18" fmla="*/ 18288 h 18288"/>
              <a:gd name="connsiteX19" fmla="*/ 9537692 w 10900219"/>
              <a:gd name="connsiteY19" fmla="*/ 18288 h 18288"/>
              <a:gd name="connsiteX20" fmla="*/ 8856428 w 10900219"/>
              <a:gd name="connsiteY20" fmla="*/ 18288 h 18288"/>
              <a:gd name="connsiteX21" fmla="*/ 8502171 w 10900219"/>
              <a:gd name="connsiteY21" fmla="*/ 18288 h 18288"/>
              <a:gd name="connsiteX22" fmla="*/ 7820907 w 10900219"/>
              <a:gd name="connsiteY22" fmla="*/ 18288 h 18288"/>
              <a:gd name="connsiteX23" fmla="*/ 7248646 w 10900219"/>
              <a:gd name="connsiteY23" fmla="*/ 18288 h 18288"/>
              <a:gd name="connsiteX24" fmla="*/ 6676384 w 10900219"/>
              <a:gd name="connsiteY24" fmla="*/ 18288 h 18288"/>
              <a:gd name="connsiteX25" fmla="*/ 6104123 w 10900219"/>
              <a:gd name="connsiteY25" fmla="*/ 18288 h 18288"/>
              <a:gd name="connsiteX26" fmla="*/ 5531861 w 10900219"/>
              <a:gd name="connsiteY26" fmla="*/ 18288 h 18288"/>
              <a:gd name="connsiteX27" fmla="*/ 4741595 w 10900219"/>
              <a:gd name="connsiteY27" fmla="*/ 18288 h 18288"/>
              <a:gd name="connsiteX28" fmla="*/ 4060332 w 10900219"/>
              <a:gd name="connsiteY28" fmla="*/ 18288 h 18288"/>
              <a:gd name="connsiteX29" fmla="*/ 3706074 w 10900219"/>
              <a:gd name="connsiteY29" fmla="*/ 18288 h 18288"/>
              <a:gd name="connsiteX30" fmla="*/ 3133813 w 10900219"/>
              <a:gd name="connsiteY30" fmla="*/ 18288 h 18288"/>
              <a:gd name="connsiteX31" fmla="*/ 2343547 w 10900219"/>
              <a:gd name="connsiteY31" fmla="*/ 18288 h 18288"/>
              <a:gd name="connsiteX32" fmla="*/ 1880288 w 10900219"/>
              <a:gd name="connsiteY32" fmla="*/ 18288 h 18288"/>
              <a:gd name="connsiteX33" fmla="*/ 981020 w 10900219"/>
              <a:gd name="connsiteY33" fmla="*/ 18288 h 18288"/>
              <a:gd name="connsiteX34" fmla="*/ 0 w 10900219"/>
              <a:gd name="connsiteY34" fmla="*/ 18288 h 18288"/>
              <a:gd name="connsiteX35" fmla="*/ 0 w 10900219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900219" h="18288" fill="none" extrusionOk="0">
                <a:moveTo>
                  <a:pt x="0" y="0"/>
                </a:moveTo>
                <a:cubicBezTo>
                  <a:pt x="118469" y="-6619"/>
                  <a:pt x="329397" y="-5525"/>
                  <a:pt x="463259" y="0"/>
                </a:cubicBezTo>
                <a:cubicBezTo>
                  <a:pt x="597121" y="5525"/>
                  <a:pt x="866598" y="4881"/>
                  <a:pt x="1144523" y="0"/>
                </a:cubicBezTo>
                <a:cubicBezTo>
                  <a:pt x="1422448" y="-4881"/>
                  <a:pt x="1761178" y="17159"/>
                  <a:pt x="1934789" y="0"/>
                </a:cubicBezTo>
                <a:cubicBezTo>
                  <a:pt x="2108400" y="-17159"/>
                  <a:pt x="2119134" y="-4032"/>
                  <a:pt x="2289046" y="0"/>
                </a:cubicBezTo>
                <a:cubicBezTo>
                  <a:pt x="2458958" y="4032"/>
                  <a:pt x="2472610" y="15385"/>
                  <a:pt x="2643303" y="0"/>
                </a:cubicBezTo>
                <a:cubicBezTo>
                  <a:pt x="2813996" y="-15385"/>
                  <a:pt x="3334189" y="-21234"/>
                  <a:pt x="3542571" y="0"/>
                </a:cubicBezTo>
                <a:cubicBezTo>
                  <a:pt x="3750953" y="21234"/>
                  <a:pt x="3991639" y="13212"/>
                  <a:pt x="4223835" y="0"/>
                </a:cubicBezTo>
                <a:cubicBezTo>
                  <a:pt x="4456031" y="-13212"/>
                  <a:pt x="4466914" y="13318"/>
                  <a:pt x="4578092" y="0"/>
                </a:cubicBezTo>
                <a:cubicBezTo>
                  <a:pt x="4689270" y="-13318"/>
                  <a:pt x="5120635" y="31363"/>
                  <a:pt x="5259356" y="0"/>
                </a:cubicBezTo>
                <a:cubicBezTo>
                  <a:pt x="5398077" y="-31363"/>
                  <a:pt x="5954119" y="-7091"/>
                  <a:pt x="6158624" y="0"/>
                </a:cubicBezTo>
                <a:cubicBezTo>
                  <a:pt x="6363129" y="7091"/>
                  <a:pt x="6535071" y="-8480"/>
                  <a:pt x="6730885" y="0"/>
                </a:cubicBezTo>
                <a:cubicBezTo>
                  <a:pt x="6926699" y="8480"/>
                  <a:pt x="7091018" y="19194"/>
                  <a:pt x="7303147" y="0"/>
                </a:cubicBezTo>
                <a:cubicBezTo>
                  <a:pt x="7515276" y="-19194"/>
                  <a:pt x="7840361" y="30755"/>
                  <a:pt x="7984410" y="0"/>
                </a:cubicBezTo>
                <a:cubicBezTo>
                  <a:pt x="8128459" y="-30755"/>
                  <a:pt x="8498590" y="39460"/>
                  <a:pt x="8774676" y="0"/>
                </a:cubicBezTo>
                <a:cubicBezTo>
                  <a:pt x="9050762" y="-39460"/>
                  <a:pt x="9204381" y="36508"/>
                  <a:pt x="9564942" y="0"/>
                </a:cubicBezTo>
                <a:cubicBezTo>
                  <a:pt x="9925503" y="-36508"/>
                  <a:pt x="10235542" y="59225"/>
                  <a:pt x="10900219" y="0"/>
                </a:cubicBezTo>
                <a:cubicBezTo>
                  <a:pt x="10900865" y="4451"/>
                  <a:pt x="10900709" y="9226"/>
                  <a:pt x="10900219" y="18288"/>
                </a:cubicBezTo>
                <a:cubicBezTo>
                  <a:pt x="10675942" y="21751"/>
                  <a:pt x="10609372" y="26977"/>
                  <a:pt x="10436960" y="18288"/>
                </a:cubicBezTo>
                <a:cubicBezTo>
                  <a:pt x="10264548" y="9599"/>
                  <a:pt x="9961150" y="-11074"/>
                  <a:pt x="9537692" y="18288"/>
                </a:cubicBezTo>
                <a:cubicBezTo>
                  <a:pt x="9114234" y="47650"/>
                  <a:pt x="9087386" y="35169"/>
                  <a:pt x="8856428" y="18288"/>
                </a:cubicBezTo>
                <a:cubicBezTo>
                  <a:pt x="8625470" y="1407"/>
                  <a:pt x="8634361" y="13786"/>
                  <a:pt x="8502171" y="18288"/>
                </a:cubicBezTo>
                <a:cubicBezTo>
                  <a:pt x="8369981" y="22790"/>
                  <a:pt x="8132296" y="22561"/>
                  <a:pt x="7820907" y="18288"/>
                </a:cubicBezTo>
                <a:cubicBezTo>
                  <a:pt x="7509518" y="14015"/>
                  <a:pt x="7432447" y="29431"/>
                  <a:pt x="7248646" y="18288"/>
                </a:cubicBezTo>
                <a:cubicBezTo>
                  <a:pt x="7064845" y="7145"/>
                  <a:pt x="6954380" y="2746"/>
                  <a:pt x="6676384" y="18288"/>
                </a:cubicBezTo>
                <a:cubicBezTo>
                  <a:pt x="6398388" y="33830"/>
                  <a:pt x="6292480" y="-4579"/>
                  <a:pt x="6104123" y="18288"/>
                </a:cubicBezTo>
                <a:cubicBezTo>
                  <a:pt x="5915766" y="41155"/>
                  <a:pt x="5703359" y="-8437"/>
                  <a:pt x="5531861" y="18288"/>
                </a:cubicBezTo>
                <a:cubicBezTo>
                  <a:pt x="5360363" y="45013"/>
                  <a:pt x="5056784" y="-12121"/>
                  <a:pt x="4741595" y="18288"/>
                </a:cubicBezTo>
                <a:cubicBezTo>
                  <a:pt x="4426406" y="48697"/>
                  <a:pt x="4364529" y="-10910"/>
                  <a:pt x="4060332" y="18288"/>
                </a:cubicBezTo>
                <a:cubicBezTo>
                  <a:pt x="3756135" y="47486"/>
                  <a:pt x="3816049" y="13364"/>
                  <a:pt x="3706074" y="18288"/>
                </a:cubicBezTo>
                <a:cubicBezTo>
                  <a:pt x="3596099" y="23212"/>
                  <a:pt x="3382238" y="37686"/>
                  <a:pt x="3133813" y="18288"/>
                </a:cubicBezTo>
                <a:cubicBezTo>
                  <a:pt x="2885388" y="-1110"/>
                  <a:pt x="2523125" y="15465"/>
                  <a:pt x="2343547" y="18288"/>
                </a:cubicBezTo>
                <a:cubicBezTo>
                  <a:pt x="2163969" y="21111"/>
                  <a:pt x="1985160" y="33196"/>
                  <a:pt x="1880288" y="18288"/>
                </a:cubicBezTo>
                <a:cubicBezTo>
                  <a:pt x="1775416" y="3380"/>
                  <a:pt x="1261751" y="-9914"/>
                  <a:pt x="981020" y="18288"/>
                </a:cubicBezTo>
                <a:cubicBezTo>
                  <a:pt x="700289" y="46490"/>
                  <a:pt x="314212" y="-15659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900219" h="18288" stroke="0" extrusionOk="0">
                <a:moveTo>
                  <a:pt x="0" y="0"/>
                </a:moveTo>
                <a:cubicBezTo>
                  <a:pt x="269624" y="3698"/>
                  <a:pt x="383061" y="-5818"/>
                  <a:pt x="572261" y="0"/>
                </a:cubicBezTo>
                <a:cubicBezTo>
                  <a:pt x="761461" y="5818"/>
                  <a:pt x="826360" y="-1890"/>
                  <a:pt x="926519" y="0"/>
                </a:cubicBezTo>
                <a:cubicBezTo>
                  <a:pt x="1026678" y="1890"/>
                  <a:pt x="1621671" y="-1096"/>
                  <a:pt x="1825787" y="0"/>
                </a:cubicBezTo>
                <a:cubicBezTo>
                  <a:pt x="2029903" y="1096"/>
                  <a:pt x="2212612" y="17145"/>
                  <a:pt x="2398048" y="0"/>
                </a:cubicBezTo>
                <a:cubicBezTo>
                  <a:pt x="2583484" y="-17145"/>
                  <a:pt x="2739759" y="-14168"/>
                  <a:pt x="2970310" y="0"/>
                </a:cubicBezTo>
                <a:cubicBezTo>
                  <a:pt x="3200861" y="14168"/>
                  <a:pt x="3502691" y="33180"/>
                  <a:pt x="3869578" y="0"/>
                </a:cubicBezTo>
                <a:cubicBezTo>
                  <a:pt x="4236465" y="-33180"/>
                  <a:pt x="4122134" y="-10470"/>
                  <a:pt x="4332837" y="0"/>
                </a:cubicBezTo>
                <a:cubicBezTo>
                  <a:pt x="4543540" y="10470"/>
                  <a:pt x="4834652" y="3572"/>
                  <a:pt x="5232105" y="0"/>
                </a:cubicBezTo>
                <a:cubicBezTo>
                  <a:pt x="5629558" y="-3572"/>
                  <a:pt x="5773178" y="-6604"/>
                  <a:pt x="6131373" y="0"/>
                </a:cubicBezTo>
                <a:cubicBezTo>
                  <a:pt x="6489568" y="6604"/>
                  <a:pt x="6621532" y="18870"/>
                  <a:pt x="6812637" y="0"/>
                </a:cubicBezTo>
                <a:cubicBezTo>
                  <a:pt x="7003742" y="-18870"/>
                  <a:pt x="7311146" y="18959"/>
                  <a:pt x="7711905" y="0"/>
                </a:cubicBezTo>
                <a:cubicBezTo>
                  <a:pt x="8112664" y="-18959"/>
                  <a:pt x="8080793" y="-24744"/>
                  <a:pt x="8284166" y="0"/>
                </a:cubicBezTo>
                <a:cubicBezTo>
                  <a:pt x="8487539" y="24744"/>
                  <a:pt x="8615041" y="-1627"/>
                  <a:pt x="8856428" y="0"/>
                </a:cubicBezTo>
                <a:cubicBezTo>
                  <a:pt x="9097815" y="1627"/>
                  <a:pt x="9475052" y="26322"/>
                  <a:pt x="9646694" y="0"/>
                </a:cubicBezTo>
                <a:cubicBezTo>
                  <a:pt x="9818336" y="-26322"/>
                  <a:pt x="9938906" y="-121"/>
                  <a:pt x="10218955" y="0"/>
                </a:cubicBezTo>
                <a:cubicBezTo>
                  <a:pt x="10499004" y="121"/>
                  <a:pt x="10697467" y="15326"/>
                  <a:pt x="10900219" y="0"/>
                </a:cubicBezTo>
                <a:cubicBezTo>
                  <a:pt x="10899812" y="8690"/>
                  <a:pt x="10900065" y="14141"/>
                  <a:pt x="10900219" y="18288"/>
                </a:cubicBezTo>
                <a:cubicBezTo>
                  <a:pt x="10543007" y="31201"/>
                  <a:pt x="10472057" y="15684"/>
                  <a:pt x="10109953" y="18288"/>
                </a:cubicBezTo>
                <a:cubicBezTo>
                  <a:pt x="9747849" y="20892"/>
                  <a:pt x="9872856" y="33007"/>
                  <a:pt x="9755696" y="18288"/>
                </a:cubicBezTo>
                <a:cubicBezTo>
                  <a:pt x="9638536" y="3569"/>
                  <a:pt x="9442681" y="6596"/>
                  <a:pt x="9292437" y="18288"/>
                </a:cubicBezTo>
                <a:cubicBezTo>
                  <a:pt x="9142193" y="29980"/>
                  <a:pt x="8817861" y="-11343"/>
                  <a:pt x="8393169" y="18288"/>
                </a:cubicBezTo>
                <a:cubicBezTo>
                  <a:pt x="7968477" y="47919"/>
                  <a:pt x="7919655" y="23228"/>
                  <a:pt x="7711905" y="18288"/>
                </a:cubicBezTo>
                <a:cubicBezTo>
                  <a:pt x="7504155" y="13348"/>
                  <a:pt x="7365667" y="6452"/>
                  <a:pt x="7248646" y="18288"/>
                </a:cubicBezTo>
                <a:cubicBezTo>
                  <a:pt x="7131625" y="30124"/>
                  <a:pt x="6776155" y="2871"/>
                  <a:pt x="6567382" y="18288"/>
                </a:cubicBezTo>
                <a:cubicBezTo>
                  <a:pt x="6358609" y="33705"/>
                  <a:pt x="6372933" y="1091"/>
                  <a:pt x="6213125" y="18288"/>
                </a:cubicBezTo>
                <a:cubicBezTo>
                  <a:pt x="6053317" y="35485"/>
                  <a:pt x="5980913" y="1290"/>
                  <a:pt x="5858868" y="18288"/>
                </a:cubicBezTo>
                <a:cubicBezTo>
                  <a:pt x="5736823" y="35286"/>
                  <a:pt x="5481395" y="5492"/>
                  <a:pt x="5177604" y="18288"/>
                </a:cubicBezTo>
                <a:cubicBezTo>
                  <a:pt x="4873813" y="31084"/>
                  <a:pt x="4854222" y="37160"/>
                  <a:pt x="4714345" y="18288"/>
                </a:cubicBezTo>
                <a:cubicBezTo>
                  <a:pt x="4574468" y="-584"/>
                  <a:pt x="4298550" y="22981"/>
                  <a:pt x="3924079" y="18288"/>
                </a:cubicBezTo>
                <a:cubicBezTo>
                  <a:pt x="3549608" y="13595"/>
                  <a:pt x="3645461" y="-921"/>
                  <a:pt x="3460820" y="18288"/>
                </a:cubicBezTo>
                <a:cubicBezTo>
                  <a:pt x="3276179" y="37497"/>
                  <a:pt x="3004470" y="-15027"/>
                  <a:pt x="2670554" y="18288"/>
                </a:cubicBezTo>
                <a:cubicBezTo>
                  <a:pt x="2336638" y="51603"/>
                  <a:pt x="2425773" y="17517"/>
                  <a:pt x="2316297" y="18288"/>
                </a:cubicBezTo>
                <a:cubicBezTo>
                  <a:pt x="2206821" y="19059"/>
                  <a:pt x="1757890" y="42158"/>
                  <a:pt x="1526031" y="18288"/>
                </a:cubicBezTo>
                <a:cubicBezTo>
                  <a:pt x="1294172" y="-5582"/>
                  <a:pt x="1213137" y="12281"/>
                  <a:pt x="1062771" y="18288"/>
                </a:cubicBezTo>
                <a:cubicBezTo>
                  <a:pt x="912405" y="24295"/>
                  <a:pt x="829444" y="7304"/>
                  <a:pt x="708514" y="18288"/>
                </a:cubicBezTo>
                <a:cubicBezTo>
                  <a:pt x="587584" y="29272"/>
                  <a:pt x="227877" y="37311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4925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3A918E20-1CAA-7160-48AD-029F7581A49B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214788196"/>
              </p:ext>
            </p:extLst>
          </p:nvPr>
        </p:nvGraphicFramePr>
        <p:xfrm>
          <a:off x="632647" y="2425700"/>
          <a:ext cx="10915869" cy="4229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889418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D54FC-1C04-6C5C-B1BB-4F98F4E37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7098" y="396503"/>
            <a:ext cx="5157787" cy="1325563"/>
          </a:xfrm>
        </p:spPr>
        <p:txBody>
          <a:bodyPr anchor="b">
            <a:normAutofit/>
          </a:bodyPr>
          <a:lstStyle/>
          <a:p>
            <a:r>
              <a:rPr lang="en-US" sz="7200" dirty="0"/>
              <a:t>Presentation skills: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7A911FA-0EA3-3549-6F98-97F8E01DDC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052543" y="2118567"/>
            <a:ext cx="7302846" cy="823912"/>
          </a:xfrm>
        </p:spPr>
        <p:txBody>
          <a:bodyPr>
            <a:normAutofit fontScale="92500" lnSpcReduction="20000"/>
          </a:bodyPr>
          <a:lstStyle/>
          <a:p>
            <a:pPr algn="ctr"/>
            <a:r>
              <a:rPr lang="en-US" sz="2800" dirty="0"/>
              <a:t>Q: What do you like and expect to see and experience when you are watching someone give a presentation?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92EE5DD-B7FE-A2F0-22CF-9B2C51926F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139460" y="3428841"/>
            <a:ext cx="3389657" cy="3264408"/>
          </a:xfrm>
        </p:spPr>
        <p:txBody>
          <a:bodyPr>
            <a:normAutofit/>
          </a:bodyPr>
          <a:lstStyle/>
          <a:p>
            <a:r>
              <a:rPr lang="en-US" dirty="0"/>
              <a:t>Activities </a:t>
            </a:r>
          </a:p>
          <a:p>
            <a:r>
              <a:rPr lang="en-US" dirty="0"/>
              <a:t>Pictures and/or videos</a:t>
            </a:r>
          </a:p>
          <a:p>
            <a:r>
              <a:rPr lang="en-US" dirty="0"/>
              <a:t>Relevant information </a:t>
            </a:r>
          </a:p>
        </p:txBody>
      </p:sp>
      <p:pic>
        <p:nvPicPr>
          <p:cNvPr id="5" name="Picture 4" descr="A room of colourful chairs">
            <a:extLst>
              <a:ext uri="{FF2B5EF4-FFF2-40B4-BE49-F238E27FC236}">
                <a16:creationId xmlns:a16="http://schemas.microsoft.com/office/drawing/2014/main" id="{8E25603E-E0B7-97CF-9926-0F47CFBBC37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0098" r="30457" b="-2"/>
          <a:stretch/>
        </p:blipFill>
        <p:spPr>
          <a:xfrm>
            <a:off x="20" y="1"/>
            <a:ext cx="4052522" cy="6858000"/>
          </a:xfrm>
          <a:custGeom>
            <a:avLst/>
            <a:gdLst/>
            <a:ahLst/>
            <a:cxnLst/>
            <a:rect l="l" t="t" r="r" b="b"/>
            <a:pathLst>
              <a:path w="4052542" h="6858000">
                <a:moveTo>
                  <a:pt x="0" y="0"/>
                </a:moveTo>
                <a:lnTo>
                  <a:pt x="4020923" y="0"/>
                </a:lnTo>
                <a:lnTo>
                  <a:pt x="4022656" y="14697"/>
                </a:lnTo>
                <a:cubicBezTo>
                  <a:pt x="4037606" y="98462"/>
                  <a:pt x="4035072" y="183369"/>
                  <a:pt x="4039126" y="267642"/>
                </a:cubicBezTo>
                <a:cubicBezTo>
                  <a:pt x="4043941" y="370699"/>
                  <a:pt x="4037860" y="474136"/>
                  <a:pt x="4035579" y="577446"/>
                </a:cubicBezTo>
                <a:cubicBezTo>
                  <a:pt x="4033805" y="665399"/>
                  <a:pt x="4025063" y="753226"/>
                  <a:pt x="4027724" y="841306"/>
                </a:cubicBezTo>
                <a:cubicBezTo>
                  <a:pt x="4027914" y="844352"/>
                  <a:pt x="4027914" y="847398"/>
                  <a:pt x="4027724" y="850444"/>
                </a:cubicBezTo>
                <a:cubicBezTo>
                  <a:pt x="4019615" y="947281"/>
                  <a:pt x="4019615" y="1044626"/>
                  <a:pt x="4027724" y="1141464"/>
                </a:cubicBezTo>
                <a:cubicBezTo>
                  <a:pt x="4030296" y="1181772"/>
                  <a:pt x="4029574" y="1222221"/>
                  <a:pt x="4025570" y="1262415"/>
                </a:cubicBezTo>
                <a:cubicBezTo>
                  <a:pt x="4021769" y="1313563"/>
                  <a:pt x="4009606" y="1365472"/>
                  <a:pt x="4018348" y="1416238"/>
                </a:cubicBezTo>
                <a:cubicBezTo>
                  <a:pt x="4024037" y="1458058"/>
                  <a:pt x="4027166" y="1500194"/>
                  <a:pt x="4027724" y="1542394"/>
                </a:cubicBezTo>
                <a:cubicBezTo>
                  <a:pt x="4032158" y="1636820"/>
                  <a:pt x="4027977" y="1731753"/>
                  <a:pt x="4026330" y="1826433"/>
                </a:cubicBezTo>
                <a:cubicBezTo>
                  <a:pt x="4024556" y="1936724"/>
                  <a:pt x="4027344" y="2047015"/>
                  <a:pt x="4018475" y="2157432"/>
                </a:cubicBezTo>
                <a:cubicBezTo>
                  <a:pt x="4013597" y="2246629"/>
                  <a:pt x="4013597" y="2336029"/>
                  <a:pt x="4018475" y="2425226"/>
                </a:cubicBezTo>
                <a:cubicBezTo>
                  <a:pt x="4020882" y="2506961"/>
                  <a:pt x="4033172" y="2587934"/>
                  <a:pt x="4031145" y="2670557"/>
                </a:cubicBezTo>
                <a:cubicBezTo>
                  <a:pt x="4028737" y="2766886"/>
                  <a:pt x="4017335" y="2862962"/>
                  <a:pt x="4020882" y="2959546"/>
                </a:cubicBezTo>
                <a:cubicBezTo>
                  <a:pt x="4022529" y="3005617"/>
                  <a:pt x="4022656" y="3051688"/>
                  <a:pt x="4023543" y="3097758"/>
                </a:cubicBezTo>
                <a:cubicBezTo>
                  <a:pt x="4024683" y="3153221"/>
                  <a:pt x="4034692" y="3208556"/>
                  <a:pt x="4029117" y="3263892"/>
                </a:cubicBezTo>
                <a:cubicBezTo>
                  <a:pt x="4019869" y="3356161"/>
                  <a:pt x="3995923" y="3446906"/>
                  <a:pt x="4010873" y="3541459"/>
                </a:cubicBezTo>
                <a:cubicBezTo>
                  <a:pt x="4019108" y="3593495"/>
                  <a:pt x="4028357" y="3645658"/>
                  <a:pt x="4033172" y="3698201"/>
                </a:cubicBezTo>
                <a:cubicBezTo>
                  <a:pt x="4037353" y="3745160"/>
                  <a:pt x="4047868" y="3792881"/>
                  <a:pt x="4039886" y="3839586"/>
                </a:cubicBezTo>
                <a:cubicBezTo>
                  <a:pt x="4033045" y="3879565"/>
                  <a:pt x="4036592" y="3919544"/>
                  <a:pt x="4031271" y="3959523"/>
                </a:cubicBezTo>
                <a:cubicBezTo>
                  <a:pt x="4024303" y="4011939"/>
                  <a:pt x="4020629" y="4065244"/>
                  <a:pt x="4015308" y="4118042"/>
                </a:cubicBezTo>
                <a:cubicBezTo>
                  <a:pt x="4010620" y="4165889"/>
                  <a:pt x="4006946" y="4213610"/>
                  <a:pt x="4019615" y="4258539"/>
                </a:cubicBezTo>
                <a:cubicBezTo>
                  <a:pt x="4050656" y="4371622"/>
                  <a:pt x="4033679" y="4484070"/>
                  <a:pt x="4022023" y="4596391"/>
                </a:cubicBezTo>
                <a:cubicBezTo>
                  <a:pt x="4016321" y="4650965"/>
                  <a:pt x="4007959" y="4708712"/>
                  <a:pt x="4020629" y="4758718"/>
                </a:cubicBezTo>
                <a:cubicBezTo>
                  <a:pt x="4043941" y="4847432"/>
                  <a:pt x="4025697" y="4931705"/>
                  <a:pt x="4015561" y="5016866"/>
                </a:cubicBezTo>
                <a:cubicBezTo>
                  <a:pt x="4003335" y="5100174"/>
                  <a:pt x="4005096" y="5184929"/>
                  <a:pt x="4020756" y="5267654"/>
                </a:cubicBezTo>
                <a:cubicBezTo>
                  <a:pt x="4033172" y="5326035"/>
                  <a:pt x="4033172" y="5385432"/>
                  <a:pt x="4034692" y="5444194"/>
                </a:cubicBezTo>
                <a:cubicBezTo>
                  <a:pt x="4035579" y="5481001"/>
                  <a:pt x="4022023" y="5518441"/>
                  <a:pt x="4013027" y="5555120"/>
                </a:cubicBezTo>
                <a:cubicBezTo>
                  <a:pt x="3996937" y="5621371"/>
                  <a:pt x="3991109" y="5688636"/>
                  <a:pt x="4013027" y="5753237"/>
                </a:cubicBezTo>
                <a:cubicBezTo>
                  <a:pt x="4043561" y="5842713"/>
                  <a:pt x="4061045" y="5932189"/>
                  <a:pt x="4048375" y="6026870"/>
                </a:cubicBezTo>
                <a:cubicBezTo>
                  <a:pt x="4041027" y="6085251"/>
                  <a:pt x="4039380" y="6144902"/>
                  <a:pt x="4028357" y="6202522"/>
                </a:cubicBezTo>
                <a:cubicBezTo>
                  <a:pt x="4010240" y="6298091"/>
                  <a:pt x="4016701" y="6393024"/>
                  <a:pt x="4031145" y="6487196"/>
                </a:cubicBezTo>
                <a:cubicBezTo>
                  <a:pt x="4041293" y="6565885"/>
                  <a:pt x="4042395" y="6645474"/>
                  <a:pt x="4034439" y="6724403"/>
                </a:cubicBezTo>
                <a:lnTo>
                  <a:pt x="402520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7F39E57-977C-D3EB-D7DF-C75ABA9EB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81164" y="3428841"/>
            <a:ext cx="3389657" cy="3264408"/>
          </a:xfrm>
        </p:spPr>
        <p:txBody>
          <a:bodyPr/>
          <a:lstStyle/>
          <a:p>
            <a:r>
              <a:rPr lang="en-US" dirty="0"/>
              <a:t>Eye contact</a:t>
            </a:r>
          </a:p>
          <a:p>
            <a:r>
              <a:rPr lang="en-US" dirty="0"/>
              <a:t>Clearly spoken</a:t>
            </a:r>
          </a:p>
          <a:p>
            <a:r>
              <a:rPr lang="en-US" dirty="0"/>
              <a:t>Engaging tone of voice</a:t>
            </a:r>
          </a:p>
          <a:p>
            <a:r>
              <a:rPr lang="en-US" dirty="0"/>
              <a:t>Engaging content</a:t>
            </a:r>
          </a:p>
        </p:txBody>
      </p:sp>
    </p:spTree>
    <p:extLst>
      <p:ext uri="{BB962C8B-B14F-4D97-AF65-F5344CB8AC3E}">
        <p14:creationId xmlns:p14="http://schemas.microsoft.com/office/powerpoint/2010/main" val="35722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10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7">
            <a:extLst>
              <a:ext uri="{FF2B5EF4-FFF2-40B4-BE49-F238E27FC236}">
                <a16:creationId xmlns:a16="http://schemas.microsoft.com/office/drawing/2014/main" id="{EBDD1931-9E86-4402-9A68-33A2D9EF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199" y="1709928"/>
            <a:ext cx="10515600" cy="27432"/>
          </a:xfrm>
          <a:custGeom>
            <a:avLst/>
            <a:gdLst>
              <a:gd name="connsiteX0" fmla="*/ 0 w 10515600"/>
              <a:gd name="connsiteY0" fmla="*/ 0 h 27432"/>
              <a:gd name="connsiteX1" fmla="*/ 446913 w 10515600"/>
              <a:gd name="connsiteY1" fmla="*/ 0 h 27432"/>
              <a:gd name="connsiteX2" fmla="*/ 1104138 w 10515600"/>
              <a:gd name="connsiteY2" fmla="*/ 0 h 27432"/>
              <a:gd name="connsiteX3" fmla="*/ 1866519 w 10515600"/>
              <a:gd name="connsiteY3" fmla="*/ 0 h 27432"/>
              <a:gd name="connsiteX4" fmla="*/ 2208276 w 10515600"/>
              <a:gd name="connsiteY4" fmla="*/ 0 h 27432"/>
              <a:gd name="connsiteX5" fmla="*/ 2550033 w 10515600"/>
              <a:gd name="connsiteY5" fmla="*/ 0 h 27432"/>
              <a:gd name="connsiteX6" fmla="*/ 3417570 w 10515600"/>
              <a:gd name="connsiteY6" fmla="*/ 0 h 27432"/>
              <a:gd name="connsiteX7" fmla="*/ 4074795 w 10515600"/>
              <a:gd name="connsiteY7" fmla="*/ 0 h 27432"/>
              <a:gd name="connsiteX8" fmla="*/ 4416552 w 10515600"/>
              <a:gd name="connsiteY8" fmla="*/ 0 h 27432"/>
              <a:gd name="connsiteX9" fmla="*/ 5073777 w 10515600"/>
              <a:gd name="connsiteY9" fmla="*/ 0 h 27432"/>
              <a:gd name="connsiteX10" fmla="*/ 5941314 w 10515600"/>
              <a:gd name="connsiteY10" fmla="*/ 0 h 27432"/>
              <a:gd name="connsiteX11" fmla="*/ 6493383 w 10515600"/>
              <a:gd name="connsiteY11" fmla="*/ 0 h 27432"/>
              <a:gd name="connsiteX12" fmla="*/ 7045452 w 10515600"/>
              <a:gd name="connsiteY12" fmla="*/ 0 h 27432"/>
              <a:gd name="connsiteX13" fmla="*/ 7702677 w 10515600"/>
              <a:gd name="connsiteY13" fmla="*/ 0 h 27432"/>
              <a:gd name="connsiteX14" fmla="*/ 8465058 w 10515600"/>
              <a:gd name="connsiteY14" fmla="*/ 0 h 27432"/>
              <a:gd name="connsiteX15" fmla="*/ 9227439 w 10515600"/>
              <a:gd name="connsiteY15" fmla="*/ 0 h 27432"/>
              <a:gd name="connsiteX16" fmla="*/ 10515600 w 10515600"/>
              <a:gd name="connsiteY16" fmla="*/ 0 h 27432"/>
              <a:gd name="connsiteX17" fmla="*/ 10515600 w 10515600"/>
              <a:gd name="connsiteY17" fmla="*/ 27432 h 27432"/>
              <a:gd name="connsiteX18" fmla="*/ 10068687 w 10515600"/>
              <a:gd name="connsiteY18" fmla="*/ 27432 h 27432"/>
              <a:gd name="connsiteX19" fmla="*/ 9201150 w 10515600"/>
              <a:gd name="connsiteY19" fmla="*/ 27432 h 27432"/>
              <a:gd name="connsiteX20" fmla="*/ 8543925 w 10515600"/>
              <a:gd name="connsiteY20" fmla="*/ 27432 h 27432"/>
              <a:gd name="connsiteX21" fmla="*/ 8202168 w 10515600"/>
              <a:gd name="connsiteY21" fmla="*/ 27432 h 27432"/>
              <a:gd name="connsiteX22" fmla="*/ 7544943 w 10515600"/>
              <a:gd name="connsiteY22" fmla="*/ 27432 h 27432"/>
              <a:gd name="connsiteX23" fmla="*/ 6992874 w 10515600"/>
              <a:gd name="connsiteY23" fmla="*/ 27432 h 27432"/>
              <a:gd name="connsiteX24" fmla="*/ 6440805 w 10515600"/>
              <a:gd name="connsiteY24" fmla="*/ 27432 h 27432"/>
              <a:gd name="connsiteX25" fmla="*/ 5888736 w 10515600"/>
              <a:gd name="connsiteY25" fmla="*/ 27432 h 27432"/>
              <a:gd name="connsiteX26" fmla="*/ 5336667 w 10515600"/>
              <a:gd name="connsiteY26" fmla="*/ 27432 h 27432"/>
              <a:gd name="connsiteX27" fmla="*/ 4574286 w 10515600"/>
              <a:gd name="connsiteY27" fmla="*/ 27432 h 27432"/>
              <a:gd name="connsiteX28" fmla="*/ 3917061 w 10515600"/>
              <a:gd name="connsiteY28" fmla="*/ 27432 h 27432"/>
              <a:gd name="connsiteX29" fmla="*/ 3575304 w 10515600"/>
              <a:gd name="connsiteY29" fmla="*/ 27432 h 27432"/>
              <a:gd name="connsiteX30" fmla="*/ 3023235 w 10515600"/>
              <a:gd name="connsiteY30" fmla="*/ 27432 h 27432"/>
              <a:gd name="connsiteX31" fmla="*/ 2260854 w 10515600"/>
              <a:gd name="connsiteY31" fmla="*/ 27432 h 27432"/>
              <a:gd name="connsiteX32" fmla="*/ 1813941 w 10515600"/>
              <a:gd name="connsiteY32" fmla="*/ 27432 h 27432"/>
              <a:gd name="connsiteX33" fmla="*/ 946404 w 10515600"/>
              <a:gd name="connsiteY33" fmla="*/ 27432 h 27432"/>
              <a:gd name="connsiteX34" fmla="*/ 0 w 10515600"/>
              <a:gd name="connsiteY34" fmla="*/ 27432 h 27432"/>
              <a:gd name="connsiteX35" fmla="*/ 0 w 10515600"/>
              <a:gd name="connsiteY35" fmla="*/ 0 h 27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247B6BBF-09F2-4A29-AE4E-3771E29248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DFAEB1-98A0-7AA8-229E-59E1EDB65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34029"/>
            <a:ext cx="7035800" cy="131469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dirty="0"/>
              <a:t>Presentation options:</a:t>
            </a:r>
          </a:p>
        </p:txBody>
      </p:sp>
      <p:sp>
        <p:nvSpPr>
          <p:cNvPr id="16" name="Rectangle 22">
            <a:extLst>
              <a:ext uri="{FF2B5EF4-FFF2-40B4-BE49-F238E27FC236}">
                <a16:creationId xmlns:a16="http://schemas.microsoft.com/office/drawing/2014/main" id="{535742DD-1B16-4E9D-B715-0D74B4574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48305" y="2241737"/>
            <a:ext cx="10900219" cy="18288"/>
          </a:xfrm>
          <a:custGeom>
            <a:avLst/>
            <a:gdLst>
              <a:gd name="connsiteX0" fmla="*/ 0 w 10900219"/>
              <a:gd name="connsiteY0" fmla="*/ 0 h 18288"/>
              <a:gd name="connsiteX1" fmla="*/ 463259 w 10900219"/>
              <a:gd name="connsiteY1" fmla="*/ 0 h 18288"/>
              <a:gd name="connsiteX2" fmla="*/ 1144523 w 10900219"/>
              <a:gd name="connsiteY2" fmla="*/ 0 h 18288"/>
              <a:gd name="connsiteX3" fmla="*/ 1934789 w 10900219"/>
              <a:gd name="connsiteY3" fmla="*/ 0 h 18288"/>
              <a:gd name="connsiteX4" fmla="*/ 2289046 w 10900219"/>
              <a:gd name="connsiteY4" fmla="*/ 0 h 18288"/>
              <a:gd name="connsiteX5" fmla="*/ 2643303 w 10900219"/>
              <a:gd name="connsiteY5" fmla="*/ 0 h 18288"/>
              <a:gd name="connsiteX6" fmla="*/ 3542571 w 10900219"/>
              <a:gd name="connsiteY6" fmla="*/ 0 h 18288"/>
              <a:gd name="connsiteX7" fmla="*/ 4223835 w 10900219"/>
              <a:gd name="connsiteY7" fmla="*/ 0 h 18288"/>
              <a:gd name="connsiteX8" fmla="*/ 4578092 w 10900219"/>
              <a:gd name="connsiteY8" fmla="*/ 0 h 18288"/>
              <a:gd name="connsiteX9" fmla="*/ 5259356 w 10900219"/>
              <a:gd name="connsiteY9" fmla="*/ 0 h 18288"/>
              <a:gd name="connsiteX10" fmla="*/ 6158624 w 10900219"/>
              <a:gd name="connsiteY10" fmla="*/ 0 h 18288"/>
              <a:gd name="connsiteX11" fmla="*/ 6730885 w 10900219"/>
              <a:gd name="connsiteY11" fmla="*/ 0 h 18288"/>
              <a:gd name="connsiteX12" fmla="*/ 7303147 w 10900219"/>
              <a:gd name="connsiteY12" fmla="*/ 0 h 18288"/>
              <a:gd name="connsiteX13" fmla="*/ 7984410 w 10900219"/>
              <a:gd name="connsiteY13" fmla="*/ 0 h 18288"/>
              <a:gd name="connsiteX14" fmla="*/ 8774676 w 10900219"/>
              <a:gd name="connsiteY14" fmla="*/ 0 h 18288"/>
              <a:gd name="connsiteX15" fmla="*/ 9564942 w 10900219"/>
              <a:gd name="connsiteY15" fmla="*/ 0 h 18288"/>
              <a:gd name="connsiteX16" fmla="*/ 10900219 w 10900219"/>
              <a:gd name="connsiteY16" fmla="*/ 0 h 18288"/>
              <a:gd name="connsiteX17" fmla="*/ 10900219 w 10900219"/>
              <a:gd name="connsiteY17" fmla="*/ 18288 h 18288"/>
              <a:gd name="connsiteX18" fmla="*/ 10436960 w 10900219"/>
              <a:gd name="connsiteY18" fmla="*/ 18288 h 18288"/>
              <a:gd name="connsiteX19" fmla="*/ 9537692 w 10900219"/>
              <a:gd name="connsiteY19" fmla="*/ 18288 h 18288"/>
              <a:gd name="connsiteX20" fmla="*/ 8856428 w 10900219"/>
              <a:gd name="connsiteY20" fmla="*/ 18288 h 18288"/>
              <a:gd name="connsiteX21" fmla="*/ 8502171 w 10900219"/>
              <a:gd name="connsiteY21" fmla="*/ 18288 h 18288"/>
              <a:gd name="connsiteX22" fmla="*/ 7820907 w 10900219"/>
              <a:gd name="connsiteY22" fmla="*/ 18288 h 18288"/>
              <a:gd name="connsiteX23" fmla="*/ 7248646 w 10900219"/>
              <a:gd name="connsiteY23" fmla="*/ 18288 h 18288"/>
              <a:gd name="connsiteX24" fmla="*/ 6676384 w 10900219"/>
              <a:gd name="connsiteY24" fmla="*/ 18288 h 18288"/>
              <a:gd name="connsiteX25" fmla="*/ 6104123 w 10900219"/>
              <a:gd name="connsiteY25" fmla="*/ 18288 h 18288"/>
              <a:gd name="connsiteX26" fmla="*/ 5531861 w 10900219"/>
              <a:gd name="connsiteY26" fmla="*/ 18288 h 18288"/>
              <a:gd name="connsiteX27" fmla="*/ 4741595 w 10900219"/>
              <a:gd name="connsiteY27" fmla="*/ 18288 h 18288"/>
              <a:gd name="connsiteX28" fmla="*/ 4060332 w 10900219"/>
              <a:gd name="connsiteY28" fmla="*/ 18288 h 18288"/>
              <a:gd name="connsiteX29" fmla="*/ 3706074 w 10900219"/>
              <a:gd name="connsiteY29" fmla="*/ 18288 h 18288"/>
              <a:gd name="connsiteX30" fmla="*/ 3133813 w 10900219"/>
              <a:gd name="connsiteY30" fmla="*/ 18288 h 18288"/>
              <a:gd name="connsiteX31" fmla="*/ 2343547 w 10900219"/>
              <a:gd name="connsiteY31" fmla="*/ 18288 h 18288"/>
              <a:gd name="connsiteX32" fmla="*/ 1880288 w 10900219"/>
              <a:gd name="connsiteY32" fmla="*/ 18288 h 18288"/>
              <a:gd name="connsiteX33" fmla="*/ 981020 w 10900219"/>
              <a:gd name="connsiteY33" fmla="*/ 18288 h 18288"/>
              <a:gd name="connsiteX34" fmla="*/ 0 w 10900219"/>
              <a:gd name="connsiteY34" fmla="*/ 18288 h 18288"/>
              <a:gd name="connsiteX35" fmla="*/ 0 w 10900219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900219" h="18288" fill="none" extrusionOk="0">
                <a:moveTo>
                  <a:pt x="0" y="0"/>
                </a:moveTo>
                <a:cubicBezTo>
                  <a:pt x="118469" y="-6619"/>
                  <a:pt x="329397" y="-5525"/>
                  <a:pt x="463259" y="0"/>
                </a:cubicBezTo>
                <a:cubicBezTo>
                  <a:pt x="597121" y="5525"/>
                  <a:pt x="866598" y="4881"/>
                  <a:pt x="1144523" y="0"/>
                </a:cubicBezTo>
                <a:cubicBezTo>
                  <a:pt x="1422448" y="-4881"/>
                  <a:pt x="1761178" y="17159"/>
                  <a:pt x="1934789" y="0"/>
                </a:cubicBezTo>
                <a:cubicBezTo>
                  <a:pt x="2108400" y="-17159"/>
                  <a:pt x="2119134" y="-4032"/>
                  <a:pt x="2289046" y="0"/>
                </a:cubicBezTo>
                <a:cubicBezTo>
                  <a:pt x="2458958" y="4032"/>
                  <a:pt x="2472610" y="15385"/>
                  <a:pt x="2643303" y="0"/>
                </a:cubicBezTo>
                <a:cubicBezTo>
                  <a:pt x="2813996" y="-15385"/>
                  <a:pt x="3334189" y="-21234"/>
                  <a:pt x="3542571" y="0"/>
                </a:cubicBezTo>
                <a:cubicBezTo>
                  <a:pt x="3750953" y="21234"/>
                  <a:pt x="3991639" y="13212"/>
                  <a:pt x="4223835" y="0"/>
                </a:cubicBezTo>
                <a:cubicBezTo>
                  <a:pt x="4456031" y="-13212"/>
                  <a:pt x="4466914" y="13318"/>
                  <a:pt x="4578092" y="0"/>
                </a:cubicBezTo>
                <a:cubicBezTo>
                  <a:pt x="4689270" y="-13318"/>
                  <a:pt x="5120635" y="31363"/>
                  <a:pt x="5259356" y="0"/>
                </a:cubicBezTo>
                <a:cubicBezTo>
                  <a:pt x="5398077" y="-31363"/>
                  <a:pt x="5954119" y="-7091"/>
                  <a:pt x="6158624" y="0"/>
                </a:cubicBezTo>
                <a:cubicBezTo>
                  <a:pt x="6363129" y="7091"/>
                  <a:pt x="6535071" y="-8480"/>
                  <a:pt x="6730885" y="0"/>
                </a:cubicBezTo>
                <a:cubicBezTo>
                  <a:pt x="6926699" y="8480"/>
                  <a:pt x="7091018" y="19194"/>
                  <a:pt x="7303147" y="0"/>
                </a:cubicBezTo>
                <a:cubicBezTo>
                  <a:pt x="7515276" y="-19194"/>
                  <a:pt x="7840361" y="30755"/>
                  <a:pt x="7984410" y="0"/>
                </a:cubicBezTo>
                <a:cubicBezTo>
                  <a:pt x="8128459" y="-30755"/>
                  <a:pt x="8498590" y="39460"/>
                  <a:pt x="8774676" y="0"/>
                </a:cubicBezTo>
                <a:cubicBezTo>
                  <a:pt x="9050762" y="-39460"/>
                  <a:pt x="9204381" y="36508"/>
                  <a:pt x="9564942" y="0"/>
                </a:cubicBezTo>
                <a:cubicBezTo>
                  <a:pt x="9925503" y="-36508"/>
                  <a:pt x="10235542" y="59225"/>
                  <a:pt x="10900219" y="0"/>
                </a:cubicBezTo>
                <a:cubicBezTo>
                  <a:pt x="10900865" y="4451"/>
                  <a:pt x="10900709" y="9226"/>
                  <a:pt x="10900219" y="18288"/>
                </a:cubicBezTo>
                <a:cubicBezTo>
                  <a:pt x="10675942" y="21751"/>
                  <a:pt x="10609372" y="26977"/>
                  <a:pt x="10436960" y="18288"/>
                </a:cubicBezTo>
                <a:cubicBezTo>
                  <a:pt x="10264548" y="9599"/>
                  <a:pt x="9961150" y="-11074"/>
                  <a:pt x="9537692" y="18288"/>
                </a:cubicBezTo>
                <a:cubicBezTo>
                  <a:pt x="9114234" y="47650"/>
                  <a:pt x="9087386" y="35169"/>
                  <a:pt x="8856428" y="18288"/>
                </a:cubicBezTo>
                <a:cubicBezTo>
                  <a:pt x="8625470" y="1407"/>
                  <a:pt x="8634361" y="13786"/>
                  <a:pt x="8502171" y="18288"/>
                </a:cubicBezTo>
                <a:cubicBezTo>
                  <a:pt x="8369981" y="22790"/>
                  <a:pt x="8132296" y="22561"/>
                  <a:pt x="7820907" y="18288"/>
                </a:cubicBezTo>
                <a:cubicBezTo>
                  <a:pt x="7509518" y="14015"/>
                  <a:pt x="7432447" y="29431"/>
                  <a:pt x="7248646" y="18288"/>
                </a:cubicBezTo>
                <a:cubicBezTo>
                  <a:pt x="7064845" y="7145"/>
                  <a:pt x="6954380" y="2746"/>
                  <a:pt x="6676384" y="18288"/>
                </a:cubicBezTo>
                <a:cubicBezTo>
                  <a:pt x="6398388" y="33830"/>
                  <a:pt x="6292480" y="-4579"/>
                  <a:pt x="6104123" y="18288"/>
                </a:cubicBezTo>
                <a:cubicBezTo>
                  <a:pt x="5915766" y="41155"/>
                  <a:pt x="5703359" y="-8437"/>
                  <a:pt x="5531861" y="18288"/>
                </a:cubicBezTo>
                <a:cubicBezTo>
                  <a:pt x="5360363" y="45013"/>
                  <a:pt x="5056784" y="-12121"/>
                  <a:pt x="4741595" y="18288"/>
                </a:cubicBezTo>
                <a:cubicBezTo>
                  <a:pt x="4426406" y="48697"/>
                  <a:pt x="4364529" y="-10910"/>
                  <a:pt x="4060332" y="18288"/>
                </a:cubicBezTo>
                <a:cubicBezTo>
                  <a:pt x="3756135" y="47486"/>
                  <a:pt x="3816049" y="13364"/>
                  <a:pt x="3706074" y="18288"/>
                </a:cubicBezTo>
                <a:cubicBezTo>
                  <a:pt x="3596099" y="23212"/>
                  <a:pt x="3382238" y="37686"/>
                  <a:pt x="3133813" y="18288"/>
                </a:cubicBezTo>
                <a:cubicBezTo>
                  <a:pt x="2885388" y="-1110"/>
                  <a:pt x="2523125" y="15465"/>
                  <a:pt x="2343547" y="18288"/>
                </a:cubicBezTo>
                <a:cubicBezTo>
                  <a:pt x="2163969" y="21111"/>
                  <a:pt x="1985160" y="33196"/>
                  <a:pt x="1880288" y="18288"/>
                </a:cubicBezTo>
                <a:cubicBezTo>
                  <a:pt x="1775416" y="3380"/>
                  <a:pt x="1261751" y="-9914"/>
                  <a:pt x="981020" y="18288"/>
                </a:cubicBezTo>
                <a:cubicBezTo>
                  <a:pt x="700289" y="46490"/>
                  <a:pt x="314212" y="-15659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900219" h="18288" stroke="0" extrusionOk="0">
                <a:moveTo>
                  <a:pt x="0" y="0"/>
                </a:moveTo>
                <a:cubicBezTo>
                  <a:pt x="269624" y="3698"/>
                  <a:pt x="383061" y="-5818"/>
                  <a:pt x="572261" y="0"/>
                </a:cubicBezTo>
                <a:cubicBezTo>
                  <a:pt x="761461" y="5818"/>
                  <a:pt x="826360" y="-1890"/>
                  <a:pt x="926519" y="0"/>
                </a:cubicBezTo>
                <a:cubicBezTo>
                  <a:pt x="1026678" y="1890"/>
                  <a:pt x="1621671" y="-1096"/>
                  <a:pt x="1825787" y="0"/>
                </a:cubicBezTo>
                <a:cubicBezTo>
                  <a:pt x="2029903" y="1096"/>
                  <a:pt x="2212612" y="17145"/>
                  <a:pt x="2398048" y="0"/>
                </a:cubicBezTo>
                <a:cubicBezTo>
                  <a:pt x="2583484" y="-17145"/>
                  <a:pt x="2739759" y="-14168"/>
                  <a:pt x="2970310" y="0"/>
                </a:cubicBezTo>
                <a:cubicBezTo>
                  <a:pt x="3200861" y="14168"/>
                  <a:pt x="3502691" y="33180"/>
                  <a:pt x="3869578" y="0"/>
                </a:cubicBezTo>
                <a:cubicBezTo>
                  <a:pt x="4236465" y="-33180"/>
                  <a:pt x="4122134" y="-10470"/>
                  <a:pt x="4332837" y="0"/>
                </a:cubicBezTo>
                <a:cubicBezTo>
                  <a:pt x="4543540" y="10470"/>
                  <a:pt x="4834652" y="3572"/>
                  <a:pt x="5232105" y="0"/>
                </a:cubicBezTo>
                <a:cubicBezTo>
                  <a:pt x="5629558" y="-3572"/>
                  <a:pt x="5773178" y="-6604"/>
                  <a:pt x="6131373" y="0"/>
                </a:cubicBezTo>
                <a:cubicBezTo>
                  <a:pt x="6489568" y="6604"/>
                  <a:pt x="6621532" y="18870"/>
                  <a:pt x="6812637" y="0"/>
                </a:cubicBezTo>
                <a:cubicBezTo>
                  <a:pt x="7003742" y="-18870"/>
                  <a:pt x="7311146" y="18959"/>
                  <a:pt x="7711905" y="0"/>
                </a:cubicBezTo>
                <a:cubicBezTo>
                  <a:pt x="8112664" y="-18959"/>
                  <a:pt x="8080793" y="-24744"/>
                  <a:pt x="8284166" y="0"/>
                </a:cubicBezTo>
                <a:cubicBezTo>
                  <a:pt x="8487539" y="24744"/>
                  <a:pt x="8615041" y="-1627"/>
                  <a:pt x="8856428" y="0"/>
                </a:cubicBezTo>
                <a:cubicBezTo>
                  <a:pt x="9097815" y="1627"/>
                  <a:pt x="9475052" y="26322"/>
                  <a:pt x="9646694" y="0"/>
                </a:cubicBezTo>
                <a:cubicBezTo>
                  <a:pt x="9818336" y="-26322"/>
                  <a:pt x="9938906" y="-121"/>
                  <a:pt x="10218955" y="0"/>
                </a:cubicBezTo>
                <a:cubicBezTo>
                  <a:pt x="10499004" y="121"/>
                  <a:pt x="10697467" y="15326"/>
                  <a:pt x="10900219" y="0"/>
                </a:cubicBezTo>
                <a:cubicBezTo>
                  <a:pt x="10899812" y="8690"/>
                  <a:pt x="10900065" y="14141"/>
                  <a:pt x="10900219" y="18288"/>
                </a:cubicBezTo>
                <a:cubicBezTo>
                  <a:pt x="10543007" y="31201"/>
                  <a:pt x="10472057" y="15684"/>
                  <a:pt x="10109953" y="18288"/>
                </a:cubicBezTo>
                <a:cubicBezTo>
                  <a:pt x="9747849" y="20892"/>
                  <a:pt x="9872856" y="33007"/>
                  <a:pt x="9755696" y="18288"/>
                </a:cubicBezTo>
                <a:cubicBezTo>
                  <a:pt x="9638536" y="3569"/>
                  <a:pt x="9442681" y="6596"/>
                  <a:pt x="9292437" y="18288"/>
                </a:cubicBezTo>
                <a:cubicBezTo>
                  <a:pt x="9142193" y="29980"/>
                  <a:pt x="8817861" y="-11343"/>
                  <a:pt x="8393169" y="18288"/>
                </a:cubicBezTo>
                <a:cubicBezTo>
                  <a:pt x="7968477" y="47919"/>
                  <a:pt x="7919655" y="23228"/>
                  <a:pt x="7711905" y="18288"/>
                </a:cubicBezTo>
                <a:cubicBezTo>
                  <a:pt x="7504155" y="13348"/>
                  <a:pt x="7365667" y="6452"/>
                  <a:pt x="7248646" y="18288"/>
                </a:cubicBezTo>
                <a:cubicBezTo>
                  <a:pt x="7131625" y="30124"/>
                  <a:pt x="6776155" y="2871"/>
                  <a:pt x="6567382" y="18288"/>
                </a:cubicBezTo>
                <a:cubicBezTo>
                  <a:pt x="6358609" y="33705"/>
                  <a:pt x="6372933" y="1091"/>
                  <a:pt x="6213125" y="18288"/>
                </a:cubicBezTo>
                <a:cubicBezTo>
                  <a:pt x="6053317" y="35485"/>
                  <a:pt x="5980913" y="1290"/>
                  <a:pt x="5858868" y="18288"/>
                </a:cubicBezTo>
                <a:cubicBezTo>
                  <a:pt x="5736823" y="35286"/>
                  <a:pt x="5481395" y="5492"/>
                  <a:pt x="5177604" y="18288"/>
                </a:cubicBezTo>
                <a:cubicBezTo>
                  <a:pt x="4873813" y="31084"/>
                  <a:pt x="4854222" y="37160"/>
                  <a:pt x="4714345" y="18288"/>
                </a:cubicBezTo>
                <a:cubicBezTo>
                  <a:pt x="4574468" y="-584"/>
                  <a:pt x="4298550" y="22981"/>
                  <a:pt x="3924079" y="18288"/>
                </a:cubicBezTo>
                <a:cubicBezTo>
                  <a:pt x="3549608" y="13595"/>
                  <a:pt x="3645461" y="-921"/>
                  <a:pt x="3460820" y="18288"/>
                </a:cubicBezTo>
                <a:cubicBezTo>
                  <a:pt x="3276179" y="37497"/>
                  <a:pt x="3004470" y="-15027"/>
                  <a:pt x="2670554" y="18288"/>
                </a:cubicBezTo>
                <a:cubicBezTo>
                  <a:pt x="2336638" y="51603"/>
                  <a:pt x="2425773" y="17517"/>
                  <a:pt x="2316297" y="18288"/>
                </a:cubicBezTo>
                <a:cubicBezTo>
                  <a:pt x="2206821" y="19059"/>
                  <a:pt x="1757890" y="42158"/>
                  <a:pt x="1526031" y="18288"/>
                </a:cubicBezTo>
                <a:cubicBezTo>
                  <a:pt x="1294172" y="-5582"/>
                  <a:pt x="1213137" y="12281"/>
                  <a:pt x="1062771" y="18288"/>
                </a:cubicBezTo>
                <a:cubicBezTo>
                  <a:pt x="912405" y="24295"/>
                  <a:pt x="829444" y="7304"/>
                  <a:pt x="708514" y="18288"/>
                </a:cubicBezTo>
                <a:cubicBezTo>
                  <a:pt x="587584" y="29272"/>
                  <a:pt x="227877" y="37311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4925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94EED6-DF59-07EB-9B75-9D8986D09364}"/>
              </a:ext>
            </a:extLst>
          </p:cNvPr>
          <p:cNvSpPr>
            <a:spLocks/>
          </p:cNvSpPr>
          <p:nvPr/>
        </p:nvSpPr>
        <p:spPr>
          <a:xfrm>
            <a:off x="838199" y="2672564"/>
            <a:ext cx="4220085" cy="528006"/>
          </a:xfrm>
          <a:prstGeom prst="rect">
            <a:avLst/>
          </a:prstGeom>
        </p:spPr>
        <p:txBody>
          <a:bodyPr>
            <a:normAutofit fontScale="85000" lnSpcReduction="10000"/>
          </a:bodyPr>
          <a:lstStyle/>
          <a:p>
            <a:pPr algn="ctr" defTabSz="740664">
              <a:spcAft>
                <a:spcPts val="600"/>
              </a:spcAft>
            </a:pPr>
            <a:r>
              <a:rPr lang="en-US" sz="32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How could you present your oral presentation?</a:t>
            </a:r>
            <a:endParaRPr lang="en-US" sz="4000" b="1" i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840CFA-1F99-E81A-7663-AA43B725CC4A}"/>
              </a:ext>
            </a:extLst>
          </p:cNvPr>
          <p:cNvSpPr>
            <a:spLocks/>
          </p:cNvSpPr>
          <p:nvPr/>
        </p:nvSpPr>
        <p:spPr>
          <a:xfrm>
            <a:off x="1299426" y="3429000"/>
            <a:ext cx="4220085" cy="2670928"/>
          </a:xfrm>
          <a:prstGeom prst="rect">
            <a:avLst/>
          </a:prstGeom>
        </p:spPr>
        <p:txBody>
          <a:bodyPr/>
          <a:lstStyle/>
          <a:p>
            <a:pPr marL="571500" indent="-571500" defTabSz="740664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Speech </a:t>
            </a:r>
          </a:p>
          <a:p>
            <a:pPr marL="571500" indent="-571500" defTabSz="740664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Role Play</a:t>
            </a:r>
          </a:p>
          <a:p>
            <a:pPr marL="571500" indent="-571500" defTabSz="740664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Rap or song</a:t>
            </a:r>
          </a:p>
          <a:p>
            <a:pPr marL="571500" indent="-571500" defTabSz="740664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Videos</a:t>
            </a:r>
          </a:p>
          <a:p>
            <a:pPr defTabSz="740664">
              <a:spcAft>
                <a:spcPts val="600"/>
              </a:spcAft>
            </a:pPr>
            <a:r>
              <a:rPr lang="en-US" sz="3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Etc. </a:t>
            </a:r>
            <a:endParaRPr lang="en-US" sz="44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8CA239-4B1B-6950-E3BA-6AEB0E0F4499}"/>
              </a:ext>
            </a:extLst>
          </p:cNvPr>
          <p:cNvSpPr>
            <a:spLocks/>
          </p:cNvSpPr>
          <p:nvPr/>
        </p:nvSpPr>
        <p:spPr>
          <a:xfrm>
            <a:off x="6094476" y="2525788"/>
            <a:ext cx="5396896" cy="674122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 defTabSz="740664">
              <a:spcAft>
                <a:spcPts val="600"/>
              </a:spcAft>
            </a:pPr>
            <a:r>
              <a:rPr lang="en-US" sz="2700" b="1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 could you include in your presentation to make it engaging and entertaining?</a:t>
            </a:r>
            <a:endParaRPr lang="en-US" sz="2700" b="1" i="1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F141C4-043E-84C3-3731-72F5FAFE7B3D}"/>
              </a:ext>
            </a:extLst>
          </p:cNvPr>
          <p:cNvSpPr>
            <a:spLocks/>
          </p:cNvSpPr>
          <p:nvPr/>
        </p:nvSpPr>
        <p:spPr>
          <a:xfrm>
            <a:off x="6672490" y="3490514"/>
            <a:ext cx="4240868" cy="2670928"/>
          </a:xfrm>
          <a:prstGeom prst="rect">
            <a:avLst/>
          </a:prstGeom>
        </p:spPr>
        <p:txBody>
          <a:bodyPr/>
          <a:lstStyle/>
          <a:p>
            <a:pPr marL="571500" indent="-571500" defTabSz="740664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Images and videos</a:t>
            </a:r>
          </a:p>
          <a:p>
            <a:pPr marL="571500" indent="-571500" defTabSz="740664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Activities</a:t>
            </a:r>
          </a:p>
          <a:p>
            <a:pPr marL="571500" indent="-571500" defTabSz="740664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Quizzes</a:t>
            </a:r>
          </a:p>
          <a:p>
            <a:pPr marL="571500" indent="-571500" defTabSz="740664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Music</a:t>
            </a:r>
          </a:p>
          <a:p>
            <a:pPr defTabSz="740664">
              <a:spcAft>
                <a:spcPts val="600"/>
              </a:spcAft>
            </a:pPr>
            <a:r>
              <a:rPr lang="en-US" sz="3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Etc. </a:t>
            </a:r>
            <a:endParaRPr lang="en-US" sz="3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85EE1B-01BC-0ADF-A855-CD6B35F302B9}"/>
              </a:ext>
            </a:extLst>
          </p:cNvPr>
          <p:cNvSpPr txBox="1"/>
          <p:nvPr/>
        </p:nvSpPr>
        <p:spPr>
          <a:xfrm>
            <a:off x="7277100" y="652317"/>
            <a:ext cx="42714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You MUST have an oral presentation component in front of the class on the day and each group member is expected to speak. </a:t>
            </a:r>
          </a:p>
        </p:txBody>
      </p:sp>
    </p:spTree>
    <p:extLst>
      <p:ext uri="{BB962C8B-B14F-4D97-AF65-F5344CB8AC3E}">
        <p14:creationId xmlns:p14="http://schemas.microsoft.com/office/powerpoint/2010/main" val="38728518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074FD6A-C350-A4A7-FC68-E3159BD78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STI’s: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DEE14C4-51AF-88D1-EC30-E91A19416F5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Chlamydia</a:t>
            </a:r>
          </a:p>
          <a:p>
            <a:r>
              <a:rPr lang="en-US" dirty="0"/>
              <a:t>Syphilis </a:t>
            </a:r>
          </a:p>
          <a:p>
            <a:r>
              <a:rPr lang="en-US" dirty="0"/>
              <a:t>Gonorrhoea</a:t>
            </a:r>
          </a:p>
          <a:p>
            <a:r>
              <a:rPr lang="en-US" dirty="0"/>
              <a:t>Human </a:t>
            </a:r>
            <a:r>
              <a:rPr lang="en-US" dirty="0" err="1"/>
              <a:t>Papilomavirus</a:t>
            </a:r>
            <a:r>
              <a:rPr lang="en-US" dirty="0"/>
              <a:t> (HPV) / Genital Warts</a:t>
            </a:r>
          </a:p>
          <a:p>
            <a:r>
              <a:rPr lang="en-US" dirty="0"/>
              <a:t>Herpes Simplex Virus (HSV) &amp; Genital Herpes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33C14BE-35F0-E97A-A22D-9A7B47D8480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Scabies/Pubic Lice (crabs)</a:t>
            </a:r>
          </a:p>
          <a:p>
            <a:r>
              <a:rPr lang="en-US" dirty="0"/>
              <a:t>Trichomoniasis</a:t>
            </a:r>
          </a:p>
          <a:p>
            <a:r>
              <a:rPr lang="en-US" dirty="0"/>
              <a:t>Hepatitis A &amp; B</a:t>
            </a:r>
          </a:p>
          <a:p>
            <a:r>
              <a:rPr lang="en-US" dirty="0"/>
              <a:t>HIV/AIDS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1371944"/>
      </p:ext>
    </p:extLst>
  </p:cSld>
  <p:clrMapOvr>
    <a:masterClrMapping/>
  </p:clrMapOvr>
</p:sld>
</file>

<file path=ppt/theme/theme1.xml><?xml version="1.0" encoding="utf-8"?>
<a:theme xmlns:a="http://schemas.openxmlformats.org/drawingml/2006/main" name="SketchyVTI">
  <a:themeElements>
    <a:clrScheme name="SketchyVTI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4650E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Custom 2">
      <a:majorFont>
        <a:latin typeface="The Serif Hand Black"/>
        <a:ea typeface=""/>
        <a:cs typeface=""/>
      </a:majorFont>
      <a:minorFont>
        <a:latin typeface="The Hand Bol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ketchyVTI" id="{A6D2C935-A6E4-4DD9-BCC5-5AE2504DB8EA}" vid="{F0754072-50B6-4C01-B911-67246C9F58D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3015</TotalTime>
  <Words>1373</Words>
  <Application>Microsoft Macintosh PowerPoint</Application>
  <PresentationFormat>Widescreen</PresentationFormat>
  <Paragraphs>154</Paragraphs>
  <Slides>15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Arial</vt:lpstr>
      <vt:lpstr>The Hand Bold</vt:lpstr>
      <vt:lpstr>The Serif Hand Black</vt:lpstr>
      <vt:lpstr>Wingdings</vt:lpstr>
      <vt:lpstr>SketchyVTI</vt:lpstr>
      <vt:lpstr>CONTRACEPTION &amp; STI’s</vt:lpstr>
      <vt:lpstr>Today’s Focus</vt:lpstr>
      <vt:lpstr>Activity 1: values walk around</vt:lpstr>
      <vt:lpstr>Values Statements:</vt:lpstr>
      <vt:lpstr>Prevention (pg. 21)</vt:lpstr>
      <vt:lpstr>Diagnosis &amp; TREATMENT (pg. 22)</vt:lpstr>
      <vt:lpstr>When should a person Get tested? (pg. 22)</vt:lpstr>
      <vt:lpstr>Barriers to getting tested: (pg. 23)</vt:lpstr>
      <vt:lpstr>Barriers to getting tested: (pg. 23)</vt:lpstr>
      <vt:lpstr>PowerPoint Presentation</vt:lpstr>
      <vt:lpstr>Statistics:</vt:lpstr>
      <vt:lpstr>Assignments: Task 3 STI Oral Presentation (pg. 4-6)</vt:lpstr>
      <vt:lpstr>Presentation skills:</vt:lpstr>
      <vt:lpstr>Presentation options:</vt:lpstr>
      <vt:lpstr>STI’s: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CONTRACEPTION &amp; STI’s</dc:title>
  <dc:creator>HILLMAN Alissa [Willetton Senior High School]</dc:creator>
  <cp:lastModifiedBy>HILLMAN Alissa [Willetton Senior High School]</cp:lastModifiedBy>
  <cp:revision>34</cp:revision>
  <dcterms:created xsi:type="dcterms:W3CDTF">2024-02-21T07:14:50Z</dcterms:created>
  <dcterms:modified xsi:type="dcterms:W3CDTF">2024-03-03T12:17:56Z</dcterms:modified>
</cp:coreProperties>
</file>
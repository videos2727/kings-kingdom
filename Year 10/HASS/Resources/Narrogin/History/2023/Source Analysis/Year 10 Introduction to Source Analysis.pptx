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9"/>
  </p:notesMasterIdLst>
  <p:sldIdLst>
    <p:sldId id="256" r:id="rId2"/>
    <p:sldId id="262" r:id="rId3"/>
    <p:sldId id="261" r:id="rId4"/>
    <p:sldId id="257" r:id="rId5"/>
    <p:sldId id="258" r:id="rId6"/>
    <p:sldId id="259" r:id="rId7"/>
    <p:sldId id="260" r:id="rId8"/>
  </p:sldIdLst>
  <p:sldSz cx="12192000" cy="6858000"/>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4" autoAdjust="0"/>
    <p:restoredTop sz="94660"/>
  </p:normalViewPr>
  <p:slideViewPr>
    <p:cSldViewPr snapToGrid="0">
      <p:cViewPr varScale="1">
        <p:scale>
          <a:sx n="106" d="100"/>
          <a:sy n="106" d="100"/>
        </p:scale>
        <p:origin x="13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BF5D8585-59ED-4720-94D5-418989C6AFA7}" type="datetimeFigureOut">
              <a:rPr lang="en-AU" smtClean="0"/>
              <a:t>18/07/2022</a:t>
            </a:fld>
            <a:endParaRPr lang="en-AU"/>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2815E15-BE1A-4C82-84BD-427A52017E81}" type="slidenum">
              <a:rPr lang="en-AU" smtClean="0"/>
              <a:t>‹#›</a:t>
            </a:fld>
            <a:endParaRPr lang="en-AU"/>
          </a:p>
        </p:txBody>
      </p:sp>
    </p:spTree>
    <p:extLst>
      <p:ext uri="{BB962C8B-B14F-4D97-AF65-F5344CB8AC3E}">
        <p14:creationId xmlns:p14="http://schemas.microsoft.com/office/powerpoint/2010/main" val="640750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CBF07AE5-1DEF-4816-A128-6C598E82C9C5}" type="slidenum">
              <a:rPr lang="en-AU" altLang="en-US"/>
              <a:pPr eaLnBrk="1" hangingPunct="1">
                <a:spcBef>
                  <a:spcPct val="0"/>
                </a:spcBef>
              </a:pPr>
              <a:t>3</a:t>
            </a:fld>
            <a:endParaRPr lang="en-AU"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2667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Arial" panose="020B0604020202020204" pitchFamily="34" charset="0"/>
                <a:cs typeface="Arial" panose="020B0604020202020204" pitchFamily="34" charset="0"/>
              </a:defRPr>
            </a:lvl1pPr>
            <a:lvl2pPr marL="742950" indent="-285750" eaLnBrk="0" hangingPunct="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eaLnBrk="0" hangingPunct="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eaLnBrk="0" hangingPunct="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eaLnBrk="0" hangingPunct="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fld id="{E1C5D9EC-AEB6-44E1-9805-B2CDB38A1640}" type="slidenum">
              <a:rPr lang="en-AU" altLang="en-US"/>
              <a:pPr eaLnBrk="1" hangingPunct="1">
                <a:spcBef>
                  <a:spcPct val="0"/>
                </a:spcBef>
              </a:pPr>
              <a:t>7</a:t>
            </a:fld>
            <a:endParaRPr lang="en-AU" alt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931045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7/18/2022</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7/18/2022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7/18/2022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7/18/2022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7/18/2022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7/18/2022</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7/18/2022</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7/18/2022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7/18/2022</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AU" dirty="0"/>
              <a:t>SOURCE ANALYSIS</a:t>
            </a:r>
          </a:p>
        </p:txBody>
      </p:sp>
    </p:spTree>
    <p:extLst>
      <p:ext uri="{BB962C8B-B14F-4D97-AF65-F5344CB8AC3E}">
        <p14:creationId xmlns:p14="http://schemas.microsoft.com/office/powerpoint/2010/main" val="3556323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title"/>
          </p:nvPr>
        </p:nvSpPr>
        <p:spPr>
          <a:xfrm>
            <a:off x="1981200" y="115888"/>
            <a:ext cx="8229600" cy="1143000"/>
          </a:xfrm>
        </p:spPr>
        <p:txBody>
          <a:bodyPr/>
          <a:lstStyle/>
          <a:p>
            <a:r>
              <a:rPr lang="en-AU" sz="3600" b="1" u="sng">
                <a:solidFill>
                  <a:srgbClr val="002060"/>
                </a:solidFill>
              </a:rPr>
              <a:t>What’s the difference between primary &amp; secondary sources?: </a:t>
            </a:r>
          </a:p>
        </p:txBody>
      </p:sp>
      <p:sp>
        <p:nvSpPr>
          <p:cNvPr id="4" name="TextBox 3"/>
          <p:cNvSpPr txBox="1">
            <a:spLocks noChangeArrowheads="1"/>
          </p:cNvSpPr>
          <p:nvPr/>
        </p:nvSpPr>
        <p:spPr bwMode="auto">
          <a:xfrm>
            <a:off x="799032" y="2520088"/>
            <a:ext cx="4176713" cy="3477875"/>
          </a:xfrm>
          <a:prstGeom prst="rect">
            <a:avLst/>
          </a:prstGeom>
          <a:solidFill>
            <a:srgbClr val="FFFF99"/>
          </a:solidFill>
          <a:ln w="9525">
            <a:noFill/>
            <a:miter lim="800000"/>
            <a:headEnd/>
            <a:tailEnd/>
          </a:ln>
        </p:spPr>
        <p:txBody>
          <a:bodyPr>
            <a:spAutoFit/>
          </a:bodyPr>
          <a:lstStyle/>
          <a:p>
            <a:r>
              <a:rPr lang="en-AU" sz="2400" b="1" u="sng" dirty="0">
                <a:latin typeface="Calibri" pitchFamily="34" charset="0"/>
              </a:rPr>
              <a:t>Primary Source:</a:t>
            </a:r>
          </a:p>
          <a:p>
            <a:r>
              <a:rPr lang="en-AU" sz="2500" i="1" dirty="0">
                <a:latin typeface="Calibri" pitchFamily="34" charset="0"/>
              </a:rPr>
              <a:t>An authentic document or original item that was produced at the time of the events you are studying. </a:t>
            </a:r>
          </a:p>
          <a:p>
            <a:r>
              <a:rPr lang="en-AU" sz="2400" dirty="0">
                <a:latin typeface="Calibri" pitchFamily="34" charset="0"/>
              </a:rPr>
              <a:t>It was created by someone who lived at the time and is therefore a great source of records or evidence. </a:t>
            </a:r>
            <a:r>
              <a:rPr lang="en-AU" sz="2400" b="1" u="sng" dirty="0">
                <a:latin typeface="Calibri" pitchFamily="34" charset="0"/>
              </a:rPr>
              <a:t> </a:t>
            </a:r>
          </a:p>
        </p:txBody>
      </p:sp>
      <p:sp>
        <p:nvSpPr>
          <p:cNvPr id="5" name="TextBox 4"/>
          <p:cNvSpPr txBox="1">
            <a:spLocks noChangeArrowheads="1"/>
          </p:cNvSpPr>
          <p:nvPr/>
        </p:nvSpPr>
        <p:spPr bwMode="auto">
          <a:xfrm>
            <a:off x="6096000" y="2456712"/>
            <a:ext cx="4464050" cy="3416320"/>
          </a:xfrm>
          <a:prstGeom prst="rect">
            <a:avLst/>
          </a:prstGeom>
          <a:solidFill>
            <a:srgbClr val="99FF99"/>
          </a:solidFill>
          <a:ln w="9525">
            <a:noFill/>
            <a:miter lim="800000"/>
            <a:headEnd/>
            <a:tailEnd/>
          </a:ln>
        </p:spPr>
        <p:txBody>
          <a:bodyPr>
            <a:spAutoFit/>
          </a:bodyPr>
          <a:lstStyle/>
          <a:p>
            <a:r>
              <a:rPr lang="en-AU" sz="2400" b="1" u="sng" dirty="0">
                <a:latin typeface="Calibri" pitchFamily="34" charset="0"/>
              </a:rPr>
              <a:t>Secondary Source:</a:t>
            </a:r>
          </a:p>
          <a:p>
            <a:r>
              <a:rPr lang="en-AU" sz="2400" i="1" dirty="0">
                <a:latin typeface="Calibri" pitchFamily="34" charset="0"/>
              </a:rPr>
              <a:t>A description, report or recording about the past that was produced after the events being studied took place. </a:t>
            </a:r>
          </a:p>
          <a:p>
            <a:r>
              <a:rPr lang="en-AU" sz="2400" dirty="0">
                <a:latin typeface="Calibri" pitchFamily="34" charset="0"/>
              </a:rPr>
              <a:t>It may contain an opinion, as the author may have wanted to express their point of view on the topic. </a:t>
            </a:r>
            <a:r>
              <a:rPr lang="en-AU" sz="2400" b="1" u="sng" dirty="0">
                <a:latin typeface="Calibri" pitchFamily="34" charset="0"/>
              </a:rPr>
              <a:t> </a:t>
            </a:r>
          </a:p>
        </p:txBody>
      </p:sp>
    </p:spTree>
    <p:extLst>
      <p:ext uri="{BB962C8B-B14F-4D97-AF65-F5344CB8AC3E}">
        <p14:creationId xmlns:p14="http://schemas.microsoft.com/office/powerpoint/2010/main" val="3798225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869133" y="549276"/>
            <a:ext cx="915952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rgbClr val="800000"/>
                </a:solidFill>
              </a:rPr>
              <a:t>Get used to some new vocab</a:t>
            </a:r>
            <a:endParaRPr lang="en-AU" altLang="en-US" sz="1800" dirty="0"/>
          </a:p>
          <a:p>
            <a:pPr eaLnBrk="1" hangingPunct="1">
              <a:spcBef>
                <a:spcPct val="0"/>
              </a:spcBef>
              <a:buFontTx/>
              <a:buNone/>
            </a:pPr>
            <a:r>
              <a:rPr lang="en-AU" altLang="en-US" sz="1800" dirty="0">
                <a:solidFill>
                  <a:srgbClr val="0070C0"/>
                </a:solidFill>
              </a:rPr>
              <a:t>Source 1……..</a:t>
            </a:r>
          </a:p>
          <a:p>
            <a:pPr eaLnBrk="1" hangingPunct="1">
              <a:spcBef>
                <a:spcPct val="0"/>
              </a:spcBef>
              <a:buFontTx/>
              <a:buNone/>
            </a:pPr>
            <a:endParaRPr lang="en-AU" altLang="en-US" sz="1800" dirty="0"/>
          </a:p>
        </p:txBody>
      </p:sp>
      <p:graphicFrame>
        <p:nvGraphicFramePr>
          <p:cNvPr id="12291" name="Object 3"/>
          <p:cNvGraphicFramePr>
            <a:graphicFrameLocks noChangeAspect="1"/>
          </p:cNvGraphicFramePr>
          <p:nvPr>
            <p:extLst>
              <p:ext uri="{D42A27DB-BD31-4B8C-83A1-F6EECF244321}">
                <p14:modId xmlns:p14="http://schemas.microsoft.com/office/powerpoint/2010/main" val="1695562753"/>
              </p:ext>
            </p:extLst>
          </p:nvPr>
        </p:nvGraphicFramePr>
        <p:xfrm>
          <a:off x="534156" y="1635660"/>
          <a:ext cx="10049346" cy="3561030"/>
        </p:xfrm>
        <a:graphic>
          <a:graphicData uri="http://schemas.openxmlformats.org/presentationml/2006/ole">
            <mc:AlternateContent xmlns:mc="http://schemas.openxmlformats.org/markup-compatibility/2006">
              <mc:Choice xmlns:v="urn:schemas-microsoft-com:vml" Requires="v">
                <p:oleObj spid="_x0000_s1033" name="Document" r:id="rId4" imgW="7114409" imgH="2081158" progId="Word.Document.8">
                  <p:embed/>
                </p:oleObj>
              </mc:Choice>
              <mc:Fallback>
                <p:oleObj name="Document" r:id="rId4" imgW="7114409" imgH="2081158" progId="Word.Document.8">
                  <p:embed/>
                  <p:pic>
                    <p:nvPicPr>
                      <p:cNvPr id="1229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156" y="1635660"/>
                        <a:ext cx="10049346" cy="356103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82366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SOURCE ANALYSIS</a:t>
            </a:r>
          </a:p>
        </p:txBody>
      </p:sp>
      <p:sp>
        <p:nvSpPr>
          <p:cNvPr id="7" name="TextBox 6"/>
          <p:cNvSpPr txBox="1"/>
          <p:nvPr/>
        </p:nvSpPr>
        <p:spPr>
          <a:xfrm>
            <a:off x="796705" y="1668463"/>
            <a:ext cx="11090496" cy="4893647"/>
          </a:xfrm>
          <a:prstGeom prst="rect">
            <a:avLst/>
          </a:prstGeom>
          <a:noFill/>
        </p:spPr>
        <p:txBody>
          <a:bodyPr wrap="square" rtlCol="0">
            <a:spAutoFit/>
          </a:bodyPr>
          <a:lstStyle/>
          <a:p>
            <a:pPr marL="457200" indent="-457200">
              <a:buAutoNum type="alphaLcParenBoth"/>
            </a:pPr>
            <a:r>
              <a:rPr lang="en-US" sz="2400" dirty="0">
                <a:latin typeface="Arial" panose="020B0604020202020204" pitchFamily="34" charset="0"/>
                <a:cs typeface="Arial" panose="020B0604020202020204" pitchFamily="34" charset="0"/>
              </a:rPr>
              <a:t>Compare and contrast the messages in </a:t>
            </a:r>
            <a:r>
              <a:rPr lang="en-US" sz="2400" b="1" dirty="0">
                <a:latin typeface="Arial" panose="020B0604020202020204" pitchFamily="34" charset="0"/>
                <a:cs typeface="Arial" panose="020B0604020202020204" pitchFamily="34" charset="0"/>
              </a:rPr>
              <a:t>Source 1</a:t>
            </a:r>
            <a:r>
              <a:rPr lang="en-US" sz="2400" dirty="0">
                <a:latin typeface="Arial" panose="020B0604020202020204" pitchFamily="34" charset="0"/>
                <a:cs typeface="Arial" panose="020B0604020202020204" pitchFamily="34" charset="0"/>
              </a:rPr>
              <a:t> and </a:t>
            </a:r>
            <a:r>
              <a:rPr lang="en-US" sz="2400" b="1" dirty="0">
                <a:latin typeface="Arial" panose="020B0604020202020204" pitchFamily="34" charset="0"/>
                <a:cs typeface="Arial" panose="020B0604020202020204" pitchFamily="34" charset="0"/>
              </a:rPr>
              <a:t>Source 2</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(4 marks)</a:t>
            </a:r>
            <a:endParaRPr lang="en-AU" sz="2400" dirty="0">
              <a:latin typeface="Arial" panose="020B0604020202020204" pitchFamily="34" charset="0"/>
              <a:cs typeface="Arial" panose="020B0604020202020204" pitchFamily="34" charset="0"/>
            </a:endParaRPr>
          </a:p>
          <a:p>
            <a:endParaRPr lang="en-AU" sz="24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Ask yourself “what is the main idea/message that the author/artist wants me to get from this?” – If there is one main point (message) of the source – what is it?</a:t>
            </a:r>
          </a:p>
          <a:p>
            <a:endParaRPr lang="en-AU" sz="2400" dirty="0">
              <a:latin typeface="Arial" panose="020B0604020202020204" pitchFamily="34" charset="0"/>
              <a:cs typeface="Arial" panose="020B0604020202020204" pitchFamily="34" charset="0"/>
            </a:endParaRPr>
          </a:p>
          <a:p>
            <a:r>
              <a:rPr lang="en-US" sz="2400" b="1" dirty="0">
                <a:solidFill>
                  <a:srgbClr val="0070C0"/>
                </a:solidFill>
                <a:latin typeface="Arial" panose="020B0604020202020204" pitchFamily="34" charset="0"/>
                <a:cs typeface="Arial" panose="020B0604020202020204" pitchFamily="34" charset="0"/>
              </a:rPr>
              <a:t>SENTENCE STARTERS…</a:t>
            </a:r>
            <a:endParaRPr lang="en-AU" sz="2400" dirty="0">
              <a:solidFill>
                <a:srgbClr val="0070C0"/>
              </a:solidFill>
              <a:latin typeface="Arial" panose="020B0604020202020204" pitchFamily="34" charset="0"/>
              <a:cs typeface="Arial" panose="020B0604020202020204" pitchFamily="34" charset="0"/>
            </a:endParaRPr>
          </a:p>
          <a:p>
            <a:r>
              <a:rPr lang="en-US" sz="2400" b="1" i="1" dirty="0">
                <a:solidFill>
                  <a:srgbClr val="0070C0"/>
                </a:solidFill>
                <a:latin typeface="Arial" panose="020B0604020202020204" pitchFamily="34" charset="0"/>
                <a:cs typeface="Arial" panose="020B0604020202020204" pitchFamily="34" charset="0"/>
              </a:rPr>
              <a:t>Use the following sentence starters:</a:t>
            </a:r>
            <a:endParaRPr lang="en-AU" sz="2400" i="1" dirty="0">
              <a:solidFill>
                <a:srgbClr val="0070C0"/>
              </a:solidFill>
              <a:latin typeface="Arial" panose="020B0604020202020204" pitchFamily="34" charset="0"/>
              <a:cs typeface="Arial" panose="020B0604020202020204" pitchFamily="34" charset="0"/>
            </a:endParaRPr>
          </a:p>
          <a:p>
            <a:pPr lvl="0"/>
            <a:r>
              <a:rPr lang="en-US" sz="2400" b="1" i="1" dirty="0">
                <a:solidFill>
                  <a:srgbClr val="0070C0"/>
                </a:solidFill>
                <a:latin typeface="Arial" panose="020B0604020202020204" pitchFamily="34" charset="0"/>
                <a:cs typeface="Arial" panose="020B0604020202020204" pitchFamily="34" charset="0"/>
              </a:rPr>
              <a:t>The message of source 1 is………</a:t>
            </a:r>
            <a:endParaRPr lang="en-AU" sz="2400" i="1" dirty="0">
              <a:solidFill>
                <a:srgbClr val="0070C0"/>
              </a:solidFill>
              <a:latin typeface="Arial" panose="020B0604020202020204" pitchFamily="34" charset="0"/>
              <a:cs typeface="Arial" panose="020B0604020202020204" pitchFamily="34" charset="0"/>
            </a:endParaRPr>
          </a:p>
          <a:p>
            <a:pPr lvl="0"/>
            <a:r>
              <a:rPr lang="en-US" sz="2400" b="1" i="1" dirty="0">
                <a:solidFill>
                  <a:srgbClr val="0070C0"/>
                </a:solidFill>
                <a:latin typeface="Arial" panose="020B0604020202020204" pitchFamily="34" charset="0"/>
                <a:cs typeface="Arial" panose="020B0604020202020204" pitchFamily="34" charset="0"/>
              </a:rPr>
              <a:t>The message of source 2 is ………</a:t>
            </a:r>
            <a:endParaRPr lang="en-AU" sz="2400" i="1" dirty="0">
              <a:solidFill>
                <a:srgbClr val="0070C0"/>
              </a:solidFill>
              <a:latin typeface="Arial" panose="020B0604020202020204" pitchFamily="34" charset="0"/>
              <a:cs typeface="Arial" panose="020B0604020202020204" pitchFamily="34" charset="0"/>
            </a:endParaRPr>
          </a:p>
          <a:p>
            <a:pPr lvl="0"/>
            <a:r>
              <a:rPr lang="en-US" sz="2400" b="1" i="1" dirty="0">
                <a:solidFill>
                  <a:srgbClr val="0070C0"/>
                </a:solidFill>
                <a:latin typeface="Arial" panose="020B0604020202020204" pitchFamily="34" charset="0"/>
                <a:cs typeface="Arial" panose="020B0604020202020204" pitchFamily="34" charset="0"/>
              </a:rPr>
              <a:t>Both messages are similar because………</a:t>
            </a:r>
            <a:endParaRPr lang="en-AU" sz="2400" i="1" dirty="0">
              <a:solidFill>
                <a:srgbClr val="0070C0"/>
              </a:solidFill>
              <a:latin typeface="Arial" panose="020B0604020202020204" pitchFamily="34" charset="0"/>
              <a:cs typeface="Arial" panose="020B0604020202020204" pitchFamily="34" charset="0"/>
            </a:endParaRPr>
          </a:p>
          <a:p>
            <a:pPr lvl="0"/>
            <a:r>
              <a:rPr lang="en-US" sz="2400" b="1" i="1" dirty="0">
                <a:solidFill>
                  <a:srgbClr val="0070C0"/>
                </a:solidFill>
                <a:latin typeface="Arial" panose="020B0604020202020204" pitchFamily="34" charset="0"/>
                <a:cs typeface="Arial" panose="020B0604020202020204" pitchFamily="34" charset="0"/>
              </a:rPr>
              <a:t>The messages are different because………</a:t>
            </a:r>
            <a:endParaRPr lang="en-AU" sz="2400" i="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5444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SOURCE ANALYSIS</a:t>
            </a:r>
          </a:p>
        </p:txBody>
      </p:sp>
      <p:sp>
        <p:nvSpPr>
          <p:cNvPr id="3" name="Content Placeholder 2"/>
          <p:cNvSpPr>
            <a:spLocks noGrp="1"/>
          </p:cNvSpPr>
          <p:nvPr>
            <p:ph idx="1"/>
          </p:nvPr>
        </p:nvSpPr>
        <p:spPr/>
        <p:txBody>
          <a:bodyPr>
            <a:normAutofit fontScale="92500" lnSpcReduction="10000"/>
          </a:bodyPr>
          <a:lstStyle/>
          <a:p>
            <a:r>
              <a:rPr lang="en-AU" b="1" dirty="0">
                <a:latin typeface="Arial" panose="020B0604020202020204" pitchFamily="34" charset="0"/>
                <a:cs typeface="Arial" panose="020B0604020202020204" pitchFamily="34" charset="0"/>
              </a:rPr>
              <a:t>(b)</a:t>
            </a:r>
            <a:r>
              <a:rPr lang="en-AU" dirty="0">
                <a:latin typeface="Arial" panose="020B0604020202020204" pitchFamily="34" charset="0"/>
                <a:cs typeface="Arial" panose="020B0604020202020204" pitchFamily="34" charset="0"/>
              </a:rPr>
              <a:t>  Evaluate the usefulness, in terms of strengths and weaknesses, of </a:t>
            </a:r>
            <a:r>
              <a:rPr lang="en-AU" b="1" dirty="0">
                <a:latin typeface="Arial" panose="020B0604020202020204" pitchFamily="34" charset="0"/>
                <a:cs typeface="Arial" panose="020B0604020202020204" pitchFamily="34" charset="0"/>
              </a:rPr>
              <a:t>Sources 1 and 2</a:t>
            </a:r>
            <a:endParaRPr lang="en-AU" dirty="0">
              <a:latin typeface="Arial" panose="020B0604020202020204" pitchFamily="34" charset="0"/>
              <a:cs typeface="Arial" panose="020B0604020202020204" pitchFamily="34" charset="0"/>
            </a:endParaRPr>
          </a:p>
          <a:p>
            <a:pPr marL="0" indent="0">
              <a:buNone/>
            </a:pPr>
            <a:r>
              <a:rPr lang="en-AU" dirty="0">
                <a:latin typeface="Arial" panose="020B0604020202020204" pitchFamily="34" charset="0"/>
                <a:cs typeface="Arial" panose="020B0604020202020204" pitchFamily="34" charset="0"/>
              </a:rPr>
              <a:t>       as representations of…</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(5 marks)</a:t>
            </a:r>
            <a:endParaRPr lang="en-AU" dirty="0">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Imagine that these two sources were the last sources left on earth about the particular event… – ask yourself HOW USEFUL would they be to learn about the….</a:t>
            </a:r>
            <a:endParaRPr lang="en-AU" dirty="0">
              <a:latin typeface="Arial" panose="020B0604020202020204" pitchFamily="34" charset="0"/>
              <a:cs typeface="Arial" panose="020B0604020202020204" pitchFamily="34" charset="0"/>
            </a:endParaRPr>
          </a:p>
          <a:p>
            <a:pPr marL="0" indent="0">
              <a:buNone/>
            </a:pPr>
            <a:endParaRPr lang="en-AU" dirty="0">
              <a:latin typeface="Arial" panose="020B0604020202020204" pitchFamily="34" charset="0"/>
              <a:cs typeface="Arial" panose="020B0604020202020204" pitchFamily="34" charset="0"/>
            </a:endParaRPr>
          </a:p>
          <a:p>
            <a:r>
              <a:rPr lang="en-US" b="1" i="1" dirty="0">
                <a:solidFill>
                  <a:srgbClr val="0070C0"/>
                </a:solidFill>
                <a:latin typeface="Arial" panose="020B0604020202020204" pitchFamily="34" charset="0"/>
                <a:cs typeface="Arial" panose="020B0604020202020204" pitchFamily="34" charset="0"/>
              </a:rPr>
              <a:t>Use these sentence starters:</a:t>
            </a:r>
            <a:endParaRPr lang="en-AU" i="1" dirty="0">
              <a:solidFill>
                <a:srgbClr val="0070C0"/>
              </a:solidFill>
              <a:latin typeface="Arial" panose="020B0604020202020204" pitchFamily="34" charset="0"/>
              <a:cs typeface="Arial" panose="020B0604020202020204" pitchFamily="34" charset="0"/>
            </a:endParaRPr>
          </a:p>
          <a:p>
            <a:pPr lvl="0"/>
            <a:r>
              <a:rPr lang="en-US" b="1" i="1" dirty="0">
                <a:solidFill>
                  <a:srgbClr val="0070C0"/>
                </a:solidFill>
                <a:latin typeface="Arial" panose="020B0604020202020204" pitchFamily="34" charset="0"/>
                <a:cs typeface="Arial" panose="020B0604020202020204" pitchFamily="34" charset="0"/>
              </a:rPr>
              <a:t>The strength of source 1 is that …….. but its weakness is that……….</a:t>
            </a:r>
            <a:endParaRPr lang="en-AU" i="1" dirty="0">
              <a:solidFill>
                <a:srgbClr val="0070C0"/>
              </a:solidFill>
              <a:latin typeface="Arial" panose="020B0604020202020204" pitchFamily="34" charset="0"/>
              <a:cs typeface="Arial" panose="020B0604020202020204" pitchFamily="34" charset="0"/>
            </a:endParaRPr>
          </a:p>
          <a:p>
            <a:pPr lvl="0"/>
            <a:r>
              <a:rPr lang="en-US" b="1" i="1" dirty="0">
                <a:solidFill>
                  <a:srgbClr val="0070C0"/>
                </a:solidFill>
                <a:latin typeface="Arial" panose="020B0604020202020204" pitchFamily="34" charset="0"/>
                <a:cs typeface="Arial" panose="020B0604020202020204" pitchFamily="34" charset="0"/>
              </a:rPr>
              <a:t>The strength of source 2 is that …….. but its weakness is that……….</a:t>
            </a:r>
            <a:endParaRPr lang="en-AU" i="1" dirty="0">
              <a:solidFill>
                <a:srgbClr val="0070C0"/>
              </a:solidFill>
              <a:latin typeface="Arial" panose="020B0604020202020204" pitchFamily="34" charset="0"/>
              <a:cs typeface="Arial" panose="020B0604020202020204" pitchFamily="34" charset="0"/>
            </a:endParaRPr>
          </a:p>
          <a:p>
            <a:pPr lvl="0"/>
            <a:r>
              <a:rPr lang="en-US" b="1" i="1" dirty="0">
                <a:solidFill>
                  <a:srgbClr val="0070C0"/>
                </a:solidFill>
                <a:latin typeface="Arial" panose="020B0604020202020204" pitchFamily="34" charset="0"/>
                <a:cs typeface="Arial" panose="020B0604020202020204" pitchFamily="34" charset="0"/>
              </a:rPr>
              <a:t>Together, both sources are (evaluative word) useful as representations… because ……….</a:t>
            </a:r>
            <a:endParaRPr lang="en-AU" i="1" dirty="0">
              <a:solidFill>
                <a:srgbClr val="0070C0"/>
              </a:solidFill>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1589352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SOURCE ANALYSIS</a:t>
            </a:r>
          </a:p>
        </p:txBody>
      </p:sp>
      <p:sp>
        <p:nvSpPr>
          <p:cNvPr id="3" name="Content Placeholder 2"/>
          <p:cNvSpPr>
            <a:spLocks noGrp="1"/>
          </p:cNvSpPr>
          <p:nvPr>
            <p:ph idx="1"/>
          </p:nvPr>
        </p:nvSpPr>
        <p:spPr/>
        <p:txBody>
          <a:bodyPr>
            <a:normAutofit lnSpcReduction="10000"/>
          </a:bodyPr>
          <a:lstStyle/>
          <a:p>
            <a:r>
              <a:rPr lang="en-US" sz="2400" b="1" dirty="0">
                <a:latin typeface="Arial" panose="020B0604020202020204" pitchFamily="34" charset="0"/>
                <a:cs typeface="Arial" panose="020B0604020202020204" pitchFamily="34" charset="0"/>
              </a:rPr>
              <a:t>(c)</a:t>
            </a:r>
            <a:r>
              <a:rPr lang="en-US" sz="2400" dirty="0">
                <a:latin typeface="Arial" panose="020B0604020202020204" pitchFamily="34" charset="0"/>
                <a:cs typeface="Arial" panose="020B0604020202020204" pitchFamily="34" charset="0"/>
              </a:rPr>
              <a:t> Explain the historical context of </a:t>
            </a:r>
            <a:r>
              <a:rPr lang="en-US" sz="2400" b="1" dirty="0">
                <a:latin typeface="Arial" panose="020B0604020202020204" pitchFamily="34" charset="0"/>
                <a:cs typeface="Arial" panose="020B0604020202020204" pitchFamily="34" charset="0"/>
              </a:rPr>
              <a:t>Source _</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 (4 marks)</a:t>
            </a:r>
            <a:endParaRPr lang="en-AU" sz="2400" dirty="0">
              <a:latin typeface="Arial" panose="020B0604020202020204" pitchFamily="34" charset="0"/>
              <a:cs typeface="Arial" panose="020B0604020202020204" pitchFamily="34" charset="0"/>
            </a:endParaRPr>
          </a:p>
          <a:p>
            <a:endParaRPr lang="en-AU" sz="24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This question asks you to explain what the source is about, why the event/issue/idea happened (cause) and why it is significant (effect). You must also name the key people referred to in the source and take note of the date and refer to what else was happening at that time in that place.</a:t>
            </a:r>
            <a:endParaRPr lang="en-AU" sz="2400" dirty="0">
              <a:latin typeface="Arial" panose="020B0604020202020204" pitchFamily="34" charset="0"/>
              <a:cs typeface="Arial" panose="020B0604020202020204" pitchFamily="34" charset="0"/>
            </a:endParaRPr>
          </a:p>
          <a:p>
            <a:endParaRPr lang="en-AU" sz="2400" dirty="0">
              <a:latin typeface="Arial" panose="020B0604020202020204" pitchFamily="34" charset="0"/>
              <a:cs typeface="Arial" panose="020B0604020202020204" pitchFamily="34" charset="0"/>
            </a:endParaRPr>
          </a:p>
          <a:p>
            <a:r>
              <a:rPr lang="en-US" sz="2400" b="1" i="1" dirty="0">
                <a:solidFill>
                  <a:srgbClr val="0070C0"/>
                </a:solidFill>
                <a:latin typeface="Arial" panose="020B0604020202020204" pitchFamily="34" charset="0"/>
                <a:cs typeface="Arial" panose="020B0604020202020204" pitchFamily="34" charset="0"/>
              </a:rPr>
              <a:t>Use these sentence starters:</a:t>
            </a:r>
            <a:endParaRPr lang="en-AU" sz="2400" i="1" dirty="0">
              <a:solidFill>
                <a:srgbClr val="0070C0"/>
              </a:solidFill>
              <a:latin typeface="Arial" panose="020B0604020202020204" pitchFamily="34" charset="0"/>
              <a:cs typeface="Arial" panose="020B0604020202020204" pitchFamily="34" charset="0"/>
            </a:endParaRPr>
          </a:p>
          <a:p>
            <a:pPr marL="0" lvl="0" indent="0">
              <a:buNone/>
            </a:pPr>
            <a:r>
              <a:rPr lang="en-US" sz="2400" b="1" i="1" dirty="0">
                <a:solidFill>
                  <a:srgbClr val="0070C0"/>
                </a:solidFill>
                <a:latin typeface="Arial" panose="020B0604020202020204" pitchFamily="34" charset="0"/>
                <a:cs typeface="Arial" panose="020B0604020202020204" pitchFamily="34" charset="0"/>
              </a:rPr>
              <a:t>The historical context of Source 3 is …….</a:t>
            </a:r>
            <a:endParaRPr lang="en-AU" sz="2400" i="1" dirty="0">
              <a:solidFill>
                <a:srgbClr val="0070C0"/>
              </a:solidFill>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4007131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2063751" y="360364"/>
            <a:ext cx="7866063"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AU" altLang="en-US" sz="2400">
                <a:latin typeface="Calibri" panose="020F0502020204030204" pitchFamily="34" charset="0"/>
                <a:cs typeface="Times New Roman" panose="02020603050405020304" pitchFamily="18" charset="0"/>
              </a:rPr>
              <a:t>What </a:t>
            </a:r>
            <a:r>
              <a:rPr lang="en-AU" altLang="en-US" sz="2400" u="sng">
                <a:solidFill>
                  <a:srgbClr val="800000"/>
                </a:solidFill>
                <a:latin typeface="Calibri" panose="020F0502020204030204" pitchFamily="34" charset="0"/>
                <a:cs typeface="Times New Roman" panose="02020603050405020304" pitchFamily="18" charset="0"/>
              </a:rPr>
              <a:t>should</a:t>
            </a:r>
            <a:r>
              <a:rPr lang="en-AU" altLang="en-US" sz="2400">
                <a:latin typeface="Calibri" panose="020F0502020204030204" pitchFamily="34" charset="0"/>
                <a:cs typeface="Times New Roman" panose="02020603050405020304" pitchFamily="18" charset="0"/>
              </a:rPr>
              <a:t> be included in a question about message</a:t>
            </a:r>
            <a:r>
              <a:rPr lang="en-AU" altLang="en-US" sz="1800">
                <a:latin typeface="Calibri" panose="020F0502020204030204" pitchFamily="34" charset="0"/>
                <a:cs typeface="Times New Roman" panose="02020603050405020304" pitchFamily="18" charset="0"/>
              </a:rPr>
              <a:t>.</a:t>
            </a:r>
            <a:endParaRPr lang="en-AU" altLang="en-US" sz="1800"/>
          </a:p>
          <a:p>
            <a:pPr>
              <a:spcBef>
                <a:spcPct val="0"/>
              </a:spcBef>
              <a:buFontTx/>
              <a:buNone/>
            </a:pPr>
            <a:endParaRPr lang="en-AU" altLang="en-US" sz="1800"/>
          </a:p>
        </p:txBody>
      </p:sp>
      <p:graphicFrame>
        <p:nvGraphicFramePr>
          <p:cNvPr id="23571" name="Group 19"/>
          <p:cNvGraphicFramePr>
            <a:graphicFrameLocks noGrp="1"/>
          </p:cNvGraphicFramePr>
          <p:nvPr/>
        </p:nvGraphicFramePr>
        <p:xfrm>
          <a:off x="2424113" y="1412876"/>
          <a:ext cx="7632700" cy="2952751"/>
        </p:xfrm>
        <a:graphic>
          <a:graphicData uri="http://schemas.openxmlformats.org/drawingml/2006/table">
            <a:tbl>
              <a:tblPr/>
              <a:tblGrid>
                <a:gridCol w="3816350">
                  <a:extLst>
                    <a:ext uri="{9D8B030D-6E8A-4147-A177-3AD203B41FA5}">
                      <a16:colId xmlns:a16="http://schemas.microsoft.com/office/drawing/2014/main" val="20000"/>
                    </a:ext>
                  </a:extLst>
                </a:gridCol>
                <a:gridCol w="3816350">
                  <a:extLst>
                    <a:ext uri="{9D8B030D-6E8A-4147-A177-3AD203B41FA5}">
                      <a16:colId xmlns:a16="http://schemas.microsoft.com/office/drawing/2014/main" val="20001"/>
                    </a:ext>
                  </a:extLst>
                </a:gridCol>
              </a:tblGrid>
              <a:tr h="9366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000" b="0" i="0" u="none" strike="noStrike" cap="none" normalizeH="0" baseline="0">
                          <a:ln>
                            <a:noFill/>
                          </a:ln>
                          <a:solidFill>
                            <a:schemeClr val="tx1"/>
                          </a:solidFill>
                          <a:effectLst/>
                          <a:latin typeface="Calibri" pitchFamily="34" charset="0"/>
                          <a:cs typeface="Times New Roman" pitchFamily="18" charset="0"/>
                        </a:rPr>
                        <a:t>The author conveys that ……. is vital because …</a:t>
                      </a:r>
                      <a:endParaRPr kumimoji="0" lang="en-AU"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000" b="0" i="0" u="none" strike="noStrike" cap="none" normalizeH="0" baseline="0">
                          <a:ln>
                            <a:noFill/>
                          </a:ln>
                          <a:solidFill>
                            <a:schemeClr val="tx1"/>
                          </a:solidFill>
                          <a:effectLst/>
                          <a:latin typeface="Calibri" pitchFamily="34" charset="0"/>
                          <a:cs typeface="Times New Roman" pitchFamily="18" charset="0"/>
                        </a:rPr>
                        <a:t>The author convincingly conveys that Germany …</a:t>
                      </a:r>
                      <a:endParaRPr kumimoji="0" lang="en-AU"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572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000" b="0" i="0" u="none" strike="noStrike" cap="none" normalizeH="0" baseline="0">
                          <a:ln>
                            <a:noFill/>
                          </a:ln>
                          <a:solidFill>
                            <a:schemeClr val="tx1"/>
                          </a:solidFill>
                          <a:effectLst/>
                          <a:latin typeface="Calibri" pitchFamily="34" charset="0"/>
                          <a:cs typeface="Times New Roman" pitchFamily="18" charset="0"/>
                        </a:rPr>
                        <a:t>The main idea is that people should…</a:t>
                      </a:r>
                      <a:endParaRPr kumimoji="0" lang="en-AU"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000" b="0" i="0" u="none" strike="noStrike" cap="none" normalizeH="0" baseline="0">
                          <a:ln>
                            <a:noFill/>
                          </a:ln>
                          <a:solidFill>
                            <a:schemeClr val="tx1"/>
                          </a:solidFill>
                          <a:effectLst/>
                          <a:latin typeface="Calibri" pitchFamily="34" charset="0"/>
                          <a:cs typeface="Times New Roman" pitchFamily="18" charset="0"/>
                        </a:rPr>
                        <a:t>The illustrator wishes to inform the public that …</a:t>
                      </a:r>
                      <a:endParaRPr kumimoji="0" lang="en-AU"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58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000" b="0" i="0" u="none" strike="noStrike" cap="none" normalizeH="0" baseline="0">
                          <a:ln>
                            <a:noFill/>
                          </a:ln>
                          <a:solidFill>
                            <a:schemeClr val="tx1"/>
                          </a:solidFill>
                          <a:effectLst/>
                          <a:latin typeface="Calibri" pitchFamily="34" charset="0"/>
                          <a:cs typeface="Times New Roman" pitchFamily="18" charset="0"/>
                        </a:rPr>
                        <a:t>The author is attempting to convey that leadership was ….. because…</a:t>
                      </a:r>
                      <a:endParaRPr kumimoji="0" lang="en-AU"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000" b="0" i="0" u="none" strike="noStrike" cap="none" normalizeH="0" baseline="0">
                          <a:ln>
                            <a:noFill/>
                          </a:ln>
                          <a:solidFill>
                            <a:schemeClr val="tx1"/>
                          </a:solidFill>
                          <a:effectLst/>
                          <a:latin typeface="Calibri" pitchFamily="34" charset="0"/>
                          <a:cs typeface="Times New Roman" pitchFamily="18" charset="0"/>
                        </a:rPr>
                        <a:t>The author reveals that the govt chose to exclude …… from… because…</a:t>
                      </a:r>
                      <a:endParaRPr kumimoji="0" lang="en-AU"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739327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376</TotalTime>
  <Words>501</Words>
  <Application>Microsoft Office PowerPoint</Application>
  <PresentationFormat>Widescreen</PresentationFormat>
  <Paragraphs>48</Paragraphs>
  <Slides>7</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Arial</vt:lpstr>
      <vt:lpstr>Calibri</vt:lpstr>
      <vt:lpstr>Rockwell</vt:lpstr>
      <vt:lpstr>Rockwell Condensed</vt:lpstr>
      <vt:lpstr>Wingdings</vt:lpstr>
      <vt:lpstr>Wood Type</vt:lpstr>
      <vt:lpstr>Document</vt:lpstr>
      <vt:lpstr>SOURCE ANALYSIS</vt:lpstr>
      <vt:lpstr>What’s the difference between primary &amp; secondary sources?: </vt:lpstr>
      <vt:lpstr>PowerPoint Presentation</vt:lpstr>
      <vt:lpstr>SOURCE ANALYSIS</vt:lpstr>
      <vt:lpstr>SOURCE ANALYSIS</vt:lpstr>
      <vt:lpstr>SOURCE ANALYSIS</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 ANALYSIS</dc:title>
  <dc:creator>RINTOUL Brooke [Narrogin Senior High School]</dc:creator>
  <cp:lastModifiedBy>RINTOUL Brooke [Narrogin Senior High School]</cp:lastModifiedBy>
  <cp:revision>8</cp:revision>
  <cp:lastPrinted>2021-07-23T05:53:01Z</cp:lastPrinted>
  <dcterms:created xsi:type="dcterms:W3CDTF">2019-07-31T02:02:28Z</dcterms:created>
  <dcterms:modified xsi:type="dcterms:W3CDTF">2022-07-18T06:14:08Z</dcterms:modified>
</cp:coreProperties>
</file>
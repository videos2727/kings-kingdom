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0" r:id="rId2"/>
  </p:sldMasterIdLst>
  <p:sldIdLst>
    <p:sldId id="256" r:id="rId3"/>
    <p:sldId id="258" r:id="rId4"/>
    <p:sldId id="265" r:id="rId5"/>
    <p:sldId id="266" r:id="rId6"/>
    <p:sldId id="267" r:id="rId7"/>
    <p:sldId id="269" r:id="rId8"/>
    <p:sldId id="270" r:id="rId9"/>
    <p:sldId id="257" r:id="rId10"/>
    <p:sldId id="271" r:id="rId11"/>
    <p:sldId id="259" r:id="rId12"/>
    <p:sldId id="272" r:id="rId13"/>
    <p:sldId id="260" r:id="rId14"/>
    <p:sldId id="275" r:id="rId15"/>
    <p:sldId id="261" r:id="rId16"/>
    <p:sldId id="274" r:id="rId17"/>
    <p:sldId id="262" r:id="rId18"/>
    <p:sldId id="276" r:id="rId19"/>
    <p:sldId id="263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8" d="100"/>
          <a:sy n="108" d="100"/>
        </p:scale>
        <p:origin x="-288" y="3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ique duarte" userId="3876e5cbb2737ad1" providerId="LiveId" clId="{D2E1AF47-046B-474B-8108-F37393DBCCEB}"/>
    <pc:docChg chg="modSld">
      <pc:chgData name="monique duarte" userId="3876e5cbb2737ad1" providerId="LiveId" clId="{D2E1AF47-046B-474B-8108-F37393DBCCEB}" dt="2021-02-24T00:20:58.548" v="1" actId="255"/>
      <pc:docMkLst>
        <pc:docMk/>
      </pc:docMkLst>
      <pc:sldChg chg="modSp">
        <pc:chgData name="monique duarte" userId="3876e5cbb2737ad1" providerId="LiveId" clId="{D2E1AF47-046B-474B-8108-F37393DBCCEB}" dt="2021-02-24T00:20:58.548" v="1" actId="255"/>
        <pc:sldMkLst>
          <pc:docMk/>
          <pc:sldMk cId="3099422474" sldId="258"/>
        </pc:sldMkLst>
        <pc:spChg chg="mod">
          <ac:chgData name="monique duarte" userId="3876e5cbb2737ad1" providerId="LiveId" clId="{D2E1AF47-046B-474B-8108-F37393DBCCEB}" dt="2021-02-24T00:20:52.420" v="0" actId="255"/>
          <ac:spMkLst>
            <pc:docMk/>
            <pc:sldMk cId="3099422474" sldId="258"/>
            <ac:spMk id="2" creationId="{00000000-0000-0000-0000-000000000000}"/>
          </ac:spMkLst>
        </pc:spChg>
        <pc:spChg chg="mod">
          <ac:chgData name="monique duarte" userId="3876e5cbb2737ad1" providerId="LiveId" clId="{D2E1AF47-046B-474B-8108-F37393DBCCEB}" dt="2021-02-24T00:20:58.548" v="1" actId="255"/>
          <ac:spMkLst>
            <pc:docMk/>
            <pc:sldMk cId="3099422474" sldId="258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600"/>
              <a:buFont typeface="Century Gothic"/>
              <a:buNone/>
              <a:defRPr sz="66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AU"/>
              <a:t>Click to edit Master title style</a:t>
            </a:r>
            <a:endParaRPr dirty="0"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entury Gothic"/>
              <a:buNone/>
              <a:defRPr sz="32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AU"/>
              <a:t>Click to edit Master subtitle style</a:t>
            </a:r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C5077B-A097-FA49-9C23-8030DB56F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917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levance">
  <p:cSld name="Relevanc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C5077B-A097-FA49-9C23-8030DB56FC1B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Google Shape;18;p3"/>
          <p:cNvSpPr txBox="1"/>
          <p:nvPr/>
        </p:nvSpPr>
        <p:spPr>
          <a:xfrm rot="-5400000">
            <a:off x="-725550" y="3256800"/>
            <a:ext cx="1887200" cy="344400"/>
          </a:xfrm>
          <a:prstGeom prst="rect">
            <a:avLst/>
          </a:prstGeom>
          <a:noFill/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dirty="0">
                <a:solidFill>
                  <a:srgbClr val="0B539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NOTE TAKING </a:t>
            </a:r>
          </a:p>
        </p:txBody>
      </p:sp>
      <p:sp>
        <p:nvSpPr>
          <p:cNvPr id="19" name="Google Shape;19;p3"/>
          <p:cNvSpPr/>
          <p:nvPr/>
        </p:nvSpPr>
        <p:spPr>
          <a:xfrm>
            <a:off x="45850" y="309233"/>
            <a:ext cx="7136506" cy="564000"/>
          </a:xfrm>
          <a:prstGeom prst="rect">
            <a:avLst/>
          </a:prstGeom>
          <a:solidFill>
            <a:srgbClr val="019D8B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  <a:buFont typeface="Arial"/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95500" y="354733"/>
            <a:ext cx="6363666" cy="4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r>
              <a:rPr lang="en-AU"/>
              <a:t>Click to edit Master subtitle style</a:t>
            </a:r>
            <a:endParaRPr dirty="0"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2"/>
          </p:nvPr>
        </p:nvSpPr>
        <p:spPr>
          <a:xfrm>
            <a:off x="552550" y="1023267"/>
            <a:ext cx="6629806" cy="55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Char char="●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○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■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●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○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■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●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○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Century Gothic"/>
              <a:buChar char="■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96053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ily Review" type="blank">
  <p:cSld name="Daily Review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C5077B-A097-FA49-9C23-8030DB56FC1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Google Shape;24;p4"/>
          <p:cNvSpPr txBox="1"/>
          <p:nvPr/>
        </p:nvSpPr>
        <p:spPr>
          <a:xfrm rot="-5400000">
            <a:off x="-834525" y="3256800"/>
            <a:ext cx="2118800" cy="344400"/>
          </a:xfrm>
          <a:prstGeom prst="rect">
            <a:avLst/>
          </a:prstGeom>
          <a:noFill/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dirty="0">
                <a:solidFill>
                  <a:srgbClr val="0B539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DAILY REVIEW</a:t>
            </a:r>
            <a:endParaRPr sz="1600" dirty="0">
              <a:solidFill>
                <a:srgbClr val="0B539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09450" y="754933"/>
            <a:ext cx="5123100" cy="54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Char char="●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○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■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●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○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■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●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○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Century Gothic"/>
              <a:buChar char="■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54567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arning Objective and Success Criteria">
  <p:cSld name="Learning Objective and Success Criteria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C5077B-A097-FA49-9C23-8030DB56FC1B}" type="slidenum">
              <a:rPr lang="en-US" smtClean="0"/>
              <a:t>‹#›</a:t>
            </a:fld>
            <a:endParaRPr lang="en-US"/>
          </a:p>
        </p:txBody>
      </p:sp>
      <p:sp>
        <p:nvSpPr>
          <p:cNvPr id="28" name="Google Shape;28;p5"/>
          <p:cNvSpPr txBox="1"/>
          <p:nvPr/>
        </p:nvSpPr>
        <p:spPr>
          <a:xfrm rot="-5400000">
            <a:off x="-1312650" y="1669600"/>
            <a:ext cx="3065200" cy="344400"/>
          </a:xfrm>
          <a:prstGeom prst="rect">
            <a:avLst/>
          </a:prstGeom>
          <a:noFill/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>
                <a:solidFill>
                  <a:srgbClr val="0B539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LEARNING OBJECTIVE</a:t>
            </a:r>
            <a:endParaRPr sz="1600">
              <a:solidFill>
                <a:srgbClr val="0B539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" name="Google Shape;29;p5"/>
          <p:cNvSpPr/>
          <p:nvPr/>
        </p:nvSpPr>
        <p:spPr>
          <a:xfrm>
            <a:off x="395650" y="309200"/>
            <a:ext cx="6419100" cy="3074400"/>
          </a:xfrm>
          <a:prstGeom prst="homePlate">
            <a:avLst>
              <a:gd name="adj" fmla="val 50000"/>
            </a:avLst>
          </a:prstGeom>
          <a:solidFill>
            <a:srgbClr val="019D8B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  <a:buFont typeface="Arial"/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532075" y="636700"/>
            <a:ext cx="5061600" cy="24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AU"/>
              <a:t>Click to edit Master title style</a:t>
            </a:r>
            <a:endParaRPr/>
          </a:p>
        </p:txBody>
      </p:sp>
      <p:sp>
        <p:nvSpPr>
          <p:cNvPr id="31" name="Google Shape;31;p5"/>
          <p:cNvSpPr txBox="1"/>
          <p:nvPr/>
        </p:nvSpPr>
        <p:spPr>
          <a:xfrm rot="-5400000">
            <a:off x="-1127650" y="5032000"/>
            <a:ext cx="2695200" cy="344400"/>
          </a:xfrm>
          <a:prstGeom prst="rect">
            <a:avLst/>
          </a:prstGeom>
          <a:noFill/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>
                <a:solidFill>
                  <a:srgbClr val="0B539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SUCCESS CRITERIA</a:t>
            </a:r>
            <a:endParaRPr sz="1600">
              <a:solidFill>
                <a:srgbClr val="0B539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497975" y="3856500"/>
            <a:ext cx="5198100" cy="26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Char char="●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○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■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●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○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■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●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○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Century Gothic"/>
              <a:buChar char="■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8" name="Google Shape;29;p5"/>
          <p:cNvSpPr/>
          <p:nvPr/>
        </p:nvSpPr>
        <p:spPr>
          <a:xfrm>
            <a:off x="392150" y="3668023"/>
            <a:ext cx="6419100" cy="3074400"/>
          </a:xfrm>
          <a:prstGeom prst="homePlate">
            <a:avLst>
              <a:gd name="adj" fmla="val 50000"/>
            </a:avLst>
          </a:prstGeom>
          <a:solidFill>
            <a:srgbClr val="019D8B">
              <a:alpha val="30000"/>
            </a:srgb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  <a:buFont typeface="Arial"/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7192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ctivate Prior Knowledge">
  <p:cSld name="Activate Prior Knowledg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C5077B-A097-FA49-9C23-8030DB56FC1B}" type="slidenum">
              <a:rPr lang="en-US" smtClean="0"/>
              <a:t>‹#›</a:t>
            </a:fld>
            <a:endParaRPr lang="en-US"/>
          </a:p>
        </p:txBody>
      </p:sp>
      <p:sp>
        <p:nvSpPr>
          <p:cNvPr id="35" name="Google Shape;35;p6"/>
          <p:cNvSpPr txBox="1"/>
          <p:nvPr/>
        </p:nvSpPr>
        <p:spPr>
          <a:xfrm rot="-5400000">
            <a:off x="-1937550" y="3256800"/>
            <a:ext cx="4311200" cy="344400"/>
          </a:xfrm>
          <a:prstGeom prst="rect">
            <a:avLst/>
          </a:prstGeom>
          <a:noFill/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>
                <a:solidFill>
                  <a:srgbClr val="0B539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ACTIVATE PRIOR KNOWLEDGE</a:t>
            </a:r>
            <a:endParaRPr sz="1600">
              <a:solidFill>
                <a:srgbClr val="0B539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" name="Google Shape;36;p6"/>
          <p:cNvSpPr/>
          <p:nvPr/>
        </p:nvSpPr>
        <p:spPr>
          <a:xfrm>
            <a:off x="45850" y="309233"/>
            <a:ext cx="7136506" cy="564000"/>
          </a:xfrm>
          <a:prstGeom prst="rect">
            <a:avLst/>
          </a:prstGeom>
          <a:solidFill>
            <a:srgbClr val="019D8B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  <a:buFont typeface="Arial"/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6"/>
          <p:cNvSpPr txBox="1">
            <a:spLocks noGrp="1"/>
          </p:cNvSpPr>
          <p:nvPr>
            <p:ph type="subTitle" idx="1"/>
          </p:nvPr>
        </p:nvSpPr>
        <p:spPr>
          <a:xfrm>
            <a:off x="95500" y="354733"/>
            <a:ext cx="6589800" cy="4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r>
              <a:rPr lang="en-AU"/>
              <a:t>Click to edit Master subtitle style</a:t>
            </a:r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2"/>
          </p:nvPr>
        </p:nvSpPr>
        <p:spPr>
          <a:xfrm>
            <a:off x="552550" y="1136933"/>
            <a:ext cx="6629806" cy="54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Char char="●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○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■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●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○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■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●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○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Century Gothic"/>
              <a:buChar char="■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1831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cept Development">
  <p:cSld name="Concept Developme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C5077B-A097-FA49-9C23-8030DB56FC1B}" type="slidenum">
              <a:rPr lang="en-US" smtClean="0"/>
              <a:t>‹#›</a:t>
            </a:fld>
            <a:endParaRPr lang="en-US"/>
          </a:p>
        </p:txBody>
      </p:sp>
      <p:sp>
        <p:nvSpPr>
          <p:cNvPr id="41" name="Google Shape;41;p7"/>
          <p:cNvSpPr txBox="1"/>
          <p:nvPr/>
        </p:nvSpPr>
        <p:spPr>
          <a:xfrm rot="-5400000">
            <a:off x="-1594125" y="3256800"/>
            <a:ext cx="3638000" cy="344400"/>
          </a:xfrm>
          <a:prstGeom prst="rect">
            <a:avLst/>
          </a:prstGeom>
          <a:noFill/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>
                <a:solidFill>
                  <a:srgbClr val="0B539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CONCEPT DEVELOPMENT</a:t>
            </a:r>
            <a:endParaRPr sz="1600">
              <a:solidFill>
                <a:srgbClr val="0B539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" name="Google Shape;42;p7"/>
          <p:cNvSpPr/>
          <p:nvPr/>
        </p:nvSpPr>
        <p:spPr>
          <a:xfrm>
            <a:off x="45850" y="309233"/>
            <a:ext cx="7151104" cy="564000"/>
          </a:xfrm>
          <a:prstGeom prst="rect">
            <a:avLst/>
          </a:prstGeom>
          <a:solidFill>
            <a:srgbClr val="019D8B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  <a:buFont typeface="Arial"/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7"/>
          <p:cNvSpPr txBox="1">
            <a:spLocks noGrp="1"/>
          </p:cNvSpPr>
          <p:nvPr>
            <p:ph type="subTitle" idx="1"/>
          </p:nvPr>
        </p:nvSpPr>
        <p:spPr>
          <a:xfrm>
            <a:off x="95500" y="354733"/>
            <a:ext cx="7101454" cy="4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r>
              <a:rPr lang="en-AU"/>
              <a:t>Click to edit Master subtitle style</a:t>
            </a:r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2"/>
          </p:nvPr>
        </p:nvSpPr>
        <p:spPr>
          <a:xfrm>
            <a:off x="552550" y="1136933"/>
            <a:ext cx="6644404" cy="54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Char char="●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○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■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●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○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■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●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○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Century Gothic"/>
              <a:buChar char="■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75115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kill Development/Guided Practice">
  <p:cSld name="Skill Development/Guided Practice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C5077B-A097-FA49-9C23-8030DB56FC1B}" type="slidenum">
              <a:rPr lang="en-US" smtClean="0"/>
              <a:t>‹#›</a:t>
            </a:fld>
            <a:endParaRPr lang="en-US"/>
          </a:p>
        </p:txBody>
      </p:sp>
      <p:sp>
        <p:nvSpPr>
          <p:cNvPr id="47" name="Google Shape;47;p8"/>
          <p:cNvSpPr txBox="1"/>
          <p:nvPr/>
        </p:nvSpPr>
        <p:spPr>
          <a:xfrm rot="-5400000">
            <a:off x="-2460550" y="3529667"/>
            <a:ext cx="5357200" cy="344400"/>
          </a:xfrm>
          <a:prstGeom prst="rect">
            <a:avLst/>
          </a:prstGeom>
          <a:noFill/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>
                <a:solidFill>
                  <a:srgbClr val="0B539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SKILL DEVELOPMENT/GUIDED PRACTICE</a:t>
            </a:r>
            <a:endParaRPr sz="1600">
              <a:solidFill>
                <a:srgbClr val="0B539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" name="Google Shape;48;p8"/>
          <p:cNvSpPr/>
          <p:nvPr/>
        </p:nvSpPr>
        <p:spPr>
          <a:xfrm>
            <a:off x="45850" y="309233"/>
            <a:ext cx="7151104" cy="564000"/>
          </a:xfrm>
          <a:prstGeom prst="rect">
            <a:avLst/>
          </a:prstGeom>
          <a:solidFill>
            <a:srgbClr val="019D8B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  <a:buFont typeface="Arial"/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8"/>
          <p:cNvSpPr txBox="1">
            <a:spLocks noGrp="1"/>
          </p:cNvSpPr>
          <p:nvPr>
            <p:ph type="subTitle" idx="1"/>
          </p:nvPr>
        </p:nvSpPr>
        <p:spPr>
          <a:xfrm>
            <a:off x="95500" y="354733"/>
            <a:ext cx="6589800" cy="4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r>
              <a:rPr lang="en-AU"/>
              <a:t>Click to edit Master subtitle style</a:t>
            </a:r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2"/>
          </p:nvPr>
        </p:nvSpPr>
        <p:spPr>
          <a:xfrm>
            <a:off x="552550" y="1023267"/>
            <a:ext cx="6644404" cy="5534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Char char="●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○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■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●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○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■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●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○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Century Gothic"/>
              <a:buChar char="■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05382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kill Closure">
  <p:cSld name="Skill Closur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C5077B-A097-FA49-9C23-8030DB56FC1B}" type="slidenum">
              <a:rPr lang="en-US" smtClean="0"/>
              <a:t>‹#›</a:t>
            </a:fld>
            <a:endParaRPr lang="en-US"/>
          </a:p>
        </p:txBody>
      </p:sp>
      <p:sp>
        <p:nvSpPr>
          <p:cNvPr id="53" name="Google Shape;53;p9"/>
          <p:cNvSpPr txBox="1"/>
          <p:nvPr/>
        </p:nvSpPr>
        <p:spPr>
          <a:xfrm rot="-5400000">
            <a:off x="-963150" y="3256800"/>
            <a:ext cx="2362400" cy="344400"/>
          </a:xfrm>
          <a:prstGeom prst="rect">
            <a:avLst/>
          </a:prstGeom>
          <a:noFill/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dirty="0">
                <a:solidFill>
                  <a:srgbClr val="0B539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KEY DEFINITION</a:t>
            </a:r>
            <a:endParaRPr sz="1600" dirty="0">
              <a:solidFill>
                <a:srgbClr val="0B539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4" name="Google Shape;54;p9"/>
          <p:cNvSpPr/>
          <p:nvPr/>
        </p:nvSpPr>
        <p:spPr>
          <a:xfrm>
            <a:off x="45850" y="354733"/>
            <a:ext cx="7151104" cy="564000"/>
          </a:xfrm>
          <a:prstGeom prst="rect">
            <a:avLst/>
          </a:prstGeom>
          <a:solidFill>
            <a:srgbClr val="019D8B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  <a:buFont typeface="Arial"/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95500" y="354733"/>
            <a:ext cx="6589800" cy="4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r>
              <a:rPr lang="en-AU"/>
              <a:t>Click to edit Master subtitle style</a:t>
            </a:r>
            <a:endParaRPr dirty="0"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2"/>
          </p:nvPr>
        </p:nvSpPr>
        <p:spPr>
          <a:xfrm>
            <a:off x="552550" y="1649715"/>
            <a:ext cx="6644404" cy="4908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Char char="●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○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■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●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○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■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●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○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Century Gothic"/>
              <a:buChar char="■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7" name="Google Shape;54;p9"/>
          <p:cNvSpPr/>
          <p:nvPr/>
        </p:nvSpPr>
        <p:spPr>
          <a:xfrm>
            <a:off x="95500" y="1025633"/>
            <a:ext cx="4006618" cy="564000"/>
          </a:xfrm>
          <a:prstGeom prst="rect">
            <a:avLst/>
          </a:prstGeom>
          <a:solidFill>
            <a:srgbClr val="019D8B">
              <a:alpha val="35000"/>
            </a:srgb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  <a:buFont typeface="Arial"/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94757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dependent Practice">
  <p:cSld name="Independent Practice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C5077B-A097-FA49-9C23-8030DB56FC1B}" type="slidenum">
              <a:rPr lang="en-US" smtClean="0"/>
              <a:t>‹#›</a:t>
            </a:fld>
            <a:endParaRPr lang="en-US"/>
          </a:p>
        </p:txBody>
      </p:sp>
      <p:sp>
        <p:nvSpPr>
          <p:cNvPr id="59" name="Google Shape;59;p10"/>
          <p:cNvSpPr txBox="1"/>
          <p:nvPr/>
        </p:nvSpPr>
        <p:spPr>
          <a:xfrm rot="-5400000">
            <a:off x="-1577750" y="3618467"/>
            <a:ext cx="3591600" cy="344400"/>
          </a:xfrm>
          <a:prstGeom prst="rect">
            <a:avLst/>
          </a:prstGeom>
          <a:noFill/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>
                <a:solidFill>
                  <a:srgbClr val="0B539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INDEPENDENT PRACTICE</a:t>
            </a:r>
            <a:endParaRPr sz="1600">
              <a:solidFill>
                <a:srgbClr val="0B539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" name="Google Shape;60;p10"/>
          <p:cNvSpPr/>
          <p:nvPr/>
        </p:nvSpPr>
        <p:spPr>
          <a:xfrm>
            <a:off x="45850" y="309233"/>
            <a:ext cx="7136506" cy="564000"/>
          </a:xfrm>
          <a:prstGeom prst="rect">
            <a:avLst/>
          </a:prstGeom>
          <a:solidFill>
            <a:srgbClr val="019D8B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  <a:buFont typeface="Arial"/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0"/>
          <p:cNvSpPr txBox="1">
            <a:spLocks noGrp="1"/>
          </p:cNvSpPr>
          <p:nvPr>
            <p:ph type="subTitle" idx="1"/>
          </p:nvPr>
        </p:nvSpPr>
        <p:spPr>
          <a:xfrm>
            <a:off x="95500" y="354733"/>
            <a:ext cx="6589800" cy="4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r>
              <a:rPr lang="en-AU"/>
              <a:t>Click to edit Master subtitle style</a:t>
            </a:r>
            <a:endParaRPr dirty="0"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2"/>
          </p:nvPr>
        </p:nvSpPr>
        <p:spPr>
          <a:xfrm>
            <a:off x="552550" y="918733"/>
            <a:ext cx="6629806" cy="56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entury Gothic"/>
              <a:buChar char="●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○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■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●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○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■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●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Char char="○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Century Gothic"/>
              <a:buChar char="■"/>
              <a:defRPr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56111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78FA7-764A-8048-AE7D-A777943DA218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2/24/2021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077B-A097-FA49-9C23-8030DB56FC1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23629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78FA7-764A-8048-AE7D-A777943DA218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2/24/2021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077B-A097-FA49-9C23-8030DB56FC1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393653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78FA7-764A-8048-AE7D-A777943DA218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2/24/2021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077B-A097-FA49-9C23-8030DB56FC1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24098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78FA7-764A-8048-AE7D-A777943DA218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2/24/2021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077B-A097-FA49-9C23-8030DB56FC1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2053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78FA7-764A-8048-AE7D-A777943DA218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2/24/2021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077B-A097-FA49-9C23-8030DB56FC1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470950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78FA7-764A-8048-AE7D-A777943DA218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2/24/2021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077B-A097-FA49-9C23-8030DB56FC1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104509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78FA7-764A-8048-AE7D-A777943DA218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2/24/2021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077B-A097-FA49-9C23-8030DB56FC1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814645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78FA7-764A-8048-AE7D-A777943DA218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2/24/2021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077B-A097-FA49-9C23-8030DB56FC1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35612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78FA7-764A-8048-AE7D-A777943DA218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2/24/2021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077B-A097-FA49-9C23-8030DB56FC1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999491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78FA7-764A-8048-AE7D-A777943DA218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2/24/2021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077B-A097-FA49-9C23-8030DB56FC1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112232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78FA7-764A-8048-AE7D-A777943DA218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2/24/2021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5077B-A097-FA49-9C23-8030DB56FC1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62870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19D8B">
            <a:alpha val="1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8BC5077B-A097-FA49-9C23-8030DB56FC1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Google Shape;9;p1"/>
          <p:cNvSpPr/>
          <p:nvPr/>
        </p:nvSpPr>
        <p:spPr>
          <a:xfrm>
            <a:off x="47750" y="45467"/>
            <a:ext cx="9063300" cy="6767200"/>
          </a:xfrm>
          <a:prstGeom prst="roundRect">
            <a:avLst>
              <a:gd name="adj" fmla="val 3214"/>
            </a:avLst>
          </a:prstGeom>
          <a:noFill/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  <a:buFont typeface="Arial"/>
              <a:buNone/>
            </a:pP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8467163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778FA7-764A-8048-AE7D-A777943DA218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2/24/2021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C5077B-A097-FA49-9C23-8030DB56FC1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5957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Annotation Using ACAPS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914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I understand how to annotate using ACAPS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2" name="Subtitle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I can define; author, context, audience, purpose and significance </a:t>
            </a:r>
          </a:p>
          <a:p>
            <a:endParaRPr lang="en-US" sz="2400" dirty="0"/>
          </a:p>
          <a:p>
            <a:r>
              <a:rPr lang="en-US" sz="2400" dirty="0"/>
              <a:t>I can annotate a historical source </a:t>
            </a:r>
          </a:p>
        </p:txBody>
      </p:sp>
    </p:spTree>
    <p:extLst>
      <p:ext uri="{BB962C8B-B14F-4D97-AF65-F5344CB8AC3E}">
        <p14:creationId xmlns:p14="http://schemas.microsoft.com/office/powerpoint/2010/main" val="3099422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Understand how to </a:t>
            </a:r>
            <a:r>
              <a:rPr lang="en-US" dirty="0" err="1"/>
              <a:t>analyse</a:t>
            </a:r>
            <a:r>
              <a:rPr lang="en-US" dirty="0"/>
              <a:t> a historical source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3600" dirty="0"/>
              <a:t>The information gathered from a historical source.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502" y="1064416"/>
            <a:ext cx="40504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entury Gothic"/>
                <a:cs typeface="Century Gothic"/>
              </a:rPr>
              <a:t>EVIDENCE= </a:t>
            </a:r>
          </a:p>
        </p:txBody>
      </p:sp>
      <p:graphicFrame>
        <p:nvGraphicFramePr>
          <p:cNvPr id="7" name="Google Shape;80;p12"/>
          <p:cNvGraphicFramePr/>
          <p:nvPr>
            <p:extLst>
              <p:ext uri="{D42A27DB-BD31-4B8C-83A1-F6EECF244321}">
                <p14:modId xmlns:p14="http://schemas.microsoft.com/office/powerpoint/2010/main" val="1225399937"/>
              </p:ext>
            </p:extLst>
          </p:nvPr>
        </p:nvGraphicFramePr>
        <p:xfrm>
          <a:off x="7245162" y="322267"/>
          <a:ext cx="1416504" cy="70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16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AU" sz="1500" b="1" u="none" strike="noStrike" cap="none" baseline="0" dirty="0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READ WITH ME</a:t>
                      </a:r>
                    </a:p>
                  </a:txBody>
                  <a:tcPr marL="91425" marR="91425" marT="121900" marB="121900">
                    <a:lnL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3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6535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Understand how to </a:t>
            </a:r>
            <a:r>
              <a:rPr lang="en-US" dirty="0" err="1"/>
              <a:t>analyse</a:t>
            </a:r>
            <a:r>
              <a:rPr lang="en-US" dirty="0"/>
              <a:t> a historical source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3600" dirty="0"/>
              <a:t>The </a:t>
            </a:r>
            <a:r>
              <a:rPr lang="en-US" sz="3600" dirty="0" err="1"/>
              <a:t>i</a:t>
            </a:r>
            <a:r>
              <a:rPr lang="en-US" sz="3600" dirty="0"/>
              <a:t>_________________ gathered from a h___________ s____________.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502" y="1064416"/>
            <a:ext cx="40504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entury Gothic"/>
                <a:cs typeface="Century Gothic"/>
              </a:rPr>
              <a:t>EVIDENCE= </a:t>
            </a:r>
          </a:p>
        </p:txBody>
      </p:sp>
      <p:graphicFrame>
        <p:nvGraphicFramePr>
          <p:cNvPr id="7" name="Google Shape;80;p12"/>
          <p:cNvGraphicFramePr/>
          <p:nvPr>
            <p:extLst>
              <p:ext uri="{D42A27DB-BD31-4B8C-83A1-F6EECF244321}">
                <p14:modId xmlns:p14="http://schemas.microsoft.com/office/powerpoint/2010/main" val="715157208"/>
              </p:ext>
            </p:extLst>
          </p:nvPr>
        </p:nvGraphicFramePr>
        <p:xfrm>
          <a:off x="7245162" y="322267"/>
          <a:ext cx="1416504" cy="70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16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AU" sz="1500" b="1" u="none" strike="noStrike" cap="none" baseline="0" dirty="0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READ WITH ME</a:t>
                      </a:r>
                    </a:p>
                  </a:txBody>
                  <a:tcPr marL="91425" marR="91425" marT="121900" marB="121900">
                    <a:lnL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3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0264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Understand how to </a:t>
            </a:r>
            <a:r>
              <a:rPr lang="en-US" dirty="0" err="1"/>
              <a:t>analyse</a:t>
            </a:r>
            <a:r>
              <a:rPr lang="en-US" dirty="0"/>
              <a:t> a historical source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3200" dirty="0"/>
              <a:t>There are two types of evidence used in history. </a:t>
            </a:r>
          </a:p>
          <a:p>
            <a:pPr lvl="1"/>
            <a:r>
              <a:rPr lang="en-US" sz="3200" dirty="0"/>
              <a:t>Primary Sources </a:t>
            </a:r>
          </a:p>
          <a:p>
            <a:pPr lvl="1"/>
            <a:r>
              <a:rPr lang="en-US" sz="3200" dirty="0"/>
              <a:t>Secondary Sources</a:t>
            </a:r>
          </a:p>
        </p:txBody>
      </p:sp>
    </p:spTree>
    <p:extLst>
      <p:ext uri="{BB962C8B-B14F-4D97-AF65-F5344CB8AC3E}">
        <p14:creationId xmlns:p14="http://schemas.microsoft.com/office/powerpoint/2010/main" val="2756694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Understand how to </a:t>
            </a:r>
            <a:r>
              <a:rPr lang="en-US" dirty="0" err="1"/>
              <a:t>analyse</a:t>
            </a:r>
            <a:r>
              <a:rPr lang="en-US" dirty="0"/>
              <a:t> a historical source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sz="2400" dirty="0"/>
              <a:t>How do we find out information from a historical source? </a:t>
            </a:r>
          </a:p>
          <a:p>
            <a:endParaRPr lang="en-US" sz="2400" dirty="0"/>
          </a:p>
          <a:p>
            <a:r>
              <a:rPr lang="en-US" sz="2400" dirty="0"/>
              <a:t>What are looking for? </a:t>
            </a:r>
          </a:p>
          <a:p>
            <a:endParaRPr lang="en-US" sz="2400" dirty="0"/>
          </a:p>
          <a:p>
            <a:r>
              <a:rPr lang="en-US" sz="2400" dirty="0"/>
              <a:t>Are sources easy to understand? </a:t>
            </a:r>
          </a:p>
          <a:p>
            <a:endParaRPr lang="en-US" sz="2400" dirty="0"/>
          </a:p>
          <a:p>
            <a:r>
              <a:rPr lang="en-US" sz="2400" dirty="0"/>
              <a:t>Could a source have multiple meanings?</a:t>
            </a:r>
          </a:p>
          <a:p>
            <a:endParaRPr lang="en-US" sz="2400" dirty="0"/>
          </a:p>
          <a:p>
            <a:r>
              <a:rPr lang="en-US" sz="2400" dirty="0"/>
              <a:t>What questions should we be asking? </a:t>
            </a:r>
          </a:p>
        </p:txBody>
      </p:sp>
    </p:spTree>
    <p:extLst>
      <p:ext uri="{BB962C8B-B14F-4D97-AF65-F5344CB8AC3E}">
        <p14:creationId xmlns:p14="http://schemas.microsoft.com/office/powerpoint/2010/main" val="1582096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Understand how to </a:t>
            </a:r>
            <a:r>
              <a:rPr lang="en-US" dirty="0" err="1"/>
              <a:t>analyse</a:t>
            </a:r>
            <a:r>
              <a:rPr lang="en-US" dirty="0"/>
              <a:t> a historical source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>
          <a:xfrm>
            <a:off x="552550" y="1136933"/>
            <a:ext cx="7150598" cy="5420800"/>
          </a:xfrm>
        </p:spPr>
        <p:txBody>
          <a:bodyPr/>
          <a:lstStyle/>
          <a:p>
            <a:r>
              <a:rPr lang="en-US" sz="2000" dirty="0"/>
              <a:t>One easy way of </a:t>
            </a:r>
            <a:r>
              <a:rPr lang="en-US" sz="2000" dirty="0" err="1"/>
              <a:t>analysing</a:t>
            </a:r>
            <a:r>
              <a:rPr lang="en-US" sz="2000" dirty="0"/>
              <a:t> sources that you will </a:t>
            </a:r>
            <a:r>
              <a:rPr lang="en-US" sz="2000" b="1" dirty="0"/>
              <a:t>need to know for your assessment next week </a:t>
            </a:r>
            <a:r>
              <a:rPr lang="en-US" sz="2000" dirty="0"/>
              <a:t>is annotating using ACAPS. </a:t>
            </a:r>
          </a:p>
          <a:p>
            <a:pPr marL="5969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000" b="1" dirty="0"/>
              <a:t>ANNOTATION</a:t>
            </a:r>
            <a:r>
              <a:rPr lang="en-US" sz="2000" dirty="0"/>
              <a:t> = making notes directly onto a historical source through; circling, underlining, highlighting, labeling etc. </a:t>
            </a:r>
            <a:endParaRPr lang="en-US" sz="2000" b="1" dirty="0"/>
          </a:p>
          <a:p>
            <a:endParaRPr lang="en-US" sz="2000" b="1" dirty="0"/>
          </a:p>
          <a:p>
            <a:pPr>
              <a:lnSpc>
                <a:spcPct val="100000"/>
              </a:lnSpc>
            </a:pPr>
            <a:r>
              <a:rPr lang="en-US" sz="2000" b="1" dirty="0"/>
              <a:t>ACAPS</a:t>
            </a:r>
            <a:r>
              <a:rPr lang="en-US" sz="2000" dirty="0"/>
              <a:t> is an acronym that stands for: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000" dirty="0"/>
              <a:t>A = author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000" dirty="0"/>
              <a:t>C= context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000" dirty="0"/>
              <a:t>A = audience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000" dirty="0"/>
              <a:t>P = purpose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000" dirty="0"/>
              <a:t>S = significance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7127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 understand how to annotate using ACAPS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4000" dirty="0"/>
              <a:t>Name of the person or </a:t>
            </a:r>
            <a:r>
              <a:rPr lang="en-US" sz="4000" dirty="0" err="1"/>
              <a:t>organisation</a:t>
            </a:r>
            <a:r>
              <a:rPr lang="en-US" sz="4000" dirty="0"/>
              <a:t> that created the source. </a:t>
            </a:r>
          </a:p>
          <a:p>
            <a:pPr marL="114300" indent="0">
              <a:buNone/>
            </a:pPr>
            <a:endParaRPr lang="en-US" sz="4000" dirty="0"/>
          </a:p>
          <a:p>
            <a:pPr marL="114300" indent="0">
              <a:buNone/>
            </a:pPr>
            <a:r>
              <a:rPr lang="en-US" sz="3200" b="1" dirty="0"/>
              <a:t>If no author: </a:t>
            </a:r>
            <a:r>
              <a:rPr lang="en-US" sz="3200" dirty="0"/>
              <a:t>who might have made 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00" y="1046757"/>
            <a:ext cx="40212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entury Gothic"/>
                <a:cs typeface="Century Gothic"/>
              </a:rPr>
              <a:t>AUTHOR =</a:t>
            </a:r>
          </a:p>
        </p:txBody>
      </p:sp>
    </p:spTree>
    <p:extLst>
      <p:ext uri="{BB962C8B-B14F-4D97-AF65-F5344CB8AC3E}">
        <p14:creationId xmlns:p14="http://schemas.microsoft.com/office/powerpoint/2010/main" val="1580665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 understand how to annotate using ACAPS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>
          <a:xfrm>
            <a:off x="552550" y="1023267"/>
            <a:ext cx="3033880" cy="5534633"/>
          </a:xfrm>
        </p:spPr>
        <p:txBody>
          <a:bodyPr/>
          <a:lstStyle/>
          <a:p>
            <a:r>
              <a:rPr lang="en-US" b="1" dirty="0"/>
              <a:t>How do I annotate for the author?</a:t>
            </a:r>
          </a:p>
          <a:p>
            <a:endParaRPr lang="en-US" b="1" dirty="0"/>
          </a:p>
          <a:p>
            <a:pPr>
              <a:buFont typeface="+mj-lt"/>
              <a:buAutoNum type="arabicPeriod"/>
            </a:pPr>
            <a:r>
              <a:rPr lang="en-US" b="1" dirty="0"/>
              <a:t>Look for a caption or authors signature. 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Look for capital letters (names are proper nouns)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Label </a:t>
            </a:r>
            <a:r>
              <a:rPr lang="mr-IN" b="1" dirty="0"/>
              <a:t>–</a:t>
            </a:r>
            <a:r>
              <a:rPr lang="en-US" b="1" dirty="0"/>
              <a:t> Author  </a:t>
            </a:r>
          </a:p>
        </p:txBody>
      </p:sp>
      <p:pic>
        <p:nvPicPr>
          <p:cNvPr id="6" name="Picture 5" descr="Screen Shot 2021-02-22 at 4.52.03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791" y="1465459"/>
            <a:ext cx="5121171" cy="48344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79791" y="6299923"/>
            <a:ext cx="5121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entury Gothic"/>
                <a:cs typeface="Century Gothic"/>
              </a:rPr>
              <a:t>SOURCE 1: </a:t>
            </a:r>
            <a:r>
              <a:rPr lang="en-US" dirty="0">
                <a:latin typeface="Century Gothic"/>
                <a:cs typeface="Century Gothic"/>
              </a:rPr>
              <a:t>Henderson, 1938</a:t>
            </a:r>
          </a:p>
        </p:txBody>
      </p:sp>
      <p:sp>
        <p:nvSpPr>
          <p:cNvPr id="8" name="Oval 7"/>
          <p:cNvSpPr/>
          <p:nvPr/>
        </p:nvSpPr>
        <p:spPr>
          <a:xfrm>
            <a:off x="4228359" y="5596658"/>
            <a:ext cx="1172218" cy="703265"/>
          </a:xfrm>
          <a:prstGeom prst="ellipse">
            <a:avLst/>
          </a:prstGeom>
          <a:noFill/>
          <a:ln w="571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>
            <a:stCxn id="8" idx="2"/>
          </p:cNvCxnSpPr>
          <p:nvPr/>
        </p:nvCxnSpPr>
        <p:spPr>
          <a:xfrm flipH="1">
            <a:off x="3042185" y="5948291"/>
            <a:ext cx="1186174" cy="5311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190933" y="5816738"/>
            <a:ext cx="97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entury Gothic"/>
                <a:cs typeface="Century Gothic"/>
              </a:rPr>
              <a:t>Author</a:t>
            </a:r>
          </a:p>
        </p:txBody>
      </p:sp>
    </p:spTree>
    <p:extLst>
      <p:ext uri="{BB962C8B-B14F-4D97-AF65-F5344CB8AC3E}">
        <p14:creationId xmlns:p14="http://schemas.microsoft.com/office/powerpoint/2010/main" val="1837110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 understand how to annotate using ACAPS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4000" dirty="0"/>
              <a:t>Important events that were occurring during the time the source was made. Dates, details etc.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00" y="1046757"/>
            <a:ext cx="40212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entury Gothic"/>
                <a:cs typeface="Century Gothic"/>
              </a:rPr>
              <a:t>CONTEXT =</a:t>
            </a:r>
          </a:p>
        </p:txBody>
      </p:sp>
    </p:spTree>
    <p:extLst>
      <p:ext uri="{BB962C8B-B14F-4D97-AF65-F5344CB8AC3E}">
        <p14:creationId xmlns:p14="http://schemas.microsoft.com/office/powerpoint/2010/main" val="2005815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 understand how to annotate using ACAPS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>
          <a:xfrm>
            <a:off x="552550" y="1023267"/>
            <a:ext cx="2350086" cy="5534633"/>
          </a:xfrm>
        </p:spPr>
        <p:txBody>
          <a:bodyPr/>
          <a:lstStyle/>
          <a:p>
            <a:r>
              <a:rPr lang="en-US" b="1" dirty="0"/>
              <a:t>How do I annotate for the context?</a:t>
            </a:r>
          </a:p>
          <a:p>
            <a:endParaRPr lang="en-US" b="1" dirty="0"/>
          </a:p>
          <a:p>
            <a:pPr>
              <a:buFont typeface="+mj-lt"/>
              <a:buAutoNum type="arabicPeriod"/>
            </a:pPr>
            <a:r>
              <a:rPr lang="en-US" b="1" dirty="0"/>
              <a:t>Look for the date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Identify and note events that were occurring during this time period 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Label </a:t>
            </a:r>
            <a:r>
              <a:rPr lang="en-AU" b="1" dirty="0"/>
              <a:t>what figures, symbols and words are representing </a:t>
            </a:r>
            <a:endParaRPr lang="en-US" b="1" dirty="0"/>
          </a:p>
        </p:txBody>
      </p:sp>
      <p:pic>
        <p:nvPicPr>
          <p:cNvPr id="6" name="Picture 5" descr="Screen Shot 2021-02-22 at 4.52.03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791" y="1465459"/>
            <a:ext cx="5121171" cy="48344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79791" y="6299923"/>
            <a:ext cx="5121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entury Gothic"/>
                <a:cs typeface="Century Gothic"/>
              </a:rPr>
              <a:t>SOURCE 1: </a:t>
            </a:r>
            <a:r>
              <a:rPr lang="en-US" dirty="0">
                <a:latin typeface="Century Gothic"/>
                <a:cs typeface="Century Gothic"/>
              </a:rPr>
              <a:t>Henderson, 1938</a:t>
            </a:r>
          </a:p>
        </p:txBody>
      </p:sp>
      <p:sp>
        <p:nvSpPr>
          <p:cNvPr id="8" name="Oval 7"/>
          <p:cNvSpPr/>
          <p:nvPr/>
        </p:nvSpPr>
        <p:spPr>
          <a:xfrm>
            <a:off x="6251831" y="4773209"/>
            <a:ext cx="1172218" cy="703265"/>
          </a:xfrm>
          <a:prstGeom prst="ellipse">
            <a:avLst/>
          </a:prstGeom>
          <a:noFill/>
          <a:ln w="571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7786879" y="1023267"/>
            <a:ext cx="0" cy="299356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456076" y="4854789"/>
            <a:ext cx="976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entury Gothic"/>
                <a:cs typeface="Century Gothic"/>
              </a:rPr>
              <a:t>Nazi Party </a:t>
            </a:r>
          </a:p>
        </p:txBody>
      </p:sp>
      <p:sp>
        <p:nvSpPr>
          <p:cNvPr id="12" name="Oval 11"/>
          <p:cNvSpPr/>
          <p:nvPr/>
        </p:nvSpPr>
        <p:spPr>
          <a:xfrm>
            <a:off x="7513925" y="4069943"/>
            <a:ext cx="564426" cy="703265"/>
          </a:xfrm>
          <a:prstGeom prst="ellipse">
            <a:avLst/>
          </a:prstGeom>
          <a:noFill/>
          <a:ln w="571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3334135" y="5277242"/>
            <a:ext cx="3070096" cy="5311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79974" y="99937"/>
            <a:ext cx="17640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entury Gothic"/>
                <a:cs typeface="Century Gothic"/>
              </a:rPr>
              <a:t>Hitler </a:t>
            </a:r>
            <a:r>
              <a:rPr lang="mr-IN" dirty="0">
                <a:solidFill>
                  <a:srgbClr val="FF0000"/>
                </a:solidFill>
                <a:latin typeface="Century Gothic"/>
                <a:cs typeface="Century Gothic"/>
              </a:rPr>
              <a:t>–</a:t>
            </a:r>
            <a:r>
              <a:rPr lang="en-US" dirty="0">
                <a:solidFill>
                  <a:srgbClr val="FF0000"/>
                </a:solidFill>
                <a:latin typeface="Century Gothic"/>
                <a:cs typeface="Century Gothic"/>
              </a:rPr>
              <a:t> represented as baby</a:t>
            </a:r>
          </a:p>
        </p:txBody>
      </p:sp>
      <p:sp>
        <p:nvSpPr>
          <p:cNvPr id="15" name="Oval 14"/>
          <p:cNvSpPr/>
          <p:nvPr/>
        </p:nvSpPr>
        <p:spPr>
          <a:xfrm>
            <a:off x="4409773" y="2330779"/>
            <a:ext cx="1730418" cy="2412356"/>
          </a:xfrm>
          <a:prstGeom prst="ellipse">
            <a:avLst/>
          </a:prstGeom>
          <a:noFill/>
          <a:ln w="571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/>
          <p:nvPr/>
        </p:nvCxnSpPr>
        <p:spPr>
          <a:xfrm flipH="1" flipV="1">
            <a:off x="4214403" y="3196097"/>
            <a:ext cx="195371" cy="18190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632459" y="1315116"/>
            <a:ext cx="195369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entury Gothic"/>
                <a:cs typeface="Century Gothic"/>
              </a:rPr>
              <a:t>Europe and the </a:t>
            </a:r>
            <a:r>
              <a:rPr lang="en-US" dirty="0" err="1">
                <a:solidFill>
                  <a:srgbClr val="FF0000"/>
                </a:solidFill>
                <a:latin typeface="Century Gothic"/>
                <a:cs typeface="Century Gothic"/>
              </a:rPr>
              <a:t>Uk</a:t>
            </a:r>
            <a:r>
              <a:rPr lang="en-US" dirty="0">
                <a:solidFill>
                  <a:srgbClr val="FF0000"/>
                </a:solidFill>
                <a:latin typeface="Century Gothic"/>
                <a:cs typeface="Century Gothic"/>
              </a:rPr>
              <a:t> (represented by PM Chamberlain)</a:t>
            </a:r>
          </a:p>
          <a:p>
            <a:r>
              <a:rPr lang="en-US" dirty="0">
                <a:solidFill>
                  <a:srgbClr val="FF0000"/>
                </a:solidFill>
                <a:latin typeface="Century Gothic"/>
                <a:cs typeface="Century Gothic"/>
              </a:rPr>
              <a:t>are child </a:t>
            </a:r>
            <a:r>
              <a:rPr lang="en-US" dirty="0" err="1">
                <a:solidFill>
                  <a:srgbClr val="FF0000"/>
                </a:solidFill>
                <a:latin typeface="Century Gothic"/>
                <a:cs typeface="Century Gothic"/>
              </a:rPr>
              <a:t>carers</a:t>
            </a:r>
            <a:r>
              <a:rPr lang="en-US" dirty="0">
                <a:solidFill>
                  <a:srgbClr val="FF0000"/>
                </a:solidFill>
                <a:latin typeface="Century Gothic"/>
                <a:cs typeface="Century Gothic"/>
              </a:rPr>
              <a:t> trying to calm a baby by allowing them there wishes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1811" y="3503959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6949499" y="4160411"/>
            <a:ext cx="564426" cy="703265"/>
          </a:xfrm>
          <a:prstGeom prst="ellipse">
            <a:avLst/>
          </a:prstGeom>
          <a:noFill/>
          <a:ln w="571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7370249" y="4854790"/>
            <a:ext cx="249506" cy="64633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211134" y="5619897"/>
            <a:ext cx="1932866" cy="1169551"/>
          </a:xfrm>
          <a:prstGeom prst="rect">
            <a:avLst/>
          </a:prstGeom>
          <a:solidFill>
            <a:srgbClr val="C0504D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FFFF"/>
                </a:solidFill>
                <a:latin typeface="Century Gothic"/>
                <a:cs typeface="Century Gothic"/>
              </a:rPr>
              <a:t>The bottle calming Hitler is the Munich Agreement </a:t>
            </a:r>
            <a:r>
              <a:rPr lang="mr-IN" sz="1400" dirty="0">
                <a:solidFill>
                  <a:srgbClr val="FFFFFF"/>
                </a:solidFill>
                <a:latin typeface="Century Gothic"/>
                <a:cs typeface="Century Gothic"/>
              </a:rPr>
              <a:t>–</a:t>
            </a:r>
            <a:r>
              <a:rPr lang="en-US" sz="1400" dirty="0">
                <a:solidFill>
                  <a:srgbClr val="FFFFFF"/>
                </a:solidFill>
                <a:latin typeface="Century Gothic"/>
                <a:cs typeface="Century Gothic"/>
              </a:rPr>
              <a:t> signed by Chamberlain in 1938</a:t>
            </a:r>
          </a:p>
        </p:txBody>
      </p:sp>
    </p:spTree>
    <p:extLst>
      <p:ext uri="{BB962C8B-B14F-4D97-AF65-F5344CB8AC3E}">
        <p14:creationId xmlns:p14="http://schemas.microsoft.com/office/powerpoint/2010/main" val="2025321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 understand how to annotate using ACAPS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4000" dirty="0"/>
              <a:t>The group of people the author is aiming to view/read the source.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00" y="1046757"/>
            <a:ext cx="40212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entury Gothic"/>
                <a:cs typeface="Century Gothic"/>
              </a:rPr>
              <a:t>AUDIENCE =</a:t>
            </a:r>
          </a:p>
        </p:txBody>
      </p:sp>
    </p:spTree>
    <p:extLst>
      <p:ext uri="{BB962C8B-B14F-4D97-AF65-F5344CB8AC3E}">
        <p14:creationId xmlns:p14="http://schemas.microsoft.com/office/powerpoint/2010/main" val="1299362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 understand how to annotate using ACAPS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>
          <a:xfrm>
            <a:off x="552549" y="1023267"/>
            <a:ext cx="3163257" cy="5534633"/>
          </a:xfrm>
        </p:spPr>
        <p:txBody>
          <a:bodyPr/>
          <a:lstStyle/>
          <a:p>
            <a:r>
              <a:rPr lang="en-US" b="1" dirty="0"/>
              <a:t>How do I annotate for the audience?</a:t>
            </a:r>
          </a:p>
          <a:p>
            <a:endParaRPr lang="en-US" b="1" dirty="0"/>
          </a:p>
          <a:p>
            <a:pPr>
              <a:buFont typeface="+mj-lt"/>
              <a:buAutoNum type="arabicPeriod"/>
            </a:pPr>
            <a:r>
              <a:rPr lang="en-US" b="1" dirty="0"/>
              <a:t>Look for clues; </a:t>
            </a:r>
          </a:p>
          <a:p>
            <a:r>
              <a:rPr lang="en-US" b="1" dirty="0"/>
              <a:t>What language is it written in? </a:t>
            </a:r>
          </a:p>
          <a:p>
            <a:r>
              <a:rPr lang="en-US" b="1" dirty="0"/>
              <a:t>How are the people/ideas shown? </a:t>
            </a:r>
          </a:p>
          <a:p>
            <a:r>
              <a:rPr lang="en-US" b="1" dirty="0"/>
              <a:t>What is it about?</a:t>
            </a:r>
          </a:p>
          <a:p>
            <a:pPr>
              <a:buFont typeface="+mj-lt"/>
              <a:buAutoNum type="arabicPeriod" startAt="2"/>
            </a:pPr>
            <a:r>
              <a:rPr lang="en-US" b="1" dirty="0"/>
              <a:t>Who might care about this? Age, nationality, interests etc. </a:t>
            </a:r>
          </a:p>
          <a:p>
            <a:pPr>
              <a:buFont typeface="+mj-lt"/>
              <a:buAutoNum type="arabicPeriod" startAt="2"/>
            </a:pPr>
            <a:r>
              <a:rPr lang="en-US" b="1" dirty="0"/>
              <a:t>Suggest an audience</a:t>
            </a:r>
          </a:p>
          <a:p>
            <a:endParaRPr lang="en-US" b="1" dirty="0"/>
          </a:p>
          <a:p>
            <a:pPr>
              <a:buFont typeface="+mj-lt"/>
              <a:buAutoNum type="arabicPeriod"/>
            </a:pPr>
            <a:endParaRPr lang="en-US" b="1" dirty="0"/>
          </a:p>
          <a:p>
            <a:endParaRPr lang="en-US" b="1" dirty="0"/>
          </a:p>
          <a:p>
            <a:pPr>
              <a:buFont typeface="+mj-lt"/>
              <a:buAutoNum type="arabicPeriod"/>
            </a:pPr>
            <a:endParaRPr lang="en-US" b="1" dirty="0"/>
          </a:p>
          <a:p>
            <a:pPr>
              <a:buFont typeface="+mj-lt"/>
              <a:buAutoNum type="arabicPeriod"/>
            </a:pPr>
            <a:endParaRPr lang="en-US" b="1" dirty="0"/>
          </a:p>
          <a:p>
            <a:pPr>
              <a:buFont typeface="+mj-lt"/>
              <a:buAutoNum type="arabicPeriod"/>
            </a:pPr>
            <a:endParaRPr lang="en-US" b="1" dirty="0"/>
          </a:p>
        </p:txBody>
      </p:sp>
      <p:pic>
        <p:nvPicPr>
          <p:cNvPr id="6" name="Picture 5" descr="Screen Shot 2021-02-22 at 4.52.03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791" y="1465459"/>
            <a:ext cx="5121171" cy="48344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79791" y="6299923"/>
            <a:ext cx="5121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entury Gothic"/>
                <a:cs typeface="Century Gothic"/>
              </a:rPr>
              <a:t>SOURCE 1: </a:t>
            </a:r>
            <a:r>
              <a:rPr lang="en-US" dirty="0">
                <a:latin typeface="Century Gothic"/>
                <a:cs typeface="Century Gothic"/>
              </a:rPr>
              <a:t>Henderson, 1938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1811" y="3503959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705533" y="5479345"/>
            <a:ext cx="32924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entury Gothic"/>
                <a:cs typeface="Century Gothic"/>
              </a:rPr>
              <a:t>Audience = People in allied countries who are concerned if the Policy of Appeasement will work</a:t>
            </a:r>
          </a:p>
        </p:txBody>
      </p:sp>
    </p:spTree>
    <p:extLst>
      <p:ext uri="{BB962C8B-B14F-4D97-AF65-F5344CB8AC3E}">
        <p14:creationId xmlns:p14="http://schemas.microsoft.com/office/powerpoint/2010/main" val="1902597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 understand how to annotate using ACAPS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4000" dirty="0"/>
              <a:t>The reason the author created the source. What they wanted the audience to do, think or feel.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00" y="1046757"/>
            <a:ext cx="40212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entury Gothic"/>
                <a:cs typeface="Century Gothic"/>
              </a:rPr>
              <a:t>PURPOSE =</a:t>
            </a:r>
          </a:p>
        </p:txBody>
      </p:sp>
    </p:spTree>
    <p:extLst>
      <p:ext uri="{BB962C8B-B14F-4D97-AF65-F5344CB8AC3E}">
        <p14:creationId xmlns:p14="http://schemas.microsoft.com/office/powerpoint/2010/main" val="36694726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 understand how to annotate using ACAPS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>
          <a:xfrm>
            <a:off x="552549" y="1023267"/>
            <a:ext cx="3163257" cy="5534633"/>
          </a:xfrm>
        </p:spPr>
        <p:txBody>
          <a:bodyPr/>
          <a:lstStyle/>
          <a:p>
            <a:r>
              <a:rPr lang="en-US" b="1" dirty="0"/>
              <a:t>How do I annotate for the purpose?</a:t>
            </a:r>
          </a:p>
          <a:p>
            <a:endParaRPr lang="en-US" b="1" dirty="0"/>
          </a:p>
          <a:p>
            <a:pPr>
              <a:buFont typeface="+mj-lt"/>
              <a:buAutoNum type="arabicPeriod"/>
            </a:pPr>
            <a:r>
              <a:rPr lang="en-US" b="1" dirty="0"/>
              <a:t>What is the context? 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What is the main idea (message)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Does the author want you to do something? Think something? Or feel something? </a:t>
            </a:r>
          </a:p>
          <a:p>
            <a:pPr>
              <a:buFont typeface="+mj-lt"/>
              <a:buAutoNum type="arabicPeriod"/>
            </a:pPr>
            <a:endParaRPr lang="en-US" b="1" dirty="0"/>
          </a:p>
          <a:p>
            <a:endParaRPr lang="en-US" b="1" dirty="0"/>
          </a:p>
          <a:p>
            <a:pPr>
              <a:buFont typeface="+mj-lt"/>
              <a:buAutoNum type="arabicPeriod"/>
            </a:pPr>
            <a:endParaRPr lang="en-US" b="1" dirty="0"/>
          </a:p>
          <a:p>
            <a:pPr>
              <a:buFont typeface="+mj-lt"/>
              <a:buAutoNum type="arabicPeriod"/>
            </a:pPr>
            <a:endParaRPr lang="en-US" b="1" dirty="0"/>
          </a:p>
          <a:p>
            <a:pPr>
              <a:buFont typeface="+mj-lt"/>
              <a:buAutoNum type="arabicPeriod"/>
            </a:pPr>
            <a:endParaRPr lang="en-US" b="1" dirty="0"/>
          </a:p>
        </p:txBody>
      </p:sp>
      <p:pic>
        <p:nvPicPr>
          <p:cNvPr id="6" name="Picture 5" descr="Screen Shot 2021-02-22 at 4.52.03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791" y="1465459"/>
            <a:ext cx="5121171" cy="48344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79791" y="6299923"/>
            <a:ext cx="5121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entury Gothic"/>
                <a:cs typeface="Century Gothic"/>
              </a:rPr>
              <a:t>SOURCE 1: </a:t>
            </a:r>
            <a:r>
              <a:rPr lang="en-US" dirty="0">
                <a:latin typeface="Century Gothic"/>
                <a:cs typeface="Century Gothic"/>
              </a:rPr>
              <a:t>Henderson, 1938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1811" y="3503959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409581" y="357068"/>
            <a:ext cx="4362545" cy="923330"/>
          </a:xfrm>
          <a:prstGeom prst="rect">
            <a:avLst/>
          </a:prstGeom>
          <a:solidFill>
            <a:srgbClr val="C0504D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entury Gothic"/>
                <a:cs typeface="Century Gothic"/>
              </a:rPr>
              <a:t>The meaning of the text is -Will Hitler stop breaking the Treaty of Versailles after he is given Czechoslovakia?</a:t>
            </a:r>
            <a:r>
              <a:rPr lang="en-US" dirty="0">
                <a:solidFill>
                  <a:srgbClr val="FF0000"/>
                </a:solidFill>
                <a:latin typeface="Century Gothic"/>
                <a:cs typeface="Century Gothic"/>
              </a:rPr>
              <a:t> </a:t>
            </a:r>
          </a:p>
        </p:txBody>
      </p:sp>
      <p:sp>
        <p:nvSpPr>
          <p:cNvPr id="9" name="Oval 8"/>
          <p:cNvSpPr/>
          <p:nvPr/>
        </p:nvSpPr>
        <p:spPr>
          <a:xfrm>
            <a:off x="4656708" y="1280398"/>
            <a:ext cx="3833203" cy="879224"/>
          </a:xfrm>
          <a:prstGeom prst="ellipse">
            <a:avLst/>
          </a:prstGeom>
          <a:noFill/>
          <a:ln w="57150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69616" y="4691542"/>
            <a:ext cx="32101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entury Gothic"/>
                <a:cs typeface="Century Gothic"/>
              </a:rPr>
              <a:t>PURPOSE = To make the audience feel worried about if the Policy of Appeasement will work to stop Hitler’s rise </a:t>
            </a:r>
          </a:p>
        </p:txBody>
      </p:sp>
    </p:spTree>
    <p:extLst>
      <p:ext uri="{BB962C8B-B14F-4D97-AF65-F5344CB8AC3E}">
        <p14:creationId xmlns:p14="http://schemas.microsoft.com/office/powerpoint/2010/main" val="2545610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 understand how to annotate using ACAPS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GB" sz="4000" dirty="0"/>
              <a:t>The importance of the source.</a:t>
            </a:r>
            <a:endParaRPr lang="en-US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95500" y="1046757"/>
            <a:ext cx="40212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entury Gothic"/>
                <a:cs typeface="Century Gothic"/>
              </a:rPr>
              <a:t>SIGNIFICANCE =</a:t>
            </a:r>
          </a:p>
        </p:txBody>
      </p:sp>
    </p:spTree>
    <p:extLst>
      <p:ext uri="{BB962C8B-B14F-4D97-AF65-F5344CB8AC3E}">
        <p14:creationId xmlns:p14="http://schemas.microsoft.com/office/powerpoint/2010/main" val="38286992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 understand how to annotate using ACAPS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>
          <a:xfrm>
            <a:off x="552549" y="1023267"/>
            <a:ext cx="3163257" cy="5534633"/>
          </a:xfrm>
        </p:spPr>
        <p:txBody>
          <a:bodyPr/>
          <a:lstStyle/>
          <a:p>
            <a:r>
              <a:rPr lang="en-US" b="1" dirty="0"/>
              <a:t>How do I annotate for the significance?</a:t>
            </a:r>
          </a:p>
          <a:p>
            <a:endParaRPr lang="en-US" b="1" dirty="0"/>
          </a:p>
          <a:p>
            <a:pPr>
              <a:buFont typeface="+mj-lt"/>
              <a:buAutoNum type="arabicPeriod"/>
            </a:pPr>
            <a:r>
              <a:rPr lang="en-US" b="1" dirty="0"/>
              <a:t>Why is the message of this source important? 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What interesting perspective does it suggest? 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Note the significance</a:t>
            </a:r>
          </a:p>
          <a:p>
            <a:pPr>
              <a:buFont typeface="+mj-lt"/>
              <a:buAutoNum type="arabicPeriod"/>
            </a:pPr>
            <a:endParaRPr lang="en-US" b="1" dirty="0"/>
          </a:p>
          <a:p>
            <a:pPr>
              <a:buFont typeface="+mj-lt"/>
              <a:buAutoNum type="arabicPeriod"/>
            </a:pPr>
            <a:endParaRPr lang="en-US" b="1" dirty="0"/>
          </a:p>
          <a:p>
            <a:pPr>
              <a:buFont typeface="+mj-lt"/>
              <a:buAutoNum type="arabicPeriod"/>
            </a:pPr>
            <a:endParaRPr lang="en-US" b="1" dirty="0"/>
          </a:p>
          <a:p>
            <a:endParaRPr lang="en-US" b="1" dirty="0"/>
          </a:p>
          <a:p>
            <a:pPr>
              <a:buFont typeface="+mj-lt"/>
              <a:buAutoNum type="arabicPeriod"/>
            </a:pPr>
            <a:endParaRPr lang="en-US" b="1" dirty="0"/>
          </a:p>
          <a:p>
            <a:pPr>
              <a:buFont typeface="+mj-lt"/>
              <a:buAutoNum type="arabicPeriod"/>
            </a:pPr>
            <a:endParaRPr lang="en-US" b="1" dirty="0"/>
          </a:p>
          <a:p>
            <a:pPr>
              <a:buFont typeface="+mj-lt"/>
              <a:buAutoNum type="arabicPeriod"/>
            </a:pPr>
            <a:endParaRPr lang="en-US" b="1" dirty="0"/>
          </a:p>
        </p:txBody>
      </p:sp>
      <p:pic>
        <p:nvPicPr>
          <p:cNvPr id="6" name="Picture 5" descr="Screen Shot 2021-02-22 at 4.52.03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791" y="1465459"/>
            <a:ext cx="5121171" cy="48344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79791" y="6299923"/>
            <a:ext cx="5121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entury Gothic"/>
                <a:cs typeface="Century Gothic"/>
              </a:rPr>
              <a:t>SOURCE 1: </a:t>
            </a:r>
            <a:r>
              <a:rPr lang="en-US" dirty="0">
                <a:latin typeface="Century Gothic"/>
                <a:cs typeface="Century Gothic"/>
              </a:rPr>
              <a:t>Henderson, 1938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1811" y="3503959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69616" y="4691542"/>
            <a:ext cx="321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FF0000"/>
              </a:solidFill>
              <a:latin typeface="Century Gothic"/>
              <a:cs typeface="Century Gothi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1343" y="3997805"/>
            <a:ext cx="32101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entury Gothic"/>
                <a:cs typeface="Century Gothic"/>
              </a:rPr>
              <a:t>SIGNIFICANCE= This source is important as it raises the idea that;</a:t>
            </a:r>
          </a:p>
          <a:p>
            <a:r>
              <a:rPr lang="en-US" dirty="0">
                <a:solidFill>
                  <a:srgbClr val="FF0000"/>
                </a:solidFill>
                <a:latin typeface="Century Gothic"/>
                <a:cs typeface="Century Gothic"/>
              </a:rPr>
              <a:t>1. The Policy of Appeasement may fail </a:t>
            </a:r>
          </a:p>
          <a:p>
            <a:r>
              <a:rPr lang="en-US" dirty="0">
                <a:solidFill>
                  <a:srgbClr val="FF0000"/>
                </a:solidFill>
                <a:latin typeface="Century Gothic"/>
                <a:cs typeface="Century Gothic"/>
              </a:rPr>
              <a:t>2. Chamberlain and Europe are giving in to Hitler as if he were a child</a:t>
            </a:r>
          </a:p>
        </p:txBody>
      </p:sp>
    </p:spTree>
    <p:extLst>
      <p:ext uri="{BB962C8B-B14F-4D97-AF65-F5344CB8AC3E}">
        <p14:creationId xmlns:p14="http://schemas.microsoft.com/office/powerpoint/2010/main" val="3883065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 understand how to annotate using ACAPS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2000" b="1" u="sng" dirty="0"/>
              <a:t>ACAPS</a:t>
            </a:r>
            <a:r>
              <a:rPr lang="en-US" sz="2000" b="1" dirty="0"/>
              <a:t> </a:t>
            </a:r>
          </a:p>
          <a:p>
            <a:r>
              <a:rPr lang="en-US" sz="2000" b="1" dirty="0"/>
              <a:t>AUTHOR </a:t>
            </a:r>
            <a:r>
              <a:rPr lang="en-US" sz="2000" dirty="0"/>
              <a:t>= Name of the person or </a:t>
            </a:r>
            <a:r>
              <a:rPr lang="en-US" sz="2000" dirty="0" err="1"/>
              <a:t>organisation</a:t>
            </a:r>
            <a:r>
              <a:rPr lang="en-US" sz="2000" dirty="0"/>
              <a:t> that created the source. </a:t>
            </a:r>
          </a:p>
          <a:p>
            <a:endParaRPr lang="en-US" sz="2000" dirty="0"/>
          </a:p>
          <a:p>
            <a:r>
              <a:rPr lang="en-US" sz="2000" b="1" dirty="0"/>
              <a:t>CONTEXT = </a:t>
            </a:r>
            <a:r>
              <a:rPr lang="en-US" sz="2000" dirty="0"/>
              <a:t>Important events that were occurring during the time the source was made.</a:t>
            </a:r>
          </a:p>
          <a:p>
            <a:endParaRPr lang="en-US" sz="2000" dirty="0"/>
          </a:p>
          <a:p>
            <a:r>
              <a:rPr lang="en-US" sz="2000" b="1" dirty="0"/>
              <a:t>AUDIEINCE = </a:t>
            </a:r>
            <a:r>
              <a:rPr lang="en-US" sz="2000" dirty="0"/>
              <a:t>The group of people the author is aiming to view/read the source.</a:t>
            </a:r>
          </a:p>
          <a:p>
            <a:endParaRPr lang="en-US" sz="2000" dirty="0"/>
          </a:p>
          <a:p>
            <a:r>
              <a:rPr lang="en-US" sz="2000" b="1" dirty="0"/>
              <a:t>PURPOSE = </a:t>
            </a:r>
            <a:r>
              <a:rPr lang="en-US" sz="2000" dirty="0"/>
              <a:t>The reason the author created the source. What they wanted the audience to do, think or feel.</a:t>
            </a:r>
          </a:p>
          <a:p>
            <a:endParaRPr lang="en-US" sz="2000" dirty="0"/>
          </a:p>
          <a:p>
            <a:r>
              <a:rPr lang="en-US" sz="2000" b="1" dirty="0"/>
              <a:t>SIGNFICANCE = </a:t>
            </a:r>
            <a:r>
              <a:rPr lang="en-GB" sz="2000" dirty="0"/>
              <a:t>The importance of the source.</a:t>
            </a:r>
            <a:endParaRPr lang="en-US" sz="20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6" name="Google Shape;80;p12"/>
          <p:cNvGraphicFramePr/>
          <p:nvPr>
            <p:extLst>
              <p:ext uri="{D42A27DB-BD31-4B8C-83A1-F6EECF244321}">
                <p14:modId xmlns:p14="http://schemas.microsoft.com/office/powerpoint/2010/main" val="322548425"/>
              </p:ext>
            </p:extLst>
          </p:nvPr>
        </p:nvGraphicFramePr>
        <p:xfrm>
          <a:off x="7245162" y="322267"/>
          <a:ext cx="1416504" cy="70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16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7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AU" sz="1500" b="1" u="none" strike="noStrike" cap="none" baseline="0" dirty="0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TAKE DOWN THESE NOTES</a:t>
                      </a:r>
                    </a:p>
                  </a:txBody>
                  <a:tcPr marL="91425" marR="91425" marT="121900" marB="121900">
                    <a:lnL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B539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53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3179680"/>
      </p:ext>
    </p:extLst>
  </p:cSld>
  <p:clrMapOvr>
    <a:masterClrMapping/>
  </p:clrMapOvr>
</p:sld>
</file>

<file path=ppt/theme/theme1.xml><?xml version="1.0" encoding="utf-8"?>
<a:theme xmlns:a="http://schemas.openxmlformats.org/drawingml/2006/main" name="SRC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 2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ＭＳ Ｐ明朝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RC EI 2019" id="{1E6A75BE-CF33-F242-9C64-715278FD6E06}" vid="{9B559CC9-536E-7C40-ADA6-15D406DA04D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SRC template.thmx</Template>
  <TotalTime>735</TotalTime>
  <Words>795</Words>
  <Application>Microsoft Office PowerPoint</Application>
  <PresentationFormat>On-screen Show (4:3)</PresentationFormat>
  <Paragraphs>133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SRC template</vt:lpstr>
      <vt:lpstr>Office Theme</vt:lpstr>
      <vt:lpstr>Annotation Using ACAPS</vt:lpstr>
      <vt:lpstr>I understand how to annotate using ACAPS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Annotation Using ACAPS</dc:title>
  <dc:creator>clare</dc:creator>
  <cp:lastModifiedBy>monique duarte</cp:lastModifiedBy>
  <cp:revision>21</cp:revision>
  <dcterms:created xsi:type="dcterms:W3CDTF">2021-02-22T06:42:24Z</dcterms:created>
  <dcterms:modified xsi:type="dcterms:W3CDTF">2021-02-24T00:21:02Z</dcterms:modified>
</cp:coreProperties>
</file>
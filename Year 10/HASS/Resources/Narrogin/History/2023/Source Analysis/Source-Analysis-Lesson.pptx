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281" r:id="rId2"/>
    <p:sldId id="279" r:id="rId3"/>
    <p:sldId id="257" r:id="rId4"/>
    <p:sldId id="265" r:id="rId5"/>
    <p:sldId id="258" r:id="rId6"/>
    <p:sldId id="267" r:id="rId7"/>
    <p:sldId id="266" r:id="rId8"/>
    <p:sldId id="268" r:id="rId9"/>
    <p:sldId id="269" r:id="rId10"/>
    <p:sldId id="270" r:id="rId11"/>
    <p:sldId id="271" r:id="rId12"/>
    <p:sldId id="283" r:id="rId13"/>
    <p:sldId id="272" r:id="rId14"/>
    <p:sldId id="273" r:id="rId15"/>
    <p:sldId id="284" r:id="rId16"/>
    <p:sldId id="278" r:id="rId17"/>
    <p:sldId id="262" r:id="rId18"/>
    <p:sldId id="259" r:id="rId19"/>
    <p:sldId id="260" r:id="rId20"/>
    <p:sldId id="274" r:id="rId21"/>
    <p:sldId id="275" r:id="rId22"/>
    <p:sldId id="280" r:id="rId23"/>
    <p:sldId id="28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60"/>
  </p:normalViewPr>
  <p:slideViewPr>
    <p:cSldViewPr>
      <p:cViewPr varScale="1">
        <p:scale>
          <a:sx n="108" d="100"/>
          <a:sy n="108" d="100"/>
        </p:scale>
        <p:origin x="1704" y="10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DA055D-92F7-4398-89B2-484B9EFFBECF}" type="datetimeFigureOut">
              <a:rPr lang="en-GB" smtClean="0"/>
              <a:t>05/08/2022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8144C5-B3BB-41CD-9F5A-644D68E46C73}" type="slidenum">
              <a:rPr lang="en-GB" smtClean="0"/>
              <a:t>‹#›</a:t>
            </a:fld>
            <a:endParaRPr lang="en-GB"/>
          </a:p>
        </p:txBody>
      </p:sp>
    </p:spTree>
    <p:extLst>
      <p:ext uri="{BB962C8B-B14F-4D97-AF65-F5344CB8AC3E}">
        <p14:creationId xmlns:p14="http://schemas.microsoft.com/office/powerpoint/2010/main" val="813485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8</a:t>
            </a:fld>
            <a:endParaRPr lang="en-GB"/>
          </a:p>
        </p:txBody>
      </p:sp>
    </p:spTree>
    <p:extLst>
      <p:ext uri="{BB962C8B-B14F-4D97-AF65-F5344CB8AC3E}">
        <p14:creationId xmlns:p14="http://schemas.microsoft.com/office/powerpoint/2010/main" val="2785553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Pupils may need the word</a:t>
            </a:r>
            <a:r>
              <a:rPr lang="en-GB" baseline="0" dirty="0"/>
              <a:t> satirical to be explained again.</a:t>
            </a:r>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9</a:t>
            </a:fld>
            <a:endParaRPr lang="en-GB"/>
          </a:p>
        </p:txBody>
      </p:sp>
    </p:spTree>
    <p:extLst>
      <p:ext uri="{BB962C8B-B14F-4D97-AF65-F5344CB8AC3E}">
        <p14:creationId xmlns:p14="http://schemas.microsoft.com/office/powerpoint/2010/main" val="1204526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Pupils may need the word</a:t>
            </a:r>
            <a:r>
              <a:rPr lang="en-GB" baseline="0" dirty="0"/>
              <a:t> satirical to be explained again.</a:t>
            </a:r>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11</a:t>
            </a:fld>
            <a:endParaRPr lang="en-GB"/>
          </a:p>
        </p:txBody>
      </p:sp>
    </p:spTree>
    <p:extLst>
      <p:ext uri="{BB962C8B-B14F-4D97-AF65-F5344CB8AC3E}">
        <p14:creationId xmlns:p14="http://schemas.microsoft.com/office/powerpoint/2010/main" val="1204526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Give the pupils 1 of the 6 cartoons</a:t>
            </a:r>
            <a:r>
              <a:rPr lang="en-GB" baseline="0" dirty="0"/>
              <a:t> for them to answer the question about. If you wish pupils can choose their own. For lower ability groups you may like to select one to do together and then have them all write up the same cartoon.</a:t>
            </a:r>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16</a:t>
            </a:fld>
            <a:endParaRPr lang="en-GB"/>
          </a:p>
        </p:txBody>
      </p:sp>
    </p:spTree>
    <p:extLst>
      <p:ext uri="{BB962C8B-B14F-4D97-AF65-F5344CB8AC3E}">
        <p14:creationId xmlns:p14="http://schemas.microsoft.com/office/powerpoint/2010/main" val="3839161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Pupils who have worked on this cartoon</a:t>
            </a:r>
            <a:r>
              <a:rPr lang="en-GB" baseline="0" dirty="0"/>
              <a:t> can feedback to the class as to what the cartoon means and what they have inferred from it.</a:t>
            </a:r>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17</a:t>
            </a:fld>
            <a:endParaRPr lang="en-GB"/>
          </a:p>
        </p:txBody>
      </p:sp>
    </p:spTree>
    <p:extLst>
      <p:ext uri="{BB962C8B-B14F-4D97-AF65-F5344CB8AC3E}">
        <p14:creationId xmlns:p14="http://schemas.microsoft.com/office/powerpoint/2010/main" val="903465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Pupils who have worked on this cartoon</a:t>
            </a:r>
            <a:r>
              <a:rPr lang="en-GB" baseline="0" dirty="0"/>
              <a:t> can feedback to the class as to what the cartoon means and what they have inferred from it.</a:t>
            </a:r>
            <a:endParaRPr lang="en-GB" dirty="0"/>
          </a:p>
          <a:p>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18</a:t>
            </a:fld>
            <a:endParaRPr lang="en-GB"/>
          </a:p>
        </p:txBody>
      </p:sp>
    </p:spTree>
    <p:extLst>
      <p:ext uri="{BB962C8B-B14F-4D97-AF65-F5344CB8AC3E}">
        <p14:creationId xmlns:p14="http://schemas.microsoft.com/office/powerpoint/2010/main" val="562774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Pupils who have worked on this cartoon</a:t>
            </a:r>
            <a:r>
              <a:rPr lang="en-GB" baseline="0" dirty="0"/>
              <a:t> can feedback to the class as to what the cartoon means and what they have inferred from it.</a:t>
            </a:r>
            <a:endParaRPr lang="en-GB" dirty="0"/>
          </a:p>
          <a:p>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19</a:t>
            </a:fld>
            <a:endParaRPr lang="en-GB"/>
          </a:p>
        </p:txBody>
      </p:sp>
    </p:spTree>
    <p:extLst>
      <p:ext uri="{BB962C8B-B14F-4D97-AF65-F5344CB8AC3E}">
        <p14:creationId xmlns:p14="http://schemas.microsoft.com/office/powerpoint/2010/main" val="1026457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Pupils who have worked on this cartoon</a:t>
            </a:r>
            <a:r>
              <a:rPr lang="en-GB" baseline="0" dirty="0"/>
              <a:t> can feedback to the class as to what the cartoon means and what they have inferred from it.</a:t>
            </a:r>
            <a:endParaRPr lang="en-GB" dirty="0"/>
          </a:p>
          <a:p>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20</a:t>
            </a:fld>
            <a:endParaRPr lang="en-GB"/>
          </a:p>
        </p:txBody>
      </p:sp>
    </p:spTree>
    <p:extLst>
      <p:ext uri="{BB962C8B-B14F-4D97-AF65-F5344CB8AC3E}">
        <p14:creationId xmlns:p14="http://schemas.microsoft.com/office/powerpoint/2010/main" val="3651465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Pupils who have worked on this cartoon</a:t>
            </a:r>
            <a:r>
              <a:rPr lang="en-GB" baseline="0" dirty="0"/>
              <a:t> can feedback to the class as to what the cartoon means and what they have inferred from it.</a:t>
            </a:r>
            <a:endParaRPr lang="en-GB" dirty="0"/>
          </a:p>
          <a:p>
            <a:endParaRPr lang="en-GB" dirty="0"/>
          </a:p>
        </p:txBody>
      </p:sp>
      <p:sp>
        <p:nvSpPr>
          <p:cNvPr id="4" name="Slide Number Placeholder 3"/>
          <p:cNvSpPr>
            <a:spLocks noGrp="1"/>
          </p:cNvSpPr>
          <p:nvPr>
            <p:ph type="sldNum" sz="quarter" idx="10"/>
          </p:nvPr>
        </p:nvSpPr>
        <p:spPr/>
        <p:txBody>
          <a:bodyPr/>
          <a:lstStyle/>
          <a:p>
            <a:fld id="{178144C5-B3BB-41CD-9F5A-644D68E46C73}" type="slidenum">
              <a:rPr lang="en-GB" smtClean="0"/>
              <a:t>21</a:t>
            </a:fld>
            <a:endParaRPr lang="en-GB"/>
          </a:p>
        </p:txBody>
      </p:sp>
    </p:spTree>
    <p:extLst>
      <p:ext uri="{BB962C8B-B14F-4D97-AF65-F5344CB8AC3E}">
        <p14:creationId xmlns:p14="http://schemas.microsoft.com/office/powerpoint/2010/main" val="1310903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7F4B245-74B9-4800-B16B-D370E01FD5D8}" type="datetimeFigureOut">
              <a:rPr lang="en-GB" smtClean="0"/>
              <a:t>05/08/2022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21228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7F4B245-74B9-4800-B16B-D370E01FD5D8}" type="datetimeFigureOut">
              <a:rPr lang="en-GB" smtClean="0"/>
              <a:t>05/08/2022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4286003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F4B245-74B9-4800-B16B-D370E01FD5D8}" type="datetimeFigureOut">
              <a:rPr lang="en-GB" smtClean="0"/>
              <a:t>05/08/2022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1473599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7F4B245-74B9-4800-B16B-D370E01FD5D8}" type="datetimeFigureOut">
              <a:rPr lang="en-GB" smtClean="0"/>
              <a:t>05/08/2022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1918832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7F4B245-74B9-4800-B16B-D370E01FD5D8}" type="datetimeFigureOut">
              <a:rPr lang="en-GB" smtClean="0"/>
              <a:t>05/08/2022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4129048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7F4B245-74B9-4800-B16B-D370E01FD5D8}" type="datetimeFigureOut">
              <a:rPr lang="en-GB" smtClean="0"/>
              <a:t>05/08/2022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154268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F4B245-74B9-4800-B16B-D370E01FD5D8}" type="datetimeFigureOut">
              <a:rPr lang="en-GB" smtClean="0"/>
              <a:t>05/08/2022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3263450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F4B245-74B9-4800-B16B-D370E01FD5D8}" type="datetimeFigureOut">
              <a:rPr lang="en-GB" smtClean="0"/>
              <a:t>05/08/2022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2974281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F4B245-74B9-4800-B16B-D370E01FD5D8}" type="datetimeFigureOut">
              <a:rPr lang="en-GB" smtClean="0"/>
              <a:t>05/08/2022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2126196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7F4B245-74B9-4800-B16B-D370E01FD5D8}" type="datetimeFigureOut">
              <a:rPr lang="en-GB" smtClean="0"/>
              <a:t>05/08/2022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333302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7F4B245-74B9-4800-B16B-D370E01FD5D8}" type="datetimeFigureOut">
              <a:rPr lang="en-GB" smtClean="0"/>
              <a:t>05/08/2022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9F23D9-AEDA-4FA9-A7B6-284BA2F99153}" type="slidenum">
              <a:rPr lang="en-GB" smtClean="0"/>
              <a:t>‹#›</a:t>
            </a:fld>
            <a:endParaRPr lang="en-GB"/>
          </a:p>
        </p:txBody>
      </p:sp>
    </p:spTree>
    <p:extLst>
      <p:ext uri="{BB962C8B-B14F-4D97-AF65-F5344CB8AC3E}">
        <p14:creationId xmlns:p14="http://schemas.microsoft.com/office/powerpoint/2010/main" val="27925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F4B245-74B9-4800-B16B-D370E01FD5D8}" type="datetimeFigureOut">
              <a:rPr lang="en-GB" smtClean="0"/>
              <a:t>05/08/2022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9F23D9-AEDA-4FA9-A7B6-284BA2F99153}" type="slidenum">
              <a:rPr lang="en-GB" smtClean="0"/>
              <a:t>‹#›</a:t>
            </a:fld>
            <a:endParaRPr lang="en-GB"/>
          </a:p>
        </p:txBody>
      </p:sp>
    </p:spTree>
    <p:extLst>
      <p:ext uri="{BB962C8B-B14F-4D97-AF65-F5344CB8AC3E}">
        <p14:creationId xmlns:p14="http://schemas.microsoft.com/office/powerpoint/2010/main" val="21256818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4624"/>
            <a:ext cx="8229600" cy="1509564"/>
          </a:xfrm>
        </p:spPr>
        <p:txBody>
          <a:bodyPr/>
          <a:lstStyle/>
          <a:p>
            <a:r>
              <a:rPr lang="en-GB" dirty="0"/>
              <a:t>How did the Germans feel? </a:t>
            </a:r>
          </a:p>
        </p:txBody>
      </p:sp>
      <p:sp>
        <p:nvSpPr>
          <p:cNvPr id="3" name="Content Placeholder 2"/>
          <p:cNvSpPr>
            <a:spLocks noGrp="1"/>
          </p:cNvSpPr>
          <p:nvPr>
            <p:ph idx="1"/>
          </p:nvPr>
        </p:nvSpPr>
        <p:spPr>
          <a:xfrm>
            <a:off x="395536" y="1556792"/>
            <a:ext cx="8229600" cy="1152128"/>
          </a:xfrm>
        </p:spPr>
        <p:txBody>
          <a:bodyPr/>
          <a:lstStyle/>
          <a:p>
            <a:r>
              <a:rPr lang="en-GB" dirty="0">
                <a:solidFill>
                  <a:schemeClr val="tx1"/>
                </a:solidFill>
              </a:rPr>
              <a:t>Discuss with your tables how the Germans felt about the treaty of Versailles…..</a:t>
            </a:r>
          </a:p>
          <a:p>
            <a:endParaRPr lang="en-GB" dirty="0">
              <a:solidFill>
                <a:schemeClr val="tx1"/>
              </a:solidFill>
            </a:endParaRPr>
          </a:p>
          <a:p>
            <a:pPr marL="0" indent="0">
              <a:buNone/>
            </a:pPr>
            <a:endParaRPr lang="en-GB" dirty="0">
              <a:solidFill>
                <a:schemeClr val="tx1"/>
              </a:solidFill>
            </a:endParaRPr>
          </a:p>
        </p:txBody>
      </p:sp>
      <p:sp>
        <p:nvSpPr>
          <p:cNvPr id="4" name="Oval 3"/>
          <p:cNvSpPr/>
          <p:nvPr/>
        </p:nvSpPr>
        <p:spPr>
          <a:xfrm>
            <a:off x="2339752" y="2852936"/>
            <a:ext cx="3672408" cy="26642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How the Germans Felt?</a:t>
            </a:r>
          </a:p>
        </p:txBody>
      </p:sp>
      <p:cxnSp>
        <p:nvCxnSpPr>
          <p:cNvPr id="6" name="Straight Connector 5"/>
          <p:cNvCxnSpPr/>
          <p:nvPr/>
        </p:nvCxnSpPr>
        <p:spPr>
          <a:xfrm flipV="1">
            <a:off x="6372200" y="2852936"/>
            <a:ext cx="1080120" cy="504056"/>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596336" y="2523242"/>
            <a:ext cx="1547664" cy="646331"/>
          </a:xfrm>
          <a:prstGeom prst="rect">
            <a:avLst/>
          </a:prstGeom>
          <a:noFill/>
        </p:spPr>
        <p:txBody>
          <a:bodyPr wrap="square" rtlCol="0">
            <a:spAutoFit/>
          </a:bodyPr>
          <a:lstStyle/>
          <a:p>
            <a:r>
              <a:rPr lang="en-GB" dirty="0"/>
              <a:t>Angry….. Explain why</a:t>
            </a:r>
          </a:p>
        </p:txBody>
      </p:sp>
      <p:sp>
        <p:nvSpPr>
          <p:cNvPr id="8"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1: connect the learning</a:t>
            </a:r>
          </a:p>
        </p:txBody>
      </p:sp>
    </p:spTree>
    <p:extLst>
      <p:ext uri="{BB962C8B-B14F-4D97-AF65-F5344CB8AC3E}">
        <p14:creationId xmlns:p14="http://schemas.microsoft.com/office/powerpoint/2010/main" val="3573356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sz="2800" dirty="0">
                <a:solidFill>
                  <a:schemeClr val="tx1"/>
                </a:solidFill>
              </a:rPr>
              <a:t>To develop skills of source analysis through making inferences</a:t>
            </a:r>
          </a:p>
          <a:p>
            <a:endParaRPr lang="en-GB" sz="2800" dirty="0">
              <a:solidFill>
                <a:schemeClr val="tx1"/>
              </a:solidFill>
            </a:endParaRPr>
          </a:p>
          <a:p>
            <a:r>
              <a:rPr lang="en-GB" sz="2800" dirty="0">
                <a:solidFill>
                  <a:schemeClr val="tx1"/>
                </a:solidFill>
              </a:rPr>
              <a:t>To identify and explain how different cartoons give us a different impression of the Treaty of Versailles</a:t>
            </a:r>
          </a:p>
        </p:txBody>
      </p:sp>
      <p:sp>
        <p:nvSpPr>
          <p:cNvPr id="4" name="Title 3"/>
          <p:cNvSpPr>
            <a:spLocks noGrp="1"/>
          </p:cNvSpPr>
          <p:nvPr>
            <p:ph type="title"/>
          </p:nvPr>
        </p:nvSpPr>
        <p:spPr/>
        <p:txBody>
          <a:bodyPr/>
          <a:lstStyle/>
          <a:p>
            <a:endParaRPr lang="en-GB"/>
          </a:p>
        </p:txBody>
      </p:sp>
      <p:sp>
        <p:nvSpPr>
          <p:cNvPr id="5"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dirty="0">
                <a:latin typeface="Comic Sans MS" pitchFamily="66" charset="0"/>
              </a:rPr>
              <a:t>Part 2: learning outcomes / success criteria</a:t>
            </a:r>
          </a:p>
        </p:txBody>
      </p:sp>
    </p:spTree>
    <p:extLst>
      <p:ext uri="{BB962C8B-B14F-4D97-AF65-F5344CB8AC3E}">
        <p14:creationId xmlns:p14="http://schemas.microsoft.com/office/powerpoint/2010/main" val="282973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980728"/>
            <a:ext cx="8229600" cy="1600200"/>
          </a:xfrm>
        </p:spPr>
        <p:txBody>
          <a:bodyPr/>
          <a:lstStyle/>
          <a:p>
            <a:r>
              <a:rPr lang="en-GB" b="1" dirty="0"/>
              <a:t>Source Analysis; What can cartoons tell us?</a:t>
            </a:r>
          </a:p>
        </p:txBody>
      </p:sp>
      <p:sp>
        <p:nvSpPr>
          <p:cNvPr id="3" name="Content Placeholder 2"/>
          <p:cNvSpPr>
            <a:spLocks noGrp="1"/>
          </p:cNvSpPr>
          <p:nvPr>
            <p:ph idx="1"/>
          </p:nvPr>
        </p:nvSpPr>
        <p:spPr>
          <a:xfrm>
            <a:off x="539552" y="3140968"/>
            <a:ext cx="8229600" cy="2188840"/>
          </a:xfrm>
        </p:spPr>
        <p:txBody>
          <a:bodyPr>
            <a:normAutofit/>
          </a:bodyPr>
          <a:lstStyle/>
          <a:p>
            <a:r>
              <a:rPr lang="en-GB" sz="3600" b="1" dirty="0"/>
              <a:t>What can you infer from the source about attitudes towards the Treaty of Versailles?</a:t>
            </a:r>
          </a:p>
        </p:txBody>
      </p:sp>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3244844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24128" y="548680"/>
            <a:ext cx="3024336" cy="3539430"/>
          </a:xfrm>
          <a:prstGeom prst="rect">
            <a:avLst/>
          </a:prstGeom>
        </p:spPr>
        <p:txBody>
          <a:bodyPr wrap="square">
            <a:spAutoFit/>
          </a:bodyPr>
          <a:lstStyle/>
          <a:p>
            <a:pPr algn="ctr"/>
            <a:r>
              <a:rPr lang="en-GB" sz="3200" b="1" dirty="0"/>
              <a:t>MAKING INFERENCES</a:t>
            </a:r>
          </a:p>
          <a:p>
            <a:endParaRPr lang="en-GB" sz="3200" dirty="0"/>
          </a:p>
          <a:p>
            <a:r>
              <a:rPr lang="en-GB" sz="3200" dirty="0"/>
              <a:t>Step 1:</a:t>
            </a:r>
          </a:p>
          <a:p>
            <a:r>
              <a:rPr lang="en-GB" sz="3200" dirty="0"/>
              <a:t>In one colour, label</a:t>
            </a:r>
            <a:r>
              <a:rPr lang="en-GB" sz="3200" b="1" dirty="0">
                <a:solidFill>
                  <a:srgbClr val="C00000"/>
                </a:solidFill>
              </a:rPr>
              <a:t> WHAT </a:t>
            </a:r>
            <a:r>
              <a:rPr lang="en-GB" sz="3200" dirty="0"/>
              <a:t>you can see (e.g.)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88640"/>
            <a:ext cx="4628589" cy="5949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1753654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5341" y="620688"/>
            <a:ext cx="1872208" cy="1354217"/>
          </a:xfrm>
          <a:prstGeom prst="rect">
            <a:avLst/>
          </a:prstGeom>
          <a:solidFill>
            <a:srgbClr val="FFFF00"/>
          </a:solidFill>
        </p:spPr>
        <p:txBody>
          <a:bodyPr wrap="square" rtlCol="0">
            <a:spAutoFit/>
          </a:bodyPr>
          <a:lstStyle/>
          <a:p>
            <a:r>
              <a:rPr lang="en-GB" sz="3200" dirty="0"/>
              <a:t>The child is crying</a:t>
            </a:r>
          </a:p>
          <a:p>
            <a:endParaRPr lang="en-GB" dirty="0"/>
          </a:p>
        </p:txBody>
      </p:sp>
      <p:sp>
        <p:nvSpPr>
          <p:cNvPr id="6" name="TextBox 5"/>
          <p:cNvSpPr txBox="1"/>
          <p:nvPr/>
        </p:nvSpPr>
        <p:spPr>
          <a:xfrm>
            <a:off x="179512" y="3955602"/>
            <a:ext cx="1872208" cy="1354217"/>
          </a:xfrm>
          <a:prstGeom prst="rect">
            <a:avLst/>
          </a:prstGeom>
          <a:solidFill>
            <a:srgbClr val="FFFF00"/>
          </a:solidFill>
        </p:spPr>
        <p:txBody>
          <a:bodyPr wrap="square" rtlCol="0">
            <a:spAutoFit/>
          </a:bodyPr>
          <a:lstStyle/>
          <a:p>
            <a:r>
              <a:rPr lang="en-GB" sz="3200" dirty="0"/>
              <a:t>The child is naked</a:t>
            </a:r>
          </a:p>
          <a:p>
            <a:endParaRPr lang="en-GB" dirty="0"/>
          </a:p>
        </p:txBody>
      </p:sp>
      <p:cxnSp>
        <p:nvCxnSpPr>
          <p:cNvPr id="3" name="Straight Arrow Connector 2"/>
          <p:cNvCxnSpPr/>
          <p:nvPr/>
        </p:nvCxnSpPr>
        <p:spPr>
          <a:xfrm>
            <a:off x="1997549" y="4554875"/>
            <a:ext cx="1187508" cy="358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681625" y="188639"/>
            <a:ext cx="4752528" cy="1354217"/>
          </a:xfrm>
          <a:prstGeom prst="rect">
            <a:avLst/>
          </a:prstGeom>
          <a:solidFill>
            <a:srgbClr val="FFFF00"/>
          </a:solidFill>
        </p:spPr>
        <p:txBody>
          <a:bodyPr wrap="square" rtlCol="0">
            <a:spAutoFit/>
          </a:bodyPr>
          <a:lstStyle/>
          <a:p>
            <a:r>
              <a:rPr lang="en-GB" sz="3200" dirty="0"/>
              <a:t>The caption says “Future cannon fodder”</a:t>
            </a:r>
          </a:p>
          <a:p>
            <a:endParaRPr lang="en-GB" dirty="0"/>
          </a:p>
        </p:txBody>
      </p:sp>
      <p:cxnSp>
        <p:nvCxnSpPr>
          <p:cNvPr id="9" name="Straight Arrow Connector 8"/>
          <p:cNvCxnSpPr/>
          <p:nvPr/>
        </p:nvCxnSpPr>
        <p:spPr>
          <a:xfrm>
            <a:off x="1997549" y="1974905"/>
            <a:ext cx="1368152" cy="22081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842190" y="1546514"/>
            <a:ext cx="504056" cy="53307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732240" y="2142565"/>
            <a:ext cx="2304256" cy="2092881"/>
          </a:xfrm>
          <a:prstGeom prst="rect">
            <a:avLst/>
          </a:prstGeom>
          <a:solidFill>
            <a:srgbClr val="FFFF00"/>
          </a:solidFill>
        </p:spPr>
        <p:txBody>
          <a:bodyPr wrap="square" rtlCol="0">
            <a:spAutoFit/>
          </a:bodyPr>
          <a:lstStyle/>
          <a:p>
            <a:r>
              <a:rPr lang="en-GB" sz="2800" dirty="0"/>
              <a:t>Clemenceau says the child crying is “Curious”</a:t>
            </a:r>
          </a:p>
          <a:p>
            <a:endParaRPr lang="en-GB" dirty="0"/>
          </a:p>
        </p:txBody>
      </p:sp>
      <p:cxnSp>
        <p:nvCxnSpPr>
          <p:cNvPr id="17" name="Straight Arrow Connector 16"/>
          <p:cNvCxnSpPr/>
          <p:nvPr/>
        </p:nvCxnSpPr>
        <p:spPr>
          <a:xfrm flipH="1">
            <a:off x="6094218" y="4467486"/>
            <a:ext cx="1790150" cy="191384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063" y="1980797"/>
            <a:ext cx="3226097" cy="4146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2508202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24128" y="548680"/>
            <a:ext cx="3024336" cy="5509200"/>
          </a:xfrm>
          <a:prstGeom prst="rect">
            <a:avLst/>
          </a:prstGeom>
        </p:spPr>
        <p:txBody>
          <a:bodyPr wrap="square">
            <a:spAutoFit/>
          </a:bodyPr>
          <a:lstStyle/>
          <a:p>
            <a:pPr algn="ctr"/>
            <a:r>
              <a:rPr lang="en-GB" sz="3200" b="1" dirty="0"/>
              <a:t>MAKING INFERENCES</a:t>
            </a:r>
          </a:p>
          <a:p>
            <a:endParaRPr lang="en-GB" sz="3200" dirty="0"/>
          </a:p>
          <a:p>
            <a:r>
              <a:rPr lang="en-GB" sz="3200" dirty="0"/>
              <a:t>Step 2:</a:t>
            </a:r>
          </a:p>
          <a:p>
            <a:r>
              <a:rPr lang="en-GB" sz="3200" dirty="0"/>
              <a:t>In another colour, explain what you think the </a:t>
            </a:r>
            <a:r>
              <a:rPr lang="en-GB" sz="3200" b="1" dirty="0">
                <a:solidFill>
                  <a:srgbClr val="C00000"/>
                </a:solidFill>
              </a:rPr>
              <a:t>MEANING</a:t>
            </a:r>
            <a:r>
              <a:rPr lang="en-GB" sz="3200" dirty="0"/>
              <a:t> of these things are or what they symbolise.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87" y="0"/>
            <a:ext cx="4254706" cy="54687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2787590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019" y="453028"/>
            <a:ext cx="1872208" cy="1354217"/>
          </a:xfrm>
          <a:prstGeom prst="rect">
            <a:avLst/>
          </a:prstGeom>
          <a:solidFill>
            <a:srgbClr val="FFFF00"/>
          </a:solidFill>
        </p:spPr>
        <p:txBody>
          <a:bodyPr wrap="square" rtlCol="0">
            <a:spAutoFit/>
          </a:bodyPr>
          <a:lstStyle/>
          <a:p>
            <a:r>
              <a:rPr lang="en-GB" sz="3200" dirty="0"/>
              <a:t>The child is crying</a:t>
            </a:r>
          </a:p>
          <a:p>
            <a:endParaRPr lang="en-GB" dirty="0"/>
          </a:p>
        </p:txBody>
      </p:sp>
      <p:sp>
        <p:nvSpPr>
          <p:cNvPr id="6" name="TextBox 5"/>
          <p:cNvSpPr txBox="1"/>
          <p:nvPr/>
        </p:nvSpPr>
        <p:spPr>
          <a:xfrm>
            <a:off x="89190" y="3913897"/>
            <a:ext cx="1872208" cy="1354217"/>
          </a:xfrm>
          <a:prstGeom prst="rect">
            <a:avLst/>
          </a:prstGeom>
          <a:solidFill>
            <a:srgbClr val="FFFF00"/>
          </a:solidFill>
        </p:spPr>
        <p:txBody>
          <a:bodyPr wrap="square" rtlCol="0">
            <a:spAutoFit/>
          </a:bodyPr>
          <a:lstStyle/>
          <a:p>
            <a:r>
              <a:rPr lang="en-GB" sz="3200" dirty="0"/>
              <a:t>The child is naked</a:t>
            </a:r>
          </a:p>
          <a:p>
            <a:endParaRPr lang="en-GB" dirty="0"/>
          </a:p>
        </p:txBody>
      </p:sp>
      <p:cxnSp>
        <p:nvCxnSpPr>
          <p:cNvPr id="3" name="Straight Arrow Connector 2"/>
          <p:cNvCxnSpPr/>
          <p:nvPr/>
        </p:nvCxnSpPr>
        <p:spPr>
          <a:xfrm>
            <a:off x="1907227" y="4387215"/>
            <a:ext cx="1187508" cy="358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591303" y="20979"/>
            <a:ext cx="4752528" cy="1354217"/>
          </a:xfrm>
          <a:prstGeom prst="rect">
            <a:avLst/>
          </a:prstGeom>
          <a:solidFill>
            <a:srgbClr val="FFFF00"/>
          </a:solidFill>
        </p:spPr>
        <p:txBody>
          <a:bodyPr wrap="square" rtlCol="0">
            <a:spAutoFit/>
          </a:bodyPr>
          <a:lstStyle/>
          <a:p>
            <a:r>
              <a:rPr lang="en-GB" sz="3200" dirty="0"/>
              <a:t>The caption says “Future cannon fodder”</a:t>
            </a:r>
          </a:p>
          <a:p>
            <a:endParaRPr lang="en-GB" dirty="0"/>
          </a:p>
        </p:txBody>
      </p:sp>
      <p:cxnSp>
        <p:nvCxnSpPr>
          <p:cNvPr id="12" name="Straight Arrow Connector 11"/>
          <p:cNvCxnSpPr/>
          <p:nvPr/>
        </p:nvCxnSpPr>
        <p:spPr>
          <a:xfrm>
            <a:off x="4801197" y="1337613"/>
            <a:ext cx="400561" cy="53307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641918" y="1974905"/>
            <a:ext cx="2304256" cy="2339102"/>
          </a:xfrm>
          <a:prstGeom prst="rect">
            <a:avLst/>
          </a:prstGeom>
          <a:solidFill>
            <a:srgbClr val="FFFF00"/>
          </a:solidFill>
        </p:spPr>
        <p:txBody>
          <a:bodyPr wrap="square" rtlCol="0">
            <a:spAutoFit/>
          </a:bodyPr>
          <a:lstStyle/>
          <a:p>
            <a:r>
              <a:rPr lang="en-GB" sz="3200" dirty="0"/>
              <a:t>Clemenceau says the child crying is “Curious”</a:t>
            </a:r>
          </a:p>
          <a:p>
            <a:endParaRPr lang="en-GB" dirty="0"/>
          </a:p>
        </p:txBody>
      </p:sp>
      <p:cxnSp>
        <p:nvCxnSpPr>
          <p:cNvPr id="17" name="Straight Arrow Connector 16"/>
          <p:cNvCxnSpPr/>
          <p:nvPr/>
        </p:nvCxnSpPr>
        <p:spPr>
          <a:xfrm flipH="1">
            <a:off x="6003896" y="4299826"/>
            <a:ext cx="1790150" cy="191384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5019" y="1807245"/>
            <a:ext cx="2142403" cy="1938992"/>
          </a:xfrm>
          <a:prstGeom prst="rect">
            <a:avLst/>
          </a:prstGeom>
          <a:solidFill>
            <a:srgbClr val="92D050"/>
          </a:solidFill>
        </p:spPr>
        <p:txBody>
          <a:bodyPr wrap="square" rtlCol="0">
            <a:spAutoFit/>
          </a:bodyPr>
          <a:lstStyle/>
          <a:p>
            <a:r>
              <a:rPr lang="en-GB" sz="2000" b="1" dirty="0"/>
              <a:t>Because he will be of military age in 20 years and knows that the future will hold.</a:t>
            </a:r>
          </a:p>
        </p:txBody>
      </p:sp>
      <p:cxnSp>
        <p:nvCxnSpPr>
          <p:cNvPr id="9" name="Straight Arrow Connector 8"/>
          <p:cNvCxnSpPr/>
          <p:nvPr/>
        </p:nvCxnSpPr>
        <p:spPr>
          <a:xfrm>
            <a:off x="1907227" y="1807245"/>
            <a:ext cx="1368152" cy="22081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3210" y="5129614"/>
            <a:ext cx="2142403" cy="923330"/>
          </a:xfrm>
          <a:prstGeom prst="rect">
            <a:avLst/>
          </a:prstGeom>
          <a:solidFill>
            <a:srgbClr val="92D050"/>
          </a:solidFill>
        </p:spPr>
        <p:txBody>
          <a:bodyPr wrap="square" rtlCol="0">
            <a:spAutoFit/>
          </a:bodyPr>
          <a:lstStyle/>
          <a:p>
            <a:r>
              <a:rPr lang="en-GB" b="1" dirty="0"/>
              <a:t>This means that he is innocent, helpless and vulnerable.</a:t>
            </a:r>
          </a:p>
        </p:txBody>
      </p:sp>
      <p:sp>
        <p:nvSpPr>
          <p:cNvPr id="14" name="TextBox 13"/>
          <p:cNvSpPr txBox="1"/>
          <p:nvPr/>
        </p:nvSpPr>
        <p:spPr>
          <a:xfrm>
            <a:off x="5686070" y="675894"/>
            <a:ext cx="3260104" cy="1323439"/>
          </a:xfrm>
          <a:prstGeom prst="rect">
            <a:avLst/>
          </a:prstGeom>
          <a:solidFill>
            <a:srgbClr val="92D050"/>
          </a:solidFill>
        </p:spPr>
        <p:txBody>
          <a:bodyPr wrap="square" rtlCol="0">
            <a:spAutoFit/>
          </a:bodyPr>
          <a:lstStyle/>
          <a:p>
            <a:r>
              <a:rPr lang="en-GB" sz="2000" b="1" dirty="0"/>
              <a:t>This means that the child will grow up to be ‘cannon fodder’ (killed in war) in future</a:t>
            </a:r>
          </a:p>
        </p:txBody>
      </p:sp>
      <p:sp>
        <p:nvSpPr>
          <p:cNvPr id="15" name="TextBox 14"/>
          <p:cNvSpPr txBox="1"/>
          <p:nvPr/>
        </p:nvSpPr>
        <p:spPr>
          <a:xfrm>
            <a:off x="6641918" y="4314006"/>
            <a:ext cx="2304256" cy="1631216"/>
          </a:xfrm>
          <a:prstGeom prst="rect">
            <a:avLst/>
          </a:prstGeom>
          <a:solidFill>
            <a:srgbClr val="92D050"/>
          </a:solidFill>
        </p:spPr>
        <p:txBody>
          <a:bodyPr wrap="square" rtlCol="0">
            <a:spAutoFit/>
          </a:bodyPr>
          <a:lstStyle/>
          <a:p>
            <a:r>
              <a:rPr lang="en-GB" sz="2000" b="1" dirty="0"/>
              <a:t>Clemenceau does not understand what the consequences of the Treaty will be.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303" y="1974905"/>
            <a:ext cx="3571875" cy="459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3555365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698263" y="404664"/>
            <a:ext cx="3024336" cy="4524315"/>
          </a:xfrm>
          <a:prstGeom prst="rect">
            <a:avLst/>
          </a:prstGeom>
        </p:spPr>
        <p:txBody>
          <a:bodyPr wrap="square">
            <a:spAutoFit/>
          </a:bodyPr>
          <a:lstStyle/>
          <a:p>
            <a:pPr algn="ctr"/>
            <a:r>
              <a:rPr lang="en-GB" sz="3200" b="1" dirty="0"/>
              <a:t>MAKING INFERENCES</a:t>
            </a:r>
          </a:p>
          <a:p>
            <a:endParaRPr lang="en-GB" sz="3200" dirty="0"/>
          </a:p>
          <a:p>
            <a:r>
              <a:rPr lang="en-GB" sz="3200" dirty="0"/>
              <a:t>Step 3:</a:t>
            </a:r>
          </a:p>
          <a:p>
            <a:r>
              <a:rPr lang="en-GB" sz="3200" dirty="0"/>
              <a:t>Identify the Nature, Origin and Purpose (</a:t>
            </a:r>
            <a:r>
              <a:rPr lang="en-GB" sz="3200" b="1" dirty="0">
                <a:solidFill>
                  <a:srgbClr val="C00000"/>
                </a:solidFill>
              </a:rPr>
              <a:t>NOP</a:t>
            </a:r>
            <a:r>
              <a:rPr lang="en-GB" sz="3200" dirty="0"/>
              <a:t>) of the Cartoon.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88639"/>
            <a:ext cx="4824536" cy="6201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14916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45" y="3508491"/>
            <a:ext cx="2160240" cy="2649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23528" y="116632"/>
            <a:ext cx="5112568" cy="3539430"/>
          </a:xfrm>
          <a:prstGeom prst="rect">
            <a:avLst/>
          </a:prstGeom>
        </p:spPr>
        <p:txBody>
          <a:bodyPr wrap="square">
            <a:spAutoFit/>
          </a:bodyPr>
          <a:lstStyle/>
          <a:p>
            <a:r>
              <a:rPr lang="en-GB" sz="3200" dirty="0"/>
              <a:t>'Peace and future cannon fodder' - a cartoon by the Australian artist Will Dyson.  </a:t>
            </a:r>
          </a:p>
          <a:p>
            <a:r>
              <a:rPr lang="en-GB" sz="3200" dirty="0"/>
              <a:t>It appeared in the Daily Herald, a British newspaper on 17</a:t>
            </a:r>
            <a:r>
              <a:rPr lang="en-GB" sz="3200" baseline="30000" dirty="0"/>
              <a:t>th</a:t>
            </a:r>
            <a:r>
              <a:rPr lang="en-GB" sz="3200" dirty="0"/>
              <a:t> May 1919.</a:t>
            </a:r>
          </a:p>
        </p:txBody>
      </p:sp>
      <p:cxnSp>
        <p:nvCxnSpPr>
          <p:cNvPr id="3" name="Straight Arrow Connector 2"/>
          <p:cNvCxnSpPr/>
          <p:nvPr/>
        </p:nvCxnSpPr>
        <p:spPr>
          <a:xfrm>
            <a:off x="4067944" y="1628800"/>
            <a:ext cx="1728192" cy="2575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131840" y="3140968"/>
            <a:ext cx="0" cy="151134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3131840" y="492771"/>
            <a:ext cx="2880320" cy="293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832327" y="2567127"/>
            <a:ext cx="1479345" cy="94136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012160" y="116632"/>
            <a:ext cx="2952328" cy="461665"/>
          </a:xfrm>
          <a:prstGeom prst="rect">
            <a:avLst/>
          </a:prstGeom>
          <a:solidFill>
            <a:srgbClr val="00B0F0"/>
          </a:solidFill>
        </p:spPr>
        <p:txBody>
          <a:bodyPr wrap="square" rtlCol="0">
            <a:spAutoFit/>
          </a:bodyPr>
          <a:lstStyle/>
          <a:p>
            <a:r>
              <a:rPr lang="en-GB" sz="2400" b="1" dirty="0"/>
              <a:t>Satirical cartoon</a:t>
            </a:r>
          </a:p>
        </p:txBody>
      </p:sp>
      <p:sp>
        <p:nvSpPr>
          <p:cNvPr id="13" name="TextBox 12"/>
          <p:cNvSpPr txBox="1"/>
          <p:nvPr/>
        </p:nvSpPr>
        <p:spPr>
          <a:xfrm>
            <a:off x="5977733" y="1704698"/>
            <a:ext cx="2952328" cy="1569660"/>
          </a:xfrm>
          <a:prstGeom prst="rect">
            <a:avLst/>
          </a:prstGeom>
          <a:solidFill>
            <a:srgbClr val="00B0F0"/>
          </a:solidFill>
        </p:spPr>
        <p:txBody>
          <a:bodyPr wrap="square" rtlCol="0">
            <a:spAutoFit/>
          </a:bodyPr>
          <a:lstStyle/>
          <a:p>
            <a:r>
              <a:rPr lang="en-GB" sz="2400" b="1" dirty="0"/>
              <a:t>Part of the Commonwealth – on the same side as Britain.</a:t>
            </a:r>
          </a:p>
        </p:txBody>
      </p:sp>
      <p:sp>
        <p:nvSpPr>
          <p:cNvPr id="14" name="TextBox 13"/>
          <p:cNvSpPr txBox="1"/>
          <p:nvPr/>
        </p:nvSpPr>
        <p:spPr>
          <a:xfrm>
            <a:off x="5216623" y="3633038"/>
            <a:ext cx="3713437" cy="1200329"/>
          </a:xfrm>
          <a:prstGeom prst="rect">
            <a:avLst/>
          </a:prstGeom>
          <a:solidFill>
            <a:srgbClr val="00B0F0"/>
          </a:solidFill>
        </p:spPr>
        <p:txBody>
          <a:bodyPr wrap="square" rtlCol="0">
            <a:spAutoFit/>
          </a:bodyPr>
          <a:lstStyle/>
          <a:p>
            <a:r>
              <a:rPr lang="en-GB" sz="2400" b="1" dirty="0"/>
              <a:t>Britain was part of the Big 3 and had helped to defeat Germany.</a:t>
            </a:r>
          </a:p>
        </p:txBody>
      </p:sp>
      <p:sp>
        <p:nvSpPr>
          <p:cNvPr id="15" name="TextBox 14"/>
          <p:cNvSpPr txBox="1"/>
          <p:nvPr/>
        </p:nvSpPr>
        <p:spPr>
          <a:xfrm>
            <a:off x="2447764" y="4824198"/>
            <a:ext cx="2484276" cy="1200329"/>
          </a:xfrm>
          <a:prstGeom prst="rect">
            <a:avLst/>
          </a:prstGeom>
          <a:solidFill>
            <a:srgbClr val="00B0F0"/>
          </a:solidFill>
        </p:spPr>
        <p:txBody>
          <a:bodyPr wrap="square" rtlCol="0">
            <a:spAutoFit/>
          </a:bodyPr>
          <a:lstStyle/>
          <a:p>
            <a:r>
              <a:rPr lang="en-GB" sz="2400" b="1" dirty="0"/>
              <a:t>Few months after the Treaty was negotiated.</a:t>
            </a:r>
          </a:p>
        </p:txBody>
      </p:sp>
      <p:sp>
        <p:nvSpPr>
          <p:cNvPr id="16"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348431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698263" y="404664"/>
            <a:ext cx="3024336" cy="4524315"/>
          </a:xfrm>
          <a:prstGeom prst="rect">
            <a:avLst/>
          </a:prstGeom>
        </p:spPr>
        <p:txBody>
          <a:bodyPr wrap="square">
            <a:spAutoFit/>
          </a:bodyPr>
          <a:lstStyle/>
          <a:p>
            <a:pPr algn="ctr"/>
            <a:r>
              <a:rPr lang="en-GB" sz="3200" b="1" dirty="0"/>
              <a:t>MAKING INFERENCES</a:t>
            </a:r>
          </a:p>
          <a:p>
            <a:endParaRPr lang="en-GB" sz="3200" dirty="0"/>
          </a:p>
          <a:p>
            <a:r>
              <a:rPr lang="en-GB" sz="3200" dirty="0"/>
              <a:t>Step 4:</a:t>
            </a:r>
          </a:p>
          <a:p>
            <a:r>
              <a:rPr lang="en-GB" sz="3200" dirty="0"/>
              <a:t>Does the </a:t>
            </a:r>
            <a:r>
              <a:rPr lang="en-GB" sz="3200" b="1" dirty="0">
                <a:solidFill>
                  <a:srgbClr val="C00000"/>
                </a:solidFill>
              </a:rPr>
              <a:t>NOP</a:t>
            </a:r>
            <a:r>
              <a:rPr lang="en-GB" sz="3200" dirty="0"/>
              <a:t> affect how </a:t>
            </a:r>
            <a:r>
              <a:rPr lang="en-GB" sz="3200" b="1" dirty="0">
                <a:solidFill>
                  <a:srgbClr val="C00000"/>
                </a:solidFill>
              </a:rPr>
              <a:t>reliable</a:t>
            </a:r>
            <a:r>
              <a:rPr lang="en-GB" sz="3200" dirty="0"/>
              <a:t> what the cartoon tells us is?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7" y="260647"/>
            <a:ext cx="4896545" cy="62936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232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3610242"/>
            <a:ext cx="2160240" cy="2649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23528" y="116632"/>
            <a:ext cx="5112568" cy="3539430"/>
          </a:xfrm>
          <a:prstGeom prst="rect">
            <a:avLst/>
          </a:prstGeom>
        </p:spPr>
        <p:txBody>
          <a:bodyPr wrap="square">
            <a:spAutoFit/>
          </a:bodyPr>
          <a:lstStyle/>
          <a:p>
            <a:r>
              <a:rPr lang="en-GB" sz="3200" dirty="0"/>
              <a:t>'Peace and future cannon fodder' - a cartoon by the Australian artist Will Dyson.  </a:t>
            </a:r>
          </a:p>
          <a:p>
            <a:r>
              <a:rPr lang="en-GB" sz="3200" dirty="0"/>
              <a:t>It appeared in the Daily Herald, a British newspaper on 17</a:t>
            </a:r>
            <a:r>
              <a:rPr lang="en-GB" sz="3200" baseline="30000" dirty="0"/>
              <a:t>th</a:t>
            </a:r>
            <a:r>
              <a:rPr lang="en-GB" sz="3200" dirty="0"/>
              <a:t> May 1919.</a:t>
            </a:r>
          </a:p>
        </p:txBody>
      </p:sp>
      <p:cxnSp>
        <p:nvCxnSpPr>
          <p:cNvPr id="3" name="Straight Arrow Connector 2"/>
          <p:cNvCxnSpPr/>
          <p:nvPr/>
        </p:nvCxnSpPr>
        <p:spPr>
          <a:xfrm>
            <a:off x="4211960" y="1628800"/>
            <a:ext cx="1584176" cy="2575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237375" y="3083869"/>
            <a:ext cx="0" cy="99625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2879812" y="492771"/>
            <a:ext cx="3132348" cy="293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952424" y="2581629"/>
            <a:ext cx="1433115" cy="10132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012160" y="116632"/>
            <a:ext cx="2952328" cy="461665"/>
          </a:xfrm>
          <a:prstGeom prst="rect">
            <a:avLst/>
          </a:prstGeom>
          <a:solidFill>
            <a:srgbClr val="00B0F0"/>
          </a:solidFill>
        </p:spPr>
        <p:txBody>
          <a:bodyPr wrap="square" rtlCol="0">
            <a:spAutoFit/>
          </a:bodyPr>
          <a:lstStyle/>
          <a:p>
            <a:r>
              <a:rPr lang="en-GB" sz="2400" b="1" dirty="0"/>
              <a:t>Satirical cartoon</a:t>
            </a:r>
          </a:p>
        </p:txBody>
      </p:sp>
      <p:sp>
        <p:nvSpPr>
          <p:cNvPr id="13" name="TextBox 12"/>
          <p:cNvSpPr txBox="1"/>
          <p:nvPr/>
        </p:nvSpPr>
        <p:spPr>
          <a:xfrm>
            <a:off x="5796136" y="1593960"/>
            <a:ext cx="2952328" cy="1323439"/>
          </a:xfrm>
          <a:prstGeom prst="rect">
            <a:avLst/>
          </a:prstGeom>
          <a:solidFill>
            <a:srgbClr val="00B0F0"/>
          </a:solidFill>
        </p:spPr>
        <p:txBody>
          <a:bodyPr wrap="square" rtlCol="0">
            <a:spAutoFit/>
          </a:bodyPr>
          <a:lstStyle/>
          <a:p>
            <a:r>
              <a:rPr lang="en-GB" sz="2000" b="1" dirty="0"/>
              <a:t>Part of the Commonwealth – on the same side as Britain.</a:t>
            </a:r>
          </a:p>
        </p:txBody>
      </p:sp>
      <p:sp>
        <p:nvSpPr>
          <p:cNvPr id="14" name="TextBox 13"/>
          <p:cNvSpPr txBox="1"/>
          <p:nvPr/>
        </p:nvSpPr>
        <p:spPr>
          <a:xfrm>
            <a:off x="5141019" y="3625285"/>
            <a:ext cx="3713437" cy="1200329"/>
          </a:xfrm>
          <a:prstGeom prst="rect">
            <a:avLst/>
          </a:prstGeom>
          <a:solidFill>
            <a:srgbClr val="00B0F0"/>
          </a:solidFill>
        </p:spPr>
        <p:txBody>
          <a:bodyPr wrap="square" rtlCol="0">
            <a:spAutoFit/>
          </a:bodyPr>
          <a:lstStyle/>
          <a:p>
            <a:r>
              <a:rPr lang="en-GB" sz="2400" b="1" dirty="0"/>
              <a:t>Britain was part of the Big 3 and had helped to defeat Germany.</a:t>
            </a:r>
          </a:p>
        </p:txBody>
      </p:sp>
      <p:sp>
        <p:nvSpPr>
          <p:cNvPr id="15" name="TextBox 14"/>
          <p:cNvSpPr txBox="1"/>
          <p:nvPr/>
        </p:nvSpPr>
        <p:spPr>
          <a:xfrm>
            <a:off x="2427285" y="4154188"/>
            <a:ext cx="2484276" cy="1200329"/>
          </a:xfrm>
          <a:prstGeom prst="rect">
            <a:avLst/>
          </a:prstGeom>
          <a:solidFill>
            <a:srgbClr val="00B0F0"/>
          </a:solidFill>
        </p:spPr>
        <p:txBody>
          <a:bodyPr wrap="square" rtlCol="0">
            <a:spAutoFit/>
          </a:bodyPr>
          <a:lstStyle/>
          <a:p>
            <a:r>
              <a:rPr lang="en-GB" sz="2400" b="1" dirty="0"/>
              <a:t>Few months after the Treaty was negotiated.</a:t>
            </a:r>
          </a:p>
        </p:txBody>
      </p:sp>
      <p:sp>
        <p:nvSpPr>
          <p:cNvPr id="2" name="TextBox 1"/>
          <p:cNvSpPr txBox="1"/>
          <p:nvPr/>
        </p:nvSpPr>
        <p:spPr>
          <a:xfrm>
            <a:off x="6012160" y="578297"/>
            <a:ext cx="2952328" cy="1015663"/>
          </a:xfrm>
          <a:prstGeom prst="rect">
            <a:avLst/>
          </a:prstGeom>
          <a:solidFill>
            <a:srgbClr val="FF99CC"/>
          </a:solidFill>
        </p:spPr>
        <p:txBody>
          <a:bodyPr wrap="square" rtlCol="0">
            <a:spAutoFit/>
          </a:bodyPr>
          <a:lstStyle/>
          <a:p>
            <a:r>
              <a:rPr lang="en-GB" sz="2000" b="1" dirty="0"/>
              <a:t>Designed to make leaders look bad – making fun of them</a:t>
            </a:r>
          </a:p>
        </p:txBody>
      </p:sp>
      <p:sp>
        <p:nvSpPr>
          <p:cNvPr id="16" name="TextBox 15"/>
          <p:cNvSpPr txBox="1"/>
          <p:nvPr/>
        </p:nvSpPr>
        <p:spPr>
          <a:xfrm>
            <a:off x="5796136" y="2917399"/>
            <a:ext cx="2952328" cy="707886"/>
          </a:xfrm>
          <a:prstGeom prst="rect">
            <a:avLst/>
          </a:prstGeom>
          <a:solidFill>
            <a:srgbClr val="FF99CC"/>
          </a:solidFill>
        </p:spPr>
        <p:txBody>
          <a:bodyPr wrap="square" rtlCol="0">
            <a:spAutoFit/>
          </a:bodyPr>
          <a:lstStyle/>
          <a:p>
            <a:r>
              <a:rPr lang="en-GB" sz="2000" b="1" dirty="0"/>
              <a:t>Could be biased against Germany</a:t>
            </a:r>
          </a:p>
        </p:txBody>
      </p:sp>
      <p:sp>
        <p:nvSpPr>
          <p:cNvPr id="17" name="TextBox 16"/>
          <p:cNvSpPr txBox="1"/>
          <p:nvPr/>
        </p:nvSpPr>
        <p:spPr>
          <a:xfrm>
            <a:off x="5141019" y="4791570"/>
            <a:ext cx="2952328" cy="707886"/>
          </a:xfrm>
          <a:prstGeom prst="rect">
            <a:avLst/>
          </a:prstGeom>
          <a:solidFill>
            <a:srgbClr val="FF99CC"/>
          </a:solidFill>
        </p:spPr>
        <p:txBody>
          <a:bodyPr wrap="square" rtlCol="0">
            <a:spAutoFit/>
          </a:bodyPr>
          <a:lstStyle/>
          <a:p>
            <a:r>
              <a:rPr lang="en-GB" sz="2000" b="1" dirty="0"/>
              <a:t>Could be biased against Germany</a:t>
            </a:r>
          </a:p>
        </p:txBody>
      </p:sp>
      <p:sp>
        <p:nvSpPr>
          <p:cNvPr id="18" name="TextBox 17"/>
          <p:cNvSpPr txBox="1"/>
          <p:nvPr/>
        </p:nvSpPr>
        <p:spPr>
          <a:xfrm>
            <a:off x="2405471" y="5499456"/>
            <a:ext cx="6406692" cy="707886"/>
          </a:xfrm>
          <a:prstGeom prst="rect">
            <a:avLst/>
          </a:prstGeom>
          <a:solidFill>
            <a:srgbClr val="FF99CC"/>
          </a:solidFill>
        </p:spPr>
        <p:txBody>
          <a:bodyPr wrap="square" rtlCol="0">
            <a:spAutoFit/>
          </a:bodyPr>
          <a:lstStyle/>
          <a:p>
            <a:r>
              <a:rPr lang="en-GB" sz="2000" b="1" dirty="0"/>
              <a:t>Cartoon from same period, would most likely know a lot about the treaty and public opinion</a:t>
            </a:r>
          </a:p>
        </p:txBody>
      </p:sp>
      <p:sp>
        <p:nvSpPr>
          <p:cNvPr id="19"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4620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F9585A-EE3E-4E96-AD77-E33DEC386930}"/>
              </a:ext>
            </a:extLst>
          </p:cNvPr>
          <p:cNvPicPr>
            <a:picLocks noChangeAspect="1"/>
          </p:cNvPicPr>
          <p:nvPr/>
        </p:nvPicPr>
        <p:blipFill>
          <a:blip r:embed="rId2"/>
          <a:stretch>
            <a:fillRect/>
          </a:stretch>
        </p:blipFill>
        <p:spPr>
          <a:xfrm>
            <a:off x="971600" y="476672"/>
            <a:ext cx="3887654" cy="5661248"/>
          </a:xfrm>
          <a:prstGeom prst="rect">
            <a:avLst/>
          </a:prstGeom>
        </p:spPr>
      </p:pic>
      <p:sp>
        <p:nvSpPr>
          <p:cNvPr id="4" name="TextBox 3">
            <a:extLst>
              <a:ext uri="{FF2B5EF4-FFF2-40B4-BE49-F238E27FC236}">
                <a16:creationId xmlns:a16="http://schemas.microsoft.com/office/drawing/2014/main" id="{C626BF7C-223E-48FA-97C4-40EF1CF911C3}"/>
              </a:ext>
            </a:extLst>
          </p:cNvPr>
          <p:cNvSpPr txBox="1"/>
          <p:nvPr/>
        </p:nvSpPr>
        <p:spPr>
          <a:xfrm>
            <a:off x="4859254" y="720080"/>
            <a:ext cx="3887654" cy="5355312"/>
          </a:xfrm>
          <a:prstGeom prst="rect">
            <a:avLst/>
          </a:prstGeom>
          <a:noFill/>
        </p:spPr>
        <p:txBody>
          <a:bodyPr wrap="square">
            <a:spAutoFit/>
          </a:bodyPr>
          <a:lstStyle/>
          <a:p>
            <a:r>
              <a:rPr lang="en-AU" dirty="0"/>
              <a:t>This poster was released in summer 1940. </a:t>
            </a:r>
          </a:p>
          <a:p>
            <a:endParaRPr lang="en-AU" dirty="0"/>
          </a:p>
          <a:p>
            <a:r>
              <a:rPr lang="en-AU" dirty="0"/>
              <a:t>The text translates as: “Smash the Enemies of Greater Germany!” A literal translation would be: “Into Dust with All Enemies of Greater Germany.” </a:t>
            </a:r>
          </a:p>
          <a:p>
            <a:endParaRPr lang="en-AU" dirty="0"/>
          </a:p>
          <a:p>
            <a:r>
              <a:rPr lang="en-AU" dirty="0"/>
              <a:t>This is a reference to Heinrich von Kleist’s The Prince of Homburg. In that play, a desperate Brandenburg, progenitor of Prussia, is saved from overwhelming threat from invading Swedes by the virtue of its campaigners, as well as its ruler. The final line of the play: “Into the dust with all enemies of Brandenburg.”</a:t>
            </a:r>
          </a:p>
          <a:p>
            <a:endParaRPr lang="en-AU" dirty="0"/>
          </a:p>
          <a:p>
            <a:r>
              <a:rPr lang="en-AU" dirty="0"/>
              <a:t>Author unknown.</a:t>
            </a:r>
          </a:p>
        </p:txBody>
      </p:sp>
    </p:spTree>
    <p:extLst>
      <p:ext uri="{BB962C8B-B14F-4D97-AF65-F5344CB8AC3E}">
        <p14:creationId xmlns:p14="http://schemas.microsoft.com/office/powerpoint/2010/main" val="61250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698263" y="404664"/>
            <a:ext cx="3024336" cy="4031873"/>
          </a:xfrm>
          <a:prstGeom prst="rect">
            <a:avLst/>
          </a:prstGeom>
        </p:spPr>
        <p:txBody>
          <a:bodyPr wrap="square">
            <a:spAutoFit/>
          </a:bodyPr>
          <a:lstStyle/>
          <a:p>
            <a:pPr algn="ctr"/>
            <a:r>
              <a:rPr lang="en-GB" sz="3200" b="1" dirty="0"/>
              <a:t>MAKING INFERENCES</a:t>
            </a:r>
          </a:p>
          <a:p>
            <a:endParaRPr lang="en-GB" sz="3200" dirty="0"/>
          </a:p>
          <a:p>
            <a:r>
              <a:rPr lang="en-GB" sz="3200" dirty="0"/>
              <a:t>Step 5:</a:t>
            </a:r>
          </a:p>
          <a:p>
            <a:r>
              <a:rPr lang="en-GB" sz="3200" dirty="0"/>
              <a:t>Tying it all together and </a:t>
            </a:r>
            <a:r>
              <a:rPr lang="en-GB" sz="3200" b="1" dirty="0">
                <a:solidFill>
                  <a:srgbClr val="C00000"/>
                </a:solidFill>
              </a:rPr>
              <a:t>answering the question</a:t>
            </a:r>
            <a:r>
              <a:rPr lang="en-GB" sz="3200"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25075"/>
            <a:ext cx="3744416" cy="4812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4108040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a:t>What can you infer from the source about attitudes towards the Treaty of Versailles?</a:t>
            </a:r>
            <a:endParaRPr lang="en-GB" sz="3200" dirty="0"/>
          </a:p>
        </p:txBody>
      </p:sp>
      <p:sp>
        <p:nvSpPr>
          <p:cNvPr id="3" name="Content Placeholder 2"/>
          <p:cNvSpPr>
            <a:spLocks noGrp="1"/>
          </p:cNvSpPr>
          <p:nvPr>
            <p:ph idx="1"/>
          </p:nvPr>
        </p:nvSpPr>
        <p:spPr>
          <a:xfrm>
            <a:off x="683568" y="1700808"/>
            <a:ext cx="7467600" cy="5040560"/>
          </a:xfrm>
        </p:spPr>
        <p:txBody>
          <a:bodyPr>
            <a:noAutofit/>
          </a:bodyPr>
          <a:lstStyle/>
          <a:p>
            <a:r>
              <a:rPr lang="en-GB" sz="3600" dirty="0"/>
              <a:t>I can infer from the source that…</a:t>
            </a:r>
          </a:p>
          <a:p>
            <a:r>
              <a:rPr lang="en-GB" sz="3600" dirty="0"/>
              <a:t>The source implies that…</a:t>
            </a:r>
          </a:p>
          <a:p>
            <a:r>
              <a:rPr lang="en-GB" sz="3600" dirty="0"/>
              <a:t>The source suggests that…</a:t>
            </a:r>
          </a:p>
          <a:p>
            <a:r>
              <a:rPr lang="en-GB" sz="3600" dirty="0"/>
              <a:t>The nature of the denotes…</a:t>
            </a:r>
          </a:p>
          <a:p>
            <a:r>
              <a:rPr lang="en-GB" sz="3600" dirty="0"/>
              <a:t>The origin of the source suggests…</a:t>
            </a:r>
          </a:p>
          <a:p>
            <a:r>
              <a:rPr lang="en-GB" sz="3600" dirty="0"/>
              <a:t>The purpose of the source infers…</a:t>
            </a:r>
          </a:p>
        </p:txBody>
      </p:sp>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37305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F9585A-EE3E-4E96-AD77-E33DEC386930}"/>
              </a:ext>
            </a:extLst>
          </p:cNvPr>
          <p:cNvPicPr>
            <a:picLocks noChangeAspect="1"/>
          </p:cNvPicPr>
          <p:nvPr/>
        </p:nvPicPr>
        <p:blipFill>
          <a:blip r:embed="rId2"/>
          <a:stretch>
            <a:fillRect/>
          </a:stretch>
        </p:blipFill>
        <p:spPr>
          <a:xfrm>
            <a:off x="971600" y="476672"/>
            <a:ext cx="3887654" cy="5661248"/>
          </a:xfrm>
          <a:prstGeom prst="rect">
            <a:avLst/>
          </a:prstGeom>
        </p:spPr>
      </p:pic>
      <p:sp>
        <p:nvSpPr>
          <p:cNvPr id="4" name="TextBox 3">
            <a:extLst>
              <a:ext uri="{FF2B5EF4-FFF2-40B4-BE49-F238E27FC236}">
                <a16:creationId xmlns:a16="http://schemas.microsoft.com/office/drawing/2014/main" id="{C626BF7C-223E-48FA-97C4-40EF1CF911C3}"/>
              </a:ext>
            </a:extLst>
          </p:cNvPr>
          <p:cNvSpPr txBox="1"/>
          <p:nvPr/>
        </p:nvSpPr>
        <p:spPr>
          <a:xfrm>
            <a:off x="4859254" y="720080"/>
            <a:ext cx="3887654" cy="4801314"/>
          </a:xfrm>
          <a:prstGeom prst="rect">
            <a:avLst/>
          </a:prstGeom>
          <a:noFill/>
        </p:spPr>
        <p:txBody>
          <a:bodyPr wrap="square">
            <a:spAutoFit/>
          </a:bodyPr>
          <a:lstStyle/>
          <a:p>
            <a:r>
              <a:rPr lang="en-AU" dirty="0"/>
              <a:t>	2. This poster was released in summer 1940. The text translates as: “Smash the Enemies of Greater Germany!” A literal translation would be: “Into Dust with All Enemies of Greater Germany.” </a:t>
            </a:r>
          </a:p>
          <a:p>
            <a:endParaRPr lang="en-AU" dirty="0"/>
          </a:p>
          <a:p>
            <a:r>
              <a:rPr lang="en-AU" dirty="0"/>
              <a:t>This is a reference to Heinrich von Kleist’s The Prince of Homburg. In that play, a desperate Brandenburg, progenitor of Prussia, is saved from overwhelming threat from invading Swedes by the virtue of its campaigners, as well as its ruler. The final line of the play: “Into the dust with all enemies of Brandenburg.”</a:t>
            </a:r>
          </a:p>
          <a:p>
            <a:r>
              <a:rPr lang="en-AU" dirty="0"/>
              <a:t>.</a:t>
            </a:r>
          </a:p>
        </p:txBody>
      </p:sp>
    </p:spTree>
    <p:extLst>
      <p:ext uri="{BB962C8B-B14F-4D97-AF65-F5344CB8AC3E}">
        <p14:creationId xmlns:p14="http://schemas.microsoft.com/office/powerpoint/2010/main" val="3293844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38944" y="0"/>
            <a:ext cx="8229600" cy="2248272"/>
          </a:xfrm>
        </p:spPr>
        <p:txBody>
          <a:bodyPr/>
          <a:lstStyle/>
          <a:p>
            <a:r>
              <a:rPr lang="en-GB" sz="4000" b="1" dirty="0"/>
              <a:t>What can you infer from the source about attitudes towards the Treaty of Versailles?</a:t>
            </a:r>
            <a:endParaRPr lang="en-GB" sz="4000" dirty="0"/>
          </a:p>
        </p:txBody>
      </p:sp>
      <p:sp>
        <p:nvSpPr>
          <p:cNvPr id="3" name="Content Placeholder 2"/>
          <p:cNvSpPr>
            <a:spLocks noGrp="1"/>
          </p:cNvSpPr>
          <p:nvPr>
            <p:ph idx="1"/>
          </p:nvPr>
        </p:nvSpPr>
        <p:spPr>
          <a:xfrm>
            <a:off x="827584" y="2204864"/>
            <a:ext cx="7467600" cy="3951337"/>
          </a:xfrm>
        </p:spPr>
        <p:txBody>
          <a:bodyPr>
            <a:normAutofit fontScale="85000" lnSpcReduction="20000"/>
          </a:bodyPr>
          <a:lstStyle/>
          <a:p>
            <a:r>
              <a:rPr lang="en-GB" dirty="0"/>
              <a:t>Step 1: In one colour, label</a:t>
            </a:r>
            <a:r>
              <a:rPr lang="en-GB" b="1" dirty="0">
                <a:solidFill>
                  <a:srgbClr val="C00000"/>
                </a:solidFill>
              </a:rPr>
              <a:t> WHAT </a:t>
            </a:r>
            <a:r>
              <a:rPr lang="en-GB" dirty="0"/>
              <a:t>you can see.</a:t>
            </a:r>
          </a:p>
          <a:p>
            <a:r>
              <a:rPr lang="en-GB" dirty="0"/>
              <a:t>Step 2: In another colour, explain what you think the </a:t>
            </a:r>
            <a:r>
              <a:rPr lang="en-GB" b="1" dirty="0">
                <a:solidFill>
                  <a:srgbClr val="C00000"/>
                </a:solidFill>
              </a:rPr>
              <a:t>MEANING</a:t>
            </a:r>
            <a:r>
              <a:rPr lang="en-GB" dirty="0"/>
              <a:t> of these things are or what they symbolise.</a:t>
            </a:r>
          </a:p>
          <a:p>
            <a:r>
              <a:rPr lang="en-GB" dirty="0"/>
              <a:t>Step 3: Identify the Nature, Origin and Purpose (</a:t>
            </a:r>
            <a:r>
              <a:rPr lang="en-GB" b="1" dirty="0">
                <a:solidFill>
                  <a:srgbClr val="C00000"/>
                </a:solidFill>
              </a:rPr>
              <a:t>NOP</a:t>
            </a:r>
            <a:r>
              <a:rPr lang="en-GB" dirty="0"/>
              <a:t>) of the Cartoon.</a:t>
            </a:r>
          </a:p>
          <a:p>
            <a:r>
              <a:rPr lang="en-GB" dirty="0"/>
              <a:t>Step 4: Does the </a:t>
            </a:r>
            <a:r>
              <a:rPr lang="en-GB" b="1" dirty="0">
                <a:solidFill>
                  <a:srgbClr val="C00000"/>
                </a:solidFill>
              </a:rPr>
              <a:t>NOP</a:t>
            </a:r>
            <a:r>
              <a:rPr lang="en-GB" dirty="0"/>
              <a:t> affect how </a:t>
            </a:r>
            <a:r>
              <a:rPr lang="en-GB" b="1" dirty="0">
                <a:solidFill>
                  <a:srgbClr val="C00000"/>
                </a:solidFill>
              </a:rPr>
              <a:t>reliable</a:t>
            </a:r>
            <a:r>
              <a:rPr lang="en-GB" dirty="0"/>
              <a:t> what the cartoon tells us is?</a:t>
            </a:r>
          </a:p>
          <a:p>
            <a:r>
              <a:rPr lang="en-GB" dirty="0"/>
              <a:t>Step 5: Tying it all together and </a:t>
            </a:r>
            <a:r>
              <a:rPr lang="en-GB" b="1" dirty="0">
                <a:solidFill>
                  <a:srgbClr val="C00000"/>
                </a:solidFill>
              </a:rPr>
              <a:t>answering the question</a:t>
            </a:r>
            <a:r>
              <a:rPr lang="en-GB" dirty="0"/>
              <a:t>.</a:t>
            </a:r>
          </a:p>
        </p:txBody>
      </p:sp>
      <p:sp>
        <p:nvSpPr>
          <p:cNvPr id="5"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3: share new information</a:t>
            </a:r>
          </a:p>
        </p:txBody>
      </p:sp>
    </p:spTree>
    <p:extLst>
      <p:ext uri="{BB962C8B-B14F-4D97-AF65-F5344CB8AC3E}">
        <p14:creationId xmlns:p14="http://schemas.microsoft.com/office/powerpoint/2010/main" val="1269550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32656"/>
            <a:ext cx="6552728" cy="5684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876256" y="404664"/>
            <a:ext cx="1872208" cy="1938992"/>
          </a:xfrm>
          <a:prstGeom prst="rect">
            <a:avLst/>
          </a:prstGeom>
          <a:noFill/>
        </p:spPr>
        <p:txBody>
          <a:bodyPr wrap="square" rtlCol="0">
            <a:spAutoFit/>
          </a:bodyPr>
          <a:lstStyle/>
          <a:p>
            <a:r>
              <a:rPr lang="en-GB" sz="2400" b="1" dirty="0"/>
              <a:t>A British cartoon published in August 1919.</a:t>
            </a:r>
          </a:p>
        </p:txBody>
      </p:sp>
      <p:sp>
        <p:nvSpPr>
          <p:cNvPr id="5"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4: challenge activity</a:t>
            </a:r>
          </a:p>
        </p:txBody>
      </p:sp>
    </p:spTree>
    <p:extLst>
      <p:ext uri="{BB962C8B-B14F-4D97-AF65-F5344CB8AC3E}">
        <p14:creationId xmlns:p14="http://schemas.microsoft.com/office/powerpoint/2010/main" val="3632174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16632"/>
            <a:ext cx="5184576" cy="6473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876256" y="404664"/>
            <a:ext cx="1872208" cy="4524315"/>
          </a:xfrm>
          <a:prstGeom prst="rect">
            <a:avLst/>
          </a:prstGeom>
          <a:noFill/>
        </p:spPr>
        <p:txBody>
          <a:bodyPr wrap="square" rtlCol="0">
            <a:spAutoFit/>
          </a:bodyPr>
          <a:lstStyle/>
          <a:p>
            <a:r>
              <a:rPr lang="en-GB" sz="2400" b="1" dirty="0"/>
              <a:t>A cartoon from a German newspaper along side a news story explaining the outcome of the Paris Peace Conference.</a:t>
            </a:r>
          </a:p>
        </p:txBody>
      </p:sp>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4: challenge activity</a:t>
            </a:r>
          </a:p>
        </p:txBody>
      </p:sp>
    </p:spTree>
    <p:extLst>
      <p:ext uri="{BB962C8B-B14F-4D97-AF65-F5344CB8AC3E}">
        <p14:creationId xmlns:p14="http://schemas.microsoft.com/office/powerpoint/2010/main" val="4123559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27" y="476672"/>
            <a:ext cx="6552728" cy="5646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876256" y="404664"/>
            <a:ext cx="1872208" cy="4154984"/>
          </a:xfrm>
          <a:prstGeom prst="rect">
            <a:avLst/>
          </a:prstGeom>
          <a:noFill/>
        </p:spPr>
        <p:txBody>
          <a:bodyPr wrap="square" rtlCol="0">
            <a:spAutoFit/>
          </a:bodyPr>
          <a:lstStyle/>
          <a:p>
            <a:r>
              <a:rPr lang="en-GB" sz="2400" b="1" dirty="0"/>
              <a:t>A cartoon from a German newspaper along side a news story explaining the Treaty’s terms on Germany’s Army.</a:t>
            </a:r>
          </a:p>
        </p:txBody>
      </p:sp>
      <p:sp>
        <p:nvSpPr>
          <p:cNvPr id="5"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4: challenge activity</a:t>
            </a:r>
          </a:p>
        </p:txBody>
      </p:sp>
    </p:spTree>
    <p:extLst>
      <p:ext uri="{BB962C8B-B14F-4D97-AF65-F5344CB8AC3E}">
        <p14:creationId xmlns:p14="http://schemas.microsoft.com/office/powerpoint/2010/main" val="2287786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323528" y="332656"/>
            <a:ext cx="2549927" cy="1569660"/>
          </a:xfrm>
          <a:prstGeom prst="rect">
            <a:avLst/>
          </a:prstGeom>
          <a:noFill/>
        </p:spPr>
        <p:txBody>
          <a:bodyPr wrap="square" rtlCol="0">
            <a:spAutoFit/>
          </a:bodyPr>
          <a:lstStyle/>
          <a:p>
            <a:r>
              <a:rPr lang="en-GB" sz="2400" b="1" dirty="0"/>
              <a:t>A British Cartoon about the peace treaty published in July 1919.</a:t>
            </a:r>
          </a:p>
        </p:txBody>
      </p:sp>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4: challenge activity</a:t>
            </a:r>
          </a:p>
        </p:txBody>
      </p:sp>
      <p:pic>
        <p:nvPicPr>
          <p:cNvPr id="5" name="Picture 2" descr="https://ashweetha.files.wordpress.com/2012/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348278"/>
            <a:ext cx="6054618" cy="4658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283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00192" y="332656"/>
            <a:ext cx="2516057" cy="1200329"/>
          </a:xfrm>
          <a:prstGeom prst="rect">
            <a:avLst/>
          </a:prstGeom>
          <a:noFill/>
        </p:spPr>
        <p:txBody>
          <a:bodyPr wrap="square" rtlCol="0">
            <a:spAutoFit/>
          </a:bodyPr>
          <a:lstStyle/>
          <a:p>
            <a:r>
              <a:rPr lang="en-GB" sz="2400" b="1" dirty="0"/>
              <a:t>An American cartoon published in 1920.</a:t>
            </a:r>
          </a:p>
        </p:txBody>
      </p:sp>
      <p:sp>
        <p:nvSpPr>
          <p:cNvPr id="4"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latin typeface="Comic Sans MS" pitchFamily="66" charset="0"/>
              </a:rPr>
              <a:t>Part 4: challenge activity</a:t>
            </a:r>
          </a:p>
        </p:txBody>
      </p:sp>
      <p:pic>
        <p:nvPicPr>
          <p:cNvPr id="5" name="Picture 2" descr="http://media-cache-ec0.pinimg.com/736x/45/5f/5f/455f5fdecbeb0c91ff2f9440f0e0f12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062660"/>
            <a:ext cx="5832647" cy="4890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394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549259"/>
            <a:ext cx="3950602" cy="472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11560" y="5258137"/>
            <a:ext cx="8208912" cy="1015663"/>
          </a:xfrm>
          <a:prstGeom prst="rect">
            <a:avLst/>
          </a:prstGeom>
          <a:noFill/>
        </p:spPr>
        <p:txBody>
          <a:bodyPr wrap="square" rtlCol="0">
            <a:spAutoFit/>
          </a:bodyPr>
          <a:lstStyle/>
          <a:p>
            <a:r>
              <a:rPr lang="en-GB" sz="2000" b="1" dirty="0"/>
              <a:t>A cartoon from a German newspaper called ‘Clemenceau the vampire’ along side a news story explaining the outcome of the Paris Peace Conference.</a:t>
            </a:r>
          </a:p>
        </p:txBody>
      </p:sp>
      <p:sp>
        <p:nvSpPr>
          <p:cNvPr id="4" name="TextBox 3"/>
          <p:cNvSpPr txBox="1"/>
          <p:nvPr/>
        </p:nvSpPr>
        <p:spPr>
          <a:xfrm>
            <a:off x="266444" y="188640"/>
            <a:ext cx="3384376" cy="2677656"/>
          </a:xfrm>
          <a:prstGeom prst="rect">
            <a:avLst/>
          </a:prstGeom>
          <a:noFill/>
        </p:spPr>
        <p:txBody>
          <a:bodyPr wrap="square" rtlCol="0">
            <a:spAutoFit/>
          </a:bodyPr>
          <a:lstStyle/>
          <a:p>
            <a:r>
              <a:rPr lang="en-GB" sz="2400" b="1" dirty="0"/>
              <a:t>What can source A tell us about the German reaction to The Treaty of Versailles?</a:t>
            </a:r>
          </a:p>
          <a:p>
            <a:br>
              <a:rPr lang="en-GB" b="1" i="1" dirty="0">
                <a:solidFill>
                  <a:srgbClr val="FF0000"/>
                </a:solidFill>
              </a:rPr>
            </a:br>
            <a:r>
              <a:rPr lang="en-GB" b="1" i="1" dirty="0">
                <a:solidFill>
                  <a:srgbClr val="FF0000"/>
                </a:solidFill>
              </a:rPr>
              <a:t>Use the source and your own knowledge to answer this question. </a:t>
            </a:r>
          </a:p>
        </p:txBody>
      </p:sp>
      <p:sp>
        <p:nvSpPr>
          <p:cNvPr id="5" name="TextBox 4"/>
          <p:cNvSpPr txBox="1"/>
          <p:nvPr/>
        </p:nvSpPr>
        <p:spPr>
          <a:xfrm>
            <a:off x="4579671" y="188640"/>
            <a:ext cx="1584176" cy="369332"/>
          </a:xfrm>
          <a:prstGeom prst="rect">
            <a:avLst/>
          </a:prstGeom>
          <a:noFill/>
        </p:spPr>
        <p:txBody>
          <a:bodyPr wrap="square" rtlCol="0">
            <a:spAutoFit/>
          </a:bodyPr>
          <a:lstStyle/>
          <a:p>
            <a:r>
              <a:rPr lang="en-GB" b="1" dirty="0"/>
              <a:t>SOURCE A</a:t>
            </a:r>
          </a:p>
        </p:txBody>
      </p:sp>
      <p:sp>
        <p:nvSpPr>
          <p:cNvPr id="6"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dirty="0">
                <a:solidFill>
                  <a:srgbClr val="000000"/>
                </a:solidFill>
                <a:latin typeface="Comic Sans MS" pitchFamily="66" charset="0"/>
              </a:rPr>
              <a:t>Part 5: demonstrate new understanding</a:t>
            </a:r>
          </a:p>
        </p:txBody>
      </p:sp>
    </p:spTree>
    <p:extLst>
      <p:ext uri="{BB962C8B-B14F-4D97-AF65-F5344CB8AC3E}">
        <p14:creationId xmlns:p14="http://schemas.microsoft.com/office/powerpoint/2010/main" val="3599207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16632"/>
            <a:ext cx="5256584" cy="5803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4"/>
          <p:cNvSpPr txBox="1">
            <a:spLocks noChangeArrowheads="1"/>
          </p:cNvSpPr>
          <p:nvPr/>
        </p:nvSpPr>
        <p:spPr bwMode="auto">
          <a:xfrm>
            <a:off x="0" y="6273800"/>
            <a:ext cx="9144000" cy="584200"/>
          </a:xfrm>
          <a:prstGeom prst="rect">
            <a:avLst/>
          </a:prstGeom>
          <a:solidFill>
            <a:srgbClr val="00B0F0"/>
          </a:solidFill>
          <a:ln w="76200">
            <a:noFill/>
            <a:miter lim="800000"/>
            <a:headEnd/>
            <a:tailEnd/>
          </a:ln>
        </p:spPr>
        <p:txBody>
          <a:bodyPr>
            <a:spAutoFit/>
          </a:bodyPr>
          <a:lstStyle/>
          <a:p>
            <a:r>
              <a:rPr lang="en-GB" altLang="en-US" sz="3200" b="1">
                <a:solidFill>
                  <a:srgbClr val="000000"/>
                </a:solidFill>
                <a:latin typeface="Comic Sans MS" pitchFamily="66" charset="0"/>
              </a:rPr>
              <a:t>Part 6: review and reflect</a:t>
            </a:r>
          </a:p>
        </p:txBody>
      </p:sp>
    </p:spTree>
    <p:extLst>
      <p:ext uri="{BB962C8B-B14F-4D97-AF65-F5344CB8AC3E}">
        <p14:creationId xmlns:p14="http://schemas.microsoft.com/office/powerpoint/2010/main" val="2597125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741</TotalTime>
  <Words>1263</Words>
  <Application>Microsoft Office PowerPoint</Application>
  <PresentationFormat>On-screen Show (4:3)</PresentationFormat>
  <Paragraphs>127</Paragraphs>
  <Slides>23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Comic Sans MS</vt:lpstr>
      <vt:lpstr>Office Theme</vt:lpstr>
      <vt:lpstr>How did the Germans feel? </vt:lpstr>
      <vt:lpstr>PowerPoint Presentation</vt:lpstr>
      <vt:lpstr>Source Analysis; What can cartoons tell 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can you infer from the source about attitudes towards the Treaty of Versailles?</vt:lpstr>
      <vt:lpstr>PowerPoint Presentation</vt:lpstr>
      <vt:lpstr>What can you infer from the source about attitudes towards the Treaty of Versailles?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Treaty of Versailles lesson 2</dc:title>
  <dc:creator>Pete and Emily</dc:creator>
  <cp:lastModifiedBy>DONAVON Rebecca [Narrogin Senior High School]</cp:lastModifiedBy>
  <cp:revision>31</cp:revision>
  <dcterms:created xsi:type="dcterms:W3CDTF">2011-01-08T12:28:13Z</dcterms:created>
  <dcterms:modified xsi:type="dcterms:W3CDTF">2022-08-05T07:06:16Z</dcterms:modified>
</cp:coreProperties>
</file>
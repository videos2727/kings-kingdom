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1466" autoAdjust="0"/>
  </p:normalViewPr>
  <p:slideViewPr>
    <p:cSldViewPr snapToGrid="0">
      <p:cViewPr varScale="1">
        <p:scale>
          <a:sx n="100" d="100"/>
          <a:sy n="100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22C60-9611-49A6-B2D6-2F7F7EF2BD71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273B6-BC8E-4654-B880-002390B59F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4663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YouTube: https://www.youtube.com/watch?v=6CSADl_gXZY</a:t>
            </a:r>
          </a:p>
          <a:p>
            <a:r>
              <a:rPr lang="en-AU" dirty="0" err="1"/>
              <a:t>Approx</a:t>
            </a:r>
            <a:r>
              <a:rPr lang="en-AU" dirty="0"/>
              <a:t> 50 mins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273B6-BC8E-4654-B880-002390B59F21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8642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273B6-BC8E-4654-B880-002390B59F21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094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DE807-2759-4947-A7D0-EB0A4F291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74D7E-FA32-40BA-BC74-26458896D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DAEA6-C6B7-4BA7-8AD6-4E7BB64D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C872C-8050-415D-86D6-C8CE38375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A1E3C-0E2A-4DCE-96E2-AF5B4633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1847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ADBA1-9A50-400E-91D2-D41A607A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B1687-0000-4BEF-8F4A-629258EBB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17851-047F-4C72-B217-A7623FA96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2DB2A-08B9-4522-8514-51D52B37E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CFE1-F767-4996-804B-7D9327A0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9734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4C0D9-47F9-4444-95C3-EFC0C02E1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6EDB1-D6E0-4ACB-B7E3-870E58EAF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E5846-33D8-41DD-B81F-23537ED0E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43C63-83FE-4726-939A-3338D81E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6D407-B823-402B-965B-5E4EC06CD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1312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9AEC4-0F05-443C-BB95-22285865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B4A16-D0A4-40D2-8947-3651DDD76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D8461-846D-418C-9A0E-47DCD4508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6BFB5-BA89-44A9-928D-00541E012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B50BE-D204-444B-94E6-1A5D9B2D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81C3F-AB74-4185-8442-BB933FC67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6569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2C33-C6ED-4309-A9EA-71BC9EB34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A62F6-5AB3-428B-B909-0453AC5C5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DECB7-1C54-421C-9807-F3D669646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588049-8D8F-42B8-934E-664FC89A9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C17B0B-0E50-48FC-9233-60403FBB2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4D34E7-3251-45BA-8514-EA5165222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632E7-BDDF-414A-8761-8BD60C5B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C21216-AD30-43B3-A1C2-A24C439AB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5112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57EFA-2844-4A7D-9B03-5C62C7C5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7A7BFA-8191-45AA-B64F-3B4459F7F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71B10C-FE75-4146-AD42-35B901A3C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594C-5897-48AE-8FD7-BC5B32BEA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149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123EE-21BC-4F8B-BC45-315C64867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017D02-5521-434C-AEE4-6095DC764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A8A4D-123D-409E-8E24-8B7AFD47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808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47FE3-AE99-4EAF-A168-E516C08A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C36A0-67D5-4592-AFC7-72BCF57D3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FDC8C-CFCD-4CF8-B056-365C57828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36A8F-A49A-48CD-B37A-930AD527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73F63-D17C-44D7-9E7A-2E565DF73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E96AB-1799-4F2D-B712-9ACB0713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0799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E0B5F-61E0-4376-A053-ECE1AB78D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C7F650-A329-4E1E-A53B-8A91E285A9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AC079-1E53-49A7-87E5-98BB6FEE3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CB214-5E77-4C9F-A498-7573FE56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D1FC1-1032-40E6-BF36-6FBD1196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D904C-ECD7-4F0F-9CF0-67871633C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9210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DB4A0-CE42-47D8-99F3-340483C36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8E801-58B2-4881-AB64-93771F3C2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C7607-952C-4CD0-A57D-E3EF7911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D09A5-B111-426A-8512-0DDC994F5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C497A-8A2A-4631-8A8B-6EDC2B78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10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C49CC7-ABE4-4328-80C9-008E53C53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78244-85BE-436C-877D-FDF0EC728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56D47-E42F-42B5-B6ED-3C91DD16F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A297F-3063-497A-9882-415A8260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8F184-9079-4817-AA30-2BD3F4E0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740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25C5A9-9B2B-4F2A-9CF5-F933AEFFD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B5992-A3A4-4FB3-9E76-0A9FB2BD3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F45A4-B365-4A12-B0BF-CA9D1F6EA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C80EA-CCC0-4C0E-A286-8C7516505D6C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62463-D01F-41C7-8371-7C8AF1DDA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79F02-3452-43C3-9A6D-FC6D92E3F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417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6CSADl_gXZ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C5974B6-3353-4781-B620-BC5168DAE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8">
            <a:extLst>
              <a:ext uri="{FF2B5EF4-FFF2-40B4-BE49-F238E27FC236}">
                <a16:creationId xmlns:a16="http://schemas.microsoft.com/office/drawing/2014/main" id="{0A2C0FD4-452B-439A-A978-C37BC16F5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6152" y="2355786"/>
            <a:ext cx="4985748" cy="353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DC0ED-F69D-4391-ACCE-F6FCE7766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6909" y="2972112"/>
            <a:ext cx="3510355" cy="1461220"/>
          </a:xfrm>
        </p:spPr>
        <p:txBody>
          <a:bodyPr>
            <a:noAutofit/>
          </a:bodyPr>
          <a:lstStyle/>
          <a:p>
            <a:pPr algn="l"/>
            <a:r>
              <a:rPr lang="en-AU" b="1" dirty="0">
                <a:solidFill>
                  <a:srgbClr val="FFFFFF"/>
                </a:solidFill>
              </a:rPr>
              <a:t>The Mabo Decision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B854ED-AE2C-469B-AADB-4E2461F97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6910" y="4629549"/>
            <a:ext cx="3510355" cy="913435"/>
          </a:xfrm>
        </p:spPr>
        <p:txBody>
          <a:bodyPr anchor="t">
            <a:noAutofit/>
          </a:bodyPr>
          <a:lstStyle/>
          <a:p>
            <a:pPr algn="l"/>
            <a:r>
              <a:rPr lang="en-AU" sz="2600" dirty="0">
                <a:solidFill>
                  <a:srgbClr val="FEFFFF"/>
                </a:solidFill>
              </a:rPr>
              <a:t>Year 10</a:t>
            </a:r>
          </a:p>
          <a:p>
            <a:pPr algn="l"/>
            <a:r>
              <a:rPr lang="en-AU" sz="2600" dirty="0" err="1">
                <a:solidFill>
                  <a:srgbClr val="FEFFFF"/>
                </a:solidFill>
              </a:rPr>
              <a:t>Wk</a:t>
            </a:r>
            <a:r>
              <a:rPr lang="en-AU" sz="2600" dirty="0">
                <a:solidFill>
                  <a:srgbClr val="FEFFFF"/>
                </a:solidFill>
              </a:rPr>
              <a:t> 1.2 and 1.3</a:t>
            </a:r>
          </a:p>
        </p:txBody>
      </p:sp>
      <p:sp>
        <p:nvSpPr>
          <p:cNvPr id="75" name="Freeform 5">
            <a:extLst>
              <a:ext uri="{FF2B5EF4-FFF2-40B4-BE49-F238E27FC236}">
                <a16:creationId xmlns:a16="http://schemas.microsoft.com/office/drawing/2014/main" id="{16929AE4-43B6-494E-B7D6-F778AB2F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9782" y="1654168"/>
            <a:ext cx="822493" cy="4232692"/>
          </a:xfrm>
          <a:custGeom>
            <a:avLst/>
            <a:gdLst>
              <a:gd name="T0" fmla="*/ 491 w 491"/>
              <a:gd name="T1" fmla="*/ 2247 h 2732"/>
              <a:gd name="T2" fmla="*/ 0 w 491"/>
              <a:gd name="T3" fmla="*/ 2732 h 2732"/>
              <a:gd name="T4" fmla="*/ 0 w 491"/>
              <a:gd name="T5" fmla="*/ 486 h 2732"/>
              <a:gd name="T6" fmla="*/ 491 w 491"/>
              <a:gd name="T7" fmla="*/ 0 h 2732"/>
              <a:gd name="T8" fmla="*/ 491 w 491"/>
              <a:gd name="T9" fmla="*/ 2247 h 2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1" h="2732">
                <a:moveTo>
                  <a:pt x="491" y="2247"/>
                </a:moveTo>
                <a:lnTo>
                  <a:pt x="0" y="2732"/>
                </a:lnTo>
                <a:lnTo>
                  <a:pt x="0" y="486"/>
                </a:lnTo>
                <a:lnTo>
                  <a:pt x="491" y="0"/>
                </a:lnTo>
                <a:lnTo>
                  <a:pt x="491" y="22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6">
            <a:extLst>
              <a:ext uri="{FF2B5EF4-FFF2-40B4-BE49-F238E27FC236}">
                <a16:creationId xmlns:a16="http://schemas.microsoft.com/office/drawing/2014/main" id="{8CEE0D70-D5EB-4589-819D-77F64EC4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311136"/>
            <a:ext cx="687754" cy="3820236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Freeform 7">
            <a:extLst>
              <a:ext uri="{FF2B5EF4-FFF2-40B4-BE49-F238E27FC236}">
                <a16:creationId xmlns:a16="http://schemas.microsoft.com/office/drawing/2014/main" id="{2A701B99-D75A-4647-9635-9858D3BA7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126737"/>
            <a:ext cx="347200" cy="369970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84DEADC-5415-4FC6-93F0-89769392A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859" y="1120020"/>
            <a:ext cx="5632862" cy="3509529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Centacare NENW - Influential Indigenous Australians- Eddie Mabo A Meriam  man from the Torres Strait Islands, Eddie Koiki Mabo is remembered for his  efforts to secure Indigenous land rights. He led a">
            <a:extLst>
              <a:ext uri="{FF2B5EF4-FFF2-40B4-BE49-F238E27FC236}">
                <a16:creationId xmlns:a16="http://schemas.microsoft.com/office/drawing/2014/main" id="{3CBE0A8D-4110-4819-A3C5-1AB3AE436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8464" y="1503336"/>
            <a:ext cx="5448756" cy="312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7226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urray Island, Queensland - Wikipedia">
            <a:extLst>
              <a:ext uri="{FF2B5EF4-FFF2-40B4-BE49-F238E27FC236}">
                <a16:creationId xmlns:a16="http://schemas.microsoft.com/office/drawing/2014/main" id="{BA500D47-6C1E-4028-96D5-4B9D7C0B79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11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2CEC4-14B1-4322-9773-8476DBAC8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3588" y="762794"/>
            <a:ext cx="5157787" cy="823912"/>
          </a:xfrm>
        </p:spPr>
        <p:txBody>
          <a:bodyPr>
            <a:normAutofit/>
          </a:bodyPr>
          <a:lstStyle/>
          <a:p>
            <a:r>
              <a:rPr lang="en-AU" sz="3200" dirty="0"/>
              <a:t>Learning Intention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A016B-0233-4CDD-9CC6-77A3B34BB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3588" y="3084163"/>
            <a:ext cx="4924290" cy="322551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To investigate the story of Eddie Mabo and discover the impact on the doctrine of Terra Nullius.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E21469-03DC-4019-BE06-D5780FFF5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762794"/>
            <a:ext cx="5183188" cy="823912"/>
          </a:xfrm>
        </p:spPr>
        <p:txBody>
          <a:bodyPr>
            <a:normAutofit/>
          </a:bodyPr>
          <a:lstStyle/>
          <a:p>
            <a:r>
              <a:rPr lang="en-AU" sz="3200" dirty="0"/>
              <a:t>Success Criteria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46BD93-5413-4C30-A7DF-A51604F2A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045776"/>
            <a:ext cx="5183188" cy="322551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I can…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Explain the meaning of Terra Nullius</a:t>
            </a:r>
          </a:p>
          <a:p>
            <a:r>
              <a:rPr lang="en-AU" dirty="0"/>
              <a:t>Outline the impact of the Mabo decision on native title</a:t>
            </a:r>
          </a:p>
        </p:txBody>
      </p:sp>
    </p:spTree>
    <p:extLst>
      <p:ext uri="{BB962C8B-B14F-4D97-AF65-F5344CB8AC3E}">
        <p14:creationId xmlns:p14="http://schemas.microsoft.com/office/powerpoint/2010/main" val="3953830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037B5-4A69-4468-879C-5BB455C94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Aims, tactics </a:t>
            </a:r>
            <a:br>
              <a:rPr lang="en-AU" dirty="0"/>
            </a:br>
            <a:r>
              <a:rPr lang="en-AU" dirty="0"/>
              <a:t>and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9A423-9144-48E0-9CC0-BD573A6F4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5054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Last lesson we finished by considering the different ways of processing.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Let us begin today by matching the aims, tactics and outcomes used by the different groups that fought for change on the timeline we looked at.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8E7D01-892C-4C0E-AC95-BB87C3BCA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576" y="365125"/>
            <a:ext cx="4635050" cy="61730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595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5F07C-8E31-404C-A4F6-3E6A59EFE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AU" dirty="0"/>
              <a:t>Native Title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C5AC7-D177-406D-96EA-79243C389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6313150" cy="34622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Background</a:t>
            </a:r>
            <a:endParaRPr lang="en-AU" sz="1200" dirty="0"/>
          </a:p>
          <a:p>
            <a:pPr marL="0" indent="0">
              <a:buNone/>
            </a:pPr>
            <a:endParaRPr lang="en-AU" sz="1200" dirty="0"/>
          </a:p>
          <a:p>
            <a:pPr marL="0" indent="0">
              <a:buNone/>
            </a:pPr>
            <a:r>
              <a:rPr lang="en-AU" sz="2600" dirty="0"/>
              <a:t>The British designated Australia as terra nullius (empty land) to justify their colonisation and settlement of a land that belonged to other people. This decision meant that successive governments had no problem with removing Indigenous Australian peoples from their land.</a:t>
            </a:r>
          </a:p>
        </p:txBody>
      </p:sp>
      <p:pic>
        <p:nvPicPr>
          <p:cNvPr id="1026" name="Picture 2" descr="Henry Reynolds: Australia was founded on a hypocrisy that haunts us to this  day">
            <a:extLst>
              <a:ext uri="{FF2B5EF4-FFF2-40B4-BE49-F238E27FC236}">
                <a16:creationId xmlns:a16="http://schemas.microsoft.com/office/drawing/2014/main" id="{79B91116-5071-4BAD-872A-096385B5BB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9" r="21600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DC35CB-5860-420A-8F98-2D5D3E96388E}"/>
              </a:ext>
            </a:extLst>
          </p:cNvPr>
          <p:cNvSpPr txBox="1"/>
          <p:nvPr/>
        </p:nvSpPr>
        <p:spPr>
          <a:xfrm>
            <a:off x="655320" y="5929537"/>
            <a:ext cx="753207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AU" sz="2600" dirty="0"/>
              <a:t>This view of Australia as empty land was challenged through legal cases like that of Eddie Mabo.</a:t>
            </a:r>
          </a:p>
        </p:txBody>
      </p:sp>
    </p:spTree>
    <p:extLst>
      <p:ext uri="{BB962C8B-B14F-4D97-AF65-F5344CB8AC3E}">
        <p14:creationId xmlns:p14="http://schemas.microsoft.com/office/powerpoint/2010/main" val="1337936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ddie Mabo, the man who changed Australia - BBC News">
            <a:hlinkClick r:id="rId3"/>
            <a:extLst>
              <a:ext uri="{FF2B5EF4-FFF2-40B4-BE49-F238E27FC236}">
                <a16:creationId xmlns:a16="http://schemas.microsoft.com/office/drawing/2014/main" id="{BF3A9B21-1B90-4019-9FDF-E4A86F9D0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-1"/>
            <a:ext cx="5486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DC9789-55DC-4C55-B26C-970190A81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Watch: First Australians – </a:t>
            </a:r>
            <a:br>
              <a:rPr lang="en-AU" dirty="0"/>
            </a:br>
            <a:r>
              <a:rPr lang="en-AU" dirty="0"/>
              <a:t>We Are No Longer Shadows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3D20E-0218-448D-92D0-BB75A7C02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20542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WARNING: Aboriginal and Torres Strait Islander viewers are warned that the following program may contain images and voices of deceased persons. </a:t>
            </a:r>
          </a:p>
          <a:p>
            <a:pPr marL="0" indent="0">
              <a:buNone/>
            </a:pPr>
            <a:endParaRPr lang="en-AU" b="0" i="0" dirty="0">
              <a:solidFill>
                <a:srgbClr val="030303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AU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Eddie </a:t>
            </a:r>
            <a:r>
              <a:rPr lang="en-AU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Koiki</a:t>
            </a:r>
            <a:r>
              <a:rPr lang="en-AU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Mabo fights for Australian law to recognise that his people own Murray Island, where they have lived for generations.</a:t>
            </a:r>
            <a:endParaRPr lang="en-AU" dirty="0"/>
          </a:p>
        </p:txBody>
      </p:sp>
      <p:pic>
        <p:nvPicPr>
          <p:cNvPr id="5" name="Graphic 4" descr="Presentation with media with solid fill">
            <a:hlinkClick r:id="rId3"/>
            <a:extLst>
              <a:ext uri="{FF2B5EF4-FFF2-40B4-BE49-F238E27FC236}">
                <a16:creationId xmlns:a16="http://schemas.microsoft.com/office/drawing/2014/main" id="{85434DA9-8CC8-4CD1-BF40-BC263587565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2856" y="56443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244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0F6148-D459-4331-9B86-AB3FD2380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Read the Resource Sheet</a:t>
            </a:r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8D593108-D955-4132-9C5E-7F2FDA83C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944462">
            <a:off x="6062759" y="643466"/>
            <a:ext cx="4209814" cy="55687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5064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0F6148-D459-4331-9B86-AB3FD2380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Complete Activity sheet – Native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42AB75-136D-4C03-A86A-A717E8B13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12597">
            <a:off x="6230934" y="628649"/>
            <a:ext cx="4210050" cy="5600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9841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0B6A-E002-47AE-BAD8-F4C4165FC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Native Title 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275E0-66E7-4377-A4BA-DE1C43D7D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156"/>
            <a:ext cx="3826790" cy="960896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Watch this review of the Mabo case.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DA493-6AAB-492C-8344-AD61D5F155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884"/>
          <a:stretch/>
        </p:blipFill>
        <p:spPr>
          <a:xfrm>
            <a:off x="5192094" y="2329656"/>
            <a:ext cx="629215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7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0F6148-D459-4331-9B86-AB3FD2380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Complete Activity sheet – Native Title Act 1993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1F9DB-9AC8-40C5-8BC8-27F6C438A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14304">
            <a:off x="6282299" y="525935"/>
            <a:ext cx="4038600" cy="55911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97159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urray Island, Queensland - Wikipedia">
            <a:extLst>
              <a:ext uri="{FF2B5EF4-FFF2-40B4-BE49-F238E27FC236}">
                <a16:creationId xmlns:a16="http://schemas.microsoft.com/office/drawing/2014/main" id="{BA500D47-6C1E-4028-96D5-4B9D7C0B79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11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E21469-03DC-4019-BE06-D5780FFF5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17749" y="964272"/>
            <a:ext cx="5183188" cy="823912"/>
          </a:xfrm>
        </p:spPr>
        <p:txBody>
          <a:bodyPr>
            <a:normAutofit/>
          </a:bodyPr>
          <a:lstStyle/>
          <a:p>
            <a:r>
              <a:rPr lang="en-AU" sz="3200" dirty="0"/>
              <a:t>Success Criteria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46BD93-5413-4C30-A7DF-A51604F2A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17749" y="2247254"/>
            <a:ext cx="5183188" cy="322551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I can…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Explain the meaning of Terra Nullius</a:t>
            </a:r>
          </a:p>
          <a:p>
            <a:r>
              <a:rPr lang="en-AU" dirty="0"/>
              <a:t>Outline the impact of the Mabo decision on native title</a:t>
            </a:r>
          </a:p>
        </p:txBody>
      </p:sp>
    </p:spTree>
    <p:extLst>
      <p:ext uri="{BB962C8B-B14F-4D97-AF65-F5344CB8AC3E}">
        <p14:creationId xmlns:p14="http://schemas.microsoft.com/office/powerpoint/2010/main" val="1139853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290</Words>
  <Application>Microsoft Office PowerPoint</Application>
  <PresentationFormat>Widescreen</PresentationFormat>
  <Paragraphs>37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Office Theme</vt:lpstr>
      <vt:lpstr>The Mabo Decision</vt:lpstr>
      <vt:lpstr>PowerPoint Presentation</vt:lpstr>
      <vt:lpstr>Aims, tactics  and outcomes</vt:lpstr>
      <vt:lpstr>Native Title</vt:lpstr>
      <vt:lpstr>Watch: First Australians –  We Are No Longer Shadows</vt:lpstr>
      <vt:lpstr>Read the Resource Sheet</vt:lpstr>
      <vt:lpstr>Complete Activity sheet – Native title</vt:lpstr>
      <vt:lpstr>Native Title Act</vt:lpstr>
      <vt:lpstr>Complete Activity sheet – Native Title Act 1993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Mabo Decision</dc:title>
  <dc:creator>Wendy Sargeantson</dc:creator>
  <cp:lastModifiedBy>RINTOUL Brooke [Narrogin Senior High School]</cp:lastModifiedBy>
  <cp:revision>4</cp:revision>
  <dcterms:created xsi:type="dcterms:W3CDTF">2021-10-12T13:04:58Z</dcterms:created>
  <dcterms:modified xsi:type="dcterms:W3CDTF">2023-04-03T11:18:02Z</dcterms:modified>
</cp:coreProperties>
</file>
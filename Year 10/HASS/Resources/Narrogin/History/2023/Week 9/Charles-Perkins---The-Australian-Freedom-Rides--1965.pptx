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5"/>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37"/>
  </p:normalViewPr>
  <p:slideViewPr>
    <p:cSldViewPr snapToGrid="0">
      <p:cViewPr varScale="1">
        <p:scale>
          <a:sx n="144" d="100"/>
          <a:sy n="144" d="100"/>
        </p:scale>
        <p:origin x="654" y="11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charles-perkins.wikidot.com/freedom-ride-accomplishments"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nma.gov.au/__data/assets/pdf_file/0009/697158/violence-explodes-in-racist-town.pdf"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f61d0efc71_1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f61d0efc71_1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f61d0efc71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f61d0efc71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f61d0efc71_1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f61d0efc71_1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f61d0efc71_1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f61d0efc71_1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f61d0efc71_1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f61d0efc71_1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f61d0efc71_1_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f61d0efc71_1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f61d0efc71_1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f61d0efc71_1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u="sng">
                <a:solidFill>
                  <a:schemeClr val="hlink"/>
                </a:solidFill>
                <a:hlinkClick r:id="rId3"/>
              </a:rPr>
              <a:t>http://charles-perkins.wikidot.com/freedom-ride-accomplishments</a:t>
            </a:r>
            <a:r>
              <a:rPr lang="en-GB"/>
              <a:t>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f61d0efc71_1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f61d0efc71_1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f61d0efc71_1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f61d0efc71_1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f61d0efc71_1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f61d0efc71_1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u="sng">
                <a:solidFill>
                  <a:schemeClr val="hlink"/>
                </a:solidFill>
                <a:hlinkClick r:id="rId3"/>
              </a:rPr>
              <a:t>https://www.nma.gov.au/__data/assets/pdf_file/0009/697158/violence-explodes-in-racist-town.pdf</a:t>
            </a:r>
            <a:r>
              <a:rPr lang="en-GB"/>
              <a:t>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f61d0efc71_1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f61d0efc71_1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f61d0efc71_1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f61d0efc71_1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www.youtube.com/watch?v=lV4syIhRAdI"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hyperlink" Target="http://www.youtube.com/watch?v=ou0KMWmpmPE" TargetMode="External"/><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7.jp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147600" y="222025"/>
            <a:ext cx="8907000" cy="17352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GB"/>
              <a:t>Charles Perkins &amp; The Australian Freedom Rides, 1965</a:t>
            </a:r>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56" name="Google Shape;56;p13"/>
          <p:cNvPicPr preferRelativeResize="0"/>
          <p:nvPr/>
        </p:nvPicPr>
        <p:blipFill>
          <a:blip r:embed="rId3">
            <a:alphaModFix/>
          </a:blip>
          <a:stretch>
            <a:fillRect/>
          </a:stretch>
        </p:blipFill>
        <p:spPr>
          <a:xfrm>
            <a:off x="90738" y="3010845"/>
            <a:ext cx="2635657" cy="2052600"/>
          </a:xfrm>
          <a:prstGeom prst="rect">
            <a:avLst/>
          </a:prstGeom>
          <a:noFill/>
          <a:ln>
            <a:noFill/>
          </a:ln>
        </p:spPr>
      </p:pic>
      <p:pic>
        <p:nvPicPr>
          <p:cNvPr id="57" name="Google Shape;57;p13"/>
          <p:cNvPicPr preferRelativeResize="0"/>
          <p:nvPr/>
        </p:nvPicPr>
        <p:blipFill>
          <a:blip r:embed="rId4">
            <a:alphaModFix/>
          </a:blip>
          <a:stretch>
            <a:fillRect/>
          </a:stretch>
        </p:blipFill>
        <p:spPr>
          <a:xfrm>
            <a:off x="5635163" y="2834125"/>
            <a:ext cx="3277384" cy="2142600"/>
          </a:xfrm>
          <a:prstGeom prst="rect">
            <a:avLst/>
          </a:prstGeom>
          <a:noFill/>
          <a:ln>
            <a:noFill/>
          </a:ln>
        </p:spPr>
      </p:pic>
      <p:pic>
        <p:nvPicPr>
          <p:cNvPr id="58" name="Google Shape;58;p13"/>
          <p:cNvPicPr preferRelativeResize="0"/>
          <p:nvPr/>
        </p:nvPicPr>
        <p:blipFill>
          <a:blip r:embed="rId5">
            <a:alphaModFix/>
          </a:blip>
          <a:stretch>
            <a:fillRect/>
          </a:stretch>
        </p:blipFill>
        <p:spPr>
          <a:xfrm>
            <a:off x="2871088" y="3165600"/>
            <a:ext cx="2619375" cy="1743075"/>
          </a:xfrm>
          <a:prstGeom prst="rect">
            <a:avLst/>
          </a:prstGeom>
          <a:noFill/>
          <a:ln>
            <a:noFill/>
          </a:ln>
        </p:spPr>
      </p:pic>
      <p:sp>
        <p:nvSpPr>
          <p:cNvPr id="3" name="TextBox 2">
            <a:extLst>
              <a:ext uri="{FF2B5EF4-FFF2-40B4-BE49-F238E27FC236}">
                <a16:creationId xmlns:a16="http://schemas.microsoft.com/office/drawing/2014/main" id="{C9C4C53E-36C1-506A-32A7-25DD1FF39C51}"/>
              </a:ext>
            </a:extLst>
          </p:cNvPr>
          <p:cNvSpPr txBox="1"/>
          <p:nvPr/>
        </p:nvSpPr>
        <p:spPr>
          <a:xfrm>
            <a:off x="463163" y="1906823"/>
            <a:ext cx="4639586" cy="677108"/>
          </a:xfrm>
          <a:prstGeom prst="rect">
            <a:avLst/>
          </a:prstGeom>
          <a:noFill/>
        </p:spPr>
        <p:txBody>
          <a:bodyPr wrap="square">
            <a:spAutoFit/>
          </a:bodyPr>
          <a:lstStyle/>
          <a:p>
            <a:pPr marL="0" lvl="0" indent="0" algn="l" rtl="0">
              <a:spcBef>
                <a:spcPts val="0"/>
              </a:spcBef>
              <a:spcAft>
                <a:spcPts val="0"/>
              </a:spcAft>
              <a:buNone/>
            </a:pPr>
            <a:r>
              <a:rPr lang="en-GB" b="1" dirty="0">
                <a:solidFill>
                  <a:srgbClr val="C00000"/>
                </a:solidFill>
              </a:rPr>
              <a:t>Learning Intention:</a:t>
            </a:r>
          </a:p>
          <a:p>
            <a:pPr marL="0" lvl="0" indent="0" algn="l" rtl="0">
              <a:spcBef>
                <a:spcPts val="1200"/>
              </a:spcBef>
              <a:spcAft>
                <a:spcPts val="0"/>
              </a:spcAft>
              <a:buNone/>
            </a:pPr>
            <a:r>
              <a:rPr lang="en-GB" dirty="0">
                <a:solidFill>
                  <a:srgbClr val="C00000"/>
                </a:solidFill>
              </a:rPr>
              <a:t>To investigate the Australian Freedom Rides</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What were the Australian Freedom Rides?</a:t>
            </a:r>
            <a:endParaRPr/>
          </a:p>
        </p:txBody>
      </p:sp>
      <p:sp>
        <p:nvSpPr>
          <p:cNvPr id="69" name="Google Shape;69;p15"/>
          <p:cNvSpPr txBox="1">
            <a:spLocks noGrp="1"/>
          </p:cNvSpPr>
          <p:nvPr>
            <p:ph type="body" idx="1"/>
          </p:nvPr>
        </p:nvSpPr>
        <p:spPr>
          <a:xfrm>
            <a:off x="311700" y="1152475"/>
            <a:ext cx="3618900" cy="3416400"/>
          </a:xfrm>
          <a:prstGeom prst="rect">
            <a:avLst/>
          </a:prstGeom>
        </p:spPr>
        <p:txBody>
          <a:bodyPr spcFirstLastPara="1" wrap="square" lIns="91425" tIns="91425" rIns="91425" bIns="91425" anchor="t" anchorCtr="0">
            <a:normAutofit fontScale="85000" lnSpcReduction="10000"/>
          </a:bodyPr>
          <a:lstStyle/>
          <a:p>
            <a:pPr marL="0" lvl="0" indent="0" algn="l" rtl="0">
              <a:spcBef>
                <a:spcPts val="0"/>
              </a:spcBef>
              <a:spcAft>
                <a:spcPts val="0"/>
              </a:spcAft>
              <a:buNone/>
            </a:pPr>
            <a:r>
              <a:rPr lang="en-GB" b="1" dirty="0">
                <a:solidFill>
                  <a:srgbClr val="C00000"/>
                </a:solidFill>
              </a:rPr>
              <a:t>“In 1965, a group of students from the University of Sydney drew national and international attention to the appalling living conditions of Aboriginal people and the racism that was rife in New South Wales country towns. Known as the Freedom Ride, this 15-day bus journey through regional New South Wales would become a defining moment in Australian activism.” </a:t>
            </a:r>
            <a:endParaRPr b="1" dirty="0">
              <a:solidFill>
                <a:srgbClr val="C00000"/>
              </a:solidFill>
            </a:endParaRPr>
          </a:p>
          <a:p>
            <a:pPr marL="0" lvl="0" indent="0" algn="l" rtl="0">
              <a:spcBef>
                <a:spcPts val="1200"/>
              </a:spcBef>
              <a:spcAft>
                <a:spcPts val="1200"/>
              </a:spcAft>
              <a:buNone/>
            </a:pPr>
            <a:r>
              <a:rPr lang="en-GB" dirty="0"/>
              <a:t>(</a:t>
            </a:r>
            <a:r>
              <a:rPr lang="en-GB" dirty="0" err="1"/>
              <a:t>aiatsis.gov.au</a:t>
            </a:r>
            <a:r>
              <a:rPr lang="en-GB" dirty="0"/>
              <a:t>, 2021)</a:t>
            </a:r>
            <a:endParaRPr dirty="0"/>
          </a:p>
        </p:txBody>
      </p:sp>
      <p:pic>
        <p:nvPicPr>
          <p:cNvPr id="70" name="Google Shape;70;p15" descr="✎ Free Teacher Resources, See Below ↓&#10;Charlie Perkins is a famous indigenous activist who helped to draw attention to racial inequality and injustice in Australia. We find out more about his life and legacy. &#10; &#10;TEACHER RESOURCES &#10;Students will learn about the life and achievements of Charles Perkins. They will also investigate the changing rights and freedoms of Indigenous Australians. HASS - Year 4. Civics and Citizenship - Year 5. History - Year 6.&#10;https://www.abc.net.au/cm/lb/12870910/data/charlie-perkins-%25E2%2580%2593-teacher-resource-%28pdf%29-data.pdf &#10; &#10;BTN STORY PAGE &#10;https://www.abc.net.au/btn/classroom/charlie-perkins/12875378 &#10; &#10;RELATED BTN STORY &#10;Freedom Ride https://www.abc.net.au/btn/10527008 &#10; &#10;__________________________________________ &#10; &#10;Make sure to like &amp; subscribe our videos if you want to stay in the know! &#10;http://www.abc.net.au/btn/  &#10; &#10;Follow us on Social Media: &#10;Facebook: https://www.facebook.com/abcbtn  &#10;Instagram: https://www.instagram.com/behindthenews/  &#10;Twitter: https://twitter.com/behindthenews" title="Charlie Perkins - Behind the News">
            <a:hlinkClick r:id="rId3"/>
          </p:cNvPr>
          <p:cNvPicPr preferRelativeResize="0"/>
          <p:nvPr/>
        </p:nvPicPr>
        <p:blipFill>
          <a:blip r:embed="rId4">
            <a:alphaModFix/>
          </a:blip>
          <a:stretch>
            <a:fillRect/>
          </a:stretch>
        </p:blipFill>
        <p:spPr>
          <a:xfrm>
            <a:off x="4325300" y="1197425"/>
            <a:ext cx="4572000" cy="3429000"/>
          </a:xfrm>
          <a:prstGeom prst="rect">
            <a:avLst/>
          </a:prstGeom>
          <a:noFill/>
          <a:ln>
            <a:noFill/>
          </a:ln>
        </p:spPr>
      </p:pic>
      <p:sp>
        <p:nvSpPr>
          <p:cNvPr id="71" name="Google Shape;71;p15"/>
          <p:cNvSpPr txBox="1"/>
          <p:nvPr/>
        </p:nvSpPr>
        <p:spPr>
          <a:xfrm>
            <a:off x="4382875" y="4670675"/>
            <a:ext cx="1184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t>4 mins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fade">
                                      <p:cBhvr>
                                        <p:cTn id="7" dur="10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Who was Charles Perkins?</a:t>
            </a:r>
            <a:endParaRPr/>
          </a:p>
        </p:txBody>
      </p:sp>
      <p:sp>
        <p:nvSpPr>
          <p:cNvPr id="77" name="Google Shape;77;p16"/>
          <p:cNvSpPr txBox="1">
            <a:spLocks noGrp="1"/>
          </p:cNvSpPr>
          <p:nvPr>
            <p:ph type="body" idx="1"/>
          </p:nvPr>
        </p:nvSpPr>
        <p:spPr>
          <a:xfrm>
            <a:off x="380129" y="1130877"/>
            <a:ext cx="4836000" cy="3416400"/>
          </a:xfrm>
          <a:prstGeom prst="rect">
            <a:avLst/>
          </a:prstGeom>
        </p:spPr>
        <p:txBody>
          <a:bodyPr spcFirstLastPara="1" wrap="square" lIns="91425" tIns="91425" rIns="91425" bIns="91425" anchor="t" anchorCtr="0">
            <a:normAutofit fontScale="70000" lnSpcReduction="20000"/>
          </a:bodyPr>
          <a:lstStyle/>
          <a:p>
            <a:pPr marL="0" lvl="0" indent="0" algn="l" rtl="0">
              <a:spcBef>
                <a:spcPts val="600"/>
              </a:spcBef>
              <a:spcAft>
                <a:spcPts val="0"/>
              </a:spcAft>
              <a:buClr>
                <a:schemeClr val="dk1"/>
              </a:buClr>
              <a:buSzPct val="62857"/>
              <a:buFont typeface="Arial"/>
              <a:buNone/>
            </a:pPr>
            <a:r>
              <a:rPr lang="en-GB" sz="1750" dirty="0">
                <a:solidFill>
                  <a:srgbClr val="B13F9A"/>
                </a:solidFill>
              </a:rPr>
              <a:t></a:t>
            </a:r>
            <a:r>
              <a:rPr lang="en-GB" sz="2400" dirty="0">
                <a:solidFill>
                  <a:schemeClr val="tx1"/>
                </a:solidFill>
                <a:latin typeface="Trebuchet MS"/>
                <a:ea typeface="Trebuchet MS"/>
                <a:cs typeface="Trebuchet MS"/>
                <a:sym typeface="Trebuchet MS"/>
              </a:rPr>
              <a:t>Charles Perkins was born in Alice Springs 1936.</a:t>
            </a:r>
            <a:endParaRPr sz="2400" dirty="0">
              <a:solidFill>
                <a:schemeClr val="tx1"/>
              </a:solidFill>
              <a:latin typeface="Trebuchet MS"/>
              <a:ea typeface="Trebuchet MS"/>
              <a:cs typeface="Trebuchet MS"/>
              <a:sym typeface="Trebuchet MS"/>
            </a:endParaRPr>
          </a:p>
          <a:p>
            <a:pPr marL="0" lvl="0" indent="0" algn="l" rtl="0">
              <a:spcBef>
                <a:spcPts val="600"/>
              </a:spcBef>
              <a:spcAft>
                <a:spcPts val="0"/>
              </a:spcAft>
              <a:buClr>
                <a:schemeClr val="dk1"/>
              </a:buClr>
              <a:buSzPct val="62857"/>
              <a:buFont typeface="Arial"/>
              <a:buNone/>
            </a:pPr>
            <a:r>
              <a:rPr lang="en-GB" sz="1750" dirty="0">
                <a:solidFill>
                  <a:schemeClr val="tx1"/>
                </a:solidFill>
              </a:rPr>
              <a:t></a:t>
            </a:r>
            <a:r>
              <a:rPr lang="en-GB" sz="2400" dirty="0">
                <a:solidFill>
                  <a:schemeClr val="tx1"/>
                </a:solidFill>
                <a:latin typeface="Trebuchet MS"/>
                <a:ea typeface="Trebuchet MS"/>
                <a:cs typeface="Trebuchet MS"/>
                <a:sym typeface="Trebuchet MS"/>
              </a:rPr>
              <a:t>He went to boarding school in Adelaide age </a:t>
            </a:r>
            <a:r>
              <a:rPr lang="en-GB" sz="2400" dirty="0">
                <a:solidFill>
                  <a:schemeClr val="dk1"/>
                </a:solidFill>
                <a:latin typeface="Trebuchet MS"/>
                <a:ea typeface="Trebuchet MS"/>
                <a:cs typeface="Trebuchet MS"/>
                <a:sym typeface="Trebuchet MS"/>
              </a:rPr>
              <a:t>10</a:t>
            </a:r>
            <a:endParaRPr sz="2400" dirty="0">
              <a:solidFill>
                <a:schemeClr val="dk1"/>
              </a:solidFill>
              <a:latin typeface="Trebuchet MS"/>
              <a:ea typeface="Trebuchet MS"/>
              <a:cs typeface="Trebuchet MS"/>
              <a:sym typeface="Trebuchet MS"/>
            </a:endParaRPr>
          </a:p>
          <a:p>
            <a:pPr marL="0" lvl="0" indent="0" algn="l" rtl="0">
              <a:spcBef>
                <a:spcPts val="600"/>
              </a:spcBef>
              <a:spcAft>
                <a:spcPts val="0"/>
              </a:spcAft>
              <a:buClr>
                <a:schemeClr val="dk1"/>
              </a:buClr>
              <a:buSzPct val="62857"/>
              <a:buFont typeface="Arial"/>
              <a:buNone/>
            </a:pPr>
            <a:r>
              <a:rPr lang="en-GB" sz="1750" dirty="0">
                <a:solidFill>
                  <a:srgbClr val="B13F9A"/>
                </a:solidFill>
              </a:rPr>
              <a:t></a:t>
            </a:r>
            <a:r>
              <a:rPr lang="en-GB" sz="2400" dirty="0">
                <a:solidFill>
                  <a:schemeClr val="dk1"/>
                </a:solidFill>
                <a:latin typeface="Trebuchet MS"/>
                <a:ea typeface="Trebuchet MS"/>
                <a:cs typeface="Trebuchet MS"/>
                <a:sym typeface="Trebuchet MS"/>
              </a:rPr>
              <a:t>A gifted soccer player he played professionally in both Australia and  UK.</a:t>
            </a:r>
            <a:endParaRPr sz="2400" dirty="0">
              <a:solidFill>
                <a:schemeClr val="dk1"/>
              </a:solidFill>
              <a:latin typeface="Trebuchet MS"/>
              <a:ea typeface="Trebuchet MS"/>
              <a:cs typeface="Trebuchet MS"/>
              <a:sym typeface="Trebuchet MS"/>
            </a:endParaRPr>
          </a:p>
          <a:p>
            <a:pPr marL="0" lvl="0" indent="0" algn="l" rtl="0">
              <a:spcBef>
                <a:spcPts val="600"/>
              </a:spcBef>
              <a:spcAft>
                <a:spcPts val="0"/>
              </a:spcAft>
              <a:buClr>
                <a:schemeClr val="dk1"/>
              </a:buClr>
              <a:buSzPct val="62857"/>
              <a:buFont typeface="Arial"/>
              <a:buNone/>
            </a:pPr>
            <a:r>
              <a:rPr lang="en-GB" sz="1750" dirty="0">
                <a:solidFill>
                  <a:srgbClr val="B13F9A"/>
                </a:solidFill>
              </a:rPr>
              <a:t></a:t>
            </a:r>
            <a:r>
              <a:rPr lang="en-GB" sz="2400" dirty="0">
                <a:solidFill>
                  <a:schemeClr val="dk1"/>
                </a:solidFill>
                <a:latin typeface="Trebuchet MS"/>
                <a:ea typeface="Trebuchet MS"/>
                <a:cs typeface="Trebuchet MS"/>
                <a:sym typeface="Trebuchet MS"/>
              </a:rPr>
              <a:t>He gave up playing for the English 1</a:t>
            </a:r>
            <a:r>
              <a:rPr lang="en-GB" sz="4000" baseline="30000" dirty="0">
                <a:solidFill>
                  <a:schemeClr val="dk1"/>
                </a:solidFill>
                <a:latin typeface="Trebuchet MS"/>
                <a:ea typeface="Trebuchet MS"/>
                <a:cs typeface="Trebuchet MS"/>
                <a:sym typeface="Trebuchet MS"/>
              </a:rPr>
              <a:t>st</a:t>
            </a:r>
            <a:r>
              <a:rPr lang="en-GB" sz="2400" dirty="0">
                <a:solidFill>
                  <a:schemeClr val="dk1"/>
                </a:solidFill>
                <a:latin typeface="Trebuchet MS"/>
                <a:ea typeface="Trebuchet MS"/>
                <a:cs typeface="Trebuchet MS"/>
                <a:sym typeface="Trebuchet MS"/>
              </a:rPr>
              <a:t> grade to return to Australia to become the 1</a:t>
            </a:r>
            <a:r>
              <a:rPr lang="en-GB" sz="4000" baseline="30000" dirty="0">
                <a:solidFill>
                  <a:schemeClr val="dk1"/>
                </a:solidFill>
                <a:latin typeface="Trebuchet MS"/>
                <a:ea typeface="Trebuchet MS"/>
                <a:cs typeface="Trebuchet MS"/>
                <a:sym typeface="Trebuchet MS"/>
              </a:rPr>
              <a:t>st</a:t>
            </a:r>
            <a:r>
              <a:rPr lang="en-GB" sz="2400" dirty="0">
                <a:solidFill>
                  <a:schemeClr val="dk1"/>
                </a:solidFill>
                <a:latin typeface="Trebuchet MS"/>
                <a:ea typeface="Trebuchet MS"/>
                <a:cs typeface="Trebuchet MS"/>
                <a:sym typeface="Trebuchet MS"/>
              </a:rPr>
              <a:t> Aboriginal student at Sydney Uni.</a:t>
            </a:r>
            <a:endParaRPr sz="2400" dirty="0">
              <a:solidFill>
                <a:schemeClr val="dk1"/>
              </a:solidFill>
              <a:latin typeface="Trebuchet MS"/>
              <a:ea typeface="Trebuchet MS"/>
              <a:cs typeface="Trebuchet MS"/>
              <a:sym typeface="Trebuchet MS"/>
            </a:endParaRPr>
          </a:p>
          <a:p>
            <a:pPr marL="0" lvl="0" indent="0" algn="l" rtl="0">
              <a:spcBef>
                <a:spcPts val="600"/>
              </a:spcBef>
              <a:spcAft>
                <a:spcPts val="0"/>
              </a:spcAft>
              <a:buClr>
                <a:schemeClr val="dk1"/>
              </a:buClr>
              <a:buSzPct val="62857"/>
              <a:buFont typeface="Arial"/>
              <a:buNone/>
            </a:pPr>
            <a:r>
              <a:rPr lang="en-GB" sz="1750" dirty="0">
                <a:solidFill>
                  <a:srgbClr val="B13F9A"/>
                </a:solidFill>
              </a:rPr>
              <a:t></a:t>
            </a:r>
            <a:r>
              <a:rPr lang="en-GB" sz="2400" dirty="0">
                <a:solidFill>
                  <a:schemeClr val="tx1"/>
                </a:solidFill>
                <a:latin typeface="Trebuchet MS"/>
                <a:ea typeface="Trebuchet MS"/>
                <a:cs typeface="Trebuchet MS"/>
                <a:sym typeface="Trebuchet MS"/>
              </a:rPr>
              <a:t>He was inspired by the Freedom Rides USA 1961</a:t>
            </a:r>
            <a:endParaRPr sz="2400" dirty="0">
              <a:solidFill>
                <a:schemeClr val="tx1"/>
              </a:solidFill>
              <a:latin typeface="Trebuchet MS"/>
              <a:ea typeface="Trebuchet MS"/>
              <a:cs typeface="Trebuchet MS"/>
              <a:sym typeface="Trebuchet MS"/>
            </a:endParaRPr>
          </a:p>
          <a:p>
            <a:pPr marL="0" lvl="0" indent="0" algn="l" rtl="0">
              <a:spcBef>
                <a:spcPts val="0"/>
              </a:spcBef>
              <a:spcAft>
                <a:spcPts val="1200"/>
              </a:spcAft>
              <a:buNone/>
            </a:pPr>
            <a:endParaRPr dirty="0"/>
          </a:p>
        </p:txBody>
      </p:sp>
      <p:sp>
        <p:nvSpPr>
          <p:cNvPr id="78" name="Google Shape;78;p16"/>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dirty="0"/>
          </a:p>
        </p:txBody>
      </p:sp>
      <p:pic>
        <p:nvPicPr>
          <p:cNvPr id="79" name="Google Shape;79;p16"/>
          <p:cNvPicPr preferRelativeResize="0"/>
          <p:nvPr/>
        </p:nvPicPr>
        <p:blipFill>
          <a:blip r:embed="rId3">
            <a:alphaModFix/>
          </a:blip>
          <a:stretch>
            <a:fillRect/>
          </a:stretch>
        </p:blipFill>
        <p:spPr>
          <a:xfrm>
            <a:off x="5599858" y="0"/>
            <a:ext cx="3544135" cy="51435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a:solidFill>
                  <a:schemeClr val="tx1"/>
                </a:solidFill>
              </a:rPr>
              <a:t>Student Action For Aborigines</a:t>
            </a:r>
            <a:endParaRPr dirty="0">
              <a:solidFill>
                <a:schemeClr val="tx1"/>
              </a:solidFill>
            </a:endParaRPr>
          </a:p>
        </p:txBody>
      </p:sp>
      <p:sp>
        <p:nvSpPr>
          <p:cNvPr id="85" name="Google Shape;85;p17"/>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fontScale="92500" lnSpcReduction="20000"/>
          </a:bodyPr>
          <a:lstStyle/>
          <a:p>
            <a:pPr marL="0" lvl="0" indent="0" algn="l" rtl="0">
              <a:spcBef>
                <a:spcPts val="600"/>
              </a:spcBef>
              <a:spcAft>
                <a:spcPts val="0"/>
              </a:spcAft>
              <a:buClr>
                <a:schemeClr val="dk1"/>
              </a:buClr>
              <a:buSzPct val="53658"/>
              <a:buFont typeface="Arial"/>
              <a:buNone/>
            </a:pPr>
            <a:r>
              <a:rPr lang="en-GB" sz="2050" dirty="0">
                <a:solidFill>
                  <a:srgbClr val="B13F9A"/>
                </a:solidFill>
              </a:rPr>
              <a:t></a:t>
            </a:r>
            <a:r>
              <a:rPr lang="en-GB" sz="2800" dirty="0">
                <a:solidFill>
                  <a:schemeClr val="tx1"/>
                </a:solidFill>
                <a:latin typeface="Trebuchet MS"/>
                <a:ea typeface="Trebuchet MS"/>
                <a:cs typeface="Trebuchet MS"/>
                <a:sym typeface="Trebuchet MS"/>
              </a:rPr>
              <a:t>Charles Perkins became the first Aboriginal person to graduate from Sydney University.</a:t>
            </a:r>
            <a:endParaRPr sz="2800" dirty="0">
              <a:solidFill>
                <a:schemeClr val="tx1"/>
              </a:solidFill>
              <a:latin typeface="Trebuchet MS"/>
              <a:ea typeface="Trebuchet MS"/>
              <a:cs typeface="Trebuchet MS"/>
              <a:sym typeface="Trebuchet MS"/>
            </a:endParaRPr>
          </a:p>
          <a:p>
            <a:pPr marL="0" lvl="0" indent="0" algn="l" rtl="0">
              <a:spcBef>
                <a:spcPts val="600"/>
              </a:spcBef>
              <a:spcAft>
                <a:spcPts val="0"/>
              </a:spcAft>
              <a:buClr>
                <a:schemeClr val="dk1"/>
              </a:buClr>
              <a:buSzPct val="53658"/>
              <a:buFont typeface="Arial"/>
              <a:buNone/>
            </a:pPr>
            <a:r>
              <a:rPr lang="en-GB" sz="2050" dirty="0">
                <a:solidFill>
                  <a:schemeClr val="tx1"/>
                </a:solidFill>
              </a:rPr>
              <a:t></a:t>
            </a:r>
            <a:r>
              <a:rPr lang="en-GB" sz="2800" dirty="0">
                <a:solidFill>
                  <a:schemeClr val="tx1"/>
                </a:solidFill>
                <a:latin typeface="Trebuchet MS"/>
                <a:ea typeface="Trebuchet MS"/>
                <a:cs typeface="Trebuchet MS"/>
                <a:sym typeface="Trebuchet MS"/>
              </a:rPr>
              <a:t>In 1964 he founded SAFA to campaign for Aboriginal rights around NSW.</a:t>
            </a:r>
            <a:endParaRPr sz="2800" dirty="0">
              <a:solidFill>
                <a:schemeClr val="tx1"/>
              </a:solidFill>
              <a:latin typeface="Trebuchet MS"/>
              <a:ea typeface="Trebuchet MS"/>
              <a:cs typeface="Trebuchet MS"/>
              <a:sym typeface="Trebuchet MS"/>
            </a:endParaRPr>
          </a:p>
          <a:p>
            <a:pPr marL="0" lvl="0" indent="0" algn="l" rtl="0">
              <a:spcBef>
                <a:spcPts val="0"/>
              </a:spcBef>
              <a:spcAft>
                <a:spcPts val="1200"/>
              </a:spcAft>
              <a:buNone/>
            </a:pPr>
            <a:endParaRPr dirty="0"/>
          </a:p>
        </p:txBody>
      </p:sp>
      <p:sp>
        <p:nvSpPr>
          <p:cNvPr id="86" name="Google Shape;86;p17"/>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87" name="Google Shape;87;p17"/>
          <p:cNvPicPr preferRelativeResize="0"/>
          <p:nvPr/>
        </p:nvPicPr>
        <p:blipFill>
          <a:blip r:embed="rId3">
            <a:alphaModFix/>
          </a:blip>
          <a:stretch>
            <a:fillRect/>
          </a:stretch>
        </p:blipFill>
        <p:spPr>
          <a:xfrm>
            <a:off x="4272725" y="1152475"/>
            <a:ext cx="4630350" cy="32813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Charles Perkins on the Freedom Rides </a:t>
            </a:r>
            <a:endParaRPr/>
          </a:p>
        </p:txBody>
      </p:sp>
      <p:sp>
        <p:nvSpPr>
          <p:cNvPr id="93" name="Google Shape;93;p18"/>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fontScale="85000" lnSpcReduction="10000"/>
          </a:bodyPr>
          <a:lstStyle/>
          <a:p>
            <a:pPr marL="0" lvl="0" indent="0" algn="l" rtl="0">
              <a:spcBef>
                <a:spcPts val="600"/>
              </a:spcBef>
              <a:spcAft>
                <a:spcPts val="0"/>
              </a:spcAft>
              <a:buClr>
                <a:schemeClr val="dk1"/>
              </a:buClr>
              <a:buSzPts val="1100"/>
              <a:buFont typeface="Arial"/>
              <a:buNone/>
            </a:pPr>
            <a:r>
              <a:rPr lang="en-GB" sz="2050" dirty="0">
                <a:solidFill>
                  <a:srgbClr val="B13F9A"/>
                </a:solidFill>
              </a:rPr>
              <a:t></a:t>
            </a:r>
            <a:r>
              <a:rPr lang="en-GB" sz="2800" dirty="0">
                <a:solidFill>
                  <a:schemeClr val="tx1"/>
                </a:solidFill>
                <a:latin typeface="Trebuchet MS"/>
                <a:ea typeface="Trebuchet MS"/>
                <a:cs typeface="Trebuchet MS"/>
                <a:sym typeface="Trebuchet MS"/>
              </a:rPr>
              <a:t>The Freedom Rides were designed to raise awareness of injustice towards Aboriginal people.</a:t>
            </a:r>
          </a:p>
          <a:p>
            <a:pPr marL="0" lvl="0" indent="0" algn="l" rtl="0">
              <a:spcBef>
                <a:spcPts val="600"/>
              </a:spcBef>
              <a:spcAft>
                <a:spcPts val="0"/>
              </a:spcAft>
              <a:buClr>
                <a:schemeClr val="dk1"/>
              </a:buClr>
              <a:buSzPts val="1100"/>
              <a:buFont typeface="Arial"/>
              <a:buNone/>
            </a:pPr>
            <a:r>
              <a:rPr lang="en-AU" sz="2800" dirty="0">
                <a:solidFill>
                  <a:schemeClr val="tx1"/>
                </a:solidFill>
                <a:latin typeface="Trebuchet MS"/>
              </a:rPr>
              <a:t>Expose the segregation and poor living conditions Aboriginal Australians had to endure</a:t>
            </a:r>
            <a:r>
              <a:rPr lang="en-AU" sz="2800" dirty="0">
                <a:solidFill>
                  <a:srgbClr val="C00000"/>
                </a:solidFill>
                <a:latin typeface="Trebuchet MS"/>
              </a:rPr>
              <a:t>.</a:t>
            </a:r>
          </a:p>
          <a:p>
            <a:pPr marL="0" lvl="0" indent="0" algn="l" rtl="0">
              <a:spcBef>
                <a:spcPts val="0"/>
              </a:spcBef>
              <a:spcAft>
                <a:spcPts val="1200"/>
              </a:spcAft>
              <a:buNone/>
            </a:pPr>
            <a:endParaRPr dirty="0"/>
          </a:p>
        </p:txBody>
      </p:sp>
      <p:sp>
        <p:nvSpPr>
          <p:cNvPr id="94" name="Google Shape;94;p18"/>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95" name="Google Shape;95;p18" title="Charles Perkins' 1965 Freedom Ride">
            <a:hlinkClick r:id="rId3"/>
          </p:cNvPr>
          <p:cNvPicPr preferRelativeResize="0"/>
          <p:nvPr/>
        </p:nvPicPr>
        <p:blipFill>
          <a:blip r:embed="rId4">
            <a:alphaModFix/>
          </a:blip>
          <a:stretch>
            <a:fillRect/>
          </a:stretch>
        </p:blipFill>
        <p:spPr>
          <a:xfrm>
            <a:off x="4311600" y="1064788"/>
            <a:ext cx="4690250" cy="3517688"/>
          </a:xfrm>
          <a:prstGeom prst="rect">
            <a:avLst/>
          </a:prstGeom>
          <a:noFill/>
          <a:ln>
            <a:noFill/>
          </a:ln>
        </p:spPr>
      </p:pic>
      <p:sp>
        <p:nvSpPr>
          <p:cNvPr id="96" name="Google Shape;96;p18"/>
          <p:cNvSpPr txBox="1"/>
          <p:nvPr/>
        </p:nvSpPr>
        <p:spPr>
          <a:xfrm>
            <a:off x="4629550" y="4629550"/>
            <a:ext cx="912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t>2 mins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5"/>
                                        </p:tgtEl>
                                        <p:attrNameLst>
                                          <p:attrName>style.visibility</p:attrName>
                                        </p:attrNameLst>
                                      </p:cBhvr>
                                      <p:to>
                                        <p:strVal val="visible"/>
                                      </p:to>
                                    </p:set>
                                    <p:animEffect transition="in" filter="fade">
                                      <p:cBhvr>
                                        <p:cTn id="7" dur="1000"/>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The Freedom Route</a:t>
            </a:r>
            <a:endParaRPr/>
          </a:p>
        </p:txBody>
      </p:sp>
      <p:sp>
        <p:nvSpPr>
          <p:cNvPr id="102" name="Google Shape;102;p19"/>
          <p:cNvSpPr txBox="1">
            <a:spLocks noGrp="1"/>
          </p:cNvSpPr>
          <p:nvPr>
            <p:ph type="body" idx="1"/>
          </p:nvPr>
        </p:nvSpPr>
        <p:spPr>
          <a:xfrm>
            <a:off x="88550" y="1152475"/>
            <a:ext cx="4483500" cy="3416400"/>
          </a:xfrm>
          <a:prstGeom prst="rect">
            <a:avLst/>
          </a:prstGeom>
        </p:spPr>
        <p:txBody>
          <a:bodyPr spcFirstLastPara="1" wrap="square" lIns="91425" tIns="91425" rIns="91425" bIns="91425" anchor="t" anchorCtr="0">
            <a:normAutofit fontScale="77500" lnSpcReduction="20000"/>
          </a:bodyPr>
          <a:lstStyle/>
          <a:p>
            <a:pPr marL="0" lvl="0" indent="0" algn="l" rtl="0">
              <a:spcBef>
                <a:spcPts val="600"/>
              </a:spcBef>
              <a:spcAft>
                <a:spcPts val="0"/>
              </a:spcAft>
              <a:buClr>
                <a:schemeClr val="dk1"/>
              </a:buClr>
              <a:buSzPct val="53658"/>
              <a:buFont typeface="Arial"/>
              <a:buNone/>
            </a:pPr>
            <a:r>
              <a:rPr lang="en-GB" sz="2050" dirty="0">
                <a:solidFill>
                  <a:srgbClr val="B13F9A"/>
                </a:solidFill>
              </a:rPr>
              <a:t></a:t>
            </a:r>
            <a:r>
              <a:rPr lang="en-GB" sz="2800" dirty="0">
                <a:solidFill>
                  <a:schemeClr val="dk1"/>
                </a:solidFill>
                <a:latin typeface="Trebuchet MS"/>
                <a:ea typeface="Trebuchet MS"/>
                <a:cs typeface="Trebuchet MS"/>
                <a:sym typeface="Trebuchet MS"/>
              </a:rPr>
              <a:t>The SAFA students were a mixed group of men and women , some were Communists others were Christians,- All 29 wanted justice for Aboriginal people.</a:t>
            </a:r>
            <a:endParaRPr sz="2800" dirty="0">
              <a:solidFill>
                <a:schemeClr val="dk1"/>
              </a:solidFill>
              <a:latin typeface="Trebuchet MS"/>
              <a:ea typeface="Trebuchet MS"/>
              <a:cs typeface="Trebuchet MS"/>
              <a:sym typeface="Trebuchet MS"/>
            </a:endParaRPr>
          </a:p>
          <a:p>
            <a:pPr marL="0" lvl="0" indent="0" algn="l" rtl="0">
              <a:spcBef>
                <a:spcPts val="600"/>
              </a:spcBef>
              <a:spcAft>
                <a:spcPts val="0"/>
              </a:spcAft>
              <a:buClr>
                <a:schemeClr val="dk1"/>
              </a:buClr>
              <a:buSzPct val="53658"/>
              <a:buFont typeface="Arial"/>
              <a:buNone/>
            </a:pPr>
            <a:r>
              <a:rPr lang="en-GB" sz="2050" dirty="0">
                <a:solidFill>
                  <a:srgbClr val="B13F9A"/>
                </a:solidFill>
              </a:rPr>
              <a:t></a:t>
            </a:r>
            <a:r>
              <a:rPr lang="en-GB" sz="2800" dirty="0">
                <a:solidFill>
                  <a:schemeClr val="tx1"/>
                </a:solidFill>
                <a:latin typeface="Trebuchet MS"/>
                <a:ea typeface="Trebuchet MS"/>
                <a:cs typeface="Trebuchet MS"/>
                <a:sym typeface="Trebuchet MS"/>
              </a:rPr>
              <a:t>Their route included West and Northern NSW and </a:t>
            </a:r>
            <a:r>
              <a:rPr lang="en-GB" sz="2800" dirty="0" err="1">
                <a:solidFill>
                  <a:schemeClr val="tx1"/>
                </a:solidFill>
                <a:latin typeface="Trebuchet MS"/>
                <a:ea typeface="Trebuchet MS"/>
                <a:cs typeface="Trebuchet MS"/>
                <a:sym typeface="Trebuchet MS"/>
              </a:rPr>
              <a:t>Goondiwindi</a:t>
            </a:r>
            <a:r>
              <a:rPr lang="en-GB" sz="2800" dirty="0">
                <a:solidFill>
                  <a:schemeClr val="tx1"/>
                </a:solidFill>
                <a:latin typeface="Trebuchet MS"/>
                <a:ea typeface="Trebuchet MS"/>
                <a:cs typeface="Trebuchet MS"/>
                <a:sym typeface="Trebuchet MS"/>
              </a:rPr>
              <a:t> in Queensland.</a:t>
            </a:r>
            <a:endParaRPr sz="2800" dirty="0">
              <a:solidFill>
                <a:schemeClr val="tx1"/>
              </a:solidFill>
              <a:latin typeface="Trebuchet MS"/>
              <a:ea typeface="Trebuchet MS"/>
              <a:cs typeface="Trebuchet MS"/>
              <a:sym typeface="Trebuchet MS"/>
            </a:endParaRPr>
          </a:p>
          <a:p>
            <a:pPr marL="0" lvl="0" indent="0" algn="l" rtl="0">
              <a:spcBef>
                <a:spcPts val="0"/>
              </a:spcBef>
              <a:spcAft>
                <a:spcPts val="1200"/>
              </a:spcAft>
              <a:buNone/>
            </a:pPr>
            <a:endParaRPr dirty="0"/>
          </a:p>
        </p:txBody>
      </p:sp>
      <p:sp>
        <p:nvSpPr>
          <p:cNvPr id="103" name="Google Shape;103;p19"/>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04" name="Google Shape;104;p19"/>
          <p:cNvPicPr preferRelativeResize="0"/>
          <p:nvPr/>
        </p:nvPicPr>
        <p:blipFill>
          <a:blip r:embed="rId3">
            <a:alphaModFix/>
          </a:blip>
          <a:stretch>
            <a:fillRect/>
          </a:stretch>
        </p:blipFill>
        <p:spPr>
          <a:xfrm>
            <a:off x="5071009" y="0"/>
            <a:ext cx="4072983" cy="5143500"/>
          </a:xfrm>
          <a:prstGeom prst="rect">
            <a:avLst/>
          </a:prstGeom>
          <a:noFill/>
          <a:ln>
            <a:noFill/>
          </a:ln>
        </p:spPr>
      </p:pic>
      <p:sp>
        <p:nvSpPr>
          <p:cNvPr id="105" name="Google Shape;105;p19"/>
          <p:cNvSpPr/>
          <p:nvPr/>
        </p:nvSpPr>
        <p:spPr>
          <a:xfrm rot="-3001410">
            <a:off x="4349959" y="3386454"/>
            <a:ext cx="695282" cy="665897"/>
          </a:xfrm>
          <a:prstGeom prst="bentArrow">
            <a:avLst>
              <a:gd name="adj1" fmla="val 25000"/>
              <a:gd name="adj2" fmla="val 25000"/>
              <a:gd name="adj3" fmla="val 25000"/>
              <a:gd name="adj4" fmla="val 43750"/>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9"/>
          <p:cNvSpPr txBox="1"/>
          <p:nvPr/>
        </p:nvSpPr>
        <p:spPr>
          <a:xfrm>
            <a:off x="184500" y="4486725"/>
            <a:ext cx="48189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t>Map Source: Curthoys A. Freedom Ride A Freedom rider remembers. Allen and Unwin, Sydney, 2002</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0"/>
          <p:cNvSpPr txBox="1">
            <a:spLocks noGrp="1"/>
          </p:cNvSpPr>
          <p:nvPr>
            <p:ph type="title"/>
          </p:nvPr>
        </p:nvSpPr>
        <p:spPr>
          <a:xfrm>
            <a:off x="51650" y="445025"/>
            <a:ext cx="87807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Early stages of the Freedom Rides </a:t>
            </a:r>
            <a:endParaRPr/>
          </a:p>
        </p:txBody>
      </p:sp>
      <p:sp>
        <p:nvSpPr>
          <p:cNvPr id="112" name="Google Shape;112;p20"/>
          <p:cNvSpPr txBox="1">
            <a:spLocks noGrp="1"/>
          </p:cNvSpPr>
          <p:nvPr>
            <p:ph type="body" idx="1"/>
          </p:nvPr>
        </p:nvSpPr>
        <p:spPr>
          <a:xfrm>
            <a:off x="132825" y="1152475"/>
            <a:ext cx="4781700" cy="3416400"/>
          </a:xfrm>
          <a:prstGeom prst="rect">
            <a:avLst/>
          </a:prstGeom>
        </p:spPr>
        <p:txBody>
          <a:bodyPr spcFirstLastPara="1" wrap="square" lIns="91425" tIns="91425" rIns="91425" bIns="91425" anchor="t" anchorCtr="0">
            <a:noAutofit/>
          </a:bodyPr>
          <a:lstStyle/>
          <a:p>
            <a:pPr marL="0" lvl="0" indent="0" algn="l" rtl="0">
              <a:lnSpc>
                <a:spcPct val="105000"/>
              </a:lnSpc>
              <a:spcBef>
                <a:spcPts val="0"/>
              </a:spcBef>
              <a:spcAft>
                <a:spcPts val="0"/>
              </a:spcAft>
              <a:buSzPts val="852"/>
              <a:buNone/>
            </a:pPr>
            <a:r>
              <a:rPr lang="en-GB" sz="1285">
                <a:solidFill>
                  <a:schemeClr val="dk1"/>
                </a:solidFill>
                <a:latin typeface="Trebuchet MS"/>
                <a:ea typeface="Trebuchet MS"/>
                <a:cs typeface="Trebuchet MS"/>
                <a:sym typeface="Trebuchet MS"/>
              </a:rPr>
              <a:t>“</a:t>
            </a:r>
            <a:r>
              <a:rPr lang="en-GB" sz="1285" b="1">
                <a:solidFill>
                  <a:schemeClr val="dk1"/>
                </a:solidFill>
                <a:latin typeface="Trebuchet MS"/>
                <a:ea typeface="Trebuchet MS"/>
                <a:cs typeface="Trebuchet MS"/>
                <a:sym typeface="Trebuchet MS"/>
              </a:rPr>
              <a:t>12th February 1965 - </a:t>
            </a:r>
            <a:r>
              <a:rPr lang="en-GB" sz="1285">
                <a:solidFill>
                  <a:schemeClr val="dk1"/>
                </a:solidFill>
                <a:latin typeface="Trebuchet MS"/>
                <a:ea typeface="Trebuchet MS"/>
                <a:cs typeface="Trebuchet MS"/>
                <a:sym typeface="Trebuchet MS"/>
              </a:rPr>
              <a:t>The Freedom Rides set off from Sydney at night on the 12th of February 1965 with a bus load of students 30, primarily from Sydney University.</a:t>
            </a:r>
            <a:endParaRPr sz="1285">
              <a:solidFill>
                <a:schemeClr val="dk1"/>
              </a:solidFill>
              <a:latin typeface="Trebuchet MS"/>
              <a:ea typeface="Trebuchet MS"/>
              <a:cs typeface="Trebuchet MS"/>
              <a:sym typeface="Trebuchet MS"/>
            </a:endParaRPr>
          </a:p>
          <a:p>
            <a:pPr marL="0" lvl="0" indent="0" algn="l" rtl="0">
              <a:lnSpc>
                <a:spcPct val="105000"/>
              </a:lnSpc>
              <a:spcBef>
                <a:spcPts val="1200"/>
              </a:spcBef>
              <a:spcAft>
                <a:spcPts val="0"/>
              </a:spcAft>
              <a:buSzPts val="852"/>
              <a:buNone/>
            </a:pPr>
            <a:r>
              <a:rPr lang="en-GB" sz="1285" b="1">
                <a:solidFill>
                  <a:schemeClr val="dk1"/>
                </a:solidFill>
                <a:latin typeface="Trebuchet MS"/>
                <a:ea typeface="Trebuchet MS"/>
                <a:cs typeface="Trebuchet MS"/>
                <a:sym typeface="Trebuchet MS"/>
              </a:rPr>
              <a:t>13th February 1965 -</a:t>
            </a:r>
            <a:r>
              <a:rPr lang="en-GB" sz="1285">
                <a:solidFill>
                  <a:schemeClr val="dk1"/>
                </a:solidFill>
                <a:latin typeface="Trebuchet MS"/>
                <a:ea typeface="Trebuchet MS"/>
                <a:cs typeface="Trebuchet MS"/>
                <a:sym typeface="Trebuchet MS"/>
              </a:rPr>
              <a:t> First stop of the bus tour was Wellington. No protests were carried out, but surveys were carried out which affirmed views on Aboriginal discrimination. Aboriginal and white living standards were also taken note of.</a:t>
            </a:r>
            <a:endParaRPr sz="1285">
              <a:solidFill>
                <a:schemeClr val="dk1"/>
              </a:solidFill>
              <a:latin typeface="Trebuchet MS"/>
              <a:ea typeface="Trebuchet MS"/>
              <a:cs typeface="Trebuchet MS"/>
              <a:sym typeface="Trebuchet MS"/>
            </a:endParaRPr>
          </a:p>
          <a:p>
            <a:pPr marL="0" lvl="0" indent="0" algn="l" rtl="0">
              <a:lnSpc>
                <a:spcPct val="105000"/>
              </a:lnSpc>
              <a:spcBef>
                <a:spcPts val="1200"/>
              </a:spcBef>
              <a:spcAft>
                <a:spcPts val="0"/>
              </a:spcAft>
              <a:buSzPts val="852"/>
              <a:buNone/>
            </a:pPr>
            <a:r>
              <a:rPr lang="en-GB" sz="1285" b="1">
                <a:solidFill>
                  <a:schemeClr val="dk1"/>
                </a:solidFill>
                <a:latin typeface="Trebuchet MS"/>
                <a:ea typeface="Trebuchet MS"/>
                <a:cs typeface="Trebuchet MS"/>
                <a:sym typeface="Trebuchet MS"/>
              </a:rPr>
              <a:t>14th February 1965 - </a:t>
            </a:r>
            <a:r>
              <a:rPr lang="en-GB" sz="1285">
                <a:solidFill>
                  <a:schemeClr val="dk1"/>
                </a:solidFill>
                <a:latin typeface="Trebuchet MS"/>
                <a:ea typeface="Trebuchet MS"/>
                <a:cs typeface="Trebuchet MS"/>
                <a:sym typeface="Trebuchet MS"/>
              </a:rPr>
              <a:t>Again, no protests were carried out and surveys were taken of living standards, etc. The results showed the overt discrimination shown against Aborigines, and concluded that the local population were actively segregating Aborigines and denying them access to rights and facilities.” [locations Dubbo to Gulargambone]</a:t>
            </a:r>
            <a:endParaRPr sz="1285">
              <a:solidFill>
                <a:schemeClr val="dk1"/>
              </a:solidFill>
              <a:latin typeface="Trebuchet MS"/>
              <a:ea typeface="Trebuchet MS"/>
              <a:cs typeface="Trebuchet MS"/>
              <a:sym typeface="Trebuchet MS"/>
            </a:endParaRPr>
          </a:p>
          <a:p>
            <a:pPr marL="0" lvl="0" indent="0" algn="l" rtl="0">
              <a:lnSpc>
                <a:spcPct val="105000"/>
              </a:lnSpc>
              <a:spcBef>
                <a:spcPts val="1200"/>
              </a:spcBef>
              <a:spcAft>
                <a:spcPts val="0"/>
              </a:spcAft>
              <a:buSzPts val="852"/>
              <a:buNone/>
            </a:pPr>
            <a:r>
              <a:rPr lang="en-GB" sz="1285">
                <a:solidFill>
                  <a:schemeClr val="dk1"/>
                </a:solidFill>
                <a:latin typeface="Trebuchet MS"/>
                <a:ea typeface="Trebuchet MS"/>
                <a:cs typeface="Trebuchet MS"/>
                <a:sym typeface="Trebuchet MS"/>
              </a:rPr>
              <a:t>(Charles-perkins, 2009)</a:t>
            </a:r>
            <a:endParaRPr sz="1285">
              <a:solidFill>
                <a:schemeClr val="dk1"/>
              </a:solidFill>
              <a:latin typeface="Trebuchet MS"/>
              <a:ea typeface="Trebuchet MS"/>
              <a:cs typeface="Trebuchet MS"/>
              <a:sym typeface="Trebuchet MS"/>
            </a:endParaRPr>
          </a:p>
          <a:p>
            <a:pPr marL="0" lvl="0" indent="0" algn="l" rtl="0">
              <a:lnSpc>
                <a:spcPct val="105000"/>
              </a:lnSpc>
              <a:spcBef>
                <a:spcPts val="1200"/>
              </a:spcBef>
              <a:spcAft>
                <a:spcPts val="1200"/>
              </a:spcAft>
              <a:buSzPts val="852"/>
              <a:buNone/>
            </a:pPr>
            <a:endParaRPr sz="1285">
              <a:solidFill>
                <a:schemeClr val="dk1"/>
              </a:solidFill>
              <a:latin typeface="Trebuchet MS"/>
              <a:ea typeface="Trebuchet MS"/>
              <a:cs typeface="Trebuchet MS"/>
              <a:sym typeface="Trebuchet MS"/>
            </a:endParaRPr>
          </a:p>
        </p:txBody>
      </p:sp>
      <p:pic>
        <p:nvPicPr>
          <p:cNvPr id="113" name="Google Shape;113;p20"/>
          <p:cNvPicPr preferRelativeResize="0"/>
          <p:nvPr/>
        </p:nvPicPr>
        <p:blipFill>
          <a:blip r:embed="rId3">
            <a:alphaModFix/>
          </a:blip>
          <a:stretch>
            <a:fillRect/>
          </a:stretch>
        </p:blipFill>
        <p:spPr>
          <a:xfrm>
            <a:off x="5071009" y="0"/>
            <a:ext cx="4072983" cy="5143500"/>
          </a:xfrm>
          <a:prstGeom prst="rect">
            <a:avLst/>
          </a:prstGeom>
          <a:noFill/>
          <a:ln>
            <a:noFill/>
          </a:ln>
        </p:spPr>
      </p:pic>
      <p:sp>
        <p:nvSpPr>
          <p:cNvPr id="114" name="Google Shape;114;p20"/>
          <p:cNvSpPr/>
          <p:nvPr/>
        </p:nvSpPr>
        <p:spPr>
          <a:xfrm>
            <a:off x="6930350" y="4479350"/>
            <a:ext cx="354300" cy="324600"/>
          </a:xfrm>
          <a:prstGeom prst="ellipse">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0"/>
          <p:cNvSpPr/>
          <p:nvPr/>
        </p:nvSpPr>
        <p:spPr>
          <a:xfrm>
            <a:off x="5643750" y="3524825"/>
            <a:ext cx="354300" cy="324600"/>
          </a:xfrm>
          <a:prstGeom prst="ellipse">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0"/>
          <p:cNvSpPr/>
          <p:nvPr/>
        </p:nvSpPr>
        <p:spPr>
          <a:xfrm>
            <a:off x="4999175" y="2571750"/>
            <a:ext cx="354300" cy="324600"/>
          </a:xfrm>
          <a:prstGeom prst="ellipse">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Walgett - Returned Servicemen’s League</a:t>
            </a:r>
            <a:endParaRPr/>
          </a:p>
        </p:txBody>
      </p:sp>
      <p:sp>
        <p:nvSpPr>
          <p:cNvPr id="122" name="Google Shape;122;p21"/>
          <p:cNvSpPr txBox="1">
            <a:spLocks noGrp="1"/>
          </p:cNvSpPr>
          <p:nvPr>
            <p:ph type="body" idx="2"/>
          </p:nvPr>
        </p:nvSpPr>
        <p:spPr>
          <a:xfrm>
            <a:off x="59025" y="981475"/>
            <a:ext cx="5142600" cy="40662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Clr>
                <a:schemeClr val="dk1"/>
              </a:buClr>
              <a:buSzPts val="1600"/>
              <a:buFont typeface="Trebuchet MS"/>
              <a:buChar char="❏"/>
            </a:pPr>
            <a:r>
              <a:rPr lang="en-GB" sz="1600" dirty="0">
                <a:solidFill>
                  <a:schemeClr val="dk1"/>
                </a:solidFill>
                <a:latin typeface="Trebuchet MS"/>
                <a:ea typeface="Trebuchet MS"/>
                <a:cs typeface="Trebuchet MS"/>
                <a:sym typeface="Trebuchet MS"/>
              </a:rPr>
              <a:t>The RSL club was the basis and symbol of the Australian ANZAC legend, which personified </a:t>
            </a:r>
            <a:r>
              <a:rPr lang="en-GB" sz="1600" dirty="0" err="1">
                <a:solidFill>
                  <a:schemeClr val="dk1"/>
                </a:solidFill>
                <a:latin typeface="Trebuchet MS"/>
                <a:ea typeface="Trebuchet MS"/>
                <a:cs typeface="Trebuchet MS"/>
                <a:sym typeface="Trebuchet MS"/>
              </a:rPr>
              <a:t>mateship</a:t>
            </a:r>
            <a:r>
              <a:rPr lang="en-GB" sz="1600" dirty="0">
                <a:solidFill>
                  <a:schemeClr val="dk1"/>
                </a:solidFill>
                <a:latin typeface="Trebuchet MS"/>
                <a:ea typeface="Trebuchet MS"/>
                <a:cs typeface="Trebuchet MS"/>
                <a:sym typeface="Trebuchet MS"/>
              </a:rPr>
              <a:t>, courage and nationhood. </a:t>
            </a:r>
            <a:endParaRPr sz="1600" dirty="0">
              <a:solidFill>
                <a:schemeClr val="dk1"/>
              </a:solidFill>
              <a:latin typeface="Trebuchet MS"/>
              <a:ea typeface="Trebuchet MS"/>
              <a:cs typeface="Trebuchet MS"/>
              <a:sym typeface="Trebuchet MS"/>
            </a:endParaRPr>
          </a:p>
          <a:p>
            <a:pPr marL="457200" lvl="0" indent="-330200" algn="l" rtl="0">
              <a:spcBef>
                <a:spcPts val="0"/>
              </a:spcBef>
              <a:spcAft>
                <a:spcPts val="0"/>
              </a:spcAft>
              <a:buClr>
                <a:schemeClr val="dk1"/>
              </a:buClr>
              <a:buSzPts val="1600"/>
              <a:buFont typeface="Trebuchet MS"/>
              <a:buChar char="❏"/>
            </a:pPr>
            <a:r>
              <a:rPr lang="en-GB" sz="1600" dirty="0">
                <a:solidFill>
                  <a:schemeClr val="dk1"/>
                </a:solidFill>
                <a:latin typeface="Trebuchet MS"/>
                <a:ea typeface="Trebuchet MS"/>
                <a:cs typeface="Trebuchet MS"/>
                <a:sym typeface="Trebuchet MS"/>
              </a:rPr>
              <a:t>However, this hospitality was not extended to Aboriginal ex-servicemen, who were only allowed to use RSL facilities on ANZAC day, or in worse cases not allowed in at all. </a:t>
            </a:r>
            <a:endParaRPr sz="1600" dirty="0">
              <a:solidFill>
                <a:schemeClr val="dk1"/>
              </a:solidFill>
              <a:latin typeface="Trebuchet MS"/>
              <a:ea typeface="Trebuchet MS"/>
              <a:cs typeface="Trebuchet MS"/>
              <a:sym typeface="Trebuchet MS"/>
            </a:endParaRPr>
          </a:p>
          <a:p>
            <a:pPr marL="457200" lvl="0" indent="-330200" algn="l" rtl="0">
              <a:spcBef>
                <a:spcPts val="0"/>
              </a:spcBef>
              <a:spcAft>
                <a:spcPts val="0"/>
              </a:spcAft>
              <a:buClr>
                <a:schemeClr val="dk1"/>
              </a:buClr>
              <a:buSzPts val="1600"/>
              <a:buFont typeface="Trebuchet MS"/>
              <a:buChar char="❏"/>
            </a:pPr>
            <a:r>
              <a:rPr lang="en-GB" sz="1600" dirty="0">
                <a:solidFill>
                  <a:schemeClr val="dk1"/>
                </a:solidFill>
                <a:latin typeface="Trebuchet MS"/>
                <a:ea typeface="Trebuchet MS"/>
                <a:cs typeface="Trebuchet MS"/>
                <a:sym typeface="Trebuchet MS"/>
              </a:rPr>
              <a:t>This protest was covered by the media which led to public pressure on the local council to amend the law.</a:t>
            </a:r>
            <a:endParaRPr sz="1600" dirty="0">
              <a:solidFill>
                <a:schemeClr val="dk1"/>
              </a:solidFill>
              <a:latin typeface="Trebuchet MS"/>
              <a:ea typeface="Trebuchet MS"/>
              <a:cs typeface="Trebuchet MS"/>
              <a:sym typeface="Trebuchet MS"/>
            </a:endParaRPr>
          </a:p>
          <a:p>
            <a:pPr marL="457200" lvl="0" indent="-330200" algn="l" rtl="0">
              <a:spcBef>
                <a:spcPts val="0"/>
              </a:spcBef>
              <a:spcAft>
                <a:spcPts val="0"/>
              </a:spcAft>
              <a:buClr>
                <a:schemeClr val="dk1"/>
              </a:buClr>
              <a:buSzPts val="1600"/>
              <a:buFont typeface="Trebuchet MS"/>
              <a:buChar char="❏"/>
            </a:pPr>
            <a:r>
              <a:rPr lang="en-GB" sz="1600" dirty="0">
                <a:solidFill>
                  <a:schemeClr val="dk1"/>
                </a:solidFill>
                <a:latin typeface="Trebuchet MS"/>
                <a:ea typeface="Trebuchet MS"/>
                <a:cs typeface="Trebuchet MS"/>
                <a:sym typeface="Trebuchet MS"/>
              </a:rPr>
              <a:t>By afternoon some Aboriginal people joined the protest</a:t>
            </a:r>
            <a:endParaRPr sz="1600" dirty="0">
              <a:solidFill>
                <a:schemeClr val="dk1"/>
              </a:solidFill>
              <a:latin typeface="Trebuchet MS"/>
              <a:ea typeface="Trebuchet MS"/>
              <a:cs typeface="Trebuchet MS"/>
              <a:sym typeface="Trebuchet MS"/>
            </a:endParaRPr>
          </a:p>
          <a:p>
            <a:pPr marL="457200" lvl="0" indent="-330200" algn="l" rtl="0">
              <a:spcBef>
                <a:spcPts val="0"/>
              </a:spcBef>
              <a:spcAft>
                <a:spcPts val="0"/>
              </a:spcAft>
              <a:buClr>
                <a:schemeClr val="dk1"/>
              </a:buClr>
              <a:buSzPts val="1600"/>
              <a:buFont typeface="Trebuchet MS"/>
              <a:buChar char="❏"/>
            </a:pPr>
            <a:r>
              <a:rPr lang="en-GB" sz="1600" dirty="0">
                <a:solidFill>
                  <a:schemeClr val="dk1"/>
                </a:solidFill>
                <a:latin typeface="Trebuchet MS"/>
                <a:ea typeface="Trebuchet MS"/>
                <a:cs typeface="Trebuchet MS"/>
                <a:sym typeface="Trebuchet MS"/>
              </a:rPr>
              <a:t>The protesters were run out of town and the bus run off the road.</a:t>
            </a:r>
            <a:endParaRPr sz="1600" dirty="0">
              <a:solidFill>
                <a:schemeClr val="dk1"/>
              </a:solidFill>
              <a:latin typeface="Trebuchet MS"/>
              <a:ea typeface="Trebuchet MS"/>
              <a:cs typeface="Trebuchet MS"/>
              <a:sym typeface="Trebuchet MS"/>
            </a:endParaRPr>
          </a:p>
        </p:txBody>
      </p:sp>
      <p:pic>
        <p:nvPicPr>
          <p:cNvPr id="123" name="Google Shape;123;p21"/>
          <p:cNvPicPr preferRelativeResize="0"/>
          <p:nvPr/>
        </p:nvPicPr>
        <p:blipFill>
          <a:blip r:embed="rId3">
            <a:alphaModFix/>
          </a:blip>
          <a:stretch>
            <a:fillRect/>
          </a:stretch>
        </p:blipFill>
        <p:spPr>
          <a:xfrm>
            <a:off x="5289975" y="1113125"/>
            <a:ext cx="3630875" cy="36172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Walgett - Cinema</a:t>
            </a:r>
            <a:endParaRPr/>
          </a:p>
        </p:txBody>
      </p:sp>
      <p:sp>
        <p:nvSpPr>
          <p:cNvPr id="129" name="Google Shape;129;p22"/>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fontScale="92500" lnSpcReduction="20000"/>
          </a:bodyPr>
          <a:lstStyle/>
          <a:p>
            <a:pPr marL="0" lvl="0" indent="0" algn="l" rtl="0">
              <a:spcBef>
                <a:spcPts val="600"/>
              </a:spcBef>
              <a:spcAft>
                <a:spcPts val="0"/>
              </a:spcAft>
              <a:buClr>
                <a:schemeClr val="dk1"/>
              </a:buClr>
              <a:buSzPct val="53658"/>
              <a:buFont typeface="Arial"/>
              <a:buNone/>
            </a:pPr>
            <a:r>
              <a:rPr lang="en-GB" sz="2050">
                <a:solidFill>
                  <a:srgbClr val="B13F9A"/>
                </a:solidFill>
              </a:rPr>
              <a:t></a:t>
            </a:r>
            <a:r>
              <a:rPr lang="en-GB" sz="2800">
                <a:solidFill>
                  <a:schemeClr val="dk1"/>
                </a:solidFill>
                <a:latin typeface="Trebuchet MS"/>
                <a:ea typeface="Trebuchet MS"/>
                <a:cs typeface="Trebuchet MS"/>
                <a:sym typeface="Trebuchet MS"/>
              </a:rPr>
              <a:t>The Cinema at Walgett was segregated- Blacks and Whites could not sit together.</a:t>
            </a:r>
            <a:endParaRPr sz="2800">
              <a:solidFill>
                <a:schemeClr val="dk1"/>
              </a:solidFill>
              <a:latin typeface="Trebuchet MS"/>
              <a:ea typeface="Trebuchet MS"/>
              <a:cs typeface="Trebuchet MS"/>
              <a:sym typeface="Trebuchet MS"/>
            </a:endParaRPr>
          </a:p>
          <a:p>
            <a:pPr marL="0" lvl="0" indent="0" algn="l" rtl="0">
              <a:spcBef>
                <a:spcPts val="600"/>
              </a:spcBef>
              <a:spcAft>
                <a:spcPts val="0"/>
              </a:spcAft>
              <a:buClr>
                <a:schemeClr val="dk1"/>
              </a:buClr>
              <a:buSzPct val="53658"/>
              <a:buFont typeface="Arial"/>
              <a:buNone/>
            </a:pPr>
            <a:r>
              <a:rPr lang="en-GB" sz="2050">
                <a:solidFill>
                  <a:srgbClr val="B13F9A"/>
                </a:solidFill>
              </a:rPr>
              <a:t></a:t>
            </a:r>
            <a:r>
              <a:rPr lang="en-GB" sz="2800">
                <a:solidFill>
                  <a:schemeClr val="dk1"/>
                </a:solidFill>
                <a:latin typeface="Trebuchet MS"/>
                <a:ea typeface="Trebuchet MS"/>
                <a:cs typeface="Trebuchet MS"/>
                <a:sym typeface="Trebuchet MS"/>
              </a:rPr>
              <a:t>The Freedom Riders went to the movies Black and White together – They were arrested.</a:t>
            </a:r>
            <a:endParaRPr sz="2800">
              <a:solidFill>
                <a:schemeClr val="dk1"/>
              </a:solidFill>
              <a:latin typeface="Trebuchet MS"/>
              <a:ea typeface="Trebuchet MS"/>
              <a:cs typeface="Trebuchet MS"/>
              <a:sym typeface="Trebuchet MS"/>
            </a:endParaRPr>
          </a:p>
          <a:p>
            <a:pPr marL="0" lvl="0" indent="0" algn="l" rtl="0">
              <a:spcBef>
                <a:spcPts val="0"/>
              </a:spcBef>
              <a:spcAft>
                <a:spcPts val="1200"/>
              </a:spcAft>
              <a:buNone/>
            </a:pPr>
            <a:endParaRPr/>
          </a:p>
        </p:txBody>
      </p:sp>
      <p:sp>
        <p:nvSpPr>
          <p:cNvPr id="130" name="Google Shape;130;p22"/>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31" name="Google Shape;131;p22"/>
          <p:cNvPicPr preferRelativeResize="0"/>
          <p:nvPr/>
        </p:nvPicPr>
        <p:blipFill>
          <a:blip r:embed="rId3">
            <a:alphaModFix/>
          </a:blip>
          <a:stretch>
            <a:fillRect/>
          </a:stretch>
        </p:blipFill>
        <p:spPr>
          <a:xfrm>
            <a:off x="4453425" y="1249588"/>
            <a:ext cx="4512900" cy="32221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Moree - Swimming Pool</a:t>
            </a:r>
            <a:endParaRPr/>
          </a:p>
        </p:txBody>
      </p:sp>
      <p:sp>
        <p:nvSpPr>
          <p:cNvPr id="137" name="Google Shape;137;p23"/>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fontScale="85000" lnSpcReduction="10000"/>
          </a:bodyPr>
          <a:lstStyle/>
          <a:p>
            <a:pPr marL="0" lvl="0" indent="0" algn="l" rtl="0">
              <a:spcBef>
                <a:spcPts val="600"/>
              </a:spcBef>
              <a:spcAft>
                <a:spcPts val="0"/>
              </a:spcAft>
              <a:buClr>
                <a:schemeClr val="dk1"/>
              </a:buClr>
              <a:buSzPct val="62857"/>
              <a:buFont typeface="Arial"/>
              <a:buNone/>
            </a:pPr>
            <a:r>
              <a:rPr lang="en-GB" sz="1750">
                <a:solidFill>
                  <a:srgbClr val="B13F9A"/>
                </a:solidFill>
              </a:rPr>
              <a:t></a:t>
            </a:r>
            <a:r>
              <a:rPr lang="en-GB" sz="2400">
                <a:solidFill>
                  <a:schemeClr val="dk1"/>
                </a:solidFill>
                <a:latin typeface="Trebuchet MS"/>
                <a:ea typeface="Trebuchet MS"/>
                <a:cs typeface="Trebuchet MS"/>
                <a:sym typeface="Trebuchet MS"/>
              </a:rPr>
              <a:t>Moree – Aboriginals were banned from the pool. The Freedom Riders took kids from the mission and talked the management into letting them in.</a:t>
            </a:r>
            <a:endParaRPr sz="2400">
              <a:solidFill>
                <a:schemeClr val="dk1"/>
              </a:solidFill>
              <a:latin typeface="Trebuchet MS"/>
              <a:ea typeface="Trebuchet MS"/>
              <a:cs typeface="Trebuchet MS"/>
              <a:sym typeface="Trebuchet MS"/>
            </a:endParaRPr>
          </a:p>
          <a:p>
            <a:pPr marL="0" lvl="0" indent="0" algn="l" rtl="0">
              <a:spcBef>
                <a:spcPts val="600"/>
              </a:spcBef>
              <a:spcAft>
                <a:spcPts val="0"/>
              </a:spcAft>
              <a:buClr>
                <a:schemeClr val="dk1"/>
              </a:buClr>
              <a:buSzPct val="62857"/>
              <a:buFont typeface="Arial"/>
              <a:buNone/>
            </a:pPr>
            <a:r>
              <a:rPr lang="en-GB" sz="1750">
                <a:solidFill>
                  <a:srgbClr val="B13F9A"/>
                </a:solidFill>
              </a:rPr>
              <a:t></a:t>
            </a:r>
            <a:r>
              <a:rPr lang="en-GB" sz="2400">
                <a:solidFill>
                  <a:schemeClr val="dk1"/>
                </a:solidFill>
                <a:latin typeface="Trebuchet MS"/>
                <a:ea typeface="Trebuchet MS"/>
                <a:cs typeface="Trebuchet MS"/>
                <a:sym typeface="Trebuchet MS"/>
              </a:rPr>
              <a:t>This is a photo of Charles Perkins swimming with the kids in Moree.</a:t>
            </a:r>
            <a:endParaRPr sz="2400">
              <a:solidFill>
                <a:schemeClr val="dk1"/>
              </a:solidFill>
              <a:latin typeface="Trebuchet MS"/>
              <a:ea typeface="Trebuchet MS"/>
              <a:cs typeface="Trebuchet MS"/>
              <a:sym typeface="Trebuchet MS"/>
            </a:endParaRPr>
          </a:p>
          <a:p>
            <a:pPr marL="0" lvl="0" indent="0" algn="l" rtl="0">
              <a:spcBef>
                <a:spcPts val="600"/>
              </a:spcBef>
              <a:spcAft>
                <a:spcPts val="0"/>
              </a:spcAft>
              <a:buClr>
                <a:schemeClr val="dk1"/>
              </a:buClr>
              <a:buSzPct val="62857"/>
              <a:buFont typeface="Arial"/>
              <a:buNone/>
            </a:pPr>
            <a:r>
              <a:rPr lang="en-GB" sz="1750">
                <a:solidFill>
                  <a:srgbClr val="B13F9A"/>
                </a:solidFill>
              </a:rPr>
              <a:t></a:t>
            </a:r>
            <a:r>
              <a:rPr lang="en-GB" sz="2400">
                <a:solidFill>
                  <a:schemeClr val="dk1"/>
                </a:solidFill>
                <a:latin typeface="Trebuchet MS"/>
                <a:ea typeface="Trebuchet MS"/>
                <a:cs typeface="Trebuchet MS"/>
                <a:sym typeface="Trebuchet MS"/>
              </a:rPr>
              <a:t>But was it going to last????????</a:t>
            </a:r>
            <a:endParaRPr sz="2400">
              <a:solidFill>
                <a:schemeClr val="dk1"/>
              </a:solidFill>
              <a:latin typeface="Trebuchet MS"/>
              <a:ea typeface="Trebuchet MS"/>
              <a:cs typeface="Trebuchet MS"/>
              <a:sym typeface="Trebuchet MS"/>
            </a:endParaRPr>
          </a:p>
          <a:p>
            <a:pPr marL="0" lvl="0" indent="0" algn="l" rtl="0">
              <a:spcBef>
                <a:spcPts val="0"/>
              </a:spcBef>
              <a:spcAft>
                <a:spcPts val="1200"/>
              </a:spcAft>
              <a:buNone/>
            </a:pPr>
            <a:endParaRPr/>
          </a:p>
        </p:txBody>
      </p:sp>
      <p:sp>
        <p:nvSpPr>
          <p:cNvPr id="138" name="Google Shape;138;p23"/>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39" name="Google Shape;139;p23"/>
          <p:cNvPicPr preferRelativeResize="0"/>
          <p:nvPr/>
        </p:nvPicPr>
        <p:blipFill>
          <a:blip r:embed="rId3">
            <a:alphaModFix/>
          </a:blip>
          <a:stretch>
            <a:fillRect/>
          </a:stretch>
        </p:blipFill>
        <p:spPr>
          <a:xfrm>
            <a:off x="4448675" y="825125"/>
            <a:ext cx="4335976" cy="37962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Moree Riot 1965 </a:t>
            </a:r>
            <a:endParaRPr/>
          </a:p>
        </p:txBody>
      </p:sp>
      <p:sp>
        <p:nvSpPr>
          <p:cNvPr id="145" name="Google Shape;145;p24"/>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fontScale="70000" lnSpcReduction="20000"/>
          </a:bodyPr>
          <a:lstStyle/>
          <a:p>
            <a:pPr marL="0" lvl="0" indent="0" algn="l" rtl="0">
              <a:spcBef>
                <a:spcPts val="600"/>
              </a:spcBef>
              <a:spcAft>
                <a:spcPts val="0"/>
              </a:spcAft>
              <a:buClr>
                <a:schemeClr val="dk1"/>
              </a:buClr>
              <a:buSzPct val="62857"/>
              <a:buFont typeface="Arial"/>
              <a:buNone/>
            </a:pPr>
            <a:r>
              <a:rPr lang="en-GB" sz="1750" dirty="0">
                <a:solidFill>
                  <a:srgbClr val="B13F9A"/>
                </a:solidFill>
              </a:rPr>
              <a:t></a:t>
            </a:r>
            <a:r>
              <a:rPr lang="en-GB" sz="2400" dirty="0">
                <a:solidFill>
                  <a:schemeClr val="dk1"/>
                </a:solidFill>
                <a:latin typeface="Trebuchet MS"/>
                <a:ea typeface="Trebuchet MS"/>
                <a:cs typeface="Trebuchet MS"/>
                <a:sym typeface="Trebuchet MS"/>
              </a:rPr>
              <a:t>The bus left </a:t>
            </a:r>
            <a:r>
              <a:rPr lang="en-GB" sz="2400" dirty="0" err="1">
                <a:solidFill>
                  <a:schemeClr val="dk1"/>
                </a:solidFill>
                <a:latin typeface="Trebuchet MS"/>
                <a:ea typeface="Trebuchet MS"/>
                <a:cs typeface="Trebuchet MS"/>
                <a:sym typeface="Trebuchet MS"/>
              </a:rPr>
              <a:t>Moree</a:t>
            </a:r>
            <a:endParaRPr sz="2400" dirty="0">
              <a:solidFill>
                <a:schemeClr val="dk1"/>
              </a:solidFill>
              <a:latin typeface="Trebuchet MS"/>
              <a:ea typeface="Trebuchet MS"/>
              <a:cs typeface="Trebuchet MS"/>
              <a:sym typeface="Trebuchet MS"/>
            </a:endParaRPr>
          </a:p>
          <a:p>
            <a:pPr marL="0" lvl="0" indent="0" algn="l" rtl="0">
              <a:spcBef>
                <a:spcPts val="600"/>
              </a:spcBef>
              <a:spcAft>
                <a:spcPts val="0"/>
              </a:spcAft>
              <a:buClr>
                <a:schemeClr val="dk1"/>
              </a:buClr>
              <a:buSzPct val="62857"/>
              <a:buFont typeface="Arial"/>
              <a:buNone/>
            </a:pPr>
            <a:r>
              <a:rPr lang="en-GB" sz="1750" dirty="0">
                <a:solidFill>
                  <a:srgbClr val="B13F9A"/>
                </a:solidFill>
              </a:rPr>
              <a:t></a:t>
            </a:r>
            <a:r>
              <a:rPr lang="en-GB" sz="2400" dirty="0">
                <a:solidFill>
                  <a:schemeClr val="dk1"/>
                </a:solidFill>
                <a:latin typeface="Trebuchet MS"/>
                <a:ea typeface="Trebuchet MS"/>
                <a:cs typeface="Trebuchet MS"/>
                <a:sym typeface="Trebuchet MS"/>
              </a:rPr>
              <a:t>The protestors rang to see if the pool was still OK for Aboriginal people.   ...Bad news</a:t>
            </a:r>
            <a:endParaRPr sz="2400" dirty="0">
              <a:solidFill>
                <a:schemeClr val="dk1"/>
              </a:solidFill>
              <a:latin typeface="Trebuchet MS"/>
              <a:ea typeface="Trebuchet MS"/>
              <a:cs typeface="Trebuchet MS"/>
              <a:sym typeface="Trebuchet MS"/>
            </a:endParaRPr>
          </a:p>
          <a:p>
            <a:pPr marL="0" lvl="0" indent="0" algn="l" rtl="0">
              <a:spcBef>
                <a:spcPts val="600"/>
              </a:spcBef>
              <a:spcAft>
                <a:spcPts val="0"/>
              </a:spcAft>
              <a:buClr>
                <a:schemeClr val="dk1"/>
              </a:buClr>
              <a:buSzPct val="62857"/>
              <a:buFont typeface="Arial"/>
              <a:buNone/>
            </a:pPr>
            <a:r>
              <a:rPr lang="en-GB" sz="1750" dirty="0">
                <a:solidFill>
                  <a:srgbClr val="B13F9A"/>
                </a:solidFill>
              </a:rPr>
              <a:t></a:t>
            </a:r>
            <a:r>
              <a:rPr lang="en-GB" sz="2400" dirty="0">
                <a:solidFill>
                  <a:schemeClr val="dk1"/>
                </a:solidFill>
                <a:latin typeface="Trebuchet MS"/>
                <a:ea typeface="Trebuchet MS"/>
                <a:cs typeface="Trebuchet MS"/>
                <a:sym typeface="Trebuchet MS"/>
              </a:rPr>
              <a:t>When the bus left – Aboriginal kids were banned again!</a:t>
            </a:r>
            <a:endParaRPr sz="2400" dirty="0">
              <a:solidFill>
                <a:schemeClr val="dk1"/>
              </a:solidFill>
              <a:latin typeface="Trebuchet MS"/>
              <a:ea typeface="Trebuchet MS"/>
              <a:cs typeface="Trebuchet MS"/>
              <a:sym typeface="Trebuchet MS"/>
            </a:endParaRPr>
          </a:p>
          <a:p>
            <a:pPr marL="0" lvl="0" indent="0" algn="l" rtl="0">
              <a:spcBef>
                <a:spcPts val="600"/>
              </a:spcBef>
              <a:spcAft>
                <a:spcPts val="0"/>
              </a:spcAft>
              <a:buClr>
                <a:schemeClr val="dk1"/>
              </a:buClr>
              <a:buSzPct val="62857"/>
              <a:buFont typeface="Arial"/>
              <a:buNone/>
            </a:pPr>
            <a:r>
              <a:rPr lang="en-GB" sz="1750" dirty="0">
                <a:solidFill>
                  <a:srgbClr val="B13F9A"/>
                </a:solidFill>
              </a:rPr>
              <a:t></a:t>
            </a:r>
            <a:r>
              <a:rPr lang="en-GB" sz="2400" dirty="0">
                <a:solidFill>
                  <a:schemeClr val="dk1"/>
                </a:solidFill>
                <a:latin typeface="Trebuchet MS"/>
                <a:ea typeface="Trebuchet MS"/>
                <a:cs typeface="Trebuchet MS"/>
                <a:sym typeface="Trebuchet MS"/>
              </a:rPr>
              <a:t>The bus went back and there was a riot</a:t>
            </a:r>
            <a:endParaRPr sz="2400" dirty="0">
              <a:solidFill>
                <a:schemeClr val="dk1"/>
              </a:solidFill>
              <a:latin typeface="Trebuchet MS"/>
              <a:ea typeface="Trebuchet MS"/>
              <a:cs typeface="Trebuchet MS"/>
              <a:sym typeface="Trebuchet MS"/>
            </a:endParaRPr>
          </a:p>
          <a:p>
            <a:pPr marL="0" lvl="0" indent="0" algn="l" rtl="0">
              <a:spcBef>
                <a:spcPts val="600"/>
              </a:spcBef>
              <a:spcAft>
                <a:spcPts val="0"/>
              </a:spcAft>
              <a:buClr>
                <a:schemeClr val="dk1"/>
              </a:buClr>
              <a:buSzPct val="62857"/>
              <a:buFont typeface="Arial"/>
              <a:buNone/>
            </a:pPr>
            <a:r>
              <a:rPr lang="en-GB" sz="1750" dirty="0">
                <a:solidFill>
                  <a:srgbClr val="B13F9A"/>
                </a:solidFill>
              </a:rPr>
              <a:t></a:t>
            </a:r>
            <a:r>
              <a:rPr lang="en-GB" sz="2400" dirty="0">
                <a:solidFill>
                  <a:schemeClr val="dk1"/>
                </a:solidFill>
                <a:latin typeface="Trebuchet MS"/>
                <a:ea typeface="Trebuchet MS"/>
                <a:cs typeface="Trebuchet MS"/>
                <a:sym typeface="Trebuchet MS"/>
              </a:rPr>
              <a:t>Aboriginal people were not allowed into the pool. Protestors were arrested</a:t>
            </a:r>
            <a:endParaRPr sz="2400" dirty="0">
              <a:solidFill>
                <a:schemeClr val="dk1"/>
              </a:solidFill>
              <a:latin typeface="Trebuchet MS"/>
              <a:ea typeface="Trebuchet MS"/>
              <a:cs typeface="Trebuchet MS"/>
              <a:sym typeface="Trebuchet MS"/>
            </a:endParaRPr>
          </a:p>
          <a:p>
            <a:pPr marL="0" lvl="0" indent="0" algn="l" rtl="0">
              <a:spcBef>
                <a:spcPts val="0"/>
              </a:spcBef>
              <a:spcAft>
                <a:spcPts val="1200"/>
              </a:spcAft>
              <a:buNone/>
            </a:pPr>
            <a:endParaRPr dirty="0"/>
          </a:p>
        </p:txBody>
      </p:sp>
      <p:sp>
        <p:nvSpPr>
          <p:cNvPr id="146" name="Google Shape;146;p24"/>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47" name="Google Shape;147;p24"/>
          <p:cNvPicPr preferRelativeResize="0"/>
          <p:nvPr/>
        </p:nvPicPr>
        <p:blipFill>
          <a:blip r:embed="rId3">
            <a:alphaModFix/>
          </a:blip>
          <a:stretch>
            <a:fillRect/>
          </a:stretch>
        </p:blipFill>
        <p:spPr>
          <a:xfrm>
            <a:off x="4380950" y="1547400"/>
            <a:ext cx="4520700" cy="3175472"/>
          </a:xfrm>
          <a:prstGeom prst="rect">
            <a:avLst/>
          </a:prstGeom>
          <a:noFill/>
          <a:ln w="9525" cap="flat" cmpd="sng">
            <a:solidFill>
              <a:schemeClr val="dk2"/>
            </a:solidFill>
            <a:prstDash val="solid"/>
            <a:round/>
            <a:headEnd type="none" w="sm" len="sm"/>
            <a:tailEnd type="none" w="sm" len="sm"/>
          </a:ln>
        </p:spPr>
      </p:pic>
      <p:sp>
        <p:nvSpPr>
          <p:cNvPr id="148" name="Google Shape;148;p24"/>
          <p:cNvSpPr txBox="1"/>
          <p:nvPr/>
        </p:nvSpPr>
        <p:spPr>
          <a:xfrm>
            <a:off x="4029200" y="4722875"/>
            <a:ext cx="4975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t>Headline Source: Sydney Daily Mirror, 21 February 1965</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pic>
        <p:nvPicPr>
          <p:cNvPr id="153" name="Google Shape;153;p25"/>
          <p:cNvPicPr preferRelativeResize="0"/>
          <p:nvPr/>
        </p:nvPicPr>
        <p:blipFill>
          <a:blip r:embed="rId3">
            <a:alphaModFix amt="30000"/>
          </a:blip>
          <a:stretch>
            <a:fillRect/>
          </a:stretch>
        </p:blipFill>
        <p:spPr>
          <a:xfrm>
            <a:off x="5103857" y="0"/>
            <a:ext cx="4040136" cy="5143500"/>
          </a:xfrm>
          <a:prstGeom prst="rect">
            <a:avLst/>
          </a:prstGeom>
          <a:noFill/>
          <a:ln>
            <a:noFill/>
          </a:ln>
        </p:spPr>
      </p:pic>
      <p:sp>
        <p:nvSpPr>
          <p:cNvPr id="154" name="Google Shape;154;p25"/>
          <p:cNvSpPr txBox="1">
            <a:spLocks noGrp="1"/>
          </p:cNvSpPr>
          <p:nvPr>
            <p:ph type="title"/>
          </p:nvPr>
        </p:nvSpPr>
        <p:spPr>
          <a:xfrm>
            <a:off x="311700" y="445025"/>
            <a:ext cx="8520600" cy="572700"/>
          </a:xfrm>
          <a:prstGeom prst="rect">
            <a:avLst/>
          </a:prstGeom>
          <a:effectLst>
            <a:outerShdw blurRad="57150" dist="19050" dir="5400000" algn="bl" rotWithShape="0">
              <a:srgbClr val="000000">
                <a:alpha val="40000"/>
              </a:srgbClr>
            </a:outerShdw>
          </a:effectLst>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a:solidFill>
                  <a:srgbClr val="C00000"/>
                </a:solidFill>
              </a:rPr>
              <a:t>Outcomes</a:t>
            </a:r>
            <a:endParaRPr dirty="0">
              <a:solidFill>
                <a:srgbClr val="C00000"/>
              </a:solidFill>
            </a:endParaRPr>
          </a:p>
        </p:txBody>
      </p:sp>
      <p:sp>
        <p:nvSpPr>
          <p:cNvPr id="155" name="Google Shape;155;p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36550" algn="l" rtl="0">
              <a:spcBef>
                <a:spcPts val="600"/>
              </a:spcBef>
              <a:spcAft>
                <a:spcPts val="0"/>
              </a:spcAft>
              <a:buClr>
                <a:schemeClr val="dk1"/>
              </a:buClr>
              <a:buSzPts val="1700"/>
              <a:buFont typeface="Trebuchet MS"/>
              <a:buChar char="❏"/>
            </a:pPr>
            <a:r>
              <a:rPr lang="en-GB" sz="1700" dirty="0">
                <a:solidFill>
                  <a:srgbClr val="C00000"/>
                </a:solidFill>
                <a:latin typeface="Trebuchet MS"/>
                <a:ea typeface="Trebuchet MS"/>
                <a:cs typeface="Trebuchet MS"/>
                <a:sym typeface="Trebuchet MS"/>
              </a:rPr>
              <a:t>The actions of SAFA attracted a great deal of publicity both in Australia and overseas.</a:t>
            </a:r>
            <a:endParaRPr sz="1700" dirty="0">
              <a:solidFill>
                <a:srgbClr val="C00000"/>
              </a:solidFill>
              <a:latin typeface="Trebuchet MS"/>
              <a:ea typeface="Trebuchet MS"/>
              <a:cs typeface="Trebuchet MS"/>
              <a:sym typeface="Trebuchet MS"/>
            </a:endParaRPr>
          </a:p>
          <a:p>
            <a:pPr marL="457200" lvl="0" indent="-336550" algn="l" rtl="0">
              <a:spcBef>
                <a:spcPts val="0"/>
              </a:spcBef>
              <a:spcAft>
                <a:spcPts val="0"/>
              </a:spcAft>
              <a:buClr>
                <a:schemeClr val="dk1"/>
              </a:buClr>
              <a:buSzPts val="1700"/>
              <a:buFont typeface="Trebuchet MS"/>
              <a:buChar char="❏"/>
            </a:pPr>
            <a:r>
              <a:rPr lang="en-GB" sz="1700" dirty="0">
                <a:solidFill>
                  <a:srgbClr val="C00000"/>
                </a:solidFill>
                <a:latin typeface="Trebuchet MS"/>
                <a:ea typeface="Trebuchet MS"/>
                <a:cs typeface="Trebuchet MS"/>
                <a:sym typeface="Trebuchet MS"/>
              </a:rPr>
              <a:t>People in the cities became aware of the serious problems faced by Aboriginal people in the bush.</a:t>
            </a:r>
            <a:endParaRPr sz="1700" dirty="0">
              <a:solidFill>
                <a:srgbClr val="C00000"/>
              </a:solidFill>
              <a:latin typeface="Trebuchet MS"/>
              <a:ea typeface="Trebuchet MS"/>
              <a:cs typeface="Trebuchet MS"/>
              <a:sym typeface="Trebuchet MS"/>
            </a:endParaRPr>
          </a:p>
          <a:p>
            <a:pPr marL="457200" lvl="0" indent="-336550" algn="l" rtl="0">
              <a:spcBef>
                <a:spcPts val="0"/>
              </a:spcBef>
              <a:spcAft>
                <a:spcPts val="0"/>
              </a:spcAft>
              <a:buClr>
                <a:schemeClr val="dk1"/>
              </a:buClr>
              <a:buSzPts val="1700"/>
              <a:buFont typeface="Trebuchet MS"/>
              <a:buChar char="❏"/>
            </a:pPr>
            <a:r>
              <a:rPr lang="en-GB" sz="1700" dirty="0">
                <a:solidFill>
                  <a:srgbClr val="C00000"/>
                </a:solidFill>
                <a:latin typeface="Trebuchet MS"/>
                <a:ea typeface="Trebuchet MS"/>
                <a:cs typeface="Trebuchet MS"/>
                <a:sym typeface="Trebuchet MS"/>
              </a:rPr>
              <a:t>Credited with the breakdown of the White Australia Policy </a:t>
            </a:r>
            <a:endParaRPr sz="1700" dirty="0">
              <a:solidFill>
                <a:srgbClr val="C00000"/>
              </a:solidFill>
              <a:latin typeface="Trebuchet MS"/>
              <a:ea typeface="Trebuchet MS"/>
              <a:cs typeface="Trebuchet MS"/>
              <a:sym typeface="Trebuchet MS"/>
            </a:endParaRPr>
          </a:p>
          <a:p>
            <a:pPr marL="457200" lvl="0" indent="-336550" algn="l" rtl="0">
              <a:spcBef>
                <a:spcPts val="0"/>
              </a:spcBef>
              <a:spcAft>
                <a:spcPts val="0"/>
              </a:spcAft>
              <a:buClr>
                <a:schemeClr val="dk1"/>
              </a:buClr>
              <a:buSzPts val="1700"/>
              <a:buFont typeface="Trebuchet MS"/>
              <a:buChar char="❏"/>
            </a:pPr>
            <a:r>
              <a:rPr lang="en-GB" sz="1700" dirty="0">
                <a:solidFill>
                  <a:srgbClr val="C00000"/>
                </a:solidFill>
                <a:latin typeface="Trebuchet MS"/>
                <a:ea typeface="Trebuchet MS"/>
                <a:cs typeface="Trebuchet MS"/>
                <a:sym typeface="Trebuchet MS"/>
              </a:rPr>
              <a:t>The Rides generated many opposition groups among white, conservative rural populations</a:t>
            </a:r>
            <a:endParaRPr sz="1700" dirty="0">
              <a:solidFill>
                <a:srgbClr val="C00000"/>
              </a:solidFill>
              <a:latin typeface="Trebuchet MS"/>
              <a:ea typeface="Trebuchet MS"/>
              <a:cs typeface="Trebuchet MS"/>
              <a:sym typeface="Trebuchet MS"/>
            </a:endParaRPr>
          </a:p>
          <a:p>
            <a:pPr marL="457200" lvl="0" indent="-336550" algn="l" rtl="0">
              <a:spcBef>
                <a:spcPts val="0"/>
              </a:spcBef>
              <a:spcAft>
                <a:spcPts val="0"/>
              </a:spcAft>
              <a:buClr>
                <a:schemeClr val="dk1"/>
              </a:buClr>
              <a:buSzPts val="1700"/>
              <a:buFont typeface="Trebuchet MS"/>
              <a:buChar char="❏"/>
            </a:pPr>
            <a:r>
              <a:rPr lang="en-GB" sz="1700" dirty="0">
                <a:solidFill>
                  <a:srgbClr val="C00000"/>
                </a:solidFill>
                <a:latin typeface="Trebuchet MS"/>
                <a:ea typeface="Trebuchet MS"/>
                <a:cs typeface="Trebuchet MS"/>
                <a:sym typeface="Trebuchet MS"/>
              </a:rPr>
              <a:t>The Rides were sometimes blamed for stirring up short term troubles in small communities and then leaving without having to deal with the consequences</a:t>
            </a:r>
            <a:endParaRPr sz="1700" dirty="0">
              <a:solidFill>
                <a:srgbClr val="C00000"/>
              </a:solidFill>
              <a:latin typeface="Trebuchet MS"/>
              <a:ea typeface="Trebuchet MS"/>
              <a:cs typeface="Trebuchet MS"/>
              <a:sym typeface="Trebuchet MS"/>
            </a:endParaRPr>
          </a:p>
          <a:p>
            <a:pPr marL="0" lvl="0" indent="0" algn="l" rtl="0">
              <a:spcBef>
                <a:spcPts val="0"/>
              </a:spcBef>
              <a:spcAft>
                <a:spcPts val="1200"/>
              </a:spcAft>
              <a:buNone/>
            </a:pPr>
            <a:endParaRPr sz="1700" dirty="0">
              <a:latin typeface="Trebuchet MS"/>
              <a:ea typeface="Trebuchet MS"/>
              <a:cs typeface="Trebuchet MS"/>
              <a:sym typeface="Trebuchet M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Referendum</a:t>
            </a:r>
            <a:endParaRPr/>
          </a:p>
        </p:txBody>
      </p:sp>
      <p:sp>
        <p:nvSpPr>
          <p:cNvPr id="161" name="Google Shape;161;p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en-GB" dirty="0">
                <a:solidFill>
                  <a:schemeClr val="dk1"/>
                </a:solidFill>
              </a:rPr>
              <a:t>This high profile campaign contributed to the campaign for a referendum to right wrongs against Aboriginal people.</a:t>
            </a:r>
            <a:endParaRPr dirty="0">
              <a:solidFill>
                <a:schemeClr val="dk1"/>
              </a:solidFill>
            </a:endParaRPr>
          </a:p>
          <a:p>
            <a:pPr marL="0" lvl="0" indent="0" algn="l" rtl="0">
              <a:spcBef>
                <a:spcPts val="1200"/>
              </a:spcBef>
              <a:spcAft>
                <a:spcPts val="0"/>
              </a:spcAft>
              <a:buNone/>
            </a:pPr>
            <a:r>
              <a:rPr lang="en-GB" dirty="0">
                <a:solidFill>
                  <a:schemeClr val="dk1"/>
                </a:solidFill>
              </a:rPr>
              <a:t>The referendum had 2 questions</a:t>
            </a:r>
            <a:endParaRPr dirty="0">
              <a:solidFill>
                <a:schemeClr val="dk1"/>
              </a:solidFill>
            </a:endParaRPr>
          </a:p>
          <a:p>
            <a:pPr marL="0" lvl="0" indent="0" algn="l" rtl="0">
              <a:spcBef>
                <a:spcPts val="1200"/>
              </a:spcBef>
              <a:spcAft>
                <a:spcPts val="0"/>
              </a:spcAft>
              <a:buNone/>
            </a:pPr>
            <a:r>
              <a:rPr lang="en-GB" dirty="0">
                <a:solidFill>
                  <a:schemeClr val="dk1"/>
                </a:solidFill>
              </a:rPr>
              <a:t>Should Aboriginals be counted in the census?</a:t>
            </a:r>
            <a:endParaRPr dirty="0">
              <a:solidFill>
                <a:schemeClr val="dk1"/>
              </a:solidFill>
            </a:endParaRPr>
          </a:p>
          <a:p>
            <a:pPr marL="0" lvl="0" indent="0" algn="l" rtl="0">
              <a:spcBef>
                <a:spcPts val="1200"/>
              </a:spcBef>
              <a:spcAft>
                <a:spcPts val="0"/>
              </a:spcAft>
              <a:buNone/>
            </a:pPr>
            <a:r>
              <a:rPr lang="en-GB" dirty="0">
                <a:solidFill>
                  <a:schemeClr val="dk1"/>
                </a:solidFill>
              </a:rPr>
              <a:t>Should the Federal government have responsibility for laws on Aboriginal people?</a:t>
            </a:r>
            <a:endParaRPr dirty="0">
              <a:solidFill>
                <a:schemeClr val="dk1"/>
              </a:solidFill>
            </a:endParaRPr>
          </a:p>
          <a:p>
            <a:pPr marL="0" lvl="0" indent="0" algn="l" rtl="0">
              <a:spcBef>
                <a:spcPts val="1200"/>
              </a:spcBef>
              <a:spcAft>
                <a:spcPts val="1200"/>
              </a:spcAft>
              <a:buNone/>
            </a:pPr>
            <a:r>
              <a:rPr lang="en-GB" dirty="0">
                <a:solidFill>
                  <a:schemeClr val="dk1"/>
                </a:solidFill>
              </a:rPr>
              <a:t>Over 90% voted YES on May 27 1967</a:t>
            </a:r>
            <a:endParaRPr dirty="0">
              <a:solidFill>
                <a:schemeClr val="dk1"/>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852</Words>
  <Application>Microsoft Office PowerPoint</Application>
  <PresentationFormat>On-screen Show (16:9)</PresentationFormat>
  <Paragraphs>63</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Trebuchet MS</vt:lpstr>
      <vt:lpstr>Simple Light</vt:lpstr>
      <vt:lpstr>Charles Perkins &amp; The Australian Freedom Rides, 1965</vt:lpstr>
      <vt:lpstr>What were the Australian Freedom Rides?</vt:lpstr>
      <vt:lpstr>Who was Charles Perkins?</vt:lpstr>
      <vt:lpstr>Student Action For Aborigines</vt:lpstr>
      <vt:lpstr>Charles Perkins on the Freedom Rides </vt:lpstr>
      <vt:lpstr>The Freedom Route</vt:lpstr>
      <vt:lpstr>Early stages of the Freedom Rides </vt:lpstr>
      <vt:lpstr>Walgett - Returned Servicemen’s League</vt:lpstr>
      <vt:lpstr>Walgett - Cinema</vt:lpstr>
      <vt:lpstr>Moree - Swimming Pool</vt:lpstr>
      <vt:lpstr>Moree Riot 1965 </vt:lpstr>
      <vt:lpstr>Outcomes</vt:lpstr>
      <vt:lpstr>Referendum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Charles Perkins &amp; The Australian Freedom Rides, 1965</dc:title>
  <dc:creator>DONAVON Rebecca</dc:creator>
  <cp:lastModifiedBy>DONAVON Rebecca [Narrogin Senior High School]</cp:lastModifiedBy>
  <cp:revision>6</cp:revision>
  <dcterms:modified xsi:type="dcterms:W3CDTF">2022-09-14T07:31:39Z</dcterms:modified>
</cp:coreProperties>
</file>
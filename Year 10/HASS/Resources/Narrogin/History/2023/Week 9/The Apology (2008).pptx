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73" r:id="rId4"/>
    <p:sldId id="274" r:id="rId5"/>
    <p:sldId id="260" r:id="rId6"/>
    <p:sldId id="268" r:id="rId7"/>
    <p:sldId id="269" r:id="rId8"/>
    <p:sldId id="257" r:id="rId9"/>
    <p:sldId id="258" r:id="rId10"/>
    <p:sldId id="259" r:id="rId11"/>
    <p:sldId id="261" r:id="rId12"/>
    <p:sldId id="262" r:id="rId13"/>
    <p:sldId id="263" r:id="rId14"/>
    <p:sldId id="267" r:id="rId15"/>
    <p:sldId id="265" r:id="rId16"/>
    <p:sldId id="264" r:id="rId17"/>
    <p:sldId id="266" r:id="rId18"/>
    <p:sldId id="270" r:id="rId19"/>
    <p:sldId id="27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BEEF74-6FD8-4E04-97C2-D559DAF93242}" type="datetimeFigureOut">
              <a:rPr lang="en-AU" smtClean="0"/>
              <a:t>16/09/2022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74BF7A2-4F24-40FE-AD89-1BCB3022E97A}" type="slidenum">
              <a:rPr lang="en-AU" smtClean="0"/>
              <a:t>‹#›</a:t>
            </a:fld>
            <a:endParaRPr lang="en-AU"/>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BEEF74-6FD8-4E04-97C2-D559DAF93242}" type="datetimeFigureOut">
              <a:rPr lang="en-AU" smtClean="0"/>
              <a:t>16/09/2022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BEEF74-6FD8-4E04-97C2-D559DAF93242}" type="datetimeFigureOut">
              <a:rPr lang="en-AU" smtClean="0"/>
              <a:t>16/09/2022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74BF7A2-4F24-40FE-AD89-1BCB3022E97A}" type="slidenum">
              <a:rPr lang="en-AU" smtClean="0"/>
              <a:t>‹#›</a:t>
            </a:fld>
            <a:endParaRPr lang="en-AU"/>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BEEF74-6FD8-4E04-97C2-D559DAF93242}" type="datetimeFigureOut">
              <a:rPr lang="en-AU" smtClean="0"/>
              <a:t>16/09/2022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BEEF74-6FD8-4E04-97C2-D559DAF93242}" type="datetimeFigureOut">
              <a:rPr lang="en-AU" smtClean="0"/>
              <a:t>16/09/2022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74BF7A2-4F24-40FE-AD89-1BCB3022E97A}" type="slidenum">
              <a:rPr lang="en-AU" smtClean="0"/>
              <a:t>‹#›</a:t>
            </a:fld>
            <a:endParaRPr lang="en-AU"/>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BEEF74-6FD8-4E04-97C2-D559DAF93242}" type="datetimeFigureOut">
              <a:rPr lang="en-AU" smtClean="0"/>
              <a:t>16/09/2022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BEEF74-6FD8-4E04-97C2-D559DAF93242}" type="datetimeFigureOut">
              <a:rPr lang="en-AU" smtClean="0"/>
              <a:t>16/09/2022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BEEF74-6FD8-4E04-97C2-D559DAF93242}" type="datetimeFigureOut">
              <a:rPr lang="en-AU" smtClean="0"/>
              <a:t>16/09/2022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74BF7A2-4F24-40FE-AD89-1BCB3022E97A}" type="slidenum">
              <a:rPr lang="en-AU" smtClean="0"/>
              <a:t>‹#›</a:t>
            </a:fld>
            <a:endParaRPr lang="en-AU"/>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BEEF74-6FD8-4E04-97C2-D559DAF93242}" type="datetimeFigureOut">
              <a:rPr lang="en-AU" smtClean="0"/>
              <a:t>16/09/2022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BEEF74-6FD8-4E04-97C2-D559DAF93242}" type="datetimeFigureOut">
              <a:rPr lang="en-AU" smtClean="0"/>
              <a:t>16/09/2022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BEEF74-6FD8-4E04-97C2-D559DAF93242}" type="datetimeFigureOut">
              <a:rPr lang="en-AU" smtClean="0"/>
              <a:t>16/09/2022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74BF7A2-4F24-40FE-AD89-1BCB3022E97A}"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4EBEEF74-6FD8-4E04-97C2-D559DAF93242}" type="datetimeFigureOut">
              <a:rPr lang="en-AU" smtClean="0"/>
              <a:t>16/09/2022</a:t>
            </a:fld>
            <a:endParaRPr lang="en-AU"/>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AU"/>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174BF7A2-4F24-40FE-AD89-1BCB3022E97A}"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_Dild-xAzJ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kINrWURyd90"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The Apology (2008)</a:t>
            </a:r>
          </a:p>
        </p:txBody>
      </p:sp>
      <p:sp>
        <p:nvSpPr>
          <p:cNvPr id="3" name="Subtitle 2"/>
          <p:cNvSpPr>
            <a:spLocks noGrp="1"/>
          </p:cNvSpPr>
          <p:nvPr>
            <p:ph type="subTitle" idx="1"/>
          </p:nvPr>
        </p:nvSpPr>
        <p:spPr/>
        <p:txBody>
          <a:bodyPr/>
          <a:lstStyle/>
          <a:p>
            <a:r>
              <a:rPr lang="en-AU" dirty="0"/>
              <a:t>Year 10 History- Rights and Freedoms </a:t>
            </a:r>
          </a:p>
        </p:txBody>
      </p:sp>
    </p:spTree>
    <p:extLst>
      <p:ext uri="{BB962C8B-B14F-4D97-AF65-F5344CB8AC3E}">
        <p14:creationId xmlns:p14="http://schemas.microsoft.com/office/powerpoint/2010/main" val="3355842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B8555-8DDB-4CBF-A5C0-BB3604A062B9}"/>
              </a:ext>
            </a:extLst>
          </p:cNvPr>
          <p:cNvSpPr>
            <a:spLocks noGrp="1"/>
          </p:cNvSpPr>
          <p:nvPr>
            <p:ph type="title"/>
          </p:nvPr>
        </p:nvSpPr>
        <p:spPr/>
        <p:txBody>
          <a:bodyPr/>
          <a:lstStyle/>
          <a:p>
            <a:r>
              <a:rPr lang="en-AU" dirty="0"/>
              <a:t>The Stolen Generations</a:t>
            </a:r>
          </a:p>
        </p:txBody>
      </p:sp>
      <p:sp>
        <p:nvSpPr>
          <p:cNvPr id="3" name="Content Placeholder 2">
            <a:extLst>
              <a:ext uri="{FF2B5EF4-FFF2-40B4-BE49-F238E27FC236}">
                <a16:creationId xmlns:a16="http://schemas.microsoft.com/office/drawing/2014/main" id="{D136810A-ECA6-44FF-9381-92A118F6BA13}"/>
              </a:ext>
            </a:extLst>
          </p:cNvPr>
          <p:cNvSpPr>
            <a:spLocks noGrp="1"/>
          </p:cNvSpPr>
          <p:nvPr>
            <p:ph idx="1"/>
          </p:nvPr>
        </p:nvSpPr>
        <p:spPr/>
        <p:txBody>
          <a:bodyPr/>
          <a:lstStyle/>
          <a:p>
            <a:r>
              <a:rPr lang="en-AU" dirty="0"/>
              <a:t>The forced removal of over </a:t>
            </a:r>
            <a:r>
              <a:rPr lang="en-AU" u="sng" dirty="0"/>
              <a:t>100 000 Aboriginal and Torres Strait Islander children </a:t>
            </a:r>
          </a:p>
          <a:p>
            <a:r>
              <a:rPr lang="en-AU" dirty="0"/>
              <a:t>Children were taken from their families and placed into the care of government institutions, or adopted by non-Indigenous families </a:t>
            </a:r>
          </a:p>
          <a:p>
            <a:r>
              <a:rPr lang="en-AU" dirty="0"/>
              <a:t>Occurred from </a:t>
            </a:r>
            <a:r>
              <a:rPr lang="en-AU" u="sng" dirty="0"/>
              <a:t>1860’s – 1970’s</a:t>
            </a:r>
          </a:p>
          <a:p>
            <a:r>
              <a:rPr lang="en-AU" dirty="0"/>
              <a:t>Children of both Western (white) and Aboriginal descent, commonly referred to as ‘half-caste’, were sent to missions or reserves to be taught European ways </a:t>
            </a:r>
          </a:p>
          <a:p>
            <a:endParaRPr lang="en-AU" dirty="0"/>
          </a:p>
          <a:p>
            <a:pPr marL="0" indent="0">
              <a:buNone/>
            </a:pPr>
            <a:r>
              <a:rPr lang="en-AU" sz="1600" i="1" dirty="0"/>
              <a:t>*“half-caste” is now considered a derogatory term*</a:t>
            </a:r>
            <a:endParaRPr lang="en-AU" i="1" dirty="0"/>
          </a:p>
        </p:txBody>
      </p:sp>
    </p:spTree>
    <p:extLst>
      <p:ext uri="{BB962C8B-B14F-4D97-AF65-F5344CB8AC3E}">
        <p14:creationId xmlns:p14="http://schemas.microsoft.com/office/powerpoint/2010/main" val="232873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95A60-009C-4DA5-BF6F-5CCD83BD1177}"/>
              </a:ext>
            </a:extLst>
          </p:cNvPr>
          <p:cNvSpPr>
            <a:spLocks noGrp="1"/>
          </p:cNvSpPr>
          <p:nvPr>
            <p:ph type="title"/>
          </p:nvPr>
        </p:nvSpPr>
        <p:spPr/>
        <p:txBody>
          <a:bodyPr/>
          <a:lstStyle/>
          <a:p>
            <a:r>
              <a:rPr lang="en-AU" dirty="0"/>
              <a:t>Why were children removed? </a:t>
            </a:r>
          </a:p>
        </p:txBody>
      </p:sp>
      <p:sp>
        <p:nvSpPr>
          <p:cNvPr id="3" name="Content Placeholder 2">
            <a:extLst>
              <a:ext uri="{FF2B5EF4-FFF2-40B4-BE49-F238E27FC236}">
                <a16:creationId xmlns:a16="http://schemas.microsoft.com/office/drawing/2014/main" id="{79F18CD6-AD34-43ED-A6F8-BA572E6E55B2}"/>
              </a:ext>
            </a:extLst>
          </p:cNvPr>
          <p:cNvSpPr>
            <a:spLocks noGrp="1"/>
          </p:cNvSpPr>
          <p:nvPr>
            <p:ph idx="1"/>
          </p:nvPr>
        </p:nvSpPr>
        <p:spPr/>
        <p:txBody>
          <a:bodyPr/>
          <a:lstStyle/>
          <a:p>
            <a:r>
              <a:rPr lang="en-AU" dirty="0"/>
              <a:t>This was done </a:t>
            </a:r>
            <a:r>
              <a:rPr lang="en-AU" u="sng" dirty="0"/>
              <a:t>legally</a:t>
            </a:r>
            <a:r>
              <a:rPr lang="en-AU" dirty="0"/>
              <a:t> and they justified them as protecting the interests of the children </a:t>
            </a:r>
          </a:p>
          <a:p>
            <a:r>
              <a:rPr lang="en-AU" dirty="0"/>
              <a:t>It was believed that ‘half-caste’ children were disadvantaged and should receive a civilised upbringing</a:t>
            </a:r>
          </a:p>
          <a:p>
            <a:r>
              <a:rPr lang="en-AU" dirty="0"/>
              <a:t>It was thought that if the children </a:t>
            </a:r>
            <a:r>
              <a:rPr lang="en-AU" u="sng" dirty="0"/>
              <a:t>assimilated into Western culture</a:t>
            </a:r>
            <a:r>
              <a:rPr lang="en-AU" dirty="0"/>
              <a:t>, their Aboriginality would be ‘bred out’ of them. </a:t>
            </a:r>
          </a:p>
          <a:p>
            <a:endParaRPr lang="en-AU" dirty="0"/>
          </a:p>
          <a:p>
            <a:endParaRPr lang="en-AU" dirty="0"/>
          </a:p>
          <a:p>
            <a:endParaRPr lang="en-AU" dirty="0"/>
          </a:p>
          <a:p>
            <a:r>
              <a:rPr lang="en-AU" dirty="0"/>
              <a:t>Archie Roach – Took the Children away https://www.youtube.com/watch?v=R3FPc72ntY0</a:t>
            </a:r>
          </a:p>
        </p:txBody>
      </p:sp>
    </p:spTree>
    <p:extLst>
      <p:ext uri="{BB962C8B-B14F-4D97-AF65-F5344CB8AC3E}">
        <p14:creationId xmlns:p14="http://schemas.microsoft.com/office/powerpoint/2010/main" val="3478269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C1F7-F0C1-41EE-AEBF-516507D7D165}"/>
              </a:ext>
            </a:extLst>
          </p:cNvPr>
          <p:cNvSpPr>
            <a:spLocks noGrp="1"/>
          </p:cNvSpPr>
          <p:nvPr>
            <p:ph type="title"/>
          </p:nvPr>
        </p:nvSpPr>
        <p:spPr/>
        <p:txBody>
          <a:bodyPr/>
          <a:lstStyle/>
          <a:p>
            <a:r>
              <a:rPr lang="en-AU" dirty="0"/>
              <a:t>Impact </a:t>
            </a:r>
          </a:p>
        </p:txBody>
      </p:sp>
      <p:sp>
        <p:nvSpPr>
          <p:cNvPr id="3" name="Content Placeholder 2">
            <a:extLst>
              <a:ext uri="{FF2B5EF4-FFF2-40B4-BE49-F238E27FC236}">
                <a16:creationId xmlns:a16="http://schemas.microsoft.com/office/drawing/2014/main" id="{989083A2-67FA-4A9B-9ABF-3E8E7753B41D}"/>
              </a:ext>
            </a:extLst>
          </p:cNvPr>
          <p:cNvSpPr>
            <a:spLocks noGrp="1"/>
          </p:cNvSpPr>
          <p:nvPr>
            <p:ph idx="1"/>
          </p:nvPr>
        </p:nvSpPr>
        <p:spPr/>
        <p:txBody>
          <a:bodyPr/>
          <a:lstStyle/>
          <a:p>
            <a:r>
              <a:rPr lang="en-AU" dirty="0"/>
              <a:t>Children faced ongoing emotional and social difficulties </a:t>
            </a:r>
          </a:p>
          <a:p>
            <a:r>
              <a:rPr lang="en-AU" dirty="0"/>
              <a:t>Many children ended up being rejected from both the Aboriginal and European communities </a:t>
            </a:r>
          </a:p>
          <a:p>
            <a:r>
              <a:rPr lang="en-AU" dirty="0"/>
              <a:t>Many experienced physical and emotional abuse in the missions </a:t>
            </a:r>
          </a:p>
          <a:p>
            <a:endParaRPr lang="en-AU" dirty="0"/>
          </a:p>
          <a:p>
            <a:r>
              <a:rPr lang="en-AU" dirty="0"/>
              <a:t>Quote: </a:t>
            </a:r>
            <a:r>
              <a:rPr lang="en-AU" i="1" dirty="0"/>
              <a:t>“Most of us girls were thinking white in the head but were feeling black inside. We were a very lonely, lost and sad group of people”. “We didn’t know anything about our culture”. -</a:t>
            </a:r>
            <a:r>
              <a:rPr lang="en-AU" sz="1600" i="1" dirty="0"/>
              <a:t>Extract from the Bringing them Home Report, 1996. </a:t>
            </a:r>
            <a:endParaRPr lang="en-AU" i="1" dirty="0"/>
          </a:p>
        </p:txBody>
      </p:sp>
    </p:spTree>
    <p:extLst>
      <p:ext uri="{BB962C8B-B14F-4D97-AF65-F5344CB8AC3E}">
        <p14:creationId xmlns:p14="http://schemas.microsoft.com/office/powerpoint/2010/main" val="2097523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Reconciliation </a:t>
            </a:r>
          </a:p>
        </p:txBody>
      </p:sp>
      <p:sp>
        <p:nvSpPr>
          <p:cNvPr id="3" name="Content Placeholder 2"/>
          <p:cNvSpPr>
            <a:spLocks noGrp="1"/>
          </p:cNvSpPr>
          <p:nvPr>
            <p:ph idx="1"/>
          </p:nvPr>
        </p:nvSpPr>
        <p:spPr/>
        <p:txBody>
          <a:bodyPr/>
          <a:lstStyle/>
          <a:p>
            <a:r>
              <a:rPr lang="en-AU" dirty="0"/>
              <a:t>A term used to refer to the </a:t>
            </a:r>
            <a:r>
              <a:rPr lang="en-AU" u="sng" dirty="0"/>
              <a:t>bringing together </a:t>
            </a:r>
            <a:r>
              <a:rPr lang="en-AU" dirty="0"/>
              <a:t>of Indigenous and non-Indigenous Australians</a:t>
            </a:r>
          </a:p>
          <a:p>
            <a:r>
              <a:rPr lang="en-AU" dirty="0"/>
              <a:t>It is a </a:t>
            </a:r>
            <a:r>
              <a:rPr lang="en-AU" u="sng" dirty="0"/>
              <a:t>process</a:t>
            </a:r>
            <a:r>
              <a:rPr lang="en-AU" dirty="0"/>
              <a:t> that involves working to overcome past divisions and addresses inequalities between Indigenous and non-Indigenous Australians.</a:t>
            </a:r>
          </a:p>
          <a:p>
            <a:r>
              <a:rPr lang="en-AU" dirty="0"/>
              <a:t>A continuing process, not a single event</a:t>
            </a:r>
          </a:p>
          <a:p>
            <a:r>
              <a:rPr lang="en-AU" dirty="0"/>
              <a:t>Popular support for the Stolen Generations grew around the end of the 1990’s. </a:t>
            </a:r>
          </a:p>
          <a:p>
            <a:endParaRPr lang="en-AU" dirty="0"/>
          </a:p>
        </p:txBody>
      </p:sp>
    </p:spTree>
    <p:extLst>
      <p:ext uri="{BB962C8B-B14F-4D97-AF65-F5344CB8AC3E}">
        <p14:creationId xmlns:p14="http://schemas.microsoft.com/office/powerpoint/2010/main" val="3704507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The Apology to the Stolen Generations </a:t>
            </a:r>
          </a:p>
        </p:txBody>
      </p:sp>
      <p:sp>
        <p:nvSpPr>
          <p:cNvPr id="3" name="Content Placeholder 2"/>
          <p:cNvSpPr>
            <a:spLocks noGrp="1"/>
          </p:cNvSpPr>
          <p:nvPr>
            <p:ph idx="1"/>
          </p:nvPr>
        </p:nvSpPr>
        <p:spPr/>
        <p:txBody>
          <a:bodyPr>
            <a:normAutofit/>
          </a:bodyPr>
          <a:lstStyle/>
          <a:p>
            <a:r>
              <a:rPr lang="en-AU" sz="2800" dirty="0"/>
              <a:t>In </a:t>
            </a:r>
            <a:r>
              <a:rPr lang="en-AU" sz="2800" u="sng" dirty="0"/>
              <a:t>2008, Kevin Rudd </a:t>
            </a:r>
            <a:r>
              <a:rPr lang="en-AU" sz="2800" dirty="0"/>
              <a:t>apologised to Indigenous Australians for </a:t>
            </a:r>
            <a:r>
              <a:rPr lang="en-AU" sz="2800" u="sng" dirty="0"/>
              <a:t>poor or unwise treatment </a:t>
            </a:r>
            <a:r>
              <a:rPr lang="en-AU" sz="2800" dirty="0"/>
              <a:t>from the time of European settlement through to recent years. </a:t>
            </a:r>
          </a:p>
          <a:p>
            <a:r>
              <a:rPr lang="en-AU" sz="2800" dirty="0"/>
              <a:t>It was on behalf of the whole nation and recognised that </a:t>
            </a:r>
            <a:r>
              <a:rPr lang="en-AU" sz="2800" u="sng" dirty="0"/>
              <a:t>Indigenous Australians had been wronged. </a:t>
            </a:r>
          </a:p>
          <a:p>
            <a:r>
              <a:rPr lang="en-AU" sz="2800" dirty="0"/>
              <a:t>Parliament was packed, and many gathered in public spaces, schools, offices all over the country to view this. </a:t>
            </a:r>
          </a:p>
          <a:p>
            <a:endParaRPr lang="en-AU" sz="2800" dirty="0"/>
          </a:p>
        </p:txBody>
      </p:sp>
    </p:spTree>
    <p:extLst>
      <p:ext uri="{BB962C8B-B14F-4D97-AF65-F5344CB8AC3E}">
        <p14:creationId xmlns:p14="http://schemas.microsoft.com/office/powerpoint/2010/main" val="2567851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AU" dirty="0"/>
              <a:t>Many Indigenous Australians had died without hearing these words. </a:t>
            </a:r>
          </a:p>
          <a:p>
            <a:r>
              <a:rPr lang="en-AU" dirty="0"/>
              <a:t>A ‘turning point’ in Australian history., </a:t>
            </a:r>
          </a:p>
          <a:p>
            <a:r>
              <a:rPr lang="en-AU" dirty="0"/>
              <a:t>Many prominent Aboriginal Rights leaders were in Parliament. </a:t>
            </a:r>
          </a:p>
          <a:p>
            <a:endParaRPr lang="en-AU" dirty="0"/>
          </a:p>
        </p:txBody>
      </p:sp>
    </p:spTree>
    <p:extLst>
      <p:ext uri="{BB962C8B-B14F-4D97-AF65-F5344CB8AC3E}">
        <p14:creationId xmlns:p14="http://schemas.microsoft.com/office/powerpoint/2010/main" val="1238784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Video  </a:t>
            </a:r>
          </a:p>
        </p:txBody>
      </p:sp>
      <p:sp>
        <p:nvSpPr>
          <p:cNvPr id="3" name="Content Placeholder 2"/>
          <p:cNvSpPr>
            <a:spLocks noGrp="1"/>
          </p:cNvSpPr>
          <p:nvPr>
            <p:ph idx="1"/>
          </p:nvPr>
        </p:nvSpPr>
        <p:spPr/>
        <p:txBody>
          <a:bodyPr/>
          <a:lstStyle/>
          <a:p>
            <a:r>
              <a:rPr lang="en-AU" dirty="0">
                <a:hlinkClick r:id="rId2"/>
              </a:rPr>
              <a:t>https://www.youtube.com/watch?v=_Dild-xAzJ0</a:t>
            </a:r>
            <a:endParaRPr lang="en-AU" dirty="0"/>
          </a:p>
          <a:p>
            <a:endParaRPr lang="en-AU" dirty="0"/>
          </a:p>
        </p:txBody>
      </p:sp>
    </p:spTree>
    <p:extLst>
      <p:ext uri="{BB962C8B-B14F-4D97-AF65-F5344CB8AC3E}">
        <p14:creationId xmlns:p14="http://schemas.microsoft.com/office/powerpoint/2010/main" val="883573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Questions </a:t>
            </a:r>
          </a:p>
        </p:txBody>
      </p:sp>
      <p:sp>
        <p:nvSpPr>
          <p:cNvPr id="3" name="Content Placeholder 2"/>
          <p:cNvSpPr>
            <a:spLocks noGrp="1"/>
          </p:cNvSpPr>
          <p:nvPr>
            <p:ph idx="1"/>
          </p:nvPr>
        </p:nvSpPr>
        <p:spPr/>
        <p:txBody>
          <a:bodyPr/>
          <a:lstStyle/>
          <a:p>
            <a:pPr>
              <a:lnSpc>
                <a:spcPct val="150000"/>
              </a:lnSpc>
            </a:pPr>
            <a:r>
              <a:rPr lang="en-AU" dirty="0"/>
              <a:t>1. What does he say sorry for?</a:t>
            </a:r>
          </a:p>
          <a:p>
            <a:pPr>
              <a:lnSpc>
                <a:spcPct val="150000"/>
              </a:lnSpc>
            </a:pPr>
            <a:r>
              <a:rPr lang="en-AU" dirty="0"/>
              <a:t>2. Who is he apologising on behalf of?</a:t>
            </a:r>
          </a:p>
          <a:p>
            <a:pPr>
              <a:lnSpc>
                <a:spcPct val="150000"/>
              </a:lnSpc>
            </a:pPr>
            <a:r>
              <a:rPr lang="en-AU" dirty="0"/>
              <a:t>3. What kinds of effects was the apology meant</a:t>
            </a:r>
          </a:p>
          <a:p>
            <a:pPr>
              <a:lnSpc>
                <a:spcPct val="150000"/>
              </a:lnSpc>
            </a:pPr>
            <a:r>
              <a:rPr lang="en-AU" dirty="0"/>
              <a:t>to have?</a:t>
            </a:r>
          </a:p>
          <a:p>
            <a:pPr>
              <a:lnSpc>
                <a:spcPct val="150000"/>
              </a:lnSpc>
            </a:pPr>
            <a:r>
              <a:rPr lang="en-AU" dirty="0"/>
              <a:t>4. Do you think these impacts were achieved?</a:t>
            </a:r>
          </a:p>
          <a:p>
            <a:pPr>
              <a:lnSpc>
                <a:spcPct val="150000"/>
              </a:lnSpc>
            </a:pPr>
            <a:r>
              <a:rPr lang="en-AU" dirty="0"/>
              <a:t>5. How do you think the apology affected Aboriginal and Torres Strait Islander people?</a:t>
            </a:r>
          </a:p>
        </p:txBody>
      </p:sp>
    </p:spTree>
    <p:extLst>
      <p:ext uri="{BB962C8B-B14F-4D97-AF65-F5344CB8AC3E}">
        <p14:creationId xmlns:p14="http://schemas.microsoft.com/office/powerpoint/2010/main" val="3789065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583"/>
            <a:ext cx="8229600" cy="990600"/>
          </a:xfrm>
        </p:spPr>
        <p:txBody>
          <a:bodyPr/>
          <a:lstStyle/>
          <a:p>
            <a:r>
              <a:rPr lang="en-AU" dirty="0"/>
              <a:t>Speech Transcript</a:t>
            </a:r>
          </a:p>
        </p:txBody>
      </p:sp>
      <p:sp>
        <p:nvSpPr>
          <p:cNvPr id="3" name="Content Placeholder 2"/>
          <p:cNvSpPr>
            <a:spLocks noGrp="1"/>
          </p:cNvSpPr>
          <p:nvPr>
            <p:ph idx="1"/>
          </p:nvPr>
        </p:nvSpPr>
        <p:spPr>
          <a:xfrm>
            <a:off x="89046" y="836712"/>
            <a:ext cx="9036496" cy="5141168"/>
          </a:xfrm>
        </p:spPr>
        <p:txBody>
          <a:bodyPr>
            <a:noAutofit/>
          </a:bodyPr>
          <a:lstStyle/>
          <a:p>
            <a:pPr marL="0" indent="0">
              <a:buNone/>
            </a:pPr>
            <a:r>
              <a:rPr lang="en-AU" sz="1200" dirty="0"/>
              <a:t>Prime Minister (Hon Kevin Rudd MP): Mr Speaker, I move:</a:t>
            </a:r>
          </a:p>
          <a:p>
            <a:pPr marL="0" indent="0">
              <a:buNone/>
            </a:pPr>
            <a:r>
              <a:rPr lang="en-AU" sz="1200" dirty="0"/>
              <a:t>That today we honour the Indigenous peoples of this land, the oldest continuing cultures in human history.</a:t>
            </a:r>
          </a:p>
          <a:p>
            <a:pPr marL="0" indent="0">
              <a:buNone/>
            </a:pPr>
            <a:r>
              <a:rPr lang="en-AU" sz="1200" dirty="0"/>
              <a:t>We reflect on their past mistreatment.</a:t>
            </a:r>
          </a:p>
          <a:p>
            <a:pPr marL="0" indent="0">
              <a:buNone/>
            </a:pPr>
            <a:r>
              <a:rPr lang="en-AU" sz="1200" dirty="0"/>
              <a:t>We reflect in particular on the mistreatment of those who were Stolen Generations - this blemished chapter in our nation's history.</a:t>
            </a:r>
          </a:p>
          <a:p>
            <a:pPr marL="0" indent="0">
              <a:buNone/>
            </a:pPr>
            <a:r>
              <a:rPr lang="en-AU" sz="1200" dirty="0"/>
              <a:t>The time has now come for the nation to turn a new page in Australia's history by righting the wrongs of the past and so moving forward with confidence to the future.</a:t>
            </a:r>
          </a:p>
          <a:p>
            <a:pPr marL="0" indent="0">
              <a:buNone/>
            </a:pPr>
            <a:r>
              <a:rPr lang="en-AU" sz="1200" dirty="0"/>
              <a:t>We apologise for the laws and policies of successive Parliaments and governments that have inflicted profound grief, suffering and loss on these our fellow Australians.</a:t>
            </a:r>
          </a:p>
          <a:p>
            <a:pPr marL="0" indent="0">
              <a:buNone/>
            </a:pPr>
            <a:r>
              <a:rPr lang="en-AU" sz="1200" dirty="0"/>
              <a:t>We apologise especially for the removal of Aboriginal and Torres Strait Islander children from their families, their communities and their country.</a:t>
            </a:r>
          </a:p>
          <a:p>
            <a:pPr marL="0" indent="0">
              <a:buNone/>
            </a:pPr>
            <a:r>
              <a:rPr lang="en-AU" sz="1200" dirty="0"/>
              <a:t>For the pain, suffering and hurt of these Stolen Generations, their descendants and for their families left behind, we say sorry.</a:t>
            </a:r>
          </a:p>
          <a:p>
            <a:pPr marL="0" indent="0">
              <a:buNone/>
            </a:pPr>
            <a:r>
              <a:rPr lang="en-AU" sz="1200" dirty="0"/>
              <a:t>To the mothers and the fathers, the brothers and the sisters, for the breaking up of families and communities, we say sorry.</a:t>
            </a:r>
          </a:p>
          <a:p>
            <a:pPr marL="0" indent="0">
              <a:buNone/>
            </a:pPr>
            <a:r>
              <a:rPr lang="en-AU" sz="1200" dirty="0"/>
              <a:t>And for the indignity and degradation thus inflicted on a proud people and a proud culture, we say sorry.</a:t>
            </a:r>
          </a:p>
          <a:p>
            <a:pPr marL="0" indent="0">
              <a:buNone/>
            </a:pPr>
            <a:r>
              <a:rPr lang="en-AU" sz="1200" dirty="0"/>
              <a:t>We the Parliament of Australia respectfully request that this apology be received in the spirit in which it is offered as part of the healing of the nation.</a:t>
            </a:r>
          </a:p>
          <a:p>
            <a:pPr marL="0" indent="0">
              <a:buNone/>
            </a:pPr>
            <a:r>
              <a:rPr lang="en-AU" sz="1200" dirty="0"/>
              <a:t>For the future we take heart; resolving that this new page in the history of our great continent can now be written.</a:t>
            </a:r>
          </a:p>
          <a:p>
            <a:pPr marL="0" indent="0">
              <a:buNone/>
            </a:pPr>
            <a:r>
              <a:rPr lang="en-AU" sz="1200" dirty="0"/>
              <a:t>We today take this first step by acknowledging the past and laying claim to a future that embraces all Australians.</a:t>
            </a:r>
          </a:p>
          <a:p>
            <a:pPr marL="0" indent="0">
              <a:buNone/>
            </a:pPr>
            <a:r>
              <a:rPr lang="en-AU" sz="1200" dirty="0"/>
              <a:t>A future where this Parliament resolves that the injustices of the past must never, never happen again.</a:t>
            </a:r>
          </a:p>
          <a:p>
            <a:pPr marL="0" indent="0">
              <a:buNone/>
            </a:pPr>
            <a:r>
              <a:rPr lang="en-AU" sz="1200" dirty="0"/>
              <a:t>A future where we harness the determination of all Australians, Indigenous and non-Indigenous, to close the gap that lies between us in life expectancy, educational achievement and economic opportunity.</a:t>
            </a:r>
          </a:p>
          <a:p>
            <a:pPr marL="0" indent="0">
              <a:buNone/>
            </a:pPr>
            <a:r>
              <a:rPr lang="en-AU" sz="1200" dirty="0"/>
              <a:t>A future where we embrace the possibility of new solutions to enduring problems where old approaches have failed.</a:t>
            </a:r>
          </a:p>
          <a:p>
            <a:pPr marL="0" indent="0">
              <a:buNone/>
            </a:pPr>
            <a:r>
              <a:rPr lang="en-AU" sz="1200" dirty="0"/>
              <a:t>A future based on mutual respect, mutual resolve and mutual responsibility.</a:t>
            </a:r>
          </a:p>
          <a:p>
            <a:pPr marL="0" indent="0">
              <a:buNone/>
            </a:pPr>
            <a:r>
              <a:rPr lang="en-AU" sz="1200" dirty="0"/>
              <a:t>A future where all Australians, whatever their origins, are truly equal partners, with equal opportunities and with an equal stake in shaping the next chapter in the history of this great country, Australia.</a:t>
            </a:r>
          </a:p>
          <a:p>
            <a:endParaRPr lang="en-AU" sz="1200" dirty="0"/>
          </a:p>
        </p:txBody>
      </p:sp>
    </p:spTree>
    <p:extLst>
      <p:ext uri="{BB962C8B-B14F-4D97-AF65-F5344CB8AC3E}">
        <p14:creationId xmlns:p14="http://schemas.microsoft.com/office/powerpoint/2010/main" val="1766783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Why did he apologise? </a:t>
            </a:r>
          </a:p>
        </p:txBody>
      </p:sp>
      <p:sp>
        <p:nvSpPr>
          <p:cNvPr id="3" name="Content Placeholder 2"/>
          <p:cNvSpPr>
            <a:spLocks noGrp="1"/>
          </p:cNvSpPr>
          <p:nvPr>
            <p:ph idx="1"/>
          </p:nvPr>
        </p:nvSpPr>
        <p:spPr/>
        <p:txBody>
          <a:bodyPr/>
          <a:lstStyle/>
          <a:p>
            <a:r>
              <a:rPr lang="en-AU" dirty="0"/>
              <a:t>Bringing Them Home Report</a:t>
            </a:r>
          </a:p>
          <a:p>
            <a:r>
              <a:rPr lang="en-AU" dirty="0"/>
              <a:t>Third recommendation of the 1997 BTH Report which stated that ‘</a:t>
            </a:r>
            <a:r>
              <a:rPr lang="en-AU" i="1" dirty="0"/>
              <a:t>reparation be made in recognition of the history of gross violations of human rights’ </a:t>
            </a:r>
          </a:p>
          <a:p>
            <a:r>
              <a:rPr lang="en-AU" dirty="0"/>
              <a:t>In the report, this was broken down into 5 key components</a:t>
            </a:r>
          </a:p>
          <a:p>
            <a:pPr lvl="1"/>
            <a:r>
              <a:rPr lang="en-AU" dirty="0"/>
              <a:t>Acknowledgement and apology</a:t>
            </a:r>
          </a:p>
          <a:p>
            <a:pPr lvl="1"/>
            <a:r>
              <a:rPr lang="en-AU" dirty="0"/>
              <a:t>Guarantees against repetition</a:t>
            </a:r>
          </a:p>
          <a:p>
            <a:pPr lvl="1"/>
            <a:r>
              <a:rPr lang="en-AU" dirty="0"/>
              <a:t>Measures of restitution </a:t>
            </a:r>
          </a:p>
          <a:p>
            <a:pPr lvl="1"/>
            <a:r>
              <a:rPr lang="en-AU" dirty="0"/>
              <a:t>Measures of rehabilitation</a:t>
            </a:r>
          </a:p>
          <a:p>
            <a:pPr lvl="1"/>
            <a:r>
              <a:rPr lang="en-AU" dirty="0"/>
              <a:t>Monetary compensation</a:t>
            </a:r>
          </a:p>
        </p:txBody>
      </p:sp>
    </p:spTree>
    <p:extLst>
      <p:ext uri="{BB962C8B-B14F-4D97-AF65-F5344CB8AC3E}">
        <p14:creationId xmlns:p14="http://schemas.microsoft.com/office/powerpoint/2010/main" val="1249999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2" descr="evin Rudd, in a dark suit stands with his back to the dispatch box and his "/>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5730"/>
          <a:stretch/>
        </p:blipFill>
        <p:spPr bwMode="auto">
          <a:xfrm>
            <a:off x="857970" y="643467"/>
            <a:ext cx="7428060" cy="557106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57970" y="6214533"/>
            <a:ext cx="7428060" cy="369332"/>
          </a:xfrm>
          <a:prstGeom prst="rect">
            <a:avLst/>
          </a:prstGeom>
          <a:noFill/>
        </p:spPr>
        <p:txBody>
          <a:bodyPr wrap="square" rtlCol="0">
            <a:spAutoFit/>
          </a:bodyPr>
          <a:lstStyle/>
          <a:p>
            <a:r>
              <a:rPr lang="en-AU" dirty="0"/>
              <a:t>Kevin Rudd applauds members of Australia’s Stolen Generation</a:t>
            </a:r>
          </a:p>
        </p:txBody>
      </p:sp>
    </p:spTree>
    <p:extLst>
      <p:ext uri="{BB962C8B-B14F-4D97-AF65-F5344CB8AC3E}">
        <p14:creationId xmlns:p14="http://schemas.microsoft.com/office/powerpoint/2010/main" val="4213510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Response </a:t>
            </a:r>
          </a:p>
        </p:txBody>
      </p:sp>
      <p:sp>
        <p:nvSpPr>
          <p:cNvPr id="3" name="Content Placeholder 2"/>
          <p:cNvSpPr>
            <a:spLocks noGrp="1"/>
          </p:cNvSpPr>
          <p:nvPr>
            <p:ph idx="1"/>
          </p:nvPr>
        </p:nvSpPr>
        <p:spPr>
          <a:xfrm>
            <a:off x="323528" y="1412776"/>
            <a:ext cx="8229600" cy="4876800"/>
          </a:xfrm>
        </p:spPr>
        <p:txBody>
          <a:bodyPr/>
          <a:lstStyle/>
          <a:p>
            <a:r>
              <a:rPr lang="en-AU" dirty="0"/>
              <a:t>Opinion polls showed that a significant number of Australians rated it as ‘excellent’, ‘good’, or ‘great’. </a:t>
            </a:r>
          </a:p>
          <a:p>
            <a:r>
              <a:rPr lang="en-AU" dirty="0"/>
              <a:t>Major criticism: no mention of </a:t>
            </a:r>
            <a:r>
              <a:rPr lang="en-AU" u="sng" dirty="0"/>
              <a:t>compensation</a:t>
            </a:r>
            <a:r>
              <a:rPr lang="en-AU" dirty="0"/>
              <a:t> for those affected. </a:t>
            </a:r>
          </a:p>
          <a:p>
            <a:r>
              <a:rPr lang="en-AU" dirty="0"/>
              <a:t>Some saw it as </a:t>
            </a:r>
            <a:r>
              <a:rPr lang="en-AU" u="sng" dirty="0"/>
              <a:t>meaningless</a:t>
            </a:r>
            <a:r>
              <a:rPr lang="en-AU" dirty="0"/>
              <a:t> unless it was immediately accompanied by </a:t>
            </a:r>
            <a:r>
              <a:rPr lang="en-AU" u="sng" dirty="0"/>
              <a:t>practical measures </a:t>
            </a:r>
            <a:r>
              <a:rPr lang="en-AU" dirty="0"/>
              <a:t>to remove Aboriginal and Torres Strait Islander </a:t>
            </a:r>
            <a:r>
              <a:rPr lang="en-AU" u="sng" dirty="0"/>
              <a:t>disadvantage and implement true reconciliation </a:t>
            </a:r>
          </a:p>
          <a:p>
            <a:r>
              <a:rPr lang="en-AU" dirty="0"/>
              <a:t>Although an official apology was a necessary step, leaders argue that these practical measures are needed to ensure that </a:t>
            </a:r>
            <a:r>
              <a:rPr lang="en-AU" u="sng" dirty="0"/>
              <a:t>Indigenous Australians are on equal footing with other Australians. </a:t>
            </a:r>
          </a:p>
        </p:txBody>
      </p:sp>
    </p:spTree>
    <p:extLst>
      <p:ext uri="{BB962C8B-B14F-4D97-AF65-F5344CB8AC3E}">
        <p14:creationId xmlns:p14="http://schemas.microsoft.com/office/powerpoint/2010/main" val="212347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o women hold an Australian Indigenous flag emblazoned with the words 'don't say s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548680"/>
            <a:ext cx="6632996" cy="5900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298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age result for sorry day carto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5587" y="1"/>
            <a:ext cx="4235391" cy="6621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60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2" descr="mage result for cartoon sorry speech Kevin Rud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3326" y="643467"/>
            <a:ext cx="405734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043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Today </a:t>
            </a:r>
          </a:p>
        </p:txBody>
      </p:sp>
      <p:sp>
        <p:nvSpPr>
          <p:cNvPr id="3" name="Content Placeholder 2"/>
          <p:cNvSpPr>
            <a:spLocks noGrp="1"/>
          </p:cNvSpPr>
          <p:nvPr>
            <p:ph idx="1"/>
          </p:nvPr>
        </p:nvSpPr>
        <p:spPr/>
        <p:txBody>
          <a:bodyPr/>
          <a:lstStyle/>
          <a:p>
            <a:r>
              <a:rPr lang="en-US" b="1" dirty="0"/>
              <a:t>During the National Apology to Stolen Generations, the words "The First Step" were written in giant letters on the lawn of Parliament House. The decade that has followed could perhaps be summed up as "one step forward, two steps back". ABC News </a:t>
            </a:r>
          </a:p>
          <a:p>
            <a:endParaRPr lang="en-US" b="1" dirty="0"/>
          </a:p>
          <a:p>
            <a:r>
              <a:rPr lang="en-AU" dirty="0">
                <a:hlinkClick r:id="rId2"/>
              </a:rPr>
              <a:t>https://www.youtube.com/watch?v=kINrWURyd90</a:t>
            </a:r>
            <a:endParaRPr lang="en-US" b="1" dirty="0"/>
          </a:p>
          <a:p>
            <a:endParaRPr lang="en-US" b="1" dirty="0"/>
          </a:p>
          <a:p>
            <a:endParaRPr lang="en-AU" dirty="0"/>
          </a:p>
        </p:txBody>
      </p:sp>
    </p:spTree>
    <p:extLst>
      <p:ext uri="{BB962C8B-B14F-4D97-AF65-F5344CB8AC3E}">
        <p14:creationId xmlns:p14="http://schemas.microsoft.com/office/powerpoint/2010/main" val="3303337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Closing The Gap</a:t>
            </a:r>
          </a:p>
        </p:txBody>
      </p:sp>
      <p:sp>
        <p:nvSpPr>
          <p:cNvPr id="3" name="Content Placeholder 2"/>
          <p:cNvSpPr>
            <a:spLocks noGrp="1"/>
          </p:cNvSpPr>
          <p:nvPr>
            <p:ph idx="1"/>
          </p:nvPr>
        </p:nvSpPr>
        <p:spPr/>
        <p:txBody>
          <a:bodyPr>
            <a:normAutofit/>
          </a:bodyPr>
          <a:lstStyle/>
          <a:p>
            <a:r>
              <a:rPr lang="en-AU" dirty="0"/>
              <a:t>In 2008, Australian Governments committed to specific targets for reducing </a:t>
            </a:r>
            <a:r>
              <a:rPr lang="en-AU" dirty="0" err="1"/>
              <a:t>inequalityes</a:t>
            </a:r>
            <a:r>
              <a:rPr lang="en-AU" dirty="0"/>
              <a:t> in ATSI life expectancy, mortality, education, school attendance and employment.</a:t>
            </a:r>
          </a:p>
          <a:p>
            <a:endParaRPr lang="en-AU" dirty="0"/>
          </a:p>
          <a:p>
            <a:pPr>
              <a:buFont typeface="Wingdings" panose="05000000000000000000" pitchFamily="2" charset="2"/>
              <a:buChar char="q"/>
            </a:pPr>
            <a:r>
              <a:rPr lang="en-AU" sz="2000" dirty="0"/>
              <a:t>Close the gap in life expectancy by 2031</a:t>
            </a:r>
          </a:p>
          <a:p>
            <a:pPr>
              <a:buFont typeface="Wingdings" panose="05000000000000000000" pitchFamily="2" charset="2"/>
              <a:buChar char="q"/>
            </a:pPr>
            <a:r>
              <a:rPr lang="en-AU" sz="2000" dirty="0"/>
              <a:t>Halve the gap in child mortality by 2018</a:t>
            </a:r>
          </a:p>
          <a:p>
            <a:pPr>
              <a:buFont typeface="Wingdings" panose="05000000000000000000" pitchFamily="2" charset="2"/>
              <a:buChar char="q"/>
            </a:pPr>
            <a:r>
              <a:rPr lang="en-AU" sz="2000" dirty="0"/>
              <a:t>Ensure 95 percent of Aboriginal and Torres Strait Islander four-years-olds are enrolled in early childhood education by 2025</a:t>
            </a:r>
          </a:p>
          <a:p>
            <a:pPr>
              <a:buFont typeface="Wingdings" panose="05000000000000000000" pitchFamily="2" charset="2"/>
              <a:buChar char="q"/>
            </a:pPr>
            <a:r>
              <a:rPr lang="en-AU" sz="2000" dirty="0"/>
              <a:t>Halve the gap in reading, writing and numeracy by 2018</a:t>
            </a:r>
          </a:p>
          <a:p>
            <a:pPr>
              <a:buFont typeface="Wingdings" panose="05000000000000000000" pitchFamily="2" charset="2"/>
              <a:buChar char="q"/>
            </a:pPr>
            <a:r>
              <a:rPr lang="en-AU" sz="2000" dirty="0"/>
              <a:t>Halve the gap in year 12 attainment by 2020</a:t>
            </a:r>
          </a:p>
          <a:p>
            <a:pPr>
              <a:buFont typeface="Wingdings" panose="05000000000000000000" pitchFamily="2" charset="2"/>
              <a:buChar char="q"/>
            </a:pPr>
            <a:r>
              <a:rPr lang="en-AU" sz="2000" dirty="0"/>
              <a:t>Halve the gap in employment by 2018.</a:t>
            </a:r>
          </a:p>
          <a:p>
            <a:pPr>
              <a:buFont typeface="Wingdings" panose="05000000000000000000" pitchFamily="2" charset="2"/>
              <a:buChar char="q"/>
            </a:pPr>
            <a:r>
              <a:rPr lang="en-AU" sz="2000" dirty="0"/>
              <a:t>Close the gap in school attendance by 2018</a:t>
            </a:r>
            <a:endParaRPr lang="en-AU" dirty="0"/>
          </a:p>
        </p:txBody>
      </p:sp>
    </p:spTree>
    <p:extLst>
      <p:ext uri="{BB962C8B-B14F-4D97-AF65-F5344CB8AC3E}">
        <p14:creationId xmlns:p14="http://schemas.microsoft.com/office/powerpoint/2010/main" val="2734283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Closing The Gap</a:t>
            </a:r>
          </a:p>
        </p:txBody>
      </p:sp>
      <p:sp>
        <p:nvSpPr>
          <p:cNvPr id="3" name="Content Placeholder 2"/>
          <p:cNvSpPr>
            <a:spLocks noGrp="1"/>
          </p:cNvSpPr>
          <p:nvPr>
            <p:ph idx="1"/>
          </p:nvPr>
        </p:nvSpPr>
        <p:spPr/>
        <p:txBody>
          <a:bodyPr>
            <a:normAutofit/>
          </a:bodyPr>
          <a:lstStyle/>
          <a:p>
            <a:r>
              <a:rPr lang="en-AU" dirty="0"/>
              <a:t>In 2008, Australian Governments committed to specific targets for reducing </a:t>
            </a:r>
            <a:r>
              <a:rPr lang="en-AU" dirty="0" err="1"/>
              <a:t>inequalityes</a:t>
            </a:r>
            <a:r>
              <a:rPr lang="en-AU" dirty="0"/>
              <a:t> in ATSI life expectancy, mortality, education, school attendance and employment.</a:t>
            </a:r>
          </a:p>
          <a:p>
            <a:endParaRPr lang="en-AU" dirty="0"/>
          </a:p>
          <a:p>
            <a:pPr>
              <a:buFont typeface="Wingdings" panose="05000000000000000000" pitchFamily="2" charset="2"/>
              <a:buChar char="q"/>
            </a:pPr>
            <a:r>
              <a:rPr lang="en-AU" sz="2000" dirty="0"/>
              <a:t>Close the gap in life expectancy by 2031</a:t>
            </a:r>
          </a:p>
          <a:p>
            <a:pPr>
              <a:buFont typeface="Wingdings" panose="05000000000000000000" pitchFamily="2" charset="2"/>
              <a:buChar char="q"/>
            </a:pPr>
            <a:r>
              <a:rPr lang="en-AU" sz="2000" dirty="0"/>
              <a:t>Halve the gap in child mortality by 2018</a:t>
            </a:r>
          </a:p>
          <a:p>
            <a:pPr>
              <a:buFont typeface="Wingdings" panose="05000000000000000000" pitchFamily="2" charset="2"/>
              <a:buChar char="q"/>
            </a:pPr>
            <a:r>
              <a:rPr lang="en-AU" sz="2000" dirty="0"/>
              <a:t>Ensure 95 percent of Aboriginal and Torres Strait Islander four-years-olds are enrolled in early childhood education by 2025</a:t>
            </a:r>
          </a:p>
          <a:p>
            <a:pPr>
              <a:buFont typeface="Wingdings" panose="05000000000000000000" pitchFamily="2" charset="2"/>
              <a:buChar char="q"/>
            </a:pPr>
            <a:r>
              <a:rPr lang="en-AU" sz="2000" dirty="0"/>
              <a:t>Halve the gap in reading, writing and numeracy by 2018</a:t>
            </a:r>
          </a:p>
          <a:p>
            <a:pPr>
              <a:buFont typeface="Wingdings" panose="05000000000000000000" pitchFamily="2" charset="2"/>
              <a:buChar char="q"/>
            </a:pPr>
            <a:r>
              <a:rPr lang="en-AU" sz="2000" dirty="0">
                <a:solidFill>
                  <a:srgbClr val="FF0000"/>
                </a:solidFill>
              </a:rPr>
              <a:t>Halve the gap in year 12 attainment by 2020 – On Track </a:t>
            </a:r>
          </a:p>
          <a:p>
            <a:pPr>
              <a:buFont typeface="Wingdings" panose="05000000000000000000" pitchFamily="2" charset="2"/>
              <a:buChar char="q"/>
            </a:pPr>
            <a:r>
              <a:rPr lang="en-AU" sz="2000" dirty="0"/>
              <a:t>Halve the gap in employment by 2018.</a:t>
            </a:r>
          </a:p>
          <a:p>
            <a:pPr>
              <a:buFont typeface="Wingdings" panose="05000000000000000000" pitchFamily="2" charset="2"/>
              <a:buChar char="q"/>
            </a:pPr>
            <a:r>
              <a:rPr lang="en-AU" sz="2000" dirty="0"/>
              <a:t>Close the gap in school attendance by 2018</a:t>
            </a:r>
            <a:endParaRPr lang="en-AU" dirty="0"/>
          </a:p>
        </p:txBody>
      </p:sp>
    </p:spTree>
    <p:extLst>
      <p:ext uri="{BB962C8B-B14F-4D97-AF65-F5344CB8AC3E}">
        <p14:creationId xmlns:p14="http://schemas.microsoft.com/office/powerpoint/2010/main" val="4324591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362</TotalTime>
  <Words>1318</Words>
  <Application>Microsoft Office PowerPoint</Application>
  <PresentationFormat>On-screen Show (4:3)</PresentationFormat>
  <Paragraphs>102</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Wingdings</vt:lpstr>
      <vt:lpstr>Clarity</vt:lpstr>
      <vt:lpstr>The Apology (2008)</vt:lpstr>
      <vt:lpstr>The Stolen Generations</vt:lpstr>
      <vt:lpstr>Why were children removed? </vt:lpstr>
      <vt:lpstr>Impact </vt:lpstr>
      <vt:lpstr>Reconciliation </vt:lpstr>
      <vt:lpstr>The Apology to the Stolen Generations </vt:lpstr>
      <vt:lpstr>PowerPoint Presentation</vt:lpstr>
      <vt:lpstr>Video  </vt:lpstr>
      <vt:lpstr>Questions </vt:lpstr>
      <vt:lpstr>Speech Transcript</vt:lpstr>
      <vt:lpstr>Why did he apologise? </vt:lpstr>
      <vt:lpstr>PowerPoint Presentation</vt:lpstr>
      <vt:lpstr>Initial Response </vt:lpstr>
      <vt:lpstr>PowerPoint Presentation</vt:lpstr>
      <vt:lpstr>PowerPoint Presentation</vt:lpstr>
      <vt:lpstr>PowerPoint Presentation</vt:lpstr>
      <vt:lpstr>Today </vt:lpstr>
      <vt:lpstr>Closing The Gap</vt:lpstr>
      <vt:lpstr>Closing The Gap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Apology (2008)</dc:title>
  <dc:creator>FAZIOLI Carly</dc:creator>
  <cp:lastModifiedBy>FLAVEL Carly [Narrogin Senior High School]</cp:lastModifiedBy>
  <cp:revision>11</cp:revision>
  <dcterms:created xsi:type="dcterms:W3CDTF">2019-04-01T04:49:35Z</dcterms:created>
  <dcterms:modified xsi:type="dcterms:W3CDTF">2022-09-16T03:21:03Z</dcterms:modified>
</cp:coreProperties>
</file>
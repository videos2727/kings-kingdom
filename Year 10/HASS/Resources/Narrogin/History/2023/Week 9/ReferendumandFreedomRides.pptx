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8"/>
  </p:notesMasterIdLst>
  <p:sldIdLst>
    <p:sldId id="258" r:id="rId2"/>
    <p:sldId id="256" r:id="rId3"/>
    <p:sldId id="257" r:id="rId4"/>
    <p:sldId id="272" r:id="rId5"/>
    <p:sldId id="265" r:id="rId6"/>
    <p:sldId id="266" r:id="rId7"/>
    <p:sldId id="267" r:id="rId8"/>
    <p:sldId id="268" r:id="rId9"/>
    <p:sldId id="269" r:id="rId10"/>
    <p:sldId id="270" r:id="rId11"/>
    <p:sldId id="271" r:id="rId12"/>
    <p:sldId id="273" r:id="rId13"/>
    <p:sldId id="260" r:id="rId14"/>
    <p:sldId id="263" r:id="rId15"/>
    <p:sldId id="264" r:id="rId16"/>
    <p:sldId id="26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854"/>
    <p:restoredTop sz="74661"/>
  </p:normalViewPr>
  <p:slideViewPr>
    <p:cSldViewPr snapToGrid="0" snapToObjects="1">
      <p:cViewPr varScale="1">
        <p:scale>
          <a:sx n="85" d="100"/>
          <a:sy n="85" d="100"/>
        </p:scale>
        <p:origin x="211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54AB5E-9DEA-E84A-947F-F9812C26F992}" type="datetimeFigureOut">
              <a:rPr lang="en-AU" smtClean="0"/>
              <a:t>14/09/2022</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097F9D-563F-CD4A-934B-DBB8C293491E}" type="slidenum">
              <a:rPr lang="en-AU" smtClean="0"/>
              <a:t>‹#›</a:t>
            </a:fld>
            <a:endParaRPr lang="en-AU"/>
          </a:p>
        </p:txBody>
      </p:sp>
    </p:spTree>
    <p:extLst>
      <p:ext uri="{BB962C8B-B14F-4D97-AF65-F5344CB8AC3E}">
        <p14:creationId xmlns:p14="http://schemas.microsoft.com/office/powerpoint/2010/main" val="2073068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As a young man, Charles </a:t>
            </a:r>
            <a:r>
              <a:rPr lang="en-AU" dirty="0" err="1"/>
              <a:t>Perkinsregularly</a:t>
            </a:r>
            <a:r>
              <a:rPr lang="en-AU" dirty="0"/>
              <a:t> took the bus from Sydney </a:t>
            </a:r>
            <a:r>
              <a:rPr lang="en-AU" dirty="0" err="1"/>
              <a:t>Universityto</a:t>
            </a:r>
            <a:r>
              <a:rPr lang="en-AU" dirty="0"/>
              <a:t> his home in Bondi. This iconic </a:t>
            </a:r>
            <a:r>
              <a:rPr lang="en-AU" dirty="0" err="1"/>
              <a:t>imagewas</a:t>
            </a:r>
            <a:r>
              <a:rPr lang="en-AU" dirty="0"/>
              <a:t> captured by photojournalist </a:t>
            </a:r>
            <a:r>
              <a:rPr lang="en-AU" dirty="0" err="1"/>
              <a:t>RobertMcFarlane</a:t>
            </a:r>
            <a:r>
              <a:rPr lang="en-AU" dirty="0"/>
              <a:t> in 1961, when Perkins was </a:t>
            </a:r>
            <a:r>
              <a:rPr lang="en-AU" dirty="0" err="1"/>
              <a:t>justbeginning</a:t>
            </a:r>
            <a:r>
              <a:rPr lang="en-AU" dirty="0"/>
              <a:t> to gain attention for his activism</a:t>
            </a:r>
          </a:p>
        </p:txBody>
      </p:sp>
      <p:sp>
        <p:nvSpPr>
          <p:cNvPr id="4" name="Slide Number Placeholder 3"/>
          <p:cNvSpPr>
            <a:spLocks noGrp="1"/>
          </p:cNvSpPr>
          <p:nvPr>
            <p:ph type="sldNum" sz="quarter" idx="10"/>
          </p:nvPr>
        </p:nvSpPr>
        <p:spPr/>
        <p:txBody>
          <a:bodyPr/>
          <a:lstStyle/>
          <a:p>
            <a:fld id="{79097F9D-563F-CD4A-934B-DBB8C293491E}" type="slidenum">
              <a:rPr lang="en-AU" smtClean="0"/>
              <a:t>1</a:t>
            </a:fld>
            <a:endParaRPr lang="en-AU"/>
          </a:p>
        </p:txBody>
      </p:sp>
    </p:spTree>
    <p:extLst>
      <p:ext uri="{BB962C8B-B14F-4D97-AF65-F5344CB8AC3E}">
        <p14:creationId xmlns:p14="http://schemas.microsoft.com/office/powerpoint/2010/main" val="3652288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https://</a:t>
            </a:r>
            <a:r>
              <a:rPr lang="en-AU" dirty="0" err="1"/>
              <a:t>www.sbs.com.au</a:t>
            </a:r>
            <a:r>
              <a:rPr lang="en-AU" dirty="0"/>
              <a:t>/</a:t>
            </a:r>
            <a:r>
              <a:rPr lang="en-AU" dirty="0" err="1"/>
              <a:t>ondemand</a:t>
            </a:r>
            <a:r>
              <a:rPr lang="en-AU" dirty="0"/>
              <a:t>/video/630887491956/the-freedom-rides</a:t>
            </a:r>
          </a:p>
        </p:txBody>
      </p:sp>
      <p:sp>
        <p:nvSpPr>
          <p:cNvPr id="4" name="Slide Number Placeholder 3"/>
          <p:cNvSpPr>
            <a:spLocks noGrp="1"/>
          </p:cNvSpPr>
          <p:nvPr>
            <p:ph type="sldNum" sz="quarter" idx="10"/>
          </p:nvPr>
        </p:nvSpPr>
        <p:spPr/>
        <p:txBody>
          <a:bodyPr/>
          <a:lstStyle/>
          <a:p>
            <a:fld id="{79097F9D-563F-CD4A-934B-DBB8C293491E}" type="slidenum">
              <a:rPr lang="en-AU" smtClean="0"/>
              <a:t>6</a:t>
            </a:fld>
            <a:endParaRPr lang="en-AU"/>
          </a:p>
        </p:txBody>
      </p:sp>
    </p:spTree>
    <p:extLst>
      <p:ext uri="{BB962C8B-B14F-4D97-AF65-F5344CB8AC3E}">
        <p14:creationId xmlns:p14="http://schemas.microsoft.com/office/powerpoint/2010/main" val="33627779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79097F9D-563F-CD4A-934B-DBB8C293491E}" type="slidenum">
              <a:rPr lang="en-AU" smtClean="0"/>
              <a:t>8</a:t>
            </a:fld>
            <a:endParaRPr lang="en-AU"/>
          </a:p>
        </p:txBody>
      </p:sp>
    </p:spTree>
    <p:extLst>
      <p:ext uri="{BB962C8B-B14F-4D97-AF65-F5344CB8AC3E}">
        <p14:creationId xmlns:p14="http://schemas.microsoft.com/office/powerpoint/2010/main" val="7164291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Would you rather </a:t>
            </a:r>
          </a:p>
          <a:p>
            <a:r>
              <a:rPr lang="en-AU" dirty="0"/>
              <a:t>Gun thumbs</a:t>
            </a:r>
          </a:p>
          <a:p>
            <a:r>
              <a:rPr lang="en-AU" dirty="0"/>
              <a:t>Find your centre</a:t>
            </a:r>
          </a:p>
          <a:p>
            <a:r>
              <a:rPr lang="en-AU" dirty="0"/>
              <a:t>Desk drumming</a:t>
            </a:r>
          </a:p>
          <a:p>
            <a:r>
              <a:rPr lang="en-AU" dirty="0"/>
              <a:t>Scissors paper rock cheer squad</a:t>
            </a:r>
          </a:p>
          <a:p>
            <a:r>
              <a:rPr lang="en-AU" dirty="0"/>
              <a:t>Name circle </a:t>
            </a:r>
          </a:p>
          <a:p>
            <a:r>
              <a:rPr lang="en-AU"/>
              <a:t>Silent ball</a:t>
            </a:r>
          </a:p>
          <a:p>
            <a:endParaRPr lang="en-AU"/>
          </a:p>
        </p:txBody>
      </p:sp>
      <p:sp>
        <p:nvSpPr>
          <p:cNvPr id="4" name="Slide Number Placeholder 3"/>
          <p:cNvSpPr>
            <a:spLocks noGrp="1"/>
          </p:cNvSpPr>
          <p:nvPr>
            <p:ph type="sldNum" sz="quarter" idx="10"/>
          </p:nvPr>
        </p:nvSpPr>
        <p:spPr/>
        <p:txBody>
          <a:bodyPr/>
          <a:lstStyle/>
          <a:p>
            <a:fld id="{79097F9D-563F-CD4A-934B-DBB8C293491E}" type="slidenum">
              <a:rPr lang="en-AU" smtClean="0"/>
              <a:t>14</a:t>
            </a:fld>
            <a:endParaRPr lang="en-AU"/>
          </a:p>
        </p:txBody>
      </p:sp>
    </p:spTree>
    <p:extLst>
      <p:ext uri="{BB962C8B-B14F-4D97-AF65-F5344CB8AC3E}">
        <p14:creationId xmlns:p14="http://schemas.microsoft.com/office/powerpoint/2010/main" val="3527791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12:05</a:t>
            </a:r>
          </a:p>
        </p:txBody>
      </p:sp>
      <p:sp>
        <p:nvSpPr>
          <p:cNvPr id="4" name="Slide Number Placeholder 3"/>
          <p:cNvSpPr>
            <a:spLocks noGrp="1"/>
          </p:cNvSpPr>
          <p:nvPr>
            <p:ph type="sldNum" sz="quarter" idx="10"/>
          </p:nvPr>
        </p:nvSpPr>
        <p:spPr/>
        <p:txBody>
          <a:bodyPr/>
          <a:lstStyle/>
          <a:p>
            <a:fld id="{040230BE-7854-774B-8762-B9C60A311293}" type="slidenum">
              <a:rPr lang="en-AU" smtClean="0"/>
              <a:t>15</a:t>
            </a:fld>
            <a:endParaRPr lang="en-AU"/>
          </a:p>
        </p:txBody>
      </p:sp>
    </p:spTree>
    <p:extLst>
      <p:ext uri="{BB962C8B-B14F-4D97-AF65-F5344CB8AC3E}">
        <p14:creationId xmlns:p14="http://schemas.microsoft.com/office/powerpoint/2010/main" val="30457531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https://</a:t>
            </a:r>
            <a:r>
              <a:rPr lang="en-AU" dirty="0" err="1"/>
              <a:t>www.edutopia.org</a:t>
            </a:r>
            <a:r>
              <a:rPr lang="en-AU" dirty="0"/>
              <a:t>/blog/22-powerful-closure-activities-todd-finley</a:t>
            </a:r>
          </a:p>
          <a:p>
            <a:r>
              <a:rPr lang="en-AU" dirty="0"/>
              <a:t>http://www.stma.k12.mn.us/documents/DW/</a:t>
            </a:r>
            <a:r>
              <a:rPr lang="en-AU" dirty="0" err="1"/>
              <a:t>Q_Comp</a:t>
            </a:r>
            <a:r>
              <a:rPr lang="en-AU" dirty="0"/>
              <a:t>/40_ways_to_leave_a_lesson.pdf</a:t>
            </a:r>
          </a:p>
        </p:txBody>
      </p:sp>
      <p:sp>
        <p:nvSpPr>
          <p:cNvPr id="4" name="Slide Number Placeholder 3"/>
          <p:cNvSpPr>
            <a:spLocks noGrp="1"/>
          </p:cNvSpPr>
          <p:nvPr>
            <p:ph type="sldNum" sz="quarter" idx="10"/>
          </p:nvPr>
        </p:nvSpPr>
        <p:spPr/>
        <p:txBody>
          <a:bodyPr/>
          <a:lstStyle/>
          <a:p>
            <a:fld id="{79097F9D-563F-CD4A-934B-DBB8C293491E}" type="slidenum">
              <a:rPr lang="en-AU" smtClean="0"/>
              <a:t>16</a:t>
            </a:fld>
            <a:endParaRPr lang="en-AU"/>
          </a:p>
        </p:txBody>
      </p:sp>
    </p:spTree>
    <p:extLst>
      <p:ext uri="{BB962C8B-B14F-4D97-AF65-F5344CB8AC3E}">
        <p14:creationId xmlns:p14="http://schemas.microsoft.com/office/powerpoint/2010/main" val="18435814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9/14/2022</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9/14/2022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9/14/2022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9/14/2022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9/14/2022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9/14/2022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9/14/2022</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4B3D5-D2EA-2B4E-91C8-442E162B5A14}"/>
              </a:ext>
            </a:extLst>
          </p:cNvPr>
          <p:cNvSpPr>
            <a:spLocks noGrp="1"/>
          </p:cNvSpPr>
          <p:nvPr>
            <p:ph type="title"/>
          </p:nvPr>
        </p:nvSpPr>
        <p:spPr/>
        <p:txBody>
          <a:bodyPr/>
          <a:lstStyle/>
          <a:p>
            <a:r>
              <a:rPr lang="en-AU" dirty="0"/>
              <a:t>See, Think, Wonder</a:t>
            </a:r>
          </a:p>
        </p:txBody>
      </p:sp>
      <p:pic>
        <p:nvPicPr>
          <p:cNvPr id="5" name="Content Placeholder 4">
            <a:extLst>
              <a:ext uri="{FF2B5EF4-FFF2-40B4-BE49-F238E27FC236}">
                <a16:creationId xmlns:a16="http://schemas.microsoft.com/office/drawing/2014/main" id="{9DBB90DA-E701-EC43-8D0F-743194E93C8B}"/>
              </a:ext>
            </a:extLst>
          </p:cNvPr>
          <p:cNvPicPr>
            <a:picLocks noGrp="1" noChangeAspect="1"/>
          </p:cNvPicPr>
          <p:nvPr>
            <p:ph idx="1"/>
          </p:nvPr>
        </p:nvPicPr>
        <p:blipFill>
          <a:blip r:embed="rId3"/>
          <a:stretch>
            <a:fillRect/>
          </a:stretch>
        </p:blipFill>
        <p:spPr>
          <a:xfrm>
            <a:off x="6155601" y="982663"/>
            <a:ext cx="3995598" cy="4892675"/>
          </a:xfrm>
          <a:prstGeom prst="rect">
            <a:avLst/>
          </a:prstGeom>
        </p:spPr>
      </p:pic>
      <p:sp>
        <p:nvSpPr>
          <p:cNvPr id="4" name="Text Placeholder 3">
            <a:extLst>
              <a:ext uri="{FF2B5EF4-FFF2-40B4-BE49-F238E27FC236}">
                <a16:creationId xmlns:a16="http://schemas.microsoft.com/office/drawing/2014/main" id="{D6B747D2-383A-3042-A85A-67E08F66B7FD}"/>
              </a:ext>
            </a:extLst>
          </p:cNvPr>
          <p:cNvSpPr>
            <a:spLocks noGrp="1"/>
          </p:cNvSpPr>
          <p:nvPr>
            <p:ph type="body" sz="half" idx="2"/>
          </p:nvPr>
        </p:nvSpPr>
        <p:spPr/>
        <p:txBody>
          <a:bodyPr/>
          <a:lstStyle/>
          <a:p>
            <a:endParaRPr lang="en-AU"/>
          </a:p>
          <a:p>
            <a:r>
              <a:rPr lang="en-AU"/>
              <a:t>In </a:t>
            </a:r>
            <a:r>
              <a:rPr lang="en-AU" dirty="0"/>
              <a:t>your books write, </a:t>
            </a:r>
          </a:p>
          <a:p>
            <a:r>
              <a:rPr lang="en-AU" dirty="0"/>
              <a:t>Three things you see,</a:t>
            </a:r>
          </a:p>
          <a:p>
            <a:r>
              <a:rPr lang="en-AU" dirty="0"/>
              <a:t>Two things you think, and</a:t>
            </a:r>
          </a:p>
          <a:p>
            <a:r>
              <a:rPr lang="en-AU" dirty="0"/>
              <a:t>One thing you wonder about this image</a:t>
            </a:r>
          </a:p>
        </p:txBody>
      </p:sp>
    </p:spTree>
    <p:extLst>
      <p:ext uri="{BB962C8B-B14F-4D97-AF65-F5344CB8AC3E}">
        <p14:creationId xmlns:p14="http://schemas.microsoft.com/office/powerpoint/2010/main" val="2140490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242A0-D3F7-744F-81C2-873055005EEA}"/>
              </a:ext>
            </a:extLst>
          </p:cNvPr>
          <p:cNvSpPr>
            <a:spLocks noGrp="1"/>
          </p:cNvSpPr>
          <p:nvPr>
            <p:ph type="ctrTitle"/>
          </p:nvPr>
        </p:nvSpPr>
        <p:spPr/>
        <p:txBody>
          <a:bodyPr/>
          <a:lstStyle/>
          <a:p>
            <a:endParaRPr lang="en-AU"/>
          </a:p>
        </p:txBody>
      </p:sp>
      <p:sp>
        <p:nvSpPr>
          <p:cNvPr id="3" name="Subtitle 2">
            <a:extLst>
              <a:ext uri="{FF2B5EF4-FFF2-40B4-BE49-F238E27FC236}">
                <a16:creationId xmlns:a16="http://schemas.microsoft.com/office/drawing/2014/main" id="{430712CF-7C7C-7D4B-8D82-93399E79A220}"/>
              </a:ext>
            </a:extLst>
          </p:cNvPr>
          <p:cNvSpPr>
            <a:spLocks noGrp="1"/>
          </p:cNvSpPr>
          <p:nvPr>
            <p:ph type="subTitle" idx="1"/>
          </p:nvPr>
        </p:nvSpPr>
        <p:spPr/>
        <p:txBody>
          <a:bodyPr/>
          <a:lstStyle/>
          <a:p>
            <a:endParaRPr lang="en-AU"/>
          </a:p>
        </p:txBody>
      </p:sp>
    </p:spTree>
    <p:extLst>
      <p:ext uri="{BB962C8B-B14F-4D97-AF65-F5344CB8AC3E}">
        <p14:creationId xmlns:p14="http://schemas.microsoft.com/office/powerpoint/2010/main" val="451328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3C21620-42E5-0249-A626-52CDAD8D408E}"/>
              </a:ext>
            </a:extLst>
          </p:cNvPr>
          <p:cNvSpPr>
            <a:spLocks noGrp="1"/>
          </p:cNvSpPr>
          <p:nvPr>
            <p:ph type="body" idx="1"/>
          </p:nvPr>
        </p:nvSpPr>
        <p:spPr>
          <a:xfrm>
            <a:off x="1295400" y="1604985"/>
            <a:ext cx="4718304" cy="576262"/>
          </a:xfrm>
        </p:spPr>
        <p:txBody>
          <a:bodyPr/>
          <a:lstStyle/>
          <a:p>
            <a:r>
              <a:rPr lang="en-AU" dirty="0"/>
              <a:t>Learning Intentions</a:t>
            </a:r>
          </a:p>
        </p:txBody>
      </p:sp>
      <p:sp>
        <p:nvSpPr>
          <p:cNvPr id="7" name="Content Placeholder 6">
            <a:extLst>
              <a:ext uri="{FF2B5EF4-FFF2-40B4-BE49-F238E27FC236}">
                <a16:creationId xmlns:a16="http://schemas.microsoft.com/office/drawing/2014/main" id="{3E8E0131-BF7A-794E-8149-8E3A64233BFA}"/>
              </a:ext>
            </a:extLst>
          </p:cNvPr>
          <p:cNvSpPr>
            <a:spLocks noGrp="1"/>
          </p:cNvSpPr>
          <p:nvPr>
            <p:ph sz="half" idx="2"/>
          </p:nvPr>
        </p:nvSpPr>
        <p:spPr>
          <a:xfrm>
            <a:off x="1295400" y="2594114"/>
            <a:ext cx="4718304" cy="3281754"/>
          </a:xfrm>
        </p:spPr>
        <p:txBody>
          <a:bodyPr/>
          <a:lstStyle/>
          <a:p>
            <a:endParaRPr lang="en-AU"/>
          </a:p>
        </p:txBody>
      </p:sp>
      <p:sp>
        <p:nvSpPr>
          <p:cNvPr id="8" name="Text Placeholder 7">
            <a:extLst>
              <a:ext uri="{FF2B5EF4-FFF2-40B4-BE49-F238E27FC236}">
                <a16:creationId xmlns:a16="http://schemas.microsoft.com/office/drawing/2014/main" id="{E6239FD1-9E57-524C-A2FE-9D7259DB53B3}"/>
              </a:ext>
            </a:extLst>
          </p:cNvPr>
          <p:cNvSpPr>
            <a:spLocks noGrp="1"/>
          </p:cNvSpPr>
          <p:nvPr>
            <p:ph type="body" sz="quarter" idx="3"/>
          </p:nvPr>
        </p:nvSpPr>
        <p:spPr>
          <a:xfrm>
            <a:off x="6180670" y="1604985"/>
            <a:ext cx="4718304" cy="576262"/>
          </a:xfrm>
        </p:spPr>
        <p:txBody>
          <a:bodyPr/>
          <a:lstStyle/>
          <a:p>
            <a:r>
              <a:rPr lang="en-AU" dirty="0"/>
              <a:t>Success Criteria</a:t>
            </a:r>
          </a:p>
        </p:txBody>
      </p:sp>
      <p:sp>
        <p:nvSpPr>
          <p:cNvPr id="9" name="Content Placeholder 8">
            <a:extLst>
              <a:ext uri="{FF2B5EF4-FFF2-40B4-BE49-F238E27FC236}">
                <a16:creationId xmlns:a16="http://schemas.microsoft.com/office/drawing/2014/main" id="{AEA137D9-DAB2-2842-9B5F-35F47B4AB302}"/>
              </a:ext>
            </a:extLst>
          </p:cNvPr>
          <p:cNvSpPr>
            <a:spLocks noGrp="1"/>
          </p:cNvSpPr>
          <p:nvPr>
            <p:ph sz="quarter" idx="4"/>
          </p:nvPr>
        </p:nvSpPr>
        <p:spPr>
          <a:xfrm>
            <a:off x="6180670" y="2594114"/>
            <a:ext cx="4718304" cy="3281753"/>
          </a:xfrm>
        </p:spPr>
        <p:txBody>
          <a:bodyPr/>
          <a:lstStyle/>
          <a:p>
            <a:endParaRPr lang="en-AU" dirty="0"/>
          </a:p>
        </p:txBody>
      </p:sp>
    </p:spTree>
    <p:extLst>
      <p:ext uri="{BB962C8B-B14F-4D97-AF65-F5344CB8AC3E}">
        <p14:creationId xmlns:p14="http://schemas.microsoft.com/office/powerpoint/2010/main" val="3478861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D2D59-1537-BB49-8DCC-FF7684D289AC}"/>
              </a:ext>
            </a:extLst>
          </p:cNvPr>
          <p:cNvSpPr>
            <a:spLocks noGrp="1"/>
          </p:cNvSpPr>
          <p:nvPr>
            <p:ph type="title"/>
          </p:nvPr>
        </p:nvSpPr>
        <p:spPr/>
        <p:txBody>
          <a:bodyPr/>
          <a:lstStyle/>
          <a:p>
            <a:r>
              <a:rPr lang="en-AU" dirty="0"/>
              <a:t>Paragraph Structure </a:t>
            </a:r>
          </a:p>
        </p:txBody>
      </p:sp>
      <p:sp>
        <p:nvSpPr>
          <p:cNvPr id="3" name="Content Placeholder 2">
            <a:extLst>
              <a:ext uri="{FF2B5EF4-FFF2-40B4-BE49-F238E27FC236}">
                <a16:creationId xmlns:a16="http://schemas.microsoft.com/office/drawing/2014/main" id="{1709D3D3-F4D3-9746-9147-7736A659EAE7}"/>
              </a:ext>
            </a:extLst>
          </p:cNvPr>
          <p:cNvSpPr>
            <a:spLocks noGrp="1"/>
          </p:cNvSpPr>
          <p:nvPr>
            <p:ph idx="1"/>
          </p:nvPr>
        </p:nvSpPr>
        <p:spPr>
          <a:xfrm>
            <a:off x="822960" y="2567092"/>
            <a:ext cx="8016240" cy="3660988"/>
          </a:xfrm>
        </p:spPr>
        <p:txBody>
          <a:bodyPr>
            <a:normAutofit/>
          </a:bodyPr>
          <a:lstStyle/>
          <a:p>
            <a:pPr marL="457200" indent="-457200">
              <a:buFont typeface="+mj-lt"/>
              <a:buAutoNum type="arabicPeriod"/>
            </a:pPr>
            <a:r>
              <a:rPr lang="en-AU" dirty="0"/>
              <a:t>Topic sentence (link to question!</a:t>
            </a:r>
          </a:p>
          <a:p>
            <a:pPr marL="457200" indent="-457200">
              <a:buFont typeface="+mj-lt"/>
              <a:buAutoNum type="arabicPeriod"/>
            </a:pPr>
            <a:r>
              <a:rPr lang="en-AU" dirty="0"/>
              <a:t>What are citizenship rights and how were they an issue for Indigenous rights and freedoms? </a:t>
            </a:r>
          </a:p>
          <a:p>
            <a:pPr marL="457200" indent="-457200">
              <a:buFont typeface="+mj-lt"/>
              <a:buAutoNum type="arabicPeriod"/>
            </a:pPr>
            <a:r>
              <a:rPr lang="en-AU" dirty="0"/>
              <a:t>How did Indigenous peoples fight for citizenship rights?</a:t>
            </a:r>
          </a:p>
          <a:p>
            <a:pPr marL="457200" indent="-457200">
              <a:buFont typeface="+mj-lt"/>
              <a:buAutoNum type="arabicPeriod"/>
            </a:pPr>
            <a:r>
              <a:rPr lang="en-AU" dirty="0"/>
              <a:t>To what extend did they succeed? </a:t>
            </a:r>
          </a:p>
          <a:p>
            <a:pPr marL="457200" indent="-457200">
              <a:buFont typeface="+mj-lt"/>
              <a:buAutoNum type="arabicPeriod"/>
            </a:pPr>
            <a:r>
              <a:rPr lang="en-AU" dirty="0"/>
              <a:t>Link back to question</a:t>
            </a:r>
          </a:p>
        </p:txBody>
      </p:sp>
      <p:sp>
        <p:nvSpPr>
          <p:cNvPr id="4" name="Rectangle 3">
            <a:extLst>
              <a:ext uri="{FF2B5EF4-FFF2-40B4-BE49-F238E27FC236}">
                <a16:creationId xmlns:a16="http://schemas.microsoft.com/office/drawing/2014/main" id="{3EFD33A3-C14D-9348-9606-42B26846FDE1}"/>
              </a:ext>
            </a:extLst>
          </p:cNvPr>
          <p:cNvSpPr/>
          <p:nvPr/>
        </p:nvSpPr>
        <p:spPr>
          <a:xfrm>
            <a:off x="8839200" y="3962400"/>
            <a:ext cx="2600960" cy="178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t>Remember to include at least one primary source! And integrate it into your writing! </a:t>
            </a:r>
          </a:p>
        </p:txBody>
      </p:sp>
    </p:spTree>
    <p:extLst>
      <p:ext uri="{BB962C8B-B14F-4D97-AF65-F5344CB8AC3E}">
        <p14:creationId xmlns:p14="http://schemas.microsoft.com/office/powerpoint/2010/main" val="1376428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BA08F-F616-5E47-8FDC-EF60CC258AD2}"/>
              </a:ext>
            </a:extLst>
          </p:cNvPr>
          <p:cNvSpPr>
            <a:spLocks noGrp="1"/>
          </p:cNvSpPr>
          <p:nvPr>
            <p:ph type="title"/>
          </p:nvPr>
        </p:nvSpPr>
        <p:spPr/>
        <p:txBody>
          <a:bodyPr/>
          <a:lstStyle/>
          <a:p>
            <a:r>
              <a:rPr lang="en-AU" dirty="0"/>
              <a:t>Citizenship Rights</a:t>
            </a:r>
          </a:p>
        </p:txBody>
      </p:sp>
      <p:sp>
        <p:nvSpPr>
          <p:cNvPr id="3" name="Content Placeholder 2">
            <a:extLst>
              <a:ext uri="{FF2B5EF4-FFF2-40B4-BE49-F238E27FC236}">
                <a16:creationId xmlns:a16="http://schemas.microsoft.com/office/drawing/2014/main" id="{00D0311C-6740-154C-AFA2-AC6254B747C0}"/>
              </a:ext>
            </a:extLst>
          </p:cNvPr>
          <p:cNvSpPr>
            <a:spLocks noGrp="1"/>
          </p:cNvSpPr>
          <p:nvPr>
            <p:ph idx="1"/>
          </p:nvPr>
        </p:nvSpPr>
        <p:spPr>
          <a:xfrm>
            <a:off x="1023582" y="2556931"/>
            <a:ext cx="10167582" cy="3666447"/>
          </a:xfrm>
        </p:spPr>
        <p:txBody>
          <a:bodyPr>
            <a:normAutofit lnSpcReduction="10000"/>
          </a:bodyPr>
          <a:lstStyle/>
          <a:p>
            <a:r>
              <a:rPr lang="en-AU" dirty="0"/>
              <a:t>Amendments to the Commonwealth Electoral Act in 1962 allowed Aboriginal and Torres Strait Islander people to vote in Commonwealth elections, however state governments could still exclude them from voting in state elections.</a:t>
            </a:r>
          </a:p>
          <a:p>
            <a:r>
              <a:rPr lang="en-AU" dirty="0"/>
              <a:t>This was because ATSIs were not counted in the census meaning they were not Australian citizens. The Commonwealth could not make laws for them and as a result there was significant inequality between states. </a:t>
            </a:r>
          </a:p>
          <a:p>
            <a:r>
              <a:rPr lang="en-AU" dirty="0"/>
              <a:t>Essentially, ATSI were not granted the rights and freedoms that come with being a citizen of Australia, rights and freedoms that were considered inalienable for white Australians. </a:t>
            </a:r>
          </a:p>
        </p:txBody>
      </p:sp>
    </p:spTree>
    <p:extLst>
      <p:ext uri="{BB962C8B-B14F-4D97-AF65-F5344CB8AC3E}">
        <p14:creationId xmlns:p14="http://schemas.microsoft.com/office/powerpoint/2010/main" val="2070726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DACBB-2A08-5B47-BCAB-6FA8E9D88A85}"/>
              </a:ext>
            </a:extLst>
          </p:cNvPr>
          <p:cNvSpPr>
            <a:spLocks noGrp="1"/>
          </p:cNvSpPr>
          <p:nvPr>
            <p:ph type="title"/>
          </p:nvPr>
        </p:nvSpPr>
        <p:spPr/>
        <p:txBody>
          <a:bodyPr/>
          <a:lstStyle/>
          <a:p>
            <a:r>
              <a:rPr lang="en-AU" dirty="0"/>
              <a:t>Freedom Rides</a:t>
            </a:r>
          </a:p>
        </p:txBody>
      </p:sp>
      <p:sp>
        <p:nvSpPr>
          <p:cNvPr id="3" name="Content Placeholder 2">
            <a:extLst>
              <a:ext uri="{FF2B5EF4-FFF2-40B4-BE49-F238E27FC236}">
                <a16:creationId xmlns:a16="http://schemas.microsoft.com/office/drawing/2014/main" id="{3549B284-8B60-0E4B-A236-81652BD01DE8}"/>
              </a:ext>
            </a:extLst>
          </p:cNvPr>
          <p:cNvSpPr>
            <a:spLocks noGrp="1"/>
          </p:cNvSpPr>
          <p:nvPr>
            <p:ph sz="half" idx="1"/>
          </p:nvPr>
        </p:nvSpPr>
        <p:spPr>
          <a:xfrm>
            <a:off x="709684" y="2560319"/>
            <a:ext cx="8007239" cy="3640397"/>
          </a:xfrm>
        </p:spPr>
        <p:txBody>
          <a:bodyPr>
            <a:normAutofit fontScale="92500" lnSpcReduction="20000"/>
          </a:bodyPr>
          <a:lstStyle/>
          <a:p>
            <a:pPr marL="0" indent="0">
              <a:buNone/>
            </a:pPr>
            <a:r>
              <a:rPr lang="en-AU" dirty="0"/>
              <a:t>Inspired by a similar civil rights action in America, Perkins organised the Freedom Ride of1965, in which a group of 30 white university students from Student Action for Aborigines (SAFA) would take a bus tour of outback New South Wales. The journey was intended to be a ‘study tour’ of race relations in Australia. Over the following two weeks, the group saw the desperate poverty and often unsanitary living conditions experienced by Indigenous people and witnessed the racial discrimination directed against them. In the town of Moree Indigenous children were banned from using the public swimming pool. In Bowraville the cinema was partitioned. And in Walgett Indigenous veterans were allowed into the Returned Soldiers’ League only on Anzac Day.</a:t>
            </a:r>
          </a:p>
        </p:txBody>
      </p:sp>
      <p:pic>
        <p:nvPicPr>
          <p:cNvPr id="6" name="Content Placeholder 5">
            <a:extLst>
              <a:ext uri="{FF2B5EF4-FFF2-40B4-BE49-F238E27FC236}">
                <a16:creationId xmlns:a16="http://schemas.microsoft.com/office/drawing/2014/main" id="{E6BA2816-491C-024B-8B52-B985AC0AFE7D}"/>
              </a:ext>
            </a:extLst>
          </p:cNvPr>
          <p:cNvPicPr>
            <a:picLocks noGrp="1" noChangeAspect="1"/>
          </p:cNvPicPr>
          <p:nvPr>
            <p:ph sz="half" idx="2"/>
          </p:nvPr>
        </p:nvPicPr>
        <p:blipFill>
          <a:blip r:embed="rId3"/>
          <a:stretch>
            <a:fillRect/>
          </a:stretch>
        </p:blipFill>
        <p:spPr>
          <a:xfrm>
            <a:off x="8716923" y="340688"/>
            <a:ext cx="3439818" cy="5218585"/>
          </a:xfrm>
        </p:spPr>
      </p:pic>
    </p:spTree>
    <p:extLst>
      <p:ext uri="{BB962C8B-B14F-4D97-AF65-F5344CB8AC3E}">
        <p14:creationId xmlns:p14="http://schemas.microsoft.com/office/powerpoint/2010/main" val="2495243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4A1-89CF-2F46-B278-3C81DECFC789}"/>
              </a:ext>
            </a:extLst>
          </p:cNvPr>
          <p:cNvSpPr>
            <a:spLocks noGrp="1"/>
          </p:cNvSpPr>
          <p:nvPr>
            <p:ph type="title"/>
          </p:nvPr>
        </p:nvSpPr>
        <p:spPr/>
        <p:txBody>
          <a:bodyPr/>
          <a:lstStyle/>
          <a:p>
            <a:r>
              <a:rPr lang="en-AU" dirty="0"/>
              <a:t>Freedom Rides</a:t>
            </a:r>
          </a:p>
        </p:txBody>
      </p:sp>
      <p:sp>
        <p:nvSpPr>
          <p:cNvPr id="3" name="Content Placeholder 2">
            <a:extLst>
              <a:ext uri="{FF2B5EF4-FFF2-40B4-BE49-F238E27FC236}">
                <a16:creationId xmlns:a16="http://schemas.microsoft.com/office/drawing/2014/main" id="{D8DEB4B2-DDC5-6F41-8000-7BAE129F8BFA}"/>
              </a:ext>
            </a:extLst>
          </p:cNvPr>
          <p:cNvSpPr>
            <a:spLocks noGrp="1"/>
          </p:cNvSpPr>
          <p:nvPr>
            <p:ph idx="1"/>
          </p:nvPr>
        </p:nvSpPr>
        <p:spPr/>
        <p:txBody>
          <a:bodyPr>
            <a:normAutofit/>
          </a:bodyPr>
          <a:lstStyle/>
          <a:p>
            <a:pPr marL="0" indent="0">
              <a:buNone/>
            </a:pPr>
            <a:r>
              <a:rPr lang="en-AU" dirty="0"/>
              <a:t>Newspaper and television coverage of the Freedom Ride created awareness and discussion in Australia about the racist injustices faced by Australia’s First Peoples. This media attention and debate aided the campaign for removal of discrimination in the Australian Constitution, with the referendum in 1967 being carried. Charles Perkins had emerged as a national leader for Aboriginal Australians, and a role model for prosecuting a cause using non-violent means.</a:t>
            </a:r>
          </a:p>
        </p:txBody>
      </p:sp>
    </p:spTree>
    <p:extLst>
      <p:ext uri="{BB962C8B-B14F-4D97-AF65-F5344CB8AC3E}">
        <p14:creationId xmlns:p14="http://schemas.microsoft.com/office/powerpoint/2010/main" val="169429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5436C-4611-0E4C-BD23-F243B3FDF983}"/>
              </a:ext>
            </a:extLst>
          </p:cNvPr>
          <p:cNvSpPr>
            <a:spLocks noGrp="1"/>
          </p:cNvSpPr>
          <p:nvPr>
            <p:ph type="title"/>
          </p:nvPr>
        </p:nvSpPr>
        <p:spPr/>
        <p:txBody>
          <a:bodyPr/>
          <a:lstStyle/>
          <a:p>
            <a:r>
              <a:rPr lang="en-AU" dirty="0"/>
              <a:t>1967 Referendum</a:t>
            </a:r>
          </a:p>
        </p:txBody>
      </p:sp>
      <p:sp>
        <p:nvSpPr>
          <p:cNvPr id="3" name="Content Placeholder 2">
            <a:extLst>
              <a:ext uri="{FF2B5EF4-FFF2-40B4-BE49-F238E27FC236}">
                <a16:creationId xmlns:a16="http://schemas.microsoft.com/office/drawing/2014/main" id="{1E3595F5-A30E-8544-8EAB-C358ECF2C1EC}"/>
              </a:ext>
            </a:extLst>
          </p:cNvPr>
          <p:cNvSpPr>
            <a:spLocks noGrp="1"/>
          </p:cNvSpPr>
          <p:nvPr>
            <p:ph idx="1"/>
          </p:nvPr>
        </p:nvSpPr>
        <p:spPr>
          <a:xfrm>
            <a:off x="859809" y="2556932"/>
            <a:ext cx="10413242" cy="3707390"/>
          </a:xfrm>
        </p:spPr>
        <p:txBody>
          <a:bodyPr/>
          <a:lstStyle/>
          <a:p>
            <a:pPr marL="0" indent="0">
              <a:buNone/>
            </a:pPr>
            <a:r>
              <a:rPr lang="en-AU" dirty="0"/>
              <a:t>In 1967 there remained one area in which Aboriginal and Torres Strait Islander peoples were treated very differently from every other member of the Australian population: they were not counted in the national census. The census is a tool used by the government to count its citizens and extract important demographic information such as their age and gender and where they live. This information can then be used to make appropriate plans for providing community services such as schooling, health care and housing. </a:t>
            </a:r>
          </a:p>
        </p:txBody>
      </p:sp>
    </p:spTree>
    <p:extLst>
      <p:ext uri="{BB962C8B-B14F-4D97-AF65-F5344CB8AC3E}">
        <p14:creationId xmlns:p14="http://schemas.microsoft.com/office/powerpoint/2010/main" val="756441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5436C-4611-0E4C-BD23-F243B3FDF983}"/>
              </a:ext>
            </a:extLst>
          </p:cNvPr>
          <p:cNvSpPr>
            <a:spLocks noGrp="1"/>
          </p:cNvSpPr>
          <p:nvPr>
            <p:ph type="title"/>
          </p:nvPr>
        </p:nvSpPr>
        <p:spPr/>
        <p:txBody>
          <a:bodyPr/>
          <a:lstStyle/>
          <a:p>
            <a:r>
              <a:rPr lang="en-AU" dirty="0"/>
              <a:t>1967 Referendum</a:t>
            </a:r>
          </a:p>
        </p:txBody>
      </p:sp>
      <p:sp>
        <p:nvSpPr>
          <p:cNvPr id="3" name="Content Placeholder 2">
            <a:extLst>
              <a:ext uri="{FF2B5EF4-FFF2-40B4-BE49-F238E27FC236}">
                <a16:creationId xmlns:a16="http://schemas.microsoft.com/office/drawing/2014/main" id="{1E3595F5-A30E-8544-8EAB-C358ECF2C1EC}"/>
              </a:ext>
            </a:extLst>
          </p:cNvPr>
          <p:cNvSpPr>
            <a:spLocks noGrp="1"/>
          </p:cNvSpPr>
          <p:nvPr>
            <p:ph idx="1"/>
          </p:nvPr>
        </p:nvSpPr>
        <p:spPr>
          <a:xfrm>
            <a:off x="1023582" y="2556931"/>
            <a:ext cx="10317708" cy="3666447"/>
          </a:xfrm>
        </p:spPr>
        <p:txBody>
          <a:bodyPr>
            <a:normAutofit lnSpcReduction="10000"/>
          </a:bodyPr>
          <a:lstStyle/>
          <a:p>
            <a:pPr marL="0" indent="0">
              <a:buNone/>
            </a:pPr>
            <a:r>
              <a:rPr lang="en-AU" dirty="0"/>
              <a:t>The Australian Constitution stated, ‘In reckoning the numbers of the people of the Commonwealth, or of a State or other part of the Commonwealth, aboriginal natives shall not be counted.’ To Aboriginal activist </a:t>
            </a:r>
            <a:r>
              <a:rPr lang="en-AU" dirty="0" err="1"/>
              <a:t>Chicka</a:t>
            </a:r>
            <a:r>
              <a:rPr lang="en-AU" dirty="0"/>
              <a:t> Dixon, the message the Constitution conveyed was quite clear:‘[It] said the Australian Commonwealth Government would recognize all races of people other than Aboriginal — in other words, we didn’t exist …’</a:t>
            </a:r>
          </a:p>
          <a:p>
            <a:pPr marL="0" indent="0">
              <a:buNone/>
            </a:pPr>
            <a:r>
              <a:rPr lang="en-AU" dirty="0"/>
              <a:t>The only way to change the Constitution was to hold a referendum. Before 1967 there had been 26 referenda in Australia, only four of which had been carried (approved). For a proposal to succeed, a majority of voters must say ‘yes’; also, the majority ‘yes’ vote must occur in a majority of states (that is, at least four).</a:t>
            </a:r>
          </a:p>
        </p:txBody>
      </p:sp>
    </p:spTree>
    <p:extLst>
      <p:ext uri="{BB962C8B-B14F-4D97-AF65-F5344CB8AC3E}">
        <p14:creationId xmlns:p14="http://schemas.microsoft.com/office/powerpoint/2010/main" val="2646621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5436C-4611-0E4C-BD23-F243B3FDF983}"/>
              </a:ext>
            </a:extLst>
          </p:cNvPr>
          <p:cNvSpPr>
            <a:spLocks noGrp="1"/>
          </p:cNvSpPr>
          <p:nvPr>
            <p:ph type="title"/>
          </p:nvPr>
        </p:nvSpPr>
        <p:spPr/>
        <p:txBody>
          <a:bodyPr/>
          <a:lstStyle/>
          <a:p>
            <a:r>
              <a:rPr lang="en-AU" dirty="0"/>
              <a:t>1967 Referendum</a:t>
            </a:r>
          </a:p>
        </p:txBody>
      </p:sp>
      <p:sp>
        <p:nvSpPr>
          <p:cNvPr id="4" name="Content Placeholder 3">
            <a:extLst>
              <a:ext uri="{FF2B5EF4-FFF2-40B4-BE49-F238E27FC236}">
                <a16:creationId xmlns:a16="http://schemas.microsoft.com/office/drawing/2014/main" id="{30423FD5-66D9-4246-878D-21D7892DB2FF}"/>
              </a:ext>
            </a:extLst>
          </p:cNvPr>
          <p:cNvSpPr>
            <a:spLocks noGrp="1"/>
          </p:cNvSpPr>
          <p:nvPr>
            <p:ph sz="half" idx="1"/>
          </p:nvPr>
        </p:nvSpPr>
        <p:spPr>
          <a:xfrm>
            <a:off x="873457" y="2483893"/>
            <a:ext cx="7219665" cy="3643951"/>
          </a:xfrm>
        </p:spPr>
        <p:txBody>
          <a:bodyPr>
            <a:normAutofit fontScale="85000" lnSpcReduction="10000"/>
          </a:bodyPr>
          <a:lstStyle/>
          <a:p>
            <a:pPr marL="0" indent="0">
              <a:buNone/>
            </a:pPr>
            <a:r>
              <a:rPr lang="en-AU" dirty="0"/>
              <a:t>The referendum planned for 27 May 1967 would put two proposals to the Australian people:</a:t>
            </a:r>
          </a:p>
          <a:p>
            <a:pPr marL="0" indent="0">
              <a:buNone/>
            </a:pPr>
            <a:r>
              <a:rPr lang="en-AU" dirty="0"/>
              <a:t>• that Aboriginal people should be counted in the census</a:t>
            </a:r>
          </a:p>
          <a:p>
            <a:pPr marL="0" indent="0">
              <a:buNone/>
            </a:pPr>
            <a:r>
              <a:rPr lang="en-AU" dirty="0"/>
              <a:t>• that Aboriginal people should be placed under the jurisdiction of the Commonwealth, not state governments, so that laws affecting them could be implemented consistently and fairly across Australia.</a:t>
            </a:r>
          </a:p>
          <a:p>
            <a:pPr marL="0" indent="0">
              <a:buNone/>
            </a:pPr>
            <a:r>
              <a:rPr lang="en-AU" dirty="0"/>
              <a:t>Before the vote a publicity campaign was organised and all eligible voters were sent a booklet spelling out the ‘yes’ and ‘no’ cases. Both proposals received overwhelming bipartisan support, with a staggering90.7 per cent of votes in favour, the highest ‘yes’ vote ever recorded in a referendum in Australia.</a:t>
            </a:r>
          </a:p>
        </p:txBody>
      </p:sp>
      <p:pic>
        <p:nvPicPr>
          <p:cNvPr id="7" name="Content Placeholder 6">
            <a:extLst>
              <a:ext uri="{FF2B5EF4-FFF2-40B4-BE49-F238E27FC236}">
                <a16:creationId xmlns:a16="http://schemas.microsoft.com/office/drawing/2014/main" id="{EB10E82F-C3F5-6645-A505-01B30D181EED}"/>
              </a:ext>
            </a:extLst>
          </p:cNvPr>
          <p:cNvPicPr>
            <a:picLocks noGrp="1" noChangeAspect="1"/>
          </p:cNvPicPr>
          <p:nvPr>
            <p:ph sz="half" idx="2"/>
          </p:nvPr>
        </p:nvPicPr>
        <p:blipFill>
          <a:blip r:embed="rId2"/>
          <a:stretch>
            <a:fillRect/>
          </a:stretch>
        </p:blipFill>
        <p:spPr>
          <a:xfrm>
            <a:off x="8270543" y="1141292"/>
            <a:ext cx="3234520" cy="4986552"/>
          </a:xfrm>
        </p:spPr>
      </p:pic>
    </p:spTree>
    <p:extLst>
      <p:ext uri="{BB962C8B-B14F-4D97-AF65-F5344CB8AC3E}">
        <p14:creationId xmlns:p14="http://schemas.microsoft.com/office/powerpoint/2010/main" val="2847161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9EFAA-E6B5-E84F-BCD1-F5C7ABA36D78}"/>
              </a:ext>
            </a:extLst>
          </p:cNvPr>
          <p:cNvSpPr>
            <a:spLocks noGrp="1"/>
          </p:cNvSpPr>
          <p:nvPr>
            <p:ph type="title"/>
          </p:nvPr>
        </p:nvSpPr>
        <p:spPr/>
        <p:txBody>
          <a:bodyPr/>
          <a:lstStyle/>
          <a:p>
            <a:r>
              <a:rPr lang="en-AU" dirty="0"/>
              <a:t>From Assimilation to Integration</a:t>
            </a:r>
          </a:p>
        </p:txBody>
      </p:sp>
      <p:sp>
        <p:nvSpPr>
          <p:cNvPr id="3" name="Content Placeholder 2">
            <a:extLst>
              <a:ext uri="{FF2B5EF4-FFF2-40B4-BE49-F238E27FC236}">
                <a16:creationId xmlns:a16="http://schemas.microsoft.com/office/drawing/2014/main" id="{D10E8E86-1724-924B-86A4-130E66B64E9A}"/>
              </a:ext>
            </a:extLst>
          </p:cNvPr>
          <p:cNvSpPr>
            <a:spLocks noGrp="1"/>
          </p:cNvSpPr>
          <p:nvPr>
            <p:ph idx="1"/>
          </p:nvPr>
        </p:nvSpPr>
        <p:spPr>
          <a:xfrm>
            <a:off x="941696" y="2556931"/>
            <a:ext cx="10385946" cy="3652799"/>
          </a:xfrm>
        </p:spPr>
        <p:txBody>
          <a:bodyPr>
            <a:normAutofit fontScale="92500" lnSpcReduction="10000"/>
          </a:bodyPr>
          <a:lstStyle/>
          <a:p>
            <a:pPr marL="0" indent="0">
              <a:buNone/>
            </a:pPr>
            <a:r>
              <a:rPr lang="en-AU" dirty="0"/>
              <a:t>After Aboriginal and Torres Strait Islander peoples had gained the rights to vote in federal election sand to be counted in the census, institutional discrimination began to soften. But the shift in policy from ‘assimilation’ to ‘integration’ was due, in large part, to the hundreds of thousands of new migrants who had entered the country since the end of World War II and were trying to find the balance between honouring their traditional beliefs, language and culture, and adopting the Australian way of life. Unlike assimilation, integration policy did not require a person to deny their cultural background, including their language, in order to become a valuable member of society. Yet while integration was a step in the right direction, it fell short of recognising the true value of other cultures. Integration policy, like assimilation before it, still expected citizens to adapt to the needs of the country, rather than the other way around.</a:t>
            </a:r>
          </a:p>
        </p:txBody>
      </p:sp>
    </p:spTree>
    <p:extLst>
      <p:ext uri="{BB962C8B-B14F-4D97-AF65-F5344CB8AC3E}">
        <p14:creationId xmlns:p14="http://schemas.microsoft.com/office/powerpoint/2010/main" val="1559412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D2D59-1537-BB49-8DCC-FF7684D289AC}"/>
              </a:ext>
            </a:extLst>
          </p:cNvPr>
          <p:cNvSpPr>
            <a:spLocks noGrp="1"/>
          </p:cNvSpPr>
          <p:nvPr>
            <p:ph type="title"/>
          </p:nvPr>
        </p:nvSpPr>
        <p:spPr/>
        <p:txBody>
          <a:bodyPr/>
          <a:lstStyle/>
          <a:p>
            <a:r>
              <a:rPr lang="en-AU" dirty="0"/>
              <a:t>Paragraph Structure </a:t>
            </a:r>
          </a:p>
        </p:txBody>
      </p:sp>
      <p:sp>
        <p:nvSpPr>
          <p:cNvPr id="3" name="Content Placeholder 2">
            <a:extLst>
              <a:ext uri="{FF2B5EF4-FFF2-40B4-BE49-F238E27FC236}">
                <a16:creationId xmlns:a16="http://schemas.microsoft.com/office/drawing/2014/main" id="{1709D3D3-F4D3-9746-9147-7736A659EAE7}"/>
              </a:ext>
            </a:extLst>
          </p:cNvPr>
          <p:cNvSpPr>
            <a:spLocks noGrp="1"/>
          </p:cNvSpPr>
          <p:nvPr>
            <p:ph idx="1"/>
          </p:nvPr>
        </p:nvSpPr>
        <p:spPr>
          <a:xfrm>
            <a:off x="822960" y="2567092"/>
            <a:ext cx="8016240" cy="3660988"/>
          </a:xfrm>
        </p:spPr>
        <p:txBody>
          <a:bodyPr>
            <a:normAutofit/>
          </a:bodyPr>
          <a:lstStyle/>
          <a:p>
            <a:pPr marL="457200" indent="-457200">
              <a:buFont typeface="+mj-lt"/>
              <a:buAutoNum type="arabicPeriod"/>
            </a:pPr>
            <a:r>
              <a:rPr lang="en-AU" dirty="0"/>
              <a:t>Topic sentence (link to question!</a:t>
            </a:r>
          </a:p>
          <a:p>
            <a:pPr marL="457200" indent="-457200">
              <a:buFont typeface="+mj-lt"/>
              <a:buAutoNum type="arabicPeriod"/>
            </a:pPr>
            <a:r>
              <a:rPr lang="en-AU" dirty="0"/>
              <a:t>What are citizenship rights and how were they an issue for Indigenous rights and freedoms? </a:t>
            </a:r>
          </a:p>
          <a:p>
            <a:pPr marL="457200" indent="-457200">
              <a:buFont typeface="+mj-lt"/>
              <a:buAutoNum type="arabicPeriod"/>
            </a:pPr>
            <a:r>
              <a:rPr lang="en-AU" dirty="0"/>
              <a:t>How did Indigenous peoples fight for citizenship rights?</a:t>
            </a:r>
          </a:p>
          <a:p>
            <a:pPr marL="457200" indent="-457200">
              <a:buFont typeface="+mj-lt"/>
              <a:buAutoNum type="arabicPeriod"/>
            </a:pPr>
            <a:r>
              <a:rPr lang="en-AU" dirty="0"/>
              <a:t>To what extend did they succeed? </a:t>
            </a:r>
          </a:p>
          <a:p>
            <a:pPr marL="457200" indent="-457200">
              <a:buFont typeface="+mj-lt"/>
              <a:buAutoNum type="arabicPeriod"/>
            </a:pPr>
            <a:r>
              <a:rPr lang="en-AU" dirty="0"/>
              <a:t>Link back to question</a:t>
            </a:r>
          </a:p>
        </p:txBody>
      </p:sp>
      <p:sp>
        <p:nvSpPr>
          <p:cNvPr id="4" name="Rectangle 3">
            <a:extLst>
              <a:ext uri="{FF2B5EF4-FFF2-40B4-BE49-F238E27FC236}">
                <a16:creationId xmlns:a16="http://schemas.microsoft.com/office/drawing/2014/main" id="{3EFD33A3-C14D-9348-9606-42B26846FDE1}"/>
              </a:ext>
            </a:extLst>
          </p:cNvPr>
          <p:cNvSpPr/>
          <p:nvPr/>
        </p:nvSpPr>
        <p:spPr>
          <a:xfrm>
            <a:off x="8689074" y="1951630"/>
            <a:ext cx="2600960" cy="47542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t>Remember to:</a:t>
            </a:r>
          </a:p>
          <a:p>
            <a:pPr marL="342900" indent="-342900" algn="ctr">
              <a:buAutoNum type="arabicParenR"/>
            </a:pPr>
            <a:r>
              <a:rPr lang="en-AU" sz="2000" b="1" dirty="0"/>
              <a:t>Include at least one primary source AND integrate it into your writing. </a:t>
            </a:r>
          </a:p>
          <a:p>
            <a:pPr marL="342900" indent="-342900" algn="ctr">
              <a:buAutoNum type="arabicParenR"/>
            </a:pPr>
            <a:r>
              <a:rPr lang="en-AU" sz="2000" b="1" dirty="0"/>
              <a:t>Keep a record of </a:t>
            </a:r>
            <a:r>
              <a:rPr lang="en-AU" sz="2000" b="1"/>
              <a:t>your resources used. </a:t>
            </a:r>
            <a:endParaRPr lang="en-AU" sz="2000" b="1" dirty="0"/>
          </a:p>
          <a:p>
            <a:pPr marL="342900" indent="-342900" algn="ctr">
              <a:buAutoNum type="arabicParenR"/>
            </a:pPr>
            <a:r>
              <a:rPr lang="en-AU" sz="2000" b="1" dirty="0"/>
              <a:t>Consult the rubric as you go. </a:t>
            </a:r>
          </a:p>
        </p:txBody>
      </p:sp>
    </p:spTree>
    <p:extLst>
      <p:ext uri="{BB962C8B-B14F-4D97-AF65-F5344CB8AC3E}">
        <p14:creationId xmlns:p14="http://schemas.microsoft.com/office/powerpoint/2010/main" val="22669982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ED9AB-01ED-9A4A-99D9-2AFB36772E01}"/>
              </a:ext>
            </a:extLst>
          </p:cNvPr>
          <p:cNvSpPr>
            <a:spLocks noGrp="1"/>
          </p:cNvSpPr>
          <p:nvPr>
            <p:ph type="title"/>
          </p:nvPr>
        </p:nvSpPr>
        <p:spPr/>
        <p:txBody>
          <a:bodyPr/>
          <a:lstStyle/>
          <a:p>
            <a:r>
              <a:rPr lang="en-AU" dirty="0"/>
              <a:t>Reflection Breaks</a:t>
            </a:r>
          </a:p>
        </p:txBody>
      </p:sp>
      <p:sp>
        <p:nvSpPr>
          <p:cNvPr id="6" name="Text Placeholder 5">
            <a:extLst>
              <a:ext uri="{FF2B5EF4-FFF2-40B4-BE49-F238E27FC236}">
                <a16:creationId xmlns:a16="http://schemas.microsoft.com/office/drawing/2014/main" id="{9F8EB10A-846D-7A42-81FF-14B42C7FA05A}"/>
              </a:ext>
            </a:extLst>
          </p:cNvPr>
          <p:cNvSpPr>
            <a:spLocks noGrp="1"/>
          </p:cNvSpPr>
          <p:nvPr>
            <p:ph type="body" sz="half" idx="2"/>
          </p:nvPr>
        </p:nvSpPr>
        <p:spPr/>
        <p:txBody>
          <a:bodyPr>
            <a:normAutofit/>
          </a:bodyPr>
          <a:lstStyle/>
          <a:p>
            <a:pPr marL="342900" indent="-342900" algn="l">
              <a:buFont typeface="+mj-lt"/>
              <a:buAutoNum type="arabicPeriod"/>
            </a:pPr>
            <a:r>
              <a:rPr lang="en-AU" sz="2000" dirty="0"/>
              <a:t>What are you learning, and how are you going with it?</a:t>
            </a:r>
          </a:p>
          <a:p>
            <a:pPr marL="342900" indent="-342900" algn="l">
              <a:buFont typeface="+mj-lt"/>
              <a:buAutoNum type="arabicPeriod"/>
            </a:pPr>
            <a:r>
              <a:rPr lang="en-AU" sz="2000" dirty="0"/>
              <a:t>What are you finding easy to learn/remember? Why?</a:t>
            </a:r>
          </a:p>
          <a:p>
            <a:pPr marL="342900" indent="-342900" algn="l">
              <a:buFont typeface="+mj-lt"/>
              <a:buAutoNum type="arabicPeriod"/>
            </a:pPr>
            <a:r>
              <a:rPr lang="en-AU" sz="2000" dirty="0"/>
              <a:t>What are you finding hard to learn/remember? Why?</a:t>
            </a:r>
          </a:p>
        </p:txBody>
      </p:sp>
      <p:pic>
        <p:nvPicPr>
          <p:cNvPr id="5" name="Content Placeholder 4">
            <a:extLst>
              <a:ext uri="{FF2B5EF4-FFF2-40B4-BE49-F238E27FC236}">
                <a16:creationId xmlns:a16="http://schemas.microsoft.com/office/drawing/2014/main" id="{CA11C574-CC58-DA4C-BC6C-C2BC84415C2D}"/>
              </a:ext>
            </a:extLst>
          </p:cNvPr>
          <p:cNvPicPr>
            <a:picLocks noGrp="1" noChangeAspect="1"/>
          </p:cNvPicPr>
          <p:nvPr>
            <p:ph sz="half" idx="4294967295"/>
          </p:nvPr>
        </p:nvPicPr>
        <p:blipFill>
          <a:blip r:embed="rId2"/>
          <a:stretch>
            <a:fillRect/>
          </a:stretch>
        </p:blipFill>
        <p:spPr>
          <a:xfrm>
            <a:off x="5012266" y="1199690"/>
            <a:ext cx="6231719" cy="4460875"/>
          </a:xfrm>
          <a:prstGeom prst="rect">
            <a:avLst/>
          </a:prstGeom>
        </p:spPr>
      </p:pic>
    </p:spTree>
    <p:extLst>
      <p:ext uri="{BB962C8B-B14F-4D97-AF65-F5344CB8AC3E}">
        <p14:creationId xmlns:p14="http://schemas.microsoft.com/office/powerpoint/2010/main" val="1494067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D50DE-8819-7C4C-A5EE-015D68392A51}"/>
              </a:ext>
            </a:extLst>
          </p:cNvPr>
          <p:cNvSpPr>
            <a:spLocks noGrp="1"/>
          </p:cNvSpPr>
          <p:nvPr>
            <p:ph type="title"/>
          </p:nvPr>
        </p:nvSpPr>
        <p:spPr/>
        <p:txBody>
          <a:bodyPr/>
          <a:lstStyle/>
          <a:p>
            <a:r>
              <a:rPr lang="en-AU" dirty="0"/>
              <a:t>Brain Break</a:t>
            </a:r>
          </a:p>
        </p:txBody>
      </p:sp>
      <p:sp>
        <p:nvSpPr>
          <p:cNvPr id="3" name="Text Placeholder 2">
            <a:extLst>
              <a:ext uri="{FF2B5EF4-FFF2-40B4-BE49-F238E27FC236}">
                <a16:creationId xmlns:a16="http://schemas.microsoft.com/office/drawing/2014/main" id="{D93B0E0D-1B76-9340-9193-DCE2D3535C12}"/>
              </a:ext>
            </a:extLst>
          </p:cNvPr>
          <p:cNvSpPr>
            <a:spLocks noGrp="1"/>
          </p:cNvSpPr>
          <p:nvPr>
            <p:ph type="body" idx="1"/>
          </p:nvPr>
        </p:nvSpPr>
        <p:spPr/>
        <p:txBody>
          <a:bodyPr/>
          <a:lstStyle/>
          <a:p>
            <a:endParaRPr lang="en-AU"/>
          </a:p>
        </p:txBody>
      </p:sp>
    </p:spTree>
    <p:extLst>
      <p:ext uri="{BB962C8B-B14F-4D97-AF65-F5344CB8AC3E}">
        <p14:creationId xmlns:p14="http://schemas.microsoft.com/office/powerpoint/2010/main" val="1201055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3">
            <a:extLst>
              <a:ext uri="{FF2B5EF4-FFF2-40B4-BE49-F238E27FC236}">
                <a16:creationId xmlns:a16="http://schemas.microsoft.com/office/drawing/2014/main" id="{E2B04017-2272-5E41-A718-B5651A0AFD3A}"/>
              </a:ext>
            </a:extLst>
          </p:cNvPr>
          <p:cNvPicPr>
            <a:picLocks noChangeAspect="1"/>
          </p:cNvPicPr>
          <p:nvPr/>
        </p:nvPicPr>
        <p:blipFill rotWithShape="1">
          <a:blip r:embed="rId3"/>
          <a:srcRect t="1" r="68298" b="-1247"/>
          <a:stretch/>
        </p:blipFill>
        <p:spPr>
          <a:xfrm>
            <a:off x="1246900" y="697824"/>
            <a:ext cx="789433" cy="1594693"/>
          </a:xfrm>
          <a:prstGeom prst="rect">
            <a:avLst/>
          </a:prstGeom>
        </p:spPr>
      </p:pic>
      <p:pic>
        <p:nvPicPr>
          <p:cNvPr id="10" name="Picture 9">
            <a:extLst>
              <a:ext uri="{FF2B5EF4-FFF2-40B4-BE49-F238E27FC236}">
                <a16:creationId xmlns:a16="http://schemas.microsoft.com/office/drawing/2014/main" id="{68A0C6AA-93BF-CD41-B3C6-9D2C88019A44}"/>
              </a:ext>
            </a:extLst>
          </p:cNvPr>
          <p:cNvPicPr>
            <a:picLocks noChangeAspect="1"/>
          </p:cNvPicPr>
          <p:nvPr/>
        </p:nvPicPr>
        <p:blipFill rotWithShape="1">
          <a:blip r:embed="rId3"/>
          <a:srcRect l="30619" r="31075"/>
          <a:stretch/>
        </p:blipFill>
        <p:spPr>
          <a:xfrm>
            <a:off x="1246900" y="2636354"/>
            <a:ext cx="906462" cy="1496734"/>
          </a:xfrm>
          <a:prstGeom prst="rect">
            <a:avLst/>
          </a:prstGeom>
        </p:spPr>
      </p:pic>
      <p:pic>
        <p:nvPicPr>
          <p:cNvPr id="11" name="Picture 10">
            <a:extLst>
              <a:ext uri="{FF2B5EF4-FFF2-40B4-BE49-F238E27FC236}">
                <a16:creationId xmlns:a16="http://schemas.microsoft.com/office/drawing/2014/main" id="{0F91631C-7242-AC45-A58E-3BEECFB44446}"/>
              </a:ext>
            </a:extLst>
          </p:cNvPr>
          <p:cNvPicPr>
            <a:picLocks noChangeAspect="1"/>
          </p:cNvPicPr>
          <p:nvPr/>
        </p:nvPicPr>
        <p:blipFill rotWithShape="1">
          <a:blip r:embed="rId3"/>
          <a:srcRect l="65704" r="-902"/>
          <a:stretch/>
        </p:blipFill>
        <p:spPr>
          <a:xfrm>
            <a:off x="1246900" y="4576446"/>
            <a:ext cx="825739" cy="1483819"/>
          </a:xfrm>
          <a:prstGeom prst="rect">
            <a:avLst/>
          </a:prstGeom>
        </p:spPr>
      </p:pic>
      <p:sp>
        <p:nvSpPr>
          <p:cNvPr id="12" name="TextBox 11">
            <a:extLst>
              <a:ext uri="{FF2B5EF4-FFF2-40B4-BE49-F238E27FC236}">
                <a16:creationId xmlns:a16="http://schemas.microsoft.com/office/drawing/2014/main" id="{13136F5D-01BA-164A-8826-45AAB89F6E3E}"/>
              </a:ext>
            </a:extLst>
          </p:cNvPr>
          <p:cNvSpPr txBox="1"/>
          <p:nvPr/>
        </p:nvSpPr>
        <p:spPr>
          <a:xfrm>
            <a:off x="2511551" y="697824"/>
            <a:ext cx="8958205" cy="2062103"/>
          </a:xfrm>
          <a:prstGeom prst="rect">
            <a:avLst/>
          </a:prstGeom>
          <a:noFill/>
        </p:spPr>
        <p:txBody>
          <a:bodyPr wrap="square" rtlCol="0">
            <a:spAutoFit/>
          </a:bodyPr>
          <a:lstStyle/>
          <a:p>
            <a:r>
              <a:rPr lang="en-AU" sz="2200" b="1" dirty="0">
                <a:solidFill>
                  <a:srgbClr val="FF0000"/>
                </a:solidFill>
              </a:rPr>
              <a:t>Red Light (what’s going on??)</a:t>
            </a:r>
          </a:p>
          <a:p>
            <a:pPr marL="342900" indent="-342900">
              <a:buAutoNum type="arabicPeriod"/>
            </a:pPr>
            <a:r>
              <a:rPr lang="en-AU" sz="2200" b="1" dirty="0"/>
              <a:t>Write down as many words from today’s lesson as you can remember</a:t>
            </a:r>
          </a:p>
          <a:p>
            <a:pPr marL="342900" indent="-342900">
              <a:buAutoNum type="arabicPeriod"/>
            </a:pPr>
            <a:r>
              <a:rPr lang="en-AU" sz="2200" b="1" dirty="0"/>
              <a:t>Re-order your words from least important to most important </a:t>
            </a:r>
          </a:p>
          <a:p>
            <a:pPr marL="342900" indent="-342900">
              <a:buAutoNum type="arabicPeriod"/>
            </a:pPr>
            <a:r>
              <a:rPr lang="en-AU" sz="2200" b="1" dirty="0"/>
              <a:t>Try linking your most important words to form an explanation of today’s content</a:t>
            </a:r>
          </a:p>
          <a:p>
            <a:endParaRPr lang="en-AU" dirty="0"/>
          </a:p>
        </p:txBody>
      </p:sp>
      <p:sp>
        <p:nvSpPr>
          <p:cNvPr id="13" name="TextBox 12">
            <a:extLst>
              <a:ext uri="{FF2B5EF4-FFF2-40B4-BE49-F238E27FC236}">
                <a16:creationId xmlns:a16="http://schemas.microsoft.com/office/drawing/2014/main" id="{C6ABA552-EA3E-004F-A564-3B44A623D2CF}"/>
              </a:ext>
            </a:extLst>
          </p:cNvPr>
          <p:cNvSpPr txBox="1"/>
          <p:nvPr/>
        </p:nvSpPr>
        <p:spPr>
          <a:xfrm>
            <a:off x="2511552" y="2636354"/>
            <a:ext cx="8827008" cy="1107996"/>
          </a:xfrm>
          <a:prstGeom prst="rect">
            <a:avLst/>
          </a:prstGeom>
          <a:noFill/>
        </p:spPr>
        <p:txBody>
          <a:bodyPr wrap="square" rtlCol="0">
            <a:spAutoFit/>
          </a:bodyPr>
          <a:lstStyle/>
          <a:p>
            <a:r>
              <a:rPr lang="en-AU" sz="2200" b="1" dirty="0">
                <a:solidFill>
                  <a:srgbClr val="FFC000"/>
                </a:solidFill>
              </a:rPr>
              <a:t>Yellow Light (still figuring it out…)</a:t>
            </a:r>
          </a:p>
          <a:p>
            <a:pPr marL="342900" indent="-342900">
              <a:buFont typeface="+mj-lt"/>
              <a:buAutoNum type="arabicPeriod"/>
            </a:pPr>
            <a:r>
              <a:rPr lang="en-AU" sz="2200" b="1" dirty="0"/>
              <a:t>Explain…</a:t>
            </a:r>
          </a:p>
          <a:p>
            <a:pPr marL="342900" indent="-342900">
              <a:buFont typeface="+mj-lt"/>
              <a:buAutoNum type="arabicPeriod"/>
            </a:pPr>
            <a:r>
              <a:rPr lang="en-AU" sz="2200" b="1"/>
              <a:t>Compare and contrast…</a:t>
            </a:r>
            <a:endParaRPr lang="en-AU" dirty="0"/>
          </a:p>
        </p:txBody>
      </p:sp>
      <p:sp>
        <p:nvSpPr>
          <p:cNvPr id="14" name="TextBox 13">
            <a:extLst>
              <a:ext uri="{FF2B5EF4-FFF2-40B4-BE49-F238E27FC236}">
                <a16:creationId xmlns:a16="http://schemas.microsoft.com/office/drawing/2014/main" id="{9184A66C-FA36-844B-8B29-FD0A91ED32CF}"/>
              </a:ext>
            </a:extLst>
          </p:cNvPr>
          <p:cNvSpPr txBox="1"/>
          <p:nvPr/>
        </p:nvSpPr>
        <p:spPr>
          <a:xfrm>
            <a:off x="2511551" y="4574884"/>
            <a:ext cx="8827009" cy="1107996"/>
          </a:xfrm>
          <a:prstGeom prst="rect">
            <a:avLst/>
          </a:prstGeom>
          <a:noFill/>
        </p:spPr>
        <p:txBody>
          <a:bodyPr wrap="square" rtlCol="0">
            <a:spAutoFit/>
          </a:bodyPr>
          <a:lstStyle/>
          <a:p>
            <a:r>
              <a:rPr lang="en-AU" sz="2200" b="1" dirty="0">
                <a:solidFill>
                  <a:srgbClr val="00B050"/>
                </a:solidFill>
              </a:rPr>
              <a:t>Green Light (ready to go!)</a:t>
            </a:r>
          </a:p>
          <a:p>
            <a:pPr marL="457200" indent="-457200">
              <a:buFontTx/>
              <a:buAutoNum type="arabicPeriod"/>
            </a:pPr>
            <a:r>
              <a:rPr lang="en-AU" sz="2200" b="1" dirty="0"/>
              <a:t>Compare and contrast…</a:t>
            </a:r>
          </a:p>
          <a:p>
            <a:pPr marL="457200" indent="-457200">
              <a:buFontTx/>
              <a:buAutoNum type="arabicPeriod"/>
            </a:pPr>
            <a:r>
              <a:rPr lang="en-AU" sz="2200" b="1" dirty="0"/>
              <a:t>Evaluate…</a:t>
            </a:r>
          </a:p>
        </p:txBody>
      </p:sp>
    </p:spTree>
    <p:extLst>
      <p:ext uri="{BB962C8B-B14F-4D97-AF65-F5344CB8AC3E}">
        <p14:creationId xmlns:p14="http://schemas.microsoft.com/office/powerpoint/2010/main" val="4215804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5431-CB7D-D34D-B591-51208948F52E}"/>
              </a:ext>
            </a:extLst>
          </p:cNvPr>
          <p:cNvSpPr>
            <a:spLocks noGrp="1"/>
          </p:cNvSpPr>
          <p:nvPr>
            <p:ph type="title"/>
          </p:nvPr>
        </p:nvSpPr>
        <p:spPr/>
        <p:txBody>
          <a:bodyPr/>
          <a:lstStyle/>
          <a:p>
            <a:r>
              <a:rPr lang="en-AU" dirty="0"/>
              <a:t>Exit Slips</a:t>
            </a:r>
          </a:p>
        </p:txBody>
      </p:sp>
      <p:sp>
        <p:nvSpPr>
          <p:cNvPr id="3" name="Content Placeholder 2">
            <a:extLst>
              <a:ext uri="{FF2B5EF4-FFF2-40B4-BE49-F238E27FC236}">
                <a16:creationId xmlns:a16="http://schemas.microsoft.com/office/drawing/2014/main" id="{8BA01B02-D595-C54D-ADFB-D9807E69B0E4}"/>
              </a:ext>
            </a:extLst>
          </p:cNvPr>
          <p:cNvSpPr>
            <a:spLocks noGrp="1"/>
          </p:cNvSpPr>
          <p:nvPr>
            <p:ph sz="half" idx="1"/>
          </p:nvPr>
        </p:nvSpPr>
        <p:spPr>
          <a:xfrm>
            <a:off x="1298448" y="2560320"/>
            <a:ext cx="4718304" cy="3584450"/>
          </a:xfrm>
        </p:spPr>
        <p:txBody>
          <a:bodyPr>
            <a:normAutofit/>
          </a:bodyPr>
          <a:lstStyle/>
          <a:p>
            <a:r>
              <a:rPr lang="en-AU" dirty="0"/>
              <a:t>Letter to an Absent student </a:t>
            </a:r>
          </a:p>
          <a:p>
            <a:r>
              <a:rPr lang="en-AU" dirty="0"/>
              <a:t>KWL</a:t>
            </a:r>
          </a:p>
          <a:p>
            <a:r>
              <a:rPr lang="en-AU" dirty="0"/>
              <a:t>Two stars and a wish</a:t>
            </a:r>
          </a:p>
          <a:p>
            <a:r>
              <a:rPr lang="en-AU" dirty="0"/>
              <a:t>What went well</a:t>
            </a:r>
          </a:p>
          <a:p>
            <a:r>
              <a:rPr lang="en-AU" dirty="0"/>
              <a:t>Summary paragraph</a:t>
            </a:r>
          </a:p>
          <a:p>
            <a:r>
              <a:rPr lang="en-AU" dirty="0"/>
              <a:t>Gallery walk</a:t>
            </a:r>
          </a:p>
          <a:p>
            <a:r>
              <a:rPr lang="en-AU" dirty="0"/>
              <a:t>Snowstorm (facts/questions)</a:t>
            </a:r>
          </a:p>
        </p:txBody>
      </p:sp>
      <p:pic>
        <p:nvPicPr>
          <p:cNvPr id="6" name="Content Placeholder 5">
            <a:extLst>
              <a:ext uri="{FF2B5EF4-FFF2-40B4-BE49-F238E27FC236}">
                <a16:creationId xmlns:a16="http://schemas.microsoft.com/office/drawing/2014/main" id="{EC918FE0-5EB4-B54C-AD53-A21B4EABFA64}"/>
              </a:ext>
            </a:extLst>
          </p:cNvPr>
          <p:cNvPicPr>
            <a:picLocks noGrp="1" noChangeAspect="1"/>
          </p:cNvPicPr>
          <p:nvPr>
            <p:ph sz="half" idx="2"/>
          </p:nvPr>
        </p:nvPicPr>
        <p:blipFill>
          <a:blip r:embed="rId3">
            <a:clrChange>
              <a:clrFrom>
                <a:srgbClr val="FFFFFF"/>
              </a:clrFrom>
              <a:clrTo>
                <a:srgbClr val="FFFFFF">
                  <a:alpha val="0"/>
                </a:srgbClr>
              </a:clrTo>
            </a:clrChange>
          </a:blip>
          <a:stretch>
            <a:fillRect/>
          </a:stretch>
        </p:blipFill>
        <p:spPr>
          <a:xfrm>
            <a:off x="5996607" y="2560320"/>
            <a:ext cx="4899991" cy="3310129"/>
          </a:xfrm>
        </p:spPr>
      </p:pic>
    </p:spTree>
    <p:extLst>
      <p:ext uri="{BB962C8B-B14F-4D97-AF65-F5344CB8AC3E}">
        <p14:creationId xmlns:p14="http://schemas.microsoft.com/office/powerpoint/2010/main" val="121543539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Presentation5" id="{B9F928ED-C523-CC48-99E5-4E959822F5A4}" vid="{827D6912-E059-A74A-9595-D27C0E5051E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790</TotalTime>
  <Words>1277</Words>
  <Application>Microsoft Office PowerPoint</Application>
  <PresentationFormat>Widescreen</PresentationFormat>
  <Paragraphs>86</Paragraphs>
  <Slides>16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Garamond</vt:lpstr>
      <vt:lpstr>Organic</vt:lpstr>
      <vt:lpstr>See, Think, Wonder</vt:lpstr>
      <vt:lpstr>PowerPoint Presentation</vt:lpstr>
      <vt:lpstr>PowerPoint Presentation</vt:lpstr>
      <vt:lpstr>Paragraph Structure </vt:lpstr>
      <vt:lpstr>Citizenship Rights</vt:lpstr>
      <vt:lpstr>Freedom Rides</vt:lpstr>
      <vt:lpstr>Freedom Rides</vt:lpstr>
      <vt:lpstr>1967 Referendum</vt:lpstr>
      <vt:lpstr>1967 Referendum</vt:lpstr>
      <vt:lpstr>1967 Referendum</vt:lpstr>
      <vt:lpstr>From Assimilation to Integration</vt:lpstr>
      <vt:lpstr>Paragraph Structure </vt:lpstr>
      <vt:lpstr>Reflection Breaks</vt:lpstr>
      <vt:lpstr>Brain Break</vt:lpstr>
      <vt:lpstr>PowerPoint Presentation</vt:lpstr>
      <vt:lpstr>Exit Slips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Now Activities</dc:title>
  <dc:creator>Emily Baird</dc:creator>
  <cp:lastModifiedBy>FLAVEL Carly [Narrogin Senior High School]</cp:lastModifiedBy>
  <cp:revision>14</cp:revision>
  <dcterms:created xsi:type="dcterms:W3CDTF">2018-05-02T21:58:03Z</dcterms:created>
  <dcterms:modified xsi:type="dcterms:W3CDTF">2022-09-14T07:33:40Z</dcterms:modified>
</cp:coreProperties>
</file>
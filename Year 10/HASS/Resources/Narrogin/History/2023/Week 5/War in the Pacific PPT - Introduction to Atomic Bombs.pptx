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0"/>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75" autoAdjust="0"/>
    <p:restoredTop sz="94540" autoAdjust="0"/>
  </p:normalViewPr>
  <p:slideViewPr>
    <p:cSldViewPr snapToGrid="0" snapToObjects="1">
      <p:cViewPr varScale="1">
        <p:scale>
          <a:sx n="72" d="100"/>
          <a:sy n="72" d="100"/>
        </p:scale>
        <p:origin x="24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FEA127-4C7E-2140-8472-9B4A9ADF60DF}" type="datetimeFigureOut">
              <a:rPr lang="en-AU" smtClean="0"/>
              <a:t>16/08/2022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B6D42-B17F-B04C-A1D3-8BE963491F20}" type="slidenum">
              <a:rPr lang="en-AU" smtClean="0"/>
              <a:t>‹#›</a:t>
            </a:fld>
            <a:endParaRPr lang="en-AU"/>
          </a:p>
        </p:txBody>
      </p:sp>
    </p:spTree>
    <p:extLst>
      <p:ext uri="{BB962C8B-B14F-4D97-AF65-F5344CB8AC3E}">
        <p14:creationId xmlns:p14="http://schemas.microsoft.com/office/powerpoint/2010/main" val="1010478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7B6D42-B17F-B04C-A1D3-8BE963491F20}" type="slidenum">
              <a:rPr lang="en-AU" smtClean="0"/>
              <a:t>11</a:t>
            </a:fld>
            <a:endParaRPr lang="en-AU"/>
          </a:p>
        </p:txBody>
      </p:sp>
    </p:spTree>
    <p:extLst>
      <p:ext uri="{BB962C8B-B14F-4D97-AF65-F5344CB8AC3E}">
        <p14:creationId xmlns:p14="http://schemas.microsoft.com/office/powerpoint/2010/main" val="136495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7B6D42-B17F-B04C-A1D3-8BE963491F20}" type="slidenum">
              <a:rPr lang="en-AU" smtClean="0"/>
              <a:t>12</a:t>
            </a:fld>
            <a:endParaRPr lang="en-AU"/>
          </a:p>
        </p:txBody>
      </p:sp>
    </p:spTree>
    <p:extLst>
      <p:ext uri="{BB962C8B-B14F-4D97-AF65-F5344CB8AC3E}">
        <p14:creationId xmlns:p14="http://schemas.microsoft.com/office/powerpoint/2010/main" val="3675232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FBE6B6-4FCD-CD46-8EAF-554B06169A32}" type="datetimeFigureOut">
              <a:rPr lang="en-AU" smtClean="0"/>
              <a:t>16/08/2022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F32FD-3556-6A40-BA1A-6D04524E96AE}"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365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FBE6B6-4FCD-CD46-8EAF-554B06169A32}" type="datetimeFigureOut">
              <a:rPr lang="en-AU" smtClean="0"/>
              <a:t>16/08/2022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F32FD-3556-6A40-BA1A-6D04524E96AE}" type="slidenum">
              <a:rPr lang="en-AU" smtClean="0"/>
              <a:t>‹#›</a:t>
            </a:fld>
            <a:endParaRPr lang="en-AU"/>
          </a:p>
        </p:txBody>
      </p:sp>
    </p:spTree>
    <p:extLst>
      <p:ext uri="{BB962C8B-B14F-4D97-AF65-F5344CB8AC3E}">
        <p14:creationId xmlns:p14="http://schemas.microsoft.com/office/powerpoint/2010/main" val="308546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FBE6B6-4FCD-CD46-8EAF-554B06169A32}" type="datetimeFigureOut">
              <a:rPr lang="en-AU" smtClean="0"/>
              <a:t>16/08/2022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F32FD-3556-6A40-BA1A-6D04524E96AE}"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1266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FBE6B6-4FCD-CD46-8EAF-554B06169A32}" type="datetimeFigureOut">
              <a:rPr lang="en-AU" smtClean="0"/>
              <a:t>16/08/2022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0EF32FD-3556-6A40-BA1A-6D04524E96AE}" type="slidenum">
              <a:rPr lang="en-AU" smtClean="0"/>
              <a:t>‹#›</a:t>
            </a:fld>
            <a:endParaRPr lang="en-AU"/>
          </a:p>
        </p:txBody>
      </p:sp>
    </p:spTree>
    <p:extLst>
      <p:ext uri="{BB962C8B-B14F-4D97-AF65-F5344CB8AC3E}">
        <p14:creationId xmlns:p14="http://schemas.microsoft.com/office/powerpoint/2010/main" val="3850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FBE6B6-4FCD-CD46-8EAF-554B06169A32}" type="datetimeFigureOut">
              <a:rPr lang="en-AU" smtClean="0"/>
              <a:t>16/08/2022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0EF32FD-3556-6A40-BA1A-6D04524E96AE}" type="slidenum">
              <a:rPr lang="en-AU" smtClean="0"/>
              <a:t>‹#›</a:t>
            </a:fld>
            <a:endParaRPr lang="en-AU"/>
          </a:p>
        </p:txBody>
      </p:sp>
    </p:spTree>
    <p:extLst>
      <p:ext uri="{BB962C8B-B14F-4D97-AF65-F5344CB8AC3E}">
        <p14:creationId xmlns:p14="http://schemas.microsoft.com/office/powerpoint/2010/main" val="283701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FBE6B6-4FCD-CD46-8EAF-554B06169A32}" type="datetimeFigureOut">
              <a:rPr lang="en-AU" smtClean="0"/>
              <a:t>16/08/2022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0EF32FD-3556-6A40-BA1A-6D04524E96AE}" type="slidenum">
              <a:rPr lang="en-AU" smtClean="0"/>
              <a:t>‹#›</a:t>
            </a:fld>
            <a:endParaRPr lang="en-AU"/>
          </a:p>
        </p:txBody>
      </p:sp>
    </p:spTree>
    <p:extLst>
      <p:ext uri="{BB962C8B-B14F-4D97-AF65-F5344CB8AC3E}">
        <p14:creationId xmlns:p14="http://schemas.microsoft.com/office/powerpoint/2010/main" val="750943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5FBE6B6-4FCD-CD46-8EAF-554B06169A32}" type="datetimeFigureOut">
              <a:rPr lang="en-AU" smtClean="0"/>
              <a:t>16/08/2022</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40EF32FD-3556-6A40-BA1A-6D04524E96AE}" type="slidenum">
              <a:rPr lang="en-AU" smtClean="0"/>
              <a:t>‹#›</a:t>
            </a:fld>
            <a:endParaRPr lang="en-AU"/>
          </a:p>
        </p:txBody>
      </p:sp>
    </p:spTree>
    <p:extLst>
      <p:ext uri="{BB962C8B-B14F-4D97-AF65-F5344CB8AC3E}">
        <p14:creationId xmlns:p14="http://schemas.microsoft.com/office/powerpoint/2010/main" val="345422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5FBE6B6-4FCD-CD46-8EAF-554B06169A32}" type="datetimeFigureOut">
              <a:rPr lang="en-AU" smtClean="0"/>
              <a:t>16/08/2022</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0EF32FD-3556-6A40-BA1A-6D04524E96AE}" type="slidenum">
              <a:rPr lang="en-AU" smtClean="0"/>
              <a:t>‹#›</a:t>
            </a:fld>
            <a:endParaRPr lang="en-AU"/>
          </a:p>
        </p:txBody>
      </p:sp>
    </p:spTree>
    <p:extLst>
      <p:ext uri="{BB962C8B-B14F-4D97-AF65-F5344CB8AC3E}">
        <p14:creationId xmlns:p14="http://schemas.microsoft.com/office/powerpoint/2010/main" val="873306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FBE6B6-4FCD-CD46-8EAF-554B06169A32}" type="datetimeFigureOut">
              <a:rPr lang="en-AU" smtClean="0"/>
              <a:t>16/08/2022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0EF32FD-3556-6A40-BA1A-6D04524E96AE}" type="slidenum">
              <a:rPr lang="en-AU" smtClean="0"/>
              <a:t>‹#›</a:t>
            </a:fld>
            <a:endParaRPr lang="en-AU"/>
          </a:p>
        </p:txBody>
      </p:sp>
    </p:spTree>
    <p:extLst>
      <p:ext uri="{BB962C8B-B14F-4D97-AF65-F5344CB8AC3E}">
        <p14:creationId xmlns:p14="http://schemas.microsoft.com/office/powerpoint/2010/main" val="1764328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FBE6B6-4FCD-CD46-8EAF-554B06169A32}" type="datetimeFigureOut">
              <a:rPr lang="en-AU" smtClean="0"/>
              <a:t>16/08/2022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F32FD-3556-6A40-BA1A-6D04524E96AE}" type="slidenum">
              <a:rPr lang="en-AU" smtClean="0"/>
              <a:t>‹#›</a:t>
            </a:fld>
            <a:endParaRPr lang="en-AU"/>
          </a:p>
        </p:txBody>
      </p:sp>
    </p:spTree>
    <p:extLst>
      <p:ext uri="{BB962C8B-B14F-4D97-AF65-F5344CB8AC3E}">
        <p14:creationId xmlns:p14="http://schemas.microsoft.com/office/powerpoint/2010/main" val="621271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FBE6B6-4FCD-CD46-8EAF-554B06169A32}" type="datetimeFigureOut">
              <a:rPr lang="en-AU" smtClean="0"/>
              <a:t>16/08/2022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EF32FD-3556-6A40-BA1A-6D04524E96AE}" type="slidenum">
              <a:rPr lang="en-AU" smtClean="0"/>
              <a:t>‹#›</a:t>
            </a:fld>
            <a:endParaRPr lang="en-AU"/>
          </a:p>
        </p:txBody>
      </p:sp>
    </p:spTree>
    <p:extLst>
      <p:ext uri="{BB962C8B-B14F-4D97-AF65-F5344CB8AC3E}">
        <p14:creationId xmlns:p14="http://schemas.microsoft.com/office/powerpoint/2010/main" val="645902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5FBE6B6-4FCD-CD46-8EAF-554B06169A32}" type="datetimeFigureOut">
              <a:rPr lang="en-AU" smtClean="0"/>
              <a:t>16/08/2022</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0EF32FD-3556-6A40-BA1A-6D04524E96AE}"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66982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gPMCSN-KEbU"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ZWv-BrnSII4"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fo2Rb9h788s" TargetMode="External"/><Relationship Id="rId2" Type="http://schemas.openxmlformats.org/officeDocument/2006/relationships/hyperlink" Target="https://www.youtube.com/watch?v=gltrQGcLcA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subTitle" idx="1"/>
          </p:nvPr>
        </p:nvSpPr>
        <p:spPr>
          <a:xfrm>
            <a:off x="3712029" y="4471204"/>
            <a:ext cx="10058400" cy="1863958"/>
          </a:xfrm>
        </p:spPr>
        <p:txBody>
          <a:bodyPr>
            <a:normAutofit/>
          </a:bodyPr>
          <a:lstStyle/>
          <a:p>
            <a:r>
              <a:rPr lang="en-AU" sz="3600" dirty="0">
                <a:solidFill>
                  <a:schemeClr val="tx1"/>
                </a:solidFill>
              </a:rPr>
              <a:t>Year 10 HASS</a:t>
            </a:r>
          </a:p>
          <a:p>
            <a:r>
              <a:rPr lang="en-AU" dirty="0">
                <a:solidFill>
                  <a:schemeClr val="tx1"/>
                </a:solidFill>
              </a:rPr>
              <a:t>History – World War 2 </a:t>
            </a:r>
          </a:p>
          <a:p>
            <a:r>
              <a:rPr lang="en-AU" dirty="0">
                <a:solidFill>
                  <a:schemeClr val="tx1"/>
                </a:solidFill>
              </a:rPr>
              <a:t>War in the Pacific</a:t>
            </a:r>
          </a:p>
        </p:txBody>
      </p:sp>
      <p:sp>
        <p:nvSpPr>
          <p:cNvPr id="3" name="Title 2">
            <a:extLst>
              <a:ext uri="{FF2B5EF4-FFF2-40B4-BE49-F238E27FC236}">
                <a16:creationId xmlns:a16="http://schemas.microsoft.com/office/drawing/2014/main" id="{1D6492EF-552F-482E-98FA-223DF5ACD21A}"/>
              </a:ext>
            </a:extLst>
          </p:cNvPr>
          <p:cNvSpPr>
            <a:spLocks noGrp="1"/>
          </p:cNvSpPr>
          <p:nvPr>
            <p:ph type="ctrTitle"/>
          </p:nvPr>
        </p:nvSpPr>
        <p:spPr/>
        <p:txBody>
          <a:bodyPr/>
          <a:lstStyle/>
          <a:p>
            <a:r>
              <a:rPr lang="en-AU" dirty="0"/>
              <a:t>WWII in the Pacific </a:t>
            </a:r>
          </a:p>
        </p:txBody>
      </p:sp>
    </p:spTree>
    <p:extLst>
      <p:ext uri="{BB962C8B-B14F-4D97-AF65-F5344CB8AC3E}">
        <p14:creationId xmlns:p14="http://schemas.microsoft.com/office/powerpoint/2010/main" val="984657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AU" sz="5400" dirty="0"/>
              <a:t>Do Now</a:t>
            </a:r>
          </a:p>
        </p:txBody>
      </p:sp>
      <p:sp>
        <p:nvSpPr>
          <p:cNvPr id="5" name="Content Placeholder 4"/>
          <p:cNvSpPr>
            <a:spLocks noGrp="1"/>
          </p:cNvSpPr>
          <p:nvPr>
            <p:ph idx="1"/>
          </p:nvPr>
        </p:nvSpPr>
        <p:spPr>
          <a:xfrm>
            <a:off x="4800600" y="1465446"/>
            <a:ext cx="6492240" cy="5257800"/>
          </a:xfrm>
        </p:spPr>
        <p:txBody>
          <a:bodyPr>
            <a:normAutofit/>
          </a:bodyPr>
          <a:lstStyle/>
          <a:p>
            <a:pPr marL="0" indent="0">
              <a:buNone/>
            </a:pPr>
            <a:r>
              <a:rPr lang="en-AU" sz="3200" dirty="0"/>
              <a:t>What was a significant battle fought in WWII (in Europe)? </a:t>
            </a:r>
          </a:p>
          <a:p>
            <a:pPr marL="0" indent="0">
              <a:buNone/>
            </a:pPr>
            <a:r>
              <a:rPr lang="en-AU" sz="3200" dirty="0"/>
              <a:t>Why was it important? </a:t>
            </a:r>
          </a:p>
        </p:txBody>
      </p:sp>
      <p:sp>
        <p:nvSpPr>
          <p:cNvPr id="6" name="Text Placeholder 5"/>
          <p:cNvSpPr>
            <a:spLocks noGrp="1"/>
          </p:cNvSpPr>
          <p:nvPr>
            <p:ph type="body" sz="half" idx="2"/>
          </p:nvPr>
        </p:nvSpPr>
        <p:spPr/>
        <p:txBody>
          <a:bodyPr/>
          <a:lstStyle/>
          <a:p>
            <a:endParaRPr lang="en-AU" dirty="0"/>
          </a:p>
        </p:txBody>
      </p:sp>
    </p:spTree>
    <p:extLst>
      <p:ext uri="{BB962C8B-B14F-4D97-AF65-F5344CB8AC3E}">
        <p14:creationId xmlns:p14="http://schemas.microsoft.com/office/powerpoint/2010/main" val="4022751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6246"/>
            <a:ext cx="3200400" cy="584834"/>
          </a:xfrm>
        </p:spPr>
        <p:txBody>
          <a:bodyPr/>
          <a:lstStyle/>
          <a:p>
            <a:r>
              <a:rPr lang="en-AU" dirty="0"/>
              <a:t>Lesson Intention </a:t>
            </a:r>
          </a:p>
        </p:txBody>
      </p:sp>
      <p:sp>
        <p:nvSpPr>
          <p:cNvPr id="3" name="Content Placeholder 2"/>
          <p:cNvSpPr>
            <a:spLocks noGrp="1"/>
          </p:cNvSpPr>
          <p:nvPr>
            <p:ph idx="1"/>
          </p:nvPr>
        </p:nvSpPr>
        <p:spPr>
          <a:xfrm>
            <a:off x="4800600" y="357448"/>
            <a:ext cx="6492240" cy="5257800"/>
          </a:xfrm>
        </p:spPr>
        <p:txBody>
          <a:bodyPr>
            <a:normAutofit/>
          </a:bodyPr>
          <a:lstStyle/>
          <a:p>
            <a:pPr>
              <a:buFont typeface="Courier New" panose="02070309020205020404" pitchFamily="49" charset="0"/>
              <a:buChar char="o"/>
            </a:pPr>
            <a:r>
              <a:rPr lang="en-AU" sz="2800" dirty="0"/>
              <a:t>To understand the cause and course of WWII in the Pacific </a:t>
            </a:r>
          </a:p>
          <a:p>
            <a:pPr>
              <a:buFont typeface="Courier New" panose="02070309020205020404" pitchFamily="49" charset="0"/>
              <a:buChar char="o"/>
            </a:pPr>
            <a:endParaRPr lang="en-AU" sz="2800" dirty="0"/>
          </a:p>
          <a:p>
            <a:pPr>
              <a:buFont typeface="Courier New" panose="02070309020205020404" pitchFamily="49" charset="0"/>
              <a:buChar char="o"/>
            </a:pPr>
            <a:endParaRPr lang="en-AU" sz="2800"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9306" y="2295525"/>
            <a:ext cx="6096000" cy="456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0804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Japan post WWI </a:t>
            </a:r>
          </a:p>
        </p:txBody>
      </p:sp>
      <p:sp>
        <p:nvSpPr>
          <p:cNvPr id="3" name="Content Placeholder 2"/>
          <p:cNvSpPr>
            <a:spLocks noGrp="1"/>
          </p:cNvSpPr>
          <p:nvPr>
            <p:ph idx="1"/>
          </p:nvPr>
        </p:nvSpPr>
        <p:spPr>
          <a:xfrm>
            <a:off x="1097281" y="2062302"/>
            <a:ext cx="5989320" cy="4023360"/>
          </a:xfrm>
        </p:spPr>
        <p:txBody>
          <a:bodyPr/>
          <a:lstStyle/>
          <a:p>
            <a:pPr>
              <a:buFont typeface="Courier New" panose="02070309020205020404" pitchFamily="49" charset="0"/>
              <a:buChar char="o"/>
            </a:pPr>
            <a:r>
              <a:rPr lang="en-AU" dirty="0"/>
              <a:t>Compared to many Asia-Pacific countries, Japan was a powerful, independent and nationalistic country with a strong army. </a:t>
            </a:r>
          </a:p>
          <a:p>
            <a:pPr>
              <a:buFont typeface="Courier New" panose="02070309020205020404" pitchFamily="49" charset="0"/>
              <a:buChar char="o"/>
            </a:pPr>
            <a:r>
              <a:rPr lang="en-AU" dirty="0"/>
              <a:t>Limited access to natural resources (oil, coal, rubber, iron ore) for steel production. It relied on countries such as China and the USA for these. </a:t>
            </a:r>
          </a:p>
          <a:p>
            <a:pPr>
              <a:buFont typeface="Courier New" panose="02070309020205020404" pitchFamily="49" charset="0"/>
              <a:buChar char="o"/>
            </a:pPr>
            <a:r>
              <a:rPr lang="en-AU" dirty="0"/>
              <a:t>Supported the allies in WWI, however was disappointed by the terms of the T.O.V. </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7008" y="2316831"/>
            <a:ext cx="4148285" cy="2760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3196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Japanese expansionism </a:t>
            </a:r>
          </a:p>
        </p:txBody>
      </p:sp>
      <p:sp>
        <p:nvSpPr>
          <p:cNvPr id="3" name="Content Placeholder 2"/>
          <p:cNvSpPr>
            <a:spLocks noGrp="1"/>
          </p:cNvSpPr>
          <p:nvPr>
            <p:ph idx="1"/>
          </p:nvPr>
        </p:nvSpPr>
        <p:spPr>
          <a:xfrm>
            <a:off x="1097280" y="1938514"/>
            <a:ext cx="5580246" cy="4023360"/>
          </a:xfrm>
        </p:spPr>
        <p:txBody>
          <a:bodyPr/>
          <a:lstStyle/>
          <a:p>
            <a:pPr>
              <a:buFont typeface="Courier New" panose="02070309020205020404" pitchFamily="49" charset="0"/>
              <a:buChar char="o"/>
            </a:pPr>
            <a:r>
              <a:rPr lang="en-AU" dirty="0"/>
              <a:t>Similar to Germany, the </a:t>
            </a:r>
            <a:r>
              <a:rPr lang="en-AU" b="1" dirty="0"/>
              <a:t>Great Depression</a:t>
            </a:r>
            <a:r>
              <a:rPr lang="en-AU" dirty="0"/>
              <a:t> of the 1930’s caused mass unemployment and major social issues in Japan. Many people blamed their struggles on their government. </a:t>
            </a:r>
          </a:p>
          <a:p>
            <a:pPr>
              <a:buFont typeface="Courier New" panose="02070309020205020404" pitchFamily="49" charset="0"/>
              <a:buChar char="o"/>
            </a:pPr>
            <a:r>
              <a:rPr lang="en-AU" dirty="0"/>
              <a:t>This led to a </a:t>
            </a:r>
            <a:r>
              <a:rPr lang="en-AU" b="1" dirty="0"/>
              <a:t>military take over </a:t>
            </a:r>
            <a:r>
              <a:rPr lang="en-AU" dirty="0"/>
              <a:t>of the government. One army leader, Hirohito, became the new emperor of Japan. </a:t>
            </a:r>
          </a:p>
          <a:p>
            <a:pPr>
              <a:buFont typeface="Courier New" panose="02070309020205020404" pitchFamily="49" charset="0"/>
              <a:buChar char="o"/>
            </a:pPr>
            <a:r>
              <a:rPr lang="en-AU" dirty="0"/>
              <a:t>He sought to solve the country’s economic problems through </a:t>
            </a:r>
            <a:r>
              <a:rPr lang="en-AU" b="1" dirty="0"/>
              <a:t>foreign expansion</a:t>
            </a:r>
            <a:r>
              <a:rPr lang="en-AU" dirty="0"/>
              <a:t>. He wanted to </a:t>
            </a:r>
            <a:r>
              <a:rPr lang="en-AU" b="1" dirty="0"/>
              <a:t>conquer China </a:t>
            </a:r>
            <a:r>
              <a:rPr lang="en-AU" dirty="0"/>
              <a:t>in order to obtain raw materials and markets for their goods.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09397" y="1938514"/>
            <a:ext cx="2874645" cy="383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19439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The Greater East Asian Co-prosperity Sphere </a:t>
            </a:r>
          </a:p>
        </p:txBody>
      </p:sp>
      <p:sp>
        <p:nvSpPr>
          <p:cNvPr id="11" name="Content Placeholder 10"/>
          <p:cNvSpPr>
            <a:spLocks noGrp="1"/>
          </p:cNvSpPr>
          <p:nvPr>
            <p:ph idx="1"/>
          </p:nvPr>
        </p:nvSpPr>
        <p:spPr>
          <a:xfrm>
            <a:off x="1097280" y="1845734"/>
            <a:ext cx="4786162" cy="4023360"/>
          </a:xfrm>
        </p:spPr>
        <p:txBody>
          <a:bodyPr>
            <a:normAutofit fontScale="92500" lnSpcReduction="10000"/>
          </a:bodyPr>
          <a:lstStyle/>
          <a:p>
            <a:pPr>
              <a:buFont typeface="Courier New" panose="02070309020205020404" pitchFamily="49" charset="0"/>
              <a:buChar char="o"/>
            </a:pPr>
            <a:r>
              <a:rPr lang="en-AU" dirty="0"/>
              <a:t>Throughout the interwar period, Japanese politics was dominated by extreme </a:t>
            </a:r>
            <a:r>
              <a:rPr lang="en-AU" b="1" dirty="0"/>
              <a:t>nationalist</a:t>
            </a:r>
            <a:r>
              <a:rPr lang="en-AU" dirty="0"/>
              <a:t> and </a:t>
            </a:r>
            <a:r>
              <a:rPr lang="en-AU" b="1" dirty="0"/>
              <a:t>militarist</a:t>
            </a:r>
            <a:r>
              <a:rPr lang="en-AU" dirty="0"/>
              <a:t> movements. </a:t>
            </a:r>
          </a:p>
          <a:p>
            <a:pPr>
              <a:buFont typeface="Courier New" panose="02070309020205020404" pitchFamily="49" charset="0"/>
              <a:buChar char="o"/>
            </a:pPr>
            <a:r>
              <a:rPr lang="en-AU" dirty="0"/>
              <a:t>The military soon had more power than its government. </a:t>
            </a:r>
          </a:p>
          <a:p>
            <a:pPr>
              <a:buFont typeface="Courier New" panose="02070309020205020404" pitchFamily="49" charset="0"/>
              <a:buChar char="o"/>
            </a:pPr>
            <a:r>
              <a:rPr lang="en-AU" dirty="0"/>
              <a:t>One of the main ideas wat to create a ‘</a:t>
            </a:r>
            <a:r>
              <a:rPr lang="en-AU" b="1" dirty="0"/>
              <a:t>Greater East Asian Co-prosperity Sphere</a:t>
            </a:r>
            <a:r>
              <a:rPr lang="en-AU" dirty="0"/>
              <a:t>’. It was the idea that East Asia could exist free of Western Influence. </a:t>
            </a:r>
          </a:p>
          <a:p>
            <a:pPr>
              <a:buFont typeface="Courier New" panose="02070309020205020404" pitchFamily="49" charset="0"/>
              <a:buChar char="o"/>
            </a:pPr>
            <a:r>
              <a:rPr lang="en-AU" dirty="0"/>
              <a:t>Proposed that Japan act as the leader of a bloc of Asian and Pacific nations working together. (It was mostly designed to give Japan greater influence and access to neighbouring countries’ resources). </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236" y="1592981"/>
            <a:ext cx="5712995" cy="4177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4209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AU" sz="4400" dirty="0"/>
              <a:t>Turn and Talk </a:t>
            </a:r>
          </a:p>
        </p:txBody>
      </p:sp>
      <p:sp>
        <p:nvSpPr>
          <p:cNvPr id="5" name="Content Placeholder 4"/>
          <p:cNvSpPr>
            <a:spLocks noGrp="1"/>
          </p:cNvSpPr>
          <p:nvPr>
            <p:ph idx="1"/>
          </p:nvPr>
        </p:nvSpPr>
        <p:spPr>
          <a:xfrm>
            <a:off x="4800600" y="1357162"/>
            <a:ext cx="6492240" cy="5257800"/>
          </a:xfrm>
        </p:spPr>
        <p:txBody>
          <a:bodyPr>
            <a:normAutofit/>
          </a:bodyPr>
          <a:lstStyle/>
          <a:p>
            <a:pPr>
              <a:buFont typeface="Courier New" panose="02070309020205020404" pitchFamily="49" charset="0"/>
              <a:buChar char="o"/>
            </a:pPr>
            <a:r>
              <a:rPr lang="en-AU" sz="4400" dirty="0"/>
              <a:t>Why did Japan want to conquer China after the Great Depression? </a:t>
            </a:r>
          </a:p>
        </p:txBody>
      </p:sp>
    </p:spTree>
    <p:extLst>
      <p:ext uri="{BB962C8B-B14F-4D97-AF65-F5344CB8AC3E}">
        <p14:creationId xmlns:p14="http://schemas.microsoft.com/office/powerpoint/2010/main" val="2293995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Japan invades China </a:t>
            </a:r>
          </a:p>
        </p:txBody>
      </p:sp>
      <p:sp>
        <p:nvSpPr>
          <p:cNvPr id="3" name="Content Placeholder 2"/>
          <p:cNvSpPr>
            <a:spLocks noGrp="1"/>
          </p:cNvSpPr>
          <p:nvPr>
            <p:ph idx="1"/>
          </p:nvPr>
        </p:nvSpPr>
        <p:spPr>
          <a:xfrm>
            <a:off x="1097280" y="1845734"/>
            <a:ext cx="6338236" cy="4023360"/>
          </a:xfrm>
        </p:spPr>
        <p:txBody>
          <a:bodyPr>
            <a:normAutofit fontScale="92500" lnSpcReduction="10000"/>
          </a:bodyPr>
          <a:lstStyle/>
          <a:p>
            <a:pPr>
              <a:buFont typeface="Courier New" panose="02070309020205020404" pitchFamily="49" charset="0"/>
              <a:buChar char="o"/>
            </a:pPr>
            <a:r>
              <a:rPr lang="en-AU" dirty="0"/>
              <a:t>1931, Japan invades Manchuria – the military did this against strict instructions from the government not to. </a:t>
            </a:r>
          </a:p>
          <a:p>
            <a:pPr>
              <a:buFont typeface="Courier New" panose="02070309020205020404" pitchFamily="49" charset="0"/>
              <a:buChar char="o"/>
            </a:pPr>
            <a:r>
              <a:rPr lang="en-AU" dirty="0"/>
              <a:t>1937, Japan invades China. </a:t>
            </a:r>
          </a:p>
          <a:p>
            <a:pPr>
              <a:buFont typeface="Courier New" panose="02070309020205020404" pitchFamily="49" charset="0"/>
              <a:buChar char="o"/>
            </a:pPr>
            <a:r>
              <a:rPr lang="en-AU" dirty="0"/>
              <a:t>The Japanese committed many </a:t>
            </a:r>
            <a:r>
              <a:rPr lang="en-AU" b="1" dirty="0"/>
              <a:t>human rights violations </a:t>
            </a:r>
            <a:r>
              <a:rPr lang="en-AU" dirty="0"/>
              <a:t>against the Chinese. </a:t>
            </a:r>
          </a:p>
          <a:p>
            <a:pPr>
              <a:buFont typeface="Courier New" panose="02070309020205020404" pitchFamily="49" charset="0"/>
              <a:buChar char="o"/>
            </a:pPr>
            <a:r>
              <a:rPr lang="en-AU" dirty="0"/>
              <a:t>China protested to the League of Nations, but when it tried to sanction Japan, it withdrew from the League. Western powers were more concerned with threats to peace in Europe so took no effective action. </a:t>
            </a:r>
          </a:p>
          <a:p>
            <a:pPr>
              <a:buFont typeface="Courier New" panose="02070309020205020404" pitchFamily="49" charset="0"/>
              <a:buChar char="o"/>
            </a:pPr>
            <a:r>
              <a:rPr lang="en-AU" dirty="0"/>
              <a:t>Watch the following video and be prepared to answer the question </a:t>
            </a:r>
            <a:r>
              <a:rPr lang="en-AU" b="1" dirty="0"/>
              <a:t>‘What happened to the Chinese during the invasion of Nanjing?’ </a:t>
            </a:r>
          </a:p>
          <a:p>
            <a:pPr marL="0" indent="0">
              <a:buNone/>
            </a:pPr>
            <a:r>
              <a:rPr lang="en-US" u="sng" dirty="0">
                <a:hlinkClick r:id="rId2"/>
              </a:rPr>
              <a:t>https://www.youtube.com/watch?v=gPMCSN-KEbU</a:t>
            </a:r>
            <a:endParaRPr lang="en-AU" dirty="0"/>
          </a:p>
          <a:p>
            <a:pPr marL="0" indent="0">
              <a:buNone/>
            </a:pPr>
            <a:endParaRPr lang="en-AU"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5516" y="774832"/>
            <a:ext cx="4128606" cy="4663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5480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Source Analysis </a:t>
            </a:r>
          </a:p>
        </p:txBody>
      </p:sp>
      <p:sp>
        <p:nvSpPr>
          <p:cNvPr id="3" name="Content Placeholder 2"/>
          <p:cNvSpPr>
            <a:spLocks noGrp="1"/>
          </p:cNvSpPr>
          <p:nvPr>
            <p:ph idx="1"/>
          </p:nvPr>
        </p:nvSpPr>
        <p:spPr/>
        <p:txBody>
          <a:bodyPr/>
          <a:lstStyle/>
          <a:p>
            <a:r>
              <a:rPr lang="en-US" dirty="0"/>
              <a:t>The following is the survivor account of Xia Shu-</a:t>
            </a:r>
            <a:r>
              <a:rPr lang="en-US" dirty="0" err="1"/>
              <a:t>qin</a:t>
            </a:r>
            <a:r>
              <a:rPr lang="en-US" dirty="0"/>
              <a:t>, a Chinese resident of Nanking that was 7 years old at the time of the Japanese invasion in 1937. Xia Shu-</a:t>
            </a:r>
            <a:r>
              <a:rPr lang="en-US" dirty="0" err="1"/>
              <a:t>qin</a:t>
            </a:r>
            <a:r>
              <a:rPr lang="en-US" dirty="0"/>
              <a:t> told this story to a Chinese interviewer in June 2005. </a:t>
            </a:r>
          </a:p>
          <a:p>
            <a:endParaRPr lang="en-US" dirty="0"/>
          </a:p>
          <a:p>
            <a:endParaRPr lang="en-US" dirty="0"/>
          </a:p>
          <a:p>
            <a:endParaRPr lang="en-US" dirty="0"/>
          </a:p>
          <a:p>
            <a:endParaRPr lang="en-US" dirty="0"/>
          </a:p>
          <a:p>
            <a:endParaRPr lang="en-US" dirty="0"/>
          </a:p>
          <a:p>
            <a:r>
              <a:rPr lang="en-US" dirty="0"/>
              <a:t>Based on Xia Shu-</a:t>
            </a:r>
            <a:r>
              <a:rPr lang="en-US" dirty="0" err="1"/>
              <a:t>qin’s</a:t>
            </a:r>
            <a:r>
              <a:rPr lang="en-US" dirty="0"/>
              <a:t> account </a:t>
            </a:r>
            <a:r>
              <a:rPr lang="en-US" b="1" dirty="0"/>
              <a:t>explain</a:t>
            </a:r>
            <a:r>
              <a:rPr lang="en-US" dirty="0"/>
              <a:t> how the Japanese violated the human rights of the people in China.</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1943438475"/>
              </p:ext>
            </p:extLst>
          </p:nvPr>
        </p:nvGraphicFramePr>
        <p:xfrm>
          <a:off x="3314383" y="3068354"/>
          <a:ext cx="6768080" cy="1920240"/>
        </p:xfrm>
        <a:graphic>
          <a:graphicData uri="http://schemas.openxmlformats.org/drawingml/2006/table">
            <a:tbl>
              <a:tblPr firstRow="1" firstCol="1" bandRow="1" bandCol="1">
                <a:tableStyleId>{5C22544A-7EE6-4342-B048-85BDC9FD1C3A}</a:tableStyleId>
              </a:tblPr>
              <a:tblGrid>
                <a:gridCol w="6768080">
                  <a:extLst>
                    <a:ext uri="{9D8B030D-6E8A-4147-A177-3AD203B41FA5}">
                      <a16:colId xmlns:a16="http://schemas.microsoft.com/office/drawing/2014/main" val="20000"/>
                    </a:ext>
                  </a:extLst>
                </a:gridCol>
              </a:tblGrid>
              <a:tr h="0">
                <a:tc>
                  <a:txBody>
                    <a:bodyPr/>
                    <a:lstStyle/>
                    <a:p>
                      <a:pPr>
                        <a:spcAft>
                          <a:spcPts val="0"/>
                        </a:spcAft>
                      </a:pPr>
                      <a:r>
                        <a:rPr lang="en-US" sz="1800" dirty="0">
                          <a:solidFill>
                            <a:schemeClr val="tx1"/>
                          </a:solidFill>
                          <a:effectLst/>
                        </a:rPr>
                        <a:t>“It was about ten in the morning when a dozen Japanese soldiers with rifles and fixed bayonets (knives at the end of their guns) rushed into the house. They shot my father and grabbed my baby sister, who was being breast-fed by my mother. They stabbed the baby to death ... Then the Japanese killed my grandparents and … stabbed me and my 3-year old sister with bayonets. I saw both of my older sisters lying in pools of blood, dead." </a:t>
                      </a:r>
                      <a:endParaRPr lang="en-AU" sz="1800" dirty="0">
                        <a:solidFill>
                          <a:schemeClr val="tx1"/>
                        </a:solidFill>
                        <a:effectLst/>
                        <a:latin typeface="Cambria"/>
                        <a:ea typeface="Cambria"/>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91688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Connections to Europe </a:t>
            </a:r>
          </a:p>
        </p:txBody>
      </p:sp>
      <p:sp>
        <p:nvSpPr>
          <p:cNvPr id="3" name="Content Placeholder 2"/>
          <p:cNvSpPr>
            <a:spLocks noGrp="1"/>
          </p:cNvSpPr>
          <p:nvPr>
            <p:ph idx="1"/>
          </p:nvPr>
        </p:nvSpPr>
        <p:spPr>
          <a:xfrm>
            <a:off x="1097280" y="1845734"/>
            <a:ext cx="5062887" cy="4023360"/>
          </a:xfrm>
        </p:spPr>
        <p:txBody>
          <a:bodyPr/>
          <a:lstStyle/>
          <a:p>
            <a:pPr algn="just">
              <a:buFont typeface="Courier New" panose="02070309020205020404" pitchFamily="49" charset="0"/>
              <a:buChar char="o"/>
            </a:pPr>
            <a:r>
              <a:rPr lang="en-AU" dirty="0"/>
              <a:t>In 1939, Japan signed a non-aggression pact with the Soviet Union. </a:t>
            </a:r>
          </a:p>
          <a:p>
            <a:pPr algn="just">
              <a:buFont typeface="Courier New" panose="02070309020205020404" pitchFamily="49" charset="0"/>
              <a:buChar char="o"/>
            </a:pPr>
            <a:r>
              <a:rPr lang="en-AU" dirty="0"/>
              <a:t>1940, Japan signed the Tripartite Pact with Germany and Italy. They are known as the </a:t>
            </a:r>
            <a:r>
              <a:rPr lang="en-AU" b="1" dirty="0"/>
              <a:t>Axis powers. </a:t>
            </a:r>
          </a:p>
          <a:p>
            <a:pPr algn="just">
              <a:buFont typeface="Courier New" panose="02070309020205020404" pitchFamily="49" charset="0"/>
              <a:buChar char="o"/>
            </a:pPr>
            <a:r>
              <a:rPr lang="en-AU" dirty="0"/>
              <a:t>The Pact provided for mutual assistance should any of the 3 countries suffer attack by any nation not already involved in the war. </a:t>
            </a:r>
          </a:p>
          <a:p>
            <a:pPr algn="just">
              <a:buFont typeface="Courier New" panose="02070309020205020404" pitchFamily="49" charset="0"/>
              <a:buChar char="o"/>
            </a:pPr>
            <a:r>
              <a:rPr lang="en-AU" dirty="0"/>
              <a:t>It recognised the </a:t>
            </a:r>
            <a:r>
              <a:rPr lang="en-AU" b="1" dirty="0"/>
              <a:t>two spheres of influence </a:t>
            </a:r>
            <a:r>
              <a:rPr lang="en-AU" dirty="0"/>
              <a:t>(Italy and Germany leaders of Europe, whilst Japan was leader of Greater East Asia). </a:t>
            </a:r>
          </a:p>
          <a:p>
            <a:pPr algn="just">
              <a:buFont typeface="Courier New" panose="02070309020205020404" pitchFamily="49" charset="0"/>
              <a:buChar char="o"/>
            </a:pPr>
            <a:endParaRPr lang="en-AU" dirty="0"/>
          </a:p>
          <a:p>
            <a:pPr algn="just">
              <a:buFont typeface="Courier New" panose="02070309020205020404" pitchFamily="49" charset="0"/>
              <a:buChar char="o"/>
            </a:pPr>
            <a:endParaRPr lang="en-AU"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9011" y="2057400"/>
            <a:ext cx="4069430" cy="3126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5912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Appeasement </a:t>
            </a:r>
          </a:p>
        </p:txBody>
      </p:sp>
      <p:sp>
        <p:nvSpPr>
          <p:cNvPr id="3" name="Content Placeholder 2"/>
          <p:cNvSpPr>
            <a:spLocks noGrp="1"/>
          </p:cNvSpPr>
          <p:nvPr>
            <p:ph idx="1"/>
          </p:nvPr>
        </p:nvSpPr>
        <p:spPr>
          <a:xfrm>
            <a:off x="808522" y="2014176"/>
            <a:ext cx="7216541" cy="4023360"/>
          </a:xfrm>
        </p:spPr>
        <p:txBody>
          <a:bodyPr>
            <a:normAutofit lnSpcReduction="10000"/>
          </a:bodyPr>
          <a:lstStyle/>
          <a:p>
            <a:pPr>
              <a:buFont typeface="Courier New" panose="02070309020205020404" pitchFamily="49" charset="0"/>
              <a:buChar char="o"/>
            </a:pPr>
            <a:r>
              <a:rPr lang="en-AU" dirty="0"/>
              <a:t>Although European colonial powers and the US were concerned about Japanese expansionism, they followed the policy of appeasement. </a:t>
            </a:r>
          </a:p>
          <a:p>
            <a:pPr>
              <a:buFont typeface="Courier New" panose="02070309020205020404" pitchFamily="49" charset="0"/>
              <a:buChar char="o"/>
            </a:pPr>
            <a:r>
              <a:rPr lang="en-AU" dirty="0"/>
              <a:t>Germany seemed to be the </a:t>
            </a:r>
            <a:r>
              <a:rPr lang="en-AU" b="1" dirty="0"/>
              <a:t>greater threat</a:t>
            </a:r>
            <a:r>
              <a:rPr lang="en-AU" dirty="0"/>
              <a:t>. </a:t>
            </a:r>
          </a:p>
          <a:p>
            <a:pPr>
              <a:buFont typeface="Courier New" panose="02070309020205020404" pitchFamily="49" charset="0"/>
              <a:buChar char="o"/>
            </a:pPr>
            <a:r>
              <a:rPr lang="en-AU" dirty="0"/>
              <a:t>It wasn’t until Japan’s </a:t>
            </a:r>
            <a:r>
              <a:rPr lang="en-AU" b="1" dirty="0"/>
              <a:t>occupation of Indochina </a:t>
            </a:r>
            <a:r>
              <a:rPr lang="en-AU" dirty="0"/>
              <a:t>that the Western nations began to act. </a:t>
            </a:r>
          </a:p>
          <a:p>
            <a:pPr>
              <a:buFont typeface="Courier New" panose="02070309020205020404" pitchFamily="49" charset="0"/>
              <a:buChar char="o"/>
            </a:pPr>
            <a:r>
              <a:rPr lang="en-AU" dirty="0"/>
              <a:t>How did they react?</a:t>
            </a:r>
          </a:p>
          <a:p>
            <a:pPr lvl="1">
              <a:buFont typeface="Wingdings" panose="05000000000000000000" pitchFamily="2" charset="2"/>
              <a:buChar char="Ø"/>
            </a:pPr>
            <a:r>
              <a:rPr lang="en-AU" b="1" dirty="0"/>
              <a:t>Restricted exports </a:t>
            </a:r>
            <a:r>
              <a:rPr lang="en-AU" dirty="0"/>
              <a:t>of materials including iron and steel</a:t>
            </a:r>
          </a:p>
          <a:p>
            <a:pPr lvl="1">
              <a:buFont typeface="Wingdings" panose="05000000000000000000" pitchFamily="2" charset="2"/>
              <a:buChar char="Ø"/>
            </a:pPr>
            <a:r>
              <a:rPr lang="en-AU" dirty="0"/>
              <a:t>Froze Japanese assets </a:t>
            </a:r>
          </a:p>
          <a:p>
            <a:pPr lvl="1">
              <a:buFont typeface="Wingdings" panose="05000000000000000000" pitchFamily="2" charset="2"/>
              <a:buChar char="Ø"/>
            </a:pPr>
            <a:r>
              <a:rPr lang="en-AU" b="1" dirty="0"/>
              <a:t>Restricted exports of oil </a:t>
            </a:r>
            <a:r>
              <a:rPr lang="en-AU" dirty="0"/>
              <a:t>(an essential import for Japan) </a:t>
            </a:r>
          </a:p>
          <a:p>
            <a:pPr marL="201168" lvl="1" indent="0">
              <a:buNone/>
            </a:pPr>
            <a:endParaRPr lang="en-AU" dirty="0"/>
          </a:p>
          <a:p>
            <a:pPr marL="201168" lvl="1" indent="0">
              <a:buNone/>
            </a:pPr>
            <a:r>
              <a:rPr lang="en-AU" i="1" dirty="0"/>
              <a:t>Japan tried to negotiate with the US/Allies, however they could not come to an agreement. </a:t>
            </a:r>
            <a:r>
              <a:rPr lang="en-AU" dirty="0"/>
              <a:t> </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0734" y="1051560"/>
            <a:ext cx="3558340" cy="443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98658" y="6385122"/>
            <a:ext cx="6133699" cy="369332"/>
          </a:xfrm>
          <a:prstGeom prst="rect">
            <a:avLst/>
          </a:prstGeom>
          <a:noFill/>
        </p:spPr>
        <p:txBody>
          <a:bodyPr wrap="square" rtlCol="0">
            <a:spAutoFit/>
          </a:bodyPr>
          <a:lstStyle/>
          <a:p>
            <a:r>
              <a:rPr lang="en-AU" b="1" dirty="0"/>
              <a:t>Indochina</a:t>
            </a:r>
            <a:r>
              <a:rPr lang="en-AU" dirty="0"/>
              <a:t>: modern day Vietnam, Laos and Cambodia </a:t>
            </a:r>
          </a:p>
        </p:txBody>
      </p:sp>
    </p:spTree>
    <p:extLst>
      <p:ext uri="{BB962C8B-B14F-4D97-AF65-F5344CB8AC3E}">
        <p14:creationId xmlns:p14="http://schemas.microsoft.com/office/powerpoint/2010/main" val="2662608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WWII in the Pacific Begins. </a:t>
            </a:r>
          </a:p>
        </p:txBody>
      </p:sp>
      <p:sp>
        <p:nvSpPr>
          <p:cNvPr id="3" name="Content Placeholder 2"/>
          <p:cNvSpPr>
            <a:spLocks noGrp="1"/>
          </p:cNvSpPr>
          <p:nvPr>
            <p:ph idx="1"/>
          </p:nvPr>
        </p:nvSpPr>
        <p:spPr>
          <a:xfrm>
            <a:off x="1097280" y="1845734"/>
            <a:ext cx="5508057" cy="4023360"/>
          </a:xfrm>
        </p:spPr>
        <p:txBody>
          <a:bodyPr/>
          <a:lstStyle/>
          <a:p>
            <a:r>
              <a:rPr lang="en-US" dirty="0"/>
              <a:t>Japan was angered by this deliberate attempt to weaken their nation and attacked the U.S. at their naval base at Pearl Harbor. In the end, however, this attack only led to the U.S. entering the war and the ultimate demise of the axis powers in WWII.</a:t>
            </a:r>
          </a:p>
          <a:p>
            <a:pPr marL="0" indent="0">
              <a:buNone/>
            </a:pPr>
            <a:r>
              <a:rPr lang="en-US" u="sng" dirty="0"/>
              <a:t>Pearl Harbor Attack</a:t>
            </a:r>
          </a:p>
          <a:p>
            <a:pPr>
              <a:buFont typeface="Wingdings" panose="05000000000000000000" pitchFamily="2" charset="2"/>
              <a:buChar char="Ø"/>
            </a:pPr>
            <a:r>
              <a:rPr lang="en-US" dirty="0"/>
              <a:t>Naval base at Pearl Harbor, Hawaii</a:t>
            </a:r>
          </a:p>
          <a:p>
            <a:pPr>
              <a:buFont typeface="Wingdings" panose="05000000000000000000" pitchFamily="2" charset="2"/>
              <a:buChar char="Ø"/>
            </a:pPr>
            <a:r>
              <a:rPr lang="en-US" dirty="0"/>
              <a:t>7</a:t>
            </a:r>
            <a:r>
              <a:rPr lang="en-US" baseline="30000" dirty="0"/>
              <a:t>th</a:t>
            </a:r>
            <a:r>
              <a:rPr lang="en-US" dirty="0"/>
              <a:t> December, 1941 </a:t>
            </a:r>
          </a:p>
          <a:p>
            <a:pPr>
              <a:buFont typeface="Wingdings" panose="05000000000000000000" pitchFamily="2" charset="2"/>
              <a:buChar char="Ø"/>
            </a:pPr>
            <a:r>
              <a:rPr lang="en-US" dirty="0"/>
              <a:t>Hoped to destroy America’s Pacific fleet as a preventative strike to stop American influence in the Pacific. </a:t>
            </a:r>
          </a:p>
          <a:p>
            <a:pPr marL="0" indent="0">
              <a:buNone/>
            </a:pPr>
            <a:endParaRPr lang="en-AU" dirty="0"/>
          </a:p>
          <a:p>
            <a:endParaRPr lang="en-AU" dirty="0"/>
          </a:p>
          <a:p>
            <a:pPr marL="0" indent="0">
              <a:buNone/>
            </a:pPr>
            <a:endParaRPr lang="en-AU"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7959" y="1991116"/>
            <a:ext cx="4795609" cy="3194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0868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Source Analysis </a:t>
            </a:r>
          </a:p>
        </p:txBody>
      </p:sp>
      <p:sp>
        <p:nvSpPr>
          <p:cNvPr id="3" name="Content Placeholder 2"/>
          <p:cNvSpPr>
            <a:spLocks noGrp="1"/>
          </p:cNvSpPr>
          <p:nvPr>
            <p:ph idx="1"/>
          </p:nvPr>
        </p:nvSpPr>
        <p:spPr/>
        <p:txBody>
          <a:bodyPr/>
          <a:lstStyle/>
          <a:p>
            <a:r>
              <a:rPr lang="en-US" dirty="0"/>
              <a:t>Franklin D. Roosevelt's “Pearl Harbor” Speech (1941)</a:t>
            </a:r>
            <a:endParaRPr lang="en-AU" dirty="0"/>
          </a:p>
          <a:p>
            <a:endParaRPr lang="en-AU"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6724" y="2254520"/>
            <a:ext cx="3724898" cy="27900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 name="Table 3"/>
          <p:cNvGraphicFramePr>
            <a:graphicFrameLocks noGrp="1"/>
          </p:cNvGraphicFramePr>
          <p:nvPr>
            <p:extLst>
              <p:ext uri="{D42A27DB-BD31-4B8C-83A1-F6EECF244321}">
                <p14:modId xmlns:p14="http://schemas.microsoft.com/office/powerpoint/2010/main" val="1292894106"/>
              </p:ext>
            </p:extLst>
          </p:nvPr>
        </p:nvGraphicFramePr>
        <p:xfrm>
          <a:off x="960120" y="2254520"/>
          <a:ext cx="6080760" cy="3169920"/>
        </p:xfrm>
        <a:graphic>
          <a:graphicData uri="http://schemas.openxmlformats.org/drawingml/2006/table">
            <a:tbl>
              <a:tblPr firstRow="1" firstCol="1" bandRow="1" bandCol="1">
                <a:tableStyleId>{5C22544A-7EE6-4342-B048-85BDC9FD1C3A}</a:tableStyleId>
              </a:tblPr>
              <a:tblGrid>
                <a:gridCol w="6080760">
                  <a:extLst>
                    <a:ext uri="{9D8B030D-6E8A-4147-A177-3AD203B41FA5}">
                      <a16:colId xmlns:a16="http://schemas.microsoft.com/office/drawing/2014/main" val="20000"/>
                    </a:ext>
                  </a:extLst>
                </a:gridCol>
              </a:tblGrid>
              <a:tr h="0">
                <a:tc>
                  <a:txBody>
                    <a:bodyPr/>
                    <a:lstStyle/>
                    <a:p>
                      <a:pPr>
                        <a:spcAft>
                          <a:spcPts val="0"/>
                        </a:spcAft>
                      </a:pPr>
                      <a:r>
                        <a:rPr lang="en-US" sz="1600" dirty="0">
                          <a:solidFill>
                            <a:schemeClr val="tx1"/>
                          </a:solidFill>
                          <a:effectLst/>
                        </a:rPr>
                        <a:t> </a:t>
                      </a:r>
                      <a:endParaRPr lang="en-AU" sz="1600" dirty="0">
                        <a:solidFill>
                          <a:schemeClr val="tx1"/>
                        </a:solidFill>
                        <a:effectLst/>
                      </a:endParaRPr>
                    </a:p>
                    <a:p>
                      <a:pPr>
                        <a:spcAft>
                          <a:spcPts val="0"/>
                        </a:spcAft>
                      </a:pPr>
                      <a:r>
                        <a:rPr lang="en-US" sz="1600" dirty="0">
                          <a:solidFill>
                            <a:schemeClr val="tx1"/>
                          </a:solidFill>
                          <a:effectLst/>
                        </a:rPr>
                        <a:t>“Yesterday, December 7, 1941—a date which will live in infamy—the United States of America was suddenly and deliberately attacked by naval and air forces of the Empire of Japan…</a:t>
                      </a:r>
                      <a:endParaRPr lang="en-AU" sz="1600" dirty="0">
                        <a:solidFill>
                          <a:schemeClr val="tx1"/>
                        </a:solidFill>
                        <a:effectLst/>
                      </a:endParaRPr>
                    </a:p>
                    <a:p>
                      <a:pPr>
                        <a:spcAft>
                          <a:spcPts val="0"/>
                        </a:spcAft>
                      </a:pPr>
                      <a:r>
                        <a:rPr lang="en-US" sz="1600" dirty="0">
                          <a:solidFill>
                            <a:schemeClr val="tx1"/>
                          </a:solidFill>
                          <a:effectLst/>
                        </a:rPr>
                        <a:t>It will be recorded that the distance of Hawaii from Japan makes it obvious that the attack was deliberately planned many days or even weeks ago. During the intervening time the Japanese Government has deliberately sought to deceive the United States by false statements and expressions of hope for continued peace…</a:t>
                      </a:r>
                      <a:endParaRPr lang="en-AU" sz="1600" dirty="0">
                        <a:solidFill>
                          <a:schemeClr val="tx1"/>
                        </a:solidFill>
                        <a:effectLst/>
                      </a:endParaRPr>
                    </a:p>
                    <a:p>
                      <a:pPr>
                        <a:spcAft>
                          <a:spcPts val="0"/>
                        </a:spcAft>
                      </a:pPr>
                      <a:r>
                        <a:rPr lang="en-US" sz="1600" dirty="0">
                          <a:solidFill>
                            <a:schemeClr val="tx1"/>
                          </a:solidFill>
                          <a:effectLst/>
                        </a:rPr>
                        <a:t>I ask that the Congress declare that since the unprovoked and dastardly attack by Japan on Sunday, December 7, 1941, a state of war has existed between the United States and the Japanese Empire.”</a:t>
                      </a:r>
                      <a:endParaRPr lang="en-AU" sz="1600" dirty="0">
                        <a:solidFill>
                          <a:schemeClr val="tx1"/>
                        </a:solidFill>
                        <a:effectLst/>
                      </a:endParaRPr>
                    </a:p>
                    <a:p>
                      <a:pPr>
                        <a:spcAft>
                          <a:spcPts val="0"/>
                        </a:spcAft>
                      </a:pPr>
                      <a:r>
                        <a:rPr lang="en-US" sz="1600" dirty="0">
                          <a:solidFill>
                            <a:schemeClr val="tx1"/>
                          </a:solidFill>
                          <a:effectLst/>
                        </a:rPr>
                        <a:t> </a:t>
                      </a:r>
                      <a:endParaRPr lang="en-AU" sz="1600" dirty="0">
                        <a:solidFill>
                          <a:schemeClr val="tx1"/>
                        </a:solidFill>
                        <a:effectLst/>
                        <a:latin typeface="Cambria"/>
                        <a:ea typeface="Cambria"/>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6" name="Rectangle 5"/>
          <p:cNvSpPr/>
          <p:nvPr/>
        </p:nvSpPr>
        <p:spPr>
          <a:xfrm>
            <a:off x="960120" y="5529348"/>
            <a:ext cx="9483291" cy="369332"/>
          </a:xfrm>
          <a:prstGeom prst="rect">
            <a:avLst/>
          </a:prstGeom>
        </p:spPr>
        <p:txBody>
          <a:bodyPr wrap="square">
            <a:spAutoFit/>
          </a:bodyPr>
          <a:lstStyle/>
          <a:p>
            <a:r>
              <a:rPr lang="en-US" i="1" dirty="0"/>
              <a:t>Why does U.S. President Franklin D. Roosevelt ask congress to declare war on Japan?</a:t>
            </a:r>
            <a:endParaRPr lang="en-AU" i="1" dirty="0"/>
          </a:p>
        </p:txBody>
      </p:sp>
    </p:spTree>
    <p:extLst>
      <p:ext uri="{BB962C8B-B14F-4D97-AF65-F5344CB8AC3E}">
        <p14:creationId xmlns:p14="http://schemas.microsoft.com/office/powerpoint/2010/main" val="1527355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Pearl Harbor </a:t>
            </a:r>
          </a:p>
        </p:txBody>
      </p:sp>
      <p:sp>
        <p:nvSpPr>
          <p:cNvPr id="3" name="Content Placeholder 2"/>
          <p:cNvSpPr>
            <a:spLocks noGrp="1"/>
          </p:cNvSpPr>
          <p:nvPr>
            <p:ph idx="1"/>
          </p:nvPr>
        </p:nvSpPr>
        <p:spPr/>
        <p:txBody>
          <a:bodyPr/>
          <a:lstStyle/>
          <a:p>
            <a:r>
              <a:rPr lang="en-US" dirty="0"/>
              <a:t>Write down three observations about what happened during the attack on Pearl Harbor as you watch the video</a:t>
            </a:r>
          </a:p>
          <a:p>
            <a:r>
              <a:rPr lang="en-US" u="sng" dirty="0">
                <a:hlinkClick r:id="rId2"/>
              </a:rPr>
              <a:t>https://www.youtube.com/watch?v=ZWv-BrnSII4</a:t>
            </a:r>
            <a:r>
              <a:rPr lang="en-US" dirty="0"/>
              <a:t> </a:t>
            </a:r>
            <a:endParaRPr lang="en-AU" dirty="0"/>
          </a:p>
          <a:p>
            <a:r>
              <a:rPr lang="en-AU" dirty="0"/>
              <a:t>1)</a:t>
            </a:r>
          </a:p>
          <a:p>
            <a:r>
              <a:rPr lang="en-AU" dirty="0"/>
              <a:t>2)</a:t>
            </a:r>
          </a:p>
          <a:p>
            <a:r>
              <a:rPr lang="en-AU" dirty="0"/>
              <a:t>3)</a:t>
            </a:r>
          </a:p>
        </p:txBody>
      </p:sp>
    </p:spTree>
    <p:extLst>
      <p:ext uri="{BB962C8B-B14F-4D97-AF65-F5344CB8AC3E}">
        <p14:creationId xmlns:p14="http://schemas.microsoft.com/office/powerpoint/2010/main" val="42567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Declaration of War on Japan </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AU" dirty="0"/>
              <a:t>While the attack on Pearl Harbor seemed to be successful, the damage was less than originally thought. </a:t>
            </a:r>
          </a:p>
          <a:p>
            <a:pPr>
              <a:buFont typeface="Wingdings" panose="05000000000000000000" pitchFamily="2" charset="2"/>
              <a:buChar char="Ø"/>
            </a:pPr>
            <a:r>
              <a:rPr lang="en-AU" dirty="0"/>
              <a:t>Rather than preventing American intervention, the attack caused the USA, Australia and the Netherlands to declare war on Japan. </a:t>
            </a:r>
          </a:p>
          <a:p>
            <a:pPr>
              <a:buFont typeface="Wingdings" panose="05000000000000000000" pitchFamily="2" charset="2"/>
              <a:buChar char="Ø"/>
            </a:pPr>
            <a:r>
              <a:rPr lang="en-AU" dirty="0"/>
              <a:t>Germany (Japan’s ally) declared war on the USA </a:t>
            </a:r>
          </a:p>
          <a:p>
            <a:pPr>
              <a:buFont typeface="Wingdings" panose="05000000000000000000" pitchFamily="2" charset="2"/>
              <a:buChar char="Ø"/>
            </a:pPr>
            <a:r>
              <a:rPr lang="en-AU" dirty="0"/>
              <a:t>Therefore, the USA was brought into the European war. </a:t>
            </a:r>
          </a:p>
        </p:txBody>
      </p:sp>
    </p:spTree>
    <p:extLst>
      <p:ext uri="{BB962C8B-B14F-4D97-AF65-F5344CB8AC3E}">
        <p14:creationId xmlns:p14="http://schemas.microsoft.com/office/powerpoint/2010/main" val="445272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9C1A-21C2-434F-A5BF-CBCFF0608CDB}"/>
              </a:ext>
            </a:extLst>
          </p:cNvPr>
          <p:cNvSpPr>
            <a:spLocks noGrp="1"/>
          </p:cNvSpPr>
          <p:nvPr>
            <p:ph type="title"/>
          </p:nvPr>
        </p:nvSpPr>
        <p:spPr>
          <a:xfrm>
            <a:off x="1097280" y="-500793"/>
            <a:ext cx="10058400" cy="1450757"/>
          </a:xfrm>
        </p:spPr>
        <p:txBody>
          <a:bodyPr>
            <a:normAutofit/>
          </a:bodyPr>
          <a:lstStyle/>
          <a:p>
            <a:r>
              <a:rPr lang="en-AU" sz="2800" dirty="0"/>
              <a:t>Extent of the Asia-Pacific region controlled by Japan by 1942</a:t>
            </a:r>
          </a:p>
        </p:txBody>
      </p:sp>
      <p:sp>
        <p:nvSpPr>
          <p:cNvPr id="3" name="Content Placeholder 2">
            <a:extLst>
              <a:ext uri="{FF2B5EF4-FFF2-40B4-BE49-F238E27FC236}">
                <a16:creationId xmlns:a16="http://schemas.microsoft.com/office/drawing/2014/main" id="{1E4EF246-86EB-4DA5-8B7B-A5CF32E16A5E}"/>
              </a:ext>
            </a:extLst>
          </p:cNvPr>
          <p:cNvSpPr>
            <a:spLocks noGrp="1"/>
          </p:cNvSpPr>
          <p:nvPr>
            <p:ph idx="1"/>
          </p:nvPr>
        </p:nvSpPr>
        <p:spPr/>
        <p:txBody>
          <a:bodyPr/>
          <a:lstStyle/>
          <a:p>
            <a:endParaRPr lang="en-AU"/>
          </a:p>
        </p:txBody>
      </p:sp>
      <p:pic>
        <p:nvPicPr>
          <p:cNvPr id="1026" name="Picture 2">
            <a:extLst>
              <a:ext uri="{FF2B5EF4-FFF2-40B4-BE49-F238E27FC236}">
                <a16:creationId xmlns:a16="http://schemas.microsoft.com/office/drawing/2014/main" id="{A305B86D-213A-47CF-902F-59B3600DB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29" y="988906"/>
            <a:ext cx="7883737" cy="5680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698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5B859-A940-4ECE-B1FC-2CE5B959F43A}"/>
              </a:ext>
            </a:extLst>
          </p:cNvPr>
          <p:cNvSpPr>
            <a:spLocks noGrp="1"/>
          </p:cNvSpPr>
          <p:nvPr>
            <p:ph type="title"/>
          </p:nvPr>
        </p:nvSpPr>
        <p:spPr/>
        <p:txBody>
          <a:bodyPr/>
          <a:lstStyle/>
          <a:p>
            <a:r>
              <a:rPr lang="en-AU" dirty="0"/>
              <a:t>Turning points </a:t>
            </a:r>
          </a:p>
        </p:txBody>
      </p:sp>
      <p:sp>
        <p:nvSpPr>
          <p:cNvPr id="3" name="Content Placeholder 2">
            <a:extLst>
              <a:ext uri="{FF2B5EF4-FFF2-40B4-BE49-F238E27FC236}">
                <a16:creationId xmlns:a16="http://schemas.microsoft.com/office/drawing/2014/main" id="{C1C6BD95-59AE-4298-997D-E25410E5D1FD}"/>
              </a:ext>
            </a:extLst>
          </p:cNvPr>
          <p:cNvSpPr>
            <a:spLocks noGrp="1"/>
          </p:cNvSpPr>
          <p:nvPr>
            <p:ph idx="1"/>
          </p:nvPr>
        </p:nvSpPr>
        <p:spPr/>
        <p:txBody>
          <a:bodyPr/>
          <a:lstStyle/>
          <a:p>
            <a:r>
              <a:rPr lang="en-AU" dirty="0"/>
              <a:t>Counter-offensives against the Axis powers and Japan began to inflict serious defeats in Europe and the Pacific. </a:t>
            </a:r>
          </a:p>
          <a:p>
            <a:pPr>
              <a:buFont typeface="Wingdings" panose="05000000000000000000" pitchFamily="2" charset="2"/>
              <a:buChar char="v"/>
            </a:pPr>
            <a:r>
              <a:rPr lang="en-AU" dirty="0"/>
              <a:t>Battle of Midway – June 1942 – Japan lost its aircraft carriers </a:t>
            </a:r>
          </a:p>
          <a:p>
            <a:pPr>
              <a:buFont typeface="Wingdings" panose="05000000000000000000" pitchFamily="2" charset="2"/>
              <a:buChar char="v"/>
            </a:pPr>
            <a:r>
              <a:rPr lang="en-AU" dirty="0"/>
              <a:t>Australian troops defeated the Japanese in Papua New Guinea between July 1942 and January 1943. </a:t>
            </a:r>
          </a:p>
          <a:p>
            <a:pPr>
              <a:buFont typeface="Wingdings" panose="05000000000000000000" pitchFamily="2" charset="2"/>
              <a:buChar char="v"/>
            </a:pPr>
            <a:endParaRPr lang="en-AU" dirty="0"/>
          </a:p>
          <a:p>
            <a:pPr>
              <a:buFont typeface="Wingdings" panose="05000000000000000000" pitchFamily="2" charset="2"/>
              <a:buChar char="v"/>
            </a:pPr>
            <a:endParaRPr lang="en-AU" dirty="0"/>
          </a:p>
        </p:txBody>
      </p:sp>
    </p:spTree>
    <p:extLst>
      <p:ext uri="{BB962C8B-B14F-4D97-AF65-F5344CB8AC3E}">
        <p14:creationId xmlns:p14="http://schemas.microsoft.com/office/powerpoint/2010/main" val="2046258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58E3B-044F-4C0E-9838-C564C9B99E74}"/>
              </a:ext>
            </a:extLst>
          </p:cNvPr>
          <p:cNvSpPr>
            <a:spLocks noGrp="1"/>
          </p:cNvSpPr>
          <p:nvPr>
            <p:ph type="title"/>
          </p:nvPr>
        </p:nvSpPr>
        <p:spPr/>
        <p:txBody>
          <a:bodyPr/>
          <a:lstStyle/>
          <a:p>
            <a:r>
              <a:rPr lang="en-AU" dirty="0"/>
              <a:t>The end of the war </a:t>
            </a:r>
          </a:p>
        </p:txBody>
      </p:sp>
      <p:sp>
        <p:nvSpPr>
          <p:cNvPr id="3" name="Content Placeholder 2">
            <a:extLst>
              <a:ext uri="{FF2B5EF4-FFF2-40B4-BE49-F238E27FC236}">
                <a16:creationId xmlns:a16="http://schemas.microsoft.com/office/drawing/2014/main" id="{19F46BBD-EEC8-499F-B9BB-BE061C90208B}"/>
              </a:ext>
            </a:extLst>
          </p:cNvPr>
          <p:cNvSpPr>
            <a:spLocks noGrp="1"/>
          </p:cNvSpPr>
          <p:nvPr>
            <p:ph idx="1"/>
          </p:nvPr>
        </p:nvSpPr>
        <p:spPr/>
        <p:txBody>
          <a:bodyPr/>
          <a:lstStyle/>
          <a:p>
            <a:r>
              <a:rPr lang="en-AU" dirty="0"/>
              <a:t>Atomic Bombs – were nuclear weapons required to end the war? </a:t>
            </a:r>
          </a:p>
          <a:p>
            <a:r>
              <a:rPr lang="en-AU" dirty="0">
                <a:hlinkClick r:id="rId2"/>
              </a:rPr>
              <a:t>https://www.youtube.com/watch?v=gltrQGcLcAU</a:t>
            </a:r>
            <a:endParaRPr lang="en-AU" dirty="0"/>
          </a:p>
          <a:p>
            <a:endParaRPr lang="en-AU" dirty="0"/>
          </a:p>
          <a:p>
            <a:r>
              <a:rPr lang="en-AU" dirty="0"/>
              <a:t>WWII Oversimplified 2 </a:t>
            </a:r>
          </a:p>
          <a:p>
            <a:r>
              <a:rPr lang="en-AU" dirty="0"/>
              <a:t>-4.56 onwards to 6.23 </a:t>
            </a:r>
          </a:p>
          <a:p>
            <a:r>
              <a:rPr lang="en-AU" dirty="0"/>
              <a:t>-10.52 onwards</a:t>
            </a:r>
          </a:p>
          <a:p>
            <a:r>
              <a:rPr lang="en-AU" dirty="0">
                <a:hlinkClick r:id="rId3"/>
              </a:rPr>
              <a:t>https://www.youtube.com/watch?v=fo2Rb9h788s</a:t>
            </a:r>
            <a:endParaRPr lang="en-AU" dirty="0"/>
          </a:p>
          <a:p>
            <a:endParaRPr lang="en-AU" dirty="0"/>
          </a:p>
          <a:p>
            <a:endParaRPr lang="en-AU" dirty="0"/>
          </a:p>
        </p:txBody>
      </p:sp>
    </p:spTree>
    <p:extLst>
      <p:ext uri="{BB962C8B-B14F-4D97-AF65-F5344CB8AC3E}">
        <p14:creationId xmlns:p14="http://schemas.microsoft.com/office/powerpoint/2010/main" val="2408514711"/>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6926</TotalTime>
  <Words>1248</Words>
  <Application>Microsoft Office PowerPoint</Application>
  <PresentationFormat>Widescreen</PresentationFormat>
  <Paragraphs>97</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Cambria</vt:lpstr>
      <vt:lpstr>Courier New</vt:lpstr>
      <vt:lpstr>Wingdings</vt:lpstr>
      <vt:lpstr>Retrospect</vt:lpstr>
      <vt:lpstr>WWII in the Pacific </vt:lpstr>
      <vt:lpstr>Do Now</vt:lpstr>
      <vt:lpstr>Lesson Intention </vt:lpstr>
      <vt:lpstr>Japan post WWI </vt:lpstr>
      <vt:lpstr>Japanese expansionism </vt:lpstr>
      <vt:lpstr>The Greater East Asian Co-prosperity Sphere </vt:lpstr>
      <vt:lpstr>Turn and Talk </vt:lpstr>
      <vt:lpstr>Japan invades China </vt:lpstr>
      <vt:lpstr>Source Analysis </vt:lpstr>
      <vt:lpstr>Connections to Europe </vt:lpstr>
      <vt:lpstr>Appeasement </vt:lpstr>
      <vt:lpstr>WWII in the Pacific Begins. </vt:lpstr>
      <vt:lpstr>Source Analysis </vt:lpstr>
      <vt:lpstr>Pearl Harbor </vt:lpstr>
      <vt:lpstr>Declaration of War on Japan </vt:lpstr>
      <vt:lpstr>Extent of the Asia-Pacific region controlled by Japan by 1942</vt:lpstr>
      <vt:lpstr>Turning points </vt:lpstr>
      <vt:lpstr>The end of the war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Carly Fazioli</dc:creator>
  <cp:lastModifiedBy>FLAVEL Carly [Narrogin Senior High School]</cp:lastModifiedBy>
  <cp:revision>36</cp:revision>
  <dcterms:created xsi:type="dcterms:W3CDTF">2019-01-24T01:27:07Z</dcterms:created>
  <dcterms:modified xsi:type="dcterms:W3CDTF">2022-08-16T08:51:49Z</dcterms:modified>
</cp:coreProperties>
</file>
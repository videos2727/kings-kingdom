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7" d="100"/>
          <a:sy n="107" d="100"/>
        </p:scale>
        <p:origin x="-102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677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603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AU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990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697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458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798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221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748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32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867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498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891A1F7-0083-482A-B555-3381469341BF}" type="datetimeFigureOut">
              <a:rPr lang="en-AU" smtClean="0"/>
              <a:t>11/09/2017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AU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4B1AC69-C61C-4B19-A8D1-EE5CD13BCCF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412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941B88-C4E2-4DEB-BC35-1772C290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Instructions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BDBD58-2CFB-44A6-9530-3B624401C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AU" dirty="0"/>
              <a:t>Get out a pen and paper – ruling a margin down the side of your page  </a:t>
            </a:r>
          </a:p>
          <a:p>
            <a:pPr lvl="1"/>
            <a:endParaRPr lang="en-AU" dirty="0"/>
          </a:p>
          <a:p>
            <a:pPr lvl="1"/>
            <a:r>
              <a:rPr lang="en-AU" sz="2400" dirty="0"/>
              <a:t>Title your page – </a:t>
            </a:r>
            <a:r>
              <a:rPr lang="en-AU" sz="2400" b="1" dirty="0"/>
              <a:t>Human Wellbeing 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lvl="1"/>
            <a:r>
              <a:rPr lang="en-AU" dirty="0"/>
              <a:t>If you see this symbol 		      it means there is something on the slide which is noteworthy </a:t>
            </a:r>
          </a:p>
          <a:p>
            <a:pPr marL="274320" lvl="1" indent="0" algn="ctr">
              <a:buNone/>
            </a:pPr>
            <a:endParaRPr lang="en-AU" sz="2400" b="1" i="1" dirty="0"/>
          </a:p>
          <a:p>
            <a:pPr marL="274320" lvl="1" indent="0" algn="ctr">
              <a:buNone/>
            </a:pPr>
            <a:r>
              <a:rPr lang="en-AU" sz="2400" b="1" i="1" dirty="0"/>
              <a:t>So write it down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B68C450-8810-4773-9FE9-414EBBF418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77" b="35687"/>
          <a:stretch/>
        </p:blipFill>
        <p:spPr>
          <a:xfrm>
            <a:off x="4007029" y="3553905"/>
            <a:ext cx="2009775" cy="78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1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80241C-6E16-4301-A52B-0052B7F4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After today you will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7EAFAA7-6BC7-4D15-A3A6-A40D30678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to define wellbeing in regards to geography </a:t>
            </a:r>
          </a:p>
          <a:p>
            <a:endParaRPr lang="en-AU" dirty="0"/>
          </a:p>
          <a:p>
            <a:r>
              <a:rPr lang="en-AU" dirty="0"/>
              <a:t>What wellbeing indicators are/how they are used </a:t>
            </a:r>
          </a:p>
          <a:p>
            <a:endParaRPr lang="en-AU" dirty="0"/>
          </a:p>
          <a:p>
            <a:r>
              <a:rPr lang="en-AU" dirty="0"/>
              <a:t> How wellbeing is measured</a:t>
            </a:r>
          </a:p>
          <a:p>
            <a:pPr marL="0" indent="0">
              <a:buNone/>
            </a:pPr>
            <a:r>
              <a:rPr lang="en-AU" dirty="0"/>
              <a:t> </a:t>
            </a:r>
          </a:p>
          <a:p>
            <a:r>
              <a:rPr lang="en-AU" dirty="0"/>
              <a:t>How wealth effects wellbeing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8F407AC-E8F3-4FC7-9AFA-2360539F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9223">
            <a:off x="7889875" y="3783013"/>
            <a:ext cx="2914650" cy="1933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8F7D20E-486E-4A03-9BB2-8537331BA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875" y="1807210"/>
            <a:ext cx="29146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0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ABFAE5-2F72-4290-87DD-346758CB6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06302">
            <a:off x="1051560" y="1196553"/>
            <a:ext cx="9966960" cy="3035808"/>
          </a:xfrm>
        </p:spPr>
        <p:txBody>
          <a:bodyPr/>
          <a:lstStyle/>
          <a:p>
            <a:r>
              <a:rPr lang="en-AU" dirty="0"/>
              <a:t>Introducing: </a:t>
            </a:r>
            <a:br>
              <a:rPr lang="en-AU" dirty="0"/>
            </a:br>
            <a:r>
              <a:rPr lang="en-AU" sz="7200" dirty="0"/>
              <a:t>the Geography of Wellbeing 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11B5233-91F0-4BAD-993D-5D3154F1FE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/>
              <a:t>What does wellbeing mean to you?? </a:t>
            </a:r>
          </a:p>
        </p:txBody>
      </p:sp>
    </p:spTree>
    <p:extLst>
      <p:ext uri="{BB962C8B-B14F-4D97-AF65-F5344CB8AC3E}">
        <p14:creationId xmlns:p14="http://schemas.microsoft.com/office/powerpoint/2010/main" val="384932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2D72DF-A2BC-4BB6-9545-24E0A8498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Wellbeing??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28E30E-90E2-4160-BA1D-F3CA1C70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/>
              <a:t>Wellbeing is defined as: </a:t>
            </a:r>
          </a:p>
          <a:p>
            <a:pPr marL="0" indent="0">
              <a:buNone/>
            </a:pPr>
            <a:r>
              <a:rPr lang="en-AU" dirty="0"/>
              <a:t>		</a:t>
            </a:r>
            <a:r>
              <a:rPr lang="en-AU" i="1" dirty="0"/>
              <a:t>“The ability of human beings to access the things they </a:t>
            </a:r>
          </a:p>
          <a:p>
            <a:pPr marL="0" indent="0">
              <a:buNone/>
            </a:pPr>
            <a:r>
              <a:rPr lang="en-AU" i="1" dirty="0"/>
              <a:t>		need in order to live happy and healthy lives.”</a:t>
            </a:r>
          </a:p>
          <a:p>
            <a:pPr marL="0" indent="0">
              <a:buNone/>
            </a:pPr>
            <a:endParaRPr lang="en-AU" i="1" dirty="0"/>
          </a:p>
          <a:p>
            <a:r>
              <a:rPr lang="en-AU" dirty="0"/>
              <a:t>What do you think is needed to live a happy and healthy life??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What kind of things can impact on your ability to live a happy and healthy life??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1768259-E801-4873-A291-2854F6DDB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67031">
            <a:off x="8799946" y="2480514"/>
            <a:ext cx="2011854" cy="780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07E40A6-2A52-4DBE-9A4C-07842F43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832" y="774700"/>
            <a:ext cx="1627505" cy="161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0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C4E7D6-AFD3-4B7A-AA57-4365D0E5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Wellbeing indicators are…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339D55-41C5-4BFF-A2D0-FC8E1E4F5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Broken into quantitative and qualitative indicators. </a:t>
            </a:r>
          </a:p>
          <a:p>
            <a:endParaRPr lang="en-AU" dirty="0"/>
          </a:p>
          <a:p>
            <a:r>
              <a:rPr lang="en-AU" dirty="0"/>
              <a:t>Indicators of wellbeing can be classified into a broad range of categories. </a:t>
            </a:r>
          </a:p>
          <a:p>
            <a:r>
              <a:rPr lang="en-AU" dirty="0"/>
              <a:t>These categories are: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Social </a:t>
            </a:r>
          </a:p>
          <a:p>
            <a:pPr lvl="1"/>
            <a:r>
              <a:rPr lang="en-AU" dirty="0"/>
              <a:t>Political </a:t>
            </a:r>
          </a:p>
          <a:p>
            <a:pPr lvl="1"/>
            <a:r>
              <a:rPr lang="en-AU" dirty="0"/>
              <a:t>Economic </a:t>
            </a:r>
          </a:p>
          <a:p>
            <a:pPr lvl="1"/>
            <a:r>
              <a:rPr lang="en-AU" dirty="0"/>
              <a:t>Environmental </a:t>
            </a:r>
          </a:p>
          <a:p>
            <a:pPr lvl="1"/>
            <a:r>
              <a:rPr lang="en-AU" dirty="0"/>
              <a:t>Technological 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Do you think the indicators within these categories would be the same in every country?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D888645-B2BF-45F1-964D-2AD597D43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0062">
            <a:off x="3600638" y="4218540"/>
            <a:ext cx="2011854" cy="780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752887B-5579-44A4-92C7-55665E14F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457" y="484632"/>
            <a:ext cx="22193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5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2C93E7-8F06-4827-9205-CD3AFF7D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categories…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41DE13-D861-4C0A-8B5C-DB7025F9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b="1" dirty="0"/>
              <a:t>Social </a:t>
            </a:r>
            <a:r>
              <a:rPr lang="en-AU" dirty="0"/>
              <a:t>– Measures the demographic, social and health indicators, such as;  population 		growth, literacy and life expectancy. </a:t>
            </a:r>
          </a:p>
          <a:p>
            <a:endParaRPr lang="en-AU" dirty="0"/>
          </a:p>
          <a:p>
            <a:r>
              <a:rPr lang="en-AU" b="1" dirty="0"/>
              <a:t>Political</a:t>
            </a:r>
            <a:r>
              <a:rPr lang="en-AU" dirty="0"/>
              <a:t> – Measures the effective governance and the opportunity to live and work in 		safety, such as; defence expenditure and female parliamentarians.</a:t>
            </a:r>
          </a:p>
          <a:p>
            <a:endParaRPr lang="en-AU" dirty="0"/>
          </a:p>
          <a:p>
            <a:r>
              <a:rPr lang="en-AU" b="1" dirty="0"/>
              <a:t>Economical</a:t>
            </a:r>
            <a:r>
              <a:rPr lang="en-AU" dirty="0"/>
              <a:t> – Measures income and employment to help quantify living standards, 		such as; Gross National Income.</a:t>
            </a:r>
          </a:p>
          <a:p>
            <a:endParaRPr lang="en-AU" dirty="0"/>
          </a:p>
          <a:p>
            <a:r>
              <a:rPr lang="en-AU" b="1" dirty="0"/>
              <a:t>Environmental</a:t>
            </a:r>
            <a:r>
              <a:rPr lang="en-AU" dirty="0"/>
              <a:t> – Assesses natural and man-made environmental resources such as; 		access to fresh water and CO2 emissions.</a:t>
            </a:r>
          </a:p>
          <a:p>
            <a:r>
              <a:rPr lang="en-AU" b="1" dirty="0"/>
              <a:t>Technological</a:t>
            </a:r>
            <a:r>
              <a:rPr lang="en-AU" dirty="0"/>
              <a:t> – Technologies impact on living standards, such as; access to electricity 		and the internet.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2345D2F-10A4-40CF-A094-E9EAF9672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59429">
            <a:off x="8236116" y="730062"/>
            <a:ext cx="2883587" cy="111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86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B7E15E-9165-4F2A-B033-DDC1E3BB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Use indicators?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B2359B-3B58-42F4-9A77-4C2D66466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Helps geographers to identify patterns and attempt to explain why these patterns exist.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Also helps to explain why the world is so unequal.</a:t>
            </a:r>
          </a:p>
          <a:p>
            <a:endParaRPr lang="en-AU" dirty="0"/>
          </a:p>
          <a:p>
            <a:r>
              <a:rPr lang="en-AU" dirty="0"/>
              <a:t>What factors can influence equality among countries?? </a:t>
            </a:r>
          </a:p>
          <a:p>
            <a:pPr lvl="1"/>
            <a:r>
              <a:rPr lang="en-AU" dirty="0"/>
              <a:t>Availability of natural resources </a:t>
            </a:r>
          </a:p>
          <a:p>
            <a:pPr lvl="1"/>
            <a:r>
              <a:rPr lang="en-AU" dirty="0"/>
              <a:t>Educated work force </a:t>
            </a:r>
          </a:p>
          <a:p>
            <a:pPr lvl="1"/>
            <a:r>
              <a:rPr lang="en-AU" dirty="0"/>
              <a:t>Climate conditions </a:t>
            </a:r>
          </a:p>
          <a:p>
            <a:pPr lvl="1"/>
            <a:r>
              <a:rPr lang="en-AU" dirty="0"/>
              <a:t>Natural disasters </a:t>
            </a:r>
          </a:p>
          <a:p>
            <a:pPr lvl="1"/>
            <a:r>
              <a:rPr lang="en-AU" dirty="0"/>
              <a:t>Government styles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140BDE9-7A19-43CE-B8CD-1175F9C0E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998" y="3317557"/>
            <a:ext cx="23812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BC6D0C-675E-4BAA-8A73-76ED1985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Describing development…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89CB03-C759-4286-ACFC-94224F56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792865" cy="4050792"/>
          </a:xfrm>
        </p:spPr>
        <p:txBody>
          <a:bodyPr/>
          <a:lstStyle/>
          <a:p>
            <a:r>
              <a:rPr lang="en-AU" dirty="0"/>
              <a:t>The old system to categories the development of countries was developed during the Cold War.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The categories were: - First, Second and Third World countries  </a:t>
            </a:r>
          </a:p>
          <a:p>
            <a:endParaRPr lang="en-AU" dirty="0"/>
          </a:p>
          <a:p>
            <a:r>
              <a:rPr lang="en-AU" dirty="0"/>
              <a:t>The new system has countries are divided by wealth into one of two categories: More Economically Developed (MEDC) or Less Economically Developed (LEDC). 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6BA4942-01D3-4A78-97B0-FC9B7B17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73" y="5003460"/>
            <a:ext cx="1635032" cy="9551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CC7C4EF-53F2-4010-8374-71BCD86BE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13" y="2093976"/>
            <a:ext cx="4937748" cy="290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3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EC3E4D-55AF-47B4-AA99-B277B824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Describing poverty…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417F1B5-490D-4C5A-B951-7A956847C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905987" cy="4050792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There is a strong correlation between development and poverty.</a:t>
            </a:r>
          </a:p>
          <a:p>
            <a:endParaRPr lang="en-AU" dirty="0"/>
          </a:p>
          <a:p>
            <a:r>
              <a:rPr lang="en-AU" dirty="0"/>
              <a:t>Poverty is defined as:</a:t>
            </a:r>
          </a:p>
          <a:p>
            <a:pPr marL="0" indent="0">
              <a:buNone/>
            </a:pPr>
            <a:r>
              <a:rPr lang="en-AU" i="1" dirty="0"/>
              <a:t>“A denial of choices and opportunities, a violation of </a:t>
            </a:r>
          </a:p>
          <a:p>
            <a:pPr marL="0" indent="0">
              <a:buNone/>
            </a:pPr>
            <a:r>
              <a:rPr lang="en-AU" i="1" dirty="0"/>
              <a:t> human dignity.’</a:t>
            </a:r>
          </a:p>
          <a:p>
            <a:endParaRPr lang="en-AU" i="1" dirty="0"/>
          </a:p>
          <a:p>
            <a:r>
              <a:rPr lang="en-AU" dirty="0"/>
              <a:t>In simple terms it means not having; enough to feed/clothe a family, a school/clinic to go to, land or a job to earn a living. </a:t>
            </a:r>
          </a:p>
          <a:p>
            <a:endParaRPr lang="en-AU" dirty="0"/>
          </a:p>
          <a:p>
            <a:r>
              <a:rPr lang="en-AU" dirty="0"/>
              <a:t>More than 1 billion people live in poverty.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215B5DE-3244-41A1-BA04-58F30CC7A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947" y="2403396"/>
            <a:ext cx="1774173" cy="1036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F81A4A8-7743-428D-ACE5-7E046A05D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1254">
            <a:off x="7849235" y="1658619"/>
            <a:ext cx="2914650" cy="1781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26144DC-BA28-4757-8B3B-E7626DDA7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6063">
            <a:off x="8433942" y="3882707"/>
            <a:ext cx="28670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2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4DC5C-706C-4587-89D1-318703C6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Wealth’s impact on wellbeing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F13C9E-B32B-443A-8EF7-662648B8A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808472" cy="4050792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Access to the basic necessities of life are determined largely by the degree of wealth a person possesses.</a:t>
            </a:r>
          </a:p>
          <a:p>
            <a:endParaRPr lang="en-AU" dirty="0"/>
          </a:p>
          <a:p>
            <a:r>
              <a:rPr lang="en-AU" dirty="0"/>
              <a:t>Wealth is generated by; producing/selling things, earning wages from work, making investments or owning assets.</a:t>
            </a:r>
          </a:p>
          <a:p>
            <a:endParaRPr lang="en-AU" dirty="0"/>
          </a:p>
          <a:p>
            <a:r>
              <a:rPr lang="en-AU" dirty="0"/>
              <a:t>If you lack access to wealth it’s difficult to buy things such as; food, medicine and life necessities.</a:t>
            </a:r>
          </a:p>
          <a:p>
            <a:endParaRPr lang="en-AU" dirty="0"/>
          </a:p>
          <a:p>
            <a:r>
              <a:rPr lang="en-AU" dirty="0"/>
              <a:t>There are huge variations in wealth across the globe.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EF1D390-1FC7-4C26-B4BD-ABDE28447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680" y="3657522"/>
            <a:ext cx="1346333" cy="786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E5433D6-9D78-4E57-8C63-39BA642A8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2231">
            <a:off x="7843202" y="4050758"/>
            <a:ext cx="2581275" cy="2447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6E7383D-39D5-41E6-80C3-9358888A5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0026">
            <a:off x="8308848" y="2050508"/>
            <a:ext cx="28194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7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7C3937-5D0D-4D27-802F-D3951D1C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Geography Alive question to do…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78B4B85-3811-44CB-8149-8995EE51B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dirty="0"/>
              <a:t>Pg. 113</a:t>
            </a:r>
          </a:p>
          <a:p>
            <a:pPr lvl="1"/>
            <a:r>
              <a:rPr lang="en-AU" sz="2400" dirty="0"/>
              <a:t>All ‘Explain’ Questions </a:t>
            </a:r>
          </a:p>
          <a:p>
            <a:pPr lvl="1"/>
            <a:r>
              <a:rPr lang="en-AU" sz="2400" dirty="0"/>
              <a:t>Think – Q.6,  Q.7 </a:t>
            </a:r>
          </a:p>
          <a:p>
            <a:endParaRPr lang="en-AU" sz="2800" dirty="0"/>
          </a:p>
          <a:p>
            <a:r>
              <a:rPr lang="en-AU" sz="2800" dirty="0"/>
              <a:t>Pg. 115</a:t>
            </a:r>
          </a:p>
          <a:p>
            <a:pPr lvl="1"/>
            <a:r>
              <a:rPr lang="en-AU" sz="2400" dirty="0"/>
              <a:t>Think – Q.4 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1CA62D1-A599-4D5D-9EE1-78E97BECC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4607">
            <a:off x="8645903" y="2590112"/>
            <a:ext cx="2570164" cy="3341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36FE064-89BF-4DAF-BBD9-7A88840CE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669" y="2121408"/>
            <a:ext cx="28575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17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350</TotalTime>
  <Words>423</Words>
  <Application>Microsoft Office PowerPoint</Application>
  <PresentationFormat>Custom</PresentationFormat>
  <Paragraphs>94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Wood Type</vt:lpstr>
      <vt:lpstr>Instructions : </vt:lpstr>
      <vt:lpstr>After today you will know…</vt:lpstr>
      <vt:lpstr>Introducing:  the Geography of Wellbeing </vt:lpstr>
      <vt:lpstr>What is Wellbeing??</vt:lpstr>
      <vt:lpstr>Wellbeing indicators are…</vt:lpstr>
      <vt:lpstr>the categories…</vt:lpstr>
      <vt:lpstr>Why Use indicators? </vt:lpstr>
      <vt:lpstr>Describing development… </vt:lpstr>
      <vt:lpstr>Describing poverty… </vt:lpstr>
      <vt:lpstr>Wealth’s impact on wellbeing</vt:lpstr>
      <vt:lpstr>Geography Alive question to do…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Introducing:  the Geography of Wellbeing</dc:title>
  <dc:creator>Bonnie</dc:creator>
  <cp:lastModifiedBy>GOODWIN Nina</cp:lastModifiedBy>
  <cp:revision>17</cp:revision>
  <dcterms:created xsi:type="dcterms:W3CDTF">2017-08-27T10:08:35Z</dcterms:created>
  <dcterms:modified xsi:type="dcterms:W3CDTF">2017-09-11T04:47:07Z</dcterms:modified>
</cp:coreProperties>
</file>
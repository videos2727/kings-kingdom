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 snapToObjects="1">
      <p:cViewPr varScale="1">
        <p:scale>
          <a:sx n="104" d="100"/>
          <a:sy n="104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3381E2-B749-4978-8808-674B0918C9F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16A2E8-8197-4F29-A16F-60221C80649A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Examine how governments act to improve economic performance</a:t>
          </a:r>
          <a:endParaRPr lang="en-US"/>
        </a:p>
      </dgm:t>
    </dgm:pt>
    <dgm:pt modelId="{26C0BAFC-ED01-4EC4-8D03-4E82BA89C5BD}" type="parTrans" cxnId="{4820CFE7-86EB-4959-B140-69038D5FE686}">
      <dgm:prSet/>
      <dgm:spPr/>
      <dgm:t>
        <a:bodyPr/>
        <a:lstStyle/>
        <a:p>
          <a:endParaRPr lang="en-US"/>
        </a:p>
      </dgm:t>
    </dgm:pt>
    <dgm:pt modelId="{48CD3A7F-765B-42DC-A5AC-46D6681C8BB3}" type="sibTrans" cxnId="{4820CFE7-86EB-4959-B140-69038D5FE686}">
      <dgm:prSet/>
      <dgm:spPr/>
      <dgm:t>
        <a:bodyPr/>
        <a:lstStyle/>
        <a:p>
          <a:endParaRPr lang="en-US"/>
        </a:p>
      </dgm:t>
    </dgm:pt>
    <dgm:pt modelId="{024EA0B0-DC50-42BD-BC06-3322451C60E4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Examine ways that governments support business to increase productivity</a:t>
          </a:r>
          <a:endParaRPr lang="en-US"/>
        </a:p>
      </dgm:t>
    </dgm:pt>
    <dgm:pt modelId="{38AE2A57-762D-42FB-A1A3-528EDD6228C6}" type="parTrans" cxnId="{AF754A02-3629-4490-A691-1F1E1BC62611}">
      <dgm:prSet/>
      <dgm:spPr/>
      <dgm:t>
        <a:bodyPr/>
        <a:lstStyle/>
        <a:p>
          <a:endParaRPr lang="en-US"/>
        </a:p>
      </dgm:t>
    </dgm:pt>
    <dgm:pt modelId="{7112405D-EF13-4190-B352-DEDD7855B863}" type="sibTrans" cxnId="{AF754A02-3629-4490-A691-1F1E1BC62611}">
      <dgm:prSet/>
      <dgm:spPr/>
      <dgm:t>
        <a:bodyPr/>
        <a:lstStyle/>
        <a:p>
          <a:endParaRPr lang="en-US"/>
        </a:p>
      </dgm:t>
    </dgm:pt>
    <dgm:pt modelId="{E6AB3AC6-B29B-444F-AA9A-879900D8008F}" type="pres">
      <dgm:prSet presAssocID="{F73381E2-B749-4978-8808-674B0918C9FD}" presName="root" presStyleCnt="0">
        <dgm:presLayoutVars>
          <dgm:dir/>
          <dgm:resizeHandles val="exact"/>
        </dgm:presLayoutVars>
      </dgm:prSet>
      <dgm:spPr/>
    </dgm:pt>
    <dgm:pt modelId="{4C4BB103-1563-4DDF-8EE5-E9CB66CC1045}" type="pres">
      <dgm:prSet presAssocID="{5416A2E8-8197-4F29-A16F-60221C80649A}" presName="compNode" presStyleCnt="0"/>
      <dgm:spPr/>
    </dgm:pt>
    <dgm:pt modelId="{956F27CB-0FAF-4A75-9ACD-1071E2A59CB4}" type="pres">
      <dgm:prSet presAssocID="{5416A2E8-8197-4F29-A16F-60221C80649A}" presName="bgRect" presStyleLbl="bgShp" presStyleIdx="0" presStyleCnt="2"/>
      <dgm:spPr/>
    </dgm:pt>
    <dgm:pt modelId="{1533AAC8-DCD6-4DA2-BB25-E4B60CF12F4D}" type="pres">
      <dgm:prSet presAssocID="{5416A2E8-8197-4F29-A16F-60221C8064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2519A79-AFB1-4B7B-9ABD-980E7D893DF0}" type="pres">
      <dgm:prSet presAssocID="{5416A2E8-8197-4F29-A16F-60221C80649A}" presName="spaceRect" presStyleCnt="0"/>
      <dgm:spPr/>
    </dgm:pt>
    <dgm:pt modelId="{F39F94E5-C688-45AA-B5E8-975258736ECA}" type="pres">
      <dgm:prSet presAssocID="{5416A2E8-8197-4F29-A16F-60221C80649A}" presName="parTx" presStyleLbl="revTx" presStyleIdx="0" presStyleCnt="2">
        <dgm:presLayoutVars>
          <dgm:chMax val="0"/>
          <dgm:chPref val="0"/>
        </dgm:presLayoutVars>
      </dgm:prSet>
      <dgm:spPr/>
    </dgm:pt>
    <dgm:pt modelId="{D46B0DDB-158B-4B26-8509-79070CA5BF7E}" type="pres">
      <dgm:prSet presAssocID="{48CD3A7F-765B-42DC-A5AC-46D6681C8BB3}" presName="sibTrans" presStyleCnt="0"/>
      <dgm:spPr/>
    </dgm:pt>
    <dgm:pt modelId="{E507AE13-7075-44AD-BF2C-2283A626F683}" type="pres">
      <dgm:prSet presAssocID="{024EA0B0-DC50-42BD-BC06-3322451C60E4}" presName="compNode" presStyleCnt="0"/>
      <dgm:spPr/>
    </dgm:pt>
    <dgm:pt modelId="{20F261DA-826F-44BA-B532-40F82F3EDCDD}" type="pres">
      <dgm:prSet presAssocID="{024EA0B0-DC50-42BD-BC06-3322451C60E4}" presName="bgRect" presStyleLbl="bgShp" presStyleIdx="1" presStyleCnt="2"/>
      <dgm:spPr/>
    </dgm:pt>
    <dgm:pt modelId="{7449317A-7749-4042-94E6-7355D166B7AE}" type="pres">
      <dgm:prSet presAssocID="{024EA0B0-DC50-42BD-BC06-3322451C60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EEB4A4C-FBD6-4474-AD22-E57E084F96EF}" type="pres">
      <dgm:prSet presAssocID="{024EA0B0-DC50-42BD-BC06-3322451C60E4}" presName="spaceRect" presStyleCnt="0"/>
      <dgm:spPr/>
    </dgm:pt>
    <dgm:pt modelId="{8C806BA4-0B67-4A64-852A-662D3FF6690B}" type="pres">
      <dgm:prSet presAssocID="{024EA0B0-DC50-42BD-BC06-3322451C60E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F754A02-3629-4490-A691-1F1E1BC62611}" srcId="{F73381E2-B749-4978-8808-674B0918C9FD}" destId="{024EA0B0-DC50-42BD-BC06-3322451C60E4}" srcOrd="1" destOrd="0" parTransId="{38AE2A57-762D-42FB-A1A3-528EDD6228C6}" sibTransId="{7112405D-EF13-4190-B352-DEDD7855B863}"/>
    <dgm:cxn modelId="{91A31324-AF2A-4EEE-B521-008D56905387}" type="presOf" srcId="{5416A2E8-8197-4F29-A16F-60221C80649A}" destId="{F39F94E5-C688-45AA-B5E8-975258736ECA}" srcOrd="0" destOrd="0" presId="urn:microsoft.com/office/officeart/2018/2/layout/IconVerticalSolidList"/>
    <dgm:cxn modelId="{201A6DDD-711A-4F7F-94A6-7A819E42013C}" type="presOf" srcId="{024EA0B0-DC50-42BD-BC06-3322451C60E4}" destId="{8C806BA4-0B67-4A64-852A-662D3FF6690B}" srcOrd="0" destOrd="0" presId="urn:microsoft.com/office/officeart/2018/2/layout/IconVerticalSolidList"/>
    <dgm:cxn modelId="{4820CFE7-86EB-4959-B140-69038D5FE686}" srcId="{F73381E2-B749-4978-8808-674B0918C9FD}" destId="{5416A2E8-8197-4F29-A16F-60221C80649A}" srcOrd="0" destOrd="0" parTransId="{26C0BAFC-ED01-4EC4-8D03-4E82BA89C5BD}" sibTransId="{48CD3A7F-765B-42DC-A5AC-46D6681C8BB3}"/>
    <dgm:cxn modelId="{1E1860FF-5B1E-49E0-93AE-CA0CE13CEC9D}" type="presOf" srcId="{F73381E2-B749-4978-8808-674B0918C9FD}" destId="{E6AB3AC6-B29B-444F-AA9A-879900D8008F}" srcOrd="0" destOrd="0" presId="urn:microsoft.com/office/officeart/2018/2/layout/IconVerticalSolidList"/>
    <dgm:cxn modelId="{01B5FF5D-AF77-4E8D-A1E0-EF885F4CD4F2}" type="presParOf" srcId="{E6AB3AC6-B29B-444F-AA9A-879900D8008F}" destId="{4C4BB103-1563-4DDF-8EE5-E9CB66CC1045}" srcOrd="0" destOrd="0" presId="urn:microsoft.com/office/officeart/2018/2/layout/IconVerticalSolidList"/>
    <dgm:cxn modelId="{3D9FFF72-7955-4AF1-B5A1-A8E31CC7E1A9}" type="presParOf" srcId="{4C4BB103-1563-4DDF-8EE5-E9CB66CC1045}" destId="{956F27CB-0FAF-4A75-9ACD-1071E2A59CB4}" srcOrd="0" destOrd="0" presId="urn:microsoft.com/office/officeart/2018/2/layout/IconVerticalSolidList"/>
    <dgm:cxn modelId="{3DCA27B3-4886-4047-A82D-E698132852CB}" type="presParOf" srcId="{4C4BB103-1563-4DDF-8EE5-E9CB66CC1045}" destId="{1533AAC8-DCD6-4DA2-BB25-E4B60CF12F4D}" srcOrd="1" destOrd="0" presId="urn:microsoft.com/office/officeart/2018/2/layout/IconVerticalSolidList"/>
    <dgm:cxn modelId="{96507D6C-329C-4305-B22F-4897FC9B6C62}" type="presParOf" srcId="{4C4BB103-1563-4DDF-8EE5-E9CB66CC1045}" destId="{12519A79-AFB1-4B7B-9ABD-980E7D893DF0}" srcOrd="2" destOrd="0" presId="urn:microsoft.com/office/officeart/2018/2/layout/IconVerticalSolidList"/>
    <dgm:cxn modelId="{47E2F8D9-9607-410F-B728-8D07F0CDCCC1}" type="presParOf" srcId="{4C4BB103-1563-4DDF-8EE5-E9CB66CC1045}" destId="{F39F94E5-C688-45AA-B5E8-975258736ECA}" srcOrd="3" destOrd="0" presId="urn:microsoft.com/office/officeart/2018/2/layout/IconVerticalSolidList"/>
    <dgm:cxn modelId="{BB7AC13D-BBD0-4976-8B16-64CD113821E7}" type="presParOf" srcId="{E6AB3AC6-B29B-444F-AA9A-879900D8008F}" destId="{D46B0DDB-158B-4B26-8509-79070CA5BF7E}" srcOrd="1" destOrd="0" presId="urn:microsoft.com/office/officeart/2018/2/layout/IconVerticalSolidList"/>
    <dgm:cxn modelId="{8CBD18B0-5719-4511-A7C6-ADC0EBE35BD2}" type="presParOf" srcId="{E6AB3AC6-B29B-444F-AA9A-879900D8008F}" destId="{E507AE13-7075-44AD-BF2C-2283A626F683}" srcOrd="2" destOrd="0" presId="urn:microsoft.com/office/officeart/2018/2/layout/IconVerticalSolidList"/>
    <dgm:cxn modelId="{251E1A9E-86B1-42B0-A5FB-C2B5CF134EEE}" type="presParOf" srcId="{E507AE13-7075-44AD-BF2C-2283A626F683}" destId="{20F261DA-826F-44BA-B532-40F82F3EDCDD}" srcOrd="0" destOrd="0" presId="urn:microsoft.com/office/officeart/2018/2/layout/IconVerticalSolidList"/>
    <dgm:cxn modelId="{BE2A48A7-097E-43F5-AED5-8B3A7FD4D842}" type="presParOf" srcId="{E507AE13-7075-44AD-BF2C-2283A626F683}" destId="{7449317A-7749-4042-94E6-7355D166B7AE}" srcOrd="1" destOrd="0" presId="urn:microsoft.com/office/officeart/2018/2/layout/IconVerticalSolidList"/>
    <dgm:cxn modelId="{10254103-50D4-4FA5-AE4B-BE9E76F5BEDC}" type="presParOf" srcId="{E507AE13-7075-44AD-BF2C-2283A626F683}" destId="{5EEB4A4C-FBD6-4474-AD22-E57E084F96EF}" srcOrd="2" destOrd="0" presId="urn:microsoft.com/office/officeart/2018/2/layout/IconVerticalSolidList"/>
    <dgm:cxn modelId="{DBF86975-39E9-4F04-85FA-E280D68E7E4F}" type="presParOf" srcId="{E507AE13-7075-44AD-BF2C-2283A626F683}" destId="{8C806BA4-0B67-4A64-852A-662D3FF669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F27CB-0FAF-4A75-9ACD-1071E2A59CB4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3AAC8-DCD6-4DA2-BB25-E4B60CF12F4D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F94E5-C688-45AA-B5E8-975258736ECA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/>
            <a:t>Examine how governments act to improve economic performance</a:t>
          </a:r>
          <a:endParaRPr lang="en-US" sz="2500" kern="1200"/>
        </a:p>
      </dsp:txBody>
      <dsp:txXfrm>
        <a:off x="1507738" y="707092"/>
        <a:ext cx="9007861" cy="1305401"/>
      </dsp:txXfrm>
    </dsp:sp>
    <dsp:sp modelId="{20F261DA-826F-44BA-B532-40F82F3EDCDD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9317A-7749-4042-94E6-7355D166B7AE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06BA4-0B67-4A64-852A-662D3FF6690B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/>
            <a:t>Examine ways that governments support business to increase productivity</a:t>
          </a:r>
          <a:endParaRPr lang="en-US" sz="2500" kern="1200"/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7EE2-79E8-5633-88DD-3F7B27EBE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1E162-A1C4-D305-5C55-53D8283A9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E923C-D66B-EE2A-1D4A-C666725D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A1C2E-8B74-2F89-E531-3173E5DA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6C35F-35DC-B2E9-C4EC-068E9CF9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5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A077-8483-F66B-1C39-FDF8200C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3707F-D9F8-6119-1AF9-9238A375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C0465-B453-A6E8-FC18-EF7AC432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64E9-3F13-A8B0-E786-8DE71492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DCB33-1A9D-5268-B104-0F2E3B66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8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9888-FEC5-431C-F7FF-C7921E34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740B2-E1EE-DE1A-48E4-A25F6EEA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ADE12-01D0-F92F-8690-6401ACFD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5928-D3F3-E892-7925-4D9C60A9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9CFB9-506E-DE71-7C0D-CA08A33F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9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FD96-8811-430F-B7EC-9051DE23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7A5C-E0F5-EB4C-A189-B07693CFF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3D8D9-7CD2-C719-01F3-0E32F0230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BB4DD-9793-71EB-15F4-C8E244FD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24CDA-2228-9960-304B-CF413582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9D6A9-CFF2-AC6F-9DA6-8D3CAF21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6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8153-3042-E599-4D43-3C201DC62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91F3D-D8BF-0828-7EEA-3B4F67712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7D492-A945-6852-F6A9-64DCE956D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6D9D5-A324-8323-7DC1-7980A1A4E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FE60C-451C-56B8-E14F-DBB88801F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EB577-C6A1-944D-B0F1-50BD237A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AEF24-FDEA-188A-6163-CA960753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1FB8B-DC1B-CC69-E952-C34513A7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1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9968-7C21-6160-8075-7023056C7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39DEB-52F8-1C04-5A31-A329C7D0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E7F7F-C393-5AE3-0C84-7CA3EDC7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B959A-B879-520E-3C92-364A931B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7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7505E-0BFD-6BDB-41BF-47B2334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9F8B6-FC22-FAA7-FA0D-5BE6AB59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47F5E-EE1D-B0F3-F6B6-23DB96DC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3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39BE-2635-DA30-540E-32BADFF0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CAF47-F951-62C1-17C6-F9E118253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B7F59-180F-D6B6-E076-55A6E9130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599A0-602A-F3AB-20A3-1481739F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FE0C2-DDFE-CC0B-A95B-3EFD66CE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E1CF4-2F33-E84A-8C09-6DD2E015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9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3962-DBF8-11AD-975A-BB9D7548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92801-71C6-FD6C-D5E5-496112EE8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1A83-B8C2-DDFE-B75A-FFF106602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3D5A5-A64A-35F6-0083-CB7E31AC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80655-28A6-FA19-1E16-A9A66AA9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448F9-B7DC-C989-617C-8E4B2887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4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9D7C-C6A4-F5CD-BB8E-3E54147BB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B49B9-FB65-643C-DEC0-FF99ED4DA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9BBA1-9C03-821A-7A2D-CA918E80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F2B4-1226-421A-F8DF-21F36476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DAC0-9472-3A8D-7E1D-9EB60726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8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D6D6F6-8419-6E08-E2A2-EBFFA75FB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F5396-BC86-D4E3-42E4-570E6EF55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E636C-EC22-4C60-9D81-33177801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CFABF-D665-347B-A7F2-894DD7B3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3AF65-C3A7-2693-6334-916AE312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2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3CB3-64C4-1332-8053-A03919C2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FC8D4-D4E5-E44B-EF34-E3B7C6AD4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1EE5E-FC5B-6407-D567-0721554ED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5FB0-95A5-4F45-BAEB-35D39C4BF1B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59093-7245-8486-9A73-3FB0C35C7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E111-92B1-E494-AF14-A73DBFCC7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6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youtube.com/watch?v=JgeVk41bTVI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youtube.com/watch?v=6EkxVw9TcSk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53EA-0CAF-9ACD-EA42-E983A384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96EFCC-24C5-A9D6-CE24-08CF5246E7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78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737FB-162C-6B27-4222-477AA84E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Success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3336F8-BE15-0FA9-233F-C996240B6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798589"/>
              </p:ext>
            </p:extLst>
          </p:nvPr>
        </p:nvGraphicFramePr>
        <p:xfrm>
          <a:off x="643467" y="2486022"/>
          <a:ext cx="10905066" cy="2772609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10905066">
                  <a:extLst>
                    <a:ext uri="{9D8B030D-6E8A-4147-A177-3AD203B41FA5}">
                      <a16:colId xmlns:a16="http://schemas.microsoft.com/office/drawing/2014/main" val="581672283"/>
                    </a:ext>
                  </a:extLst>
                </a:gridCol>
              </a:tblGrid>
              <a:tr h="2772609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  <a:tabLst>
                          <a:tab pos="2457450" algn="l"/>
                        </a:tabLst>
                      </a:pPr>
                      <a:r>
                        <a:rPr lang="en-AU" sz="2700" b="0" dirty="0">
                          <a:solidFill>
                            <a:schemeClr val="tx1"/>
                          </a:solidFill>
                          <a:effectLst/>
                        </a:rPr>
                        <a:t>Outline what productivity means.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  <a:tabLst>
                          <a:tab pos="2457450" algn="l"/>
                        </a:tabLst>
                      </a:pPr>
                      <a:r>
                        <a:rPr lang="en-AU" sz="2700" b="0" dirty="0">
                          <a:solidFill>
                            <a:schemeClr val="tx1"/>
                          </a:solidFill>
                          <a:effectLst/>
                        </a:rPr>
                        <a:t>List ways that governments support businesses to increase productivity.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Symbol" panose="05050102010706020507" pitchFamily="18" charset="2"/>
                        <a:buChar char=""/>
                        <a:tabLst>
                          <a:tab pos="2457450" algn="l"/>
                        </a:tabLst>
                      </a:pPr>
                      <a:r>
                        <a:rPr lang="en-AU" sz="2700" b="0" dirty="0">
                          <a:solidFill>
                            <a:schemeClr val="tx1"/>
                          </a:solidFill>
                          <a:effectLst/>
                        </a:rPr>
                        <a:t>Outline why training and development are important factors in improving economic performance.</a:t>
                      </a:r>
                      <a:endParaRPr lang="en-AU" sz="27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279" marR="282959" marT="188639" marB="1886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721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846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64B5-5CA6-9279-EDEB-6C5041676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what measures what can be produced (output) from a given amount of input?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4220B-B226-37CB-026E-24C318D47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0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64B5-5CA6-9279-EDEB-6C5041676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what measures what can be produced (output) from a given amount of input?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4220B-B226-37CB-026E-24C318D47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PRODUCTIVITY</a:t>
            </a:r>
          </a:p>
        </p:txBody>
      </p:sp>
    </p:spTree>
    <p:extLst>
      <p:ext uri="{BB962C8B-B14F-4D97-AF65-F5344CB8AC3E}">
        <p14:creationId xmlns:p14="http://schemas.microsoft.com/office/powerpoint/2010/main" val="167437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Why Soil for tree and plant health is really important - Bios Urn® Blog">
            <a:extLst>
              <a:ext uri="{FF2B5EF4-FFF2-40B4-BE49-F238E27FC236}">
                <a16:creationId xmlns:a16="http://schemas.microsoft.com/office/drawing/2014/main" id="{6E2108BC-6534-3FAB-28E3-C51E9256E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" r="-2" b="3606"/>
          <a:stretch/>
        </p:blipFill>
        <p:spPr bwMode="auto">
          <a:xfrm>
            <a:off x="321730" y="321732"/>
            <a:ext cx="5674897" cy="301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ruit picking: Shepparton's Sidney Aspland explains what it takes | Herald  Sun">
            <a:extLst>
              <a:ext uri="{FF2B5EF4-FFF2-40B4-BE49-F238E27FC236}">
                <a16:creationId xmlns:a16="http://schemas.microsoft.com/office/drawing/2014/main" id="{8822CE51-A929-4DE6-0020-0BE62AD41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2597"/>
          <a:stretch/>
        </p:blipFill>
        <p:spPr bwMode="auto">
          <a:xfrm>
            <a:off x="321730" y="3510853"/>
            <a:ext cx="5674897" cy="27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uld this apple picking robot provide a solution to Australia's labour  shortage? - Create">
            <a:extLst>
              <a:ext uri="{FF2B5EF4-FFF2-40B4-BE49-F238E27FC236}">
                <a16:creationId xmlns:a16="http://schemas.microsoft.com/office/drawing/2014/main" id="{399DB9B8-06EC-924B-1185-BB086E7B64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47"/>
          <a:stretch/>
        </p:blipFill>
        <p:spPr bwMode="auto">
          <a:xfrm>
            <a:off x="6195373" y="321733"/>
            <a:ext cx="5674897" cy="597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kagerak - Dania Box 4 | Connox">
            <a:extLst>
              <a:ext uri="{FF2B5EF4-FFF2-40B4-BE49-F238E27FC236}">
                <a16:creationId xmlns:a16="http://schemas.microsoft.com/office/drawing/2014/main" id="{B6E7526E-A8D5-E9CA-3DC9-00B63AA7B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59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kagerak - Dania Box 4 | Connox">
            <a:extLst>
              <a:ext uri="{FF2B5EF4-FFF2-40B4-BE49-F238E27FC236}">
                <a16:creationId xmlns:a16="http://schemas.microsoft.com/office/drawing/2014/main" id="{4FF169B0-4C0A-8988-3AC5-01C4A62CC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8" r="555" b="15625"/>
          <a:stretch/>
        </p:blipFill>
        <p:spPr bwMode="auto">
          <a:xfrm>
            <a:off x="7677986" y="575039"/>
            <a:ext cx="2776537" cy="17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kagerak - Dania Box 4 | Connox">
            <a:extLst>
              <a:ext uri="{FF2B5EF4-FFF2-40B4-BE49-F238E27FC236}">
                <a16:creationId xmlns:a16="http://schemas.microsoft.com/office/drawing/2014/main" id="{73915017-52B9-1C23-103B-ABCA9E8BD1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8" r="555" b="15625"/>
          <a:stretch/>
        </p:blipFill>
        <p:spPr bwMode="auto">
          <a:xfrm>
            <a:off x="9159963" y="4176712"/>
            <a:ext cx="2776537" cy="17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kagerak - Dania Box 4 | Connox">
            <a:extLst>
              <a:ext uri="{FF2B5EF4-FFF2-40B4-BE49-F238E27FC236}">
                <a16:creationId xmlns:a16="http://schemas.microsoft.com/office/drawing/2014/main" id="{2F951C55-ADDF-F246-8853-4C6D9B04D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8" r="555" b="15625"/>
          <a:stretch/>
        </p:blipFill>
        <p:spPr bwMode="auto">
          <a:xfrm>
            <a:off x="6272213" y="4043362"/>
            <a:ext cx="2776537" cy="17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ruit picking: Shepparton's Sidney Aspland explains what it takes | Herald  Sun">
            <a:extLst>
              <a:ext uri="{FF2B5EF4-FFF2-40B4-BE49-F238E27FC236}">
                <a16:creationId xmlns:a16="http://schemas.microsoft.com/office/drawing/2014/main" id="{03486237-79C0-399C-261D-61D2AED97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2597"/>
          <a:stretch/>
        </p:blipFill>
        <p:spPr bwMode="auto">
          <a:xfrm>
            <a:off x="1192432" y="413453"/>
            <a:ext cx="3321583" cy="163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Why Soil for tree and plant health is really important - Bios Urn® Blog">
            <a:extLst>
              <a:ext uri="{FF2B5EF4-FFF2-40B4-BE49-F238E27FC236}">
                <a16:creationId xmlns:a16="http://schemas.microsoft.com/office/drawing/2014/main" id="{24DD4937-CC13-593F-A286-CE041E72F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" r="-2" b="3606"/>
          <a:stretch/>
        </p:blipFill>
        <p:spPr bwMode="auto">
          <a:xfrm>
            <a:off x="995946" y="4627981"/>
            <a:ext cx="3714556" cy="197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8,145 Food Conveyor Belt Stock Photos, Pictures &amp; Royalty-Free Images -  iStock">
            <a:extLst>
              <a:ext uri="{FF2B5EF4-FFF2-40B4-BE49-F238E27FC236}">
                <a16:creationId xmlns:a16="http://schemas.microsoft.com/office/drawing/2014/main" id="{58671389-9591-6E5C-0C1C-2AF394B32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432" y="2230019"/>
            <a:ext cx="3321583" cy="221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3AFF2F-AEC1-9CF6-6633-067481C22C75}"/>
              </a:ext>
            </a:extLst>
          </p:cNvPr>
          <p:cNvSpPr txBox="1"/>
          <p:nvPr/>
        </p:nvSpPr>
        <p:spPr>
          <a:xfrm>
            <a:off x="7677986" y="200416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produce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1C52D-1B1B-4A90-E18B-0C9137CB1474}"/>
              </a:ext>
            </a:extLst>
          </p:cNvPr>
          <p:cNvSpPr txBox="1"/>
          <p:nvPr/>
        </p:nvSpPr>
        <p:spPr>
          <a:xfrm>
            <a:off x="946558" y="55487"/>
            <a:ext cx="4067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 fewer of these resources (inputs)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6EAD5-D94F-7D12-5A83-47EA6B5460C1}"/>
              </a:ext>
            </a:extLst>
          </p:cNvPr>
          <p:cNvSpPr txBox="1"/>
          <p:nvPr/>
        </p:nvSpPr>
        <p:spPr>
          <a:xfrm>
            <a:off x="7911271" y="2267637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same quantity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BD4981-7965-CE62-6055-0996DA8D17AB}"/>
              </a:ext>
            </a:extLst>
          </p:cNvPr>
          <p:cNvSpPr txBox="1"/>
          <p:nvPr/>
        </p:nvSpPr>
        <p:spPr>
          <a:xfrm>
            <a:off x="7888337" y="5765125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Greater quantity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0C341F-4295-0FD7-2E42-867D2D7AC323}"/>
              </a:ext>
            </a:extLst>
          </p:cNvPr>
          <p:cNvSpPr txBox="1"/>
          <p:nvPr/>
        </p:nvSpPr>
        <p:spPr>
          <a:xfrm>
            <a:off x="7888337" y="3323281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9B214-67CB-ABE9-27E6-206145E50DA4}"/>
              </a:ext>
            </a:extLst>
          </p:cNvPr>
          <p:cNvSpPr txBox="1"/>
          <p:nvPr/>
        </p:nvSpPr>
        <p:spPr>
          <a:xfrm>
            <a:off x="3742573" y="1068653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Labour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BC906-ED8C-ECA4-40CA-5E8C5340D33D}"/>
              </a:ext>
            </a:extLst>
          </p:cNvPr>
          <p:cNvSpPr txBox="1"/>
          <p:nvPr/>
        </p:nvSpPr>
        <p:spPr>
          <a:xfrm>
            <a:off x="3742573" y="3323280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Capital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89CD12-EF88-AEB2-062E-218E21C95BDE}"/>
              </a:ext>
            </a:extLst>
          </p:cNvPr>
          <p:cNvSpPr txBox="1"/>
          <p:nvPr/>
        </p:nvSpPr>
        <p:spPr>
          <a:xfrm>
            <a:off x="4303664" y="5508257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Natural Resources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28CFFD-2178-8FEB-FAC8-58AC1A64EA58}"/>
              </a:ext>
            </a:extLst>
          </p:cNvPr>
          <p:cNvCxnSpPr/>
          <p:nvPr/>
        </p:nvCxnSpPr>
        <p:spPr>
          <a:xfrm>
            <a:off x="5575290" y="3194494"/>
            <a:ext cx="22831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7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AC5430-97A8-A168-F2ED-9F812342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 business can increase its productivity by using its </a:t>
            </a:r>
            <a:r>
              <a:rPr lang="en-US" b="1" dirty="0" err="1"/>
              <a:t>labour</a:t>
            </a:r>
            <a:r>
              <a:rPr lang="en-US" dirty="0"/>
              <a:t> and </a:t>
            </a:r>
            <a:r>
              <a:rPr lang="en-US" b="1" dirty="0"/>
              <a:t>capital resources </a:t>
            </a:r>
            <a:r>
              <a:rPr lang="en-US" dirty="0"/>
              <a:t>more effectively and improving its business processes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7F232-83C3-FFF0-11DF-222C6C0FF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9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A1C6-4BAB-45B4-543B-43547FA5A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about </a:t>
            </a:r>
            <a:r>
              <a:rPr lang="en-US" dirty="0" err="1"/>
              <a:t>Labour</a:t>
            </a:r>
            <a:r>
              <a:rPr lang="en-US" dirty="0"/>
              <a:t> and Capital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F7751-2C19-7FBB-FD33-82039D10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AAB9-7AC3-628C-2BB6-D7B5A9DC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https://www.youtube.com/watch?v=JgeVk41bTVI</a:t>
            </a:r>
            <a:r>
              <a:rPr lang="en-US" dirty="0"/>
              <a:t> </a:t>
            </a:r>
          </a:p>
        </p:txBody>
      </p:sp>
      <p:pic>
        <p:nvPicPr>
          <p:cNvPr id="3" name="Picture 2" descr="Robotic Rotary Milking Parlor | DairyProQ | GEA DairyRobot">
            <a:extLst>
              <a:ext uri="{FF2B5EF4-FFF2-40B4-BE49-F238E27FC236}">
                <a16:creationId xmlns:a16="http://schemas.microsoft.com/office/drawing/2014/main" id="{5DBF40E9-FED6-B8F4-5438-144DA33BD6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973" y="1491753"/>
            <a:ext cx="6890039" cy="38744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F69306-3C9B-3D48-7EF4-60B9B56BB429}"/>
              </a:ext>
            </a:extLst>
          </p:cNvPr>
          <p:cNvSpPr/>
          <p:nvPr/>
        </p:nvSpPr>
        <p:spPr>
          <a:xfrm>
            <a:off x="956153" y="2217151"/>
            <a:ext cx="303964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The Finlayson family from </a:t>
            </a:r>
            <a:r>
              <a:rPr lang="en-AU" sz="2400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Tagori</a:t>
            </a:r>
            <a:r>
              <a:rPr lang="en-AU" sz="2400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, Tasmania adopted an Automatic Milking System that helped them to do their job more efficiently and increased their herd production by 10 %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131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F6FBB9-20E4-E3B7-D21B-91D5EE80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https://www.youtube.com/watch?v=6EkxVw9TcSk</a:t>
            </a:r>
            <a:r>
              <a:rPr lang="en-US" dirty="0"/>
              <a:t> </a:t>
            </a:r>
          </a:p>
        </p:txBody>
      </p:sp>
      <p:pic>
        <p:nvPicPr>
          <p:cNvPr id="5" name="Picture 4" descr="The Margaret River Chocolate Company to celebrate 20th birthday |  Busselton-Dunsborough Mail | Busselton, WA">
            <a:extLst>
              <a:ext uri="{FF2B5EF4-FFF2-40B4-BE49-F238E27FC236}">
                <a16:creationId xmlns:a16="http://schemas.microsoft.com/office/drawing/2014/main" id="{1FAE18EB-2AC8-E6B9-848D-2F22B9BBEC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111" y="1387742"/>
            <a:ext cx="8825690" cy="4955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55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3B22-377C-D634-6F83-9CD6DF6D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the activities in your HASS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1D382-043C-8983-AE32-B5DDA1AE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83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194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Symbol</vt:lpstr>
      <vt:lpstr>Office Theme</vt:lpstr>
      <vt:lpstr>LEARNING INTENTIONS</vt:lpstr>
      <vt:lpstr>Success Criteria</vt:lpstr>
      <vt:lpstr>Recall: what measures what can be produced (output) from a given amount of input?</vt:lpstr>
      <vt:lpstr>Recall: what measures what can be produced (output) from a given amount of input?</vt:lpstr>
      <vt:lpstr>PowerPoint Presentation</vt:lpstr>
      <vt:lpstr>PowerPoint Presentation</vt:lpstr>
      <vt:lpstr>PowerPoint Presentation</vt:lpstr>
      <vt:lpstr>A business can increase its productivity by using its labour and capital resources more effectively and improving its business processes</vt:lpstr>
      <vt:lpstr>Read about Labour and Capital Productivity</vt:lpstr>
      <vt:lpstr>https://www.youtube.com/watch?v=JgeVk41bTVI </vt:lpstr>
      <vt:lpstr>https://www.youtube.com/watch?v=6EkxVw9TcSk </vt:lpstr>
      <vt:lpstr>Complete the activities in your HASS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Recall: what measures what can be produced (output) from a given amount of input?</dc:title>
  <dc:creator>DONAVON Rebecca [Narrogin Senior High School]</dc:creator>
  <cp:lastModifiedBy>LACHMAN Sarah [Narrogin Senior High School]</cp:lastModifiedBy>
  <cp:revision>4</cp:revision>
  <dcterms:created xsi:type="dcterms:W3CDTF">2022-06-15T10:25:39Z</dcterms:created>
  <dcterms:modified xsi:type="dcterms:W3CDTF">2023-11-03T04:25:31Z</dcterms:modified>
</cp:coreProperties>
</file>
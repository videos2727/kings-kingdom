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17"/>
  </p:notesMasterIdLst>
  <p:sldIdLst>
    <p:sldId id="3825" r:id="rId5"/>
    <p:sldId id="3826" r:id="rId6"/>
    <p:sldId id="3835" r:id="rId7"/>
    <p:sldId id="3834" r:id="rId8"/>
    <p:sldId id="3836" r:id="rId9"/>
    <p:sldId id="3837" r:id="rId10"/>
    <p:sldId id="3838" r:id="rId11"/>
    <p:sldId id="3839" r:id="rId12"/>
    <p:sldId id="3840" r:id="rId13"/>
    <p:sldId id="3842" r:id="rId14"/>
    <p:sldId id="3843" r:id="rId15"/>
    <p:sldId id="384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16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285B13-0D39-4D52-94EE-D96F59B567C1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92DA150-EB6D-44E2-8E3F-ED2E6D59B23C}">
      <dgm:prSet/>
      <dgm:spPr/>
      <dgm:t>
        <a:bodyPr/>
        <a:lstStyle/>
        <a:p>
          <a:r>
            <a:rPr lang="en-US" dirty="0"/>
            <a:t>Primary sector</a:t>
          </a:r>
        </a:p>
      </dgm:t>
    </dgm:pt>
    <dgm:pt modelId="{B9A1B567-3BC4-4754-A180-B9063F7CBE62}" type="parTrans" cxnId="{7B286074-2EDB-4E05-A702-CE6658A42C29}">
      <dgm:prSet/>
      <dgm:spPr/>
      <dgm:t>
        <a:bodyPr/>
        <a:lstStyle/>
        <a:p>
          <a:endParaRPr lang="en-US"/>
        </a:p>
      </dgm:t>
    </dgm:pt>
    <dgm:pt modelId="{5C0F6B24-A129-4ACC-BCAE-D5569CC5E881}" type="sibTrans" cxnId="{7B286074-2EDB-4E05-A702-CE6658A42C29}">
      <dgm:prSet/>
      <dgm:spPr/>
      <dgm:t>
        <a:bodyPr/>
        <a:lstStyle/>
        <a:p>
          <a:endParaRPr lang="en-US"/>
        </a:p>
      </dgm:t>
    </dgm:pt>
    <dgm:pt modelId="{1EE144D8-F485-47AA-BF97-89C192B528D8}">
      <dgm:prSet/>
      <dgm:spPr/>
      <dgm:t>
        <a:bodyPr/>
        <a:lstStyle/>
        <a:p>
          <a:r>
            <a:rPr lang="en-US"/>
            <a:t>Secondary sector</a:t>
          </a:r>
        </a:p>
      </dgm:t>
    </dgm:pt>
    <dgm:pt modelId="{5AD767DF-B9FF-4168-9E21-1F0E1C057B81}" type="parTrans" cxnId="{33CAB48B-746C-49CD-AB60-C590CD0F971F}">
      <dgm:prSet/>
      <dgm:spPr/>
      <dgm:t>
        <a:bodyPr/>
        <a:lstStyle/>
        <a:p>
          <a:endParaRPr lang="en-US"/>
        </a:p>
      </dgm:t>
    </dgm:pt>
    <dgm:pt modelId="{3F7FE2F2-F7D6-4482-8155-7E530BE97BCC}" type="sibTrans" cxnId="{33CAB48B-746C-49CD-AB60-C590CD0F971F}">
      <dgm:prSet/>
      <dgm:spPr/>
      <dgm:t>
        <a:bodyPr/>
        <a:lstStyle/>
        <a:p>
          <a:endParaRPr lang="en-US"/>
        </a:p>
      </dgm:t>
    </dgm:pt>
    <dgm:pt modelId="{B9F16BFF-8B5B-43F5-A124-7DAAEC2ECA4E}">
      <dgm:prSet/>
      <dgm:spPr/>
      <dgm:t>
        <a:bodyPr/>
        <a:lstStyle/>
        <a:p>
          <a:r>
            <a:rPr lang="en-US"/>
            <a:t>Service sector </a:t>
          </a:r>
        </a:p>
      </dgm:t>
    </dgm:pt>
    <dgm:pt modelId="{E8475FB9-CF64-4901-8450-26097612BEAB}" type="parTrans" cxnId="{AF5286C7-313F-40D8-856B-C9AC0FA86426}">
      <dgm:prSet/>
      <dgm:spPr/>
      <dgm:t>
        <a:bodyPr/>
        <a:lstStyle/>
        <a:p>
          <a:endParaRPr lang="en-US"/>
        </a:p>
      </dgm:t>
    </dgm:pt>
    <dgm:pt modelId="{C8A7D5E3-89E2-452B-A433-E90FE75008C6}" type="sibTrans" cxnId="{AF5286C7-313F-40D8-856B-C9AC0FA86426}">
      <dgm:prSet/>
      <dgm:spPr/>
      <dgm:t>
        <a:bodyPr/>
        <a:lstStyle/>
        <a:p>
          <a:endParaRPr lang="en-US"/>
        </a:p>
      </dgm:t>
    </dgm:pt>
    <dgm:pt modelId="{46297102-BA44-4BF2-9FBF-9588418EEEA4}" type="pres">
      <dgm:prSet presAssocID="{C9285B13-0D39-4D52-94EE-D96F59B567C1}" presName="vert0" presStyleCnt="0">
        <dgm:presLayoutVars>
          <dgm:dir/>
          <dgm:animOne val="branch"/>
          <dgm:animLvl val="lvl"/>
        </dgm:presLayoutVars>
      </dgm:prSet>
      <dgm:spPr/>
    </dgm:pt>
    <dgm:pt modelId="{8843A56B-339D-45ED-89C4-E1582E3A3041}" type="pres">
      <dgm:prSet presAssocID="{A92DA150-EB6D-44E2-8E3F-ED2E6D59B23C}" presName="thickLine" presStyleLbl="alignNode1" presStyleIdx="0" presStyleCnt="3"/>
      <dgm:spPr/>
    </dgm:pt>
    <dgm:pt modelId="{18B9E814-C05D-4488-9DD9-E40B0E25DAD7}" type="pres">
      <dgm:prSet presAssocID="{A92DA150-EB6D-44E2-8E3F-ED2E6D59B23C}" presName="horz1" presStyleCnt="0"/>
      <dgm:spPr/>
    </dgm:pt>
    <dgm:pt modelId="{EA10774D-B97F-4C41-94AD-558F53E4CD8D}" type="pres">
      <dgm:prSet presAssocID="{A92DA150-EB6D-44E2-8E3F-ED2E6D59B23C}" presName="tx1" presStyleLbl="revTx" presStyleIdx="0" presStyleCnt="3"/>
      <dgm:spPr/>
    </dgm:pt>
    <dgm:pt modelId="{B448EB9F-0225-45BA-8C47-E32AAA5BEF62}" type="pres">
      <dgm:prSet presAssocID="{A92DA150-EB6D-44E2-8E3F-ED2E6D59B23C}" presName="vert1" presStyleCnt="0"/>
      <dgm:spPr/>
    </dgm:pt>
    <dgm:pt modelId="{BAF94F8C-F2D2-45FC-B156-26C111E50E11}" type="pres">
      <dgm:prSet presAssocID="{1EE144D8-F485-47AA-BF97-89C192B528D8}" presName="thickLine" presStyleLbl="alignNode1" presStyleIdx="1" presStyleCnt="3"/>
      <dgm:spPr/>
    </dgm:pt>
    <dgm:pt modelId="{EA14E5FB-348F-49E7-B81D-E0888E8F9BA2}" type="pres">
      <dgm:prSet presAssocID="{1EE144D8-F485-47AA-BF97-89C192B528D8}" presName="horz1" presStyleCnt="0"/>
      <dgm:spPr/>
    </dgm:pt>
    <dgm:pt modelId="{A317F68D-424E-4127-883C-5564D80D98CD}" type="pres">
      <dgm:prSet presAssocID="{1EE144D8-F485-47AA-BF97-89C192B528D8}" presName="tx1" presStyleLbl="revTx" presStyleIdx="1" presStyleCnt="3"/>
      <dgm:spPr/>
    </dgm:pt>
    <dgm:pt modelId="{1ACC6236-E0D4-429A-8681-C5FC9010D13E}" type="pres">
      <dgm:prSet presAssocID="{1EE144D8-F485-47AA-BF97-89C192B528D8}" presName="vert1" presStyleCnt="0"/>
      <dgm:spPr/>
    </dgm:pt>
    <dgm:pt modelId="{820976BF-86EB-4F81-8AF7-706E1E6C54A3}" type="pres">
      <dgm:prSet presAssocID="{B9F16BFF-8B5B-43F5-A124-7DAAEC2ECA4E}" presName="thickLine" presStyleLbl="alignNode1" presStyleIdx="2" presStyleCnt="3"/>
      <dgm:spPr/>
    </dgm:pt>
    <dgm:pt modelId="{26287FF6-92B1-4B7A-AE4D-67708AF0FA49}" type="pres">
      <dgm:prSet presAssocID="{B9F16BFF-8B5B-43F5-A124-7DAAEC2ECA4E}" presName="horz1" presStyleCnt="0"/>
      <dgm:spPr/>
    </dgm:pt>
    <dgm:pt modelId="{AE1EB53B-D75F-453D-BBEA-E2A14E27217A}" type="pres">
      <dgm:prSet presAssocID="{B9F16BFF-8B5B-43F5-A124-7DAAEC2ECA4E}" presName="tx1" presStyleLbl="revTx" presStyleIdx="2" presStyleCnt="3"/>
      <dgm:spPr/>
    </dgm:pt>
    <dgm:pt modelId="{C181091F-6632-4058-8FD4-3AC308321840}" type="pres">
      <dgm:prSet presAssocID="{B9F16BFF-8B5B-43F5-A124-7DAAEC2ECA4E}" presName="vert1" presStyleCnt="0"/>
      <dgm:spPr/>
    </dgm:pt>
  </dgm:ptLst>
  <dgm:cxnLst>
    <dgm:cxn modelId="{D3E45E0F-E108-419E-81CC-BBE631A5E2D2}" type="presOf" srcId="{C9285B13-0D39-4D52-94EE-D96F59B567C1}" destId="{46297102-BA44-4BF2-9FBF-9588418EEEA4}" srcOrd="0" destOrd="0" presId="urn:microsoft.com/office/officeart/2008/layout/LinedList"/>
    <dgm:cxn modelId="{921DA650-E5BF-471F-8025-E7502D78AA70}" type="presOf" srcId="{1EE144D8-F485-47AA-BF97-89C192B528D8}" destId="{A317F68D-424E-4127-883C-5564D80D98CD}" srcOrd="0" destOrd="0" presId="urn:microsoft.com/office/officeart/2008/layout/LinedList"/>
    <dgm:cxn modelId="{7B286074-2EDB-4E05-A702-CE6658A42C29}" srcId="{C9285B13-0D39-4D52-94EE-D96F59B567C1}" destId="{A92DA150-EB6D-44E2-8E3F-ED2E6D59B23C}" srcOrd="0" destOrd="0" parTransId="{B9A1B567-3BC4-4754-A180-B9063F7CBE62}" sibTransId="{5C0F6B24-A129-4ACC-BCAE-D5569CC5E881}"/>
    <dgm:cxn modelId="{B9ABD77C-61E5-43DD-9B12-A4826E02B034}" type="presOf" srcId="{B9F16BFF-8B5B-43F5-A124-7DAAEC2ECA4E}" destId="{AE1EB53B-D75F-453D-BBEA-E2A14E27217A}" srcOrd="0" destOrd="0" presId="urn:microsoft.com/office/officeart/2008/layout/LinedList"/>
    <dgm:cxn modelId="{33CAB48B-746C-49CD-AB60-C590CD0F971F}" srcId="{C9285B13-0D39-4D52-94EE-D96F59B567C1}" destId="{1EE144D8-F485-47AA-BF97-89C192B528D8}" srcOrd="1" destOrd="0" parTransId="{5AD767DF-B9FF-4168-9E21-1F0E1C057B81}" sibTransId="{3F7FE2F2-F7D6-4482-8155-7E530BE97BCC}"/>
    <dgm:cxn modelId="{AF5286C7-313F-40D8-856B-C9AC0FA86426}" srcId="{C9285B13-0D39-4D52-94EE-D96F59B567C1}" destId="{B9F16BFF-8B5B-43F5-A124-7DAAEC2ECA4E}" srcOrd="2" destOrd="0" parTransId="{E8475FB9-CF64-4901-8450-26097612BEAB}" sibTransId="{C8A7D5E3-89E2-452B-A433-E90FE75008C6}"/>
    <dgm:cxn modelId="{AB1B64C8-A54C-4598-AD95-667222163273}" type="presOf" srcId="{A92DA150-EB6D-44E2-8E3F-ED2E6D59B23C}" destId="{EA10774D-B97F-4C41-94AD-558F53E4CD8D}" srcOrd="0" destOrd="0" presId="urn:microsoft.com/office/officeart/2008/layout/LinedList"/>
    <dgm:cxn modelId="{B1379095-54A4-42A3-8362-49F46197F563}" type="presParOf" srcId="{46297102-BA44-4BF2-9FBF-9588418EEEA4}" destId="{8843A56B-339D-45ED-89C4-E1582E3A3041}" srcOrd="0" destOrd="0" presId="urn:microsoft.com/office/officeart/2008/layout/LinedList"/>
    <dgm:cxn modelId="{EF82A3F7-F92D-438D-B738-07FB6A2C6FD8}" type="presParOf" srcId="{46297102-BA44-4BF2-9FBF-9588418EEEA4}" destId="{18B9E814-C05D-4488-9DD9-E40B0E25DAD7}" srcOrd="1" destOrd="0" presId="urn:microsoft.com/office/officeart/2008/layout/LinedList"/>
    <dgm:cxn modelId="{1AAE7336-70DF-488C-B953-10EBE8D39D30}" type="presParOf" srcId="{18B9E814-C05D-4488-9DD9-E40B0E25DAD7}" destId="{EA10774D-B97F-4C41-94AD-558F53E4CD8D}" srcOrd="0" destOrd="0" presId="urn:microsoft.com/office/officeart/2008/layout/LinedList"/>
    <dgm:cxn modelId="{92054904-BC85-4C06-AAAC-1440F65C7230}" type="presParOf" srcId="{18B9E814-C05D-4488-9DD9-E40B0E25DAD7}" destId="{B448EB9F-0225-45BA-8C47-E32AAA5BEF62}" srcOrd="1" destOrd="0" presId="urn:microsoft.com/office/officeart/2008/layout/LinedList"/>
    <dgm:cxn modelId="{F428888B-02BD-466C-815D-1A811BE84A85}" type="presParOf" srcId="{46297102-BA44-4BF2-9FBF-9588418EEEA4}" destId="{BAF94F8C-F2D2-45FC-B156-26C111E50E11}" srcOrd="2" destOrd="0" presId="urn:microsoft.com/office/officeart/2008/layout/LinedList"/>
    <dgm:cxn modelId="{CD5537C2-9C80-40F7-88BC-3FA59BDEC382}" type="presParOf" srcId="{46297102-BA44-4BF2-9FBF-9588418EEEA4}" destId="{EA14E5FB-348F-49E7-B81D-E0888E8F9BA2}" srcOrd="3" destOrd="0" presId="urn:microsoft.com/office/officeart/2008/layout/LinedList"/>
    <dgm:cxn modelId="{0C50C12D-E5A3-435C-B352-D80DB13C09C0}" type="presParOf" srcId="{EA14E5FB-348F-49E7-B81D-E0888E8F9BA2}" destId="{A317F68D-424E-4127-883C-5564D80D98CD}" srcOrd="0" destOrd="0" presId="urn:microsoft.com/office/officeart/2008/layout/LinedList"/>
    <dgm:cxn modelId="{D509B839-F06A-4E17-A343-D340EB111437}" type="presParOf" srcId="{EA14E5FB-348F-49E7-B81D-E0888E8F9BA2}" destId="{1ACC6236-E0D4-429A-8681-C5FC9010D13E}" srcOrd="1" destOrd="0" presId="urn:microsoft.com/office/officeart/2008/layout/LinedList"/>
    <dgm:cxn modelId="{D2DC3F5D-72A7-400D-A052-F14ED7607121}" type="presParOf" srcId="{46297102-BA44-4BF2-9FBF-9588418EEEA4}" destId="{820976BF-86EB-4F81-8AF7-706E1E6C54A3}" srcOrd="4" destOrd="0" presId="urn:microsoft.com/office/officeart/2008/layout/LinedList"/>
    <dgm:cxn modelId="{2A7DBD28-8941-4328-854F-11C86CD86E43}" type="presParOf" srcId="{46297102-BA44-4BF2-9FBF-9588418EEEA4}" destId="{26287FF6-92B1-4B7A-AE4D-67708AF0FA49}" srcOrd="5" destOrd="0" presId="urn:microsoft.com/office/officeart/2008/layout/LinedList"/>
    <dgm:cxn modelId="{47045F10-5073-47D6-B905-CA13CA8F8495}" type="presParOf" srcId="{26287FF6-92B1-4B7A-AE4D-67708AF0FA49}" destId="{AE1EB53B-D75F-453D-BBEA-E2A14E27217A}" srcOrd="0" destOrd="0" presId="urn:microsoft.com/office/officeart/2008/layout/LinedList"/>
    <dgm:cxn modelId="{C752FB3A-7065-4A48-947D-305B47B5E0FE}" type="presParOf" srcId="{26287FF6-92B1-4B7A-AE4D-67708AF0FA49}" destId="{C181091F-6632-4058-8FD4-3AC30832184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285B13-0D39-4D52-94EE-D96F59B567C1}" type="doc">
      <dgm:prSet loTypeId="urn:microsoft.com/office/officeart/2005/8/layout/default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92DA150-EB6D-44E2-8E3F-ED2E6D59B23C}">
      <dgm:prSet custT="1"/>
      <dgm:spPr/>
      <dgm:t>
        <a:bodyPr/>
        <a:lstStyle/>
        <a:p>
          <a:r>
            <a:rPr lang="en-US" sz="2800" b="1" dirty="0">
              <a:solidFill>
                <a:schemeClr val="tx1"/>
              </a:solidFill>
            </a:rPr>
            <a:t>Inequality</a:t>
          </a:r>
          <a:r>
            <a:rPr lang="en-US" sz="1400" baseline="0" dirty="0">
              <a:solidFill>
                <a:schemeClr val="tx1"/>
              </a:solidFill>
            </a:rPr>
            <a:t> </a:t>
          </a:r>
          <a:endParaRPr lang="en-US" sz="1400" dirty="0">
            <a:solidFill>
              <a:schemeClr val="tx1"/>
            </a:solidFill>
          </a:endParaRPr>
        </a:p>
      </dgm:t>
    </dgm:pt>
    <dgm:pt modelId="{B9A1B567-3BC4-4754-A180-B9063F7CBE62}" type="parTrans" cxnId="{7B286074-2EDB-4E05-A702-CE6658A42C29}">
      <dgm:prSet/>
      <dgm:spPr/>
      <dgm:t>
        <a:bodyPr/>
        <a:lstStyle/>
        <a:p>
          <a:endParaRPr lang="en-US"/>
        </a:p>
      </dgm:t>
    </dgm:pt>
    <dgm:pt modelId="{5C0F6B24-A129-4ACC-BCAE-D5569CC5E881}" type="sibTrans" cxnId="{7B286074-2EDB-4E05-A702-CE6658A42C29}">
      <dgm:prSet/>
      <dgm:spPr/>
      <dgm:t>
        <a:bodyPr/>
        <a:lstStyle/>
        <a:p>
          <a:endParaRPr lang="en-US"/>
        </a:p>
      </dgm:t>
    </dgm:pt>
    <dgm:pt modelId="{1EE144D8-F485-47AA-BF97-89C192B528D8}">
      <dgm:prSet custT="1"/>
      <dgm:spPr/>
      <dgm:t>
        <a:bodyPr/>
        <a:lstStyle/>
        <a:p>
          <a:r>
            <a:rPr lang="en-US" sz="2400" b="1" dirty="0">
              <a:solidFill>
                <a:schemeClr val="tx1"/>
              </a:solidFill>
            </a:rPr>
            <a:t>Pollution from goods and services</a:t>
          </a:r>
        </a:p>
      </dgm:t>
    </dgm:pt>
    <dgm:pt modelId="{5AD767DF-B9FF-4168-9E21-1F0E1C057B81}" type="parTrans" cxnId="{33CAB48B-746C-49CD-AB60-C590CD0F971F}">
      <dgm:prSet/>
      <dgm:spPr/>
      <dgm:t>
        <a:bodyPr/>
        <a:lstStyle/>
        <a:p>
          <a:endParaRPr lang="en-US"/>
        </a:p>
      </dgm:t>
    </dgm:pt>
    <dgm:pt modelId="{3F7FE2F2-F7D6-4482-8155-7E530BE97BCC}" type="sibTrans" cxnId="{33CAB48B-746C-49CD-AB60-C590CD0F971F}">
      <dgm:prSet/>
      <dgm:spPr/>
      <dgm:t>
        <a:bodyPr/>
        <a:lstStyle/>
        <a:p>
          <a:endParaRPr lang="en-US"/>
        </a:p>
      </dgm:t>
    </dgm:pt>
    <dgm:pt modelId="{B9F16BFF-8B5B-43F5-A124-7DAAEC2ECA4E}">
      <dgm:prSet custT="1"/>
      <dgm:spPr/>
      <dgm:t>
        <a:bodyPr/>
        <a:lstStyle/>
        <a:p>
          <a:r>
            <a:rPr lang="en-US" sz="2000" b="1" baseline="0" dirty="0">
              <a:solidFill>
                <a:schemeClr val="tx1"/>
              </a:solidFill>
            </a:rPr>
            <a:t>Informal businesses e.g. baby sitting </a:t>
          </a:r>
        </a:p>
        <a:p>
          <a:endParaRPr lang="en-US" sz="1400" dirty="0"/>
        </a:p>
      </dgm:t>
    </dgm:pt>
    <dgm:pt modelId="{E8475FB9-CF64-4901-8450-26097612BEAB}" type="parTrans" cxnId="{AF5286C7-313F-40D8-856B-C9AC0FA86426}">
      <dgm:prSet/>
      <dgm:spPr/>
      <dgm:t>
        <a:bodyPr/>
        <a:lstStyle/>
        <a:p>
          <a:endParaRPr lang="en-US"/>
        </a:p>
      </dgm:t>
    </dgm:pt>
    <dgm:pt modelId="{C8A7D5E3-89E2-452B-A433-E90FE75008C6}" type="sibTrans" cxnId="{AF5286C7-313F-40D8-856B-C9AC0FA86426}">
      <dgm:prSet/>
      <dgm:spPr/>
      <dgm:t>
        <a:bodyPr/>
        <a:lstStyle/>
        <a:p>
          <a:endParaRPr lang="en-US"/>
        </a:p>
      </dgm:t>
    </dgm:pt>
    <dgm:pt modelId="{311A8122-0415-4D22-A870-78F8F624622C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Home</a:t>
          </a:r>
          <a:r>
            <a:rPr lang="en-US" baseline="0" dirty="0">
              <a:solidFill>
                <a:schemeClr val="tx1"/>
              </a:solidFill>
            </a:rPr>
            <a:t> labor </a:t>
          </a:r>
        </a:p>
      </dgm:t>
    </dgm:pt>
    <dgm:pt modelId="{EBC22196-0A4B-4BBE-AD1B-F9BE84C4B673}" type="parTrans" cxnId="{9793F433-27CD-4042-B7DF-F00DBBDF0215}">
      <dgm:prSet/>
      <dgm:spPr/>
      <dgm:t>
        <a:bodyPr/>
        <a:lstStyle/>
        <a:p>
          <a:endParaRPr lang="en-AU"/>
        </a:p>
      </dgm:t>
    </dgm:pt>
    <dgm:pt modelId="{B346B8BB-471F-4988-8ABD-42F6E0BC1614}" type="sibTrans" cxnId="{9793F433-27CD-4042-B7DF-F00DBBDF0215}">
      <dgm:prSet/>
      <dgm:spPr/>
      <dgm:t>
        <a:bodyPr/>
        <a:lstStyle/>
        <a:p>
          <a:endParaRPr lang="en-AU"/>
        </a:p>
      </dgm:t>
    </dgm:pt>
    <dgm:pt modelId="{3D3E7320-AF72-4B74-A940-AAAC1ABD8D43}">
      <dgm:prSet/>
      <dgm:spPr/>
      <dgm:t>
        <a:bodyPr/>
        <a:lstStyle/>
        <a:p>
          <a:r>
            <a:rPr lang="en-US" baseline="0" dirty="0">
              <a:solidFill>
                <a:schemeClr val="tx1"/>
              </a:solidFill>
            </a:rPr>
            <a:t>Volunteer</a:t>
          </a:r>
          <a:r>
            <a:rPr lang="en-US" baseline="0" dirty="0"/>
            <a:t> </a:t>
          </a:r>
        </a:p>
      </dgm:t>
    </dgm:pt>
    <dgm:pt modelId="{5FBCFFB7-43FD-4544-ADC7-1020A2194C81}" type="parTrans" cxnId="{53D61855-15AF-4E20-A89E-E774E7A43EA0}">
      <dgm:prSet/>
      <dgm:spPr/>
      <dgm:t>
        <a:bodyPr/>
        <a:lstStyle/>
        <a:p>
          <a:endParaRPr lang="en-AU"/>
        </a:p>
      </dgm:t>
    </dgm:pt>
    <dgm:pt modelId="{AF2EE408-9D6A-444C-AD79-AEA17052FC6F}" type="sibTrans" cxnId="{53D61855-15AF-4E20-A89E-E774E7A43EA0}">
      <dgm:prSet/>
      <dgm:spPr/>
      <dgm:t>
        <a:bodyPr/>
        <a:lstStyle/>
        <a:p>
          <a:endParaRPr lang="en-AU"/>
        </a:p>
      </dgm:t>
    </dgm:pt>
    <dgm:pt modelId="{534F6F86-E50F-4A63-A6E1-E82FE8820630}" type="pres">
      <dgm:prSet presAssocID="{C9285B13-0D39-4D52-94EE-D96F59B567C1}" presName="diagram" presStyleCnt="0">
        <dgm:presLayoutVars>
          <dgm:dir/>
          <dgm:resizeHandles val="exact"/>
        </dgm:presLayoutVars>
      </dgm:prSet>
      <dgm:spPr/>
    </dgm:pt>
    <dgm:pt modelId="{398C4F31-9B28-40F6-98EE-C83036AC5AA1}" type="pres">
      <dgm:prSet presAssocID="{A92DA150-EB6D-44E2-8E3F-ED2E6D59B23C}" presName="node" presStyleLbl="node1" presStyleIdx="0" presStyleCnt="5">
        <dgm:presLayoutVars>
          <dgm:bulletEnabled val="1"/>
        </dgm:presLayoutVars>
      </dgm:prSet>
      <dgm:spPr/>
    </dgm:pt>
    <dgm:pt modelId="{BCEF7EBF-C0B2-40B7-A780-A532C38D4D85}" type="pres">
      <dgm:prSet presAssocID="{5C0F6B24-A129-4ACC-BCAE-D5569CC5E881}" presName="sibTrans" presStyleCnt="0"/>
      <dgm:spPr/>
    </dgm:pt>
    <dgm:pt modelId="{43700012-57EB-485E-89B0-6613C1CB8C25}" type="pres">
      <dgm:prSet presAssocID="{1EE144D8-F485-47AA-BF97-89C192B528D8}" presName="node" presStyleLbl="node1" presStyleIdx="1" presStyleCnt="5">
        <dgm:presLayoutVars>
          <dgm:bulletEnabled val="1"/>
        </dgm:presLayoutVars>
      </dgm:prSet>
      <dgm:spPr/>
    </dgm:pt>
    <dgm:pt modelId="{B6B1BD56-7B04-4FEE-A16F-E85EDB0D8BFC}" type="pres">
      <dgm:prSet presAssocID="{3F7FE2F2-F7D6-4482-8155-7E530BE97BCC}" presName="sibTrans" presStyleCnt="0"/>
      <dgm:spPr/>
    </dgm:pt>
    <dgm:pt modelId="{3AB8224F-6E2D-496F-A1F5-1555C2CFAAD6}" type="pres">
      <dgm:prSet presAssocID="{B9F16BFF-8B5B-43F5-A124-7DAAEC2ECA4E}" presName="node" presStyleLbl="node1" presStyleIdx="2" presStyleCnt="5">
        <dgm:presLayoutVars>
          <dgm:bulletEnabled val="1"/>
        </dgm:presLayoutVars>
      </dgm:prSet>
      <dgm:spPr/>
    </dgm:pt>
    <dgm:pt modelId="{3B2381AF-0D30-4F8A-80FE-EAAAB71AA775}" type="pres">
      <dgm:prSet presAssocID="{C8A7D5E3-89E2-452B-A433-E90FE75008C6}" presName="sibTrans" presStyleCnt="0"/>
      <dgm:spPr/>
    </dgm:pt>
    <dgm:pt modelId="{3CC5B461-C7D4-4EE8-A9D9-460F25C39599}" type="pres">
      <dgm:prSet presAssocID="{311A8122-0415-4D22-A870-78F8F624622C}" presName="node" presStyleLbl="node1" presStyleIdx="3" presStyleCnt="5">
        <dgm:presLayoutVars>
          <dgm:bulletEnabled val="1"/>
        </dgm:presLayoutVars>
      </dgm:prSet>
      <dgm:spPr/>
    </dgm:pt>
    <dgm:pt modelId="{DE2F75EC-AB6D-43D8-8867-BB2B88B08858}" type="pres">
      <dgm:prSet presAssocID="{B346B8BB-471F-4988-8ABD-42F6E0BC1614}" presName="sibTrans" presStyleCnt="0"/>
      <dgm:spPr/>
    </dgm:pt>
    <dgm:pt modelId="{AA949AD6-18D2-4AC3-B25C-0F38C0E5D5BB}" type="pres">
      <dgm:prSet presAssocID="{3D3E7320-AF72-4B74-A940-AAAC1ABD8D43}" presName="node" presStyleLbl="node1" presStyleIdx="4" presStyleCnt="5">
        <dgm:presLayoutVars>
          <dgm:bulletEnabled val="1"/>
        </dgm:presLayoutVars>
      </dgm:prSet>
      <dgm:spPr/>
    </dgm:pt>
  </dgm:ptLst>
  <dgm:cxnLst>
    <dgm:cxn modelId="{9793F433-27CD-4042-B7DF-F00DBBDF0215}" srcId="{C9285B13-0D39-4D52-94EE-D96F59B567C1}" destId="{311A8122-0415-4D22-A870-78F8F624622C}" srcOrd="3" destOrd="0" parTransId="{EBC22196-0A4B-4BBE-AD1B-F9BE84C4B673}" sibTransId="{B346B8BB-471F-4988-8ABD-42F6E0BC1614}"/>
    <dgm:cxn modelId="{2C9A3D38-5C0D-429F-95E7-64FDD3B936C0}" type="presOf" srcId="{B9F16BFF-8B5B-43F5-A124-7DAAEC2ECA4E}" destId="{3AB8224F-6E2D-496F-A1F5-1555C2CFAAD6}" srcOrd="0" destOrd="0" presId="urn:microsoft.com/office/officeart/2005/8/layout/default"/>
    <dgm:cxn modelId="{3701EE39-4B78-45A4-99D7-05176F4513D7}" type="presOf" srcId="{C9285B13-0D39-4D52-94EE-D96F59B567C1}" destId="{534F6F86-E50F-4A63-A6E1-E82FE8820630}" srcOrd="0" destOrd="0" presId="urn:microsoft.com/office/officeart/2005/8/layout/default"/>
    <dgm:cxn modelId="{7B286074-2EDB-4E05-A702-CE6658A42C29}" srcId="{C9285B13-0D39-4D52-94EE-D96F59B567C1}" destId="{A92DA150-EB6D-44E2-8E3F-ED2E6D59B23C}" srcOrd="0" destOrd="0" parTransId="{B9A1B567-3BC4-4754-A180-B9063F7CBE62}" sibTransId="{5C0F6B24-A129-4ACC-BCAE-D5569CC5E881}"/>
    <dgm:cxn modelId="{53D61855-15AF-4E20-A89E-E774E7A43EA0}" srcId="{C9285B13-0D39-4D52-94EE-D96F59B567C1}" destId="{3D3E7320-AF72-4B74-A940-AAAC1ABD8D43}" srcOrd="4" destOrd="0" parTransId="{5FBCFFB7-43FD-4544-ADC7-1020A2194C81}" sibTransId="{AF2EE408-9D6A-444C-AD79-AEA17052FC6F}"/>
    <dgm:cxn modelId="{9C923275-D4A9-4BBC-9865-0B2B098B80B8}" type="presOf" srcId="{311A8122-0415-4D22-A870-78F8F624622C}" destId="{3CC5B461-C7D4-4EE8-A9D9-460F25C39599}" srcOrd="0" destOrd="0" presId="urn:microsoft.com/office/officeart/2005/8/layout/default"/>
    <dgm:cxn modelId="{BC626F76-46C7-423E-8072-F63BB70AAD29}" type="presOf" srcId="{A92DA150-EB6D-44E2-8E3F-ED2E6D59B23C}" destId="{398C4F31-9B28-40F6-98EE-C83036AC5AA1}" srcOrd="0" destOrd="0" presId="urn:microsoft.com/office/officeart/2005/8/layout/default"/>
    <dgm:cxn modelId="{33CAB48B-746C-49CD-AB60-C590CD0F971F}" srcId="{C9285B13-0D39-4D52-94EE-D96F59B567C1}" destId="{1EE144D8-F485-47AA-BF97-89C192B528D8}" srcOrd="1" destOrd="0" parTransId="{5AD767DF-B9FF-4168-9E21-1F0E1C057B81}" sibTransId="{3F7FE2F2-F7D6-4482-8155-7E530BE97BCC}"/>
    <dgm:cxn modelId="{AF5286C7-313F-40D8-856B-C9AC0FA86426}" srcId="{C9285B13-0D39-4D52-94EE-D96F59B567C1}" destId="{B9F16BFF-8B5B-43F5-A124-7DAAEC2ECA4E}" srcOrd="2" destOrd="0" parTransId="{E8475FB9-CF64-4901-8450-26097612BEAB}" sibTransId="{C8A7D5E3-89E2-452B-A433-E90FE75008C6}"/>
    <dgm:cxn modelId="{3185F7E3-3388-43ED-BA1D-C57D4D4C6125}" type="presOf" srcId="{3D3E7320-AF72-4B74-A940-AAAC1ABD8D43}" destId="{AA949AD6-18D2-4AC3-B25C-0F38C0E5D5BB}" srcOrd="0" destOrd="0" presId="urn:microsoft.com/office/officeart/2005/8/layout/default"/>
    <dgm:cxn modelId="{90AB1AE9-D32D-4CC7-B5BC-F04383B45753}" type="presOf" srcId="{1EE144D8-F485-47AA-BF97-89C192B528D8}" destId="{43700012-57EB-485E-89B0-6613C1CB8C25}" srcOrd="0" destOrd="0" presId="urn:microsoft.com/office/officeart/2005/8/layout/default"/>
    <dgm:cxn modelId="{5E4803A7-BD0D-4405-BC16-C2AE5E243118}" type="presParOf" srcId="{534F6F86-E50F-4A63-A6E1-E82FE8820630}" destId="{398C4F31-9B28-40F6-98EE-C83036AC5AA1}" srcOrd="0" destOrd="0" presId="urn:microsoft.com/office/officeart/2005/8/layout/default"/>
    <dgm:cxn modelId="{CFB41028-1D4E-46F2-8A76-53FDA2E10B36}" type="presParOf" srcId="{534F6F86-E50F-4A63-A6E1-E82FE8820630}" destId="{BCEF7EBF-C0B2-40B7-A780-A532C38D4D85}" srcOrd="1" destOrd="0" presId="urn:microsoft.com/office/officeart/2005/8/layout/default"/>
    <dgm:cxn modelId="{6ECDE8D0-2A91-4A34-AF4C-92C12AE3C446}" type="presParOf" srcId="{534F6F86-E50F-4A63-A6E1-E82FE8820630}" destId="{43700012-57EB-485E-89B0-6613C1CB8C25}" srcOrd="2" destOrd="0" presId="urn:microsoft.com/office/officeart/2005/8/layout/default"/>
    <dgm:cxn modelId="{01FE758E-76B1-4169-B0DE-19C81748E6FF}" type="presParOf" srcId="{534F6F86-E50F-4A63-A6E1-E82FE8820630}" destId="{B6B1BD56-7B04-4FEE-A16F-E85EDB0D8BFC}" srcOrd="3" destOrd="0" presId="urn:microsoft.com/office/officeart/2005/8/layout/default"/>
    <dgm:cxn modelId="{A061679C-D645-4CD6-BD8E-6FBC1788C798}" type="presParOf" srcId="{534F6F86-E50F-4A63-A6E1-E82FE8820630}" destId="{3AB8224F-6E2D-496F-A1F5-1555C2CFAAD6}" srcOrd="4" destOrd="0" presId="urn:microsoft.com/office/officeart/2005/8/layout/default"/>
    <dgm:cxn modelId="{08B3E8C1-2B34-490D-9772-3CC490BDE94D}" type="presParOf" srcId="{534F6F86-E50F-4A63-A6E1-E82FE8820630}" destId="{3B2381AF-0D30-4F8A-80FE-EAAAB71AA775}" srcOrd="5" destOrd="0" presId="urn:microsoft.com/office/officeart/2005/8/layout/default"/>
    <dgm:cxn modelId="{4EC60230-A9B0-41BC-8C06-84F533E7BF5D}" type="presParOf" srcId="{534F6F86-E50F-4A63-A6E1-E82FE8820630}" destId="{3CC5B461-C7D4-4EE8-A9D9-460F25C39599}" srcOrd="6" destOrd="0" presId="urn:microsoft.com/office/officeart/2005/8/layout/default"/>
    <dgm:cxn modelId="{0C3827E7-DF26-4781-A784-BF1BC164044B}" type="presParOf" srcId="{534F6F86-E50F-4A63-A6E1-E82FE8820630}" destId="{DE2F75EC-AB6D-43D8-8867-BB2B88B08858}" srcOrd="7" destOrd="0" presId="urn:microsoft.com/office/officeart/2005/8/layout/default"/>
    <dgm:cxn modelId="{55E45719-E446-4884-B589-9776F59051F6}" type="presParOf" srcId="{534F6F86-E50F-4A63-A6E1-E82FE8820630}" destId="{AA949AD6-18D2-4AC3-B25C-0F38C0E5D5BB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43A56B-339D-45ED-89C4-E1582E3A3041}">
      <dsp:nvSpPr>
        <dsp:cNvPr id="0" name=""/>
        <dsp:cNvSpPr/>
      </dsp:nvSpPr>
      <dsp:spPr>
        <a:xfrm>
          <a:off x="0" y="2124"/>
          <a:ext cx="501580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A10774D-B97F-4C41-94AD-558F53E4CD8D}">
      <dsp:nvSpPr>
        <dsp:cNvPr id="0" name=""/>
        <dsp:cNvSpPr/>
      </dsp:nvSpPr>
      <dsp:spPr>
        <a:xfrm>
          <a:off x="0" y="2124"/>
          <a:ext cx="5015804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Primary sector</a:t>
          </a:r>
        </a:p>
      </dsp:txBody>
      <dsp:txXfrm>
        <a:off x="0" y="2124"/>
        <a:ext cx="5015804" cy="1449029"/>
      </dsp:txXfrm>
    </dsp:sp>
    <dsp:sp modelId="{BAF94F8C-F2D2-45FC-B156-26C111E50E11}">
      <dsp:nvSpPr>
        <dsp:cNvPr id="0" name=""/>
        <dsp:cNvSpPr/>
      </dsp:nvSpPr>
      <dsp:spPr>
        <a:xfrm>
          <a:off x="0" y="1451154"/>
          <a:ext cx="501580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317F68D-424E-4127-883C-5564D80D98CD}">
      <dsp:nvSpPr>
        <dsp:cNvPr id="0" name=""/>
        <dsp:cNvSpPr/>
      </dsp:nvSpPr>
      <dsp:spPr>
        <a:xfrm>
          <a:off x="0" y="1451154"/>
          <a:ext cx="5015804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Secondary sector</a:t>
          </a:r>
        </a:p>
      </dsp:txBody>
      <dsp:txXfrm>
        <a:off x="0" y="1451154"/>
        <a:ext cx="5015804" cy="1449029"/>
      </dsp:txXfrm>
    </dsp:sp>
    <dsp:sp modelId="{820976BF-86EB-4F81-8AF7-706E1E6C54A3}">
      <dsp:nvSpPr>
        <dsp:cNvPr id="0" name=""/>
        <dsp:cNvSpPr/>
      </dsp:nvSpPr>
      <dsp:spPr>
        <a:xfrm>
          <a:off x="0" y="2900183"/>
          <a:ext cx="501580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E1EB53B-D75F-453D-BBEA-E2A14E27217A}">
      <dsp:nvSpPr>
        <dsp:cNvPr id="0" name=""/>
        <dsp:cNvSpPr/>
      </dsp:nvSpPr>
      <dsp:spPr>
        <a:xfrm>
          <a:off x="0" y="2900183"/>
          <a:ext cx="5015804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Service sector </a:t>
          </a:r>
        </a:p>
      </dsp:txBody>
      <dsp:txXfrm>
        <a:off x="0" y="2900183"/>
        <a:ext cx="5015804" cy="14490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8C4F31-9B28-40F6-98EE-C83036AC5AA1}">
      <dsp:nvSpPr>
        <dsp:cNvPr id="0" name=""/>
        <dsp:cNvSpPr/>
      </dsp:nvSpPr>
      <dsp:spPr>
        <a:xfrm>
          <a:off x="31434" y="150"/>
          <a:ext cx="2175518" cy="130531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tx1"/>
              </a:solidFill>
            </a:rPr>
            <a:t>Inequality</a:t>
          </a:r>
          <a:r>
            <a:rPr lang="en-US" sz="1400" kern="1200" baseline="0" dirty="0">
              <a:solidFill>
                <a:schemeClr val="tx1"/>
              </a:solidFill>
            </a:rPr>
            <a:t> </a:t>
          </a:r>
          <a:endParaRPr lang="en-US" sz="1400" kern="1200" dirty="0">
            <a:solidFill>
              <a:schemeClr val="tx1"/>
            </a:solidFill>
          </a:endParaRPr>
        </a:p>
      </dsp:txBody>
      <dsp:txXfrm>
        <a:off x="31434" y="150"/>
        <a:ext cx="2175518" cy="1305311"/>
      </dsp:txXfrm>
    </dsp:sp>
    <dsp:sp modelId="{43700012-57EB-485E-89B0-6613C1CB8C25}">
      <dsp:nvSpPr>
        <dsp:cNvPr id="0" name=""/>
        <dsp:cNvSpPr/>
      </dsp:nvSpPr>
      <dsp:spPr>
        <a:xfrm>
          <a:off x="2424504" y="150"/>
          <a:ext cx="2175518" cy="130531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</a:rPr>
            <a:t>Pollution from goods and services</a:t>
          </a:r>
        </a:p>
      </dsp:txBody>
      <dsp:txXfrm>
        <a:off x="2424504" y="150"/>
        <a:ext cx="2175518" cy="1305311"/>
      </dsp:txXfrm>
    </dsp:sp>
    <dsp:sp modelId="{3AB8224F-6E2D-496F-A1F5-1555C2CFAAD6}">
      <dsp:nvSpPr>
        <dsp:cNvPr id="0" name=""/>
        <dsp:cNvSpPr/>
      </dsp:nvSpPr>
      <dsp:spPr>
        <a:xfrm>
          <a:off x="31434" y="1523013"/>
          <a:ext cx="2175518" cy="130531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baseline="0" dirty="0">
              <a:solidFill>
                <a:schemeClr val="tx1"/>
              </a:solidFill>
            </a:rPr>
            <a:t>Informal businesses e.g. baby sitting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31434" y="1523013"/>
        <a:ext cx="2175518" cy="1305311"/>
      </dsp:txXfrm>
    </dsp:sp>
    <dsp:sp modelId="{3CC5B461-C7D4-4EE8-A9D9-460F25C39599}">
      <dsp:nvSpPr>
        <dsp:cNvPr id="0" name=""/>
        <dsp:cNvSpPr/>
      </dsp:nvSpPr>
      <dsp:spPr>
        <a:xfrm>
          <a:off x="2424504" y="1523013"/>
          <a:ext cx="2175518" cy="130531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solidFill>
                <a:schemeClr val="tx1"/>
              </a:solidFill>
            </a:rPr>
            <a:t>Home</a:t>
          </a:r>
          <a:r>
            <a:rPr lang="en-US" sz="3400" kern="1200" baseline="0" dirty="0">
              <a:solidFill>
                <a:schemeClr val="tx1"/>
              </a:solidFill>
            </a:rPr>
            <a:t> labor </a:t>
          </a:r>
        </a:p>
      </dsp:txBody>
      <dsp:txXfrm>
        <a:off x="2424504" y="1523013"/>
        <a:ext cx="2175518" cy="1305311"/>
      </dsp:txXfrm>
    </dsp:sp>
    <dsp:sp modelId="{AA949AD6-18D2-4AC3-B25C-0F38C0E5D5BB}">
      <dsp:nvSpPr>
        <dsp:cNvPr id="0" name=""/>
        <dsp:cNvSpPr/>
      </dsp:nvSpPr>
      <dsp:spPr>
        <a:xfrm>
          <a:off x="1227969" y="3045876"/>
          <a:ext cx="2175518" cy="130531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baseline="0" dirty="0">
              <a:solidFill>
                <a:schemeClr val="tx1"/>
              </a:solidFill>
            </a:rPr>
            <a:t>Volunteer</a:t>
          </a:r>
          <a:r>
            <a:rPr lang="en-US" sz="3400" kern="1200" baseline="0" dirty="0"/>
            <a:t> </a:t>
          </a:r>
        </a:p>
      </dsp:txBody>
      <dsp:txXfrm>
        <a:off x="1227969" y="3045876"/>
        <a:ext cx="2175518" cy="13053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BA811-8917-4F1D-B22F-E96045BFA4E0}" type="datetimeFigureOut">
              <a:rPr lang="en-US" smtClean="0"/>
              <a:t>10/19/2023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C6A29-4676-420C-BBE3-ACC2B80F64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anchor="ctr"/>
          <a:lstStyle>
            <a:lvl1pPr marL="0" indent="0">
              <a:buNone/>
              <a:defRPr/>
            </a:lvl1pPr>
            <a:lvl2pPr marL="228600">
              <a:defRPr/>
            </a:lvl2pPr>
            <a:lvl3pPr marL="45720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 marL="228600">
              <a:lnSpc>
                <a:spcPct val="110000"/>
              </a:lnSpc>
              <a:defRPr sz="2000"/>
            </a:lvl2pPr>
            <a:lvl3pPr marL="457200">
              <a:lnSpc>
                <a:spcPct val="110000"/>
              </a:lnSpc>
              <a:defRPr sz="1800"/>
            </a:lvl3pPr>
            <a:lvl4pPr marL="685800"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9/3/20XX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 sz="1800"/>
            </a:lvl2pPr>
            <a:lvl3pPr marL="457200"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BqWRayc1kE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3.jpeg"/><Relationship Id="rId7" Type="http://schemas.openxmlformats.org/officeDocument/2006/relationships/diagramLayout" Target="../diagrams/layout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6" Type="http://schemas.openxmlformats.org/officeDocument/2006/relationships/diagramData" Target="../diagrams/data1.xml"/><Relationship Id="rId5" Type="http://schemas.openxmlformats.org/officeDocument/2006/relationships/image" Target="../media/image5.jpeg"/><Relationship Id="rId10" Type="http://schemas.microsoft.com/office/2007/relationships/diagramDrawing" Target="../diagrams/drawing1.xml"/><Relationship Id="rId4" Type="http://schemas.openxmlformats.org/officeDocument/2006/relationships/image" Target="../media/image4.jpeg"/><Relationship Id="rId9" Type="http://schemas.openxmlformats.org/officeDocument/2006/relationships/diagramColors" Target="../diagrams/colors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7.jpeg"/><Relationship Id="rId7" Type="http://schemas.openxmlformats.org/officeDocument/2006/relationships/diagramLayout" Target="../diagrams/layout2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Relationship Id="rId6" Type="http://schemas.openxmlformats.org/officeDocument/2006/relationships/diagramData" Target="../diagrams/data2.xml"/><Relationship Id="rId5" Type="http://schemas.openxmlformats.org/officeDocument/2006/relationships/image" Target="../media/image9.png"/><Relationship Id="rId10" Type="http://schemas.microsoft.com/office/2007/relationships/diagramDrawing" Target="../diagrams/drawing2.xml"/><Relationship Id="rId4" Type="http://schemas.openxmlformats.org/officeDocument/2006/relationships/image" Target="../media/image8.jpeg"/><Relationship Id="rId9" Type="http://schemas.openxmlformats.org/officeDocument/2006/relationships/diagramColors" Target="../diagrams/colors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08836-40C5-46C2-81BA-21AA271769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Indicators of Economic performance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CC4EC4-809C-4FD2-AA20-009F08590D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worksheet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962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6E49C-11A0-4C95-8A6E-FC7E9C57C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Definition 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Trend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C3FD2-AF88-4EF1-AFB7-5D31BD5AA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UcPeriod"/>
            </a:pPr>
            <a:r>
              <a:rPr lang="en-AU" dirty="0">
                <a:solidFill>
                  <a:srgbClr val="040C28"/>
                </a:solidFill>
                <a:latin typeface="Google Sans"/>
              </a:rPr>
              <a:t>C</a:t>
            </a:r>
            <a:r>
              <a:rPr lang="en-AU" b="0" i="0" dirty="0">
                <a:solidFill>
                  <a:srgbClr val="040C28"/>
                </a:solidFill>
                <a:effectLst/>
                <a:latin typeface="Google Sans"/>
              </a:rPr>
              <a:t>hanges or developments that are happening within a particular field</a:t>
            </a:r>
            <a:r>
              <a:rPr lang="en-AU" b="0" i="0" dirty="0">
                <a:solidFill>
                  <a:srgbClr val="4D5156"/>
                </a:solidFill>
                <a:effectLst/>
                <a:latin typeface="Google Sans"/>
              </a:rPr>
              <a:t>.</a:t>
            </a:r>
          </a:p>
          <a:p>
            <a:pPr marL="514350" indent="-514350">
              <a:buAutoNum type="alphaUcPeriod"/>
            </a:pPr>
            <a:r>
              <a:rPr lang="en-AU" dirty="0">
                <a:latin typeface="Google Sans"/>
              </a:rPr>
              <a:t>NO changes in a market </a:t>
            </a:r>
          </a:p>
          <a:p>
            <a:pPr marL="514350" indent="-514350">
              <a:buAutoNum type="alphaUcPeriod"/>
            </a:pPr>
            <a:r>
              <a:rPr lang="en-AU" dirty="0">
                <a:latin typeface="Google Sans"/>
              </a:rPr>
              <a:t>Social media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8B647-084C-492D-A242-148BEA5B6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2B84E-2163-44C1-99D0-6F162AEA8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B1A36-2D6E-4392-AAA4-996FFE032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160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6E49C-11A0-4C95-8A6E-FC7E9C57C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Definition 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Trend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C3FD2-AF88-4EF1-AFB7-5D31BD5AA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Arial" panose="020B0604020202020204" pitchFamily="34" charset="0"/>
              <a:buAutoNum type="alphaUcPeriod"/>
            </a:pPr>
            <a:r>
              <a:rPr lang="en-AU" dirty="0">
                <a:solidFill>
                  <a:schemeClr val="accent5">
                    <a:lumMod val="50000"/>
                  </a:schemeClr>
                </a:solidFill>
                <a:latin typeface="Google Sans"/>
              </a:rPr>
              <a:t>C</a:t>
            </a:r>
            <a:r>
              <a:rPr lang="en-AU" b="0" i="0" dirty="0">
                <a:solidFill>
                  <a:schemeClr val="accent5">
                    <a:lumMod val="50000"/>
                  </a:schemeClr>
                </a:solidFill>
                <a:effectLst/>
                <a:latin typeface="Google Sans"/>
              </a:rPr>
              <a:t>hanges or developments that are happening within a particular field.</a:t>
            </a:r>
            <a:r>
              <a:rPr lang="en-AU" sz="4800" b="0" i="0" dirty="0">
                <a:solidFill>
                  <a:schemeClr val="accent5">
                    <a:lumMod val="50000"/>
                  </a:schemeClr>
                </a:solidFill>
                <a:effectLst/>
                <a:latin typeface="Google Sans"/>
              </a:rPr>
              <a:t> </a:t>
            </a:r>
            <a:r>
              <a:rPr lang="en-AU" sz="4800" dirty="0">
                <a:latin typeface="Google Sans"/>
                <a:sym typeface="Wingdings" panose="05000000000000000000" pitchFamily="2" charset="2"/>
              </a:rPr>
              <a:t></a:t>
            </a:r>
            <a:endParaRPr lang="en-AU" sz="4800" b="0" i="0" dirty="0">
              <a:solidFill>
                <a:schemeClr val="accent5">
                  <a:lumMod val="50000"/>
                </a:schemeClr>
              </a:solidFill>
              <a:effectLst/>
              <a:latin typeface="Google Sans"/>
            </a:endParaRPr>
          </a:p>
          <a:p>
            <a:pPr marL="514350" indent="-514350">
              <a:buAutoNum type="alphaUcPeriod"/>
            </a:pPr>
            <a:r>
              <a:rPr lang="en-AU" dirty="0">
                <a:latin typeface="Google Sans"/>
              </a:rPr>
              <a:t>NO changes in a market </a:t>
            </a:r>
          </a:p>
          <a:p>
            <a:pPr marL="514350" indent="-514350">
              <a:buAutoNum type="alphaUcPeriod"/>
            </a:pPr>
            <a:r>
              <a:rPr lang="en-AU" dirty="0">
                <a:latin typeface="Google Sans"/>
              </a:rPr>
              <a:t>Social media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8B647-084C-492D-A242-148BEA5B6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2B84E-2163-44C1-99D0-6F162AEA8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B1A36-2D6E-4392-AAA4-996FFE032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9999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706C9-F26D-46CA-93BF-8C27012F6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</a:t>
            </a:r>
            <a:br>
              <a:rPr lang="en-US" dirty="0"/>
            </a:br>
            <a:r>
              <a:rPr lang="en-US" dirty="0"/>
              <a:t>Economic growth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5E0EB-F1F4-436B-A218-93E100A66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 noProof="0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D06EF-9416-46F7-8230-B49EE126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noProof="0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9025F-68D1-4F50-8480-3F981455D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76B855D-E9CC-4FF8-AD85-6CDC7B89A0DE}" type="slidenum">
              <a:rPr lang="en-US" noProof="0" smtClean="0"/>
              <a:pPr lvl="0"/>
              <a:t>4</a:t>
            </a:fld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0B6E0-1F7C-4E6A-87B1-554ADE739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5312" y="1856232"/>
            <a:ext cx="5806440" cy="2980944"/>
          </a:xfrm>
        </p:spPr>
        <p:txBody>
          <a:bodyPr>
            <a:normAutofit/>
          </a:bodyPr>
          <a:lstStyle/>
          <a:p>
            <a:pPr marL="342900" indent="-342900">
              <a:buAutoNum type="alphaUcPeriod"/>
            </a:pPr>
            <a:r>
              <a:rPr lang="en-AU" sz="2800" b="0" i="0" dirty="0">
                <a:solidFill>
                  <a:srgbClr val="040C28"/>
                </a:solidFill>
                <a:effectLst/>
                <a:latin typeface="Google Sans"/>
              </a:rPr>
              <a:t> Decrease in the size of a country's economy over a period of time</a:t>
            </a:r>
          </a:p>
          <a:p>
            <a:pPr marL="342900" indent="-342900">
              <a:buAutoNum type="alphaUcPeriod"/>
            </a:pPr>
            <a:r>
              <a:rPr lang="en-AU" sz="2800" dirty="0">
                <a:solidFill>
                  <a:srgbClr val="040C28"/>
                </a:solidFill>
                <a:latin typeface="Google Sans"/>
              </a:rPr>
              <a:t>A</a:t>
            </a:r>
            <a:r>
              <a:rPr lang="en-AU" sz="2800" b="0" i="0" dirty="0">
                <a:solidFill>
                  <a:srgbClr val="040C28"/>
                </a:solidFill>
                <a:effectLst/>
                <a:latin typeface="Google Sans"/>
              </a:rPr>
              <a:t>n increase in the size of a country's economy over a period of time</a:t>
            </a:r>
          </a:p>
          <a:p>
            <a:pPr marL="342900" indent="-342900">
              <a:buAutoNum type="alphaUcPeriod"/>
            </a:pPr>
            <a:r>
              <a:rPr lang="en-AU" sz="2800" dirty="0">
                <a:solidFill>
                  <a:srgbClr val="040C28"/>
                </a:solidFill>
                <a:latin typeface="Google Sans"/>
              </a:rPr>
              <a:t>Fall of the size of a country’s economy over a period of time</a:t>
            </a:r>
            <a:endParaRPr lang="en-US" sz="3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258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706C9-F26D-46CA-93BF-8C27012F6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</a:t>
            </a:r>
            <a:br>
              <a:rPr lang="en-US" dirty="0"/>
            </a:br>
            <a:r>
              <a:rPr lang="en-US" dirty="0"/>
              <a:t>Economic growth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5E0EB-F1F4-436B-A218-93E100A66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 noProof="0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D06EF-9416-46F7-8230-B49EE126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noProof="0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9025F-68D1-4F50-8480-3F981455D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76B855D-E9CC-4FF8-AD85-6CDC7B89A0DE}" type="slidenum">
              <a:rPr lang="en-US" noProof="0" smtClean="0"/>
              <a:pPr lvl="0"/>
              <a:t>5</a:t>
            </a:fld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0B6E0-1F7C-4E6A-87B1-554ADE739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3248" y="1481328"/>
            <a:ext cx="5806440" cy="4069080"/>
          </a:xfrm>
        </p:spPr>
        <p:txBody>
          <a:bodyPr>
            <a:normAutofit/>
          </a:bodyPr>
          <a:lstStyle/>
          <a:p>
            <a:pPr marL="342900" indent="-342900">
              <a:buAutoNum type="alphaUcPeriod"/>
            </a:pPr>
            <a:r>
              <a:rPr lang="en-AU" sz="2800" b="0" i="0" dirty="0">
                <a:solidFill>
                  <a:srgbClr val="040C28"/>
                </a:solidFill>
                <a:effectLst/>
                <a:latin typeface="Google Sans"/>
              </a:rPr>
              <a:t> Decrease in the size of a country's economy over a period of time</a:t>
            </a:r>
          </a:p>
          <a:p>
            <a:pPr marL="342900" indent="-342900">
              <a:buFont typeface="Arial" panose="020B0604020202020204" pitchFamily="34" charset="0"/>
              <a:buAutoNum type="alphaUcPeriod"/>
            </a:pPr>
            <a:r>
              <a:rPr lang="en-AU" sz="2800" dirty="0">
                <a:solidFill>
                  <a:schemeClr val="accent5">
                    <a:lumMod val="50000"/>
                  </a:schemeClr>
                </a:solidFill>
                <a:latin typeface="Google Sans"/>
              </a:rPr>
              <a:t>A</a:t>
            </a:r>
            <a:r>
              <a:rPr lang="en-AU" sz="2800" b="0" i="0" dirty="0">
                <a:solidFill>
                  <a:schemeClr val="accent5">
                    <a:lumMod val="50000"/>
                  </a:schemeClr>
                </a:solidFill>
                <a:effectLst/>
                <a:latin typeface="Google Sans"/>
              </a:rPr>
              <a:t>n increase in the size of a country's economy over a period of time </a:t>
            </a:r>
            <a:r>
              <a:rPr lang="en-AU" sz="4000" dirty="0">
                <a:latin typeface="Google Sans"/>
                <a:sym typeface="Wingdings" panose="05000000000000000000" pitchFamily="2" charset="2"/>
              </a:rPr>
              <a:t></a:t>
            </a:r>
            <a:endParaRPr lang="en-AU" sz="4000" b="0" i="0" dirty="0">
              <a:solidFill>
                <a:schemeClr val="accent5">
                  <a:lumMod val="50000"/>
                </a:schemeClr>
              </a:solidFill>
              <a:effectLst/>
              <a:latin typeface="Google Sans"/>
            </a:endParaRPr>
          </a:p>
          <a:p>
            <a:pPr marL="342900" indent="-342900">
              <a:buAutoNum type="alphaUcPeriod"/>
            </a:pPr>
            <a:r>
              <a:rPr lang="en-AU" sz="2800" dirty="0">
                <a:solidFill>
                  <a:srgbClr val="040C28"/>
                </a:solidFill>
                <a:latin typeface="Google Sans"/>
              </a:rPr>
              <a:t>Fall of the size of a country’s economy over a period of time</a:t>
            </a:r>
            <a:endParaRPr lang="en-US" sz="3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156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FBB2-3155-4EAB-08C4-9E6930E01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Definition Quantitative indicator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32A61B-9158-3F51-16C4-AA5062CE0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7F5D60-4C6C-F38C-BD02-1480E924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Presentation Title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936FB9-F27C-8095-44D1-0490696AC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709849-9874-17FA-F7A5-1504D592A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1389888"/>
            <a:ext cx="4709160" cy="4151376"/>
          </a:xfrm>
        </p:spPr>
        <p:txBody>
          <a:bodyPr>
            <a:normAutofit/>
          </a:bodyPr>
          <a:lstStyle/>
          <a:p>
            <a:pPr marL="457200" indent="-457200">
              <a:buAutoNum type="alphaUcPeriod"/>
            </a:pPr>
            <a:r>
              <a:rPr lang="en-AU" b="0" i="0" dirty="0">
                <a:solidFill>
                  <a:srgbClr val="040C28"/>
                </a:solidFill>
                <a:effectLst/>
                <a:latin typeface="Google Sans"/>
              </a:rPr>
              <a:t>Quantitative indicators are reported as photographs and images</a:t>
            </a:r>
          </a:p>
          <a:p>
            <a:pPr marL="457200" indent="-457200">
              <a:buAutoNum type="alphaUcPeriod"/>
            </a:pPr>
            <a:r>
              <a:rPr lang="en-AU" b="0" i="0" dirty="0">
                <a:solidFill>
                  <a:srgbClr val="040C28"/>
                </a:solidFill>
                <a:effectLst/>
                <a:latin typeface="Google Sans"/>
              </a:rPr>
              <a:t>Quantitative indicators are reported as words, phrases or sentences</a:t>
            </a:r>
          </a:p>
          <a:p>
            <a:pPr marL="457200" indent="-457200">
              <a:buAutoNum type="alphaUcPeriod"/>
            </a:pPr>
            <a:r>
              <a:rPr lang="en-AU" b="0" i="0" dirty="0">
                <a:solidFill>
                  <a:srgbClr val="040C28"/>
                </a:solidFill>
                <a:effectLst/>
                <a:latin typeface="Google Sans"/>
              </a:rPr>
              <a:t>Quantitative indicators are reported as numbers, such as units, prices, proportions, rates of change and ratio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89839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FBB2-3155-4EAB-08C4-9E6930E01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Definition Quantitative indicator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32A61B-9158-3F51-16C4-AA5062CE0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7F5D60-4C6C-F38C-BD02-1480E924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Presentation Title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936FB9-F27C-8095-44D1-0490696AC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709849-9874-17FA-F7A5-1504D592A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1389888"/>
            <a:ext cx="4709160" cy="4151376"/>
          </a:xfrm>
        </p:spPr>
        <p:txBody>
          <a:bodyPr>
            <a:normAutofit/>
          </a:bodyPr>
          <a:lstStyle/>
          <a:p>
            <a:pPr marL="457200" indent="-457200">
              <a:buAutoNum type="alphaUcPeriod"/>
            </a:pPr>
            <a:r>
              <a:rPr lang="en-AU" b="0" i="0" dirty="0">
                <a:solidFill>
                  <a:srgbClr val="040C28"/>
                </a:solidFill>
                <a:effectLst/>
                <a:latin typeface="Google Sans"/>
              </a:rPr>
              <a:t>Quantitative indicators are reported as photographs and images</a:t>
            </a:r>
          </a:p>
          <a:p>
            <a:pPr marL="457200" indent="-457200">
              <a:buAutoNum type="alphaUcPeriod"/>
            </a:pPr>
            <a:r>
              <a:rPr lang="en-AU" b="0" i="0" dirty="0">
                <a:solidFill>
                  <a:srgbClr val="040C28"/>
                </a:solidFill>
                <a:effectLst/>
                <a:latin typeface="Google Sans"/>
              </a:rPr>
              <a:t>Quantitative indicators are reported as words, phrases or sentences</a:t>
            </a:r>
          </a:p>
          <a:p>
            <a:pPr marL="457200" indent="-457200">
              <a:buFont typeface="Arial" panose="020B0604020202020204" pitchFamily="34" charset="0"/>
              <a:buAutoNum type="alphaUcPeriod"/>
            </a:pPr>
            <a:r>
              <a:rPr lang="en-AU" b="0" i="0" dirty="0">
                <a:solidFill>
                  <a:schemeClr val="accent5">
                    <a:lumMod val="50000"/>
                  </a:schemeClr>
                </a:solidFill>
                <a:effectLst/>
                <a:latin typeface="Google Sans"/>
              </a:rPr>
              <a:t>Quantitative indicators are reported as numbers, such as units, prices, proportions, rates of change and ratio  </a:t>
            </a:r>
            <a:r>
              <a:rPr lang="en-AU" sz="4000" dirty="0">
                <a:latin typeface="Google Sans"/>
                <a:sym typeface="Wingdings" panose="05000000000000000000" pitchFamily="2" charset="2"/>
              </a:rPr>
              <a:t></a:t>
            </a:r>
            <a:endParaRPr lang="en-AU" sz="4000" b="0" i="0" dirty="0">
              <a:solidFill>
                <a:schemeClr val="accent5">
                  <a:lumMod val="50000"/>
                </a:schemeClr>
              </a:solidFill>
              <a:effectLst/>
              <a:latin typeface="Google Sans"/>
            </a:endParaRPr>
          </a:p>
          <a:p>
            <a:pPr marL="457200" indent="-457200">
              <a:buAutoNum type="alphaUcPeriod"/>
            </a:pPr>
            <a:endParaRPr lang="en-AU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037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558BD-BD74-55F3-02D5-74FAA1FEC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Sustainable economic growth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85755A-ABF5-75BF-5001-166C8DFD9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CDDDA6-8464-949A-7970-5257079AE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Presentation Title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30FF4C-5E4D-EC23-D425-C4EB4650A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3ADA71-E6C4-9F11-6954-409503DCE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6712" y="1773936"/>
            <a:ext cx="5934456" cy="2532888"/>
          </a:xfrm>
        </p:spPr>
        <p:txBody>
          <a:bodyPr/>
          <a:lstStyle/>
          <a:p>
            <a:endParaRPr lang="en-AU" b="0" i="0" dirty="0">
              <a:solidFill>
                <a:srgbClr val="202124"/>
              </a:solidFill>
              <a:effectLst/>
              <a:latin typeface="Google Sans"/>
            </a:endParaRPr>
          </a:p>
          <a:p>
            <a:pPr algn="ctr"/>
            <a:r>
              <a:rPr lang="en-AU" b="1" dirty="0">
                <a:solidFill>
                  <a:srgbClr val="202124"/>
                </a:solidFill>
                <a:latin typeface="Google Sans"/>
              </a:rPr>
              <a:t>True or False </a:t>
            </a:r>
          </a:p>
          <a:p>
            <a:r>
              <a:rPr lang="en-AU" b="0" i="0" dirty="0">
                <a:solidFill>
                  <a:srgbClr val="202124"/>
                </a:solidFill>
                <a:effectLst/>
                <a:latin typeface="Google Sans"/>
              </a:rPr>
              <a:t>Sustainable economic growth means having a rate of economic growth that: </a:t>
            </a:r>
            <a:r>
              <a:rPr lang="en-AU" b="0" i="0" u="sng" dirty="0">
                <a:solidFill>
                  <a:srgbClr val="040C28"/>
                </a:solidFill>
                <a:effectLst/>
                <a:highlight>
                  <a:srgbClr val="FFFF00"/>
                </a:highlight>
                <a:latin typeface="Google Sans"/>
              </a:rPr>
              <a:t>Does not </a:t>
            </a:r>
            <a:r>
              <a:rPr lang="en-AU" b="0" i="0" dirty="0">
                <a:solidFill>
                  <a:srgbClr val="040C28"/>
                </a:solidFill>
                <a:effectLst/>
                <a:latin typeface="Google Sans"/>
              </a:rPr>
              <a:t>have significant pressure on prices of goods and services</a:t>
            </a:r>
            <a:r>
              <a:rPr lang="en-AU" b="0" i="0" dirty="0">
                <a:solidFill>
                  <a:srgbClr val="202124"/>
                </a:solidFill>
                <a:effectLst/>
                <a:latin typeface="Google Sans"/>
              </a:rPr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35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558BD-BD74-55F3-02D5-74FAA1FEC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Sustainable economic growth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85755A-ABF5-75BF-5001-166C8DFD9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CDDDA6-8464-949A-7970-5257079AE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Presentation Title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30FF4C-5E4D-EC23-D425-C4EB4650A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3ADA71-E6C4-9F11-6954-409503DCE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6712" y="1773936"/>
            <a:ext cx="5934456" cy="2532888"/>
          </a:xfrm>
        </p:spPr>
        <p:txBody>
          <a:bodyPr/>
          <a:lstStyle/>
          <a:p>
            <a:endParaRPr lang="en-AU" b="0" i="0" dirty="0">
              <a:solidFill>
                <a:srgbClr val="202124"/>
              </a:solidFill>
              <a:effectLst/>
              <a:latin typeface="Google Sans"/>
            </a:endParaRPr>
          </a:p>
          <a:p>
            <a:pPr algn="ctr"/>
            <a:r>
              <a:rPr lang="en-AU" dirty="0">
                <a:solidFill>
                  <a:srgbClr val="202124"/>
                </a:solidFill>
                <a:highlight>
                  <a:srgbClr val="00FF00"/>
                </a:highlight>
                <a:latin typeface="Google Sans"/>
              </a:rPr>
              <a:t>Its True </a:t>
            </a:r>
          </a:p>
          <a:p>
            <a:pPr algn="ctr"/>
            <a:r>
              <a:rPr lang="en-AU" b="0" i="0" dirty="0">
                <a:solidFill>
                  <a:srgbClr val="202124"/>
                </a:solidFill>
                <a:effectLst/>
                <a:latin typeface="Google Sans"/>
              </a:rPr>
              <a:t>Sustainable economic growth means having a rate of economic growth that: </a:t>
            </a:r>
            <a:r>
              <a:rPr lang="en-AU" b="0" i="0" u="sng" dirty="0">
                <a:solidFill>
                  <a:srgbClr val="040C28"/>
                </a:solidFill>
                <a:effectLst/>
                <a:highlight>
                  <a:srgbClr val="FFFF00"/>
                </a:highlight>
                <a:latin typeface="Google Sans"/>
              </a:rPr>
              <a:t>Does not </a:t>
            </a:r>
            <a:r>
              <a:rPr lang="en-AU" b="0" i="0" dirty="0">
                <a:solidFill>
                  <a:srgbClr val="040C28"/>
                </a:solidFill>
                <a:effectLst/>
                <a:latin typeface="Google Sans"/>
              </a:rPr>
              <a:t>have significant pressure on prices of goods and services</a:t>
            </a:r>
            <a:r>
              <a:rPr lang="en-AU" b="0" i="0" dirty="0">
                <a:solidFill>
                  <a:srgbClr val="202124"/>
                </a:solidFill>
                <a:effectLst/>
                <a:latin typeface="Google Sans"/>
              </a:rPr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52001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Picture 23" descr="Padlock on computer motherboard">
            <a:extLst>
              <a:ext uri="{FF2B5EF4-FFF2-40B4-BE49-F238E27FC236}">
                <a16:creationId xmlns:a16="http://schemas.microsoft.com/office/drawing/2014/main" id="{3956E3CC-9352-338A-618D-9C158D5426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97" r="27151" b="-1"/>
          <a:stretch/>
        </p:blipFill>
        <p:spPr>
          <a:xfrm>
            <a:off x="5101771" y="10"/>
            <a:ext cx="7094361" cy="6857989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A34066D6-1B59-4642-A86D-39464CEE9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527208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18E928D9-3091-4385-B979-265D55AD0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03011">
            <a:off x="1718653" y="70086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082A43-C3E2-61EA-9FBA-4837EA2C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795509"/>
            <a:ext cx="4092525" cy="279860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Limitations of GDP 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D602432-D774-4CF5-94E8-7D52D0105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1186" y="4626633"/>
            <a:ext cx="491961" cy="4919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F9EBB4-5078-47B2-AAA0-DF4A88D81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27932" y="5011563"/>
            <a:ext cx="731558" cy="731558"/>
          </a:xfrm>
          <a:prstGeom prst="rect">
            <a:avLst/>
          </a:prstGeom>
          <a:noFill/>
          <a:ln w="127000">
            <a:solidFill>
              <a:schemeClr val="accent2">
                <a:lumMod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A0A0D-5954-5899-6279-5E8E68C0A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3466" y="6356347"/>
            <a:ext cx="40925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 cap="none" spc="0" baseline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8DEB04-5387-5673-79CB-99F5EA9A57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0526" y="6356348"/>
            <a:ext cx="181287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srgbClr val="FFFFFF"/>
                </a:solidFill>
                <a:latin typeface="Calibri" panose="020F0502020204030204"/>
              </a:rPr>
              <a:t>9/3/20XX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2C2A74-9AC1-563A-066B-A30681F4F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D76B855D-E9CC-4FF8-AD85-6CDC7B89A0DE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10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CF0384-36A0-28E8-533E-14A72BE77340}"/>
              </a:ext>
            </a:extLst>
          </p:cNvPr>
          <p:cNvSpPr txBox="1"/>
          <p:nvPr/>
        </p:nvSpPr>
        <p:spPr>
          <a:xfrm>
            <a:off x="245882" y="3888880"/>
            <a:ext cx="49963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dirty="0">
                <a:hlinkClick r:id="rId3"/>
              </a:rPr>
              <a:t>https://www.youtube.com/watch?v=hBqWRayc1kE</a:t>
            </a:r>
            <a:endParaRPr lang="en-AU" dirty="0"/>
          </a:p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25069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9" name="Freeform: Shape 3108">
            <a:extLst>
              <a:ext uri="{FF2B5EF4-FFF2-40B4-BE49-F238E27FC236}">
                <a16:creationId xmlns:a16="http://schemas.microsoft.com/office/drawing/2014/main" id="{23DA7759-3209-4FE2-96D1-4EEDD81E9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11" name="Freeform: Shape 3110">
            <a:extLst>
              <a:ext uri="{FF2B5EF4-FFF2-40B4-BE49-F238E27FC236}">
                <a16:creationId xmlns:a16="http://schemas.microsoft.com/office/drawing/2014/main" id="{41460DAD-8769-4C9F-9C8C-BB0443909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3536" y="5717905"/>
            <a:ext cx="1771609" cy="1140095"/>
          </a:xfrm>
          <a:custGeom>
            <a:avLst/>
            <a:gdLst/>
            <a:ahLst/>
            <a:cxnLst/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113" name="Rectangle 3112">
            <a:extLst>
              <a:ext uri="{FF2B5EF4-FFF2-40B4-BE49-F238E27FC236}">
                <a16:creationId xmlns:a16="http://schemas.microsoft.com/office/drawing/2014/main" id="{FAF68CB5-D519-4070-A998-B86F0FBCD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82" name="Picture 10" descr="Office workers more at risk of unhealthy lifestyle choices | Performance  Management | HR Grapevine | News">
            <a:extLst>
              <a:ext uri="{FF2B5EF4-FFF2-40B4-BE49-F238E27FC236}">
                <a16:creationId xmlns:a16="http://schemas.microsoft.com/office/drawing/2014/main" id="{FC131239-D0CD-9C9D-6241-4F0234D810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7" r="30212" b="-3"/>
          <a:stretch/>
        </p:blipFill>
        <p:spPr bwMode="auto">
          <a:xfrm>
            <a:off x="312678" y="501989"/>
            <a:ext cx="2769973" cy="2769973"/>
          </a:xfrm>
          <a:custGeom>
            <a:avLst/>
            <a:gdLst/>
            <a:ahLst/>
            <a:cxnLst/>
            <a:rect l="l" t="t" r="r" b="b"/>
            <a:pathLst>
              <a:path w="2769973" h="2769973">
                <a:moveTo>
                  <a:pt x="133430" y="0"/>
                </a:moveTo>
                <a:lnTo>
                  <a:pt x="2636543" y="0"/>
                </a:lnTo>
                <a:cubicBezTo>
                  <a:pt x="2710234" y="0"/>
                  <a:pt x="2769973" y="59739"/>
                  <a:pt x="2769973" y="133430"/>
                </a:cubicBezTo>
                <a:lnTo>
                  <a:pt x="2769973" y="2636543"/>
                </a:lnTo>
                <a:cubicBezTo>
                  <a:pt x="2769973" y="2710234"/>
                  <a:pt x="2710234" y="2769973"/>
                  <a:pt x="2636543" y="2769973"/>
                </a:cubicBezTo>
                <a:lnTo>
                  <a:pt x="133430" y="2769973"/>
                </a:lnTo>
                <a:cubicBezTo>
                  <a:pt x="59739" y="2769973"/>
                  <a:pt x="0" y="2710234"/>
                  <a:pt x="0" y="2636543"/>
                </a:cubicBezTo>
                <a:lnTo>
                  <a:pt x="0" y="133430"/>
                </a:lnTo>
                <a:cubicBezTo>
                  <a:pt x="0" y="59739"/>
                  <a:pt x="59739" y="0"/>
                  <a:pt x="13343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Washington's Manufacturing Association - Association of Washington Business">
            <a:extLst>
              <a:ext uri="{FF2B5EF4-FFF2-40B4-BE49-F238E27FC236}">
                <a16:creationId xmlns:a16="http://schemas.microsoft.com/office/drawing/2014/main" id="{718ABFD5-3ACF-AB94-5F26-B0236825FF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38" r="38061" b="-2"/>
          <a:stretch/>
        </p:blipFill>
        <p:spPr bwMode="auto">
          <a:xfrm>
            <a:off x="3276002" y="501995"/>
            <a:ext cx="2769973" cy="2769973"/>
          </a:xfrm>
          <a:custGeom>
            <a:avLst/>
            <a:gdLst/>
            <a:ahLst/>
            <a:cxnLst/>
            <a:rect l="l" t="t" r="r" b="b"/>
            <a:pathLst>
              <a:path w="2683042" h="2683042">
                <a:moveTo>
                  <a:pt x="102278" y="0"/>
                </a:moveTo>
                <a:lnTo>
                  <a:pt x="2580764" y="0"/>
                </a:lnTo>
                <a:cubicBezTo>
                  <a:pt x="2637251" y="0"/>
                  <a:pt x="2683042" y="45791"/>
                  <a:pt x="2683042" y="102278"/>
                </a:cubicBezTo>
                <a:lnTo>
                  <a:pt x="2683042" y="2580764"/>
                </a:lnTo>
                <a:cubicBezTo>
                  <a:pt x="2683042" y="2637251"/>
                  <a:pt x="2637251" y="2683042"/>
                  <a:pt x="2580764" y="2683042"/>
                </a:cubicBezTo>
                <a:lnTo>
                  <a:pt x="102278" y="2683042"/>
                </a:lnTo>
                <a:cubicBezTo>
                  <a:pt x="45791" y="2683042"/>
                  <a:pt x="0" y="2637251"/>
                  <a:pt x="0" y="2580764"/>
                </a:cubicBezTo>
                <a:lnTo>
                  <a:pt x="0" y="102278"/>
                </a:lnTo>
                <a:cubicBezTo>
                  <a:pt x="0" y="45791"/>
                  <a:pt x="45791" y="0"/>
                  <a:pt x="102278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Coal in Australia - Wikipedia">
            <a:extLst>
              <a:ext uri="{FF2B5EF4-FFF2-40B4-BE49-F238E27FC236}">
                <a16:creationId xmlns:a16="http://schemas.microsoft.com/office/drawing/2014/main" id="{FC310EBB-36E4-2EE0-0CE8-6C5FDA263C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03" r="7095" b="-4"/>
          <a:stretch/>
        </p:blipFill>
        <p:spPr bwMode="auto">
          <a:xfrm>
            <a:off x="312774" y="3429001"/>
            <a:ext cx="2769973" cy="2769973"/>
          </a:xfrm>
          <a:custGeom>
            <a:avLst/>
            <a:gdLst/>
            <a:ahLst/>
            <a:cxnLst/>
            <a:rect l="l" t="t" r="r" b="b"/>
            <a:pathLst>
              <a:path w="2683042" h="2683042">
                <a:moveTo>
                  <a:pt x="102278" y="0"/>
                </a:moveTo>
                <a:lnTo>
                  <a:pt x="2580764" y="0"/>
                </a:lnTo>
                <a:cubicBezTo>
                  <a:pt x="2637251" y="0"/>
                  <a:pt x="2683042" y="45791"/>
                  <a:pt x="2683042" y="102278"/>
                </a:cubicBezTo>
                <a:lnTo>
                  <a:pt x="2683042" y="2580764"/>
                </a:lnTo>
                <a:cubicBezTo>
                  <a:pt x="2683042" y="2637251"/>
                  <a:pt x="2637251" y="2683042"/>
                  <a:pt x="2580764" y="2683042"/>
                </a:cubicBezTo>
                <a:lnTo>
                  <a:pt x="102278" y="2683042"/>
                </a:lnTo>
                <a:cubicBezTo>
                  <a:pt x="45791" y="2683042"/>
                  <a:pt x="0" y="2637251"/>
                  <a:pt x="0" y="2580764"/>
                </a:cubicBezTo>
                <a:lnTo>
                  <a:pt x="0" y="102278"/>
                </a:lnTo>
                <a:cubicBezTo>
                  <a:pt x="0" y="45791"/>
                  <a:pt x="45791" y="0"/>
                  <a:pt x="102278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Ausgold buys WA farmland to progress Katanning gold mine development - ABC  News">
            <a:extLst>
              <a:ext uri="{FF2B5EF4-FFF2-40B4-BE49-F238E27FC236}">
                <a16:creationId xmlns:a16="http://schemas.microsoft.com/office/drawing/2014/main" id="{59DAE0C5-789B-EC41-B3D0-532203775D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07" r="19143"/>
          <a:stretch/>
        </p:blipFill>
        <p:spPr bwMode="auto">
          <a:xfrm>
            <a:off x="3276003" y="3428991"/>
            <a:ext cx="2769973" cy="2769974"/>
          </a:xfrm>
          <a:custGeom>
            <a:avLst/>
            <a:gdLst/>
            <a:ahLst/>
            <a:cxnLst/>
            <a:rect l="l" t="t" r="r" b="b"/>
            <a:pathLst>
              <a:path w="3118718" h="3118719">
                <a:moveTo>
                  <a:pt x="127306" y="0"/>
                </a:moveTo>
                <a:lnTo>
                  <a:pt x="2991412" y="0"/>
                </a:lnTo>
                <a:cubicBezTo>
                  <a:pt x="3061721" y="0"/>
                  <a:pt x="3118718" y="56997"/>
                  <a:pt x="3118718" y="127306"/>
                </a:cubicBezTo>
                <a:lnTo>
                  <a:pt x="3118718" y="2991413"/>
                </a:lnTo>
                <a:cubicBezTo>
                  <a:pt x="3118718" y="3061722"/>
                  <a:pt x="3061721" y="3118719"/>
                  <a:pt x="2991412" y="3118719"/>
                </a:cubicBezTo>
                <a:lnTo>
                  <a:pt x="127306" y="3118719"/>
                </a:lnTo>
                <a:cubicBezTo>
                  <a:pt x="56997" y="3118719"/>
                  <a:pt x="0" y="3061722"/>
                  <a:pt x="0" y="2991413"/>
                </a:cubicBezTo>
                <a:lnTo>
                  <a:pt x="0" y="127306"/>
                </a:lnTo>
                <a:cubicBezTo>
                  <a:pt x="0" y="56997"/>
                  <a:pt x="56997" y="0"/>
                  <a:pt x="12730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15" name="Arc 3114">
            <a:extLst>
              <a:ext uri="{FF2B5EF4-FFF2-40B4-BE49-F238E27FC236}">
                <a16:creationId xmlns:a16="http://schemas.microsoft.com/office/drawing/2014/main" id="{7586665A-47B3-4AEE-BC94-15D89FF70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36468">
            <a:off x="7783403" y="326268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91D0FE-6323-5347-36C7-CE26E05E6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728" y="486184"/>
            <a:ext cx="5015804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Included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in GPD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24107B-191D-BF5A-4ED7-E25BFF7E95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6261" y="6356016"/>
            <a:ext cx="104855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3E4FB-B661-A0E9-0F87-FFB95D772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43952" y="6356350"/>
            <a:ext cx="432940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kern="1200" cap="none" spc="0" baseline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0C2C47-918B-F559-51C2-DCE6DB151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D76B855D-E9CC-4FF8-AD85-6CDC7B89A0D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  <a:defRPr/>
              </a:pPr>
              <a:t>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33" name="Content Placeholder 5">
            <a:extLst>
              <a:ext uri="{FF2B5EF4-FFF2-40B4-BE49-F238E27FC236}">
                <a16:creationId xmlns:a16="http://schemas.microsoft.com/office/drawing/2014/main" id="{F79EE590-5FBB-4114-8FC1-EE1AB3BBAA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7131235"/>
              </p:ext>
            </p:extLst>
          </p:nvPr>
        </p:nvGraphicFramePr>
        <p:xfrm>
          <a:off x="6532728" y="1946684"/>
          <a:ext cx="501580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4141154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3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8" name="Freeform: Shape 4117">
            <a:extLst>
              <a:ext uri="{FF2B5EF4-FFF2-40B4-BE49-F238E27FC236}">
                <a16:creationId xmlns:a16="http://schemas.microsoft.com/office/drawing/2014/main" id="{23DA7759-3209-4FE2-96D1-4EEDD81E9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20" name="Freeform: Shape 4119">
            <a:extLst>
              <a:ext uri="{FF2B5EF4-FFF2-40B4-BE49-F238E27FC236}">
                <a16:creationId xmlns:a16="http://schemas.microsoft.com/office/drawing/2014/main" id="{41460DAD-8769-4C9F-9C8C-BB0443909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3536" y="5717905"/>
            <a:ext cx="1771609" cy="1140095"/>
          </a:xfrm>
          <a:custGeom>
            <a:avLst/>
            <a:gdLst/>
            <a:ahLst/>
            <a:cxnLst/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122" name="Rectangle 4121">
            <a:extLst>
              <a:ext uri="{FF2B5EF4-FFF2-40B4-BE49-F238E27FC236}">
                <a16:creationId xmlns:a16="http://schemas.microsoft.com/office/drawing/2014/main" id="{FAF68CB5-D519-4070-A998-B86F0FBCD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24" name="Arc 4123">
            <a:extLst>
              <a:ext uri="{FF2B5EF4-FFF2-40B4-BE49-F238E27FC236}">
                <a16:creationId xmlns:a16="http://schemas.microsoft.com/office/drawing/2014/main" id="{7586665A-47B3-4AEE-BC94-15D89FF70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36468">
            <a:off x="1712212" y="326268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91D0FE-6323-5347-36C7-CE26E05E6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444" y="486184"/>
            <a:ext cx="463145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Not Included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in GPD </a:t>
            </a:r>
          </a:p>
        </p:txBody>
      </p:sp>
      <p:pic>
        <p:nvPicPr>
          <p:cNvPr id="4104" name="Picture 8" descr="The Career Benefits of Volunteering During Your Job Search | FlexJobs">
            <a:extLst>
              <a:ext uri="{FF2B5EF4-FFF2-40B4-BE49-F238E27FC236}">
                <a16:creationId xmlns:a16="http://schemas.microsoft.com/office/drawing/2014/main" id="{B62D409F-76CB-5ECB-84CC-B0302C3655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83" r="33317" b="1"/>
          <a:stretch/>
        </p:blipFill>
        <p:spPr bwMode="auto">
          <a:xfrm>
            <a:off x="6032951" y="501989"/>
            <a:ext cx="2769973" cy="2769973"/>
          </a:xfrm>
          <a:custGeom>
            <a:avLst/>
            <a:gdLst/>
            <a:ahLst/>
            <a:cxnLst/>
            <a:rect l="l" t="t" r="r" b="b"/>
            <a:pathLst>
              <a:path w="2769973" h="2769973">
                <a:moveTo>
                  <a:pt x="133430" y="0"/>
                </a:moveTo>
                <a:lnTo>
                  <a:pt x="2636543" y="0"/>
                </a:lnTo>
                <a:cubicBezTo>
                  <a:pt x="2710234" y="0"/>
                  <a:pt x="2769973" y="59739"/>
                  <a:pt x="2769973" y="133430"/>
                </a:cubicBezTo>
                <a:lnTo>
                  <a:pt x="2769973" y="2636543"/>
                </a:lnTo>
                <a:cubicBezTo>
                  <a:pt x="2769973" y="2710234"/>
                  <a:pt x="2710234" y="2769973"/>
                  <a:pt x="2636543" y="2769973"/>
                </a:cubicBezTo>
                <a:lnTo>
                  <a:pt x="133430" y="2769973"/>
                </a:lnTo>
                <a:cubicBezTo>
                  <a:pt x="59739" y="2769973"/>
                  <a:pt x="0" y="2710234"/>
                  <a:pt x="0" y="2636543"/>
                </a:cubicBezTo>
                <a:lnTo>
                  <a:pt x="0" y="133430"/>
                </a:lnTo>
                <a:cubicBezTo>
                  <a:pt x="0" y="59739"/>
                  <a:pt x="59739" y="0"/>
                  <a:pt x="13343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repping a Babysitter to Watch Your Child With T1D - JDRF">
            <a:extLst>
              <a:ext uri="{FF2B5EF4-FFF2-40B4-BE49-F238E27FC236}">
                <a16:creationId xmlns:a16="http://schemas.microsoft.com/office/drawing/2014/main" id="{04900533-3E52-6780-D33C-ED9B7DBECC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74" r="8876"/>
          <a:stretch/>
        </p:blipFill>
        <p:spPr bwMode="auto">
          <a:xfrm>
            <a:off x="8996275" y="501987"/>
            <a:ext cx="2769973" cy="2769973"/>
          </a:xfrm>
          <a:custGeom>
            <a:avLst/>
            <a:gdLst/>
            <a:ahLst/>
            <a:cxnLst/>
            <a:rect l="l" t="t" r="r" b="b"/>
            <a:pathLst>
              <a:path w="2683042" h="2683042">
                <a:moveTo>
                  <a:pt x="102278" y="0"/>
                </a:moveTo>
                <a:lnTo>
                  <a:pt x="2580764" y="0"/>
                </a:lnTo>
                <a:cubicBezTo>
                  <a:pt x="2637251" y="0"/>
                  <a:pt x="2683042" y="45791"/>
                  <a:pt x="2683042" y="102278"/>
                </a:cubicBezTo>
                <a:lnTo>
                  <a:pt x="2683042" y="2580764"/>
                </a:lnTo>
                <a:cubicBezTo>
                  <a:pt x="2683042" y="2637251"/>
                  <a:pt x="2637251" y="2683042"/>
                  <a:pt x="2580764" y="2683042"/>
                </a:cubicBezTo>
                <a:lnTo>
                  <a:pt x="102278" y="2683042"/>
                </a:lnTo>
                <a:cubicBezTo>
                  <a:pt x="45791" y="2683042"/>
                  <a:pt x="0" y="2637251"/>
                  <a:pt x="0" y="2580764"/>
                </a:cubicBezTo>
                <a:lnTo>
                  <a:pt x="0" y="102278"/>
                </a:lnTo>
                <a:cubicBezTo>
                  <a:pt x="0" y="45791"/>
                  <a:pt x="45791" y="0"/>
                  <a:pt x="102278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ir pollution may affect the lethality of COVID-19">
            <a:extLst>
              <a:ext uri="{FF2B5EF4-FFF2-40B4-BE49-F238E27FC236}">
                <a16:creationId xmlns:a16="http://schemas.microsoft.com/office/drawing/2014/main" id="{4A134F40-61F6-DD4E-80FE-A69105F27D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50" r="17298" b="-4"/>
          <a:stretch/>
        </p:blipFill>
        <p:spPr bwMode="auto">
          <a:xfrm>
            <a:off x="6033047" y="3429005"/>
            <a:ext cx="2769973" cy="2769973"/>
          </a:xfrm>
          <a:custGeom>
            <a:avLst/>
            <a:gdLst/>
            <a:ahLst/>
            <a:cxnLst/>
            <a:rect l="l" t="t" r="r" b="b"/>
            <a:pathLst>
              <a:path w="2683042" h="2683042">
                <a:moveTo>
                  <a:pt x="102278" y="0"/>
                </a:moveTo>
                <a:lnTo>
                  <a:pt x="2580764" y="0"/>
                </a:lnTo>
                <a:cubicBezTo>
                  <a:pt x="2637251" y="0"/>
                  <a:pt x="2683042" y="45791"/>
                  <a:pt x="2683042" y="102278"/>
                </a:cubicBezTo>
                <a:lnTo>
                  <a:pt x="2683042" y="2580764"/>
                </a:lnTo>
                <a:cubicBezTo>
                  <a:pt x="2683042" y="2637251"/>
                  <a:pt x="2637251" y="2683042"/>
                  <a:pt x="2580764" y="2683042"/>
                </a:cubicBezTo>
                <a:lnTo>
                  <a:pt x="102278" y="2683042"/>
                </a:lnTo>
                <a:cubicBezTo>
                  <a:pt x="45791" y="2683042"/>
                  <a:pt x="0" y="2637251"/>
                  <a:pt x="0" y="2580764"/>
                </a:cubicBezTo>
                <a:lnTo>
                  <a:pt x="0" y="102278"/>
                </a:lnTo>
                <a:cubicBezTo>
                  <a:pt x="0" y="45791"/>
                  <a:pt x="45791" y="0"/>
                  <a:pt x="102278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High Wealth Inequality Linked With Greater Support for Populist Leaders –  Association for Psychological Science – APS">
            <a:extLst>
              <a:ext uri="{FF2B5EF4-FFF2-40B4-BE49-F238E27FC236}">
                <a16:creationId xmlns:a16="http://schemas.microsoft.com/office/drawing/2014/main" id="{5B835FD2-4A1E-F33E-45AD-79F8116BFC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1" r="25426" b="-4"/>
          <a:stretch/>
        </p:blipFill>
        <p:spPr bwMode="auto">
          <a:xfrm>
            <a:off x="8996276" y="3428991"/>
            <a:ext cx="2769973" cy="2769974"/>
          </a:xfrm>
          <a:custGeom>
            <a:avLst/>
            <a:gdLst/>
            <a:ahLst/>
            <a:cxnLst/>
            <a:rect l="l" t="t" r="r" b="b"/>
            <a:pathLst>
              <a:path w="3118718" h="3118719">
                <a:moveTo>
                  <a:pt x="127306" y="0"/>
                </a:moveTo>
                <a:lnTo>
                  <a:pt x="2991412" y="0"/>
                </a:lnTo>
                <a:cubicBezTo>
                  <a:pt x="3061721" y="0"/>
                  <a:pt x="3118718" y="56997"/>
                  <a:pt x="3118718" y="127306"/>
                </a:cubicBezTo>
                <a:lnTo>
                  <a:pt x="3118718" y="2991413"/>
                </a:lnTo>
                <a:cubicBezTo>
                  <a:pt x="3118718" y="3061722"/>
                  <a:pt x="3061721" y="3118719"/>
                  <a:pt x="2991412" y="3118719"/>
                </a:cubicBezTo>
                <a:lnTo>
                  <a:pt x="127306" y="3118719"/>
                </a:lnTo>
                <a:cubicBezTo>
                  <a:pt x="56997" y="3118719"/>
                  <a:pt x="0" y="3061722"/>
                  <a:pt x="0" y="2991413"/>
                </a:cubicBezTo>
                <a:lnTo>
                  <a:pt x="0" y="127306"/>
                </a:lnTo>
                <a:cubicBezTo>
                  <a:pt x="0" y="56997"/>
                  <a:pt x="56997" y="0"/>
                  <a:pt x="12730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24107B-191D-BF5A-4ED7-E25BFF7E95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6261" y="6356016"/>
            <a:ext cx="104855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3E4FB-B661-A0E9-0F87-FFB95D772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43952" y="6356350"/>
            <a:ext cx="432940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kern="1200" cap="none" spc="0" baseline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0C2C47-918B-F559-51C2-DCE6DB151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D76B855D-E9CC-4FF8-AD85-6CDC7B89A0D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  <a:defRPr/>
              </a:pPr>
              <a:t>12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33" name="Content Placeholder 5">
            <a:extLst>
              <a:ext uri="{FF2B5EF4-FFF2-40B4-BE49-F238E27FC236}">
                <a16:creationId xmlns:a16="http://schemas.microsoft.com/office/drawing/2014/main" id="{F79EE590-5FBB-4114-8FC1-EE1AB3BBAA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1757938"/>
              </p:ext>
            </p:extLst>
          </p:nvPr>
        </p:nvGraphicFramePr>
        <p:xfrm>
          <a:off x="594444" y="1946684"/>
          <a:ext cx="4631458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4147053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3" grpId="0">
        <p:bldAsOne/>
      </p:bldGraphic>
    </p:bldLst>
  </p:timing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BDEF148-1770-458F-8F5B-C3D0A278AA9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8413533D-8C39-401E-8B75-B1AEEEC56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Words>371</Words>
  <Application>Microsoft Office PowerPoint</Application>
  <PresentationFormat>Widescreen</PresentationFormat>
  <Paragraphs>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Avenir Next LT Pro</vt:lpstr>
      <vt:lpstr>Calibri</vt:lpstr>
      <vt:lpstr>Google Sans</vt:lpstr>
      <vt:lpstr>Tw Cen MT</vt:lpstr>
      <vt:lpstr>ShapesVTI</vt:lpstr>
      <vt:lpstr>Indicators of Economic performance</vt:lpstr>
      <vt:lpstr>Definition  Trend</vt:lpstr>
      <vt:lpstr>Definition  Trend</vt:lpstr>
      <vt:lpstr>Definition  Economic growth</vt:lpstr>
      <vt:lpstr>Definition  Economic growth</vt:lpstr>
      <vt:lpstr>Definition Quantitative indicator</vt:lpstr>
      <vt:lpstr>Definition Quantitative indicator</vt:lpstr>
      <vt:lpstr>Sustainable economic growth </vt:lpstr>
      <vt:lpstr>Sustainable economic growth </vt:lpstr>
      <vt:lpstr>Limitations of GDP </vt:lpstr>
      <vt:lpstr>Included in GPD </vt:lpstr>
      <vt:lpstr>Not Included in GPD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Indicators of Economic performance</dc:title>
  <dc:creator>LACHMAN Sarah [Narrogin Senior High School]</dc:creator>
  <cp:lastModifiedBy>LACHMAN Sarah [Narrogin Senior High School]</cp:lastModifiedBy>
  <cp:revision>3</cp:revision>
  <dcterms:created xsi:type="dcterms:W3CDTF">2023-10-19T01:50:37Z</dcterms:created>
  <dcterms:modified xsi:type="dcterms:W3CDTF">2023-10-19T02:57:49Z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
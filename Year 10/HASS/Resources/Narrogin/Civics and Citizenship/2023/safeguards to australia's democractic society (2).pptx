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5"/>
  </p:notesMasterIdLst>
  <p:sldIdLst>
    <p:sldId id="267" r:id="rId2"/>
    <p:sldId id="265" r:id="rId3"/>
    <p:sldId id="266" r:id="rId4"/>
    <p:sldId id="268" r:id="rId5"/>
    <p:sldId id="256" r:id="rId6"/>
    <p:sldId id="299" r:id="rId7"/>
    <p:sldId id="257" r:id="rId8"/>
    <p:sldId id="269" r:id="rId9"/>
    <p:sldId id="264" r:id="rId10"/>
    <p:sldId id="279" r:id="rId11"/>
    <p:sldId id="270" r:id="rId12"/>
    <p:sldId id="272" r:id="rId13"/>
    <p:sldId id="273" r:id="rId14"/>
    <p:sldId id="274" r:id="rId15"/>
    <p:sldId id="275" r:id="rId16"/>
    <p:sldId id="276" r:id="rId17"/>
    <p:sldId id="277" r:id="rId18"/>
    <p:sldId id="278" r:id="rId19"/>
    <p:sldId id="280" r:id="rId20"/>
    <p:sldId id="281" r:id="rId21"/>
    <p:sldId id="298" r:id="rId22"/>
    <p:sldId id="288" r:id="rId23"/>
    <p:sldId id="289" r:id="rId24"/>
    <p:sldId id="290" r:id="rId25"/>
    <p:sldId id="291" r:id="rId26"/>
    <p:sldId id="292" r:id="rId27"/>
    <p:sldId id="293" r:id="rId28"/>
    <p:sldId id="294" r:id="rId29"/>
    <p:sldId id="295" r:id="rId30"/>
    <p:sldId id="296" r:id="rId31"/>
    <p:sldId id="297" r:id="rId32"/>
    <p:sldId id="282" r:id="rId33"/>
    <p:sldId id="259" r:id="rId34"/>
    <p:sldId id="322" r:id="rId35"/>
    <p:sldId id="323" r:id="rId36"/>
    <p:sldId id="324" r:id="rId37"/>
    <p:sldId id="325" r:id="rId38"/>
    <p:sldId id="326" r:id="rId39"/>
    <p:sldId id="260" r:id="rId40"/>
    <p:sldId id="258" r:id="rId41"/>
    <p:sldId id="300" r:id="rId42"/>
    <p:sldId id="283" r:id="rId43"/>
    <p:sldId id="284" r:id="rId44"/>
    <p:sldId id="285" r:id="rId45"/>
    <p:sldId id="286" r:id="rId46"/>
    <p:sldId id="287" r:id="rId47"/>
    <p:sldId id="301" r:id="rId48"/>
    <p:sldId id="302" r:id="rId49"/>
    <p:sldId id="303" r:id="rId50"/>
    <p:sldId id="308" r:id="rId51"/>
    <p:sldId id="309" r:id="rId52"/>
    <p:sldId id="318" r:id="rId53"/>
    <p:sldId id="311" r:id="rId54"/>
    <p:sldId id="312" r:id="rId55"/>
    <p:sldId id="306" r:id="rId56"/>
    <p:sldId id="313" r:id="rId57"/>
    <p:sldId id="319" r:id="rId58"/>
    <p:sldId id="320" r:id="rId59"/>
    <p:sldId id="314" r:id="rId60"/>
    <p:sldId id="316" r:id="rId61"/>
    <p:sldId id="315" r:id="rId62"/>
    <p:sldId id="317" r:id="rId63"/>
    <p:sldId id="321"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88889" autoAdjust="0"/>
  </p:normalViewPr>
  <p:slideViewPr>
    <p:cSldViewPr snapToGrid="0" snapToObjects="1">
      <p:cViewPr varScale="1">
        <p:scale>
          <a:sx n="60" d="100"/>
          <a:sy n="60" d="100"/>
        </p:scale>
        <p:origin x="78" y="10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60BBED-408B-A240-93FD-5C7E5C97C4B9}" type="datetimeFigureOut">
              <a:rPr lang="en-US" smtClean="0"/>
              <a:t>11/19/2021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4BCC09-9DEF-CD4A-8708-C342A304571D}" type="slidenum">
              <a:rPr lang="en-US" smtClean="0"/>
              <a:t>‹#›</a:t>
            </a:fld>
            <a:endParaRPr lang="en-US"/>
          </a:p>
        </p:txBody>
      </p:sp>
    </p:spTree>
    <p:extLst>
      <p:ext uri="{BB962C8B-B14F-4D97-AF65-F5344CB8AC3E}">
        <p14:creationId xmlns:p14="http://schemas.microsoft.com/office/powerpoint/2010/main" val="1400733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www.youtube.com</a:t>
            </a:r>
            <a:r>
              <a:rPr lang="en-US" dirty="0"/>
              <a:t>/</a:t>
            </a:r>
            <a:r>
              <a:rPr lang="en-US" dirty="0" err="1"/>
              <a:t>watch?v</a:t>
            </a:r>
            <a:r>
              <a:rPr lang="en-US" dirty="0"/>
              <a:t>=apTVwQnf9co </a:t>
            </a:r>
          </a:p>
        </p:txBody>
      </p:sp>
      <p:sp>
        <p:nvSpPr>
          <p:cNvPr id="4" name="Slide Number Placeholder 3"/>
          <p:cNvSpPr>
            <a:spLocks noGrp="1"/>
          </p:cNvSpPr>
          <p:nvPr>
            <p:ph type="sldNum" sz="quarter" idx="5"/>
          </p:nvPr>
        </p:nvSpPr>
        <p:spPr/>
        <p:txBody>
          <a:bodyPr/>
          <a:lstStyle/>
          <a:p>
            <a:fld id="{414BCC09-9DEF-CD4A-8708-C342A304571D}" type="slidenum">
              <a:rPr lang="en-US" smtClean="0"/>
              <a:t>33</a:t>
            </a:fld>
            <a:endParaRPr lang="en-US"/>
          </a:p>
        </p:txBody>
      </p:sp>
    </p:spTree>
    <p:extLst>
      <p:ext uri="{BB962C8B-B14F-4D97-AF65-F5344CB8AC3E}">
        <p14:creationId xmlns:p14="http://schemas.microsoft.com/office/powerpoint/2010/main" val="403765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https://www.youtube.com/watch?v=RLJBJ9LD0io </a:t>
            </a:r>
          </a:p>
          <a:p>
            <a:endParaRPr lang="en-AU" dirty="0" smtClean="0"/>
          </a:p>
          <a:p>
            <a:r>
              <a:rPr lang="en-AU" smtClean="0"/>
              <a:t>https://www.youtube.com/watch?v=v9VERBPU6_c </a:t>
            </a:r>
            <a:endParaRPr lang="en-AU" dirty="0"/>
          </a:p>
        </p:txBody>
      </p:sp>
      <p:sp>
        <p:nvSpPr>
          <p:cNvPr id="4" name="Slide Number Placeholder 3"/>
          <p:cNvSpPr>
            <a:spLocks noGrp="1"/>
          </p:cNvSpPr>
          <p:nvPr>
            <p:ph type="sldNum" sz="quarter" idx="10"/>
          </p:nvPr>
        </p:nvSpPr>
        <p:spPr/>
        <p:txBody>
          <a:bodyPr/>
          <a:lstStyle/>
          <a:p>
            <a:fld id="{414BCC09-9DEF-CD4A-8708-C342A304571D}" type="slidenum">
              <a:rPr lang="en-US" smtClean="0"/>
              <a:t>38</a:t>
            </a:fld>
            <a:endParaRPr lang="en-US"/>
          </a:p>
        </p:txBody>
      </p:sp>
    </p:spTree>
    <p:extLst>
      <p:ext uri="{BB962C8B-B14F-4D97-AF65-F5344CB8AC3E}">
        <p14:creationId xmlns:p14="http://schemas.microsoft.com/office/powerpoint/2010/main" val="25554118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www.youtube.com</a:t>
            </a:r>
            <a:r>
              <a:rPr lang="en-US" dirty="0"/>
              <a:t>/</a:t>
            </a:r>
            <a:r>
              <a:rPr lang="en-US" dirty="0" err="1"/>
              <a:t>watch?v</a:t>
            </a:r>
            <a:r>
              <a:rPr lang="en-US" dirty="0"/>
              <a:t>=M3k1OUb-ifQ&amp;feature=</a:t>
            </a:r>
            <a:r>
              <a:rPr lang="en-US" dirty="0" err="1"/>
              <a:t>emb_rel_end</a:t>
            </a:r>
            <a:r>
              <a:rPr lang="en-US" dirty="0"/>
              <a:t> </a:t>
            </a:r>
          </a:p>
        </p:txBody>
      </p:sp>
      <p:sp>
        <p:nvSpPr>
          <p:cNvPr id="4" name="Slide Number Placeholder 3"/>
          <p:cNvSpPr>
            <a:spLocks noGrp="1"/>
          </p:cNvSpPr>
          <p:nvPr>
            <p:ph type="sldNum" sz="quarter" idx="5"/>
          </p:nvPr>
        </p:nvSpPr>
        <p:spPr/>
        <p:txBody>
          <a:bodyPr/>
          <a:lstStyle/>
          <a:p>
            <a:fld id="{414BCC09-9DEF-CD4A-8708-C342A304571D}" type="slidenum">
              <a:rPr lang="en-US" smtClean="0"/>
              <a:t>42</a:t>
            </a:fld>
            <a:endParaRPr lang="en-US"/>
          </a:p>
        </p:txBody>
      </p:sp>
    </p:spTree>
    <p:extLst>
      <p:ext uri="{BB962C8B-B14F-4D97-AF65-F5344CB8AC3E}">
        <p14:creationId xmlns:p14="http://schemas.microsoft.com/office/powerpoint/2010/main" val="35322370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A7C93-080C-F743-83E7-A383DEBB53D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FE313C3-BC9D-9848-A9B5-C55DA070AB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61A39B1-5E2A-5344-A5DB-E1A7D4E9F985}"/>
              </a:ext>
            </a:extLst>
          </p:cNvPr>
          <p:cNvSpPr>
            <a:spLocks noGrp="1"/>
          </p:cNvSpPr>
          <p:nvPr>
            <p:ph type="dt" sz="half" idx="10"/>
          </p:nvPr>
        </p:nvSpPr>
        <p:spPr/>
        <p:txBody>
          <a:bodyPr/>
          <a:lstStyle/>
          <a:p>
            <a:fld id="{F11056A8-ECE1-5D42-8C90-FCD42C4641C8}" type="datetimeFigureOut">
              <a:rPr lang="en-US" smtClean="0"/>
              <a:t>11/19/2021</a:t>
            </a:fld>
            <a:endParaRPr lang="en-US"/>
          </a:p>
        </p:txBody>
      </p:sp>
      <p:sp>
        <p:nvSpPr>
          <p:cNvPr id="5" name="Footer Placeholder 4">
            <a:extLst>
              <a:ext uri="{FF2B5EF4-FFF2-40B4-BE49-F238E27FC236}">
                <a16:creationId xmlns:a16="http://schemas.microsoft.com/office/drawing/2014/main" id="{93A4AF69-A5EE-8047-9522-720F1586FF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54CD03-F841-4446-A1A6-54AFFB2C00C3}"/>
              </a:ext>
            </a:extLst>
          </p:cNvPr>
          <p:cNvSpPr>
            <a:spLocks noGrp="1"/>
          </p:cNvSpPr>
          <p:nvPr>
            <p:ph type="sldNum" sz="quarter" idx="12"/>
          </p:nvPr>
        </p:nvSpPr>
        <p:spPr/>
        <p:txBody>
          <a:bodyPr/>
          <a:lstStyle/>
          <a:p>
            <a:fld id="{6A5816ED-E425-2649-8C8E-8FED957AB6C5}" type="slidenum">
              <a:rPr lang="en-US" smtClean="0"/>
              <a:t>‹#›</a:t>
            </a:fld>
            <a:endParaRPr lang="en-US"/>
          </a:p>
        </p:txBody>
      </p:sp>
    </p:spTree>
    <p:extLst>
      <p:ext uri="{BB962C8B-B14F-4D97-AF65-F5344CB8AC3E}">
        <p14:creationId xmlns:p14="http://schemas.microsoft.com/office/powerpoint/2010/main" val="2162061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510DC-E4AA-834C-925F-A5AD23BCE1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7036871-0D36-C948-86B6-F1459FB1C2A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1782EB0-DFDA-2345-8228-AEFD59A3C1E8}"/>
              </a:ext>
            </a:extLst>
          </p:cNvPr>
          <p:cNvSpPr>
            <a:spLocks noGrp="1"/>
          </p:cNvSpPr>
          <p:nvPr>
            <p:ph type="dt" sz="half" idx="10"/>
          </p:nvPr>
        </p:nvSpPr>
        <p:spPr/>
        <p:txBody>
          <a:bodyPr/>
          <a:lstStyle/>
          <a:p>
            <a:fld id="{F11056A8-ECE1-5D42-8C90-FCD42C4641C8}" type="datetimeFigureOut">
              <a:rPr lang="en-US" smtClean="0"/>
              <a:t>11/19/2021</a:t>
            </a:fld>
            <a:endParaRPr lang="en-US"/>
          </a:p>
        </p:txBody>
      </p:sp>
      <p:sp>
        <p:nvSpPr>
          <p:cNvPr id="5" name="Footer Placeholder 4">
            <a:extLst>
              <a:ext uri="{FF2B5EF4-FFF2-40B4-BE49-F238E27FC236}">
                <a16:creationId xmlns:a16="http://schemas.microsoft.com/office/drawing/2014/main" id="{0C8750DD-1412-5E44-9E8B-DF19CDC320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5A58D2-2831-AA42-A33C-D5E6A4D15A49}"/>
              </a:ext>
            </a:extLst>
          </p:cNvPr>
          <p:cNvSpPr>
            <a:spLocks noGrp="1"/>
          </p:cNvSpPr>
          <p:nvPr>
            <p:ph type="sldNum" sz="quarter" idx="12"/>
          </p:nvPr>
        </p:nvSpPr>
        <p:spPr/>
        <p:txBody>
          <a:bodyPr/>
          <a:lstStyle/>
          <a:p>
            <a:fld id="{6A5816ED-E425-2649-8C8E-8FED957AB6C5}" type="slidenum">
              <a:rPr lang="en-US" smtClean="0"/>
              <a:t>‹#›</a:t>
            </a:fld>
            <a:endParaRPr lang="en-US"/>
          </a:p>
        </p:txBody>
      </p:sp>
    </p:spTree>
    <p:extLst>
      <p:ext uri="{BB962C8B-B14F-4D97-AF65-F5344CB8AC3E}">
        <p14:creationId xmlns:p14="http://schemas.microsoft.com/office/powerpoint/2010/main" val="1666353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08528-F6F6-F048-8846-209E07923EF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90D4931-DAB0-A949-A238-B3483E7B27C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70BDE3B-F4D6-424D-81B3-A0ADE322EB92}"/>
              </a:ext>
            </a:extLst>
          </p:cNvPr>
          <p:cNvSpPr>
            <a:spLocks noGrp="1"/>
          </p:cNvSpPr>
          <p:nvPr>
            <p:ph type="dt" sz="half" idx="10"/>
          </p:nvPr>
        </p:nvSpPr>
        <p:spPr/>
        <p:txBody>
          <a:bodyPr/>
          <a:lstStyle/>
          <a:p>
            <a:fld id="{F11056A8-ECE1-5D42-8C90-FCD42C4641C8}" type="datetimeFigureOut">
              <a:rPr lang="en-US" smtClean="0"/>
              <a:t>11/19/2021</a:t>
            </a:fld>
            <a:endParaRPr lang="en-US"/>
          </a:p>
        </p:txBody>
      </p:sp>
      <p:sp>
        <p:nvSpPr>
          <p:cNvPr id="5" name="Footer Placeholder 4">
            <a:extLst>
              <a:ext uri="{FF2B5EF4-FFF2-40B4-BE49-F238E27FC236}">
                <a16:creationId xmlns:a16="http://schemas.microsoft.com/office/drawing/2014/main" id="{6F320803-DBDC-6446-8B33-225D82B407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DF1DAD-07A7-F548-92A3-03AE85ED7A2B}"/>
              </a:ext>
            </a:extLst>
          </p:cNvPr>
          <p:cNvSpPr>
            <a:spLocks noGrp="1"/>
          </p:cNvSpPr>
          <p:nvPr>
            <p:ph type="sldNum" sz="quarter" idx="12"/>
          </p:nvPr>
        </p:nvSpPr>
        <p:spPr/>
        <p:txBody>
          <a:bodyPr/>
          <a:lstStyle/>
          <a:p>
            <a:fld id="{6A5816ED-E425-2649-8C8E-8FED957AB6C5}" type="slidenum">
              <a:rPr lang="en-US" smtClean="0"/>
              <a:t>‹#›</a:t>
            </a:fld>
            <a:endParaRPr lang="en-US"/>
          </a:p>
        </p:txBody>
      </p:sp>
    </p:spTree>
    <p:extLst>
      <p:ext uri="{BB962C8B-B14F-4D97-AF65-F5344CB8AC3E}">
        <p14:creationId xmlns:p14="http://schemas.microsoft.com/office/powerpoint/2010/main" val="1735904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BCFCE-8BE2-BD44-9AB8-DB73C9289D1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A13D41-4C49-2E43-A898-8FD89C4547E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381D54A-DE16-1E44-BD6B-3F8DB5942EE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5CD3FB0E-F872-2C49-9FA4-6B315701EF9A}"/>
              </a:ext>
            </a:extLst>
          </p:cNvPr>
          <p:cNvSpPr>
            <a:spLocks noGrp="1"/>
          </p:cNvSpPr>
          <p:nvPr>
            <p:ph type="dt" sz="half" idx="10"/>
          </p:nvPr>
        </p:nvSpPr>
        <p:spPr/>
        <p:txBody>
          <a:bodyPr/>
          <a:lstStyle/>
          <a:p>
            <a:fld id="{F11056A8-ECE1-5D42-8C90-FCD42C4641C8}" type="datetimeFigureOut">
              <a:rPr lang="en-US" smtClean="0"/>
              <a:t>11/19/2021</a:t>
            </a:fld>
            <a:endParaRPr lang="en-US"/>
          </a:p>
        </p:txBody>
      </p:sp>
      <p:sp>
        <p:nvSpPr>
          <p:cNvPr id="6" name="Footer Placeholder 5">
            <a:extLst>
              <a:ext uri="{FF2B5EF4-FFF2-40B4-BE49-F238E27FC236}">
                <a16:creationId xmlns:a16="http://schemas.microsoft.com/office/drawing/2014/main" id="{73794742-7945-6044-A7CD-B1F9ED90B0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24FD16-0D8E-1641-99D5-C582E77E0343}"/>
              </a:ext>
            </a:extLst>
          </p:cNvPr>
          <p:cNvSpPr>
            <a:spLocks noGrp="1"/>
          </p:cNvSpPr>
          <p:nvPr>
            <p:ph type="sldNum" sz="quarter" idx="12"/>
          </p:nvPr>
        </p:nvSpPr>
        <p:spPr/>
        <p:txBody>
          <a:bodyPr/>
          <a:lstStyle/>
          <a:p>
            <a:fld id="{6A5816ED-E425-2649-8C8E-8FED957AB6C5}" type="slidenum">
              <a:rPr lang="en-US" smtClean="0"/>
              <a:t>‹#›</a:t>
            </a:fld>
            <a:endParaRPr lang="en-US"/>
          </a:p>
        </p:txBody>
      </p:sp>
    </p:spTree>
    <p:extLst>
      <p:ext uri="{BB962C8B-B14F-4D97-AF65-F5344CB8AC3E}">
        <p14:creationId xmlns:p14="http://schemas.microsoft.com/office/powerpoint/2010/main" val="3405876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7ADEE-E8DA-A14D-8468-8A90A181046E}"/>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B45B816-BE07-794B-9759-E7377DF9E7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556A96E-1309-C140-B49A-833E3700F29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E289CB0-F16E-B045-900F-E31681F416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7B1BF7D-34BD-6E49-A09F-77C626191A7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C53CD8C-A281-494C-AD39-5773DC8B058E}"/>
              </a:ext>
            </a:extLst>
          </p:cNvPr>
          <p:cNvSpPr>
            <a:spLocks noGrp="1"/>
          </p:cNvSpPr>
          <p:nvPr>
            <p:ph type="dt" sz="half" idx="10"/>
          </p:nvPr>
        </p:nvSpPr>
        <p:spPr/>
        <p:txBody>
          <a:bodyPr/>
          <a:lstStyle/>
          <a:p>
            <a:fld id="{F11056A8-ECE1-5D42-8C90-FCD42C4641C8}" type="datetimeFigureOut">
              <a:rPr lang="en-US" smtClean="0"/>
              <a:t>11/19/2021</a:t>
            </a:fld>
            <a:endParaRPr lang="en-US"/>
          </a:p>
        </p:txBody>
      </p:sp>
      <p:sp>
        <p:nvSpPr>
          <p:cNvPr id="8" name="Footer Placeholder 7">
            <a:extLst>
              <a:ext uri="{FF2B5EF4-FFF2-40B4-BE49-F238E27FC236}">
                <a16:creationId xmlns:a16="http://schemas.microsoft.com/office/drawing/2014/main" id="{BC27E118-F1C1-A144-AC82-8C9F29735C9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844BE80-65FF-BF4F-9E2D-6539390B6D03}"/>
              </a:ext>
            </a:extLst>
          </p:cNvPr>
          <p:cNvSpPr>
            <a:spLocks noGrp="1"/>
          </p:cNvSpPr>
          <p:nvPr>
            <p:ph type="sldNum" sz="quarter" idx="12"/>
          </p:nvPr>
        </p:nvSpPr>
        <p:spPr/>
        <p:txBody>
          <a:bodyPr/>
          <a:lstStyle/>
          <a:p>
            <a:fld id="{6A5816ED-E425-2649-8C8E-8FED957AB6C5}" type="slidenum">
              <a:rPr lang="en-US" smtClean="0"/>
              <a:t>‹#›</a:t>
            </a:fld>
            <a:endParaRPr lang="en-US"/>
          </a:p>
        </p:txBody>
      </p:sp>
    </p:spTree>
    <p:extLst>
      <p:ext uri="{BB962C8B-B14F-4D97-AF65-F5344CB8AC3E}">
        <p14:creationId xmlns:p14="http://schemas.microsoft.com/office/powerpoint/2010/main" val="2447996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81A9A-0A3E-0C45-A2F8-062E06F8A554}"/>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A31C2E0-DDF7-2747-807B-B63210DB6C69}"/>
              </a:ext>
            </a:extLst>
          </p:cNvPr>
          <p:cNvSpPr>
            <a:spLocks noGrp="1"/>
          </p:cNvSpPr>
          <p:nvPr>
            <p:ph type="dt" sz="half" idx="10"/>
          </p:nvPr>
        </p:nvSpPr>
        <p:spPr/>
        <p:txBody>
          <a:bodyPr/>
          <a:lstStyle/>
          <a:p>
            <a:fld id="{F11056A8-ECE1-5D42-8C90-FCD42C4641C8}" type="datetimeFigureOut">
              <a:rPr lang="en-US" smtClean="0"/>
              <a:t>11/19/2021</a:t>
            </a:fld>
            <a:endParaRPr lang="en-US"/>
          </a:p>
        </p:txBody>
      </p:sp>
      <p:sp>
        <p:nvSpPr>
          <p:cNvPr id="4" name="Footer Placeholder 3">
            <a:extLst>
              <a:ext uri="{FF2B5EF4-FFF2-40B4-BE49-F238E27FC236}">
                <a16:creationId xmlns:a16="http://schemas.microsoft.com/office/drawing/2014/main" id="{F1AF323A-56B7-F545-ADE6-D3DF55FD62F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274A67-558D-4744-9B2B-6BEA76664220}"/>
              </a:ext>
            </a:extLst>
          </p:cNvPr>
          <p:cNvSpPr>
            <a:spLocks noGrp="1"/>
          </p:cNvSpPr>
          <p:nvPr>
            <p:ph type="sldNum" sz="quarter" idx="12"/>
          </p:nvPr>
        </p:nvSpPr>
        <p:spPr/>
        <p:txBody>
          <a:bodyPr/>
          <a:lstStyle/>
          <a:p>
            <a:fld id="{6A5816ED-E425-2649-8C8E-8FED957AB6C5}" type="slidenum">
              <a:rPr lang="en-US" smtClean="0"/>
              <a:t>‹#›</a:t>
            </a:fld>
            <a:endParaRPr lang="en-US"/>
          </a:p>
        </p:txBody>
      </p:sp>
    </p:spTree>
    <p:extLst>
      <p:ext uri="{BB962C8B-B14F-4D97-AF65-F5344CB8AC3E}">
        <p14:creationId xmlns:p14="http://schemas.microsoft.com/office/powerpoint/2010/main" val="971419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5BC2BC-50DF-9A4E-8548-FC2349BCB891}"/>
              </a:ext>
            </a:extLst>
          </p:cNvPr>
          <p:cNvSpPr>
            <a:spLocks noGrp="1"/>
          </p:cNvSpPr>
          <p:nvPr>
            <p:ph type="dt" sz="half" idx="10"/>
          </p:nvPr>
        </p:nvSpPr>
        <p:spPr/>
        <p:txBody>
          <a:bodyPr/>
          <a:lstStyle/>
          <a:p>
            <a:fld id="{F11056A8-ECE1-5D42-8C90-FCD42C4641C8}" type="datetimeFigureOut">
              <a:rPr lang="en-US" smtClean="0"/>
              <a:t>11/19/2021</a:t>
            </a:fld>
            <a:endParaRPr lang="en-US"/>
          </a:p>
        </p:txBody>
      </p:sp>
      <p:sp>
        <p:nvSpPr>
          <p:cNvPr id="3" name="Footer Placeholder 2">
            <a:extLst>
              <a:ext uri="{FF2B5EF4-FFF2-40B4-BE49-F238E27FC236}">
                <a16:creationId xmlns:a16="http://schemas.microsoft.com/office/drawing/2014/main" id="{3938DF20-2B08-CC43-9500-3B44D03AD4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9FBD90B-2A6D-CB4C-8777-7BDC61CE76D1}"/>
              </a:ext>
            </a:extLst>
          </p:cNvPr>
          <p:cNvSpPr>
            <a:spLocks noGrp="1"/>
          </p:cNvSpPr>
          <p:nvPr>
            <p:ph type="sldNum" sz="quarter" idx="12"/>
          </p:nvPr>
        </p:nvSpPr>
        <p:spPr/>
        <p:txBody>
          <a:bodyPr/>
          <a:lstStyle/>
          <a:p>
            <a:fld id="{6A5816ED-E425-2649-8C8E-8FED957AB6C5}" type="slidenum">
              <a:rPr lang="en-US" smtClean="0"/>
              <a:t>‹#›</a:t>
            </a:fld>
            <a:endParaRPr lang="en-US"/>
          </a:p>
        </p:txBody>
      </p:sp>
    </p:spTree>
    <p:extLst>
      <p:ext uri="{BB962C8B-B14F-4D97-AF65-F5344CB8AC3E}">
        <p14:creationId xmlns:p14="http://schemas.microsoft.com/office/powerpoint/2010/main" val="319375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AD70D-A52C-5F44-895B-879260271A7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FE836CD-B195-0C43-B988-24A7BE2DDE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0331DFB-B362-AD4B-BCC5-A90F7032F8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D2424B2-F578-A449-8E56-440E83F618CA}"/>
              </a:ext>
            </a:extLst>
          </p:cNvPr>
          <p:cNvSpPr>
            <a:spLocks noGrp="1"/>
          </p:cNvSpPr>
          <p:nvPr>
            <p:ph type="dt" sz="half" idx="10"/>
          </p:nvPr>
        </p:nvSpPr>
        <p:spPr/>
        <p:txBody>
          <a:bodyPr/>
          <a:lstStyle/>
          <a:p>
            <a:fld id="{F11056A8-ECE1-5D42-8C90-FCD42C4641C8}" type="datetimeFigureOut">
              <a:rPr lang="en-US" smtClean="0"/>
              <a:t>11/19/2021</a:t>
            </a:fld>
            <a:endParaRPr lang="en-US"/>
          </a:p>
        </p:txBody>
      </p:sp>
      <p:sp>
        <p:nvSpPr>
          <p:cNvPr id="6" name="Footer Placeholder 5">
            <a:extLst>
              <a:ext uri="{FF2B5EF4-FFF2-40B4-BE49-F238E27FC236}">
                <a16:creationId xmlns:a16="http://schemas.microsoft.com/office/drawing/2014/main" id="{4FF46090-BAF7-564F-A375-6A134F0032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2B540F-AAF7-2547-8650-A954272593ED}"/>
              </a:ext>
            </a:extLst>
          </p:cNvPr>
          <p:cNvSpPr>
            <a:spLocks noGrp="1"/>
          </p:cNvSpPr>
          <p:nvPr>
            <p:ph type="sldNum" sz="quarter" idx="12"/>
          </p:nvPr>
        </p:nvSpPr>
        <p:spPr/>
        <p:txBody>
          <a:bodyPr/>
          <a:lstStyle/>
          <a:p>
            <a:fld id="{6A5816ED-E425-2649-8C8E-8FED957AB6C5}" type="slidenum">
              <a:rPr lang="en-US" smtClean="0"/>
              <a:t>‹#›</a:t>
            </a:fld>
            <a:endParaRPr lang="en-US"/>
          </a:p>
        </p:txBody>
      </p:sp>
    </p:spTree>
    <p:extLst>
      <p:ext uri="{BB962C8B-B14F-4D97-AF65-F5344CB8AC3E}">
        <p14:creationId xmlns:p14="http://schemas.microsoft.com/office/powerpoint/2010/main" val="6581861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7BB08-46E9-4344-9B22-EB78C1CE492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43F8556-C007-CC43-8383-C88A08159B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CF5F792-6B8B-F540-9528-C98FB9C9B7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DFC3199-D608-C04F-B745-9A9F1353282F}"/>
              </a:ext>
            </a:extLst>
          </p:cNvPr>
          <p:cNvSpPr>
            <a:spLocks noGrp="1"/>
          </p:cNvSpPr>
          <p:nvPr>
            <p:ph type="dt" sz="half" idx="10"/>
          </p:nvPr>
        </p:nvSpPr>
        <p:spPr/>
        <p:txBody>
          <a:bodyPr/>
          <a:lstStyle/>
          <a:p>
            <a:fld id="{F11056A8-ECE1-5D42-8C90-FCD42C4641C8}" type="datetimeFigureOut">
              <a:rPr lang="en-US" smtClean="0"/>
              <a:t>11/19/2021</a:t>
            </a:fld>
            <a:endParaRPr lang="en-US"/>
          </a:p>
        </p:txBody>
      </p:sp>
      <p:sp>
        <p:nvSpPr>
          <p:cNvPr id="6" name="Footer Placeholder 5">
            <a:extLst>
              <a:ext uri="{FF2B5EF4-FFF2-40B4-BE49-F238E27FC236}">
                <a16:creationId xmlns:a16="http://schemas.microsoft.com/office/drawing/2014/main" id="{95B135B4-37BA-F640-B5B0-BD1A09D1CE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3AFBCE-8FA8-9E42-AFB3-A0468503F5FC}"/>
              </a:ext>
            </a:extLst>
          </p:cNvPr>
          <p:cNvSpPr>
            <a:spLocks noGrp="1"/>
          </p:cNvSpPr>
          <p:nvPr>
            <p:ph type="sldNum" sz="quarter" idx="12"/>
          </p:nvPr>
        </p:nvSpPr>
        <p:spPr/>
        <p:txBody>
          <a:bodyPr/>
          <a:lstStyle/>
          <a:p>
            <a:fld id="{6A5816ED-E425-2649-8C8E-8FED957AB6C5}" type="slidenum">
              <a:rPr lang="en-US" smtClean="0"/>
              <a:t>‹#›</a:t>
            </a:fld>
            <a:endParaRPr lang="en-US"/>
          </a:p>
        </p:txBody>
      </p:sp>
    </p:spTree>
    <p:extLst>
      <p:ext uri="{BB962C8B-B14F-4D97-AF65-F5344CB8AC3E}">
        <p14:creationId xmlns:p14="http://schemas.microsoft.com/office/powerpoint/2010/main" val="3030937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0FFBD-F0C8-A149-84FD-9187F3CEF368}"/>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7931EEE-7998-464B-90F7-E2BAFC0F2E8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F108A69-170D-7E46-A6AF-3870661481AD}"/>
              </a:ext>
            </a:extLst>
          </p:cNvPr>
          <p:cNvSpPr>
            <a:spLocks noGrp="1"/>
          </p:cNvSpPr>
          <p:nvPr>
            <p:ph type="dt" sz="half" idx="10"/>
          </p:nvPr>
        </p:nvSpPr>
        <p:spPr/>
        <p:txBody>
          <a:bodyPr/>
          <a:lstStyle/>
          <a:p>
            <a:fld id="{F11056A8-ECE1-5D42-8C90-FCD42C4641C8}" type="datetimeFigureOut">
              <a:rPr lang="en-US" smtClean="0"/>
              <a:t>11/19/2021</a:t>
            </a:fld>
            <a:endParaRPr lang="en-US"/>
          </a:p>
        </p:txBody>
      </p:sp>
      <p:sp>
        <p:nvSpPr>
          <p:cNvPr id="5" name="Footer Placeholder 4">
            <a:extLst>
              <a:ext uri="{FF2B5EF4-FFF2-40B4-BE49-F238E27FC236}">
                <a16:creationId xmlns:a16="http://schemas.microsoft.com/office/drawing/2014/main" id="{4C8BDAAE-1698-A843-86C9-A1D0432498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3534F3-1AC7-274E-831E-8F45BA64F294}"/>
              </a:ext>
            </a:extLst>
          </p:cNvPr>
          <p:cNvSpPr>
            <a:spLocks noGrp="1"/>
          </p:cNvSpPr>
          <p:nvPr>
            <p:ph type="sldNum" sz="quarter" idx="12"/>
          </p:nvPr>
        </p:nvSpPr>
        <p:spPr/>
        <p:txBody>
          <a:bodyPr/>
          <a:lstStyle/>
          <a:p>
            <a:fld id="{6A5816ED-E425-2649-8C8E-8FED957AB6C5}" type="slidenum">
              <a:rPr lang="en-US" smtClean="0"/>
              <a:t>‹#›</a:t>
            </a:fld>
            <a:endParaRPr lang="en-US"/>
          </a:p>
        </p:txBody>
      </p:sp>
    </p:spTree>
    <p:extLst>
      <p:ext uri="{BB962C8B-B14F-4D97-AF65-F5344CB8AC3E}">
        <p14:creationId xmlns:p14="http://schemas.microsoft.com/office/powerpoint/2010/main" val="2479245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C78AF9-A243-2B4F-9B6B-CE420B80730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C96A02E-2833-1D4F-A9D0-B1AF4DE5E24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6DDF76F-666F-A540-9818-8C3A21BBDE41}"/>
              </a:ext>
            </a:extLst>
          </p:cNvPr>
          <p:cNvSpPr>
            <a:spLocks noGrp="1"/>
          </p:cNvSpPr>
          <p:nvPr>
            <p:ph type="dt" sz="half" idx="10"/>
          </p:nvPr>
        </p:nvSpPr>
        <p:spPr/>
        <p:txBody>
          <a:bodyPr/>
          <a:lstStyle/>
          <a:p>
            <a:fld id="{F11056A8-ECE1-5D42-8C90-FCD42C4641C8}" type="datetimeFigureOut">
              <a:rPr lang="en-US" smtClean="0"/>
              <a:t>11/19/2021</a:t>
            </a:fld>
            <a:endParaRPr lang="en-US"/>
          </a:p>
        </p:txBody>
      </p:sp>
      <p:sp>
        <p:nvSpPr>
          <p:cNvPr id="5" name="Footer Placeholder 4">
            <a:extLst>
              <a:ext uri="{FF2B5EF4-FFF2-40B4-BE49-F238E27FC236}">
                <a16:creationId xmlns:a16="http://schemas.microsoft.com/office/drawing/2014/main" id="{8CC9E965-1D88-D146-97C4-D99DDBA639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8108C6-4FC4-0F46-8022-806B28C17514}"/>
              </a:ext>
            </a:extLst>
          </p:cNvPr>
          <p:cNvSpPr>
            <a:spLocks noGrp="1"/>
          </p:cNvSpPr>
          <p:nvPr>
            <p:ph type="sldNum" sz="quarter" idx="12"/>
          </p:nvPr>
        </p:nvSpPr>
        <p:spPr/>
        <p:txBody>
          <a:bodyPr/>
          <a:lstStyle/>
          <a:p>
            <a:fld id="{6A5816ED-E425-2649-8C8E-8FED957AB6C5}" type="slidenum">
              <a:rPr lang="en-US" smtClean="0"/>
              <a:t>‹#›</a:t>
            </a:fld>
            <a:endParaRPr lang="en-US"/>
          </a:p>
        </p:txBody>
      </p:sp>
    </p:spTree>
    <p:extLst>
      <p:ext uri="{BB962C8B-B14F-4D97-AF65-F5344CB8AC3E}">
        <p14:creationId xmlns:p14="http://schemas.microsoft.com/office/powerpoint/2010/main" val="3297919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1BA40C-8AC6-4641-89FF-473B136FBC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8FEF4FA-4E70-AD49-B95C-C2DC6FCC6F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A649699-0309-774B-811A-73B38742F0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1056A8-ECE1-5D42-8C90-FCD42C4641C8}" type="datetimeFigureOut">
              <a:rPr lang="en-US" smtClean="0"/>
              <a:t>11/19/2021</a:t>
            </a:fld>
            <a:endParaRPr lang="en-US"/>
          </a:p>
        </p:txBody>
      </p:sp>
      <p:sp>
        <p:nvSpPr>
          <p:cNvPr id="5" name="Footer Placeholder 4">
            <a:extLst>
              <a:ext uri="{FF2B5EF4-FFF2-40B4-BE49-F238E27FC236}">
                <a16:creationId xmlns:a16="http://schemas.microsoft.com/office/drawing/2014/main" id="{3E141BD0-E397-C443-ACAE-615480A83A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2E0C99C-17C4-DA4C-9F91-180927B0D5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5816ED-E425-2649-8C8E-8FED957AB6C5}" type="slidenum">
              <a:rPr lang="en-US" smtClean="0"/>
              <a:t>‹#›</a:t>
            </a:fld>
            <a:endParaRPr lang="en-US"/>
          </a:p>
        </p:txBody>
      </p:sp>
    </p:spTree>
    <p:extLst>
      <p:ext uri="{BB962C8B-B14F-4D97-AF65-F5344CB8AC3E}">
        <p14:creationId xmlns:p14="http://schemas.microsoft.com/office/powerpoint/2010/main" val="17362312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tif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tif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hyperlink" Target="https://www.youtube.com/watch?v=Uzn8f38sw90" TargetMode="External"/><Relationship Id="rId2" Type="http://schemas.openxmlformats.org/officeDocument/2006/relationships/hyperlink" Target="https://www.youtube.com/watch?v=0cGB8dCDf3c" TargetMode="Externa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hyperlink" Target="https://www.acic.gov.au/publications/unclassified-intelligence-reports/organised-crime-australia"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4.jpeg"/><Relationship Id="rId7" Type="http://schemas.openxmlformats.org/officeDocument/2006/relationships/image" Target="../media/image28.jpeg"/><Relationship Id="rId2" Type="http://schemas.openxmlformats.org/officeDocument/2006/relationships/image" Target="../media/image23.jpeg"/><Relationship Id="rId1" Type="http://schemas.openxmlformats.org/officeDocument/2006/relationships/slideLayout" Target="../slideLayouts/slideLayout7.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98" name="Picture 2" descr="Imperial Germany - A toxic monarch | Books &amp; arts | The Economist">
            <a:extLst>
              <a:ext uri="{FF2B5EF4-FFF2-40B4-BE49-F238E27FC236}">
                <a16:creationId xmlns:a16="http://schemas.microsoft.com/office/drawing/2014/main" id="{68D4E663-9C3D-0443-965A-8FD3EBAB0D3C}"/>
              </a:ext>
            </a:extLst>
          </p:cNvPr>
          <p:cNvPicPr>
            <a:picLocks noChangeAspect="1" noChangeArrowheads="1"/>
          </p:cNvPicPr>
          <p:nvPr/>
        </p:nvPicPr>
        <p:blipFill rotWithShape="1">
          <a:blip r:embed="rId2">
            <a:alphaModFix/>
            <a:extLst>
              <a:ext uri="{28A0092B-C50C-407E-A947-70E740481C1C}">
                <a14:useLocalDpi xmlns:a14="http://schemas.microsoft.com/office/drawing/2010/main" val="0"/>
              </a:ext>
            </a:extLst>
          </a:blip>
          <a:srcRect b="22509"/>
          <a:stretch/>
        </p:blipFill>
        <p:spPr bwMode="auto">
          <a:xfrm>
            <a:off x="5797543" y="10"/>
            <a:ext cx="6394152" cy="6857990"/>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70">
            <a:extLst>
              <a:ext uri="{FF2B5EF4-FFF2-40B4-BE49-F238E27FC236}">
                <a16:creationId xmlns:a16="http://schemas.microsoft.com/office/drawing/2014/main" id="{54DDEBDD-D8BD-41A6-8A0D-B00E3768B0F9}"/>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flipH="1" flipV="1">
            <a:off x="0" y="0"/>
            <a:ext cx="12192000" cy="6858000"/>
          </a:xfrm>
          <a:prstGeom prst="rect">
            <a:avLst/>
          </a:prstGeom>
        </p:spPr>
      </p:pic>
      <p:sp>
        <p:nvSpPr>
          <p:cNvPr id="3" name="Content Placeholder 2">
            <a:extLst>
              <a:ext uri="{FF2B5EF4-FFF2-40B4-BE49-F238E27FC236}">
                <a16:creationId xmlns:a16="http://schemas.microsoft.com/office/drawing/2014/main" id="{6CBCE963-41DE-A746-9108-B588809B74F7}"/>
              </a:ext>
            </a:extLst>
          </p:cNvPr>
          <p:cNvSpPr>
            <a:spLocks noGrp="1"/>
          </p:cNvSpPr>
          <p:nvPr>
            <p:ph idx="1"/>
          </p:nvPr>
        </p:nvSpPr>
        <p:spPr>
          <a:xfrm>
            <a:off x="767927" y="764618"/>
            <a:ext cx="4706803" cy="3788830"/>
          </a:xfrm>
        </p:spPr>
        <p:txBody>
          <a:bodyPr anchor="ctr">
            <a:normAutofit/>
          </a:bodyPr>
          <a:lstStyle/>
          <a:p>
            <a:r>
              <a:rPr lang="en-US" sz="4800" dirty="0">
                <a:solidFill>
                  <a:srgbClr val="000000"/>
                </a:solidFill>
                <a:latin typeface="Agency FB" panose="020B0503020202020204" pitchFamily="34" charset="77"/>
              </a:rPr>
              <a:t>In 1914 Germany was a </a:t>
            </a:r>
            <a:r>
              <a:rPr lang="en-US" sz="4800" b="1" dirty="0">
                <a:solidFill>
                  <a:srgbClr val="000000"/>
                </a:solidFill>
                <a:latin typeface="Agency FB" panose="020B0503020202020204" pitchFamily="34" charset="77"/>
              </a:rPr>
              <a:t>monarchy.</a:t>
            </a:r>
          </a:p>
          <a:p>
            <a:endParaRPr lang="en-US" sz="2000" dirty="0">
              <a:solidFill>
                <a:srgbClr val="000000"/>
              </a:solidFill>
            </a:endParaRPr>
          </a:p>
        </p:txBody>
      </p:sp>
    </p:spTree>
    <p:extLst>
      <p:ext uri="{BB962C8B-B14F-4D97-AF65-F5344CB8AC3E}">
        <p14:creationId xmlns:p14="http://schemas.microsoft.com/office/powerpoint/2010/main" val="35185917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2" name="Picture 2" descr="World War I: The SPD left's dirty secret | The Charnel-House">
            <a:extLst>
              <a:ext uri="{FF2B5EF4-FFF2-40B4-BE49-F238E27FC236}">
                <a16:creationId xmlns:a16="http://schemas.microsoft.com/office/drawing/2014/main" id="{8B81E589-E26B-2E49-BFB0-61BFDD70C6C1}"/>
              </a:ext>
            </a:extLst>
          </p:cNvPr>
          <p:cNvPicPr>
            <a:picLocks noChangeAspect="1" noChangeArrowheads="1"/>
          </p:cNvPicPr>
          <p:nvPr/>
        </p:nvPicPr>
        <p:blipFill rotWithShape="1">
          <a:blip r:embed="rId2">
            <a:alphaModFix/>
            <a:extLst>
              <a:ext uri="{28A0092B-C50C-407E-A947-70E740481C1C}">
                <a14:useLocalDpi xmlns:a14="http://schemas.microsoft.com/office/drawing/2010/main" val="0"/>
              </a:ext>
            </a:extLst>
          </a:blip>
          <a:srcRect l="7277" r="23261" b="-2"/>
          <a:stretch/>
        </p:blipFill>
        <p:spPr bwMode="auto">
          <a:xfrm>
            <a:off x="5797543" y="10"/>
            <a:ext cx="6394152" cy="6857990"/>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70">
            <a:extLst>
              <a:ext uri="{FF2B5EF4-FFF2-40B4-BE49-F238E27FC236}">
                <a16:creationId xmlns:a16="http://schemas.microsoft.com/office/drawing/2014/main" id="{54DDEBDD-D8BD-41A6-8A0D-B00E3768B0F9}"/>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flipH="1" flipV="1">
            <a:off x="0" y="0"/>
            <a:ext cx="12192000" cy="6858000"/>
          </a:xfrm>
          <a:prstGeom prst="rect">
            <a:avLst/>
          </a:prstGeom>
        </p:spPr>
      </p:pic>
      <p:sp>
        <p:nvSpPr>
          <p:cNvPr id="2" name="Title 1">
            <a:extLst>
              <a:ext uri="{FF2B5EF4-FFF2-40B4-BE49-F238E27FC236}">
                <a16:creationId xmlns:a16="http://schemas.microsoft.com/office/drawing/2014/main" id="{DF4B3E91-C5E2-594B-B73D-548AECB20B16}"/>
              </a:ext>
            </a:extLst>
          </p:cNvPr>
          <p:cNvSpPr>
            <a:spLocks noGrp="1"/>
          </p:cNvSpPr>
          <p:nvPr>
            <p:ph type="title"/>
          </p:nvPr>
        </p:nvSpPr>
        <p:spPr>
          <a:xfrm>
            <a:off x="804998" y="798445"/>
            <a:ext cx="4803636" cy="1311664"/>
          </a:xfrm>
        </p:spPr>
        <p:txBody>
          <a:bodyPr>
            <a:normAutofit/>
          </a:bodyPr>
          <a:lstStyle/>
          <a:p>
            <a:endParaRPr lang="en-US">
              <a:solidFill>
                <a:srgbClr val="000000"/>
              </a:solidFill>
            </a:endParaRPr>
          </a:p>
        </p:txBody>
      </p:sp>
      <p:sp>
        <p:nvSpPr>
          <p:cNvPr id="3" name="Content Placeholder 2">
            <a:extLst>
              <a:ext uri="{FF2B5EF4-FFF2-40B4-BE49-F238E27FC236}">
                <a16:creationId xmlns:a16="http://schemas.microsoft.com/office/drawing/2014/main" id="{6CBCE963-41DE-A746-9108-B588809B74F7}"/>
              </a:ext>
            </a:extLst>
          </p:cNvPr>
          <p:cNvSpPr>
            <a:spLocks noGrp="1"/>
          </p:cNvSpPr>
          <p:nvPr>
            <p:ph idx="1"/>
          </p:nvPr>
        </p:nvSpPr>
        <p:spPr>
          <a:xfrm>
            <a:off x="804693" y="1454277"/>
            <a:ext cx="4706803" cy="3788830"/>
          </a:xfrm>
        </p:spPr>
        <p:txBody>
          <a:bodyPr anchor="ctr">
            <a:normAutofit/>
          </a:bodyPr>
          <a:lstStyle/>
          <a:p>
            <a:pPr marL="0" indent="0">
              <a:buNone/>
            </a:pPr>
            <a:endParaRPr lang="en-US" sz="2000" dirty="0">
              <a:solidFill>
                <a:srgbClr val="000000"/>
              </a:solidFill>
            </a:endParaRPr>
          </a:p>
          <a:p>
            <a:r>
              <a:rPr lang="en-US" sz="4800" dirty="0">
                <a:solidFill>
                  <a:srgbClr val="000000"/>
                </a:solidFill>
                <a:latin typeface="Agency FB" panose="020B0503020202020204" pitchFamily="34" charset="77"/>
              </a:rPr>
              <a:t>In 1919, it was a </a:t>
            </a:r>
            <a:r>
              <a:rPr lang="en-US" sz="4800" b="1" dirty="0">
                <a:solidFill>
                  <a:srgbClr val="000000"/>
                </a:solidFill>
                <a:latin typeface="Agency FB" panose="020B0503020202020204" pitchFamily="34" charset="77"/>
              </a:rPr>
              <a:t>democracy.</a:t>
            </a:r>
          </a:p>
        </p:txBody>
      </p:sp>
    </p:spTree>
    <p:extLst>
      <p:ext uri="{BB962C8B-B14F-4D97-AF65-F5344CB8AC3E}">
        <p14:creationId xmlns:p14="http://schemas.microsoft.com/office/powerpoint/2010/main" val="1503156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146" name="Picture 2" descr="Adolf Hitler's Mein Kampf and other literary works penned by dictators -  ABC News">
            <a:extLst>
              <a:ext uri="{FF2B5EF4-FFF2-40B4-BE49-F238E27FC236}">
                <a16:creationId xmlns:a16="http://schemas.microsoft.com/office/drawing/2014/main" id="{09164E56-D5E2-C047-8BBF-83B2433DAB52}"/>
              </a:ext>
            </a:extLst>
          </p:cNvPr>
          <p:cNvPicPr>
            <a:picLocks noChangeAspect="1" noChangeArrowheads="1"/>
          </p:cNvPicPr>
          <p:nvPr/>
        </p:nvPicPr>
        <p:blipFill rotWithShape="1">
          <a:blip r:embed="rId2">
            <a:alphaModFix/>
            <a:extLst>
              <a:ext uri="{28A0092B-C50C-407E-A947-70E740481C1C}">
                <a14:useLocalDpi xmlns:a14="http://schemas.microsoft.com/office/drawing/2010/main" val="0"/>
              </a:ext>
            </a:extLst>
          </a:blip>
          <a:srcRect l="17508" r="20256" b="-1"/>
          <a:stretch/>
        </p:blipFill>
        <p:spPr bwMode="auto">
          <a:xfrm>
            <a:off x="5797543" y="10"/>
            <a:ext cx="6394152" cy="6857990"/>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70">
            <a:extLst>
              <a:ext uri="{FF2B5EF4-FFF2-40B4-BE49-F238E27FC236}">
                <a16:creationId xmlns:a16="http://schemas.microsoft.com/office/drawing/2014/main" id="{54DDEBDD-D8BD-41A6-8A0D-B00E3768B0F9}"/>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flipH="1" flipV="1">
            <a:off x="0" y="0"/>
            <a:ext cx="12192000" cy="6858000"/>
          </a:xfrm>
          <a:prstGeom prst="rect">
            <a:avLst/>
          </a:prstGeom>
        </p:spPr>
      </p:pic>
      <p:sp>
        <p:nvSpPr>
          <p:cNvPr id="2" name="Title 1">
            <a:extLst>
              <a:ext uri="{FF2B5EF4-FFF2-40B4-BE49-F238E27FC236}">
                <a16:creationId xmlns:a16="http://schemas.microsoft.com/office/drawing/2014/main" id="{DF4B3E91-C5E2-594B-B73D-548AECB20B16}"/>
              </a:ext>
            </a:extLst>
          </p:cNvPr>
          <p:cNvSpPr>
            <a:spLocks noGrp="1"/>
          </p:cNvSpPr>
          <p:nvPr>
            <p:ph type="title"/>
          </p:nvPr>
        </p:nvSpPr>
        <p:spPr>
          <a:xfrm>
            <a:off x="804998" y="798445"/>
            <a:ext cx="4803636" cy="1311664"/>
          </a:xfrm>
        </p:spPr>
        <p:txBody>
          <a:bodyPr>
            <a:normAutofit/>
          </a:bodyPr>
          <a:lstStyle/>
          <a:p>
            <a:endParaRPr lang="en-US">
              <a:solidFill>
                <a:srgbClr val="000000"/>
              </a:solidFill>
            </a:endParaRPr>
          </a:p>
        </p:txBody>
      </p:sp>
      <p:sp>
        <p:nvSpPr>
          <p:cNvPr id="3" name="Content Placeholder 2">
            <a:extLst>
              <a:ext uri="{FF2B5EF4-FFF2-40B4-BE49-F238E27FC236}">
                <a16:creationId xmlns:a16="http://schemas.microsoft.com/office/drawing/2014/main" id="{6CBCE963-41DE-A746-9108-B588809B74F7}"/>
              </a:ext>
            </a:extLst>
          </p:cNvPr>
          <p:cNvSpPr>
            <a:spLocks noGrp="1"/>
          </p:cNvSpPr>
          <p:nvPr>
            <p:ph idx="1"/>
          </p:nvPr>
        </p:nvSpPr>
        <p:spPr>
          <a:xfrm>
            <a:off x="853414" y="1357743"/>
            <a:ext cx="4706803" cy="3788830"/>
          </a:xfrm>
        </p:spPr>
        <p:txBody>
          <a:bodyPr anchor="ctr">
            <a:normAutofit/>
          </a:bodyPr>
          <a:lstStyle/>
          <a:p>
            <a:endParaRPr lang="en-US" sz="2000" dirty="0">
              <a:solidFill>
                <a:srgbClr val="000000"/>
              </a:solidFill>
            </a:endParaRPr>
          </a:p>
          <a:p>
            <a:r>
              <a:rPr lang="en-US" sz="4000" dirty="0">
                <a:solidFill>
                  <a:srgbClr val="000000"/>
                </a:solidFill>
                <a:latin typeface="Agency FB" panose="020B0503020202020204" pitchFamily="34" charset="77"/>
              </a:rPr>
              <a:t>In 1933 it was about to become a </a:t>
            </a:r>
            <a:r>
              <a:rPr lang="en-US" sz="4000" b="1" dirty="0">
                <a:solidFill>
                  <a:srgbClr val="000000"/>
                </a:solidFill>
                <a:latin typeface="Agency FB" panose="020B0503020202020204" pitchFamily="34" charset="77"/>
              </a:rPr>
              <a:t>dictatorship.</a:t>
            </a:r>
          </a:p>
        </p:txBody>
      </p:sp>
    </p:spTree>
    <p:extLst>
      <p:ext uri="{BB962C8B-B14F-4D97-AF65-F5344CB8AC3E}">
        <p14:creationId xmlns:p14="http://schemas.microsoft.com/office/powerpoint/2010/main" val="144994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F2BDC8-3119-FA4A-B03B-0B4F34C64DB9}"/>
              </a:ext>
            </a:extLst>
          </p:cNvPr>
          <p:cNvSpPr>
            <a:spLocks noGrp="1"/>
          </p:cNvSpPr>
          <p:nvPr>
            <p:ph idx="1"/>
          </p:nvPr>
        </p:nvSpPr>
        <p:spPr>
          <a:xfrm>
            <a:off x="838200" y="469557"/>
            <a:ext cx="10515600" cy="5707406"/>
          </a:xfrm>
        </p:spPr>
        <p:txBody>
          <a:bodyPr>
            <a:normAutofit lnSpcReduction="10000"/>
          </a:bodyPr>
          <a:lstStyle/>
          <a:p>
            <a:r>
              <a:rPr lang="en-US" sz="4400" dirty="0">
                <a:latin typeface="Agency FB" panose="020B0503020202020204" pitchFamily="34" charset="77"/>
              </a:rPr>
              <a:t>Big events like the collapse of a democracy do not just happen.</a:t>
            </a:r>
          </a:p>
          <a:p>
            <a:r>
              <a:rPr lang="en-US" sz="4400" dirty="0">
                <a:latin typeface="Agency FB" panose="020B0503020202020204" pitchFamily="34" charset="77"/>
              </a:rPr>
              <a:t>Nor are they inevitable. </a:t>
            </a:r>
          </a:p>
          <a:p>
            <a:r>
              <a:rPr lang="en-US" sz="4400" dirty="0">
                <a:latin typeface="Agency FB" panose="020B0503020202020204" pitchFamily="34" charset="77"/>
              </a:rPr>
              <a:t>There are many conditions and circumstances which create a situation in which change can occur, and then many choices which people make to cause that change to occur. </a:t>
            </a:r>
          </a:p>
          <a:p>
            <a:r>
              <a:rPr lang="en-US" sz="4400" dirty="0">
                <a:latin typeface="Agency FB" panose="020B0503020202020204" pitchFamily="34" charset="77"/>
              </a:rPr>
              <a:t>These conditions and circumstances create </a:t>
            </a:r>
            <a:r>
              <a:rPr lang="en-US" sz="4400" dirty="0">
                <a:solidFill>
                  <a:schemeClr val="accent1"/>
                </a:solidFill>
                <a:latin typeface="Agency FB" panose="020B0503020202020204" pitchFamily="34" charset="77"/>
              </a:rPr>
              <a:t>THREATS TO DEMOCRACY</a:t>
            </a:r>
          </a:p>
          <a:p>
            <a:endParaRPr lang="en-US" dirty="0"/>
          </a:p>
          <a:p>
            <a:endParaRPr lang="en-US" dirty="0"/>
          </a:p>
        </p:txBody>
      </p:sp>
    </p:spTree>
    <p:extLst>
      <p:ext uri="{BB962C8B-B14F-4D97-AF65-F5344CB8AC3E}">
        <p14:creationId xmlns:p14="http://schemas.microsoft.com/office/powerpoint/2010/main" val="975183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D776D29F-0A2C-4F75-8582-7C7DFCBD11D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2F0793-F9FA-7645-9F4B-8AE1E96D8210}"/>
              </a:ext>
            </a:extLst>
          </p:cNvPr>
          <p:cNvSpPr>
            <a:spLocks noGrp="1"/>
          </p:cNvSpPr>
          <p:nvPr>
            <p:ph type="ctrTitle"/>
          </p:nvPr>
        </p:nvSpPr>
        <p:spPr>
          <a:xfrm>
            <a:off x="838200" y="1174819"/>
            <a:ext cx="4375151" cy="2858363"/>
          </a:xfrm>
        </p:spPr>
        <p:txBody>
          <a:bodyPr>
            <a:normAutofit/>
          </a:bodyPr>
          <a:lstStyle/>
          <a:p>
            <a:pPr algn="l"/>
            <a:r>
              <a:rPr lang="en-US" sz="7200" dirty="0">
                <a:solidFill>
                  <a:schemeClr val="bg1"/>
                </a:solidFill>
                <a:latin typeface="Agency FB" panose="020B0503020202020204" pitchFamily="34" charset="77"/>
              </a:rPr>
              <a:t>Threats to Democracy</a:t>
            </a:r>
          </a:p>
        </p:txBody>
      </p:sp>
      <p:sp>
        <p:nvSpPr>
          <p:cNvPr id="3" name="Subtitle 2">
            <a:extLst>
              <a:ext uri="{FF2B5EF4-FFF2-40B4-BE49-F238E27FC236}">
                <a16:creationId xmlns:a16="http://schemas.microsoft.com/office/drawing/2014/main" id="{6391052C-9249-E44B-92F4-32429B7DF8BA}"/>
              </a:ext>
            </a:extLst>
          </p:cNvPr>
          <p:cNvSpPr>
            <a:spLocks noGrp="1"/>
          </p:cNvSpPr>
          <p:nvPr>
            <p:ph type="subTitle" idx="1"/>
          </p:nvPr>
        </p:nvSpPr>
        <p:spPr>
          <a:xfrm>
            <a:off x="838200" y="4414180"/>
            <a:ext cx="4377793" cy="1594508"/>
          </a:xfrm>
        </p:spPr>
        <p:txBody>
          <a:bodyPr>
            <a:normAutofit/>
          </a:bodyPr>
          <a:lstStyle/>
          <a:p>
            <a:pPr algn="l"/>
            <a:r>
              <a:rPr lang="en-US" dirty="0">
                <a:solidFill>
                  <a:schemeClr val="bg1"/>
                </a:solidFill>
              </a:rPr>
              <a:t>There are threats to our democratic way of life that Australia must </a:t>
            </a:r>
            <a:r>
              <a:rPr lang="en-US" dirty="0">
                <a:solidFill>
                  <a:schemeClr val="accent1"/>
                </a:solidFill>
              </a:rPr>
              <a:t>safeguard</a:t>
            </a:r>
            <a:r>
              <a:rPr lang="en-US" dirty="0">
                <a:solidFill>
                  <a:schemeClr val="bg1"/>
                </a:solidFill>
              </a:rPr>
              <a:t> against</a:t>
            </a:r>
          </a:p>
        </p:txBody>
      </p:sp>
      <p:pic>
        <p:nvPicPr>
          <p:cNvPr id="1026" name="Picture 2" descr="Muzzling the media: Threat to democracy - The Himalayan Times">
            <a:extLst>
              <a:ext uri="{FF2B5EF4-FFF2-40B4-BE49-F238E27FC236}">
                <a16:creationId xmlns:a16="http://schemas.microsoft.com/office/drawing/2014/main" id="{07D363B4-F683-F348-A80B-D7AF41418D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688" r="17357" b="-2"/>
          <a:stretch/>
        </p:blipFill>
        <p:spPr bwMode="auto">
          <a:xfrm>
            <a:off x="5682343" y="1"/>
            <a:ext cx="6509657" cy="6857999"/>
          </a:xfrm>
          <a:custGeom>
            <a:avLst/>
            <a:gdLst/>
            <a:ahLst/>
            <a:cxnLst/>
            <a:rect l="l" t="t" r="r" b="b"/>
            <a:pathLst>
              <a:path w="6509657" h="6857999">
                <a:moveTo>
                  <a:pt x="752157" y="6118149"/>
                </a:moveTo>
                <a:cubicBezTo>
                  <a:pt x="745608" y="6124102"/>
                  <a:pt x="737987" y="6129341"/>
                  <a:pt x="730938" y="6133722"/>
                </a:cubicBezTo>
                <a:cubicBezTo>
                  <a:pt x="723794" y="6138152"/>
                  <a:pt x="718448" y="6143474"/>
                  <a:pt x="714778" y="6149379"/>
                </a:cubicBezTo>
                <a:lnTo>
                  <a:pt x="709303" y="6166562"/>
                </a:lnTo>
                <a:lnTo>
                  <a:pt x="714778" y="6149380"/>
                </a:lnTo>
                <a:cubicBezTo>
                  <a:pt x="718448" y="6143474"/>
                  <a:pt x="723794" y="6138152"/>
                  <a:pt x="730938" y="6133723"/>
                </a:cubicBezTo>
                <a:cubicBezTo>
                  <a:pt x="737987" y="6129341"/>
                  <a:pt x="745608" y="6124102"/>
                  <a:pt x="752157" y="6118149"/>
                </a:cubicBezTo>
                <a:close/>
                <a:moveTo>
                  <a:pt x="844000" y="4941372"/>
                </a:moveTo>
                <a:lnTo>
                  <a:pt x="840670" y="4950868"/>
                </a:lnTo>
                <a:lnTo>
                  <a:pt x="830985" y="4991382"/>
                </a:lnTo>
                <a:lnTo>
                  <a:pt x="840670" y="4950869"/>
                </a:lnTo>
                <a:close/>
                <a:moveTo>
                  <a:pt x="840061" y="4749807"/>
                </a:moveTo>
                <a:cubicBezTo>
                  <a:pt x="852197" y="4762827"/>
                  <a:pt x="853054" y="4781365"/>
                  <a:pt x="854768" y="4799797"/>
                </a:cubicBezTo>
                <a:cubicBezTo>
                  <a:pt x="853054" y="4781365"/>
                  <a:pt x="852197" y="4762826"/>
                  <a:pt x="840061" y="4749807"/>
                </a:cubicBezTo>
                <a:close/>
                <a:moveTo>
                  <a:pt x="822263" y="4543185"/>
                </a:moveTo>
                <a:lnTo>
                  <a:pt x="816857" y="4557091"/>
                </a:lnTo>
                <a:cubicBezTo>
                  <a:pt x="805236" y="4573618"/>
                  <a:pt x="796449" y="4588275"/>
                  <a:pt x="790493" y="4602021"/>
                </a:cubicBezTo>
                <a:cubicBezTo>
                  <a:pt x="796449" y="4588275"/>
                  <a:pt x="805236" y="4573618"/>
                  <a:pt x="816857" y="4557092"/>
                </a:cubicBezTo>
                <a:cubicBezTo>
                  <a:pt x="819238" y="4553662"/>
                  <a:pt x="821286" y="4548281"/>
                  <a:pt x="822263" y="4543185"/>
                </a:cubicBezTo>
                <a:close/>
                <a:moveTo>
                  <a:pt x="356045" y="2819253"/>
                </a:moveTo>
                <a:lnTo>
                  <a:pt x="344401" y="2827483"/>
                </a:lnTo>
                <a:lnTo>
                  <a:pt x="344399" y="2827486"/>
                </a:lnTo>
                <a:lnTo>
                  <a:pt x="325550" y="2842392"/>
                </a:lnTo>
                <a:lnTo>
                  <a:pt x="315896" y="2861156"/>
                </a:lnTo>
                <a:lnTo>
                  <a:pt x="344399" y="2827486"/>
                </a:lnTo>
                <a:lnTo>
                  <a:pt x="344401" y="2827484"/>
                </a:lnTo>
                <a:close/>
                <a:moveTo>
                  <a:pt x="425699" y="1974015"/>
                </a:moveTo>
                <a:cubicBezTo>
                  <a:pt x="427224" y="1991685"/>
                  <a:pt x="433462" y="2008497"/>
                  <a:pt x="449941" y="2023547"/>
                </a:cubicBezTo>
                <a:cubicBezTo>
                  <a:pt x="441702" y="2016020"/>
                  <a:pt x="436022" y="2008056"/>
                  <a:pt x="432213" y="1999763"/>
                </a:cubicBezTo>
                <a:close/>
                <a:moveTo>
                  <a:pt x="442893" y="1768838"/>
                </a:moveTo>
                <a:cubicBezTo>
                  <a:pt x="451656" y="1779981"/>
                  <a:pt x="453942" y="1790986"/>
                  <a:pt x="452275" y="1801558"/>
                </a:cubicBezTo>
                <a:lnTo>
                  <a:pt x="451495" y="1785412"/>
                </a:lnTo>
                <a:cubicBezTo>
                  <a:pt x="450037" y="1779948"/>
                  <a:pt x="447274" y="1774411"/>
                  <a:pt x="442893" y="1768838"/>
                </a:cubicBezTo>
                <a:close/>
                <a:moveTo>
                  <a:pt x="333304" y="520953"/>
                </a:moveTo>
                <a:cubicBezTo>
                  <a:pt x="333743" y="528850"/>
                  <a:pt x="335480" y="536547"/>
                  <a:pt x="337867" y="544146"/>
                </a:cubicBezTo>
                <a:lnTo>
                  <a:pt x="340032" y="549926"/>
                </a:lnTo>
                <a:lnTo>
                  <a:pt x="340448" y="551717"/>
                </a:lnTo>
                <a:lnTo>
                  <a:pt x="346286" y="566616"/>
                </a:lnTo>
                <a:lnTo>
                  <a:pt x="346338" y="566754"/>
                </a:lnTo>
                <a:lnTo>
                  <a:pt x="352655" y="583595"/>
                </a:lnTo>
                <a:lnTo>
                  <a:pt x="359452" y="612658"/>
                </a:lnTo>
                <a:cubicBezTo>
                  <a:pt x="358987" y="604728"/>
                  <a:pt x="357230" y="597005"/>
                  <a:pt x="354829" y="589388"/>
                </a:cubicBezTo>
                <a:lnTo>
                  <a:pt x="352655" y="583595"/>
                </a:lnTo>
                <a:lnTo>
                  <a:pt x="352236" y="581804"/>
                </a:lnTo>
                <a:lnTo>
                  <a:pt x="346286" y="566616"/>
                </a:lnTo>
                <a:lnTo>
                  <a:pt x="340032" y="549926"/>
                </a:lnTo>
                <a:close/>
                <a:moveTo>
                  <a:pt x="384407" y="268794"/>
                </a:moveTo>
                <a:lnTo>
                  <a:pt x="387838" y="328017"/>
                </a:lnTo>
                <a:cubicBezTo>
                  <a:pt x="389527" y="318646"/>
                  <a:pt x="389932" y="309031"/>
                  <a:pt x="389283" y="299164"/>
                </a:cubicBezTo>
                <a:cubicBezTo>
                  <a:pt x="388635" y="289296"/>
                  <a:pt x="386932" y="279176"/>
                  <a:pt x="384407" y="268794"/>
                </a:cubicBezTo>
                <a:close/>
                <a:moveTo>
                  <a:pt x="66991" y="0"/>
                </a:moveTo>
                <a:lnTo>
                  <a:pt x="6509657" y="0"/>
                </a:lnTo>
                <a:lnTo>
                  <a:pt x="6509657" y="6857999"/>
                </a:lnTo>
                <a:lnTo>
                  <a:pt x="149318" y="6857999"/>
                </a:lnTo>
                <a:lnTo>
                  <a:pt x="149318" y="6857457"/>
                </a:lnTo>
                <a:lnTo>
                  <a:pt x="22079" y="6857457"/>
                </a:lnTo>
                <a:lnTo>
                  <a:pt x="26850" y="6796804"/>
                </a:lnTo>
                <a:cubicBezTo>
                  <a:pt x="32161" y="6777207"/>
                  <a:pt x="39591" y="6758011"/>
                  <a:pt x="44354" y="6738388"/>
                </a:cubicBezTo>
                <a:cubicBezTo>
                  <a:pt x="48736" y="6720103"/>
                  <a:pt x="58832" y="6702955"/>
                  <a:pt x="67214" y="6685617"/>
                </a:cubicBezTo>
                <a:cubicBezTo>
                  <a:pt x="83217" y="6652472"/>
                  <a:pt x="73120" y="6617036"/>
                  <a:pt x="77310" y="6583128"/>
                </a:cubicBezTo>
                <a:cubicBezTo>
                  <a:pt x="78645" y="6572269"/>
                  <a:pt x="80168" y="6561411"/>
                  <a:pt x="82837" y="6550742"/>
                </a:cubicBezTo>
                <a:cubicBezTo>
                  <a:pt x="89885" y="6521593"/>
                  <a:pt x="95981" y="6491874"/>
                  <a:pt x="105697" y="6463490"/>
                </a:cubicBezTo>
                <a:cubicBezTo>
                  <a:pt x="116556" y="6431292"/>
                  <a:pt x="131034" y="6400429"/>
                  <a:pt x="146086" y="6363664"/>
                </a:cubicBezTo>
                <a:cubicBezTo>
                  <a:pt x="142275" y="6350899"/>
                  <a:pt x="131986" y="6331277"/>
                  <a:pt x="131034" y="6311084"/>
                </a:cubicBezTo>
                <a:cubicBezTo>
                  <a:pt x="127795" y="6246121"/>
                  <a:pt x="145513" y="6185351"/>
                  <a:pt x="173518" y="6127247"/>
                </a:cubicBezTo>
                <a:cubicBezTo>
                  <a:pt x="181899" y="6109530"/>
                  <a:pt x="187424" y="6090477"/>
                  <a:pt x="195616" y="6072569"/>
                </a:cubicBezTo>
                <a:cubicBezTo>
                  <a:pt x="198472" y="6066284"/>
                  <a:pt x="204569" y="6058092"/>
                  <a:pt x="210285" y="6056948"/>
                </a:cubicBezTo>
                <a:cubicBezTo>
                  <a:pt x="243432" y="6050282"/>
                  <a:pt x="242863" y="6025515"/>
                  <a:pt x="244766" y="5999796"/>
                </a:cubicBezTo>
                <a:cubicBezTo>
                  <a:pt x="247051" y="5969124"/>
                  <a:pt x="252386" y="5938836"/>
                  <a:pt x="256958" y="5908355"/>
                </a:cubicBezTo>
                <a:cubicBezTo>
                  <a:pt x="257530" y="5904353"/>
                  <a:pt x="261531" y="5900735"/>
                  <a:pt x="264200" y="5897114"/>
                </a:cubicBezTo>
                <a:cubicBezTo>
                  <a:pt x="268199" y="5891590"/>
                  <a:pt x="274295" y="5886447"/>
                  <a:pt x="275818" y="5880348"/>
                </a:cubicBezTo>
                <a:cubicBezTo>
                  <a:pt x="283249" y="5849107"/>
                  <a:pt x="289535" y="5817674"/>
                  <a:pt x="296393" y="5786239"/>
                </a:cubicBezTo>
                <a:cubicBezTo>
                  <a:pt x="297918" y="5779191"/>
                  <a:pt x="299823" y="5771953"/>
                  <a:pt x="302870" y="5765474"/>
                </a:cubicBezTo>
                <a:cubicBezTo>
                  <a:pt x="305728" y="5759378"/>
                  <a:pt x="310683" y="5754234"/>
                  <a:pt x="313730" y="5748136"/>
                </a:cubicBezTo>
                <a:cubicBezTo>
                  <a:pt x="321920" y="5731564"/>
                  <a:pt x="329541" y="5714607"/>
                  <a:pt x="338685" y="5695178"/>
                </a:cubicBezTo>
                <a:cubicBezTo>
                  <a:pt x="321541" y="5684320"/>
                  <a:pt x="331257" y="5669647"/>
                  <a:pt x="339447" y="5651360"/>
                </a:cubicBezTo>
                <a:cubicBezTo>
                  <a:pt x="347830" y="5632691"/>
                  <a:pt x="350497" y="5611164"/>
                  <a:pt x="353545" y="5590590"/>
                </a:cubicBezTo>
                <a:cubicBezTo>
                  <a:pt x="359070" y="5552869"/>
                  <a:pt x="362499" y="5514957"/>
                  <a:pt x="367451" y="5477239"/>
                </a:cubicBezTo>
                <a:cubicBezTo>
                  <a:pt x="368595" y="5469236"/>
                  <a:pt x="370690" y="5460092"/>
                  <a:pt x="375454" y="5453995"/>
                </a:cubicBezTo>
                <a:cubicBezTo>
                  <a:pt x="407459" y="5412276"/>
                  <a:pt x="416411" y="5361598"/>
                  <a:pt x="413366" y="5313403"/>
                </a:cubicBezTo>
                <a:cubicBezTo>
                  <a:pt x="411078" y="5275491"/>
                  <a:pt x="409363" y="5238343"/>
                  <a:pt x="412601" y="5200813"/>
                </a:cubicBezTo>
                <a:cubicBezTo>
                  <a:pt x="412793" y="5197955"/>
                  <a:pt x="412411" y="5194145"/>
                  <a:pt x="410887" y="5192051"/>
                </a:cubicBezTo>
                <a:cubicBezTo>
                  <a:pt x="400791" y="5179097"/>
                  <a:pt x="400029" y="5165570"/>
                  <a:pt x="398315" y="5148995"/>
                </a:cubicBezTo>
                <a:cubicBezTo>
                  <a:pt x="395837" y="5125562"/>
                  <a:pt x="397553" y="5104036"/>
                  <a:pt x="401743" y="5082317"/>
                </a:cubicBezTo>
                <a:cubicBezTo>
                  <a:pt x="404791" y="5066505"/>
                  <a:pt x="411078" y="5050504"/>
                  <a:pt x="419080" y="5036405"/>
                </a:cubicBezTo>
                <a:cubicBezTo>
                  <a:pt x="430320" y="5016785"/>
                  <a:pt x="434701" y="4997922"/>
                  <a:pt x="419841" y="4979253"/>
                </a:cubicBezTo>
                <a:cubicBezTo>
                  <a:pt x="404029" y="4959061"/>
                  <a:pt x="409553" y="4936201"/>
                  <a:pt x="408983" y="4913909"/>
                </a:cubicBezTo>
                <a:cubicBezTo>
                  <a:pt x="408791" y="4904195"/>
                  <a:pt x="409175" y="4893907"/>
                  <a:pt x="406697" y="4884572"/>
                </a:cubicBezTo>
                <a:cubicBezTo>
                  <a:pt x="399647" y="4857522"/>
                  <a:pt x="388978" y="4831420"/>
                  <a:pt x="384216" y="4803988"/>
                </a:cubicBezTo>
                <a:cubicBezTo>
                  <a:pt x="381551" y="4788747"/>
                  <a:pt x="386312" y="4771793"/>
                  <a:pt x="389741" y="4755980"/>
                </a:cubicBezTo>
                <a:cubicBezTo>
                  <a:pt x="393362" y="4739978"/>
                  <a:pt x="398885" y="4724167"/>
                  <a:pt x="404601" y="4708734"/>
                </a:cubicBezTo>
                <a:cubicBezTo>
                  <a:pt x="408411" y="4698258"/>
                  <a:pt x="412031" y="4686828"/>
                  <a:pt x="418889" y="4678445"/>
                </a:cubicBezTo>
                <a:cubicBezTo>
                  <a:pt x="434510" y="4659393"/>
                  <a:pt x="437178" y="4639772"/>
                  <a:pt x="428986" y="4617291"/>
                </a:cubicBezTo>
                <a:cubicBezTo>
                  <a:pt x="427651" y="4613864"/>
                  <a:pt x="427651" y="4609863"/>
                  <a:pt x="427462" y="4606053"/>
                </a:cubicBezTo>
                <a:cubicBezTo>
                  <a:pt x="423462" y="4545086"/>
                  <a:pt x="420984" y="4484127"/>
                  <a:pt x="414888" y="4423545"/>
                </a:cubicBezTo>
                <a:cubicBezTo>
                  <a:pt x="412411" y="4398972"/>
                  <a:pt x="401553" y="4375349"/>
                  <a:pt x="394695" y="4351154"/>
                </a:cubicBezTo>
                <a:cubicBezTo>
                  <a:pt x="393362" y="4346201"/>
                  <a:pt x="391265" y="4340674"/>
                  <a:pt x="392218" y="4335722"/>
                </a:cubicBezTo>
                <a:cubicBezTo>
                  <a:pt x="401743" y="4281810"/>
                  <a:pt x="387838" y="4231324"/>
                  <a:pt x="369547" y="4181603"/>
                </a:cubicBezTo>
                <a:cubicBezTo>
                  <a:pt x="367643" y="4176461"/>
                  <a:pt x="368214" y="4170174"/>
                  <a:pt x="368595" y="4164458"/>
                </a:cubicBezTo>
                <a:cubicBezTo>
                  <a:pt x="369928" y="4148453"/>
                  <a:pt x="376597" y="4131119"/>
                  <a:pt x="372597" y="4116641"/>
                </a:cubicBezTo>
                <a:cubicBezTo>
                  <a:pt x="361546" y="4078159"/>
                  <a:pt x="348211" y="4040058"/>
                  <a:pt x="331447" y="4003861"/>
                </a:cubicBezTo>
                <a:cubicBezTo>
                  <a:pt x="314494" y="3967091"/>
                  <a:pt x="300203" y="3932993"/>
                  <a:pt x="317349" y="3890891"/>
                </a:cubicBezTo>
                <a:cubicBezTo>
                  <a:pt x="324589" y="3872985"/>
                  <a:pt x="319445" y="3849362"/>
                  <a:pt x="317541" y="3828785"/>
                </a:cubicBezTo>
                <a:cubicBezTo>
                  <a:pt x="316016" y="3813737"/>
                  <a:pt x="307443" y="3799258"/>
                  <a:pt x="307443" y="3784397"/>
                </a:cubicBezTo>
                <a:cubicBezTo>
                  <a:pt x="307443" y="3744770"/>
                  <a:pt x="297345" y="3709529"/>
                  <a:pt x="276771" y="3675238"/>
                </a:cubicBezTo>
                <a:cubicBezTo>
                  <a:pt x="268770" y="3661899"/>
                  <a:pt x="274106" y="3641134"/>
                  <a:pt x="272009" y="3623799"/>
                </a:cubicBezTo>
                <a:cubicBezTo>
                  <a:pt x="269533" y="3605509"/>
                  <a:pt x="267247" y="3586653"/>
                  <a:pt x="261720" y="3569124"/>
                </a:cubicBezTo>
                <a:cubicBezTo>
                  <a:pt x="247243" y="3523785"/>
                  <a:pt x="230859" y="3479015"/>
                  <a:pt x="215618" y="3433866"/>
                </a:cubicBezTo>
                <a:cubicBezTo>
                  <a:pt x="203045" y="3396719"/>
                  <a:pt x="212951" y="3360139"/>
                  <a:pt x="218286" y="3323372"/>
                </a:cubicBezTo>
                <a:cubicBezTo>
                  <a:pt x="221715" y="3300319"/>
                  <a:pt x="229907" y="3278795"/>
                  <a:pt x="217715" y="3252885"/>
                </a:cubicBezTo>
                <a:cubicBezTo>
                  <a:pt x="206093" y="3228119"/>
                  <a:pt x="208761" y="3196686"/>
                  <a:pt x="202475" y="3168870"/>
                </a:cubicBezTo>
                <a:cubicBezTo>
                  <a:pt x="197141" y="3145436"/>
                  <a:pt x="188566" y="3122770"/>
                  <a:pt x="180184" y="3100099"/>
                </a:cubicBezTo>
                <a:cubicBezTo>
                  <a:pt x="168753" y="3069235"/>
                  <a:pt x="156753" y="3038756"/>
                  <a:pt x="162468" y="3005035"/>
                </a:cubicBezTo>
                <a:cubicBezTo>
                  <a:pt x="168945" y="2966742"/>
                  <a:pt x="144560" y="2940455"/>
                  <a:pt x="128366" y="2910353"/>
                </a:cubicBezTo>
                <a:cubicBezTo>
                  <a:pt x="117318" y="2889587"/>
                  <a:pt x="109126" y="2866918"/>
                  <a:pt x="102268" y="2844248"/>
                </a:cubicBezTo>
                <a:cubicBezTo>
                  <a:pt x="93313" y="2813958"/>
                  <a:pt x="87978" y="2782716"/>
                  <a:pt x="79216" y="2752235"/>
                </a:cubicBezTo>
                <a:cubicBezTo>
                  <a:pt x="66072" y="2706131"/>
                  <a:pt x="55785" y="2659455"/>
                  <a:pt x="63024" y="2611450"/>
                </a:cubicBezTo>
                <a:cubicBezTo>
                  <a:pt x="66262" y="2589352"/>
                  <a:pt x="66072" y="2568774"/>
                  <a:pt x="61307" y="2546678"/>
                </a:cubicBezTo>
                <a:cubicBezTo>
                  <a:pt x="53497" y="2510483"/>
                  <a:pt x="52545" y="2473333"/>
                  <a:pt x="23399" y="2444184"/>
                </a:cubicBezTo>
                <a:cubicBezTo>
                  <a:pt x="13111" y="2433897"/>
                  <a:pt x="10446" y="2415420"/>
                  <a:pt x="5110" y="2400369"/>
                </a:cubicBezTo>
                <a:cubicBezTo>
                  <a:pt x="-1178" y="2383032"/>
                  <a:pt x="2062" y="2370270"/>
                  <a:pt x="20351" y="2360933"/>
                </a:cubicBezTo>
                <a:cubicBezTo>
                  <a:pt x="28541" y="2356744"/>
                  <a:pt x="36543" y="2344741"/>
                  <a:pt x="37877" y="2335405"/>
                </a:cubicBezTo>
                <a:cubicBezTo>
                  <a:pt x="41877" y="2307402"/>
                  <a:pt x="35971" y="2281683"/>
                  <a:pt x="23017" y="2254633"/>
                </a:cubicBezTo>
                <a:cubicBezTo>
                  <a:pt x="10824" y="2229296"/>
                  <a:pt x="12158" y="2197670"/>
                  <a:pt x="7395" y="2168903"/>
                </a:cubicBezTo>
                <a:cubicBezTo>
                  <a:pt x="5680" y="2158712"/>
                  <a:pt x="3062" y="2148519"/>
                  <a:pt x="871" y="2138304"/>
                </a:cubicBezTo>
                <a:lnTo>
                  <a:pt x="0" y="2131532"/>
                </a:lnTo>
                <a:lnTo>
                  <a:pt x="0" y="2072225"/>
                </a:lnTo>
                <a:lnTo>
                  <a:pt x="251" y="2069340"/>
                </a:lnTo>
                <a:cubicBezTo>
                  <a:pt x="2061" y="2056600"/>
                  <a:pt x="4156" y="2043835"/>
                  <a:pt x="5299" y="2030977"/>
                </a:cubicBezTo>
                <a:cubicBezTo>
                  <a:pt x="7203" y="2010974"/>
                  <a:pt x="6442" y="1990589"/>
                  <a:pt x="8729" y="1970586"/>
                </a:cubicBezTo>
                <a:cubicBezTo>
                  <a:pt x="10446" y="1954202"/>
                  <a:pt x="14824" y="1938009"/>
                  <a:pt x="18445" y="1921817"/>
                </a:cubicBezTo>
                <a:cubicBezTo>
                  <a:pt x="19779" y="1915912"/>
                  <a:pt x="24922" y="1910004"/>
                  <a:pt x="24161" y="1904673"/>
                </a:cubicBezTo>
                <a:cubicBezTo>
                  <a:pt x="15968" y="1851709"/>
                  <a:pt x="52545" y="1813610"/>
                  <a:pt x="68738" y="1768838"/>
                </a:cubicBezTo>
                <a:cubicBezTo>
                  <a:pt x="85886" y="1721785"/>
                  <a:pt x="112174" y="1676253"/>
                  <a:pt x="104363" y="1623675"/>
                </a:cubicBezTo>
                <a:cubicBezTo>
                  <a:pt x="99601" y="1591859"/>
                  <a:pt x="88551" y="1561189"/>
                  <a:pt x="81882" y="1529563"/>
                </a:cubicBezTo>
                <a:cubicBezTo>
                  <a:pt x="79597" y="1518324"/>
                  <a:pt x="79978" y="1505751"/>
                  <a:pt x="82264" y="1494509"/>
                </a:cubicBezTo>
                <a:cubicBezTo>
                  <a:pt x="92743" y="1440216"/>
                  <a:pt x="94266" y="1386684"/>
                  <a:pt x="77120" y="1333341"/>
                </a:cubicBezTo>
                <a:cubicBezTo>
                  <a:pt x="74262" y="1324198"/>
                  <a:pt x="71597" y="1314483"/>
                  <a:pt x="71597" y="1304955"/>
                </a:cubicBezTo>
                <a:cubicBezTo>
                  <a:pt x="71597" y="1252757"/>
                  <a:pt x="75597" y="1201512"/>
                  <a:pt x="94266" y="1151600"/>
                </a:cubicBezTo>
                <a:cubicBezTo>
                  <a:pt x="100553" y="1134834"/>
                  <a:pt x="96553" y="1114449"/>
                  <a:pt x="98077" y="1095972"/>
                </a:cubicBezTo>
                <a:cubicBezTo>
                  <a:pt x="99409" y="1078826"/>
                  <a:pt x="99981" y="1061298"/>
                  <a:pt x="104363" y="1044725"/>
                </a:cubicBezTo>
                <a:cubicBezTo>
                  <a:pt x="110839" y="1020529"/>
                  <a:pt x="111601" y="998052"/>
                  <a:pt x="105887" y="973095"/>
                </a:cubicBezTo>
                <a:cubicBezTo>
                  <a:pt x="100553" y="949281"/>
                  <a:pt x="103219" y="923562"/>
                  <a:pt x="103029" y="898797"/>
                </a:cubicBezTo>
                <a:cubicBezTo>
                  <a:pt x="102839" y="871173"/>
                  <a:pt x="102649" y="843552"/>
                  <a:pt x="103601" y="815929"/>
                </a:cubicBezTo>
                <a:cubicBezTo>
                  <a:pt x="103981" y="804877"/>
                  <a:pt x="111601" y="792306"/>
                  <a:pt x="108553" y="783158"/>
                </a:cubicBezTo>
                <a:cubicBezTo>
                  <a:pt x="98267" y="753633"/>
                  <a:pt x="110649" y="724104"/>
                  <a:pt x="105126" y="694576"/>
                </a:cubicBezTo>
                <a:cubicBezTo>
                  <a:pt x="102268" y="680096"/>
                  <a:pt x="110078" y="663713"/>
                  <a:pt x="110839" y="648092"/>
                </a:cubicBezTo>
                <a:cubicBezTo>
                  <a:pt x="112174" y="622564"/>
                  <a:pt x="111601" y="597037"/>
                  <a:pt x="111983" y="571508"/>
                </a:cubicBezTo>
                <a:cubicBezTo>
                  <a:pt x="112174" y="563125"/>
                  <a:pt x="112936" y="554933"/>
                  <a:pt x="113318" y="546552"/>
                </a:cubicBezTo>
                <a:cubicBezTo>
                  <a:pt x="113697" y="539121"/>
                  <a:pt x="115412" y="531310"/>
                  <a:pt x="114080" y="524262"/>
                </a:cubicBezTo>
                <a:cubicBezTo>
                  <a:pt x="109315" y="498733"/>
                  <a:pt x="101505" y="473587"/>
                  <a:pt x="98457" y="447870"/>
                </a:cubicBezTo>
                <a:cubicBezTo>
                  <a:pt x="95792" y="425581"/>
                  <a:pt x="99409" y="402529"/>
                  <a:pt x="97505" y="380050"/>
                </a:cubicBezTo>
                <a:cubicBezTo>
                  <a:pt x="94266" y="340425"/>
                  <a:pt x="88551" y="300800"/>
                  <a:pt x="84930" y="261173"/>
                </a:cubicBezTo>
                <a:cubicBezTo>
                  <a:pt x="84168" y="252600"/>
                  <a:pt x="88933" y="243648"/>
                  <a:pt x="89313" y="234883"/>
                </a:cubicBezTo>
                <a:cubicBezTo>
                  <a:pt x="90266" y="207450"/>
                  <a:pt x="90457" y="180017"/>
                  <a:pt x="91026" y="152584"/>
                </a:cubicBezTo>
                <a:cubicBezTo>
                  <a:pt x="91218" y="136963"/>
                  <a:pt x="90647" y="121150"/>
                  <a:pt x="92361" y="105718"/>
                </a:cubicBezTo>
                <a:cubicBezTo>
                  <a:pt x="94648" y="85336"/>
                  <a:pt x="98077" y="66857"/>
                  <a:pt x="83217" y="47806"/>
                </a:cubicBezTo>
                <a:cubicBezTo>
                  <a:pt x="77453" y="40471"/>
                  <a:pt x="73691" y="32636"/>
                  <a:pt x="71206" y="24480"/>
                </a:cubicBezTo>
                <a:close/>
              </a:path>
            </a:pathLst>
          </a:custGeom>
          <a:noFill/>
          <a:effectLst>
            <a:outerShdw blurRad="381000" dist="152400" dir="10800000" algn="r" rotWithShape="0">
              <a:prstClr val="black">
                <a:alpha val="10000"/>
              </a:prstClr>
            </a:outerShdw>
          </a:effectLst>
          <a:extLst>
            <a:ext uri="{909E8E84-426E-40DD-AFC4-6F175D3DCCD1}">
              <a14:hiddenFill xmlns:a14="http://schemas.microsoft.com/office/drawing/2010/main">
                <a:solidFill>
                  <a:srgbClr val="FFFFFF"/>
                </a:solidFill>
              </a14:hiddenFill>
            </a:ext>
          </a:extLst>
        </p:spPr>
      </p:pic>
      <p:sp>
        <p:nvSpPr>
          <p:cNvPr id="73" name="Freeform: Shape 72">
            <a:extLst>
              <a:ext uri="{FF2B5EF4-FFF2-40B4-BE49-F238E27FC236}">
                <a16:creationId xmlns:a16="http://schemas.microsoft.com/office/drawing/2014/main" id="{C4D41903-2C9D-4F9E-AA1F-6161F8A6FC0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40986"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8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5" name="Freeform: Shape 74">
            <a:extLst>
              <a:ext uri="{FF2B5EF4-FFF2-40B4-BE49-F238E27FC236}">
                <a16:creationId xmlns:a16="http://schemas.microsoft.com/office/drawing/2014/main" id="{9E4574B5-C90E-412D-BAB0-B9F483290C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40988"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7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518315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07306-0DBC-E344-B704-647DD2F3FB12}"/>
              </a:ext>
            </a:extLst>
          </p:cNvPr>
          <p:cNvSpPr>
            <a:spLocks noGrp="1"/>
          </p:cNvSpPr>
          <p:nvPr>
            <p:ph type="title"/>
          </p:nvPr>
        </p:nvSpPr>
        <p:spPr>
          <a:xfrm>
            <a:off x="838200" y="500062"/>
            <a:ext cx="10515600" cy="1325563"/>
          </a:xfrm>
        </p:spPr>
        <p:txBody>
          <a:bodyPr>
            <a:normAutofit fontScale="90000"/>
          </a:bodyPr>
          <a:lstStyle/>
          <a:p>
            <a:r>
              <a:rPr lang="en-US" dirty="0">
                <a:latin typeface="Agency FB" panose="020B0503020202020204" pitchFamily="34" charset="77"/>
              </a:rPr>
              <a:t>Before we discuss what threats to democracy are or how we can safeguard against them, lets revisit what a democracy is…</a:t>
            </a:r>
          </a:p>
        </p:txBody>
      </p:sp>
      <p:sp>
        <p:nvSpPr>
          <p:cNvPr id="3" name="Content Placeholder 2">
            <a:extLst>
              <a:ext uri="{FF2B5EF4-FFF2-40B4-BE49-F238E27FC236}">
                <a16:creationId xmlns:a16="http://schemas.microsoft.com/office/drawing/2014/main" id="{26E213E1-72D2-504B-9A3C-9D6DE0ADDE00}"/>
              </a:ext>
            </a:extLst>
          </p:cNvPr>
          <p:cNvSpPr>
            <a:spLocks noGrp="1"/>
          </p:cNvSpPr>
          <p:nvPr>
            <p:ph idx="1"/>
          </p:nvPr>
        </p:nvSpPr>
        <p:spPr>
          <a:xfrm>
            <a:off x="838200" y="2006600"/>
            <a:ext cx="10515600" cy="4351338"/>
          </a:xfrm>
        </p:spPr>
        <p:txBody>
          <a:bodyPr/>
          <a:lstStyle/>
          <a:p>
            <a:pPr marL="0" indent="0">
              <a:buNone/>
            </a:pPr>
            <a:endParaRPr lang="en-US" dirty="0">
              <a:latin typeface="Agency FB" panose="020B0503020202020204" pitchFamily="34" charset="77"/>
            </a:endParaRPr>
          </a:p>
        </p:txBody>
      </p:sp>
    </p:spTree>
    <p:extLst>
      <p:ext uri="{BB962C8B-B14F-4D97-AF65-F5344CB8AC3E}">
        <p14:creationId xmlns:p14="http://schemas.microsoft.com/office/powerpoint/2010/main" val="1121603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2" name="Picture 4" descr="Beth Noveck on how open data and direct democracy could restore our faith  in politics - ABC News">
            <a:extLst>
              <a:ext uri="{FF2B5EF4-FFF2-40B4-BE49-F238E27FC236}">
                <a16:creationId xmlns:a16="http://schemas.microsoft.com/office/drawing/2014/main" id="{72693BE7-5A93-F840-ABAF-A10D8FD512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12" t="9091" r="8279"/>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73" name="Freeform: Shape 72">
            <a:extLst>
              <a:ext uri="{FF2B5EF4-FFF2-40B4-BE49-F238E27FC236}">
                <a16:creationId xmlns:a16="http://schemas.microsoft.com/office/drawing/2014/main" id="{E862BE82-D00D-42C1-BF16-93AA37870C3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Freeform: Shape 74">
            <a:extLst>
              <a:ext uri="{FF2B5EF4-FFF2-40B4-BE49-F238E27FC236}">
                <a16:creationId xmlns:a16="http://schemas.microsoft.com/office/drawing/2014/main" id="{F6D92C2D-1D3D-4974-918C-06579FB354A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33" y="-2"/>
            <a:ext cx="5441859" cy="5654940"/>
          </a:xfrm>
          <a:custGeom>
            <a:avLst/>
            <a:gdLst>
              <a:gd name="connsiteX0" fmla="*/ 0 w 5441859"/>
              <a:gd name="connsiteY0" fmla="*/ 0 h 5654940"/>
              <a:gd name="connsiteX1" fmla="*/ 4400492 w 5441859"/>
              <a:gd name="connsiteY1" fmla="*/ 0 h 5654940"/>
              <a:gd name="connsiteX2" fmla="*/ 4484767 w 5441859"/>
              <a:gd name="connsiteY2" fmla="*/ 76595 h 5654940"/>
              <a:gd name="connsiteX3" fmla="*/ 5441859 w 5441859"/>
              <a:gd name="connsiteY3" fmla="*/ 2387221 h 5654940"/>
              <a:gd name="connsiteX4" fmla="*/ 2174140 w 5441859"/>
              <a:gd name="connsiteY4" fmla="*/ 5654940 h 5654940"/>
              <a:gd name="connsiteX5" fmla="*/ 156693 w 5441859"/>
              <a:gd name="connsiteY5" fmla="*/ 4957981 h 5654940"/>
              <a:gd name="connsiteX6" fmla="*/ 0 w 5441859"/>
              <a:gd name="connsiteY6" fmla="*/ 4820612 h 565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41859" h="5654940">
                <a:moveTo>
                  <a:pt x="0" y="0"/>
                </a:moveTo>
                <a:lnTo>
                  <a:pt x="4400492" y="0"/>
                </a:lnTo>
                <a:lnTo>
                  <a:pt x="4484767" y="76595"/>
                </a:lnTo>
                <a:cubicBezTo>
                  <a:pt x="5076108" y="667936"/>
                  <a:pt x="5441859" y="1484866"/>
                  <a:pt x="5441859" y="2387221"/>
                </a:cubicBezTo>
                <a:cubicBezTo>
                  <a:pt x="5441859" y="4191932"/>
                  <a:pt x="3978851" y="5654940"/>
                  <a:pt x="2174140" y="5654940"/>
                </a:cubicBezTo>
                <a:cubicBezTo>
                  <a:pt x="1412778" y="5654940"/>
                  <a:pt x="712231" y="5394557"/>
                  <a:pt x="156693" y="4957981"/>
                </a:cubicBezTo>
                <a:lnTo>
                  <a:pt x="0" y="4820612"/>
                </a:lnTo>
                <a:close/>
              </a:path>
            </a:pathLst>
          </a:cu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F1C66C90-322D-914D-9A67-42EBD8D7FBD5}"/>
              </a:ext>
            </a:extLst>
          </p:cNvPr>
          <p:cNvSpPr>
            <a:spLocks noGrp="1"/>
          </p:cNvSpPr>
          <p:nvPr>
            <p:ph type="title"/>
          </p:nvPr>
        </p:nvSpPr>
        <p:spPr>
          <a:xfrm>
            <a:off x="520242" y="513460"/>
            <a:ext cx="4062643" cy="1043409"/>
          </a:xfrm>
        </p:spPr>
        <p:txBody>
          <a:bodyPr>
            <a:normAutofit fontScale="90000"/>
          </a:bodyPr>
          <a:lstStyle/>
          <a:p>
            <a:r>
              <a:rPr lang="en-US" sz="3200" b="1" dirty="0">
                <a:latin typeface="Agency FB" panose="020B0503020202020204" pitchFamily="34" charset="77"/>
              </a:rPr>
              <a:t>Democracy is a system of government with 4 key elements…</a:t>
            </a:r>
          </a:p>
        </p:txBody>
      </p:sp>
      <p:sp>
        <p:nvSpPr>
          <p:cNvPr id="5" name="Content Placeholder 4">
            <a:extLst>
              <a:ext uri="{FF2B5EF4-FFF2-40B4-BE49-F238E27FC236}">
                <a16:creationId xmlns:a16="http://schemas.microsoft.com/office/drawing/2014/main" id="{C49AF016-5939-314C-B125-EDFBA71DCF4C}"/>
              </a:ext>
            </a:extLst>
          </p:cNvPr>
          <p:cNvSpPr>
            <a:spLocks noGrp="1"/>
          </p:cNvSpPr>
          <p:nvPr>
            <p:ph idx="1"/>
          </p:nvPr>
        </p:nvSpPr>
        <p:spPr>
          <a:xfrm>
            <a:off x="520242" y="1774372"/>
            <a:ext cx="5088978" cy="3551390"/>
          </a:xfrm>
        </p:spPr>
        <p:txBody>
          <a:bodyPr anchor="t">
            <a:normAutofit lnSpcReduction="10000"/>
          </a:bodyPr>
          <a:lstStyle/>
          <a:p>
            <a:r>
              <a:rPr lang="en-US" dirty="0">
                <a:latin typeface="Agency FB" panose="020B0503020202020204" pitchFamily="34" charset="77"/>
              </a:rPr>
              <a:t>A system for choosing and replacing the government through free and fair elections</a:t>
            </a:r>
          </a:p>
          <a:p>
            <a:r>
              <a:rPr lang="en-US" dirty="0">
                <a:latin typeface="Agency FB" panose="020B0503020202020204" pitchFamily="34" charset="77"/>
              </a:rPr>
              <a:t>Active participation of the people, as citizens, in politics and civic life</a:t>
            </a:r>
          </a:p>
          <a:p>
            <a:r>
              <a:rPr lang="en-US" dirty="0">
                <a:latin typeface="Agency FB" panose="020B0503020202020204" pitchFamily="34" charset="77"/>
              </a:rPr>
              <a:t>Protection of the human rights of all citizens and,</a:t>
            </a:r>
          </a:p>
          <a:p>
            <a:r>
              <a:rPr lang="en-US" dirty="0">
                <a:latin typeface="Agency FB" panose="020B0503020202020204" pitchFamily="34" charset="77"/>
              </a:rPr>
              <a:t>A rule of law in which the laws and procedures apply equally to all citizens</a:t>
            </a:r>
          </a:p>
        </p:txBody>
      </p:sp>
    </p:spTree>
    <p:extLst>
      <p:ext uri="{BB962C8B-B14F-4D97-AF65-F5344CB8AC3E}">
        <p14:creationId xmlns:p14="http://schemas.microsoft.com/office/powerpoint/2010/main" val="2218800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07306-0DBC-E344-B704-647DD2F3FB12}"/>
              </a:ext>
            </a:extLst>
          </p:cNvPr>
          <p:cNvSpPr>
            <a:spLocks noGrp="1"/>
          </p:cNvSpPr>
          <p:nvPr>
            <p:ph type="title"/>
          </p:nvPr>
        </p:nvSpPr>
        <p:spPr>
          <a:xfrm>
            <a:off x="838200" y="500062"/>
            <a:ext cx="10515600" cy="1325563"/>
          </a:xfrm>
        </p:spPr>
        <p:txBody>
          <a:bodyPr>
            <a:normAutofit fontScale="90000"/>
          </a:bodyPr>
          <a:lstStyle/>
          <a:p>
            <a:r>
              <a:rPr lang="en-US" dirty="0">
                <a:latin typeface="Agency FB" panose="020B0503020202020204" pitchFamily="34" charset="77"/>
              </a:rPr>
              <a:t>Before we discuss what threats to democracy are or how we can safeguard against them, lets revisit what a democracy is…</a:t>
            </a:r>
          </a:p>
        </p:txBody>
      </p:sp>
      <p:sp>
        <p:nvSpPr>
          <p:cNvPr id="3" name="Content Placeholder 2">
            <a:extLst>
              <a:ext uri="{FF2B5EF4-FFF2-40B4-BE49-F238E27FC236}">
                <a16:creationId xmlns:a16="http://schemas.microsoft.com/office/drawing/2014/main" id="{26E213E1-72D2-504B-9A3C-9D6DE0ADDE00}"/>
              </a:ext>
            </a:extLst>
          </p:cNvPr>
          <p:cNvSpPr>
            <a:spLocks noGrp="1"/>
          </p:cNvSpPr>
          <p:nvPr>
            <p:ph idx="1"/>
          </p:nvPr>
        </p:nvSpPr>
        <p:spPr>
          <a:xfrm>
            <a:off x="838200" y="2006600"/>
            <a:ext cx="10515600" cy="4351338"/>
          </a:xfrm>
        </p:spPr>
        <p:txBody>
          <a:bodyPr/>
          <a:lstStyle/>
          <a:p>
            <a:r>
              <a:rPr lang="en-US" dirty="0">
                <a:latin typeface="Agency FB" panose="020B0503020202020204" pitchFamily="34" charset="77"/>
              </a:rPr>
              <a:t>Democracies are based on principles and Australia has devised its own set of values and principles which underpin our democratic way of life</a:t>
            </a:r>
          </a:p>
          <a:p>
            <a:pPr marL="0" indent="0">
              <a:buNone/>
            </a:pPr>
            <a:r>
              <a:rPr lang="en-US" dirty="0">
                <a:latin typeface="Agency FB" panose="020B0503020202020204" pitchFamily="34" charset="77"/>
              </a:rPr>
              <a:t>GUESS the principle:</a:t>
            </a:r>
          </a:p>
          <a:p>
            <a:pPr marL="0" indent="0">
              <a:buNone/>
            </a:pPr>
            <a:r>
              <a:rPr lang="en-US" dirty="0">
                <a:latin typeface="Agency FB" panose="020B0503020202020204" pitchFamily="34" charset="77"/>
              </a:rPr>
              <a:t>1. Write down the list of principles on the next slide</a:t>
            </a:r>
          </a:p>
          <a:p>
            <a:pPr marL="0" indent="0">
              <a:buNone/>
            </a:pPr>
            <a:r>
              <a:rPr lang="en-US" dirty="0">
                <a:latin typeface="Agency FB" panose="020B0503020202020204" pitchFamily="34" charset="77"/>
              </a:rPr>
              <a:t>2. You will be shown a series of images – you need to match the image with the democratic principles from the list by writing down the image number</a:t>
            </a:r>
          </a:p>
          <a:p>
            <a:pPr marL="0" indent="0">
              <a:buNone/>
            </a:pPr>
            <a:endParaRPr lang="en-US" dirty="0">
              <a:latin typeface="Agency FB" panose="020B0503020202020204" pitchFamily="34" charset="77"/>
            </a:endParaRPr>
          </a:p>
        </p:txBody>
      </p:sp>
    </p:spTree>
    <p:extLst>
      <p:ext uri="{BB962C8B-B14F-4D97-AF65-F5344CB8AC3E}">
        <p14:creationId xmlns:p14="http://schemas.microsoft.com/office/powerpoint/2010/main" val="1913841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6BF2B-2CD2-2C46-9A4B-647309ACE445}"/>
              </a:ext>
            </a:extLst>
          </p:cNvPr>
          <p:cNvSpPr>
            <a:spLocks noGrp="1"/>
          </p:cNvSpPr>
          <p:nvPr>
            <p:ph type="title"/>
          </p:nvPr>
        </p:nvSpPr>
        <p:spPr/>
        <p:txBody>
          <a:bodyPr/>
          <a:lstStyle/>
          <a:p>
            <a:r>
              <a:rPr lang="en-US" dirty="0">
                <a:latin typeface="Agency FB" panose="020B0503020202020204" pitchFamily="34" charset="77"/>
              </a:rPr>
              <a:t>Australian Values and Principles</a:t>
            </a:r>
          </a:p>
        </p:txBody>
      </p:sp>
      <p:sp>
        <p:nvSpPr>
          <p:cNvPr id="3" name="Content Placeholder 2">
            <a:extLst>
              <a:ext uri="{FF2B5EF4-FFF2-40B4-BE49-F238E27FC236}">
                <a16:creationId xmlns:a16="http://schemas.microsoft.com/office/drawing/2014/main" id="{AD813584-F245-7044-8849-1017C915DDB6}"/>
              </a:ext>
            </a:extLst>
          </p:cNvPr>
          <p:cNvSpPr>
            <a:spLocks noGrp="1"/>
          </p:cNvSpPr>
          <p:nvPr>
            <p:ph idx="1"/>
          </p:nvPr>
        </p:nvSpPr>
        <p:spPr>
          <a:xfrm>
            <a:off x="548846" y="1690688"/>
            <a:ext cx="11094308" cy="4351338"/>
          </a:xfrm>
        </p:spPr>
        <p:txBody>
          <a:bodyPr>
            <a:normAutofit fontScale="92500" lnSpcReduction="20000"/>
          </a:bodyPr>
          <a:lstStyle/>
          <a:p>
            <a:r>
              <a:rPr lang="en-US" dirty="0">
                <a:latin typeface="Agency FB" panose="020B0503020202020204" pitchFamily="34" charset="77"/>
              </a:rPr>
              <a:t>Respect for equal worth, and the dignity and freedom of the individual</a:t>
            </a:r>
          </a:p>
          <a:p>
            <a:r>
              <a:rPr lang="en-US" dirty="0">
                <a:latin typeface="Agency FB" panose="020B0503020202020204" pitchFamily="34" charset="77"/>
              </a:rPr>
              <a:t>Freedom of speech</a:t>
            </a:r>
          </a:p>
          <a:p>
            <a:r>
              <a:rPr lang="en-US" dirty="0">
                <a:latin typeface="Agency FB" panose="020B0503020202020204" pitchFamily="34" charset="77"/>
              </a:rPr>
              <a:t>Freedom of religion and secular government</a:t>
            </a:r>
          </a:p>
          <a:p>
            <a:r>
              <a:rPr lang="en-US" dirty="0">
                <a:latin typeface="Agency FB" panose="020B0503020202020204" pitchFamily="34" charset="77"/>
              </a:rPr>
              <a:t>Freedom of association</a:t>
            </a:r>
          </a:p>
          <a:p>
            <a:r>
              <a:rPr lang="en-US" dirty="0">
                <a:latin typeface="Agency FB" panose="020B0503020202020204" pitchFamily="34" charset="77"/>
              </a:rPr>
              <a:t>Support for parliamentary democracy and the rule of law</a:t>
            </a:r>
          </a:p>
          <a:p>
            <a:r>
              <a:rPr lang="en-US" dirty="0">
                <a:latin typeface="Agency FB" panose="020B0503020202020204" pitchFamily="34" charset="77"/>
              </a:rPr>
              <a:t>Equality under the law</a:t>
            </a:r>
          </a:p>
          <a:p>
            <a:r>
              <a:rPr lang="en-US" dirty="0">
                <a:latin typeface="Agency FB" panose="020B0503020202020204" pitchFamily="34" charset="77"/>
              </a:rPr>
              <a:t>Equality of men and women</a:t>
            </a:r>
          </a:p>
          <a:p>
            <a:r>
              <a:rPr lang="en-US" dirty="0">
                <a:latin typeface="Agency FB" panose="020B0503020202020204" pitchFamily="34" charset="77"/>
              </a:rPr>
              <a:t>Equality of opportunity</a:t>
            </a:r>
          </a:p>
          <a:p>
            <a:r>
              <a:rPr lang="en-US" dirty="0">
                <a:latin typeface="Agency FB" panose="020B0503020202020204" pitchFamily="34" charset="77"/>
              </a:rPr>
              <a:t>Peacefulness</a:t>
            </a:r>
          </a:p>
          <a:p>
            <a:r>
              <a:rPr lang="en-US" dirty="0">
                <a:latin typeface="Agency FB" panose="020B0503020202020204" pitchFamily="34" charset="77"/>
              </a:rPr>
              <a:t>A spirit of egalitarianism that embraces tolerance, mutual respect and compassion for those in need</a:t>
            </a:r>
          </a:p>
        </p:txBody>
      </p:sp>
    </p:spTree>
    <p:extLst>
      <p:ext uri="{BB962C8B-B14F-4D97-AF65-F5344CB8AC3E}">
        <p14:creationId xmlns:p14="http://schemas.microsoft.com/office/powerpoint/2010/main" val="561093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More 60 Egalitarianism Synonyms. Similar words for Egalitarianism.">
            <a:extLst>
              <a:ext uri="{FF2B5EF4-FFF2-40B4-BE49-F238E27FC236}">
                <a16:creationId xmlns:a16="http://schemas.microsoft.com/office/drawing/2014/main" id="{5C8911F5-8827-E749-839E-926611CE72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8500" y="889000"/>
            <a:ext cx="8255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1376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16C5FA50-8D52-4617-AF91-5C7B1C8352F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55A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91FF04-8CAC-5047-943E-B8127BA77018}"/>
              </a:ext>
            </a:extLst>
          </p:cNvPr>
          <p:cNvSpPr>
            <a:spLocks noGrp="1"/>
          </p:cNvSpPr>
          <p:nvPr>
            <p:ph type="title"/>
          </p:nvPr>
        </p:nvSpPr>
        <p:spPr>
          <a:xfrm>
            <a:off x="9093496" y="618681"/>
            <a:ext cx="2613872" cy="4794567"/>
          </a:xfrm>
        </p:spPr>
        <p:txBody>
          <a:bodyPr vert="horz" lIns="91440" tIns="45720" rIns="91440" bIns="45720" rtlCol="0" anchor="ctr">
            <a:normAutofit/>
          </a:bodyPr>
          <a:lstStyle/>
          <a:p>
            <a:pPr algn="ctr"/>
            <a:r>
              <a:rPr lang="en-US" sz="9600" dirty="0">
                <a:solidFill>
                  <a:srgbClr val="FFFFFF"/>
                </a:solidFill>
                <a:latin typeface="Agency FB" panose="020B0503020202020204" pitchFamily="34" charset="77"/>
              </a:rPr>
              <a:t>1</a:t>
            </a:r>
          </a:p>
        </p:txBody>
      </p:sp>
      <p:sp>
        <p:nvSpPr>
          <p:cNvPr id="76" name="Rounded Rectangle 9">
            <a:extLst>
              <a:ext uri="{FF2B5EF4-FFF2-40B4-BE49-F238E27FC236}">
                <a16:creationId xmlns:a16="http://schemas.microsoft.com/office/drawing/2014/main" id="{E223798C-12AD-4B0C-A50C-D676347D67C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3354" y="484632"/>
            <a:ext cx="8129016"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descr="Even extremists have a right to freedom of speech on campus">
            <a:extLst>
              <a:ext uri="{FF2B5EF4-FFF2-40B4-BE49-F238E27FC236}">
                <a16:creationId xmlns:a16="http://schemas.microsoft.com/office/drawing/2014/main" id="{1386EC65-B011-EA4B-B557-31B2832EE65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61" b="1"/>
          <a:stretch/>
        </p:blipFill>
        <p:spPr bwMode="auto">
          <a:xfrm>
            <a:off x="976251" y="942538"/>
            <a:ext cx="7163222" cy="4808332"/>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572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1" name="Rectangle 80">
            <a:extLst>
              <a:ext uri="{FF2B5EF4-FFF2-40B4-BE49-F238E27FC236}">
                <a16:creationId xmlns:a16="http://schemas.microsoft.com/office/drawing/2014/main" id="{16C5FA50-8D52-4617-AF91-5C7B1C8352F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46D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91FF04-8CAC-5047-943E-B8127BA77018}"/>
              </a:ext>
            </a:extLst>
          </p:cNvPr>
          <p:cNvSpPr>
            <a:spLocks noGrp="1"/>
          </p:cNvSpPr>
          <p:nvPr>
            <p:ph type="title"/>
          </p:nvPr>
        </p:nvSpPr>
        <p:spPr>
          <a:xfrm>
            <a:off x="9093496" y="618681"/>
            <a:ext cx="2613872" cy="4794567"/>
          </a:xfrm>
        </p:spPr>
        <p:txBody>
          <a:bodyPr vert="horz" lIns="91440" tIns="45720" rIns="91440" bIns="45720" rtlCol="0" anchor="ctr">
            <a:normAutofit/>
          </a:bodyPr>
          <a:lstStyle/>
          <a:p>
            <a:pPr algn="ctr"/>
            <a:r>
              <a:rPr lang="en-US" sz="8800" dirty="0">
                <a:solidFill>
                  <a:srgbClr val="FFFFFF"/>
                </a:solidFill>
                <a:latin typeface="Agency FB" panose="020B0503020202020204" pitchFamily="34" charset="77"/>
              </a:rPr>
              <a:t>2</a:t>
            </a:r>
          </a:p>
        </p:txBody>
      </p:sp>
      <p:sp>
        <p:nvSpPr>
          <p:cNvPr id="83" name="Rounded Rectangle 9">
            <a:extLst>
              <a:ext uri="{FF2B5EF4-FFF2-40B4-BE49-F238E27FC236}">
                <a16:creationId xmlns:a16="http://schemas.microsoft.com/office/drawing/2014/main" id="{E223798C-12AD-4B0C-A50C-D676347D67C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3354" y="484632"/>
            <a:ext cx="8129016"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descr="What does freedom of religion mean in Australia? | SBS Radio">
            <a:extLst>
              <a:ext uri="{FF2B5EF4-FFF2-40B4-BE49-F238E27FC236}">
                <a16:creationId xmlns:a16="http://schemas.microsoft.com/office/drawing/2014/main" id="{D066EA4C-086F-DA40-A8E3-766F3890284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6200" b="-2"/>
          <a:stretch/>
        </p:blipFill>
        <p:spPr bwMode="auto">
          <a:xfrm>
            <a:off x="976251" y="942538"/>
            <a:ext cx="7163222" cy="4808332"/>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2608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1" name="Rectangle 80">
            <a:extLst>
              <a:ext uri="{FF2B5EF4-FFF2-40B4-BE49-F238E27FC236}">
                <a16:creationId xmlns:a16="http://schemas.microsoft.com/office/drawing/2014/main" id="{16C5FA50-8D52-4617-AF91-5C7B1C8352F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46D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91FF04-8CAC-5047-943E-B8127BA77018}"/>
              </a:ext>
            </a:extLst>
          </p:cNvPr>
          <p:cNvSpPr>
            <a:spLocks noGrp="1"/>
          </p:cNvSpPr>
          <p:nvPr>
            <p:ph type="title"/>
          </p:nvPr>
        </p:nvSpPr>
        <p:spPr>
          <a:xfrm>
            <a:off x="9093496" y="618681"/>
            <a:ext cx="2613872" cy="4794567"/>
          </a:xfrm>
        </p:spPr>
        <p:txBody>
          <a:bodyPr vert="horz" lIns="91440" tIns="45720" rIns="91440" bIns="45720" rtlCol="0" anchor="ctr">
            <a:normAutofit/>
          </a:bodyPr>
          <a:lstStyle/>
          <a:p>
            <a:pPr algn="ctr"/>
            <a:r>
              <a:rPr lang="en-US" sz="8800" dirty="0">
                <a:solidFill>
                  <a:srgbClr val="FFFFFF"/>
                </a:solidFill>
                <a:latin typeface="Agency FB" panose="020B0503020202020204" pitchFamily="34" charset="77"/>
              </a:rPr>
              <a:t>3</a:t>
            </a:r>
          </a:p>
        </p:txBody>
      </p:sp>
      <p:sp>
        <p:nvSpPr>
          <p:cNvPr id="83" name="Rounded Rectangle 9">
            <a:extLst>
              <a:ext uri="{FF2B5EF4-FFF2-40B4-BE49-F238E27FC236}">
                <a16:creationId xmlns:a16="http://schemas.microsoft.com/office/drawing/2014/main" id="{E223798C-12AD-4B0C-A50C-D676347D67C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3354" y="484632"/>
            <a:ext cx="8129016"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314" name="Picture 2" descr="Romania ranks last in the EU on equality between men and women | Romania  Insider">
            <a:extLst>
              <a:ext uri="{FF2B5EF4-FFF2-40B4-BE49-F238E27FC236}">
                <a16:creationId xmlns:a16="http://schemas.microsoft.com/office/drawing/2014/main" id="{2840F126-6FA3-A24A-A902-BCE9F75347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8657" y="1150837"/>
            <a:ext cx="6716486" cy="4486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60489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1" name="Rectangle 80">
            <a:extLst>
              <a:ext uri="{FF2B5EF4-FFF2-40B4-BE49-F238E27FC236}">
                <a16:creationId xmlns:a16="http://schemas.microsoft.com/office/drawing/2014/main" id="{16C5FA50-8D52-4617-AF91-5C7B1C8352F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46D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91FF04-8CAC-5047-943E-B8127BA77018}"/>
              </a:ext>
            </a:extLst>
          </p:cNvPr>
          <p:cNvSpPr>
            <a:spLocks noGrp="1"/>
          </p:cNvSpPr>
          <p:nvPr>
            <p:ph type="title"/>
          </p:nvPr>
        </p:nvSpPr>
        <p:spPr>
          <a:xfrm>
            <a:off x="9093496" y="618681"/>
            <a:ext cx="2613872" cy="4794567"/>
          </a:xfrm>
        </p:spPr>
        <p:txBody>
          <a:bodyPr vert="horz" lIns="91440" tIns="45720" rIns="91440" bIns="45720" rtlCol="0" anchor="ctr">
            <a:normAutofit/>
          </a:bodyPr>
          <a:lstStyle/>
          <a:p>
            <a:pPr algn="ctr"/>
            <a:r>
              <a:rPr lang="en-US" sz="8800" dirty="0">
                <a:solidFill>
                  <a:srgbClr val="FFFFFF"/>
                </a:solidFill>
                <a:latin typeface="Agency FB" panose="020B0503020202020204" pitchFamily="34" charset="77"/>
              </a:rPr>
              <a:t>4</a:t>
            </a:r>
          </a:p>
        </p:txBody>
      </p:sp>
      <p:sp>
        <p:nvSpPr>
          <p:cNvPr id="83" name="Rounded Rectangle 9">
            <a:extLst>
              <a:ext uri="{FF2B5EF4-FFF2-40B4-BE49-F238E27FC236}">
                <a16:creationId xmlns:a16="http://schemas.microsoft.com/office/drawing/2014/main" id="{E223798C-12AD-4B0C-A50C-D676347D67C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3354" y="484632"/>
            <a:ext cx="8129016"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362" name="Picture 2" descr="Brexit, Democracy and the Rule of Law | News | CLA">
            <a:extLst>
              <a:ext uri="{FF2B5EF4-FFF2-40B4-BE49-F238E27FC236}">
                <a16:creationId xmlns:a16="http://schemas.microsoft.com/office/drawing/2014/main" id="{3D3E6D81-B1B2-B44C-B348-39644B87EC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2028" y="1073404"/>
            <a:ext cx="6777989" cy="42243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2955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1" name="Rectangle 80">
            <a:extLst>
              <a:ext uri="{FF2B5EF4-FFF2-40B4-BE49-F238E27FC236}">
                <a16:creationId xmlns:a16="http://schemas.microsoft.com/office/drawing/2014/main" id="{16C5FA50-8D52-4617-AF91-5C7B1C8352F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46D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91FF04-8CAC-5047-943E-B8127BA77018}"/>
              </a:ext>
            </a:extLst>
          </p:cNvPr>
          <p:cNvSpPr>
            <a:spLocks noGrp="1"/>
          </p:cNvSpPr>
          <p:nvPr>
            <p:ph type="title"/>
          </p:nvPr>
        </p:nvSpPr>
        <p:spPr>
          <a:xfrm>
            <a:off x="9093496" y="618681"/>
            <a:ext cx="2613872" cy="4794567"/>
          </a:xfrm>
        </p:spPr>
        <p:txBody>
          <a:bodyPr vert="horz" lIns="91440" tIns="45720" rIns="91440" bIns="45720" rtlCol="0" anchor="ctr">
            <a:normAutofit/>
          </a:bodyPr>
          <a:lstStyle/>
          <a:p>
            <a:pPr algn="ctr"/>
            <a:r>
              <a:rPr lang="en-US" sz="8800" dirty="0">
                <a:solidFill>
                  <a:srgbClr val="FFFFFF"/>
                </a:solidFill>
                <a:latin typeface="Agency FB" panose="020B0503020202020204" pitchFamily="34" charset="77"/>
              </a:rPr>
              <a:t>5</a:t>
            </a:r>
          </a:p>
        </p:txBody>
      </p:sp>
      <p:sp>
        <p:nvSpPr>
          <p:cNvPr id="83" name="Rounded Rectangle 9">
            <a:extLst>
              <a:ext uri="{FF2B5EF4-FFF2-40B4-BE49-F238E27FC236}">
                <a16:creationId xmlns:a16="http://schemas.microsoft.com/office/drawing/2014/main" id="{E223798C-12AD-4B0C-A50C-D676347D67C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3354" y="484632"/>
            <a:ext cx="8129016"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410" name="Picture 2" descr="Equal Employment Opportunity (EEO) Report – Hi-Line Today">
            <a:extLst>
              <a:ext uri="{FF2B5EF4-FFF2-40B4-BE49-F238E27FC236}">
                <a16:creationId xmlns:a16="http://schemas.microsoft.com/office/drawing/2014/main" id="{931F11C3-94B8-5746-8BBE-FA3E575E79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84" y="1269419"/>
            <a:ext cx="6215743" cy="41438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86568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1" name="Rectangle 80">
            <a:extLst>
              <a:ext uri="{FF2B5EF4-FFF2-40B4-BE49-F238E27FC236}">
                <a16:creationId xmlns:a16="http://schemas.microsoft.com/office/drawing/2014/main" id="{16C5FA50-8D52-4617-AF91-5C7B1C8352F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46D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91FF04-8CAC-5047-943E-B8127BA77018}"/>
              </a:ext>
            </a:extLst>
          </p:cNvPr>
          <p:cNvSpPr>
            <a:spLocks noGrp="1"/>
          </p:cNvSpPr>
          <p:nvPr>
            <p:ph type="title"/>
          </p:nvPr>
        </p:nvSpPr>
        <p:spPr>
          <a:xfrm>
            <a:off x="9093496" y="618681"/>
            <a:ext cx="2613872" cy="4794567"/>
          </a:xfrm>
        </p:spPr>
        <p:txBody>
          <a:bodyPr vert="horz" lIns="91440" tIns="45720" rIns="91440" bIns="45720" rtlCol="0" anchor="ctr">
            <a:normAutofit/>
          </a:bodyPr>
          <a:lstStyle/>
          <a:p>
            <a:pPr algn="ctr"/>
            <a:r>
              <a:rPr lang="en-US" sz="8800" dirty="0">
                <a:solidFill>
                  <a:srgbClr val="FFFFFF"/>
                </a:solidFill>
                <a:latin typeface="Agency FB" panose="020B0503020202020204" pitchFamily="34" charset="77"/>
              </a:rPr>
              <a:t>6</a:t>
            </a:r>
          </a:p>
        </p:txBody>
      </p:sp>
      <p:sp>
        <p:nvSpPr>
          <p:cNvPr id="83" name="Rounded Rectangle 9">
            <a:extLst>
              <a:ext uri="{FF2B5EF4-FFF2-40B4-BE49-F238E27FC236}">
                <a16:creationId xmlns:a16="http://schemas.microsoft.com/office/drawing/2014/main" id="{E223798C-12AD-4B0C-A50C-D676347D67C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3354" y="484632"/>
            <a:ext cx="8129016"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458" name="Picture 2" descr="Freedom of association - Human Rights House Foundation">
            <a:extLst>
              <a:ext uri="{FF2B5EF4-FFF2-40B4-BE49-F238E27FC236}">
                <a16:creationId xmlns:a16="http://schemas.microsoft.com/office/drawing/2014/main" id="{2E9E03CC-8E1D-974A-82C1-894D4B5E0A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9870" y="1197974"/>
            <a:ext cx="7209140" cy="4056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21798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1" name="Rectangle 80">
            <a:extLst>
              <a:ext uri="{FF2B5EF4-FFF2-40B4-BE49-F238E27FC236}">
                <a16:creationId xmlns:a16="http://schemas.microsoft.com/office/drawing/2014/main" id="{16C5FA50-8D52-4617-AF91-5C7B1C8352F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46D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91FF04-8CAC-5047-943E-B8127BA77018}"/>
              </a:ext>
            </a:extLst>
          </p:cNvPr>
          <p:cNvSpPr>
            <a:spLocks noGrp="1"/>
          </p:cNvSpPr>
          <p:nvPr>
            <p:ph type="title"/>
          </p:nvPr>
        </p:nvSpPr>
        <p:spPr>
          <a:xfrm>
            <a:off x="9093496" y="618681"/>
            <a:ext cx="2613872" cy="4794567"/>
          </a:xfrm>
        </p:spPr>
        <p:txBody>
          <a:bodyPr vert="horz" lIns="91440" tIns="45720" rIns="91440" bIns="45720" rtlCol="0" anchor="ctr">
            <a:normAutofit/>
          </a:bodyPr>
          <a:lstStyle/>
          <a:p>
            <a:pPr algn="ctr"/>
            <a:r>
              <a:rPr lang="en-US" sz="8800" dirty="0">
                <a:solidFill>
                  <a:srgbClr val="FFFFFF"/>
                </a:solidFill>
                <a:latin typeface="Agency FB" panose="020B0503020202020204" pitchFamily="34" charset="77"/>
              </a:rPr>
              <a:t>7</a:t>
            </a:r>
          </a:p>
        </p:txBody>
      </p:sp>
      <p:sp>
        <p:nvSpPr>
          <p:cNvPr id="83" name="Rounded Rectangle 9">
            <a:extLst>
              <a:ext uri="{FF2B5EF4-FFF2-40B4-BE49-F238E27FC236}">
                <a16:creationId xmlns:a16="http://schemas.microsoft.com/office/drawing/2014/main" id="{E223798C-12AD-4B0C-A50C-D676347D67C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3354" y="484632"/>
            <a:ext cx="8129016"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506" name="Picture 2" descr="IRANIAN CANADIAN COALITION FOR PEACE: Peace, Democracy &amp; Poverty">
            <a:extLst>
              <a:ext uri="{FF2B5EF4-FFF2-40B4-BE49-F238E27FC236}">
                <a16:creationId xmlns:a16="http://schemas.microsoft.com/office/drawing/2014/main" id="{D709145C-1B1A-4043-820C-A9881F9BBA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6629" y="1144814"/>
            <a:ext cx="6937828" cy="47131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79814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1" name="Rectangle 80">
            <a:extLst>
              <a:ext uri="{FF2B5EF4-FFF2-40B4-BE49-F238E27FC236}">
                <a16:creationId xmlns:a16="http://schemas.microsoft.com/office/drawing/2014/main" id="{16C5FA50-8D52-4617-AF91-5C7B1C8352F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46D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91FF04-8CAC-5047-943E-B8127BA77018}"/>
              </a:ext>
            </a:extLst>
          </p:cNvPr>
          <p:cNvSpPr>
            <a:spLocks noGrp="1"/>
          </p:cNvSpPr>
          <p:nvPr>
            <p:ph type="title"/>
          </p:nvPr>
        </p:nvSpPr>
        <p:spPr>
          <a:xfrm>
            <a:off x="9093496" y="618681"/>
            <a:ext cx="2613872" cy="4794567"/>
          </a:xfrm>
        </p:spPr>
        <p:txBody>
          <a:bodyPr vert="horz" lIns="91440" tIns="45720" rIns="91440" bIns="45720" rtlCol="0" anchor="ctr">
            <a:normAutofit/>
          </a:bodyPr>
          <a:lstStyle/>
          <a:p>
            <a:pPr algn="ctr"/>
            <a:r>
              <a:rPr lang="en-US" sz="8800" dirty="0">
                <a:solidFill>
                  <a:srgbClr val="FFFFFF"/>
                </a:solidFill>
                <a:latin typeface="Agency FB" panose="020B0503020202020204" pitchFamily="34" charset="77"/>
              </a:rPr>
              <a:t>8</a:t>
            </a:r>
          </a:p>
        </p:txBody>
      </p:sp>
      <p:sp>
        <p:nvSpPr>
          <p:cNvPr id="83" name="Rounded Rectangle 9">
            <a:extLst>
              <a:ext uri="{FF2B5EF4-FFF2-40B4-BE49-F238E27FC236}">
                <a16:creationId xmlns:a16="http://schemas.microsoft.com/office/drawing/2014/main" id="{E223798C-12AD-4B0C-A50C-D676347D67C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3354" y="484632"/>
            <a:ext cx="8129016"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554" name="Picture 2" descr="Civil Rights and Equality under the law - Stetson Today">
            <a:extLst>
              <a:ext uri="{FF2B5EF4-FFF2-40B4-BE49-F238E27FC236}">
                <a16:creationId xmlns:a16="http://schemas.microsoft.com/office/drawing/2014/main" id="{9067F503-921D-0D4F-BAA9-746C7ABB8B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7599" y="966107"/>
            <a:ext cx="6429829" cy="4838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86019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1" name="Rectangle 80">
            <a:extLst>
              <a:ext uri="{FF2B5EF4-FFF2-40B4-BE49-F238E27FC236}">
                <a16:creationId xmlns:a16="http://schemas.microsoft.com/office/drawing/2014/main" id="{16C5FA50-8D52-4617-AF91-5C7B1C8352F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46D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91FF04-8CAC-5047-943E-B8127BA77018}"/>
              </a:ext>
            </a:extLst>
          </p:cNvPr>
          <p:cNvSpPr>
            <a:spLocks noGrp="1"/>
          </p:cNvSpPr>
          <p:nvPr>
            <p:ph type="title"/>
          </p:nvPr>
        </p:nvSpPr>
        <p:spPr>
          <a:xfrm>
            <a:off x="9093496" y="618681"/>
            <a:ext cx="2613872" cy="4794567"/>
          </a:xfrm>
        </p:spPr>
        <p:txBody>
          <a:bodyPr vert="horz" lIns="91440" tIns="45720" rIns="91440" bIns="45720" rtlCol="0" anchor="ctr">
            <a:normAutofit/>
          </a:bodyPr>
          <a:lstStyle/>
          <a:p>
            <a:pPr algn="ctr"/>
            <a:r>
              <a:rPr lang="en-US" sz="8800" dirty="0">
                <a:solidFill>
                  <a:srgbClr val="FFFFFF"/>
                </a:solidFill>
                <a:latin typeface="Agency FB" panose="020B0503020202020204" pitchFamily="34" charset="77"/>
              </a:rPr>
              <a:t>9</a:t>
            </a:r>
          </a:p>
        </p:txBody>
      </p:sp>
      <p:sp>
        <p:nvSpPr>
          <p:cNvPr id="83" name="Rounded Rectangle 9">
            <a:extLst>
              <a:ext uri="{FF2B5EF4-FFF2-40B4-BE49-F238E27FC236}">
                <a16:creationId xmlns:a16="http://schemas.microsoft.com/office/drawing/2014/main" id="{E223798C-12AD-4B0C-A50C-D676347D67C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3354" y="484632"/>
            <a:ext cx="8129016"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utoShape 2" descr="What is the difference between a feminist and an egalitarian? - Quora">
            <a:extLst>
              <a:ext uri="{FF2B5EF4-FFF2-40B4-BE49-F238E27FC236}">
                <a16:creationId xmlns:a16="http://schemas.microsoft.com/office/drawing/2014/main" id="{02DCE97B-A0FA-FA41-ABEB-BAA67C5E78E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D95047DE-1E92-3A45-A23E-623F87A54CCF}"/>
              </a:ext>
            </a:extLst>
          </p:cNvPr>
          <p:cNvPicPr>
            <a:picLocks noChangeAspect="1"/>
          </p:cNvPicPr>
          <p:nvPr/>
        </p:nvPicPr>
        <p:blipFill>
          <a:blip r:embed="rId2"/>
          <a:stretch>
            <a:fillRect/>
          </a:stretch>
        </p:blipFill>
        <p:spPr>
          <a:xfrm>
            <a:off x="1223736" y="984154"/>
            <a:ext cx="6512378" cy="4889692"/>
          </a:xfrm>
          <a:prstGeom prst="rect">
            <a:avLst/>
          </a:prstGeom>
        </p:spPr>
      </p:pic>
    </p:spTree>
    <p:extLst>
      <p:ext uri="{BB962C8B-B14F-4D97-AF65-F5344CB8AC3E}">
        <p14:creationId xmlns:p14="http://schemas.microsoft.com/office/powerpoint/2010/main" val="15300095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1" name="Rectangle 80">
            <a:extLst>
              <a:ext uri="{FF2B5EF4-FFF2-40B4-BE49-F238E27FC236}">
                <a16:creationId xmlns:a16="http://schemas.microsoft.com/office/drawing/2014/main" id="{16C5FA50-8D52-4617-AF91-5C7B1C8352F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46D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91FF04-8CAC-5047-943E-B8127BA77018}"/>
              </a:ext>
            </a:extLst>
          </p:cNvPr>
          <p:cNvSpPr>
            <a:spLocks noGrp="1"/>
          </p:cNvSpPr>
          <p:nvPr>
            <p:ph type="title"/>
          </p:nvPr>
        </p:nvSpPr>
        <p:spPr>
          <a:xfrm>
            <a:off x="9093496" y="618681"/>
            <a:ext cx="2613872" cy="4794567"/>
          </a:xfrm>
        </p:spPr>
        <p:txBody>
          <a:bodyPr vert="horz" lIns="91440" tIns="45720" rIns="91440" bIns="45720" rtlCol="0" anchor="ctr">
            <a:normAutofit/>
          </a:bodyPr>
          <a:lstStyle/>
          <a:p>
            <a:pPr algn="ctr"/>
            <a:r>
              <a:rPr lang="en-US" sz="8800" dirty="0">
                <a:solidFill>
                  <a:srgbClr val="FFFFFF"/>
                </a:solidFill>
                <a:latin typeface="Agency FB" panose="020B0503020202020204" pitchFamily="34" charset="77"/>
              </a:rPr>
              <a:t>10</a:t>
            </a:r>
          </a:p>
        </p:txBody>
      </p:sp>
      <p:sp>
        <p:nvSpPr>
          <p:cNvPr id="83" name="Rounded Rectangle 9">
            <a:extLst>
              <a:ext uri="{FF2B5EF4-FFF2-40B4-BE49-F238E27FC236}">
                <a16:creationId xmlns:a16="http://schemas.microsoft.com/office/drawing/2014/main" id="{E223798C-12AD-4B0C-A50C-D676347D67C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3354" y="484632"/>
            <a:ext cx="8129016"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utoShape 2" descr="What is the difference between a feminist and an egalitarian? - Quora">
            <a:extLst>
              <a:ext uri="{FF2B5EF4-FFF2-40B4-BE49-F238E27FC236}">
                <a16:creationId xmlns:a16="http://schemas.microsoft.com/office/drawing/2014/main" id="{02DCE97B-A0FA-FA41-ABEB-BAA67C5E78E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8674" name="Picture 2" descr="Mutual respect, US pressure boost Sino-Russian relationship - Global Times">
            <a:extLst>
              <a:ext uri="{FF2B5EF4-FFF2-40B4-BE49-F238E27FC236}">
                <a16:creationId xmlns:a16="http://schemas.microsoft.com/office/drawing/2014/main" id="{F905FED2-5673-8A49-AE36-EB699A1715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2862" y="484632"/>
            <a:ext cx="6350000"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11337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412EE-BB2F-6C42-942A-2F7A98BC933E}"/>
              </a:ext>
            </a:extLst>
          </p:cNvPr>
          <p:cNvSpPr>
            <a:spLocks noGrp="1"/>
          </p:cNvSpPr>
          <p:nvPr>
            <p:ph type="title"/>
          </p:nvPr>
        </p:nvSpPr>
        <p:spPr/>
        <p:txBody>
          <a:bodyPr>
            <a:normAutofit/>
          </a:bodyPr>
          <a:lstStyle/>
          <a:p>
            <a:pPr algn="ctr"/>
            <a:r>
              <a:rPr lang="en-US" sz="7200" dirty="0">
                <a:latin typeface="Agency FB" panose="020B0503020202020204" pitchFamily="34" charset="77"/>
              </a:rPr>
              <a:t>Answers</a:t>
            </a:r>
          </a:p>
        </p:txBody>
      </p:sp>
    </p:spTree>
    <p:extLst>
      <p:ext uri="{BB962C8B-B14F-4D97-AF65-F5344CB8AC3E}">
        <p14:creationId xmlns:p14="http://schemas.microsoft.com/office/powerpoint/2010/main" val="3680345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1FF04-8CAC-5047-943E-B8127BA77018}"/>
              </a:ext>
            </a:extLst>
          </p:cNvPr>
          <p:cNvSpPr>
            <a:spLocks noGrp="1"/>
          </p:cNvSpPr>
          <p:nvPr>
            <p:ph type="title"/>
          </p:nvPr>
        </p:nvSpPr>
        <p:spPr>
          <a:xfrm>
            <a:off x="9093496" y="618681"/>
            <a:ext cx="2613872" cy="4794567"/>
          </a:xfrm>
        </p:spPr>
        <p:txBody>
          <a:bodyPr vert="horz" lIns="91440" tIns="45720" rIns="91440" bIns="45720" rtlCol="0" anchor="ctr">
            <a:noAutofit/>
          </a:bodyPr>
          <a:lstStyle/>
          <a:p>
            <a:pPr algn="ctr"/>
            <a:r>
              <a:rPr lang="en-US" sz="6600" dirty="0">
                <a:latin typeface="Agency FB" panose="020B0503020202020204" pitchFamily="34" charset="77"/>
              </a:rPr>
              <a:t>Freedom of Speech</a:t>
            </a:r>
          </a:p>
        </p:txBody>
      </p:sp>
      <p:pic>
        <p:nvPicPr>
          <p:cNvPr id="7170" name="Picture 2" descr="Even extremists have a right to freedom of speech on campus">
            <a:extLst>
              <a:ext uri="{FF2B5EF4-FFF2-40B4-BE49-F238E27FC236}">
                <a16:creationId xmlns:a16="http://schemas.microsoft.com/office/drawing/2014/main" id="{1386EC65-B011-EA4B-B557-31B2832EE65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61" b="1"/>
          <a:stretch/>
        </p:blipFill>
        <p:spPr bwMode="auto">
          <a:xfrm>
            <a:off x="976251" y="942538"/>
            <a:ext cx="7163222" cy="4808332"/>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99455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1FF04-8CAC-5047-943E-B8127BA77018}"/>
              </a:ext>
            </a:extLst>
          </p:cNvPr>
          <p:cNvSpPr>
            <a:spLocks noGrp="1"/>
          </p:cNvSpPr>
          <p:nvPr>
            <p:ph type="title"/>
          </p:nvPr>
        </p:nvSpPr>
        <p:spPr>
          <a:xfrm>
            <a:off x="9093496" y="618681"/>
            <a:ext cx="2613872" cy="4794567"/>
          </a:xfrm>
        </p:spPr>
        <p:txBody>
          <a:bodyPr vert="horz" lIns="91440" tIns="45720" rIns="91440" bIns="45720" rtlCol="0" anchor="ctr">
            <a:noAutofit/>
          </a:bodyPr>
          <a:lstStyle/>
          <a:p>
            <a:pPr algn="ctr"/>
            <a:r>
              <a:rPr lang="en-US" sz="6600" dirty="0">
                <a:latin typeface="Agency FB" panose="020B0503020202020204" pitchFamily="34" charset="77"/>
              </a:rPr>
              <a:t>Freedom of Religion</a:t>
            </a:r>
            <a:endParaRPr lang="en-US" sz="6600" dirty="0">
              <a:solidFill>
                <a:srgbClr val="FFFFFF"/>
              </a:solidFill>
              <a:latin typeface="Agency FB" panose="020B0503020202020204" pitchFamily="34" charset="77"/>
            </a:endParaRPr>
          </a:p>
        </p:txBody>
      </p:sp>
      <p:pic>
        <p:nvPicPr>
          <p:cNvPr id="6" name="Picture 2" descr="What does freedom of religion mean in Australia? | SBS Radio">
            <a:extLst>
              <a:ext uri="{FF2B5EF4-FFF2-40B4-BE49-F238E27FC236}">
                <a16:creationId xmlns:a16="http://schemas.microsoft.com/office/drawing/2014/main" id="{D066EA4C-086F-DA40-A8E3-766F3890284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6200" b="-2"/>
          <a:stretch/>
        </p:blipFill>
        <p:spPr bwMode="auto">
          <a:xfrm>
            <a:off x="976251" y="942538"/>
            <a:ext cx="7163222" cy="4808332"/>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85761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1FF04-8CAC-5047-943E-B8127BA77018}"/>
              </a:ext>
            </a:extLst>
          </p:cNvPr>
          <p:cNvSpPr>
            <a:spLocks noGrp="1"/>
          </p:cNvSpPr>
          <p:nvPr>
            <p:ph type="title"/>
          </p:nvPr>
        </p:nvSpPr>
        <p:spPr>
          <a:xfrm>
            <a:off x="9093496" y="618681"/>
            <a:ext cx="2613872" cy="4794567"/>
          </a:xfrm>
        </p:spPr>
        <p:txBody>
          <a:bodyPr vert="horz" lIns="91440" tIns="45720" rIns="91440" bIns="45720" rtlCol="0" anchor="ctr">
            <a:noAutofit/>
          </a:bodyPr>
          <a:lstStyle/>
          <a:p>
            <a:pPr algn="ctr"/>
            <a:r>
              <a:rPr lang="en-US" sz="6600" dirty="0">
                <a:latin typeface="Agency FB" panose="020B0503020202020204" pitchFamily="34" charset="77"/>
              </a:rPr>
              <a:t>Equality for Men &amp; Women</a:t>
            </a:r>
          </a:p>
        </p:txBody>
      </p:sp>
      <p:pic>
        <p:nvPicPr>
          <p:cNvPr id="13314" name="Picture 2" descr="Romania ranks last in the EU on equality between men and women | Romania  Insider">
            <a:extLst>
              <a:ext uri="{FF2B5EF4-FFF2-40B4-BE49-F238E27FC236}">
                <a16:creationId xmlns:a16="http://schemas.microsoft.com/office/drawing/2014/main" id="{2840F126-6FA3-A24A-A902-BCE9F75347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8657" y="1150837"/>
            <a:ext cx="6716486" cy="4486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43055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1FF04-8CAC-5047-943E-B8127BA77018}"/>
              </a:ext>
            </a:extLst>
          </p:cNvPr>
          <p:cNvSpPr>
            <a:spLocks noGrp="1"/>
          </p:cNvSpPr>
          <p:nvPr>
            <p:ph type="title"/>
          </p:nvPr>
        </p:nvSpPr>
        <p:spPr>
          <a:xfrm>
            <a:off x="9093496" y="618681"/>
            <a:ext cx="2613872" cy="4794567"/>
          </a:xfrm>
        </p:spPr>
        <p:txBody>
          <a:bodyPr vert="horz" lIns="91440" tIns="45720" rIns="91440" bIns="45720" rtlCol="0" anchor="ctr">
            <a:normAutofit/>
          </a:bodyPr>
          <a:lstStyle/>
          <a:p>
            <a:pPr algn="ctr"/>
            <a:r>
              <a:rPr lang="en-US" sz="8800" dirty="0">
                <a:latin typeface="Agency FB" panose="020B0503020202020204" pitchFamily="34" charset="77"/>
              </a:rPr>
              <a:t>The Rule of Law</a:t>
            </a:r>
          </a:p>
        </p:txBody>
      </p:sp>
      <p:pic>
        <p:nvPicPr>
          <p:cNvPr id="15362" name="Picture 2" descr="Brexit, Democracy and the Rule of Law | News | CLA">
            <a:extLst>
              <a:ext uri="{FF2B5EF4-FFF2-40B4-BE49-F238E27FC236}">
                <a16:creationId xmlns:a16="http://schemas.microsoft.com/office/drawing/2014/main" id="{3D3E6D81-B1B2-B44C-B348-39644B87EC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2028" y="1073404"/>
            <a:ext cx="6777989" cy="42243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64522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1FF04-8CAC-5047-943E-B8127BA77018}"/>
              </a:ext>
            </a:extLst>
          </p:cNvPr>
          <p:cNvSpPr>
            <a:spLocks noGrp="1"/>
          </p:cNvSpPr>
          <p:nvPr>
            <p:ph type="title"/>
          </p:nvPr>
        </p:nvSpPr>
        <p:spPr>
          <a:xfrm>
            <a:off x="8106032" y="618681"/>
            <a:ext cx="3571103" cy="4794567"/>
          </a:xfrm>
        </p:spPr>
        <p:txBody>
          <a:bodyPr vert="horz" lIns="91440" tIns="45720" rIns="91440" bIns="45720" rtlCol="0" anchor="ctr">
            <a:noAutofit/>
          </a:bodyPr>
          <a:lstStyle/>
          <a:p>
            <a:pPr algn="ctr"/>
            <a:r>
              <a:rPr lang="en-US" sz="6000" dirty="0">
                <a:latin typeface="Agency FB" panose="020B0503020202020204" pitchFamily="34" charset="77"/>
              </a:rPr>
              <a:t>Equality of Opportunities</a:t>
            </a:r>
          </a:p>
        </p:txBody>
      </p:sp>
      <p:pic>
        <p:nvPicPr>
          <p:cNvPr id="17410" name="Picture 2" descr="Equal Employment Opportunity (EEO) Report – Hi-Line Today">
            <a:extLst>
              <a:ext uri="{FF2B5EF4-FFF2-40B4-BE49-F238E27FC236}">
                <a16:creationId xmlns:a16="http://schemas.microsoft.com/office/drawing/2014/main" id="{931F11C3-94B8-5746-8BBE-FA3E575E79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84" y="1269419"/>
            <a:ext cx="6215743" cy="41438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65192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1FF04-8CAC-5047-943E-B8127BA77018}"/>
              </a:ext>
            </a:extLst>
          </p:cNvPr>
          <p:cNvSpPr>
            <a:spLocks noGrp="1"/>
          </p:cNvSpPr>
          <p:nvPr>
            <p:ph type="title"/>
          </p:nvPr>
        </p:nvSpPr>
        <p:spPr>
          <a:xfrm>
            <a:off x="8699157" y="618681"/>
            <a:ext cx="3008211" cy="4794567"/>
          </a:xfrm>
        </p:spPr>
        <p:txBody>
          <a:bodyPr vert="horz" lIns="91440" tIns="45720" rIns="91440" bIns="45720" rtlCol="0" anchor="ctr">
            <a:noAutofit/>
          </a:bodyPr>
          <a:lstStyle/>
          <a:p>
            <a:pPr algn="ctr"/>
            <a:r>
              <a:rPr lang="en-US" sz="6000" dirty="0">
                <a:latin typeface="Agency FB" panose="020B0503020202020204" pitchFamily="34" charset="77"/>
              </a:rPr>
              <a:t>Freedom of Association</a:t>
            </a:r>
          </a:p>
        </p:txBody>
      </p:sp>
      <p:pic>
        <p:nvPicPr>
          <p:cNvPr id="19458" name="Picture 2" descr="Freedom of association - Human Rights House Foundation">
            <a:extLst>
              <a:ext uri="{FF2B5EF4-FFF2-40B4-BE49-F238E27FC236}">
                <a16:creationId xmlns:a16="http://schemas.microsoft.com/office/drawing/2014/main" id="{2E9E03CC-8E1D-974A-82C1-894D4B5E0A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9870" y="1197974"/>
            <a:ext cx="7209140" cy="4056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51598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1FF04-8CAC-5047-943E-B8127BA77018}"/>
              </a:ext>
            </a:extLst>
          </p:cNvPr>
          <p:cNvSpPr>
            <a:spLocks noGrp="1"/>
          </p:cNvSpPr>
          <p:nvPr>
            <p:ph type="title"/>
          </p:nvPr>
        </p:nvSpPr>
        <p:spPr>
          <a:xfrm>
            <a:off x="8084456" y="618681"/>
            <a:ext cx="3622911" cy="4794567"/>
          </a:xfrm>
        </p:spPr>
        <p:txBody>
          <a:bodyPr vert="horz" lIns="91440" tIns="45720" rIns="91440" bIns="45720" rtlCol="0" anchor="ctr">
            <a:normAutofit/>
          </a:bodyPr>
          <a:lstStyle/>
          <a:p>
            <a:pPr algn="ctr"/>
            <a:r>
              <a:rPr lang="en-US" sz="6000" dirty="0">
                <a:latin typeface="Agency FB" panose="020B0503020202020204" pitchFamily="34" charset="77"/>
              </a:rPr>
              <a:t>Peacefulness</a:t>
            </a:r>
          </a:p>
        </p:txBody>
      </p:sp>
      <p:pic>
        <p:nvPicPr>
          <p:cNvPr id="21506" name="Picture 2" descr="IRANIAN CANADIAN COALITION FOR PEACE: Peace, Democracy &amp; Poverty">
            <a:extLst>
              <a:ext uri="{FF2B5EF4-FFF2-40B4-BE49-F238E27FC236}">
                <a16:creationId xmlns:a16="http://schemas.microsoft.com/office/drawing/2014/main" id="{D709145C-1B1A-4043-820C-A9881F9BBA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6629" y="1144814"/>
            <a:ext cx="6937828" cy="47131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14224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1FF04-8CAC-5047-943E-B8127BA77018}"/>
              </a:ext>
            </a:extLst>
          </p:cNvPr>
          <p:cNvSpPr>
            <a:spLocks noGrp="1"/>
          </p:cNvSpPr>
          <p:nvPr>
            <p:ph type="title"/>
          </p:nvPr>
        </p:nvSpPr>
        <p:spPr>
          <a:xfrm>
            <a:off x="8180173" y="618681"/>
            <a:ext cx="3527195" cy="4794567"/>
          </a:xfrm>
        </p:spPr>
        <p:txBody>
          <a:bodyPr vert="horz" lIns="91440" tIns="45720" rIns="91440" bIns="45720" rtlCol="0" anchor="ctr">
            <a:normAutofit/>
          </a:bodyPr>
          <a:lstStyle/>
          <a:p>
            <a:pPr algn="ctr"/>
            <a:r>
              <a:rPr lang="en-US" sz="8800" dirty="0">
                <a:latin typeface="Agency FB" panose="020B0503020202020204" pitchFamily="34" charset="77"/>
              </a:rPr>
              <a:t>Equality under the law</a:t>
            </a:r>
          </a:p>
        </p:txBody>
      </p:sp>
      <p:pic>
        <p:nvPicPr>
          <p:cNvPr id="23554" name="Picture 2" descr="Civil Rights and Equality under the law - Stetson Today">
            <a:extLst>
              <a:ext uri="{FF2B5EF4-FFF2-40B4-BE49-F238E27FC236}">
                <a16:creationId xmlns:a16="http://schemas.microsoft.com/office/drawing/2014/main" id="{9067F503-921D-0D4F-BAA9-746C7ABB8B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7599" y="966107"/>
            <a:ext cx="6429829" cy="4838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71579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1FF04-8CAC-5047-943E-B8127BA77018}"/>
              </a:ext>
            </a:extLst>
          </p:cNvPr>
          <p:cNvSpPr>
            <a:spLocks noGrp="1"/>
          </p:cNvSpPr>
          <p:nvPr>
            <p:ph type="title"/>
          </p:nvPr>
        </p:nvSpPr>
        <p:spPr>
          <a:xfrm>
            <a:off x="8279027" y="618681"/>
            <a:ext cx="3428341" cy="4794567"/>
          </a:xfrm>
        </p:spPr>
        <p:txBody>
          <a:bodyPr vert="horz" lIns="91440" tIns="45720" rIns="91440" bIns="45720" rtlCol="0" anchor="ctr">
            <a:noAutofit/>
          </a:bodyPr>
          <a:lstStyle/>
          <a:p>
            <a:r>
              <a:rPr lang="en-US" sz="4800" dirty="0">
                <a:latin typeface="Agency FB" panose="020B0503020202020204" pitchFamily="34" charset="77"/>
              </a:rPr>
              <a:t>A spirit of egalitarianism that embraces tolerance, mutual respect and compassion for those in need</a:t>
            </a:r>
          </a:p>
        </p:txBody>
      </p:sp>
      <p:sp>
        <p:nvSpPr>
          <p:cNvPr id="3" name="AutoShape 2" descr="What is the difference between a feminist and an egalitarian? - Quora">
            <a:extLst>
              <a:ext uri="{FF2B5EF4-FFF2-40B4-BE49-F238E27FC236}">
                <a16:creationId xmlns:a16="http://schemas.microsoft.com/office/drawing/2014/main" id="{02DCE97B-A0FA-FA41-ABEB-BAA67C5E78E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D95047DE-1E92-3A45-A23E-623F87A54CCF}"/>
              </a:ext>
            </a:extLst>
          </p:cNvPr>
          <p:cNvPicPr>
            <a:picLocks noChangeAspect="1"/>
          </p:cNvPicPr>
          <p:nvPr/>
        </p:nvPicPr>
        <p:blipFill>
          <a:blip r:embed="rId2"/>
          <a:stretch>
            <a:fillRect/>
          </a:stretch>
        </p:blipFill>
        <p:spPr>
          <a:xfrm>
            <a:off x="1223736" y="984154"/>
            <a:ext cx="6512378" cy="4889692"/>
          </a:xfrm>
          <a:prstGeom prst="rect">
            <a:avLst/>
          </a:prstGeom>
        </p:spPr>
      </p:pic>
    </p:spTree>
    <p:extLst>
      <p:ext uri="{BB962C8B-B14F-4D97-AF65-F5344CB8AC3E}">
        <p14:creationId xmlns:p14="http://schemas.microsoft.com/office/powerpoint/2010/main" val="22929166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1FF04-8CAC-5047-943E-B8127BA77018}"/>
              </a:ext>
            </a:extLst>
          </p:cNvPr>
          <p:cNvSpPr>
            <a:spLocks noGrp="1"/>
          </p:cNvSpPr>
          <p:nvPr>
            <p:ph type="title"/>
          </p:nvPr>
        </p:nvSpPr>
        <p:spPr>
          <a:xfrm>
            <a:off x="8438588" y="791675"/>
            <a:ext cx="2613872" cy="4794567"/>
          </a:xfrm>
        </p:spPr>
        <p:txBody>
          <a:bodyPr vert="horz" lIns="91440" tIns="45720" rIns="91440" bIns="45720" rtlCol="0" anchor="ctr">
            <a:normAutofit/>
          </a:bodyPr>
          <a:lstStyle/>
          <a:p>
            <a:pPr algn="ctr"/>
            <a:r>
              <a:rPr lang="en-US" sz="8800" dirty="0">
                <a:latin typeface="Agency FB" panose="020B0503020202020204" pitchFamily="34" charset="77"/>
              </a:rPr>
              <a:t>Equal Worth</a:t>
            </a:r>
          </a:p>
        </p:txBody>
      </p:sp>
      <p:sp>
        <p:nvSpPr>
          <p:cNvPr id="3" name="AutoShape 2" descr="What is the difference between a feminist and an egalitarian? - Quora">
            <a:extLst>
              <a:ext uri="{FF2B5EF4-FFF2-40B4-BE49-F238E27FC236}">
                <a16:creationId xmlns:a16="http://schemas.microsoft.com/office/drawing/2014/main" id="{02DCE97B-A0FA-FA41-ABEB-BAA67C5E78E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8674" name="Picture 2" descr="Mutual respect, US pressure boost Sino-Russian relationship - Global Times">
            <a:extLst>
              <a:ext uri="{FF2B5EF4-FFF2-40B4-BE49-F238E27FC236}">
                <a16:creationId xmlns:a16="http://schemas.microsoft.com/office/drawing/2014/main" id="{F905FED2-5673-8A49-AE36-EB699A1715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2862" y="484632"/>
            <a:ext cx="6350000"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18985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B7D31-D550-C24A-A195-E72ABEF6A747}"/>
              </a:ext>
            </a:extLst>
          </p:cNvPr>
          <p:cNvSpPr>
            <a:spLocks noGrp="1"/>
          </p:cNvSpPr>
          <p:nvPr>
            <p:ph type="title"/>
          </p:nvPr>
        </p:nvSpPr>
        <p:spPr/>
        <p:txBody>
          <a:bodyPr/>
          <a:lstStyle/>
          <a:p>
            <a:r>
              <a:rPr lang="en-US" dirty="0">
                <a:latin typeface="Agency FB" panose="020B0503020202020204" pitchFamily="34" charset="77"/>
              </a:rPr>
              <a:t>Australia is a </a:t>
            </a:r>
            <a:r>
              <a:rPr lang="en-US" b="1" dirty="0">
                <a:latin typeface="Agency FB" panose="020B0503020202020204" pitchFamily="34" charset="77"/>
              </a:rPr>
              <a:t>representative democracy…</a:t>
            </a:r>
          </a:p>
        </p:txBody>
      </p:sp>
      <p:sp>
        <p:nvSpPr>
          <p:cNvPr id="3" name="Content Placeholder 2">
            <a:extLst>
              <a:ext uri="{FF2B5EF4-FFF2-40B4-BE49-F238E27FC236}">
                <a16:creationId xmlns:a16="http://schemas.microsoft.com/office/drawing/2014/main" id="{0873F308-A001-5F43-82D2-24DAF975EFF1}"/>
              </a:ext>
            </a:extLst>
          </p:cNvPr>
          <p:cNvSpPr>
            <a:spLocks noGrp="1"/>
          </p:cNvSpPr>
          <p:nvPr>
            <p:ph idx="1"/>
          </p:nvPr>
        </p:nvSpPr>
        <p:spPr/>
        <p:txBody>
          <a:bodyPr/>
          <a:lstStyle/>
          <a:p>
            <a:r>
              <a:rPr lang="en-US" dirty="0">
                <a:latin typeface="Agency FB" panose="020B0503020202020204" pitchFamily="34" charset="77"/>
              </a:rPr>
              <a:t>This means that the citizens of Australia vote for people who represent them in parliament</a:t>
            </a:r>
          </a:p>
          <a:p>
            <a:r>
              <a:rPr lang="en-US" dirty="0">
                <a:latin typeface="Agency FB" panose="020B0503020202020204" pitchFamily="34" charset="77"/>
              </a:rPr>
              <a:t>It means that the citizens have the sovereign power but political power is exercised indirectly through elected representatives</a:t>
            </a:r>
          </a:p>
        </p:txBody>
      </p:sp>
    </p:spTree>
    <p:extLst>
      <p:ext uri="{BB962C8B-B14F-4D97-AF65-F5344CB8AC3E}">
        <p14:creationId xmlns:p14="http://schemas.microsoft.com/office/powerpoint/2010/main" val="27087946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6" name="Rectangle 70">
            <a:extLst>
              <a:ext uri="{FF2B5EF4-FFF2-40B4-BE49-F238E27FC236}">
                <a16:creationId xmlns:a16="http://schemas.microsoft.com/office/drawing/2014/main" id="{55666830-9A19-4E01-8505-D6C7F9AC566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rick wilson Archives - Frankland River CRC">
            <a:extLst>
              <a:ext uri="{FF2B5EF4-FFF2-40B4-BE49-F238E27FC236}">
                <a16:creationId xmlns:a16="http://schemas.microsoft.com/office/drawing/2014/main" id="{9574B049-EF29-A04E-A7A9-CDBD9F95717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9785" b="33785"/>
          <a:stretch/>
        </p:blipFill>
        <p:spPr bwMode="auto">
          <a:xfrm>
            <a:off x="4110127" y="10"/>
            <a:ext cx="8081873" cy="6857990"/>
          </a:xfrm>
          <a:custGeom>
            <a:avLst/>
            <a:gdLst/>
            <a:ahLst/>
            <a:cxnLst/>
            <a:rect l="l" t="t" r="r" b="b"/>
            <a:pathLst>
              <a:path w="8081873" h="6858000">
                <a:moveTo>
                  <a:pt x="0" y="0"/>
                </a:moveTo>
                <a:lnTo>
                  <a:pt x="8081873" y="0"/>
                </a:lnTo>
                <a:lnTo>
                  <a:pt x="8081873" y="6858000"/>
                </a:lnTo>
                <a:lnTo>
                  <a:pt x="0" y="6858000"/>
                </a:lnTo>
                <a:lnTo>
                  <a:pt x="68897" y="6734633"/>
                </a:lnTo>
                <a:cubicBezTo>
                  <a:pt x="558802" y="5812845"/>
                  <a:pt x="848920" y="4668597"/>
                  <a:pt x="848920" y="3429000"/>
                </a:cubicBezTo>
                <a:cubicBezTo>
                  <a:pt x="848920" y="2189404"/>
                  <a:pt x="558802" y="1045156"/>
                  <a:pt x="68897" y="123368"/>
                </a:cubicBezTo>
                <a:close/>
              </a:path>
            </a:pathLst>
          </a:custGeom>
          <a:noFill/>
          <a:extLst>
            <a:ext uri="{909E8E84-426E-40DD-AFC4-6F175D3DCCD1}">
              <a14:hiddenFill xmlns:a14="http://schemas.microsoft.com/office/drawing/2010/main">
                <a:solidFill>
                  <a:srgbClr val="FFFFFF"/>
                </a:solidFill>
              </a14:hiddenFill>
            </a:ext>
          </a:extLst>
        </p:spPr>
      </p:pic>
      <p:sp useBgFill="1">
        <p:nvSpPr>
          <p:cNvPr id="3077" name="Freeform: Shape 72">
            <a:extLst>
              <a:ext uri="{FF2B5EF4-FFF2-40B4-BE49-F238E27FC236}">
                <a16:creationId xmlns:a16="http://schemas.microsoft.com/office/drawing/2014/main" id="{AE9FC877-7FB6-4D22-9988-35420644E20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078" name="Freeform: Shape 74">
            <a:extLst>
              <a:ext uri="{FF2B5EF4-FFF2-40B4-BE49-F238E27FC236}">
                <a16:creationId xmlns:a16="http://schemas.microsoft.com/office/drawing/2014/main" id="{E41809D1-F12E-46BB-B804-5F209D325E8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FDE51ED-6E9F-3C41-A892-DAA341091394}"/>
              </a:ext>
            </a:extLst>
          </p:cNvPr>
          <p:cNvSpPr>
            <a:spLocks noGrp="1"/>
          </p:cNvSpPr>
          <p:nvPr>
            <p:ph type="title"/>
          </p:nvPr>
        </p:nvSpPr>
        <p:spPr>
          <a:xfrm>
            <a:off x="477981" y="1122363"/>
            <a:ext cx="4023360" cy="3204134"/>
          </a:xfrm>
        </p:spPr>
        <p:txBody>
          <a:bodyPr vert="horz" lIns="91440" tIns="45720" rIns="91440" bIns="45720" rtlCol="0" anchor="b">
            <a:normAutofit fontScale="90000"/>
          </a:bodyPr>
          <a:lstStyle/>
          <a:p>
            <a:r>
              <a:rPr lang="en-US" sz="4400" dirty="0">
                <a:latin typeface="Agency FB" panose="020B0503020202020204" pitchFamily="34" charset="77"/>
              </a:rPr>
              <a:t>Rick Wilson is the elected representative in our Federal Parliament for those us who live in the O’Connor Electorate</a:t>
            </a:r>
          </a:p>
        </p:txBody>
      </p:sp>
      <p:sp>
        <p:nvSpPr>
          <p:cNvPr id="3079" name="Rectangle 76">
            <a:extLst>
              <a:ext uri="{FF2B5EF4-FFF2-40B4-BE49-F238E27FC236}">
                <a16:creationId xmlns:a16="http://schemas.microsoft.com/office/drawing/2014/main" id="{AF2F604E-43BE-4DC3-B983-E071523364F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08C9B587-E65E-4B52-B37C-ABEBB6E8792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65631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AU" sz="4800" i="1" dirty="0" smtClean="0"/>
              <a:t>“I think we take democracy for granted. I don’t think we actually know what a world without democracy would look like…”</a:t>
            </a:r>
            <a:endParaRPr lang="en-AU" sz="4800" i="1" dirty="0"/>
          </a:p>
        </p:txBody>
      </p:sp>
      <p:sp>
        <p:nvSpPr>
          <p:cNvPr id="4" name="Subtitle 3"/>
          <p:cNvSpPr>
            <a:spLocks noGrp="1"/>
          </p:cNvSpPr>
          <p:nvPr>
            <p:ph type="subTitle" idx="1"/>
          </p:nvPr>
        </p:nvSpPr>
        <p:spPr/>
        <p:txBody>
          <a:bodyPr/>
          <a:lstStyle/>
          <a:p>
            <a:endParaRPr lang="en-AU"/>
          </a:p>
        </p:txBody>
      </p:sp>
    </p:spTree>
    <p:extLst>
      <p:ext uri="{BB962C8B-B14F-4D97-AF65-F5344CB8AC3E}">
        <p14:creationId xmlns:p14="http://schemas.microsoft.com/office/powerpoint/2010/main" val="41647076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What do you know about life in China?</a:t>
            </a:r>
            <a:endParaRPr lang="en-AU" dirty="0"/>
          </a:p>
        </p:txBody>
      </p:sp>
      <p:sp>
        <p:nvSpPr>
          <p:cNvPr id="3" name="Subtitle 2"/>
          <p:cNvSpPr>
            <a:spLocks noGrp="1"/>
          </p:cNvSpPr>
          <p:nvPr>
            <p:ph type="subTitle" idx="1"/>
          </p:nvPr>
        </p:nvSpPr>
        <p:spPr/>
        <p:txBody>
          <a:bodyPr/>
          <a:lstStyle/>
          <a:p>
            <a:endParaRPr lang="en-AU"/>
          </a:p>
        </p:txBody>
      </p:sp>
    </p:spTree>
    <p:extLst>
      <p:ext uri="{BB962C8B-B14F-4D97-AF65-F5344CB8AC3E}">
        <p14:creationId xmlns:p14="http://schemas.microsoft.com/office/powerpoint/2010/main" val="15947998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AU" sz="4800" i="1" dirty="0" smtClean="0"/>
              <a:t>“I think we take democracy for granted. I don’t think we actually know what a world without democracy would look like…”</a:t>
            </a:r>
            <a:endParaRPr lang="en-AU" sz="4800" i="1" dirty="0"/>
          </a:p>
        </p:txBody>
      </p:sp>
      <p:sp>
        <p:nvSpPr>
          <p:cNvPr id="3" name="Subtitle 2"/>
          <p:cNvSpPr>
            <a:spLocks noGrp="1"/>
          </p:cNvSpPr>
          <p:nvPr>
            <p:ph type="subTitle" idx="1"/>
          </p:nvPr>
        </p:nvSpPr>
        <p:spPr/>
        <p:txBody>
          <a:bodyPr/>
          <a:lstStyle/>
          <a:p>
            <a:r>
              <a:rPr lang="en-AU" dirty="0">
                <a:hlinkClick r:id="rId2"/>
              </a:rPr>
              <a:t>https://</a:t>
            </a:r>
            <a:r>
              <a:rPr lang="en-AU" dirty="0" smtClean="0">
                <a:hlinkClick r:id="rId2"/>
              </a:rPr>
              <a:t>www.youtube.com/watch?v=0cGB8dCDf3c</a:t>
            </a:r>
            <a:r>
              <a:rPr lang="en-AU" dirty="0" smtClean="0"/>
              <a:t> </a:t>
            </a:r>
          </a:p>
          <a:p>
            <a:r>
              <a:rPr lang="en-AU" dirty="0">
                <a:hlinkClick r:id="rId3"/>
              </a:rPr>
              <a:t>https://</a:t>
            </a:r>
            <a:r>
              <a:rPr lang="en-AU" dirty="0" smtClean="0">
                <a:hlinkClick r:id="rId3"/>
              </a:rPr>
              <a:t>www.youtube.com/watch?v=Uzn8f38sw90</a:t>
            </a:r>
            <a:r>
              <a:rPr lang="en-AU" dirty="0" smtClean="0"/>
              <a:t> </a:t>
            </a:r>
            <a:endParaRPr lang="en-AU" dirty="0"/>
          </a:p>
        </p:txBody>
      </p:sp>
    </p:spTree>
    <p:extLst>
      <p:ext uri="{BB962C8B-B14F-4D97-AF65-F5344CB8AC3E}">
        <p14:creationId xmlns:p14="http://schemas.microsoft.com/office/powerpoint/2010/main" val="37348331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3950163" y="9525"/>
            <a:ext cx="2914650" cy="6848475"/>
            <a:chOff x="3004990" y="0"/>
            <a:chExt cx="2914650" cy="6848475"/>
          </a:xfrm>
        </p:grpSpPr>
        <p:pic>
          <p:nvPicPr>
            <p:cNvPr id="2" name="Picture 1"/>
            <p:cNvPicPr>
              <a:picLocks noChangeAspect="1"/>
            </p:cNvPicPr>
            <p:nvPr/>
          </p:nvPicPr>
          <p:blipFill>
            <a:blip r:embed="rId2"/>
            <a:stretch>
              <a:fillRect/>
            </a:stretch>
          </p:blipFill>
          <p:spPr>
            <a:xfrm>
              <a:off x="3004990" y="9525"/>
              <a:ext cx="1933575" cy="6838950"/>
            </a:xfrm>
            <a:prstGeom prst="rect">
              <a:avLst/>
            </a:prstGeom>
          </p:spPr>
        </p:pic>
        <p:pic>
          <p:nvPicPr>
            <p:cNvPr id="3" name="Picture 2"/>
            <p:cNvPicPr>
              <a:picLocks noChangeAspect="1"/>
            </p:cNvPicPr>
            <p:nvPr/>
          </p:nvPicPr>
          <p:blipFill>
            <a:blip r:embed="rId3"/>
            <a:stretch>
              <a:fillRect/>
            </a:stretch>
          </p:blipFill>
          <p:spPr>
            <a:xfrm>
              <a:off x="4938565" y="0"/>
              <a:ext cx="981075" cy="6838950"/>
            </a:xfrm>
            <a:prstGeom prst="rect">
              <a:avLst/>
            </a:prstGeom>
          </p:spPr>
        </p:pic>
      </p:grpSp>
    </p:spTree>
    <p:extLst>
      <p:ext uri="{BB962C8B-B14F-4D97-AF65-F5344CB8AC3E}">
        <p14:creationId xmlns:p14="http://schemas.microsoft.com/office/powerpoint/2010/main" val="15544286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837396140"/>
              </p:ext>
            </p:extLst>
          </p:nvPr>
        </p:nvGraphicFramePr>
        <p:xfrm>
          <a:off x="3287398" y="606423"/>
          <a:ext cx="5423466" cy="5477597"/>
        </p:xfrm>
        <a:graphic>
          <a:graphicData uri="http://schemas.openxmlformats.org/drawingml/2006/table">
            <a:tbl>
              <a:tblPr firstRow="1" firstCol="1" bandRow="1"/>
              <a:tblGrid>
                <a:gridCol w="5423466">
                  <a:extLst>
                    <a:ext uri="{9D8B030D-6E8A-4147-A177-3AD203B41FA5}">
                      <a16:colId xmlns:a16="http://schemas.microsoft.com/office/drawing/2014/main" val="177219647"/>
                    </a:ext>
                  </a:extLst>
                </a:gridCol>
              </a:tblGrid>
              <a:tr h="319987">
                <a:tc>
                  <a:txBody>
                    <a:bodyPr/>
                    <a:lstStyle/>
                    <a:p>
                      <a:pPr algn="ctr">
                        <a:spcAft>
                          <a:spcPts val="0"/>
                        </a:spcAft>
                      </a:pPr>
                      <a:r>
                        <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rPr>
                        <a:t>Democratic Features</a:t>
                      </a:r>
                      <a:endParaRPr lang="en-AU"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7197" marR="4719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366667"/>
                  </a:ext>
                </a:extLst>
              </a:tr>
              <a:tr h="448087">
                <a:tc>
                  <a:txBody>
                    <a:bodyPr/>
                    <a:lstStyle/>
                    <a:p>
                      <a:pPr algn="ctr">
                        <a:spcAft>
                          <a:spcPts val="0"/>
                        </a:spcAft>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Types of Democracy</a:t>
                      </a:r>
                      <a:endParaRPr lang="en-AU"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7197" marR="4719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1336546"/>
                  </a:ext>
                </a:extLst>
              </a:tr>
              <a:tr h="448087">
                <a:tc>
                  <a:txBody>
                    <a:bodyPr/>
                    <a:lstStyle/>
                    <a:p>
                      <a:pPr algn="ctr">
                        <a:spcAft>
                          <a:spcPts val="0"/>
                        </a:spcAft>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President vs. Prime Minister</a:t>
                      </a:r>
                      <a:endParaRPr lang="en-AU"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7197" marR="4719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5529780"/>
                  </a:ext>
                </a:extLst>
              </a:tr>
              <a:tr h="448087">
                <a:tc>
                  <a:txBody>
                    <a:bodyPr/>
                    <a:lstStyle/>
                    <a:p>
                      <a:pPr algn="ctr">
                        <a:spcAft>
                          <a:spcPts val="0"/>
                        </a:spcAft>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Bicameral legislature</a:t>
                      </a:r>
                      <a:endParaRPr lang="en-AU"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7197" marR="4719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0369997"/>
                  </a:ext>
                </a:extLst>
              </a:tr>
              <a:tr h="448087">
                <a:tc>
                  <a:txBody>
                    <a:bodyPr/>
                    <a:lstStyle/>
                    <a:p>
                      <a:pPr algn="ctr">
                        <a:spcAft>
                          <a:spcPts val="0"/>
                        </a:spcAft>
                      </a:pPr>
                      <a:r>
                        <a:rPr lang="en-US" sz="2000" b="1">
                          <a:effectLst/>
                          <a:latin typeface="Times New Roman" panose="02020603050405020304" pitchFamily="18" charset="0"/>
                          <a:ea typeface="Times New Roman" panose="02020603050405020304" pitchFamily="18" charset="0"/>
                          <a:cs typeface="Times New Roman" panose="02020603050405020304" pitchFamily="18" charset="0"/>
                        </a:rPr>
                        <a:t>Federal Government</a:t>
                      </a:r>
                      <a:endParaRPr lang="en-AU"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7197" marR="4719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27552279"/>
                  </a:ext>
                </a:extLst>
              </a:tr>
              <a:tr h="448087">
                <a:tc>
                  <a:txBody>
                    <a:bodyPr/>
                    <a:lstStyle/>
                    <a:p>
                      <a:pPr algn="ctr">
                        <a:spcAft>
                          <a:spcPts val="0"/>
                        </a:spcAft>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Written Constitution </a:t>
                      </a:r>
                      <a:endParaRPr lang="en-AU"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7197" marR="4719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98968361"/>
                  </a:ext>
                </a:extLst>
              </a:tr>
              <a:tr h="448087">
                <a:tc>
                  <a:txBody>
                    <a:bodyPr/>
                    <a:lstStyle/>
                    <a:p>
                      <a:pPr algn="ctr">
                        <a:spcAft>
                          <a:spcPts val="0"/>
                        </a:spcAft>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Separation of Powers</a:t>
                      </a:r>
                      <a:endParaRPr lang="en-AU"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7197" marR="4719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9923508"/>
                  </a:ext>
                </a:extLst>
              </a:tr>
              <a:tr h="448087">
                <a:tc>
                  <a:txBody>
                    <a:bodyPr/>
                    <a:lstStyle/>
                    <a:p>
                      <a:pPr algn="ctr">
                        <a:spcAft>
                          <a:spcPts val="0"/>
                        </a:spcAft>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Type of party system (One Party vs. Multi-party)</a:t>
                      </a:r>
                      <a:endParaRPr lang="en-AU"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7197" marR="4719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61728842"/>
                  </a:ext>
                </a:extLst>
              </a:tr>
              <a:tr h="448087">
                <a:tc>
                  <a:txBody>
                    <a:bodyPr/>
                    <a:lstStyle/>
                    <a:p>
                      <a:pPr algn="ctr">
                        <a:spcAft>
                          <a:spcPts val="0"/>
                        </a:spcAft>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Voting</a:t>
                      </a:r>
                      <a:endParaRPr lang="en-AU"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7197" marR="4719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57587622"/>
                  </a:ext>
                </a:extLst>
              </a:tr>
              <a:tr h="448087">
                <a:tc>
                  <a:txBody>
                    <a:bodyPr/>
                    <a:lstStyle/>
                    <a:p>
                      <a:pPr algn="ctr">
                        <a:spcAft>
                          <a:spcPts val="0"/>
                        </a:spcAft>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Respect for the Rule of Law</a:t>
                      </a:r>
                      <a:endParaRPr lang="en-AU"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7197" marR="4719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1134857"/>
                  </a:ext>
                </a:extLst>
              </a:tr>
              <a:tr h="448087">
                <a:tc>
                  <a:txBody>
                    <a:bodyPr/>
                    <a:lstStyle/>
                    <a:p>
                      <a:pPr algn="ctr">
                        <a:spcAft>
                          <a:spcPts val="0"/>
                        </a:spcAft>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Independent Judiciary</a:t>
                      </a:r>
                      <a:endParaRPr lang="en-AU"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7197" marR="4719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26553734"/>
                  </a:ext>
                </a:extLst>
              </a:tr>
              <a:tr h="448087">
                <a:tc>
                  <a:txBody>
                    <a:bodyPr/>
                    <a:lstStyle/>
                    <a:p>
                      <a:pPr algn="ctr">
                        <a:spcAft>
                          <a:spcPts val="0"/>
                        </a:spcAft>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Free Elections</a:t>
                      </a:r>
                      <a:endParaRPr lang="en-AU"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7197" marR="4719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63084962"/>
                  </a:ext>
                </a:extLst>
              </a:tr>
            </a:tbl>
          </a:graphicData>
        </a:graphic>
      </p:graphicFrame>
    </p:spTree>
    <p:extLst>
      <p:ext uri="{BB962C8B-B14F-4D97-AF65-F5344CB8AC3E}">
        <p14:creationId xmlns:p14="http://schemas.microsoft.com/office/powerpoint/2010/main" val="35783576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633BA-7C45-F247-A994-8B8CE81ECEF6}"/>
              </a:ext>
            </a:extLst>
          </p:cNvPr>
          <p:cNvSpPr>
            <a:spLocks noGrp="1"/>
          </p:cNvSpPr>
          <p:nvPr>
            <p:ph type="title"/>
          </p:nvPr>
        </p:nvSpPr>
        <p:spPr/>
        <p:txBody>
          <a:bodyPr>
            <a:normAutofit/>
          </a:bodyPr>
          <a:lstStyle/>
          <a:p>
            <a:r>
              <a:rPr lang="en-US" sz="4800" dirty="0">
                <a:latin typeface="Agency FB" panose="020B0503020202020204" pitchFamily="34" charset="77"/>
              </a:rPr>
              <a:t>Safeguards to Australia’s democratic society</a:t>
            </a:r>
          </a:p>
        </p:txBody>
      </p:sp>
      <p:sp>
        <p:nvSpPr>
          <p:cNvPr id="3" name="Content Placeholder 2">
            <a:extLst>
              <a:ext uri="{FF2B5EF4-FFF2-40B4-BE49-F238E27FC236}">
                <a16:creationId xmlns:a16="http://schemas.microsoft.com/office/drawing/2014/main" id="{04671345-D60B-F044-904A-608AC48AF57E}"/>
              </a:ext>
            </a:extLst>
          </p:cNvPr>
          <p:cNvSpPr>
            <a:spLocks noGrp="1"/>
          </p:cNvSpPr>
          <p:nvPr>
            <p:ph idx="1"/>
          </p:nvPr>
        </p:nvSpPr>
        <p:spPr/>
        <p:txBody>
          <a:bodyPr>
            <a:normAutofit/>
          </a:bodyPr>
          <a:lstStyle/>
          <a:p>
            <a:r>
              <a:rPr lang="en-US" sz="3600" dirty="0">
                <a:latin typeface="Agency FB" panose="020B0503020202020204" pitchFamily="34" charset="77"/>
              </a:rPr>
              <a:t>In order to have a strong society that is able to meet challenges, Australia’s system of government is based upon core beliefs and attitudes that are respected and valued by most people in our democratic society. </a:t>
            </a:r>
          </a:p>
          <a:p>
            <a:r>
              <a:rPr lang="en-US" sz="3600" dirty="0">
                <a:latin typeface="Agency FB" panose="020B0503020202020204" pitchFamily="34" charset="77"/>
              </a:rPr>
              <a:t>Our democracy is based on the prevailing beliefs that the people, in free and fair elections must elect the government and that the government must promote tolerance, cooperation and the freedom of the people by upholding basic human rights</a:t>
            </a:r>
          </a:p>
        </p:txBody>
      </p:sp>
    </p:spTree>
    <p:extLst>
      <p:ext uri="{BB962C8B-B14F-4D97-AF65-F5344CB8AC3E}">
        <p14:creationId xmlns:p14="http://schemas.microsoft.com/office/powerpoint/2010/main" val="28394436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B7D31-D550-C24A-A195-E72ABEF6A747}"/>
              </a:ext>
            </a:extLst>
          </p:cNvPr>
          <p:cNvSpPr>
            <a:spLocks noGrp="1"/>
          </p:cNvSpPr>
          <p:nvPr>
            <p:ph type="title"/>
          </p:nvPr>
        </p:nvSpPr>
        <p:spPr/>
        <p:txBody>
          <a:bodyPr/>
          <a:lstStyle/>
          <a:p>
            <a:r>
              <a:rPr lang="en-US" dirty="0">
                <a:latin typeface="Agency FB" panose="020B0503020202020204" pitchFamily="34" charset="77"/>
              </a:rPr>
              <a:t>Safeguard 1: The People Elect the Government</a:t>
            </a:r>
            <a:endParaRPr lang="en-US" b="1" dirty="0">
              <a:latin typeface="Agency FB" panose="020B0503020202020204" pitchFamily="34" charset="77"/>
            </a:endParaRPr>
          </a:p>
        </p:txBody>
      </p:sp>
      <p:sp>
        <p:nvSpPr>
          <p:cNvPr id="3" name="Content Placeholder 2">
            <a:extLst>
              <a:ext uri="{FF2B5EF4-FFF2-40B4-BE49-F238E27FC236}">
                <a16:creationId xmlns:a16="http://schemas.microsoft.com/office/drawing/2014/main" id="{0873F308-A001-5F43-82D2-24DAF975EFF1}"/>
              </a:ext>
            </a:extLst>
          </p:cNvPr>
          <p:cNvSpPr>
            <a:spLocks noGrp="1"/>
          </p:cNvSpPr>
          <p:nvPr>
            <p:ph idx="1"/>
          </p:nvPr>
        </p:nvSpPr>
        <p:spPr/>
        <p:txBody>
          <a:bodyPr>
            <a:normAutofit/>
          </a:bodyPr>
          <a:lstStyle/>
          <a:p>
            <a:r>
              <a:rPr lang="en-US" sz="4000" dirty="0">
                <a:latin typeface="Agency FB" panose="020B0503020202020204" pitchFamily="34" charset="77"/>
              </a:rPr>
              <a:t>One main safeguard to Australia’s democracy is that each state, territory and Federal parliaments throughout Australia is elected by the people to make laws on their behalf.</a:t>
            </a:r>
          </a:p>
          <a:p>
            <a:r>
              <a:rPr lang="en-US" sz="4000" dirty="0">
                <a:latin typeface="Agency FB" panose="020B0503020202020204" pitchFamily="34" charset="77"/>
              </a:rPr>
              <a:t>Compulsory voting aims to make sure that our governments have the support of the majority of the people and not just those who bother to vote.</a:t>
            </a:r>
          </a:p>
        </p:txBody>
      </p:sp>
    </p:spTree>
    <p:extLst>
      <p:ext uri="{BB962C8B-B14F-4D97-AF65-F5344CB8AC3E}">
        <p14:creationId xmlns:p14="http://schemas.microsoft.com/office/powerpoint/2010/main" val="5660482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B7D31-D550-C24A-A195-E72ABEF6A747}"/>
              </a:ext>
            </a:extLst>
          </p:cNvPr>
          <p:cNvSpPr>
            <a:spLocks noGrp="1"/>
          </p:cNvSpPr>
          <p:nvPr>
            <p:ph type="title"/>
          </p:nvPr>
        </p:nvSpPr>
        <p:spPr/>
        <p:txBody>
          <a:bodyPr/>
          <a:lstStyle/>
          <a:p>
            <a:r>
              <a:rPr lang="en-US" dirty="0">
                <a:latin typeface="Agency FB" panose="020B0503020202020204" pitchFamily="34" charset="77"/>
              </a:rPr>
              <a:t>Safeguard 1: The People Elect the Government</a:t>
            </a:r>
            <a:endParaRPr lang="en-US" b="1" dirty="0">
              <a:latin typeface="Agency FB" panose="020B0503020202020204" pitchFamily="34" charset="77"/>
            </a:endParaRPr>
          </a:p>
        </p:txBody>
      </p:sp>
      <p:sp>
        <p:nvSpPr>
          <p:cNvPr id="3" name="Content Placeholder 2">
            <a:extLst>
              <a:ext uri="{FF2B5EF4-FFF2-40B4-BE49-F238E27FC236}">
                <a16:creationId xmlns:a16="http://schemas.microsoft.com/office/drawing/2014/main" id="{0873F308-A001-5F43-82D2-24DAF975EFF1}"/>
              </a:ext>
            </a:extLst>
          </p:cNvPr>
          <p:cNvSpPr>
            <a:spLocks noGrp="1"/>
          </p:cNvSpPr>
          <p:nvPr>
            <p:ph idx="1"/>
          </p:nvPr>
        </p:nvSpPr>
        <p:spPr/>
        <p:txBody>
          <a:bodyPr>
            <a:normAutofit/>
          </a:bodyPr>
          <a:lstStyle/>
          <a:p>
            <a:r>
              <a:rPr lang="en-US" sz="3600" dirty="0">
                <a:latin typeface="Agency FB" panose="020B0503020202020204" pitchFamily="34" charset="77"/>
              </a:rPr>
              <a:t>Independent state and federal electoral commissions have the role of ensuring all state, territory and federal elections held throughout Australia are free, fair and conducted in accordance with state and Commonwealth law.</a:t>
            </a:r>
          </a:p>
          <a:p>
            <a:r>
              <a:rPr lang="en-US" sz="3600" dirty="0">
                <a:latin typeface="Agency FB" panose="020B0503020202020204" pitchFamily="34" charset="77"/>
              </a:rPr>
              <a:t>For example, the Australian Electoral Commission (AEC) is responsible for managing federal elections and maintaining the Commonwealth electoral roll, which lists the names and addresses of all eligible citizens who have enrolled to vote.</a:t>
            </a:r>
          </a:p>
        </p:txBody>
      </p:sp>
    </p:spTree>
    <p:extLst>
      <p:ext uri="{BB962C8B-B14F-4D97-AF65-F5344CB8AC3E}">
        <p14:creationId xmlns:p14="http://schemas.microsoft.com/office/powerpoint/2010/main" val="5479970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B7D31-D550-C24A-A195-E72ABEF6A747}"/>
              </a:ext>
            </a:extLst>
          </p:cNvPr>
          <p:cNvSpPr>
            <a:spLocks noGrp="1"/>
          </p:cNvSpPr>
          <p:nvPr>
            <p:ph type="title"/>
          </p:nvPr>
        </p:nvSpPr>
        <p:spPr/>
        <p:txBody>
          <a:bodyPr/>
          <a:lstStyle/>
          <a:p>
            <a:r>
              <a:rPr lang="en-US" dirty="0">
                <a:latin typeface="Agency FB" panose="020B0503020202020204" pitchFamily="34" charset="77"/>
              </a:rPr>
              <a:t>Safeguard 1: The People Elect the Government</a:t>
            </a:r>
            <a:endParaRPr lang="en-US" b="1" dirty="0">
              <a:latin typeface="Agency FB" panose="020B0503020202020204" pitchFamily="34" charset="77"/>
            </a:endParaRPr>
          </a:p>
        </p:txBody>
      </p:sp>
      <p:sp>
        <p:nvSpPr>
          <p:cNvPr id="3" name="Content Placeholder 2">
            <a:extLst>
              <a:ext uri="{FF2B5EF4-FFF2-40B4-BE49-F238E27FC236}">
                <a16:creationId xmlns:a16="http://schemas.microsoft.com/office/drawing/2014/main" id="{0873F308-A001-5F43-82D2-24DAF975EFF1}"/>
              </a:ext>
            </a:extLst>
          </p:cNvPr>
          <p:cNvSpPr>
            <a:spLocks noGrp="1"/>
          </p:cNvSpPr>
          <p:nvPr>
            <p:ph idx="1"/>
          </p:nvPr>
        </p:nvSpPr>
        <p:spPr/>
        <p:txBody>
          <a:bodyPr>
            <a:normAutofit/>
          </a:bodyPr>
          <a:lstStyle/>
          <a:p>
            <a:r>
              <a:rPr lang="en-US" sz="3600" dirty="0">
                <a:latin typeface="Agency FB" panose="020B0503020202020204" pitchFamily="34" charset="77"/>
              </a:rPr>
              <a:t>The AEC must confirm that approximately 16 million people throughout Australia are able to cast their vote in secret. </a:t>
            </a:r>
          </a:p>
          <a:p>
            <a:r>
              <a:rPr lang="en-US" sz="3600" dirty="0">
                <a:latin typeface="Agency FB" panose="020B0503020202020204" pitchFamily="34" charset="77"/>
              </a:rPr>
              <a:t>This can be at venues or polling booths on election day or through postal votes for those who cannot attend a polling booth on the day of the election.</a:t>
            </a:r>
          </a:p>
          <a:p>
            <a:r>
              <a:rPr lang="en-US" sz="3600" dirty="0">
                <a:latin typeface="Agency FB" panose="020B0503020202020204" pitchFamily="34" charset="77"/>
              </a:rPr>
              <a:t>The AEC must also check that votes are honestly counted.</a:t>
            </a:r>
          </a:p>
        </p:txBody>
      </p:sp>
    </p:spTree>
    <p:extLst>
      <p:ext uri="{BB962C8B-B14F-4D97-AF65-F5344CB8AC3E}">
        <p14:creationId xmlns:p14="http://schemas.microsoft.com/office/powerpoint/2010/main" val="27814038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B7D31-D550-C24A-A195-E72ABEF6A747}"/>
              </a:ext>
            </a:extLst>
          </p:cNvPr>
          <p:cNvSpPr>
            <a:spLocks noGrp="1"/>
          </p:cNvSpPr>
          <p:nvPr>
            <p:ph type="title"/>
          </p:nvPr>
        </p:nvSpPr>
        <p:spPr/>
        <p:txBody>
          <a:bodyPr/>
          <a:lstStyle/>
          <a:p>
            <a:r>
              <a:rPr lang="en-US" dirty="0">
                <a:latin typeface="Agency FB" panose="020B0503020202020204" pitchFamily="34" charset="77"/>
              </a:rPr>
              <a:t>Safeguard 1: The People Elect the Government</a:t>
            </a:r>
            <a:endParaRPr lang="en-US" b="1" dirty="0">
              <a:latin typeface="Agency FB" panose="020B0503020202020204" pitchFamily="34" charset="77"/>
            </a:endParaRPr>
          </a:p>
        </p:txBody>
      </p:sp>
      <p:sp>
        <p:nvSpPr>
          <p:cNvPr id="3" name="Content Placeholder 2">
            <a:extLst>
              <a:ext uri="{FF2B5EF4-FFF2-40B4-BE49-F238E27FC236}">
                <a16:creationId xmlns:a16="http://schemas.microsoft.com/office/drawing/2014/main" id="{0873F308-A001-5F43-82D2-24DAF975EFF1}"/>
              </a:ext>
            </a:extLst>
          </p:cNvPr>
          <p:cNvSpPr>
            <a:spLocks noGrp="1"/>
          </p:cNvSpPr>
          <p:nvPr>
            <p:ph idx="1"/>
          </p:nvPr>
        </p:nvSpPr>
        <p:spPr/>
        <p:txBody>
          <a:bodyPr>
            <a:normAutofit/>
          </a:bodyPr>
          <a:lstStyle/>
          <a:p>
            <a:r>
              <a:rPr lang="en-US" sz="4000" dirty="0">
                <a:latin typeface="Agency FB" panose="020B0503020202020204" pitchFamily="34" charset="77"/>
              </a:rPr>
              <a:t>It is important that votes cast their votes in secret to reduce the risk of voters being intimidated or voting for a person or party against their will. </a:t>
            </a:r>
          </a:p>
          <a:p>
            <a:r>
              <a:rPr lang="en-US" sz="4000" dirty="0">
                <a:latin typeface="Agency FB" panose="020B0503020202020204" pitchFamily="34" charset="77"/>
              </a:rPr>
              <a:t>Each citizen may only vote once and every vote has the same value, regardless of who it is.</a:t>
            </a:r>
          </a:p>
        </p:txBody>
      </p:sp>
    </p:spTree>
    <p:extLst>
      <p:ext uri="{BB962C8B-B14F-4D97-AF65-F5344CB8AC3E}">
        <p14:creationId xmlns:p14="http://schemas.microsoft.com/office/powerpoint/2010/main" val="23475570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B7D31-D550-C24A-A195-E72ABEF6A747}"/>
              </a:ext>
            </a:extLst>
          </p:cNvPr>
          <p:cNvSpPr>
            <a:spLocks noGrp="1"/>
          </p:cNvSpPr>
          <p:nvPr>
            <p:ph type="title"/>
          </p:nvPr>
        </p:nvSpPr>
        <p:spPr/>
        <p:txBody>
          <a:bodyPr/>
          <a:lstStyle/>
          <a:p>
            <a:r>
              <a:rPr lang="en-US" dirty="0">
                <a:latin typeface="Agency FB" panose="020B0503020202020204" pitchFamily="34" charset="77"/>
              </a:rPr>
              <a:t>Safeguard 2: Governments uphold our shared values</a:t>
            </a:r>
            <a:endParaRPr lang="en-US" b="1" dirty="0">
              <a:latin typeface="Agency FB" panose="020B0503020202020204" pitchFamily="34" charset="77"/>
            </a:endParaRPr>
          </a:p>
        </p:txBody>
      </p:sp>
      <p:sp>
        <p:nvSpPr>
          <p:cNvPr id="3" name="Content Placeholder 2">
            <a:extLst>
              <a:ext uri="{FF2B5EF4-FFF2-40B4-BE49-F238E27FC236}">
                <a16:creationId xmlns:a16="http://schemas.microsoft.com/office/drawing/2014/main" id="{0873F308-A001-5F43-82D2-24DAF975EFF1}"/>
              </a:ext>
            </a:extLst>
          </p:cNvPr>
          <p:cNvSpPr>
            <a:spLocks noGrp="1"/>
          </p:cNvSpPr>
          <p:nvPr>
            <p:ph idx="1"/>
          </p:nvPr>
        </p:nvSpPr>
        <p:spPr/>
        <p:txBody>
          <a:bodyPr/>
          <a:lstStyle/>
          <a:p>
            <a:r>
              <a:rPr lang="en-US" dirty="0">
                <a:latin typeface="Agency FB" panose="020B0503020202020204" pitchFamily="34" charset="77"/>
              </a:rPr>
              <a:t>An underlying feature of democracy in Australia is that our parliaments and governments make and enforce laws that protect our shared values, so that all citizens are treated with dignity, equality and mutual respect.</a:t>
            </a:r>
          </a:p>
          <a:p>
            <a:r>
              <a:rPr lang="en-US" dirty="0">
                <a:latin typeface="Agency FB" panose="020B0503020202020204" pitchFamily="34" charset="77"/>
              </a:rPr>
              <a:t>For example, our laws protect a range of rights that are important to our society, including the right to:</a:t>
            </a:r>
          </a:p>
          <a:p>
            <a:pPr>
              <a:buFontTx/>
              <a:buChar char="-"/>
            </a:pPr>
            <a:r>
              <a:rPr lang="en-US" dirty="0">
                <a:latin typeface="Agency FB" panose="020B0503020202020204" pitchFamily="34" charset="77"/>
              </a:rPr>
              <a:t>A fair trial and freedom from torture</a:t>
            </a:r>
          </a:p>
          <a:p>
            <a:pPr>
              <a:buFontTx/>
              <a:buChar char="-"/>
            </a:pPr>
            <a:r>
              <a:rPr lang="en-US" dirty="0">
                <a:latin typeface="Agency FB" panose="020B0503020202020204" pitchFamily="34" charset="77"/>
              </a:rPr>
              <a:t>Life, liberty and security of person</a:t>
            </a:r>
          </a:p>
          <a:p>
            <a:pPr>
              <a:buFontTx/>
              <a:buChar char="-"/>
            </a:pPr>
            <a:r>
              <a:rPr lang="en-US" dirty="0">
                <a:latin typeface="Agency FB" panose="020B0503020202020204" pitchFamily="34" charset="77"/>
              </a:rPr>
              <a:t>Working and living in a healthy environment</a:t>
            </a:r>
          </a:p>
          <a:p>
            <a:pPr>
              <a:buFontTx/>
              <a:buChar char="-"/>
            </a:pPr>
            <a:r>
              <a:rPr lang="en-US" dirty="0">
                <a:latin typeface="Agency FB" panose="020B0503020202020204" pitchFamily="34" charset="77"/>
              </a:rPr>
              <a:t>Basic health care and education</a:t>
            </a:r>
          </a:p>
        </p:txBody>
      </p:sp>
    </p:spTree>
    <p:extLst>
      <p:ext uri="{BB962C8B-B14F-4D97-AF65-F5344CB8AC3E}">
        <p14:creationId xmlns:p14="http://schemas.microsoft.com/office/powerpoint/2010/main" val="19168253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B7D31-D550-C24A-A195-E72ABEF6A747}"/>
              </a:ext>
            </a:extLst>
          </p:cNvPr>
          <p:cNvSpPr>
            <a:spLocks noGrp="1"/>
          </p:cNvSpPr>
          <p:nvPr>
            <p:ph type="title"/>
          </p:nvPr>
        </p:nvSpPr>
        <p:spPr/>
        <p:txBody>
          <a:bodyPr/>
          <a:lstStyle/>
          <a:p>
            <a:r>
              <a:rPr lang="en-US" dirty="0">
                <a:latin typeface="Agency FB" panose="020B0503020202020204" pitchFamily="34" charset="77"/>
              </a:rPr>
              <a:t>Safeguard 2: Governments uphold our shared values</a:t>
            </a:r>
            <a:endParaRPr lang="en-US" b="1" dirty="0">
              <a:latin typeface="Agency FB" panose="020B0503020202020204" pitchFamily="34" charset="77"/>
            </a:endParaRPr>
          </a:p>
        </p:txBody>
      </p:sp>
      <p:sp>
        <p:nvSpPr>
          <p:cNvPr id="3" name="Content Placeholder 2">
            <a:extLst>
              <a:ext uri="{FF2B5EF4-FFF2-40B4-BE49-F238E27FC236}">
                <a16:creationId xmlns:a16="http://schemas.microsoft.com/office/drawing/2014/main" id="{0873F308-A001-5F43-82D2-24DAF975EFF1}"/>
              </a:ext>
            </a:extLst>
          </p:cNvPr>
          <p:cNvSpPr>
            <a:spLocks noGrp="1"/>
          </p:cNvSpPr>
          <p:nvPr>
            <p:ph idx="1"/>
          </p:nvPr>
        </p:nvSpPr>
        <p:spPr/>
        <p:txBody>
          <a:bodyPr>
            <a:normAutofit/>
          </a:bodyPr>
          <a:lstStyle/>
          <a:p>
            <a:r>
              <a:rPr lang="en-US" sz="3600" dirty="0">
                <a:latin typeface="Agency FB" panose="020B0503020202020204" pitchFamily="34" charset="77"/>
              </a:rPr>
              <a:t>Governments aim to provide structures (including courts, tribunals, and government departments) and services (including hospitals, schools, universities, prisons, the defense and police forces) and social welfare benefits.</a:t>
            </a:r>
          </a:p>
          <a:p>
            <a:r>
              <a:rPr lang="en-US" sz="3600" dirty="0">
                <a:latin typeface="Agency FB" panose="020B0503020202020204" pitchFamily="34" charset="77"/>
              </a:rPr>
              <a:t>This is so that Australians can live together in a cohesive society where citizens cooperate and live together in a peaceful, inclusive and tolerant manner.</a:t>
            </a:r>
          </a:p>
        </p:txBody>
      </p:sp>
    </p:spTree>
    <p:extLst>
      <p:ext uri="{BB962C8B-B14F-4D97-AF65-F5344CB8AC3E}">
        <p14:creationId xmlns:p14="http://schemas.microsoft.com/office/powerpoint/2010/main" val="1698731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B7D31-D550-C24A-A195-E72ABEF6A747}"/>
              </a:ext>
            </a:extLst>
          </p:cNvPr>
          <p:cNvSpPr>
            <a:spLocks noGrp="1"/>
          </p:cNvSpPr>
          <p:nvPr>
            <p:ph type="title"/>
          </p:nvPr>
        </p:nvSpPr>
        <p:spPr/>
        <p:txBody>
          <a:bodyPr/>
          <a:lstStyle/>
          <a:p>
            <a:r>
              <a:rPr lang="en-US" dirty="0">
                <a:latin typeface="Agency FB" panose="020B0503020202020204" pitchFamily="34" charset="77"/>
              </a:rPr>
              <a:t>Safeguard 3: The Right to Dissent</a:t>
            </a:r>
            <a:endParaRPr lang="en-US" b="1" dirty="0">
              <a:latin typeface="Agency FB" panose="020B0503020202020204" pitchFamily="34" charset="77"/>
            </a:endParaRPr>
          </a:p>
        </p:txBody>
      </p:sp>
      <p:sp>
        <p:nvSpPr>
          <p:cNvPr id="3" name="Content Placeholder 2">
            <a:extLst>
              <a:ext uri="{FF2B5EF4-FFF2-40B4-BE49-F238E27FC236}">
                <a16:creationId xmlns:a16="http://schemas.microsoft.com/office/drawing/2014/main" id="{0873F308-A001-5F43-82D2-24DAF975EFF1}"/>
              </a:ext>
            </a:extLst>
          </p:cNvPr>
          <p:cNvSpPr>
            <a:spLocks noGrp="1"/>
          </p:cNvSpPr>
          <p:nvPr>
            <p:ph idx="1"/>
          </p:nvPr>
        </p:nvSpPr>
        <p:spPr/>
        <p:txBody>
          <a:bodyPr/>
          <a:lstStyle/>
          <a:p>
            <a:r>
              <a:rPr lang="en-US" dirty="0">
                <a:latin typeface="Agency FB" panose="020B0503020202020204" pitchFamily="34" charset="77"/>
              </a:rPr>
              <a:t>Individuals generally have the right to oppose or disagree with the views held by the government. </a:t>
            </a:r>
          </a:p>
          <a:p>
            <a:r>
              <a:rPr lang="en-US" dirty="0">
                <a:latin typeface="Agency FB" panose="020B0503020202020204" pitchFamily="34" charset="77"/>
              </a:rPr>
              <a:t>We also publicly express that disapproval in a lawful manner without fear of being censored or punished. </a:t>
            </a:r>
          </a:p>
          <a:p>
            <a:r>
              <a:rPr lang="en-US" dirty="0">
                <a:latin typeface="Agency FB" panose="020B0503020202020204" pitchFamily="34" charset="77"/>
              </a:rPr>
              <a:t>For example, Australian law generally upholds the right to freedom of speech, press and protest, which allows individuals and </a:t>
            </a:r>
            <a:r>
              <a:rPr lang="en-US" dirty="0" err="1">
                <a:latin typeface="Agency FB" panose="020B0503020202020204" pitchFamily="34" charset="77"/>
              </a:rPr>
              <a:t>organisations</a:t>
            </a:r>
            <a:r>
              <a:rPr lang="en-US" dirty="0">
                <a:latin typeface="Agency FB" panose="020B0503020202020204" pitchFamily="34" charset="77"/>
              </a:rPr>
              <a:t> the ability to debate political issues and openly express their views without fear of being punished, although these rights are limited to a certain extent for reasons including to protect people from suffering harm as a result of other person making untrue statements or comments that are racially offensive and to protect the environment.</a:t>
            </a:r>
          </a:p>
        </p:txBody>
      </p:sp>
    </p:spTree>
    <p:extLst>
      <p:ext uri="{BB962C8B-B14F-4D97-AF65-F5344CB8AC3E}">
        <p14:creationId xmlns:p14="http://schemas.microsoft.com/office/powerpoint/2010/main" val="35359151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27753-1CE9-594B-A2AC-D590421B9CC5}"/>
              </a:ext>
            </a:extLst>
          </p:cNvPr>
          <p:cNvSpPr>
            <a:spLocks noGrp="1"/>
          </p:cNvSpPr>
          <p:nvPr>
            <p:ph type="title"/>
          </p:nvPr>
        </p:nvSpPr>
        <p:spPr/>
        <p:txBody>
          <a:bodyPr/>
          <a:lstStyle/>
          <a:p>
            <a:r>
              <a:rPr lang="en-US" dirty="0">
                <a:latin typeface="Agency FB" panose="020B0503020202020204" pitchFamily="34" charset="77"/>
              </a:rPr>
              <a:t>Processes to resolve disputes</a:t>
            </a:r>
          </a:p>
        </p:txBody>
      </p:sp>
      <p:sp>
        <p:nvSpPr>
          <p:cNvPr id="3" name="Content Placeholder 2">
            <a:extLst>
              <a:ext uri="{FF2B5EF4-FFF2-40B4-BE49-F238E27FC236}">
                <a16:creationId xmlns:a16="http://schemas.microsoft.com/office/drawing/2014/main" id="{ADEEB4A6-0C80-1240-914A-C4E4CEDF7CD0}"/>
              </a:ext>
            </a:extLst>
          </p:cNvPr>
          <p:cNvSpPr>
            <a:spLocks noGrp="1"/>
          </p:cNvSpPr>
          <p:nvPr>
            <p:ph idx="1"/>
          </p:nvPr>
        </p:nvSpPr>
        <p:spPr/>
        <p:txBody>
          <a:bodyPr/>
          <a:lstStyle/>
          <a:p>
            <a:r>
              <a:rPr lang="en-US" sz="4000" dirty="0">
                <a:latin typeface="Agency FB" panose="020B0503020202020204" pitchFamily="34" charset="77"/>
              </a:rPr>
              <a:t>In order to keep the peace in Australian society, processes exist to help individuals or groups resolve their problems or disputes. </a:t>
            </a:r>
          </a:p>
          <a:p>
            <a:r>
              <a:rPr lang="en-US" sz="4000" dirty="0">
                <a:latin typeface="Agency FB" panose="020B0503020202020204" pitchFamily="34" charset="77"/>
              </a:rPr>
              <a:t>This can include formal legal procedures that lead to a final decision or more informal discussions between parties that lead to settling a dispute or issue. </a:t>
            </a:r>
          </a:p>
          <a:p>
            <a:endParaRPr lang="en-US" dirty="0"/>
          </a:p>
        </p:txBody>
      </p:sp>
    </p:spTree>
    <p:extLst>
      <p:ext uri="{BB962C8B-B14F-4D97-AF65-F5344CB8AC3E}">
        <p14:creationId xmlns:p14="http://schemas.microsoft.com/office/powerpoint/2010/main" val="19851530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27753-1CE9-594B-A2AC-D590421B9CC5}"/>
              </a:ext>
            </a:extLst>
          </p:cNvPr>
          <p:cNvSpPr>
            <a:spLocks noGrp="1"/>
          </p:cNvSpPr>
          <p:nvPr>
            <p:ph type="title"/>
          </p:nvPr>
        </p:nvSpPr>
        <p:spPr>
          <a:xfrm>
            <a:off x="838200" y="192131"/>
            <a:ext cx="10515600" cy="1325563"/>
          </a:xfrm>
        </p:spPr>
        <p:txBody>
          <a:bodyPr/>
          <a:lstStyle/>
          <a:p>
            <a:r>
              <a:rPr lang="en-US" dirty="0">
                <a:latin typeface="Agency FB" panose="020B0503020202020204" pitchFamily="34" charset="77"/>
              </a:rPr>
              <a:t>Processes to resolve disputes</a:t>
            </a:r>
          </a:p>
        </p:txBody>
      </p:sp>
      <p:sp>
        <p:nvSpPr>
          <p:cNvPr id="3" name="Content Placeholder 2">
            <a:extLst>
              <a:ext uri="{FF2B5EF4-FFF2-40B4-BE49-F238E27FC236}">
                <a16:creationId xmlns:a16="http://schemas.microsoft.com/office/drawing/2014/main" id="{ADEEB4A6-0C80-1240-914A-C4E4CEDF7CD0}"/>
              </a:ext>
            </a:extLst>
          </p:cNvPr>
          <p:cNvSpPr>
            <a:spLocks noGrp="1"/>
          </p:cNvSpPr>
          <p:nvPr>
            <p:ph idx="1"/>
          </p:nvPr>
        </p:nvSpPr>
        <p:spPr>
          <a:xfrm>
            <a:off x="838200" y="1359243"/>
            <a:ext cx="10515600" cy="5133632"/>
          </a:xfrm>
        </p:spPr>
        <p:txBody>
          <a:bodyPr>
            <a:normAutofit/>
          </a:bodyPr>
          <a:lstStyle/>
          <a:p>
            <a:r>
              <a:rPr lang="en-US" dirty="0">
                <a:latin typeface="Agency FB" panose="020B0503020202020204" pitchFamily="34" charset="77"/>
              </a:rPr>
              <a:t>Such processes might include the following in a formal court setting or informal domestic settings:</a:t>
            </a:r>
          </a:p>
          <a:p>
            <a:pPr>
              <a:buFontTx/>
              <a:buChar char="-"/>
            </a:pPr>
            <a:r>
              <a:rPr lang="en-US" dirty="0">
                <a:latin typeface="Agency FB" panose="020B0503020202020204" pitchFamily="34" charset="77"/>
              </a:rPr>
              <a:t>Negotiation – a process that uses discussion to try to reach a ‘win-win’ scenario for parties involved in a dispute. </a:t>
            </a:r>
          </a:p>
          <a:p>
            <a:pPr>
              <a:buFontTx/>
              <a:buChar char="-"/>
            </a:pPr>
            <a:r>
              <a:rPr lang="en-US" dirty="0">
                <a:latin typeface="Agency FB" panose="020B0503020202020204" pitchFamily="34" charset="77"/>
              </a:rPr>
              <a:t>Mediation – a type of negotiation that includes a formal mediator, or a person who is not part or the dispute, to assist the parties involved settle their dispute fairly</a:t>
            </a:r>
          </a:p>
          <a:p>
            <a:pPr>
              <a:buFontTx/>
              <a:buChar char="-"/>
            </a:pPr>
            <a:r>
              <a:rPr lang="en-US" dirty="0">
                <a:latin typeface="Agency FB" panose="020B0503020202020204" pitchFamily="34" charset="77"/>
              </a:rPr>
              <a:t>Reconciliation – the process of renewing a relationship between parties, which usually requires forgiveness on one or both sides</a:t>
            </a:r>
          </a:p>
          <a:p>
            <a:pPr marL="0" indent="0">
              <a:buNone/>
            </a:pPr>
            <a:r>
              <a:rPr lang="en-US" dirty="0">
                <a:latin typeface="Agency FB" panose="020B0503020202020204" pitchFamily="34" charset="77"/>
              </a:rPr>
              <a:t>Without these kinds of processes in place and professionals to guide us, people would be left to resolve their issues themselves, which could result in much more aggressive outcomes. </a:t>
            </a:r>
          </a:p>
        </p:txBody>
      </p:sp>
    </p:spTree>
    <p:extLst>
      <p:ext uri="{BB962C8B-B14F-4D97-AF65-F5344CB8AC3E}">
        <p14:creationId xmlns:p14="http://schemas.microsoft.com/office/powerpoint/2010/main" val="18869798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D776D29F-0A2C-4F75-8582-7C7DFCBD11D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2F0793-F9FA-7645-9F4B-8AE1E96D8210}"/>
              </a:ext>
            </a:extLst>
          </p:cNvPr>
          <p:cNvSpPr>
            <a:spLocks noGrp="1"/>
          </p:cNvSpPr>
          <p:nvPr>
            <p:ph type="ctrTitle"/>
          </p:nvPr>
        </p:nvSpPr>
        <p:spPr>
          <a:xfrm>
            <a:off x="653596" y="281354"/>
            <a:ext cx="4375151" cy="2169214"/>
          </a:xfrm>
        </p:spPr>
        <p:txBody>
          <a:bodyPr>
            <a:normAutofit/>
          </a:bodyPr>
          <a:lstStyle/>
          <a:p>
            <a:pPr algn="l"/>
            <a:r>
              <a:rPr lang="en-US" sz="7200" dirty="0">
                <a:solidFill>
                  <a:schemeClr val="bg1"/>
                </a:solidFill>
                <a:latin typeface="Agency FB" panose="020B0503020202020204" pitchFamily="34" charset="77"/>
              </a:rPr>
              <a:t>Threats to Democracy:</a:t>
            </a:r>
          </a:p>
        </p:txBody>
      </p:sp>
      <p:sp>
        <p:nvSpPr>
          <p:cNvPr id="3" name="Subtitle 2">
            <a:extLst>
              <a:ext uri="{FF2B5EF4-FFF2-40B4-BE49-F238E27FC236}">
                <a16:creationId xmlns:a16="http://schemas.microsoft.com/office/drawing/2014/main" id="{6391052C-9249-E44B-92F4-32429B7DF8BA}"/>
              </a:ext>
            </a:extLst>
          </p:cNvPr>
          <p:cNvSpPr>
            <a:spLocks noGrp="1"/>
          </p:cNvSpPr>
          <p:nvPr>
            <p:ph type="subTitle" idx="1"/>
          </p:nvPr>
        </p:nvSpPr>
        <p:spPr>
          <a:xfrm>
            <a:off x="838200" y="2819672"/>
            <a:ext cx="4377793" cy="1594508"/>
          </a:xfrm>
        </p:spPr>
        <p:txBody>
          <a:bodyPr>
            <a:noAutofit/>
          </a:bodyPr>
          <a:lstStyle/>
          <a:p>
            <a:pPr marL="342900" indent="-342900" algn="l">
              <a:buFont typeface="Arial" panose="020B0604020202020204" pitchFamily="34" charset="0"/>
              <a:buChar char="•"/>
            </a:pPr>
            <a:r>
              <a:rPr lang="en-US" sz="4000" dirty="0">
                <a:solidFill>
                  <a:schemeClr val="bg1"/>
                </a:solidFill>
                <a:latin typeface="Agency FB" panose="020B0503020202020204" pitchFamily="34" charset="0"/>
              </a:rPr>
              <a:t>Influence of Vested Interest Groups</a:t>
            </a:r>
          </a:p>
          <a:p>
            <a:pPr marL="342900" indent="-342900" algn="l">
              <a:buFont typeface="Arial" panose="020B0604020202020204" pitchFamily="34" charset="0"/>
              <a:buChar char="•"/>
            </a:pPr>
            <a:r>
              <a:rPr lang="en-US" sz="4000" dirty="0" err="1">
                <a:solidFill>
                  <a:schemeClr val="bg1"/>
                </a:solidFill>
                <a:latin typeface="Agency FB" panose="020B0503020202020204" pitchFamily="34" charset="0"/>
              </a:rPr>
              <a:t>Organised</a:t>
            </a:r>
            <a:r>
              <a:rPr lang="en-US" sz="4000" dirty="0">
                <a:solidFill>
                  <a:schemeClr val="bg1"/>
                </a:solidFill>
                <a:latin typeface="Agency FB" panose="020B0503020202020204" pitchFamily="34" charset="0"/>
              </a:rPr>
              <a:t> Crime</a:t>
            </a:r>
          </a:p>
          <a:p>
            <a:pPr marL="342900" indent="-342900" algn="l">
              <a:buFont typeface="Arial" panose="020B0604020202020204" pitchFamily="34" charset="0"/>
              <a:buChar char="•"/>
            </a:pPr>
            <a:r>
              <a:rPr lang="en-US" sz="4000" dirty="0">
                <a:solidFill>
                  <a:schemeClr val="bg1"/>
                </a:solidFill>
                <a:latin typeface="Agency FB" panose="020B0503020202020204" pitchFamily="34" charset="0"/>
              </a:rPr>
              <a:t>Corruption</a:t>
            </a:r>
          </a:p>
          <a:p>
            <a:pPr marL="342900" indent="-342900" algn="l">
              <a:buFont typeface="Arial" panose="020B0604020202020204" pitchFamily="34" charset="0"/>
              <a:buChar char="•"/>
            </a:pPr>
            <a:r>
              <a:rPr lang="en-US" sz="4000" dirty="0">
                <a:solidFill>
                  <a:schemeClr val="bg1"/>
                </a:solidFill>
                <a:latin typeface="Agency FB" panose="020B0503020202020204" pitchFamily="34" charset="0"/>
              </a:rPr>
              <a:t>Lawlessness</a:t>
            </a:r>
          </a:p>
        </p:txBody>
      </p:sp>
      <p:pic>
        <p:nvPicPr>
          <p:cNvPr id="1026" name="Picture 2" descr="Muzzling the media: Threat to democracy - The Himalayan Times">
            <a:extLst>
              <a:ext uri="{FF2B5EF4-FFF2-40B4-BE49-F238E27FC236}">
                <a16:creationId xmlns:a16="http://schemas.microsoft.com/office/drawing/2014/main" id="{07D363B4-F683-F348-A80B-D7AF41418D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688" r="17357" b="-2"/>
          <a:stretch/>
        </p:blipFill>
        <p:spPr bwMode="auto">
          <a:xfrm>
            <a:off x="5682343" y="1"/>
            <a:ext cx="6509657" cy="6857999"/>
          </a:xfrm>
          <a:custGeom>
            <a:avLst/>
            <a:gdLst/>
            <a:ahLst/>
            <a:cxnLst/>
            <a:rect l="l" t="t" r="r" b="b"/>
            <a:pathLst>
              <a:path w="6509657" h="6857999">
                <a:moveTo>
                  <a:pt x="752157" y="6118149"/>
                </a:moveTo>
                <a:cubicBezTo>
                  <a:pt x="745608" y="6124102"/>
                  <a:pt x="737987" y="6129341"/>
                  <a:pt x="730938" y="6133722"/>
                </a:cubicBezTo>
                <a:cubicBezTo>
                  <a:pt x="723794" y="6138152"/>
                  <a:pt x="718448" y="6143474"/>
                  <a:pt x="714778" y="6149379"/>
                </a:cubicBezTo>
                <a:lnTo>
                  <a:pt x="709303" y="6166562"/>
                </a:lnTo>
                <a:lnTo>
                  <a:pt x="714778" y="6149380"/>
                </a:lnTo>
                <a:cubicBezTo>
                  <a:pt x="718448" y="6143474"/>
                  <a:pt x="723794" y="6138152"/>
                  <a:pt x="730938" y="6133723"/>
                </a:cubicBezTo>
                <a:cubicBezTo>
                  <a:pt x="737987" y="6129341"/>
                  <a:pt x="745608" y="6124102"/>
                  <a:pt x="752157" y="6118149"/>
                </a:cubicBezTo>
                <a:close/>
                <a:moveTo>
                  <a:pt x="844000" y="4941372"/>
                </a:moveTo>
                <a:lnTo>
                  <a:pt x="840670" y="4950868"/>
                </a:lnTo>
                <a:lnTo>
                  <a:pt x="830985" y="4991382"/>
                </a:lnTo>
                <a:lnTo>
                  <a:pt x="840670" y="4950869"/>
                </a:lnTo>
                <a:close/>
                <a:moveTo>
                  <a:pt x="840061" y="4749807"/>
                </a:moveTo>
                <a:cubicBezTo>
                  <a:pt x="852197" y="4762827"/>
                  <a:pt x="853054" y="4781365"/>
                  <a:pt x="854768" y="4799797"/>
                </a:cubicBezTo>
                <a:cubicBezTo>
                  <a:pt x="853054" y="4781365"/>
                  <a:pt x="852197" y="4762826"/>
                  <a:pt x="840061" y="4749807"/>
                </a:cubicBezTo>
                <a:close/>
                <a:moveTo>
                  <a:pt x="822263" y="4543185"/>
                </a:moveTo>
                <a:lnTo>
                  <a:pt x="816857" y="4557091"/>
                </a:lnTo>
                <a:cubicBezTo>
                  <a:pt x="805236" y="4573618"/>
                  <a:pt x="796449" y="4588275"/>
                  <a:pt x="790493" y="4602021"/>
                </a:cubicBezTo>
                <a:cubicBezTo>
                  <a:pt x="796449" y="4588275"/>
                  <a:pt x="805236" y="4573618"/>
                  <a:pt x="816857" y="4557092"/>
                </a:cubicBezTo>
                <a:cubicBezTo>
                  <a:pt x="819238" y="4553662"/>
                  <a:pt x="821286" y="4548281"/>
                  <a:pt x="822263" y="4543185"/>
                </a:cubicBezTo>
                <a:close/>
                <a:moveTo>
                  <a:pt x="356045" y="2819253"/>
                </a:moveTo>
                <a:lnTo>
                  <a:pt x="344401" y="2827483"/>
                </a:lnTo>
                <a:lnTo>
                  <a:pt x="344399" y="2827486"/>
                </a:lnTo>
                <a:lnTo>
                  <a:pt x="325550" y="2842392"/>
                </a:lnTo>
                <a:lnTo>
                  <a:pt x="315896" y="2861156"/>
                </a:lnTo>
                <a:lnTo>
                  <a:pt x="344399" y="2827486"/>
                </a:lnTo>
                <a:lnTo>
                  <a:pt x="344401" y="2827484"/>
                </a:lnTo>
                <a:close/>
                <a:moveTo>
                  <a:pt x="425699" y="1974015"/>
                </a:moveTo>
                <a:cubicBezTo>
                  <a:pt x="427224" y="1991685"/>
                  <a:pt x="433462" y="2008497"/>
                  <a:pt x="449941" y="2023547"/>
                </a:cubicBezTo>
                <a:cubicBezTo>
                  <a:pt x="441702" y="2016020"/>
                  <a:pt x="436022" y="2008056"/>
                  <a:pt x="432213" y="1999763"/>
                </a:cubicBezTo>
                <a:close/>
                <a:moveTo>
                  <a:pt x="442893" y="1768838"/>
                </a:moveTo>
                <a:cubicBezTo>
                  <a:pt x="451656" y="1779981"/>
                  <a:pt x="453942" y="1790986"/>
                  <a:pt x="452275" y="1801558"/>
                </a:cubicBezTo>
                <a:lnTo>
                  <a:pt x="451495" y="1785412"/>
                </a:lnTo>
                <a:cubicBezTo>
                  <a:pt x="450037" y="1779948"/>
                  <a:pt x="447274" y="1774411"/>
                  <a:pt x="442893" y="1768838"/>
                </a:cubicBezTo>
                <a:close/>
                <a:moveTo>
                  <a:pt x="333304" y="520953"/>
                </a:moveTo>
                <a:cubicBezTo>
                  <a:pt x="333743" y="528850"/>
                  <a:pt x="335480" y="536547"/>
                  <a:pt x="337867" y="544146"/>
                </a:cubicBezTo>
                <a:lnTo>
                  <a:pt x="340032" y="549926"/>
                </a:lnTo>
                <a:lnTo>
                  <a:pt x="340448" y="551717"/>
                </a:lnTo>
                <a:lnTo>
                  <a:pt x="346286" y="566616"/>
                </a:lnTo>
                <a:lnTo>
                  <a:pt x="346338" y="566754"/>
                </a:lnTo>
                <a:lnTo>
                  <a:pt x="352655" y="583595"/>
                </a:lnTo>
                <a:lnTo>
                  <a:pt x="359452" y="612658"/>
                </a:lnTo>
                <a:cubicBezTo>
                  <a:pt x="358987" y="604728"/>
                  <a:pt x="357230" y="597005"/>
                  <a:pt x="354829" y="589388"/>
                </a:cubicBezTo>
                <a:lnTo>
                  <a:pt x="352655" y="583595"/>
                </a:lnTo>
                <a:lnTo>
                  <a:pt x="352236" y="581804"/>
                </a:lnTo>
                <a:lnTo>
                  <a:pt x="346286" y="566616"/>
                </a:lnTo>
                <a:lnTo>
                  <a:pt x="340032" y="549926"/>
                </a:lnTo>
                <a:close/>
                <a:moveTo>
                  <a:pt x="384407" y="268794"/>
                </a:moveTo>
                <a:lnTo>
                  <a:pt x="387838" y="328017"/>
                </a:lnTo>
                <a:cubicBezTo>
                  <a:pt x="389527" y="318646"/>
                  <a:pt x="389932" y="309031"/>
                  <a:pt x="389283" y="299164"/>
                </a:cubicBezTo>
                <a:cubicBezTo>
                  <a:pt x="388635" y="289296"/>
                  <a:pt x="386932" y="279176"/>
                  <a:pt x="384407" y="268794"/>
                </a:cubicBezTo>
                <a:close/>
                <a:moveTo>
                  <a:pt x="66991" y="0"/>
                </a:moveTo>
                <a:lnTo>
                  <a:pt x="6509657" y="0"/>
                </a:lnTo>
                <a:lnTo>
                  <a:pt x="6509657" y="6857999"/>
                </a:lnTo>
                <a:lnTo>
                  <a:pt x="149318" y="6857999"/>
                </a:lnTo>
                <a:lnTo>
                  <a:pt x="149318" y="6857457"/>
                </a:lnTo>
                <a:lnTo>
                  <a:pt x="22079" y="6857457"/>
                </a:lnTo>
                <a:lnTo>
                  <a:pt x="26850" y="6796804"/>
                </a:lnTo>
                <a:cubicBezTo>
                  <a:pt x="32161" y="6777207"/>
                  <a:pt x="39591" y="6758011"/>
                  <a:pt x="44354" y="6738388"/>
                </a:cubicBezTo>
                <a:cubicBezTo>
                  <a:pt x="48736" y="6720103"/>
                  <a:pt x="58832" y="6702955"/>
                  <a:pt x="67214" y="6685617"/>
                </a:cubicBezTo>
                <a:cubicBezTo>
                  <a:pt x="83217" y="6652472"/>
                  <a:pt x="73120" y="6617036"/>
                  <a:pt x="77310" y="6583128"/>
                </a:cubicBezTo>
                <a:cubicBezTo>
                  <a:pt x="78645" y="6572269"/>
                  <a:pt x="80168" y="6561411"/>
                  <a:pt x="82837" y="6550742"/>
                </a:cubicBezTo>
                <a:cubicBezTo>
                  <a:pt x="89885" y="6521593"/>
                  <a:pt x="95981" y="6491874"/>
                  <a:pt x="105697" y="6463490"/>
                </a:cubicBezTo>
                <a:cubicBezTo>
                  <a:pt x="116556" y="6431292"/>
                  <a:pt x="131034" y="6400429"/>
                  <a:pt x="146086" y="6363664"/>
                </a:cubicBezTo>
                <a:cubicBezTo>
                  <a:pt x="142275" y="6350899"/>
                  <a:pt x="131986" y="6331277"/>
                  <a:pt x="131034" y="6311084"/>
                </a:cubicBezTo>
                <a:cubicBezTo>
                  <a:pt x="127795" y="6246121"/>
                  <a:pt x="145513" y="6185351"/>
                  <a:pt x="173518" y="6127247"/>
                </a:cubicBezTo>
                <a:cubicBezTo>
                  <a:pt x="181899" y="6109530"/>
                  <a:pt x="187424" y="6090477"/>
                  <a:pt x="195616" y="6072569"/>
                </a:cubicBezTo>
                <a:cubicBezTo>
                  <a:pt x="198472" y="6066284"/>
                  <a:pt x="204569" y="6058092"/>
                  <a:pt x="210285" y="6056948"/>
                </a:cubicBezTo>
                <a:cubicBezTo>
                  <a:pt x="243432" y="6050282"/>
                  <a:pt x="242863" y="6025515"/>
                  <a:pt x="244766" y="5999796"/>
                </a:cubicBezTo>
                <a:cubicBezTo>
                  <a:pt x="247051" y="5969124"/>
                  <a:pt x="252386" y="5938836"/>
                  <a:pt x="256958" y="5908355"/>
                </a:cubicBezTo>
                <a:cubicBezTo>
                  <a:pt x="257530" y="5904353"/>
                  <a:pt x="261531" y="5900735"/>
                  <a:pt x="264200" y="5897114"/>
                </a:cubicBezTo>
                <a:cubicBezTo>
                  <a:pt x="268199" y="5891590"/>
                  <a:pt x="274295" y="5886447"/>
                  <a:pt x="275818" y="5880348"/>
                </a:cubicBezTo>
                <a:cubicBezTo>
                  <a:pt x="283249" y="5849107"/>
                  <a:pt x="289535" y="5817674"/>
                  <a:pt x="296393" y="5786239"/>
                </a:cubicBezTo>
                <a:cubicBezTo>
                  <a:pt x="297918" y="5779191"/>
                  <a:pt x="299823" y="5771953"/>
                  <a:pt x="302870" y="5765474"/>
                </a:cubicBezTo>
                <a:cubicBezTo>
                  <a:pt x="305728" y="5759378"/>
                  <a:pt x="310683" y="5754234"/>
                  <a:pt x="313730" y="5748136"/>
                </a:cubicBezTo>
                <a:cubicBezTo>
                  <a:pt x="321920" y="5731564"/>
                  <a:pt x="329541" y="5714607"/>
                  <a:pt x="338685" y="5695178"/>
                </a:cubicBezTo>
                <a:cubicBezTo>
                  <a:pt x="321541" y="5684320"/>
                  <a:pt x="331257" y="5669647"/>
                  <a:pt x="339447" y="5651360"/>
                </a:cubicBezTo>
                <a:cubicBezTo>
                  <a:pt x="347830" y="5632691"/>
                  <a:pt x="350497" y="5611164"/>
                  <a:pt x="353545" y="5590590"/>
                </a:cubicBezTo>
                <a:cubicBezTo>
                  <a:pt x="359070" y="5552869"/>
                  <a:pt x="362499" y="5514957"/>
                  <a:pt x="367451" y="5477239"/>
                </a:cubicBezTo>
                <a:cubicBezTo>
                  <a:pt x="368595" y="5469236"/>
                  <a:pt x="370690" y="5460092"/>
                  <a:pt x="375454" y="5453995"/>
                </a:cubicBezTo>
                <a:cubicBezTo>
                  <a:pt x="407459" y="5412276"/>
                  <a:pt x="416411" y="5361598"/>
                  <a:pt x="413366" y="5313403"/>
                </a:cubicBezTo>
                <a:cubicBezTo>
                  <a:pt x="411078" y="5275491"/>
                  <a:pt x="409363" y="5238343"/>
                  <a:pt x="412601" y="5200813"/>
                </a:cubicBezTo>
                <a:cubicBezTo>
                  <a:pt x="412793" y="5197955"/>
                  <a:pt x="412411" y="5194145"/>
                  <a:pt x="410887" y="5192051"/>
                </a:cubicBezTo>
                <a:cubicBezTo>
                  <a:pt x="400791" y="5179097"/>
                  <a:pt x="400029" y="5165570"/>
                  <a:pt x="398315" y="5148995"/>
                </a:cubicBezTo>
                <a:cubicBezTo>
                  <a:pt x="395837" y="5125562"/>
                  <a:pt x="397553" y="5104036"/>
                  <a:pt x="401743" y="5082317"/>
                </a:cubicBezTo>
                <a:cubicBezTo>
                  <a:pt x="404791" y="5066505"/>
                  <a:pt x="411078" y="5050504"/>
                  <a:pt x="419080" y="5036405"/>
                </a:cubicBezTo>
                <a:cubicBezTo>
                  <a:pt x="430320" y="5016785"/>
                  <a:pt x="434701" y="4997922"/>
                  <a:pt x="419841" y="4979253"/>
                </a:cubicBezTo>
                <a:cubicBezTo>
                  <a:pt x="404029" y="4959061"/>
                  <a:pt x="409553" y="4936201"/>
                  <a:pt x="408983" y="4913909"/>
                </a:cubicBezTo>
                <a:cubicBezTo>
                  <a:pt x="408791" y="4904195"/>
                  <a:pt x="409175" y="4893907"/>
                  <a:pt x="406697" y="4884572"/>
                </a:cubicBezTo>
                <a:cubicBezTo>
                  <a:pt x="399647" y="4857522"/>
                  <a:pt x="388978" y="4831420"/>
                  <a:pt x="384216" y="4803988"/>
                </a:cubicBezTo>
                <a:cubicBezTo>
                  <a:pt x="381551" y="4788747"/>
                  <a:pt x="386312" y="4771793"/>
                  <a:pt x="389741" y="4755980"/>
                </a:cubicBezTo>
                <a:cubicBezTo>
                  <a:pt x="393362" y="4739978"/>
                  <a:pt x="398885" y="4724167"/>
                  <a:pt x="404601" y="4708734"/>
                </a:cubicBezTo>
                <a:cubicBezTo>
                  <a:pt x="408411" y="4698258"/>
                  <a:pt x="412031" y="4686828"/>
                  <a:pt x="418889" y="4678445"/>
                </a:cubicBezTo>
                <a:cubicBezTo>
                  <a:pt x="434510" y="4659393"/>
                  <a:pt x="437178" y="4639772"/>
                  <a:pt x="428986" y="4617291"/>
                </a:cubicBezTo>
                <a:cubicBezTo>
                  <a:pt x="427651" y="4613864"/>
                  <a:pt x="427651" y="4609863"/>
                  <a:pt x="427462" y="4606053"/>
                </a:cubicBezTo>
                <a:cubicBezTo>
                  <a:pt x="423462" y="4545086"/>
                  <a:pt x="420984" y="4484127"/>
                  <a:pt x="414888" y="4423545"/>
                </a:cubicBezTo>
                <a:cubicBezTo>
                  <a:pt x="412411" y="4398972"/>
                  <a:pt x="401553" y="4375349"/>
                  <a:pt x="394695" y="4351154"/>
                </a:cubicBezTo>
                <a:cubicBezTo>
                  <a:pt x="393362" y="4346201"/>
                  <a:pt x="391265" y="4340674"/>
                  <a:pt x="392218" y="4335722"/>
                </a:cubicBezTo>
                <a:cubicBezTo>
                  <a:pt x="401743" y="4281810"/>
                  <a:pt x="387838" y="4231324"/>
                  <a:pt x="369547" y="4181603"/>
                </a:cubicBezTo>
                <a:cubicBezTo>
                  <a:pt x="367643" y="4176461"/>
                  <a:pt x="368214" y="4170174"/>
                  <a:pt x="368595" y="4164458"/>
                </a:cubicBezTo>
                <a:cubicBezTo>
                  <a:pt x="369928" y="4148453"/>
                  <a:pt x="376597" y="4131119"/>
                  <a:pt x="372597" y="4116641"/>
                </a:cubicBezTo>
                <a:cubicBezTo>
                  <a:pt x="361546" y="4078159"/>
                  <a:pt x="348211" y="4040058"/>
                  <a:pt x="331447" y="4003861"/>
                </a:cubicBezTo>
                <a:cubicBezTo>
                  <a:pt x="314494" y="3967091"/>
                  <a:pt x="300203" y="3932993"/>
                  <a:pt x="317349" y="3890891"/>
                </a:cubicBezTo>
                <a:cubicBezTo>
                  <a:pt x="324589" y="3872985"/>
                  <a:pt x="319445" y="3849362"/>
                  <a:pt x="317541" y="3828785"/>
                </a:cubicBezTo>
                <a:cubicBezTo>
                  <a:pt x="316016" y="3813737"/>
                  <a:pt x="307443" y="3799258"/>
                  <a:pt x="307443" y="3784397"/>
                </a:cubicBezTo>
                <a:cubicBezTo>
                  <a:pt x="307443" y="3744770"/>
                  <a:pt x="297345" y="3709529"/>
                  <a:pt x="276771" y="3675238"/>
                </a:cubicBezTo>
                <a:cubicBezTo>
                  <a:pt x="268770" y="3661899"/>
                  <a:pt x="274106" y="3641134"/>
                  <a:pt x="272009" y="3623799"/>
                </a:cubicBezTo>
                <a:cubicBezTo>
                  <a:pt x="269533" y="3605509"/>
                  <a:pt x="267247" y="3586653"/>
                  <a:pt x="261720" y="3569124"/>
                </a:cubicBezTo>
                <a:cubicBezTo>
                  <a:pt x="247243" y="3523785"/>
                  <a:pt x="230859" y="3479015"/>
                  <a:pt x="215618" y="3433866"/>
                </a:cubicBezTo>
                <a:cubicBezTo>
                  <a:pt x="203045" y="3396719"/>
                  <a:pt x="212951" y="3360139"/>
                  <a:pt x="218286" y="3323372"/>
                </a:cubicBezTo>
                <a:cubicBezTo>
                  <a:pt x="221715" y="3300319"/>
                  <a:pt x="229907" y="3278795"/>
                  <a:pt x="217715" y="3252885"/>
                </a:cubicBezTo>
                <a:cubicBezTo>
                  <a:pt x="206093" y="3228119"/>
                  <a:pt x="208761" y="3196686"/>
                  <a:pt x="202475" y="3168870"/>
                </a:cubicBezTo>
                <a:cubicBezTo>
                  <a:pt x="197141" y="3145436"/>
                  <a:pt x="188566" y="3122770"/>
                  <a:pt x="180184" y="3100099"/>
                </a:cubicBezTo>
                <a:cubicBezTo>
                  <a:pt x="168753" y="3069235"/>
                  <a:pt x="156753" y="3038756"/>
                  <a:pt x="162468" y="3005035"/>
                </a:cubicBezTo>
                <a:cubicBezTo>
                  <a:pt x="168945" y="2966742"/>
                  <a:pt x="144560" y="2940455"/>
                  <a:pt x="128366" y="2910353"/>
                </a:cubicBezTo>
                <a:cubicBezTo>
                  <a:pt x="117318" y="2889587"/>
                  <a:pt x="109126" y="2866918"/>
                  <a:pt x="102268" y="2844248"/>
                </a:cubicBezTo>
                <a:cubicBezTo>
                  <a:pt x="93313" y="2813958"/>
                  <a:pt x="87978" y="2782716"/>
                  <a:pt x="79216" y="2752235"/>
                </a:cubicBezTo>
                <a:cubicBezTo>
                  <a:pt x="66072" y="2706131"/>
                  <a:pt x="55785" y="2659455"/>
                  <a:pt x="63024" y="2611450"/>
                </a:cubicBezTo>
                <a:cubicBezTo>
                  <a:pt x="66262" y="2589352"/>
                  <a:pt x="66072" y="2568774"/>
                  <a:pt x="61307" y="2546678"/>
                </a:cubicBezTo>
                <a:cubicBezTo>
                  <a:pt x="53497" y="2510483"/>
                  <a:pt x="52545" y="2473333"/>
                  <a:pt x="23399" y="2444184"/>
                </a:cubicBezTo>
                <a:cubicBezTo>
                  <a:pt x="13111" y="2433897"/>
                  <a:pt x="10446" y="2415420"/>
                  <a:pt x="5110" y="2400369"/>
                </a:cubicBezTo>
                <a:cubicBezTo>
                  <a:pt x="-1178" y="2383032"/>
                  <a:pt x="2062" y="2370270"/>
                  <a:pt x="20351" y="2360933"/>
                </a:cubicBezTo>
                <a:cubicBezTo>
                  <a:pt x="28541" y="2356744"/>
                  <a:pt x="36543" y="2344741"/>
                  <a:pt x="37877" y="2335405"/>
                </a:cubicBezTo>
                <a:cubicBezTo>
                  <a:pt x="41877" y="2307402"/>
                  <a:pt x="35971" y="2281683"/>
                  <a:pt x="23017" y="2254633"/>
                </a:cubicBezTo>
                <a:cubicBezTo>
                  <a:pt x="10824" y="2229296"/>
                  <a:pt x="12158" y="2197670"/>
                  <a:pt x="7395" y="2168903"/>
                </a:cubicBezTo>
                <a:cubicBezTo>
                  <a:pt x="5680" y="2158712"/>
                  <a:pt x="3062" y="2148519"/>
                  <a:pt x="871" y="2138304"/>
                </a:cubicBezTo>
                <a:lnTo>
                  <a:pt x="0" y="2131532"/>
                </a:lnTo>
                <a:lnTo>
                  <a:pt x="0" y="2072225"/>
                </a:lnTo>
                <a:lnTo>
                  <a:pt x="251" y="2069340"/>
                </a:lnTo>
                <a:cubicBezTo>
                  <a:pt x="2061" y="2056600"/>
                  <a:pt x="4156" y="2043835"/>
                  <a:pt x="5299" y="2030977"/>
                </a:cubicBezTo>
                <a:cubicBezTo>
                  <a:pt x="7203" y="2010974"/>
                  <a:pt x="6442" y="1990589"/>
                  <a:pt x="8729" y="1970586"/>
                </a:cubicBezTo>
                <a:cubicBezTo>
                  <a:pt x="10446" y="1954202"/>
                  <a:pt x="14824" y="1938009"/>
                  <a:pt x="18445" y="1921817"/>
                </a:cubicBezTo>
                <a:cubicBezTo>
                  <a:pt x="19779" y="1915912"/>
                  <a:pt x="24922" y="1910004"/>
                  <a:pt x="24161" y="1904673"/>
                </a:cubicBezTo>
                <a:cubicBezTo>
                  <a:pt x="15968" y="1851709"/>
                  <a:pt x="52545" y="1813610"/>
                  <a:pt x="68738" y="1768838"/>
                </a:cubicBezTo>
                <a:cubicBezTo>
                  <a:pt x="85886" y="1721785"/>
                  <a:pt x="112174" y="1676253"/>
                  <a:pt x="104363" y="1623675"/>
                </a:cubicBezTo>
                <a:cubicBezTo>
                  <a:pt x="99601" y="1591859"/>
                  <a:pt x="88551" y="1561189"/>
                  <a:pt x="81882" y="1529563"/>
                </a:cubicBezTo>
                <a:cubicBezTo>
                  <a:pt x="79597" y="1518324"/>
                  <a:pt x="79978" y="1505751"/>
                  <a:pt x="82264" y="1494509"/>
                </a:cubicBezTo>
                <a:cubicBezTo>
                  <a:pt x="92743" y="1440216"/>
                  <a:pt x="94266" y="1386684"/>
                  <a:pt x="77120" y="1333341"/>
                </a:cubicBezTo>
                <a:cubicBezTo>
                  <a:pt x="74262" y="1324198"/>
                  <a:pt x="71597" y="1314483"/>
                  <a:pt x="71597" y="1304955"/>
                </a:cubicBezTo>
                <a:cubicBezTo>
                  <a:pt x="71597" y="1252757"/>
                  <a:pt x="75597" y="1201512"/>
                  <a:pt x="94266" y="1151600"/>
                </a:cubicBezTo>
                <a:cubicBezTo>
                  <a:pt x="100553" y="1134834"/>
                  <a:pt x="96553" y="1114449"/>
                  <a:pt x="98077" y="1095972"/>
                </a:cubicBezTo>
                <a:cubicBezTo>
                  <a:pt x="99409" y="1078826"/>
                  <a:pt x="99981" y="1061298"/>
                  <a:pt x="104363" y="1044725"/>
                </a:cubicBezTo>
                <a:cubicBezTo>
                  <a:pt x="110839" y="1020529"/>
                  <a:pt x="111601" y="998052"/>
                  <a:pt x="105887" y="973095"/>
                </a:cubicBezTo>
                <a:cubicBezTo>
                  <a:pt x="100553" y="949281"/>
                  <a:pt x="103219" y="923562"/>
                  <a:pt x="103029" y="898797"/>
                </a:cubicBezTo>
                <a:cubicBezTo>
                  <a:pt x="102839" y="871173"/>
                  <a:pt x="102649" y="843552"/>
                  <a:pt x="103601" y="815929"/>
                </a:cubicBezTo>
                <a:cubicBezTo>
                  <a:pt x="103981" y="804877"/>
                  <a:pt x="111601" y="792306"/>
                  <a:pt x="108553" y="783158"/>
                </a:cubicBezTo>
                <a:cubicBezTo>
                  <a:pt x="98267" y="753633"/>
                  <a:pt x="110649" y="724104"/>
                  <a:pt x="105126" y="694576"/>
                </a:cubicBezTo>
                <a:cubicBezTo>
                  <a:pt x="102268" y="680096"/>
                  <a:pt x="110078" y="663713"/>
                  <a:pt x="110839" y="648092"/>
                </a:cubicBezTo>
                <a:cubicBezTo>
                  <a:pt x="112174" y="622564"/>
                  <a:pt x="111601" y="597037"/>
                  <a:pt x="111983" y="571508"/>
                </a:cubicBezTo>
                <a:cubicBezTo>
                  <a:pt x="112174" y="563125"/>
                  <a:pt x="112936" y="554933"/>
                  <a:pt x="113318" y="546552"/>
                </a:cubicBezTo>
                <a:cubicBezTo>
                  <a:pt x="113697" y="539121"/>
                  <a:pt x="115412" y="531310"/>
                  <a:pt x="114080" y="524262"/>
                </a:cubicBezTo>
                <a:cubicBezTo>
                  <a:pt x="109315" y="498733"/>
                  <a:pt x="101505" y="473587"/>
                  <a:pt x="98457" y="447870"/>
                </a:cubicBezTo>
                <a:cubicBezTo>
                  <a:pt x="95792" y="425581"/>
                  <a:pt x="99409" y="402529"/>
                  <a:pt x="97505" y="380050"/>
                </a:cubicBezTo>
                <a:cubicBezTo>
                  <a:pt x="94266" y="340425"/>
                  <a:pt x="88551" y="300800"/>
                  <a:pt x="84930" y="261173"/>
                </a:cubicBezTo>
                <a:cubicBezTo>
                  <a:pt x="84168" y="252600"/>
                  <a:pt x="88933" y="243648"/>
                  <a:pt x="89313" y="234883"/>
                </a:cubicBezTo>
                <a:cubicBezTo>
                  <a:pt x="90266" y="207450"/>
                  <a:pt x="90457" y="180017"/>
                  <a:pt x="91026" y="152584"/>
                </a:cubicBezTo>
                <a:cubicBezTo>
                  <a:pt x="91218" y="136963"/>
                  <a:pt x="90647" y="121150"/>
                  <a:pt x="92361" y="105718"/>
                </a:cubicBezTo>
                <a:cubicBezTo>
                  <a:pt x="94648" y="85336"/>
                  <a:pt x="98077" y="66857"/>
                  <a:pt x="83217" y="47806"/>
                </a:cubicBezTo>
                <a:cubicBezTo>
                  <a:pt x="77453" y="40471"/>
                  <a:pt x="73691" y="32636"/>
                  <a:pt x="71206" y="24480"/>
                </a:cubicBezTo>
                <a:close/>
              </a:path>
            </a:pathLst>
          </a:custGeom>
          <a:noFill/>
          <a:effectLst>
            <a:outerShdw blurRad="381000" dist="152400" dir="10800000" algn="r" rotWithShape="0">
              <a:prstClr val="black">
                <a:alpha val="10000"/>
              </a:prstClr>
            </a:outerShdw>
          </a:effectLst>
          <a:extLst>
            <a:ext uri="{909E8E84-426E-40DD-AFC4-6F175D3DCCD1}">
              <a14:hiddenFill xmlns:a14="http://schemas.microsoft.com/office/drawing/2010/main">
                <a:solidFill>
                  <a:srgbClr val="FFFFFF"/>
                </a:solidFill>
              </a14:hiddenFill>
            </a:ext>
          </a:extLst>
        </p:spPr>
      </p:pic>
      <p:sp>
        <p:nvSpPr>
          <p:cNvPr id="73" name="Freeform: Shape 72">
            <a:extLst>
              <a:ext uri="{FF2B5EF4-FFF2-40B4-BE49-F238E27FC236}">
                <a16:creationId xmlns:a16="http://schemas.microsoft.com/office/drawing/2014/main" id="{C4D41903-2C9D-4F9E-AA1F-6161F8A6FC0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40986"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8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5" name="Freeform: Shape 74">
            <a:extLst>
              <a:ext uri="{FF2B5EF4-FFF2-40B4-BE49-F238E27FC236}">
                <a16:creationId xmlns:a16="http://schemas.microsoft.com/office/drawing/2014/main" id="{9E4574B5-C90E-412D-BAB0-B9F483290C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40988"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7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3553185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27753-1CE9-594B-A2AC-D590421B9CC5}"/>
              </a:ext>
            </a:extLst>
          </p:cNvPr>
          <p:cNvSpPr>
            <a:spLocks noGrp="1"/>
          </p:cNvSpPr>
          <p:nvPr>
            <p:ph type="title"/>
          </p:nvPr>
        </p:nvSpPr>
        <p:spPr>
          <a:xfrm>
            <a:off x="838200" y="192131"/>
            <a:ext cx="10515600" cy="1325563"/>
          </a:xfrm>
        </p:spPr>
        <p:txBody>
          <a:bodyPr/>
          <a:lstStyle/>
          <a:p>
            <a:r>
              <a:rPr lang="en-US" dirty="0">
                <a:latin typeface="Agency FB" panose="020B0503020202020204" pitchFamily="34" charset="77"/>
              </a:rPr>
              <a:t>Threats to democracy</a:t>
            </a:r>
          </a:p>
        </p:txBody>
      </p:sp>
      <p:sp>
        <p:nvSpPr>
          <p:cNvPr id="3" name="Content Placeholder 2">
            <a:extLst>
              <a:ext uri="{FF2B5EF4-FFF2-40B4-BE49-F238E27FC236}">
                <a16:creationId xmlns:a16="http://schemas.microsoft.com/office/drawing/2014/main" id="{ADEEB4A6-0C80-1240-914A-C4E4CEDF7CD0}"/>
              </a:ext>
            </a:extLst>
          </p:cNvPr>
          <p:cNvSpPr>
            <a:spLocks noGrp="1"/>
          </p:cNvSpPr>
          <p:nvPr>
            <p:ph idx="1"/>
          </p:nvPr>
        </p:nvSpPr>
        <p:spPr>
          <a:xfrm>
            <a:off x="838200" y="1359243"/>
            <a:ext cx="10515600" cy="5133632"/>
          </a:xfrm>
        </p:spPr>
        <p:txBody>
          <a:bodyPr>
            <a:normAutofit/>
          </a:bodyPr>
          <a:lstStyle/>
          <a:p>
            <a:pPr marL="0" indent="0" algn="just">
              <a:buNone/>
            </a:pPr>
            <a:r>
              <a:rPr lang="en-US" sz="4000" b="1" dirty="0" err="1">
                <a:latin typeface="Agency FB" panose="020B0503020202020204" pitchFamily="34" charset="77"/>
              </a:rPr>
              <a:t>Organised</a:t>
            </a:r>
            <a:r>
              <a:rPr lang="en-US" sz="4000" b="1" dirty="0">
                <a:latin typeface="Agency FB" panose="020B0503020202020204" pitchFamily="34" charset="77"/>
              </a:rPr>
              <a:t> crime, corruption, lawlessness </a:t>
            </a:r>
            <a:r>
              <a:rPr lang="en-US" sz="4000" dirty="0">
                <a:latin typeface="Agency FB" panose="020B0503020202020204" pitchFamily="34" charset="77"/>
              </a:rPr>
              <a:t>and </a:t>
            </a:r>
            <a:r>
              <a:rPr lang="en-US" sz="4000" b="1" dirty="0">
                <a:latin typeface="Agency FB" panose="020B0503020202020204" pitchFamily="34" charset="77"/>
              </a:rPr>
              <a:t>vested interests </a:t>
            </a:r>
            <a:r>
              <a:rPr lang="en-US" sz="4000" dirty="0">
                <a:latin typeface="Agency FB" panose="020B0503020202020204" pitchFamily="34" charset="77"/>
              </a:rPr>
              <a:t>all threaten to destabilize democracies worldwide. These activities undermine and attack the principles of democracy. They seek to fulfil the goals of the self-interested individual or group rather than contribute to the betterment of society.</a:t>
            </a:r>
          </a:p>
        </p:txBody>
      </p:sp>
    </p:spTree>
    <p:extLst>
      <p:ext uri="{BB962C8B-B14F-4D97-AF65-F5344CB8AC3E}">
        <p14:creationId xmlns:p14="http://schemas.microsoft.com/office/powerpoint/2010/main" val="13248694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27753-1CE9-594B-A2AC-D590421B9CC5}"/>
              </a:ext>
            </a:extLst>
          </p:cNvPr>
          <p:cNvSpPr>
            <a:spLocks noGrp="1"/>
          </p:cNvSpPr>
          <p:nvPr>
            <p:ph type="title"/>
          </p:nvPr>
        </p:nvSpPr>
        <p:spPr>
          <a:xfrm>
            <a:off x="838200" y="192131"/>
            <a:ext cx="10515600" cy="1325563"/>
          </a:xfrm>
        </p:spPr>
        <p:txBody>
          <a:bodyPr/>
          <a:lstStyle/>
          <a:p>
            <a:r>
              <a:rPr lang="en-US" dirty="0">
                <a:latin typeface="Agency FB" panose="020B0503020202020204" pitchFamily="34" charset="77"/>
              </a:rPr>
              <a:t>Influence of vested interests</a:t>
            </a:r>
          </a:p>
        </p:txBody>
      </p:sp>
      <p:sp>
        <p:nvSpPr>
          <p:cNvPr id="3" name="Content Placeholder 2">
            <a:extLst>
              <a:ext uri="{FF2B5EF4-FFF2-40B4-BE49-F238E27FC236}">
                <a16:creationId xmlns:a16="http://schemas.microsoft.com/office/drawing/2014/main" id="{ADEEB4A6-0C80-1240-914A-C4E4CEDF7CD0}"/>
              </a:ext>
            </a:extLst>
          </p:cNvPr>
          <p:cNvSpPr>
            <a:spLocks noGrp="1"/>
          </p:cNvSpPr>
          <p:nvPr>
            <p:ph idx="1"/>
          </p:nvPr>
        </p:nvSpPr>
        <p:spPr>
          <a:xfrm>
            <a:off x="838200" y="1359243"/>
            <a:ext cx="10515600" cy="5133632"/>
          </a:xfrm>
        </p:spPr>
        <p:txBody>
          <a:bodyPr>
            <a:normAutofit/>
          </a:bodyPr>
          <a:lstStyle/>
          <a:p>
            <a:pPr marL="0" indent="0" algn="just">
              <a:buNone/>
            </a:pPr>
            <a:r>
              <a:rPr lang="en-US" sz="4000" b="1" dirty="0">
                <a:latin typeface="Agency FB" panose="020B0503020202020204" pitchFamily="34" charset="77"/>
              </a:rPr>
              <a:t>Vested interests are individuals or groups within Australia that demand special privileges. </a:t>
            </a:r>
            <a:r>
              <a:rPr lang="en-US" sz="4000" dirty="0">
                <a:latin typeface="Agency FB" panose="020B0503020202020204" pitchFamily="34" charset="77"/>
              </a:rPr>
              <a:t>They </a:t>
            </a:r>
            <a:r>
              <a:rPr lang="en-US" sz="4000" b="1" dirty="0">
                <a:latin typeface="Agency FB" panose="020B0503020202020204" pitchFamily="34" charset="77"/>
              </a:rPr>
              <a:t>often pressure or lobby </a:t>
            </a:r>
            <a:r>
              <a:rPr lang="en-US" sz="4000" dirty="0">
                <a:latin typeface="Agency FB" panose="020B0503020202020204" pitchFamily="34" charset="77"/>
              </a:rPr>
              <a:t>the government into formulating policies and enacting legislation to their advantage. Often disguised as being in the best interest of the nation, vested interests can be destructive to democracy. In the process of promoting their own objectives, real debate about important issues can become clouded or lost. </a:t>
            </a:r>
          </a:p>
        </p:txBody>
      </p:sp>
    </p:spTree>
    <p:extLst>
      <p:ext uri="{BB962C8B-B14F-4D97-AF65-F5344CB8AC3E}">
        <p14:creationId xmlns:p14="http://schemas.microsoft.com/office/powerpoint/2010/main" val="8864924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27753-1CE9-594B-A2AC-D590421B9CC5}"/>
              </a:ext>
            </a:extLst>
          </p:cNvPr>
          <p:cNvSpPr>
            <a:spLocks noGrp="1"/>
          </p:cNvSpPr>
          <p:nvPr>
            <p:ph type="title"/>
          </p:nvPr>
        </p:nvSpPr>
        <p:spPr>
          <a:xfrm>
            <a:off x="838200" y="192131"/>
            <a:ext cx="10515600" cy="1325563"/>
          </a:xfrm>
        </p:spPr>
        <p:txBody>
          <a:bodyPr/>
          <a:lstStyle/>
          <a:p>
            <a:r>
              <a:rPr lang="en-US" dirty="0">
                <a:latin typeface="Agency FB" panose="020B0503020202020204" pitchFamily="34" charset="77"/>
              </a:rPr>
              <a:t>Influence of vested interests</a:t>
            </a:r>
          </a:p>
        </p:txBody>
      </p:sp>
      <p:sp>
        <p:nvSpPr>
          <p:cNvPr id="3" name="Content Placeholder 2">
            <a:extLst>
              <a:ext uri="{FF2B5EF4-FFF2-40B4-BE49-F238E27FC236}">
                <a16:creationId xmlns:a16="http://schemas.microsoft.com/office/drawing/2014/main" id="{ADEEB4A6-0C80-1240-914A-C4E4CEDF7CD0}"/>
              </a:ext>
            </a:extLst>
          </p:cNvPr>
          <p:cNvSpPr>
            <a:spLocks noGrp="1"/>
          </p:cNvSpPr>
          <p:nvPr>
            <p:ph idx="1"/>
          </p:nvPr>
        </p:nvSpPr>
        <p:spPr>
          <a:xfrm>
            <a:off x="838200" y="1359243"/>
            <a:ext cx="10515600" cy="5133632"/>
          </a:xfrm>
        </p:spPr>
        <p:txBody>
          <a:bodyPr>
            <a:normAutofit fontScale="92500" lnSpcReduction="10000"/>
          </a:bodyPr>
          <a:lstStyle/>
          <a:p>
            <a:pPr marL="0" indent="0" algn="just">
              <a:buNone/>
            </a:pPr>
            <a:r>
              <a:rPr lang="en-US" sz="4000" dirty="0">
                <a:latin typeface="Agency FB" panose="020B0503020202020204" pitchFamily="34" charset="77"/>
              </a:rPr>
              <a:t>Vested interest groups include more than big business. </a:t>
            </a:r>
          </a:p>
          <a:p>
            <a:pPr algn="just"/>
            <a:r>
              <a:rPr lang="en-US" sz="4000" dirty="0">
                <a:latin typeface="Agency FB" panose="020B0503020202020204" pitchFamily="34" charset="77"/>
              </a:rPr>
              <a:t>Mining companies</a:t>
            </a:r>
          </a:p>
          <a:p>
            <a:pPr algn="just"/>
            <a:r>
              <a:rPr lang="en-US" sz="4000" dirty="0">
                <a:latin typeface="Agency FB" panose="020B0503020202020204" pitchFamily="34" charset="77"/>
              </a:rPr>
              <a:t>think tanks</a:t>
            </a:r>
          </a:p>
          <a:p>
            <a:pPr algn="just"/>
            <a:r>
              <a:rPr lang="en-US" sz="4000" dirty="0">
                <a:latin typeface="Agency FB" panose="020B0503020202020204" pitchFamily="34" charset="77"/>
              </a:rPr>
              <a:t>lobby groups, </a:t>
            </a:r>
          </a:p>
          <a:p>
            <a:pPr algn="just"/>
            <a:r>
              <a:rPr lang="en-US" sz="4000" dirty="0">
                <a:latin typeface="Agency FB" panose="020B0503020202020204" pitchFamily="34" charset="77"/>
              </a:rPr>
              <a:t>refugee advocacy groups</a:t>
            </a:r>
          </a:p>
          <a:p>
            <a:pPr algn="just"/>
            <a:r>
              <a:rPr lang="en-US" sz="4000" dirty="0">
                <a:latin typeface="Agency FB" panose="020B0503020202020204" pitchFamily="34" charset="77"/>
              </a:rPr>
              <a:t>education representatives and </a:t>
            </a:r>
          </a:p>
          <a:p>
            <a:pPr algn="just"/>
            <a:r>
              <a:rPr lang="en-US" sz="4000" dirty="0">
                <a:latin typeface="Agency FB" panose="020B0503020202020204" pitchFamily="34" charset="77"/>
              </a:rPr>
              <a:t>public health </a:t>
            </a:r>
            <a:r>
              <a:rPr lang="en-US" sz="4000" dirty="0" err="1">
                <a:latin typeface="Agency FB" panose="020B0503020202020204" pitchFamily="34" charset="77"/>
              </a:rPr>
              <a:t>organisations</a:t>
            </a:r>
            <a:r>
              <a:rPr lang="en-US" sz="4000" dirty="0">
                <a:latin typeface="Agency FB" panose="020B0503020202020204" pitchFamily="34" charset="77"/>
              </a:rPr>
              <a:t> ; </a:t>
            </a:r>
          </a:p>
          <a:p>
            <a:pPr marL="0" indent="0" algn="just">
              <a:buNone/>
            </a:pPr>
            <a:r>
              <a:rPr lang="en-US" sz="4000" dirty="0">
                <a:latin typeface="Agency FB" panose="020B0503020202020204" pitchFamily="34" charset="77"/>
              </a:rPr>
              <a:t>all advocate to the parliaments for privileged consideration of their cause.</a:t>
            </a:r>
          </a:p>
        </p:txBody>
      </p:sp>
    </p:spTree>
    <p:extLst>
      <p:ext uri="{BB962C8B-B14F-4D97-AF65-F5344CB8AC3E}">
        <p14:creationId xmlns:p14="http://schemas.microsoft.com/office/powerpoint/2010/main" val="30077018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27753-1CE9-594B-A2AC-D590421B9CC5}"/>
              </a:ext>
            </a:extLst>
          </p:cNvPr>
          <p:cNvSpPr>
            <a:spLocks noGrp="1"/>
          </p:cNvSpPr>
          <p:nvPr>
            <p:ph type="title"/>
          </p:nvPr>
        </p:nvSpPr>
        <p:spPr>
          <a:xfrm>
            <a:off x="838200" y="192131"/>
            <a:ext cx="10515600" cy="1325563"/>
          </a:xfrm>
        </p:spPr>
        <p:txBody>
          <a:bodyPr/>
          <a:lstStyle/>
          <a:p>
            <a:r>
              <a:rPr lang="en-US" dirty="0">
                <a:latin typeface="Agency FB" panose="020B0503020202020204" pitchFamily="34" charset="77"/>
              </a:rPr>
              <a:t>Dangers of vested interests to democracy.</a:t>
            </a:r>
          </a:p>
        </p:txBody>
      </p:sp>
      <p:sp>
        <p:nvSpPr>
          <p:cNvPr id="3" name="Content Placeholder 2">
            <a:extLst>
              <a:ext uri="{FF2B5EF4-FFF2-40B4-BE49-F238E27FC236}">
                <a16:creationId xmlns:a16="http://schemas.microsoft.com/office/drawing/2014/main" id="{ADEEB4A6-0C80-1240-914A-C4E4CEDF7CD0}"/>
              </a:ext>
            </a:extLst>
          </p:cNvPr>
          <p:cNvSpPr>
            <a:spLocks noGrp="1"/>
          </p:cNvSpPr>
          <p:nvPr>
            <p:ph idx="1"/>
          </p:nvPr>
        </p:nvSpPr>
        <p:spPr>
          <a:xfrm>
            <a:off x="838200" y="1359243"/>
            <a:ext cx="10515600" cy="5133632"/>
          </a:xfrm>
        </p:spPr>
        <p:txBody>
          <a:bodyPr>
            <a:normAutofit fontScale="92500" lnSpcReduction="20000"/>
          </a:bodyPr>
          <a:lstStyle/>
          <a:p>
            <a:pPr marL="0" indent="0" algn="just">
              <a:buNone/>
            </a:pPr>
            <a:r>
              <a:rPr lang="en-US" sz="4000" dirty="0">
                <a:latin typeface="Agency FB" panose="020B0503020202020204" pitchFamily="34" charset="77"/>
              </a:rPr>
              <a:t>In democracies the demands of vested interest groups should be tempered for a number of reasons.</a:t>
            </a:r>
          </a:p>
          <a:p>
            <a:pPr algn="just"/>
            <a:r>
              <a:rPr lang="en-US" sz="4000" dirty="0">
                <a:latin typeface="Agency FB" panose="020B0503020202020204" pitchFamily="34" charset="77"/>
              </a:rPr>
              <a:t>Initiatives such as ‘industry partnerships’ grant programs and national frameworks can blur the lines between the government and the private sector.</a:t>
            </a:r>
          </a:p>
          <a:p>
            <a:pPr algn="just"/>
            <a:r>
              <a:rPr lang="en-US" sz="4000" dirty="0">
                <a:latin typeface="Agency FB" panose="020B0503020202020204" pitchFamily="34" charset="77"/>
              </a:rPr>
              <a:t>The government’s overall </a:t>
            </a:r>
            <a:r>
              <a:rPr lang="en-US" sz="4000" b="1" dirty="0">
                <a:latin typeface="Agency FB" panose="020B0503020202020204" pitchFamily="34" charset="77"/>
              </a:rPr>
              <a:t>legitimacy</a:t>
            </a:r>
            <a:r>
              <a:rPr lang="en-US" sz="4000" dirty="0">
                <a:latin typeface="Agency FB" panose="020B0503020202020204" pitchFamily="34" charset="77"/>
              </a:rPr>
              <a:t> comes from the people who elect it. Allowing vested interest groups or powerful individuals outside parliament to have undue influence on policy and legislation is a violation of the </a:t>
            </a:r>
            <a:r>
              <a:rPr lang="en-US" sz="4000" b="1" dirty="0">
                <a:latin typeface="Agency FB" panose="020B0503020202020204" pitchFamily="34" charset="77"/>
              </a:rPr>
              <a:t>sovereignty</a:t>
            </a:r>
            <a:r>
              <a:rPr lang="en-US" sz="4000" dirty="0">
                <a:latin typeface="Agency FB" panose="020B0503020202020204" pitchFamily="34" charset="77"/>
              </a:rPr>
              <a:t> of parliament. </a:t>
            </a:r>
          </a:p>
          <a:p>
            <a:pPr algn="just"/>
            <a:r>
              <a:rPr lang="en-US" sz="4000" dirty="0">
                <a:latin typeface="Agency FB" panose="020B0503020202020204" pitchFamily="34" charset="77"/>
              </a:rPr>
              <a:t>Companies often donate to political campaigns. This can influence the way politicians vote on bills and the bills they introduce. </a:t>
            </a:r>
          </a:p>
        </p:txBody>
      </p:sp>
    </p:spTree>
    <p:extLst>
      <p:ext uri="{BB962C8B-B14F-4D97-AF65-F5344CB8AC3E}">
        <p14:creationId xmlns:p14="http://schemas.microsoft.com/office/powerpoint/2010/main" val="13813912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27753-1CE9-594B-A2AC-D590421B9CC5}"/>
              </a:ext>
            </a:extLst>
          </p:cNvPr>
          <p:cNvSpPr>
            <a:spLocks noGrp="1"/>
          </p:cNvSpPr>
          <p:nvPr>
            <p:ph type="title"/>
          </p:nvPr>
        </p:nvSpPr>
        <p:spPr>
          <a:xfrm>
            <a:off x="838200" y="192131"/>
            <a:ext cx="10515600" cy="1325563"/>
          </a:xfrm>
        </p:spPr>
        <p:txBody>
          <a:bodyPr/>
          <a:lstStyle/>
          <a:p>
            <a:r>
              <a:rPr lang="en-US" dirty="0">
                <a:latin typeface="Agency FB" panose="020B0503020202020204" pitchFamily="34" charset="77"/>
              </a:rPr>
              <a:t>Dangers of vested interests to democracy.</a:t>
            </a:r>
          </a:p>
        </p:txBody>
      </p:sp>
      <p:sp>
        <p:nvSpPr>
          <p:cNvPr id="3" name="Content Placeholder 2">
            <a:extLst>
              <a:ext uri="{FF2B5EF4-FFF2-40B4-BE49-F238E27FC236}">
                <a16:creationId xmlns:a16="http://schemas.microsoft.com/office/drawing/2014/main" id="{ADEEB4A6-0C80-1240-914A-C4E4CEDF7CD0}"/>
              </a:ext>
            </a:extLst>
          </p:cNvPr>
          <p:cNvSpPr>
            <a:spLocks noGrp="1"/>
          </p:cNvSpPr>
          <p:nvPr>
            <p:ph idx="1"/>
          </p:nvPr>
        </p:nvSpPr>
        <p:spPr>
          <a:xfrm>
            <a:off x="838200" y="1359243"/>
            <a:ext cx="10515600" cy="5133632"/>
          </a:xfrm>
        </p:spPr>
        <p:txBody>
          <a:bodyPr>
            <a:normAutofit fontScale="92500" lnSpcReduction="20000"/>
          </a:bodyPr>
          <a:lstStyle/>
          <a:p>
            <a:pPr algn="just"/>
            <a:r>
              <a:rPr lang="en-US" sz="4000">
                <a:latin typeface="Agency FB" panose="020B0503020202020204" pitchFamily="34" charset="77"/>
              </a:rPr>
              <a:t>The </a:t>
            </a:r>
            <a:r>
              <a:rPr lang="en-US" sz="4000" dirty="0">
                <a:latin typeface="Agency FB" panose="020B0503020202020204" pitchFamily="34" charset="77"/>
              </a:rPr>
              <a:t>vested interest can change the dynamic of political debate. Politicians are forced to manage the demands of vested interest groups rather than have an open discussion about the wider implications of policy.</a:t>
            </a:r>
          </a:p>
          <a:p>
            <a:pPr algn="just"/>
            <a:r>
              <a:rPr lang="en-US" sz="4000" dirty="0">
                <a:latin typeface="Agency FB" panose="020B0503020202020204" pitchFamily="34" charset="77"/>
              </a:rPr>
              <a:t>Public lobbyists are funded by taxpayers, with little accountability for the use of the money.</a:t>
            </a:r>
          </a:p>
          <a:p>
            <a:pPr algn="just"/>
            <a:r>
              <a:rPr lang="en-US" sz="4000" dirty="0">
                <a:latin typeface="Agency FB" panose="020B0503020202020204" pitchFamily="34" charset="77"/>
              </a:rPr>
              <a:t>Bodies that receive government grants and funding are less likely to </a:t>
            </a:r>
            <a:r>
              <a:rPr lang="en-US" sz="4000" b="1" dirty="0">
                <a:latin typeface="Agency FB" panose="020B0503020202020204" pitchFamily="34" charset="77"/>
              </a:rPr>
              <a:t>scrutinize </a:t>
            </a:r>
            <a:r>
              <a:rPr lang="en-US" sz="4000" dirty="0">
                <a:latin typeface="Agency FB" panose="020B0503020202020204" pitchFamily="34" charset="77"/>
              </a:rPr>
              <a:t> government policy, which is a key feature of living in a democracy.</a:t>
            </a:r>
          </a:p>
          <a:p>
            <a:pPr algn="just"/>
            <a:r>
              <a:rPr lang="en-US" sz="4000" dirty="0">
                <a:latin typeface="Agency FB" panose="020B0503020202020204" pitchFamily="34" charset="77"/>
              </a:rPr>
              <a:t>The media is increasingly reliant on the promotion of the vested groups. This undermines freedom of press and information. </a:t>
            </a:r>
          </a:p>
        </p:txBody>
      </p:sp>
    </p:spTree>
    <p:extLst>
      <p:ext uri="{BB962C8B-B14F-4D97-AF65-F5344CB8AC3E}">
        <p14:creationId xmlns:p14="http://schemas.microsoft.com/office/powerpoint/2010/main" val="24151293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latin typeface="Agency FB" panose="020B0503020202020204" pitchFamily="34" charset="77"/>
              </a:rPr>
              <a:t>Organised Crime</a:t>
            </a:r>
          </a:p>
        </p:txBody>
      </p:sp>
      <p:sp>
        <p:nvSpPr>
          <p:cNvPr id="3" name="Content Placeholder 2"/>
          <p:cNvSpPr>
            <a:spLocks noGrp="1"/>
          </p:cNvSpPr>
          <p:nvPr>
            <p:ph idx="1"/>
          </p:nvPr>
        </p:nvSpPr>
        <p:spPr>
          <a:xfrm>
            <a:off x="838200" y="1825625"/>
            <a:ext cx="3395472" cy="4351338"/>
          </a:xfrm>
        </p:spPr>
        <p:txBody>
          <a:bodyPr/>
          <a:lstStyle/>
          <a:p>
            <a:pPr marL="0" indent="0">
              <a:buNone/>
            </a:pPr>
            <a:r>
              <a:rPr lang="en-AU" dirty="0">
                <a:hlinkClick r:id="rId2"/>
              </a:rPr>
              <a:t>https://www.acic.gov.au/publications/unclassified-intelligence-reports/organised-crime-australia</a:t>
            </a:r>
            <a:r>
              <a:rPr lang="en-AU" dirty="0"/>
              <a:t> </a:t>
            </a:r>
          </a:p>
        </p:txBody>
      </p:sp>
      <p:pic>
        <p:nvPicPr>
          <p:cNvPr id="1026" name="Picture 2" descr="Organised crime: the economic underbelly | World Finan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8264" y="0"/>
            <a:ext cx="9351264" cy="7013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69282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latin typeface="Agency FB" panose="020B0503020202020204" pitchFamily="34" charset="77"/>
              </a:rPr>
              <a:t>Organised Crime</a:t>
            </a:r>
          </a:p>
        </p:txBody>
      </p:sp>
      <p:sp>
        <p:nvSpPr>
          <p:cNvPr id="3" name="Content Placeholder 2"/>
          <p:cNvSpPr>
            <a:spLocks noGrp="1"/>
          </p:cNvSpPr>
          <p:nvPr>
            <p:ph idx="1"/>
          </p:nvPr>
        </p:nvSpPr>
        <p:spPr/>
        <p:txBody>
          <a:bodyPr>
            <a:normAutofit lnSpcReduction="10000"/>
          </a:bodyPr>
          <a:lstStyle/>
          <a:p>
            <a:pPr marL="0" indent="0">
              <a:buNone/>
            </a:pPr>
            <a:r>
              <a:rPr lang="en-AU" sz="3200" dirty="0">
                <a:latin typeface="Agency FB" panose="020B0503020202020204" pitchFamily="34" charset="77"/>
              </a:rPr>
              <a:t>The National Crime Authority Act 1984 defines organised crime as offences that:</a:t>
            </a:r>
          </a:p>
          <a:p>
            <a:r>
              <a:rPr lang="en-AU" sz="3200" dirty="0">
                <a:latin typeface="Agency FB" panose="020B0503020202020204" pitchFamily="34" charset="77"/>
              </a:rPr>
              <a:t>Involve two or more offenders and substantial planning and organisation</a:t>
            </a:r>
          </a:p>
          <a:p>
            <a:r>
              <a:rPr lang="en-AU" sz="3200" dirty="0">
                <a:latin typeface="Agency FB" panose="020B0503020202020204" pitchFamily="34" charset="77"/>
              </a:rPr>
              <a:t>Involve sophisticated methods or techniques</a:t>
            </a:r>
          </a:p>
          <a:p>
            <a:r>
              <a:rPr lang="en-AU" sz="3200" dirty="0">
                <a:latin typeface="Agency FB" panose="020B0503020202020204" pitchFamily="34" charset="77"/>
              </a:rPr>
              <a:t>Are usually committed with similar offences</a:t>
            </a:r>
          </a:p>
          <a:p>
            <a:r>
              <a:rPr lang="en-AU" sz="3200" dirty="0">
                <a:latin typeface="Agency FB" panose="020B0503020202020204" pitchFamily="34" charset="77"/>
              </a:rPr>
              <a:t>Involve theft, fraud, tax evasion, currency violations, illegal drug dealings, obtaining financial benefit by immoral behaviour by others, extortion, corruption, bankruptcy and company violations, harbouring of criminals, forging of passports, arms dealings or importation and exportation of fauna that involves matters of a similar kind</a:t>
            </a:r>
          </a:p>
        </p:txBody>
      </p:sp>
    </p:spTree>
    <p:extLst>
      <p:ext uri="{BB962C8B-B14F-4D97-AF65-F5344CB8AC3E}">
        <p14:creationId xmlns:p14="http://schemas.microsoft.com/office/powerpoint/2010/main" val="19323675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latin typeface="Agency FB" panose="020B0503020202020204" pitchFamily="34" charset="77"/>
              </a:rPr>
              <a:t>Organised Crime</a:t>
            </a:r>
          </a:p>
        </p:txBody>
      </p:sp>
      <p:sp>
        <p:nvSpPr>
          <p:cNvPr id="3" name="Content Placeholder 2"/>
          <p:cNvSpPr>
            <a:spLocks noGrp="1"/>
          </p:cNvSpPr>
          <p:nvPr>
            <p:ph idx="1"/>
          </p:nvPr>
        </p:nvSpPr>
        <p:spPr/>
        <p:txBody>
          <a:bodyPr>
            <a:normAutofit lnSpcReduction="10000"/>
          </a:bodyPr>
          <a:lstStyle/>
          <a:p>
            <a:pPr marL="0" indent="0">
              <a:buNone/>
            </a:pPr>
            <a:r>
              <a:rPr lang="en-AU" sz="3200" dirty="0">
                <a:latin typeface="Agency FB" panose="020B0503020202020204" pitchFamily="34" charset="77"/>
              </a:rPr>
              <a:t>The National Crime Authority Act 1984 defines organised crime as offences that:</a:t>
            </a:r>
          </a:p>
          <a:p>
            <a:r>
              <a:rPr lang="en-AU" sz="3200" dirty="0">
                <a:latin typeface="Agency FB" panose="020B0503020202020204" pitchFamily="34" charset="77"/>
              </a:rPr>
              <a:t>Involve two or more offenders and substantial planning and organisation</a:t>
            </a:r>
          </a:p>
          <a:p>
            <a:r>
              <a:rPr lang="en-AU" sz="3200" dirty="0">
                <a:latin typeface="Agency FB" panose="020B0503020202020204" pitchFamily="34" charset="77"/>
              </a:rPr>
              <a:t>Involve sophisticated methods or techniques</a:t>
            </a:r>
          </a:p>
          <a:p>
            <a:r>
              <a:rPr lang="en-AU" sz="3200" dirty="0">
                <a:latin typeface="Agency FB" panose="020B0503020202020204" pitchFamily="34" charset="77"/>
              </a:rPr>
              <a:t>Are usually committed with similar offences</a:t>
            </a:r>
          </a:p>
          <a:p>
            <a:r>
              <a:rPr lang="en-AU" sz="3200" dirty="0">
                <a:latin typeface="Agency FB" panose="020B0503020202020204" pitchFamily="34" charset="77"/>
              </a:rPr>
              <a:t>Involve theft, fraud, tax evasion, currency violations, illegal drug dealings, obtaining financial benefit by immoral behaviour by others, extortion, corruption, bankruptcy and company violations, harbouring of criminals, forging of passports, arms dealings or importation and exportation of fauna that involves matters of a similar kind</a:t>
            </a:r>
          </a:p>
        </p:txBody>
      </p:sp>
    </p:spTree>
    <p:extLst>
      <p:ext uri="{BB962C8B-B14F-4D97-AF65-F5344CB8AC3E}">
        <p14:creationId xmlns:p14="http://schemas.microsoft.com/office/powerpoint/2010/main" val="166468447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heft in Ohio – What You Should Know | Attorney Edward R. La R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83" y="76200"/>
            <a:ext cx="6153306" cy="297789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B2B Payments Fraud Hides Within The Enterprise | PYMNTS.c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4907" y="128587"/>
            <a:ext cx="6785171" cy="452570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Russia's role in tax avoidance, tax evasion and money laundering |  Eupoliticalrepor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033" y="1992503"/>
            <a:ext cx="7068912" cy="3978529"/>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Drug Trafficking - United Nations and the Rule of Law"/>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91327" y="2926726"/>
            <a:ext cx="5896911" cy="3931274"/>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Forging Passport Picture. Hand with tweezers holding id photo over passport  as i , #Affiliate, #Hand, #twe… | Passport online, Passport pictures,  Biometric passpor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759" y="2485715"/>
            <a:ext cx="6588783" cy="4389778"/>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Illegal wildlife trade in the Amazon | WWF"/>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53488" y="1154186"/>
            <a:ext cx="8312199" cy="3011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090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2052"/>
                                        </p:tgtEl>
                                        <p:attrNameLst>
                                          <p:attrName>style.visibility</p:attrName>
                                        </p:attrNameLst>
                                      </p:cBhvr>
                                      <p:to>
                                        <p:strVal val="visible"/>
                                      </p:to>
                                    </p:set>
                                    <p:animEffect transition="in" filter="barn(inVertical)">
                                      <p:cBhvr>
                                        <p:cTn id="11" dur="500"/>
                                        <p:tgtEl>
                                          <p:spTgt spid="2052"/>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nodeType="clickEffect">
                                  <p:stCondLst>
                                    <p:cond delay="0"/>
                                  </p:stCondLst>
                                  <p:childTnLst>
                                    <p:set>
                                      <p:cBhvr>
                                        <p:cTn id="15" dur="1" fill="hold">
                                          <p:stCondLst>
                                            <p:cond delay="0"/>
                                          </p:stCondLst>
                                        </p:cTn>
                                        <p:tgtEl>
                                          <p:spTgt spid="2054"/>
                                        </p:tgtEl>
                                        <p:attrNameLst>
                                          <p:attrName>style.visibility</p:attrName>
                                        </p:attrNameLst>
                                      </p:cBhvr>
                                      <p:to>
                                        <p:strVal val="visible"/>
                                      </p:to>
                                    </p:set>
                                    <p:animEffect transition="in" filter="fade">
                                      <p:cBhvr>
                                        <p:cTn id="16" dur="1000"/>
                                        <p:tgtEl>
                                          <p:spTgt spid="2054"/>
                                        </p:tgtEl>
                                      </p:cBhvr>
                                    </p:animEffect>
                                    <p:anim calcmode="lin" valueType="num">
                                      <p:cBhvr>
                                        <p:cTn id="17" dur="1000" fill="hold"/>
                                        <p:tgtEl>
                                          <p:spTgt spid="2054"/>
                                        </p:tgtEl>
                                        <p:attrNameLst>
                                          <p:attrName>ppt_x</p:attrName>
                                        </p:attrNameLst>
                                      </p:cBhvr>
                                      <p:tavLst>
                                        <p:tav tm="0">
                                          <p:val>
                                            <p:strVal val="#ppt_x"/>
                                          </p:val>
                                        </p:tav>
                                        <p:tav tm="100000">
                                          <p:val>
                                            <p:strVal val="#ppt_x"/>
                                          </p:val>
                                        </p:tav>
                                      </p:tavLst>
                                    </p:anim>
                                    <p:anim calcmode="lin" valueType="num">
                                      <p:cBhvr>
                                        <p:cTn id="18" dur="1000" fill="hold"/>
                                        <p:tgtEl>
                                          <p:spTgt spid="2054"/>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056"/>
                                        </p:tgtEl>
                                        <p:attrNameLst>
                                          <p:attrName>style.visibility</p:attrName>
                                        </p:attrNameLst>
                                      </p:cBhvr>
                                      <p:to>
                                        <p:strVal val="visible"/>
                                      </p:to>
                                    </p:set>
                                    <p:animEffect transition="in" filter="fade">
                                      <p:cBhvr>
                                        <p:cTn id="23" dur="500"/>
                                        <p:tgtEl>
                                          <p:spTgt spid="2056"/>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2058"/>
                                        </p:tgtEl>
                                        <p:attrNameLst>
                                          <p:attrName>style.visibility</p:attrName>
                                        </p:attrNameLst>
                                      </p:cBhvr>
                                      <p:to>
                                        <p:strVal val="visible"/>
                                      </p:to>
                                    </p:set>
                                    <p:anim calcmode="lin" valueType="num">
                                      <p:cBhvr additive="base">
                                        <p:cTn id="28" dur="500" fill="hold"/>
                                        <p:tgtEl>
                                          <p:spTgt spid="2058"/>
                                        </p:tgtEl>
                                        <p:attrNameLst>
                                          <p:attrName>ppt_x</p:attrName>
                                        </p:attrNameLst>
                                      </p:cBhvr>
                                      <p:tavLst>
                                        <p:tav tm="0">
                                          <p:val>
                                            <p:strVal val="#ppt_x"/>
                                          </p:val>
                                        </p:tav>
                                        <p:tav tm="100000">
                                          <p:val>
                                            <p:strVal val="#ppt_x"/>
                                          </p:val>
                                        </p:tav>
                                      </p:tavLst>
                                    </p:anim>
                                    <p:anim calcmode="lin" valueType="num">
                                      <p:cBhvr additive="base">
                                        <p:cTn id="29" dur="500" fill="hold"/>
                                        <p:tgtEl>
                                          <p:spTgt spid="2058"/>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2060"/>
                                        </p:tgtEl>
                                        <p:attrNameLst>
                                          <p:attrName>style.visibility</p:attrName>
                                        </p:attrNameLst>
                                      </p:cBhvr>
                                      <p:to>
                                        <p:strVal val="visible"/>
                                      </p:to>
                                    </p:set>
                                    <p:animEffect transition="in" filter="wipe(down)">
                                      <p:cBhvr>
                                        <p:cTn id="34" dur="500"/>
                                        <p:tgtEl>
                                          <p:spTgt spid="2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latin typeface="Agency FB" panose="020B0503020202020204" pitchFamily="34" charset="77"/>
              </a:rPr>
              <a:t>Organised Crime</a:t>
            </a:r>
          </a:p>
        </p:txBody>
      </p:sp>
      <p:sp>
        <p:nvSpPr>
          <p:cNvPr id="3" name="Content Placeholder 2"/>
          <p:cNvSpPr>
            <a:spLocks noGrp="1"/>
          </p:cNvSpPr>
          <p:nvPr>
            <p:ph idx="1"/>
          </p:nvPr>
        </p:nvSpPr>
        <p:spPr/>
        <p:txBody>
          <a:bodyPr>
            <a:normAutofit/>
          </a:bodyPr>
          <a:lstStyle/>
          <a:p>
            <a:pPr marL="0" indent="0">
              <a:buNone/>
            </a:pPr>
            <a:r>
              <a:rPr lang="en-AU" sz="3200" dirty="0">
                <a:latin typeface="Agency FB" panose="020B0503020202020204" pitchFamily="34" charset="77"/>
              </a:rPr>
              <a:t>In its most recent report, the Australia Crime Commission commented on the increased levels of sophistication employed by organised crime syndicates. The internet and technology have not only assisted criminal activity, but they have also created new ways of committing crimes, such as infiltrating legitimate and illegitimate markets. </a:t>
            </a:r>
          </a:p>
        </p:txBody>
      </p:sp>
    </p:spTree>
    <p:extLst>
      <p:ext uri="{BB962C8B-B14F-4D97-AF65-F5344CB8AC3E}">
        <p14:creationId xmlns:p14="http://schemas.microsoft.com/office/powerpoint/2010/main" val="167629643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latin typeface="Agency FB" panose="020B0503020202020204" pitchFamily="34" charset="77"/>
              </a:rPr>
              <a:t>Effects of Organised Crime on Democracy in Australia</a:t>
            </a:r>
          </a:p>
        </p:txBody>
      </p:sp>
      <p:sp>
        <p:nvSpPr>
          <p:cNvPr id="3" name="Content Placeholder 2"/>
          <p:cNvSpPr>
            <a:spLocks noGrp="1"/>
          </p:cNvSpPr>
          <p:nvPr>
            <p:ph idx="1"/>
          </p:nvPr>
        </p:nvSpPr>
        <p:spPr/>
        <p:txBody>
          <a:bodyPr>
            <a:normAutofit/>
          </a:bodyPr>
          <a:lstStyle/>
          <a:p>
            <a:pPr marL="0" indent="0">
              <a:buNone/>
            </a:pPr>
            <a:r>
              <a:rPr lang="en-AU" sz="4000" dirty="0">
                <a:latin typeface="Agency FB" panose="020B0503020202020204" pitchFamily="34" charset="77"/>
              </a:rPr>
              <a:t>Organised crime affects everyone.</a:t>
            </a:r>
          </a:p>
          <a:p>
            <a:pPr marL="0" indent="0">
              <a:buNone/>
            </a:pPr>
            <a:endParaRPr lang="en-AU" sz="4000" dirty="0">
              <a:latin typeface="Agency FB" panose="020B0503020202020204" pitchFamily="34" charset="77"/>
            </a:endParaRPr>
          </a:p>
          <a:p>
            <a:pPr marL="0" indent="0">
              <a:buNone/>
            </a:pPr>
            <a:r>
              <a:rPr lang="en-AU" sz="4000" dirty="0">
                <a:latin typeface="Agency FB" panose="020B0503020202020204" pitchFamily="34" charset="77"/>
              </a:rPr>
              <a:t>It erodes the ability of the government to look after the public.</a:t>
            </a:r>
          </a:p>
          <a:p>
            <a:pPr marL="0" indent="0">
              <a:buNone/>
            </a:pPr>
            <a:endParaRPr lang="en-AU" sz="4000" dirty="0">
              <a:latin typeface="Agency FB" panose="020B0503020202020204" pitchFamily="34" charset="77"/>
            </a:endParaRPr>
          </a:p>
          <a:p>
            <a:pPr marL="0" indent="0">
              <a:buNone/>
            </a:pPr>
            <a:r>
              <a:rPr lang="en-AU" sz="4000" dirty="0">
                <a:latin typeface="Agency FB" panose="020B0503020202020204" pitchFamily="34" charset="77"/>
              </a:rPr>
              <a:t>Overall the Australian Crime Commission estimates the cost of organised crime at $15 billion a year. </a:t>
            </a:r>
          </a:p>
        </p:txBody>
      </p:sp>
    </p:spTree>
    <p:extLst>
      <p:ext uri="{BB962C8B-B14F-4D97-AF65-F5344CB8AC3E}">
        <p14:creationId xmlns:p14="http://schemas.microsoft.com/office/powerpoint/2010/main" val="400904610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latin typeface="Agency FB" panose="020B0503020202020204" pitchFamily="34" charset="77"/>
              </a:rPr>
              <a:t>Global impacts of organised crime</a:t>
            </a:r>
          </a:p>
        </p:txBody>
      </p:sp>
      <p:sp>
        <p:nvSpPr>
          <p:cNvPr id="3" name="Content Placeholder 2"/>
          <p:cNvSpPr>
            <a:spLocks noGrp="1"/>
          </p:cNvSpPr>
          <p:nvPr>
            <p:ph idx="1"/>
          </p:nvPr>
        </p:nvSpPr>
        <p:spPr/>
        <p:txBody>
          <a:bodyPr>
            <a:normAutofit lnSpcReduction="10000"/>
          </a:bodyPr>
          <a:lstStyle/>
          <a:p>
            <a:r>
              <a:rPr lang="en-AU" sz="4000" dirty="0">
                <a:latin typeface="Agency FB" panose="020B0503020202020204" pitchFamily="34" charset="77"/>
              </a:rPr>
              <a:t>Governments and citizens in the developing world are the common target for organised crime. Developing countries are often susceptible to corruption. They lack the technology and resources to fight sophisticated crime syndicates.</a:t>
            </a:r>
          </a:p>
          <a:p>
            <a:r>
              <a:rPr lang="en-AU" sz="4000" dirty="0">
                <a:latin typeface="Agency FB" panose="020B0503020202020204" pitchFamily="34" charset="77"/>
              </a:rPr>
              <a:t>Organised crime can create mistrust between nation states, preventing goodwill and creating political instability within a region. This serves as a deterrent to trade, investment and legal assistance.</a:t>
            </a:r>
          </a:p>
        </p:txBody>
      </p:sp>
    </p:spTree>
    <p:extLst>
      <p:ext uri="{BB962C8B-B14F-4D97-AF65-F5344CB8AC3E}">
        <p14:creationId xmlns:p14="http://schemas.microsoft.com/office/powerpoint/2010/main" val="174857368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latin typeface="Agency FB" panose="020B0503020202020204" pitchFamily="34" charset="77"/>
              </a:rPr>
              <a:t>Global impacts of organised crime</a:t>
            </a:r>
          </a:p>
        </p:txBody>
      </p:sp>
      <p:sp>
        <p:nvSpPr>
          <p:cNvPr id="3" name="Content Placeholder 2"/>
          <p:cNvSpPr>
            <a:spLocks noGrp="1"/>
          </p:cNvSpPr>
          <p:nvPr>
            <p:ph idx="1"/>
          </p:nvPr>
        </p:nvSpPr>
        <p:spPr/>
        <p:txBody>
          <a:bodyPr>
            <a:normAutofit/>
          </a:bodyPr>
          <a:lstStyle/>
          <a:p>
            <a:r>
              <a:rPr lang="en-AU" sz="4000" dirty="0">
                <a:latin typeface="Agency FB" panose="020B0503020202020204" pitchFamily="34" charset="77"/>
              </a:rPr>
              <a:t>Australian businesses are reluctant to </a:t>
            </a:r>
            <a:r>
              <a:rPr lang="en-AU" sz="4000" dirty="0" smtClean="0">
                <a:latin typeface="Agency FB" panose="020B0503020202020204" pitchFamily="34" charset="77"/>
              </a:rPr>
              <a:t>invest </a:t>
            </a:r>
            <a:r>
              <a:rPr lang="en-AU" sz="4000" dirty="0">
                <a:latin typeface="Agency FB" panose="020B0503020202020204" pitchFamily="34" charset="77"/>
              </a:rPr>
              <a:t>in countries where bribes and corruption are common. This means that countries needing the revenue from foreign investment miss out.</a:t>
            </a:r>
          </a:p>
          <a:p>
            <a:r>
              <a:rPr lang="en-AU" sz="4000" dirty="0">
                <a:latin typeface="Agency FB" panose="020B0503020202020204" pitchFamily="34" charset="77"/>
              </a:rPr>
              <a:t>Australian foreign aid money is wasted.</a:t>
            </a:r>
          </a:p>
          <a:p>
            <a:r>
              <a:rPr lang="en-AU" sz="4000" dirty="0">
                <a:latin typeface="Agency FB" panose="020B0503020202020204" pitchFamily="34" charset="77"/>
              </a:rPr>
              <a:t>The Australian Defence Force and Australian Federal Police can be affected when they go to fight in overseas conflicts. </a:t>
            </a:r>
          </a:p>
        </p:txBody>
      </p:sp>
    </p:spTree>
    <p:extLst>
      <p:ext uri="{BB962C8B-B14F-4D97-AF65-F5344CB8AC3E}">
        <p14:creationId xmlns:p14="http://schemas.microsoft.com/office/powerpoint/2010/main" val="183351003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ismantling the web of harms: tackling serious and organised crime in  Australia | The Strategist"/>
          <p:cNvPicPr/>
          <p:nvPr/>
        </p:nvPicPr>
        <p:blipFill>
          <a:blip r:embed="rId2">
            <a:extLst>
              <a:ext uri="{28A0092B-C50C-407E-A947-70E740481C1C}">
                <a14:useLocalDpi xmlns:a14="http://schemas.microsoft.com/office/drawing/2010/main" val="0"/>
              </a:ext>
            </a:extLst>
          </a:blip>
          <a:srcRect/>
          <a:stretch>
            <a:fillRect/>
          </a:stretch>
        </p:blipFill>
        <p:spPr bwMode="auto">
          <a:xfrm>
            <a:off x="2580322" y="112078"/>
            <a:ext cx="7031355" cy="6633845"/>
          </a:xfrm>
          <a:prstGeom prst="rect">
            <a:avLst/>
          </a:prstGeom>
          <a:noFill/>
          <a:ln>
            <a:noFill/>
          </a:ln>
        </p:spPr>
      </p:pic>
    </p:spTree>
    <p:extLst>
      <p:ext uri="{BB962C8B-B14F-4D97-AF65-F5344CB8AC3E}">
        <p14:creationId xmlns:p14="http://schemas.microsoft.com/office/powerpoint/2010/main" val="34352359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299</TotalTime>
  <Words>2212</Words>
  <Application>Microsoft Office PowerPoint</Application>
  <PresentationFormat>Widescreen</PresentationFormat>
  <Paragraphs>179</Paragraphs>
  <Slides>63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63</vt:i4>
      </vt:variant>
    </vt:vector>
  </HeadingPairs>
  <TitlesOfParts>
    <vt:vector size="69" baseType="lpstr">
      <vt:lpstr>Agency FB</vt: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Threats to Democracy</vt:lpstr>
      <vt:lpstr>Before we discuss what threats to democracy are or how we can safeguard against them, lets revisit what a democracy is…</vt:lpstr>
      <vt:lpstr>Democracy is a system of government with 4 key elements…</vt:lpstr>
      <vt:lpstr>Before we discuss what threats to democracy are or how we can safeguard against them, lets revisit what a democracy is…</vt:lpstr>
      <vt:lpstr>Australian Values and Principles</vt:lpstr>
      <vt:lpstr>PowerPoint Presentation</vt:lpstr>
      <vt:lpstr>1</vt:lpstr>
      <vt:lpstr>2</vt:lpstr>
      <vt:lpstr>3</vt:lpstr>
      <vt:lpstr>4</vt:lpstr>
      <vt:lpstr>5</vt:lpstr>
      <vt:lpstr>6</vt:lpstr>
      <vt:lpstr>7</vt:lpstr>
      <vt:lpstr>8</vt:lpstr>
      <vt:lpstr>9</vt:lpstr>
      <vt:lpstr>10</vt:lpstr>
      <vt:lpstr>Answers</vt:lpstr>
      <vt:lpstr>Freedom of Speech</vt:lpstr>
      <vt:lpstr>Freedom of Religion</vt:lpstr>
      <vt:lpstr>Equality for Men &amp; Women</vt:lpstr>
      <vt:lpstr>The Rule of Law</vt:lpstr>
      <vt:lpstr>Equality of Opportunities</vt:lpstr>
      <vt:lpstr>Freedom of Association</vt:lpstr>
      <vt:lpstr>Peacefulness</vt:lpstr>
      <vt:lpstr>Equality under the law</vt:lpstr>
      <vt:lpstr>A spirit of egalitarianism that embraces tolerance, mutual respect and compassion for those in need</vt:lpstr>
      <vt:lpstr>Equal Worth</vt:lpstr>
      <vt:lpstr>Australia is a representative democracy…</vt:lpstr>
      <vt:lpstr>Rick Wilson is the elected representative in our Federal Parliament for those us who live in the O’Connor Electorate</vt:lpstr>
      <vt:lpstr>“I think we take democracy for granted. I don’t think we actually know what a world without democracy would look like…”</vt:lpstr>
      <vt:lpstr>What do you know about life in China?</vt:lpstr>
      <vt:lpstr>“I think we take democracy for granted. I don’t think we actually know what a world without democracy would look like…”</vt:lpstr>
      <vt:lpstr>PowerPoint Presentation</vt:lpstr>
      <vt:lpstr>PowerPoint Presentation</vt:lpstr>
      <vt:lpstr>Safeguards to Australia’s democratic society</vt:lpstr>
      <vt:lpstr>Safeguard 1: The People Elect the Government</vt:lpstr>
      <vt:lpstr>Safeguard 1: The People Elect the Government</vt:lpstr>
      <vt:lpstr>Safeguard 1: The People Elect the Government</vt:lpstr>
      <vt:lpstr>Safeguard 1: The People Elect the Government</vt:lpstr>
      <vt:lpstr>Safeguard 2: Governments uphold our shared values</vt:lpstr>
      <vt:lpstr>Safeguard 2: Governments uphold our shared values</vt:lpstr>
      <vt:lpstr>Safeguard 3: The Right to Dissent</vt:lpstr>
      <vt:lpstr>Processes to resolve disputes</vt:lpstr>
      <vt:lpstr>Processes to resolve disputes</vt:lpstr>
      <vt:lpstr>Threats to Democracy:</vt:lpstr>
      <vt:lpstr>Threats to democracy</vt:lpstr>
      <vt:lpstr>Influence of vested interests</vt:lpstr>
      <vt:lpstr>Influence of vested interests</vt:lpstr>
      <vt:lpstr>Dangers of vested interests to democracy.</vt:lpstr>
      <vt:lpstr>Dangers of vested interests to democracy.</vt:lpstr>
      <vt:lpstr>Organised Crime</vt:lpstr>
      <vt:lpstr>Organised Crime</vt:lpstr>
      <vt:lpstr>Organised Crime</vt:lpstr>
      <vt:lpstr>PowerPoint Presentation</vt:lpstr>
      <vt:lpstr>Organised Crime</vt:lpstr>
      <vt:lpstr>Effects of Organised Crime on Democracy in Australia</vt:lpstr>
      <vt:lpstr>Global impacts of organised crime</vt:lpstr>
      <vt:lpstr>Global impacts of organised crime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DONAVON Rebecca [Narrogin Senior High School]</dc:creator>
  <cp:lastModifiedBy>DONAVON Rebecca [Narrogin Senior High School]</cp:lastModifiedBy>
  <cp:revision>24</cp:revision>
  <dcterms:created xsi:type="dcterms:W3CDTF">2020-12-07T07:37:37Z</dcterms:created>
  <dcterms:modified xsi:type="dcterms:W3CDTF">2021-11-19T05:36:49Z</dcterms:modified>
</cp:coreProperties>
</file>
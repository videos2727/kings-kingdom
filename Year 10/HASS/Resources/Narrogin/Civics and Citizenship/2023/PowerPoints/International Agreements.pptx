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3" r:id="rId9"/>
    <p:sldId id="269" r:id="rId10"/>
    <p:sldId id="264" r:id="rId11"/>
    <p:sldId id="260" r:id="rId12"/>
    <p:sldId id="270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5" autoAdjust="0"/>
    <p:restoredTop sz="76977" autoAdjust="0"/>
  </p:normalViewPr>
  <p:slideViewPr>
    <p:cSldViewPr snapToGrid="0" snapToObjects="1">
      <p:cViewPr varScale="1">
        <p:scale>
          <a:sx n="88" d="100"/>
          <a:sy n="88" d="100"/>
        </p:scale>
        <p:origin x="130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A5441-66D1-0D47-8616-B49ECB5BAA2B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47773-149A-6645-A948-71453F86E5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8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hc.unesco.org/en/list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accent2"/>
                </a:solidFill>
                <a:hlinkClick r:id="rId3"/>
              </a:rPr>
              <a:t>https://whc.unesco.org/en/list/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</a:p>
          <a:p>
            <a:r>
              <a:rPr lang="en-AU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47773-149A-6645-A948-71453F86E5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89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https://esri.github.io/treasure-hunt-app/?edition=heritage-sites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647773-149A-6645-A948-71453F86E5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48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</a:t>
            </a:r>
            <a:r>
              <a:rPr lang="en-US" dirty="0" err="1"/>
              <a:t>lOzxUVCCSug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www.nationalgeographic.com</a:t>
            </a:r>
            <a:r>
              <a:rPr lang="en-US" dirty="0"/>
              <a:t>/travel/world-heritage/about/#close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47773-149A-6645-A948-71453F86E5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414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47773-149A-6645-A948-71453F86E5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20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91B46-B0CA-9F4C-BA2F-D8ECD9777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581C4-B94F-894B-A474-767145F51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A3D63-9018-A54D-9023-89855603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16522-315B-3145-B819-50E7C30C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E2CC2-612B-2249-B167-E1D40617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6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6E98-29D9-C948-8F8A-E75F23BC1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9F301-C335-7D46-96E1-76C1CF40E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7F71D-7B42-0741-B42A-1D6EAF2BA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7ECBF-8B12-5241-8934-EA434E256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BA361-B1DB-624B-8ACF-30D9337C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98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CC84-3D9D-BA40-9F92-D2028C8C2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4CA87-AD23-4C46-A30B-35AE29446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D5FC4-8637-E546-85EE-E0F08650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D10EA-1B2D-7E45-95D4-6D9E8F30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15C96-BB80-FD43-8BB6-D5F55B20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4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1FC0-DEAE-D140-8F23-69BD3012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5BF71-9F75-0149-AE33-70F31D57B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DB085-6911-1D4B-8DF5-A93612D2C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10E49-CAF1-8B41-A0D0-4E2E817C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D731E-3EF5-E249-B008-1DEC0DA8E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B37C8-4AA5-434D-8FD7-EAF824A83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34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93A0-B34B-A840-A768-454A6088F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2EF1D-0DAB-384F-88ED-56CC7CD52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4E322-A33E-A945-B70C-C5A82CF75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C56A8-89E9-0648-8CC0-70298C3B3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149F4-CEE7-8548-9021-3FD1C1C28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BD993-9422-E741-A4D7-23A89172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051A5C-5D54-EB43-91C8-A819DB82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06D44-1F00-A94F-8AA6-894FD327A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3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50D1-38AA-C64C-86DB-263135E1D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0B7CF6-8F4E-9242-B573-84B6BDA8C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A9B589-AEBC-E24D-AAA8-2A8ABAA8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F3301-022E-2246-ACAA-6AB280A6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72338-E818-4045-B52B-4EA8B23E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42BCE2-B5FD-004B-B364-A02093E4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1091C-C471-AE4E-AA75-6C41A40C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42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55883-19EA-E448-A59E-864C2A8F0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05AC1-C7DF-064E-8FAE-C79A8FDB7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F9831-1B40-DC4D-90A2-51D849D92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D8904-8168-F84A-A8C3-FE4B71D2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5A279-4B22-6349-A616-34B69C9A5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EF6A7-F5D3-0242-9D65-1C06F4C1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1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4990-BA3F-CB45-93D1-47EF040E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4FD6A0-A92D-574A-AE6A-3A5950754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B1121-33C7-7241-BE5B-8A4DD32A2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DB4D9-2F3F-D541-B871-8386B1D5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53CE2-0285-664E-A07E-8EA0AB4E3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1EC8A-C9A0-A349-A17B-B00A92255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3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A675-1D58-114B-BA2F-F512E8040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C8E04-87F2-DB49-A2FD-131077E16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0CD47-0E19-3F44-8B4F-D65D92C6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54FDE-E008-7D4A-9E72-2252C314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397D-33F7-E945-84E8-7DA595F4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6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05F1F-F02C-C24E-A7D3-08FA0D566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DE05C-1A02-514C-AC71-7B40CDF08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3B797-C85B-0344-A645-D364AF9D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D6007-D476-FB47-9F72-E390067F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999B8-92AF-2440-907C-7CFBC32D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96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DF8CD-5CD5-244B-9027-A902943F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C7054-34F1-134C-B79E-9AD98ADA1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78782-FA6F-A743-BA52-15AA84419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EAB98-BB18-CA46-B447-622B4758C602}" type="datetimeFigureOut">
              <a:rPr lang="en-US" smtClean="0"/>
              <a:t>10/27/2022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87802-903B-594A-B650-180C93800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40DE-88D3-D844-BBF9-E3B477CD4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28FCC-01CA-F04D-BAC4-FDFAFB23B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hc.unesco.org/en/list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hc.unesco.org/en/list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sri.github.io/treasure-hunt-app/?edition=heritage-site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430A99-6A10-EF43-90CB-D02B7B28D9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5A140-C17D-B346-A332-B3E9D6E2B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US" sz="4000"/>
              <a:t>International Agreements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1B5D3-BE98-344B-8D18-822E56B09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633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4F21-9C36-9E4B-BA8F-C55EF8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Defining International Treaties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D486-4AC3-7148-A0CD-E55D2977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 treaty is an international written agreement between nation states.</a:t>
            </a:r>
          </a:p>
          <a:p>
            <a:r>
              <a:rPr lang="en-US" dirty="0"/>
              <a:t>Governed by international law, treaties contain mutual understandings and intentions that help guide how nations relate to each other.</a:t>
            </a:r>
          </a:p>
        </p:txBody>
      </p:sp>
    </p:spTree>
    <p:extLst>
      <p:ext uri="{BB962C8B-B14F-4D97-AF65-F5344CB8AC3E}">
        <p14:creationId xmlns:p14="http://schemas.microsoft.com/office/powerpoint/2010/main" val="99235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4F21-9C36-9E4B-BA8F-C55EF8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Importance of International Treaties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D486-4AC3-7148-A0CD-E55D2977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Is Australia a ‘Powerful” nation?</a:t>
            </a:r>
          </a:p>
        </p:txBody>
      </p:sp>
    </p:spTree>
    <p:extLst>
      <p:ext uri="{BB962C8B-B14F-4D97-AF65-F5344CB8AC3E}">
        <p14:creationId xmlns:p14="http://schemas.microsoft.com/office/powerpoint/2010/main" val="2195462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4F21-9C36-9E4B-BA8F-C55EF8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Importance of International Treaties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D486-4AC3-7148-A0CD-E55D2977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With increased globalization, international treaties are becoming important - and important for Australia.</a:t>
            </a:r>
          </a:p>
        </p:txBody>
      </p:sp>
    </p:spTree>
    <p:extLst>
      <p:ext uri="{BB962C8B-B14F-4D97-AF65-F5344CB8AC3E}">
        <p14:creationId xmlns:p14="http://schemas.microsoft.com/office/powerpoint/2010/main" val="390554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4F21-9C36-9E4B-BA8F-C55EF8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Importance of International Treaties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D486-4AC3-7148-A0CD-E55D2977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Australia is considered a “Middle Power” – it does not carry the weight of larger countries such as the US and China.</a:t>
            </a:r>
          </a:p>
        </p:txBody>
      </p:sp>
    </p:spTree>
    <p:extLst>
      <p:ext uri="{BB962C8B-B14F-4D97-AF65-F5344CB8AC3E}">
        <p14:creationId xmlns:p14="http://schemas.microsoft.com/office/powerpoint/2010/main" val="4018949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4F21-9C36-9E4B-BA8F-C55EF8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Importance of International Treaties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D486-4AC3-7148-A0CD-E55D2977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Negotiating international treaties allows Australia to have an international voice and prevent economic or strategic isolation.</a:t>
            </a:r>
          </a:p>
        </p:txBody>
      </p:sp>
    </p:spTree>
    <p:extLst>
      <p:ext uri="{BB962C8B-B14F-4D97-AF65-F5344CB8AC3E}">
        <p14:creationId xmlns:p14="http://schemas.microsoft.com/office/powerpoint/2010/main" val="4122253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4F21-9C36-9E4B-BA8F-C55EF869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Impact of International Treaties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D486-4AC3-7148-A0CD-E55D2977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 dirty="0"/>
              <a:t>When a nation signs an international treaty or convention, it is an expression of its political sovereignty. (ability to make its own decisions).</a:t>
            </a:r>
          </a:p>
          <a:p>
            <a:r>
              <a:rPr lang="en-US" b="1" dirty="0"/>
              <a:t>Act of signing a treaty does not make it legally binding.</a:t>
            </a:r>
          </a:p>
        </p:txBody>
      </p:sp>
    </p:spTree>
    <p:extLst>
      <p:ext uri="{BB962C8B-B14F-4D97-AF65-F5344CB8AC3E}">
        <p14:creationId xmlns:p14="http://schemas.microsoft.com/office/powerpoint/2010/main" val="557193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9B858-9A04-3049-8C74-0C53BC61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chemeClr val="accent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428" y="1533361"/>
            <a:ext cx="7108371" cy="502936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804B3D0-ADCE-471F-AD68-C47C556A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  <a:hlinkClick r:id="rId4"/>
              </a:rPr>
              <a:t>https://whc.unesco.org/en/list/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br>
              <a:rPr lang="en-US" b="1" dirty="0">
                <a:solidFill>
                  <a:schemeClr val="accent2"/>
                </a:solidFill>
              </a:rPr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4707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571B-110C-477E-95BE-D945252E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 Heritage Sites</a:t>
            </a:r>
            <a:br>
              <a:rPr lang="en-AU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F8266-04CF-4FC3-8604-A950E374A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Instructions:</a:t>
            </a:r>
            <a:r>
              <a:rPr lang="en-A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Choose 2 World Heritage sites from around the world that you find interesting then answer the following questions on a PowerPoint. 1 is enough at this stage!</a:t>
            </a:r>
            <a:endParaRPr lang="en-A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A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is the World Heritage site located? Find it on a world map.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A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it a natural, cultural or mixed site? </a:t>
            </a:r>
            <a:endParaRPr lang="en-AU" sz="24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AU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is the site significant?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AU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there any threats to the site?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AU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is the site being protected?</a:t>
            </a:r>
          </a:p>
          <a:p>
            <a:r>
              <a:rPr lang="en-US" b="1" i="1" dirty="0">
                <a:solidFill>
                  <a:schemeClr val="accent2"/>
                </a:solidFill>
                <a:hlinkClick r:id="rId2"/>
              </a:rPr>
              <a:t>https://whc.unesco.org/en/list/</a:t>
            </a:r>
            <a:r>
              <a:rPr lang="en-US" b="1" i="1" dirty="0">
                <a:solidFill>
                  <a:schemeClr val="accent2"/>
                </a:solidFill>
              </a:rPr>
              <a:t> </a:t>
            </a:r>
            <a:endParaRPr lang="en-AU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9DC3B8-0DB7-4D13-A09E-24AB3E1B6E8C}"/>
              </a:ext>
            </a:extLst>
          </p:cNvPr>
          <p:cNvSpPr/>
          <p:nvPr/>
        </p:nvSpPr>
        <p:spPr>
          <a:xfrm>
            <a:off x="7424057" y="3294063"/>
            <a:ext cx="3929743" cy="2906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If you have finished AND submitted – have a go at the treasure hunt – link is on Connect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If you have completed the treasure hunt, Google Search “World Heritage Convention” and read about the background while you wait </a:t>
            </a:r>
            <a:r>
              <a:rPr lang="en-AU" dirty="0">
                <a:sym typeface="Wingdings" panose="05000000000000000000" pitchFamily="2" charset="2"/>
              </a:rPr>
              <a:t>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5771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3" y="87086"/>
            <a:ext cx="11208468" cy="54829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75113" y="5754750"/>
            <a:ext cx="70757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hlinkClick r:id="rId4"/>
              </a:rPr>
              <a:t>https://esri.github.io/treasure-hunt-app/?edition=heritage-sites</a:t>
            </a:r>
            <a:r>
              <a:rPr lang="en-AU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1593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E7F93A-5A4B-C24F-820A-DAD7BFFFCE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67" r="1893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FBC8F-5463-AE4B-A9EB-D39F35E30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US" sz="4000" dirty="0"/>
              <a:t>What is Heritage?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3F6D4-AF79-9041-A6B4-8D4E149C3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cxnSp>
        <p:nvCxnSpPr>
          <p:cNvPr id="19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843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228FBB-148E-4B51-AAB1-AA349DE106AC}"/>
              </a:ext>
            </a:extLst>
          </p:cNvPr>
          <p:cNvSpPr txBox="1"/>
          <p:nvPr/>
        </p:nvSpPr>
        <p:spPr>
          <a:xfrm>
            <a:off x="3048000" y="220232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Heritage is </a:t>
            </a:r>
            <a:r>
              <a:rPr lang="en-AU" sz="28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full range of our inherited traditions, monuments, objects, and culture</a:t>
            </a:r>
            <a:r>
              <a:rPr lang="en-AU" sz="28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88501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FBC8F-5463-AE4B-A9EB-D39F35E30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US" sz="4000" dirty="0"/>
              <a:t>A Major Treaty Signed by Australia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3F6D4-AF79-9041-A6B4-8D4E149C3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cxnSp>
        <p:nvCxnSpPr>
          <p:cNvPr id="19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DB945AB-F08A-4B47-AE87-444DAF2D8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382" y="1542393"/>
            <a:ext cx="63627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80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C9D9-24D4-3643-A0FB-FBC34BBBF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What is the World Heritage Convention?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9B858-9A04-3049-8C74-0C53BC612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 Convention defines the kind of natural or cultural sites which can be considered for inscription on the </a:t>
            </a:r>
            <a:r>
              <a:rPr lang="en-AU" b="1" dirty="0"/>
              <a:t>World Heritage List</a:t>
            </a:r>
            <a:r>
              <a:rPr lang="en-AU" dirty="0"/>
              <a:t>.</a:t>
            </a:r>
          </a:p>
          <a:p>
            <a:r>
              <a:rPr lang="en-AU" dirty="0"/>
              <a:t>The Convention sets out the </a:t>
            </a:r>
            <a:r>
              <a:rPr lang="en-AU" b="1" dirty="0"/>
              <a:t>duties </a:t>
            </a:r>
            <a:r>
              <a:rPr lang="en-AU" dirty="0"/>
              <a:t>of States Parties in identifying potential sites and their role in </a:t>
            </a:r>
            <a:r>
              <a:rPr lang="en-AU" b="1" dirty="0"/>
              <a:t>protecting </a:t>
            </a:r>
            <a:r>
              <a:rPr lang="en-AU" dirty="0"/>
              <a:t>and </a:t>
            </a:r>
            <a:r>
              <a:rPr lang="en-AU" b="1" dirty="0"/>
              <a:t>preserving</a:t>
            </a:r>
            <a:r>
              <a:rPr lang="en-AU" dirty="0"/>
              <a:t> them. </a:t>
            </a:r>
          </a:p>
          <a:p>
            <a:r>
              <a:rPr lang="en-AU" dirty="0"/>
              <a:t>By </a:t>
            </a:r>
            <a:r>
              <a:rPr lang="en-AU" b="1" dirty="0"/>
              <a:t>signing the Convention</a:t>
            </a:r>
            <a:r>
              <a:rPr lang="en-AU" dirty="0"/>
              <a:t>, each country </a:t>
            </a:r>
            <a:r>
              <a:rPr lang="en-AU" b="1" dirty="0"/>
              <a:t>pledges to conserve </a:t>
            </a:r>
            <a:r>
              <a:rPr lang="en-AU" dirty="0"/>
              <a:t>not only the World Heritage sites situated on its territory, but also to </a:t>
            </a:r>
            <a:r>
              <a:rPr lang="en-AU" b="1" dirty="0"/>
              <a:t>protect its national heritage</a:t>
            </a:r>
            <a:r>
              <a:rPr lang="en-A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47106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492</Words>
  <Application>Microsoft Office PowerPoint</Application>
  <PresentationFormat>Widescreen</PresentationFormat>
  <Paragraphs>45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</vt:lpstr>
      <vt:lpstr>Calibri</vt:lpstr>
      <vt:lpstr>Calibri Light</vt:lpstr>
      <vt:lpstr>Office Theme</vt:lpstr>
      <vt:lpstr>International Agreements</vt:lpstr>
      <vt:lpstr>Defining International Treaties</vt:lpstr>
      <vt:lpstr>The Importance of International Treaties</vt:lpstr>
      <vt:lpstr>The Importance of International Treaties</vt:lpstr>
      <vt:lpstr>The Importance of International Treaties</vt:lpstr>
      <vt:lpstr>The Importance of International Treaties</vt:lpstr>
      <vt:lpstr>Impact of International Treaties</vt:lpstr>
      <vt:lpstr>https://whc.unesco.org/en/list/  </vt:lpstr>
      <vt:lpstr>World Heritage Sites </vt:lpstr>
      <vt:lpstr>PowerPoint Presentation</vt:lpstr>
      <vt:lpstr>What is Heritage?</vt:lpstr>
      <vt:lpstr>PowerPoint Presentation</vt:lpstr>
      <vt:lpstr>A Major Treaty Signed by Australia</vt:lpstr>
      <vt:lpstr>What is the World Heritage Convention?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Agreements</dc:title>
  <dc:creator>DONAVON Rebecca [Narrogin Senior High School]</dc:creator>
  <cp:lastModifiedBy>DONAVON Rebecca [Narrogin Senior High School]</cp:lastModifiedBy>
  <cp:revision>13</cp:revision>
  <dcterms:created xsi:type="dcterms:W3CDTF">2020-11-04T01:09:02Z</dcterms:created>
  <dcterms:modified xsi:type="dcterms:W3CDTF">2022-10-27T05:35:34Z</dcterms:modified>
</cp:coreProperties>
</file>
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3"/>
  </p:notesMasterIdLst>
  <p:sldIdLst>
    <p:sldId id="256" r:id="rId5"/>
    <p:sldId id="286" r:id="rId6"/>
    <p:sldId id="271" r:id="rId7"/>
    <p:sldId id="268" r:id="rId8"/>
    <p:sldId id="273" r:id="rId9"/>
    <p:sldId id="287" r:id="rId10"/>
    <p:sldId id="288" r:id="rId11"/>
    <p:sldId id="276" r:id="rId12"/>
    <p:sldId id="290" r:id="rId13"/>
    <p:sldId id="277" r:id="rId14"/>
    <p:sldId id="266" r:id="rId15"/>
    <p:sldId id="278" r:id="rId16"/>
    <p:sldId id="291" r:id="rId17"/>
    <p:sldId id="280" r:id="rId18"/>
    <p:sldId id="263" r:id="rId19"/>
    <p:sldId id="262" r:id="rId20"/>
    <p:sldId id="292"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255A"/>
    <a:srgbClr val="E43A57"/>
    <a:srgbClr val="009C63"/>
    <a:srgbClr val="009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03" autoAdjust="0"/>
    <p:restoredTop sz="94660"/>
  </p:normalViewPr>
  <p:slideViewPr>
    <p:cSldViewPr snapToGrid="0">
      <p:cViewPr varScale="1">
        <p:scale>
          <a:sx n="114" d="100"/>
          <a:sy n="114" d="100"/>
        </p:scale>
        <p:origin x="12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97679E-50AB-4903-85AB-36CA55B0975A}" type="datetimeFigureOut">
              <a:rPr lang="en-AU" smtClean="0"/>
              <a:t>19/10/2022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98358-8FF6-41A7-B2B0-53EE0E7CEAC3}" type="slidenum">
              <a:rPr lang="en-AU" smtClean="0"/>
              <a:t>‹#›</a:t>
            </a:fld>
            <a:endParaRPr lang="en-AU"/>
          </a:p>
        </p:txBody>
      </p:sp>
    </p:spTree>
    <p:extLst>
      <p:ext uri="{BB962C8B-B14F-4D97-AF65-F5344CB8AC3E}">
        <p14:creationId xmlns:p14="http://schemas.microsoft.com/office/powerpoint/2010/main" val="2922681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DE96-F6F6-407E-B800-EB3220632F16}"/>
              </a:ext>
            </a:extLst>
          </p:cNvPr>
          <p:cNvSpPr>
            <a:spLocks noGrp="1"/>
          </p:cNvSpPr>
          <p:nvPr>
            <p:ph type="ctrTitle"/>
          </p:nvPr>
        </p:nvSpPr>
        <p:spPr>
          <a:xfrm>
            <a:off x="1524000" y="3429000"/>
            <a:ext cx="9144000" cy="2387600"/>
          </a:xfrm>
        </p:spPr>
        <p:txBody>
          <a:bodyPr anchor="t">
            <a:normAutofit/>
          </a:bodyPr>
          <a:lstStyle>
            <a:lvl1pPr algn="ctr">
              <a:defRPr sz="5400" b="0"/>
            </a:lvl1pPr>
          </a:lstStyle>
          <a:p>
            <a:r>
              <a:rPr lang="en-GB"/>
              <a:t>Click to edit Master title style</a:t>
            </a:r>
            <a:endParaRPr lang="en-AU" dirty="0"/>
          </a:p>
        </p:txBody>
      </p:sp>
      <p:sp>
        <p:nvSpPr>
          <p:cNvPr id="3" name="Subtitle 2">
            <a:extLst>
              <a:ext uri="{FF2B5EF4-FFF2-40B4-BE49-F238E27FC236}">
                <a16:creationId xmlns:a16="http://schemas.microsoft.com/office/drawing/2014/main" id="{5EAE4E40-2212-491D-BD3D-F48C5476BFD2}"/>
              </a:ext>
            </a:extLst>
          </p:cNvPr>
          <p:cNvSpPr>
            <a:spLocks noGrp="1"/>
          </p:cNvSpPr>
          <p:nvPr>
            <p:ph type="subTitle" idx="1"/>
          </p:nvPr>
        </p:nvSpPr>
        <p:spPr>
          <a:xfrm>
            <a:off x="1524000" y="1497632"/>
            <a:ext cx="9144000" cy="1391618"/>
          </a:xfrm>
        </p:spPr>
        <p:txBody>
          <a:bodyPr anchor="b"/>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dirty="0"/>
          </a:p>
        </p:txBody>
      </p:sp>
      <p:sp>
        <p:nvSpPr>
          <p:cNvPr id="4" name="Date Placeholder 3">
            <a:extLst>
              <a:ext uri="{FF2B5EF4-FFF2-40B4-BE49-F238E27FC236}">
                <a16:creationId xmlns:a16="http://schemas.microsoft.com/office/drawing/2014/main" id="{58778BF5-1FF1-414D-B46A-C70D9ED26573}"/>
              </a:ext>
            </a:extLst>
          </p:cNvPr>
          <p:cNvSpPr>
            <a:spLocks noGrp="1"/>
          </p:cNvSpPr>
          <p:nvPr>
            <p:ph type="dt" sz="half" idx="10"/>
          </p:nvPr>
        </p:nvSpPr>
        <p:spPr/>
        <p:txBody>
          <a:bodyPr/>
          <a:lstStyle/>
          <a:p>
            <a:r>
              <a:rPr lang="en-US"/>
              <a:t>© Cambridge University Press 2022</a:t>
            </a:r>
            <a:endParaRPr lang="en-AU"/>
          </a:p>
        </p:txBody>
      </p:sp>
      <p:sp>
        <p:nvSpPr>
          <p:cNvPr id="5" name="Footer Placeholder 4">
            <a:extLst>
              <a:ext uri="{FF2B5EF4-FFF2-40B4-BE49-F238E27FC236}">
                <a16:creationId xmlns:a16="http://schemas.microsoft.com/office/drawing/2014/main" id="{68F8CD6D-EA88-4A77-B5D1-1EB659BF4314}"/>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5E4D81E2-DA15-495C-A763-B09ABBCDD460}"/>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22783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ED809932-C7E4-4EFA-975F-0644BE0787FC}"/>
              </a:ext>
            </a:extLst>
          </p:cNvPr>
          <p:cNvSpPr>
            <a:spLocks noGrp="1"/>
          </p:cNvSpPr>
          <p:nvPr>
            <p:ph sz="quarter" idx="13"/>
          </p:nvPr>
        </p:nvSpPr>
        <p:spPr>
          <a:xfrm>
            <a:off x="838200" y="2447931"/>
            <a:ext cx="10515600" cy="383070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2" name="Title 1">
            <a:extLst>
              <a:ext uri="{FF2B5EF4-FFF2-40B4-BE49-F238E27FC236}">
                <a16:creationId xmlns:a16="http://schemas.microsoft.com/office/drawing/2014/main" id="{01E917EF-4E32-469E-B815-13973CDB1EE0}"/>
              </a:ext>
            </a:extLst>
          </p:cNvPr>
          <p:cNvSpPr>
            <a:spLocks noGrp="1"/>
          </p:cNvSpPr>
          <p:nvPr>
            <p:ph type="title"/>
          </p:nvPr>
        </p:nvSpPr>
        <p:spPr>
          <a:xfrm>
            <a:off x="838200" y="1175103"/>
            <a:ext cx="10515600" cy="854236"/>
          </a:xfrm>
        </p:spPr>
        <p:txBody>
          <a:bodyPr anchor="ctr"/>
          <a:lstStyle>
            <a:lvl1pPr>
              <a:defRPr/>
            </a:lvl1pPr>
          </a:lstStyle>
          <a:p>
            <a:r>
              <a:rPr lang="en-GB"/>
              <a:t>Click to edit Master title style</a:t>
            </a:r>
            <a:endParaRPr lang="en-AU" dirty="0"/>
          </a:p>
        </p:txBody>
      </p:sp>
      <p:sp>
        <p:nvSpPr>
          <p:cNvPr id="4" name="Date Placeholder 3">
            <a:extLst>
              <a:ext uri="{FF2B5EF4-FFF2-40B4-BE49-F238E27FC236}">
                <a16:creationId xmlns:a16="http://schemas.microsoft.com/office/drawing/2014/main" id="{A4F7CFE5-AB23-4946-97DF-B330F695094F}"/>
              </a:ext>
            </a:extLst>
          </p:cNvPr>
          <p:cNvSpPr>
            <a:spLocks noGrp="1"/>
          </p:cNvSpPr>
          <p:nvPr>
            <p:ph type="dt" sz="half" idx="10"/>
          </p:nvPr>
        </p:nvSpPr>
        <p:spPr/>
        <p:txBody>
          <a:bodyPr/>
          <a:lstStyle/>
          <a:p>
            <a:r>
              <a:rPr lang="en-US"/>
              <a:t>© Cambridge University Press 2022</a:t>
            </a:r>
            <a:endParaRPr lang="en-AU" dirty="0"/>
          </a:p>
        </p:txBody>
      </p:sp>
      <p:sp>
        <p:nvSpPr>
          <p:cNvPr id="5" name="Footer Placeholder 4">
            <a:extLst>
              <a:ext uri="{FF2B5EF4-FFF2-40B4-BE49-F238E27FC236}">
                <a16:creationId xmlns:a16="http://schemas.microsoft.com/office/drawing/2014/main" id="{4F5B0915-980C-4CCD-AD97-8ABBFA24E3B5}"/>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7D407410-408C-4B1C-A9D9-59BEC65F333D}"/>
              </a:ext>
            </a:extLst>
          </p:cNvPr>
          <p:cNvSpPr>
            <a:spLocks noGrp="1"/>
          </p:cNvSpPr>
          <p:nvPr>
            <p:ph type="sldNum" sz="quarter" idx="12"/>
          </p:nvPr>
        </p:nvSpPr>
        <p:spPr/>
        <p:txBody>
          <a:bodyPr/>
          <a:lstStyle/>
          <a:p>
            <a:fld id="{2A9FC04F-1492-4AE1-9F5E-8074E380EC6F}" type="slidenum">
              <a:rPr lang="en-AU" smtClean="0"/>
              <a:t>‹#›</a:t>
            </a:fld>
            <a:endParaRPr lang="en-AU"/>
          </a:p>
        </p:txBody>
      </p:sp>
      <p:sp>
        <p:nvSpPr>
          <p:cNvPr id="15" name="Text Placeholder 14">
            <a:extLst>
              <a:ext uri="{FF2B5EF4-FFF2-40B4-BE49-F238E27FC236}">
                <a16:creationId xmlns:a16="http://schemas.microsoft.com/office/drawing/2014/main" id="{3F6F8583-B474-4C36-B96E-896EF05F1DBB}"/>
              </a:ext>
            </a:extLst>
          </p:cNvPr>
          <p:cNvSpPr>
            <a:spLocks noGrp="1"/>
          </p:cNvSpPr>
          <p:nvPr>
            <p:ph type="body" sz="quarter" idx="14" hasCustomPrompt="1"/>
          </p:nvPr>
        </p:nvSpPr>
        <p:spPr>
          <a:xfrm>
            <a:off x="838200" y="2029339"/>
            <a:ext cx="10515600" cy="418592"/>
          </a:xfrm>
        </p:spPr>
        <p:txBody>
          <a:bodyPr/>
          <a:lstStyle>
            <a:lvl1pPr marL="0" indent="0">
              <a:buNone/>
              <a:defRPr>
                <a:solidFill>
                  <a:srgbClr val="66255A"/>
                </a:solidFill>
              </a:defRPr>
            </a:lvl1pPr>
          </a:lstStyle>
          <a:p>
            <a:pPr lvl="0"/>
            <a:r>
              <a:rPr lang="en-US" dirty="0"/>
              <a:t>Click to add subheading</a:t>
            </a:r>
          </a:p>
        </p:txBody>
      </p:sp>
    </p:spTree>
    <p:extLst>
      <p:ext uri="{BB962C8B-B14F-4D97-AF65-F5344CB8AC3E}">
        <p14:creationId xmlns:p14="http://schemas.microsoft.com/office/powerpoint/2010/main" val="3679427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ED809932-C7E4-4EFA-975F-0644BE0787FC}"/>
              </a:ext>
            </a:extLst>
          </p:cNvPr>
          <p:cNvSpPr>
            <a:spLocks noGrp="1"/>
          </p:cNvSpPr>
          <p:nvPr>
            <p:ph sz="quarter" idx="13"/>
          </p:nvPr>
        </p:nvSpPr>
        <p:spPr>
          <a:xfrm>
            <a:off x="838200" y="2447931"/>
            <a:ext cx="5257800" cy="383070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2" name="Title 1">
            <a:extLst>
              <a:ext uri="{FF2B5EF4-FFF2-40B4-BE49-F238E27FC236}">
                <a16:creationId xmlns:a16="http://schemas.microsoft.com/office/drawing/2014/main" id="{01E917EF-4E32-469E-B815-13973CDB1EE0}"/>
              </a:ext>
            </a:extLst>
          </p:cNvPr>
          <p:cNvSpPr>
            <a:spLocks noGrp="1"/>
          </p:cNvSpPr>
          <p:nvPr>
            <p:ph type="title"/>
          </p:nvPr>
        </p:nvSpPr>
        <p:spPr>
          <a:xfrm>
            <a:off x="838200" y="1175103"/>
            <a:ext cx="10515600" cy="854236"/>
          </a:xfrm>
        </p:spPr>
        <p:txBody>
          <a:bodyPr anchor="ctr"/>
          <a:lstStyle>
            <a:lvl1pPr>
              <a:defRPr/>
            </a:lvl1pPr>
          </a:lstStyle>
          <a:p>
            <a:r>
              <a:rPr lang="en-GB"/>
              <a:t>Click to edit Master title style</a:t>
            </a:r>
            <a:endParaRPr lang="en-AU" dirty="0"/>
          </a:p>
        </p:txBody>
      </p:sp>
      <p:sp>
        <p:nvSpPr>
          <p:cNvPr id="4" name="Date Placeholder 3">
            <a:extLst>
              <a:ext uri="{FF2B5EF4-FFF2-40B4-BE49-F238E27FC236}">
                <a16:creationId xmlns:a16="http://schemas.microsoft.com/office/drawing/2014/main" id="{A4F7CFE5-AB23-4946-97DF-B330F695094F}"/>
              </a:ext>
            </a:extLst>
          </p:cNvPr>
          <p:cNvSpPr>
            <a:spLocks noGrp="1"/>
          </p:cNvSpPr>
          <p:nvPr>
            <p:ph type="dt" sz="half" idx="10"/>
          </p:nvPr>
        </p:nvSpPr>
        <p:spPr/>
        <p:txBody>
          <a:bodyPr/>
          <a:lstStyle/>
          <a:p>
            <a:r>
              <a:rPr lang="en-US"/>
              <a:t>© Cambridge University Press 2022</a:t>
            </a:r>
            <a:endParaRPr lang="en-AU" dirty="0"/>
          </a:p>
        </p:txBody>
      </p:sp>
      <p:sp>
        <p:nvSpPr>
          <p:cNvPr id="5" name="Footer Placeholder 4">
            <a:extLst>
              <a:ext uri="{FF2B5EF4-FFF2-40B4-BE49-F238E27FC236}">
                <a16:creationId xmlns:a16="http://schemas.microsoft.com/office/drawing/2014/main" id="{4F5B0915-980C-4CCD-AD97-8ABBFA24E3B5}"/>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7D407410-408C-4B1C-A9D9-59BEC65F333D}"/>
              </a:ext>
            </a:extLst>
          </p:cNvPr>
          <p:cNvSpPr>
            <a:spLocks noGrp="1"/>
          </p:cNvSpPr>
          <p:nvPr>
            <p:ph type="sldNum" sz="quarter" idx="12"/>
          </p:nvPr>
        </p:nvSpPr>
        <p:spPr/>
        <p:txBody>
          <a:bodyPr/>
          <a:lstStyle/>
          <a:p>
            <a:fld id="{2A9FC04F-1492-4AE1-9F5E-8074E380EC6F}" type="slidenum">
              <a:rPr lang="en-AU" smtClean="0"/>
              <a:t>‹#›</a:t>
            </a:fld>
            <a:endParaRPr lang="en-AU"/>
          </a:p>
        </p:txBody>
      </p:sp>
      <p:sp>
        <p:nvSpPr>
          <p:cNvPr id="15" name="Text Placeholder 14">
            <a:extLst>
              <a:ext uri="{FF2B5EF4-FFF2-40B4-BE49-F238E27FC236}">
                <a16:creationId xmlns:a16="http://schemas.microsoft.com/office/drawing/2014/main" id="{3F6F8583-B474-4C36-B96E-896EF05F1DBB}"/>
              </a:ext>
            </a:extLst>
          </p:cNvPr>
          <p:cNvSpPr>
            <a:spLocks noGrp="1"/>
          </p:cNvSpPr>
          <p:nvPr>
            <p:ph type="body" sz="quarter" idx="14" hasCustomPrompt="1"/>
          </p:nvPr>
        </p:nvSpPr>
        <p:spPr>
          <a:xfrm>
            <a:off x="838200" y="2029339"/>
            <a:ext cx="10515600" cy="418592"/>
          </a:xfrm>
        </p:spPr>
        <p:txBody>
          <a:bodyPr/>
          <a:lstStyle>
            <a:lvl1pPr marL="0" indent="0">
              <a:buNone/>
              <a:defRPr>
                <a:solidFill>
                  <a:srgbClr val="66255A"/>
                </a:solidFill>
              </a:defRPr>
            </a:lvl1pPr>
          </a:lstStyle>
          <a:p>
            <a:pPr lvl="0"/>
            <a:r>
              <a:rPr lang="en-US" dirty="0"/>
              <a:t>Click to add subheading</a:t>
            </a:r>
          </a:p>
        </p:txBody>
      </p:sp>
      <p:sp>
        <p:nvSpPr>
          <p:cNvPr id="7" name="Picture Placeholder 6">
            <a:extLst>
              <a:ext uri="{FF2B5EF4-FFF2-40B4-BE49-F238E27FC236}">
                <a16:creationId xmlns:a16="http://schemas.microsoft.com/office/drawing/2014/main" id="{1872FE27-F1F9-4745-9037-20810157C768}"/>
              </a:ext>
            </a:extLst>
          </p:cNvPr>
          <p:cNvSpPr>
            <a:spLocks noGrp="1"/>
          </p:cNvSpPr>
          <p:nvPr>
            <p:ph type="pic" sz="quarter" idx="15"/>
          </p:nvPr>
        </p:nvSpPr>
        <p:spPr>
          <a:xfrm>
            <a:off x="6096000" y="2447854"/>
            <a:ext cx="5257800" cy="3465507"/>
          </a:xfrm>
        </p:spPr>
        <p:txBody>
          <a:bodyPr/>
          <a:lstStyle/>
          <a:p>
            <a:r>
              <a:rPr lang="en-GB"/>
              <a:t>Click icon to add picture</a:t>
            </a:r>
            <a:endParaRPr lang="en-AU"/>
          </a:p>
        </p:txBody>
      </p:sp>
      <p:sp>
        <p:nvSpPr>
          <p:cNvPr id="9" name="Text Placeholder 8">
            <a:extLst>
              <a:ext uri="{FF2B5EF4-FFF2-40B4-BE49-F238E27FC236}">
                <a16:creationId xmlns:a16="http://schemas.microsoft.com/office/drawing/2014/main" id="{F659B1AC-69B1-44D7-9B9D-DDF6B2D89BE1}"/>
              </a:ext>
            </a:extLst>
          </p:cNvPr>
          <p:cNvSpPr>
            <a:spLocks noGrp="1"/>
          </p:cNvSpPr>
          <p:nvPr>
            <p:ph type="body" sz="quarter" idx="16" hasCustomPrompt="1"/>
          </p:nvPr>
        </p:nvSpPr>
        <p:spPr>
          <a:xfrm>
            <a:off x="6096000" y="5913438"/>
            <a:ext cx="5257800" cy="365125"/>
          </a:xfrm>
        </p:spPr>
        <p:txBody>
          <a:bodyPr>
            <a:noAutofit/>
          </a:bodyPr>
          <a:lstStyle>
            <a:lvl1pPr marL="0" indent="0" algn="r">
              <a:buNone/>
              <a:defRPr sz="1600">
                <a:solidFill>
                  <a:schemeClr val="tx1"/>
                </a:solidFill>
                <a:latin typeface="+mn-lt"/>
              </a:defRPr>
            </a:lvl1pPr>
          </a:lstStyle>
          <a:p>
            <a:pPr lvl="0"/>
            <a:r>
              <a:rPr lang="en-AU" dirty="0"/>
              <a:t>Click to add caption</a:t>
            </a:r>
          </a:p>
        </p:txBody>
      </p:sp>
    </p:spTree>
    <p:extLst>
      <p:ext uri="{BB962C8B-B14F-4D97-AF65-F5344CB8AC3E}">
        <p14:creationId xmlns:p14="http://schemas.microsoft.com/office/powerpoint/2010/main" val="1413979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1C73-C2C4-4A81-92AE-FF7412B1098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EEABF480-DC6F-4566-BA14-431EB43E74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9213F2E-9EB0-4D82-B0BE-3464FBADCBB6}"/>
              </a:ext>
            </a:extLst>
          </p:cNvPr>
          <p:cNvSpPr>
            <a:spLocks noGrp="1"/>
          </p:cNvSpPr>
          <p:nvPr>
            <p:ph type="dt" sz="half" idx="10"/>
          </p:nvPr>
        </p:nvSpPr>
        <p:spPr/>
        <p:txBody>
          <a:bodyPr/>
          <a:lstStyle/>
          <a:p>
            <a:r>
              <a:rPr lang="en-US"/>
              <a:t>© Cambridge University Press 2022</a:t>
            </a:r>
            <a:endParaRPr lang="en-AU"/>
          </a:p>
        </p:txBody>
      </p:sp>
      <p:sp>
        <p:nvSpPr>
          <p:cNvPr id="5" name="Footer Placeholder 4">
            <a:extLst>
              <a:ext uri="{FF2B5EF4-FFF2-40B4-BE49-F238E27FC236}">
                <a16:creationId xmlns:a16="http://schemas.microsoft.com/office/drawing/2014/main" id="{30AD9A33-A81B-4E6F-B127-D39619A287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3A94963-4F26-4B0E-B228-95E253A588E1}"/>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2585950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CFA1-9A0B-4ECB-A6E2-E905A7ED3C83}"/>
              </a:ext>
            </a:extLst>
          </p:cNvPr>
          <p:cNvSpPr>
            <a:spLocks noGrp="1"/>
          </p:cNvSpPr>
          <p:nvPr>
            <p:ph type="title"/>
          </p:nvPr>
        </p:nvSpPr>
        <p:spPr>
          <a:xfrm>
            <a:off x="839788" y="1175104"/>
            <a:ext cx="10515600" cy="593408"/>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10851B5E-D833-46C4-9857-375D36934BC1}"/>
              </a:ext>
            </a:extLst>
          </p:cNvPr>
          <p:cNvSpPr>
            <a:spLocks noGrp="1"/>
          </p:cNvSpPr>
          <p:nvPr>
            <p:ph type="body" idx="1"/>
          </p:nvPr>
        </p:nvSpPr>
        <p:spPr>
          <a:xfrm>
            <a:off x="839788" y="1768511"/>
            <a:ext cx="5157787" cy="7365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D5EB926-6BEE-4C54-B484-B9C5D25753B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BE50A95D-C73E-4CAE-AC4C-E5BA2420BE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FD83CA-5A19-4EF0-A8B3-AEE1D7E554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9E93F379-01A7-441A-9BC3-5DCBB4718E86}"/>
              </a:ext>
            </a:extLst>
          </p:cNvPr>
          <p:cNvSpPr>
            <a:spLocks noGrp="1"/>
          </p:cNvSpPr>
          <p:nvPr>
            <p:ph type="dt" sz="half" idx="10"/>
          </p:nvPr>
        </p:nvSpPr>
        <p:spPr/>
        <p:txBody>
          <a:bodyPr/>
          <a:lstStyle/>
          <a:p>
            <a:r>
              <a:rPr lang="en-US"/>
              <a:t>© Cambridge University Press 2022</a:t>
            </a:r>
            <a:endParaRPr lang="en-AU"/>
          </a:p>
        </p:txBody>
      </p:sp>
      <p:sp>
        <p:nvSpPr>
          <p:cNvPr id="8" name="Footer Placeholder 7">
            <a:extLst>
              <a:ext uri="{FF2B5EF4-FFF2-40B4-BE49-F238E27FC236}">
                <a16:creationId xmlns:a16="http://schemas.microsoft.com/office/drawing/2014/main" id="{1750A737-BEB1-4ACB-B5D7-570957DF3357}"/>
              </a:ext>
            </a:extLst>
          </p:cNvPr>
          <p:cNvSpPr>
            <a:spLocks noGrp="1"/>
          </p:cNvSpPr>
          <p:nvPr>
            <p:ph type="ftr" sz="quarter" idx="11"/>
          </p:nvPr>
        </p:nvSpPr>
        <p:spPr/>
        <p:txBody>
          <a:bodyPr/>
          <a:lstStyle/>
          <a:p>
            <a:endParaRPr lang="en-AU" dirty="0"/>
          </a:p>
        </p:txBody>
      </p:sp>
      <p:sp>
        <p:nvSpPr>
          <p:cNvPr id="9" name="Slide Number Placeholder 8">
            <a:extLst>
              <a:ext uri="{FF2B5EF4-FFF2-40B4-BE49-F238E27FC236}">
                <a16:creationId xmlns:a16="http://schemas.microsoft.com/office/drawing/2014/main" id="{F81A3AD0-A898-4F4C-A1FB-D76ED988A950}"/>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404633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4586-FEF3-440E-B564-AC6FDC8ED835}"/>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1B359FEA-4E60-4185-AC09-CC57435AB481}"/>
              </a:ext>
            </a:extLst>
          </p:cNvPr>
          <p:cNvSpPr>
            <a:spLocks noGrp="1"/>
          </p:cNvSpPr>
          <p:nvPr>
            <p:ph type="dt" sz="half" idx="10"/>
          </p:nvPr>
        </p:nvSpPr>
        <p:spPr/>
        <p:txBody>
          <a:bodyPr/>
          <a:lstStyle/>
          <a:p>
            <a:r>
              <a:rPr lang="en-US"/>
              <a:t>© Cambridge University Press 2022</a:t>
            </a:r>
            <a:endParaRPr lang="en-AU"/>
          </a:p>
        </p:txBody>
      </p:sp>
      <p:sp>
        <p:nvSpPr>
          <p:cNvPr id="4" name="Footer Placeholder 3">
            <a:extLst>
              <a:ext uri="{FF2B5EF4-FFF2-40B4-BE49-F238E27FC236}">
                <a16:creationId xmlns:a16="http://schemas.microsoft.com/office/drawing/2014/main" id="{40655AC0-C0CD-44AF-A767-F4C8C788556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6BC257D9-E203-4BB0-98A4-61E6319E69E4}"/>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148032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94F95-0EFD-4311-8972-3C2D5FCDF9BC}"/>
              </a:ext>
            </a:extLst>
          </p:cNvPr>
          <p:cNvSpPr>
            <a:spLocks noGrp="1"/>
          </p:cNvSpPr>
          <p:nvPr>
            <p:ph type="dt" sz="half" idx="10"/>
          </p:nvPr>
        </p:nvSpPr>
        <p:spPr/>
        <p:txBody>
          <a:bodyPr/>
          <a:lstStyle/>
          <a:p>
            <a:r>
              <a:rPr lang="en-US"/>
              <a:t>© Cambridge University Press 2022</a:t>
            </a:r>
            <a:endParaRPr lang="en-AU"/>
          </a:p>
        </p:txBody>
      </p:sp>
      <p:sp>
        <p:nvSpPr>
          <p:cNvPr id="3" name="Footer Placeholder 2">
            <a:extLst>
              <a:ext uri="{FF2B5EF4-FFF2-40B4-BE49-F238E27FC236}">
                <a16:creationId xmlns:a16="http://schemas.microsoft.com/office/drawing/2014/main" id="{3087E802-F8B3-453C-B78A-4B520DEA005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AAF9E2E-6776-4B30-87E8-F1F6B5357AE3}"/>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3631627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7DB88-53E5-4111-9911-F0B89CDA57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A2489F1C-19D1-40A7-AF03-D0D5C2DDEE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0390432D-293E-44AB-9AD0-99EC269C59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C31202-439D-4E83-BFE4-425D03BB1CDA}"/>
              </a:ext>
            </a:extLst>
          </p:cNvPr>
          <p:cNvSpPr>
            <a:spLocks noGrp="1"/>
          </p:cNvSpPr>
          <p:nvPr>
            <p:ph type="dt" sz="half" idx="10"/>
          </p:nvPr>
        </p:nvSpPr>
        <p:spPr/>
        <p:txBody>
          <a:bodyPr/>
          <a:lstStyle/>
          <a:p>
            <a:r>
              <a:rPr lang="en-US"/>
              <a:t>© Cambridge University Press 2022</a:t>
            </a:r>
            <a:endParaRPr lang="en-AU"/>
          </a:p>
        </p:txBody>
      </p:sp>
      <p:sp>
        <p:nvSpPr>
          <p:cNvPr id="6" name="Footer Placeholder 5">
            <a:extLst>
              <a:ext uri="{FF2B5EF4-FFF2-40B4-BE49-F238E27FC236}">
                <a16:creationId xmlns:a16="http://schemas.microsoft.com/office/drawing/2014/main" id="{E50D3DD2-B069-4784-9438-D5A3EBF1239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BDADF59-3815-40F3-8FF8-B4A9A5311193}"/>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3185047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E5277-83F5-42A5-896A-C4284752DF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439FF6F2-31BD-4855-BBF3-A91FBAFACB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D98129DE-C3A4-4537-84DB-D43BF0932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7B1A7A-F587-4188-9168-E4BCBCD07B5C}"/>
              </a:ext>
            </a:extLst>
          </p:cNvPr>
          <p:cNvSpPr>
            <a:spLocks noGrp="1"/>
          </p:cNvSpPr>
          <p:nvPr>
            <p:ph type="dt" sz="half" idx="10"/>
          </p:nvPr>
        </p:nvSpPr>
        <p:spPr/>
        <p:txBody>
          <a:bodyPr/>
          <a:lstStyle/>
          <a:p>
            <a:r>
              <a:rPr lang="en-US"/>
              <a:t>© Cambridge University Press 2022</a:t>
            </a:r>
            <a:endParaRPr lang="en-AU"/>
          </a:p>
        </p:txBody>
      </p:sp>
      <p:sp>
        <p:nvSpPr>
          <p:cNvPr id="6" name="Footer Placeholder 5">
            <a:extLst>
              <a:ext uri="{FF2B5EF4-FFF2-40B4-BE49-F238E27FC236}">
                <a16:creationId xmlns:a16="http://schemas.microsoft.com/office/drawing/2014/main" id="{4203CBF9-0853-4BA8-899A-B52CD5859B2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383F82-5A17-485D-9016-6A40E3D81D0C}"/>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3684039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04E78-2E6F-480F-82CB-4ECB0BC257F9}"/>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D963FB7D-2AD7-4281-B596-6296AF5EEEC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62258BB-62DF-489C-976B-EE065AC1913D}"/>
              </a:ext>
            </a:extLst>
          </p:cNvPr>
          <p:cNvSpPr>
            <a:spLocks noGrp="1"/>
          </p:cNvSpPr>
          <p:nvPr>
            <p:ph type="dt" sz="half" idx="10"/>
          </p:nvPr>
        </p:nvSpPr>
        <p:spPr/>
        <p:txBody>
          <a:bodyPr/>
          <a:lstStyle/>
          <a:p>
            <a:r>
              <a:rPr lang="en-US"/>
              <a:t>© Cambridge University Press 2022</a:t>
            </a:r>
            <a:endParaRPr lang="en-AU"/>
          </a:p>
        </p:txBody>
      </p:sp>
      <p:sp>
        <p:nvSpPr>
          <p:cNvPr id="5" name="Footer Placeholder 4">
            <a:extLst>
              <a:ext uri="{FF2B5EF4-FFF2-40B4-BE49-F238E27FC236}">
                <a16:creationId xmlns:a16="http://schemas.microsoft.com/office/drawing/2014/main" id="{000800ED-542D-4ED7-9C4B-E8240D2BA7A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D1635A-587F-47CF-AF81-49A26F08B5E2}"/>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421687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5EC6C-F24D-4278-80A2-05B1622B03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350FB560-8020-4487-8CE8-FC6C5D20620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EFE388E-2F44-4B16-AE0E-1F3A09A91E5E}"/>
              </a:ext>
            </a:extLst>
          </p:cNvPr>
          <p:cNvSpPr>
            <a:spLocks noGrp="1"/>
          </p:cNvSpPr>
          <p:nvPr>
            <p:ph type="dt" sz="half" idx="10"/>
          </p:nvPr>
        </p:nvSpPr>
        <p:spPr/>
        <p:txBody>
          <a:bodyPr/>
          <a:lstStyle/>
          <a:p>
            <a:r>
              <a:rPr lang="en-US"/>
              <a:t>© Cambridge University Press 2022</a:t>
            </a:r>
            <a:endParaRPr lang="en-AU"/>
          </a:p>
        </p:txBody>
      </p:sp>
      <p:sp>
        <p:nvSpPr>
          <p:cNvPr id="5" name="Footer Placeholder 4">
            <a:extLst>
              <a:ext uri="{FF2B5EF4-FFF2-40B4-BE49-F238E27FC236}">
                <a16:creationId xmlns:a16="http://schemas.microsoft.com/office/drawing/2014/main" id="{DB2C25AD-7143-4903-9C51-2CDAC8C3711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003C95-0F8D-4CE5-AA0D-9B6CF7DC184C}"/>
              </a:ext>
            </a:extLst>
          </p:cNvPr>
          <p:cNvSpPr>
            <a:spLocks noGrp="1"/>
          </p:cNvSpPr>
          <p:nvPr>
            <p:ph type="sldNum" sz="quarter" idx="12"/>
          </p:nvPr>
        </p:nvSpPr>
        <p:spPr/>
        <p:txBody>
          <a:bodyPr/>
          <a:lstStyle/>
          <a:p>
            <a:fld id="{2A9FC04F-1492-4AE1-9F5E-8074E380EC6F}" type="slidenum">
              <a:rPr lang="en-AU" smtClean="0"/>
              <a:t>‹#›</a:t>
            </a:fld>
            <a:endParaRPr lang="en-AU"/>
          </a:p>
        </p:txBody>
      </p:sp>
    </p:spTree>
    <p:extLst>
      <p:ext uri="{BB962C8B-B14F-4D97-AF65-F5344CB8AC3E}">
        <p14:creationId xmlns:p14="http://schemas.microsoft.com/office/powerpoint/2010/main" val="70418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6BBEB-A76C-446F-9A9F-94A5440F0E9B}"/>
              </a:ext>
            </a:extLst>
          </p:cNvPr>
          <p:cNvSpPr>
            <a:spLocks noGrp="1"/>
          </p:cNvSpPr>
          <p:nvPr>
            <p:ph type="title"/>
          </p:nvPr>
        </p:nvSpPr>
        <p:spPr>
          <a:xfrm>
            <a:off x="838200" y="1175104"/>
            <a:ext cx="10515600" cy="776526"/>
          </a:xfrm>
          <a:prstGeom prst="rect">
            <a:avLst/>
          </a:prstGeom>
        </p:spPr>
        <p:txBody>
          <a:bodyPr vert="horz" lIns="91440" tIns="45720" rIns="91440" bIns="45720" rtlCol="0" anchor="ctr">
            <a:normAutofit/>
          </a:bodyPr>
          <a:lstStyle/>
          <a:p>
            <a:r>
              <a:rPr lang="en-GB"/>
              <a:t>Click to edit Master title style</a:t>
            </a:r>
            <a:endParaRPr lang="en-AU" dirty="0"/>
          </a:p>
        </p:txBody>
      </p:sp>
      <p:sp>
        <p:nvSpPr>
          <p:cNvPr id="3" name="Text Placeholder 2">
            <a:extLst>
              <a:ext uri="{FF2B5EF4-FFF2-40B4-BE49-F238E27FC236}">
                <a16:creationId xmlns:a16="http://schemas.microsoft.com/office/drawing/2014/main" id="{AFA22C18-3B2C-4A78-BA77-F9676E470E13}"/>
              </a:ext>
            </a:extLst>
          </p:cNvPr>
          <p:cNvSpPr>
            <a:spLocks noGrp="1"/>
          </p:cNvSpPr>
          <p:nvPr>
            <p:ph type="body" idx="1"/>
          </p:nvPr>
        </p:nvSpPr>
        <p:spPr>
          <a:xfrm>
            <a:off x="838200" y="2029454"/>
            <a:ext cx="10515600" cy="424918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4" name="Date Placeholder 3">
            <a:extLst>
              <a:ext uri="{FF2B5EF4-FFF2-40B4-BE49-F238E27FC236}">
                <a16:creationId xmlns:a16="http://schemas.microsoft.com/office/drawing/2014/main" id="{91219D72-CA93-4F03-9BB4-26BDD24492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 Cambridge University Press 2022</a:t>
            </a:r>
            <a:endParaRPr lang="en-AU" dirty="0"/>
          </a:p>
        </p:txBody>
      </p:sp>
      <p:sp>
        <p:nvSpPr>
          <p:cNvPr id="5" name="Footer Placeholder 4">
            <a:extLst>
              <a:ext uri="{FF2B5EF4-FFF2-40B4-BE49-F238E27FC236}">
                <a16:creationId xmlns:a16="http://schemas.microsoft.com/office/drawing/2014/main" id="{858C1953-B110-4605-A7EA-F88F8ECAA2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a:extLst>
              <a:ext uri="{FF2B5EF4-FFF2-40B4-BE49-F238E27FC236}">
                <a16:creationId xmlns:a16="http://schemas.microsoft.com/office/drawing/2014/main" id="{E6C57C8B-DC76-400F-84C8-131BD8DB8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FC04F-1492-4AE1-9F5E-8074E380EC6F}" type="slidenum">
              <a:rPr lang="en-AU" smtClean="0"/>
              <a:t>‹#›</a:t>
            </a:fld>
            <a:endParaRPr lang="en-AU"/>
          </a:p>
        </p:txBody>
      </p:sp>
      <p:pic>
        <p:nvPicPr>
          <p:cNvPr id="8" name="Picture 7">
            <a:extLst>
              <a:ext uri="{FF2B5EF4-FFF2-40B4-BE49-F238E27FC236}">
                <a16:creationId xmlns:a16="http://schemas.microsoft.com/office/drawing/2014/main" id="{4504F78B-0D9F-4253-AF88-C46ACC2FC7A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1097280"/>
          </a:xfrm>
          <a:prstGeom prst="rect">
            <a:avLst/>
          </a:prstGeom>
        </p:spPr>
      </p:pic>
    </p:spTree>
    <p:extLst>
      <p:ext uri="{BB962C8B-B14F-4D97-AF65-F5344CB8AC3E}">
        <p14:creationId xmlns:p14="http://schemas.microsoft.com/office/powerpoint/2010/main" val="589030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5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685800" indent="-238125"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EB99-FE59-4DD2-9D93-98D8665159A1}"/>
              </a:ext>
            </a:extLst>
          </p:cNvPr>
          <p:cNvSpPr>
            <a:spLocks noGrp="1"/>
          </p:cNvSpPr>
          <p:nvPr>
            <p:ph type="ctrTitle"/>
          </p:nvPr>
        </p:nvSpPr>
        <p:spPr/>
        <p:txBody>
          <a:bodyPr/>
          <a:lstStyle/>
          <a:p>
            <a:r>
              <a:rPr lang="en-AU" dirty="0"/>
              <a:t>Safeguarding democracy</a:t>
            </a:r>
          </a:p>
        </p:txBody>
      </p:sp>
      <p:sp>
        <p:nvSpPr>
          <p:cNvPr id="3" name="Subtitle 2">
            <a:extLst>
              <a:ext uri="{FF2B5EF4-FFF2-40B4-BE49-F238E27FC236}">
                <a16:creationId xmlns:a16="http://schemas.microsoft.com/office/drawing/2014/main" id="{7C793557-B13A-4F64-9A7B-4B1AB9A4B795}"/>
              </a:ext>
            </a:extLst>
          </p:cNvPr>
          <p:cNvSpPr>
            <a:spLocks noGrp="1"/>
          </p:cNvSpPr>
          <p:nvPr>
            <p:ph type="subTitle" idx="1"/>
          </p:nvPr>
        </p:nvSpPr>
        <p:spPr/>
        <p:txBody>
          <a:bodyPr/>
          <a:lstStyle/>
          <a:p>
            <a:r>
              <a:rPr lang="en-AU" dirty="0"/>
              <a:t>Chapter 1</a:t>
            </a:r>
          </a:p>
        </p:txBody>
      </p:sp>
    </p:spTree>
    <p:extLst>
      <p:ext uri="{BB962C8B-B14F-4D97-AF65-F5344CB8AC3E}">
        <p14:creationId xmlns:p14="http://schemas.microsoft.com/office/powerpoint/2010/main" val="2019816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029340"/>
            <a:ext cx="5482389" cy="4288156"/>
          </a:xfrm>
        </p:spPr>
        <p:txBody>
          <a:bodyPr>
            <a:noAutofit/>
          </a:bodyPr>
          <a:lstStyle/>
          <a:p>
            <a:pPr>
              <a:lnSpc>
                <a:spcPct val="100000"/>
              </a:lnSpc>
            </a:pPr>
            <a:r>
              <a:rPr lang="en-AU" dirty="0"/>
              <a:t>Australia is a representative democracy which means parliament is given power through elections to act on behalf of citizens</a:t>
            </a:r>
          </a:p>
          <a:p>
            <a:pPr>
              <a:lnSpc>
                <a:spcPct val="100000"/>
              </a:lnSpc>
            </a:pPr>
            <a:r>
              <a:rPr lang="en-AU" dirty="0"/>
              <a:t>Two of the fundamental considerations that make up Australian democracy are:</a:t>
            </a:r>
          </a:p>
          <a:p>
            <a:pPr lvl="1">
              <a:lnSpc>
                <a:spcPct val="100000"/>
              </a:lnSpc>
            </a:pPr>
            <a:r>
              <a:rPr lang="en-AU" dirty="0"/>
              <a:t>Rule of law - the law is supreme and applied equally to all</a:t>
            </a:r>
          </a:p>
          <a:p>
            <a:pPr lvl="1">
              <a:lnSpc>
                <a:spcPct val="100000"/>
              </a:lnSpc>
            </a:pPr>
            <a:r>
              <a:rPr lang="en-AU" dirty="0"/>
              <a:t>The separation of powers - our political system is separated into branches which balance and provide checks on each other</a:t>
            </a:r>
            <a:endParaRPr lang="en-AU" sz="2000" dirty="0"/>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1.3 Australia’s democracy and how it compares to governments in Asia</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096000" y="5665788"/>
            <a:ext cx="5257800" cy="365125"/>
          </a:xfrm>
        </p:spPr>
        <p:txBody>
          <a:bodyPr/>
          <a:lstStyle/>
          <a:p>
            <a:r>
              <a:rPr lang="en-AU" dirty="0"/>
              <a:t>The separation of powers as it operates in Australia</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2</a:t>
            </a:fld>
            <a:endParaRPr lang="en-AU" dirty="0"/>
          </a:p>
        </p:txBody>
      </p:sp>
      <p:pic>
        <p:nvPicPr>
          <p:cNvPr id="12" name="Picture 11">
            <a:extLst>
              <a:ext uri="{FF2B5EF4-FFF2-40B4-BE49-F238E27FC236}">
                <a16:creationId xmlns:a16="http://schemas.microsoft.com/office/drawing/2014/main" id="{226B0A9A-81E0-C742-9466-1FE0FA3B6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219" y="2670518"/>
            <a:ext cx="4724581" cy="2917483"/>
          </a:xfrm>
          <a:prstGeom prst="rect">
            <a:avLst/>
          </a:prstGeom>
        </p:spPr>
      </p:pic>
    </p:spTree>
    <p:extLst>
      <p:ext uri="{BB962C8B-B14F-4D97-AF65-F5344CB8AC3E}">
        <p14:creationId xmlns:p14="http://schemas.microsoft.com/office/powerpoint/2010/main" val="1040193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447931"/>
            <a:ext cx="10515600" cy="3830709"/>
          </a:xfrm>
        </p:spPr>
        <p:txBody>
          <a:bodyPr>
            <a:normAutofit/>
          </a:bodyPr>
          <a:lstStyle/>
          <a:p>
            <a:pPr>
              <a:lnSpc>
                <a:spcPct val="100000"/>
              </a:lnSpc>
            </a:pPr>
            <a:r>
              <a:rPr lang="en-AU" dirty="0"/>
              <a:t>A modern democracy allows and provides the means of open political participation</a:t>
            </a:r>
          </a:p>
          <a:p>
            <a:pPr lvl="1">
              <a:lnSpc>
                <a:spcPct val="100000"/>
              </a:lnSpc>
            </a:pPr>
            <a:r>
              <a:rPr lang="en-AU" dirty="0"/>
              <a:t>People are able to contribute to the political system by voting, forming political parties and organisations, and assembling and protesting peacefully</a:t>
            </a:r>
          </a:p>
          <a:p>
            <a:pPr lvl="1">
              <a:lnSpc>
                <a:spcPct val="100000"/>
              </a:lnSpc>
            </a:pPr>
            <a:r>
              <a:rPr lang="en-AU" dirty="0"/>
              <a:t>Free and fair elections are held regularly</a:t>
            </a:r>
          </a:p>
          <a:p>
            <a:pPr lvl="1">
              <a:lnSpc>
                <a:spcPct val="100000"/>
              </a:lnSpc>
            </a:pPr>
            <a:r>
              <a:rPr lang="en-AU" dirty="0"/>
              <a:t>House of Representatives: lower house of Parliament which represents the majority of citizen votes</a:t>
            </a:r>
          </a:p>
          <a:p>
            <a:pPr lvl="1">
              <a:lnSpc>
                <a:spcPct val="100000"/>
              </a:lnSpc>
            </a:pPr>
            <a:r>
              <a:rPr lang="en-AU" dirty="0"/>
              <a:t>Courts: independent from influence by the legislative and executive branches </a:t>
            </a:r>
          </a:p>
          <a:p>
            <a:pPr lvl="1">
              <a:lnSpc>
                <a:spcPct val="100000"/>
              </a:lnSpc>
            </a:pPr>
            <a:r>
              <a:rPr lang="en-AU" dirty="0"/>
              <a:t>Basic rights are protected through the Constitution, legislation or parliamentary statutes, international agreements, conventions and court resolutions</a:t>
            </a:r>
          </a:p>
          <a:p>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1.3 Australia’s democracy and how it compares to governments in Asia</a:t>
            </a:r>
          </a:p>
        </p:txBody>
      </p:sp>
      <p:sp>
        <p:nvSpPr>
          <p:cNvPr id="4" name="Text Placeholder 3">
            <a:extLst>
              <a:ext uri="{FF2B5EF4-FFF2-40B4-BE49-F238E27FC236}">
                <a16:creationId xmlns:a16="http://schemas.microsoft.com/office/drawing/2014/main" id="{CC05D3F5-2D31-443D-BC92-1F9742650EAE}"/>
              </a:ext>
            </a:extLst>
          </p:cNvPr>
          <p:cNvSpPr>
            <a:spLocks noGrp="1"/>
          </p:cNvSpPr>
          <p:nvPr>
            <p:ph type="body" sz="quarter" idx="14"/>
          </p:nvPr>
        </p:nvSpPr>
        <p:spPr/>
        <p:txBody>
          <a:bodyPr/>
          <a:lstStyle/>
          <a:p>
            <a:r>
              <a:rPr lang="en-AU" dirty="0"/>
              <a:t>Democratic ideals and features of Australian representative democracy </a:t>
            </a:r>
          </a:p>
          <a:p>
            <a:endParaRPr lang="en-AU" dirty="0"/>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3</a:t>
            </a:fld>
            <a:endParaRPr lang="en-AU"/>
          </a:p>
        </p:txBody>
      </p:sp>
    </p:spTree>
    <p:extLst>
      <p:ext uri="{BB962C8B-B14F-4D97-AF65-F5344CB8AC3E}">
        <p14:creationId xmlns:p14="http://schemas.microsoft.com/office/powerpoint/2010/main" val="219022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447931"/>
            <a:ext cx="10515600" cy="3830709"/>
          </a:xfrm>
        </p:spPr>
        <p:txBody>
          <a:bodyPr>
            <a:normAutofit/>
          </a:bodyPr>
          <a:lstStyle/>
          <a:p>
            <a:pPr>
              <a:lnSpc>
                <a:spcPct val="100000"/>
              </a:lnSpc>
            </a:pPr>
            <a:r>
              <a:rPr lang="en-AU" b="1" dirty="0"/>
              <a:t>The constitutional monarchies: </a:t>
            </a:r>
            <a:r>
              <a:rPr lang="en-AU" dirty="0"/>
              <a:t>the monarch is head of state but limited in their power and authority through a constitution</a:t>
            </a:r>
          </a:p>
          <a:p>
            <a:pPr lvl="1">
              <a:lnSpc>
                <a:spcPct val="100000"/>
              </a:lnSpc>
            </a:pPr>
            <a:r>
              <a:rPr lang="en-AU" dirty="0"/>
              <a:t>E.g. Thailand, Japan</a:t>
            </a:r>
          </a:p>
          <a:p>
            <a:pPr>
              <a:lnSpc>
                <a:spcPct val="100000"/>
              </a:lnSpc>
            </a:pPr>
            <a:r>
              <a:rPr lang="en-AU" b="1" dirty="0"/>
              <a:t>The republics: </a:t>
            </a:r>
            <a:r>
              <a:rPr lang="en-AU" dirty="0"/>
              <a:t>The head of state (the President) is elected by the people, as well as the legislative body</a:t>
            </a:r>
          </a:p>
          <a:p>
            <a:pPr lvl="1">
              <a:lnSpc>
                <a:spcPct val="100000"/>
              </a:lnSpc>
            </a:pPr>
            <a:r>
              <a:rPr lang="en-AU" dirty="0"/>
              <a:t>E.g. India, Indonesia</a:t>
            </a:r>
          </a:p>
          <a:p>
            <a:pPr>
              <a:lnSpc>
                <a:spcPct val="100000"/>
              </a:lnSpc>
            </a:pPr>
            <a:r>
              <a:rPr lang="en-AU" b="1" dirty="0"/>
              <a:t>The communist republics: </a:t>
            </a:r>
            <a:r>
              <a:rPr lang="en-AU" dirty="0"/>
              <a:t>Single-party state where the people’s rights and freedoms are strictly controlled</a:t>
            </a:r>
          </a:p>
          <a:p>
            <a:pPr lvl="1">
              <a:lnSpc>
                <a:spcPct val="100000"/>
              </a:lnSpc>
            </a:pPr>
            <a:r>
              <a:rPr lang="en-AU" dirty="0"/>
              <a:t>E.g. People’s Republic of China, Democratic People’s Republic of North Korea </a:t>
            </a:r>
          </a:p>
          <a:p>
            <a:pPr lvl="1">
              <a:lnSpc>
                <a:spcPct val="10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1.3 Australia’s democracy and how it compares to governments in Asia</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4</a:t>
            </a:fld>
            <a:endParaRPr lang="en-AU"/>
          </a:p>
        </p:txBody>
      </p:sp>
      <p:sp>
        <p:nvSpPr>
          <p:cNvPr id="4" name="Text Placeholder 3">
            <a:extLst>
              <a:ext uri="{FF2B5EF4-FFF2-40B4-BE49-F238E27FC236}">
                <a16:creationId xmlns:a16="http://schemas.microsoft.com/office/drawing/2014/main" id="{89C0284E-8380-5F46-8AE3-4F4546232600}"/>
              </a:ext>
            </a:extLst>
          </p:cNvPr>
          <p:cNvSpPr>
            <a:spLocks noGrp="1"/>
          </p:cNvSpPr>
          <p:nvPr>
            <p:ph type="body" sz="quarter" idx="14"/>
          </p:nvPr>
        </p:nvSpPr>
        <p:spPr/>
        <p:txBody>
          <a:bodyPr/>
          <a:lstStyle/>
          <a:p>
            <a:r>
              <a:rPr lang="en-AU" dirty="0"/>
              <a:t>Comparing Australia’s system of government to its neighbours </a:t>
            </a:r>
          </a:p>
          <a:p>
            <a:endParaRPr lang="en-US" dirty="0"/>
          </a:p>
          <a:p>
            <a:endParaRPr lang="en-US" dirty="0"/>
          </a:p>
        </p:txBody>
      </p:sp>
    </p:spTree>
    <p:extLst>
      <p:ext uri="{BB962C8B-B14F-4D97-AF65-F5344CB8AC3E}">
        <p14:creationId xmlns:p14="http://schemas.microsoft.com/office/powerpoint/2010/main" val="2858271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447931"/>
            <a:ext cx="10515600" cy="3830709"/>
          </a:xfrm>
        </p:spPr>
        <p:txBody>
          <a:bodyPr>
            <a:normAutofit/>
          </a:bodyPr>
          <a:lstStyle/>
          <a:p>
            <a:pPr>
              <a:lnSpc>
                <a:spcPct val="100000"/>
              </a:lnSpc>
            </a:pPr>
            <a:r>
              <a:rPr lang="en-AU" dirty="0"/>
              <a:t>Challenges faced by Australian democracy include: </a:t>
            </a:r>
          </a:p>
          <a:p>
            <a:pPr lvl="1">
              <a:lnSpc>
                <a:spcPct val="100000"/>
              </a:lnSpc>
            </a:pPr>
            <a:r>
              <a:rPr lang="en-AU" dirty="0"/>
              <a:t>Divisions in the community and a rise in populist politics centred on identity </a:t>
            </a:r>
          </a:p>
          <a:p>
            <a:pPr lvl="1">
              <a:lnSpc>
                <a:spcPct val="100000"/>
              </a:lnSpc>
            </a:pPr>
            <a:r>
              <a:rPr lang="en-AU" dirty="0"/>
              <a:t>The threat of terrorism </a:t>
            </a:r>
          </a:p>
          <a:p>
            <a:pPr lvl="1">
              <a:lnSpc>
                <a:spcPct val="100000"/>
              </a:lnSpc>
            </a:pPr>
            <a:r>
              <a:rPr lang="en-AU" dirty="0"/>
              <a:t>The increasing digitalisation of the media</a:t>
            </a:r>
          </a:p>
          <a:p>
            <a:pPr lvl="1">
              <a:lnSpc>
                <a:spcPct val="100000"/>
              </a:lnSpc>
            </a:pPr>
            <a:r>
              <a:rPr lang="en-AU" dirty="0"/>
              <a:t>Distrust of politicians and indifference of voters</a:t>
            </a:r>
          </a:p>
          <a:p>
            <a:pPr>
              <a:lnSpc>
                <a:spcPct val="100000"/>
              </a:lnSpc>
            </a:pPr>
            <a:r>
              <a:rPr lang="en-AU" b="1" dirty="0"/>
              <a:t>Populism and the rise of identity politics: </a:t>
            </a:r>
            <a:r>
              <a:rPr lang="en-AU" dirty="0"/>
              <a:t>populism refers to the view that society is comprised of two groups: the people and an elite</a:t>
            </a:r>
          </a:p>
          <a:p>
            <a:pPr lvl="1">
              <a:lnSpc>
                <a:spcPct val="100000"/>
              </a:lnSpc>
            </a:pPr>
            <a:r>
              <a:rPr lang="en-AU" dirty="0"/>
              <a:t>Create an 'us' versus 'them' mentality</a:t>
            </a:r>
          </a:p>
          <a:p>
            <a:pPr lvl="1">
              <a:lnSpc>
                <a:spcPct val="100000"/>
              </a:lnSpc>
            </a:pPr>
            <a:r>
              <a:rPr lang="en-AU" dirty="0"/>
              <a:t>Associated with far-right and conservative groups </a:t>
            </a:r>
          </a:p>
          <a:p>
            <a:pPr lvl="1"/>
            <a:endParaRPr lang="en-AU" dirty="0"/>
          </a:p>
          <a:p>
            <a:pPr>
              <a:lnSpc>
                <a:spcPct val="10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1.4 Threats to Australia’s democracy</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5</a:t>
            </a:fld>
            <a:endParaRPr lang="en-AU"/>
          </a:p>
        </p:txBody>
      </p:sp>
      <p:sp>
        <p:nvSpPr>
          <p:cNvPr id="4" name="Text Placeholder 3">
            <a:extLst>
              <a:ext uri="{FF2B5EF4-FFF2-40B4-BE49-F238E27FC236}">
                <a16:creationId xmlns:a16="http://schemas.microsoft.com/office/drawing/2014/main" id="{89C0284E-8380-5F46-8AE3-4F4546232600}"/>
              </a:ext>
            </a:extLst>
          </p:cNvPr>
          <p:cNvSpPr>
            <a:spLocks noGrp="1"/>
          </p:cNvSpPr>
          <p:nvPr>
            <p:ph type="body" sz="quarter" idx="14"/>
          </p:nvPr>
        </p:nvSpPr>
        <p:spPr/>
        <p:txBody>
          <a:bodyPr>
            <a:normAutofit/>
          </a:bodyPr>
          <a:lstStyle/>
          <a:p>
            <a:r>
              <a:rPr lang="en-AU" dirty="0"/>
              <a:t>Challenges to sustaining a resilient democracy </a:t>
            </a:r>
          </a:p>
          <a:p>
            <a:endParaRPr lang="en-US" dirty="0"/>
          </a:p>
          <a:p>
            <a:endParaRPr lang="en-US" dirty="0"/>
          </a:p>
        </p:txBody>
      </p:sp>
    </p:spTree>
    <p:extLst>
      <p:ext uri="{BB962C8B-B14F-4D97-AF65-F5344CB8AC3E}">
        <p14:creationId xmlns:p14="http://schemas.microsoft.com/office/powerpoint/2010/main" val="133403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029340"/>
            <a:ext cx="10515600" cy="4288156"/>
          </a:xfrm>
        </p:spPr>
        <p:txBody>
          <a:bodyPr>
            <a:noAutofit/>
          </a:bodyPr>
          <a:lstStyle/>
          <a:p>
            <a:pPr>
              <a:lnSpc>
                <a:spcPct val="100000"/>
              </a:lnSpc>
            </a:pPr>
            <a:r>
              <a:rPr lang="en-AU" b="1" dirty="0"/>
              <a:t>Terrorism: </a:t>
            </a:r>
            <a:r>
              <a:rPr lang="en-AU" dirty="0"/>
              <a:t>intentional use of violence to further political or religious goals </a:t>
            </a:r>
          </a:p>
          <a:p>
            <a:pPr lvl="1">
              <a:lnSpc>
                <a:spcPct val="100000"/>
              </a:lnSpc>
            </a:pPr>
            <a:r>
              <a:rPr lang="en-AU" dirty="0"/>
              <a:t>Usually directed towards civilians and aims to produce a state of fear</a:t>
            </a:r>
          </a:p>
          <a:p>
            <a:pPr>
              <a:lnSpc>
                <a:spcPct val="100000"/>
              </a:lnSpc>
            </a:pPr>
            <a:r>
              <a:rPr lang="en-AU" b="1" dirty="0"/>
              <a:t>Digitisation of media: </a:t>
            </a:r>
            <a:r>
              <a:rPr lang="en-AU" dirty="0"/>
              <a:t>social media has allowed people to become more easily engaged in politics</a:t>
            </a:r>
          </a:p>
          <a:p>
            <a:pPr lvl="1">
              <a:lnSpc>
                <a:spcPct val="100000"/>
              </a:lnSpc>
            </a:pPr>
            <a:r>
              <a:rPr lang="en-AU" dirty="0"/>
              <a:t>But has also increased the risk of misinformation, raising questions about the reliability of sources of political information, and enabling platforms for divisive and extreme views</a:t>
            </a:r>
          </a:p>
          <a:p>
            <a:pPr>
              <a:lnSpc>
                <a:spcPct val="100000"/>
              </a:lnSpc>
            </a:pPr>
            <a:r>
              <a:rPr lang="en-AU" b="1" dirty="0"/>
              <a:t>Distrust and indifference: </a:t>
            </a:r>
            <a:r>
              <a:rPr lang="en-AU" dirty="0"/>
              <a:t>contributes to the rising number of people who identify with ‘outsider’ parties</a:t>
            </a:r>
          </a:p>
          <a:p>
            <a:pPr lvl="1">
              <a:lnSpc>
                <a:spcPct val="100000"/>
              </a:lnSpc>
            </a:pPr>
            <a:r>
              <a:rPr lang="en-AU" dirty="0"/>
              <a:t>Disillusioned voters may disengage from the democratic process completely</a:t>
            </a: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1.4 Threats to Australia’s democracy</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6</a:t>
            </a:fld>
            <a:endParaRPr lang="en-AU"/>
          </a:p>
        </p:txBody>
      </p:sp>
    </p:spTree>
    <p:extLst>
      <p:ext uri="{BB962C8B-B14F-4D97-AF65-F5344CB8AC3E}">
        <p14:creationId xmlns:p14="http://schemas.microsoft.com/office/powerpoint/2010/main" val="403002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029340"/>
            <a:ext cx="6164178" cy="4288156"/>
          </a:xfrm>
        </p:spPr>
        <p:txBody>
          <a:bodyPr>
            <a:noAutofit/>
          </a:bodyPr>
          <a:lstStyle/>
          <a:p>
            <a:pPr>
              <a:lnSpc>
                <a:spcPct val="100000"/>
              </a:lnSpc>
            </a:pPr>
            <a:r>
              <a:rPr lang="en-AU" dirty="0"/>
              <a:t>Democracy can be fragile when its principles and institutions are not protected</a:t>
            </a:r>
          </a:p>
          <a:p>
            <a:pPr lvl="1">
              <a:lnSpc>
                <a:spcPct val="100000"/>
              </a:lnSpc>
            </a:pPr>
            <a:r>
              <a:rPr lang="en-AU" dirty="0"/>
              <a:t>The greatest safeguard to democracy is the people who must be able to take part in civic, social and economic life</a:t>
            </a:r>
          </a:p>
          <a:p>
            <a:pPr>
              <a:lnSpc>
                <a:spcPct val="100000"/>
              </a:lnSpc>
            </a:pPr>
            <a:r>
              <a:rPr lang="en-AU" b="1" dirty="0"/>
              <a:t>Rights and freedoms (civil liberties) – association, assembly and expression: </a:t>
            </a:r>
            <a:r>
              <a:rPr lang="en-AU" dirty="0"/>
              <a:t>allows individuals with similar beliefs to organise as groups e.g. political parties, interest groups</a:t>
            </a:r>
          </a:p>
          <a:p>
            <a:pPr lvl="1">
              <a:lnSpc>
                <a:spcPct val="100000"/>
              </a:lnSpc>
            </a:pPr>
            <a:r>
              <a:rPr lang="en-AU" dirty="0"/>
              <a:t>Interest groups attempt to influence governments via demonstrations, petitions or lobbying </a:t>
            </a: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1.5 Safeguarding Australia’s democracy </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224336" y="5388561"/>
            <a:ext cx="5257800" cy="365125"/>
          </a:xfrm>
        </p:spPr>
        <p:txBody>
          <a:bodyPr/>
          <a:lstStyle/>
          <a:p>
            <a:r>
              <a:rPr lang="en-AU" dirty="0"/>
              <a:t>Greenpeace activists in Sydney protesting </a:t>
            </a:r>
            <a:br>
              <a:rPr lang="en-AU" dirty="0"/>
            </a:br>
            <a:r>
              <a:rPr lang="en-AU" dirty="0"/>
              <a:t>against Japanese whaling in the Southern Ocean</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7</a:t>
            </a:fld>
            <a:endParaRPr lang="en-AU"/>
          </a:p>
        </p:txBody>
      </p:sp>
      <p:pic>
        <p:nvPicPr>
          <p:cNvPr id="12" name="Picture 11">
            <a:extLst>
              <a:ext uri="{FF2B5EF4-FFF2-40B4-BE49-F238E27FC236}">
                <a16:creationId xmlns:a16="http://schemas.microsoft.com/office/drawing/2014/main" id="{AD6BBF46-BC55-CE45-90F8-5FF3E6738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1242" y="2629473"/>
            <a:ext cx="4022558" cy="2624799"/>
          </a:xfrm>
          <a:prstGeom prst="rect">
            <a:avLst/>
          </a:prstGeom>
        </p:spPr>
      </p:pic>
    </p:spTree>
    <p:extLst>
      <p:ext uri="{BB962C8B-B14F-4D97-AF65-F5344CB8AC3E}">
        <p14:creationId xmlns:p14="http://schemas.microsoft.com/office/powerpoint/2010/main" val="703096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029339"/>
            <a:ext cx="10515600" cy="4249301"/>
          </a:xfrm>
        </p:spPr>
        <p:txBody>
          <a:bodyPr>
            <a:normAutofit fontScale="70000" lnSpcReduction="20000"/>
          </a:bodyPr>
          <a:lstStyle/>
          <a:p>
            <a:pPr>
              <a:lnSpc>
                <a:spcPct val="120000"/>
              </a:lnSpc>
            </a:pPr>
            <a:r>
              <a:rPr lang="en-AU" sz="3000" b="1" dirty="0"/>
              <a:t>People power – Russia and Belarus: </a:t>
            </a:r>
            <a:r>
              <a:rPr lang="en-AU" sz="3000" dirty="0"/>
              <a:t>in a democracy, freedom of expression lets individuals present any ideas that do not infringe on the rights of others</a:t>
            </a:r>
          </a:p>
          <a:p>
            <a:pPr lvl="1">
              <a:lnSpc>
                <a:spcPct val="120000"/>
              </a:lnSpc>
            </a:pPr>
            <a:r>
              <a:rPr lang="en-AU" sz="3000" dirty="0"/>
              <a:t>In authoritarian systems, the government reacts in a violent and repressive way towards protests and demonstrations </a:t>
            </a:r>
          </a:p>
          <a:p>
            <a:pPr lvl="1">
              <a:lnSpc>
                <a:spcPct val="120000"/>
              </a:lnSpc>
            </a:pPr>
            <a:r>
              <a:rPr lang="en-AU" sz="3000" dirty="0"/>
              <a:t>Protests in Belarus in 2020 and in Russia in 2021 were both met with violence  </a:t>
            </a:r>
            <a:endParaRPr lang="en-AU" sz="3000" b="1" dirty="0"/>
          </a:p>
          <a:p>
            <a:pPr>
              <a:lnSpc>
                <a:spcPct val="120000"/>
              </a:lnSpc>
            </a:pPr>
            <a:r>
              <a:rPr lang="en-AU" sz="3000" b="1" dirty="0"/>
              <a:t>Free media: </a:t>
            </a:r>
            <a:r>
              <a:rPr lang="en-AU" sz="3000" dirty="0"/>
              <a:t>a free press is a symbol of a free people </a:t>
            </a:r>
          </a:p>
          <a:p>
            <a:pPr lvl="1">
              <a:lnSpc>
                <a:spcPct val="120000"/>
              </a:lnSpc>
            </a:pPr>
            <a:r>
              <a:rPr lang="en-AU" sz="3000" dirty="0"/>
              <a:t>The media provides people with diverse perspectives from many sources allowing them to critically analyse information</a:t>
            </a:r>
          </a:p>
          <a:p>
            <a:pPr lvl="1">
              <a:lnSpc>
                <a:spcPct val="120000"/>
              </a:lnSpc>
            </a:pPr>
            <a:r>
              <a:rPr lang="en-AU" sz="3000" dirty="0"/>
              <a:t>People can also easily obtain information which is often shared without thinking </a:t>
            </a:r>
          </a:p>
          <a:p>
            <a:pPr>
              <a:lnSpc>
                <a:spcPct val="100000"/>
              </a:lnSpc>
            </a:pPr>
            <a:endParaRPr lang="en-AU" dirty="0"/>
          </a:p>
          <a:p>
            <a:pPr>
              <a:lnSpc>
                <a:spcPct val="10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1.5 Safeguarding Australia’s democracy </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8</a:t>
            </a:fld>
            <a:endParaRPr lang="en-AU"/>
          </a:p>
        </p:txBody>
      </p:sp>
    </p:spTree>
    <p:extLst>
      <p:ext uri="{BB962C8B-B14F-4D97-AF65-F5344CB8AC3E}">
        <p14:creationId xmlns:p14="http://schemas.microsoft.com/office/powerpoint/2010/main" val="4007431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199" y="2614863"/>
            <a:ext cx="5257801" cy="3702632"/>
          </a:xfrm>
        </p:spPr>
        <p:txBody>
          <a:bodyPr>
            <a:noAutofit/>
          </a:bodyPr>
          <a:lstStyle/>
          <a:p>
            <a:pPr>
              <a:lnSpc>
                <a:spcPct val="100000"/>
              </a:lnSpc>
            </a:pPr>
            <a:r>
              <a:rPr lang="en-AU" dirty="0"/>
              <a:t>Two news reports in 2017 and 2018 caused the Australian Federal Police (AFP) to conduct raids on the ABC and at reporter Annika Smethurst’s private residence</a:t>
            </a:r>
          </a:p>
          <a:p>
            <a:pPr lvl="1">
              <a:lnSpc>
                <a:spcPct val="100000"/>
              </a:lnSpc>
            </a:pPr>
            <a:r>
              <a:rPr lang="en-AU" dirty="0"/>
              <a:t>In response, newspapers organised a front page blackout demanding wider protections and freedoms for journalists and their sources</a:t>
            </a: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1.5 Safeguarding Australia’s democracy </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5" name="Text Placeholder 4">
            <a:extLst>
              <a:ext uri="{FF2B5EF4-FFF2-40B4-BE49-F238E27FC236}">
                <a16:creationId xmlns:a16="http://schemas.microsoft.com/office/drawing/2014/main" id="{518871D4-E7E7-468D-9198-FE5E3C551351}"/>
              </a:ext>
            </a:extLst>
          </p:cNvPr>
          <p:cNvSpPr>
            <a:spLocks noGrp="1"/>
          </p:cNvSpPr>
          <p:nvPr>
            <p:ph type="body" sz="quarter" idx="14"/>
          </p:nvPr>
        </p:nvSpPr>
        <p:spPr/>
        <p:txBody>
          <a:bodyPr>
            <a:normAutofit fontScale="85000" lnSpcReduction="20000"/>
          </a:bodyPr>
          <a:lstStyle/>
          <a:p>
            <a:pPr>
              <a:lnSpc>
                <a:spcPct val="120000"/>
              </a:lnSpc>
            </a:pPr>
            <a:r>
              <a:rPr lang="en-AU" sz="2500" dirty="0"/>
              <a:t>Your right to know or a criminal action? The case of Annika Smethurst and the ABC</a:t>
            </a:r>
          </a:p>
          <a:p>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096000" y="5217612"/>
            <a:ext cx="5257800" cy="365125"/>
          </a:xfrm>
        </p:spPr>
        <p:txBody>
          <a:bodyPr/>
          <a:lstStyle/>
          <a:p>
            <a:r>
              <a:rPr lang="en-AU" dirty="0"/>
              <a:t>Front covers of Australian newspapers that have been blacked out to protest the Australian Government action </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9</a:t>
            </a:fld>
            <a:endParaRPr lang="en-AU"/>
          </a:p>
        </p:txBody>
      </p:sp>
      <p:pic>
        <p:nvPicPr>
          <p:cNvPr id="10" name="Picture 9">
            <a:extLst>
              <a:ext uri="{FF2B5EF4-FFF2-40B4-BE49-F238E27FC236}">
                <a16:creationId xmlns:a16="http://schemas.microsoft.com/office/drawing/2014/main" id="{31967307-1953-644D-BC3C-CE99D0761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5300" y="2812004"/>
            <a:ext cx="4508500" cy="2222500"/>
          </a:xfrm>
          <a:prstGeom prst="rect">
            <a:avLst/>
          </a:prstGeom>
        </p:spPr>
      </p:pic>
    </p:spTree>
    <p:extLst>
      <p:ext uri="{BB962C8B-B14F-4D97-AF65-F5344CB8AC3E}">
        <p14:creationId xmlns:p14="http://schemas.microsoft.com/office/powerpoint/2010/main" val="4179724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029339"/>
            <a:ext cx="10515600" cy="4249301"/>
          </a:xfrm>
        </p:spPr>
        <p:txBody>
          <a:bodyPr>
            <a:normAutofit/>
          </a:bodyPr>
          <a:lstStyle/>
          <a:p>
            <a:pPr>
              <a:lnSpc>
                <a:spcPct val="100000"/>
              </a:lnSpc>
            </a:pPr>
            <a:r>
              <a:rPr lang="en-AU" b="1" dirty="0"/>
              <a:t>Strong institutions founded on democratic values – limiting corruption by limiting the power of government: </a:t>
            </a:r>
            <a:r>
              <a:rPr lang="en-AU" dirty="0"/>
              <a:t>limited government is a concept essential to a democracy, as it constrains a government’s influence over the decisions and lives of its people</a:t>
            </a:r>
          </a:p>
          <a:p>
            <a:pPr lvl="1">
              <a:lnSpc>
                <a:spcPct val="100000"/>
              </a:lnSpc>
            </a:pPr>
            <a:r>
              <a:rPr lang="en-AU" dirty="0"/>
              <a:t>This can be achieved through constitutionalism that incorporates checks and balances between the branches of government, and bicameralism</a:t>
            </a:r>
          </a:p>
          <a:p>
            <a:pPr>
              <a:lnSpc>
                <a:spcPct val="100000"/>
              </a:lnSpc>
            </a:pPr>
            <a:r>
              <a:rPr lang="en-AU" dirty="0"/>
              <a:t>The Australian Constitution – the rulebook for government in Australia</a:t>
            </a:r>
          </a:p>
          <a:p>
            <a:pPr>
              <a:lnSpc>
                <a:spcPct val="100000"/>
              </a:lnSpc>
            </a:pPr>
            <a:r>
              <a:rPr lang="en-AU" dirty="0"/>
              <a:t>Bicameralism – Australia has both a House of Representatives and a Senate chamber, and both houses must pass a bill before it becomes law</a:t>
            </a:r>
          </a:p>
          <a:p>
            <a:pPr>
              <a:lnSpc>
                <a:spcPct val="100000"/>
              </a:lnSpc>
            </a:pPr>
            <a:r>
              <a:rPr lang="en-AU" dirty="0"/>
              <a:t>Independent judiciary – third branch of government and one of the more significant checks and balances </a:t>
            </a:r>
          </a:p>
          <a:p>
            <a:pPr>
              <a:lnSpc>
                <a:spcPct val="100000"/>
              </a:lnSpc>
            </a:pPr>
            <a:endParaRPr lang="en-AU" dirty="0"/>
          </a:p>
          <a:p>
            <a:pPr>
              <a:lnSpc>
                <a:spcPct val="100000"/>
              </a:lnSpc>
            </a:pPr>
            <a:endParaRPr lang="en-AU" dirty="0"/>
          </a:p>
          <a:p>
            <a:pPr>
              <a:lnSpc>
                <a:spcPct val="10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1.5 Safeguarding Australia’s democracy </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10</a:t>
            </a:fld>
            <a:endParaRPr lang="en-AU"/>
          </a:p>
        </p:txBody>
      </p:sp>
    </p:spTree>
    <p:extLst>
      <p:ext uri="{BB962C8B-B14F-4D97-AF65-F5344CB8AC3E}">
        <p14:creationId xmlns:p14="http://schemas.microsoft.com/office/powerpoint/2010/main" val="2949323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p:txBody>
          <a:bodyPr>
            <a:noAutofit/>
          </a:bodyPr>
          <a:lstStyle/>
          <a:p>
            <a:pPr>
              <a:lnSpc>
                <a:spcPct val="100000"/>
              </a:lnSpc>
            </a:pPr>
            <a:r>
              <a:rPr lang="en-AU" dirty="0"/>
              <a:t>Australia participates in the global community in many ways: </a:t>
            </a:r>
          </a:p>
          <a:p>
            <a:pPr lvl="1">
              <a:lnSpc>
                <a:spcPct val="100000"/>
              </a:lnSpc>
            </a:pPr>
            <a:r>
              <a:rPr lang="en-AU" dirty="0"/>
              <a:t>Cooperation with other countries through international organisations such as the United Nations (UN)</a:t>
            </a:r>
          </a:p>
          <a:p>
            <a:pPr lvl="1">
              <a:lnSpc>
                <a:spcPct val="100000"/>
              </a:lnSpc>
            </a:pPr>
            <a:r>
              <a:rPr lang="en-AU" dirty="0"/>
              <a:t>Support of peaceful resolutions to conflict by providing peacekeeping forces</a:t>
            </a:r>
          </a:p>
          <a:p>
            <a:pPr lvl="1">
              <a:lnSpc>
                <a:spcPct val="100000"/>
              </a:lnSpc>
            </a:pPr>
            <a:r>
              <a:rPr lang="en-AU" dirty="0"/>
              <a:t>Foreign aid to developing countries</a:t>
            </a:r>
          </a:p>
          <a:p>
            <a:pPr lvl="1">
              <a:lnSpc>
                <a:spcPct val="100000"/>
              </a:lnSpc>
            </a:pPr>
            <a:r>
              <a:rPr lang="en-AU" dirty="0"/>
              <a:t>Support of NGOs</a:t>
            </a:r>
            <a:r>
              <a:rPr lang="en-AU" b="1" dirty="0"/>
              <a:t> </a:t>
            </a:r>
            <a:r>
              <a:rPr lang="en-AU" dirty="0"/>
              <a:t>(non-government organisations), whose aims include health, education and economic development</a:t>
            </a:r>
          </a:p>
          <a:p>
            <a:pPr>
              <a:lnSpc>
                <a:spcPct val="100000"/>
              </a:lnSpc>
            </a:pPr>
            <a:r>
              <a:rPr lang="en-AU" b="1" dirty="0"/>
              <a:t>Peacekeeping: </a:t>
            </a:r>
            <a:r>
              <a:rPr lang="en-AU" dirty="0"/>
              <a:t>the UN deploys peacekeepers to resolve conflict, maintain ceasefires and help areas transition to peace</a:t>
            </a:r>
          </a:p>
          <a:p>
            <a:pPr lvl="1">
              <a:lnSpc>
                <a:spcPct val="100000"/>
              </a:lnSpc>
            </a:pPr>
            <a:r>
              <a:rPr lang="en-AU" dirty="0"/>
              <a:t>Australia has participated in more than 50 UN peace and security missions</a:t>
            </a:r>
          </a:p>
          <a:p>
            <a:endParaRPr lang="en-AU" dirty="0"/>
          </a:p>
          <a:p>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1.6 Australia’s roles and responsibilities at a global level </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11</a:t>
            </a:fld>
            <a:endParaRPr lang="en-AU"/>
          </a:p>
        </p:txBody>
      </p:sp>
      <p:sp>
        <p:nvSpPr>
          <p:cNvPr id="4" name="Text Placeholder 3">
            <a:extLst>
              <a:ext uri="{FF2B5EF4-FFF2-40B4-BE49-F238E27FC236}">
                <a16:creationId xmlns:a16="http://schemas.microsoft.com/office/drawing/2014/main" id="{A14A25A5-1F1A-E540-A2E7-CEC51C33D031}"/>
              </a:ext>
            </a:extLst>
          </p:cNvPr>
          <p:cNvSpPr>
            <a:spLocks noGrp="1"/>
          </p:cNvSpPr>
          <p:nvPr>
            <p:ph type="body" sz="quarter" idx="14"/>
          </p:nvPr>
        </p:nvSpPr>
        <p:spPr/>
        <p:txBody>
          <a:bodyPr>
            <a:normAutofit/>
          </a:bodyPr>
          <a:lstStyle/>
          <a:p>
            <a:r>
              <a:rPr lang="en-AU" dirty="0"/>
              <a:t>Australia’s participation in the world </a:t>
            </a:r>
          </a:p>
          <a:p>
            <a:endParaRPr lang="en-US" dirty="0"/>
          </a:p>
        </p:txBody>
      </p:sp>
    </p:spTree>
    <p:extLst>
      <p:ext uri="{BB962C8B-B14F-4D97-AF65-F5344CB8AC3E}">
        <p14:creationId xmlns:p14="http://schemas.microsoft.com/office/powerpoint/2010/main" val="159212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447931"/>
            <a:ext cx="10515600" cy="3830709"/>
          </a:xfrm>
        </p:spPr>
        <p:txBody>
          <a:bodyPr>
            <a:noAutofit/>
          </a:bodyPr>
          <a:lstStyle/>
          <a:p>
            <a:pPr>
              <a:lnSpc>
                <a:spcPct val="100000"/>
              </a:lnSpc>
            </a:pPr>
            <a:r>
              <a:rPr lang="en-AU" dirty="0"/>
              <a:t>Australia as a global citizen not only participates in the global community but is internally affected by it</a:t>
            </a:r>
          </a:p>
          <a:p>
            <a:pPr>
              <a:lnSpc>
                <a:spcPct val="100000"/>
              </a:lnSpc>
            </a:pPr>
            <a:r>
              <a:rPr lang="en-AU" b="1" dirty="0"/>
              <a:t>International treaties and conventions: </a:t>
            </a:r>
            <a:r>
              <a:rPr lang="en-AU" dirty="0"/>
              <a:t>the main form of international law</a:t>
            </a:r>
          </a:p>
          <a:p>
            <a:pPr lvl="1">
              <a:lnSpc>
                <a:spcPct val="100000"/>
              </a:lnSpc>
            </a:pPr>
            <a:r>
              <a:rPr lang="en-AU" dirty="0"/>
              <a:t>International organisations (such as the United Nations) negotiate treaties</a:t>
            </a:r>
          </a:p>
          <a:p>
            <a:pPr lvl="1">
              <a:lnSpc>
                <a:spcPct val="100000"/>
              </a:lnSpc>
            </a:pPr>
            <a:r>
              <a:rPr lang="en-AU" dirty="0"/>
              <a:t>Signing a treaty means a country supports a treaty’s intention</a:t>
            </a:r>
          </a:p>
          <a:p>
            <a:pPr lvl="1">
              <a:lnSpc>
                <a:spcPct val="100000"/>
              </a:lnSpc>
            </a:pPr>
            <a:r>
              <a:rPr lang="en-AU" dirty="0"/>
              <a:t>Ratifying a treaty means a country agrees to incorporate the treaty into their own laws</a:t>
            </a:r>
          </a:p>
          <a:p>
            <a:pPr lvl="1">
              <a:lnSpc>
                <a:spcPct val="100000"/>
              </a:lnSpc>
            </a:pPr>
            <a:r>
              <a:rPr lang="en-AU" dirty="0"/>
              <a:t>Treaties can cause conflict in Australia, when governments attempt to pass laws that enforce the treaties or noticeably fail to uphold them</a:t>
            </a:r>
          </a:p>
          <a:p>
            <a:pPr lvl="1">
              <a:lnSpc>
                <a:spcPct val="11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1.7 Australia’s international agreements and obligations </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12</a:t>
            </a:fld>
            <a:endParaRPr lang="en-AU"/>
          </a:p>
        </p:txBody>
      </p:sp>
      <p:sp>
        <p:nvSpPr>
          <p:cNvPr id="4" name="Text Placeholder 3">
            <a:extLst>
              <a:ext uri="{FF2B5EF4-FFF2-40B4-BE49-F238E27FC236}">
                <a16:creationId xmlns:a16="http://schemas.microsoft.com/office/drawing/2014/main" id="{A14A25A5-1F1A-E540-A2E7-CEC51C33D031}"/>
              </a:ext>
            </a:extLst>
          </p:cNvPr>
          <p:cNvSpPr>
            <a:spLocks noGrp="1"/>
          </p:cNvSpPr>
          <p:nvPr>
            <p:ph type="body" sz="quarter" idx="14"/>
          </p:nvPr>
        </p:nvSpPr>
        <p:spPr/>
        <p:txBody>
          <a:bodyPr>
            <a:normAutofit/>
          </a:bodyPr>
          <a:lstStyle/>
          <a:p>
            <a:r>
              <a:rPr lang="en-AU" dirty="0"/>
              <a:t>Australia’s participation in the world </a:t>
            </a:r>
          </a:p>
          <a:p>
            <a:endParaRPr lang="en-US" dirty="0"/>
          </a:p>
        </p:txBody>
      </p:sp>
    </p:spTree>
    <p:extLst>
      <p:ext uri="{BB962C8B-B14F-4D97-AF65-F5344CB8AC3E}">
        <p14:creationId xmlns:p14="http://schemas.microsoft.com/office/powerpoint/2010/main" val="3365321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486786"/>
            <a:ext cx="5578642" cy="3830709"/>
          </a:xfrm>
        </p:spPr>
        <p:txBody>
          <a:bodyPr>
            <a:noAutofit/>
          </a:bodyPr>
          <a:lstStyle/>
          <a:p>
            <a:pPr>
              <a:lnSpc>
                <a:spcPct val="100000"/>
              </a:lnSpc>
            </a:pPr>
            <a:r>
              <a:rPr lang="en-AU" dirty="0"/>
              <a:t>After World War II, the Refugee Convention was developed </a:t>
            </a:r>
          </a:p>
          <a:p>
            <a:pPr lvl="1">
              <a:lnSpc>
                <a:spcPct val="100000"/>
              </a:lnSpc>
            </a:pPr>
            <a:r>
              <a:rPr lang="en-AU" dirty="0"/>
              <a:t>It outlines the rights of refugees and asylum seekers, and the responsibilities of countries towards them </a:t>
            </a:r>
          </a:p>
          <a:p>
            <a:pPr lvl="1">
              <a:lnSpc>
                <a:spcPct val="100000"/>
              </a:lnSpc>
            </a:pPr>
            <a:r>
              <a:rPr lang="en-AU" dirty="0"/>
              <a:t>Over the past few years, the issue of the </a:t>
            </a:r>
            <a:r>
              <a:rPr lang="en-AU" dirty="0" err="1"/>
              <a:t>Murugappanand</a:t>
            </a:r>
            <a:r>
              <a:rPr lang="en-AU" dirty="0"/>
              <a:t> family, has raised questions of Australia’s obligations under international law and human rights principles to assist others</a:t>
            </a:r>
          </a:p>
          <a:p>
            <a:pPr marL="447675" lvl="1" indent="0">
              <a:lnSpc>
                <a:spcPct val="100000"/>
              </a:lnSpc>
              <a:buNone/>
            </a:pPr>
            <a:endParaRPr lang="en-AU" dirty="0"/>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1.7 Australia’s international agreements and obligations </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5" name="Text Placeholder 4">
            <a:extLst>
              <a:ext uri="{FF2B5EF4-FFF2-40B4-BE49-F238E27FC236}">
                <a16:creationId xmlns:a16="http://schemas.microsoft.com/office/drawing/2014/main" id="{518871D4-E7E7-468D-9198-FE5E3C551351}"/>
              </a:ext>
            </a:extLst>
          </p:cNvPr>
          <p:cNvSpPr>
            <a:spLocks noGrp="1"/>
          </p:cNvSpPr>
          <p:nvPr>
            <p:ph type="body" sz="quarter" idx="14"/>
          </p:nvPr>
        </p:nvSpPr>
        <p:spPr/>
        <p:txBody>
          <a:bodyPr/>
          <a:lstStyle/>
          <a:p>
            <a:r>
              <a:rPr lang="en-AU" dirty="0"/>
              <a:t>The Refugee Convention of 1951 </a:t>
            </a:r>
          </a:p>
          <a:p>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176210" y="5398587"/>
            <a:ext cx="5257800" cy="365125"/>
          </a:xfrm>
        </p:spPr>
        <p:txBody>
          <a:bodyPr/>
          <a:lstStyle/>
          <a:p>
            <a:r>
              <a:rPr lang="en-AU" dirty="0"/>
              <a:t>Protesters in Melbourne in 2019 marching </a:t>
            </a:r>
            <a:br>
              <a:rPr lang="en-AU" dirty="0"/>
            </a:br>
            <a:r>
              <a:rPr lang="en-AU" dirty="0"/>
              <a:t>in support of the </a:t>
            </a:r>
            <a:r>
              <a:rPr lang="en-AU" dirty="0" err="1"/>
              <a:t>Murugappanand</a:t>
            </a:r>
            <a:r>
              <a:rPr lang="en-AU" dirty="0"/>
              <a:t> family</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13</a:t>
            </a:fld>
            <a:endParaRPr lang="en-AU"/>
          </a:p>
        </p:txBody>
      </p:sp>
      <p:pic>
        <p:nvPicPr>
          <p:cNvPr id="10" name="Picture 9">
            <a:extLst>
              <a:ext uri="{FF2B5EF4-FFF2-40B4-BE49-F238E27FC236}">
                <a16:creationId xmlns:a16="http://schemas.microsoft.com/office/drawing/2014/main" id="{258BA297-ACAC-E848-AF32-9BAF8E2896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240" y="2528983"/>
            <a:ext cx="4368560" cy="2745952"/>
          </a:xfrm>
          <a:prstGeom prst="rect">
            <a:avLst/>
          </a:prstGeom>
        </p:spPr>
      </p:pic>
    </p:spTree>
    <p:extLst>
      <p:ext uri="{BB962C8B-B14F-4D97-AF65-F5344CB8AC3E}">
        <p14:creationId xmlns:p14="http://schemas.microsoft.com/office/powerpoint/2010/main" val="3598088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447931"/>
            <a:ext cx="10515600" cy="3830709"/>
          </a:xfrm>
        </p:spPr>
        <p:txBody>
          <a:bodyPr>
            <a:noAutofit/>
          </a:bodyPr>
          <a:lstStyle/>
          <a:p>
            <a:pPr>
              <a:lnSpc>
                <a:spcPct val="100000"/>
              </a:lnSpc>
            </a:pPr>
            <a:r>
              <a:rPr lang="en-AU" dirty="0"/>
              <a:t>Once a country has signed a commitment to the global community, there needs to be methods to ensure it lives up to them </a:t>
            </a:r>
          </a:p>
          <a:p>
            <a:pPr lvl="1">
              <a:lnSpc>
                <a:spcPct val="100000"/>
              </a:lnSpc>
            </a:pPr>
            <a:r>
              <a:rPr lang="en-AU" dirty="0"/>
              <a:t>Within Australia, two ways are the Human Rights Commission (HRC) and the Joint Parliamentary Committee on Human Rights</a:t>
            </a:r>
          </a:p>
          <a:p>
            <a:pPr>
              <a:lnSpc>
                <a:spcPct val="100000"/>
              </a:lnSpc>
            </a:pPr>
            <a:r>
              <a:rPr lang="en-AU" dirty="0"/>
              <a:t>The UN also has a judicial branch known as the International Court of Justice (ICJ) to resolve disputes between nations, using international laws and conventions </a:t>
            </a:r>
          </a:p>
          <a:p>
            <a:pPr lvl="1">
              <a:lnSpc>
                <a:spcPct val="100000"/>
              </a:lnSpc>
            </a:pPr>
            <a:r>
              <a:rPr lang="en-AU" dirty="0"/>
              <a:t>In 2010, Australia brought Japan to the ICJ while, in 2014, Timor-Leste took Australia to the ICJ</a:t>
            </a:r>
          </a:p>
          <a:p>
            <a:pPr lvl="1"/>
            <a:endParaRPr lang="en-AU" dirty="0"/>
          </a:p>
          <a:p>
            <a:pPr lvl="1"/>
            <a:endParaRPr lang="en-AU" dirty="0"/>
          </a:p>
          <a:p>
            <a:endParaRPr lang="en-AU" dirty="0"/>
          </a:p>
          <a:p>
            <a:pPr>
              <a:lnSpc>
                <a:spcPct val="110000"/>
              </a:lnSpc>
            </a:pPr>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1.7 Australia’s international agreements and obligations </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14</a:t>
            </a:fld>
            <a:endParaRPr lang="en-AU"/>
          </a:p>
        </p:txBody>
      </p:sp>
      <p:sp>
        <p:nvSpPr>
          <p:cNvPr id="4" name="Text Placeholder 3">
            <a:extLst>
              <a:ext uri="{FF2B5EF4-FFF2-40B4-BE49-F238E27FC236}">
                <a16:creationId xmlns:a16="http://schemas.microsoft.com/office/drawing/2014/main" id="{A14A25A5-1F1A-E540-A2E7-CEC51C33D031}"/>
              </a:ext>
            </a:extLst>
          </p:cNvPr>
          <p:cNvSpPr>
            <a:spLocks noGrp="1"/>
          </p:cNvSpPr>
          <p:nvPr>
            <p:ph type="body" sz="quarter" idx="14"/>
          </p:nvPr>
        </p:nvSpPr>
        <p:spPr/>
        <p:txBody>
          <a:bodyPr>
            <a:normAutofit/>
          </a:bodyPr>
          <a:lstStyle/>
          <a:p>
            <a:r>
              <a:rPr lang="en-AU" dirty="0"/>
              <a:t>Enforcing international law</a:t>
            </a:r>
          </a:p>
          <a:p>
            <a:endParaRPr lang="en-US" dirty="0"/>
          </a:p>
        </p:txBody>
      </p:sp>
    </p:spTree>
    <p:extLst>
      <p:ext uri="{BB962C8B-B14F-4D97-AF65-F5344CB8AC3E}">
        <p14:creationId xmlns:p14="http://schemas.microsoft.com/office/powerpoint/2010/main" val="423007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165684"/>
            <a:ext cx="5402179" cy="4151811"/>
          </a:xfrm>
        </p:spPr>
        <p:txBody>
          <a:bodyPr>
            <a:noAutofit/>
          </a:bodyPr>
          <a:lstStyle/>
          <a:p>
            <a:pPr>
              <a:lnSpc>
                <a:spcPct val="100000"/>
              </a:lnSpc>
            </a:pPr>
            <a:r>
              <a:rPr lang="en-AU" dirty="0"/>
              <a:t>The High Court was established by the Constitution </a:t>
            </a:r>
          </a:p>
          <a:p>
            <a:pPr lvl="1">
              <a:lnSpc>
                <a:spcPct val="100000"/>
              </a:lnSpc>
            </a:pPr>
            <a:r>
              <a:rPr lang="en-AU" dirty="0"/>
              <a:t>It is the only court which can hear cases regarding constitutional law and interpretation and has appellate jurisdiction in cases from appeal courts</a:t>
            </a:r>
          </a:p>
          <a:p>
            <a:pPr lvl="1">
              <a:lnSpc>
                <a:spcPct val="100000"/>
              </a:lnSpc>
            </a:pPr>
            <a:r>
              <a:rPr lang="en-AU" dirty="0"/>
              <a:t>The full bench of the High Court of Australia is made up of seven judges</a:t>
            </a: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1.8 The role of the High Court</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dirty="0"/>
              <a:t>© Cambridge University Press 2022</a:t>
            </a:r>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160168" y="5913438"/>
            <a:ext cx="5257800" cy="365125"/>
          </a:xfrm>
        </p:spPr>
        <p:txBody>
          <a:bodyPr/>
          <a:lstStyle/>
          <a:p>
            <a:r>
              <a:rPr lang="en-AU" sz="1600" dirty="0"/>
              <a:t>The Australian court hierarchy</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15</a:t>
            </a:fld>
            <a:endParaRPr lang="en-AU"/>
          </a:p>
        </p:txBody>
      </p:sp>
      <p:pic>
        <p:nvPicPr>
          <p:cNvPr id="11" name="Picture 10">
            <a:extLst>
              <a:ext uri="{FF2B5EF4-FFF2-40B4-BE49-F238E27FC236}">
                <a16:creationId xmlns:a16="http://schemas.microsoft.com/office/drawing/2014/main" id="{448B2B6A-F661-6D40-9A73-9E05A1AA31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9442" y="2165683"/>
            <a:ext cx="4544357" cy="3611409"/>
          </a:xfrm>
          <a:prstGeom prst="rect">
            <a:avLst/>
          </a:prstGeom>
        </p:spPr>
      </p:pic>
    </p:spTree>
    <p:extLst>
      <p:ext uri="{BB962C8B-B14F-4D97-AF65-F5344CB8AC3E}">
        <p14:creationId xmlns:p14="http://schemas.microsoft.com/office/powerpoint/2010/main" val="3457356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AA3FA2-0ABC-4BA1-95C4-9F6B014760CC}"/>
              </a:ext>
            </a:extLst>
          </p:cNvPr>
          <p:cNvSpPr>
            <a:spLocks noGrp="1"/>
          </p:cNvSpPr>
          <p:nvPr>
            <p:ph sz="quarter" idx="13"/>
          </p:nvPr>
        </p:nvSpPr>
        <p:spPr>
          <a:xfrm>
            <a:off x="838200" y="2029339"/>
            <a:ext cx="10515600" cy="4249302"/>
          </a:xfrm>
        </p:spPr>
        <p:txBody>
          <a:bodyPr>
            <a:normAutofit/>
          </a:bodyPr>
          <a:lstStyle/>
          <a:p>
            <a:pPr>
              <a:lnSpc>
                <a:spcPct val="100000"/>
              </a:lnSpc>
            </a:pPr>
            <a:r>
              <a:rPr lang="en-AU" b="1" dirty="0"/>
              <a:t>The role of the High Court in protecting the Westminster system: </a:t>
            </a:r>
            <a:r>
              <a:rPr lang="en-AU" dirty="0"/>
              <a:t>in 2017, the High Court was asked to interpret Section 44 of the Constitution which outlines the causes for disqualification as a representative in parliament</a:t>
            </a:r>
          </a:p>
          <a:p>
            <a:pPr>
              <a:lnSpc>
                <a:spcPct val="100000"/>
              </a:lnSpc>
            </a:pPr>
            <a:r>
              <a:rPr lang="en-AU" b="1" dirty="0"/>
              <a:t>The role of the High Court in protecting democratic values</a:t>
            </a:r>
          </a:p>
          <a:p>
            <a:pPr>
              <a:lnSpc>
                <a:spcPct val="100000"/>
              </a:lnSpc>
            </a:pPr>
            <a:r>
              <a:rPr lang="en-AU" b="1" dirty="0"/>
              <a:t>Rule of law and separation of powers: </a:t>
            </a:r>
            <a:r>
              <a:rPr lang="en-AU" dirty="0"/>
              <a:t>in 1951, the High Court ruled against the government of the day </a:t>
            </a:r>
          </a:p>
          <a:p>
            <a:pPr lvl="1">
              <a:lnSpc>
                <a:spcPct val="100000"/>
              </a:lnSpc>
            </a:pPr>
            <a:r>
              <a:rPr lang="en-AU" dirty="0"/>
              <a:t>It demonstrated the checks and balances that the High Court carries out under the separation of powers</a:t>
            </a:r>
          </a:p>
          <a:p>
            <a:pPr>
              <a:lnSpc>
                <a:spcPct val="100000"/>
              </a:lnSpc>
            </a:pPr>
            <a:r>
              <a:rPr lang="en-AU" b="1" dirty="0"/>
              <a:t>Democracy and participation: </a:t>
            </a:r>
            <a:r>
              <a:rPr lang="en-AU" dirty="0"/>
              <a:t>in 2006, the High Court was asked to rule on whether an amendment to the Commonwealth </a:t>
            </a:r>
            <a:r>
              <a:rPr lang="en-AU" i="1" dirty="0"/>
              <a:t>Electoral Act 1918 </a:t>
            </a:r>
            <a:r>
              <a:rPr lang="en-AU" dirty="0"/>
              <a:t>was </a:t>
            </a:r>
            <a:r>
              <a:rPr lang="en-AU" dirty="0" smtClean="0"/>
              <a:t>constitutional.</a:t>
            </a:r>
            <a:endParaRPr lang="en-AU" dirty="0"/>
          </a:p>
          <a:p>
            <a:endParaRPr lang="en-AU" dirty="0"/>
          </a:p>
          <a:p>
            <a:endParaRPr lang="en-AU" dirty="0"/>
          </a:p>
          <a:p>
            <a:endParaRPr lang="en-AU" dirty="0"/>
          </a:p>
        </p:txBody>
      </p:sp>
      <p:sp>
        <p:nvSpPr>
          <p:cNvPr id="3" name="Title 2">
            <a:extLst>
              <a:ext uri="{FF2B5EF4-FFF2-40B4-BE49-F238E27FC236}">
                <a16:creationId xmlns:a16="http://schemas.microsoft.com/office/drawing/2014/main" id="{C9FD64FC-42B3-4D11-B84B-7E2CCA52EE20}"/>
              </a:ext>
            </a:extLst>
          </p:cNvPr>
          <p:cNvSpPr>
            <a:spLocks noGrp="1"/>
          </p:cNvSpPr>
          <p:nvPr>
            <p:ph type="title"/>
          </p:nvPr>
        </p:nvSpPr>
        <p:spPr/>
        <p:txBody>
          <a:bodyPr/>
          <a:lstStyle/>
          <a:p>
            <a:r>
              <a:rPr lang="en-AU" dirty="0"/>
              <a:t>1.8 The role of the High Court</a:t>
            </a:r>
          </a:p>
        </p:txBody>
      </p:sp>
      <p:sp>
        <p:nvSpPr>
          <p:cNvPr id="6" name="Date Placeholder 5">
            <a:extLst>
              <a:ext uri="{FF2B5EF4-FFF2-40B4-BE49-F238E27FC236}">
                <a16:creationId xmlns:a16="http://schemas.microsoft.com/office/drawing/2014/main" id="{B2E2AF84-10AF-4B22-B060-D60EF3695D24}"/>
              </a:ext>
            </a:extLst>
          </p:cNvPr>
          <p:cNvSpPr>
            <a:spLocks noGrp="1"/>
          </p:cNvSpPr>
          <p:nvPr>
            <p:ph type="dt" sz="half" idx="10"/>
          </p:nvPr>
        </p:nvSpPr>
        <p:spPr/>
        <p:txBody>
          <a:bodyPr/>
          <a:lstStyle/>
          <a:p>
            <a:r>
              <a:rPr lang="en-US"/>
              <a:t>© Cambridge University Press 2022</a:t>
            </a:r>
            <a:endParaRPr lang="en-AU" dirty="0"/>
          </a:p>
        </p:txBody>
      </p:sp>
      <p:sp>
        <p:nvSpPr>
          <p:cNvPr id="5" name="Slide Number Placeholder 4">
            <a:extLst>
              <a:ext uri="{FF2B5EF4-FFF2-40B4-BE49-F238E27FC236}">
                <a16:creationId xmlns:a16="http://schemas.microsoft.com/office/drawing/2014/main" id="{810408EE-0EE8-4301-8FFE-86FE13ABB733}"/>
              </a:ext>
            </a:extLst>
          </p:cNvPr>
          <p:cNvSpPr>
            <a:spLocks noGrp="1"/>
          </p:cNvSpPr>
          <p:nvPr>
            <p:ph type="sldNum" sz="quarter" idx="12"/>
          </p:nvPr>
        </p:nvSpPr>
        <p:spPr/>
        <p:txBody>
          <a:bodyPr/>
          <a:lstStyle/>
          <a:p>
            <a:fld id="{2A9FC04F-1492-4AE1-9F5E-8074E380EC6F}" type="slidenum">
              <a:rPr lang="en-AU" smtClean="0"/>
              <a:t>16</a:t>
            </a:fld>
            <a:endParaRPr lang="en-AU"/>
          </a:p>
        </p:txBody>
      </p:sp>
      <p:pic>
        <p:nvPicPr>
          <p:cNvPr id="1025" name="Picture 1" descr="page52image30090816">
            <a:extLst>
              <a:ext uri="{FF2B5EF4-FFF2-40B4-BE49-F238E27FC236}">
                <a16:creationId xmlns:a16="http://schemas.microsoft.com/office/drawing/2014/main" id="{825B25FA-0B74-9247-86B1-90518EC20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95300" cy="4953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30090816">
            <a:extLst>
              <a:ext uri="{FF2B5EF4-FFF2-40B4-BE49-F238E27FC236}">
                <a16:creationId xmlns:a16="http://schemas.microsoft.com/office/drawing/2014/main" id="{487162A1-F661-DA4A-B1F4-EA9CE3A012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95300" cy="49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421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199" y="2029340"/>
            <a:ext cx="7022433" cy="4288156"/>
          </a:xfrm>
        </p:spPr>
        <p:txBody>
          <a:bodyPr>
            <a:noAutofit/>
          </a:bodyPr>
          <a:lstStyle/>
          <a:p>
            <a:pPr>
              <a:lnSpc>
                <a:spcPct val="100000"/>
              </a:lnSpc>
            </a:pPr>
            <a:r>
              <a:rPr lang="en-AU" b="1" dirty="0"/>
              <a:t>Rights and responsibilities: </a:t>
            </a:r>
            <a:r>
              <a:rPr lang="en-AU" dirty="0"/>
              <a:t>one of the most significant High Court decisions involving rights was the 1992 Mabo decision</a:t>
            </a:r>
          </a:p>
          <a:p>
            <a:pPr lvl="1">
              <a:lnSpc>
                <a:spcPct val="100000"/>
              </a:lnSpc>
            </a:pPr>
            <a:r>
              <a:rPr lang="en-AU" dirty="0"/>
              <a:t>It found that Aboriginal people had the right to native title, a system of ownership over their traditional lands</a:t>
            </a:r>
          </a:p>
          <a:p>
            <a:pPr>
              <a:lnSpc>
                <a:spcPct val="100000"/>
              </a:lnSpc>
            </a:pPr>
            <a:r>
              <a:rPr lang="en-AU" b="1" dirty="0"/>
              <a:t>The role of the High Court in upholding international laws: </a:t>
            </a:r>
            <a:r>
              <a:rPr lang="en-AU" dirty="0"/>
              <a:t>by checking other branches, the High Court can ensure Australia’s international commitments to the rights of groups and individuals</a:t>
            </a:r>
          </a:p>
          <a:p>
            <a:pPr lvl="1">
              <a:lnSpc>
                <a:spcPct val="100000"/>
              </a:lnSpc>
            </a:pPr>
            <a:r>
              <a:rPr lang="en-AU" dirty="0"/>
              <a:t>E.g. the 2010 Malaysia Solution </a:t>
            </a: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1.8 The role of the High Court</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a:t>© Cambridge University Press 2022</a:t>
            </a:r>
            <a:endParaRPr lang="en-AU" dirty="0"/>
          </a:p>
        </p:txBody>
      </p:sp>
      <p:sp>
        <p:nvSpPr>
          <p:cNvPr id="9" name="Text Placeholder 8">
            <a:extLst>
              <a:ext uri="{FF2B5EF4-FFF2-40B4-BE49-F238E27FC236}">
                <a16:creationId xmlns:a16="http://schemas.microsoft.com/office/drawing/2014/main" id="{8717A6A4-345D-48DA-9FC4-9D0C0159BA87}"/>
              </a:ext>
            </a:extLst>
          </p:cNvPr>
          <p:cNvSpPr>
            <a:spLocks noGrp="1"/>
          </p:cNvSpPr>
          <p:nvPr>
            <p:ph type="body" sz="quarter" idx="16"/>
          </p:nvPr>
        </p:nvSpPr>
        <p:spPr>
          <a:xfrm>
            <a:off x="6096000" y="5627688"/>
            <a:ext cx="5257800" cy="365125"/>
          </a:xfrm>
        </p:spPr>
        <p:txBody>
          <a:bodyPr/>
          <a:lstStyle/>
          <a:p>
            <a:r>
              <a:rPr lang="en-AU" dirty="0"/>
              <a:t>Bonita Mabo's husband Eddie was </a:t>
            </a:r>
            <a:br>
              <a:rPr lang="en-AU" dirty="0"/>
            </a:br>
            <a:r>
              <a:rPr lang="en-AU" dirty="0"/>
              <a:t>the lead plaintiff in the Mabo case</a:t>
            </a:r>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17</a:t>
            </a:fld>
            <a:endParaRPr lang="en-AU" dirty="0"/>
          </a:p>
        </p:txBody>
      </p:sp>
      <p:pic>
        <p:nvPicPr>
          <p:cNvPr id="12" name="Picture 11">
            <a:extLst>
              <a:ext uri="{FF2B5EF4-FFF2-40B4-BE49-F238E27FC236}">
                <a16:creationId xmlns:a16="http://schemas.microsoft.com/office/drawing/2014/main" id="{4B2632C1-4066-6143-8E49-FC4D861F4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8528" y="1955465"/>
            <a:ext cx="2910891" cy="3589756"/>
          </a:xfrm>
          <a:prstGeom prst="rect">
            <a:avLst/>
          </a:prstGeom>
        </p:spPr>
      </p:pic>
    </p:spTree>
    <p:extLst>
      <p:ext uri="{BB962C8B-B14F-4D97-AF65-F5344CB8AC3E}">
        <p14:creationId xmlns:p14="http://schemas.microsoft.com/office/powerpoint/2010/main" val="503442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CD2516-8233-4B96-BAD9-48CCEC6B4A47}"/>
              </a:ext>
            </a:extLst>
          </p:cNvPr>
          <p:cNvSpPr>
            <a:spLocks noGrp="1"/>
          </p:cNvSpPr>
          <p:nvPr>
            <p:ph sz="quarter" idx="13"/>
          </p:nvPr>
        </p:nvSpPr>
        <p:spPr>
          <a:xfrm>
            <a:off x="838200" y="2165684"/>
            <a:ext cx="10515600" cy="4151811"/>
          </a:xfrm>
        </p:spPr>
        <p:txBody>
          <a:bodyPr>
            <a:noAutofit/>
          </a:bodyPr>
          <a:lstStyle/>
          <a:p>
            <a:pPr>
              <a:lnSpc>
                <a:spcPct val="100000"/>
              </a:lnSpc>
            </a:pPr>
            <a:r>
              <a:rPr lang="en-AU" dirty="0"/>
              <a:t>To develop, maintain and sustain an effective democratic society is hard work</a:t>
            </a:r>
          </a:p>
          <a:p>
            <a:pPr lvl="1">
              <a:lnSpc>
                <a:spcPct val="100000"/>
              </a:lnSpc>
            </a:pPr>
            <a:r>
              <a:rPr lang="en-AU" dirty="0"/>
              <a:t>The process of building a successful democracy does not happen overnight</a:t>
            </a:r>
          </a:p>
          <a:p>
            <a:pPr lvl="1">
              <a:lnSpc>
                <a:spcPct val="100000"/>
              </a:lnSpc>
            </a:pPr>
            <a:r>
              <a:rPr lang="en-AU" dirty="0"/>
              <a:t>It has never been static; democracy grows and changes, ebbs and flows</a:t>
            </a:r>
          </a:p>
          <a:p>
            <a:pPr>
              <a:lnSpc>
                <a:spcPct val="100000"/>
              </a:lnSpc>
            </a:pPr>
            <a:r>
              <a:rPr lang="en-AU" dirty="0"/>
              <a:t>The advent of social media has given all citizens the ability to discuss ideas, mobilise and be agents of social change, a safeguard to democracy</a:t>
            </a:r>
          </a:p>
          <a:p>
            <a:pPr lvl="1">
              <a:lnSpc>
                <a:spcPct val="100000"/>
              </a:lnSpc>
            </a:pPr>
            <a:r>
              <a:rPr lang="en-AU" dirty="0"/>
              <a:t>However, it can also produce misinformation and breed hate groups that aim to infringe the rights of others</a:t>
            </a:r>
          </a:p>
          <a:p>
            <a:pPr>
              <a:lnSpc>
                <a:spcPct val="100000"/>
              </a:lnSpc>
            </a:pPr>
            <a:r>
              <a:rPr lang="en-AU" dirty="0"/>
              <a:t>By educating ourselves about what makes a good democracy, how we are a part of that process and analysing how democracies can fail, we are better prepared to ensure that the democracy we have in Australia is not only protected, but benefits all of us who live </a:t>
            </a:r>
            <a:r>
              <a:rPr lang="en-AU" dirty="0" smtClean="0"/>
              <a:t>here.</a:t>
            </a:r>
            <a:endParaRPr lang="en-AU" dirty="0">
              <a:effectLst/>
            </a:endParaRPr>
          </a:p>
        </p:txBody>
      </p:sp>
      <p:sp>
        <p:nvSpPr>
          <p:cNvPr id="3" name="Title 2">
            <a:extLst>
              <a:ext uri="{FF2B5EF4-FFF2-40B4-BE49-F238E27FC236}">
                <a16:creationId xmlns:a16="http://schemas.microsoft.com/office/drawing/2014/main" id="{268C5296-BFFD-402F-B682-FBE76F9CF04C}"/>
              </a:ext>
            </a:extLst>
          </p:cNvPr>
          <p:cNvSpPr>
            <a:spLocks noGrp="1"/>
          </p:cNvSpPr>
          <p:nvPr>
            <p:ph type="title"/>
          </p:nvPr>
        </p:nvSpPr>
        <p:spPr/>
        <p:txBody>
          <a:bodyPr/>
          <a:lstStyle/>
          <a:p>
            <a:r>
              <a:rPr lang="en-AU" dirty="0"/>
              <a:t>1.9 Conclusion: why does it matter? </a:t>
            </a:r>
          </a:p>
        </p:txBody>
      </p:sp>
      <p:sp>
        <p:nvSpPr>
          <p:cNvPr id="4" name="Date Placeholder 3">
            <a:extLst>
              <a:ext uri="{FF2B5EF4-FFF2-40B4-BE49-F238E27FC236}">
                <a16:creationId xmlns:a16="http://schemas.microsoft.com/office/drawing/2014/main" id="{2B6D4F93-B64A-4EC9-8E78-2FCE08B9A9D1}"/>
              </a:ext>
            </a:extLst>
          </p:cNvPr>
          <p:cNvSpPr>
            <a:spLocks noGrp="1"/>
          </p:cNvSpPr>
          <p:nvPr>
            <p:ph type="dt" sz="half" idx="10"/>
          </p:nvPr>
        </p:nvSpPr>
        <p:spPr/>
        <p:txBody>
          <a:bodyPr/>
          <a:lstStyle/>
          <a:p>
            <a:r>
              <a:rPr lang="en-US" dirty="0"/>
              <a:t>© Cambridge University Press 2022</a:t>
            </a:r>
            <a:endParaRPr lang="en-AU" dirty="0"/>
          </a:p>
        </p:txBody>
      </p:sp>
      <p:sp>
        <p:nvSpPr>
          <p:cNvPr id="6" name="Slide Number Placeholder 5">
            <a:extLst>
              <a:ext uri="{FF2B5EF4-FFF2-40B4-BE49-F238E27FC236}">
                <a16:creationId xmlns:a16="http://schemas.microsoft.com/office/drawing/2014/main" id="{91656F87-6312-4563-BDCA-B93EEB330A61}"/>
              </a:ext>
            </a:extLst>
          </p:cNvPr>
          <p:cNvSpPr>
            <a:spLocks noGrp="1"/>
          </p:cNvSpPr>
          <p:nvPr>
            <p:ph type="sldNum" sz="quarter" idx="12"/>
          </p:nvPr>
        </p:nvSpPr>
        <p:spPr/>
        <p:txBody>
          <a:bodyPr/>
          <a:lstStyle/>
          <a:p>
            <a:fld id="{2A9FC04F-1492-4AE1-9F5E-8074E380EC6F}" type="slidenum">
              <a:rPr lang="en-AU" smtClean="0"/>
              <a:t>18</a:t>
            </a:fld>
            <a:endParaRPr lang="en-AU"/>
          </a:p>
        </p:txBody>
      </p:sp>
    </p:spTree>
    <p:extLst>
      <p:ext uri="{BB962C8B-B14F-4D97-AF65-F5344CB8AC3E}">
        <p14:creationId xmlns:p14="http://schemas.microsoft.com/office/powerpoint/2010/main" val="31982140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SS for WA 10_PowerPoint Template.potx" id="{E5CE4891-05B0-4605-8044-520D04CC5B6A}" vid="{02E2081B-656A-4EF2-BE8D-4A4237C471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92AFE31B250B9468A58C83CA74BCADD" ma:contentTypeVersion="1" ma:contentTypeDescription="Create a new document." ma:contentTypeScope="" ma:versionID="f78be88ddbd71143cc6c11183f95bdd4">
  <xsd:schema xmlns:xsd="http://www.w3.org/2001/XMLSchema" xmlns:xs="http://www.w3.org/2001/XMLSchema" xmlns:p="http://schemas.microsoft.com/office/2006/metadata/properties" xmlns:ns2="0fd31aff-6768-4640-aab6-a45d9791b9d9" targetNamespace="http://schemas.microsoft.com/office/2006/metadata/properties" ma:root="true" ma:fieldsID="8774719f1252ed6bdf970463577565c9" ns2:_="">
    <xsd:import namespace="0fd31aff-6768-4640-aab6-a45d9791b9d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31aff-6768-4640-aab6-a45d9791b9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14204D-DA2F-4C50-A393-7660FEC3064C}">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0fd31aff-6768-4640-aab6-a45d9791b9d9"/>
    <ds:schemaRef ds:uri="http://www.w3.org/XML/1998/namespace"/>
  </ds:schemaRefs>
</ds:datastoreItem>
</file>

<file path=customXml/itemProps2.xml><?xml version="1.0" encoding="utf-8"?>
<ds:datastoreItem xmlns:ds="http://schemas.openxmlformats.org/officeDocument/2006/customXml" ds:itemID="{AADEBB3C-A8F5-43B5-A03B-2D5A52121F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31aff-6768-4640-aab6-a45d9791b9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5D6925-C68F-49F2-BE00-F8DA6ACE89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205</TotalTime>
  <Words>1779</Words>
  <Application>Microsoft Office PowerPoint</Application>
  <PresentationFormat>Widescreen</PresentationFormat>
  <Paragraphs>156</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Safeguarding democracy</vt:lpstr>
      <vt:lpstr>1.3 Australia’s democracy and how it compares to governments in Asia</vt:lpstr>
      <vt:lpstr>1.3 Australia’s democracy and how it compares to governments in Asia</vt:lpstr>
      <vt:lpstr>1.3 Australia’s democracy and how it compares to governments in Asia</vt:lpstr>
      <vt:lpstr>1.4 Threats to Australia’s democracy</vt:lpstr>
      <vt:lpstr>1.4 Threats to Australia’s democracy</vt:lpstr>
      <vt:lpstr>1.5 Safeguarding Australia’s democracy </vt:lpstr>
      <vt:lpstr>1.5 Safeguarding Australia’s democracy </vt:lpstr>
      <vt:lpstr>1.5 Safeguarding Australia’s democracy </vt:lpstr>
      <vt:lpstr>1.5 Safeguarding Australia’s democracy </vt:lpstr>
      <vt:lpstr>1.6 Australia’s roles and responsibilities at a global level </vt:lpstr>
      <vt:lpstr>1.7 Australia’s international agreements and obligations </vt:lpstr>
      <vt:lpstr>1.7 Australia’s international agreements and obligations </vt:lpstr>
      <vt:lpstr>1.7 Australia’s international agreements and obligations </vt:lpstr>
      <vt:lpstr>1.8 The role of the High Court</vt:lpstr>
      <vt:lpstr>1.8 The role of the High Court</vt:lpstr>
      <vt:lpstr>1.8 The role of the High Court</vt:lpstr>
      <vt:lpstr>1.9 Conclusion: why does it matter?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Landforms and landscapes</dc:title>
  <dc:creator>lkowarzik@cambridge.edu.au</dc:creator>
  <cp:lastModifiedBy>DONAVON Rebecca [Narrogin Senior High School]</cp:lastModifiedBy>
  <cp:revision>20</cp:revision>
  <dcterms:created xsi:type="dcterms:W3CDTF">2021-10-01T09:36:56Z</dcterms:created>
  <dcterms:modified xsi:type="dcterms:W3CDTF">2022-10-19T00:34:02Z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0x010100492AFE31B250B9468A58C83CA74BCADD</vt:lpwstr>
  </property>
</Properties>
</file>
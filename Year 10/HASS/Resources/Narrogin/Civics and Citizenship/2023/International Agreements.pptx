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1" r:id="rId6"/>
    <p:sldId id="262" r:id="rId7"/>
    <p:sldId id="265" r:id="rId8"/>
    <p:sldId id="266"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5" autoAdjust="0"/>
    <p:restoredTop sz="76977" autoAdjust="0"/>
  </p:normalViewPr>
  <p:slideViewPr>
    <p:cSldViewPr snapToGrid="0" snapToObjects="1">
      <p:cViewPr varScale="1">
        <p:scale>
          <a:sx n="84" d="100"/>
          <a:sy n="84" d="100"/>
        </p:scale>
        <p:origin x="870"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CA5441-66D1-0D47-8616-B49ECB5BAA2B}" type="datetimeFigureOut">
              <a:rPr lang="en-US" smtClean="0"/>
              <a:t>5/25/2023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647773-149A-6645-A948-71453F86E59E}" type="slidenum">
              <a:rPr lang="en-US" smtClean="0"/>
              <a:t>‹#›</a:t>
            </a:fld>
            <a:endParaRPr lang="en-US"/>
          </a:p>
        </p:txBody>
      </p:sp>
    </p:spTree>
    <p:extLst>
      <p:ext uri="{BB962C8B-B14F-4D97-AF65-F5344CB8AC3E}">
        <p14:creationId xmlns:p14="http://schemas.microsoft.com/office/powerpoint/2010/main" val="2247483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hc.unesco.org/en/list/"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1647773-149A-6645-A948-71453F86E59E}" type="slidenum">
              <a:rPr lang="en-US" smtClean="0"/>
              <a:t>1</a:t>
            </a:fld>
            <a:endParaRPr lang="en-US"/>
          </a:p>
        </p:txBody>
      </p:sp>
    </p:spTree>
    <p:extLst>
      <p:ext uri="{BB962C8B-B14F-4D97-AF65-F5344CB8AC3E}">
        <p14:creationId xmlns:p14="http://schemas.microsoft.com/office/powerpoint/2010/main" val="1944727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1647773-149A-6645-A948-71453F86E59E}" type="slidenum">
              <a:rPr lang="en-US" smtClean="0"/>
              <a:t>3</a:t>
            </a:fld>
            <a:endParaRPr lang="en-US"/>
          </a:p>
        </p:txBody>
      </p:sp>
    </p:spTree>
    <p:extLst>
      <p:ext uri="{BB962C8B-B14F-4D97-AF65-F5344CB8AC3E}">
        <p14:creationId xmlns:p14="http://schemas.microsoft.com/office/powerpoint/2010/main" val="2941611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1647773-149A-6645-A948-71453F86E59E}" type="slidenum">
              <a:rPr lang="en-US" smtClean="0"/>
              <a:t>4</a:t>
            </a:fld>
            <a:endParaRPr lang="en-US"/>
          </a:p>
        </p:txBody>
      </p:sp>
    </p:spTree>
    <p:extLst>
      <p:ext uri="{BB962C8B-B14F-4D97-AF65-F5344CB8AC3E}">
        <p14:creationId xmlns:p14="http://schemas.microsoft.com/office/powerpoint/2010/main" val="3187411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647773-149A-6645-A948-71453F86E59E}" type="slidenum">
              <a:rPr lang="en-US" smtClean="0"/>
              <a:t>5</a:t>
            </a:fld>
            <a:endParaRPr lang="en-US"/>
          </a:p>
        </p:txBody>
      </p:sp>
    </p:spTree>
    <p:extLst>
      <p:ext uri="{BB962C8B-B14F-4D97-AF65-F5344CB8AC3E}">
        <p14:creationId xmlns:p14="http://schemas.microsoft.com/office/powerpoint/2010/main" val="1319320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accent2"/>
                </a:solidFill>
                <a:hlinkClick r:id="rId3"/>
              </a:rPr>
              <a:t>https://whc.unesco.org/en/list/</a:t>
            </a:r>
            <a:r>
              <a:rPr lang="en-US" b="1" dirty="0">
                <a:solidFill>
                  <a:schemeClr val="accent2"/>
                </a:solidFill>
              </a:rPr>
              <a:t> </a:t>
            </a:r>
          </a:p>
          <a:p>
            <a:r>
              <a:rPr lang="en-AU" dirty="0"/>
              <a:t> </a:t>
            </a:r>
          </a:p>
        </p:txBody>
      </p:sp>
      <p:sp>
        <p:nvSpPr>
          <p:cNvPr id="4" name="Slide Number Placeholder 3"/>
          <p:cNvSpPr>
            <a:spLocks noGrp="1"/>
          </p:cNvSpPr>
          <p:nvPr>
            <p:ph type="sldNum" sz="quarter" idx="10"/>
          </p:nvPr>
        </p:nvSpPr>
        <p:spPr/>
        <p:txBody>
          <a:bodyPr/>
          <a:lstStyle/>
          <a:p>
            <a:fld id="{31647773-149A-6645-A948-71453F86E59E}" type="slidenum">
              <a:rPr lang="en-US" smtClean="0"/>
              <a:t>9</a:t>
            </a:fld>
            <a:endParaRPr lang="en-US"/>
          </a:p>
        </p:txBody>
      </p:sp>
    </p:spTree>
    <p:extLst>
      <p:ext uri="{BB962C8B-B14F-4D97-AF65-F5344CB8AC3E}">
        <p14:creationId xmlns:p14="http://schemas.microsoft.com/office/powerpoint/2010/main" val="1954389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1B46-B0CA-9F4C-BA2F-D8ECD977777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97581C4-B94F-894B-A474-767145F511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32A3D63-9018-A54D-9023-898556034F35}"/>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5" name="Footer Placeholder 4">
            <a:extLst>
              <a:ext uri="{FF2B5EF4-FFF2-40B4-BE49-F238E27FC236}">
                <a16:creationId xmlns:a16="http://schemas.microsoft.com/office/drawing/2014/main" id="{62316522-315B-3145-B819-50E7C30CD0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3E2CC2-612B-2249-B167-E1D406174C26}"/>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4008762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66E98-29D9-C948-8F8A-E75F23BC172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BA9F301-C335-7D46-96E1-76C1CF40ED2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D7F71D-7B42-0741-B42A-1D6EAF2BAFC0}"/>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5" name="Footer Placeholder 4">
            <a:extLst>
              <a:ext uri="{FF2B5EF4-FFF2-40B4-BE49-F238E27FC236}">
                <a16:creationId xmlns:a16="http://schemas.microsoft.com/office/drawing/2014/main" id="{E0E7ECBF-8B12-5241-8934-EA434E256F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3BA361-B1DB-624B-8ACF-30D9337C6F64}"/>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297659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8CC84-3D9D-BA40-9F92-D2028C8C2D1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124CA87-AD23-4C46-A30B-35AE294463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CCD5FC4-8637-E546-85EE-E0F08650E70F}"/>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5" name="Footer Placeholder 4">
            <a:extLst>
              <a:ext uri="{FF2B5EF4-FFF2-40B4-BE49-F238E27FC236}">
                <a16:creationId xmlns:a16="http://schemas.microsoft.com/office/drawing/2014/main" id="{061D10EA-1B2D-7E45-95D4-6D9E8F3051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515C96-BB80-FD43-8BB6-D5F55B2090B5}"/>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628142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D1FC0-DEAE-D140-8F23-69BD3012FF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7D5BF71-9F75-0149-AE33-70F31D57B57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70DB085-6911-1D4B-8DF5-A93612D2C2C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1510E49-CAF1-8B41-A0D0-4E2E817C836A}"/>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6" name="Footer Placeholder 5">
            <a:extLst>
              <a:ext uri="{FF2B5EF4-FFF2-40B4-BE49-F238E27FC236}">
                <a16:creationId xmlns:a16="http://schemas.microsoft.com/office/drawing/2014/main" id="{43DD731E-3EF5-E249-B008-1DEC0DA8E7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CB37C8-4AA5-434D-8FD7-EAF824A8338F}"/>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777034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893A0-B34B-A840-A768-454A6088F14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4D2EF1D-0DAB-384F-88ED-56CC7CD525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3B4E322-A33E-A945-B70C-C5A82CF7563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28C56A8-89E9-0648-8CC0-70298C3B33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C5149F4-CEE7-8548-9021-3FD1C1C28AC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A3BD993-9422-E741-A4D7-23A89172B333}"/>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8" name="Footer Placeholder 7">
            <a:extLst>
              <a:ext uri="{FF2B5EF4-FFF2-40B4-BE49-F238E27FC236}">
                <a16:creationId xmlns:a16="http://schemas.microsoft.com/office/drawing/2014/main" id="{4C051A5C-5D54-EB43-91C8-A819DB82B4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406D44-1F00-A94F-8AA6-894FD327A694}"/>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1920633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50D1-38AA-C64C-86DB-263135E1DDF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D0B7CF6-8F4E-9242-B573-84B6BDA8CCD4}"/>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4" name="Footer Placeholder 3">
            <a:extLst>
              <a:ext uri="{FF2B5EF4-FFF2-40B4-BE49-F238E27FC236}">
                <a16:creationId xmlns:a16="http://schemas.microsoft.com/office/drawing/2014/main" id="{B0A9B589-AEBC-E24D-AAA8-2A8ABAA8F2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1F3301-022E-2246-ACAA-6AB280A623D2}"/>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258009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272338-E818-4045-B52B-4EA8B23E2433}"/>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3" name="Footer Placeholder 2">
            <a:extLst>
              <a:ext uri="{FF2B5EF4-FFF2-40B4-BE49-F238E27FC236}">
                <a16:creationId xmlns:a16="http://schemas.microsoft.com/office/drawing/2014/main" id="{F442BCE2-B5FD-004B-B364-A02093E46B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B1091C-C471-AE4E-AA75-6C41A40CF579}"/>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2774642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55883-19EA-E448-A59E-864C2A8F07E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E705AC1-C7DF-064E-8FAE-C79A8FDB71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36F9831-1B40-DC4D-90A2-51D849D92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1D8904-8168-F84A-A8C3-FE4B71D2135C}"/>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6" name="Footer Placeholder 5">
            <a:extLst>
              <a:ext uri="{FF2B5EF4-FFF2-40B4-BE49-F238E27FC236}">
                <a16:creationId xmlns:a16="http://schemas.microsoft.com/office/drawing/2014/main" id="{3A75A279-4B22-6349-A616-34B69C9A59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4EF6A7-F5D3-0242-9D65-1C06F4C19B0C}"/>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1489118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F4990-BA3F-CB45-93D1-47EF040EACC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B4FD6A0-A92D-574A-AE6A-3A59507549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4B1121-33C7-7241-BE5B-8A4DD32A23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DDDB4D9-2F3F-D541-B871-8386B1D5589F}"/>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6" name="Footer Placeholder 5">
            <a:extLst>
              <a:ext uri="{FF2B5EF4-FFF2-40B4-BE49-F238E27FC236}">
                <a16:creationId xmlns:a16="http://schemas.microsoft.com/office/drawing/2014/main" id="{EE553CE2-0285-664E-A07E-8EA0AB4E3D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01EC8A-C9A0-A349-A17B-B00A92255382}"/>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298763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BA675-1D58-114B-BA2F-F512E804008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E6C8E04-87F2-DB49-A2FD-131077E16CD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AF0CD47-0E19-3F44-8B4F-D65D92C67BE4}"/>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5" name="Footer Placeholder 4">
            <a:extLst>
              <a:ext uri="{FF2B5EF4-FFF2-40B4-BE49-F238E27FC236}">
                <a16:creationId xmlns:a16="http://schemas.microsoft.com/office/drawing/2014/main" id="{E6154FDE-E008-7D4A-9E72-2252C31459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8F397D-33F7-E945-84E8-7DA595F43807}"/>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2858166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705F1F-F02C-C24E-A7D3-08FA0D566D4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37DE05C-1A02-514C-AC71-7B40CDF08CD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543B797-C85B-0344-A645-D364AF9D3D57}"/>
              </a:ext>
            </a:extLst>
          </p:cNvPr>
          <p:cNvSpPr>
            <a:spLocks noGrp="1"/>
          </p:cNvSpPr>
          <p:nvPr>
            <p:ph type="dt" sz="half" idx="10"/>
          </p:nvPr>
        </p:nvSpPr>
        <p:spPr/>
        <p:txBody>
          <a:bodyPr/>
          <a:lstStyle/>
          <a:p>
            <a:fld id="{33AEAB98-BB18-CA46-B447-622B4758C602}" type="datetimeFigureOut">
              <a:rPr lang="en-US" smtClean="0"/>
              <a:t>5/25/2023</a:t>
            </a:fld>
            <a:endParaRPr lang="en-US"/>
          </a:p>
        </p:txBody>
      </p:sp>
      <p:sp>
        <p:nvSpPr>
          <p:cNvPr id="5" name="Footer Placeholder 4">
            <a:extLst>
              <a:ext uri="{FF2B5EF4-FFF2-40B4-BE49-F238E27FC236}">
                <a16:creationId xmlns:a16="http://schemas.microsoft.com/office/drawing/2014/main" id="{9D2D6007-D476-FB47-9F72-E390067FDC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999B8-92AF-2440-907C-7CFBC32D2748}"/>
              </a:ext>
            </a:extLst>
          </p:cNvPr>
          <p:cNvSpPr>
            <a:spLocks noGrp="1"/>
          </p:cNvSpPr>
          <p:nvPr>
            <p:ph type="sldNum" sz="quarter" idx="12"/>
          </p:nvPr>
        </p:nvSpPr>
        <p:spPr/>
        <p:txBody>
          <a:bodyPr/>
          <a:lstStyle/>
          <a:p>
            <a:fld id="{49128FCC-01CA-F04D-BAC4-FDFAFB23B320}" type="slidenum">
              <a:rPr lang="en-US" smtClean="0"/>
              <a:t>‹#›</a:t>
            </a:fld>
            <a:endParaRPr lang="en-US"/>
          </a:p>
        </p:txBody>
      </p:sp>
    </p:spTree>
    <p:extLst>
      <p:ext uri="{BB962C8B-B14F-4D97-AF65-F5344CB8AC3E}">
        <p14:creationId xmlns:p14="http://schemas.microsoft.com/office/powerpoint/2010/main" val="1166968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3DF8CD-5CD5-244B-9027-A902943FEB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16C7054-34F1-134C-B79E-9AD98ADA14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5878782-FA6F-A743-BA52-15AA84419A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AEAB98-BB18-CA46-B447-622B4758C602}" type="datetimeFigureOut">
              <a:rPr lang="en-US" smtClean="0"/>
              <a:t>5/25/2023</a:t>
            </a:fld>
            <a:endParaRPr lang="en-US"/>
          </a:p>
        </p:txBody>
      </p:sp>
      <p:sp>
        <p:nvSpPr>
          <p:cNvPr id="5" name="Footer Placeholder 4">
            <a:extLst>
              <a:ext uri="{FF2B5EF4-FFF2-40B4-BE49-F238E27FC236}">
                <a16:creationId xmlns:a16="http://schemas.microsoft.com/office/drawing/2014/main" id="{1C287802-903B-594A-B650-180C938005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3540DE-88D3-D844-BBF9-E3B477CD4E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128FCC-01CA-F04D-BAC4-FDFAFB23B320}" type="slidenum">
              <a:rPr lang="en-US" smtClean="0"/>
              <a:t>‹#›</a:t>
            </a:fld>
            <a:endParaRPr lang="en-US"/>
          </a:p>
        </p:txBody>
      </p:sp>
    </p:spTree>
    <p:extLst>
      <p:ext uri="{BB962C8B-B14F-4D97-AF65-F5344CB8AC3E}">
        <p14:creationId xmlns:p14="http://schemas.microsoft.com/office/powerpoint/2010/main" val="362960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4430A99-6A10-EF43-90CB-D02B7B28D917}"/>
              </a:ext>
            </a:extLst>
          </p:cNvPr>
          <p:cNvPicPr>
            <a:picLocks noChangeAspect="1"/>
          </p:cNvPicPr>
          <p:nvPr/>
        </p:nvPicPr>
        <p:blipFill rotWithShape="1">
          <a:blip r:embed="rId3"/>
          <a:srcRect t="9091" r="28181" b="-1"/>
          <a:stretch/>
        </p:blipFill>
        <p:spPr>
          <a:xfrm>
            <a:off x="3523488" y="10"/>
            <a:ext cx="8668512" cy="6857990"/>
          </a:xfrm>
          <a:prstGeom prst="rect">
            <a:avLst/>
          </a:prstGeom>
        </p:spPr>
      </p:pic>
      <p:sp>
        <p:nvSpPr>
          <p:cNvPr id="18" name="Rectangle 17">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E5A140-C17D-B346-A332-B3E9D6E2BB4D}"/>
              </a:ext>
            </a:extLst>
          </p:cNvPr>
          <p:cNvSpPr>
            <a:spLocks noGrp="1"/>
          </p:cNvSpPr>
          <p:nvPr>
            <p:ph type="ctrTitle"/>
          </p:nvPr>
        </p:nvSpPr>
        <p:spPr>
          <a:xfrm>
            <a:off x="477981" y="1122363"/>
            <a:ext cx="4023360" cy="3204134"/>
          </a:xfrm>
        </p:spPr>
        <p:txBody>
          <a:bodyPr anchor="b">
            <a:normAutofit/>
          </a:bodyPr>
          <a:lstStyle/>
          <a:p>
            <a:pPr algn="l"/>
            <a:r>
              <a:rPr lang="en-US" sz="4800" dirty="0"/>
              <a:t>International Agreements</a:t>
            </a:r>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3633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5C4F21-9C36-9E4B-BA8F-C55EF8690177}"/>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Defining International Treaties </a:t>
            </a:r>
            <a:r>
              <a:rPr lang="en-US" dirty="0">
                <a:solidFill>
                  <a:srgbClr val="FFFFFF"/>
                </a:solidFill>
                <a:sym typeface="Wingdings" panose="05000000000000000000" pitchFamily="2" charset="2"/>
              </a:rPr>
              <a:t></a:t>
            </a:r>
            <a:endParaRPr lang="en-US"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95CD486-4AC3-7148-A0CD-E55D29774CA5}"/>
              </a:ext>
            </a:extLst>
          </p:cNvPr>
          <p:cNvSpPr>
            <a:spLocks noGrp="1"/>
          </p:cNvSpPr>
          <p:nvPr>
            <p:ph idx="1"/>
          </p:nvPr>
        </p:nvSpPr>
        <p:spPr>
          <a:xfrm>
            <a:off x="4447308" y="591344"/>
            <a:ext cx="6906491" cy="5585619"/>
          </a:xfrm>
        </p:spPr>
        <p:txBody>
          <a:bodyPr anchor="ctr">
            <a:normAutofit/>
          </a:bodyPr>
          <a:lstStyle/>
          <a:p>
            <a:r>
              <a:rPr lang="en-US" dirty="0"/>
              <a:t>A </a:t>
            </a:r>
            <a:r>
              <a:rPr lang="en-US" u="sng" dirty="0"/>
              <a:t>treaty</a:t>
            </a:r>
            <a:r>
              <a:rPr lang="en-US" dirty="0"/>
              <a:t> is an international written agreement between nation states.</a:t>
            </a:r>
          </a:p>
          <a:p>
            <a:r>
              <a:rPr lang="en-US" dirty="0"/>
              <a:t>Governed by international law, treaties contain mutual understandings and intentions that help guide how nations relate to each other.</a:t>
            </a:r>
          </a:p>
        </p:txBody>
      </p:sp>
    </p:spTree>
    <p:extLst>
      <p:ext uri="{BB962C8B-B14F-4D97-AF65-F5344CB8AC3E}">
        <p14:creationId xmlns:p14="http://schemas.microsoft.com/office/powerpoint/2010/main" val="992358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5C4F21-9C36-9E4B-BA8F-C55EF8690177}"/>
              </a:ext>
            </a:extLst>
          </p:cNvPr>
          <p:cNvSpPr>
            <a:spLocks noGrp="1"/>
          </p:cNvSpPr>
          <p:nvPr>
            <p:ph type="title"/>
          </p:nvPr>
        </p:nvSpPr>
        <p:spPr>
          <a:xfrm>
            <a:off x="686834" y="1153572"/>
            <a:ext cx="3200400" cy="4461163"/>
          </a:xfrm>
        </p:spPr>
        <p:txBody>
          <a:bodyPr>
            <a:normAutofit/>
          </a:bodyPr>
          <a:lstStyle/>
          <a:p>
            <a:r>
              <a:rPr lang="en-US">
                <a:solidFill>
                  <a:srgbClr val="FFFFFF"/>
                </a:solidFill>
              </a:rPr>
              <a:t>The Importance of International Treaties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95CD486-4AC3-7148-A0CD-E55D29774CA5}"/>
              </a:ext>
            </a:extLst>
          </p:cNvPr>
          <p:cNvSpPr>
            <a:spLocks noGrp="1"/>
          </p:cNvSpPr>
          <p:nvPr>
            <p:ph idx="1"/>
          </p:nvPr>
        </p:nvSpPr>
        <p:spPr>
          <a:xfrm>
            <a:off x="4447308" y="591344"/>
            <a:ext cx="6906491" cy="5585619"/>
          </a:xfrm>
        </p:spPr>
        <p:txBody>
          <a:bodyPr anchor="ctr">
            <a:normAutofit/>
          </a:bodyPr>
          <a:lstStyle/>
          <a:p>
            <a:r>
              <a:rPr lang="en-US" dirty="0"/>
              <a:t>With </a:t>
            </a:r>
            <a:r>
              <a:rPr lang="en-US" u="sng" dirty="0"/>
              <a:t>increased globalization</a:t>
            </a:r>
            <a:r>
              <a:rPr lang="en-US" dirty="0"/>
              <a:t>, international treaties are becoming important - and important for Australia.</a:t>
            </a:r>
          </a:p>
          <a:p>
            <a:r>
              <a:rPr lang="en-US" dirty="0"/>
              <a:t>Australia is considered a </a:t>
            </a:r>
            <a:r>
              <a:rPr lang="en-US" u="sng" dirty="0"/>
              <a:t>“Middle Power” </a:t>
            </a:r>
            <a:r>
              <a:rPr lang="en-US" dirty="0"/>
              <a:t>– it does not carry the weight of larger countries such as the US and China.</a:t>
            </a:r>
          </a:p>
          <a:p>
            <a:r>
              <a:rPr lang="en-US" dirty="0"/>
              <a:t>Negotiating international treaties </a:t>
            </a:r>
            <a:r>
              <a:rPr lang="en-US" u="sng" dirty="0"/>
              <a:t>allows Australia to have an international voice and prevent economic or strategic isolation</a:t>
            </a:r>
            <a:r>
              <a:rPr lang="en-US" dirty="0"/>
              <a:t>.</a:t>
            </a:r>
          </a:p>
        </p:txBody>
      </p:sp>
    </p:spTree>
    <p:extLst>
      <p:ext uri="{BB962C8B-B14F-4D97-AF65-F5344CB8AC3E}">
        <p14:creationId xmlns:p14="http://schemas.microsoft.com/office/powerpoint/2010/main" val="2195462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5C4F21-9C36-9E4B-BA8F-C55EF8690177}"/>
              </a:ext>
            </a:extLst>
          </p:cNvPr>
          <p:cNvSpPr>
            <a:spLocks noGrp="1"/>
          </p:cNvSpPr>
          <p:nvPr>
            <p:ph type="title"/>
          </p:nvPr>
        </p:nvSpPr>
        <p:spPr>
          <a:xfrm>
            <a:off x="686834" y="1153572"/>
            <a:ext cx="3200400" cy="4461163"/>
          </a:xfrm>
        </p:spPr>
        <p:txBody>
          <a:bodyPr>
            <a:normAutofit/>
          </a:bodyPr>
          <a:lstStyle/>
          <a:p>
            <a:r>
              <a:rPr lang="en-US">
                <a:solidFill>
                  <a:srgbClr val="FFFFFF"/>
                </a:solidFill>
              </a:rPr>
              <a:t>Impact of International Treaties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95CD486-4AC3-7148-A0CD-E55D29774CA5}"/>
              </a:ext>
            </a:extLst>
          </p:cNvPr>
          <p:cNvSpPr>
            <a:spLocks noGrp="1"/>
          </p:cNvSpPr>
          <p:nvPr>
            <p:ph idx="1"/>
          </p:nvPr>
        </p:nvSpPr>
        <p:spPr>
          <a:xfrm>
            <a:off x="4447308" y="591344"/>
            <a:ext cx="6906491" cy="5585619"/>
          </a:xfrm>
        </p:spPr>
        <p:txBody>
          <a:bodyPr anchor="ctr">
            <a:normAutofit/>
          </a:bodyPr>
          <a:lstStyle/>
          <a:p>
            <a:r>
              <a:rPr lang="en-US" dirty="0"/>
              <a:t>When a nation signs an international treaty or convention, it is </a:t>
            </a:r>
            <a:r>
              <a:rPr lang="en-US" u="sng" dirty="0"/>
              <a:t>an expression of its political sovereignty (ability to make its own decisions).</a:t>
            </a:r>
          </a:p>
          <a:p>
            <a:r>
              <a:rPr lang="en-US" dirty="0"/>
              <a:t>Act of signing a treaty </a:t>
            </a:r>
            <a:r>
              <a:rPr lang="en-US" u="sng" dirty="0"/>
              <a:t>does not make it legally binding</a:t>
            </a:r>
            <a:r>
              <a:rPr lang="en-US" dirty="0"/>
              <a:t>.</a:t>
            </a:r>
          </a:p>
          <a:p>
            <a:r>
              <a:rPr lang="en-US" dirty="0"/>
              <a:t>It becomes binding if the signatory </a:t>
            </a:r>
            <a:r>
              <a:rPr lang="en-US" u="sng" dirty="0"/>
              <a:t>nations change their laws to reflect the conditions of the treaty.</a:t>
            </a:r>
          </a:p>
          <a:p>
            <a:r>
              <a:rPr lang="en-US" dirty="0"/>
              <a:t>However, there is an </a:t>
            </a:r>
            <a:r>
              <a:rPr lang="en-US" u="sng" dirty="0"/>
              <a:t>expectation that the signatory nations will </a:t>
            </a:r>
            <a:r>
              <a:rPr lang="en-US" u="sng" dirty="0" err="1"/>
              <a:t>honour</a:t>
            </a:r>
            <a:r>
              <a:rPr lang="en-US" u="sng" dirty="0"/>
              <a:t> the commitment</a:t>
            </a:r>
            <a:r>
              <a:rPr lang="en-US" dirty="0"/>
              <a:t> as closely as possible.</a:t>
            </a:r>
          </a:p>
        </p:txBody>
      </p:sp>
    </p:spTree>
    <p:extLst>
      <p:ext uri="{BB962C8B-B14F-4D97-AF65-F5344CB8AC3E}">
        <p14:creationId xmlns:p14="http://schemas.microsoft.com/office/powerpoint/2010/main" val="182232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2A0FBC8F-5463-AE4B-A9EB-D39F35E30A6C}"/>
              </a:ext>
            </a:extLst>
          </p:cNvPr>
          <p:cNvSpPr>
            <a:spLocks noGrp="1"/>
          </p:cNvSpPr>
          <p:nvPr>
            <p:ph type="ctrTitle"/>
          </p:nvPr>
        </p:nvSpPr>
        <p:spPr>
          <a:xfrm>
            <a:off x="8022021" y="3231931"/>
            <a:ext cx="3852041" cy="1834056"/>
          </a:xfrm>
        </p:spPr>
        <p:txBody>
          <a:bodyPr>
            <a:normAutofit/>
          </a:bodyPr>
          <a:lstStyle/>
          <a:p>
            <a:r>
              <a:rPr lang="en-US" sz="4000" dirty="0"/>
              <a:t>A Major Treaty Signed by Australia</a:t>
            </a:r>
          </a:p>
        </p:txBody>
      </p:sp>
      <p:sp>
        <p:nvSpPr>
          <p:cNvPr id="3" name="Subtitle 2">
            <a:extLst>
              <a:ext uri="{FF2B5EF4-FFF2-40B4-BE49-F238E27FC236}">
                <a16:creationId xmlns:a16="http://schemas.microsoft.com/office/drawing/2014/main" id="{6CD3F6D4-AF79-9041-A6B4-8D4E149C30A5}"/>
              </a:ext>
            </a:extLst>
          </p:cNvPr>
          <p:cNvSpPr>
            <a:spLocks noGrp="1"/>
          </p:cNvSpPr>
          <p:nvPr>
            <p:ph type="subTitle" idx="1"/>
          </p:nvPr>
        </p:nvSpPr>
        <p:spPr>
          <a:xfrm>
            <a:off x="7782910" y="5242675"/>
            <a:ext cx="4330262" cy="683284"/>
          </a:xfrm>
        </p:spPr>
        <p:txBody>
          <a:bodyPr>
            <a:normAutofit/>
          </a:bodyPr>
          <a:lstStyle/>
          <a:p>
            <a:endParaRPr lang="en-US" sz="2000" dirty="0"/>
          </a:p>
        </p:txBody>
      </p:sp>
      <p:cxnSp>
        <p:nvCxnSpPr>
          <p:cNvPr id="19" name="Straight Connector 10">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3DB945AB-F08A-4B47-AE87-444DAF2D8F3A}"/>
              </a:ext>
            </a:extLst>
          </p:cNvPr>
          <p:cNvPicPr>
            <a:picLocks noChangeAspect="1"/>
          </p:cNvPicPr>
          <p:nvPr/>
        </p:nvPicPr>
        <p:blipFill>
          <a:blip r:embed="rId3"/>
          <a:stretch>
            <a:fillRect/>
          </a:stretch>
        </p:blipFill>
        <p:spPr>
          <a:xfrm>
            <a:off x="1341382" y="1542393"/>
            <a:ext cx="6362700" cy="3581400"/>
          </a:xfrm>
          <a:prstGeom prst="rect">
            <a:avLst/>
          </a:prstGeom>
        </p:spPr>
      </p:pic>
    </p:spTree>
    <p:extLst>
      <p:ext uri="{BB962C8B-B14F-4D97-AF65-F5344CB8AC3E}">
        <p14:creationId xmlns:p14="http://schemas.microsoft.com/office/powerpoint/2010/main" val="3069380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C9D9-24D4-3643-A0FB-FBC34BBBF2D9}"/>
              </a:ext>
            </a:extLst>
          </p:cNvPr>
          <p:cNvSpPr>
            <a:spLocks noGrp="1"/>
          </p:cNvSpPr>
          <p:nvPr>
            <p:ph type="title"/>
          </p:nvPr>
        </p:nvSpPr>
        <p:spPr/>
        <p:txBody>
          <a:bodyPr/>
          <a:lstStyle/>
          <a:p>
            <a:r>
              <a:rPr lang="en-US" b="1" dirty="0">
                <a:solidFill>
                  <a:schemeClr val="accent2">
                    <a:lumMod val="75000"/>
                  </a:schemeClr>
                </a:solidFill>
              </a:rPr>
              <a:t>What is the World Heritage Convention? </a:t>
            </a:r>
            <a:r>
              <a:rPr lang="en-US" b="1" dirty="0">
                <a:solidFill>
                  <a:schemeClr val="accent2">
                    <a:lumMod val="75000"/>
                  </a:schemeClr>
                </a:solidFill>
                <a:sym typeface="Wingdings" panose="05000000000000000000" pitchFamily="2" charset="2"/>
              </a:rPr>
              <a:t></a:t>
            </a:r>
            <a:endParaRPr lang="en-US" b="1" dirty="0">
              <a:solidFill>
                <a:schemeClr val="accent2">
                  <a:lumMod val="75000"/>
                </a:schemeClr>
              </a:solidFill>
            </a:endParaRPr>
          </a:p>
        </p:txBody>
      </p:sp>
      <p:sp>
        <p:nvSpPr>
          <p:cNvPr id="3" name="Content Placeholder 2">
            <a:extLst>
              <a:ext uri="{FF2B5EF4-FFF2-40B4-BE49-F238E27FC236}">
                <a16:creationId xmlns:a16="http://schemas.microsoft.com/office/drawing/2014/main" id="{09C9B858-9A04-3049-8C74-0C53BC612C0B}"/>
              </a:ext>
            </a:extLst>
          </p:cNvPr>
          <p:cNvSpPr>
            <a:spLocks noGrp="1"/>
          </p:cNvSpPr>
          <p:nvPr>
            <p:ph idx="1"/>
          </p:nvPr>
        </p:nvSpPr>
        <p:spPr/>
        <p:txBody>
          <a:bodyPr>
            <a:normAutofit/>
          </a:bodyPr>
          <a:lstStyle/>
          <a:p>
            <a:r>
              <a:rPr lang="en-AU" sz="4000" dirty="0">
                <a:sym typeface="Wingdings" panose="05000000000000000000" pitchFamily="2" charset="2"/>
              </a:rPr>
              <a:t> </a:t>
            </a:r>
            <a:r>
              <a:rPr lang="en-AU" sz="4000" dirty="0"/>
              <a:t>Adopted in Paris, 16</a:t>
            </a:r>
            <a:r>
              <a:rPr lang="en-AU" sz="4000" baseline="30000" dirty="0"/>
              <a:t>th</a:t>
            </a:r>
            <a:r>
              <a:rPr lang="en-AU" sz="4000" dirty="0"/>
              <a:t> November 1972. Australia became one of the first countries to ratify (confirm agreement with) the Convention in August 1974. </a:t>
            </a:r>
          </a:p>
          <a:p>
            <a:r>
              <a:rPr lang="en-AU" sz="4000" dirty="0">
                <a:sym typeface="Wingdings" panose="05000000000000000000" pitchFamily="2" charset="2"/>
              </a:rPr>
              <a:t> </a:t>
            </a:r>
            <a:r>
              <a:rPr lang="en-AU" sz="4000" dirty="0"/>
              <a:t>The Convention defines the kind of natural or cultural sites which can be considered for inscription on the </a:t>
            </a:r>
            <a:r>
              <a:rPr lang="en-AU" sz="4000" b="1" dirty="0"/>
              <a:t>World Heritage List</a:t>
            </a:r>
            <a:r>
              <a:rPr lang="en-AU" sz="4000" dirty="0"/>
              <a:t>. </a:t>
            </a:r>
          </a:p>
        </p:txBody>
      </p:sp>
    </p:spTree>
    <p:extLst>
      <p:ext uri="{BB962C8B-B14F-4D97-AF65-F5344CB8AC3E}">
        <p14:creationId xmlns:p14="http://schemas.microsoft.com/office/powerpoint/2010/main" val="1747106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02EEC-7062-43F4-8B8F-129076058D5B}"/>
              </a:ext>
            </a:extLst>
          </p:cNvPr>
          <p:cNvSpPr>
            <a:spLocks noGrp="1"/>
          </p:cNvSpPr>
          <p:nvPr>
            <p:ph type="title"/>
          </p:nvPr>
        </p:nvSpPr>
        <p:spPr/>
        <p:txBody>
          <a:bodyPr/>
          <a:lstStyle/>
          <a:p>
            <a:r>
              <a:rPr lang="en-US" b="1" dirty="0">
                <a:solidFill>
                  <a:schemeClr val="accent2">
                    <a:lumMod val="75000"/>
                  </a:schemeClr>
                </a:solidFill>
              </a:rPr>
              <a:t>What is the World Heritage Convention?</a:t>
            </a:r>
            <a:endParaRPr lang="en-AU" dirty="0"/>
          </a:p>
        </p:txBody>
      </p:sp>
      <p:sp>
        <p:nvSpPr>
          <p:cNvPr id="3" name="Content Placeholder 2">
            <a:extLst>
              <a:ext uri="{FF2B5EF4-FFF2-40B4-BE49-F238E27FC236}">
                <a16:creationId xmlns:a16="http://schemas.microsoft.com/office/drawing/2014/main" id="{B9F6CBAB-4CDB-43D5-BAC5-38C9B2218661}"/>
              </a:ext>
            </a:extLst>
          </p:cNvPr>
          <p:cNvSpPr>
            <a:spLocks noGrp="1"/>
          </p:cNvSpPr>
          <p:nvPr>
            <p:ph idx="1"/>
          </p:nvPr>
        </p:nvSpPr>
        <p:spPr/>
        <p:txBody>
          <a:bodyPr/>
          <a:lstStyle/>
          <a:p>
            <a:r>
              <a:rPr lang="en-AU" dirty="0"/>
              <a:t>The Convention sets out the </a:t>
            </a:r>
            <a:r>
              <a:rPr lang="en-AU" b="1" dirty="0"/>
              <a:t>duties </a:t>
            </a:r>
            <a:r>
              <a:rPr lang="en-AU" dirty="0"/>
              <a:t>of States Parties in identifying potential sites and their role in </a:t>
            </a:r>
            <a:r>
              <a:rPr lang="en-AU" b="1" dirty="0"/>
              <a:t>protecting </a:t>
            </a:r>
            <a:r>
              <a:rPr lang="en-AU" dirty="0"/>
              <a:t>and </a:t>
            </a:r>
            <a:r>
              <a:rPr lang="en-AU" b="1" dirty="0"/>
              <a:t>preserving</a:t>
            </a:r>
            <a:r>
              <a:rPr lang="en-AU" dirty="0"/>
              <a:t> them. </a:t>
            </a:r>
          </a:p>
          <a:p>
            <a:r>
              <a:rPr lang="en-AU" dirty="0"/>
              <a:t>By </a:t>
            </a:r>
            <a:r>
              <a:rPr lang="en-AU" b="1" dirty="0"/>
              <a:t>signing the Convention</a:t>
            </a:r>
            <a:r>
              <a:rPr lang="en-AU" dirty="0"/>
              <a:t>, each country </a:t>
            </a:r>
            <a:r>
              <a:rPr lang="en-AU" b="1" dirty="0"/>
              <a:t>pledges to conserve </a:t>
            </a:r>
            <a:r>
              <a:rPr lang="en-AU" dirty="0"/>
              <a:t>not only the World Heritage sites situated on its territory, but also to </a:t>
            </a:r>
            <a:r>
              <a:rPr lang="en-AU" b="1" dirty="0"/>
              <a:t>protect its national heritage</a:t>
            </a:r>
            <a:r>
              <a:rPr lang="en-AU" dirty="0"/>
              <a:t>. </a:t>
            </a:r>
          </a:p>
          <a:p>
            <a:endParaRPr lang="en-AU" dirty="0"/>
          </a:p>
          <a:p>
            <a:r>
              <a:rPr lang="en-AU" dirty="0"/>
              <a:t>Post-it-note – 2 arguments for and 2 against – Protecting Heritage Sites</a:t>
            </a:r>
          </a:p>
          <a:p>
            <a:pPr marL="0" indent="0">
              <a:buNone/>
            </a:pPr>
            <a:endParaRPr lang="en-AU" dirty="0"/>
          </a:p>
        </p:txBody>
      </p:sp>
    </p:spTree>
    <p:extLst>
      <p:ext uri="{BB962C8B-B14F-4D97-AF65-F5344CB8AC3E}">
        <p14:creationId xmlns:p14="http://schemas.microsoft.com/office/powerpoint/2010/main" val="2034697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B3235-227D-43FE-8653-DF774417CDE2}"/>
              </a:ext>
            </a:extLst>
          </p:cNvPr>
          <p:cNvSpPr>
            <a:spLocks noGrp="1"/>
          </p:cNvSpPr>
          <p:nvPr>
            <p:ph type="title"/>
          </p:nvPr>
        </p:nvSpPr>
        <p:spPr/>
        <p:txBody>
          <a:bodyPr/>
          <a:lstStyle/>
          <a:p>
            <a:r>
              <a:rPr lang="en-AU" b="1" dirty="0">
                <a:solidFill>
                  <a:srgbClr val="00B050"/>
                </a:solidFill>
              </a:rPr>
              <a:t>AIMS – World Heritage Convention (WHC) </a:t>
            </a:r>
            <a:r>
              <a:rPr lang="en-AU" dirty="0">
                <a:sym typeface="Wingdings" panose="05000000000000000000" pitchFamily="2" charset="2"/>
              </a:rPr>
              <a:t></a:t>
            </a:r>
            <a:endParaRPr lang="en-AU" dirty="0"/>
          </a:p>
        </p:txBody>
      </p:sp>
      <p:sp>
        <p:nvSpPr>
          <p:cNvPr id="3" name="Content Placeholder 2">
            <a:extLst>
              <a:ext uri="{FF2B5EF4-FFF2-40B4-BE49-F238E27FC236}">
                <a16:creationId xmlns:a16="http://schemas.microsoft.com/office/drawing/2014/main" id="{F09488B9-35C6-4F1A-9648-32E57EE9DD2F}"/>
              </a:ext>
            </a:extLst>
          </p:cNvPr>
          <p:cNvSpPr>
            <a:spLocks noGrp="1"/>
          </p:cNvSpPr>
          <p:nvPr>
            <p:ph idx="1"/>
          </p:nvPr>
        </p:nvSpPr>
        <p:spPr/>
        <p:txBody>
          <a:bodyPr/>
          <a:lstStyle/>
          <a:p>
            <a:pPr fontAlgn="base">
              <a:lnSpc>
                <a:spcPct val="107000"/>
              </a:lnSpc>
              <a:spcAft>
                <a:spcPts val="900"/>
              </a:spcAft>
            </a:pPr>
            <a:r>
              <a:rPr lang="en-AU" sz="4000" dirty="0">
                <a:effectLst/>
                <a:ea typeface="Times New Roman" panose="02020603050405020304" pitchFamily="18" charset="0"/>
                <a:cs typeface="Times New Roman" panose="02020603050405020304" pitchFamily="18" charset="0"/>
              </a:rPr>
              <a:t>The World Heritage Convention aims to promote cooperation among nations to protect heritage around the world that is of such outstanding universal value that its conservation is important for current and future generations.</a:t>
            </a:r>
            <a:endParaRPr lang="en-AU" sz="4000" dirty="0">
              <a:effectLst/>
              <a:ea typeface="Calibri" panose="020F0502020204030204" pitchFamily="34" charset="0"/>
              <a:cs typeface="Times New Roman" panose="02020603050405020304" pitchFamily="18" charset="0"/>
            </a:endParaRPr>
          </a:p>
          <a:p>
            <a:endParaRPr lang="en-AU" dirty="0"/>
          </a:p>
        </p:txBody>
      </p:sp>
    </p:spTree>
    <p:extLst>
      <p:ext uri="{BB962C8B-B14F-4D97-AF65-F5344CB8AC3E}">
        <p14:creationId xmlns:p14="http://schemas.microsoft.com/office/powerpoint/2010/main" val="1418287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C9D9-24D4-3643-A0FB-FBC34BBBF2D9}"/>
              </a:ext>
            </a:extLst>
          </p:cNvPr>
          <p:cNvSpPr>
            <a:spLocks noGrp="1"/>
          </p:cNvSpPr>
          <p:nvPr>
            <p:ph type="title"/>
          </p:nvPr>
        </p:nvSpPr>
        <p:spPr>
          <a:xfrm>
            <a:off x="534761" y="2488406"/>
            <a:ext cx="2023382" cy="2277904"/>
          </a:xfrm>
        </p:spPr>
        <p:txBody>
          <a:bodyPr>
            <a:noAutofit/>
          </a:bodyPr>
          <a:lstStyle/>
          <a:p>
            <a:r>
              <a:rPr lang="en-US" sz="1800" b="1" dirty="0">
                <a:solidFill>
                  <a:schemeClr val="accent2">
                    <a:lumMod val="75000"/>
                  </a:schemeClr>
                </a:solidFill>
              </a:rPr>
              <a:t>What is the World Heritage List?</a:t>
            </a:r>
            <a:br>
              <a:rPr lang="en-US" sz="1800" b="1" dirty="0">
                <a:solidFill>
                  <a:schemeClr val="accent2">
                    <a:lumMod val="75000"/>
                  </a:schemeClr>
                </a:solidFill>
              </a:rPr>
            </a:br>
            <a:r>
              <a:rPr lang="en-US" sz="1800" b="1" dirty="0">
                <a:solidFill>
                  <a:schemeClr val="accent2">
                    <a:lumMod val="75000"/>
                  </a:schemeClr>
                </a:solidFill>
              </a:rPr>
              <a:t>On  a post-it-note – Write 3 examples from the list</a:t>
            </a:r>
          </a:p>
        </p:txBody>
      </p:sp>
      <p:pic>
        <p:nvPicPr>
          <p:cNvPr id="5" name="Picture 4"/>
          <p:cNvPicPr>
            <a:picLocks noChangeAspect="1"/>
          </p:cNvPicPr>
          <p:nvPr/>
        </p:nvPicPr>
        <p:blipFill>
          <a:blip r:embed="rId3"/>
          <a:stretch>
            <a:fillRect/>
          </a:stretch>
        </p:blipFill>
        <p:spPr>
          <a:xfrm>
            <a:off x="3018064" y="131990"/>
            <a:ext cx="8858250" cy="6267450"/>
          </a:xfrm>
          <a:prstGeom prst="rect">
            <a:avLst/>
          </a:prstGeom>
        </p:spPr>
      </p:pic>
    </p:spTree>
    <p:extLst>
      <p:ext uri="{BB962C8B-B14F-4D97-AF65-F5344CB8AC3E}">
        <p14:creationId xmlns:p14="http://schemas.microsoft.com/office/powerpoint/2010/main" val="35447075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TotalTime>
  <Words>394</Words>
  <Application>Microsoft Office PowerPoint</Application>
  <PresentationFormat>Widescreen</PresentationFormat>
  <Paragraphs>32</Paragraphs>
  <Slides>9</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International Agreements</vt:lpstr>
      <vt:lpstr>Defining International Treaties </vt:lpstr>
      <vt:lpstr>The Importance of International Treaties</vt:lpstr>
      <vt:lpstr>Impact of International Treaties</vt:lpstr>
      <vt:lpstr>A Major Treaty Signed by Australia</vt:lpstr>
      <vt:lpstr>What is the World Heritage Convention? </vt:lpstr>
      <vt:lpstr>What is the World Heritage Convention?</vt:lpstr>
      <vt:lpstr>AIMS – World Heritage Convention (WHC) </vt:lpstr>
      <vt:lpstr>What is the World Heritage List? On  a post-it-note – Write 3 examples from the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Agreements</dc:title>
  <dc:creator>DONAVON Rebecca [Narrogin Senior High School]</dc:creator>
  <cp:lastModifiedBy>RINTOUL Brooke [Narrogin Senior High School]</cp:lastModifiedBy>
  <cp:revision>14</cp:revision>
  <dcterms:created xsi:type="dcterms:W3CDTF">2020-11-04T01:09:02Z</dcterms:created>
  <dcterms:modified xsi:type="dcterms:W3CDTF">2023-05-25T07:10:45Z</dcterms:modified>
</cp:coreProperties>
</file>
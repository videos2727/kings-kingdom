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4" r:id="rId1"/>
  </p:sldMasterIdLst>
  <p:notesMasterIdLst>
    <p:notesMasterId r:id="rId31"/>
  </p:notesMasterIdLst>
  <p:sldIdLst>
    <p:sldId id="256" r:id="rId2"/>
    <p:sldId id="258" r:id="rId3"/>
    <p:sldId id="259" r:id="rId4"/>
    <p:sldId id="260" r:id="rId5"/>
    <p:sldId id="261" r:id="rId6"/>
    <p:sldId id="262" r:id="rId7"/>
    <p:sldId id="263" r:id="rId8"/>
    <p:sldId id="264" r:id="rId9"/>
    <p:sldId id="285" r:id="rId10"/>
    <p:sldId id="265" r:id="rId11"/>
    <p:sldId id="286" r:id="rId12"/>
    <p:sldId id="266" r:id="rId13"/>
    <p:sldId id="267" r:id="rId14"/>
    <p:sldId id="284" r:id="rId15"/>
    <p:sldId id="274" r:id="rId16"/>
    <p:sldId id="275" r:id="rId17"/>
    <p:sldId id="276" r:id="rId18"/>
    <p:sldId id="271" r:id="rId19"/>
    <p:sldId id="287" r:id="rId20"/>
    <p:sldId id="272" r:id="rId21"/>
    <p:sldId id="273" r:id="rId22"/>
    <p:sldId id="277" r:id="rId23"/>
    <p:sldId id="278" r:id="rId24"/>
    <p:sldId id="279" r:id="rId25"/>
    <p:sldId id="280" r:id="rId26"/>
    <p:sldId id="281" r:id="rId27"/>
    <p:sldId id="282" r:id="rId28"/>
    <p:sldId id="283" r:id="rId29"/>
    <p:sldId id="257"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07" d="100"/>
          <a:sy n="107" d="100"/>
        </p:scale>
        <p:origin x="-102" y="-21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FD261A-849B-42DB-9B03-E8CE9A6A17CA}" type="datetimeFigureOut">
              <a:rPr lang="en-AU" smtClean="0"/>
              <a:t>9/04/2018</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117F0B-F873-46FE-A54B-8F8BB0260EBE}" type="slidenum">
              <a:rPr lang="en-AU" smtClean="0"/>
              <a:t>‹#›</a:t>
            </a:fld>
            <a:endParaRPr lang="en-AU"/>
          </a:p>
        </p:txBody>
      </p:sp>
    </p:spTree>
    <p:extLst>
      <p:ext uri="{BB962C8B-B14F-4D97-AF65-F5344CB8AC3E}">
        <p14:creationId xmlns:p14="http://schemas.microsoft.com/office/powerpoint/2010/main" val="13349419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35266E8A-4943-4CF2-913E-B09C21729BB0}" type="slidenum">
              <a:rPr lang="en-US" altLang="en-US" sz="1200"/>
              <a:pPr/>
              <a:t>15</a:t>
            </a:fld>
            <a:endParaRPr lang="en-US" altLang="en-US" sz="1200"/>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AU" altLang="en-US" smtClean="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6298303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8D7C241D-69B4-4FDC-823E-166FA3D46058}" type="slidenum">
              <a:rPr lang="en-US" altLang="en-US" sz="1200"/>
              <a:pPr/>
              <a:t>16</a:t>
            </a:fld>
            <a:endParaRPr lang="en-US" altLang="en-US" sz="1200"/>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Arial" panose="020B0604020202020204" pitchFamily="34" charset="0"/>
                <a:ea typeface="ＭＳ Ｐゴシック" panose="020B0600070205080204" pitchFamily="34" charset="-128"/>
              </a:rPr>
              <a:t>Questions to ask:  Do you think the combination of “health,” “education,” and “wealth” adequately measures “human development”?  Why or why not? </a:t>
            </a:r>
          </a:p>
          <a:p>
            <a:pPr eaLnBrk="1" hangingPunct="1"/>
            <a:r>
              <a:rPr lang="en-US" altLang="en-US" smtClean="0">
                <a:latin typeface="Arial" panose="020B0604020202020204" pitchFamily="34" charset="0"/>
                <a:ea typeface="ＭＳ Ｐゴシック" panose="020B0600070205080204" pitchFamily="34" charset="-128"/>
              </a:rPr>
              <a:t>What other measures of “human development” might you include if you were to create your own human development index (e.g., environment, leisure, happiness, etc.)?</a:t>
            </a:r>
          </a:p>
        </p:txBody>
      </p:sp>
    </p:spTree>
    <p:extLst>
      <p:ext uri="{BB962C8B-B14F-4D97-AF65-F5344CB8AC3E}">
        <p14:creationId xmlns:p14="http://schemas.microsoft.com/office/powerpoint/2010/main" val="3872455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9EE88FC1-9F43-4C79-B05C-A31C45C8B016}" type="slidenum">
              <a:rPr lang="en-US" altLang="en-US" sz="1200"/>
              <a:pPr/>
              <a:t>17</a:t>
            </a:fld>
            <a:endParaRPr lang="en-US" altLang="en-US" sz="1200"/>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Arial" panose="020B0604020202020204" pitchFamily="34" charset="0"/>
                <a:ea typeface="ＭＳ Ｐゴシック" panose="020B0600070205080204" pitchFamily="34" charset="-128"/>
              </a:rPr>
              <a:t>Is “life expectancy at birth” a good measure of health?  Why or why not?  Can you think of other ways to measure “health” that might bring about different results (e.g., obesity rates, infant mortality rate, etc.)?</a:t>
            </a:r>
          </a:p>
          <a:p>
            <a:pPr eaLnBrk="1" hangingPunct="1"/>
            <a:r>
              <a:rPr lang="en-US" altLang="en-US" smtClean="0">
                <a:latin typeface="Arial" panose="020B0604020202020204" pitchFamily="34" charset="0"/>
                <a:ea typeface="ＭＳ Ｐゴシック" panose="020B0600070205080204" pitchFamily="34" charset="-128"/>
              </a:rPr>
              <a:t>Is the combination of “adult literacy” and “gross enrollment” a good measure of “education”?  Why or why not?  Can you think of other ways to measure “education” that might bring about different results (e.g., percent in college, test scores, etc.)?</a:t>
            </a:r>
          </a:p>
          <a:p>
            <a:pPr eaLnBrk="1" hangingPunct="1"/>
            <a:r>
              <a:rPr lang="en-US" altLang="en-US" smtClean="0">
                <a:latin typeface="Arial" panose="020B0604020202020204" pitchFamily="34" charset="0"/>
                <a:ea typeface="ＭＳ Ｐゴシック" panose="020B0600070205080204" pitchFamily="34" charset="-128"/>
              </a:rPr>
              <a:t>Is “GDP per capita” a good measure of “wealth”?  Why or why not?  Can you think of other ways to measure “wealth” that might bring about different results (e.g., income inequality, poverty rates, etc.)?</a:t>
            </a:r>
            <a:r>
              <a:rPr lang="en-US" altLang="en-US" b="1" smtClean="0">
                <a:latin typeface="Arial" panose="020B0604020202020204" pitchFamily="34" charset="0"/>
                <a:ea typeface="ＭＳ Ｐゴシック" panose="020B0600070205080204" pitchFamily="34" charset="-128"/>
              </a:rPr>
              <a:t>  </a:t>
            </a:r>
          </a:p>
          <a:p>
            <a:pPr eaLnBrk="1" hangingPunct="1"/>
            <a:endParaRPr lang="en-US" altLang="en-US" smtClean="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2832857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79E7D05B-DE89-4D42-AC0E-38CE0DB49491}" type="slidenum">
              <a:rPr lang="en-US" altLang="en-US" sz="1200"/>
              <a:pPr/>
              <a:t>20</a:t>
            </a:fld>
            <a:endParaRPr lang="en-US" altLang="en-US" sz="1200"/>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AU" altLang="en-US" smtClean="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9802760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06992204-E540-415B-9C8D-5754B4385A85}" type="slidenum">
              <a:rPr lang="en-US" altLang="en-US" sz="1200"/>
              <a:pPr/>
              <a:t>21</a:t>
            </a:fld>
            <a:endParaRPr lang="en-US" altLang="en-US" sz="1200"/>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AU" altLang="en-US" smtClean="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257774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smtClean="0"/>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smtClean="0"/>
              <a:pPr/>
              <a:t>4/9/2018</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smtClean="0"/>
              <a:pPr/>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603173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4/9/2018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408835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smtClean="0"/>
              <a:pPr/>
              <a:t>4/9/2018</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smtClean="0"/>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269254372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smtClean="0"/>
              <a:t>4/9/2018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2451502109"/>
      </p:ext>
    </p:extLst>
  </p:cSld>
  <p:clrMapOvr>
    <a:masterClrMapping/>
  </p:clrMapOvr>
  <p:extLst mod="1">
    <p:ext uri="{DCECCB84-F9BA-43D5-87BE-67443E8EF086}">
      <p15:sldGuideLst xmlns=""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smtClean="0"/>
              <a:t>4/9/2018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1983681886"/>
      </p:ext>
    </p:extLst>
  </p:cSld>
  <p:clrMapOvr>
    <a:masterClrMapping/>
  </p:clrMapOvr>
  <p:extLst mod="1">
    <p:ext uri="{DCECCB84-F9BA-43D5-87BE-67443E8EF086}">
      <p15:sldGuideLst xmlns=""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smtClean="0"/>
              <a:t>4/9/2018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886218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smtClean="0"/>
              <a:t>4/9/2018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2927254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smtClean="0"/>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smtClean="0"/>
              <a:t>4/9/2018</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smtClean="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959142663"/>
      </p:ext>
    </p:extLst>
  </p:cSld>
  <p:clrMapOvr>
    <a:masterClrMapping/>
  </p:clrMapOvr>
  <p:extLst mod="1">
    <p:ext uri="{DCECCB84-F9BA-43D5-87BE-67443E8EF086}">
      <p15:sldGuideLst xmlns=""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smtClean="0"/>
              <a:t>4/9/2018</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7468043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4/9/2018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2334331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4/9/2018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2759582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smtClean="0"/>
              <a:pPr/>
              <a:t>4/9/2018</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smtClean="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14806406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www.google.com.au/url?sa=i&amp;rct=j&amp;q=&amp;esrc=s&amp;source=images&amp;cd=&amp;cad=rja&amp;uact=8&amp;ved=2ahUKEwjz2ICfr6DaAhUDerwKHVAlBMoQjRx6BAgAEAU&amp;url=http://www.2nurfm.com/wellbeing&amp;psig=AOvVaw0mzBRNs7CE2bw6DevtY9jy&amp;ust=1522922634297108" TargetMode="External"/><Relationship Id="rId2" Type="http://schemas.openxmlformats.org/officeDocument/2006/relationships/hyperlink" Target="http://www.google.com.au/url?sa=i&amp;rct=j&amp;q=&amp;esrc=s&amp;source=images&amp;cd=&amp;cad=rja&amp;uact=8&amp;ved=2ahUKEwjbptGIr6DaAhWCUrwKHdN8DNwQjRx6BAgAEAU&amp;url=http://web.stemiliescps.wa.edu.au/?p%3D7579&amp;psig=AOvVaw0mzBRNs7CE2bw6DevtY9jy&amp;ust=1522922634297108" TargetMode="Externa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www.google.com.au/url?sa=i&amp;rct=j&amp;q=&amp;esrc=s&amp;source=images&amp;cd=&amp;cad=rja&amp;uact=8&amp;ved=2ahUKEwiYht-osKDaAhUDw7wKHZp4DdIQjRx6BAgAEAU&amp;url=https://www.elegantthemes.com/blog/tips-tricks/how-to-add-like-and-dislike-functionality-to-your-wordpress-comments&amp;psig=AOvVaw2wKFQxIOFDQKdGuWVy9UEq&amp;ust=1522922963614041"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Human wellbeing</a:t>
            </a:r>
            <a:endParaRPr lang="en-AU" dirty="0"/>
          </a:p>
        </p:txBody>
      </p:sp>
      <p:sp>
        <p:nvSpPr>
          <p:cNvPr id="3" name="Subtitle 2"/>
          <p:cNvSpPr>
            <a:spLocks noGrp="1"/>
          </p:cNvSpPr>
          <p:nvPr>
            <p:ph type="subTitle" idx="1"/>
          </p:nvPr>
        </p:nvSpPr>
        <p:spPr/>
        <p:txBody>
          <a:bodyPr/>
          <a:lstStyle/>
          <a:p>
            <a:r>
              <a:rPr lang="en-AU" dirty="0" smtClean="0"/>
              <a:t>Year 10 geography</a:t>
            </a:r>
            <a:endParaRPr lang="en-AU" dirty="0"/>
          </a:p>
        </p:txBody>
      </p:sp>
    </p:spTree>
    <p:extLst>
      <p:ext uri="{BB962C8B-B14F-4D97-AF65-F5344CB8AC3E}">
        <p14:creationId xmlns:p14="http://schemas.microsoft.com/office/powerpoint/2010/main" val="10465559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Definition – </a:t>
            </a:r>
            <a:r>
              <a:rPr lang="en-AU" dirty="0" smtClean="0">
                <a:solidFill>
                  <a:schemeClr val="tx2">
                    <a:lumMod val="75000"/>
                    <a:lumOff val="25000"/>
                  </a:schemeClr>
                </a:solidFill>
              </a:rPr>
              <a:t>Human wellbeing</a:t>
            </a:r>
            <a:endParaRPr lang="en-AU" dirty="0">
              <a:solidFill>
                <a:schemeClr val="tx2">
                  <a:lumMod val="75000"/>
                  <a:lumOff val="25000"/>
                </a:schemeClr>
              </a:solidFill>
            </a:endParaRPr>
          </a:p>
        </p:txBody>
      </p:sp>
      <p:sp>
        <p:nvSpPr>
          <p:cNvPr id="3" name="Content Placeholder 2"/>
          <p:cNvSpPr>
            <a:spLocks noGrp="1"/>
          </p:cNvSpPr>
          <p:nvPr>
            <p:ph idx="1"/>
          </p:nvPr>
        </p:nvSpPr>
        <p:spPr/>
        <p:txBody>
          <a:bodyPr>
            <a:normAutofit/>
          </a:bodyPr>
          <a:lstStyle/>
          <a:p>
            <a:r>
              <a:rPr lang="en-AU" sz="4400" dirty="0" smtClean="0"/>
              <a:t>Combination of physical, emotional, social, economic, environmental and political factors that vary between people and places.</a:t>
            </a:r>
            <a:endParaRPr lang="en-AU" sz="4400" dirty="0"/>
          </a:p>
        </p:txBody>
      </p:sp>
    </p:spTree>
    <p:extLst>
      <p:ext uri="{BB962C8B-B14F-4D97-AF65-F5344CB8AC3E}">
        <p14:creationId xmlns:p14="http://schemas.microsoft.com/office/powerpoint/2010/main" val="364972882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Definition - </a:t>
            </a:r>
            <a:r>
              <a:rPr lang="en-AU" dirty="0" smtClean="0">
                <a:solidFill>
                  <a:schemeClr val="tx2">
                    <a:lumMod val="75000"/>
                    <a:lumOff val="25000"/>
                  </a:schemeClr>
                </a:solidFill>
              </a:rPr>
              <a:t>development</a:t>
            </a:r>
            <a:endParaRPr lang="en-AU" dirty="0">
              <a:solidFill>
                <a:schemeClr val="tx2">
                  <a:lumMod val="75000"/>
                  <a:lumOff val="25000"/>
                </a:schemeClr>
              </a:solidFill>
            </a:endParaRPr>
          </a:p>
        </p:txBody>
      </p:sp>
      <p:sp>
        <p:nvSpPr>
          <p:cNvPr id="3" name="Content Placeholder 2"/>
          <p:cNvSpPr>
            <a:spLocks noGrp="1"/>
          </p:cNvSpPr>
          <p:nvPr>
            <p:ph idx="1"/>
          </p:nvPr>
        </p:nvSpPr>
        <p:spPr/>
        <p:txBody>
          <a:bodyPr>
            <a:normAutofit/>
          </a:bodyPr>
          <a:lstStyle/>
          <a:p>
            <a:r>
              <a:rPr lang="en-AU" sz="4400" dirty="0" smtClean="0"/>
              <a:t>A process of change that improves the quality of life of a community.</a:t>
            </a:r>
            <a:endParaRPr lang="en-AU" sz="4400" dirty="0"/>
          </a:p>
        </p:txBody>
      </p:sp>
    </p:spTree>
    <p:extLst>
      <p:ext uri="{BB962C8B-B14F-4D97-AF65-F5344CB8AC3E}">
        <p14:creationId xmlns:p14="http://schemas.microsoft.com/office/powerpoint/2010/main" val="43075120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AU" dirty="0" smtClean="0">
                <a:solidFill>
                  <a:schemeClr val="tx2">
                    <a:lumMod val="75000"/>
                    <a:lumOff val="25000"/>
                  </a:schemeClr>
                </a:solidFill>
              </a:rPr>
              <a:t>Developing COUNTRY </a:t>
            </a:r>
            <a:br>
              <a:rPr lang="en-AU" dirty="0" smtClean="0">
                <a:solidFill>
                  <a:schemeClr val="tx2">
                    <a:lumMod val="75000"/>
                    <a:lumOff val="25000"/>
                  </a:schemeClr>
                </a:solidFill>
              </a:rPr>
            </a:br>
            <a:r>
              <a:rPr lang="en-AU" dirty="0" smtClean="0">
                <a:solidFill>
                  <a:schemeClr val="tx2">
                    <a:lumMod val="75000"/>
                    <a:lumOff val="25000"/>
                  </a:schemeClr>
                </a:solidFill>
              </a:rPr>
              <a:t>V </a:t>
            </a:r>
            <a:br>
              <a:rPr lang="en-AU" dirty="0" smtClean="0">
                <a:solidFill>
                  <a:schemeClr val="tx2">
                    <a:lumMod val="75000"/>
                    <a:lumOff val="25000"/>
                  </a:schemeClr>
                </a:solidFill>
              </a:rPr>
            </a:br>
            <a:r>
              <a:rPr lang="en-AU" dirty="0" smtClean="0">
                <a:solidFill>
                  <a:schemeClr val="tx2">
                    <a:lumMod val="75000"/>
                    <a:lumOff val="25000"/>
                  </a:schemeClr>
                </a:solidFill>
              </a:rPr>
              <a:t>DEVELOPED COUNTRY</a:t>
            </a:r>
            <a:br>
              <a:rPr lang="en-AU" dirty="0" smtClean="0">
                <a:solidFill>
                  <a:schemeClr val="tx2">
                    <a:lumMod val="75000"/>
                    <a:lumOff val="25000"/>
                  </a:schemeClr>
                </a:solidFill>
              </a:rPr>
            </a:br>
            <a:endParaRPr lang="en-AU" dirty="0">
              <a:solidFill>
                <a:schemeClr val="tx2">
                  <a:lumMod val="75000"/>
                  <a:lumOff val="25000"/>
                </a:schemeClr>
              </a:solidFill>
            </a:endParaRPr>
          </a:p>
        </p:txBody>
      </p:sp>
      <p:sp>
        <p:nvSpPr>
          <p:cNvPr id="3" name="Content Placeholder 2"/>
          <p:cNvSpPr>
            <a:spLocks noGrp="1"/>
          </p:cNvSpPr>
          <p:nvPr>
            <p:ph idx="1"/>
          </p:nvPr>
        </p:nvSpPr>
        <p:spPr>
          <a:xfrm>
            <a:off x="1233923" y="2419166"/>
            <a:ext cx="10178322" cy="3593591"/>
          </a:xfrm>
        </p:spPr>
        <p:txBody>
          <a:bodyPr>
            <a:normAutofit fontScale="92500"/>
          </a:bodyPr>
          <a:lstStyle/>
          <a:p>
            <a:r>
              <a:rPr lang="en-AU" sz="2400" b="1" dirty="0" smtClean="0">
                <a:solidFill>
                  <a:schemeClr val="tx2">
                    <a:lumMod val="75000"/>
                    <a:lumOff val="25000"/>
                  </a:schemeClr>
                </a:solidFill>
              </a:rPr>
              <a:t>Developed Country </a:t>
            </a:r>
            <a:r>
              <a:rPr lang="en-AU" sz="2400" dirty="0" smtClean="0"/>
              <a:t>– a rich, industrialised country of the world. Sometimes referred to as ‘MDC’s or </a:t>
            </a:r>
            <a:r>
              <a:rPr lang="en-AU" sz="2400" b="1" i="1" dirty="0" smtClean="0">
                <a:solidFill>
                  <a:schemeClr val="tx2">
                    <a:lumMod val="75000"/>
                    <a:lumOff val="25000"/>
                  </a:schemeClr>
                </a:solidFill>
              </a:rPr>
              <a:t>More Developed Countries.</a:t>
            </a:r>
          </a:p>
          <a:p>
            <a:pPr marL="0" indent="0">
              <a:buNone/>
            </a:pPr>
            <a:r>
              <a:rPr lang="en-AU" sz="2400" b="1" i="1" dirty="0">
                <a:solidFill>
                  <a:schemeClr val="tx2">
                    <a:lumMod val="75000"/>
                    <a:lumOff val="25000"/>
                  </a:schemeClr>
                </a:solidFill>
              </a:rPr>
              <a:t> </a:t>
            </a:r>
            <a:r>
              <a:rPr lang="en-AU" sz="2400" b="1" i="1" dirty="0" smtClean="0">
                <a:solidFill>
                  <a:schemeClr val="tx2">
                    <a:lumMod val="75000"/>
                    <a:lumOff val="25000"/>
                  </a:schemeClr>
                </a:solidFill>
              </a:rPr>
              <a:t> EXAMPLES: </a:t>
            </a:r>
            <a:r>
              <a:rPr lang="en-AU" sz="2400" b="1" i="1" dirty="0" smtClean="0">
                <a:solidFill>
                  <a:schemeClr val="tx1"/>
                </a:solidFill>
              </a:rPr>
              <a:t>USA, Japan, Australia and South Korea</a:t>
            </a:r>
          </a:p>
          <a:p>
            <a:endParaRPr lang="en-AU" sz="2400" dirty="0"/>
          </a:p>
          <a:p>
            <a:r>
              <a:rPr lang="en-AU" sz="2400" b="1" dirty="0" smtClean="0">
                <a:solidFill>
                  <a:schemeClr val="tx2">
                    <a:lumMod val="75000"/>
                    <a:lumOff val="25000"/>
                  </a:schemeClr>
                </a:solidFill>
              </a:rPr>
              <a:t>Developing Country </a:t>
            </a:r>
            <a:r>
              <a:rPr lang="en-AU" sz="2400" dirty="0" smtClean="0"/>
              <a:t>– a poor or middle – income country often dependent on subsistence farming. Sometimes referred to as ‘LDC’s or </a:t>
            </a:r>
            <a:r>
              <a:rPr lang="en-AU" sz="2400" b="1" i="1" dirty="0" smtClean="0">
                <a:solidFill>
                  <a:schemeClr val="tx2">
                    <a:lumMod val="75000"/>
                    <a:lumOff val="25000"/>
                  </a:schemeClr>
                </a:solidFill>
              </a:rPr>
              <a:t>Less Developed Countries.</a:t>
            </a:r>
          </a:p>
          <a:p>
            <a:pPr marL="0" indent="0">
              <a:buNone/>
            </a:pPr>
            <a:r>
              <a:rPr lang="en-AU" sz="2400" b="1" dirty="0" smtClean="0">
                <a:solidFill>
                  <a:schemeClr val="tx2">
                    <a:lumMod val="75000"/>
                    <a:lumOff val="25000"/>
                  </a:schemeClr>
                </a:solidFill>
              </a:rPr>
              <a:t> </a:t>
            </a:r>
            <a:r>
              <a:rPr lang="en-AU" sz="2400" b="1" i="1" dirty="0">
                <a:solidFill>
                  <a:schemeClr val="tx2">
                    <a:lumMod val="75000"/>
                    <a:lumOff val="25000"/>
                  </a:schemeClr>
                </a:solidFill>
              </a:rPr>
              <a:t>EXAMPLES</a:t>
            </a:r>
            <a:r>
              <a:rPr lang="en-AU" sz="2400" b="1" i="1" dirty="0" smtClean="0">
                <a:solidFill>
                  <a:schemeClr val="tx2">
                    <a:lumMod val="75000"/>
                    <a:lumOff val="25000"/>
                  </a:schemeClr>
                </a:solidFill>
              </a:rPr>
              <a:t>: </a:t>
            </a:r>
            <a:r>
              <a:rPr lang="en-AU" sz="2400" b="1" i="1" dirty="0" smtClean="0">
                <a:solidFill>
                  <a:schemeClr val="tx1"/>
                </a:solidFill>
              </a:rPr>
              <a:t>Including countries located in the continent of Africa, such as Kenya, Mozambique and Ethiopia.</a:t>
            </a:r>
            <a:endParaRPr lang="en-AU" sz="2400" b="1" dirty="0" smtClean="0">
              <a:solidFill>
                <a:schemeClr val="tx2">
                  <a:lumMod val="75000"/>
                  <a:lumOff val="25000"/>
                </a:schemeClr>
              </a:solidFill>
            </a:endParaRPr>
          </a:p>
        </p:txBody>
      </p:sp>
    </p:spTree>
    <p:extLst>
      <p:ext uri="{BB962C8B-B14F-4D97-AF65-F5344CB8AC3E}">
        <p14:creationId xmlns:p14="http://schemas.microsoft.com/office/powerpoint/2010/main" val="5387881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dirty="0" smtClean="0">
                <a:solidFill>
                  <a:schemeClr val="tx2">
                    <a:lumMod val="75000"/>
                    <a:lumOff val="25000"/>
                  </a:schemeClr>
                </a:solidFill>
              </a:rPr>
              <a:t>MEASURING &amp; MAPPING –</a:t>
            </a:r>
            <a:br>
              <a:rPr lang="en-AU" dirty="0" smtClean="0">
                <a:solidFill>
                  <a:schemeClr val="tx2">
                    <a:lumMod val="75000"/>
                    <a:lumOff val="25000"/>
                  </a:schemeClr>
                </a:solidFill>
              </a:rPr>
            </a:br>
            <a:r>
              <a:rPr lang="en-AU" dirty="0" smtClean="0">
                <a:solidFill>
                  <a:schemeClr val="tx2">
                    <a:lumMod val="75000"/>
                    <a:lumOff val="25000"/>
                  </a:schemeClr>
                </a:solidFill>
              </a:rPr>
              <a:t> HUMAN WELLBEING</a:t>
            </a:r>
            <a:endParaRPr lang="en-AU" dirty="0">
              <a:solidFill>
                <a:schemeClr val="tx2">
                  <a:lumMod val="75000"/>
                  <a:lumOff val="25000"/>
                </a:schemeClr>
              </a:solidFill>
            </a:endParaRPr>
          </a:p>
        </p:txBody>
      </p:sp>
      <p:sp>
        <p:nvSpPr>
          <p:cNvPr id="3" name="Content Placeholder 2"/>
          <p:cNvSpPr>
            <a:spLocks noGrp="1"/>
          </p:cNvSpPr>
          <p:nvPr>
            <p:ph idx="1"/>
          </p:nvPr>
        </p:nvSpPr>
        <p:spPr>
          <a:xfrm>
            <a:off x="1251678" y="2286000"/>
            <a:ext cx="10178322" cy="4571999"/>
          </a:xfrm>
        </p:spPr>
        <p:txBody>
          <a:bodyPr>
            <a:normAutofit/>
          </a:bodyPr>
          <a:lstStyle/>
          <a:p>
            <a:r>
              <a:rPr lang="en-AU" sz="3600" dirty="0" smtClean="0"/>
              <a:t>Human wellbeing can be measured using </a:t>
            </a:r>
            <a:r>
              <a:rPr lang="en-AU" sz="3600" dirty="0" smtClean="0">
                <a:solidFill>
                  <a:srgbClr val="FF0000"/>
                </a:solidFill>
              </a:rPr>
              <a:t>qualitative </a:t>
            </a:r>
            <a:r>
              <a:rPr lang="en-AU" sz="3600" dirty="0" smtClean="0"/>
              <a:t>(subjective) measures of how people perceive the quality of life they experience, or </a:t>
            </a:r>
            <a:r>
              <a:rPr lang="en-AU" sz="3600" dirty="0" smtClean="0">
                <a:solidFill>
                  <a:srgbClr val="FF0000"/>
                </a:solidFill>
              </a:rPr>
              <a:t>quantitative </a:t>
            </a:r>
            <a:r>
              <a:rPr lang="en-AU" sz="3600" dirty="0" smtClean="0"/>
              <a:t>(objective) measures, for example </a:t>
            </a:r>
            <a:r>
              <a:rPr lang="en-AU" sz="3600" dirty="0" smtClean="0">
                <a:solidFill>
                  <a:schemeClr val="tx2">
                    <a:lumMod val="75000"/>
                    <a:lumOff val="25000"/>
                  </a:schemeClr>
                </a:solidFill>
              </a:rPr>
              <a:t>income, education levels </a:t>
            </a:r>
            <a:r>
              <a:rPr lang="en-AU" sz="3600" dirty="0" smtClean="0"/>
              <a:t>and </a:t>
            </a:r>
            <a:r>
              <a:rPr lang="en-AU" sz="3600" dirty="0" smtClean="0">
                <a:solidFill>
                  <a:schemeClr val="tx2">
                    <a:lumMod val="75000"/>
                    <a:lumOff val="25000"/>
                  </a:schemeClr>
                </a:solidFill>
              </a:rPr>
              <a:t>life expectancy. </a:t>
            </a:r>
            <a:endParaRPr lang="en-AU" sz="3600" dirty="0">
              <a:solidFill>
                <a:schemeClr val="tx2">
                  <a:lumMod val="75000"/>
                  <a:lumOff val="25000"/>
                </a:schemeClr>
              </a:solidFill>
            </a:endParaRPr>
          </a:p>
          <a:p>
            <a:pPr marL="0" indent="0">
              <a:buNone/>
            </a:pPr>
            <a:endParaRPr lang="en-AU" sz="3600" dirty="0">
              <a:solidFill>
                <a:schemeClr val="tx2">
                  <a:lumMod val="75000"/>
                  <a:lumOff val="25000"/>
                </a:schemeClr>
              </a:solidFill>
            </a:endParaRPr>
          </a:p>
        </p:txBody>
      </p:sp>
      <p:sp>
        <p:nvSpPr>
          <p:cNvPr id="4" name="AutoShape 2" descr="Image result for WELLBEING">
            <a:hlinkClick r:id="rId2"/>
          </p:cNvPr>
          <p:cNvSpPr>
            <a:spLocks noChangeAspect="1" noChangeArrowheads="1"/>
          </p:cNvSpPr>
          <p:nvPr/>
        </p:nvSpPr>
        <p:spPr bwMode="auto">
          <a:xfrm>
            <a:off x="58738" y="-769938"/>
            <a:ext cx="2800350" cy="16097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5" name="AutoShape 4" descr="Image result for WELLBEING">
            <a:hlinkClick r:id="rId2"/>
          </p:cNvPr>
          <p:cNvSpPr>
            <a:spLocks noChangeAspect="1" noChangeArrowheads="1"/>
          </p:cNvSpPr>
          <p:nvPr/>
        </p:nvSpPr>
        <p:spPr bwMode="auto">
          <a:xfrm>
            <a:off x="211138" y="-617538"/>
            <a:ext cx="2800350" cy="16097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1030" name="Picture 6" descr="Image result for WELLBEING">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32272" y="992188"/>
            <a:ext cx="1775658" cy="998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66358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913755"/>
          </a:xfrm>
        </p:spPr>
        <p:txBody>
          <a:bodyPr/>
          <a:lstStyle/>
          <a:p>
            <a:pPr algn="ctr"/>
            <a:r>
              <a:rPr lang="en-AU" dirty="0" smtClean="0">
                <a:solidFill>
                  <a:schemeClr val="accent1">
                    <a:lumMod val="75000"/>
                  </a:schemeClr>
                </a:solidFill>
              </a:rPr>
              <a:t>Qualitative indicators</a:t>
            </a:r>
            <a:endParaRPr lang="en-AU" dirty="0">
              <a:solidFill>
                <a:schemeClr val="accent1">
                  <a:lumMod val="75000"/>
                </a:schemeClr>
              </a:solidFill>
            </a:endParaRPr>
          </a:p>
        </p:txBody>
      </p:sp>
      <p:sp>
        <p:nvSpPr>
          <p:cNvPr id="3" name="Content Placeholder 2"/>
          <p:cNvSpPr>
            <a:spLocks noGrp="1"/>
          </p:cNvSpPr>
          <p:nvPr>
            <p:ph idx="1"/>
          </p:nvPr>
        </p:nvSpPr>
        <p:spPr>
          <a:xfrm>
            <a:off x="1269433" y="1926454"/>
            <a:ext cx="10178322" cy="4290489"/>
          </a:xfrm>
        </p:spPr>
        <p:txBody>
          <a:bodyPr>
            <a:normAutofit/>
          </a:bodyPr>
          <a:lstStyle/>
          <a:p>
            <a:r>
              <a:rPr lang="en-AU" sz="3600" dirty="0" smtClean="0"/>
              <a:t>Qualitative or subjective indicators</a:t>
            </a:r>
          </a:p>
          <a:p>
            <a:r>
              <a:rPr lang="en-AU" sz="3600" dirty="0" smtClean="0"/>
              <a:t>Indicators of human wellbeing are those aspects of standard of living that are difficult to measure</a:t>
            </a:r>
          </a:p>
          <a:p>
            <a:r>
              <a:rPr lang="en-AU" sz="3600" dirty="0" smtClean="0"/>
              <a:t>Examples include – political freedoms, personal security and safety and social opportunities.</a:t>
            </a:r>
          </a:p>
          <a:p>
            <a:r>
              <a:rPr lang="en-AU" altLang="en-US" sz="3600" b="1" dirty="0"/>
              <a:t>Qualit</a:t>
            </a:r>
            <a:r>
              <a:rPr lang="en-AU" altLang="en-US" sz="3600" dirty="0"/>
              <a:t>ative → </a:t>
            </a:r>
            <a:r>
              <a:rPr lang="en-AU" altLang="en-US" sz="3600" b="1" dirty="0"/>
              <a:t>Qualit</a:t>
            </a:r>
            <a:r>
              <a:rPr lang="en-AU" altLang="en-US" sz="3600" dirty="0"/>
              <a:t>y</a:t>
            </a:r>
          </a:p>
          <a:p>
            <a:pPr marL="0" indent="0">
              <a:buNone/>
            </a:pPr>
            <a:endParaRPr lang="en-AU" sz="3600" dirty="0" smtClean="0"/>
          </a:p>
          <a:p>
            <a:pPr marL="0" indent="0">
              <a:buNone/>
            </a:pPr>
            <a:endParaRPr lang="en-AU" dirty="0"/>
          </a:p>
        </p:txBody>
      </p:sp>
      <p:pic>
        <p:nvPicPr>
          <p:cNvPr id="2050" name="Picture 2" descr="Image result for likes and dislikes">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68183" y="328474"/>
            <a:ext cx="1704513" cy="7812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438059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913755"/>
          </a:xfrm>
        </p:spPr>
        <p:txBody>
          <a:bodyPr/>
          <a:lstStyle/>
          <a:p>
            <a:pPr algn="ctr"/>
            <a:r>
              <a:rPr lang="en-AU" dirty="0" smtClean="0">
                <a:solidFill>
                  <a:schemeClr val="accent1">
                    <a:lumMod val="75000"/>
                  </a:schemeClr>
                </a:solidFill>
              </a:rPr>
              <a:t>Quantitative indicators</a:t>
            </a:r>
            <a:endParaRPr lang="en-AU" dirty="0">
              <a:solidFill>
                <a:schemeClr val="accent1">
                  <a:lumMod val="75000"/>
                </a:schemeClr>
              </a:solidFill>
            </a:endParaRPr>
          </a:p>
        </p:txBody>
      </p:sp>
      <p:sp>
        <p:nvSpPr>
          <p:cNvPr id="3" name="Content Placeholder 2"/>
          <p:cNvSpPr>
            <a:spLocks noGrp="1"/>
          </p:cNvSpPr>
          <p:nvPr>
            <p:ph idx="1"/>
          </p:nvPr>
        </p:nvSpPr>
        <p:spPr>
          <a:xfrm>
            <a:off x="1269433" y="1926454"/>
            <a:ext cx="10178322" cy="4290489"/>
          </a:xfrm>
        </p:spPr>
        <p:txBody>
          <a:bodyPr>
            <a:normAutofit lnSpcReduction="10000"/>
          </a:bodyPr>
          <a:lstStyle/>
          <a:p>
            <a:pPr>
              <a:buFont typeface="Arial" charset="0"/>
              <a:buChar char="•"/>
            </a:pPr>
            <a:r>
              <a:rPr lang="en-AU" sz="3600" dirty="0" smtClean="0"/>
              <a:t>Quantitative indicators are objective and measurable.</a:t>
            </a:r>
          </a:p>
          <a:p>
            <a:pPr>
              <a:buFont typeface="Arial" charset="0"/>
              <a:buChar char="•"/>
            </a:pPr>
            <a:r>
              <a:rPr lang="en-AU" sz="3600" dirty="0" smtClean="0"/>
              <a:t>Typically take the form of numbers, data or an index score</a:t>
            </a:r>
          </a:p>
          <a:p>
            <a:pPr>
              <a:buFont typeface="Arial" charset="0"/>
              <a:buChar char="•"/>
            </a:pPr>
            <a:r>
              <a:rPr lang="en-AU" sz="3600" dirty="0" smtClean="0"/>
              <a:t>Examples include – Gross National Product (GNP), Gross Domestic Product (GDP)</a:t>
            </a:r>
          </a:p>
          <a:p>
            <a:pPr>
              <a:buFont typeface="Arial" charset="0"/>
              <a:buChar char="•"/>
            </a:pPr>
            <a:r>
              <a:rPr lang="en-AU" altLang="en-US" sz="3600" b="1" dirty="0"/>
              <a:t>Quantit</a:t>
            </a:r>
            <a:r>
              <a:rPr lang="en-AU" altLang="en-US" sz="3600" dirty="0"/>
              <a:t>ative → </a:t>
            </a:r>
            <a:r>
              <a:rPr lang="en-AU" altLang="en-US" sz="3600" b="1" dirty="0"/>
              <a:t>Quantit</a:t>
            </a:r>
            <a:r>
              <a:rPr lang="en-AU" altLang="en-US" sz="3600" dirty="0"/>
              <a:t>y  </a:t>
            </a:r>
          </a:p>
          <a:p>
            <a:pPr marL="0" indent="0">
              <a:buNone/>
            </a:pPr>
            <a:endParaRPr lang="en-AU" sz="3600" dirty="0"/>
          </a:p>
        </p:txBody>
      </p:sp>
    </p:spTree>
    <p:extLst>
      <p:ext uri="{BB962C8B-B14F-4D97-AF65-F5344CB8AC3E}">
        <p14:creationId xmlns:p14="http://schemas.microsoft.com/office/powerpoint/2010/main" val="26674557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4208" y="690729"/>
            <a:ext cx="10178322" cy="1492132"/>
          </a:xfrm>
        </p:spPr>
        <p:txBody>
          <a:bodyPr/>
          <a:lstStyle/>
          <a:p>
            <a:r>
              <a:rPr lang="en-AU" dirty="0" smtClean="0">
                <a:solidFill>
                  <a:schemeClr val="tx2">
                    <a:lumMod val="75000"/>
                    <a:lumOff val="25000"/>
                  </a:schemeClr>
                </a:solidFill>
              </a:rPr>
              <a:t>Spatial patterns and indicators</a:t>
            </a:r>
            <a:endParaRPr lang="en-AU" dirty="0">
              <a:solidFill>
                <a:schemeClr val="tx2">
                  <a:lumMod val="75000"/>
                  <a:lumOff val="25000"/>
                </a:schemeClr>
              </a:solidFill>
            </a:endParaRPr>
          </a:p>
        </p:txBody>
      </p:sp>
      <p:sp>
        <p:nvSpPr>
          <p:cNvPr id="3" name="Content Placeholder 2"/>
          <p:cNvSpPr>
            <a:spLocks noGrp="1"/>
          </p:cNvSpPr>
          <p:nvPr>
            <p:ph idx="1"/>
          </p:nvPr>
        </p:nvSpPr>
        <p:spPr/>
        <p:txBody>
          <a:bodyPr>
            <a:noAutofit/>
          </a:bodyPr>
          <a:lstStyle/>
          <a:p>
            <a:r>
              <a:rPr lang="en-AU" sz="3600" dirty="0" smtClean="0"/>
              <a:t>Spatial patterns emerge when qualitative and quantitative indicators of human wellbeing are m______________.</a:t>
            </a:r>
          </a:p>
          <a:p>
            <a:r>
              <a:rPr lang="en-AU" sz="3600" dirty="0" smtClean="0"/>
              <a:t>Spatial patterns, reasons for patterns and ways in which patterns change over time can be studied by a geographer.</a:t>
            </a:r>
            <a:endParaRPr lang="en-AU" sz="3600" dirty="0"/>
          </a:p>
        </p:txBody>
      </p:sp>
    </p:spTree>
    <p:extLst>
      <p:ext uri="{BB962C8B-B14F-4D97-AF65-F5344CB8AC3E}">
        <p14:creationId xmlns:p14="http://schemas.microsoft.com/office/powerpoint/2010/main" val="68815092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4208" y="690729"/>
            <a:ext cx="10178322" cy="1492132"/>
          </a:xfrm>
        </p:spPr>
        <p:txBody>
          <a:bodyPr/>
          <a:lstStyle/>
          <a:p>
            <a:r>
              <a:rPr lang="en-AU" dirty="0" smtClean="0">
                <a:solidFill>
                  <a:schemeClr val="tx2">
                    <a:lumMod val="75000"/>
                    <a:lumOff val="25000"/>
                  </a:schemeClr>
                </a:solidFill>
              </a:rPr>
              <a:t>Spatial patterns and indicators</a:t>
            </a:r>
            <a:endParaRPr lang="en-AU" dirty="0">
              <a:solidFill>
                <a:schemeClr val="tx2">
                  <a:lumMod val="75000"/>
                  <a:lumOff val="25000"/>
                </a:schemeClr>
              </a:solidFill>
            </a:endParaRPr>
          </a:p>
        </p:txBody>
      </p:sp>
      <p:sp>
        <p:nvSpPr>
          <p:cNvPr id="3" name="Content Placeholder 2"/>
          <p:cNvSpPr>
            <a:spLocks noGrp="1"/>
          </p:cNvSpPr>
          <p:nvPr>
            <p:ph idx="1"/>
          </p:nvPr>
        </p:nvSpPr>
        <p:spPr/>
        <p:txBody>
          <a:bodyPr>
            <a:noAutofit/>
          </a:bodyPr>
          <a:lstStyle/>
          <a:p>
            <a:r>
              <a:rPr lang="en-AU" sz="3600" dirty="0" smtClean="0"/>
              <a:t>Spatial patterns emerge when qualitative and quantitative indicators of human wellbeing are </a:t>
            </a:r>
            <a:r>
              <a:rPr lang="en-AU" sz="3600" dirty="0" smtClean="0">
                <a:solidFill>
                  <a:srgbClr val="FF0000"/>
                </a:solidFill>
              </a:rPr>
              <a:t>mapped</a:t>
            </a:r>
            <a:r>
              <a:rPr lang="en-AU" sz="3600" dirty="0" smtClean="0"/>
              <a:t>.</a:t>
            </a:r>
            <a:endParaRPr lang="en-AU" sz="3600" dirty="0" smtClean="0"/>
          </a:p>
          <a:p>
            <a:r>
              <a:rPr lang="en-AU" sz="3600" dirty="0" smtClean="0"/>
              <a:t>Spatial patterns, reasons for patterns and ways in which patterns change over time can be studied by a geographer.</a:t>
            </a:r>
            <a:endParaRPr lang="en-AU" sz="3600" dirty="0"/>
          </a:p>
        </p:txBody>
      </p:sp>
    </p:spTree>
    <p:extLst>
      <p:ext uri="{BB962C8B-B14F-4D97-AF65-F5344CB8AC3E}">
        <p14:creationId xmlns:p14="http://schemas.microsoft.com/office/powerpoint/2010/main" val="398106408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dirty="0" smtClean="0">
                <a:solidFill>
                  <a:schemeClr val="tx2">
                    <a:lumMod val="75000"/>
                    <a:lumOff val="25000"/>
                  </a:schemeClr>
                </a:solidFill>
              </a:rPr>
              <a:t>Economic &amp; social development–</a:t>
            </a:r>
            <a:br>
              <a:rPr lang="en-AU" dirty="0" smtClean="0">
                <a:solidFill>
                  <a:schemeClr val="tx2">
                    <a:lumMod val="75000"/>
                    <a:lumOff val="25000"/>
                  </a:schemeClr>
                </a:solidFill>
              </a:rPr>
            </a:br>
            <a:r>
              <a:rPr lang="en-AU" dirty="0" smtClean="0">
                <a:solidFill>
                  <a:schemeClr val="accent1">
                    <a:lumMod val="50000"/>
                  </a:schemeClr>
                </a:solidFill>
              </a:rPr>
              <a:t> types of indicators</a:t>
            </a:r>
            <a:endParaRPr lang="en-AU" dirty="0">
              <a:solidFill>
                <a:schemeClr val="accent1">
                  <a:lumMod val="50000"/>
                </a:schemeClr>
              </a:solidFill>
            </a:endParaRPr>
          </a:p>
        </p:txBody>
      </p:sp>
      <p:sp>
        <p:nvSpPr>
          <p:cNvPr id="3" name="Content Placeholder 2"/>
          <p:cNvSpPr>
            <a:spLocks noGrp="1"/>
          </p:cNvSpPr>
          <p:nvPr>
            <p:ph idx="1"/>
          </p:nvPr>
        </p:nvSpPr>
        <p:spPr/>
        <p:txBody>
          <a:bodyPr>
            <a:noAutofit/>
          </a:bodyPr>
          <a:lstStyle/>
          <a:p>
            <a:r>
              <a:rPr lang="en-AU" sz="4000" b="1" dirty="0" smtClean="0">
                <a:solidFill>
                  <a:schemeClr val="accent1">
                    <a:lumMod val="50000"/>
                  </a:schemeClr>
                </a:solidFill>
              </a:rPr>
              <a:t>Economic indicators: </a:t>
            </a:r>
            <a:endParaRPr lang="en-AU" sz="4000" b="1" dirty="0">
              <a:solidFill>
                <a:schemeClr val="accent1">
                  <a:lumMod val="50000"/>
                </a:schemeClr>
              </a:solidFill>
            </a:endParaRPr>
          </a:p>
          <a:p>
            <a:pPr marL="0" indent="0">
              <a:buNone/>
            </a:pPr>
            <a:r>
              <a:rPr lang="en-AU" sz="4000" dirty="0" smtClean="0"/>
              <a:t>An economic indicator of development is a measure of a country’s e____________ and w_________.</a:t>
            </a:r>
          </a:p>
          <a:p>
            <a:pPr marL="0" indent="0">
              <a:buNone/>
            </a:pPr>
            <a:r>
              <a:rPr lang="en-AU" sz="4000" dirty="0" smtClean="0">
                <a:solidFill>
                  <a:srgbClr val="FF0000"/>
                </a:solidFill>
              </a:rPr>
              <a:t>Example: </a:t>
            </a:r>
            <a:r>
              <a:rPr lang="en-AU" sz="4000" dirty="0" smtClean="0">
                <a:solidFill>
                  <a:schemeClr val="tx1"/>
                </a:solidFill>
              </a:rPr>
              <a:t>Gross National Product (GNP)</a:t>
            </a:r>
            <a:endParaRPr lang="en-AU" sz="4000" dirty="0">
              <a:solidFill>
                <a:srgbClr val="FF0000"/>
              </a:solidFill>
            </a:endParaRPr>
          </a:p>
        </p:txBody>
      </p:sp>
    </p:spTree>
    <p:extLst>
      <p:ext uri="{BB962C8B-B14F-4D97-AF65-F5344CB8AC3E}">
        <p14:creationId xmlns:p14="http://schemas.microsoft.com/office/powerpoint/2010/main" val="124756899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dirty="0" smtClean="0">
                <a:solidFill>
                  <a:schemeClr val="tx2">
                    <a:lumMod val="75000"/>
                    <a:lumOff val="25000"/>
                  </a:schemeClr>
                </a:solidFill>
              </a:rPr>
              <a:t>Economic &amp; social development–</a:t>
            </a:r>
            <a:br>
              <a:rPr lang="en-AU" dirty="0" smtClean="0">
                <a:solidFill>
                  <a:schemeClr val="tx2">
                    <a:lumMod val="75000"/>
                    <a:lumOff val="25000"/>
                  </a:schemeClr>
                </a:solidFill>
              </a:rPr>
            </a:br>
            <a:r>
              <a:rPr lang="en-AU" dirty="0" smtClean="0">
                <a:solidFill>
                  <a:schemeClr val="accent1">
                    <a:lumMod val="50000"/>
                  </a:schemeClr>
                </a:solidFill>
              </a:rPr>
              <a:t> types of indicators</a:t>
            </a:r>
            <a:endParaRPr lang="en-AU" dirty="0">
              <a:solidFill>
                <a:schemeClr val="accent1">
                  <a:lumMod val="50000"/>
                </a:schemeClr>
              </a:solidFill>
            </a:endParaRPr>
          </a:p>
        </p:txBody>
      </p:sp>
      <p:sp>
        <p:nvSpPr>
          <p:cNvPr id="3" name="Content Placeholder 2"/>
          <p:cNvSpPr>
            <a:spLocks noGrp="1"/>
          </p:cNvSpPr>
          <p:nvPr>
            <p:ph idx="1"/>
          </p:nvPr>
        </p:nvSpPr>
        <p:spPr/>
        <p:txBody>
          <a:bodyPr>
            <a:noAutofit/>
          </a:bodyPr>
          <a:lstStyle/>
          <a:p>
            <a:r>
              <a:rPr lang="en-AU" sz="4000" b="1" dirty="0" smtClean="0">
                <a:solidFill>
                  <a:schemeClr val="accent1">
                    <a:lumMod val="50000"/>
                  </a:schemeClr>
                </a:solidFill>
              </a:rPr>
              <a:t>Economic indicators: </a:t>
            </a:r>
            <a:endParaRPr lang="en-AU" sz="4000" b="1" dirty="0">
              <a:solidFill>
                <a:schemeClr val="accent1">
                  <a:lumMod val="50000"/>
                </a:schemeClr>
              </a:solidFill>
            </a:endParaRPr>
          </a:p>
          <a:p>
            <a:pPr marL="0" indent="0">
              <a:buNone/>
            </a:pPr>
            <a:r>
              <a:rPr lang="en-AU" sz="4000" dirty="0" smtClean="0"/>
              <a:t>An economic indicator of development is a measure of a country’s </a:t>
            </a:r>
            <a:r>
              <a:rPr lang="en-AU" sz="4000" dirty="0" smtClean="0">
                <a:solidFill>
                  <a:srgbClr val="FF0000"/>
                </a:solidFill>
              </a:rPr>
              <a:t>economy </a:t>
            </a:r>
            <a:r>
              <a:rPr lang="en-AU" sz="4000" dirty="0" smtClean="0"/>
              <a:t>and </a:t>
            </a:r>
            <a:r>
              <a:rPr lang="en-AU" sz="4000" dirty="0" smtClean="0">
                <a:solidFill>
                  <a:srgbClr val="FF0000"/>
                </a:solidFill>
              </a:rPr>
              <a:t>wealth</a:t>
            </a:r>
            <a:r>
              <a:rPr lang="en-AU" sz="4000" dirty="0" smtClean="0"/>
              <a:t>.</a:t>
            </a:r>
            <a:endParaRPr lang="en-AU" sz="4000" dirty="0" smtClean="0"/>
          </a:p>
          <a:p>
            <a:pPr marL="0" indent="0">
              <a:buNone/>
            </a:pPr>
            <a:r>
              <a:rPr lang="en-AU" sz="4000" dirty="0" smtClean="0">
                <a:solidFill>
                  <a:srgbClr val="FF0000"/>
                </a:solidFill>
              </a:rPr>
              <a:t>Example: </a:t>
            </a:r>
            <a:r>
              <a:rPr lang="en-AU" sz="4000" dirty="0" smtClean="0">
                <a:solidFill>
                  <a:schemeClr val="tx1"/>
                </a:solidFill>
              </a:rPr>
              <a:t>Gross National Product (GNP)</a:t>
            </a:r>
            <a:endParaRPr lang="en-AU" sz="4000" dirty="0">
              <a:solidFill>
                <a:srgbClr val="FF0000"/>
              </a:solidFill>
            </a:endParaRPr>
          </a:p>
        </p:txBody>
      </p:sp>
    </p:spTree>
    <p:extLst>
      <p:ext uri="{BB962C8B-B14F-4D97-AF65-F5344CB8AC3E}">
        <p14:creationId xmlns:p14="http://schemas.microsoft.com/office/powerpoint/2010/main" val="82647030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dirty="0" smtClean="0">
                <a:solidFill>
                  <a:schemeClr val="tx2">
                    <a:lumMod val="75000"/>
                    <a:lumOff val="25000"/>
                  </a:schemeClr>
                </a:solidFill>
              </a:rPr>
              <a:t>Economic &amp; social development–</a:t>
            </a:r>
            <a:br>
              <a:rPr lang="en-AU" dirty="0" smtClean="0">
                <a:solidFill>
                  <a:schemeClr val="tx2">
                    <a:lumMod val="75000"/>
                    <a:lumOff val="25000"/>
                  </a:schemeClr>
                </a:solidFill>
              </a:rPr>
            </a:br>
            <a:r>
              <a:rPr lang="en-AU" dirty="0" smtClean="0">
                <a:solidFill>
                  <a:schemeClr val="accent1">
                    <a:lumMod val="50000"/>
                  </a:schemeClr>
                </a:solidFill>
              </a:rPr>
              <a:t> types of indicators</a:t>
            </a:r>
            <a:endParaRPr lang="en-AU" dirty="0">
              <a:solidFill>
                <a:schemeClr val="accent1">
                  <a:lumMod val="50000"/>
                </a:schemeClr>
              </a:solidFill>
            </a:endParaRPr>
          </a:p>
        </p:txBody>
      </p:sp>
      <p:sp>
        <p:nvSpPr>
          <p:cNvPr id="3" name="Content Placeholder 2"/>
          <p:cNvSpPr>
            <a:spLocks noGrp="1"/>
          </p:cNvSpPr>
          <p:nvPr>
            <p:ph idx="1"/>
          </p:nvPr>
        </p:nvSpPr>
        <p:spPr>
          <a:xfrm>
            <a:off x="1251678" y="2286001"/>
            <a:ext cx="10178322" cy="4359348"/>
          </a:xfrm>
        </p:spPr>
        <p:txBody>
          <a:bodyPr>
            <a:noAutofit/>
          </a:bodyPr>
          <a:lstStyle/>
          <a:p>
            <a:r>
              <a:rPr lang="en-AU" sz="4000" b="1" dirty="0" smtClean="0">
                <a:solidFill>
                  <a:schemeClr val="accent1">
                    <a:lumMod val="50000"/>
                  </a:schemeClr>
                </a:solidFill>
              </a:rPr>
              <a:t>Human or Social Indicators: </a:t>
            </a:r>
            <a:endParaRPr lang="en-AU" sz="4000" b="1" dirty="0">
              <a:solidFill>
                <a:schemeClr val="accent1">
                  <a:lumMod val="50000"/>
                </a:schemeClr>
              </a:solidFill>
            </a:endParaRPr>
          </a:p>
          <a:p>
            <a:pPr marL="0" indent="0">
              <a:buNone/>
            </a:pPr>
            <a:r>
              <a:rPr lang="en-AU" sz="4000" dirty="0" smtClean="0"/>
              <a:t>A human or social indicator of development is a measure of development based on health, welfare and education of the people in a country.</a:t>
            </a:r>
          </a:p>
          <a:p>
            <a:pPr marL="0" indent="0">
              <a:buNone/>
            </a:pPr>
            <a:r>
              <a:rPr lang="en-AU" sz="4000" dirty="0" smtClean="0">
                <a:solidFill>
                  <a:srgbClr val="FF0000"/>
                </a:solidFill>
              </a:rPr>
              <a:t>Example: </a:t>
            </a:r>
            <a:r>
              <a:rPr lang="en-AU" sz="4000" dirty="0" smtClean="0">
                <a:solidFill>
                  <a:schemeClr val="tx1"/>
                </a:solidFill>
              </a:rPr>
              <a:t>Infant mortality, literacy rate</a:t>
            </a:r>
            <a:endParaRPr lang="en-AU" sz="4000" dirty="0">
              <a:solidFill>
                <a:srgbClr val="FF0000"/>
              </a:solidFill>
            </a:endParaRPr>
          </a:p>
        </p:txBody>
      </p:sp>
    </p:spTree>
    <p:extLst>
      <p:ext uri="{BB962C8B-B14F-4D97-AF65-F5344CB8AC3E}">
        <p14:creationId xmlns:p14="http://schemas.microsoft.com/office/powerpoint/2010/main" val="106616367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138071"/>
          </a:xfrm>
        </p:spPr>
        <p:txBody>
          <a:bodyPr>
            <a:normAutofit fontScale="90000"/>
          </a:bodyPr>
          <a:lstStyle/>
          <a:p>
            <a:pPr algn="ctr"/>
            <a:r>
              <a:rPr lang="en-AU" dirty="0" smtClean="0"/>
              <a:t>COMPARING DATA  - </a:t>
            </a:r>
            <a:br>
              <a:rPr lang="en-AU" dirty="0" smtClean="0"/>
            </a:br>
            <a:r>
              <a:rPr lang="en-AU" dirty="0" smtClean="0"/>
              <a:t>PNG V AUSTRALIA</a:t>
            </a:r>
            <a:endParaRPr lang="en-AU" dirty="0"/>
          </a:p>
        </p:txBody>
      </p:sp>
      <p:graphicFrame>
        <p:nvGraphicFramePr>
          <p:cNvPr id="3" name="Table 2"/>
          <p:cNvGraphicFramePr>
            <a:graphicFrameLocks noGrp="1"/>
          </p:cNvGraphicFramePr>
          <p:nvPr>
            <p:extLst>
              <p:ext uri="{D42A27DB-BD31-4B8C-83A1-F6EECF244321}">
                <p14:modId xmlns:p14="http://schemas.microsoft.com/office/powerpoint/2010/main" val="91179128"/>
              </p:ext>
            </p:extLst>
          </p:nvPr>
        </p:nvGraphicFramePr>
        <p:xfrm>
          <a:off x="1620468" y="2053937"/>
          <a:ext cx="9442485" cy="4646020"/>
        </p:xfrm>
        <a:graphic>
          <a:graphicData uri="http://schemas.openxmlformats.org/drawingml/2006/table">
            <a:tbl>
              <a:tblPr firstRow="1" bandRow="1">
                <a:tableStyleId>{ED083AE6-46FA-4A59-8FB0-9F97EB10719F}</a:tableStyleId>
              </a:tblPr>
              <a:tblGrid>
                <a:gridCol w="3147495"/>
                <a:gridCol w="3783091"/>
                <a:gridCol w="2511899"/>
              </a:tblGrid>
              <a:tr h="622143">
                <a:tc>
                  <a:txBody>
                    <a:bodyPr/>
                    <a:lstStyle/>
                    <a:p>
                      <a:pPr algn="ctr"/>
                      <a:r>
                        <a:rPr lang="en-AU" sz="2800" i="0" dirty="0" smtClean="0"/>
                        <a:t>CATEGORY</a:t>
                      </a:r>
                      <a:endParaRPr lang="en-AU" sz="2800" i="0" dirty="0"/>
                    </a:p>
                  </a:txBody>
                  <a:tcPr/>
                </a:tc>
                <a:tc>
                  <a:txBody>
                    <a:bodyPr/>
                    <a:lstStyle/>
                    <a:p>
                      <a:pPr algn="ctr"/>
                      <a:r>
                        <a:rPr lang="en-AU" sz="2400" dirty="0" smtClean="0"/>
                        <a:t>Papua New Guinea (PNG)</a:t>
                      </a:r>
                      <a:endParaRPr lang="en-AU" sz="2400" dirty="0"/>
                    </a:p>
                  </a:txBody>
                  <a:tcPr/>
                </a:tc>
                <a:tc>
                  <a:txBody>
                    <a:bodyPr/>
                    <a:lstStyle/>
                    <a:p>
                      <a:pPr algn="ctr"/>
                      <a:r>
                        <a:rPr lang="en-AU" sz="2400" dirty="0" smtClean="0"/>
                        <a:t>Australia</a:t>
                      </a:r>
                      <a:endParaRPr lang="en-AU" sz="2400" dirty="0"/>
                    </a:p>
                  </a:txBody>
                  <a:tcPr/>
                </a:tc>
              </a:tr>
              <a:tr h="445259">
                <a:tc>
                  <a:txBody>
                    <a:bodyPr/>
                    <a:lstStyle/>
                    <a:p>
                      <a:r>
                        <a:rPr lang="en-AU" b="1" dirty="0" smtClean="0"/>
                        <a:t>Population</a:t>
                      </a:r>
                      <a:endParaRPr lang="en-AU" b="1" dirty="0"/>
                    </a:p>
                  </a:txBody>
                  <a:tcPr/>
                </a:tc>
                <a:tc>
                  <a:txBody>
                    <a:bodyPr/>
                    <a:lstStyle/>
                    <a:p>
                      <a:pPr algn="ctr"/>
                      <a:r>
                        <a:rPr lang="en-AU" sz="2400" dirty="0" smtClean="0"/>
                        <a:t>7.2</a:t>
                      </a:r>
                      <a:r>
                        <a:rPr lang="en-AU" sz="2400" baseline="0" dirty="0" smtClean="0"/>
                        <a:t> million</a:t>
                      </a:r>
                      <a:endParaRPr lang="en-AU" sz="2400" dirty="0"/>
                    </a:p>
                  </a:txBody>
                  <a:tcPr/>
                </a:tc>
                <a:tc>
                  <a:txBody>
                    <a:bodyPr/>
                    <a:lstStyle/>
                    <a:p>
                      <a:pPr algn="ctr"/>
                      <a:r>
                        <a:rPr lang="en-AU" sz="2400" dirty="0" smtClean="0"/>
                        <a:t>23 million</a:t>
                      </a:r>
                      <a:endParaRPr lang="en-AU" sz="2400" dirty="0"/>
                    </a:p>
                  </a:txBody>
                  <a:tcPr/>
                </a:tc>
              </a:tr>
              <a:tr h="445259">
                <a:tc>
                  <a:txBody>
                    <a:bodyPr/>
                    <a:lstStyle/>
                    <a:p>
                      <a:r>
                        <a:rPr lang="en-AU" b="1" dirty="0" smtClean="0"/>
                        <a:t>Urban Population</a:t>
                      </a:r>
                      <a:endParaRPr lang="en-AU" b="1" dirty="0"/>
                    </a:p>
                  </a:txBody>
                  <a:tcPr/>
                </a:tc>
                <a:tc>
                  <a:txBody>
                    <a:bodyPr/>
                    <a:lstStyle/>
                    <a:p>
                      <a:pPr algn="ctr"/>
                      <a:r>
                        <a:rPr lang="en-AU" sz="2400" dirty="0" smtClean="0"/>
                        <a:t>13%</a:t>
                      </a:r>
                      <a:endParaRPr lang="en-AU" sz="2400" dirty="0"/>
                    </a:p>
                  </a:txBody>
                  <a:tcPr/>
                </a:tc>
                <a:tc>
                  <a:txBody>
                    <a:bodyPr/>
                    <a:lstStyle/>
                    <a:p>
                      <a:pPr algn="ctr"/>
                      <a:r>
                        <a:rPr lang="en-AU" sz="2400" dirty="0" smtClean="0"/>
                        <a:t>89%</a:t>
                      </a:r>
                      <a:endParaRPr lang="en-AU" sz="2400" dirty="0"/>
                    </a:p>
                  </a:txBody>
                  <a:tcPr/>
                </a:tc>
              </a:tr>
              <a:tr h="445259">
                <a:tc>
                  <a:txBody>
                    <a:bodyPr/>
                    <a:lstStyle/>
                    <a:p>
                      <a:r>
                        <a:rPr lang="en-AU" b="1" dirty="0" smtClean="0"/>
                        <a:t>HDI</a:t>
                      </a:r>
                      <a:r>
                        <a:rPr lang="en-AU" b="1" baseline="0" dirty="0" smtClean="0"/>
                        <a:t> (2015)</a:t>
                      </a:r>
                      <a:endParaRPr lang="en-AU" b="1" dirty="0"/>
                    </a:p>
                  </a:txBody>
                  <a:tcPr/>
                </a:tc>
                <a:tc>
                  <a:txBody>
                    <a:bodyPr/>
                    <a:lstStyle/>
                    <a:p>
                      <a:pPr algn="ctr"/>
                      <a:r>
                        <a:rPr lang="en-AU" sz="2400" dirty="0" smtClean="0"/>
                        <a:t>154/188</a:t>
                      </a:r>
                      <a:endParaRPr lang="en-AU" sz="2400" dirty="0"/>
                    </a:p>
                  </a:txBody>
                  <a:tcPr/>
                </a:tc>
                <a:tc>
                  <a:txBody>
                    <a:bodyPr/>
                    <a:lstStyle/>
                    <a:p>
                      <a:pPr algn="ctr"/>
                      <a:r>
                        <a:rPr lang="en-AU" sz="2400" dirty="0" smtClean="0"/>
                        <a:t>2/188</a:t>
                      </a:r>
                      <a:endParaRPr lang="en-AU" sz="2400" dirty="0"/>
                    </a:p>
                  </a:txBody>
                  <a:tcPr/>
                </a:tc>
              </a:tr>
              <a:tr h="445259">
                <a:tc>
                  <a:txBody>
                    <a:bodyPr/>
                    <a:lstStyle/>
                    <a:p>
                      <a:r>
                        <a:rPr lang="en-AU" b="1" dirty="0" smtClean="0"/>
                        <a:t>Life Expectancy at birth</a:t>
                      </a:r>
                      <a:endParaRPr lang="en-AU" b="1" dirty="0"/>
                    </a:p>
                  </a:txBody>
                  <a:tcPr/>
                </a:tc>
                <a:tc>
                  <a:txBody>
                    <a:bodyPr/>
                    <a:lstStyle/>
                    <a:p>
                      <a:pPr algn="ctr"/>
                      <a:r>
                        <a:rPr lang="en-AU" sz="2400" dirty="0" smtClean="0"/>
                        <a:t>62.8 years</a:t>
                      </a:r>
                      <a:endParaRPr lang="en-AU" sz="2400" dirty="0"/>
                    </a:p>
                  </a:txBody>
                  <a:tcPr/>
                </a:tc>
                <a:tc>
                  <a:txBody>
                    <a:bodyPr/>
                    <a:lstStyle/>
                    <a:p>
                      <a:pPr algn="ctr"/>
                      <a:r>
                        <a:rPr lang="en-AU" sz="2400" dirty="0" smtClean="0"/>
                        <a:t>82.5 years</a:t>
                      </a:r>
                      <a:endParaRPr lang="en-AU" sz="2400" dirty="0"/>
                    </a:p>
                  </a:txBody>
                  <a:tcPr/>
                </a:tc>
              </a:tr>
              <a:tr h="445259">
                <a:tc>
                  <a:txBody>
                    <a:bodyPr/>
                    <a:lstStyle/>
                    <a:p>
                      <a:r>
                        <a:rPr lang="en-AU" b="1" dirty="0" smtClean="0"/>
                        <a:t>Mean years of schooling</a:t>
                      </a:r>
                      <a:endParaRPr lang="en-AU" b="1" dirty="0"/>
                    </a:p>
                  </a:txBody>
                  <a:tcPr/>
                </a:tc>
                <a:tc>
                  <a:txBody>
                    <a:bodyPr/>
                    <a:lstStyle/>
                    <a:p>
                      <a:pPr algn="ctr"/>
                      <a:r>
                        <a:rPr lang="en-AU" sz="2400" dirty="0" smtClean="0"/>
                        <a:t>4.3 years</a:t>
                      </a:r>
                      <a:endParaRPr lang="en-AU" sz="2400" dirty="0"/>
                    </a:p>
                  </a:txBody>
                  <a:tcPr/>
                </a:tc>
                <a:tc>
                  <a:txBody>
                    <a:bodyPr/>
                    <a:lstStyle/>
                    <a:p>
                      <a:pPr algn="ctr"/>
                      <a:r>
                        <a:rPr lang="en-AU" sz="2400" dirty="0" smtClean="0"/>
                        <a:t>13.2 years </a:t>
                      </a:r>
                      <a:endParaRPr lang="en-AU" sz="2400" dirty="0"/>
                    </a:p>
                  </a:txBody>
                  <a:tcPr/>
                </a:tc>
              </a:tr>
              <a:tr h="768530">
                <a:tc>
                  <a:txBody>
                    <a:bodyPr/>
                    <a:lstStyle/>
                    <a:p>
                      <a:r>
                        <a:rPr lang="en-AU" b="1" dirty="0" smtClean="0"/>
                        <a:t>Gross National</a:t>
                      </a:r>
                      <a:r>
                        <a:rPr lang="en-AU" b="1" baseline="0" dirty="0" smtClean="0"/>
                        <a:t> Income per capita</a:t>
                      </a:r>
                      <a:endParaRPr lang="en-AU" b="1" dirty="0"/>
                    </a:p>
                  </a:txBody>
                  <a:tcPr/>
                </a:tc>
                <a:tc>
                  <a:txBody>
                    <a:bodyPr/>
                    <a:lstStyle/>
                    <a:p>
                      <a:pPr algn="ctr"/>
                      <a:r>
                        <a:rPr lang="en-AU" sz="2400" dirty="0" smtClean="0"/>
                        <a:t>$2,712</a:t>
                      </a:r>
                      <a:endParaRPr lang="en-AU" sz="2400" dirty="0"/>
                    </a:p>
                  </a:txBody>
                  <a:tcPr/>
                </a:tc>
                <a:tc>
                  <a:txBody>
                    <a:bodyPr/>
                    <a:lstStyle/>
                    <a:p>
                      <a:pPr algn="ctr"/>
                      <a:r>
                        <a:rPr lang="en-AU" sz="2400" dirty="0" smtClean="0"/>
                        <a:t>$42,822</a:t>
                      </a:r>
                      <a:endParaRPr lang="en-AU" sz="2400" dirty="0"/>
                    </a:p>
                  </a:txBody>
                  <a:tcPr/>
                </a:tc>
              </a:tr>
              <a:tr h="768530">
                <a:tc>
                  <a:txBody>
                    <a:bodyPr/>
                    <a:lstStyle/>
                    <a:p>
                      <a:r>
                        <a:rPr lang="en-AU" b="1" dirty="0" smtClean="0"/>
                        <a:t>Under-five</a:t>
                      </a:r>
                      <a:r>
                        <a:rPr lang="en-AU" b="1" baseline="0" dirty="0" smtClean="0"/>
                        <a:t> mortality rate (per 1000 live births)</a:t>
                      </a:r>
                      <a:endParaRPr lang="en-AU" b="1" dirty="0"/>
                    </a:p>
                  </a:txBody>
                  <a:tcPr/>
                </a:tc>
                <a:tc>
                  <a:txBody>
                    <a:bodyPr/>
                    <a:lstStyle/>
                    <a:p>
                      <a:pPr algn="ctr"/>
                      <a:r>
                        <a:rPr lang="en-AU" sz="2400" dirty="0" smtClean="0"/>
                        <a:t>68</a:t>
                      </a:r>
                      <a:endParaRPr lang="en-AU" sz="2400" dirty="0"/>
                    </a:p>
                  </a:txBody>
                  <a:tcPr/>
                </a:tc>
                <a:tc>
                  <a:txBody>
                    <a:bodyPr/>
                    <a:lstStyle/>
                    <a:p>
                      <a:pPr algn="ctr"/>
                      <a:r>
                        <a:rPr lang="en-AU" sz="2400" dirty="0" smtClean="0"/>
                        <a:t>5</a:t>
                      </a:r>
                      <a:endParaRPr lang="en-AU" sz="2400" dirty="0"/>
                    </a:p>
                  </a:txBody>
                  <a:tcPr/>
                </a:tc>
              </a:tr>
            </a:tbl>
          </a:graphicData>
        </a:graphic>
      </p:graphicFrame>
      <p:pic>
        <p:nvPicPr>
          <p:cNvPr id="5" name="Picture 4" descr="C:\Users\e2041615\AppData\Local\Microsoft\Windows\Temporary Internet Files\Content.IE5\IU11W1OL\flag-28603_64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56869" y="484854"/>
            <a:ext cx="1679848" cy="126251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3" descr="C:\Users\e2041615\AppData\Local\Microsoft\Windows\Temporary Internet Files\Content.IE5\RFOIFR0U\Australia-Flag-Map[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56478" y="178281"/>
            <a:ext cx="2164052" cy="17853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049063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138071"/>
          </a:xfrm>
        </p:spPr>
        <p:txBody>
          <a:bodyPr>
            <a:normAutofit/>
          </a:bodyPr>
          <a:lstStyle/>
          <a:p>
            <a:pPr algn="ctr"/>
            <a:r>
              <a:rPr lang="en-AU" dirty="0" smtClean="0"/>
              <a:t>PAPUA NEW GUINEA</a:t>
            </a:r>
            <a:endParaRPr lang="en-AU" dirty="0"/>
          </a:p>
        </p:txBody>
      </p:sp>
      <p:pic>
        <p:nvPicPr>
          <p:cNvPr id="5" name="Picture 4" descr="C:\Users\e2041615\AppData\Local\Microsoft\Windows\Temporary Internet Files\Content.IE5\IU11W1OL\flag-28603_64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50152" y="320164"/>
            <a:ext cx="1679848" cy="126251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469748" y="1212487"/>
            <a:ext cx="10159875" cy="5447645"/>
          </a:xfrm>
          <a:prstGeom prst="rect">
            <a:avLst/>
          </a:prstGeom>
          <a:noFill/>
        </p:spPr>
        <p:txBody>
          <a:bodyPr wrap="square" rtlCol="0">
            <a:spAutoFit/>
          </a:bodyPr>
          <a:lstStyle/>
          <a:p>
            <a:r>
              <a:rPr lang="en-AU" dirty="0" smtClean="0"/>
              <a:t>Papua New Guinea – A few facts</a:t>
            </a:r>
          </a:p>
          <a:p>
            <a:endParaRPr lang="en-AU" sz="1500" dirty="0"/>
          </a:p>
          <a:p>
            <a:pPr marL="285750" indent="-285750">
              <a:buFont typeface="Arial" panose="020B0604020202020204" pitchFamily="34" charset="0"/>
              <a:buChar char="•"/>
            </a:pPr>
            <a:r>
              <a:rPr lang="en-AU" sz="1500" dirty="0" smtClean="0"/>
              <a:t>Approximately 30% of children never attend Primary school</a:t>
            </a:r>
          </a:p>
          <a:p>
            <a:pPr marL="285750" indent="-285750">
              <a:buFont typeface="Arial" panose="020B0604020202020204" pitchFamily="34" charset="0"/>
              <a:buChar char="•"/>
            </a:pPr>
            <a:endParaRPr lang="en-AU" sz="1500" dirty="0"/>
          </a:p>
          <a:p>
            <a:pPr marL="285750" indent="-285750">
              <a:buFont typeface="Arial" panose="020B0604020202020204" pitchFamily="34" charset="0"/>
              <a:buChar char="•"/>
            </a:pPr>
            <a:r>
              <a:rPr lang="en-AU" sz="1500" dirty="0" smtClean="0"/>
              <a:t>Historical links and geographical proximity to Australia.</a:t>
            </a:r>
          </a:p>
          <a:p>
            <a:pPr marL="285750" indent="-285750">
              <a:buFont typeface="Arial" panose="020B0604020202020204" pitchFamily="34" charset="0"/>
              <a:buChar char="•"/>
            </a:pPr>
            <a:endParaRPr lang="en-AU" sz="1500" dirty="0"/>
          </a:p>
          <a:p>
            <a:pPr marL="285750" indent="-285750">
              <a:buFont typeface="Arial" panose="020B0604020202020204" pitchFamily="34" charset="0"/>
              <a:buChar char="•"/>
            </a:pPr>
            <a:r>
              <a:rPr lang="en-AU" sz="1500" dirty="0" smtClean="0"/>
              <a:t>People in remote areas have poor access to clean drinking water and adequate sanitation.</a:t>
            </a:r>
          </a:p>
          <a:p>
            <a:pPr marL="285750" indent="-285750">
              <a:buFont typeface="Arial" panose="020B0604020202020204" pitchFamily="34" charset="0"/>
              <a:buChar char="•"/>
            </a:pPr>
            <a:endParaRPr lang="en-AU" sz="1500" dirty="0"/>
          </a:p>
          <a:p>
            <a:pPr marL="285750" indent="-285750">
              <a:buFont typeface="Arial" panose="020B0604020202020204" pitchFamily="34" charset="0"/>
              <a:buChar char="•"/>
            </a:pPr>
            <a:r>
              <a:rPr lang="en-AU" sz="1500" dirty="0" smtClean="0"/>
              <a:t>PNG has approximately one doctor for every 17, 068 people, compared to one doctor for approximately every 302 people in Australia (2013 data)</a:t>
            </a:r>
          </a:p>
          <a:p>
            <a:pPr marL="285750" indent="-285750">
              <a:buFont typeface="Arial" panose="020B0604020202020204" pitchFamily="34" charset="0"/>
              <a:buChar char="•"/>
            </a:pPr>
            <a:endParaRPr lang="en-AU" sz="1500" dirty="0"/>
          </a:p>
          <a:p>
            <a:pPr marL="285750" indent="-285750">
              <a:buFont typeface="Arial" panose="020B0604020202020204" pitchFamily="34" charset="0"/>
              <a:buChar char="•"/>
            </a:pPr>
            <a:r>
              <a:rPr lang="en-AU" sz="1500" dirty="0" smtClean="0"/>
              <a:t>People must travel (walk) long distances to reach a medical centre and get to school (education).</a:t>
            </a:r>
          </a:p>
          <a:p>
            <a:endParaRPr lang="en-AU" sz="1500" dirty="0"/>
          </a:p>
          <a:p>
            <a:pPr marL="285750" indent="-285750">
              <a:buFont typeface="Arial" panose="020B0604020202020204" pitchFamily="34" charset="0"/>
              <a:buChar char="•"/>
            </a:pPr>
            <a:r>
              <a:rPr lang="en-AU" sz="1500" smtClean="0"/>
              <a:t>Approximately 7.9</a:t>
            </a:r>
            <a:r>
              <a:rPr lang="en-AU" sz="1500" dirty="0" smtClean="0"/>
              <a:t>% of the population have the internet.</a:t>
            </a:r>
          </a:p>
          <a:p>
            <a:pPr marL="285750" indent="-285750">
              <a:buFont typeface="Arial" panose="020B0604020202020204" pitchFamily="34" charset="0"/>
              <a:buChar char="•"/>
            </a:pPr>
            <a:endParaRPr lang="en-AU" sz="1500" dirty="0"/>
          </a:p>
          <a:p>
            <a:pPr marL="285750" indent="-285750">
              <a:buFont typeface="Arial" panose="020B0604020202020204" pitchFamily="34" charset="0"/>
              <a:buChar char="•"/>
            </a:pPr>
            <a:r>
              <a:rPr lang="en-AU" sz="1500" dirty="0" smtClean="0"/>
              <a:t>Increasing efforts to improve teacher training.</a:t>
            </a:r>
          </a:p>
          <a:p>
            <a:pPr marL="285750" indent="-285750">
              <a:buFont typeface="Arial" panose="020B0604020202020204" pitchFamily="34" charset="0"/>
              <a:buChar char="•"/>
            </a:pPr>
            <a:endParaRPr lang="en-AU" sz="1500" dirty="0"/>
          </a:p>
          <a:p>
            <a:pPr marL="285750" indent="-285750">
              <a:buFont typeface="Arial" panose="020B0604020202020204" pitchFamily="34" charset="0"/>
              <a:buChar char="•"/>
            </a:pPr>
            <a:r>
              <a:rPr lang="en-AU" sz="1500" dirty="0" smtClean="0"/>
              <a:t>PNG did not achieve any of the eight MDG’s by 2015.</a:t>
            </a:r>
          </a:p>
          <a:p>
            <a:pPr marL="285750" indent="-285750">
              <a:buFont typeface="Arial" panose="020B0604020202020204" pitchFamily="34" charset="0"/>
              <a:buChar char="•"/>
            </a:pPr>
            <a:endParaRPr lang="en-AU" sz="1500" dirty="0"/>
          </a:p>
          <a:p>
            <a:pPr marL="285750" indent="-285750">
              <a:buFont typeface="Arial" panose="020B0604020202020204" pitchFamily="34" charset="0"/>
              <a:buChar char="•"/>
            </a:pPr>
            <a:r>
              <a:rPr lang="en-AU" sz="1500" dirty="0" smtClean="0"/>
              <a:t>PNG is the second-largest recipient of Australian aid</a:t>
            </a:r>
          </a:p>
          <a:p>
            <a:pPr marL="285750" indent="-285750">
              <a:buFont typeface="Arial" panose="020B0604020202020204" pitchFamily="34" charset="0"/>
              <a:buChar char="•"/>
            </a:pPr>
            <a:endParaRPr lang="en-AU" sz="1500" dirty="0"/>
          </a:p>
          <a:p>
            <a:pPr marL="285750" indent="-285750">
              <a:buFont typeface="Arial" panose="020B0604020202020204" pitchFamily="34" charset="0"/>
              <a:buChar char="•"/>
            </a:pPr>
            <a:r>
              <a:rPr lang="en-AU" sz="1500" dirty="0" smtClean="0"/>
              <a:t>PNG is ranked 150</a:t>
            </a:r>
            <a:r>
              <a:rPr lang="en-AU" sz="1500" baseline="30000" dirty="0" smtClean="0"/>
              <a:t>th</a:t>
            </a:r>
            <a:r>
              <a:rPr lang="en-AU" sz="1500" dirty="0" smtClean="0"/>
              <a:t> out of 176 countries on the International Corruption Index, which makes aid less effective. </a:t>
            </a:r>
            <a:endParaRPr lang="en-AU" sz="1500" dirty="0"/>
          </a:p>
        </p:txBody>
      </p:sp>
    </p:spTree>
    <p:extLst>
      <p:ext uri="{BB962C8B-B14F-4D97-AF65-F5344CB8AC3E}">
        <p14:creationId xmlns:p14="http://schemas.microsoft.com/office/powerpoint/2010/main" val="28605991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ChangeArrowheads="1"/>
          </p:cNvSpPr>
          <p:nvPr/>
        </p:nvSpPr>
        <p:spPr bwMode="auto">
          <a:xfrm>
            <a:off x="2209800" y="1447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itchFamily="34" charset="0"/>
                <a:ea typeface="ＭＳ Ｐゴシック" pitchFamily="34" charset="-128"/>
              </a:defRPr>
            </a:lvl1pPr>
            <a:lvl2pPr marL="37931725" indent="-37474525">
              <a:defRPr sz="2400">
                <a:solidFill>
                  <a:schemeClr val="tx1"/>
                </a:solidFill>
                <a:latin typeface="Arial" pitchFamily="34" charset="0"/>
                <a:ea typeface="ＭＳ Ｐゴシック" pitchFamily="34" charset="-128"/>
              </a:defRPr>
            </a:lvl2pPr>
            <a:lvl3pPr>
              <a:defRPr sz="2400">
                <a:solidFill>
                  <a:schemeClr val="tx1"/>
                </a:solidFill>
                <a:latin typeface="Arial" pitchFamily="34" charset="0"/>
                <a:ea typeface="ＭＳ Ｐゴシック" pitchFamily="34" charset="-128"/>
              </a:defRPr>
            </a:lvl3pPr>
            <a:lvl4pPr>
              <a:defRPr sz="2400">
                <a:solidFill>
                  <a:schemeClr val="tx1"/>
                </a:solidFill>
                <a:latin typeface="Arial" pitchFamily="34" charset="0"/>
                <a:ea typeface="ＭＳ Ｐゴシック" pitchFamily="34" charset="-128"/>
              </a:defRPr>
            </a:lvl4pPr>
            <a:lvl5pPr>
              <a:defRPr sz="2400">
                <a:solidFill>
                  <a:schemeClr val="tx1"/>
                </a:solidFill>
                <a:latin typeface="Arial" pitchFamily="34" charset="0"/>
                <a:ea typeface="ＭＳ Ｐゴシック" pitchFamily="34" charset="-128"/>
              </a:defRPr>
            </a:lvl5pPr>
            <a:lvl6pPr marL="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9144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1371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18288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a:defRPr/>
            </a:pPr>
            <a:r>
              <a:rPr lang="en-US" altLang="en-US" sz="4000" b="1" dirty="0">
                <a:solidFill>
                  <a:srgbClr val="FF3300"/>
                </a:solidFill>
                <a:effectLst>
                  <a:outerShdw blurRad="38100" dist="38100" dir="2700000" algn="tl">
                    <a:srgbClr val="000000"/>
                  </a:outerShdw>
                </a:effectLst>
              </a:rPr>
              <a:t>The Human Development Index (HDI)</a:t>
            </a:r>
            <a:endParaRPr lang="en-US" altLang="en-US" sz="4000" dirty="0">
              <a:solidFill>
                <a:srgbClr val="FF3300"/>
              </a:solidFill>
              <a:effectLst>
                <a:outerShdw blurRad="38100" dist="38100" dir="2700000" algn="tl">
                  <a:srgbClr val="000000"/>
                </a:outerShdw>
              </a:effectLst>
            </a:endParaRPr>
          </a:p>
        </p:txBody>
      </p:sp>
      <p:sp>
        <p:nvSpPr>
          <p:cNvPr id="9219" name="Rectangle 3"/>
          <p:cNvSpPr>
            <a:spLocks noChangeArrowheads="1"/>
          </p:cNvSpPr>
          <p:nvPr/>
        </p:nvSpPr>
        <p:spPr bwMode="auto">
          <a:xfrm>
            <a:off x="3048000" y="2819401"/>
            <a:ext cx="7615238" cy="109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SzPct val="12000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hlink"/>
              </a:buClr>
              <a:buSzPct val="12000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3000"/>
              <a:t>…is the best known index of social and economic well-being…</a:t>
            </a:r>
          </a:p>
        </p:txBody>
      </p:sp>
      <p:pic>
        <p:nvPicPr>
          <p:cNvPr id="922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77312" y="3740458"/>
            <a:ext cx="1614580" cy="2882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3"/>
          <p:cNvSpPr>
            <a:spLocks noChangeArrowheads="1"/>
          </p:cNvSpPr>
          <p:nvPr/>
        </p:nvSpPr>
        <p:spPr bwMode="auto">
          <a:xfrm>
            <a:off x="1874839" y="4419600"/>
            <a:ext cx="84740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SzPct val="12000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hlink"/>
              </a:buClr>
              <a:buSzPct val="12000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r>
              <a:rPr lang="en-US" altLang="en-US" sz="2400" dirty="0"/>
              <a:t>It is a composite index, meaning that it’s made up of more than one indicator.</a:t>
            </a:r>
          </a:p>
        </p:txBody>
      </p:sp>
      <p:sp>
        <p:nvSpPr>
          <p:cNvPr id="2" name="Rectangle 1"/>
          <p:cNvSpPr>
            <a:spLocks noChangeArrowheads="1"/>
          </p:cNvSpPr>
          <p:nvPr/>
        </p:nvSpPr>
        <p:spPr bwMode="auto">
          <a:xfrm>
            <a:off x="2362200" y="5738813"/>
            <a:ext cx="7620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hlink"/>
              </a:buClr>
              <a:buSzPct val="12000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r>
              <a:rPr lang="en-US" altLang="en-US" sz="2000" b="1"/>
              <a:t>UNDP stands for United Nations Development Program</a:t>
            </a:r>
          </a:p>
        </p:txBody>
      </p:sp>
    </p:spTree>
    <p:extLst>
      <p:ext uri="{BB962C8B-B14F-4D97-AF65-F5344CB8AC3E}">
        <p14:creationId xmlns:p14="http://schemas.microsoft.com/office/powerpoint/2010/main" val="17193890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8676"/>
                                        </p:tgtEl>
                                        <p:attrNameLst>
                                          <p:attrName>style.visibility</p:attrName>
                                        </p:attrNameLst>
                                      </p:cBhvr>
                                      <p:to>
                                        <p:strVal val="visible"/>
                                      </p:to>
                                    </p:set>
                                    <p:anim calcmode="lin" valueType="num">
                                      <p:cBhvr additive="base">
                                        <p:cTn id="7" dur="500" fill="hold"/>
                                        <p:tgtEl>
                                          <p:spTgt spid="28676"/>
                                        </p:tgtEl>
                                        <p:attrNameLst>
                                          <p:attrName>ppt_x</p:attrName>
                                        </p:attrNameLst>
                                      </p:cBhvr>
                                      <p:tavLst>
                                        <p:tav tm="0">
                                          <p:val>
                                            <p:strVal val="0-#ppt_w/2"/>
                                          </p:val>
                                        </p:tav>
                                        <p:tav tm="100000">
                                          <p:val>
                                            <p:strVal val="#ppt_x"/>
                                          </p:val>
                                        </p:tav>
                                      </p:tavLst>
                                    </p:anim>
                                    <p:anim calcmode="lin" valueType="num">
                                      <p:cBhvr additive="base">
                                        <p:cTn id="8" dur="500" fill="hold"/>
                                        <p:tgtEl>
                                          <p:spTgt spid="28676"/>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9221"/>
                                        </p:tgtEl>
                                        <p:attrNameLst>
                                          <p:attrName>style.visibility</p:attrName>
                                        </p:attrNameLst>
                                      </p:cBhvr>
                                      <p:to>
                                        <p:strVal val="visible"/>
                                      </p:to>
                                    </p:set>
                                    <p:anim calcmode="lin" valueType="num">
                                      <p:cBhvr additive="base">
                                        <p:cTn id="11" dur="500" fill="hold"/>
                                        <p:tgtEl>
                                          <p:spTgt spid="9221"/>
                                        </p:tgtEl>
                                        <p:attrNameLst>
                                          <p:attrName>ppt_x</p:attrName>
                                        </p:attrNameLst>
                                      </p:cBhvr>
                                      <p:tavLst>
                                        <p:tav tm="0">
                                          <p:val>
                                            <p:strVal val="0-#ppt_w/2"/>
                                          </p:val>
                                        </p:tav>
                                        <p:tav tm="100000">
                                          <p:val>
                                            <p:strVal val="#ppt_x"/>
                                          </p:val>
                                        </p:tav>
                                      </p:tavLst>
                                    </p:anim>
                                    <p:anim calcmode="lin" valueType="num">
                                      <p:cBhvr additive="base">
                                        <p:cTn id="12" dur="500" fill="hold"/>
                                        <p:tgtEl>
                                          <p:spTgt spid="9221"/>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9219"/>
                                        </p:tgtEl>
                                        <p:attrNameLst>
                                          <p:attrName>style.visibility</p:attrName>
                                        </p:attrNameLst>
                                      </p:cBhvr>
                                      <p:to>
                                        <p:strVal val="visible"/>
                                      </p:to>
                                    </p:set>
                                    <p:anim calcmode="lin" valueType="num">
                                      <p:cBhvr additive="base">
                                        <p:cTn id="17" dur="500" fill="hold"/>
                                        <p:tgtEl>
                                          <p:spTgt spid="9219"/>
                                        </p:tgtEl>
                                        <p:attrNameLst>
                                          <p:attrName>ppt_x</p:attrName>
                                        </p:attrNameLst>
                                      </p:cBhvr>
                                      <p:tavLst>
                                        <p:tav tm="0">
                                          <p:val>
                                            <p:strVal val="0-#ppt_w/2"/>
                                          </p:val>
                                        </p:tav>
                                        <p:tav tm="100000">
                                          <p:val>
                                            <p:strVal val="#ppt_x"/>
                                          </p:val>
                                        </p:tav>
                                      </p:tavLst>
                                    </p:anim>
                                    <p:anim calcmode="lin" valueType="num">
                                      <p:cBhvr additive="base">
                                        <p:cTn id="18" dur="500" fill="hold"/>
                                        <p:tgtEl>
                                          <p:spTgt spid="9219"/>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0-#ppt_w/2"/>
                                          </p:val>
                                        </p:tav>
                                        <p:tav tm="100000">
                                          <p:val>
                                            <p:strVal val="#ppt_x"/>
                                          </p:val>
                                        </p:tav>
                                      </p:tavLst>
                                    </p:anim>
                                    <p:anim calcmode="lin" valueType="num">
                                      <p:cBhvr additive="base">
                                        <p:cTn id="24"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ppt_x"/>
                                          </p:val>
                                        </p:tav>
                                        <p:tav tm="100000">
                                          <p:val>
                                            <p:strVal val="#ppt_x"/>
                                          </p:val>
                                        </p:tav>
                                      </p:tavLst>
                                    </p:anim>
                                    <p:anim calcmode="lin" valueType="num">
                                      <p:cBhvr additive="base">
                                        <p:cTn id="3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p:bldP spid="9219" grpId="0"/>
      <p:bldP spid="9" grpId="0"/>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4"/>
          <p:cNvSpPr>
            <a:spLocks noGrp="1" noChangeArrowheads="1"/>
          </p:cNvSpPr>
          <p:nvPr>
            <p:ph type="title"/>
          </p:nvPr>
        </p:nvSpPr>
        <p:spPr>
          <a:xfrm>
            <a:off x="1752600" y="36513"/>
            <a:ext cx="8686800" cy="1155700"/>
          </a:xfrm>
        </p:spPr>
        <p:txBody>
          <a:bodyPr>
            <a:normAutofit fontScale="90000"/>
          </a:bodyPr>
          <a:lstStyle/>
          <a:p>
            <a:pPr algn="ctr">
              <a:defRPr/>
            </a:pPr>
            <a:r>
              <a:rPr lang="en-US" altLang="en-US" dirty="0" smtClean="0"/>
              <a:t>How the UNDP Measures </a:t>
            </a:r>
            <a:br>
              <a:rPr lang="en-US" altLang="en-US" dirty="0" smtClean="0"/>
            </a:br>
            <a:r>
              <a:rPr lang="en-US" altLang="en-US" dirty="0" smtClean="0"/>
              <a:t>Human Development</a:t>
            </a:r>
          </a:p>
        </p:txBody>
      </p:sp>
      <p:pic>
        <p:nvPicPr>
          <p:cNvPr id="12292"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3151" y="5029201"/>
            <a:ext cx="1374775" cy="137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3"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43514" y="5029201"/>
            <a:ext cx="1360487"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4"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34401" y="5021264"/>
            <a:ext cx="1603375" cy="160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a:spLocks noChangeArrowheads="1"/>
          </p:cNvSpPr>
          <p:nvPr/>
        </p:nvSpPr>
        <p:spPr bwMode="auto">
          <a:xfrm>
            <a:off x="1981200" y="2362200"/>
            <a:ext cx="8458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hlink"/>
              </a:buClr>
              <a:buSzPct val="12000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dirty="0">
                <a:solidFill>
                  <a:srgbClr val="FF0000"/>
                </a:solidFill>
              </a:rPr>
              <a:t>(1) </a:t>
            </a:r>
            <a:r>
              <a:rPr lang="en-US" altLang="en-US" i="1" dirty="0">
                <a:solidFill>
                  <a:srgbClr val="FF0000"/>
                </a:solidFill>
              </a:rPr>
              <a:t>“A long and healthy life” </a:t>
            </a:r>
            <a:r>
              <a:rPr lang="en-US" altLang="en-US" dirty="0">
                <a:solidFill>
                  <a:srgbClr val="FF0000"/>
                </a:solidFill>
              </a:rPr>
              <a:t>(Health)</a:t>
            </a:r>
          </a:p>
        </p:txBody>
      </p:sp>
      <p:sp>
        <p:nvSpPr>
          <p:cNvPr id="5" name="Rectangle 4"/>
          <p:cNvSpPr>
            <a:spLocks noChangeArrowheads="1"/>
          </p:cNvSpPr>
          <p:nvPr/>
        </p:nvSpPr>
        <p:spPr bwMode="auto">
          <a:xfrm>
            <a:off x="1981200" y="3149600"/>
            <a:ext cx="6400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hlink"/>
              </a:buClr>
              <a:buSzPct val="12000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dirty="0">
                <a:solidFill>
                  <a:srgbClr val="FF0000"/>
                </a:solidFill>
              </a:rPr>
              <a:t>(2) </a:t>
            </a:r>
            <a:r>
              <a:rPr lang="en-US" altLang="en-US" i="1" dirty="0">
                <a:solidFill>
                  <a:srgbClr val="FF0000"/>
                </a:solidFill>
              </a:rPr>
              <a:t>“Knowledge” </a:t>
            </a:r>
            <a:r>
              <a:rPr lang="en-US" altLang="en-US" dirty="0">
                <a:solidFill>
                  <a:srgbClr val="FF0000"/>
                </a:solidFill>
              </a:rPr>
              <a:t>(Education)</a:t>
            </a:r>
          </a:p>
        </p:txBody>
      </p:sp>
      <p:sp>
        <p:nvSpPr>
          <p:cNvPr id="6" name="Rectangle 5"/>
          <p:cNvSpPr>
            <a:spLocks noChangeArrowheads="1"/>
          </p:cNvSpPr>
          <p:nvPr/>
        </p:nvSpPr>
        <p:spPr bwMode="auto">
          <a:xfrm>
            <a:off x="1981200" y="3835400"/>
            <a:ext cx="7696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hlink"/>
              </a:buClr>
              <a:buSzPct val="12000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dirty="0">
                <a:solidFill>
                  <a:srgbClr val="FF0000"/>
                </a:solidFill>
              </a:rPr>
              <a:t>(3) </a:t>
            </a:r>
            <a:r>
              <a:rPr lang="en-US" altLang="en-US" i="1" dirty="0">
                <a:solidFill>
                  <a:srgbClr val="FF0000"/>
                </a:solidFill>
              </a:rPr>
              <a:t>“A decent standard of living” </a:t>
            </a:r>
            <a:r>
              <a:rPr lang="en-US" altLang="en-US" dirty="0">
                <a:solidFill>
                  <a:srgbClr val="FF0000"/>
                </a:solidFill>
              </a:rPr>
              <a:t>(Wealth)</a:t>
            </a:r>
          </a:p>
        </p:txBody>
      </p:sp>
      <p:sp>
        <p:nvSpPr>
          <p:cNvPr id="7" name="TextBox 6"/>
          <p:cNvSpPr txBox="1">
            <a:spLocks noChangeArrowheads="1"/>
          </p:cNvSpPr>
          <p:nvPr/>
        </p:nvSpPr>
        <p:spPr bwMode="auto">
          <a:xfrm>
            <a:off x="1524000" y="1525589"/>
            <a:ext cx="91440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hlink"/>
              </a:buClr>
              <a:buSzPct val="12000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3000" b="1"/>
              <a:t>Consists of 3 equally weighted components:</a:t>
            </a:r>
          </a:p>
        </p:txBody>
      </p:sp>
    </p:spTree>
    <p:extLst>
      <p:ext uri="{BB962C8B-B14F-4D97-AF65-F5344CB8AC3E}">
        <p14:creationId xmlns:p14="http://schemas.microsoft.com/office/powerpoint/2010/main" val="19632478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316"/>
                                        </p:tgtEl>
                                        <p:attrNameLst>
                                          <p:attrName>style.visibility</p:attrName>
                                        </p:attrNameLst>
                                      </p:cBhvr>
                                      <p:to>
                                        <p:strVal val="visible"/>
                                      </p:to>
                                    </p:set>
                                    <p:anim calcmode="lin" valueType="num">
                                      <p:cBhvr additive="base">
                                        <p:cTn id="7" dur="500" fill="hold"/>
                                        <p:tgtEl>
                                          <p:spTgt spid="13316"/>
                                        </p:tgtEl>
                                        <p:attrNameLst>
                                          <p:attrName>ppt_x</p:attrName>
                                        </p:attrNameLst>
                                      </p:cBhvr>
                                      <p:tavLst>
                                        <p:tav tm="0">
                                          <p:val>
                                            <p:strVal val="0-#ppt_w/2"/>
                                          </p:val>
                                        </p:tav>
                                        <p:tav tm="100000">
                                          <p:val>
                                            <p:strVal val="#ppt_x"/>
                                          </p:val>
                                        </p:tav>
                                      </p:tavLst>
                                    </p:anim>
                                    <p:anim calcmode="lin" valueType="num">
                                      <p:cBhvr additive="base">
                                        <p:cTn id="8" dur="500" fill="hold"/>
                                        <p:tgtEl>
                                          <p:spTgt spid="1331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0-#ppt_w/2"/>
                                          </p:val>
                                        </p:tav>
                                        <p:tav tm="100000">
                                          <p:val>
                                            <p:strVal val="#ppt_x"/>
                                          </p:val>
                                        </p:tav>
                                      </p:tavLst>
                                    </p:anim>
                                    <p:anim calcmode="lin" valueType="num">
                                      <p:cBhvr additive="base">
                                        <p:cTn id="14"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2292"/>
                                        </p:tgtEl>
                                        <p:attrNameLst>
                                          <p:attrName>style.visibility</p:attrName>
                                        </p:attrNameLst>
                                      </p:cBhvr>
                                      <p:to>
                                        <p:strVal val="visible"/>
                                      </p:to>
                                    </p:set>
                                    <p:anim calcmode="lin" valueType="num">
                                      <p:cBhvr additive="base">
                                        <p:cTn id="19" dur="500" fill="hold"/>
                                        <p:tgtEl>
                                          <p:spTgt spid="12292"/>
                                        </p:tgtEl>
                                        <p:attrNameLst>
                                          <p:attrName>ppt_x</p:attrName>
                                        </p:attrNameLst>
                                      </p:cBhvr>
                                      <p:tavLst>
                                        <p:tav tm="0">
                                          <p:val>
                                            <p:strVal val="0-#ppt_w/2"/>
                                          </p:val>
                                        </p:tav>
                                        <p:tav tm="100000">
                                          <p:val>
                                            <p:strVal val="#ppt_x"/>
                                          </p:val>
                                        </p:tav>
                                      </p:tavLst>
                                    </p:anim>
                                    <p:anim calcmode="lin" valueType="num">
                                      <p:cBhvr additive="base">
                                        <p:cTn id="20" dur="500" fill="hold"/>
                                        <p:tgtEl>
                                          <p:spTgt spid="12292"/>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0-#ppt_w/2"/>
                                          </p:val>
                                        </p:tav>
                                        <p:tav tm="100000">
                                          <p:val>
                                            <p:strVal val="#ppt_x"/>
                                          </p:val>
                                        </p:tav>
                                      </p:tavLst>
                                    </p:anim>
                                    <p:anim calcmode="lin" valueType="num">
                                      <p:cBhvr additive="base">
                                        <p:cTn id="2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nodeType="clickEffect">
                                  <p:stCondLst>
                                    <p:cond delay="0"/>
                                  </p:stCondLst>
                                  <p:childTnLst>
                                    <p:set>
                                      <p:cBhvr>
                                        <p:cTn id="28" dur="1" fill="hold">
                                          <p:stCondLst>
                                            <p:cond delay="0"/>
                                          </p:stCondLst>
                                        </p:cTn>
                                        <p:tgtEl>
                                          <p:spTgt spid="12293"/>
                                        </p:tgtEl>
                                        <p:attrNameLst>
                                          <p:attrName>style.visibility</p:attrName>
                                        </p:attrNameLst>
                                      </p:cBhvr>
                                      <p:to>
                                        <p:strVal val="visible"/>
                                      </p:to>
                                    </p:set>
                                    <p:anim calcmode="lin" valueType="num">
                                      <p:cBhvr additive="base">
                                        <p:cTn id="29" dur="500" fill="hold"/>
                                        <p:tgtEl>
                                          <p:spTgt spid="12293"/>
                                        </p:tgtEl>
                                        <p:attrNameLst>
                                          <p:attrName>ppt_x</p:attrName>
                                        </p:attrNameLst>
                                      </p:cBhvr>
                                      <p:tavLst>
                                        <p:tav tm="0">
                                          <p:val>
                                            <p:strVal val="0-#ppt_w/2"/>
                                          </p:val>
                                        </p:tav>
                                        <p:tav tm="100000">
                                          <p:val>
                                            <p:strVal val="#ppt_x"/>
                                          </p:val>
                                        </p:tav>
                                      </p:tavLst>
                                    </p:anim>
                                    <p:anim calcmode="lin" valueType="num">
                                      <p:cBhvr additive="base">
                                        <p:cTn id="30" dur="500" fill="hold"/>
                                        <p:tgtEl>
                                          <p:spTgt spid="12293"/>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anim calcmode="lin" valueType="num">
                                      <p:cBhvr additive="base">
                                        <p:cTn id="33" dur="500" fill="hold"/>
                                        <p:tgtEl>
                                          <p:spTgt spid="5"/>
                                        </p:tgtEl>
                                        <p:attrNameLst>
                                          <p:attrName>ppt_x</p:attrName>
                                        </p:attrNameLst>
                                      </p:cBhvr>
                                      <p:tavLst>
                                        <p:tav tm="0">
                                          <p:val>
                                            <p:strVal val="0-#ppt_w/2"/>
                                          </p:val>
                                        </p:tav>
                                        <p:tav tm="100000">
                                          <p:val>
                                            <p:strVal val="#ppt_x"/>
                                          </p:val>
                                        </p:tav>
                                      </p:tavLst>
                                    </p:anim>
                                    <p:anim calcmode="lin" valueType="num">
                                      <p:cBhvr additive="base">
                                        <p:cTn id="3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8" fill="hold" nodeType="clickEffect">
                                  <p:stCondLst>
                                    <p:cond delay="0"/>
                                  </p:stCondLst>
                                  <p:childTnLst>
                                    <p:set>
                                      <p:cBhvr>
                                        <p:cTn id="38" dur="1" fill="hold">
                                          <p:stCondLst>
                                            <p:cond delay="0"/>
                                          </p:stCondLst>
                                        </p:cTn>
                                        <p:tgtEl>
                                          <p:spTgt spid="12294"/>
                                        </p:tgtEl>
                                        <p:attrNameLst>
                                          <p:attrName>style.visibility</p:attrName>
                                        </p:attrNameLst>
                                      </p:cBhvr>
                                      <p:to>
                                        <p:strVal val="visible"/>
                                      </p:to>
                                    </p:set>
                                    <p:anim calcmode="lin" valueType="num">
                                      <p:cBhvr additive="base">
                                        <p:cTn id="39" dur="500" fill="hold"/>
                                        <p:tgtEl>
                                          <p:spTgt spid="12294"/>
                                        </p:tgtEl>
                                        <p:attrNameLst>
                                          <p:attrName>ppt_x</p:attrName>
                                        </p:attrNameLst>
                                      </p:cBhvr>
                                      <p:tavLst>
                                        <p:tav tm="0">
                                          <p:val>
                                            <p:strVal val="0-#ppt_w/2"/>
                                          </p:val>
                                        </p:tav>
                                        <p:tav tm="100000">
                                          <p:val>
                                            <p:strVal val="#ppt_x"/>
                                          </p:val>
                                        </p:tav>
                                      </p:tavLst>
                                    </p:anim>
                                    <p:anim calcmode="lin" valueType="num">
                                      <p:cBhvr additive="base">
                                        <p:cTn id="40" dur="500" fill="hold"/>
                                        <p:tgtEl>
                                          <p:spTgt spid="12294"/>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6"/>
                                        </p:tgtEl>
                                        <p:attrNameLst>
                                          <p:attrName>style.visibility</p:attrName>
                                        </p:attrNameLst>
                                      </p:cBhvr>
                                      <p:to>
                                        <p:strVal val="visible"/>
                                      </p:to>
                                    </p:set>
                                    <p:anim calcmode="lin" valueType="num">
                                      <p:cBhvr additive="base">
                                        <p:cTn id="43" dur="500" fill="hold"/>
                                        <p:tgtEl>
                                          <p:spTgt spid="6"/>
                                        </p:tgtEl>
                                        <p:attrNameLst>
                                          <p:attrName>ppt_x</p:attrName>
                                        </p:attrNameLst>
                                      </p:cBhvr>
                                      <p:tavLst>
                                        <p:tav tm="0">
                                          <p:val>
                                            <p:strVal val="0-#ppt_w/2"/>
                                          </p:val>
                                        </p:tav>
                                        <p:tav tm="100000">
                                          <p:val>
                                            <p:strVal val="#ppt_x"/>
                                          </p:val>
                                        </p:tav>
                                      </p:tavLst>
                                    </p:anim>
                                    <p:anim calcmode="lin" valueType="num">
                                      <p:cBhvr additive="base">
                                        <p:cTn id="4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6" grpId="0"/>
      <p:bldP spid="4" grpId="0"/>
      <p:bldP spid="5" grpId="0"/>
      <p:bldP spid="6"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4"/>
          <p:cNvSpPr>
            <a:spLocks noGrp="1" noChangeArrowheads="1"/>
          </p:cNvSpPr>
          <p:nvPr>
            <p:ph type="title"/>
          </p:nvPr>
        </p:nvSpPr>
        <p:spPr>
          <a:xfrm>
            <a:off x="2095500" y="34925"/>
            <a:ext cx="8229600" cy="762000"/>
          </a:xfrm>
        </p:spPr>
        <p:txBody>
          <a:bodyPr>
            <a:normAutofit fontScale="90000"/>
          </a:bodyPr>
          <a:lstStyle/>
          <a:p>
            <a:pPr algn="ctr">
              <a:defRPr/>
            </a:pPr>
            <a:r>
              <a:rPr lang="en-US" altLang="en-US" dirty="0" smtClean="0"/>
              <a:t>Deconstructing Each Measure</a:t>
            </a:r>
          </a:p>
        </p:txBody>
      </p:sp>
      <p:pic>
        <p:nvPicPr>
          <p:cNvPr id="1434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151" y="1752600"/>
            <a:ext cx="73501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1"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1638" y="4527550"/>
            <a:ext cx="914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2"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1639" y="3238500"/>
            <a:ext cx="9556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a:spLocks noChangeArrowheads="1"/>
          </p:cNvSpPr>
          <p:nvPr/>
        </p:nvSpPr>
        <p:spPr bwMode="auto">
          <a:xfrm>
            <a:off x="1511300" y="1245394"/>
            <a:ext cx="91567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hlink"/>
              </a:buClr>
              <a:buSzPct val="12000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2400" b="1" dirty="0">
                <a:solidFill>
                  <a:srgbClr val="C00000"/>
                </a:solidFill>
              </a:rPr>
              <a:t>Each component of the HDI is measured in the following way: </a:t>
            </a:r>
          </a:p>
        </p:txBody>
      </p:sp>
      <p:sp>
        <p:nvSpPr>
          <p:cNvPr id="5" name="Rectangle 4"/>
          <p:cNvSpPr/>
          <p:nvPr/>
        </p:nvSpPr>
        <p:spPr>
          <a:xfrm>
            <a:off x="2971800" y="3138489"/>
            <a:ext cx="7696200" cy="1385887"/>
          </a:xfrm>
          <a:prstGeom prst="rect">
            <a:avLst/>
          </a:prstGeom>
        </p:spPr>
        <p:txBody>
          <a:bodyPr>
            <a:spAutoFit/>
          </a:bodyPr>
          <a:lstStyle/>
          <a:p>
            <a:pPr>
              <a:defRPr/>
            </a:pPr>
            <a:r>
              <a:rPr lang="en-US" altLang="en-US" sz="2800" u="sng" dirty="0">
                <a:solidFill>
                  <a:srgbClr val="FF0000"/>
                </a:solidFill>
                <a:ea typeface="ＭＳ Ｐゴシック" pitchFamily="-112" charset="-128"/>
                <a:cs typeface="ＭＳ Ｐゴシック" pitchFamily="-112" charset="-128"/>
              </a:rPr>
              <a:t>Education</a:t>
            </a:r>
            <a:r>
              <a:rPr lang="en-US" altLang="en-US" sz="2800" dirty="0">
                <a:ea typeface="ＭＳ Ｐゴシック" pitchFamily="-112" charset="-128"/>
                <a:cs typeface="ＭＳ Ｐゴシック" pitchFamily="-112" charset="-128"/>
              </a:rPr>
              <a:t> - Measured as a combination of adult literacy (worth 2/3) and enrollment in school (</a:t>
            </a:r>
            <a:r>
              <a:rPr lang="en-US" altLang="en-US" sz="2800" dirty="0" smtClean="0">
                <a:ea typeface="ＭＳ Ｐゴシック" pitchFamily="-112" charset="-128"/>
                <a:cs typeface="ＭＳ Ｐゴシック" pitchFamily="-112" charset="-128"/>
              </a:rPr>
              <a:t>worth </a:t>
            </a:r>
            <a:r>
              <a:rPr lang="en-US" altLang="en-US" sz="2800" dirty="0">
                <a:ea typeface="ＭＳ Ｐゴシック" pitchFamily="-112" charset="-128"/>
                <a:cs typeface="ＭＳ Ｐゴシック" pitchFamily="-112" charset="-128"/>
              </a:rPr>
              <a:t>1/3).</a:t>
            </a:r>
          </a:p>
        </p:txBody>
      </p:sp>
      <p:sp>
        <p:nvSpPr>
          <p:cNvPr id="6" name="Rectangle 5"/>
          <p:cNvSpPr>
            <a:spLocks noChangeArrowheads="1"/>
          </p:cNvSpPr>
          <p:nvPr/>
        </p:nvSpPr>
        <p:spPr bwMode="auto">
          <a:xfrm>
            <a:off x="2971800" y="4951414"/>
            <a:ext cx="7543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hlink"/>
              </a:buClr>
              <a:buSzPct val="12000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2800" u="sng" dirty="0">
                <a:solidFill>
                  <a:srgbClr val="FF0000"/>
                </a:solidFill>
              </a:rPr>
              <a:t>Wealth</a:t>
            </a:r>
            <a:r>
              <a:rPr lang="en-US" altLang="en-US" sz="2800" dirty="0"/>
              <a:t> - Measured by GDP per capita</a:t>
            </a:r>
            <a:r>
              <a:rPr lang="en-US" altLang="en-US" sz="2400" dirty="0"/>
              <a:t>.</a:t>
            </a:r>
          </a:p>
        </p:txBody>
      </p:sp>
      <p:sp>
        <p:nvSpPr>
          <p:cNvPr id="21" name="Rectangle 20"/>
          <p:cNvSpPr>
            <a:spLocks noChangeArrowheads="1"/>
          </p:cNvSpPr>
          <p:nvPr/>
        </p:nvSpPr>
        <p:spPr bwMode="auto">
          <a:xfrm>
            <a:off x="2936875" y="2062164"/>
            <a:ext cx="7543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hlink"/>
              </a:buClr>
              <a:buSzPct val="12000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2800" u="sng" dirty="0">
                <a:solidFill>
                  <a:srgbClr val="FF0000"/>
                </a:solidFill>
              </a:rPr>
              <a:t>Health</a:t>
            </a:r>
            <a:r>
              <a:rPr lang="en-US" altLang="en-US" sz="2800" dirty="0"/>
              <a:t>- Measured by life expectancy at birth</a:t>
            </a:r>
            <a:r>
              <a:rPr lang="en-US" altLang="en-US" sz="2400" dirty="0"/>
              <a:t>.</a:t>
            </a:r>
          </a:p>
        </p:txBody>
      </p:sp>
    </p:spTree>
    <p:extLst>
      <p:ext uri="{BB962C8B-B14F-4D97-AF65-F5344CB8AC3E}">
        <p14:creationId xmlns:p14="http://schemas.microsoft.com/office/powerpoint/2010/main" val="38678851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5124"/>
                                        </p:tgtEl>
                                        <p:attrNameLst>
                                          <p:attrName>style.visibility</p:attrName>
                                        </p:attrNameLst>
                                      </p:cBhvr>
                                      <p:to>
                                        <p:strVal val="visible"/>
                                      </p:to>
                                    </p:set>
                                    <p:anim calcmode="lin" valueType="num">
                                      <p:cBhvr additive="base">
                                        <p:cTn id="7" dur="500" fill="hold"/>
                                        <p:tgtEl>
                                          <p:spTgt spid="5124"/>
                                        </p:tgtEl>
                                        <p:attrNameLst>
                                          <p:attrName>ppt_x</p:attrName>
                                        </p:attrNameLst>
                                      </p:cBhvr>
                                      <p:tavLst>
                                        <p:tav tm="0">
                                          <p:val>
                                            <p:strVal val="0-#ppt_w/2"/>
                                          </p:val>
                                        </p:tav>
                                        <p:tav tm="100000">
                                          <p:val>
                                            <p:strVal val="#ppt_x"/>
                                          </p:val>
                                        </p:tav>
                                      </p:tavLst>
                                    </p:anim>
                                    <p:anim calcmode="lin" valueType="num">
                                      <p:cBhvr additive="base">
                                        <p:cTn id="8" dur="500" fill="hold"/>
                                        <p:tgtEl>
                                          <p:spTgt spid="512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0-#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14340"/>
                                        </p:tgtEl>
                                        <p:attrNameLst>
                                          <p:attrName>style.visibility</p:attrName>
                                        </p:attrNameLst>
                                      </p:cBhvr>
                                      <p:to>
                                        <p:strVal val="visible"/>
                                      </p:to>
                                    </p:set>
                                    <p:anim calcmode="lin" valueType="num">
                                      <p:cBhvr additive="base">
                                        <p:cTn id="17" dur="500" fill="hold"/>
                                        <p:tgtEl>
                                          <p:spTgt spid="14340"/>
                                        </p:tgtEl>
                                        <p:attrNameLst>
                                          <p:attrName>ppt_x</p:attrName>
                                        </p:attrNameLst>
                                      </p:cBhvr>
                                      <p:tavLst>
                                        <p:tav tm="0">
                                          <p:val>
                                            <p:strVal val="0-#ppt_w/2"/>
                                          </p:val>
                                        </p:tav>
                                        <p:tav tm="100000">
                                          <p:val>
                                            <p:strVal val="#ppt_x"/>
                                          </p:val>
                                        </p:tav>
                                      </p:tavLst>
                                    </p:anim>
                                    <p:anim calcmode="lin" valueType="num">
                                      <p:cBhvr additive="base">
                                        <p:cTn id="18" dur="500" fill="hold"/>
                                        <p:tgtEl>
                                          <p:spTgt spid="14340"/>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 calcmode="lin" valueType="num">
                                      <p:cBhvr additive="base">
                                        <p:cTn id="21" dur="500" fill="hold"/>
                                        <p:tgtEl>
                                          <p:spTgt spid="21"/>
                                        </p:tgtEl>
                                        <p:attrNameLst>
                                          <p:attrName>ppt_x</p:attrName>
                                        </p:attrNameLst>
                                      </p:cBhvr>
                                      <p:tavLst>
                                        <p:tav tm="0">
                                          <p:val>
                                            <p:strVal val="0-#ppt_w/2"/>
                                          </p:val>
                                        </p:tav>
                                        <p:tav tm="100000">
                                          <p:val>
                                            <p:strVal val="#ppt_x"/>
                                          </p:val>
                                        </p:tav>
                                      </p:tavLst>
                                    </p:anim>
                                    <p:anim calcmode="lin" valueType="num">
                                      <p:cBhvr additive="base">
                                        <p:cTn id="22"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nodeType="clickEffect">
                                  <p:stCondLst>
                                    <p:cond delay="0"/>
                                  </p:stCondLst>
                                  <p:childTnLst>
                                    <p:set>
                                      <p:cBhvr>
                                        <p:cTn id="26" dur="1" fill="hold">
                                          <p:stCondLst>
                                            <p:cond delay="0"/>
                                          </p:stCondLst>
                                        </p:cTn>
                                        <p:tgtEl>
                                          <p:spTgt spid="14342"/>
                                        </p:tgtEl>
                                        <p:attrNameLst>
                                          <p:attrName>style.visibility</p:attrName>
                                        </p:attrNameLst>
                                      </p:cBhvr>
                                      <p:to>
                                        <p:strVal val="visible"/>
                                      </p:to>
                                    </p:set>
                                    <p:anim calcmode="lin" valueType="num">
                                      <p:cBhvr additive="base">
                                        <p:cTn id="27" dur="500" fill="hold"/>
                                        <p:tgtEl>
                                          <p:spTgt spid="14342"/>
                                        </p:tgtEl>
                                        <p:attrNameLst>
                                          <p:attrName>ppt_x</p:attrName>
                                        </p:attrNameLst>
                                      </p:cBhvr>
                                      <p:tavLst>
                                        <p:tav tm="0">
                                          <p:val>
                                            <p:strVal val="0-#ppt_w/2"/>
                                          </p:val>
                                        </p:tav>
                                        <p:tav tm="100000">
                                          <p:val>
                                            <p:strVal val="#ppt_x"/>
                                          </p:val>
                                        </p:tav>
                                      </p:tavLst>
                                    </p:anim>
                                    <p:anim calcmode="lin" valueType="num">
                                      <p:cBhvr additive="base">
                                        <p:cTn id="28" dur="500" fill="hold"/>
                                        <p:tgtEl>
                                          <p:spTgt spid="14342"/>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0-#ppt_w/2"/>
                                          </p:val>
                                        </p:tav>
                                        <p:tav tm="100000">
                                          <p:val>
                                            <p:strVal val="#ppt_x"/>
                                          </p:val>
                                        </p:tav>
                                      </p:tavLst>
                                    </p:anim>
                                    <p:anim calcmode="lin" valueType="num">
                                      <p:cBhvr additive="base">
                                        <p:cTn id="32"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4341"/>
                                        </p:tgtEl>
                                        <p:attrNameLst>
                                          <p:attrName>style.visibility</p:attrName>
                                        </p:attrNameLst>
                                      </p:cBhvr>
                                      <p:to>
                                        <p:strVal val="visible"/>
                                      </p:to>
                                    </p:set>
                                    <p:anim calcmode="lin" valueType="num">
                                      <p:cBhvr additive="base">
                                        <p:cTn id="37" dur="500" fill="hold"/>
                                        <p:tgtEl>
                                          <p:spTgt spid="14341"/>
                                        </p:tgtEl>
                                        <p:attrNameLst>
                                          <p:attrName>ppt_x</p:attrName>
                                        </p:attrNameLst>
                                      </p:cBhvr>
                                      <p:tavLst>
                                        <p:tav tm="0">
                                          <p:val>
                                            <p:strVal val="0-#ppt_w/2"/>
                                          </p:val>
                                        </p:tav>
                                        <p:tav tm="100000">
                                          <p:val>
                                            <p:strVal val="#ppt_x"/>
                                          </p:val>
                                        </p:tav>
                                      </p:tavLst>
                                    </p:anim>
                                    <p:anim calcmode="lin" valueType="num">
                                      <p:cBhvr additive="base">
                                        <p:cTn id="38" dur="500" fill="hold"/>
                                        <p:tgtEl>
                                          <p:spTgt spid="14341"/>
                                        </p:tgtEl>
                                        <p:attrNameLst>
                                          <p:attrName>ppt_y</p:attrName>
                                        </p:attrNameLst>
                                      </p:cBhvr>
                                      <p:tavLst>
                                        <p:tav tm="0">
                                          <p:val>
                                            <p:strVal val="#ppt_y"/>
                                          </p:val>
                                        </p:tav>
                                        <p:tav tm="100000">
                                          <p:val>
                                            <p:strVal val="#ppt_y"/>
                                          </p:val>
                                        </p:tav>
                                      </p:tavLst>
                                    </p:anim>
                                  </p:childTnLst>
                                </p:cTn>
                              </p:par>
                              <p:par>
                                <p:cTn id="39" presetID="2" presetClass="entr" presetSubtype="8" fill="hold" grpId="0" nodeType="withEffect">
                                  <p:stCondLst>
                                    <p:cond delay="0"/>
                                  </p:stCondLst>
                                  <p:childTnLst>
                                    <p:set>
                                      <p:cBhvr>
                                        <p:cTn id="40" dur="1" fill="hold">
                                          <p:stCondLst>
                                            <p:cond delay="0"/>
                                          </p:stCondLst>
                                        </p:cTn>
                                        <p:tgtEl>
                                          <p:spTgt spid="6"/>
                                        </p:tgtEl>
                                        <p:attrNameLst>
                                          <p:attrName>style.visibility</p:attrName>
                                        </p:attrNameLst>
                                      </p:cBhvr>
                                      <p:to>
                                        <p:strVal val="visible"/>
                                      </p:to>
                                    </p:set>
                                    <p:anim calcmode="lin" valueType="num">
                                      <p:cBhvr additive="base">
                                        <p:cTn id="41" dur="500" fill="hold"/>
                                        <p:tgtEl>
                                          <p:spTgt spid="6"/>
                                        </p:tgtEl>
                                        <p:attrNameLst>
                                          <p:attrName>ppt_x</p:attrName>
                                        </p:attrNameLst>
                                      </p:cBhvr>
                                      <p:tavLst>
                                        <p:tav tm="0">
                                          <p:val>
                                            <p:strVal val="0-#ppt_w/2"/>
                                          </p:val>
                                        </p:tav>
                                        <p:tav tm="100000">
                                          <p:val>
                                            <p:strVal val="#ppt_x"/>
                                          </p:val>
                                        </p:tav>
                                      </p:tavLst>
                                    </p:anim>
                                    <p:anim calcmode="lin" valueType="num">
                                      <p:cBhvr additive="base">
                                        <p:cTn id="42"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 grpId="0"/>
      <p:bldP spid="4" grpId="0"/>
      <p:bldP spid="5" grpId="0"/>
      <p:bldP spid="6" grpId="0"/>
      <p:bldP spid="2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dirty="0" smtClean="0">
                <a:solidFill>
                  <a:schemeClr val="tx2">
                    <a:lumMod val="75000"/>
                    <a:lumOff val="25000"/>
                  </a:schemeClr>
                </a:solidFill>
              </a:rPr>
              <a:t>Human development index</a:t>
            </a:r>
            <a:endParaRPr lang="en-AU" dirty="0">
              <a:solidFill>
                <a:schemeClr val="tx2">
                  <a:lumMod val="75000"/>
                  <a:lumOff val="25000"/>
                </a:schemeClr>
              </a:solidFill>
            </a:endParaRPr>
          </a:p>
        </p:txBody>
      </p:sp>
      <p:sp>
        <p:nvSpPr>
          <p:cNvPr id="3" name="Content Placeholder 2"/>
          <p:cNvSpPr>
            <a:spLocks noGrp="1"/>
          </p:cNvSpPr>
          <p:nvPr>
            <p:ph idx="1"/>
          </p:nvPr>
        </p:nvSpPr>
        <p:spPr>
          <a:xfrm>
            <a:off x="1239955" y="1418493"/>
            <a:ext cx="10178322" cy="3593591"/>
          </a:xfrm>
        </p:spPr>
        <p:txBody>
          <a:bodyPr>
            <a:noAutofit/>
          </a:bodyPr>
          <a:lstStyle/>
          <a:p>
            <a:r>
              <a:rPr lang="en-AU" sz="2400" dirty="0" smtClean="0">
                <a:solidFill>
                  <a:schemeClr val="tx1"/>
                </a:solidFill>
              </a:rPr>
              <a:t>HDI is a single statistic that measures l_____ e__________, y_________ of s_________ and G______ D__________ P__________ per capita.</a:t>
            </a:r>
          </a:p>
          <a:p>
            <a:r>
              <a:rPr lang="en-AU" sz="2400" dirty="0" smtClean="0">
                <a:solidFill>
                  <a:schemeClr val="tx1"/>
                </a:solidFill>
              </a:rPr>
              <a:t>It covers approximately 185 countries., scoring them from 0 (the lowest HDI) to 10 (the highest HDI).</a:t>
            </a:r>
          </a:p>
          <a:p>
            <a:r>
              <a:rPr lang="en-AU" sz="2400" dirty="0" smtClean="0">
                <a:solidFill>
                  <a:schemeClr val="tx1"/>
                </a:solidFill>
              </a:rPr>
              <a:t>Countries are classified into </a:t>
            </a:r>
            <a:r>
              <a:rPr lang="en-AU" sz="2400" i="1" dirty="0" smtClean="0">
                <a:solidFill>
                  <a:schemeClr val="tx1"/>
                </a:solidFill>
              </a:rPr>
              <a:t>very high, high, medium, low and very low </a:t>
            </a:r>
            <a:r>
              <a:rPr lang="en-AU" sz="2400" dirty="0" smtClean="0">
                <a:solidFill>
                  <a:schemeClr val="tx1"/>
                </a:solidFill>
              </a:rPr>
              <a:t>human development.</a:t>
            </a:r>
          </a:p>
          <a:p>
            <a:r>
              <a:rPr lang="en-AU" sz="2400" dirty="0" smtClean="0">
                <a:solidFill>
                  <a:schemeClr val="tx1"/>
                </a:solidFill>
              </a:rPr>
              <a:t>Very high to high HDI accounts for 30% of the world’s population, medium 52% and low ___%.</a:t>
            </a:r>
          </a:p>
          <a:p>
            <a:r>
              <a:rPr lang="en-AU" sz="2400" dirty="0" smtClean="0">
                <a:solidFill>
                  <a:schemeClr val="tx1"/>
                </a:solidFill>
              </a:rPr>
              <a:t>The HDI provides international organisations such as the U__________ N_________, governments and non-government organisations, such as World Vision with an indication of support countries need.</a:t>
            </a:r>
            <a:endParaRPr lang="en-AU" sz="2400" dirty="0">
              <a:solidFill>
                <a:schemeClr val="tx1"/>
              </a:solidFill>
            </a:endParaRPr>
          </a:p>
        </p:txBody>
      </p:sp>
    </p:spTree>
    <p:extLst>
      <p:ext uri="{BB962C8B-B14F-4D97-AF65-F5344CB8AC3E}">
        <p14:creationId xmlns:p14="http://schemas.microsoft.com/office/powerpoint/2010/main" val="30843215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dirty="0" smtClean="0">
                <a:solidFill>
                  <a:schemeClr val="tx2">
                    <a:lumMod val="75000"/>
                    <a:lumOff val="25000"/>
                  </a:schemeClr>
                </a:solidFill>
              </a:rPr>
              <a:t>Human development index</a:t>
            </a:r>
            <a:endParaRPr lang="en-AU" dirty="0">
              <a:solidFill>
                <a:schemeClr val="tx2">
                  <a:lumMod val="75000"/>
                  <a:lumOff val="25000"/>
                </a:schemeClr>
              </a:solidFill>
            </a:endParaRPr>
          </a:p>
        </p:txBody>
      </p:sp>
      <p:sp>
        <p:nvSpPr>
          <p:cNvPr id="3" name="Content Placeholder 2"/>
          <p:cNvSpPr>
            <a:spLocks noGrp="1"/>
          </p:cNvSpPr>
          <p:nvPr>
            <p:ph idx="1"/>
          </p:nvPr>
        </p:nvSpPr>
        <p:spPr>
          <a:xfrm>
            <a:off x="1239955" y="1418493"/>
            <a:ext cx="10178322" cy="3593591"/>
          </a:xfrm>
        </p:spPr>
        <p:txBody>
          <a:bodyPr>
            <a:noAutofit/>
          </a:bodyPr>
          <a:lstStyle/>
          <a:p>
            <a:r>
              <a:rPr lang="en-AU" sz="2400" dirty="0" smtClean="0">
                <a:solidFill>
                  <a:schemeClr val="tx1"/>
                </a:solidFill>
              </a:rPr>
              <a:t>HDI is a single statistic that measures </a:t>
            </a:r>
            <a:r>
              <a:rPr lang="en-AU" sz="2400" dirty="0" smtClean="0">
                <a:solidFill>
                  <a:srgbClr val="FF0000"/>
                </a:solidFill>
              </a:rPr>
              <a:t>life</a:t>
            </a:r>
            <a:r>
              <a:rPr lang="en-AU" sz="2400" dirty="0" smtClean="0">
                <a:solidFill>
                  <a:schemeClr val="tx1"/>
                </a:solidFill>
              </a:rPr>
              <a:t> </a:t>
            </a:r>
            <a:r>
              <a:rPr lang="en-AU" sz="2400" dirty="0" smtClean="0">
                <a:solidFill>
                  <a:srgbClr val="FF0000"/>
                </a:solidFill>
              </a:rPr>
              <a:t>expectancy, years </a:t>
            </a:r>
            <a:r>
              <a:rPr lang="en-AU" sz="2400" dirty="0" smtClean="0">
                <a:solidFill>
                  <a:schemeClr val="tx1"/>
                </a:solidFill>
              </a:rPr>
              <a:t>of </a:t>
            </a:r>
            <a:r>
              <a:rPr lang="en-AU" sz="2400" dirty="0" smtClean="0">
                <a:solidFill>
                  <a:srgbClr val="FF0000"/>
                </a:solidFill>
              </a:rPr>
              <a:t>schooling </a:t>
            </a:r>
            <a:r>
              <a:rPr lang="en-AU" sz="2400" dirty="0" smtClean="0">
                <a:solidFill>
                  <a:schemeClr val="tx1"/>
                </a:solidFill>
              </a:rPr>
              <a:t>and </a:t>
            </a:r>
            <a:r>
              <a:rPr lang="en-AU" sz="2400" dirty="0" smtClean="0">
                <a:solidFill>
                  <a:srgbClr val="FF0000"/>
                </a:solidFill>
              </a:rPr>
              <a:t>Gross Domestic Product </a:t>
            </a:r>
            <a:r>
              <a:rPr lang="en-AU" sz="2400" dirty="0" smtClean="0">
                <a:solidFill>
                  <a:schemeClr val="tx1"/>
                </a:solidFill>
              </a:rPr>
              <a:t>per </a:t>
            </a:r>
            <a:r>
              <a:rPr lang="en-AU" sz="2400" dirty="0" smtClean="0">
                <a:solidFill>
                  <a:schemeClr val="tx1"/>
                </a:solidFill>
              </a:rPr>
              <a:t>capita.</a:t>
            </a:r>
          </a:p>
          <a:p>
            <a:r>
              <a:rPr lang="en-AU" sz="2400" dirty="0" smtClean="0">
                <a:solidFill>
                  <a:schemeClr val="tx1"/>
                </a:solidFill>
              </a:rPr>
              <a:t>It covers approximately 185 countries., scoring them from 0 (the lowest HDI) to 10 (the highest HDI).</a:t>
            </a:r>
          </a:p>
          <a:p>
            <a:r>
              <a:rPr lang="en-AU" sz="2400" dirty="0" smtClean="0">
                <a:solidFill>
                  <a:schemeClr val="tx1"/>
                </a:solidFill>
              </a:rPr>
              <a:t>Countries are classified into </a:t>
            </a:r>
            <a:r>
              <a:rPr lang="en-AU" sz="2400" i="1" dirty="0" smtClean="0">
                <a:solidFill>
                  <a:schemeClr val="tx1"/>
                </a:solidFill>
              </a:rPr>
              <a:t>very high, high, medium, low and very low </a:t>
            </a:r>
            <a:r>
              <a:rPr lang="en-AU" sz="2400" dirty="0" smtClean="0">
                <a:solidFill>
                  <a:schemeClr val="tx1"/>
                </a:solidFill>
              </a:rPr>
              <a:t>human development.</a:t>
            </a:r>
          </a:p>
          <a:p>
            <a:r>
              <a:rPr lang="en-AU" sz="2400" dirty="0" smtClean="0">
                <a:solidFill>
                  <a:schemeClr val="tx1"/>
                </a:solidFill>
              </a:rPr>
              <a:t>Very high to high HDI accounts for 30% of the world’s population, medium 52% and low </a:t>
            </a:r>
            <a:r>
              <a:rPr lang="en-AU" sz="2400" dirty="0" smtClean="0">
                <a:solidFill>
                  <a:srgbClr val="FF0000"/>
                </a:solidFill>
              </a:rPr>
              <a:t>18</a:t>
            </a:r>
            <a:r>
              <a:rPr lang="en-AU" sz="2400" dirty="0" smtClean="0">
                <a:solidFill>
                  <a:schemeClr val="tx1"/>
                </a:solidFill>
              </a:rPr>
              <a:t>%.</a:t>
            </a:r>
            <a:endParaRPr lang="en-AU" sz="2400" dirty="0" smtClean="0">
              <a:solidFill>
                <a:schemeClr val="tx1"/>
              </a:solidFill>
            </a:endParaRPr>
          </a:p>
          <a:p>
            <a:r>
              <a:rPr lang="en-AU" sz="2400" dirty="0" smtClean="0">
                <a:solidFill>
                  <a:schemeClr val="tx1"/>
                </a:solidFill>
              </a:rPr>
              <a:t>The HDI provides international organisations such as </a:t>
            </a:r>
            <a:r>
              <a:rPr lang="en-AU" sz="2400" dirty="0" smtClean="0">
                <a:solidFill>
                  <a:schemeClr val="tx1"/>
                </a:solidFill>
              </a:rPr>
              <a:t>the </a:t>
            </a:r>
            <a:r>
              <a:rPr lang="en-AU" sz="2400" dirty="0" smtClean="0">
                <a:solidFill>
                  <a:srgbClr val="FF0000"/>
                </a:solidFill>
              </a:rPr>
              <a:t>United Nations</a:t>
            </a:r>
            <a:r>
              <a:rPr lang="en-AU" sz="2400" dirty="0" smtClean="0">
                <a:solidFill>
                  <a:schemeClr val="tx1"/>
                </a:solidFill>
              </a:rPr>
              <a:t>, </a:t>
            </a:r>
            <a:r>
              <a:rPr lang="en-AU" sz="2400" dirty="0" smtClean="0">
                <a:solidFill>
                  <a:schemeClr val="tx1"/>
                </a:solidFill>
              </a:rPr>
              <a:t>governments and non-government organisations, such as World Vision with an indication of support countries need.</a:t>
            </a:r>
            <a:endParaRPr lang="en-AU" sz="2400" dirty="0">
              <a:solidFill>
                <a:schemeClr val="tx1"/>
              </a:solidFill>
            </a:endParaRPr>
          </a:p>
        </p:txBody>
      </p:sp>
    </p:spTree>
    <p:extLst>
      <p:ext uri="{BB962C8B-B14F-4D97-AF65-F5344CB8AC3E}">
        <p14:creationId xmlns:p14="http://schemas.microsoft.com/office/powerpoint/2010/main" val="26791912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4" name="Rectangle 4"/>
          <p:cNvSpPr>
            <a:spLocks noGrp="1" noChangeArrowheads="1"/>
          </p:cNvSpPr>
          <p:nvPr>
            <p:ph type="title"/>
          </p:nvPr>
        </p:nvSpPr>
        <p:spPr>
          <a:xfrm>
            <a:off x="2211388" y="0"/>
            <a:ext cx="7772400" cy="1143000"/>
          </a:xfrm>
        </p:spPr>
        <p:txBody>
          <a:bodyPr/>
          <a:lstStyle/>
          <a:p>
            <a:pPr algn="ctr" eaLnBrk="1" hangingPunct="1">
              <a:defRPr/>
            </a:pPr>
            <a:r>
              <a:rPr lang="en-US" altLang="en-US" b="1" dirty="0" smtClean="0">
                <a:ea typeface="ＭＳ Ｐゴシック" pitchFamily="34" charset="-128"/>
              </a:rPr>
              <a:t>Understanding Indexes</a:t>
            </a:r>
            <a:endParaRPr lang="en-US" altLang="en-US" dirty="0" smtClean="0">
              <a:ea typeface="ＭＳ Ｐゴシック" pitchFamily="34" charset="-128"/>
            </a:endParaRPr>
          </a:p>
        </p:txBody>
      </p:sp>
      <p:sp>
        <p:nvSpPr>
          <p:cNvPr id="46085" name="Rectangle 5"/>
          <p:cNvSpPr>
            <a:spLocks noGrp="1" noChangeArrowheads="1"/>
          </p:cNvSpPr>
          <p:nvPr>
            <p:ph type="body" idx="1"/>
          </p:nvPr>
        </p:nvSpPr>
        <p:spPr>
          <a:xfrm>
            <a:off x="1558925" y="1327952"/>
            <a:ext cx="4567238" cy="762000"/>
          </a:xfrm>
        </p:spPr>
        <p:txBody>
          <a:bodyPr>
            <a:normAutofit fontScale="92500"/>
          </a:bodyPr>
          <a:lstStyle/>
          <a:p>
            <a:pPr marL="0" indent="0">
              <a:lnSpc>
                <a:spcPct val="90000"/>
              </a:lnSpc>
              <a:buNone/>
              <a:defRPr/>
            </a:pPr>
            <a:r>
              <a:rPr lang="en-US" altLang="en-US" sz="4400" b="1" dirty="0">
                <a:solidFill>
                  <a:schemeClr val="accent5">
                    <a:lumMod val="75000"/>
                  </a:schemeClr>
                </a:solidFill>
                <a:ea typeface="ＭＳ Ｐゴシック" pitchFamily="34" charset="-128"/>
              </a:rPr>
              <a:t>What is an index?</a:t>
            </a:r>
          </a:p>
        </p:txBody>
      </p:sp>
      <p:sp>
        <p:nvSpPr>
          <p:cNvPr id="2" name="TextBox 1"/>
          <p:cNvSpPr txBox="1">
            <a:spLocks noChangeArrowheads="1"/>
          </p:cNvSpPr>
          <p:nvPr/>
        </p:nvSpPr>
        <p:spPr bwMode="auto">
          <a:xfrm>
            <a:off x="7283964" y="1924834"/>
            <a:ext cx="3791866"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12000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hlink"/>
              </a:buClr>
              <a:buSzPct val="12000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b="1" dirty="0"/>
              <a:t>It’s a collection of stuff that you measured so that you can compare it to something.</a:t>
            </a:r>
          </a:p>
        </p:txBody>
      </p:sp>
      <p:sp>
        <p:nvSpPr>
          <p:cNvPr id="3" name="Rectangle 2"/>
          <p:cNvSpPr>
            <a:spLocks noChangeArrowheads="1"/>
          </p:cNvSpPr>
          <p:nvPr/>
        </p:nvSpPr>
        <p:spPr bwMode="auto">
          <a:xfrm>
            <a:off x="1558925" y="2171207"/>
            <a:ext cx="4891088" cy="4358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hlink"/>
              </a:buClr>
              <a:buSzPct val="12000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9pPr>
          </a:lstStyle>
          <a:p>
            <a:pPr eaLnBrk="1" hangingPunct="1">
              <a:lnSpc>
                <a:spcPct val="90000"/>
              </a:lnSpc>
              <a:spcBef>
                <a:spcPct val="0"/>
              </a:spcBef>
              <a:buClrTx/>
              <a:buSzTx/>
              <a:buFontTx/>
              <a:buNone/>
            </a:pPr>
            <a:r>
              <a:rPr lang="en-US" altLang="en-US" sz="4400" b="1" dirty="0"/>
              <a:t>An index is a composite of indicators that produces a single calculation which can then be ranked. </a:t>
            </a:r>
          </a:p>
        </p:txBody>
      </p:sp>
    </p:spTree>
    <p:extLst>
      <p:ext uri="{BB962C8B-B14F-4D97-AF65-F5344CB8AC3E}">
        <p14:creationId xmlns:p14="http://schemas.microsoft.com/office/powerpoint/2010/main" val="11719357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46084"/>
                                        </p:tgtEl>
                                        <p:attrNameLst>
                                          <p:attrName>style.visibility</p:attrName>
                                        </p:attrNameLst>
                                      </p:cBhvr>
                                      <p:to>
                                        <p:strVal val="visible"/>
                                      </p:to>
                                    </p:set>
                                    <p:anim calcmode="lin" valueType="num">
                                      <p:cBhvr additive="base">
                                        <p:cTn id="7" dur="250" fill="hold"/>
                                        <p:tgtEl>
                                          <p:spTgt spid="46084"/>
                                        </p:tgtEl>
                                        <p:attrNameLst>
                                          <p:attrName>ppt_x</p:attrName>
                                        </p:attrNameLst>
                                      </p:cBhvr>
                                      <p:tavLst>
                                        <p:tav tm="0">
                                          <p:val>
                                            <p:strVal val="0-#ppt_w/2"/>
                                          </p:val>
                                        </p:tav>
                                        <p:tav tm="100000">
                                          <p:val>
                                            <p:strVal val="#ppt_x"/>
                                          </p:val>
                                        </p:tav>
                                      </p:tavLst>
                                    </p:anim>
                                    <p:anim calcmode="lin" valueType="num">
                                      <p:cBhvr additive="base">
                                        <p:cTn id="8" dur="250" fill="hold"/>
                                        <p:tgtEl>
                                          <p:spTgt spid="4608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6085">
                                            <p:txEl>
                                              <p:pRg st="0" end="0"/>
                                            </p:txEl>
                                          </p:spTgt>
                                        </p:tgtEl>
                                        <p:attrNameLst>
                                          <p:attrName>style.visibility</p:attrName>
                                        </p:attrNameLst>
                                      </p:cBhvr>
                                      <p:to>
                                        <p:strVal val="visible"/>
                                      </p:to>
                                    </p:set>
                                    <p:anim calcmode="lin" valueType="num">
                                      <p:cBhvr additive="base">
                                        <p:cTn id="13" dur="250" fill="hold"/>
                                        <p:tgtEl>
                                          <p:spTgt spid="46085">
                                            <p:txEl>
                                              <p:pRg st="0" end="0"/>
                                            </p:txEl>
                                          </p:spTgt>
                                        </p:tgtEl>
                                        <p:attrNameLst>
                                          <p:attrName>ppt_x</p:attrName>
                                        </p:attrNameLst>
                                      </p:cBhvr>
                                      <p:tavLst>
                                        <p:tav tm="0">
                                          <p:val>
                                            <p:strVal val="0-#ppt_w/2"/>
                                          </p:val>
                                        </p:tav>
                                        <p:tav tm="100000">
                                          <p:val>
                                            <p:strVal val="#ppt_x"/>
                                          </p:val>
                                        </p:tav>
                                      </p:tavLst>
                                    </p:anim>
                                    <p:anim calcmode="lin" valueType="num">
                                      <p:cBhvr additive="base">
                                        <p:cTn id="14" dur="250" fill="hold"/>
                                        <p:tgtEl>
                                          <p:spTgt spid="4608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250" fill="hold"/>
                                        <p:tgtEl>
                                          <p:spTgt spid="3"/>
                                        </p:tgtEl>
                                        <p:attrNameLst>
                                          <p:attrName>ppt_x</p:attrName>
                                        </p:attrNameLst>
                                      </p:cBhvr>
                                      <p:tavLst>
                                        <p:tav tm="0">
                                          <p:val>
                                            <p:strVal val="0-#ppt_w/2"/>
                                          </p:val>
                                        </p:tav>
                                        <p:tav tm="100000">
                                          <p:val>
                                            <p:strVal val="#ppt_x"/>
                                          </p:val>
                                        </p:tav>
                                      </p:tavLst>
                                    </p:anim>
                                    <p:anim calcmode="lin" valueType="num">
                                      <p:cBhvr additive="base">
                                        <p:cTn id="20" dur="25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250" fill="hold"/>
                                        <p:tgtEl>
                                          <p:spTgt spid="2"/>
                                        </p:tgtEl>
                                        <p:attrNameLst>
                                          <p:attrName>ppt_x</p:attrName>
                                        </p:attrNameLst>
                                      </p:cBhvr>
                                      <p:tavLst>
                                        <p:tav tm="0">
                                          <p:val>
                                            <p:strVal val="0-#ppt_w/2"/>
                                          </p:val>
                                        </p:tav>
                                        <p:tav tm="100000">
                                          <p:val>
                                            <p:strVal val="#ppt_x"/>
                                          </p:val>
                                        </p:tav>
                                      </p:tavLst>
                                    </p:anim>
                                    <p:anim calcmode="lin" valueType="num">
                                      <p:cBhvr additive="base">
                                        <p:cTn id="26" dur="25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4" grpId="0"/>
      <p:bldP spid="46085" grpId="0" build="p"/>
      <p:bldP spid="2" grpId="0"/>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1981200" y="0"/>
            <a:ext cx="8229600" cy="850900"/>
          </a:xfrm>
        </p:spPr>
        <p:txBody>
          <a:bodyPr/>
          <a:lstStyle/>
          <a:p>
            <a:pPr algn="ctr" eaLnBrk="1" hangingPunct="1">
              <a:defRPr/>
            </a:pPr>
            <a:r>
              <a:rPr lang="en-US" altLang="en-US" b="1" dirty="0" smtClean="0">
                <a:ea typeface="ＭＳ Ｐゴシック" pitchFamily="34" charset="-128"/>
              </a:rPr>
              <a:t>Economic &amp; Social Indexes</a:t>
            </a:r>
            <a:endParaRPr lang="en-US" altLang="en-US" dirty="0" smtClean="0">
              <a:ea typeface="ＭＳ Ｐゴシック" pitchFamily="34" charset="-128"/>
            </a:endParaRPr>
          </a:p>
        </p:txBody>
      </p:sp>
      <p:sp>
        <p:nvSpPr>
          <p:cNvPr id="12292" name="TextBox 1"/>
          <p:cNvSpPr txBox="1">
            <a:spLocks noChangeArrowheads="1"/>
          </p:cNvSpPr>
          <p:nvPr/>
        </p:nvSpPr>
        <p:spPr bwMode="auto">
          <a:xfrm>
            <a:off x="2015767" y="1269643"/>
            <a:ext cx="8195033" cy="483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12000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hlink"/>
              </a:buClr>
              <a:buSzPct val="12000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4400" dirty="0"/>
              <a:t>Economic indicators  and indexes (that deal with money) are put together with social indexes and indicators (that deal with people) are put together  to assess </a:t>
            </a:r>
            <a:r>
              <a:rPr lang="en-US" altLang="en-US" sz="4400" b="1" dirty="0">
                <a:solidFill>
                  <a:schemeClr val="accent5">
                    <a:lumMod val="75000"/>
                  </a:schemeClr>
                </a:solidFill>
              </a:rPr>
              <a:t>WELLBEING.</a:t>
            </a:r>
          </a:p>
        </p:txBody>
      </p:sp>
    </p:spTree>
    <p:extLst>
      <p:ext uri="{BB962C8B-B14F-4D97-AF65-F5344CB8AC3E}">
        <p14:creationId xmlns:p14="http://schemas.microsoft.com/office/powerpoint/2010/main" val="10183766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66562"/>
                                        </p:tgtEl>
                                        <p:attrNameLst>
                                          <p:attrName>style.visibility</p:attrName>
                                        </p:attrNameLst>
                                      </p:cBhvr>
                                      <p:to>
                                        <p:strVal val="visible"/>
                                      </p:to>
                                    </p:set>
                                    <p:anim calcmode="lin" valueType="num">
                                      <p:cBhvr additive="base">
                                        <p:cTn id="7" dur="500" fill="hold"/>
                                        <p:tgtEl>
                                          <p:spTgt spid="66562"/>
                                        </p:tgtEl>
                                        <p:attrNameLst>
                                          <p:attrName>ppt_x</p:attrName>
                                        </p:attrNameLst>
                                      </p:cBhvr>
                                      <p:tavLst>
                                        <p:tav tm="0">
                                          <p:val>
                                            <p:strVal val="0-#ppt_w/2"/>
                                          </p:val>
                                        </p:tav>
                                        <p:tav tm="100000">
                                          <p:val>
                                            <p:strVal val="#ppt_x"/>
                                          </p:val>
                                        </p:tav>
                                      </p:tavLst>
                                    </p:anim>
                                    <p:anim calcmode="lin" valueType="num">
                                      <p:cBhvr additive="base">
                                        <p:cTn id="8" dur="500" fill="hold"/>
                                        <p:tgtEl>
                                          <p:spTgt spid="6656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Summary –</a:t>
            </a:r>
            <a:br>
              <a:rPr lang="en-AU" dirty="0" smtClean="0"/>
            </a:br>
            <a:r>
              <a:rPr lang="en-AU" dirty="0" smtClean="0"/>
              <a:t> quantitative indicators</a:t>
            </a:r>
            <a:endParaRPr lang="en-AU" dirty="0"/>
          </a:p>
        </p:txBody>
      </p:sp>
      <p:sp>
        <p:nvSpPr>
          <p:cNvPr id="3" name="Content Placeholder 2"/>
          <p:cNvSpPr>
            <a:spLocks noGrp="1"/>
          </p:cNvSpPr>
          <p:nvPr>
            <p:ph idx="1"/>
          </p:nvPr>
        </p:nvSpPr>
        <p:spPr/>
        <p:txBody>
          <a:bodyPr/>
          <a:lstStyle/>
          <a:p>
            <a:r>
              <a:rPr lang="en-AU" dirty="0" smtClean="0"/>
              <a:t>Gross National Product per capita</a:t>
            </a:r>
          </a:p>
          <a:p>
            <a:r>
              <a:rPr lang="en-AU" dirty="0" smtClean="0"/>
              <a:t>Composite quantitative measures such as Human Development Index, Multidimensional Poverty Index and Gender-Related Development Index.</a:t>
            </a:r>
            <a:endParaRPr lang="en-AU" dirty="0"/>
          </a:p>
        </p:txBody>
      </p:sp>
    </p:spTree>
    <p:extLst>
      <p:ext uri="{BB962C8B-B14F-4D97-AF65-F5344CB8AC3E}">
        <p14:creationId xmlns:p14="http://schemas.microsoft.com/office/powerpoint/2010/main" val="2580945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Causes of spatial inequality – external factors</a:t>
            </a:r>
            <a:endParaRPr lang="en-AU" dirty="0"/>
          </a:p>
        </p:txBody>
      </p:sp>
      <p:sp>
        <p:nvSpPr>
          <p:cNvPr id="3" name="Content Placeholder 2"/>
          <p:cNvSpPr>
            <a:spLocks noGrp="1"/>
          </p:cNvSpPr>
          <p:nvPr>
            <p:ph idx="1"/>
          </p:nvPr>
        </p:nvSpPr>
        <p:spPr>
          <a:xfrm>
            <a:off x="1251678" y="2286001"/>
            <a:ext cx="10178322" cy="4411013"/>
          </a:xfrm>
        </p:spPr>
        <p:txBody>
          <a:bodyPr>
            <a:normAutofit fontScale="92500" lnSpcReduction="10000"/>
          </a:bodyPr>
          <a:lstStyle/>
          <a:p>
            <a:r>
              <a:rPr lang="en-AU" b="1" dirty="0" smtClean="0">
                <a:solidFill>
                  <a:srgbClr val="C00000"/>
                </a:solidFill>
              </a:rPr>
              <a:t>Legacy of history </a:t>
            </a:r>
            <a:r>
              <a:rPr lang="en-AU" dirty="0" smtClean="0"/>
              <a:t>– </a:t>
            </a:r>
            <a:r>
              <a:rPr lang="en-AU" dirty="0" smtClean="0">
                <a:solidFill>
                  <a:schemeClr val="tx1"/>
                </a:solidFill>
              </a:rPr>
              <a:t>many of the world’s poorest countries were in the past colonies of vast European empires. Legacy of colonialism. </a:t>
            </a:r>
          </a:p>
          <a:p>
            <a:pPr marL="0" indent="0">
              <a:buNone/>
            </a:pPr>
            <a:r>
              <a:rPr lang="en-AU" dirty="0">
                <a:solidFill>
                  <a:schemeClr val="tx1"/>
                </a:solidFill>
              </a:rPr>
              <a:t> </a:t>
            </a:r>
            <a:r>
              <a:rPr lang="en-AU" dirty="0" smtClean="0">
                <a:solidFill>
                  <a:schemeClr val="tx1"/>
                </a:solidFill>
              </a:rPr>
              <a:t> </a:t>
            </a:r>
            <a:r>
              <a:rPr lang="en-AU" sz="1600" i="1" dirty="0" smtClean="0">
                <a:solidFill>
                  <a:schemeClr val="tx1"/>
                </a:solidFill>
              </a:rPr>
              <a:t>Colonialism – the practice of acquiring full or partial control over another   country, occupying it and exploiting it economically. </a:t>
            </a:r>
          </a:p>
          <a:p>
            <a:pPr marL="0" indent="0">
              <a:buNone/>
            </a:pPr>
            <a:endParaRPr lang="en-AU" i="1" dirty="0"/>
          </a:p>
          <a:p>
            <a:r>
              <a:rPr lang="en-AU" b="1" dirty="0" smtClean="0">
                <a:solidFill>
                  <a:srgbClr val="C00000"/>
                </a:solidFill>
              </a:rPr>
              <a:t>Trade imbalances </a:t>
            </a:r>
            <a:r>
              <a:rPr lang="en-AU" i="1" dirty="0" smtClean="0">
                <a:solidFill>
                  <a:schemeClr val="tx1"/>
                </a:solidFill>
              </a:rPr>
              <a:t>– </a:t>
            </a:r>
            <a:r>
              <a:rPr lang="en-AU" dirty="0" smtClean="0">
                <a:solidFill>
                  <a:schemeClr val="tx1"/>
                </a:solidFill>
              </a:rPr>
              <a:t>Many poor (developing) countries are still dependent on the industrialised, wealthy countries for many imported goods (high cost). Many people in developing countries have been encouraged to change from subsistence production to the production of cash crops, such as coffee and tea.</a:t>
            </a:r>
          </a:p>
          <a:p>
            <a:endParaRPr lang="en-AU" i="1" dirty="0">
              <a:solidFill>
                <a:schemeClr val="tx1"/>
              </a:solidFill>
            </a:endParaRPr>
          </a:p>
          <a:p>
            <a:r>
              <a:rPr lang="en-AU" b="1" dirty="0" smtClean="0">
                <a:solidFill>
                  <a:srgbClr val="C00000"/>
                </a:solidFill>
              </a:rPr>
              <a:t>Transnational Corporations – </a:t>
            </a:r>
            <a:r>
              <a:rPr lang="en-AU" dirty="0" smtClean="0">
                <a:solidFill>
                  <a:schemeClr val="tx1"/>
                </a:solidFill>
              </a:rPr>
              <a:t>TNC’s frequently operate headquarters in developed countries and subsidiary companies in developing countries. These countries are attractive as they may offer lower cost inputs, available and cheaper raw materials, plus cheaper labour… Goods produced in developing countries are then sold to consumers in developed countries.</a:t>
            </a:r>
            <a:endParaRPr lang="en-AU" b="1" dirty="0">
              <a:solidFill>
                <a:srgbClr val="C00000"/>
              </a:solidFill>
            </a:endParaRPr>
          </a:p>
        </p:txBody>
      </p:sp>
    </p:spTree>
    <p:extLst>
      <p:ext uri="{BB962C8B-B14F-4D97-AF65-F5344CB8AC3E}">
        <p14:creationId xmlns:p14="http://schemas.microsoft.com/office/powerpoint/2010/main" val="28614493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Causes of spatial inequality – external factors</a:t>
            </a:r>
            <a:endParaRPr lang="en-AU" dirty="0"/>
          </a:p>
        </p:txBody>
      </p:sp>
      <p:sp>
        <p:nvSpPr>
          <p:cNvPr id="3" name="Content Placeholder 2"/>
          <p:cNvSpPr>
            <a:spLocks noGrp="1"/>
          </p:cNvSpPr>
          <p:nvPr>
            <p:ph idx="1"/>
          </p:nvPr>
        </p:nvSpPr>
        <p:spPr>
          <a:xfrm>
            <a:off x="1251678" y="2286001"/>
            <a:ext cx="10178322" cy="4411013"/>
          </a:xfrm>
        </p:spPr>
        <p:txBody>
          <a:bodyPr>
            <a:normAutofit/>
          </a:bodyPr>
          <a:lstStyle/>
          <a:p>
            <a:r>
              <a:rPr lang="en-AU" b="1" dirty="0" smtClean="0">
                <a:solidFill>
                  <a:srgbClr val="C00000"/>
                </a:solidFill>
              </a:rPr>
              <a:t>Dependency on development assistance </a:t>
            </a:r>
            <a:r>
              <a:rPr lang="en-AU" dirty="0" smtClean="0">
                <a:solidFill>
                  <a:schemeClr val="accent5">
                    <a:lumMod val="75000"/>
                  </a:schemeClr>
                </a:solidFill>
              </a:rPr>
              <a:t>– </a:t>
            </a:r>
            <a:r>
              <a:rPr lang="en-AU" dirty="0" smtClean="0">
                <a:solidFill>
                  <a:schemeClr val="tx1"/>
                </a:solidFill>
              </a:rPr>
              <a:t>Many developing or poor countries are heavily dependent on </a:t>
            </a:r>
            <a:r>
              <a:rPr lang="en-AU" i="1" dirty="0" smtClean="0">
                <a:solidFill>
                  <a:schemeClr val="tx1"/>
                </a:solidFill>
              </a:rPr>
              <a:t>development assistance</a:t>
            </a:r>
            <a:endParaRPr lang="en-AU" dirty="0" smtClean="0">
              <a:solidFill>
                <a:schemeClr val="tx1"/>
              </a:solidFill>
            </a:endParaRPr>
          </a:p>
          <a:p>
            <a:pPr marL="0" indent="0">
              <a:buNone/>
            </a:pPr>
            <a:r>
              <a:rPr lang="en-AU" b="1" dirty="0" smtClean="0">
                <a:solidFill>
                  <a:schemeClr val="tx1"/>
                </a:solidFill>
              </a:rPr>
              <a:t>Three major types of aid:</a:t>
            </a:r>
          </a:p>
          <a:p>
            <a:pPr>
              <a:buFontTx/>
              <a:buChar char="-"/>
            </a:pPr>
            <a:r>
              <a:rPr lang="en-AU" b="1" dirty="0" smtClean="0">
                <a:solidFill>
                  <a:srgbClr val="0070C0"/>
                </a:solidFill>
              </a:rPr>
              <a:t>Bilateral aid </a:t>
            </a:r>
            <a:r>
              <a:rPr lang="en-AU" b="1" dirty="0" smtClean="0">
                <a:solidFill>
                  <a:schemeClr val="tx1"/>
                </a:solidFill>
              </a:rPr>
              <a:t>– government of wealthy countries providing assistance to developing countries.</a:t>
            </a:r>
          </a:p>
          <a:p>
            <a:pPr>
              <a:buFontTx/>
              <a:buChar char="-"/>
            </a:pPr>
            <a:r>
              <a:rPr lang="en-AU" b="1" dirty="0" smtClean="0">
                <a:solidFill>
                  <a:srgbClr val="0070C0"/>
                </a:solidFill>
              </a:rPr>
              <a:t>Multilateral aid </a:t>
            </a:r>
            <a:r>
              <a:rPr lang="en-AU" b="1" dirty="0" smtClean="0">
                <a:solidFill>
                  <a:schemeClr val="tx1"/>
                </a:solidFill>
              </a:rPr>
              <a:t>– provided by international institutions such as World Bank, International Monetary Fund (IMF) (often provided in loans)</a:t>
            </a:r>
          </a:p>
          <a:p>
            <a:pPr>
              <a:buFontTx/>
              <a:buChar char="-"/>
            </a:pPr>
            <a:r>
              <a:rPr lang="en-AU" b="1" dirty="0" smtClean="0">
                <a:solidFill>
                  <a:srgbClr val="0070C0"/>
                </a:solidFill>
              </a:rPr>
              <a:t>Non- Governmental Aid </a:t>
            </a:r>
            <a:r>
              <a:rPr lang="en-AU" b="1" dirty="0" smtClean="0">
                <a:solidFill>
                  <a:schemeClr val="tx1"/>
                </a:solidFill>
              </a:rPr>
              <a:t>– provided by NGO’s (Non-Government Organisations) (income from donations from people)</a:t>
            </a:r>
          </a:p>
        </p:txBody>
      </p:sp>
    </p:spTree>
    <p:extLst>
      <p:ext uri="{BB962C8B-B14F-4D97-AF65-F5344CB8AC3E}">
        <p14:creationId xmlns:p14="http://schemas.microsoft.com/office/powerpoint/2010/main" val="38024919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Causes of spatial inequality – internal factors – Discuss </a:t>
            </a:r>
            <a:endParaRPr lang="en-AU" dirty="0"/>
          </a:p>
        </p:txBody>
      </p:sp>
      <p:sp>
        <p:nvSpPr>
          <p:cNvPr id="3" name="Content Placeholder 2"/>
          <p:cNvSpPr>
            <a:spLocks noGrp="1"/>
          </p:cNvSpPr>
          <p:nvPr>
            <p:ph idx="1"/>
          </p:nvPr>
        </p:nvSpPr>
        <p:spPr>
          <a:xfrm>
            <a:off x="1251678" y="2286001"/>
            <a:ext cx="10178322" cy="4411013"/>
          </a:xfrm>
        </p:spPr>
        <p:txBody>
          <a:bodyPr>
            <a:normAutofit fontScale="85000" lnSpcReduction="20000"/>
          </a:bodyPr>
          <a:lstStyle/>
          <a:p>
            <a:r>
              <a:rPr lang="en-AU" b="1" dirty="0" smtClean="0">
                <a:solidFill>
                  <a:schemeClr val="tx1"/>
                </a:solidFill>
              </a:rPr>
              <a:t>Population growth</a:t>
            </a:r>
          </a:p>
          <a:p>
            <a:endParaRPr lang="en-AU" b="1" dirty="0">
              <a:solidFill>
                <a:schemeClr val="tx1"/>
              </a:solidFill>
            </a:endParaRPr>
          </a:p>
          <a:p>
            <a:r>
              <a:rPr lang="en-AU" b="1" dirty="0" smtClean="0">
                <a:solidFill>
                  <a:schemeClr val="tx1"/>
                </a:solidFill>
              </a:rPr>
              <a:t>Resource base</a:t>
            </a:r>
          </a:p>
          <a:p>
            <a:pPr marL="0" indent="0">
              <a:buNone/>
            </a:pPr>
            <a:endParaRPr lang="en-AU" b="1" dirty="0" smtClean="0">
              <a:solidFill>
                <a:schemeClr val="tx1"/>
              </a:solidFill>
            </a:endParaRPr>
          </a:p>
          <a:p>
            <a:r>
              <a:rPr lang="en-AU" b="1" dirty="0" smtClean="0">
                <a:solidFill>
                  <a:schemeClr val="tx1"/>
                </a:solidFill>
              </a:rPr>
              <a:t>Political instability</a:t>
            </a:r>
          </a:p>
          <a:p>
            <a:endParaRPr lang="en-AU" b="1" dirty="0">
              <a:solidFill>
                <a:schemeClr val="tx1"/>
              </a:solidFill>
            </a:endParaRPr>
          </a:p>
          <a:p>
            <a:r>
              <a:rPr lang="en-AU" b="1" dirty="0" smtClean="0">
                <a:solidFill>
                  <a:schemeClr val="tx1"/>
                </a:solidFill>
              </a:rPr>
              <a:t>Debt burdens</a:t>
            </a:r>
          </a:p>
          <a:p>
            <a:endParaRPr lang="en-AU" b="1" dirty="0">
              <a:solidFill>
                <a:schemeClr val="tx1"/>
              </a:solidFill>
            </a:endParaRPr>
          </a:p>
          <a:p>
            <a:r>
              <a:rPr lang="en-AU" b="1" dirty="0" smtClean="0">
                <a:solidFill>
                  <a:schemeClr val="tx1"/>
                </a:solidFill>
              </a:rPr>
              <a:t>Militarisation</a:t>
            </a:r>
          </a:p>
          <a:p>
            <a:endParaRPr lang="en-AU" b="1" dirty="0">
              <a:solidFill>
                <a:schemeClr val="tx1"/>
              </a:solidFill>
            </a:endParaRPr>
          </a:p>
          <a:p>
            <a:r>
              <a:rPr lang="en-AU" b="1" dirty="0" smtClean="0">
                <a:solidFill>
                  <a:schemeClr val="tx1"/>
                </a:solidFill>
              </a:rPr>
              <a:t>Environmental degradation</a:t>
            </a:r>
          </a:p>
          <a:p>
            <a:endParaRPr lang="en-AU" b="1" dirty="0">
              <a:solidFill>
                <a:schemeClr val="tx1"/>
              </a:solidFill>
            </a:endParaRPr>
          </a:p>
          <a:p>
            <a:r>
              <a:rPr lang="en-AU" b="1" dirty="0" smtClean="0">
                <a:solidFill>
                  <a:schemeClr val="tx1"/>
                </a:solidFill>
              </a:rPr>
              <a:t>Compounding issues</a:t>
            </a:r>
          </a:p>
          <a:p>
            <a:endParaRPr lang="en-AU" b="1" dirty="0" smtClean="0">
              <a:solidFill>
                <a:schemeClr val="tx1"/>
              </a:solidFill>
            </a:endParaRPr>
          </a:p>
        </p:txBody>
      </p:sp>
    </p:spTree>
    <p:extLst>
      <p:ext uri="{BB962C8B-B14F-4D97-AF65-F5344CB8AC3E}">
        <p14:creationId xmlns:p14="http://schemas.microsoft.com/office/powerpoint/2010/main" val="16238160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dirty="0" smtClean="0">
                <a:solidFill>
                  <a:srgbClr val="0070C0"/>
                </a:solidFill>
              </a:rPr>
              <a:t>HUMAN WELLBEING - ISSUES</a:t>
            </a:r>
            <a:endParaRPr lang="en-AU" dirty="0">
              <a:solidFill>
                <a:srgbClr val="0070C0"/>
              </a:solidFill>
            </a:endParaRPr>
          </a:p>
        </p:txBody>
      </p:sp>
      <p:sp>
        <p:nvSpPr>
          <p:cNvPr id="3" name="Content Placeholder 2"/>
          <p:cNvSpPr>
            <a:spLocks noGrp="1"/>
          </p:cNvSpPr>
          <p:nvPr>
            <p:ph idx="1"/>
          </p:nvPr>
        </p:nvSpPr>
        <p:spPr>
          <a:xfrm>
            <a:off x="1251678" y="1487511"/>
            <a:ext cx="10178322" cy="3593591"/>
          </a:xfrm>
        </p:spPr>
        <p:txBody>
          <a:bodyPr/>
          <a:lstStyle/>
          <a:p>
            <a:pPr marL="0" indent="0">
              <a:buNone/>
            </a:pPr>
            <a:r>
              <a:rPr lang="en-AU" dirty="0" smtClean="0"/>
              <a:t>Ask students to work with a partner to discuss the following…</a:t>
            </a:r>
          </a:p>
          <a:p>
            <a:pPr marL="0" indent="0">
              <a:buNone/>
            </a:pPr>
            <a:endParaRPr lang="en-AU" dirty="0" smtClean="0"/>
          </a:p>
          <a:p>
            <a:r>
              <a:rPr lang="en-AU" sz="4800" b="1" dirty="0" smtClean="0">
                <a:solidFill>
                  <a:srgbClr val="C00000"/>
                </a:solidFill>
              </a:rPr>
              <a:t>What are some of the barriers to improving human wellbeing?</a:t>
            </a:r>
          </a:p>
          <a:p>
            <a:pPr marL="0" indent="0">
              <a:buNone/>
            </a:pPr>
            <a:endParaRPr lang="en-AU" dirty="0"/>
          </a:p>
        </p:txBody>
      </p:sp>
    </p:spTree>
    <p:extLst>
      <p:ext uri="{BB962C8B-B14F-4D97-AF65-F5344CB8AC3E}">
        <p14:creationId xmlns:p14="http://schemas.microsoft.com/office/powerpoint/2010/main" val="8142366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dirty="0" smtClean="0">
                <a:solidFill>
                  <a:srgbClr val="0070C0"/>
                </a:solidFill>
              </a:rPr>
              <a:t>HUMAN WELLBEING - ISSUES</a:t>
            </a:r>
            <a:endParaRPr lang="en-AU" dirty="0">
              <a:solidFill>
                <a:srgbClr val="0070C0"/>
              </a:solidFill>
            </a:endParaRPr>
          </a:p>
        </p:txBody>
      </p:sp>
      <p:sp>
        <p:nvSpPr>
          <p:cNvPr id="3" name="Content Placeholder 2"/>
          <p:cNvSpPr>
            <a:spLocks noGrp="1"/>
          </p:cNvSpPr>
          <p:nvPr>
            <p:ph idx="1"/>
          </p:nvPr>
        </p:nvSpPr>
        <p:spPr>
          <a:xfrm>
            <a:off x="1251678" y="1128451"/>
            <a:ext cx="10178322" cy="5003441"/>
          </a:xfrm>
        </p:spPr>
        <p:txBody>
          <a:bodyPr>
            <a:noAutofit/>
          </a:bodyPr>
          <a:lstStyle/>
          <a:p>
            <a:r>
              <a:rPr lang="en-AU" sz="1500" dirty="0" smtClean="0"/>
              <a:t>Low life expectancy</a:t>
            </a:r>
          </a:p>
          <a:p>
            <a:r>
              <a:rPr lang="en-AU" sz="1500" dirty="0" smtClean="0"/>
              <a:t>Low access to health services</a:t>
            </a:r>
          </a:p>
          <a:p>
            <a:r>
              <a:rPr lang="en-AU" sz="1500" dirty="0" smtClean="0"/>
              <a:t>High maternal mortality rates</a:t>
            </a:r>
          </a:p>
          <a:p>
            <a:r>
              <a:rPr lang="en-AU" sz="1500" dirty="0" smtClean="0"/>
              <a:t>High infant mortality rates</a:t>
            </a:r>
          </a:p>
          <a:p>
            <a:r>
              <a:rPr lang="en-AU" sz="1500" dirty="0" smtClean="0"/>
              <a:t>Relatively high levels of illiteracy</a:t>
            </a:r>
          </a:p>
          <a:p>
            <a:r>
              <a:rPr lang="en-AU" sz="1500" dirty="0" smtClean="0"/>
              <a:t>Lack of adequate shelter</a:t>
            </a:r>
          </a:p>
          <a:p>
            <a:r>
              <a:rPr lang="en-AU" sz="1500" dirty="0" smtClean="0"/>
              <a:t>Low income per capita</a:t>
            </a:r>
          </a:p>
          <a:p>
            <a:r>
              <a:rPr lang="en-AU" sz="1500" dirty="0" smtClean="0"/>
              <a:t>Poverty</a:t>
            </a:r>
          </a:p>
          <a:p>
            <a:r>
              <a:rPr lang="en-AU" sz="1500" dirty="0" smtClean="0"/>
              <a:t>Lack of access to clean water and sanitation</a:t>
            </a:r>
          </a:p>
          <a:p>
            <a:r>
              <a:rPr lang="en-AU" sz="1500" dirty="0" smtClean="0"/>
              <a:t>Dietary deficiencies</a:t>
            </a:r>
          </a:p>
          <a:p>
            <a:r>
              <a:rPr lang="en-AU" sz="1500" dirty="0" smtClean="0"/>
              <a:t>Child exploitation</a:t>
            </a:r>
          </a:p>
          <a:p>
            <a:r>
              <a:rPr lang="en-AU" sz="1500" dirty="0" smtClean="0"/>
              <a:t>Rural-urban inequality</a:t>
            </a:r>
          </a:p>
          <a:p>
            <a:r>
              <a:rPr lang="en-AU" sz="1500" dirty="0" smtClean="0"/>
              <a:t>Low levels of technology</a:t>
            </a:r>
          </a:p>
          <a:p>
            <a:r>
              <a:rPr lang="en-AU" sz="1500" dirty="0" smtClean="0"/>
              <a:t>Lack of commitment to environmental sustainability</a:t>
            </a:r>
          </a:p>
          <a:p>
            <a:r>
              <a:rPr lang="en-AU" sz="1500" dirty="0" smtClean="0"/>
              <a:t>High rates of population growth</a:t>
            </a:r>
          </a:p>
          <a:p>
            <a:r>
              <a:rPr lang="en-AU" sz="1500" dirty="0" smtClean="0"/>
              <a:t>Indebtedness</a:t>
            </a:r>
          </a:p>
          <a:p>
            <a:r>
              <a:rPr lang="en-AU" sz="1500" dirty="0" smtClean="0"/>
              <a:t>Low levels of energy consumption – access to electricity. </a:t>
            </a:r>
            <a:endParaRPr lang="en-AU" sz="1500" dirty="0"/>
          </a:p>
        </p:txBody>
      </p:sp>
    </p:spTree>
    <p:extLst>
      <p:ext uri="{BB962C8B-B14F-4D97-AF65-F5344CB8AC3E}">
        <p14:creationId xmlns:p14="http://schemas.microsoft.com/office/powerpoint/2010/main" val="39221818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sz="9600" dirty="0" smtClean="0"/>
              <a:t>GOALS</a:t>
            </a:r>
            <a:endParaRPr lang="en-AU" sz="9600" dirty="0"/>
          </a:p>
        </p:txBody>
      </p:sp>
      <p:sp>
        <p:nvSpPr>
          <p:cNvPr id="3" name="Text Placeholder 2"/>
          <p:cNvSpPr>
            <a:spLocks noGrp="1"/>
          </p:cNvSpPr>
          <p:nvPr>
            <p:ph type="body" idx="1"/>
          </p:nvPr>
        </p:nvSpPr>
        <p:spPr>
          <a:xfrm>
            <a:off x="1354709" y="1759280"/>
            <a:ext cx="4800600" cy="632529"/>
          </a:xfrm>
        </p:spPr>
        <p:txBody>
          <a:bodyPr/>
          <a:lstStyle/>
          <a:p>
            <a:pPr algn="ctr"/>
            <a:r>
              <a:rPr lang="en-AU" dirty="0" smtClean="0">
                <a:solidFill>
                  <a:srgbClr val="C00000"/>
                </a:solidFill>
                <a:latin typeface="Arial" panose="020B0604020202020204" pitchFamily="34" charset="0"/>
                <a:cs typeface="Arial" panose="020B0604020202020204" pitchFamily="34" charset="0"/>
              </a:rPr>
              <a:t>The millennium development goals</a:t>
            </a:r>
            <a:endParaRPr lang="en-AU" dirty="0">
              <a:solidFill>
                <a:srgbClr val="C00000"/>
              </a:solidFill>
              <a:latin typeface="Arial" panose="020B0604020202020204" pitchFamily="34" charset="0"/>
              <a:cs typeface="Arial" panose="020B0604020202020204" pitchFamily="34" charset="0"/>
            </a:endParaRPr>
          </a:p>
        </p:txBody>
      </p:sp>
      <p:sp>
        <p:nvSpPr>
          <p:cNvPr id="4" name="Content Placeholder 3"/>
          <p:cNvSpPr>
            <a:spLocks noGrp="1"/>
          </p:cNvSpPr>
          <p:nvPr>
            <p:ph sz="half" idx="2"/>
          </p:nvPr>
        </p:nvSpPr>
        <p:spPr>
          <a:xfrm>
            <a:off x="1252728" y="2488949"/>
            <a:ext cx="4800600" cy="3787912"/>
          </a:xfrm>
        </p:spPr>
        <p:txBody>
          <a:bodyPr>
            <a:normAutofit fontScale="85000" lnSpcReduction="20000"/>
          </a:bodyPr>
          <a:lstStyle/>
          <a:p>
            <a:r>
              <a:rPr lang="en-AU" dirty="0" smtClean="0">
                <a:solidFill>
                  <a:schemeClr val="tx1"/>
                </a:solidFill>
              </a:rPr>
              <a:t>In </a:t>
            </a:r>
            <a:r>
              <a:rPr lang="en-AU" b="1" dirty="0" smtClean="0">
                <a:solidFill>
                  <a:schemeClr val="tx1"/>
                </a:solidFill>
              </a:rPr>
              <a:t>2000, 189 </a:t>
            </a:r>
            <a:r>
              <a:rPr lang="en-AU" dirty="0" smtClean="0">
                <a:solidFill>
                  <a:schemeClr val="tx1"/>
                </a:solidFill>
              </a:rPr>
              <a:t>countries agreed to improve human wellbeing of the world and came together at the </a:t>
            </a:r>
            <a:r>
              <a:rPr lang="en-AU" b="1" dirty="0" smtClean="0">
                <a:solidFill>
                  <a:schemeClr val="tx1"/>
                </a:solidFill>
              </a:rPr>
              <a:t>United Nations </a:t>
            </a:r>
            <a:r>
              <a:rPr lang="en-AU" dirty="0" smtClean="0">
                <a:solidFill>
                  <a:schemeClr val="tx1"/>
                </a:solidFill>
              </a:rPr>
              <a:t>and agreed on </a:t>
            </a:r>
            <a:r>
              <a:rPr lang="en-AU" b="1" dirty="0" smtClean="0">
                <a:solidFill>
                  <a:srgbClr val="FF0000"/>
                </a:solidFill>
              </a:rPr>
              <a:t>eight goals </a:t>
            </a:r>
            <a:r>
              <a:rPr lang="en-AU" dirty="0" smtClean="0">
                <a:solidFill>
                  <a:schemeClr val="tx1"/>
                </a:solidFill>
              </a:rPr>
              <a:t>to</a:t>
            </a:r>
            <a:r>
              <a:rPr lang="en-AU" dirty="0" smtClean="0"/>
              <a:t> </a:t>
            </a:r>
            <a:r>
              <a:rPr lang="en-AU" dirty="0" smtClean="0">
                <a:solidFill>
                  <a:schemeClr val="tx1"/>
                </a:solidFill>
              </a:rPr>
              <a:t>halve extreme poverty by </a:t>
            </a:r>
            <a:r>
              <a:rPr lang="en-AU" b="1" dirty="0" smtClean="0">
                <a:solidFill>
                  <a:schemeClr val="tx1"/>
                </a:solidFill>
              </a:rPr>
              <a:t>2015.</a:t>
            </a:r>
          </a:p>
          <a:p>
            <a:r>
              <a:rPr lang="en-AU" dirty="0" smtClean="0">
                <a:solidFill>
                  <a:schemeClr val="tx1"/>
                </a:solidFill>
              </a:rPr>
              <a:t>The goals were called the Millennium Development Goals (MDG’s)</a:t>
            </a:r>
          </a:p>
          <a:p>
            <a:r>
              <a:rPr lang="en-AU" dirty="0" smtClean="0">
                <a:solidFill>
                  <a:schemeClr val="tx1"/>
                </a:solidFill>
              </a:rPr>
              <a:t>Over 15 years, much was achieved</a:t>
            </a:r>
          </a:p>
          <a:p>
            <a:r>
              <a:rPr lang="en-AU" b="1" dirty="0" smtClean="0">
                <a:solidFill>
                  <a:srgbClr val="FF0000"/>
                </a:solidFill>
              </a:rPr>
              <a:t>Examples</a:t>
            </a:r>
            <a:r>
              <a:rPr lang="en-AU" dirty="0" smtClean="0">
                <a:solidFill>
                  <a:srgbClr val="FF0000"/>
                </a:solidFill>
              </a:rPr>
              <a:t> </a:t>
            </a:r>
            <a:r>
              <a:rPr lang="en-AU" dirty="0" smtClean="0">
                <a:solidFill>
                  <a:schemeClr val="tx1"/>
                </a:solidFill>
              </a:rPr>
              <a:t>of Goals – </a:t>
            </a:r>
          </a:p>
          <a:p>
            <a:pPr marL="0" indent="0">
              <a:buNone/>
            </a:pPr>
            <a:r>
              <a:rPr lang="en-AU" b="1" dirty="0" smtClean="0">
                <a:solidFill>
                  <a:srgbClr val="0070C0"/>
                </a:solidFill>
              </a:rPr>
              <a:t>Goal 1: Eradicate extreme poverty and hunger</a:t>
            </a:r>
          </a:p>
          <a:p>
            <a:pPr marL="0" indent="0">
              <a:buNone/>
            </a:pPr>
            <a:r>
              <a:rPr lang="en-AU" b="1" dirty="0" smtClean="0">
                <a:solidFill>
                  <a:srgbClr val="0070C0"/>
                </a:solidFill>
              </a:rPr>
              <a:t>Goal 4: Reduce Child Mortality</a:t>
            </a:r>
          </a:p>
          <a:p>
            <a:pPr marL="0" indent="0">
              <a:buNone/>
            </a:pPr>
            <a:r>
              <a:rPr lang="en-AU" b="1" dirty="0" smtClean="0">
                <a:solidFill>
                  <a:srgbClr val="0070C0"/>
                </a:solidFill>
              </a:rPr>
              <a:t>Goal 6: Combat HIV and AIDS, malaria and other diseases.</a:t>
            </a:r>
            <a:endParaRPr lang="en-AU" b="1" dirty="0">
              <a:solidFill>
                <a:srgbClr val="0070C0"/>
              </a:solidFill>
            </a:endParaRPr>
          </a:p>
        </p:txBody>
      </p:sp>
      <p:sp>
        <p:nvSpPr>
          <p:cNvPr id="5" name="Text Placeholder 4"/>
          <p:cNvSpPr>
            <a:spLocks noGrp="1"/>
          </p:cNvSpPr>
          <p:nvPr>
            <p:ph type="body" sz="quarter" idx="3"/>
          </p:nvPr>
        </p:nvSpPr>
        <p:spPr>
          <a:xfrm>
            <a:off x="6633864" y="1759280"/>
            <a:ext cx="4800600" cy="632529"/>
          </a:xfrm>
        </p:spPr>
        <p:txBody>
          <a:bodyPr/>
          <a:lstStyle/>
          <a:p>
            <a:pPr algn="ctr"/>
            <a:r>
              <a:rPr lang="en-AU" dirty="0" smtClean="0">
                <a:solidFill>
                  <a:srgbClr val="C00000"/>
                </a:solidFill>
                <a:latin typeface="Arial" panose="020B0604020202020204" pitchFamily="34" charset="0"/>
                <a:cs typeface="Arial" panose="020B0604020202020204" pitchFamily="34" charset="0"/>
              </a:rPr>
              <a:t>Sustainable development goals</a:t>
            </a:r>
            <a:endParaRPr lang="en-AU" dirty="0">
              <a:solidFill>
                <a:srgbClr val="C00000"/>
              </a:solidFill>
              <a:latin typeface="Arial" panose="020B0604020202020204" pitchFamily="34" charset="0"/>
              <a:cs typeface="Arial" panose="020B0604020202020204" pitchFamily="34" charset="0"/>
            </a:endParaRPr>
          </a:p>
        </p:txBody>
      </p:sp>
      <p:sp>
        <p:nvSpPr>
          <p:cNvPr id="6" name="Content Placeholder 5"/>
          <p:cNvSpPr>
            <a:spLocks noGrp="1"/>
          </p:cNvSpPr>
          <p:nvPr>
            <p:ph sz="quarter" idx="4"/>
          </p:nvPr>
        </p:nvSpPr>
        <p:spPr>
          <a:xfrm>
            <a:off x="6633864" y="2391809"/>
            <a:ext cx="4800600" cy="4227932"/>
          </a:xfrm>
        </p:spPr>
        <p:txBody>
          <a:bodyPr>
            <a:normAutofit fontScale="70000" lnSpcReduction="20000"/>
          </a:bodyPr>
          <a:lstStyle/>
          <a:p>
            <a:r>
              <a:rPr lang="en-AU" dirty="0" smtClean="0">
                <a:solidFill>
                  <a:schemeClr val="tx1"/>
                </a:solidFill>
              </a:rPr>
              <a:t>A meeting of the </a:t>
            </a:r>
            <a:r>
              <a:rPr lang="en-AU" b="1" dirty="0" smtClean="0">
                <a:solidFill>
                  <a:schemeClr val="tx1"/>
                </a:solidFill>
              </a:rPr>
              <a:t>United Nations </a:t>
            </a:r>
            <a:r>
              <a:rPr lang="en-AU" dirty="0" smtClean="0">
                <a:solidFill>
                  <a:schemeClr val="tx1"/>
                </a:solidFill>
              </a:rPr>
              <a:t>in </a:t>
            </a:r>
            <a:r>
              <a:rPr lang="en-AU" b="1" dirty="0" smtClean="0">
                <a:solidFill>
                  <a:schemeClr val="tx1"/>
                </a:solidFill>
              </a:rPr>
              <a:t>2015</a:t>
            </a:r>
            <a:r>
              <a:rPr lang="en-AU" dirty="0" smtClean="0">
                <a:solidFill>
                  <a:schemeClr val="tx1"/>
                </a:solidFill>
              </a:rPr>
              <a:t>, representatives of all</a:t>
            </a:r>
            <a:r>
              <a:rPr lang="en-AU" b="1" dirty="0" smtClean="0">
                <a:solidFill>
                  <a:schemeClr val="tx1"/>
                </a:solidFill>
              </a:rPr>
              <a:t> 193 </a:t>
            </a:r>
            <a:r>
              <a:rPr lang="en-AU" dirty="0" smtClean="0">
                <a:solidFill>
                  <a:schemeClr val="tx1"/>
                </a:solidFill>
              </a:rPr>
              <a:t>member countries present agreed to set goals to protect the planet, ensure that all people on earth enjoy a high level of wellbeing by </a:t>
            </a:r>
            <a:r>
              <a:rPr lang="en-AU" b="1" dirty="0" smtClean="0">
                <a:solidFill>
                  <a:schemeClr val="tx1"/>
                </a:solidFill>
              </a:rPr>
              <a:t>2030</a:t>
            </a:r>
            <a:r>
              <a:rPr lang="en-AU" dirty="0" smtClean="0">
                <a:solidFill>
                  <a:schemeClr val="tx1"/>
                </a:solidFill>
              </a:rPr>
              <a:t> and designed to end poverty.</a:t>
            </a:r>
          </a:p>
          <a:p>
            <a:r>
              <a:rPr lang="en-AU" b="1" dirty="0" smtClean="0">
                <a:solidFill>
                  <a:srgbClr val="FF0000"/>
                </a:solidFill>
              </a:rPr>
              <a:t>17 goals </a:t>
            </a:r>
            <a:r>
              <a:rPr lang="en-AU" dirty="0" smtClean="0">
                <a:solidFill>
                  <a:schemeClr val="tx1"/>
                </a:solidFill>
              </a:rPr>
              <a:t>created and agreed on.</a:t>
            </a:r>
          </a:p>
          <a:p>
            <a:r>
              <a:rPr lang="en-AU" b="1" dirty="0" smtClean="0">
                <a:solidFill>
                  <a:schemeClr val="tx1"/>
                </a:solidFill>
              </a:rPr>
              <a:t>Seven</a:t>
            </a:r>
            <a:r>
              <a:rPr lang="en-AU" dirty="0" smtClean="0">
                <a:solidFill>
                  <a:schemeClr val="tx1"/>
                </a:solidFill>
              </a:rPr>
              <a:t> of the </a:t>
            </a:r>
            <a:r>
              <a:rPr lang="en-AU" b="1" dirty="0" smtClean="0">
                <a:solidFill>
                  <a:srgbClr val="FF0000"/>
                </a:solidFill>
              </a:rPr>
              <a:t>17 goals </a:t>
            </a:r>
            <a:r>
              <a:rPr lang="en-AU" dirty="0" smtClean="0">
                <a:solidFill>
                  <a:schemeClr val="tx1"/>
                </a:solidFill>
              </a:rPr>
              <a:t>related directly to reducing inequalities in human wellbeing.</a:t>
            </a:r>
          </a:p>
          <a:p>
            <a:pPr marL="0" indent="0">
              <a:buNone/>
            </a:pPr>
            <a:r>
              <a:rPr lang="en-AU" dirty="0" smtClean="0">
                <a:solidFill>
                  <a:schemeClr val="tx1"/>
                </a:solidFill>
              </a:rPr>
              <a:t>Examples of these 7 goals –</a:t>
            </a:r>
          </a:p>
          <a:p>
            <a:pPr>
              <a:buFontTx/>
              <a:buChar char="-"/>
            </a:pPr>
            <a:r>
              <a:rPr lang="en-AU" b="1" dirty="0" smtClean="0">
                <a:solidFill>
                  <a:srgbClr val="0070C0"/>
                </a:solidFill>
              </a:rPr>
              <a:t>Goal 1: End poverty in all its forms, everywhere.</a:t>
            </a:r>
          </a:p>
          <a:p>
            <a:pPr>
              <a:buFontTx/>
              <a:buChar char="-"/>
            </a:pPr>
            <a:r>
              <a:rPr lang="en-AU" b="1" dirty="0" smtClean="0">
                <a:solidFill>
                  <a:srgbClr val="0070C0"/>
                </a:solidFill>
              </a:rPr>
              <a:t>Goal 2: End hunger, achieve food security and improved nutrition and promote sustainable agriculture.</a:t>
            </a:r>
          </a:p>
          <a:p>
            <a:pPr>
              <a:buFontTx/>
              <a:buChar char="-"/>
            </a:pPr>
            <a:r>
              <a:rPr lang="en-AU" b="1" dirty="0" smtClean="0">
                <a:solidFill>
                  <a:srgbClr val="0070C0"/>
                </a:solidFill>
              </a:rPr>
              <a:t>Goal 3: Ensure healthy lives and promote wellbeing for all at all ages.</a:t>
            </a:r>
          </a:p>
          <a:p>
            <a:pPr>
              <a:buFontTx/>
              <a:buChar char="-"/>
            </a:pPr>
            <a:r>
              <a:rPr lang="en-AU" b="1" dirty="0" smtClean="0">
                <a:solidFill>
                  <a:srgbClr val="0070C0"/>
                </a:solidFill>
              </a:rPr>
              <a:t>Goal 4, Goal 5, Goal 6 </a:t>
            </a:r>
            <a:r>
              <a:rPr lang="en-AU" dirty="0" smtClean="0">
                <a:solidFill>
                  <a:schemeClr val="tx1"/>
                </a:solidFill>
              </a:rPr>
              <a:t>and</a:t>
            </a:r>
            <a:r>
              <a:rPr lang="en-AU" b="1" dirty="0" smtClean="0">
                <a:solidFill>
                  <a:schemeClr val="tx1"/>
                </a:solidFill>
              </a:rPr>
              <a:t> </a:t>
            </a:r>
            <a:r>
              <a:rPr lang="en-AU" b="1" dirty="0" smtClean="0">
                <a:solidFill>
                  <a:srgbClr val="0070C0"/>
                </a:solidFill>
              </a:rPr>
              <a:t>Goal 10 </a:t>
            </a:r>
            <a:r>
              <a:rPr lang="en-AU" dirty="0" smtClean="0">
                <a:solidFill>
                  <a:schemeClr val="tx1"/>
                </a:solidFill>
              </a:rPr>
              <a:t>all relate to inequalities in human wellbeing. </a:t>
            </a:r>
          </a:p>
          <a:p>
            <a:pPr>
              <a:buFontTx/>
              <a:buChar char="-"/>
            </a:pPr>
            <a:endParaRPr lang="en-AU" dirty="0"/>
          </a:p>
        </p:txBody>
      </p:sp>
    </p:spTree>
    <p:extLst>
      <p:ext uri="{BB962C8B-B14F-4D97-AF65-F5344CB8AC3E}">
        <p14:creationId xmlns:p14="http://schemas.microsoft.com/office/powerpoint/2010/main" val="11709630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42930" y="211004"/>
            <a:ext cx="8187071" cy="2699621"/>
          </a:xfrm>
        </p:spPr>
        <p:txBody>
          <a:bodyPr>
            <a:normAutofit/>
          </a:bodyPr>
          <a:lstStyle/>
          <a:p>
            <a:r>
              <a:rPr lang="en-AU" dirty="0" err="1" smtClean="0"/>
              <a:t>Riq</a:t>
            </a:r>
            <a:r>
              <a:rPr lang="en-AU" dirty="0" smtClean="0"/>
              <a:t> – 321 </a:t>
            </a:r>
            <a:br>
              <a:rPr lang="en-AU" dirty="0" smtClean="0"/>
            </a:br>
            <a:r>
              <a:rPr lang="en-AU" sz="2200" dirty="0" smtClean="0">
                <a:latin typeface="Aparajita" panose="020B0604020202020204" pitchFamily="34" charset="0"/>
                <a:cs typeface="Aparajita" panose="020B0604020202020204" pitchFamily="34" charset="0"/>
              </a:rPr>
              <a:t>(Topic: The PowerPoint)</a:t>
            </a:r>
            <a:endParaRPr lang="en-AU" sz="2200" dirty="0">
              <a:latin typeface="Aparajita" panose="020B0604020202020204" pitchFamily="34" charset="0"/>
              <a:cs typeface="Aparajita" panose="020B0604020202020204" pitchFamily="34" charset="0"/>
            </a:endParaRPr>
          </a:p>
        </p:txBody>
      </p:sp>
      <p:sp>
        <p:nvSpPr>
          <p:cNvPr id="3" name="Text Placeholder 2"/>
          <p:cNvSpPr>
            <a:spLocks noGrp="1"/>
          </p:cNvSpPr>
          <p:nvPr>
            <p:ph type="body" idx="1"/>
          </p:nvPr>
        </p:nvSpPr>
        <p:spPr>
          <a:xfrm>
            <a:off x="3242930" y="3446891"/>
            <a:ext cx="7017488" cy="2464512"/>
          </a:xfrm>
        </p:spPr>
        <p:txBody>
          <a:bodyPr/>
          <a:lstStyle/>
          <a:p>
            <a:r>
              <a:rPr lang="en-AU" dirty="0" smtClean="0"/>
              <a:t>3 recalls/remember</a:t>
            </a:r>
          </a:p>
          <a:p>
            <a:endParaRPr lang="en-AU" dirty="0"/>
          </a:p>
          <a:p>
            <a:r>
              <a:rPr lang="en-AU" dirty="0" smtClean="0"/>
              <a:t>2 insights/interesting</a:t>
            </a:r>
          </a:p>
          <a:p>
            <a:endParaRPr lang="en-AU" dirty="0"/>
          </a:p>
          <a:p>
            <a:r>
              <a:rPr lang="en-AU" dirty="0" smtClean="0"/>
              <a:t>1 question</a:t>
            </a:r>
            <a:endParaRPr lang="en-AU" dirty="0"/>
          </a:p>
        </p:txBody>
      </p:sp>
    </p:spTree>
    <p:extLst>
      <p:ext uri="{BB962C8B-B14F-4D97-AF65-F5344CB8AC3E}">
        <p14:creationId xmlns:p14="http://schemas.microsoft.com/office/powerpoint/2010/main" val="583386498"/>
      </p:ext>
    </p:extLst>
  </p:cSld>
  <p:clrMapOvr>
    <a:masterClrMapping/>
  </p:clrMapOvr>
  <p:timing>
    <p:tnLst>
      <p:par>
        <p:cTn id="1" dur="indefinite" restart="never" nodeType="tmRoot"/>
      </p:par>
    </p:tnLst>
  </p:timing>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Badge" id="{71A07785-5930-41D4-9A83-E23602B48E98}" vid="{771EA782-DFA6-45B1-AEA3-661F1715B3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TM10001106[[fn=Badge]]</Template>
  <TotalTime>418</TotalTime>
  <Words>1930</Words>
  <Application>Microsoft Office PowerPoint</Application>
  <PresentationFormat>Custom</PresentationFormat>
  <Paragraphs>207</Paragraphs>
  <Slides>29</Slides>
  <Notes>5</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Badge</vt:lpstr>
      <vt:lpstr>Human wellbeing</vt:lpstr>
      <vt:lpstr>Definition – Human wellbeing</vt:lpstr>
      <vt:lpstr>Definition - development</vt:lpstr>
      <vt:lpstr>Developing COUNTRY  V  DEVELOPED COUNTRY </vt:lpstr>
      <vt:lpstr>MEASURING &amp; MAPPING –  HUMAN WELLBEING</vt:lpstr>
      <vt:lpstr>Qualitative indicators</vt:lpstr>
      <vt:lpstr>Quantitative indicators</vt:lpstr>
      <vt:lpstr>Spatial patterns and indicators</vt:lpstr>
      <vt:lpstr>Spatial patterns and indicators</vt:lpstr>
      <vt:lpstr>Economic &amp; social development–  types of indicators</vt:lpstr>
      <vt:lpstr>Economic &amp; social development–  types of indicators</vt:lpstr>
      <vt:lpstr>Economic &amp; social development–  types of indicators</vt:lpstr>
      <vt:lpstr>COMPARING DATA  -  PNG V AUSTRALIA</vt:lpstr>
      <vt:lpstr>PAPUA NEW GUINEA</vt:lpstr>
      <vt:lpstr>PowerPoint Presentation</vt:lpstr>
      <vt:lpstr>How the UNDP Measures  Human Development</vt:lpstr>
      <vt:lpstr>Deconstructing Each Measure</vt:lpstr>
      <vt:lpstr>Human development index</vt:lpstr>
      <vt:lpstr>Human development index</vt:lpstr>
      <vt:lpstr>Understanding Indexes</vt:lpstr>
      <vt:lpstr>Economic &amp; Social Indexes</vt:lpstr>
      <vt:lpstr>Summary –  quantitative indicators</vt:lpstr>
      <vt:lpstr>Causes of spatial inequality – external factors</vt:lpstr>
      <vt:lpstr>Causes of spatial inequality – external factors</vt:lpstr>
      <vt:lpstr>Causes of spatial inequality – internal factors – Discuss </vt:lpstr>
      <vt:lpstr>HUMAN WELLBEING - ISSUES</vt:lpstr>
      <vt:lpstr>HUMAN WELLBEING - ISSUES</vt:lpstr>
      <vt:lpstr>GOALS</vt:lpstr>
      <vt:lpstr>Riq – 321  (Topic: The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wellbeing</dc:title>
  <dc:creator>Owner</dc:creator>
  <cp:lastModifiedBy>RINTOUL Brooke</cp:lastModifiedBy>
  <cp:revision>29</cp:revision>
  <dcterms:created xsi:type="dcterms:W3CDTF">2018-03-20T15:05:18Z</dcterms:created>
  <dcterms:modified xsi:type="dcterms:W3CDTF">2018-04-09T04:53:10Z</dcterms:modified>
</cp:coreProperties>
</file>
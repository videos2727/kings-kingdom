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42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93CB8-F387-48AE-8CB4-86C76AE18C86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DC59D-0AF3-4157-9247-1A1586FB01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22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08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09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10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858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350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595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330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198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890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11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517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85510-A5FC-484D-8676-11B66E595E19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15EEF-B959-464B-9570-38F901ABDE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146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8000" b="1" dirty="0" smtClean="0">
                <a:solidFill>
                  <a:schemeClr val="accent1">
                    <a:lumMod val="75000"/>
                  </a:schemeClr>
                </a:solidFill>
              </a:rPr>
              <a:t>SITE &amp; SITUATION</a:t>
            </a:r>
            <a:endParaRPr lang="en-AU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26" name="Picture 2" descr="C:\Users\e2041615\AppData\Local\Microsoft\Windows\Temporary Internet Files\Content.IE5\TM8SEV2T\location-icon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05064"/>
            <a:ext cx="2594611" cy="239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2041615\AppData\Local\Microsoft\Windows\Temporary Internet Files\Content.IE5\TM8SEV2T\map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267740"/>
            <a:ext cx="2841104" cy="2130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2041615\AppData\Local\Microsoft\Windows\Temporary Internet Files\Content.IE5\P9NYWZ4Z\19d48710899f1af943eb6362f02a76dd-vector-jungle-tree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27" y="476672"/>
            <a:ext cx="2311152" cy="146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2041615\AppData\Local\Microsoft\Windows\Temporary Internet Files\Content.IE5\TM8SEV2T\1423333804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780" y="75260"/>
            <a:ext cx="1911460" cy="226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72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>
          <a:xfrm>
            <a:off x="539552" y="692696"/>
            <a:ext cx="8229600" cy="1143000"/>
          </a:xfrm>
        </p:spPr>
        <p:txBody>
          <a:bodyPr>
            <a:noAutofit/>
          </a:bodyPr>
          <a:lstStyle/>
          <a:p>
            <a:pPr algn="l" eaLnBrk="1" hangingPunct="1"/>
            <a:r>
              <a:rPr lang="en-AU" sz="8800" b="1" dirty="0" smtClean="0">
                <a:solidFill>
                  <a:srgbClr val="002060"/>
                </a:solidFill>
              </a:rPr>
              <a:t>SITE</a:t>
            </a:r>
          </a:p>
        </p:txBody>
      </p:sp>
      <p:sp>
        <p:nvSpPr>
          <p:cNvPr id="71682" name="Content Placeholder 3"/>
          <p:cNvSpPr>
            <a:spLocks noGrp="1"/>
          </p:cNvSpPr>
          <p:nvPr>
            <p:ph sz="half" idx="2"/>
          </p:nvPr>
        </p:nvSpPr>
        <p:spPr>
          <a:xfrm>
            <a:off x="467544" y="2636912"/>
            <a:ext cx="8075612" cy="3951287"/>
          </a:xfrm>
        </p:spPr>
        <p:txBody>
          <a:bodyPr/>
          <a:lstStyle/>
          <a:p>
            <a:pPr eaLnBrk="1" hangingPunct="1"/>
            <a:r>
              <a:rPr lang="en-AU" b="1" dirty="0" smtClean="0"/>
              <a:t>SITE</a:t>
            </a:r>
            <a:r>
              <a:rPr lang="en-AU" dirty="0" smtClean="0"/>
              <a:t> deals with a </a:t>
            </a:r>
            <a:r>
              <a:rPr lang="en-AU" b="1" dirty="0" smtClean="0"/>
              <a:t>SPOT</a:t>
            </a:r>
          </a:p>
          <a:p>
            <a:pPr marL="0" indent="0" eaLnBrk="1" hangingPunct="1">
              <a:buNone/>
            </a:pPr>
            <a:endParaRPr lang="en-AU" dirty="0" smtClean="0"/>
          </a:p>
          <a:p>
            <a:pPr eaLnBrk="1" hangingPunct="1"/>
            <a:r>
              <a:rPr lang="en-AU" b="1" i="1" dirty="0" smtClean="0"/>
              <a:t>Site requires a description of: </a:t>
            </a:r>
          </a:p>
          <a:p>
            <a:pPr lvl="1" eaLnBrk="1" hangingPunct="1"/>
            <a:r>
              <a:rPr lang="en-AU" b="1" i="1" dirty="0" smtClean="0"/>
              <a:t>Topographic features </a:t>
            </a:r>
            <a:r>
              <a:rPr lang="en-AU" dirty="0" smtClean="0"/>
              <a:t>– may be a few (do they have names </a:t>
            </a:r>
            <a:r>
              <a:rPr lang="en-AU" dirty="0" err="1" smtClean="0"/>
              <a:t>e.g</a:t>
            </a:r>
            <a:r>
              <a:rPr lang="en-AU" dirty="0" smtClean="0"/>
              <a:t> valley)</a:t>
            </a:r>
          </a:p>
          <a:p>
            <a:pPr lvl="1" eaLnBrk="1" hangingPunct="1"/>
            <a:r>
              <a:rPr lang="en-AU" b="1" i="1" dirty="0" smtClean="0"/>
              <a:t>Height ASL </a:t>
            </a:r>
            <a:r>
              <a:rPr lang="en-AU" dirty="0" smtClean="0"/>
              <a:t>– usually a range </a:t>
            </a:r>
            <a:r>
              <a:rPr lang="en-AU" i="1" dirty="0" smtClean="0"/>
              <a:t>e.g. 10 to 25 metres </a:t>
            </a:r>
            <a:r>
              <a:rPr lang="en-AU" i="1" dirty="0" err="1" smtClean="0"/>
              <a:t>asl</a:t>
            </a:r>
            <a:endParaRPr lang="en-AU" i="1" dirty="0" smtClean="0"/>
          </a:p>
          <a:p>
            <a:pPr lvl="1" eaLnBrk="1" hangingPunct="1"/>
            <a:r>
              <a:rPr lang="en-AU" b="1" i="1" dirty="0" smtClean="0"/>
              <a:t>Slope</a:t>
            </a:r>
            <a:r>
              <a:rPr lang="en-AU" dirty="0" smtClean="0"/>
              <a:t> – a descriptive term </a:t>
            </a:r>
            <a:r>
              <a:rPr lang="en-AU" i="1" dirty="0" smtClean="0"/>
              <a:t>e.g. gentle or undulating</a:t>
            </a:r>
          </a:p>
          <a:p>
            <a:pPr lvl="1" eaLnBrk="1" hangingPunct="1"/>
            <a:r>
              <a:rPr lang="en-AU" b="1" i="1" dirty="0" smtClean="0"/>
              <a:t>Soil</a:t>
            </a:r>
            <a:r>
              <a:rPr lang="en-AU" dirty="0" smtClean="0"/>
              <a:t> – if it’s possible to determine </a:t>
            </a:r>
            <a:r>
              <a:rPr lang="en-AU" i="1" dirty="0" smtClean="0"/>
              <a:t>e.g. alluvial or sand</a:t>
            </a:r>
          </a:p>
          <a:p>
            <a:pPr lvl="1" eaLnBrk="1" hangingPunct="1"/>
            <a:r>
              <a:rPr lang="en-AU" b="1" i="1" dirty="0" smtClean="0"/>
              <a:t>Vegetation </a:t>
            </a:r>
            <a:r>
              <a:rPr lang="en-AU" dirty="0" smtClean="0"/>
              <a:t>– if its possible to </a:t>
            </a:r>
            <a:r>
              <a:rPr lang="en-AU" dirty="0" smtClean="0"/>
              <a:t>determine, including type and variety of species and density. </a:t>
            </a:r>
            <a:r>
              <a:rPr lang="en-AU" i="1" dirty="0" smtClean="0"/>
              <a:t>e.g. medium scrub</a:t>
            </a:r>
          </a:p>
        </p:txBody>
      </p:sp>
      <p:pic>
        <p:nvPicPr>
          <p:cNvPr id="5" name="Picture 6" descr="C:\Users\e2041615\AppData\Local\Microsoft\Windows\Temporary Internet Files\Content.IE5\TM8SEV2T\map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60648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37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6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</p:spPr>
        <p:txBody>
          <a:bodyPr>
            <a:noAutofit/>
          </a:bodyPr>
          <a:lstStyle/>
          <a:p>
            <a:pPr algn="l" eaLnBrk="1" hangingPunct="1"/>
            <a:r>
              <a:rPr lang="en-AU" sz="8800" b="1" dirty="0" smtClean="0">
                <a:solidFill>
                  <a:srgbClr val="002060"/>
                </a:solidFill>
              </a:rPr>
              <a:t>SITE</a:t>
            </a:r>
            <a:endParaRPr lang="en-AU" sz="8800" b="1" dirty="0" smtClean="0">
              <a:solidFill>
                <a:srgbClr val="002060"/>
              </a:solidFill>
            </a:endParaRPr>
          </a:p>
        </p:txBody>
      </p:sp>
      <p:sp>
        <p:nvSpPr>
          <p:cNvPr id="73730" name="Content Placeholder 7"/>
          <p:cNvSpPr>
            <a:spLocks noGrp="1"/>
          </p:cNvSpPr>
          <p:nvPr>
            <p:ph idx="1"/>
          </p:nvPr>
        </p:nvSpPr>
        <p:spPr>
          <a:xfrm>
            <a:off x="571500" y="1143000"/>
            <a:ext cx="8229600" cy="4525963"/>
          </a:xfrm>
        </p:spPr>
        <p:txBody>
          <a:bodyPr/>
          <a:lstStyle/>
          <a:p>
            <a:pPr eaLnBrk="1" hangingPunct="1"/>
            <a:r>
              <a:rPr lang="en-AU" dirty="0" smtClean="0"/>
              <a:t>Site refers to the </a:t>
            </a:r>
            <a:r>
              <a:rPr lang="en-AU" b="1" u="sng" dirty="0" smtClean="0">
                <a:solidFill>
                  <a:srgbClr val="00B050"/>
                </a:solidFill>
              </a:rPr>
              <a:t>physical</a:t>
            </a:r>
            <a:r>
              <a:rPr lang="en-AU" dirty="0" smtClean="0"/>
              <a:t> features of the landscape upon which a settlement is built</a:t>
            </a:r>
          </a:p>
          <a:p>
            <a:pPr eaLnBrk="1" hangingPunct="1"/>
            <a:endParaRPr lang="en-AU" dirty="0" smtClean="0"/>
          </a:p>
          <a:p>
            <a:pPr eaLnBrk="1" hangingPunct="1"/>
            <a:endParaRPr lang="en-AU" dirty="0" smtClean="0"/>
          </a:p>
        </p:txBody>
      </p:sp>
      <p:sp>
        <p:nvSpPr>
          <p:cNvPr id="15" name="Rounded Rectangular Callout 14"/>
          <p:cNvSpPr/>
          <p:nvPr/>
        </p:nvSpPr>
        <p:spPr>
          <a:xfrm>
            <a:off x="3429000" y="214313"/>
            <a:ext cx="4643438" cy="642937"/>
          </a:xfrm>
          <a:prstGeom prst="wedgeRoundRectCallout">
            <a:avLst>
              <a:gd name="adj1" fmla="val -29758"/>
              <a:gd name="adj2" fmla="val 108484"/>
              <a:gd name="adj3" fmla="val 16667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 dirty="0"/>
              <a:t>Natural features of a landscape e.g. rivers,  topography, natural vegetation</a:t>
            </a:r>
          </a:p>
        </p:txBody>
      </p:sp>
      <p:pic>
        <p:nvPicPr>
          <p:cNvPr id="73732" name="Content Placeholder 6" descr="Map1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263" y="3068638"/>
            <a:ext cx="3500437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3" name="TextBox 20"/>
          <p:cNvSpPr txBox="1">
            <a:spLocks noChangeArrowheads="1"/>
          </p:cNvSpPr>
          <p:nvPr/>
        </p:nvSpPr>
        <p:spPr bwMode="auto">
          <a:xfrm>
            <a:off x="857250" y="2928938"/>
            <a:ext cx="407193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2400" dirty="0" smtClean="0">
                <a:cs typeface="Arial" charset="0"/>
              </a:rPr>
              <a:t>* Peppermint </a:t>
            </a:r>
            <a:r>
              <a:rPr lang="en-AU" sz="2400" dirty="0">
                <a:cs typeface="Arial" charset="0"/>
              </a:rPr>
              <a:t>Grove is located along </a:t>
            </a:r>
            <a:r>
              <a:rPr lang="en-AU" sz="2400" b="1" dirty="0">
                <a:solidFill>
                  <a:srgbClr val="00B050"/>
                </a:solidFill>
                <a:cs typeface="Arial" charset="0"/>
              </a:rPr>
              <a:t>Forrest Beach </a:t>
            </a:r>
            <a:r>
              <a:rPr lang="en-AU" sz="2400" dirty="0">
                <a:cs typeface="Arial" charset="0"/>
              </a:rPr>
              <a:t>approximately 100 metres West of </a:t>
            </a:r>
            <a:r>
              <a:rPr lang="en-AU" sz="2400" b="1" dirty="0">
                <a:solidFill>
                  <a:srgbClr val="00B050"/>
                </a:solidFill>
                <a:cs typeface="Arial" charset="0"/>
              </a:rPr>
              <a:t>Tuart Forest.   </a:t>
            </a:r>
            <a:endParaRPr lang="en-AU" sz="2400" b="1" dirty="0" smtClean="0">
              <a:solidFill>
                <a:srgbClr val="00B050"/>
              </a:solidFill>
              <a:cs typeface="Arial" charset="0"/>
            </a:endParaRPr>
          </a:p>
          <a:p>
            <a:endParaRPr lang="en-AU" sz="2400" b="1" dirty="0">
              <a:solidFill>
                <a:srgbClr val="00B050"/>
              </a:solidFill>
              <a:cs typeface="Arial" charset="0"/>
            </a:endParaRPr>
          </a:p>
          <a:p>
            <a:r>
              <a:rPr lang="en-AU" sz="2400" b="1" dirty="0" smtClean="0">
                <a:cs typeface="Arial" charset="0"/>
              </a:rPr>
              <a:t>*</a:t>
            </a:r>
            <a:r>
              <a:rPr lang="en-AU" sz="2400" b="1" dirty="0" smtClean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AU" sz="2400" dirty="0">
                <a:cs typeface="Arial" charset="0"/>
              </a:rPr>
              <a:t>Peppermint Grove is sited on </a:t>
            </a:r>
            <a:r>
              <a:rPr lang="en-AU" sz="2400" b="1" dirty="0">
                <a:solidFill>
                  <a:srgbClr val="00B050"/>
                </a:solidFill>
                <a:cs typeface="Arial" charset="0"/>
              </a:rPr>
              <a:t>flat land </a:t>
            </a:r>
            <a:r>
              <a:rPr lang="en-AU" sz="2400" dirty="0">
                <a:cs typeface="Arial" charset="0"/>
              </a:rPr>
              <a:t>between </a:t>
            </a:r>
            <a:r>
              <a:rPr lang="en-AU" sz="2400" b="1" dirty="0">
                <a:solidFill>
                  <a:srgbClr val="00B050"/>
                </a:solidFill>
                <a:cs typeface="Arial" charset="0"/>
              </a:rPr>
              <a:t>2 and 10 metres</a:t>
            </a:r>
            <a:r>
              <a:rPr lang="en-AU" sz="2400" dirty="0">
                <a:cs typeface="Arial" charset="0"/>
              </a:rPr>
              <a:t>. </a:t>
            </a:r>
            <a:endParaRPr lang="en-AU" sz="2400" b="1" dirty="0">
              <a:solidFill>
                <a:srgbClr val="00B05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62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>
          <a:xfrm>
            <a:off x="539552" y="836712"/>
            <a:ext cx="82296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AU" sz="6600" b="1" dirty="0" smtClean="0">
                <a:solidFill>
                  <a:srgbClr val="002060"/>
                </a:solidFill>
              </a:rPr>
              <a:t>SITUATION</a:t>
            </a:r>
            <a:r>
              <a:rPr lang="en-AU" sz="6600" b="1" dirty="0">
                <a:solidFill>
                  <a:srgbClr val="002060"/>
                </a:solidFill>
              </a:rPr>
              <a:t> </a:t>
            </a:r>
            <a:r>
              <a:rPr lang="en-AU" sz="6600" b="1" dirty="0" smtClean="0">
                <a:solidFill>
                  <a:srgbClr val="002060"/>
                </a:solidFill>
              </a:rPr>
              <a:t>– </a:t>
            </a:r>
            <a:r>
              <a:rPr lang="en-AU" sz="6600" b="1" dirty="0" smtClean="0">
                <a:solidFill>
                  <a:srgbClr val="002060"/>
                </a:solidFill>
              </a:rPr>
              <a:t>Where </a:t>
            </a:r>
            <a:r>
              <a:rPr lang="en-AU" sz="6600" b="1" dirty="0" smtClean="0">
                <a:solidFill>
                  <a:srgbClr val="002060"/>
                </a:solidFill>
              </a:rPr>
              <a:t>is it? </a:t>
            </a:r>
          </a:p>
        </p:txBody>
      </p:sp>
      <p:pic>
        <p:nvPicPr>
          <p:cNvPr id="2051" name="Picture 3" descr="C:\Users\e2041615\AppData\Local\Microsoft\Windows\Temporary Internet Files\Content.IE5\EEEE0WBJ\wsnaccad-SIGN-POST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687466"/>
            <a:ext cx="2777297" cy="364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78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AU" sz="8800" b="1" dirty="0" smtClean="0">
                <a:solidFill>
                  <a:srgbClr val="002060"/>
                </a:solidFill>
              </a:rPr>
              <a:t>SITUATION</a:t>
            </a:r>
            <a:endParaRPr lang="en-AU" sz="8800" b="1" dirty="0" smtClean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    Where is a place with respect to other places?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AU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 smtClean="0"/>
              <a:t>The following features are elements of a settlement’s situation: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AutoNum type="alphaLcParenR"/>
              <a:defRPr/>
            </a:pPr>
            <a:r>
              <a:rPr lang="en-AU" dirty="0" smtClean="0"/>
              <a:t>Latitude and Longitude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AutoNum type="alphaLcParenR"/>
              <a:defRPr/>
            </a:pPr>
            <a:r>
              <a:rPr lang="en-AU" dirty="0" smtClean="0">
                <a:solidFill>
                  <a:srgbClr val="FF0000"/>
                </a:solidFill>
              </a:rPr>
              <a:t>Distance </a:t>
            </a:r>
            <a:r>
              <a:rPr lang="en-AU" dirty="0" smtClean="0"/>
              <a:t>and </a:t>
            </a:r>
            <a:r>
              <a:rPr lang="en-AU" dirty="0" smtClean="0">
                <a:solidFill>
                  <a:srgbClr val="FF0000"/>
                </a:solidFill>
              </a:rPr>
              <a:t>direction</a:t>
            </a:r>
            <a:r>
              <a:rPr lang="en-AU" dirty="0" smtClean="0"/>
              <a:t> to other settlements of similar and greater size</a:t>
            </a:r>
          </a:p>
          <a:p>
            <a:pPr marL="514350" indent="-514350" eaLnBrk="1" fontAlgn="auto" hangingPunct="1">
              <a:spcAft>
                <a:spcPts val="0"/>
              </a:spcAft>
              <a:buFont typeface="Arial" pitchFamily="34" charset="0"/>
              <a:buAutoNum type="alphaLcParenR"/>
              <a:defRPr/>
            </a:pPr>
            <a:r>
              <a:rPr lang="en-AU" dirty="0" smtClean="0">
                <a:solidFill>
                  <a:srgbClr val="FF0000"/>
                </a:solidFill>
              </a:rPr>
              <a:t>Distance</a:t>
            </a:r>
            <a:r>
              <a:rPr lang="en-AU" dirty="0" smtClean="0"/>
              <a:t> and </a:t>
            </a:r>
            <a:r>
              <a:rPr lang="en-AU" dirty="0" smtClean="0">
                <a:solidFill>
                  <a:srgbClr val="FF0000"/>
                </a:solidFill>
              </a:rPr>
              <a:t>direction</a:t>
            </a:r>
            <a:r>
              <a:rPr lang="en-AU" dirty="0" smtClean="0"/>
              <a:t> to other key cultural features such as a major highway, junction, or railway line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659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6"/>
          <p:cNvSpPr>
            <a:spLocks noGrp="1"/>
          </p:cNvSpPr>
          <p:nvPr>
            <p:ph type="title"/>
          </p:nvPr>
        </p:nvSpPr>
        <p:spPr>
          <a:xfrm>
            <a:off x="428625" y="0"/>
            <a:ext cx="8229600" cy="1143000"/>
          </a:xfrm>
        </p:spPr>
        <p:txBody>
          <a:bodyPr/>
          <a:lstStyle/>
          <a:p>
            <a:pPr eaLnBrk="1" hangingPunct="1"/>
            <a:r>
              <a:rPr lang="en-AU" dirty="0" smtClean="0"/>
              <a:t>What does </a:t>
            </a:r>
            <a:r>
              <a:rPr lang="en-AU" dirty="0" smtClean="0">
                <a:solidFill>
                  <a:srgbClr val="FF0000"/>
                </a:solidFill>
              </a:rPr>
              <a:t>Direction</a:t>
            </a:r>
            <a:r>
              <a:rPr lang="en-AU" dirty="0" smtClean="0"/>
              <a:t> mean?</a:t>
            </a:r>
            <a:endParaRPr lang="en-AU" dirty="0" smtClean="0"/>
          </a:p>
        </p:txBody>
      </p:sp>
      <p:sp>
        <p:nvSpPr>
          <p:cNvPr id="28675" name="Content Placeholder 8"/>
          <p:cNvSpPr>
            <a:spLocks noGrp="1"/>
          </p:cNvSpPr>
          <p:nvPr>
            <p:ph idx="1"/>
          </p:nvPr>
        </p:nvSpPr>
        <p:spPr>
          <a:xfrm>
            <a:off x="500063" y="1071563"/>
            <a:ext cx="8229600" cy="4525962"/>
          </a:xfrm>
        </p:spPr>
        <p:txBody>
          <a:bodyPr/>
          <a:lstStyle/>
          <a:p>
            <a:pPr eaLnBrk="1" hangingPunct="1"/>
            <a:r>
              <a:rPr lang="en-AU" dirty="0" smtClean="0"/>
              <a:t>Direction helps to determine the relative location of </a:t>
            </a:r>
            <a:r>
              <a:rPr lang="en-AU" dirty="0" smtClean="0"/>
              <a:t>features </a:t>
            </a:r>
          </a:p>
          <a:p>
            <a:pPr eaLnBrk="1" hangingPunct="1"/>
            <a:r>
              <a:rPr lang="en-AU" dirty="0" smtClean="0"/>
              <a:t>Cardinal Points – North, South, East, West</a:t>
            </a:r>
          </a:p>
          <a:p>
            <a:pPr eaLnBrk="1" hangingPunct="1"/>
            <a:r>
              <a:rPr lang="en-AU" dirty="0" smtClean="0"/>
              <a:t>Intermediate Points – NE, NW, SE, SW</a:t>
            </a:r>
          </a:p>
          <a:p>
            <a:pPr eaLnBrk="1" hangingPunct="1"/>
            <a:r>
              <a:rPr lang="en-AU" dirty="0" smtClean="0"/>
              <a:t>16 Point Compass – see next slide</a:t>
            </a:r>
            <a:endParaRPr lang="en-AU" dirty="0" smtClean="0"/>
          </a:p>
        </p:txBody>
      </p:sp>
      <p:sp>
        <p:nvSpPr>
          <p:cNvPr id="28677" name="TextBox 1"/>
          <p:cNvSpPr txBox="1">
            <a:spLocks noChangeArrowheads="1"/>
          </p:cNvSpPr>
          <p:nvPr/>
        </p:nvSpPr>
        <p:spPr bwMode="auto">
          <a:xfrm>
            <a:off x="323528" y="5013176"/>
            <a:ext cx="4059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  <a:latin typeface="Arial" charset="0"/>
                <a:cs typeface="Arial" charset="0"/>
              </a:rPr>
              <a:t>BE CAREFUL….</a:t>
            </a:r>
          </a:p>
          <a:p>
            <a:r>
              <a:rPr lang="en-AU" sz="2800" dirty="0">
                <a:latin typeface="Arial" charset="0"/>
                <a:cs typeface="Arial" charset="0"/>
              </a:rPr>
              <a:t>Am I going to OR from? </a:t>
            </a:r>
          </a:p>
        </p:txBody>
      </p:sp>
      <p:sp>
        <p:nvSpPr>
          <p:cNvPr id="28678" name="TextBox 5"/>
          <p:cNvSpPr txBox="1">
            <a:spLocks noChangeArrowheads="1"/>
          </p:cNvSpPr>
          <p:nvPr/>
        </p:nvSpPr>
        <p:spPr bwMode="auto">
          <a:xfrm>
            <a:off x="6588224" y="4221088"/>
            <a:ext cx="2232248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200" b="1" dirty="0">
                <a:latin typeface="Arial" charset="0"/>
                <a:cs typeface="Arial" charset="0"/>
              </a:rPr>
              <a:t>N</a:t>
            </a:r>
            <a:r>
              <a:rPr lang="en-AU" dirty="0">
                <a:latin typeface="Arial" charset="0"/>
                <a:cs typeface="Arial" charset="0"/>
              </a:rPr>
              <a:t>ever</a:t>
            </a:r>
          </a:p>
          <a:p>
            <a:r>
              <a:rPr lang="en-AU" sz="3200" b="1" dirty="0">
                <a:latin typeface="Arial" charset="0"/>
                <a:cs typeface="Arial" charset="0"/>
              </a:rPr>
              <a:t>E</a:t>
            </a:r>
            <a:r>
              <a:rPr lang="en-AU" dirty="0">
                <a:latin typeface="Arial" charset="0"/>
                <a:cs typeface="Arial" charset="0"/>
              </a:rPr>
              <a:t>at</a:t>
            </a:r>
          </a:p>
          <a:p>
            <a:r>
              <a:rPr lang="en-AU" sz="3200" b="1" dirty="0">
                <a:latin typeface="Arial" charset="0"/>
                <a:cs typeface="Arial" charset="0"/>
              </a:rPr>
              <a:t>S</a:t>
            </a:r>
            <a:r>
              <a:rPr lang="en-AU" dirty="0">
                <a:latin typeface="Arial" charset="0"/>
                <a:cs typeface="Arial" charset="0"/>
              </a:rPr>
              <a:t>oggy</a:t>
            </a:r>
          </a:p>
          <a:p>
            <a:r>
              <a:rPr lang="en-AU" sz="3200" b="1" dirty="0" err="1">
                <a:latin typeface="Arial" charset="0"/>
                <a:cs typeface="Arial" charset="0"/>
              </a:rPr>
              <a:t>W</a:t>
            </a:r>
            <a:r>
              <a:rPr lang="en-AU" dirty="0" err="1">
                <a:latin typeface="Arial" charset="0"/>
                <a:cs typeface="Arial" charset="0"/>
              </a:rPr>
              <a:t>eetbix</a:t>
            </a:r>
            <a:endParaRPr lang="en-AU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35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1680" y="404664"/>
            <a:ext cx="6192688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5716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5" y="214313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b="1" dirty="0" smtClean="0">
                <a:solidFill>
                  <a:srgbClr val="FF0000"/>
                </a:solidFill>
              </a:rPr>
              <a:t>Example – Situation of Dunsborough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79874" name="Content Placeholder 2"/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4525963"/>
          </a:xfrm>
        </p:spPr>
        <p:txBody>
          <a:bodyPr/>
          <a:lstStyle/>
          <a:p>
            <a:pPr eaLnBrk="1" hangingPunct="1"/>
            <a:r>
              <a:rPr lang="en-AU" dirty="0" smtClean="0"/>
              <a:t>Dunsborough is situated 20 kilometres WNW of Busselton located on the Caves Road</a:t>
            </a:r>
          </a:p>
          <a:p>
            <a:pPr eaLnBrk="1" hangingPunct="1"/>
            <a:r>
              <a:rPr lang="en-AU" dirty="0" smtClean="0"/>
              <a:t>Dunsborough is located or situated at </a:t>
            </a:r>
            <a:r>
              <a:rPr lang="pt-BR" i="1" dirty="0" smtClean="0"/>
              <a:t>Latitude</a:t>
            </a:r>
            <a:r>
              <a:rPr lang="pt-BR" dirty="0" smtClean="0"/>
              <a:t> 33° 36' S and </a:t>
            </a:r>
            <a:r>
              <a:rPr lang="pt-BR" i="1" dirty="0" smtClean="0"/>
              <a:t>Longitude</a:t>
            </a:r>
            <a:r>
              <a:rPr lang="pt-BR" dirty="0" smtClean="0"/>
              <a:t> 115° 06' E</a:t>
            </a:r>
            <a:endParaRPr lang="en-AU" dirty="0" smtClean="0"/>
          </a:p>
          <a:p>
            <a:pPr eaLnBrk="1" hangingPunct="1"/>
            <a:endParaRPr lang="en-AU" dirty="0" smtClean="0"/>
          </a:p>
          <a:p>
            <a:pPr eaLnBrk="1" hangingPunct="1">
              <a:buFont typeface="Arial" charset="0"/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46993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Now you must apply these concepts to your case study area…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Focus </a:t>
            </a:r>
            <a:r>
              <a:rPr lang="en-US" b="1" u="sng" dirty="0"/>
              <a:t>Research Area 1 (FRA1):</a:t>
            </a:r>
            <a:r>
              <a:rPr lang="en-US" dirty="0"/>
              <a:t>  Select a case study and investigate this area. Include information such as </a:t>
            </a:r>
            <a:r>
              <a:rPr lang="en-US" sz="6000" b="1" dirty="0">
                <a:solidFill>
                  <a:srgbClr val="FF0000"/>
                </a:solidFill>
              </a:rPr>
              <a:t>site and situation</a:t>
            </a:r>
            <a:r>
              <a:rPr lang="en-US" dirty="0"/>
              <a:t>, a map, current and past land use information. 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064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344</Words>
  <Application>Microsoft Office PowerPoint</Application>
  <PresentationFormat>On-screen Show (4:3)</PresentationFormat>
  <Paragraphs>42</Paragraphs>
  <Slides>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SITE &amp; SITUATION</vt:lpstr>
      <vt:lpstr>SITE</vt:lpstr>
      <vt:lpstr>SITE</vt:lpstr>
      <vt:lpstr>SITUATION – Where is it? </vt:lpstr>
      <vt:lpstr>SITUATION</vt:lpstr>
      <vt:lpstr>What does Direction mean?</vt:lpstr>
      <vt:lpstr>PowerPoint Presentation</vt:lpstr>
      <vt:lpstr>Example – Situation of Dunsborough</vt:lpstr>
      <vt:lpstr>Now you must apply these concepts to your case study area…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&amp; SITUATION</dc:title>
  <dc:creator>RINTOUL Brooke</dc:creator>
  <cp:lastModifiedBy>RINTOUL Brooke</cp:lastModifiedBy>
  <cp:revision>2</cp:revision>
  <dcterms:created xsi:type="dcterms:W3CDTF">2018-03-07T08:55:49Z</dcterms:created>
  <dcterms:modified xsi:type="dcterms:W3CDTF">2018-03-07T09:09:20Z</dcterms:modified>
</cp:coreProperties>
</file>
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CE31EE6C-EA39-4428-AA78-810689A50902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C62562F6-BEF0-46B3-995A-739B8206520C}" type="slidenum">
              <a:rPr lang="en-AU" smtClean="0"/>
              <a:t>‹#›</a:t>
            </a:fld>
            <a:endParaRPr lang="en-AU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8150" y="548680"/>
            <a:ext cx="8229600" cy="2209800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 smtClean="0"/>
              <a:t/>
            </a:r>
            <a:br>
              <a:rPr lang="en-AU" dirty="0" smtClean="0"/>
            </a:br>
            <a:r>
              <a:rPr lang="en-AU" sz="6000" dirty="0" smtClean="0"/>
              <a:t>Year 10 Geography</a:t>
            </a:r>
            <a:br>
              <a:rPr lang="en-AU" sz="6000" dirty="0" smtClean="0"/>
            </a:br>
            <a:r>
              <a:rPr lang="en-AU" sz="6000" dirty="0" smtClean="0"/>
              <a:t>Comparative Case Study</a:t>
            </a:r>
            <a:br>
              <a:rPr lang="en-AU" sz="6000" dirty="0" smtClean="0"/>
            </a:br>
            <a:r>
              <a:rPr lang="en-AU" sz="6000" dirty="0" smtClean="0"/>
              <a:t>LAND</a:t>
            </a:r>
            <a:endParaRPr lang="en-AU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3429000"/>
            <a:ext cx="8280920" cy="1752600"/>
          </a:xfrm>
        </p:spPr>
        <p:txBody>
          <a:bodyPr>
            <a:normAutofit fontScale="92500"/>
          </a:bodyPr>
          <a:lstStyle/>
          <a:p>
            <a:pPr algn="ctr"/>
            <a:r>
              <a:rPr lang="en-AU" sz="5400" dirty="0" smtClean="0"/>
              <a:t>Country: </a:t>
            </a:r>
          </a:p>
          <a:p>
            <a:pPr algn="ctr"/>
            <a:r>
              <a:rPr lang="en-AU" sz="5400" b="1" dirty="0" smtClean="0">
                <a:solidFill>
                  <a:schemeClr val="accent1">
                    <a:lumMod val="50000"/>
                  </a:schemeClr>
                </a:solidFill>
              </a:rPr>
              <a:t>Papua New Guinea (PNG)</a:t>
            </a:r>
            <a:endParaRPr lang="en-AU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 descr="C:\Users\e2041615\AppData\Local\Microsoft\Windows\Temporary Internet Files\Content.IE5\IU11W1OL\flag-28603_640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5229200"/>
            <a:ext cx="1898267" cy="1426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2041615\AppData\Local\Microsoft\Windows\Temporary Internet Files\Content.IE5\PB75WX5K\New_guinea_named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229200"/>
            <a:ext cx="2499184" cy="130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96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MAP – Papua New Guinea (PNG)</a:t>
            </a:r>
            <a:endParaRPr lang="en-AU" dirty="0"/>
          </a:p>
        </p:txBody>
      </p:sp>
      <p:pic>
        <p:nvPicPr>
          <p:cNvPr id="2057" name="Picture 9" descr="C:\Users\e2041615\AppData\Local\Microsoft\Windows\Temporary Internet Files\Content.IE5\EEEE0WBJ\papua-new-guinea-map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628800"/>
            <a:ext cx="71437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128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Background – Papua New Guinea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Less Developed Country or Developing Country.</a:t>
            </a:r>
          </a:p>
          <a:p>
            <a:r>
              <a:rPr lang="en-AU" dirty="0" smtClean="0"/>
              <a:t>Located/situated in the south western Pacific.</a:t>
            </a:r>
          </a:p>
          <a:p>
            <a:r>
              <a:rPr lang="en-AU" dirty="0" smtClean="0"/>
              <a:t>Coastline is approximately 5,150km</a:t>
            </a:r>
          </a:p>
          <a:p>
            <a:r>
              <a:rPr lang="en-AU" dirty="0" smtClean="0"/>
              <a:t>PNG has approximately 800 Indigenous language groups.</a:t>
            </a:r>
          </a:p>
          <a:p>
            <a:r>
              <a:rPr lang="en-AU" dirty="0" smtClean="0"/>
              <a:t>PNG is comprised of approximately 600 small islands.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596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48791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b="1" dirty="0" smtClean="0">
                <a:solidFill>
                  <a:schemeClr val="bg2">
                    <a:lumMod val="50000"/>
                  </a:schemeClr>
                </a:solidFill>
              </a:rPr>
              <a:t>PLACE: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Situated/located approximately 160km north of Australia.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Situated approximately </a:t>
            </a:r>
            <a:r>
              <a:rPr lang="en-AU" dirty="0" smtClean="0"/>
              <a:t>4100km </a:t>
            </a:r>
            <a:r>
              <a:rPr lang="en-AU" dirty="0" smtClean="0"/>
              <a:t>north east of Perth.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Port Moresby is the capital city. Port Moresby is situated at latitude 9° 26’ S and longitude 147° 10’ 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170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>
                <a:solidFill>
                  <a:schemeClr val="bg2">
                    <a:lumMod val="50000"/>
                  </a:schemeClr>
                </a:solidFill>
              </a:rPr>
              <a:t>SPACE: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Forests originally covered approximately 66% of the land in Papua New Guinea.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457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>
                <a:solidFill>
                  <a:schemeClr val="bg2">
                    <a:lumMod val="50000"/>
                  </a:schemeClr>
                </a:solidFill>
              </a:rPr>
              <a:t>ENVIRONMENT: </a:t>
            </a:r>
          </a:p>
          <a:p>
            <a:pPr marL="0" indent="0">
              <a:buNone/>
            </a:pPr>
            <a:endParaRPr lang="en-AU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AU" dirty="0" smtClean="0"/>
              <a:t>Papua New Guinea’s forest contain 5% of the world’s biodiversity.</a:t>
            </a:r>
            <a:endParaRPr lang="en-AU" dirty="0"/>
          </a:p>
        </p:txBody>
      </p:sp>
      <p:pic>
        <p:nvPicPr>
          <p:cNvPr id="4099" name="Picture 3" descr="C:\Users\e2041615\AppData\Local\Microsoft\Windows\Temporary Internet Files\Content.IE5\P9NYWZ4Z\etoecologia-276x300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437112"/>
            <a:ext cx="1701437" cy="184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57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>
                <a:solidFill>
                  <a:schemeClr val="tx2">
                    <a:lumMod val="10000"/>
                  </a:schemeClr>
                </a:solidFill>
              </a:rPr>
              <a:t>SCALE: </a:t>
            </a:r>
          </a:p>
          <a:p>
            <a:pPr marL="0" indent="0">
              <a:buNone/>
            </a:pPr>
            <a:endParaRPr lang="en-AU" dirty="0">
              <a:solidFill>
                <a:schemeClr val="tx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AU" dirty="0" smtClean="0"/>
              <a:t>Scale of </a:t>
            </a:r>
            <a:r>
              <a:rPr lang="en-AU" b="1" u="sng" dirty="0" smtClean="0"/>
              <a:t>Change</a:t>
            </a:r>
            <a:r>
              <a:rPr lang="en-AU" dirty="0" smtClean="0"/>
              <a:t> over time (temporal distribution):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More than 50% of the vegetation (trees) could be lost to d__________________ by 2021.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457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AU" dirty="0" smtClean="0"/>
              <a:t>CAUSES OF DEFORESTATION:</a:t>
            </a:r>
          </a:p>
          <a:p>
            <a:pPr marL="0" indent="0" algn="ctr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Clearing the land for:</a:t>
            </a:r>
          </a:p>
          <a:p>
            <a:pPr marL="0" indent="0">
              <a:buNone/>
            </a:pPr>
            <a:endParaRPr lang="en-AU" dirty="0"/>
          </a:p>
          <a:p>
            <a:pPr>
              <a:buFont typeface="Arial" charset="0"/>
              <a:buChar char="•"/>
            </a:pPr>
            <a:r>
              <a:rPr lang="en-AU" dirty="0" smtClean="0"/>
              <a:t>Timber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Mining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Population growth (e.g. building infrastructure and settlements)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Subsistence agriculture</a:t>
            </a:r>
          </a:p>
          <a:p>
            <a:pPr>
              <a:buFont typeface="Arial" charset="0"/>
              <a:buChar char="•"/>
            </a:pPr>
            <a:r>
              <a:rPr lang="en-AU" dirty="0" smtClean="0"/>
              <a:t>Commercial agriculture – e.g. oil palm, cocoa</a:t>
            </a:r>
            <a:r>
              <a:rPr lang="en-AU" dirty="0"/>
              <a:t> </a:t>
            </a:r>
            <a:r>
              <a:rPr lang="en-AU" dirty="0" smtClean="0"/>
              <a:t>and coffee.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457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dirty="0" smtClean="0"/>
              <a:t>CONSEQUENCES OF DEFORESTATION: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sz="2400" dirty="0" smtClean="0"/>
              <a:t>Dislocation of indigenous people </a:t>
            </a:r>
            <a:r>
              <a:rPr lang="en-AU" sz="1800" dirty="0" smtClean="0"/>
              <a:t>(Ecosystem Services - Spirituality)</a:t>
            </a:r>
          </a:p>
          <a:p>
            <a:pPr>
              <a:buFontTx/>
              <a:buChar char="-"/>
            </a:pPr>
            <a:r>
              <a:rPr lang="en-AU" sz="2400" dirty="0" smtClean="0"/>
              <a:t>Climate change</a:t>
            </a:r>
          </a:p>
          <a:p>
            <a:pPr>
              <a:buFontTx/>
              <a:buChar char="-"/>
            </a:pPr>
            <a:r>
              <a:rPr lang="en-AU" sz="2400" dirty="0" smtClean="0"/>
              <a:t>Loss of biodiversity </a:t>
            </a:r>
            <a:r>
              <a:rPr lang="en-AU" dirty="0" smtClean="0"/>
              <a:t>–</a:t>
            </a:r>
            <a:r>
              <a:rPr lang="en-AU" sz="2800" dirty="0" smtClean="0"/>
              <a:t> </a:t>
            </a:r>
            <a:r>
              <a:rPr lang="en-AU" sz="2000" dirty="0" smtClean="0"/>
              <a:t>decline/reduction in the number, type and variety of species.</a:t>
            </a:r>
          </a:p>
          <a:p>
            <a:pPr>
              <a:buFontTx/>
              <a:buChar char="-"/>
            </a:pPr>
            <a:r>
              <a:rPr lang="en-AU" sz="2400" dirty="0" smtClean="0"/>
              <a:t>Loss of food </a:t>
            </a:r>
          </a:p>
          <a:p>
            <a:pPr>
              <a:buFontTx/>
              <a:buChar char="-"/>
            </a:pPr>
            <a:r>
              <a:rPr lang="en-AU" sz="2400" dirty="0" smtClean="0"/>
              <a:t>Soil degradation</a:t>
            </a:r>
          </a:p>
          <a:p>
            <a:pPr>
              <a:buFontTx/>
              <a:buChar char="-"/>
            </a:pPr>
            <a:r>
              <a:rPr lang="en-AU" sz="2400" dirty="0" smtClean="0"/>
              <a:t>Siltation of rivers</a:t>
            </a:r>
          </a:p>
        </p:txBody>
      </p:sp>
    </p:spTree>
    <p:extLst>
      <p:ext uri="{BB962C8B-B14F-4D97-AF65-F5344CB8AC3E}">
        <p14:creationId xmlns:p14="http://schemas.microsoft.com/office/powerpoint/2010/main" val="95327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>
                <a:solidFill>
                  <a:schemeClr val="tx2">
                    <a:lumMod val="10000"/>
                  </a:schemeClr>
                </a:solidFill>
              </a:rPr>
              <a:t>INTERCONNECTION: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dirty="0" smtClean="0"/>
              <a:t>Forests help to regulate climate</a:t>
            </a:r>
          </a:p>
          <a:p>
            <a:pPr>
              <a:buFontTx/>
              <a:buChar char="-"/>
            </a:pPr>
            <a:r>
              <a:rPr lang="en-AU" dirty="0" smtClean="0"/>
              <a:t>Forests help to reduce soil erosion</a:t>
            </a:r>
          </a:p>
          <a:p>
            <a:pPr>
              <a:buFontTx/>
              <a:buChar char="-"/>
            </a:pPr>
            <a:r>
              <a:rPr lang="en-AU" dirty="0" smtClean="0"/>
              <a:t>Forests absorb CO</a:t>
            </a:r>
            <a:r>
              <a:rPr lang="en-AU" sz="700" dirty="0" smtClean="0"/>
              <a:t>2</a:t>
            </a:r>
          </a:p>
          <a:p>
            <a:pPr>
              <a:buFontTx/>
              <a:buChar char="-"/>
            </a:pPr>
            <a:endParaRPr lang="en-AU" sz="800" dirty="0"/>
          </a:p>
        </p:txBody>
      </p:sp>
      <p:pic>
        <p:nvPicPr>
          <p:cNvPr id="5123" name="Picture 3" descr="C:\Users\e2041615\AppData\Local\Microsoft\Windows\Temporary Internet Files\Content.IE5\TM8SEV2T\Weather-sun-clouds-rain.svg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797152"/>
            <a:ext cx="1700067" cy="170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57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SUSTAINABILITY &amp; MANAGEMENT</a:t>
            </a:r>
            <a:endParaRPr lang="en-AU" dirty="0"/>
          </a:p>
          <a:p>
            <a:pPr>
              <a:buFontTx/>
              <a:buChar char="-"/>
            </a:pPr>
            <a:endParaRPr lang="en-AU" sz="800" dirty="0" smtClean="0"/>
          </a:p>
          <a:p>
            <a:pPr>
              <a:buFontTx/>
              <a:buChar char="-"/>
            </a:pPr>
            <a:r>
              <a:rPr lang="en-AU" sz="2000" dirty="0" smtClean="0"/>
              <a:t>Sustainable Land Management Strategies are being developed, however, some of the strategies may be impacted on by economic growth, land disputes, institutional arrangements (including government) etc.</a:t>
            </a:r>
          </a:p>
          <a:p>
            <a:pPr>
              <a:buFontTx/>
              <a:buChar char="-"/>
            </a:pPr>
            <a:r>
              <a:rPr lang="en-AU" sz="2000" dirty="0" smtClean="0"/>
              <a:t>Strategies occurring at a </a:t>
            </a:r>
            <a:r>
              <a:rPr lang="en-AU" sz="2000" u="sng" dirty="0" smtClean="0"/>
              <a:t>variety of scales</a:t>
            </a:r>
            <a:r>
              <a:rPr lang="en-AU" sz="2000" dirty="0" smtClean="0"/>
              <a:t>:</a:t>
            </a:r>
          </a:p>
          <a:p>
            <a:pPr marL="0" indent="0">
              <a:buNone/>
            </a:pPr>
            <a:endParaRPr lang="en-AU" sz="2000" dirty="0"/>
          </a:p>
          <a:p>
            <a:pPr>
              <a:buFont typeface="Arial" charset="0"/>
              <a:buChar char="•"/>
            </a:pPr>
            <a:r>
              <a:rPr lang="en-AU" sz="2000" dirty="0" smtClean="0">
                <a:solidFill>
                  <a:schemeClr val="tx2">
                    <a:lumMod val="10000"/>
                  </a:schemeClr>
                </a:solidFill>
              </a:rPr>
              <a:t>Global scale: </a:t>
            </a:r>
          </a:p>
          <a:p>
            <a:pPr>
              <a:buFontTx/>
              <a:buChar char="-"/>
            </a:pPr>
            <a:r>
              <a:rPr lang="en-AU" sz="2000" dirty="0" smtClean="0"/>
              <a:t>UN REDD+ focuses on increasing forest cover.</a:t>
            </a:r>
          </a:p>
          <a:p>
            <a:pPr>
              <a:buFontTx/>
              <a:buChar char="-"/>
            </a:pPr>
            <a:r>
              <a:rPr lang="en-AU" sz="2000" dirty="0" smtClean="0"/>
              <a:t>Works by paying countries and groups to protect forests.</a:t>
            </a:r>
          </a:p>
          <a:p>
            <a:pPr marL="0" indent="0">
              <a:buNone/>
            </a:pPr>
            <a:endParaRPr lang="en-AU" sz="1050" dirty="0" smtClean="0"/>
          </a:p>
          <a:p>
            <a:pPr marL="0" indent="0">
              <a:buNone/>
            </a:pPr>
            <a:r>
              <a:rPr lang="en-AU" sz="1050" dirty="0" smtClean="0"/>
              <a:t>*** Discuss what is meant by the UN REDD+ program</a:t>
            </a:r>
          </a:p>
          <a:p>
            <a:pPr marL="0" indent="0">
              <a:buNone/>
            </a:pPr>
            <a:endParaRPr lang="en-AU" sz="1050" dirty="0"/>
          </a:p>
          <a:p>
            <a:pPr marL="0" indent="0">
              <a:buNone/>
            </a:pPr>
            <a:r>
              <a:rPr lang="en-AU" sz="1050" dirty="0" smtClean="0"/>
              <a:t>Link to ‘Sustainable Development Goals’</a:t>
            </a:r>
            <a:endParaRPr lang="en-AU" sz="1050" dirty="0"/>
          </a:p>
        </p:txBody>
      </p:sp>
    </p:spTree>
    <p:extLst>
      <p:ext uri="{BB962C8B-B14F-4D97-AF65-F5344CB8AC3E}">
        <p14:creationId xmlns:p14="http://schemas.microsoft.com/office/powerpoint/2010/main" val="218478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SUSTAINABILITY &amp; MANAGEMENT</a:t>
            </a:r>
            <a:endParaRPr lang="en-AU" dirty="0"/>
          </a:p>
          <a:p>
            <a:pPr marL="0" indent="0">
              <a:buNone/>
            </a:pPr>
            <a:endParaRPr lang="en-AU" sz="2000" dirty="0" smtClean="0"/>
          </a:p>
          <a:p>
            <a:pPr>
              <a:buFont typeface="Arial" charset="0"/>
              <a:buChar char="•"/>
            </a:pPr>
            <a:r>
              <a:rPr lang="en-AU" sz="2000" dirty="0" smtClean="0">
                <a:solidFill>
                  <a:schemeClr val="tx2">
                    <a:lumMod val="10000"/>
                  </a:schemeClr>
                </a:solidFill>
              </a:rPr>
              <a:t>National scale:</a:t>
            </a:r>
          </a:p>
          <a:p>
            <a:pPr marL="0" indent="0">
              <a:buNone/>
            </a:pPr>
            <a:endParaRPr lang="en-AU" sz="2000" dirty="0" smtClean="0"/>
          </a:p>
          <a:p>
            <a:pPr>
              <a:buFontTx/>
              <a:buChar char="-"/>
            </a:pPr>
            <a:r>
              <a:rPr lang="en-AU" sz="2000" dirty="0" smtClean="0"/>
              <a:t>Forest Stewardship Council (FSC) developed a criteria to manage the land to meet the needs of present and future generations.</a:t>
            </a:r>
          </a:p>
          <a:p>
            <a:pPr>
              <a:buFontTx/>
              <a:buChar char="-"/>
            </a:pPr>
            <a:r>
              <a:rPr lang="en-AU" sz="2000" dirty="0" smtClean="0"/>
              <a:t>Criteria is based on social, economic and environmental (SEE) and cultural and spiritual needs.</a:t>
            </a:r>
          </a:p>
          <a:p>
            <a:pPr>
              <a:buFontTx/>
              <a:buChar char="-"/>
            </a:pPr>
            <a:r>
              <a:rPr lang="en-AU" sz="2000" dirty="0" smtClean="0"/>
              <a:t>Criteria links to SUSTAINABILITY.</a:t>
            </a:r>
          </a:p>
          <a:p>
            <a:pPr>
              <a:buFontTx/>
              <a:buChar char="-"/>
            </a:pPr>
            <a:r>
              <a:rPr lang="en-AU" sz="2000" dirty="0" smtClean="0"/>
              <a:t>Using a criteria allows for an ‘evaluation’ to take place.</a:t>
            </a:r>
            <a:endParaRPr lang="en-AU" sz="2000" dirty="0"/>
          </a:p>
        </p:txBody>
      </p:sp>
      <p:pic>
        <p:nvPicPr>
          <p:cNvPr id="7170" name="Picture 2" descr="C:\Users\e2041615\AppData\Local\Microsoft\Windows\Temporary Internet Files\Content.IE5\PB75WX5K\260px-Fsc-zertifizierung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301208"/>
            <a:ext cx="1452357" cy="108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5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smtClean="0">
                <a:solidFill>
                  <a:schemeClr val="bg2">
                    <a:lumMod val="50000"/>
                  </a:schemeClr>
                </a:solidFill>
                <a:effectLst/>
              </a:rPr>
              <a:t>Land degradation from deforestation and management in PNG</a:t>
            </a:r>
            <a:endParaRPr lang="en-AU" sz="3200" b="1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3654971"/>
          </a:xfrm>
        </p:spPr>
        <p:txBody>
          <a:bodyPr/>
          <a:lstStyle/>
          <a:p>
            <a:pPr marL="0" indent="0" algn="ctr">
              <a:buNone/>
            </a:pPr>
            <a:r>
              <a:rPr lang="en-AU" dirty="0" smtClean="0"/>
              <a:t>SUSTAINABILITY &amp; MANAGEMENT</a:t>
            </a:r>
            <a:endParaRPr lang="en-AU" dirty="0"/>
          </a:p>
          <a:p>
            <a:pPr marL="0" indent="0">
              <a:buNone/>
            </a:pPr>
            <a:endParaRPr lang="en-AU" sz="2000" dirty="0" smtClean="0"/>
          </a:p>
          <a:p>
            <a:pPr>
              <a:buFont typeface="Arial" charset="0"/>
              <a:buChar char="•"/>
            </a:pPr>
            <a:r>
              <a:rPr lang="en-AU" sz="2000" dirty="0" smtClean="0">
                <a:solidFill>
                  <a:schemeClr val="tx2">
                    <a:lumMod val="10000"/>
                  </a:schemeClr>
                </a:solidFill>
              </a:rPr>
              <a:t>Local scale:</a:t>
            </a:r>
          </a:p>
          <a:p>
            <a:pPr marL="0" indent="0">
              <a:buNone/>
            </a:pPr>
            <a:endParaRPr lang="en-AU" sz="2000" dirty="0">
              <a:solidFill>
                <a:schemeClr val="tx2">
                  <a:lumMod val="10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AU" sz="2000" dirty="0" smtClean="0"/>
              <a:t>Eco-forestry industry implementation.</a:t>
            </a:r>
          </a:p>
          <a:p>
            <a:pPr>
              <a:buFontTx/>
              <a:buChar char="-"/>
            </a:pPr>
            <a:r>
              <a:rPr lang="en-AU" sz="2000" dirty="0" smtClean="0"/>
              <a:t> This means capping (limiting) the number of trees which can be harvested within Papua New Guinea.</a:t>
            </a:r>
            <a:endParaRPr lang="en-AU" sz="2000" dirty="0"/>
          </a:p>
          <a:p>
            <a:pPr marL="0" indent="0">
              <a:buNone/>
            </a:pPr>
            <a:endParaRPr lang="en-AU" sz="2000" dirty="0"/>
          </a:p>
        </p:txBody>
      </p:sp>
      <p:pic>
        <p:nvPicPr>
          <p:cNvPr id="6150" name="Picture 6" descr="C:\Users\e2041615\AppData\Local\Microsoft\Windows\Temporary Internet Files\Content.IE5\U750XSMG\Unit_3_-_sustainable_forestry_and_agriculture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005064"/>
            <a:ext cx="2952604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9552" y="5272795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 smtClean="0"/>
              <a:t>Meaning of Eco-forestry: </a:t>
            </a:r>
          </a:p>
          <a:p>
            <a:r>
              <a:rPr lang="en-AU" dirty="0" smtClean="0"/>
              <a:t>selection or restoration forestry.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200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289</TotalTime>
  <Words>517</Words>
  <Application>Microsoft Office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Foundry</vt:lpstr>
      <vt:lpstr> Year 10 Geography Comparative Case Study LAND</vt:lpstr>
      <vt:lpstr>MAP – Papua New Guinea (PNG)</vt:lpstr>
      <vt:lpstr>Background – Papua New Guinea</vt:lpstr>
      <vt:lpstr>Land degradation from deforestation and management in PNG</vt:lpstr>
      <vt:lpstr>Land degradation from deforestation and management in PNG</vt:lpstr>
      <vt:lpstr>Land degradation from deforestation and management in PNG</vt:lpstr>
      <vt:lpstr>Land degradation from deforestation and management in PNG</vt:lpstr>
      <vt:lpstr>Land degradation from deforestation and management in PNG</vt:lpstr>
      <vt:lpstr>Land degradation from deforestation and management in PNG</vt:lpstr>
      <vt:lpstr>Land degradation from deforestation and management in PNG</vt:lpstr>
      <vt:lpstr>Land degradation from deforestation and management in PNG</vt:lpstr>
      <vt:lpstr>Land degradation from deforestation and management in PNG</vt:lpstr>
      <vt:lpstr>Land degradation from deforestation and management in PNG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10 Comparative Case Study</dc:title>
  <dc:creator>RINTOUL Brooke</dc:creator>
  <cp:lastModifiedBy>RINTOUL Brooke</cp:lastModifiedBy>
  <cp:revision>11</cp:revision>
  <dcterms:created xsi:type="dcterms:W3CDTF">2018-03-18T04:51:00Z</dcterms:created>
  <dcterms:modified xsi:type="dcterms:W3CDTF">2018-03-18T09:42:57Z</dcterms:modified>
</cp:coreProperties>
</file>
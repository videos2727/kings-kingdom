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86" r:id="rId2"/>
    <p:sldId id="487" r:id="rId3"/>
    <p:sldId id="489" r:id="rId4"/>
    <p:sldId id="490" r:id="rId5"/>
    <p:sldId id="491" r:id="rId6"/>
    <p:sldId id="492" r:id="rId7"/>
    <p:sldId id="494" r:id="rId8"/>
    <p:sldId id="498" r:id="rId9"/>
    <p:sldId id="450" r:id="rId10"/>
    <p:sldId id="478" r:id="rId11"/>
    <p:sldId id="455" r:id="rId12"/>
    <p:sldId id="499" r:id="rId13"/>
    <p:sldId id="500" r:id="rId14"/>
    <p:sldId id="501" r:id="rId15"/>
    <p:sldId id="481" r:id="rId16"/>
    <p:sldId id="502" r:id="rId17"/>
    <p:sldId id="503" r:id="rId18"/>
    <p:sldId id="482" r:id="rId19"/>
    <p:sldId id="483" r:id="rId20"/>
    <p:sldId id="484" r:id="rId21"/>
    <p:sldId id="504" r:id="rId22"/>
    <p:sldId id="505" r:id="rId23"/>
    <p:sldId id="506" r:id="rId24"/>
    <p:sldId id="507" r:id="rId25"/>
    <p:sldId id="46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>
        <p:scale>
          <a:sx n="84" d="100"/>
          <a:sy n="84" d="100"/>
        </p:scale>
        <p:origin x="141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48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2AF42-30A0-403B-8E91-8AD1D1D8B71C}" type="datetimeFigureOut">
              <a:rPr lang="en-AU" smtClean="0"/>
              <a:t>18/08/2021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15F8F-E6E3-49B4-B2C6-DB26559A11D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9366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15F8F-E6E3-49B4-B2C6-DB26559A11D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480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15F8F-E6E3-49B4-B2C6-DB26559A11D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9935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15F8F-E6E3-49B4-B2C6-DB26559A11D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8654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15F8F-E6E3-49B4-B2C6-DB26559A11D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379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18/08/2021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481711" y="934008"/>
            <a:ext cx="11213204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/>
              <a:t>I will </a:t>
            </a:r>
            <a:r>
              <a:rPr lang="en-AU" sz="4000" b="1" dirty="0" smtClean="0"/>
              <a:t>review measures </a:t>
            </a:r>
            <a:r>
              <a:rPr lang="en-AU" sz="4000" b="1" dirty="0" smtClean="0"/>
              <a:t>of </a:t>
            </a:r>
            <a:r>
              <a:rPr lang="en-AU" sz="4000" b="1" dirty="0" smtClean="0"/>
              <a:t>centre and spread</a:t>
            </a:r>
            <a:endParaRPr lang="en-AU" sz="4000" b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0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37525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</a:t>
            </a:r>
            <a:r>
              <a:rPr lang="en-AU" sz="3200" dirty="0" smtClean="0"/>
              <a:t>r Knowledge</a:t>
            </a:r>
            <a:endParaRPr lang="en-AU" sz="32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98573" y="1067643"/>
          <a:ext cx="2605964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does categorical data consist mainly of?</a:t>
                      </a:r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498573" y="61803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does numerical</a:t>
                      </a:r>
                      <a:r>
                        <a:rPr lang="en-AU" baseline="0" dirty="0" smtClean="0"/>
                        <a:t> data consist mainly of?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07034" y="2405026"/>
            <a:ext cx="814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Categorical data ( qualitative data) is data which consists of categories or descriptive terms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55916" y="1177458"/>
            <a:ext cx="8704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Numerical data (quantitative data) is data which consists mainly of numerical values or numbers</a:t>
            </a:r>
            <a:endParaRPr lang="en-AU" sz="2400" dirty="0"/>
          </a:p>
        </p:txBody>
      </p:sp>
      <p:pic>
        <p:nvPicPr>
          <p:cNvPr id="4100" name="Picture 4" descr="Data clipart. Panda free images dataclipart jpg transparent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798" y="3583954"/>
            <a:ext cx="2397844" cy="287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15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37524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45092" y="6074771"/>
          <a:ext cx="264690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46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Discrete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513840" y="1438709"/>
          <a:ext cx="2605964" cy="12966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899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one characteristic</a:t>
                      </a:r>
                      <a:r>
                        <a:rPr lang="en-AU" baseline="0" dirty="0" smtClean="0"/>
                        <a:t> of discrete data?</a:t>
                      </a:r>
                      <a:endParaRPr lang="en-AU" dirty="0" smtClean="0"/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498573" y="61803"/>
          <a:ext cx="2605964" cy="135171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3371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5954">
                <a:tc>
                  <a:txBody>
                    <a:bodyPr/>
                    <a:lstStyle/>
                    <a:p>
                      <a:r>
                        <a:rPr lang="en-AU" dirty="0" smtClean="0"/>
                        <a:t>What</a:t>
                      </a:r>
                      <a:r>
                        <a:rPr lang="en-AU" baseline="0" dirty="0" smtClean="0"/>
                        <a:t> is numerical data divided into?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-38820" y="2262310"/>
            <a:ext cx="87615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Discrete Data: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data which can only take on particular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d</a:t>
            </a:r>
            <a:r>
              <a:rPr lang="en-AU" sz="2400" b="1" dirty="0" smtClean="0"/>
              <a:t>ata that can be counted</a:t>
            </a:r>
          </a:p>
          <a:p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8690" y="4392370"/>
            <a:ext cx="89938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Examples of discrete data:  shoe size, goals scored, number of students in the class, dress size, grade on </a:t>
            </a:r>
          </a:p>
          <a:p>
            <a:r>
              <a:rPr lang="en-AU" sz="2400" b="1" dirty="0" smtClean="0">
                <a:solidFill>
                  <a:srgbClr val="FF0000"/>
                </a:solidFill>
              </a:rPr>
              <a:t>your report, number of apples, number of </a:t>
            </a:r>
          </a:p>
          <a:p>
            <a:r>
              <a:rPr lang="en-AU" sz="2400" b="1" dirty="0" smtClean="0">
                <a:solidFill>
                  <a:srgbClr val="FF0000"/>
                </a:solidFill>
              </a:rPr>
              <a:t>languages a person speaks, number of people </a:t>
            </a:r>
          </a:p>
          <a:p>
            <a:r>
              <a:rPr lang="en-AU" sz="2400" b="1" dirty="0" smtClean="0">
                <a:solidFill>
                  <a:srgbClr val="FF0000"/>
                </a:solidFill>
              </a:rPr>
              <a:t>sleeping during a statistics class 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690" y="813352"/>
            <a:ext cx="8704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Numerical Data can be divided into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discrete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continuous data</a:t>
            </a:r>
            <a:endParaRPr lang="en-AU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9529619" y="2735368"/>
          <a:ext cx="2605964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another characteristic of discrete data?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146" name="Picture 2" descr="http://www.usablestats.com/images/sleeping_statscla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688" y="4938712"/>
            <a:ext cx="238125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9513840" y="4015528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an example of discrete data?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9513840" y="5045149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5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Why is shoe size discrete data?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01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37525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545092" y="6074771"/>
          <a:ext cx="264690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46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Continuous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90837" y="1427207"/>
          <a:ext cx="2605964" cy="12966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899">
                <a:tc>
                  <a:txBody>
                    <a:bodyPr/>
                    <a:lstStyle/>
                    <a:p>
                      <a:r>
                        <a:rPr lang="en-AU" dirty="0" smtClean="0"/>
                        <a:t>What are the characteristics of continuous data?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498573" y="61803"/>
          <a:ext cx="2605964" cy="11554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95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685">
                <a:tc>
                  <a:txBody>
                    <a:bodyPr/>
                    <a:lstStyle/>
                    <a:p>
                      <a:r>
                        <a:rPr lang="en-AU" dirty="0" smtClean="0"/>
                        <a:t>What are the two types of data?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-38820" y="2262310"/>
            <a:ext cx="87615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Continuous data: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data which can take on any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d</a:t>
            </a:r>
            <a:r>
              <a:rPr lang="en-AU" sz="2400" b="1" dirty="0" smtClean="0"/>
              <a:t>ata that can be measured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Includes decimals and fractions</a:t>
            </a:r>
          </a:p>
          <a:p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8690" y="4258651"/>
            <a:ext cx="8993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Examples of continuous data: height, weight,</a:t>
            </a:r>
          </a:p>
          <a:p>
            <a:r>
              <a:rPr lang="en-AU" sz="2400" b="1" dirty="0" smtClean="0">
                <a:solidFill>
                  <a:srgbClr val="FF0000"/>
                </a:solidFill>
              </a:rPr>
              <a:t> length, time, money, temperature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690" y="813352"/>
            <a:ext cx="8704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Numerical Data can be divided into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discrete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continuous data</a:t>
            </a:r>
            <a:endParaRPr lang="en-AU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9498573" y="2939648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</a:t>
                      </a:r>
                      <a:r>
                        <a:rPr lang="en-AU" baseline="0" dirty="0" smtClean="0"/>
                        <a:t> is</a:t>
                      </a:r>
                      <a:r>
                        <a:rPr lang="en-AU" dirty="0" smtClean="0"/>
                        <a:t> an example</a:t>
                      </a:r>
                      <a:r>
                        <a:rPr lang="en-AU" baseline="0" dirty="0" smtClean="0"/>
                        <a:t> of continuous data?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170" name="Picture 2" descr="Image result for continuous data clip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433" y="4219808"/>
            <a:ext cx="3956350" cy="222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11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36536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612606" y="5350152"/>
          <a:ext cx="264690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46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Continuous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90837" y="1427207"/>
          <a:ext cx="2605964" cy="12966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899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nominal data?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498573" y="61803"/>
          <a:ext cx="2605964" cy="11554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95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685">
                <a:tc>
                  <a:txBody>
                    <a:bodyPr/>
                    <a:lstStyle/>
                    <a:p>
                      <a:r>
                        <a:rPr lang="en-AU" dirty="0" smtClean="0"/>
                        <a:t>What are</a:t>
                      </a:r>
                      <a:r>
                        <a:rPr lang="en-AU" baseline="0" dirty="0" smtClean="0"/>
                        <a:t> the two types of categorical data?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-38820" y="2262310"/>
            <a:ext cx="8761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Nominal data  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Refers to the name of something</a:t>
            </a:r>
          </a:p>
          <a:p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10705" y="4304659"/>
            <a:ext cx="8993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Examples of nominal data: the colour of a car,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t</a:t>
            </a:r>
            <a:r>
              <a:rPr lang="en-AU" sz="2400" b="1" dirty="0" smtClean="0">
                <a:solidFill>
                  <a:srgbClr val="FF0000"/>
                </a:solidFill>
              </a:rPr>
              <a:t>he model of a car, your suburb, your school,</a:t>
            </a:r>
          </a:p>
          <a:p>
            <a:r>
              <a:rPr lang="en-AU" sz="2400" b="1" dirty="0" smtClean="0">
                <a:solidFill>
                  <a:srgbClr val="FF0000"/>
                </a:solidFill>
              </a:rPr>
              <a:t>a subject you study, pass/fail on a test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690" y="813352"/>
            <a:ext cx="8704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Categorical data can be divided into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Nominal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Ordinal data</a:t>
            </a:r>
            <a:endParaRPr lang="en-AU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9498573" y="2939648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</a:t>
                      </a:r>
                      <a:r>
                        <a:rPr lang="en-AU" baseline="0" dirty="0" smtClean="0"/>
                        <a:t> is</a:t>
                      </a:r>
                      <a:r>
                        <a:rPr lang="en-AU" dirty="0" smtClean="0"/>
                        <a:t> an example</a:t>
                      </a:r>
                      <a:r>
                        <a:rPr lang="en-AU" baseline="0" dirty="0" smtClean="0"/>
                        <a:t> of continuous data?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194" name="Picture 2" descr="Image result for nominal data clip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118" y="2914835"/>
            <a:ext cx="6076950" cy="34194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69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36536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9612606" y="5350152"/>
          <a:ext cx="264690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46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Vocabulary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aseline="0" dirty="0" smtClean="0"/>
                        <a:t>Ordinal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90837" y="1427207"/>
          <a:ext cx="2605964" cy="12966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899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ordinal data?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498573" y="61803"/>
          <a:ext cx="2605964" cy="11554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95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685">
                <a:tc>
                  <a:txBody>
                    <a:bodyPr/>
                    <a:lstStyle/>
                    <a:p>
                      <a:r>
                        <a:rPr lang="en-AU" dirty="0" smtClean="0"/>
                        <a:t>What are</a:t>
                      </a:r>
                      <a:r>
                        <a:rPr lang="en-AU" baseline="0" dirty="0" smtClean="0"/>
                        <a:t> the two types of categorical data?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-38820" y="2262310"/>
            <a:ext cx="8761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Ordinal data: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Refers to some order associated with the data</a:t>
            </a:r>
          </a:p>
          <a:p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10705" y="4304659"/>
            <a:ext cx="89938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Examples of  ordinal data: survey requiring an answer </a:t>
            </a:r>
          </a:p>
          <a:p>
            <a:r>
              <a:rPr lang="en-AU" sz="2400" b="1" dirty="0" smtClean="0">
                <a:solidFill>
                  <a:srgbClr val="FF0000"/>
                </a:solidFill>
              </a:rPr>
              <a:t>of agree/strongly agree/disagree, position in a</a:t>
            </a:r>
          </a:p>
          <a:p>
            <a:r>
              <a:rPr lang="en-AU" sz="2400" b="1" dirty="0" smtClean="0">
                <a:solidFill>
                  <a:srgbClr val="FF0000"/>
                </a:solidFill>
              </a:rPr>
              <a:t>Running race, phone survey 3(excellent), 2(satisfactory), 1(poor), </a:t>
            </a:r>
            <a:r>
              <a:rPr lang="en-AU" sz="2400" b="1" smtClean="0">
                <a:solidFill>
                  <a:srgbClr val="FF0000"/>
                </a:solidFill>
              </a:rPr>
              <a:t>Clothes sizes s/m/l/xl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690" y="813352"/>
            <a:ext cx="8704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Categorical data can be divided into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Nominal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Ordinal data</a:t>
            </a:r>
            <a:endParaRPr lang="en-AU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9498573" y="2939648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</a:t>
                      </a:r>
                      <a:r>
                        <a:rPr lang="en-AU" baseline="0" dirty="0" smtClean="0"/>
                        <a:t> is</a:t>
                      </a:r>
                      <a:r>
                        <a:rPr lang="en-AU" dirty="0" smtClean="0"/>
                        <a:t> an example</a:t>
                      </a:r>
                      <a:r>
                        <a:rPr lang="en-AU" baseline="0" dirty="0" smtClean="0"/>
                        <a:t> of ordinal data?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AutoShape 2" descr="Image result for ordinal data clip 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9220" name="Picture 4" descr="Image result for ordinal data clip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785" y="-18450"/>
            <a:ext cx="3892767" cy="204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20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37524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9490837" y="1427207"/>
          <a:ext cx="2605964" cy="12966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899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secondary data?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9498573" y="61803"/>
          <a:ext cx="2605964" cy="11554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95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685">
                <a:tc>
                  <a:txBody>
                    <a:bodyPr/>
                    <a:lstStyle/>
                    <a:p>
                      <a:r>
                        <a:rPr lang="en-AU" dirty="0" smtClean="0"/>
                        <a:t>What are</a:t>
                      </a:r>
                      <a:r>
                        <a:rPr lang="en-AU" baseline="0" dirty="0" smtClean="0"/>
                        <a:t> the two types of collected data?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7975" y="2441877"/>
            <a:ext cx="87615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Secondary data:  data collected by someone else</a:t>
            </a:r>
          </a:p>
          <a:p>
            <a:r>
              <a:rPr lang="en-AU" sz="2400" b="1" dirty="0" smtClean="0"/>
              <a:t>Primary data: data collected by yourself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 smtClean="0"/>
          </a:p>
          <a:p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8690" y="813352"/>
            <a:ext cx="8704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Data collected for Investigations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secondary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primary data</a:t>
            </a:r>
            <a:endParaRPr lang="en-AU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9498573" y="2939648"/>
          <a:ext cx="2605964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primary data</a:t>
                      </a:r>
                      <a:r>
                        <a:rPr lang="en-AU" baseline="0" dirty="0" smtClean="0"/>
                        <a:t>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AutoShape 2" descr="Image result for ordinal data clip 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242" name="Picture 2" descr="Image result for collecting data clip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254" y="61803"/>
            <a:ext cx="2304802" cy="443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07974" y="3608925"/>
            <a:ext cx="87615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Secondary data Examples:  data from the internet, data from census in 2019, data from a world record book</a:t>
            </a:r>
          </a:p>
          <a:p>
            <a:endParaRPr lang="en-AU" sz="2400" b="1" dirty="0" smtClean="0"/>
          </a:p>
          <a:p>
            <a:r>
              <a:rPr lang="en-AU" sz="2400" b="1" dirty="0" smtClean="0"/>
              <a:t>Primary data Examples: data collected by yourself – go door to door and survey people’s number of pets, survey the students at school who would like more drink fountains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 smtClean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8856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477010F-35C1-437B-AED4-6384CB285126}"/>
              </a:ext>
            </a:extLst>
          </p:cNvPr>
          <p:cNvSpPr/>
          <p:nvPr/>
        </p:nvSpPr>
        <p:spPr>
          <a:xfrm>
            <a:off x="2822894" y="2760513"/>
            <a:ext cx="6760726" cy="148946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Centre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379E0-DEA8-4188-B89D-2B790AC40EF0}"/>
              </a:ext>
            </a:extLst>
          </p:cNvPr>
          <p:cNvSpPr/>
          <p:nvPr/>
        </p:nvSpPr>
        <p:spPr>
          <a:xfrm>
            <a:off x="2994870" y="3137226"/>
            <a:ext cx="16526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600" dirty="0"/>
              <a:t>Mean =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172612" y="2803888"/>
            <a:ext cx="44110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600" b="1" dirty="0"/>
              <a:t>sum</a:t>
            </a:r>
            <a:r>
              <a:rPr lang="en-AU" sz="3600" dirty="0"/>
              <a:t> of data values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820276" y="3460391"/>
            <a:ext cx="4538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600" dirty="0"/>
              <a:t>number of data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B64B16-EB3E-4DB8-9D80-63BEA27EC18F}"/>
                  </a:ext>
                </a:extLst>
              </p:cNvPr>
              <p:cNvSpPr/>
              <p:nvPr/>
            </p:nvSpPr>
            <p:spPr>
              <a:xfrm>
                <a:off x="612397" y="1321234"/>
                <a:ext cx="1114057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b="1" dirty="0">
                    <a:solidFill>
                      <a:srgbClr val="C00000"/>
                    </a:solidFill>
                  </a:rPr>
                  <a:t>Mean </a:t>
                </a:r>
                <a:endParaRPr lang="en-AU" sz="3600" dirty="0"/>
              </a:p>
              <a:p>
                <a:pPr algn="ctr"/>
                <a:r>
                  <a:rPr lang="en-AU" sz="3600" dirty="0"/>
                  <a:t>The symbol for mean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sz="3600" dirty="0"/>
                  <a:t> or </a:t>
                </a:r>
                <a:r>
                  <a:rPr lang="en-AU" sz="3600" i="1" dirty="0"/>
                  <a:t>µ</a:t>
                </a:r>
                <a:r>
                  <a:rPr lang="en-AU" sz="3600" dirty="0"/>
                  <a:t>.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0B64B16-EB3E-4DB8-9D80-63BEA27EC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97" y="1321234"/>
                <a:ext cx="11140579" cy="1200329"/>
              </a:xfrm>
              <a:prstGeom prst="rect">
                <a:avLst/>
              </a:prstGeom>
              <a:blipFill rotWithShape="0">
                <a:blip r:embed="rId2"/>
                <a:stretch>
                  <a:fillRect t="-8122" b="-182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6446B9-53A1-40F3-B18C-BA5A61155EC8}"/>
              </a:ext>
            </a:extLst>
          </p:cNvPr>
          <p:cNvCxnSpPr/>
          <p:nvPr/>
        </p:nvCxnSpPr>
        <p:spPr>
          <a:xfrm>
            <a:off x="4711219" y="3460391"/>
            <a:ext cx="458378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9B82E68-59C9-41E1-892B-C3ECCE522C6E}"/>
              </a:ext>
            </a:extLst>
          </p:cNvPr>
          <p:cNvSpPr/>
          <p:nvPr/>
        </p:nvSpPr>
        <p:spPr>
          <a:xfrm>
            <a:off x="760729" y="4513194"/>
            <a:ext cx="22725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An example: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6DFD5A-351B-4EA4-8706-A31A3CCDA048}"/>
              </a:ext>
            </a:extLst>
          </p:cNvPr>
          <p:cNvSpPr/>
          <p:nvPr/>
        </p:nvSpPr>
        <p:spPr>
          <a:xfrm>
            <a:off x="1218109" y="5155181"/>
            <a:ext cx="29771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For this data set: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935D05-AF5C-4BC1-89F1-7DB9A97E4024}"/>
              </a:ext>
            </a:extLst>
          </p:cNvPr>
          <p:cNvSpPr/>
          <p:nvPr/>
        </p:nvSpPr>
        <p:spPr>
          <a:xfrm>
            <a:off x="1510609" y="5797168"/>
            <a:ext cx="24654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1,  2,  3,  4,  5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65376-646A-4E8F-9879-C6E4B4B19697}"/>
              </a:ext>
            </a:extLst>
          </p:cNvPr>
          <p:cNvSpPr/>
          <p:nvPr/>
        </p:nvSpPr>
        <p:spPr>
          <a:xfrm>
            <a:off x="5130669" y="5328971"/>
            <a:ext cx="16526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Mean =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44844B-364A-44BC-B938-38DE894FBC60}"/>
              </a:ext>
            </a:extLst>
          </p:cNvPr>
          <p:cNvSpPr/>
          <p:nvPr/>
        </p:nvSpPr>
        <p:spPr>
          <a:xfrm>
            <a:off x="6623012" y="5005805"/>
            <a:ext cx="27971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1 + 2 + 3 + 4 + 5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2B16A0-24C1-4660-AA8D-A54005A4A940}"/>
              </a:ext>
            </a:extLst>
          </p:cNvPr>
          <p:cNvSpPr/>
          <p:nvPr/>
        </p:nvSpPr>
        <p:spPr>
          <a:xfrm>
            <a:off x="7741247" y="5704282"/>
            <a:ext cx="4765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B32A0D-A6FA-49DD-A50B-F1FA7ABB083D}"/>
              </a:ext>
            </a:extLst>
          </p:cNvPr>
          <p:cNvCxnSpPr>
            <a:cxnSpLocks/>
          </p:cNvCxnSpPr>
          <p:nvPr/>
        </p:nvCxnSpPr>
        <p:spPr>
          <a:xfrm>
            <a:off x="6623012" y="5652135"/>
            <a:ext cx="27130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39400BD-746C-491D-BE63-6D36E66E64E6}"/>
              </a:ext>
            </a:extLst>
          </p:cNvPr>
          <p:cNvSpPr/>
          <p:nvPr/>
        </p:nvSpPr>
        <p:spPr>
          <a:xfrm>
            <a:off x="9420148" y="5324795"/>
            <a:ext cx="40724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=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3F1192-A08C-4329-BA46-62919253EDE6}"/>
              </a:ext>
            </a:extLst>
          </p:cNvPr>
          <p:cNvSpPr/>
          <p:nvPr/>
        </p:nvSpPr>
        <p:spPr>
          <a:xfrm>
            <a:off x="9911494" y="5005805"/>
            <a:ext cx="6098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1D07D9-C82B-479C-BE34-1BC513DF971F}"/>
              </a:ext>
            </a:extLst>
          </p:cNvPr>
          <p:cNvSpPr/>
          <p:nvPr/>
        </p:nvSpPr>
        <p:spPr>
          <a:xfrm>
            <a:off x="10044726" y="5652136"/>
            <a:ext cx="4765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2BA6F9-F094-4196-BE27-3B379586C175}"/>
              </a:ext>
            </a:extLst>
          </p:cNvPr>
          <p:cNvCxnSpPr>
            <a:cxnSpLocks/>
          </p:cNvCxnSpPr>
          <p:nvPr/>
        </p:nvCxnSpPr>
        <p:spPr>
          <a:xfrm>
            <a:off x="9911494" y="5652135"/>
            <a:ext cx="6098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6176CBF-E63F-4846-9734-BD0B539C1206}"/>
              </a:ext>
            </a:extLst>
          </p:cNvPr>
          <p:cNvSpPr/>
          <p:nvPr/>
        </p:nvSpPr>
        <p:spPr>
          <a:xfrm>
            <a:off x="10651042" y="5324795"/>
            <a:ext cx="7747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= 3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6B3926-101D-4231-B963-EF4CAEA58F3B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77513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7" grpId="0"/>
      <p:bldP spid="8" grpId="0"/>
      <p:bldP spid="9" grpId="0"/>
      <p:bldP spid="12" grpId="0"/>
      <p:bldP spid="13" grpId="0"/>
      <p:bldP spid="14" grpId="0"/>
      <p:bldP spid="16" grpId="0"/>
      <p:bldP spid="17" grpId="0"/>
      <p:bldP spid="18" grpId="0"/>
      <p:bldP spid="21" grpId="0"/>
      <p:bldP spid="22" grpId="0"/>
      <p:bldP spid="23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187091"/>
              </p:ext>
            </p:extLst>
          </p:nvPr>
        </p:nvGraphicFramePr>
        <p:xfrm>
          <a:off x="9328245" y="279779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</a:t>
                      </a:r>
                      <a:r>
                        <a:rPr lang="en-AU" baseline="0" dirty="0" smtClean="0"/>
                        <a:t> does the symbol Sigma represent?</a:t>
                      </a:r>
                      <a:endParaRPr lang="en-AU" dirty="0" smtClean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AutoShape 2" descr="Image result for mean and summation symbol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2" name="Picture 8" descr="https://mathmaine.files.wordpress.com/2010/04/sigmapi.jpg?w=640&amp;h=240&amp;crop=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94"/>
          <a:stretch/>
        </p:blipFill>
        <p:spPr bwMode="auto">
          <a:xfrm>
            <a:off x="523637" y="937403"/>
            <a:ext cx="1808392" cy="136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49274" y="1156521"/>
            <a:ext cx="5502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Sigma is the symbol which represents “the sum of” or “the addition of” a series of numbers</a:t>
            </a:r>
            <a:endParaRPr lang="en-AU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249274" y="2518087"/>
            <a:ext cx="5761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Consider the following data set: 4, 7, 2, 4</a:t>
            </a:r>
          </a:p>
          <a:p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210328" y="3164418"/>
            <a:ext cx="5761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Then        4, 7, 2, 4 = 4 + 7 + 2 + 4 = 17 </a:t>
            </a:r>
          </a:p>
          <a:p>
            <a:endParaRPr lang="en-AU" sz="2400" b="1" dirty="0"/>
          </a:p>
        </p:txBody>
      </p:sp>
      <p:pic>
        <p:nvPicPr>
          <p:cNvPr id="14" name="Picture 8" descr="https://mathmaine.files.wordpress.com/2010/04/sigmapi.jpg?w=640&amp;h=240&amp;crop=1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1" t="9905" r="54266" b="21412"/>
          <a:stretch/>
        </p:blipFill>
        <p:spPr bwMode="auto">
          <a:xfrm>
            <a:off x="3151517" y="3222299"/>
            <a:ext cx="332323" cy="33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210328" y="4305980"/>
            <a:ext cx="5761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This is read as: “the sum of  4, 7, 2, 4 = 17 “</a:t>
            </a:r>
          </a:p>
          <a:p>
            <a:endParaRPr lang="en-AU" sz="2400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250776"/>
              </p:ext>
            </p:extLst>
          </p:nvPr>
        </p:nvGraphicFramePr>
        <p:xfrm>
          <a:off x="9328245" y="1351010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baseline="0" dirty="0" smtClean="0"/>
                        <a:t>Draw the symbol Sigma on your white board?</a:t>
                      </a:r>
                      <a:endParaRPr lang="en-AU" dirty="0" smtClean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3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371304"/>
              </p:ext>
            </p:extLst>
          </p:nvPr>
        </p:nvGraphicFramePr>
        <p:xfrm>
          <a:off x="9328245" y="279779"/>
          <a:ext cx="2605964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</a:t>
                      </a:r>
                      <a:r>
                        <a:rPr lang="en-AU" baseline="0" dirty="0" smtClean="0"/>
                        <a:t> is </a:t>
                      </a:r>
                      <a:r>
                        <a:rPr lang="en-AU" dirty="0" smtClean="0"/>
                        <a:t>“x-bar”</a:t>
                      </a:r>
                      <a:r>
                        <a:rPr lang="en-AU" baseline="0" dirty="0" smtClean="0"/>
                        <a:t> read?</a:t>
                      </a:r>
                      <a:endParaRPr lang="en-AU" dirty="0" smtClean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AutoShape 2" descr="Image result for mean and summation symbol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2249274" y="1156521"/>
            <a:ext cx="5502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is read as “x-bar”</a:t>
            </a:r>
            <a:endParaRPr lang="en-AU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210327" y="2112599"/>
            <a:ext cx="6508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It is known as the “sample mean” – </a:t>
            </a:r>
            <a:r>
              <a:rPr lang="en-AU" sz="2400" b="1" dirty="0" err="1" smtClean="0"/>
              <a:t>ie</a:t>
            </a:r>
            <a:r>
              <a:rPr lang="en-AU" sz="2400" b="1" dirty="0" smtClean="0"/>
              <a:t> the mean of the sample of data</a:t>
            </a:r>
          </a:p>
          <a:p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10328" y="3164418"/>
                <a:ext cx="5761790" cy="993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Then      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    </m:t>
                        </m:r>
                      </m:num>
                      <m:den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en-AU" sz="2400" b="1" dirty="0" smtClean="0"/>
                  <a:t>  =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AU" sz="2400" b="1" dirty="0" smtClean="0"/>
              </a:p>
              <a:p>
                <a:endParaRPr lang="en-AU" sz="2400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328" y="3164418"/>
                <a:ext cx="5761790" cy="993413"/>
              </a:xfrm>
              <a:prstGeom prst="rect">
                <a:avLst/>
              </a:prstGeom>
              <a:blipFill rotWithShape="0">
                <a:blip r:embed="rId2"/>
                <a:stretch>
                  <a:fillRect l="-16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210328" y="4305980"/>
            <a:ext cx="5761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This is read as: “the mean of the set of data is 5”</a:t>
            </a:r>
          </a:p>
          <a:p>
            <a:endParaRPr lang="en-AU" sz="2400" b="1" dirty="0"/>
          </a:p>
        </p:txBody>
      </p:sp>
      <p:pic>
        <p:nvPicPr>
          <p:cNvPr id="2050" name="Picture 2" descr="Image result for symbol for mean of x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4" t="33381" r="73468" b="14946"/>
          <a:stretch/>
        </p:blipFill>
        <p:spPr bwMode="auto">
          <a:xfrm>
            <a:off x="1794950" y="1016379"/>
            <a:ext cx="454324" cy="56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Image result for symbol for mean of x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4" t="33381" r="73468" b="14946"/>
          <a:stretch/>
        </p:blipFill>
        <p:spPr bwMode="auto">
          <a:xfrm>
            <a:off x="3086037" y="3254100"/>
            <a:ext cx="295518" cy="36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https://mathmaine.files.wordpress.com/2010/04/sigmapi.jpg?w=640&amp;h=240&amp;crop=1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1" t="9905" r="54266" b="21412"/>
          <a:stretch/>
        </p:blipFill>
        <p:spPr bwMode="auto">
          <a:xfrm>
            <a:off x="3819242" y="3130467"/>
            <a:ext cx="332323" cy="33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818865"/>
              </p:ext>
            </p:extLst>
          </p:nvPr>
        </p:nvGraphicFramePr>
        <p:xfrm>
          <a:off x="9328245" y="1082035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“x-bar” known</a:t>
                      </a:r>
                      <a:r>
                        <a:rPr lang="en-AU" baseline="0" dirty="0" smtClean="0"/>
                        <a:t> as?</a:t>
                      </a:r>
                      <a:endParaRPr lang="en-AU" dirty="0" smtClean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07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203302"/>
              </p:ext>
            </p:extLst>
          </p:nvPr>
        </p:nvGraphicFramePr>
        <p:xfrm>
          <a:off x="9498573" y="1067643"/>
          <a:ext cx="2605964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is the mean calculated?</a:t>
                      </a:r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857796"/>
              </p:ext>
            </p:extLst>
          </p:nvPr>
        </p:nvGraphicFramePr>
        <p:xfrm>
          <a:off x="9498573" y="61803"/>
          <a:ext cx="2605964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mean?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07034" y="2405026"/>
            <a:ext cx="814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It is written as :  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55916" y="1177458"/>
            <a:ext cx="8704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Mean</a:t>
            </a:r>
            <a:r>
              <a:rPr lang="en-AU" sz="2400" dirty="0" smtClean="0"/>
              <a:t>:  is the total of the data values divided by the number of values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3472" t="52986" r="43426" b="35972"/>
          <a:stretch/>
        </p:blipFill>
        <p:spPr>
          <a:xfrm>
            <a:off x="2438401" y="2242571"/>
            <a:ext cx="1347787" cy="7572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5916" y="3234120"/>
            <a:ext cx="814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mean of 5, 4, 3:  </a:t>
            </a:r>
            <a:endParaRPr lang="en-AU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3472" t="52986" r="43426" b="35972"/>
          <a:stretch/>
        </p:blipFill>
        <p:spPr>
          <a:xfrm>
            <a:off x="371476" y="3813755"/>
            <a:ext cx="1347787" cy="7572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98169" y="4706994"/>
                <a:ext cx="3143250" cy="621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5+4+3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3 </m:t>
                        </m:r>
                      </m:den>
                    </m:f>
                  </m:oMath>
                </a14:m>
                <a:r>
                  <a:rPr lang="en-AU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69" y="4706994"/>
                <a:ext cx="3143250" cy="621773"/>
              </a:xfrm>
              <a:prstGeom prst="rect">
                <a:avLst/>
              </a:prstGeom>
              <a:blipFill>
                <a:blip r:embed="rId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09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9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6F7F8F-9100-4EC8-A116-46DF1A8DD0E0}"/>
              </a:ext>
            </a:extLst>
          </p:cNvPr>
          <p:cNvSpPr/>
          <p:nvPr/>
        </p:nvSpPr>
        <p:spPr>
          <a:xfrm>
            <a:off x="3246538" y="1392572"/>
            <a:ext cx="5192785" cy="1283516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379E0-DEA8-4188-B89D-2B790AC40EF0}"/>
              </a:ext>
            </a:extLst>
          </p:cNvPr>
          <p:cNvSpPr/>
          <p:nvPr/>
        </p:nvSpPr>
        <p:spPr>
          <a:xfrm>
            <a:off x="3347242" y="1747351"/>
            <a:ext cx="13422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Mean =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004866" y="1442819"/>
            <a:ext cx="2931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sum of data values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751597" y="2091124"/>
            <a:ext cx="34528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number of data values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6446B9-53A1-40F3-B18C-BA5A61155EC8}"/>
              </a:ext>
            </a:extLst>
          </p:cNvPr>
          <p:cNvCxnSpPr>
            <a:cxnSpLocks/>
          </p:cNvCxnSpPr>
          <p:nvPr/>
        </p:nvCxnSpPr>
        <p:spPr>
          <a:xfrm>
            <a:off x="4689480" y="2032160"/>
            <a:ext cx="34982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2C527A7-A1C5-4F11-8F34-64C7E99851A6}"/>
              </a:ext>
            </a:extLst>
          </p:cNvPr>
          <p:cNvSpPr/>
          <p:nvPr/>
        </p:nvSpPr>
        <p:spPr>
          <a:xfrm>
            <a:off x="2494541" y="2966879"/>
            <a:ext cx="72229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Find the mean of the following data sets.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B32155-84A8-4089-B8D2-923BE0F15021}"/>
              </a:ext>
            </a:extLst>
          </p:cNvPr>
          <p:cNvSpPr/>
          <p:nvPr/>
        </p:nvSpPr>
        <p:spPr>
          <a:xfrm>
            <a:off x="1061631" y="3972356"/>
            <a:ext cx="271104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7,  9,  2,  4,  3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B4B912-8145-42DF-932B-E99F9D4CFC95}"/>
              </a:ext>
            </a:extLst>
          </p:cNvPr>
          <p:cNvSpPr/>
          <p:nvPr/>
        </p:nvSpPr>
        <p:spPr>
          <a:xfrm>
            <a:off x="4750476" y="3972356"/>
            <a:ext cx="2782837" cy="646331"/>
          </a:xfrm>
          <a:prstGeom prst="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15,  7,  12,  10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632D7B-BEDD-4C78-B36C-BAA5C6CC02D0}"/>
              </a:ext>
            </a:extLst>
          </p:cNvPr>
          <p:cNvSpPr/>
          <p:nvPr/>
        </p:nvSpPr>
        <p:spPr>
          <a:xfrm>
            <a:off x="8439322" y="3972356"/>
            <a:ext cx="3137485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11,  12,  11,  13,  17,  13,  12,  15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85FEE4-6652-4586-AFAC-0B6B72166C02}"/>
              </a:ext>
            </a:extLst>
          </p:cNvPr>
          <p:cNvSpPr/>
          <p:nvPr/>
        </p:nvSpPr>
        <p:spPr>
          <a:xfrm>
            <a:off x="609691" y="5166897"/>
            <a:ext cx="11352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Mean =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C8117D-015C-4501-883A-D9C5F43FC7C7}"/>
              </a:ext>
            </a:extLst>
          </p:cNvPr>
          <p:cNvSpPr/>
          <p:nvPr/>
        </p:nvSpPr>
        <p:spPr>
          <a:xfrm>
            <a:off x="1841846" y="4936064"/>
            <a:ext cx="2151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7 + 9 + 2 + 4 + 3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DC40C8-0A68-4527-AF3E-F6D9F2437A6D}"/>
              </a:ext>
            </a:extLst>
          </p:cNvPr>
          <p:cNvSpPr/>
          <p:nvPr/>
        </p:nvSpPr>
        <p:spPr>
          <a:xfrm>
            <a:off x="2720792" y="5396131"/>
            <a:ext cx="4765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5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5189484-9B6F-4915-AFFB-3377C5E9E595}"/>
              </a:ext>
            </a:extLst>
          </p:cNvPr>
          <p:cNvCxnSpPr>
            <a:cxnSpLocks/>
          </p:cNvCxnSpPr>
          <p:nvPr/>
        </p:nvCxnSpPr>
        <p:spPr>
          <a:xfrm>
            <a:off x="1823859" y="5396131"/>
            <a:ext cx="21691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AB54EFE-2449-4F61-A3B0-3B96E1179554}"/>
              </a:ext>
            </a:extLst>
          </p:cNvPr>
          <p:cNvSpPr/>
          <p:nvPr/>
        </p:nvSpPr>
        <p:spPr>
          <a:xfrm>
            <a:off x="1382181" y="5939943"/>
            <a:ext cx="353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=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864278-539F-4078-A7C8-C54C4888C2D2}"/>
              </a:ext>
            </a:extLst>
          </p:cNvPr>
          <p:cNvSpPr/>
          <p:nvPr/>
        </p:nvSpPr>
        <p:spPr>
          <a:xfrm>
            <a:off x="1841847" y="5709111"/>
            <a:ext cx="6111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25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31E3BFB-27FB-42FB-84FC-046E9D093C11}"/>
              </a:ext>
            </a:extLst>
          </p:cNvPr>
          <p:cNvSpPr/>
          <p:nvPr/>
        </p:nvSpPr>
        <p:spPr>
          <a:xfrm>
            <a:off x="1909154" y="6167581"/>
            <a:ext cx="4765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5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3B3B69-73DF-4910-AD73-1F3B02840A3F}"/>
              </a:ext>
            </a:extLst>
          </p:cNvPr>
          <p:cNvCxnSpPr>
            <a:cxnSpLocks/>
          </p:cNvCxnSpPr>
          <p:nvPr/>
        </p:nvCxnSpPr>
        <p:spPr>
          <a:xfrm>
            <a:off x="1823859" y="6169178"/>
            <a:ext cx="5618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D7C6104-B51D-4DCE-95C0-AE95ED7AFA93}"/>
              </a:ext>
            </a:extLst>
          </p:cNvPr>
          <p:cNvSpPr/>
          <p:nvPr/>
        </p:nvSpPr>
        <p:spPr>
          <a:xfrm>
            <a:off x="2520339" y="5938345"/>
            <a:ext cx="8051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=  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001600-D303-401E-99D6-9C763A803BF4}"/>
              </a:ext>
            </a:extLst>
          </p:cNvPr>
          <p:cNvSpPr/>
          <p:nvPr/>
        </p:nvSpPr>
        <p:spPr>
          <a:xfrm>
            <a:off x="5333560" y="5939943"/>
            <a:ext cx="1544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Mean = 11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08B053-4E2A-437C-8FA9-F2AD9C69D4B0}"/>
              </a:ext>
            </a:extLst>
          </p:cNvPr>
          <p:cNvSpPr/>
          <p:nvPr/>
        </p:nvSpPr>
        <p:spPr>
          <a:xfrm>
            <a:off x="9294562" y="5938346"/>
            <a:ext cx="1544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Mean = 13 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47DFA47-D93A-4E66-8F08-D02ED729CEE7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Centre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824416-A888-49B7-83A2-A543E201DF8C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73141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8" grpId="0"/>
      <p:bldP spid="39" grpId="0"/>
      <p:bldP spid="40" grpId="0"/>
      <p:bldP spid="42" grpId="0"/>
      <p:bldP spid="43" grpId="0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413201-CA46-4CB5-84A5-BD06AD91802C}"/>
              </a:ext>
            </a:extLst>
          </p:cNvPr>
          <p:cNvSpPr/>
          <p:nvPr/>
        </p:nvSpPr>
        <p:spPr>
          <a:xfrm>
            <a:off x="6216034" y="5655496"/>
            <a:ext cx="390089" cy="393625"/>
          </a:xfrm>
          <a:prstGeom prst="round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B64B16-EB3E-4DB8-9D80-63BEA27EC18F}"/>
                  </a:ext>
                </a:extLst>
              </p:cNvPr>
              <p:cNvSpPr/>
              <p:nvPr/>
            </p:nvSpPr>
            <p:spPr>
              <a:xfrm>
                <a:off x="843018" y="1030484"/>
                <a:ext cx="10335236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200" b="1" dirty="0">
                    <a:solidFill>
                      <a:srgbClr val="C00000"/>
                    </a:solidFill>
                  </a:rPr>
                  <a:t>Median </a:t>
                </a:r>
                <a:r>
                  <a:rPr lang="en-AU" sz="3200" dirty="0"/>
                  <a:t>– The median is the middle value of an </a:t>
                </a:r>
                <a:r>
                  <a:rPr lang="en-AU" sz="3200" dirty="0">
                    <a:solidFill>
                      <a:srgbClr val="FF0000"/>
                    </a:solidFill>
                  </a:rPr>
                  <a:t>ordered</a:t>
                </a:r>
                <a:r>
                  <a:rPr lang="en-AU" sz="3200" dirty="0"/>
                  <a:t> data set</a:t>
                </a:r>
                <a:r>
                  <a:rPr lang="en-AU" sz="3200" dirty="0" smtClean="0"/>
                  <a:t>.</a:t>
                </a:r>
                <a:endParaRPr lang="en-AU" sz="2000" dirty="0"/>
              </a:p>
              <a:p>
                <a:pPr algn="ctr"/>
                <a:r>
                  <a:rPr lang="en-AU" sz="3200" dirty="0"/>
                  <a:t>The symbol for median is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sz="3200" dirty="0"/>
                  <a:t> 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3200" b="0" i="1" baseline="-250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AU" sz="3200" dirty="0"/>
                  <a:t>.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0B64B16-EB3E-4DB8-9D80-63BEA27EC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18" y="1030484"/>
                <a:ext cx="10335236" cy="1631216"/>
              </a:xfrm>
              <a:prstGeom prst="rect">
                <a:avLst/>
              </a:prstGeom>
              <a:blipFill rotWithShape="0">
                <a:blip r:embed="rId2"/>
                <a:stretch>
                  <a:fillRect l="-708" t="-4851" r="-1651" b="-7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86DFD5A-351B-4EA4-8706-A31A3CCDA048}"/>
              </a:ext>
            </a:extLst>
          </p:cNvPr>
          <p:cNvSpPr/>
          <p:nvPr/>
        </p:nvSpPr>
        <p:spPr>
          <a:xfrm>
            <a:off x="1020273" y="4801246"/>
            <a:ext cx="29771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/>
              <a:t>For this data set: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65376-646A-4E8F-9879-C6E4B4B19697}"/>
              </a:ext>
            </a:extLst>
          </p:cNvPr>
          <p:cNvSpPr/>
          <p:nvPr/>
        </p:nvSpPr>
        <p:spPr>
          <a:xfrm>
            <a:off x="9311779" y="5565819"/>
            <a:ext cx="18101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Median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6176CBF-E63F-4846-9734-BD0B539C1206}"/>
                  </a:ext>
                </a:extLst>
              </p:cNvPr>
              <p:cNvSpPr/>
              <p:nvPr/>
            </p:nvSpPr>
            <p:spPr>
              <a:xfrm>
                <a:off x="10996476" y="5559645"/>
                <a:ext cx="697777" cy="6165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5+7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="" xmlns:a16="http://schemas.microsoft.com/office/drawing/2014/main" id="{06176CBF-E63F-4846-9734-BD0B539C12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6476" y="5559645"/>
                <a:ext cx="697777" cy="61651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00935D05-AF5C-4BC1-89F1-7DB9A97E4024}"/>
              </a:ext>
            </a:extLst>
          </p:cNvPr>
          <p:cNvSpPr/>
          <p:nvPr/>
        </p:nvSpPr>
        <p:spPr>
          <a:xfrm>
            <a:off x="757150" y="5559645"/>
            <a:ext cx="30557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9,  3,  9,  7,  </a:t>
            </a:r>
            <a:r>
              <a:rPr lang="en-AU" sz="3200" dirty="0" smtClean="0"/>
              <a:t>5, 4</a:t>
            </a:r>
            <a:endParaRPr lang="en-AU" sz="3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48B820-42AD-4D86-B6D4-B1E1922AE050}"/>
              </a:ext>
            </a:extLst>
          </p:cNvPr>
          <p:cNvSpPr/>
          <p:nvPr/>
        </p:nvSpPr>
        <p:spPr>
          <a:xfrm>
            <a:off x="4337109" y="4807423"/>
            <a:ext cx="4672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Order from smallest to largest.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66ACEC-F7D1-4758-8264-36913C168DCD}"/>
              </a:ext>
            </a:extLst>
          </p:cNvPr>
          <p:cNvSpPr/>
          <p:nvPr/>
        </p:nvSpPr>
        <p:spPr>
          <a:xfrm>
            <a:off x="4337109" y="6293673"/>
            <a:ext cx="4672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Find the middle.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4FEEC3-E705-4B97-BC62-8C7E13DE2EC9}"/>
              </a:ext>
            </a:extLst>
          </p:cNvPr>
          <p:cNvSpPr/>
          <p:nvPr/>
        </p:nvSpPr>
        <p:spPr>
          <a:xfrm>
            <a:off x="4903196" y="5548264"/>
            <a:ext cx="305575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3</a:t>
            </a:r>
            <a:r>
              <a:rPr lang="en-AU" sz="3200" dirty="0" smtClean="0"/>
              <a:t>, 4,  </a:t>
            </a:r>
            <a:r>
              <a:rPr lang="en-AU" sz="3200" dirty="0"/>
              <a:t>5,  7,  9,  9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FF75CA5-05B8-46D0-8F37-070070D26E9F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Centre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8201BF-078D-41D9-AC66-C86E6FF0A328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B64B16-EB3E-4DB8-9D80-63BEA27EC18F}"/>
              </a:ext>
            </a:extLst>
          </p:cNvPr>
          <p:cNvSpPr/>
          <p:nvPr/>
        </p:nvSpPr>
        <p:spPr>
          <a:xfrm>
            <a:off x="714927" y="2677096"/>
            <a:ext cx="8552489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b="1" u="sng" dirty="0" smtClean="0"/>
              <a:t>To find the Median</a:t>
            </a:r>
          </a:p>
          <a:p>
            <a:r>
              <a:rPr lang="en-AU" sz="2400" b="1" i="1" dirty="0" smtClean="0"/>
              <a:t>Step 1: Order the numbers from smallest to largest</a:t>
            </a:r>
          </a:p>
          <a:p>
            <a:r>
              <a:rPr lang="en-AU" sz="2400" b="1" i="1" dirty="0" smtClean="0"/>
              <a:t>Step 2: Find the middle number</a:t>
            </a:r>
            <a:r>
              <a:rPr lang="en-AU" sz="2400" b="1" i="1" baseline="30000" dirty="0" smtClean="0"/>
              <a:t>*</a:t>
            </a:r>
          </a:p>
          <a:p>
            <a:r>
              <a:rPr lang="en-AU" sz="2400" b="1" i="1" baseline="30000" dirty="0" smtClean="0"/>
              <a:t>*</a:t>
            </a:r>
            <a:r>
              <a:rPr lang="en-AU" sz="2400" b="1" i="1" dirty="0" smtClean="0"/>
              <a:t>If the middle is between two numbers, then add them up and divide by two. </a:t>
            </a:r>
          </a:p>
          <a:p>
            <a:endParaRPr lang="en-AU" sz="2400" b="1" i="1" dirty="0" smtClean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D65376-646A-4E8F-9879-C6E4B4B19697}"/>
              </a:ext>
            </a:extLst>
          </p:cNvPr>
          <p:cNvSpPr/>
          <p:nvPr/>
        </p:nvSpPr>
        <p:spPr>
          <a:xfrm>
            <a:off x="9311779" y="6141667"/>
            <a:ext cx="26371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	     =   6</a:t>
            </a:r>
            <a:endParaRPr lang="en-AU" sz="32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6377790" y="5321598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85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6" grpId="0"/>
      <p:bldP spid="26" grpId="0"/>
      <p:bldP spid="14" grpId="0"/>
      <p:bldP spid="15" grpId="0"/>
      <p:bldP spid="18" grpId="0"/>
      <p:bldP spid="17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B0D668-ABF8-4AD1-9EA6-7149D34485DD}"/>
              </a:ext>
            </a:extLst>
          </p:cNvPr>
          <p:cNvSpPr/>
          <p:nvPr/>
        </p:nvSpPr>
        <p:spPr>
          <a:xfrm>
            <a:off x="2281806" y="5176007"/>
            <a:ext cx="285225" cy="31878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6F7F8F-9100-4EC8-A116-46DF1A8DD0E0}"/>
              </a:ext>
            </a:extLst>
          </p:cNvPr>
          <p:cNvSpPr/>
          <p:nvPr/>
        </p:nvSpPr>
        <p:spPr>
          <a:xfrm>
            <a:off x="2453033" y="1414578"/>
            <a:ext cx="7264429" cy="1234924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C527A7-A1C5-4F11-8F34-64C7E99851A6}"/>
              </a:ext>
            </a:extLst>
          </p:cNvPr>
          <p:cNvSpPr/>
          <p:nvPr/>
        </p:nvSpPr>
        <p:spPr>
          <a:xfrm>
            <a:off x="2196410" y="2993465"/>
            <a:ext cx="77376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Find the median of the following data sets.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B32155-84A8-4089-B8D2-923BE0F15021}"/>
              </a:ext>
            </a:extLst>
          </p:cNvPr>
          <p:cNvSpPr/>
          <p:nvPr/>
        </p:nvSpPr>
        <p:spPr>
          <a:xfrm>
            <a:off x="1061631" y="3972356"/>
            <a:ext cx="271104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7,  9,  2,  4,  2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B4B912-8145-42DF-932B-E99F9D4CFC95}"/>
              </a:ext>
            </a:extLst>
          </p:cNvPr>
          <p:cNvSpPr/>
          <p:nvPr/>
        </p:nvSpPr>
        <p:spPr>
          <a:xfrm>
            <a:off x="4662500" y="3972356"/>
            <a:ext cx="3088335" cy="646331"/>
          </a:xfrm>
          <a:prstGeom prst="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12,  11,  19,  10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632D7B-BEDD-4C78-B36C-BAA5C6CC02D0}"/>
              </a:ext>
            </a:extLst>
          </p:cNvPr>
          <p:cNvSpPr/>
          <p:nvPr/>
        </p:nvSpPr>
        <p:spPr>
          <a:xfrm>
            <a:off x="8439322" y="3972356"/>
            <a:ext cx="3137485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11,  12,  11,  13,  17,  13,  12,  15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85FEE4-6652-4586-AFAC-0B6B72166C02}"/>
              </a:ext>
            </a:extLst>
          </p:cNvPr>
          <p:cNvSpPr/>
          <p:nvPr/>
        </p:nvSpPr>
        <p:spPr>
          <a:xfrm>
            <a:off x="1599865" y="5745472"/>
            <a:ext cx="16345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Median = 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001600-D303-401E-99D6-9C763A803BF4}"/>
              </a:ext>
            </a:extLst>
          </p:cNvPr>
          <p:cNvSpPr/>
          <p:nvPr/>
        </p:nvSpPr>
        <p:spPr>
          <a:xfrm>
            <a:off x="5206346" y="5710707"/>
            <a:ext cx="2000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Median = 11.5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08B053-4E2A-437C-8FA9-F2AD9C69D4B0}"/>
              </a:ext>
            </a:extLst>
          </p:cNvPr>
          <p:cNvSpPr/>
          <p:nvPr/>
        </p:nvSpPr>
        <p:spPr>
          <a:xfrm>
            <a:off x="8980413" y="5708782"/>
            <a:ext cx="20553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Median = 12.5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E8C329-E006-448D-ACD6-399E201B4B13}"/>
              </a:ext>
            </a:extLst>
          </p:cNvPr>
          <p:cNvSpPr/>
          <p:nvPr/>
        </p:nvSpPr>
        <p:spPr>
          <a:xfrm>
            <a:off x="2494541" y="1475657"/>
            <a:ext cx="714440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dirty="0"/>
              <a:t>Median</a:t>
            </a:r>
            <a:r>
              <a:rPr lang="en-AU" sz="3200" b="1" dirty="0">
                <a:solidFill>
                  <a:srgbClr val="C00000"/>
                </a:solidFill>
              </a:rPr>
              <a:t> </a:t>
            </a:r>
            <a:r>
              <a:rPr lang="en-AU" sz="3200" dirty="0"/>
              <a:t>– The median is the middle value of an ordered data set. </a:t>
            </a:r>
            <a:endParaRPr lang="en-AU" sz="3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27303E-1583-4E1E-99C6-5BAB995C2615}"/>
              </a:ext>
            </a:extLst>
          </p:cNvPr>
          <p:cNvSpPr/>
          <p:nvPr/>
        </p:nvSpPr>
        <p:spPr>
          <a:xfrm>
            <a:off x="1341561" y="5102248"/>
            <a:ext cx="2151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2,  2,  4,  7,  9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9D3A90-C12C-441B-813F-C063524CA0E7}"/>
              </a:ext>
            </a:extLst>
          </p:cNvPr>
          <p:cNvSpPr/>
          <p:nvPr/>
        </p:nvSpPr>
        <p:spPr>
          <a:xfrm>
            <a:off x="5131073" y="5102248"/>
            <a:ext cx="21511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10,  11,  12,  19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07A0B51-37CB-41A7-A11F-14650D24B314}"/>
              </a:ext>
            </a:extLst>
          </p:cNvPr>
          <p:cNvCxnSpPr>
            <a:cxnSpLocks/>
          </p:cNvCxnSpPr>
          <p:nvPr/>
        </p:nvCxnSpPr>
        <p:spPr>
          <a:xfrm>
            <a:off x="6198276" y="4968024"/>
            <a:ext cx="0" cy="2852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33B64804-1175-49DB-8FE3-521CDAD97A1B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Centre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56517C-E344-4A8A-8D8F-BE928B823FBE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72844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1" grpId="0"/>
      <p:bldP spid="43" grpId="0"/>
      <p:bldP spid="44" grpId="0"/>
      <p:bldP spid="12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588925"/>
              </p:ext>
            </p:extLst>
          </p:nvPr>
        </p:nvGraphicFramePr>
        <p:xfrm>
          <a:off x="9498573" y="1067643"/>
          <a:ext cx="2605964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is the median</a:t>
                      </a:r>
                      <a:r>
                        <a:rPr lang="en-AU" baseline="0" dirty="0" smtClean="0"/>
                        <a:t> </a:t>
                      </a:r>
                      <a:r>
                        <a:rPr lang="en-AU" dirty="0" smtClean="0"/>
                        <a:t>calculated for an odd set of data values?</a:t>
                      </a:r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606702"/>
              </p:ext>
            </p:extLst>
          </p:nvPr>
        </p:nvGraphicFramePr>
        <p:xfrm>
          <a:off x="9498573" y="61803"/>
          <a:ext cx="2605964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median?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55916" y="1177458"/>
            <a:ext cx="8704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Median:  </a:t>
            </a:r>
            <a:r>
              <a:rPr lang="en-AU" sz="2400" dirty="0" smtClean="0"/>
              <a:t>is the middle data value when the values are placed in order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55916" y="2303593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median of (even set of data):  5, 4, 1, 8, 3, 5, 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55915" y="2796294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Place the data in order (</a:t>
            </a:r>
            <a:r>
              <a:rPr lang="en-AU" sz="2400" dirty="0" err="1" smtClean="0"/>
              <a:t>eg</a:t>
            </a:r>
            <a:r>
              <a:rPr lang="en-AU" sz="2400" dirty="0" smtClean="0"/>
              <a:t> lowest to highest):  1, 3, 4, 5, 5, 8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255915" y="3465643"/>
            <a:ext cx="952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Count in from each end to find the 2 middle data values :  1, 3, 4, 5, 5, 8</a:t>
            </a:r>
            <a:endParaRPr lang="en-AU" sz="2400" dirty="0"/>
          </a:p>
        </p:txBody>
      </p:sp>
      <p:sp>
        <p:nvSpPr>
          <p:cNvPr id="6" name="Oval 5"/>
          <p:cNvSpPr/>
          <p:nvPr/>
        </p:nvSpPr>
        <p:spPr>
          <a:xfrm>
            <a:off x="8053388" y="3355533"/>
            <a:ext cx="595312" cy="60210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55915" y="4012693"/>
            <a:ext cx="952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mean of the two middle data values: (4 + 5) </a:t>
            </a:r>
            <a:r>
              <a:rPr lang="en-AU" sz="2400" dirty="0" smtClean="0">
                <a:sym typeface="Symbol" panose="05050102010706020507" pitchFamily="18" charset="2"/>
              </a:rPr>
              <a:t>÷ 2 = 4.5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915" y="4627693"/>
            <a:ext cx="952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median of the data is 4.5</a:t>
            </a:r>
            <a:endParaRPr lang="en-AU" sz="24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536526"/>
              </p:ext>
            </p:extLst>
          </p:nvPr>
        </p:nvGraphicFramePr>
        <p:xfrm>
          <a:off x="9541435" y="2544775"/>
          <a:ext cx="2605964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is the median</a:t>
                      </a:r>
                      <a:r>
                        <a:rPr lang="en-AU" baseline="0" dirty="0" smtClean="0"/>
                        <a:t> </a:t>
                      </a:r>
                      <a:r>
                        <a:rPr lang="en-AU" dirty="0" smtClean="0"/>
                        <a:t>calculated for an even set of data values?</a:t>
                      </a:r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05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6" grpId="0" animBg="1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CA693BE-4646-4856-B236-ADAB311A669C}"/>
              </a:ext>
            </a:extLst>
          </p:cNvPr>
          <p:cNvSpPr/>
          <p:nvPr/>
        </p:nvSpPr>
        <p:spPr>
          <a:xfrm>
            <a:off x="3268554" y="5408075"/>
            <a:ext cx="528506" cy="584775"/>
          </a:xfrm>
          <a:prstGeom prst="round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BF1E0E-00A7-47C8-9B04-5AB1A8B278D2}"/>
              </a:ext>
            </a:extLst>
          </p:cNvPr>
          <p:cNvSpPr/>
          <p:nvPr/>
        </p:nvSpPr>
        <p:spPr>
          <a:xfrm>
            <a:off x="1862356" y="5408075"/>
            <a:ext cx="528506" cy="584775"/>
          </a:xfrm>
          <a:prstGeom prst="round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B64B16-EB3E-4DB8-9D80-63BEA27EC18F}"/>
                  </a:ext>
                </a:extLst>
              </p:cNvPr>
              <p:cNvSpPr/>
              <p:nvPr/>
            </p:nvSpPr>
            <p:spPr>
              <a:xfrm>
                <a:off x="938384" y="1567344"/>
                <a:ext cx="10335236" cy="2123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b="1" dirty="0">
                    <a:solidFill>
                      <a:srgbClr val="C00000"/>
                    </a:solidFill>
                  </a:rPr>
                  <a:t>Mode </a:t>
                </a:r>
                <a:r>
                  <a:rPr lang="en-AU" sz="3600" dirty="0"/>
                  <a:t>– The mode is the value that occurs most often in a data set. </a:t>
                </a:r>
              </a:p>
              <a:p>
                <a:pPr algn="ctr"/>
                <a:endParaRPr lang="en-AU" sz="2400" dirty="0"/>
              </a:p>
              <a:p>
                <a:pPr algn="ctr"/>
                <a:r>
                  <a:rPr lang="en-AU" sz="3600" dirty="0"/>
                  <a:t>The symbol for mode is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𝑀𝑜</m:t>
                    </m:r>
                  </m:oMath>
                </a14:m>
                <a:r>
                  <a:rPr lang="en-AU" sz="3600" dirty="0"/>
                  <a:t>.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B64B16-EB3E-4DB8-9D80-63BEA27EC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384" y="1567344"/>
                <a:ext cx="10335236" cy="2123658"/>
              </a:xfrm>
              <a:prstGeom prst="rect">
                <a:avLst/>
              </a:prstGeom>
              <a:blipFill>
                <a:blip r:embed="rId2"/>
                <a:stretch>
                  <a:fillRect l="-767" t="-4310" r="-1652" b="-10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9B82E68-59C9-41E1-892B-C3ECCE522C6E}"/>
              </a:ext>
            </a:extLst>
          </p:cNvPr>
          <p:cNvSpPr/>
          <p:nvPr/>
        </p:nvSpPr>
        <p:spPr>
          <a:xfrm>
            <a:off x="938384" y="3943586"/>
            <a:ext cx="22725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An example: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6DFD5A-351B-4EA4-8706-A31A3CCDA048}"/>
              </a:ext>
            </a:extLst>
          </p:cNvPr>
          <p:cNvSpPr/>
          <p:nvPr/>
        </p:nvSpPr>
        <p:spPr>
          <a:xfrm>
            <a:off x="1731324" y="4626674"/>
            <a:ext cx="29771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For this data set: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65376-646A-4E8F-9879-C6E4B4B19697}"/>
              </a:ext>
            </a:extLst>
          </p:cNvPr>
          <p:cNvSpPr/>
          <p:nvPr/>
        </p:nvSpPr>
        <p:spPr>
          <a:xfrm>
            <a:off x="7111957" y="4946920"/>
            <a:ext cx="16526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Mode =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176CBF-E63F-4846-9734-BD0B539C1206}"/>
              </a:ext>
            </a:extLst>
          </p:cNvPr>
          <p:cNvSpPr/>
          <p:nvPr/>
        </p:nvSpPr>
        <p:spPr>
          <a:xfrm>
            <a:off x="8639170" y="4940746"/>
            <a:ext cx="6977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935D05-AF5C-4BC1-89F1-7DB9A97E4024}"/>
              </a:ext>
            </a:extLst>
          </p:cNvPr>
          <p:cNvSpPr/>
          <p:nvPr/>
        </p:nvSpPr>
        <p:spPr>
          <a:xfrm>
            <a:off x="1351269" y="5408075"/>
            <a:ext cx="39931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9,  11,  13,  11,  12,  10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4B3A0DB-EA8E-46A6-A1F2-A847BE90AC0F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Centre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F3DCB-21F8-47B7-A545-BFB44D19D103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44012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" grpId="0" animBg="1"/>
      <p:bldP spid="12" grpId="0"/>
      <p:bldP spid="13" grpId="0"/>
      <p:bldP spid="16" grpId="0"/>
      <p:bldP spid="26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6F7F8F-9100-4EC8-A116-46DF1A8DD0E0}"/>
              </a:ext>
            </a:extLst>
          </p:cNvPr>
          <p:cNvSpPr/>
          <p:nvPr/>
        </p:nvSpPr>
        <p:spPr>
          <a:xfrm>
            <a:off x="2453033" y="1414578"/>
            <a:ext cx="7264429" cy="1234924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C527A7-A1C5-4F11-8F34-64C7E99851A6}"/>
              </a:ext>
            </a:extLst>
          </p:cNvPr>
          <p:cNvSpPr/>
          <p:nvPr/>
        </p:nvSpPr>
        <p:spPr>
          <a:xfrm>
            <a:off x="2494541" y="2966879"/>
            <a:ext cx="72229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Find the mode of the following data sets.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B32155-84A8-4089-B8D2-923BE0F15021}"/>
              </a:ext>
            </a:extLst>
          </p:cNvPr>
          <p:cNvSpPr/>
          <p:nvPr/>
        </p:nvSpPr>
        <p:spPr>
          <a:xfrm>
            <a:off x="1061631" y="3972356"/>
            <a:ext cx="271104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7,  9,  2,  4,  2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B4B912-8145-42DF-932B-E99F9D4CFC95}"/>
              </a:ext>
            </a:extLst>
          </p:cNvPr>
          <p:cNvSpPr/>
          <p:nvPr/>
        </p:nvSpPr>
        <p:spPr>
          <a:xfrm>
            <a:off x="4387442" y="3972356"/>
            <a:ext cx="3355597" cy="646331"/>
          </a:xfrm>
          <a:prstGeom prst="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15,  7,  12,  10,  7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632D7B-BEDD-4C78-B36C-BAA5C6CC02D0}"/>
              </a:ext>
            </a:extLst>
          </p:cNvPr>
          <p:cNvSpPr/>
          <p:nvPr/>
        </p:nvSpPr>
        <p:spPr>
          <a:xfrm>
            <a:off x="8439322" y="3972356"/>
            <a:ext cx="3137485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11,  12,  11,  13,  17,  13,  16,  15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85FEE4-6652-4586-AFAC-0B6B72166C02}"/>
              </a:ext>
            </a:extLst>
          </p:cNvPr>
          <p:cNvSpPr/>
          <p:nvPr/>
        </p:nvSpPr>
        <p:spPr>
          <a:xfrm>
            <a:off x="1712632" y="5710707"/>
            <a:ext cx="1409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Mode = 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001600-D303-401E-99D6-9C763A803BF4}"/>
              </a:ext>
            </a:extLst>
          </p:cNvPr>
          <p:cNvSpPr/>
          <p:nvPr/>
        </p:nvSpPr>
        <p:spPr>
          <a:xfrm>
            <a:off x="5434228" y="5710708"/>
            <a:ext cx="1544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Mode = 7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08B053-4E2A-437C-8FA9-F2AD9C69D4B0}"/>
              </a:ext>
            </a:extLst>
          </p:cNvPr>
          <p:cNvSpPr/>
          <p:nvPr/>
        </p:nvSpPr>
        <p:spPr>
          <a:xfrm>
            <a:off x="8825220" y="5710708"/>
            <a:ext cx="2541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Mode = 11, 13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E8C329-E006-448D-ACD6-399E201B4B13}"/>
              </a:ext>
            </a:extLst>
          </p:cNvPr>
          <p:cNvSpPr/>
          <p:nvPr/>
        </p:nvSpPr>
        <p:spPr>
          <a:xfrm>
            <a:off x="2196731" y="1475657"/>
            <a:ext cx="78113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1" dirty="0"/>
              <a:t>Mode</a:t>
            </a:r>
            <a:r>
              <a:rPr lang="en-AU" sz="3200" b="1" dirty="0">
                <a:solidFill>
                  <a:srgbClr val="C00000"/>
                </a:solidFill>
              </a:rPr>
              <a:t> </a:t>
            </a:r>
            <a:r>
              <a:rPr lang="en-AU" sz="3200" dirty="0"/>
              <a:t>– The mode is the value that occurs most often in a data set. </a:t>
            </a:r>
            <a:endParaRPr lang="en-AU" sz="3200" b="1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28F1CCE-23E1-43A9-8069-DA54B4B0C51E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Centre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D99D5-EDAA-4B7D-9421-970AEA3C5121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69758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3" grpId="0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69485"/>
              </p:ext>
            </p:extLst>
          </p:nvPr>
        </p:nvGraphicFramePr>
        <p:xfrm>
          <a:off x="9498573" y="1067643"/>
          <a:ext cx="2605964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can a data set have?</a:t>
                      </a:r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262448"/>
              </p:ext>
            </p:extLst>
          </p:nvPr>
        </p:nvGraphicFramePr>
        <p:xfrm>
          <a:off x="9498573" y="61803"/>
          <a:ext cx="2605964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mode?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8291" y="972492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Mode:  </a:t>
            </a:r>
            <a:r>
              <a:rPr lang="en-AU" sz="2400" dirty="0" smtClean="0"/>
              <a:t>is the most common data value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8290" y="1608572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Data sets can have no mode, one mode, two modes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70487" y="2386433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mode of: 3, 4, 2, 1, 8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789315" y="2932484"/>
            <a:ext cx="952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Data set has no mode as there is only 1 of each data</a:t>
            </a:r>
            <a:endParaRPr lang="en-AU" sz="24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31190"/>
              </p:ext>
            </p:extLst>
          </p:nvPr>
        </p:nvGraphicFramePr>
        <p:xfrm>
          <a:off x="9541435" y="2544775"/>
          <a:ext cx="2605964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can a data set have?</a:t>
                      </a:r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42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875322"/>
              </p:ext>
            </p:extLst>
          </p:nvPr>
        </p:nvGraphicFramePr>
        <p:xfrm>
          <a:off x="9498573" y="1067643"/>
          <a:ext cx="2605964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can a data set have?</a:t>
                      </a:r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123676"/>
              </p:ext>
            </p:extLst>
          </p:nvPr>
        </p:nvGraphicFramePr>
        <p:xfrm>
          <a:off x="9498573" y="61803"/>
          <a:ext cx="2605964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mode?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8291" y="972492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Mode</a:t>
            </a:r>
            <a:r>
              <a:rPr lang="en-AU" sz="2400" dirty="0" smtClean="0"/>
              <a:t>:  is the most common data value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8290" y="1608572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Data sets can have no mode, one mode, two modes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70487" y="2386433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mode of: 3, 4, 2, 1, 8, 8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789315" y="2932484"/>
            <a:ext cx="952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Data set has one mode which is 8</a:t>
            </a:r>
            <a:endParaRPr lang="en-AU" sz="24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539852"/>
              </p:ext>
            </p:extLst>
          </p:nvPr>
        </p:nvGraphicFramePr>
        <p:xfrm>
          <a:off x="9541435" y="2544775"/>
          <a:ext cx="2605964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can a data set have?</a:t>
                      </a:r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02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645834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/>
              <a:t>Activate Prior </a:t>
            </a:r>
            <a:r>
              <a:rPr lang="en-AU" sz="3200" dirty="0" smtClean="0"/>
              <a:t>Knowledge</a:t>
            </a:r>
            <a:endParaRPr lang="en-AU" sz="32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719580"/>
              </p:ext>
            </p:extLst>
          </p:nvPr>
        </p:nvGraphicFramePr>
        <p:xfrm>
          <a:off x="9498573" y="1067643"/>
          <a:ext cx="2605964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can a data set have?</a:t>
                      </a:r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056503"/>
              </p:ext>
            </p:extLst>
          </p:nvPr>
        </p:nvGraphicFramePr>
        <p:xfrm>
          <a:off x="9498573" y="61803"/>
          <a:ext cx="2605964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is the mode?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8291" y="972492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Mode:  </a:t>
            </a:r>
            <a:r>
              <a:rPr lang="en-AU" sz="2400" dirty="0" smtClean="0"/>
              <a:t>is the most common data value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8290" y="1608572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Data sets can have no mode, one mode, two modes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770487" y="2386433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Find the mode of: 3, 4, 2, 2, 1, 8, 8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789315" y="2932484"/>
            <a:ext cx="952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Data set has two modes which are 2 and 8</a:t>
            </a:r>
            <a:endParaRPr lang="en-AU" sz="240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95650"/>
              </p:ext>
            </p:extLst>
          </p:nvPr>
        </p:nvGraphicFramePr>
        <p:xfrm>
          <a:off x="9541435" y="2544775"/>
          <a:ext cx="2605964" cy="128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do we call a data set which</a:t>
                      </a:r>
                      <a:r>
                        <a:rPr lang="en-AU" baseline="0" dirty="0" smtClean="0"/>
                        <a:t> has 2 modes?</a:t>
                      </a:r>
                      <a:endParaRPr lang="en-AU" dirty="0" smtClean="0"/>
                    </a:p>
                    <a:p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0487" y="3750979"/>
            <a:ext cx="952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This data set is called: bimodal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8305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CA693BE-4646-4856-B236-ADAB311A669C}"/>
              </a:ext>
            </a:extLst>
          </p:cNvPr>
          <p:cNvSpPr/>
          <p:nvPr/>
        </p:nvSpPr>
        <p:spPr>
          <a:xfrm>
            <a:off x="4110425" y="5397381"/>
            <a:ext cx="453186" cy="5847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BF1E0E-00A7-47C8-9B04-5AB1A8B278D2}"/>
              </a:ext>
            </a:extLst>
          </p:cNvPr>
          <p:cNvSpPr/>
          <p:nvPr/>
        </p:nvSpPr>
        <p:spPr>
          <a:xfrm>
            <a:off x="3135848" y="5397381"/>
            <a:ext cx="471418" cy="584775"/>
          </a:xfrm>
          <a:prstGeom prst="round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935D05-AF5C-4BC1-89F1-7DB9A97E4024}"/>
              </a:ext>
            </a:extLst>
          </p:cNvPr>
          <p:cNvSpPr/>
          <p:nvPr/>
        </p:nvSpPr>
        <p:spPr>
          <a:xfrm>
            <a:off x="2104183" y="5397381"/>
            <a:ext cx="39931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6,  9,  3,  1,  7,  8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B64B16-EB3E-4DB8-9D80-63BEA27EC18F}"/>
                  </a:ext>
                </a:extLst>
              </p:cNvPr>
              <p:cNvSpPr/>
              <p:nvPr/>
            </p:nvSpPr>
            <p:spPr>
              <a:xfrm>
                <a:off x="662729" y="1567344"/>
                <a:ext cx="1086374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b="1" dirty="0">
                    <a:solidFill>
                      <a:srgbClr val="C00000"/>
                    </a:solidFill>
                  </a:rPr>
                  <a:t>Range </a:t>
                </a:r>
                <a:r>
                  <a:rPr lang="en-AU" sz="3600" dirty="0"/>
                  <a:t>– The range shows how far the data is spread out.</a:t>
                </a:r>
                <a:endParaRPr lang="en-AU" sz="2400" dirty="0"/>
              </a:p>
              <a:p>
                <a:pPr algn="ctr"/>
                <a:r>
                  <a:rPr lang="en-AU" sz="3600" dirty="0"/>
                  <a:t>The symbol for range is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AU" sz="3600" dirty="0"/>
                  <a:t>.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0B64B16-EB3E-4DB8-9D80-63BEA27EC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29" y="1567344"/>
                <a:ext cx="10863743" cy="1200329"/>
              </a:xfrm>
              <a:prstGeom prst="rect">
                <a:avLst/>
              </a:prstGeom>
              <a:blipFill>
                <a:blip r:embed="rId2"/>
                <a:stretch>
                  <a:fillRect l="-842" t="-7614" r="-730" b="-18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9B82E68-59C9-41E1-892B-C3ECCE522C6E}"/>
              </a:ext>
            </a:extLst>
          </p:cNvPr>
          <p:cNvSpPr/>
          <p:nvPr/>
        </p:nvSpPr>
        <p:spPr>
          <a:xfrm>
            <a:off x="1819228" y="3957860"/>
            <a:ext cx="22725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An example: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6DFD5A-351B-4EA4-8706-A31A3CCDA048}"/>
              </a:ext>
            </a:extLst>
          </p:cNvPr>
          <p:cNvSpPr/>
          <p:nvPr/>
        </p:nvSpPr>
        <p:spPr>
          <a:xfrm>
            <a:off x="2612168" y="4640948"/>
            <a:ext cx="29771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For this data set: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65376-646A-4E8F-9879-C6E4B4B19697}"/>
              </a:ext>
            </a:extLst>
          </p:cNvPr>
          <p:cNvSpPr/>
          <p:nvPr/>
        </p:nvSpPr>
        <p:spPr>
          <a:xfrm>
            <a:off x="7200994" y="4640948"/>
            <a:ext cx="30000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Range  =  9 - 1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176CBF-E63F-4846-9734-BD0B539C1206}"/>
              </a:ext>
            </a:extLst>
          </p:cNvPr>
          <p:cNvSpPr/>
          <p:nvPr/>
        </p:nvSpPr>
        <p:spPr>
          <a:xfrm>
            <a:off x="8429445" y="5225723"/>
            <a:ext cx="11507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/>
              <a:t>=  </a:t>
            </a:r>
            <a:r>
              <a:rPr lang="en-AU" sz="3200" smtClean="0"/>
              <a:t>8</a:t>
            </a:r>
            <a:endParaRPr lang="en-AU" sz="3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B08931-1A67-4F47-AF53-62189E522990}"/>
              </a:ext>
            </a:extLst>
          </p:cNvPr>
          <p:cNvSpPr/>
          <p:nvPr/>
        </p:nvSpPr>
        <p:spPr>
          <a:xfrm>
            <a:off x="1890945" y="6153813"/>
            <a:ext cx="44389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Identify the </a:t>
            </a:r>
            <a:r>
              <a:rPr lang="en-AU" sz="3200" dirty="0">
                <a:solidFill>
                  <a:srgbClr val="0070C0"/>
                </a:solidFill>
              </a:rPr>
              <a:t>min</a:t>
            </a:r>
            <a:r>
              <a:rPr lang="en-AU" sz="3200" dirty="0"/>
              <a:t> and </a:t>
            </a:r>
            <a:r>
              <a:rPr lang="en-AU" sz="3200" dirty="0">
                <a:solidFill>
                  <a:srgbClr val="C00000"/>
                </a:solidFill>
              </a:rPr>
              <a:t>max</a:t>
            </a:r>
            <a:r>
              <a:rPr lang="en-AU" sz="3200" dirty="0"/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02DE6E-B957-4F95-A212-7B08287AAB7C}"/>
              </a:ext>
            </a:extLst>
          </p:cNvPr>
          <p:cNvSpPr/>
          <p:nvPr/>
        </p:nvSpPr>
        <p:spPr>
          <a:xfrm>
            <a:off x="1412041" y="2959448"/>
            <a:ext cx="9669816" cy="80193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99F908-8243-4FC5-9078-AC874160C411}"/>
              </a:ext>
            </a:extLst>
          </p:cNvPr>
          <p:cNvSpPr/>
          <p:nvPr/>
        </p:nvSpPr>
        <p:spPr>
          <a:xfrm>
            <a:off x="1510018" y="2990519"/>
            <a:ext cx="96538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600" dirty="0"/>
              <a:t>Range = (largest data value) – (smallest data value)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D737DBA-A414-4216-8B7E-C32299D3D034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Spread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5A0989-0DE2-444C-B982-07BC0C79EC30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56569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" grpId="0" animBg="1"/>
      <p:bldP spid="14" grpId="0"/>
      <p:bldP spid="12" grpId="0"/>
      <p:bldP spid="13" grpId="0"/>
      <p:bldP spid="16" grpId="0"/>
      <p:bldP spid="26" grpId="0"/>
      <p:bldP spid="15" grpId="0"/>
      <p:bldP spid="17" grpId="0" animBg="1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2C527A7-A1C5-4F11-8F34-64C7E99851A6}"/>
              </a:ext>
            </a:extLst>
          </p:cNvPr>
          <p:cNvSpPr/>
          <p:nvPr/>
        </p:nvSpPr>
        <p:spPr>
          <a:xfrm>
            <a:off x="2502930" y="2836629"/>
            <a:ext cx="72229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Find the </a:t>
            </a:r>
            <a:r>
              <a:rPr lang="en-AU" sz="3200" dirty="0" smtClean="0"/>
              <a:t>range </a:t>
            </a:r>
            <a:r>
              <a:rPr lang="en-AU" sz="3200" dirty="0"/>
              <a:t>of the following data sets.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B32155-84A8-4089-B8D2-923BE0F15021}"/>
              </a:ext>
            </a:extLst>
          </p:cNvPr>
          <p:cNvSpPr/>
          <p:nvPr/>
        </p:nvSpPr>
        <p:spPr>
          <a:xfrm>
            <a:off x="1070020" y="3842106"/>
            <a:ext cx="271104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7,  9,  2,  4,  2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B4B912-8145-42DF-932B-E99F9D4CFC95}"/>
              </a:ext>
            </a:extLst>
          </p:cNvPr>
          <p:cNvSpPr/>
          <p:nvPr/>
        </p:nvSpPr>
        <p:spPr>
          <a:xfrm>
            <a:off x="4395831" y="3842106"/>
            <a:ext cx="3355597" cy="646331"/>
          </a:xfrm>
          <a:prstGeom prst="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15,  7,  12,  10,  7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632D7B-BEDD-4C78-B36C-BAA5C6CC02D0}"/>
              </a:ext>
            </a:extLst>
          </p:cNvPr>
          <p:cNvSpPr/>
          <p:nvPr/>
        </p:nvSpPr>
        <p:spPr>
          <a:xfrm>
            <a:off x="8447711" y="3842106"/>
            <a:ext cx="3137485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11,  12,  11,  13,  17,  13,  12,  15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85FEE4-6652-4586-AFAC-0B6B72166C02}"/>
              </a:ext>
            </a:extLst>
          </p:cNvPr>
          <p:cNvSpPr/>
          <p:nvPr/>
        </p:nvSpPr>
        <p:spPr>
          <a:xfrm>
            <a:off x="1418865" y="5229247"/>
            <a:ext cx="2013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Range  =  9 - 2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E7566F-E14A-4C7D-BC0F-0157DE83927E}"/>
              </a:ext>
            </a:extLst>
          </p:cNvPr>
          <p:cNvSpPr/>
          <p:nvPr/>
        </p:nvSpPr>
        <p:spPr>
          <a:xfrm>
            <a:off x="1162301" y="1479995"/>
            <a:ext cx="9669816" cy="80193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7BEA80-4699-4ED9-B846-07C63F505BFB}"/>
              </a:ext>
            </a:extLst>
          </p:cNvPr>
          <p:cNvSpPr/>
          <p:nvPr/>
        </p:nvSpPr>
        <p:spPr>
          <a:xfrm>
            <a:off x="1260278" y="1511066"/>
            <a:ext cx="96538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600" dirty="0"/>
              <a:t>Range = (largest data value) – (smallest data value)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B8BBCB-399E-491A-99F5-BDFB9894B391}"/>
              </a:ext>
            </a:extLst>
          </p:cNvPr>
          <p:cNvSpPr/>
          <p:nvPr/>
        </p:nvSpPr>
        <p:spPr>
          <a:xfrm>
            <a:off x="2321379" y="5731165"/>
            <a:ext cx="8412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=  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D07175-49D8-4785-B491-AF4335947BAE}"/>
              </a:ext>
            </a:extLst>
          </p:cNvPr>
          <p:cNvSpPr/>
          <p:nvPr/>
        </p:nvSpPr>
        <p:spPr>
          <a:xfrm>
            <a:off x="5300657" y="5690912"/>
            <a:ext cx="16274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Range  =  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BB55C3-8D4A-4C3C-BAC1-537991FDCC6C}"/>
              </a:ext>
            </a:extLst>
          </p:cNvPr>
          <p:cNvSpPr/>
          <p:nvPr/>
        </p:nvSpPr>
        <p:spPr>
          <a:xfrm>
            <a:off x="9286634" y="5690911"/>
            <a:ext cx="16274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Range  =  6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4CDBF97-43A0-4B2D-97A7-CAC07B353F51}"/>
              </a:ext>
            </a:extLst>
          </p:cNvPr>
          <p:cNvSpPr txBox="1">
            <a:spLocks/>
          </p:cNvSpPr>
          <p:nvPr/>
        </p:nvSpPr>
        <p:spPr>
          <a:xfrm>
            <a:off x="3821185" y="220931"/>
            <a:ext cx="8277224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Measures of Spread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CE87F8-0D9D-469A-BDCB-FAD7231C7A7A}"/>
              </a:ext>
            </a:extLst>
          </p:cNvPr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23054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4" grpId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AB4B912-8145-42DF-932B-E99F9D4CFC95}"/>
              </a:ext>
            </a:extLst>
          </p:cNvPr>
          <p:cNvSpPr/>
          <p:nvPr/>
        </p:nvSpPr>
        <p:spPr>
          <a:xfrm>
            <a:off x="3405345" y="3334330"/>
            <a:ext cx="5784491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1,  3,  5,  2,  6,  3,  73,  4,  1,  7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D07175-49D8-4785-B491-AF4335947BAE}"/>
              </a:ext>
            </a:extLst>
          </p:cNvPr>
          <p:cNvSpPr/>
          <p:nvPr/>
        </p:nvSpPr>
        <p:spPr>
          <a:xfrm>
            <a:off x="3438599" y="4279655"/>
            <a:ext cx="192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Mean =  </a:t>
            </a:r>
            <a:r>
              <a:rPr lang="en-AU" sz="2400" dirty="0" smtClean="0"/>
              <a:t>10.5</a:t>
            </a:r>
            <a:endParaRPr lang="en-AU" sz="2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02F653-7F13-4DB0-92D4-FEAAA4141411}"/>
              </a:ext>
            </a:extLst>
          </p:cNvPr>
          <p:cNvSpPr/>
          <p:nvPr/>
        </p:nvSpPr>
        <p:spPr>
          <a:xfrm>
            <a:off x="641757" y="1440852"/>
            <a:ext cx="10863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</a:rPr>
              <a:t>Outlier </a:t>
            </a:r>
            <a:r>
              <a:rPr lang="en-AU" sz="3600" dirty="0"/>
              <a:t>– </a:t>
            </a:r>
            <a:r>
              <a:rPr lang="en-US" sz="3600" dirty="0"/>
              <a:t>Outliers are unusual or extreme data values that do not fit </a:t>
            </a:r>
            <a:r>
              <a:rPr lang="en-US" sz="3600"/>
              <a:t>the rest of the data set</a:t>
            </a:r>
            <a:r>
              <a:rPr lang="en-AU" sz="3600"/>
              <a:t>.</a:t>
            </a:r>
            <a:endParaRPr lang="en-AU" sz="3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2BBB26-6A29-4842-A0F9-2D2A2D23E363}"/>
              </a:ext>
            </a:extLst>
          </p:cNvPr>
          <p:cNvSpPr/>
          <p:nvPr/>
        </p:nvSpPr>
        <p:spPr>
          <a:xfrm>
            <a:off x="1166085" y="2846874"/>
            <a:ext cx="22725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An example: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0ED061-1340-4AB0-B370-821A347EF5C1}"/>
              </a:ext>
            </a:extLst>
          </p:cNvPr>
          <p:cNvSpPr/>
          <p:nvPr/>
        </p:nvSpPr>
        <p:spPr>
          <a:xfrm>
            <a:off x="3438599" y="4792878"/>
            <a:ext cx="192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Median </a:t>
            </a:r>
            <a:r>
              <a:rPr lang="en-AU" sz="2400"/>
              <a:t>=  </a:t>
            </a:r>
            <a:r>
              <a:rPr lang="en-AU" sz="2400" smtClean="0"/>
              <a:t>3.5</a:t>
            </a:r>
            <a:endParaRPr lang="en-AU" sz="2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30A9CB-0341-484A-A26A-1ADDDC7FECFE}"/>
              </a:ext>
            </a:extLst>
          </p:cNvPr>
          <p:cNvSpPr/>
          <p:nvPr/>
        </p:nvSpPr>
        <p:spPr>
          <a:xfrm>
            <a:off x="3433014" y="5306101"/>
            <a:ext cx="21056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Mode =  1,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CF8231-C64C-4FEB-9BA5-177CF50CE78E}"/>
              </a:ext>
            </a:extLst>
          </p:cNvPr>
          <p:cNvSpPr/>
          <p:nvPr/>
        </p:nvSpPr>
        <p:spPr>
          <a:xfrm>
            <a:off x="3433013" y="5819324"/>
            <a:ext cx="1833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Range =  72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8D621E-0AA6-4952-98F6-875C8EA68C30}"/>
              </a:ext>
            </a:extLst>
          </p:cNvPr>
          <p:cNvSpPr/>
          <p:nvPr/>
        </p:nvSpPr>
        <p:spPr>
          <a:xfrm>
            <a:off x="988283" y="5050167"/>
            <a:ext cx="23619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With Outlier</a:t>
            </a:r>
            <a:endParaRPr lang="en-AU" sz="2400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E752D9DA-55E6-405F-949C-17B6CC1C99DF}"/>
              </a:ext>
            </a:extLst>
          </p:cNvPr>
          <p:cNvSpPr/>
          <p:nvPr/>
        </p:nvSpPr>
        <p:spPr>
          <a:xfrm>
            <a:off x="2952206" y="4329605"/>
            <a:ext cx="598891" cy="1951383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ECEAB8-C3AF-4D5E-B4D9-0009F1A1F5C1}"/>
              </a:ext>
            </a:extLst>
          </p:cNvPr>
          <p:cNvSpPr/>
          <p:nvPr/>
        </p:nvSpPr>
        <p:spPr>
          <a:xfrm>
            <a:off x="6766560" y="3334330"/>
            <a:ext cx="627018" cy="646331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B41393-3C5E-4C6F-979E-F770ED5C5684}"/>
              </a:ext>
            </a:extLst>
          </p:cNvPr>
          <p:cNvSpPr/>
          <p:nvPr/>
        </p:nvSpPr>
        <p:spPr>
          <a:xfrm>
            <a:off x="8033141" y="4237284"/>
            <a:ext cx="192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Mean =  3.6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3742AF-FE5C-45D8-980F-C928ECAA7B41}"/>
              </a:ext>
            </a:extLst>
          </p:cNvPr>
          <p:cNvSpPr/>
          <p:nvPr/>
        </p:nvSpPr>
        <p:spPr>
          <a:xfrm>
            <a:off x="8033141" y="4750507"/>
            <a:ext cx="192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Median =  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5BBCDA-A23A-4911-9E3C-1C86C005C7B1}"/>
              </a:ext>
            </a:extLst>
          </p:cNvPr>
          <p:cNvSpPr/>
          <p:nvPr/>
        </p:nvSpPr>
        <p:spPr>
          <a:xfrm>
            <a:off x="8027556" y="5263730"/>
            <a:ext cx="21056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Mode =  1,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4A6D51-3B51-4189-ACB3-9FB5CF39425C}"/>
              </a:ext>
            </a:extLst>
          </p:cNvPr>
          <p:cNvSpPr/>
          <p:nvPr/>
        </p:nvSpPr>
        <p:spPr>
          <a:xfrm>
            <a:off x="8027555" y="5776953"/>
            <a:ext cx="1833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Range =  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AC4BAF-72A1-493B-81CD-C5953C369D3D}"/>
              </a:ext>
            </a:extLst>
          </p:cNvPr>
          <p:cNvSpPr/>
          <p:nvPr/>
        </p:nvSpPr>
        <p:spPr>
          <a:xfrm>
            <a:off x="5995827" y="4865500"/>
            <a:ext cx="16274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dirty="0"/>
              <a:t>Removed Outlier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EFB3C5B7-0A14-4E26-B46A-8B8DA4066BD6}"/>
              </a:ext>
            </a:extLst>
          </p:cNvPr>
          <p:cNvSpPr/>
          <p:nvPr/>
        </p:nvSpPr>
        <p:spPr>
          <a:xfrm>
            <a:off x="7546748" y="4287234"/>
            <a:ext cx="598891" cy="1951383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10A2031-AB67-4BA8-86AA-51FDE275ADA6}"/>
              </a:ext>
            </a:extLst>
          </p:cNvPr>
          <p:cNvSpPr txBox="1">
            <a:spLocks/>
          </p:cNvSpPr>
          <p:nvPr/>
        </p:nvSpPr>
        <p:spPr>
          <a:xfrm>
            <a:off x="4259738" y="239069"/>
            <a:ext cx="388590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701A93-CEE1-44A7-8BEB-DA24BBA31EBF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77140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5" grpId="0"/>
      <p:bldP spid="18" grpId="0"/>
      <p:bldP spid="19" grpId="0"/>
      <p:bldP spid="20" grpId="0"/>
      <p:bldP spid="21" grpId="0"/>
      <p:bldP spid="22" grpId="0"/>
      <p:bldP spid="2" grpId="0" animBg="1"/>
      <p:bldP spid="4" grpId="0" animBg="1"/>
      <p:bldP spid="23" grpId="0"/>
      <p:bldP spid="24" grpId="0"/>
      <p:bldP spid="26" grpId="0"/>
      <p:bldP spid="28" grpId="0"/>
      <p:bldP spid="32" grpId="0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2C527A7-A1C5-4F11-8F34-64C7E99851A6}"/>
              </a:ext>
            </a:extLst>
          </p:cNvPr>
          <p:cNvSpPr/>
          <p:nvPr/>
        </p:nvSpPr>
        <p:spPr>
          <a:xfrm>
            <a:off x="1070020" y="2446877"/>
            <a:ext cx="103730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dirty="0"/>
              <a:t>Remove the outlier and calculate the mean, median, mode and range of the following data sets.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B32155-84A8-4089-B8D2-923BE0F15021}"/>
              </a:ext>
            </a:extLst>
          </p:cNvPr>
          <p:cNvSpPr/>
          <p:nvPr/>
        </p:nvSpPr>
        <p:spPr>
          <a:xfrm>
            <a:off x="1048702" y="3718556"/>
            <a:ext cx="2711048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3,  9,  2,  1,  2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B4B912-8145-42DF-932B-E99F9D4CFC95}"/>
              </a:ext>
            </a:extLst>
          </p:cNvPr>
          <p:cNvSpPr/>
          <p:nvPr/>
        </p:nvSpPr>
        <p:spPr>
          <a:xfrm>
            <a:off x="4374513" y="3718556"/>
            <a:ext cx="3628664" cy="646331"/>
          </a:xfrm>
          <a:prstGeom prst="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15,  17,  12,  3,  12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632D7B-BEDD-4C78-B36C-BAA5C6CC02D0}"/>
              </a:ext>
            </a:extLst>
          </p:cNvPr>
          <p:cNvSpPr/>
          <p:nvPr/>
        </p:nvSpPr>
        <p:spPr>
          <a:xfrm>
            <a:off x="8426393" y="3718556"/>
            <a:ext cx="3137485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sz="3600" b="1" dirty="0"/>
              <a:t>89,  76,  98,  13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85FEE4-6652-4586-AFAC-0B6B72166C02}"/>
              </a:ext>
            </a:extLst>
          </p:cNvPr>
          <p:cNvSpPr/>
          <p:nvPr/>
        </p:nvSpPr>
        <p:spPr>
          <a:xfrm>
            <a:off x="1512908" y="4457220"/>
            <a:ext cx="2013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Outlier  =  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C00452-EC6F-4BEA-AC7A-FFE78F24B521}"/>
              </a:ext>
            </a:extLst>
          </p:cNvPr>
          <p:cNvSpPr/>
          <p:nvPr/>
        </p:nvSpPr>
        <p:spPr>
          <a:xfrm>
            <a:off x="579320" y="1194990"/>
            <a:ext cx="10863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</a:rPr>
              <a:t>Outlier </a:t>
            </a:r>
            <a:r>
              <a:rPr lang="en-AU" sz="3600" dirty="0"/>
              <a:t>– </a:t>
            </a:r>
            <a:r>
              <a:rPr lang="en-US" sz="3600" dirty="0"/>
              <a:t>Outliers are unusual or extreme data values that do not fit the </a:t>
            </a:r>
            <a:r>
              <a:rPr lang="en-AU" sz="3600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5A9555-9759-487B-AA8A-44687B85469F}"/>
              </a:ext>
            </a:extLst>
          </p:cNvPr>
          <p:cNvSpPr/>
          <p:nvPr/>
        </p:nvSpPr>
        <p:spPr>
          <a:xfrm>
            <a:off x="1512908" y="4917427"/>
            <a:ext cx="192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Mean = 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F2AE1A-C5C8-4A3F-ABEC-D9C4FAF17FA1}"/>
              </a:ext>
            </a:extLst>
          </p:cNvPr>
          <p:cNvSpPr/>
          <p:nvPr/>
        </p:nvSpPr>
        <p:spPr>
          <a:xfrm>
            <a:off x="1512908" y="5351968"/>
            <a:ext cx="192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Median = 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68B8D0-E4AB-49D5-8703-5479F8EF9D2D}"/>
              </a:ext>
            </a:extLst>
          </p:cNvPr>
          <p:cNvSpPr/>
          <p:nvPr/>
        </p:nvSpPr>
        <p:spPr>
          <a:xfrm>
            <a:off x="1505966" y="5773948"/>
            <a:ext cx="21056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Mode = 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461224-21CB-4FEB-9B21-15EFF8EE9019}"/>
              </a:ext>
            </a:extLst>
          </p:cNvPr>
          <p:cNvSpPr/>
          <p:nvPr/>
        </p:nvSpPr>
        <p:spPr>
          <a:xfrm>
            <a:off x="1505966" y="6195928"/>
            <a:ext cx="1833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Range = 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7F95ED-411E-4865-9681-43C831E918B8}"/>
              </a:ext>
            </a:extLst>
          </p:cNvPr>
          <p:cNvSpPr/>
          <p:nvPr/>
        </p:nvSpPr>
        <p:spPr>
          <a:xfrm>
            <a:off x="5331617" y="4455762"/>
            <a:ext cx="2013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Outlier  = 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20A218-90D0-4B78-91F5-88D1FAB9A52D}"/>
              </a:ext>
            </a:extLst>
          </p:cNvPr>
          <p:cNvSpPr/>
          <p:nvPr/>
        </p:nvSpPr>
        <p:spPr>
          <a:xfrm>
            <a:off x="5331617" y="4915969"/>
            <a:ext cx="2013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Mean =  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B56A8-6590-4F7D-AAA0-894874F769A8}"/>
              </a:ext>
            </a:extLst>
          </p:cNvPr>
          <p:cNvSpPr/>
          <p:nvPr/>
        </p:nvSpPr>
        <p:spPr>
          <a:xfrm>
            <a:off x="5331617" y="5350510"/>
            <a:ext cx="2098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Median =  13.5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8C8E8F-57D4-4802-884C-6C9551CFB291}"/>
              </a:ext>
            </a:extLst>
          </p:cNvPr>
          <p:cNvSpPr/>
          <p:nvPr/>
        </p:nvSpPr>
        <p:spPr>
          <a:xfrm>
            <a:off x="5324675" y="5772490"/>
            <a:ext cx="21056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Mode =  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565BE1-8EDC-4FC1-A09C-888FB78A0918}"/>
              </a:ext>
            </a:extLst>
          </p:cNvPr>
          <p:cNvSpPr/>
          <p:nvPr/>
        </p:nvSpPr>
        <p:spPr>
          <a:xfrm>
            <a:off x="5324675" y="6194470"/>
            <a:ext cx="1833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Range =  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E805B1-64FE-4FBB-BD48-99653B5FD961}"/>
              </a:ext>
            </a:extLst>
          </p:cNvPr>
          <p:cNvSpPr/>
          <p:nvPr/>
        </p:nvSpPr>
        <p:spPr>
          <a:xfrm>
            <a:off x="9143384" y="4454304"/>
            <a:ext cx="20133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Outlier  =  13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281FE0-A590-479A-8734-88FDCB26AFD7}"/>
              </a:ext>
            </a:extLst>
          </p:cNvPr>
          <p:cNvSpPr/>
          <p:nvPr/>
        </p:nvSpPr>
        <p:spPr>
          <a:xfrm>
            <a:off x="9143384" y="4914511"/>
            <a:ext cx="192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Mean =  87.7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D3AAD4-0CC6-4D7F-8379-8C17F96B7CBA}"/>
              </a:ext>
            </a:extLst>
          </p:cNvPr>
          <p:cNvSpPr/>
          <p:nvPr/>
        </p:nvSpPr>
        <p:spPr>
          <a:xfrm>
            <a:off x="9143384" y="5349052"/>
            <a:ext cx="192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Median =  89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144FA5-9C77-41E6-BBF4-5EA0C18D8C34}"/>
              </a:ext>
            </a:extLst>
          </p:cNvPr>
          <p:cNvSpPr/>
          <p:nvPr/>
        </p:nvSpPr>
        <p:spPr>
          <a:xfrm>
            <a:off x="9136441" y="5771032"/>
            <a:ext cx="28378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Mode =  Undefined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B0939A-3501-4E6D-8E46-0DE8BC123682}"/>
              </a:ext>
            </a:extLst>
          </p:cNvPr>
          <p:cNvSpPr/>
          <p:nvPr/>
        </p:nvSpPr>
        <p:spPr>
          <a:xfrm>
            <a:off x="9136442" y="6193012"/>
            <a:ext cx="1833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Range =  22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096C0AA2-D5B1-42F1-8134-E728D5BFA31C}"/>
              </a:ext>
            </a:extLst>
          </p:cNvPr>
          <p:cNvSpPr txBox="1">
            <a:spLocks/>
          </p:cNvSpPr>
          <p:nvPr/>
        </p:nvSpPr>
        <p:spPr>
          <a:xfrm>
            <a:off x="4259738" y="239069"/>
            <a:ext cx="388590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DF6000-FB1C-441A-83C2-1D45058B755D}"/>
              </a:ext>
            </a:extLst>
          </p:cNvPr>
          <p:cNvSpPr txBox="1"/>
          <p:nvPr/>
        </p:nvSpPr>
        <p:spPr>
          <a:xfrm>
            <a:off x="0" y="-20052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60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8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0" y="682388"/>
            <a:ext cx="1014711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err="1" smtClean="0"/>
              <a:t>Mathspace</a:t>
            </a:r>
            <a:r>
              <a:rPr lang="en-AU" sz="3200" b="1" dirty="0" smtClean="0"/>
              <a:t> Activity</a:t>
            </a:r>
            <a:endParaRPr lang="en-AU" sz="3200" b="1" dirty="0" smtClean="0"/>
          </a:p>
          <a:p>
            <a:r>
              <a:rPr lang="en-AU" sz="3200" b="1" dirty="0" smtClean="0"/>
              <a:t>    </a:t>
            </a:r>
          </a:p>
          <a:p>
            <a:endParaRPr lang="en-AU" sz="3200" b="1" dirty="0"/>
          </a:p>
          <a:p>
            <a:endParaRPr lang="en-AU" sz="3200" b="1" dirty="0"/>
          </a:p>
        </p:txBody>
      </p:sp>
      <p:pic>
        <p:nvPicPr>
          <p:cNvPr id="4098" name="Picture 2" descr="Image result for mean mode median funn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966" y="10873"/>
            <a:ext cx="5865034" cy="380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31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13161</TotalTime>
  <Words>2031</Words>
  <Application>Microsoft Office PowerPoint</Application>
  <PresentationFormat>Widescreen</PresentationFormat>
  <Paragraphs>330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YOST Amie [Harrisdale Senior High School]</cp:lastModifiedBy>
  <cp:revision>526</cp:revision>
  <dcterms:created xsi:type="dcterms:W3CDTF">2017-02-09T01:19:14Z</dcterms:created>
  <dcterms:modified xsi:type="dcterms:W3CDTF">2021-08-18T00:32:46Z</dcterms:modified>
</cp:coreProperties>
</file>
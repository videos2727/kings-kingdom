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94" r:id="rId2"/>
    <p:sldId id="300" r:id="rId3"/>
    <p:sldId id="301" r:id="rId4"/>
    <p:sldId id="302" r:id="rId5"/>
    <p:sldId id="303" r:id="rId6"/>
    <p:sldId id="304" r:id="rId7"/>
    <p:sldId id="305" r:id="rId8"/>
    <p:sldId id="306" r:id="rId9"/>
    <p:sldId id="307" r:id="rId10"/>
    <p:sldId id="293" r:id="rId11"/>
    <p:sldId id="263" r:id="rId12"/>
    <p:sldId id="284" r:id="rId13"/>
    <p:sldId id="308" r:id="rId14"/>
    <p:sldId id="267" r:id="rId15"/>
    <p:sldId id="309" r:id="rId16"/>
    <p:sldId id="310" r:id="rId17"/>
    <p:sldId id="311" r:id="rId18"/>
    <p:sldId id="262" r:id="rId19"/>
  </p:sldIdLst>
  <p:sldSz cx="12192000" cy="6858000"/>
  <p:notesSz cx="9939338" cy="6807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59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" y="1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7343" cy="341046"/>
          </a:xfrm>
          <a:prstGeom prst="rect">
            <a:avLst/>
          </a:prstGeom>
        </p:spPr>
        <p:txBody>
          <a:bodyPr vert="horz" lIns="88340" tIns="44170" rIns="88340" bIns="4417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9774" y="1"/>
            <a:ext cx="4307343" cy="341046"/>
          </a:xfrm>
          <a:prstGeom prst="rect">
            <a:avLst/>
          </a:prstGeom>
        </p:spPr>
        <p:txBody>
          <a:bodyPr vert="horz" lIns="88340" tIns="44170" rIns="88340" bIns="44170" rtlCol="0"/>
          <a:lstStyle>
            <a:lvl1pPr algn="r">
              <a:defRPr sz="1200"/>
            </a:lvl1pPr>
          </a:lstStyle>
          <a:p>
            <a:fld id="{5808CDC9-85D4-4503-A1C1-C4A7D08CE495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66154"/>
            <a:ext cx="4307343" cy="341046"/>
          </a:xfrm>
          <a:prstGeom prst="rect">
            <a:avLst/>
          </a:prstGeom>
        </p:spPr>
        <p:txBody>
          <a:bodyPr vert="horz" lIns="88340" tIns="44170" rIns="88340" bIns="4417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9774" y="6466154"/>
            <a:ext cx="4307343" cy="341046"/>
          </a:xfrm>
          <a:prstGeom prst="rect">
            <a:avLst/>
          </a:prstGeom>
        </p:spPr>
        <p:txBody>
          <a:bodyPr vert="horz" lIns="88340" tIns="44170" rIns="88340" bIns="44170" rtlCol="0" anchor="b"/>
          <a:lstStyle>
            <a:lvl1pPr algn="r">
              <a:defRPr sz="1200"/>
            </a:lvl1pPr>
          </a:lstStyle>
          <a:p>
            <a:fld id="{275FFA11-8017-47B8-A9A2-068FE447A8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91290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4-01T04:49:10.893"/>
    </inkml:context>
    <inkml:brush xml:id="br0">
      <inkml:brushProperty name="width" value="0.13333" units="cm"/>
      <inkml:brushProperty name="height" value="0.13333" units="cm"/>
      <inkml:brushProperty name="color" value="#ED1C24"/>
      <inkml:brushProperty name="fitToCurve" value="1"/>
    </inkml:brush>
  </inkml:definitions>
  <inkml:trace contextRef="#ctx0" brushRef="#br0">6016 25 116,'-4'-4'46,"0"12"-35,-8-12 3,8 4-1,-4 0-11,-4-4-2,-4 8-1,0-4 0,-4 0 7,-4 0 6,-1 0 9,-3 4 7,-4-1-4,0 4 0,-4 0-13,-4 4 0,-1 4 0,-3-5-4,0 5 1,-4-1-3,-1 4 2,1 0-2,0 3 0,-4 0 1,-5 5 1,1-1-1,0 3 1,-1 4 0,-7 4 1,0 0-2,-1 0 1,1-1-2,-4-3 2,-1 1 0,1 2 1,-1 5-2,-3-5 1,0 1-2,-5 0 0,5 0-3,-1 3-2,1 0 1,0 4 1,-5 0 1,5 4 1,0-4-5,-1-1 1,1 5 0,3-8 0,1 4-3,0-4 2,-5 4 1,5-3 2,-5-1-1,1 4 2,0 3 0,-5 4 1,5-3-5,-5 3 1,5-4 2,0 1 1,-1 3-1,-3-4-2,-5-3 1,1 0-1,4 0 0,-1 4 2,1-1 1,-1 4 1,1 4-2,4-1-2,-1 1 1,-3-4-1,3 0 0,1 4 0,0-4 2,-1 0 1,1-4-1,-1 4 1,1 4-4,0 3 0,3 4 1,1-4 2,4 0-3,-5 0-2,5 4 4,0-7 3,-5-1-3,5 1-3,-1 3 3,5 0 1,8 4-3,-4 0-1,7-4 1,5 0 0,4 4-2,0 0 0,3-4-1,1 4 0,4 3-2,-4 19 1,8-5 3,4-3 3,3-7-2,5 0 0,4 0 1,0-7 0,0 0 0,0 3 0,4 4 0,0 0 2,0-4-1,4-3-1,0-4-2,0-3 1,0-1 1,4-6 2,-4-4-1,4 0 2,4-4-2,0-3 2,0-1-2,4-2 2,4-1-2,0-4 2,8 1-2,0-4 2,8 0-2,1 0-1,3 0-2,0-4 1,4-3 1,0-3 0,1-1 0,3-3 2,4-1-1,0-2-1,5-8 3,-1-4 2,-4-3 0,4 0 0,1-4-3,-1-3-2,0 3 1,0-3-1,9-1 0,3-3 0,4 1 0,1-5 0,-1 1-3,0-4 2,1 0 1,-5-4 2,-4 0-3,5 1 0,-1-1 5,0 1 2,1-1 0,-1 0-1,4 1-1,1-4 2,-1-1-3,4 5-2,-3-4 0,-1-4-1,0-3 0,5-4 0,-1-4 0,-4 1 2,1-1-1,-1 4 2,1-3 0,-1 3 1,0 0-2,1 4 1,3 3 0,-4-3 1,1-1-5,-1-6 1,-4-4 0,1 0 2,-5-4-1,0 4-1,1 4 3,-1-4 0,0 7-1,0-4 1,5 4-4,-5-3 0,0-1 1,1-3 2,-1-3-1,0-8-1,-3 4 1,3 0-1,0 3-3,0 4 2,5 3 1,-5-3 0,0 4 0,1-4 0,-1 0 0,0-4 2,-3-7-1,3 4-1,0 0 1,0 3 1,1 4-3,3 0-2,0 0 4,1 4 1,-1-1-3,0-3 1,1 0 0,-5-3 0,4-8 0,-3 0 0,-1 4-3,0 0 2,5 3 1,-5 0 2,4 1-1,-7 3-1,-1-4-2,4-3 1,-4 0 1,-3-8 2,3 5-3,0-1 0,0 4 1,1 7 2,-1 0-3,-4 0 0,1 0 1,-5-4 0,0 0-3,-8 1 2,0-1 1,-3-3 2,-1 3-3,-4 4-2,-4 0 4,0 0 1,-4 0 0,-4 7 1,-4 0-2,-3 4 2,-1 0-2,-4-1 2,-4-3-4,0 0 0,-4 1 1,0 2 2,-5 4-3,5 4-2,-4 4 4,0 3 1,-4 3 0,-8 1-2,-8 3-4,-4 0 0,-12 4-5,-9 3-1,-3 0-6,-12 1-1,3 6-1,1-3 1,8-4-7,3 8 1,17-5-83,20-20-72,36-19 59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4-01T04:49:10.894"/>
    </inkml:context>
    <inkml:brush xml:id="br0">
      <inkml:brushProperty name="width" value="0.13333" units="cm"/>
      <inkml:brushProperty name="height" value="0.13333" units="cm"/>
      <inkml:brushProperty name="color" value="#3165BB"/>
      <inkml:brushProperty name="fitToCurve" value="1"/>
    </inkml:brush>
  </inkml:definitions>
  <inkml:trace contextRef="#ctx0" brushRef="#br0">1869 161 12,'-8'-11'5,"8"7"-4,0 1 9,0 3 3,-4-4 9,0 1 4,0-1-1,0 0 2,-4 1-6,0-1-3,0 1-4,-4-1 1,0 1-2,0-5 0,-5 1-1,1 0 2,-4 0-7,0 0 9,-4 3 6,-4 1-2,-4-4 0,0 3-7,-1 0-3,1 1-1,-4-4-1,0 3-2,0-3-1,-1 3 5,1-3 6,0 4-2,0-1 2,-4 0-5,-1 1-1,1-1-4,0 1-1,0-1-1,0 4 0,3 0 0,1 0 0,0 4 6,4-1 4,0 1-5,-5-1-3,5 1-1,0 0 1,0-1-1,0 1 0,0 3-3,-1 0-2,1 0 5,0 4 4,4 0-5,0 3 0,0 0 0,-1 1 2,5 2-5,-4 1-1,4 4 0,0-1 2,0 4-1,0 0-1,-1-3 3,1 3 0,4 0-4,0 0 1,0-4 4,0 1 2,4 6-2,0-3-3,4 4 0,-4 0 1,4-1 1,-1 4 1,1 0-2,0 4-2,0 0-2,0 0 1,4 3 1,0-3 2,0 0-1,0-1-1,4-3 1,0 1-1,0-1 0,0 4 0,4-4-3,0 0 2,0-4 3,0 5 3,4-5-4,0 1-1,0 3-2,0-3 0,4-1 2,0 4 0,0 1 0,4-1 0,0 0 0,4-3 2,4-1-3,1 1-2,3 3 4,0-4 1,0-2-3,0-1 1,0 0-2,0-4 0,5 0 2,3-3 0,-4 0 0,4 0 2,0 0-3,4-4 0,1 1 1,-1-1 0,0 0-3,0 0 2,-4 1-1,5-1-2,-5-3 5,4-1 3,0-2-3,0-1-3,-4-7 1,5 3 0,-1 1 3,4 0 1,-4-1-4,0-3 1,1 0-2,-1 0-2,0 0 3,-4 0 2,0-3 0,-3-1 2,3 0-2,0 1 2,4-1-7,0-3 1,-4 0 1,-3 0 3,3 0-2,-4-1 0,0 1-1,0 0 0,0-4 2,1 1 0,-1-1-3,0-3 2,0 3 1,-4-3 2,0-1-3,0 1 0,1 0 1,-5-1 0,4 1-3,-8 3 0,0-3-1,0 0 3,0-4-7,-4-3 1,4-4 1,0-1 3,-4-2-3,4-1 2,-3 1 0,-1-1 2,0 0 1,0 1 3,-4 3-1,4-4-1,-4 4-2,-4 0 1,0-3-4,4-1 1,-4-3-3,0 0 0,-4 3 1,4 4 4,-4 0 1,0 4 1,0-1 0,0 1 2,0-1 1,0-3 1,0 4-5,0-1 1,0 1-2,0-1 0,-4 1 0,4 0 0,-4 3 2,0 0 0,0 0 0,4 0 0,-4 4 0,4-1 0,-4 5-3,4-5 2,-4 1 1,0 3 0,0-3-3,0 3 2,4 1 3,-4-1 1,-4 0-1,4 0 1,-4 4-2,4-3 2,-4-1-4,0 4-2,0-4-1,4 0 3,-5 1-5,5-1 2,0 0 2,0 0 1,-4 1-2,0-1 2,4 0 1,-4 0 0,0-3 0,0 3 2,0 1-3,4-1 0,-4 0 3,4 1 1,-4-1-1,4 0-2,-4 0-2,4-3 1,-4 0 3,4-1 1,-4-2-6,0-1 0,0 3 1,4 1 1,-4 0 1,0 0 2,0 3-1,0 0-1,-1-3-4,-3 3 0,4 0-3,-4 1 2,0-1-2,0 4 2,0 0-2,0-1 2,0 1-17,0 0-8,-4-4-90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6888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9275" y="0"/>
            <a:ext cx="430847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AB644-CBCF-4F0E-B5A2-D2C556B529D5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7350" y="850900"/>
            <a:ext cx="4084638" cy="2297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3775" y="3276600"/>
            <a:ext cx="7951788" cy="2679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65888"/>
            <a:ext cx="4306888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9275" y="6465888"/>
            <a:ext cx="430847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82B739-4983-40BE-9EA7-8614636E78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8947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2B739-4983-40BE-9EA7-8614636E7848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3375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CD140-E1BB-459D-AE1A-E0C2A9333811}" type="datetime1">
              <a:rPr lang="en-AU" smtClean="0"/>
              <a:t>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8628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DBAA6-09C2-472B-9DB7-11BEF441C4A4}" type="datetime1">
              <a:rPr lang="en-AU" smtClean="0"/>
              <a:t>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074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60A2-96AA-4D94-A647-4CB2D249FD0B}" type="datetime1">
              <a:rPr lang="en-AU" smtClean="0"/>
              <a:t>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1631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8D421-4886-4063-B462-0DA2FF47AA0F}" type="datetime1">
              <a:rPr lang="en-AU" smtClean="0"/>
              <a:t>1/09/2021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4287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50C81-893C-4852-B4D0-240EFB86818B}" type="datetime1">
              <a:rPr lang="en-AU" smtClean="0"/>
              <a:t>1/09/2021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4533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3475C-3CF2-4676-89A1-BEAB46CABC94}" type="datetime1">
              <a:rPr lang="en-AU" smtClean="0"/>
              <a:t>1/09/2021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1284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5504-9788-4285-B01D-BAA02ACF3622}" type="datetime1">
              <a:rPr lang="en-AU" smtClean="0"/>
              <a:t>1/09/2021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323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E4CDF-230D-45D5-A872-C7C2569F4766}" type="datetime1">
              <a:rPr lang="en-AU" smtClean="0"/>
              <a:t>1/09/2021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168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5DA6C-B2CD-4761-AD0F-FA00153D7CFD}" type="datetime1">
              <a:rPr lang="en-AU" smtClean="0"/>
              <a:t>1/09/2021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4468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1AE7-9998-42AF-80FD-F3AF93B15A39}" type="datetime1">
              <a:rPr lang="en-AU" smtClean="0"/>
              <a:t>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633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DD25D-8046-495B-88A5-3EF796A2E42F}" type="datetime1">
              <a:rPr lang="en-AU" smtClean="0"/>
              <a:t>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30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74FE58-D9B3-4F96-9C3D-6D2F3108E7B7}" type="datetime1">
              <a:rPr lang="en-AU" smtClean="0"/>
              <a:t>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629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0.png"/><Relationship Id="rId13" Type="http://schemas.openxmlformats.org/officeDocument/2006/relationships/image" Target="../media/image600.png"/><Relationship Id="rId18" Type="http://schemas.openxmlformats.org/officeDocument/2006/relationships/image" Target="../media/image630.png"/><Relationship Id="rId3" Type="http://schemas.openxmlformats.org/officeDocument/2006/relationships/image" Target="../media/image500.png"/><Relationship Id="rId7" Type="http://schemas.openxmlformats.org/officeDocument/2006/relationships/image" Target="../media/image540.png"/><Relationship Id="rId12" Type="http://schemas.openxmlformats.org/officeDocument/2006/relationships/image" Target="../media/image590.png"/><Relationship Id="rId17" Type="http://schemas.openxmlformats.org/officeDocument/2006/relationships/image" Target="../media/image62.emf"/><Relationship Id="rId2" Type="http://schemas.openxmlformats.org/officeDocument/2006/relationships/image" Target="../media/image490.png"/><Relationship Id="rId16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0.png"/><Relationship Id="rId11" Type="http://schemas.openxmlformats.org/officeDocument/2006/relationships/image" Target="../media/image580.png"/><Relationship Id="rId5" Type="http://schemas.openxmlformats.org/officeDocument/2006/relationships/image" Target="../media/image520.png"/><Relationship Id="rId15" Type="http://schemas.openxmlformats.org/officeDocument/2006/relationships/image" Target="../media/image61.emf"/><Relationship Id="rId10" Type="http://schemas.openxmlformats.org/officeDocument/2006/relationships/image" Target="../media/image570.png"/><Relationship Id="rId19" Type="http://schemas.openxmlformats.org/officeDocument/2006/relationships/image" Target="../media/image21.png"/><Relationship Id="rId4" Type="http://schemas.openxmlformats.org/officeDocument/2006/relationships/image" Target="../media/image510.png"/><Relationship Id="rId9" Type="http://schemas.openxmlformats.org/officeDocument/2006/relationships/image" Target="../media/image560.png"/><Relationship Id="rId14" Type="http://schemas.openxmlformats.org/officeDocument/2006/relationships/customXml" Target="../ink/ink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0.png"/><Relationship Id="rId3" Type="http://schemas.openxmlformats.org/officeDocument/2006/relationships/image" Target="../media/image650.png"/><Relationship Id="rId7" Type="http://schemas.openxmlformats.org/officeDocument/2006/relationships/image" Target="../media/image690.png"/><Relationship Id="rId2" Type="http://schemas.openxmlformats.org/officeDocument/2006/relationships/image" Target="../media/image6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0.png"/><Relationship Id="rId5" Type="http://schemas.openxmlformats.org/officeDocument/2006/relationships/image" Target="../media/image670.png"/><Relationship Id="rId4" Type="http://schemas.openxmlformats.org/officeDocument/2006/relationships/image" Target="../media/image66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5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12" Type="http://schemas.openxmlformats.org/officeDocument/2006/relationships/image" Target="../media/image94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3.png"/><Relationship Id="rId5" Type="http://schemas.openxmlformats.org/officeDocument/2006/relationships/image" Target="../media/image88.png"/><Relationship Id="rId10" Type="http://schemas.openxmlformats.org/officeDocument/2006/relationships/image" Target="../media/image92.png"/><Relationship Id="rId4" Type="http://schemas.openxmlformats.org/officeDocument/2006/relationships/image" Target="../media/image87.png"/><Relationship Id="rId9" Type="http://schemas.openxmlformats.org/officeDocument/2006/relationships/image" Target="../media/image82.png"/><Relationship Id="rId14" Type="http://schemas.openxmlformats.org/officeDocument/2006/relationships/image" Target="../media/image9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95.png"/><Relationship Id="rId3" Type="http://schemas.openxmlformats.org/officeDocument/2006/relationships/image" Target="../media/image86.png"/><Relationship Id="rId7" Type="http://schemas.openxmlformats.org/officeDocument/2006/relationships/image" Target="../media/image99.png"/><Relationship Id="rId12" Type="http://schemas.openxmlformats.org/officeDocument/2006/relationships/image" Target="../media/image94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88.png"/><Relationship Id="rId10" Type="http://schemas.openxmlformats.org/officeDocument/2006/relationships/image" Target="../media/image102.png"/><Relationship Id="rId4" Type="http://schemas.openxmlformats.org/officeDocument/2006/relationships/image" Target="../media/image87.png"/><Relationship Id="rId9" Type="http://schemas.openxmlformats.org/officeDocument/2006/relationships/image" Target="../media/image101.png"/><Relationship Id="rId14" Type="http://schemas.openxmlformats.org/officeDocument/2006/relationships/image" Target="../media/image10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5.png"/><Relationship Id="rId3" Type="http://schemas.openxmlformats.org/officeDocument/2006/relationships/image" Target="../media/image86.png"/><Relationship Id="rId7" Type="http://schemas.openxmlformats.org/officeDocument/2006/relationships/image" Target="../media/image107.png"/><Relationship Id="rId12" Type="http://schemas.openxmlformats.org/officeDocument/2006/relationships/image" Target="../media/image94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09.png"/><Relationship Id="rId5" Type="http://schemas.openxmlformats.org/officeDocument/2006/relationships/image" Target="../media/image88.png"/><Relationship Id="rId10" Type="http://schemas.openxmlformats.org/officeDocument/2006/relationships/image" Target="../media/image92.png"/><Relationship Id="rId4" Type="http://schemas.openxmlformats.org/officeDocument/2006/relationships/image" Target="../media/image87.png"/><Relationship Id="rId9" Type="http://schemas.openxmlformats.org/officeDocument/2006/relationships/image" Target="../media/image108.png"/><Relationship Id="rId14" Type="http://schemas.openxmlformats.org/officeDocument/2006/relationships/image" Target="../media/image1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95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12" Type="http://schemas.openxmlformats.org/officeDocument/2006/relationships/image" Target="../media/image94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11" Type="http://schemas.openxmlformats.org/officeDocument/2006/relationships/image" Target="../media/image113.png"/><Relationship Id="rId5" Type="http://schemas.openxmlformats.org/officeDocument/2006/relationships/image" Target="../media/image88.png"/><Relationship Id="rId10" Type="http://schemas.openxmlformats.org/officeDocument/2006/relationships/image" Target="../media/image102.png"/><Relationship Id="rId4" Type="http://schemas.openxmlformats.org/officeDocument/2006/relationships/image" Target="../media/image87.png"/><Relationship Id="rId9" Type="http://schemas.openxmlformats.org/officeDocument/2006/relationships/image" Target="../media/image82.png"/><Relationship Id="rId14" Type="http://schemas.openxmlformats.org/officeDocument/2006/relationships/image" Target="../media/image1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23872" y="934008"/>
            <a:ext cx="10759627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 smtClean="0">
                <a:cs typeface="Arial" panose="020B0604020202020204" pitchFamily="34" charset="0"/>
              </a:rPr>
              <a:t>I will factorise </a:t>
            </a:r>
            <a:r>
              <a:rPr lang="en-AU" sz="4000" b="1" dirty="0" err="1" smtClean="0">
                <a:cs typeface="Arial" panose="020B0604020202020204" pitchFamily="34" charset="0"/>
              </a:rPr>
              <a:t>monic</a:t>
            </a:r>
            <a:r>
              <a:rPr lang="en-AU" sz="4000" b="1" dirty="0" smtClean="0">
                <a:cs typeface="Arial" panose="020B0604020202020204" pitchFamily="34" charset="0"/>
              </a:rPr>
              <a:t> quadratic expressions.</a:t>
            </a:r>
            <a:endParaRPr lang="en-AU" sz="4000" b="1" dirty="0">
              <a:cs typeface="Arial" panose="020B0604020202020204" pitchFamily="34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313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58A4024-BB43-4ED6-BDA3-3CE47E955D14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338D2B-2435-45D4-A379-339E100F3312}"/>
              </a:ext>
            </a:extLst>
          </p:cNvPr>
          <p:cNvSpPr/>
          <p:nvPr/>
        </p:nvSpPr>
        <p:spPr>
          <a:xfrm>
            <a:off x="508931" y="804083"/>
            <a:ext cx="6764324" cy="6851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6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Expand the following expression: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4007253" y="1489207"/>
                <a:ext cx="3983783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5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253" y="1489207"/>
                <a:ext cx="3983783" cy="92333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C63463D-71AF-43CD-9BD3-FAE099554E89}"/>
                  </a:ext>
                </a:extLst>
              </p:cNvPr>
              <p:cNvSpPr/>
              <p:nvPr/>
            </p:nvSpPr>
            <p:spPr>
              <a:xfrm>
                <a:off x="1441050" y="2460941"/>
                <a:ext cx="919343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𝐥𝐨𝐭𝐬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𝐨𝐟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C63463D-71AF-43CD-9BD3-FAE099554E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1050" y="2460941"/>
                <a:ext cx="9193432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1516791" y="4261276"/>
            <a:ext cx="4980924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Connector 6"/>
          <p:cNvCxnSpPr>
            <a:stCxn id="6" idx="0"/>
            <a:endCxn id="6" idx="2"/>
          </p:cNvCxnSpPr>
          <p:nvPr/>
        </p:nvCxnSpPr>
        <p:spPr>
          <a:xfrm>
            <a:off x="4007253" y="4261276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43900" y="4734014"/>
                <a:ext cx="1279517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00" y="4734014"/>
                <a:ext cx="1279517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341537" y="3184971"/>
                <a:ext cx="837088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537" y="3184971"/>
                <a:ext cx="837088" cy="10156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751837" y="3181267"/>
                <a:ext cx="1252266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837" y="3181267"/>
                <a:ext cx="1252266" cy="101566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988075" y="4734014"/>
                <a:ext cx="1526380" cy="994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6000" b="1" i="1" baseline="30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8075" y="4734014"/>
                <a:ext cx="1526380" cy="9943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309089" y="4734014"/>
                <a:ext cx="1712328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𝒇𝒚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089" y="4734014"/>
                <a:ext cx="1712328" cy="101566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7111101" y="3697063"/>
                <a:ext cx="5293297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6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101" y="3697063"/>
                <a:ext cx="5293297" cy="101566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6497715" y="4712726"/>
                <a:ext cx="5293297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6000" b="1" i="1" baseline="300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𝒇𝒚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7715" y="4712726"/>
                <a:ext cx="5293297" cy="101566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3193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10" grpId="0"/>
      <p:bldP spid="12" grpId="0"/>
      <p:bldP spid="13" grpId="0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58A4024-BB43-4ED6-BDA3-3CE47E955D14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338D2B-2435-45D4-A379-339E100F3312}"/>
              </a:ext>
            </a:extLst>
          </p:cNvPr>
          <p:cNvSpPr/>
          <p:nvPr/>
        </p:nvSpPr>
        <p:spPr>
          <a:xfrm>
            <a:off x="508931" y="804083"/>
            <a:ext cx="6764324" cy="6851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6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Expand the following expression: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3545780" y="1406046"/>
                <a:ext cx="5246244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AU" sz="5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5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AU" sz="5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5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AU" sz="5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5780" y="1406046"/>
                <a:ext cx="5246244" cy="92333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C63463D-71AF-43CD-9BD3-FAE099554E89}"/>
                  </a:ext>
                </a:extLst>
              </p:cNvPr>
              <p:cNvSpPr/>
              <p:nvPr/>
            </p:nvSpPr>
            <p:spPr>
              <a:xfrm>
                <a:off x="1358988" y="2399003"/>
                <a:ext cx="919343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𝐥𝐨𝐭𝐬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𝐨𝐟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𝐭𝐡𝐞𝐧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𝐭𝐚𝐤𝐞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𝐚𝐰𝐚𝐲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AU" sz="3200" b="1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C63463D-71AF-43CD-9BD3-FAE099554E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988" y="2399003"/>
                <a:ext cx="9193432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1434729" y="4199338"/>
            <a:ext cx="4980924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Straight Connector 19"/>
          <p:cNvCxnSpPr>
            <a:stCxn id="19" idx="0"/>
            <a:endCxn id="19" idx="2"/>
          </p:cNvCxnSpPr>
          <p:nvPr/>
        </p:nvCxnSpPr>
        <p:spPr>
          <a:xfrm>
            <a:off x="3925191" y="4199338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390151" y="4672076"/>
                <a:ext cx="81945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51" y="4672076"/>
                <a:ext cx="819455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2259475" y="3123033"/>
                <a:ext cx="1072730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9475" y="3123033"/>
                <a:ext cx="1072730" cy="10156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4554358" y="3123033"/>
                <a:ext cx="1401346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4358" y="3123033"/>
                <a:ext cx="1401346" cy="101566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2064598" y="4663484"/>
                <a:ext cx="1473480" cy="994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AU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4598" y="4663484"/>
                <a:ext cx="1473480" cy="9943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4150315" y="4652839"/>
                <a:ext cx="185499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𝟓𝟒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315" y="4652839"/>
                <a:ext cx="1854995" cy="101566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6640776" y="4210411"/>
                <a:ext cx="5293297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4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4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4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AU" sz="4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4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𝟓𝟒</m:t>
                      </m:r>
                      <m:r>
                        <a:rPr lang="en-AU" sz="4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4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4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AU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776" y="4210411"/>
                <a:ext cx="5293297" cy="83099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7229643" y="3313998"/>
                <a:ext cx="4685898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4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AU" sz="4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4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AU" sz="4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4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  <m:r>
                        <a:rPr lang="en-AU" sz="4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4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4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AU" sz="4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9643" y="3313998"/>
                <a:ext cx="4685898" cy="83099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6640775" y="5106824"/>
                <a:ext cx="5293297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4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𝟓𝟒</m:t>
                      </m:r>
                    </m:oMath>
                  </m:oMathPara>
                </a14:m>
                <a:endParaRPr lang="en-AU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775" y="5106824"/>
                <a:ext cx="5293297" cy="83099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2588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5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8183880" y="0"/>
              <a:ext cx="4008120" cy="101092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Multiply everything in the 1st bracket by everything in the 2nd bracket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8183880" y="0"/>
              <a:ext cx="4008120" cy="101092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52" t="-62857" r="-760" b="-1523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3" name="Rectangle 22"/>
          <p:cNvSpPr/>
          <p:nvPr/>
        </p:nvSpPr>
        <p:spPr>
          <a:xfrm>
            <a:off x="1005840" y="298862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/>
          <p:cNvSpPr/>
          <p:nvPr/>
        </p:nvSpPr>
        <p:spPr>
          <a:xfrm>
            <a:off x="2138680" y="298862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/>
          <p:cNvSpPr/>
          <p:nvPr/>
        </p:nvSpPr>
        <p:spPr>
          <a:xfrm>
            <a:off x="1005840" y="400812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/>
          <p:cNvSpPr/>
          <p:nvPr/>
        </p:nvSpPr>
        <p:spPr>
          <a:xfrm>
            <a:off x="2138680" y="400812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41960" y="3266440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" y="3266440"/>
                <a:ext cx="447040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348740" y="2469369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740" y="2469369"/>
                <a:ext cx="447040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11639" y="4183071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39" y="4183071"/>
                <a:ext cx="447040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407920" y="2469368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920" y="2469368"/>
                <a:ext cx="447040" cy="523220"/>
              </a:xfrm>
              <a:prstGeom prst="rect">
                <a:avLst/>
              </a:prstGeom>
              <a:blipFill rotWithShape="0">
                <a:blip r:embed="rId6"/>
                <a:stretch>
                  <a:fillRect r="-205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318260" y="3242738"/>
                <a:ext cx="44704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260" y="3242738"/>
                <a:ext cx="447040" cy="53296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2307184" y="3252484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184" y="3252484"/>
                <a:ext cx="447040" cy="523220"/>
              </a:xfrm>
              <a:prstGeom prst="rect">
                <a:avLst/>
              </a:prstGeom>
              <a:blipFill rotWithShape="0">
                <a:blip r:embed="rId8"/>
                <a:stretch>
                  <a:fillRect r="-716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233806" y="4190362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806" y="4190362"/>
                <a:ext cx="44704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121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307184" y="4190362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184" y="4190362"/>
                <a:ext cx="447040" cy="523220"/>
              </a:xfrm>
              <a:prstGeom prst="rect">
                <a:avLst/>
              </a:prstGeom>
              <a:blipFill rotWithShape="0">
                <a:blip r:embed="rId10"/>
                <a:stretch>
                  <a:fillRect r="-6891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4645660" y="3531916"/>
                <a:ext cx="3625288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AU" sz="3000" b="1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660" y="3531916"/>
                <a:ext cx="3625288" cy="47211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5821680" y="4183071"/>
            <a:ext cx="16764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4985208" y="4555496"/>
                <a:ext cx="2715359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AU" sz="3000" b="1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5208" y="4555496"/>
                <a:ext cx="2715359" cy="47211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4602480" y="2704466"/>
                <a:ext cx="40487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2480" y="2704466"/>
                <a:ext cx="4048760" cy="52322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82880" y="777240"/>
                <a:ext cx="7315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b="1" dirty="0" smtClean="0"/>
                  <a:t>Expand the binomial product: </a:t>
                </a:r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" y="777240"/>
                <a:ext cx="7315200" cy="523220"/>
              </a:xfrm>
              <a:prstGeom prst="rect">
                <a:avLst/>
              </a:prstGeom>
              <a:blipFill rotWithShape="0">
                <a:blip r:embed="rId14"/>
                <a:stretch>
                  <a:fillRect l="-1667" t="-11765" b="-329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358A4024-BB43-4ED6-BDA3-3CE47E955D14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7260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8183880" y="0"/>
              <a:ext cx="4008120" cy="101092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Multiply everything in the 1st bracket by everything in the 2nd bracket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8183880" y="0"/>
              <a:ext cx="4008120" cy="101092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52" t="-62857" r="-760" b="-1523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3" name="Rectangle 22"/>
          <p:cNvSpPr/>
          <p:nvPr/>
        </p:nvSpPr>
        <p:spPr>
          <a:xfrm>
            <a:off x="1005840" y="298862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/>
          <p:cNvSpPr/>
          <p:nvPr/>
        </p:nvSpPr>
        <p:spPr>
          <a:xfrm>
            <a:off x="2138680" y="298862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/>
          <p:cNvSpPr/>
          <p:nvPr/>
        </p:nvSpPr>
        <p:spPr>
          <a:xfrm>
            <a:off x="1005840" y="400812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/>
          <p:cNvSpPr/>
          <p:nvPr/>
        </p:nvSpPr>
        <p:spPr>
          <a:xfrm>
            <a:off x="2138680" y="400812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41960" y="3266440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" y="3266440"/>
                <a:ext cx="447040" cy="523220"/>
              </a:xfrm>
              <a:prstGeom prst="rect">
                <a:avLst/>
              </a:prstGeom>
              <a:blipFill rotWithShape="0">
                <a:blip r:embed="rId3"/>
                <a:stretch>
                  <a:fillRect r="-1369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348740" y="2469369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740" y="2469369"/>
                <a:ext cx="447040" cy="523220"/>
              </a:xfrm>
              <a:prstGeom prst="rect">
                <a:avLst/>
              </a:prstGeom>
              <a:blipFill rotWithShape="0">
                <a:blip r:embed="rId4"/>
                <a:stretch>
                  <a:fillRect r="-121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11639" y="4183071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39" y="4183071"/>
                <a:ext cx="447040" cy="523220"/>
              </a:xfrm>
              <a:prstGeom prst="rect">
                <a:avLst/>
              </a:prstGeom>
              <a:blipFill rotWithShape="0">
                <a:blip r:embed="rId5"/>
                <a:stretch>
                  <a:fillRect r="-21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407920" y="2469368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920" y="2469368"/>
                <a:ext cx="447040" cy="523220"/>
              </a:xfrm>
              <a:prstGeom prst="rect">
                <a:avLst/>
              </a:prstGeom>
              <a:blipFill rotWithShape="0">
                <a:blip r:embed="rId6"/>
                <a:stretch>
                  <a:fillRect r="-21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318260" y="3242738"/>
                <a:ext cx="44704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260" y="3242738"/>
                <a:ext cx="447040" cy="532966"/>
              </a:xfrm>
              <a:prstGeom prst="rect">
                <a:avLst/>
              </a:prstGeom>
              <a:blipFill rotWithShape="0">
                <a:blip r:embed="rId7"/>
                <a:stretch>
                  <a:fillRect r="-418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2184400" y="3247611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4400" y="3247611"/>
                <a:ext cx="447040" cy="523220"/>
              </a:xfrm>
              <a:prstGeom prst="rect">
                <a:avLst/>
              </a:prstGeom>
              <a:blipFill rotWithShape="0">
                <a:blip r:embed="rId8"/>
                <a:stretch>
                  <a:fillRect r="-11756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174344" y="4195442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344" y="4195442"/>
                <a:ext cx="44704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7260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490064" y="4195442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0064" y="4195442"/>
                <a:ext cx="447040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4645660" y="3531916"/>
                <a:ext cx="3856120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3000" b="1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660" y="3531916"/>
                <a:ext cx="3856120" cy="47211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5821680" y="4183071"/>
            <a:ext cx="16764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4985208" y="4555496"/>
                <a:ext cx="2946191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𝟏𝟕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3000" b="1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5208" y="4555496"/>
                <a:ext cx="2946191" cy="47211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4602480" y="2704466"/>
                <a:ext cx="40487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2480" y="2704466"/>
                <a:ext cx="4048760" cy="52322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82880" y="777240"/>
                <a:ext cx="7442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b="1" dirty="0" smtClean="0"/>
                  <a:t>Expand the binomial product: </a:t>
                </a:r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" y="777240"/>
                <a:ext cx="7442200" cy="523220"/>
              </a:xfrm>
              <a:prstGeom prst="rect">
                <a:avLst/>
              </a:prstGeom>
              <a:blipFill rotWithShape="0">
                <a:blip r:embed="rId14"/>
                <a:stretch>
                  <a:fillRect l="-1638" t="-11765" b="-329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358A4024-BB43-4ED6-BDA3-3CE47E955D14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1003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949960"/>
            <a:ext cx="1130808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/>
              <a:t>What’s the highest common factor of:</a:t>
            </a:r>
          </a:p>
          <a:p>
            <a:endParaRPr lang="en-AU" sz="2800" b="1" dirty="0"/>
          </a:p>
          <a:p>
            <a:r>
              <a:rPr lang="en-AU" sz="2800" b="1" dirty="0" smtClean="0"/>
              <a:t>3 and 15 ?</a:t>
            </a:r>
          </a:p>
          <a:p>
            <a:endParaRPr lang="en-AU" sz="2800" b="1" dirty="0"/>
          </a:p>
          <a:p>
            <a:r>
              <a:rPr lang="en-AU" sz="2800" b="1" dirty="0" smtClean="0"/>
              <a:t>9 and 15?</a:t>
            </a:r>
          </a:p>
          <a:p>
            <a:endParaRPr lang="en-AU" sz="2800" b="1" dirty="0"/>
          </a:p>
          <a:p>
            <a:r>
              <a:rPr lang="en-AU" sz="2800" b="1" dirty="0" smtClean="0"/>
              <a:t>4 and 14?</a:t>
            </a:r>
          </a:p>
          <a:p>
            <a:endParaRPr lang="en-AU" sz="2800" b="1" dirty="0"/>
          </a:p>
          <a:p>
            <a:r>
              <a:rPr lang="en-AU" sz="2800" b="1" dirty="0" smtClean="0"/>
              <a:t>6 and 20?</a:t>
            </a:r>
          </a:p>
          <a:p>
            <a:endParaRPr lang="en-AU" sz="2800" b="1" dirty="0"/>
          </a:p>
          <a:p>
            <a:r>
              <a:rPr lang="en-AU" sz="2800" b="1" dirty="0" smtClean="0"/>
              <a:t>12 and 20?</a:t>
            </a:r>
            <a:endParaRPr lang="en-AU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998720" y="1767840"/>
                <a:ext cx="5212080" cy="4084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𝒂𝒏𝒅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800" b="1" dirty="0" smtClean="0"/>
                  <a:t>?</a:t>
                </a:r>
              </a:p>
              <a:p>
                <a:endParaRPr lang="en-AU" sz="2800" b="1" dirty="0"/>
              </a:p>
              <a:p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𝒂𝒏𝒅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800" b="1" dirty="0" smtClean="0"/>
                  <a:t>?</a:t>
                </a:r>
              </a:p>
              <a:p>
                <a:endParaRPr lang="en-AU" sz="2800" b="1" dirty="0"/>
              </a:p>
              <a:p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𝒙𝒚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𝒂𝒏𝒅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800" b="1" dirty="0" smtClean="0"/>
                  <a:t>?</a:t>
                </a:r>
              </a:p>
              <a:p>
                <a:endParaRPr lang="en-AU" sz="2800" b="1" dirty="0"/>
              </a:p>
              <a:p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𝒂𝒏𝒅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𝟏𝟓</m:t>
                    </m:r>
                    <m:sSup>
                      <m:sSupPr>
                        <m:ctrlPr>
                          <a:rPr lang="en-AU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2800" b="1" dirty="0" smtClean="0"/>
                  <a:t> ?</a:t>
                </a:r>
              </a:p>
              <a:p>
                <a:endParaRPr lang="en-AU" sz="2800" b="1" dirty="0"/>
              </a:p>
              <a:p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𝟏𝟏</m:t>
                    </m:r>
                    <m:sSup>
                      <m:sSupPr>
                        <m:ctrlPr>
                          <a:rPr lang="en-AU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𝒂𝒏𝒅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𝟑𝟑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𝒂</m:t>
                    </m:r>
                    <m:sSup>
                      <m:sSupPr>
                        <m:ctrlPr>
                          <a:rPr lang="en-AU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2800" b="1" dirty="0" smtClean="0"/>
                  <a:t> ?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720" y="1767840"/>
                <a:ext cx="5212080" cy="4084067"/>
              </a:xfrm>
              <a:prstGeom prst="rect">
                <a:avLst/>
              </a:prstGeom>
              <a:blipFill rotWithShape="0">
                <a:blip r:embed="rId2"/>
                <a:stretch>
                  <a:fillRect t="-1343" b="-104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956560" y="1810512"/>
            <a:ext cx="170078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>
                <a:solidFill>
                  <a:srgbClr val="FF0000"/>
                </a:solidFill>
              </a:rPr>
              <a:t>3</a:t>
            </a:r>
          </a:p>
          <a:p>
            <a:endParaRPr lang="en-AU" sz="2800" b="1" dirty="0">
              <a:solidFill>
                <a:srgbClr val="FF0000"/>
              </a:solidFill>
            </a:endParaRPr>
          </a:p>
          <a:p>
            <a:r>
              <a:rPr lang="en-AU" sz="2800" b="1" dirty="0" smtClean="0">
                <a:solidFill>
                  <a:srgbClr val="FF0000"/>
                </a:solidFill>
              </a:rPr>
              <a:t>3</a:t>
            </a:r>
          </a:p>
          <a:p>
            <a:endParaRPr lang="en-AU" sz="2800" b="1" dirty="0">
              <a:solidFill>
                <a:srgbClr val="FF0000"/>
              </a:solidFill>
            </a:endParaRPr>
          </a:p>
          <a:p>
            <a:r>
              <a:rPr lang="en-AU" sz="2800" b="1" dirty="0" smtClean="0">
                <a:solidFill>
                  <a:srgbClr val="FF0000"/>
                </a:solidFill>
              </a:rPr>
              <a:t>2</a:t>
            </a:r>
          </a:p>
          <a:p>
            <a:endParaRPr lang="en-AU" sz="2800" b="1" dirty="0">
              <a:solidFill>
                <a:srgbClr val="FF0000"/>
              </a:solidFill>
            </a:endParaRPr>
          </a:p>
          <a:p>
            <a:r>
              <a:rPr lang="en-AU" sz="2800" b="1" dirty="0" smtClean="0">
                <a:solidFill>
                  <a:srgbClr val="FF0000"/>
                </a:solidFill>
              </a:rPr>
              <a:t>2</a:t>
            </a:r>
          </a:p>
          <a:p>
            <a:endParaRPr lang="en-AU" sz="2800" b="1" dirty="0">
              <a:solidFill>
                <a:srgbClr val="FF0000"/>
              </a:solidFill>
            </a:endParaRPr>
          </a:p>
          <a:p>
            <a:r>
              <a:rPr lang="en-AU" sz="2800" b="1" dirty="0" smtClean="0">
                <a:solidFill>
                  <a:srgbClr val="FF0000"/>
                </a:solidFill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558528" y="1712976"/>
                <a:ext cx="1700784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 smtClean="0">
                  <a:solidFill>
                    <a:srgbClr val="FF0000"/>
                  </a:solidFill>
                </a:endParaRPr>
              </a:p>
              <a:p>
                <a:endParaRPr lang="en-AU" sz="28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2800" b="1" dirty="0" smtClean="0">
                  <a:solidFill>
                    <a:srgbClr val="FF0000"/>
                  </a:solidFill>
                </a:endParaRPr>
              </a:p>
              <a:p>
                <a:endParaRPr lang="en-AU" sz="28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 smtClean="0">
                  <a:solidFill>
                    <a:srgbClr val="FF0000"/>
                  </a:solidFill>
                </a:endParaRPr>
              </a:p>
              <a:p>
                <a:endParaRPr lang="en-AU" sz="28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AU" sz="2800" b="1" dirty="0" smtClean="0">
                  <a:solidFill>
                    <a:srgbClr val="FF0000"/>
                  </a:solidFill>
                </a:endParaRPr>
              </a:p>
              <a:p>
                <a:endParaRPr lang="en-AU" sz="28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AU" sz="2800" b="1" dirty="0" smtClean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8528" y="1712976"/>
                <a:ext cx="1700784" cy="397031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58A4024-BB43-4ED6-BDA3-3CE47E955D14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1711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9514839" y="2545086"/>
          <a:ext cx="2677161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77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Vocabulary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Expanding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Factorising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9481140" y="0"/>
          <a:ext cx="271086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10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</a:t>
                      </a:r>
                      <a:r>
                        <a:rPr lang="en-AU" baseline="0" dirty="0" smtClean="0"/>
                        <a:t> do we expand an expression?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9517064" y="1281775"/>
          <a:ext cx="2674936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7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do we factorise an expression?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C63463D-71AF-43CD-9BD3-FAE099554E89}"/>
              </a:ext>
            </a:extLst>
          </p:cNvPr>
          <p:cNvSpPr/>
          <p:nvPr/>
        </p:nvSpPr>
        <p:spPr>
          <a:xfrm>
            <a:off x="113457" y="622540"/>
            <a:ext cx="101396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1" dirty="0" smtClean="0">
                <a:solidFill>
                  <a:srgbClr val="0070C0"/>
                </a:solidFill>
                <a:cs typeface="Arial" panose="020B0604020202020204" pitchFamily="34" charset="0"/>
              </a:rPr>
              <a:t>Find the HCF of the two terms.</a:t>
            </a:r>
            <a:endParaRPr lang="en-AU" sz="2800" b="1" dirty="0">
              <a:cs typeface="Arial" panose="020B0604020202020204" pitchFamily="34" charset="0"/>
            </a:endParaRPr>
          </a:p>
          <a:p>
            <a:r>
              <a:rPr lang="en-AU" sz="28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Divide the term by the HCF.</a:t>
            </a:r>
            <a:endParaRPr lang="en-AU" sz="2800" b="1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2387246" y="1436078"/>
                <a:ext cx="3910814" cy="13234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𝟏𝟒</m:t>
                      </m:r>
                    </m:oMath>
                  </m:oMathPara>
                </a14:m>
                <a:endParaRPr lang="en-AU" sz="8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7246" y="1436078"/>
                <a:ext cx="3910814" cy="132343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1710167" y="3898262"/>
            <a:ext cx="4980924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/>
          <p:cNvCxnSpPr>
            <a:stCxn id="9" idx="0"/>
            <a:endCxn id="9" idx="2"/>
          </p:cNvCxnSpPr>
          <p:nvPr/>
        </p:nvCxnSpPr>
        <p:spPr>
          <a:xfrm>
            <a:off x="4200629" y="3898262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30651" y="4370999"/>
                <a:ext cx="81945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651" y="4370999"/>
                <a:ext cx="819455" cy="101566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304881" y="2821058"/>
                <a:ext cx="1141659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881" y="2821058"/>
                <a:ext cx="1141659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5071734" y="2821058"/>
                <a:ext cx="81945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1734" y="2821058"/>
                <a:ext cx="819455" cy="10156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304881" y="4370999"/>
                <a:ext cx="1141659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881" y="4370999"/>
                <a:ext cx="1141659" cy="101566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806102" y="4370999"/>
                <a:ext cx="1279517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𝟏𝟒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6102" y="4370999"/>
                <a:ext cx="1279517" cy="101566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6875286" y="4495989"/>
                <a:ext cx="1608646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5286" y="4495989"/>
                <a:ext cx="1608646" cy="101566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7991502" y="3516142"/>
                <a:ext cx="2979277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𝟏𝟒</m:t>
                      </m:r>
                    </m:oMath>
                  </m:oMathPara>
                </a14:m>
                <a:endParaRPr lang="en-AU" sz="6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1502" y="3516142"/>
                <a:ext cx="2979277" cy="101566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F59C7D0-E927-46AA-87D9-CA4711AF2177}"/>
                  </a:ext>
                </a:extLst>
              </p:cNvPr>
              <p:cNvSpPr/>
              <p:nvPr/>
            </p:nvSpPr>
            <p:spPr>
              <a:xfrm>
                <a:off x="8559845" y="4460172"/>
                <a:ext cx="3157211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F59C7D0-E927-46AA-87D9-CA4711AF21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9845" y="4460172"/>
                <a:ext cx="3157211" cy="101566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358A4024-BB43-4ED6-BDA3-3CE47E955D14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92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/>
      <p:bldP spid="15" grpId="0"/>
      <p:bldP spid="16" grpId="0"/>
      <p:bldP spid="18" grpId="0"/>
      <p:bldP spid="19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2140536" y="1411738"/>
                <a:ext cx="5521833" cy="13234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𝟐𝟐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𝟓𝟓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𝒋𝒌</m:t>
                      </m:r>
                    </m:oMath>
                  </m:oMathPara>
                </a14:m>
                <a:endParaRPr lang="en-AU" sz="8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536" y="1411738"/>
                <a:ext cx="5521833" cy="132343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513597" y="3850301"/>
            <a:ext cx="6291743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2" name="Straight Connector 11"/>
          <p:cNvCxnSpPr>
            <a:cxnSpLocks/>
            <a:stCxn id="2" idx="0"/>
            <a:endCxn id="2" idx="2"/>
          </p:cNvCxnSpPr>
          <p:nvPr/>
        </p:nvCxnSpPr>
        <p:spPr>
          <a:xfrm>
            <a:off x="4659469" y="3850301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1023" y="4463081"/>
                <a:ext cx="1438214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3" y="4463081"/>
                <a:ext cx="1438214" cy="92333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708865" y="2831074"/>
                <a:ext cx="755335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8865" y="2831074"/>
                <a:ext cx="755335" cy="92333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267423" y="2831074"/>
                <a:ext cx="1696298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7423" y="2831074"/>
                <a:ext cx="1696298" cy="92333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310145" y="4417617"/>
                <a:ext cx="1438214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𝟐𝟐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145" y="4417617"/>
                <a:ext cx="1438214" cy="92333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4993425" y="4417617"/>
                <a:ext cx="2379176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𝟓𝟓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𝒋𝒌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3425" y="4417617"/>
                <a:ext cx="2379176" cy="92333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7881930" y="4715116"/>
                <a:ext cx="1931426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AU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1930" y="4715116"/>
                <a:ext cx="1931426" cy="83099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8656248" y="3735269"/>
                <a:ext cx="3386888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𝟐𝟐</m:t>
                      </m:r>
                      <m:r>
                        <a:rPr lang="en-AU" sz="4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AU" sz="4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4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𝟓𝟓</m:t>
                      </m:r>
                      <m:r>
                        <a:rPr lang="en-AU" sz="4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𝒋𝒌</m:t>
                      </m:r>
                    </m:oMath>
                  </m:oMathPara>
                </a14:m>
                <a:endParaRPr lang="en-AU" sz="4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6248" y="3735269"/>
                <a:ext cx="3386888" cy="83099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F59C7D0-E927-46AA-87D9-CA4711AF2177}"/>
                  </a:ext>
                </a:extLst>
              </p:cNvPr>
              <p:cNvSpPr/>
              <p:nvPr/>
            </p:nvSpPr>
            <p:spPr>
              <a:xfrm>
                <a:off x="9499194" y="4715116"/>
                <a:ext cx="2681568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F59C7D0-E927-46AA-87D9-CA4711AF21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9194" y="4715116"/>
                <a:ext cx="2681568" cy="83099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/>
          <p:cNvGraphicFramePr>
            <a:graphicFrameLocks noGrp="1"/>
          </p:cNvGraphicFramePr>
          <p:nvPr>
            <p:extLst/>
          </p:nvPr>
        </p:nvGraphicFramePr>
        <p:xfrm>
          <a:off x="9514839" y="2545086"/>
          <a:ext cx="2677161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77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Vocabulary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Expanding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Factorising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>
            <p:extLst/>
          </p:nvPr>
        </p:nvGraphicFramePr>
        <p:xfrm>
          <a:off x="9481140" y="0"/>
          <a:ext cx="271086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10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</a:t>
                      </a:r>
                      <a:r>
                        <a:rPr lang="en-AU" baseline="0" dirty="0" smtClean="0"/>
                        <a:t> do we expand an expression?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9517064" y="1281775"/>
          <a:ext cx="2674936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7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do we factorise an expression?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7C63463D-71AF-43CD-9BD3-FAE099554E89}"/>
              </a:ext>
            </a:extLst>
          </p:cNvPr>
          <p:cNvSpPr/>
          <p:nvPr/>
        </p:nvSpPr>
        <p:spPr>
          <a:xfrm>
            <a:off x="113457" y="622540"/>
            <a:ext cx="101396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1" dirty="0" smtClean="0">
                <a:solidFill>
                  <a:srgbClr val="0070C0"/>
                </a:solidFill>
                <a:cs typeface="Arial" panose="020B0604020202020204" pitchFamily="34" charset="0"/>
              </a:rPr>
              <a:t>Find the HCF of the two terms.</a:t>
            </a:r>
            <a:endParaRPr lang="en-AU" sz="2800" b="1" dirty="0">
              <a:cs typeface="Arial" panose="020B0604020202020204" pitchFamily="34" charset="0"/>
            </a:endParaRPr>
          </a:p>
          <a:p>
            <a:r>
              <a:rPr lang="en-AU" sz="28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Divide the term by the HCF.</a:t>
            </a:r>
            <a:endParaRPr lang="en-AU" sz="2800" b="1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8A4024-BB43-4ED6-BDA3-3CE47E955D14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2114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5" grpId="0"/>
      <p:bldP spid="16" grpId="0"/>
      <p:bldP spid="17" grpId="0"/>
      <p:bldP spid="20" grpId="0"/>
      <p:bldP spid="21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2383460" y="1514938"/>
                <a:ext cx="4552015" cy="13234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8000" b="1" i="1" baseline="30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8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460" y="1514938"/>
                <a:ext cx="4552015" cy="132343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513597" y="3850301"/>
            <a:ext cx="6291743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2" name="Straight Connector 11"/>
          <p:cNvCxnSpPr>
            <a:cxnSpLocks/>
            <a:stCxn id="2" idx="0"/>
            <a:endCxn id="2" idx="2"/>
          </p:cNvCxnSpPr>
          <p:nvPr/>
        </p:nvCxnSpPr>
        <p:spPr>
          <a:xfrm>
            <a:off x="4659469" y="3850301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69759" y="4463081"/>
                <a:ext cx="1184940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759" y="4463081"/>
                <a:ext cx="1184940" cy="92333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708865" y="2831074"/>
                <a:ext cx="771365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8865" y="2831074"/>
                <a:ext cx="771365" cy="92333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862626" y="2831074"/>
                <a:ext cx="755335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626" y="2831074"/>
                <a:ext cx="755335" cy="92333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330568" y="4463081"/>
                <a:ext cx="1460656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5400" b="1" i="1" baseline="30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568" y="4463081"/>
                <a:ext cx="1460656" cy="92333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5610966" y="4463081"/>
                <a:ext cx="1184940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966" y="4463081"/>
                <a:ext cx="1184940" cy="92333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7881930" y="4715116"/>
                <a:ext cx="1707006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1930" y="4715116"/>
                <a:ext cx="1707006" cy="83099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8656248" y="3735269"/>
                <a:ext cx="280660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4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4800" b="1" i="1" baseline="300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4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4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4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4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6248" y="3735269"/>
                <a:ext cx="2806602" cy="83099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F59C7D0-E927-46AA-87D9-CA4711AF2177}"/>
                  </a:ext>
                </a:extLst>
              </p:cNvPr>
              <p:cNvSpPr/>
              <p:nvPr/>
            </p:nvSpPr>
            <p:spPr>
              <a:xfrm>
                <a:off x="9499194" y="4715116"/>
                <a:ext cx="2319288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F59C7D0-E927-46AA-87D9-CA4711AF21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9194" y="4715116"/>
                <a:ext cx="2319288" cy="83099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7" name="Table 36"/>
          <p:cNvGraphicFramePr>
            <a:graphicFrameLocks noGrp="1"/>
          </p:cNvGraphicFramePr>
          <p:nvPr>
            <p:extLst/>
          </p:nvPr>
        </p:nvGraphicFramePr>
        <p:xfrm>
          <a:off x="9514839" y="2545086"/>
          <a:ext cx="2677161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77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Vocabulary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Expanding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Factorising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>
            <p:extLst/>
          </p:nvPr>
        </p:nvGraphicFramePr>
        <p:xfrm>
          <a:off x="9481140" y="0"/>
          <a:ext cx="271086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10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</a:t>
                      </a:r>
                      <a:r>
                        <a:rPr lang="en-AU" baseline="0" dirty="0" smtClean="0"/>
                        <a:t> do we expand an expression?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9" name="Table 38"/>
          <p:cNvGraphicFramePr>
            <a:graphicFrameLocks noGrp="1"/>
          </p:cNvGraphicFramePr>
          <p:nvPr>
            <p:extLst/>
          </p:nvPr>
        </p:nvGraphicFramePr>
        <p:xfrm>
          <a:off x="9517064" y="1281775"/>
          <a:ext cx="2674936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7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do we factorise an expression?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0" name="Rectangle 39">
            <a:extLst>
              <a:ext uri="{FF2B5EF4-FFF2-40B4-BE49-F238E27FC236}">
                <a16:creationId xmlns:a16="http://schemas.microsoft.com/office/drawing/2014/main" id="{7C63463D-71AF-43CD-9BD3-FAE099554E89}"/>
              </a:ext>
            </a:extLst>
          </p:cNvPr>
          <p:cNvSpPr/>
          <p:nvPr/>
        </p:nvSpPr>
        <p:spPr>
          <a:xfrm>
            <a:off x="113457" y="622540"/>
            <a:ext cx="101396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1" dirty="0" smtClean="0">
                <a:solidFill>
                  <a:srgbClr val="0070C0"/>
                </a:solidFill>
                <a:cs typeface="Arial" panose="020B0604020202020204" pitchFamily="34" charset="0"/>
              </a:rPr>
              <a:t>Find the HCF of the two terms.</a:t>
            </a:r>
            <a:endParaRPr lang="en-AU" sz="2800" b="1" dirty="0">
              <a:cs typeface="Arial" panose="020B0604020202020204" pitchFamily="34" charset="0"/>
            </a:endParaRPr>
          </a:p>
          <a:p>
            <a:r>
              <a:rPr lang="en-AU" sz="28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Divide the term by the HCF.</a:t>
            </a:r>
            <a:endParaRPr lang="en-AU" sz="2800" b="1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8A4024-BB43-4ED6-BDA3-3CE47E955D14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5213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5" grpId="0"/>
      <p:bldP spid="16" grpId="0"/>
      <p:bldP spid="17" grpId="0"/>
      <p:bldP spid="20" grpId="0"/>
      <p:bldP spid="21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3433207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Learning Objective</a:t>
            </a:r>
            <a:endParaRPr lang="en-AU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2548141"/>
            <a:ext cx="2956373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Success Criteria</a:t>
            </a:r>
            <a:endParaRPr lang="en-AU" sz="3200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/>
          </p:nvPr>
        </p:nvGraphicFramePr>
        <p:xfrm>
          <a:off x="9505808" y="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/>
          </p:nvPr>
        </p:nvGraphicFramePr>
        <p:xfrm>
          <a:off x="9505808" y="99568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/>
          </p:nvPr>
        </p:nvGraphicFramePr>
        <p:xfrm>
          <a:off x="9505808" y="1960880"/>
          <a:ext cx="2686192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3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will</a:t>
                      </a:r>
                      <a:r>
                        <a:rPr lang="en-AU" baseline="0" dirty="0" smtClean="0"/>
                        <a:t> we know if we’ve been successful?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/>
          </p:nvPr>
        </p:nvGraphicFramePr>
        <p:xfrm>
          <a:off x="9505808" y="3175000"/>
          <a:ext cx="2686192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4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will we know if we’ve been successful?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Content Placeholder 1"/>
          <p:cNvSpPr>
            <a:spLocks noGrp="1"/>
          </p:cNvSpPr>
          <p:nvPr>
            <p:ph sz="half" idx="1"/>
          </p:nvPr>
        </p:nvSpPr>
        <p:spPr>
          <a:xfrm>
            <a:off x="203200" y="795929"/>
            <a:ext cx="8873482" cy="2285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I will factorise </a:t>
            </a:r>
            <a:r>
              <a:rPr lang="en-AU" b="1" dirty="0" err="1" smtClean="0"/>
              <a:t>monic</a:t>
            </a:r>
            <a:r>
              <a:rPr lang="en-AU" b="1" dirty="0" smtClean="0"/>
              <a:t> quadratic expressions.</a:t>
            </a:r>
            <a:endParaRPr lang="en-AU" dirty="0" smtClean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249168" y="3635312"/>
            <a:ext cx="8771965" cy="249963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I will be able to: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Find factors of a number.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Factorise </a:t>
            </a:r>
            <a:r>
              <a:rPr lang="en-AU" b="1" dirty="0" err="1" smtClean="0"/>
              <a:t>monic</a:t>
            </a:r>
            <a:r>
              <a:rPr lang="en-AU" b="1" dirty="0" smtClean="0"/>
              <a:t> quadratic expressions.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77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0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895985" y="270922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2028825" y="270922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895985" y="372872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2028825" y="372872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32105" y="2987040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105" y="2987040"/>
                <a:ext cx="447040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238885" y="2189969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885" y="2189969"/>
                <a:ext cx="447040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31773" y="3903671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773" y="3903671"/>
                <a:ext cx="447040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298065" y="2189968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065" y="2189968"/>
                <a:ext cx="447040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208405" y="2963338"/>
                <a:ext cx="44704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405" y="2963338"/>
                <a:ext cx="447040" cy="53296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259012" y="2963338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9012" y="2963338"/>
                <a:ext cx="447040" cy="523220"/>
              </a:xfrm>
              <a:prstGeom prst="rect">
                <a:avLst/>
              </a:prstGeom>
              <a:blipFill rotWithShape="0">
                <a:blip r:embed="rId7"/>
                <a:stretch>
                  <a:fillRect r="-13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130299" y="3903672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299" y="3903672"/>
                <a:ext cx="447040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256791" y="3903671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6791" y="3903671"/>
                <a:ext cx="44704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94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45254" y="5034745"/>
                <a:ext cx="3447354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n-AU" sz="3000" b="1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254" y="5034745"/>
                <a:ext cx="3447354" cy="47211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/>
          <p:cNvCxnSpPr/>
          <p:nvPr/>
        </p:nvCxnSpPr>
        <p:spPr>
          <a:xfrm>
            <a:off x="1485994" y="5592388"/>
            <a:ext cx="16764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15040" y="5953736"/>
                <a:ext cx="2827569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n-AU" sz="3000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40" y="5953736"/>
                <a:ext cx="2827569" cy="47211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724400" y="1666748"/>
                <a:ext cx="693928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800" dirty="0" smtClean="0"/>
                  <a:t>What do we do with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AU" sz="2800" dirty="0" smtClean="0"/>
                  <a:t> and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AU" sz="2800" dirty="0" smtClean="0"/>
                  <a:t>?</a:t>
                </a:r>
                <a:endParaRPr lang="en-AU" sz="28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1666748"/>
                <a:ext cx="6939280" cy="523220"/>
              </a:xfrm>
              <a:prstGeom prst="rect">
                <a:avLst/>
              </a:prstGeom>
              <a:blipFill rotWithShape="0">
                <a:blip r:embed="rId12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4775200" y="2443988"/>
            <a:ext cx="6939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 smtClean="0">
                <a:solidFill>
                  <a:srgbClr val="FF0000"/>
                </a:solidFill>
              </a:rPr>
              <a:t>Add them.</a:t>
            </a:r>
            <a:endParaRPr lang="en-AU" sz="28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724400" y="3258395"/>
                <a:ext cx="693928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800" dirty="0" smtClean="0"/>
                  <a:t>What do we do with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AU" sz="2800" dirty="0" smtClean="0"/>
                  <a:t> and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AU" sz="2800" dirty="0" smtClean="0"/>
                  <a:t>?</a:t>
                </a:r>
                <a:endParaRPr lang="en-AU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3258395"/>
                <a:ext cx="6939280" cy="523220"/>
              </a:xfrm>
              <a:prstGeom prst="rect">
                <a:avLst/>
              </a:prstGeom>
              <a:blipFill rotWithShape="0">
                <a:blip r:embed="rId13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4775200" y="4161028"/>
            <a:ext cx="6939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 smtClean="0">
                <a:solidFill>
                  <a:srgbClr val="0070C0"/>
                </a:solidFill>
              </a:rPr>
              <a:t>Multiply them.</a:t>
            </a:r>
            <a:endParaRPr lang="en-AU" sz="28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5" name="Ink 24"/>
              <p14:cNvContentPartPr/>
              <p14:nvPr/>
            </p14:nvContentPartPr>
            <p14:xfrm>
              <a:off x="868440" y="2759040"/>
              <a:ext cx="2323800" cy="1922760"/>
            </p14:xfrm>
          </p:contentPart>
        </mc:Choice>
        <mc:Fallback xmlns="">
          <p:pic>
            <p:nvPicPr>
              <p:cNvPr id="26" name="Ink 25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44320" y="2748600"/>
                <a:ext cx="2376000" cy="19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6" name="Ink 25"/>
              <p14:cNvContentPartPr/>
              <p14:nvPr/>
            </p14:nvContentPartPr>
            <p14:xfrm>
              <a:off x="2212320" y="3907080"/>
              <a:ext cx="743040" cy="667800"/>
            </p14:xfrm>
          </p:contentPart>
        </mc:Choice>
        <mc:Fallback xmlns="">
          <p:pic>
            <p:nvPicPr>
              <p:cNvPr id="28" name="Ink 27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183880" y="3883320"/>
                <a:ext cx="796320" cy="71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868440" y="1185304"/>
                <a:ext cx="2428998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000" b="1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440" y="1185304"/>
                <a:ext cx="2428998" cy="461665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678813" y="642304"/>
            <a:ext cx="528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Expand the brackets: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8183880" y="0"/>
              <a:ext cx="4008120" cy="101092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Multiply everything in the 1st bracket by everything in the 2nd bracket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8183880" y="0"/>
              <a:ext cx="4008120" cy="101092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19"/>
                          <a:stretch>
                            <a:fillRect l="-152" t="-62857" r="-760" b="-1523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104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  <p:bldP spid="10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0" grpId="0"/>
      <p:bldP spid="21" grpId="0"/>
      <p:bldP spid="22" grpId="0"/>
      <p:bldP spid="23" grpId="0"/>
      <p:bldP spid="24" grpId="0"/>
      <p:bldP spid="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63463D-71AF-43CD-9BD3-FAE099554E89}"/>
              </a:ext>
            </a:extLst>
          </p:cNvPr>
          <p:cNvSpPr/>
          <p:nvPr/>
        </p:nvSpPr>
        <p:spPr>
          <a:xfrm>
            <a:off x="254076" y="634686"/>
            <a:ext cx="101396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cs typeface="Arial" panose="020B0604020202020204" pitchFamily="34" charset="0"/>
              </a:rPr>
              <a:t>Expanding is the process where you remove the brackets</a:t>
            </a:r>
            <a:r>
              <a:rPr lang="en-AU" sz="2400" b="1" dirty="0" smtClean="0">
                <a:cs typeface="Arial" panose="020B0604020202020204" pitchFamily="34" charset="0"/>
              </a:rPr>
              <a:t>.</a:t>
            </a:r>
            <a:endParaRPr lang="en-AU" sz="2400" b="1" dirty="0">
              <a:cs typeface="Arial" panose="020B0604020202020204" pitchFamily="34" charset="0"/>
            </a:endParaRPr>
          </a:p>
          <a:p>
            <a:r>
              <a:rPr lang="en-AU" sz="2400" b="1" dirty="0">
                <a:cs typeface="Arial" panose="020B0604020202020204" pitchFamily="34" charset="0"/>
              </a:rPr>
              <a:t>Factorising is the reverse - you are putting the brackets in.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52200" y="1748315"/>
                <a:ext cx="2433743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n-AU" sz="3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00" y="1748315"/>
                <a:ext cx="2433743" cy="47211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99758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213042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/>
          <p:cNvSpPr/>
          <p:nvPr/>
        </p:nvSpPr>
        <p:spPr>
          <a:xfrm>
            <a:off x="99758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213042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blipFill rotWithShape="0">
                <a:blip r:embed="rId3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blipFill rotWithShape="0">
                <a:blip r:embed="rId4"/>
                <a:stretch>
                  <a:fillRect r="-54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blipFill rotWithShape="0">
                <a:blip r:embed="rId5"/>
                <a:stretch>
                  <a:fillRect r="-648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n-AU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blipFill rotWithShape="0">
                <a:blip r:embed="rId6"/>
                <a:stretch>
                  <a:fillRect r="-125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4495800" y="2348909"/>
            <a:ext cx="4993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0070C0"/>
                </a:solidFill>
              </a:rPr>
              <a:t>We are looking for two numbers that multiply together to make 21.</a:t>
            </a:r>
            <a:endParaRPr lang="en-AU" sz="24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4495800" y="3703216"/>
            <a:ext cx="5135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FF0000"/>
                </a:solidFill>
              </a:rPr>
              <a:t>We are also looking for two numbers that add together to make 10.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31680" y="3826327"/>
            <a:ext cx="2059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 smtClean="0"/>
              <a:t>3 and 7</a:t>
            </a:r>
            <a:endParaRPr lang="en-AU" sz="40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9834880" y="2296219"/>
            <a:ext cx="1818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000" b="1" dirty="0" smtClean="0"/>
              <a:t>1 and 21</a:t>
            </a:r>
          </a:p>
          <a:p>
            <a:r>
              <a:rPr lang="en-AU" sz="3000" b="1" dirty="0" smtClean="0"/>
              <a:t>3 and 7</a:t>
            </a:r>
            <a:endParaRPr lang="en-AU" sz="3000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909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C63463D-71AF-43CD-9BD3-FAE099554E89}"/>
              </a:ext>
            </a:extLst>
          </p:cNvPr>
          <p:cNvSpPr/>
          <p:nvPr/>
        </p:nvSpPr>
        <p:spPr>
          <a:xfrm>
            <a:off x="254076" y="634686"/>
            <a:ext cx="101396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cs typeface="Arial" panose="020B0604020202020204" pitchFamily="34" charset="0"/>
              </a:rPr>
              <a:t>Expanding is the process where you remove the brackets</a:t>
            </a:r>
            <a:r>
              <a:rPr lang="en-AU" sz="2400" b="1" dirty="0" smtClean="0">
                <a:cs typeface="Arial" panose="020B0604020202020204" pitchFamily="34" charset="0"/>
              </a:rPr>
              <a:t>.</a:t>
            </a:r>
            <a:endParaRPr lang="en-AU" sz="2400" b="1" dirty="0">
              <a:cs typeface="Arial" panose="020B0604020202020204" pitchFamily="34" charset="0"/>
            </a:endParaRPr>
          </a:p>
          <a:p>
            <a:r>
              <a:rPr lang="en-AU" sz="2400" b="1" dirty="0">
                <a:cs typeface="Arial" panose="020B0604020202020204" pitchFamily="34" charset="0"/>
              </a:rPr>
              <a:t>Factorising is the reverse - you are putting the brackets in.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52200" y="1748315"/>
                <a:ext cx="2433743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n-AU" sz="3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00" y="1748315"/>
                <a:ext cx="2433743" cy="47211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99758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213042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99758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/>
          <p:cNvSpPr/>
          <p:nvPr/>
        </p:nvSpPr>
        <p:spPr>
          <a:xfrm>
            <a:off x="213042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blipFill rotWithShape="0">
                <a:blip r:embed="rId3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blipFill rotWithShape="0">
                <a:blip r:embed="rId4"/>
                <a:stretch>
                  <a:fillRect r="-54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blipFill rotWithShape="0">
                <a:blip r:embed="rId5"/>
                <a:stretch>
                  <a:fillRect r="-648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n-AU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blipFill rotWithShape="0">
                <a:blip r:embed="rId6"/>
                <a:stretch>
                  <a:fillRect r="-125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54272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720" y="2420456"/>
                <a:ext cx="22316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216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78960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60" y="4266623"/>
                <a:ext cx="223160" cy="523220"/>
              </a:xfrm>
              <a:prstGeom prst="rect">
                <a:avLst/>
              </a:prstGeom>
              <a:blipFill rotWithShape="0">
                <a:blip r:embed="rId10"/>
                <a:stretch>
                  <a:fillRect r="-305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96500" y="5675155"/>
                <a:ext cx="5244834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𝟐𝟏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500" y="5675155"/>
                <a:ext cx="5244834" cy="47211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sp>
        <p:nvSpPr>
          <p:cNvPr id="25" name="TextBox 24"/>
          <p:cNvSpPr txBox="1"/>
          <p:nvPr/>
        </p:nvSpPr>
        <p:spPr>
          <a:xfrm>
            <a:off x="4396105" y="2384148"/>
            <a:ext cx="4993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0070C0"/>
                </a:solidFill>
              </a:rPr>
              <a:t>We are looking for two numbers that multiply together to make 21.</a:t>
            </a:r>
            <a:endParaRPr lang="en-AU" sz="2400" b="1" dirty="0">
              <a:solidFill>
                <a:srgbClr val="0070C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396105" y="3684958"/>
            <a:ext cx="5135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FF0000"/>
                </a:solidFill>
              </a:rPr>
              <a:t>We are looking for two numbers that also add together to make 10.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614852" y="3752628"/>
            <a:ext cx="2059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 smtClean="0"/>
              <a:t>3 and 7</a:t>
            </a:r>
            <a:endParaRPr lang="en-AU" sz="40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9735185" y="2331458"/>
            <a:ext cx="1818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000" b="1" dirty="0" smtClean="0"/>
              <a:t>1 and 21</a:t>
            </a:r>
          </a:p>
          <a:p>
            <a:r>
              <a:rPr lang="en-AU" sz="3000" b="1" dirty="0" smtClean="0"/>
              <a:t>3 and 7</a:t>
            </a:r>
            <a:endParaRPr lang="en-AU" sz="3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9990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52200" y="1748315"/>
                <a:ext cx="2321533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AU" sz="3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00" y="1748315"/>
                <a:ext cx="2321533" cy="47211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99758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213042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99758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213042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blipFill rotWithShape="0">
                <a:blip r:embed="rId3"/>
                <a:stretch>
                  <a:fillRect r="-3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blipFill rotWithShape="0">
                <a:blip r:embed="rId4"/>
                <a:stretch>
                  <a:fillRect r="-297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blipFill rotWithShape="0">
                <a:blip r:embed="rId5"/>
                <a:stretch>
                  <a:fillRect r="-891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AU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blipFill rotWithShape="0">
                <a:blip r:embed="rId6"/>
                <a:stretch>
                  <a:fillRect r="-125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54272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720" y="2420456"/>
                <a:ext cx="22316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216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78960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60" y="4266623"/>
                <a:ext cx="223160" cy="523220"/>
              </a:xfrm>
              <a:prstGeom prst="rect">
                <a:avLst/>
              </a:prstGeom>
              <a:blipFill rotWithShape="0">
                <a:blip r:embed="rId10"/>
                <a:stretch>
                  <a:fillRect r="-277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96500" y="5675155"/>
                <a:ext cx="5283306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AU" sz="3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AU" sz="3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500" y="5675155"/>
                <a:ext cx="5283306" cy="47211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895587" y="3021170"/>
            <a:ext cx="5796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0070C0"/>
                </a:solidFill>
              </a:rPr>
              <a:t>What do you multiply together to make 15?</a:t>
            </a:r>
            <a:endParaRPr lang="en-AU" sz="2400" b="1" dirty="0">
              <a:solidFill>
                <a:srgbClr val="0070C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67480" y="4266623"/>
            <a:ext cx="5936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FF0000"/>
                </a:solidFill>
              </a:rPr>
              <a:t>What do you also add together to make 8?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903762" y="4143512"/>
            <a:ext cx="2059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 smtClean="0"/>
              <a:t>3 and 5</a:t>
            </a:r>
            <a:endParaRPr lang="en-AU" sz="4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9811067" y="2790039"/>
            <a:ext cx="1818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000" b="1" dirty="0" smtClean="0"/>
              <a:t>1 and 15</a:t>
            </a:r>
          </a:p>
          <a:p>
            <a:pPr algn="ctr"/>
            <a:r>
              <a:rPr lang="en-AU" sz="3000" b="1" dirty="0" smtClean="0"/>
              <a:t>3 and 5</a:t>
            </a:r>
            <a:endParaRPr lang="en-AU" sz="3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 smtClean="0"/>
                  <a:t>What do you multiply together to make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AU" sz="2400" b="1" dirty="0" smtClean="0"/>
                  <a:t>?</a:t>
                </a:r>
                <a:endParaRPr lang="en-AU" sz="24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blipFill rotWithShape="0">
                <a:blip r:embed="rId12"/>
                <a:stretch>
                  <a:fillRect l="-1350" t="-7692" b="-282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AU" sz="2800" b="1" dirty="0" smtClean="0"/>
                  <a:t> and </a:t>
                </a:r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blipFill rotWithShape="0">
                <a:blip r:embed="rId1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9988552"/>
                  </p:ext>
                </p:extLst>
              </p:nvPr>
            </p:nvGraphicFramePr>
            <p:xfrm>
              <a:off x="8183880" y="0"/>
              <a:ext cx="4008120" cy="12852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We need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to find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(8) and multiply to make the constant (15).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9988552"/>
                  </p:ext>
                </p:extLst>
              </p:nvPr>
            </p:nvGraphicFramePr>
            <p:xfrm>
              <a:off x="8183880" y="0"/>
              <a:ext cx="4008120" cy="12852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14"/>
                          <a:stretch>
                            <a:fillRect l="-152" t="-44000" r="-760" b="-10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543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52200" y="1748315"/>
                <a:ext cx="2552365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𝟏𝟔</m:t>
                      </m:r>
                    </m:oMath>
                  </m:oMathPara>
                </a14:m>
                <a:endParaRPr lang="en-AU" sz="3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00" y="1748315"/>
                <a:ext cx="2552365" cy="47211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99758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213042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99758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213042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blipFill rotWithShape="0">
                <a:blip r:embed="rId3"/>
                <a:stretch>
                  <a:fillRect r="-3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blipFill rotWithShape="0">
                <a:blip r:embed="rId4"/>
                <a:stretch>
                  <a:fillRect r="-297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blipFill rotWithShape="0">
                <a:blip r:embed="rId5"/>
                <a:stretch>
                  <a:fillRect r="-891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𝟏𝟔</m:t>
                      </m:r>
                    </m:oMath>
                  </m:oMathPara>
                </a14:m>
                <a:endParaRPr lang="en-AU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blipFill rotWithShape="0">
                <a:blip r:embed="rId6"/>
                <a:stretch>
                  <a:fillRect r="-1277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54272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720" y="2420456"/>
                <a:ext cx="22316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216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78960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60" y="4266623"/>
                <a:ext cx="223160" cy="523220"/>
              </a:xfrm>
              <a:prstGeom prst="rect">
                <a:avLst/>
              </a:prstGeom>
              <a:blipFill rotWithShape="0">
                <a:blip r:embed="rId10"/>
                <a:stretch>
                  <a:fillRect r="-305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96500" y="5675155"/>
                <a:ext cx="5514138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AU" sz="3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AU" sz="3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500" y="5675155"/>
                <a:ext cx="5514138" cy="47211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895587" y="3021170"/>
            <a:ext cx="5796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0070C0"/>
                </a:solidFill>
              </a:rPr>
              <a:t>What do you multiply together to make 16?</a:t>
            </a:r>
            <a:endParaRPr lang="en-AU" sz="2400" b="1" dirty="0">
              <a:solidFill>
                <a:srgbClr val="0070C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67480" y="4266623"/>
            <a:ext cx="5801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FF0000"/>
                </a:solidFill>
              </a:rPr>
              <a:t>What do you also add together to make 10?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903762" y="4143512"/>
            <a:ext cx="2059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/>
              <a:t>2</a:t>
            </a:r>
            <a:r>
              <a:rPr lang="en-AU" sz="4000" b="1" dirty="0" smtClean="0"/>
              <a:t> and 8</a:t>
            </a:r>
            <a:endParaRPr lang="en-AU" sz="4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9811067" y="2500093"/>
            <a:ext cx="18186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000" b="1" dirty="0" smtClean="0"/>
              <a:t>1 and 16</a:t>
            </a:r>
          </a:p>
          <a:p>
            <a:pPr algn="ctr"/>
            <a:r>
              <a:rPr lang="en-AU" sz="3000" b="1" dirty="0"/>
              <a:t>2</a:t>
            </a:r>
            <a:r>
              <a:rPr lang="en-AU" sz="3000" b="1" dirty="0" smtClean="0"/>
              <a:t> and 8</a:t>
            </a:r>
          </a:p>
          <a:p>
            <a:pPr algn="ctr"/>
            <a:r>
              <a:rPr lang="en-AU" sz="3000" b="1" dirty="0" smtClean="0"/>
              <a:t>4 and 4</a:t>
            </a:r>
            <a:endParaRPr lang="en-AU" sz="3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 smtClean="0"/>
                  <a:t>What do you multiply together to make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AU" sz="2400" b="1" dirty="0" smtClean="0"/>
                  <a:t>?</a:t>
                </a:r>
                <a:endParaRPr lang="en-AU" sz="24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blipFill rotWithShape="0">
                <a:blip r:embed="rId12"/>
                <a:stretch>
                  <a:fillRect l="-1350" t="-7692" b="-282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AU" sz="2800" b="1" dirty="0" smtClean="0"/>
                  <a:t> and </a:t>
                </a:r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blipFill rotWithShape="0">
                <a:blip r:embed="rId1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5823521"/>
                  </p:ext>
                </p:extLst>
              </p:nvPr>
            </p:nvGraphicFramePr>
            <p:xfrm>
              <a:off x="8183880" y="0"/>
              <a:ext cx="4008120" cy="12852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We need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to find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(10) and multiply to make the constant (16).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5823521"/>
                  </p:ext>
                </p:extLst>
              </p:nvPr>
            </p:nvGraphicFramePr>
            <p:xfrm>
              <a:off x="8183880" y="0"/>
              <a:ext cx="4008120" cy="12852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14"/>
                          <a:stretch>
                            <a:fillRect l="-152" t="-44000" r="-760" b="-10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2620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" grpId="0"/>
      <p:bldP spid="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52200" y="1748315"/>
                <a:ext cx="2552365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AU" sz="3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00" y="1748315"/>
                <a:ext cx="2552365" cy="47211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99758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213042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99758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213042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blipFill rotWithShape="0">
                <a:blip r:embed="rId3"/>
                <a:stretch>
                  <a:fillRect r="-3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blipFill rotWithShape="0">
                <a:blip r:embed="rId4"/>
                <a:stretch>
                  <a:fillRect r="-297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blipFill rotWithShape="0">
                <a:blip r:embed="rId5"/>
                <a:stretch>
                  <a:fillRect r="-891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AU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blipFill rotWithShape="0">
                <a:blip r:embed="rId6"/>
                <a:stretch>
                  <a:fillRect r="-125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54272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720" y="2420456"/>
                <a:ext cx="22316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243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78960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60" y="4266623"/>
                <a:ext cx="223160" cy="523220"/>
              </a:xfrm>
              <a:prstGeom prst="rect">
                <a:avLst/>
              </a:prstGeom>
              <a:blipFill rotWithShape="0">
                <a:blip r:embed="rId10"/>
                <a:stretch>
                  <a:fillRect r="-277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96500" y="5675155"/>
                <a:ext cx="5514138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AU" sz="3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AU" sz="3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500" y="5675155"/>
                <a:ext cx="5514138" cy="47211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895587" y="3021170"/>
            <a:ext cx="5796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0070C0"/>
                </a:solidFill>
              </a:rPr>
              <a:t>What do you multiply together to make 25?</a:t>
            </a:r>
            <a:endParaRPr lang="en-AU" sz="2400" b="1" dirty="0">
              <a:solidFill>
                <a:srgbClr val="0070C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67480" y="4266623"/>
            <a:ext cx="589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FF0000"/>
                </a:solidFill>
              </a:rPr>
              <a:t>What do you also add together to make 10?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903762" y="4143512"/>
            <a:ext cx="2059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/>
              <a:t>5</a:t>
            </a:r>
            <a:r>
              <a:rPr lang="en-AU" sz="4000" b="1" dirty="0" smtClean="0"/>
              <a:t> and 5</a:t>
            </a:r>
            <a:endParaRPr lang="en-AU" sz="4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9811067" y="2790039"/>
            <a:ext cx="1818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000" b="1" dirty="0" smtClean="0"/>
              <a:t>1 and 25</a:t>
            </a:r>
          </a:p>
          <a:p>
            <a:pPr algn="ctr"/>
            <a:r>
              <a:rPr lang="en-AU" sz="3000" b="1" dirty="0"/>
              <a:t>5</a:t>
            </a:r>
            <a:r>
              <a:rPr lang="en-AU" sz="3000" b="1" dirty="0" smtClean="0"/>
              <a:t> and 5</a:t>
            </a:r>
            <a:endParaRPr lang="en-AU" sz="3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 smtClean="0"/>
                  <a:t>What do you multiply together to make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AU" sz="2400" b="1" dirty="0" smtClean="0"/>
                  <a:t>?</a:t>
                </a:r>
                <a:endParaRPr lang="en-AU" sz="24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blipFill rotWithShape="0">
                <a:blip r:embed="rId12"/>
                <a:stretch>
                  <a:fillRect l="-1350" t="-7692" b="-282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AU" sz="2800" b="1" dirty="0" smtClean="0"/>
                  <a:t> and </a:t>
                </a:r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blipFill rotWithShape="0">
                <a:blip r:embed="rId1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085447"/>
                  </p:ext>
                </p:extLst>
              </p:nvPr>
            </p:nvGraphicFramePr>
            <p:xfrm>
              <a:off x="8183880" y="0"/>
              <a:ext cx="4008120" cy="12852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We need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to find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(10) and multiply to make the constant (25).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085447"/>
                  </p:ext>
                </p:extLst>
              </p:nvPr>
            </p:nvGraphicFramePr>
            <p:xfrm>
              <a:off x="8183880" y="0"/>
              <a:ext cx="4008120" cy="12852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14"/>
                          <a:stretch>
                            <a:fillRect l="-152" t="-44000" r="-760" b="-10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105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" grpId="0"/>
      <p:bldP spid="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52200" y="1748315"/>
                <a:ext cx="2552365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𝟐𝟒</m:t>
                      </m:r>
                    </m:oMath>
                  </m:oMathPara>
                </a14:m>
                <a:endParaRPr lang="en-AU" sz="3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00" y="1748315"/>
                <a:ext cx="2552365" cy="47211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99758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213042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99758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213042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blipFill rotWithShape="0">
                <a:blip r:embed="rId3"/>
                <a:stretch>
                  <a:fillRect r="-3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blipFill rotWithShape="0">
                <a:blip r:embed="rId4"/>
                <a:stretch>
                  <a:fillRect r="-297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blipFill rotWithShape="0">
                <a:blip r:embed="rId5"/>
                <a:stretch>
                  <a:fillRect r="-891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𝟐𝟒</m:t>
                      </m:r>
                    </m:oMath>
                  </m:oMathPara>
                </a14:m>
                <a:endParaRPr lang="en-AU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blipFill rotWithShape="0">
                <a:blip r:embed="rId6"/>
                <a:stretch>
                  <a:fillRect r="-1305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54272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720" y="2420456"/>
                <a:ext cx="22316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216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78960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60" y="4266623"/>
                <a:ext cx="223160" cy="523220"/>
              </a:xfrm>
              <a:prstGeom prst="rect">
                <a:avLst/>
              </a:prstGeom>
              <a:blipFill rotWithShape="0">
                <a:blip r:embed="rId10"/>
                <a:stretch>
                  <a:fillRect r="-305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96500" y="5675155"/>
                <a:ext cx="5514137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𝟐𝟒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AU" sz="3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AU" sz="3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500" y="5675155"/>
                <a:ext cx="5514137" cy="47211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895587" y="3021170"/>
            <a:ext cx="5796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0070C0"/>
                </a:solidFill>
              </a:rPr>
              <a:t>What do you multiply together to make 24?</a:t>
            </a:r>
            <a:endParaRPr lang="en-AU" sz="2400" b="1" dirty="0">
              <a:solidFill>
                <a:srgbClr val="0070C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67479" y="4266623"/>
            <a:ext cx="5724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FF0000"/>
                </a:solidFill>
              </a:rPr>
              <a:t>What do you also add together to make 11?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903762" y="4143512"/>
            <a:ext cx="2059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 smtClean="0"/>
              <a:t>3 and 8</a:t>
            </a:r>
            <a:endParaRPr lang="en-AU" sz="4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9816742" y="2307393"/>
            <a:ext cx="18186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000" b="1" dirty="0" smtClean="0"/>
              <a:t>1 and 24</a:t>
            </a:r>
          </a:p>
          <a:p>
            <a:pPr algn="ctr"/>
            <a:r>
              <a:rPr lang="en-AU" sz="3000" b="1" dirty="0" smtClean="0"/>
              <a:t>2 and 12</a:t>
            </a:r>
          </a:p>
          <a:p>
            <a:pPr algn="ctr"/>
            <a:r>
              <a:rPr lang="en-AU" sz="3000" b="1" dirty="0" smtClean="0"/>
              <a:t>3 and 8</a:t>
            </a:r>
          </a:p>
          <a:p>
            <a:pPr algn="ctr"/>
            <a:r>
              <a:rPr lang="en-AU" sz="3000" b="1" dirty="0" smtClean="0"/>
              <a:t>4 and 6</a:t>
            </a:r>
            <a:endParaRPr lang="en-AU" sz="3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 smtClean="0"/>
                  <a:t>What do you multiply together to make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AU" sz="2400" b="1" dirty="0" smtClean="0"/>
                  <a:t>?</a:t>
                </a:r>
                <a:endParaRPr lang="en-AU" sz="24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blipFill rotWithShape="0">
                <a:blip r:embed="rId12"/>
                <a:stretch>
                  <a:fillRect l="-1350" t="-7692" b="-282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AU" sz="2800" b="1" dirty="0" smtClean="0"/>
                  <a:t> and </a:t>
                </a:r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blipFill rotWithShape="0">
                <a:blip r:embed="rId1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4284390"/>
                  </p:ext>
                </p:extLst>
              </p:nvPr>
            </p:nvGraphicFramePr>
            <p:xfrm>
              <a:off x="8183880" y="0"/>
              <a:ext cx="4008120" cy="12852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We need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to find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(11) and multiply to make the constant (24).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4284390"/>
                  </p:ext>
                </p:extLst>
              </p:nvPr>
            </p:nvGraphicFramePr>
            <p:xfrm>
              <a:off x="8183880" y="0"/>
              <a:ext cx="4008120" cy="12852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14"/>
                          <a:stretch>
                            <a:fillRect l="-152" t="-44000" r="-760" b="-10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65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" grpId="0"/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605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Independent Practice</a:t>
            </a:r>
            <a:endParaRPr lang="en-A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309880" y="792480"/>
            <a:ext cx="116230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No Pearson</a:t>
            </a:r>
          </a:p>
          <a:p>
            <a:endParaRPr lang="en-AU" sz="2400" b="1" dirty="0"/>
          </a:p>
          <a:p>
            <a:r>
              <a:rPr lang="en-AU" sz="2400" b="1" dirty="0" err="1" smtClean="0"/>
              <a:t>Mathspace</a:t>
            </a:r>
            <a:r>
              <a:rPr lang="en-AU" sz="2400" b="1" dirty="0" smtClean="0"/>
              <a:t> task – Year 10 Mainstream </a:t>
            </a:r>
            <a:r>
              <a:rPr lang="en-AU" sz="2400" b="1" dirty="0" smtClean="0"/>
              <a:t>Factorising </a:t>
            </a:r>
            <a:r>
              <a:rPr lang="en-AU" sz="2400" b="1" dirty="0" smtClean="0"/>
              <a:t>Monic Quadratics CLASSWORK</a:t>
            </a:r>
            <a:endParaRPr lang="en-AU" sz="24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4746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2606</TotalTime>
  <Words>1383</Words>
  <Application>Microsoft Office PowerPoint</Application>
  <PresentationFormat>Widescreen</PresentationFormat>
  <Paragraphs>331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Science</dc:title>
  <dc:creator>Microsoft account</dc:creator>
  <cp:lastModifiedBy>YOST Amie [Harrisdale Senior High School]</cp:lastModifiedBy>
  <cp:revision>133</cp:revision>
  <cp:lastPrinted>2020-04-07T08:08:17Z</cp:lastPrinted>
  <dcterms:created xsi:type="dcterms:W3CDTF">2017-01-28T08:32:28Z</dcterms:created>
  <dcterms:modified xsi:type="dcterms:W3CDTF">2021-09-01T04:01:58Z</dcterms:modified>
</cp:coreProperties>
</file>
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8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9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57" d="100"/>
          <a:sy n="57" d="100"/>
        </p:scale>
        <p:origin x="21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F988-10B1-4607-A046-66BAD8364AB7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B0E1-AC7D-46F6-82BB-EFB1172A8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784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F988-10B1-4607-A046-66BAD8364AB7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B0E1-AC7D-46F6-82BB-EFB1172A8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3184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F988-10B1-4607-A046-66BAD8364AB7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B0E1-AC7D-46F6-82BB-EFB1172A8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988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F988-10B1-4607-A046-66BAD8364AB7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B0E1-AC7D-46F6-82BB-EFB1172A8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1421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F988-10B1-4607-A046-66BAD8364AB7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B0E1-AC7D-46F6-82BB-EFB1172A8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8024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F988-10B1-4607-A046-66BAD8364AB7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B0E1-AC7D-46F6-82BB-EFB1172A8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9603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F988-10B1-4607-A046-66BAD8364AB7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B0E1-AC7D-46F6-82BB-EFB1172A8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221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F988-10B1-4607-A046-66BAD8364AB7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B0E1-AC7D-46F6-82BB-EFB1172A8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6201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F988-10B1-4607-A046-66BAD8364AB7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B0E1-AC7D-46F6-82BB-EFB1172A8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94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F988-10B1-4607-A046-66BAD8364AB7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B0E1-AC7D-46F6-82BB-EFB1172A8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0892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F988-10B1-4607-A046-66BAD8364AB7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AB0E1-AC7D-46F6-82BB-EFB1172A8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1635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kill Develop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0" cap="flat" cmpd="sng">
            <a:gradFill>
              <a:gsLst>
                <a:gs pos="100000">
                  <a:srgbClr val="01244E"/>
                </a:gs>
                <a:gs pos="0">
                  <a:srgbClr val="94B5E0"/>
                </a:gs>
              </a:gsLst>
              <a:lin ang="5400000" scaled="0"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014" y="5747656"/>
            <a:ext cx="975044" cy="975044"/>
          </a:xfrm>
          <a:prstGeom prst="rect">
            <a:avLst/>
          </a:prstGeom>
        </p:spPr>
      </p:pic>
      <p:sp>
        <p:nvSpPr>
          <p:cNvPr id="8" name="AutoShape 2" descr="data:image/png;base64,iVBORw0KGgoAAAANSUhEUgAAAf8AAAEOCAYAAACHPx4CAAAxEUlEQVR42u2d93tV1b6v79+z+W0fOd69gyBoVDCCAqEIHIIUg4fg3ogQKYfLBs7GDRaKBAm9Q0B6KNKLEiAovRo6gZCEpnT43vMZ95nzzrWyahop7/s848mac8y25pgZ72hzjf915rZZfQwAAABQOf4X8gcAAED+yB8AAAD5I38AAADkj/wBAACQP/IHAACo5/J/4+02cSX82cix1uqtd/zlfaeLrV3HLn74U5MmIcuKDx73z680tdzlG5I+NwAAALwE+R8tfmjvd/rQ+g/Ktryt+xM+RnDda6+3coWHA0VlyB8AAKCuy3/ynGU2ZV6e5e8/YR998mml5K/Ps1ZstIzMLOQPAABQ1+Wf3q2nHbvxyH1WC0B47T1R+euv5K9CAPIHAACoo/JfveuwDRs70V/OWbzaxn77faXlr4JDsPkf+QMAANQx+ffN+sxat/3AH8j3XvtO1jL1bTtd/qJS8leYmZdvvfoPRP4AAAB1Tf6qnad3z6iw/tPsUbZ0095Ky1+h58cDbPbKTcgfAACgLsl/zNc5brBf+Po1u3+xHn36V0n+Bb+VuhYEvQWA/AEAAGpZ/q/+NcXS2qeHhHc/6GgpLVpa4eW7Efd5/c237OdzJZWWv4Le+9f7/8gfAACgluXPL/wBAAAgf+QPAACA/JE/AAAA8kf+AAAAyB/5AwAA1BH5cwsAAACQPwAAACB/AAAAQP4AAACA/AEAAAD5AwAAAPIHAAAA5A8AAADIHwAAAOqx/Nu0acOdBgAAQP4AAABQb+RfWlpqo0ePtoyMDOvSpYsNHjzYioqKXNyzZ89szZo11r17d+vQoYNt374d+QMAANR3+Y8fP97y8/P95cLCQhs0aJD7vGnTJvv888/t/v37VlZWZiNGjLAWLVpwpwEAAOqz/A8cOBCyfPLkSUtJSXGfhwwZYqdOnfLjjh8/bk2bNk342OXl5dUa7t27Z0+fPiWlAQAAqiL/mzdv2siRIy0zM9PV+HNyciw1NdXFtW3b1l68eOFv+/z5c2vWrJn7fPbsWddN4IXHjx9XOPZvv/1WI6GkpMRdCwAAAPKvBNnZ2bZ//35/+c6dO9a8eXP3eejQoXb69Ok6U/MvLi62CxcuuALAlStXSHEAAED+ldmpd+/erqlf3L1714YNG+Y3+2/ZssXv81ehQC0EXqvAy0LN/pcuXXIFAHUDAAAAIP8kUW2+T58+1qlTJ0tLS3OD/IYPH26TJ092o/1XrVpl3bp1c/G7d+92TfwvG0lf8r927RqpDgAAyL8xoP5+r/8fAAAA+TcSqir/M7frT2gMkB6kF4HnDJA/8kf+pAfphfwBkD/yRyakB+mF/AGQP/JHJqQH6YX8Afkjf2SDTEgP0gv5A/JH/sgGmZAeyB/5A/JH/pH/2d54u03cf8jPRo61Vm+94y/vO11s7Tp28cOfmjQJWVZ88Lh/fqWp5S7fkNS5G6tMSI/6lV7Hbjyy7H/8y97v9KF90LmbdfvoYxv1r8l27ObjhO7rq39N8dPpnffet7T26TZw6H9ZwW+lCe3jhe69MyPG6XiZfx9q+87ciLm/wuyVmxJ+Po4WP7Qh/+ef9n56V7dvz48H2PTFaxJ6nnjOAPnXA/nrn1wZW/9B2Za3dX/Cxwiue+31Vk5WB4rKyARIjwaTXsdLnljbDp0tZ/HqkPVT56+wjz751E7cehr3vkaKm7tqi6W2TrNDl+4k/YxEipOUB40Yk/AzFu/5UMFGhYoZS9f5cSqs/EffT0IKDcgfalz+s2bNqlMXVVPX8zLkP3nOMpsyL8/y959wGVplZKPPs1ZstIzMLDIB0qPBpNfYb793tepI9+vjTz+3f+XMrZSsFXKXrXctPNUh/yPXH9jbae0SfsbiPR9jvs6xTz77osJ+KqyoBSBeoYfnDJB/PZB/ereermlTn1XjDK8NJCob/VVmokyFTID0aAjppWb+ZZv3RbxfWt+jT/9Ky//wlfuuVaGq8tezMnL8ty4kI/9Yz4eeu+U//hy3ewr5Q43Kf+HChTZx4kTT3+vXr7uVmglv48aNbp3+alksXrzYTdbjMW/ePDt06JC/vHfvXjt69Kj98ccfboKfZcuWuWOsW7fOysrKQuR++fJlW7BggZsB8MSJE7ZkyRJ3vPPnz4fIX9MHa66ARYsW2cqVK+3WrVv1Rv6rdx22YWMn+stq3lRtp7KykaiCzYnIn/Soz+nVvNWbfi03UpdAy9S3Ky1/hTffeTfhPn+vEBIep+UOXXu464nX53/48r2Eno9Y3zvedXrXxHMG1V7zLy0tdVL2JHvjxg2bP3++W3/w4EE7fPiwW//w4UNfyB7a78GDB7Z9+3Y7deqUv/7q1au2du1af3n69OmuUKHJds6cOWPr16+3x48fu301SVBOTo6/rQoQXoFDk/IEj1PX5d836zNr3fYD/5/2vfadXIZ2uvxFpWSjMDMv33r1H4hsSI96n16xasCSsVoGqlLzVxpXteYvSY+fOssNIky25h/t+dAgv2jjTTS+4ODF29T8ofblL3EXFRVVkOaOHTuchPPy8tw6yV0FAdXYNWmOxK3CgFCtPohq71OnTvWXJ02a5AoVYsOGDS7eQ+sV77FmzRo3i+CLFy/ccrDloS7LX6X99O4ZFdZ/mj3Klm7aW2nZKKhfUCOLkT/pUZ/TK1rft0Lm34b4rTKVkf/3S9ZWW5//ydJnbhBfZeQf6fnQ984aMqLCfntOXnMFUpr94aXIf+7cuU7mQTRN7+zZs91ntQJoWTX327dvuyl7JXsJuqCgwG1z//59V4NXq4Bq6j/99JPNmDHDP15ubq7/ec6cOSHnkuS/++47f1ktAjquCh3qPqgv8tc/uAaXha9fs/sXvy+zsrLRyGDVWIMZEvInPepbemnU+7vvd6jwilvOolVuNLzX1J6srOet2erWV9dof4VWb7WutPzDn4/jGu3/QUfXKuBts/Xweeua0dfmrv4R+cPLq/lfuHChgjS95n3JXvFLly71m/R37drlJF9eXu7W5efn26VLl/z91UUwbdo0fzl4PtX8S0pKItb8VcgIylpjEryWh7oif/W/KaMKhnf/5x87pUVLK7x8N+I+r7/5lv18rqTSsnGjmZdvcO8TI3/Soz6nl0bSDxk93u+K0SA9LeuVzFhpqqDm8WC/eJt27Z1Us4aMtP3nb1VqnEC0OA0U9a4pWl/8tIU/JPx86HurZcL7znq7QS1QwS4o5A81Lv+ZM2f6K9S3r0F6Xp+/xKzmfK8rQIP/JGAN6PNq6mr695r8xfLly/2mfIlfrQTBZv+g/M+ePev3+WtbtRgEWwl0LXfv3vW7DzT4ry7Jn1/6qlsyIT1IL37hDyBB+e/cudMJ3BvV7432VxO/RvhrRH4QiVyj8j1++OEHV/sP1t5VQNAAQHUXaFCfjqe3AcLlr8KDugx0Hm2vQoaE76GWhRUrVrjChcQffGsA+SN/0oP0IvCcQSXl31hA/siE9CC9kD8A8kc2yIT0IL2QPyB/5I9skAnpgfyRPyB/5A8AAID8kT8AAADyR/4AAADIH/kDAAAgf+QPAACA/JE/AAAA8kf+AAAAyB/5AwAAIH/kDwAAgPyrJn/NLFgTtGnTJuJniE9NpEl1pQdpWb+fg5p8FoLLmtysc+fObrp0AORfB+VfXl7upjCuyQzmypUrPHVJcOHChWrP+KsrPZB/7VHX/zfDn4Xgsdq1a+dmLwVA/nVY/oqPl8mUlpba6NGjLSMjw7p06WKDBw92UxGLZ8+e2Zo1a6x79+7WoUMHV9qPVrsoKCiwgQMHWteuXW348OHuvMoktm3bZn379rXWrVvbpEmT/IxD+2qfTp06uSmSo23X0NIsXgGgOtIj1n0PTycdW+dp0qSJ+/vrr7+Sk9SC/Gvrf7M6ngUd6+HDhyFxZ8+eJSEB+ddl+cfLZMaPH2/5+fn+cmFhoQ0aNMh93rRpk33++ed2//59KysrsxEjRliLFi0qZDDKJHr16mXXrl1zyxs2bLBRo0bZjh07bMCAAW7/Bw8euAxmz549bpuWLVu65eLi4pjbNcQ0i1UAqI70iHY/o6UTNf+XI//a+N+sjmeBrj5A/nVQJMpIIoXr16/728TKZA4cOBCyfPLkSUtJSXGfhwwZYqdOnfLjjh8/bk2bNq2QEYwZM8YOHjwYchzVKpTRBGsIaj4cO3as+6zjnDhxwn2OtZ2Hah7Rvmt9CcH0iFYAqI70iHY/o6VTZTL1+p4WLzPU5v9mdTwL8eRf1/837927Z0+fPsWQyL9hyT+ZoH+CcG7evGkjR460zMxMV6vIycmx1NRUF9e2bduQ5vfnz59bs2bNKmQE6gdUM2Q4ilcTYTD07t3bxb3zzjsJbRepttRQwqVLl2okPaLdz2jpFJ6pSxbBfSMVUhpaWrzsUFP/m1V9FhKRf33531QhS/cJkH+DrvmrOS/44CsjiUR2drbt37/fX75z5441b97cfR46dKidPn066Zq//sGmTJliw4YNs6tXr/rrlVkdOnSoQiYSa7vGVvOvjvSIdj+jpRM1/9oNtfm/WR3PQn2v+atrUf9vutcMUkb+DUb+ifQrRstchGoBak4Ud+/edZmF17S4ZcsWv19RGY9qIV7NI5gRhPcfLlmyxL755hs30Ej7qK9R6DWh+fPnV8hEYm3XENMsVp9/daRHtPsZLZ2EBoMxirt2qM3/zep4FhpCn7+a/dXSFq2VBZB/g5N/rMzFqzH06dPHjbpPS0tzA4nUTzh58mTXLLhq1Srr1q2bi9+9e7drNoyUEaiGkpWV5d4BVp+iMivtv379epeJ6Rjjxo3z+96C+8barqGlWbzR/tWRHrHuZ6R0EhMmTLAePXrY0aNHyUlqSf618b9ZHc9CQxnwJ+nrvnsFHkD+DVb+8TIXqF1q4j3/IIzErj/yr+n/TZ6Fiqhrg19GbeDyP3O7/oSakn9NSgYqR02miTK2YM0PGudzwLNQtXwTkH+9lz80HtRcqx97WbZsGTeDZ4FngXwT+SN/AAAg30T+yB8AGjz0+ZNvIn/kDwCNDN5nJ99E/sgfABppzb99+/bu54Q99LqbNzNfY5hMi3wT+dsbb7eJK+LPRo61Vm+94y/vO11s7Tp28cOfmjQJWVZ88Lh/fqWp5S7fkNS5eYgBoKbkrx/0yc3N9devXLnSpk+f3mgm0yLfRP5x5X+0+KG93+lD6z8o2/K27k/4GMF1r73eyhUeDhSVIX8AeOny128KpKen++v1o0FqCUhkMi3kD41C/pPnLLMp8/Isf/8J++iTTyslf32etWKjZWRmIX+oVWbNmlWpuOrcB2qfaJMwBQf8aWKgixcvup8B7tmzpx8fbzIt5A+NQv7p3XrasRuP3Ge1AITX3hOVv/5K/ioEIH9A/vAya/5i8+bNNnXqVFu+fLkLIpHJtJA/NHj5r9512IaNnegv5yxebWO//b7S8lfBIdj8j/whWf744w83eYt+rGXhwoW2bt06Kysr8zPqEydOuMlY5s2bZ+fPn/dlHStOnDt3zvLy8mzmzJl+H2+8faB+y//JkyfWtWtX69evnz+pTWOZTIt8E/nHFHDfrM+sddsP/IF877XvZC1T37bT5S8qJX+FmXn51qv/QOQPlWL79u126tQpf1m1tLVr1/6/5/vMGTdZi5p4lXlrwhfN9R4vTs+LJoNRnISwceNGKyoqirkP1H/5i1GjRtnAgQP95cYymRb5JvKPKmDVztO7Z1RY/2n2KFu6aW+l5a/Q8+MBNnvlJuQPSXP58uWQZU0Eo6ZbsWHDhpCJYW7cuOFe1YoXJ9nfunXLj1Mf8NatW2PuA4D8oUHKf8zXOW6wX/j6Nbt/sR59+ldJ/gW/lboWBL0FgPwhGfQKlmrgejVLNf6ffvrJZsyY4eLmzJkTsq2a7b/77ru4cWrKVxdCMKgPONY+AMgf6rX8X/1riqW1Tw8J737Q0VJatLTCy3cj7vP6m2/Zz+dKKi1/Bb33r/f/kT8kQ35+vl26dMlffvjwoU2bNs2v3ZeUlESt+UeLU81ftf0g6k6ItQ8A8od6LX9+4Q/qE6qRe03xEr/E7TX76/Uur49ecWoh8FoFYsVpsJ+W1d8vDh486EZ4x9oHAPkD8kf+UEuo9q1R+QsWLHAjsTUoTwWAvXv3umb548eP2+LFi128Bu2pCV/Eizt58qQrWCheI74193usfQCQPyB/5A8AgPwB+SN/AADkD8gf+QMAIH+obfnzEAMAAPkm8uchBgBA/uSbyJ+HGACAfBOQPw8xAAD5JiB/HmIAAPJNQP48xAAA5JuA/HmIAQDINwH58xADAJBvAvLnIQYAIN+EWpZ/mzZteIgBAJA/NCb5X7lypUF8Uc3ExkMMAID8IYmaf2lpqY0ePdoyMjKsS5cuNnjwYDeNqUdBQYENHDjQunbtasOHD7eSkhI37ammQO3bt6+1bt3aJk2a5NZ5x9U+nTp1ctOuRtuuurh37557gK9du0aqAwAgf+SfiPzHjx9v+fn5/vrCwkIbNGiQ+/zrr79ar169fLFu2LDBRo0aZTt27LABAwbY/fv37cGDB65QsGfPHrdNy5Yt3XJxcXHM7aqDp0+f2qVLl9wDrEIAAAAgf+SfgPwPHDgQsv7kyZOWkpLiPo8ZM8YOHjwYEq9avSR+9uxZf526EMaOHes+N23a1E6cOOE+x9ouSHl5edJBhQvv4W0oXRgAAMgfakX+N2/etJEjR1pmZqar8efk5FhqaqqLa9eunT179izivuoiCIbevXu7uHfeeSeh7SI9hJUJun71+wMAAPJH/gnKPzs72/bv3++vv3PnjjVv3jxizV+SnTJlig0bNsyuXr3qr1c//qFDh0KOK2JtV9Wav5r51ewPAADIH5KUv2riauoXd+/edcL2mv3D+/yXLFli33zzjRvEp9YC9eOL2bNn2/z58yvIP9Z2AACA/OElyf/48ePWp08fNzo/LS3NNm3a5PrqJ0+e7OLVKpCVlWWdO3d2/fUqIKgrYP369a7g0K1bNxs3bpxfCw/KP9Z2AACA/OElyR8AAJA/NAL5q+9eg+8AAAD5QyOQv5rtu3fvbsuWLeMuAQAgf2gsNX8AAED+yB/5AwAA8gfkDwAAyB+QPwAAIH9A/gAAgPwB+QMAAPKHuij/WbNmxVwGAADkD8gfAACQP9RH+T969MgWLlxoEydOdH+vX7/uy//ixYvux380+U5+fr6b4S9YOLh8+bItWLDAzpw5Y8XFxbZx40Z3DP3Vsli8eHHIfvPmzQuZyW/v3r129OhRUggAAPnDy675T5s2zXbt2uUvHzlyxLZu3eovT58+3UleU+mWlpa6QsCtW7dc3I0bN1yBQes1BfDhw4fd+ocPH9qiRYts5cqV/nG0nzfLHwAAIH94ifKfMmWKPX782F/WjHzBbSZNmuQkL7Zv325FRUUVHqQdO3a4Wn9eXp5bd+rUKVcQ0FTAmk9A0ldhAAAAkD/UAflH6vMPrsvNzfU/z50718k8iAoLs2fPdp/VCqBltRTcvn3bdu/e7boMNH1wQUEBqQMAgPyhPsg/+Fk1/wsXLlR4kLzmfcle8UuXLnXLV69edV0Ka9eutfLyclIHAAD5w8uQ/8yZMystf/Xta6Cf1+dfUlLimvO9rgAN/lPT/5YtW9zyixcvXNM/Tf4AAMgfXqL8d+7c6YTsjdJPRv6e4NWsryZ+jfA/ffp0SPzUqVPt/Pnz/vIPP/wQMqAQAACQP9Sy/AEAAPkD8gcAAOQPyB8AAJA/IH8AAED+gPwBAAD5A/IHAADkD8gfAACQPyB/AABA/oD8AQAA+QPyBwAA5A/IHwAAkD8gfwAAQP7IHwAAAPkjfwAAAOSP/AEAAPkD8gcAAOQPyB8AAJA/IH8AAED+gPwBAAD5A/IHAADkD8gfAACQPyB/AABA/oD8AaB+ceY2oToD8gfkDwDIH/kjf0D+AID8kT/yB+QPAMgf+SN/5A8AgPyRP/JH/gAAyB/5I3/kDwDw8uX/6l9TrF3HLhXC7JWbXPyfX2lqucs3VNjvjbfb+J+Plzyxf3w9zT7o3M3eT+9q73f60LL/8S/7sfBc1H2iHe9o8UMbP3WWdc3o647X8+MBNmVeXtxjxDo28gfkDwDIPwlpvvZ6K2v11jt2oKgs4n4nS59Z+y7d7asZC+10+Qu37tjNx7Zk4x5LbZ1mhy/fS0r+/z0518Z++72duPXULWv/Tz77wuav3Yb8AfkDANSG/BU/a8VGy8jMirifaum9P/lbxH0XrtthU+evSEr+bdq1t2M3HoXEHbhQbsPGfYX8AfkDANSW/PVX8lchIHy9av2L83dX+VzBmn+/gYNt/U/H7FTZ84SPgfxfPm3atIn4uSrHqeqxkD8AIP8k+vy95npPqmr2Dzb/e+tbvJHq+vy9463aWRhynNZtP0hK/gqbDpy2QSPGuLEDPfr0t2Wb98W9Xq1H/olz8+bNGpX/lStXqk3+VTkW8gcA5F+Fmr/CzLx869V/YIWav/r3I+27/cgF+7em/570gL/g+v3nb1nWkJE25pvp1Pyr+TpKSkpiblNaWmqjR4+2jIwM69Kliw0ePNiKiopc3LNnz2zNmjXWvXt369Chg23fvj1izf/Fixe2bds269u3r7Vu3domTZrk1omCggIbOHCgde3a1YYPH+6OrfM0adLE/f31119DjtW+fXu7fv26f4579+5Zu3btYp4D+QMA8q+i/BU0+l5vAnjrv/xutvX+z79H3HfI6PHubYFk5K8R/rtPXg2JO3zlvhsLgPyr/zpiFQDGjx9v+fn5/nJhYaENGjTIfd60aZN9/vnndv/+fSsrK7MRI0ZYixYtKsh/x44dNmDAALfdgwcPnOT37NnjxN6rVy+7du2a227Dhg02atSoiDV/b3n+/PmWm5vrr1+5cqVNnz496jmQPwAg/2qSf8FvpdYy9W33FkBwtP/XuYv80f4HL952y32zPnPbJiN/FSwy/z7U715Ql8KwsRPtn1NmNij5P3z48KUG7zpiFQAOHDgQsnzy5ElLSUlxn4cMGWKnTp3y444fP25NmzatIGyJ+OzZs/56NeGPHTvWxowZYwcPHgw5vloCYsm/vLzc0tPT/fV9+vRxLQHRzoH8AQD5J9nnP23hD1Glqvf+gzV6CXr0V9+5Pvq2HTrb22ntXJ+9Ru0H99e50tqnVwgqLHjbaZCfCg7dPvrY3mvfyT7s1c/GfJ1jR64/aFDyr2shUgFA4wJGjhxpmZmZrsafk5NjqampLq5t27YhTevPnz+3Zs2aVRC2/qoJPxh69+7tmuvVdRCJWAP+dC0XL160O3fuWM+ePWOeA/kDAPIn1Cn5q7n7ZYZw+av/PJzs7Gzbv3+/vyzhNm/e3H0eOnSonT59Om7Nf9iwYXb16lV/vQoMhw4dqlDzV+FhypQpceW/efNmmzp1qi1fvtyFWOdA/gCA/An0+UdpgYgkfqHas5r6xd27d51kvWb/LVu2+H3+KhSohcBrFQgKWwPxFKe+eDF79mzXdx/e579kyRL75ptv3GcN2gu2KgTl/+TJEzdAsF+/fv51RzsH8gcA5E9A/hGuI5r4vdq8+tU7depkaWlpbpCf+tcnT57smuxXrVpl3bp1c/G7d+92ze3hwtZ269evdwUJbTtu3Dh7+vSpi1OrQlZWlnXu3Nn10auAISZMmGA9evSwo0ePRmwJ0MBAvSXgEescyB8AkD8B+QeuI5b4q0p9+GEe5A8AyJ/QqORfk+JX/32wFQD5AwBAo6ah/7a/mu71wz/Lli1D/gAAAI1B/o0V5A8AAMgf+QMAACB/5A8AAMgfkD8AACB/QP4AAID8AfkDAEBjl/+lS5fsxx9/jLvdrFmzKnV8zfqn6Xyj/T6+fplP8Y8ePbILFy64n9eNhCbg0c8Ax4pL9LsE0c/46qeAFy5cWCHcvn27Svc01vfxttu6dSvyBwCA2pX/Tz/9FDKdbiT0e/vexDfJcv78efee/saNGyMed/Hixf5v53tTBEdi79697ieCY8Ul8l0iXV9+fn61pot3HbG+j7ddcEIj5A8AkCTBn4Ctys/BxpoFriHKPy8vz/1Cn6bhXbNmjavxamIcb057TZozffp0FxQvtP2KFSts7ty5rlAQ6xp27drlBBdpchwdQ9L25Kvj6Xf01Qqwbt06dy3z5s1z16IChGriseK875Ls9f3yyy8R43R81c51fB1rx44dftwff/xhP/zwgy1YsMAVYG7cuGGLFi0Kuafe99F31DEUr2v3CgTa7syZMxWOj/wBACoh7StXrlSb/KtyrJpEP3tbHfLXrHVCAisvL3efHz9+bDNmzPC3UdN1UVGR+6wZ8mbOnOma2oWazefMmeOuJxIqSEh22iaIZviTeNUdcOTIESdJCVDHkdi942v92rVrXeEjVpz3XSpzfRJ3ODq2ugMkZE/WkrfXFSDpe1P/6hwqCGhyIu86vO+jOF2zN7NgYWGh3wXy3XffuUmMVKAJHh/5A8BLkei+ffvso48+svT0dPviiy9CBKjZ0TQbm2ZP019vtrRoteTwGnmsYwcpLS210aNHW0ZGhvtt98GDB/sC0sxrqoXqp187dOhg27dvj1jzV4YrcfXt29dN7Tpp0iQ/Ey4oKHCzuWlKV30PHVvnadKkifurGm/wWO3bt7fr16/751DNrl27djHPUZPo/FWVv2QvYel+quYfXJ+bm+svq2DgCfDy5cuumT1IsHAQRPfBk77O4xUudCzJU4JcvXq1S2tNx6sWANXCw7sIVHNWTT5WnPddkr0+CV7XEuzrV2uBrkczDgZn9NNsf7pPN2/erNBVoEKCmvG96/C+j+6tCgPFxcX+s6upi7VdtOMjfwCodZo3b24TJ070BaaMUFOkinPnzrkpV9VU6WW8HTt2dP2micg/1rHD0SCwYAarGtOgQYPcZ00H683/XlZWZiNGjLAWLVpUOKcy5AEDBrjtVAOT5Pfs2VNh/vcNGza4qV0jfQdvWc3WQSGuXLnS1TijnaMmkTDUHF1V+R87dswOHDhgt27dcuJR87PXPK1lD9VgPTZv3uyaw4Oy1GDASNchSapmLiRk77mRwL2auWrpQrVhyV33NVzUGjz3888/x4zzvksy1yfRek314eh6JPMgug96dtViEX48fU9dm3cd3vfxWgY0sE8FVt0T795HOz7yB4Ba5y9/+Yv9/vvv/rKagD0BSshqpgyijPDLL79MSP6xjh2OMtAgaiZOSUlxn4cMGRIysEuFkKZNm1Y4p0Ts9V0LtTKosDFmzBg7ePBgyPHVEhBL/qqpqbXCQ3PTqyUg2jki1bKrI6gG6Um/qvJXIUoFIAkyWPPXvVBTvFDhyhO4UD+1+ruDBFtEgqjApuAVHFUo0v1RYUtowN/SpUvdZ/WFq/ldy8FnREydOtXV6GPFed8lmetTIXDnzp0R43Q9wf30rHoFBRWMvIKjV5v/6quvXIuGdx3e9wkO6FO8BK9jabtox0f+AFDrxBK4mrmfPHkSEqdMKy0tLeq+qampCR07Uq1x5MiRlpmZ6Wr8OTk5/rHatm0b0rSu/txmzZpVOKb+qgk/GHr37u2+hzLsRL5/cFnXohqrpNWzZ8+Y5wgnXNhVDbo/VZW/JyKvr9yrDasp3KuhqtClmnWwtUASD3af6HW9SKjQ4DV3a4Y+iVkFDdWEvUKb10ri9curxhw8n7qJdD1q7YgVp++iNE3m+lQI8VqtwtE9CT4jSnfvtT0V9tQq5Y0j0Pn0fHr3VPt530ctKd691Hqvu0OtE9GOj/wBoE7JXzX/8P5U1fwlRfHuu++GZGjRauSJyD87Ozsk05Zw1W0ghg4dGlKjinaeYcOG+YOyhIQggYTX/JVJT5kyJa781aSsmqa6K7xX36Kdo6Zq/urr9/qJqyJ/FeIkIqHmaXVrqOYpASlNvdq+5K1mc+8de+0n2XlvBWjbaGMc1KQfHGgnUQdf11PtV9evAkjwdT9dg5ZV01eLQby44HdJ5vrUjSNZh7/f792PIGqiV0HIk7gKIRK4ngO1IGjsgncdwe8j8WswoI6rbgtdc/B6Ix0f+QNAnZK/Mi7VbL2+Wwn4ww8/9LsC1G/uNemquVhifPPNNyslf9WevcxQtUYdy2v2l4i8Pn8VCtRCEKmFQaJQnFfTVG1OmXJ4n78kITEJDdoLyiJ4fcq0NUCwX79+TsKxzlEb8At/tY8KIF5rhoe6qIIDX6sK8geAOiV/oUxOItZAv27durnam4d+0Uyj8tWsrpH4yhRVWKiM/FVDVL+6BhiqW0HnUf+6Rkir5qUR1Tq/4lX4iHQebaf+WRUktO24ceP8WrNaFbKystxbC+qjVwFDTJgwwXr06OFn5uHXpwKO3hLwiHUO5N/w8Jr0ve4vtcbotUjvdT3kDwBQhwowDRHk/3LwflhIr0DqzYVIvxOA/AEAahH1MQdbAZA/1DeQPwBAEqjpXt0NqpUhf0D+AACA/AH5AwAA8gfkDwAAyB+QPwAAIH9A/gAAgPwB+QMAAPIH5A8AAMgfkD8AACB/QP4AAID8AfkDAADyR/4AAADIH/kDAAAgf+QPAADIH5A/AAAgf0D+AACA/AH5AwAA8gfkDwAAyB+QP9R3ztwm1IVA2hOq89lA/sgfAAEgf9Ie+QPyB0AAyJ97jvwB+QPyJyB/AvIH5A/In4D8CcgfkD8gfwLyJyB/QP6A/JMLx0ue2D++nmYfdO5m76d3tfc7fWjZ//iX/Vh4LmS7V/+aYu06dvFDWvt0y/z7UNt35kbUbbwwe+WmhOLfeLtNheubv3abtWnXPuQ8yL/2QqQ0CQ+fjRxrrd56x1/ed7o4JH3/1KRJyLLig8f98ytNLXf5hkqdG/kD8gfkn2Q4WfrM2nfpbl/NWGiny1+4dcduPrYlG/dYaus0O3z5XsyMePriNTZoxJiEM+tk4yfPWeauL3gdyL9uyf9o8UNXYOw/KNvytu5P+BjBda+93soVHg4UlSF/QP6A/Gs6jJ86y3p/8reIcQvX7bCp81fEzIiPXH9gb6e1qxH5j5owxf6j33/a8f8pjNDsX3flrwLalHl5lr//hH30yaeVkr8+z1qx0TIys5A/IH9A/jUdVKtenL+7UhI4duORjRz/rQvVKf9TZc8ta8hI69V/oPtMn3/dln96t57uWdBntQCE194Tlb/+Sv4qBCB/QP6A/GswtHgj1fX5e8urdhaG9M22bvtB1P58LXfo2iNk/2h9+l6zfbz4lqlvW48+/Z381RT887kS5F+H5b9612EbNnaiv5yzeLWN/fb7SstfBYdg8z/yB+QPyL+Gav7q348Ut/3IBfu3pv8eNQM/ceup6zYYOPS/qq3m3/R//8U1IXvjCd59vwPN/nVY/n2zPnMFRK8Q9177Tq4A540fSVb+CjPz8l2rD/IH5A/Iv4bCl9/Ntt7/+feIcUNGj3ejsGNl4BowqBp6TQ34+2LMBOs3cDDyr4PyV+08vXtGhfWfZo+ypZv2Vlr+Cj0/HuDeAEH+gPwB+dfgaP+vcxf5tbWDF2+7ZdXqVIuLJ4FWb7WuMfnrmj7s1c/+e3Iu8q9j8h/zdY4b7Be+fs3uX1zXTVXkX/BbqXv2ggVL5A/IH5B/Nb/nP/qr79xgrbYdOrvR+3p9T4O4YmXQwQFfet0rVp/+tIU/JBQf6Ry/XP3dvXaotw+Qf+0HpZl+0yEY3v2go6W0aGmFl+9G3Of1N98KGa+RrPwV9N5/sOUJ+QPyB+RPQP4E5A/IH5A/AfkTkD8gf0D+BORPQP6A/AH5E5A/AfkD8gfkT0D+BOQPyB8AAKoX5I/8AQAA+QPyBwAA5A/IHwAAkD8gfwAAQP6A/AEAAPkD8gcAAOQPyB8AAJA/IH8AAED+gPwBapU2bdpE/BxpuTLHrGs8fvyYNI+R5lVJ57qc7sgf+QNAgCtXrjQq+V+4cKHRFwCC6RNM/6qmc1WOVRs8f/4c+SN/gPgcPXrUhg8fbp07d3Z/tRzM+Pbt22cfffSRpaen2xdffBGS+cXat0uXLrZy5Urr1KmTvffeey5u9uzZbjkjI8PftrS01EaPHu3WaZ/BgwdbUVFRxGt98eKFbdu2zfr27WutW7e2SZMmuXXe+bZs2eKus3v37rZ+/XqXEXrf4969e26bJk2auL+//vpr3O8Y6XzRjlOV+1gTNb9ECgC1kb6x0iyZ+xLrOXn27JmtWbPGpXuHDh1s+/btEWv+sa6loKDABg4caF27dnXfVceO9ryI9u3b2/Xr1/1z6Llo165d1IJhcF2i964y6DqU/teuXSNzQ/4AkTl37pzLcM6cOeOWjx8/bh07drTz58+75ebNm9vEiRP9DHL58uU2duzYhPZt1aqVTZ482Z4+fWqnTp2yV1991RYsWODijh07ZllZWe7z+PHjLT8/37+mwsJCGzRoUMTr3bFjhw0YMMDu379vDx48cJn0nj17XFxqaqr985//tN9//91lgH/7299s8+bNFTLe8Iw51neMdb7gcapyH2tK/okUAGojfWPdw2TuS6znZNOmTfb555+7c5SVldmIESOsRYsWFdI82rVI7L169fKFuWHDBhs1alTMlqL58+dbbm6uv14ynz59ekLyT/TeJYuOd+nSJZf2+h8A5A8QNUPdvXt3yLpdu3bZl19+6T7/5S9/cTL1kEi8TCzevsrQSkpK/LhXXnnF7t696y+r5iUOHDgQcoyTJ09aSkpKxOtVZn327Fl/WbVETxZNmzb1RSVOnDhhQ4cOjSv/WN8x1vmCx6nKfQynvLy8ysGTf7wCQG2kb6x7mMx9ifWcDBkyxEnUQwUVPQ/haR7tWsaMGWMHDx4MOb5aAmLJX/dZrRUeffr08VsC4sk/0XuXzLNRXFzsp3ld75oA5A8vGTVTPnnyJGSdMuC0tLS4mVi8fcMzsGiZ6M2bN23kyJGWmZnpanI5OTmuFh8J7aMm02Do3bu3i3vttdf8GqTQ57Zt28aVf6zvGOt8wf2qch+j1dqrM6g2GO1+1nT6JnoP492XWM+J0jmY9uruadasWcLXou+qroNE7lFwWddy8eJFu3PnjvXs2TPmdwg+04neu8o8G7pPXncXIH+AqDX/vXv3VqjdKVOLlzknu2+05ezsbNu/f7+/XhmpmoMjMWzYMLt69WqI4A8dOuTX/FXbD9YME6n5x/qOsc4XXvOv7H18mTX/2kjfRO9hvPsS6zlROp8+fTpuzT/atYTX/CXPKVOmxP2e6laaOnWq665Q8Hj33XdDChPRridZ+cdKczXzq9kfkD9AXNSvq9qP11yuDPTDDz/0m3tjZc7J7httWTUviVqo6VMZdLRmfw3WUu1P/bVCg6TU9yrUx6u427dvuz5d1Q4j9fmr1hWsJcb6jrHOFzxOVe5jTZBon39tpG+se5jMfYn1nGigp9fnr0KBzhesace7lvA+/yVLltg333wT93lRy4gGCPbr1y+kj13jBTRuQGgMgq71zTffrLL8AfkDVBsaWazMSYO5unXr5gZPJSKHZPeNtqxakfpLNbhMTco6hvpmNSAqHNWmNIpfItD5xo0b59d2dLytW7e6Udga9b127dqQ0f4eEyZMsB49evgjqmN9x1jnCz9OVe5jTcg/0dH+NZ2+8dIs0fsS6znROVatWuWOr3gVUFRwSeZa1KqggXZ6s0HjALw++HjPi0SvtwSC6N7rbQR1J+hZ1HiFSNeD/AH5A1QRMsxQ+fBDPzwbgPwByOAbEYj//6PWn2CtGwD5AyB/aMCo6V7N7suWLeNmAPIHAAAA5A8AAADIHwAAAJA/AAAAIH8AAABA/gAAAID8oSEwa9asmMuxto+3bXWeFwAA+QO8JPnrN9ZrQv7B4wIAIH+AKvDHH3+4CVL0gygLFy60devWuUlJHj165JYnTpzo/mp62OCyN4e5JH358mVbsGCBmwwmvOaviWI0iYomTdHc695kKZEKBloXft7gecS8efNCJlPR9nPnznWfda68vDybOXOm7dmzJ2bBQlOy6jvr2vLz8/3CRbT74aF1x44dc99XE8To+vQb7lrWPt71JnM9AADIH2qV7du3Oyl7aOpTTY6TaM1/+vTptnHjRl/IwXjNva4Z9h4+fOgkreOePXs2pvzjnVdTsRYUFPjrJeKff/7ZTWqjSV70E7eadU3XVFRUFPE7T5s2zU1T63HkyBE3OVAi90PfV1Pe6udjNYe6JpgpLCx0ccXFxbZ69Wr3OZnrAQBA/lCrqNYeRELTXOWJyn/SpEl248aNiPHhcfqsWnZV5K9pWb2pYYVq1ip4SK63bt3y16sm7wk9HM3ZHvwdfM365h0/3v2Q7H///Xd/+dtvv3WFGw/V8kUy1wMAgPyhVtFc6JomdeXKla6G+9NPP9mMGTMSln9ubm7UeNWww5kzZ05U+Sd6Xl1reXm5k+7SpUv9eDXJB8Py5csjfudYBY9498OTe7zrTOZ6AACQP9QqqomrP99DQg1KO578Yy2H1/xViw7W/L3+f69VQNsnclyNLdi3b59rrlfwatrhgwLVZJ+s/KvrfiRzPQAAyB9qFdVGJWVPdJJWsJk7vKabaM3Xq8nreDqumtlVk9YgOKFBdV7fuprytd3333+f0HnU375o0SJbsWKFG0sgdFzV2NW/Lg4ePOjGByQr/3j3I1H5J3M9AADIH2oV1bjVb+6NXletWsLToDaxc+dON1Jfg9kiLceSoZq6NcBPo/G1z8mTJ/3avprtNZLei1Nfu7b3iHceFR68wXVCx9XxJe/Fixfbtm3bXCEhWfnHux+Jyj+Z6wEAiMb/BcRRmn4M+gkIAAAAAElFTkSuQmCC"/>
          <p:cNvSpPr>
            <a:spLocks noChangeAspect="1" noChangeArrowheads="1"/>
          </p:cNvSpPr>
          <p:nvPr userDrawn="1"/>
        </p:nvSpPr>
        <p:spPr bwMode="auto">
          <a:xfrm>
            <a:off x="155575" y="-1233488"/>
            <a:ext cx="4867275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dirty="0"/>
          </a:p>
        </p:txBody>
      </p:sp>
      <p:sp>
        <p:nvSpPr>
          <p:cNvPr id="9" name="Pentagon 8"/>
          <p:cNvSpPr/>
          <p:nvPr userDrawn="1"/>
        </p:nvSpPr>
        <p:spPr>
          <a:xfrm>
            <a:off x="88638" y="86887"/>
            <a:ext cx="3702312" cy="545841"/>
          </a:xfrm>
          <a:prstGeom prst="homePlate">
            <a:avLst/>
          </a:prstGeom>
          <a:solidFill>
            <a:srgbClr val="01244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72414" y="1012384"/>
            <a:ext cx="11059862" cy="47352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34201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arning 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10"/>
          <p:cNvSpPr>
            <a:spLocks noGrp="1"/>
          </p:cNvSpPr>
          <p:nvPr>
            <p:ph sz="half" idx="1"/>
          </p:nvPr>
        </p:nvSpPr>
        <p:spPr>
          <a:xfrm>
            <a:off x="838200" y="877084"/>
            <a:ext cx="10515600" cy="2285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half" idx="2"/>
          </p:nvPr>
        </p:nvSpPr>
        <p:spPr>
          <a:xfrm>
            <a:off x="838200" y="3879590"/>
            <a:ext cx="10515600" cy="249963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0" cap="flat" cmpd="sng">
            <a:gradFill>
              <a:gsLst>
                <a:gs pos="100000">
                  <a:srgbClr val="01244E"/>
                </a:gs>
                <a:gs pos="0">
                  <a:srgbClr val="94B5E0"/>
                </a:gs>
              </a:gsLst>
              <a:lin ang="5400000" scaled="0"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014" y="5747656"/>
            <a:ext cx="975044" cy="975044"/>
          </a:xfrm>
          <a:prstGeom prst="rect">
            <a:avLst/>
          </a:prstGeom>
        </p:spPr>
      </p:pic>
      <p:sp>
        <p:nvSpPr>
          <p:cNvPr id="14" name="Pentagon 13"/>
          <p:cNvSpPr/>
          <p:nvPr userDrawn="1"/>
        </p:nvSpPr>
        <p:spPr>
          <a:xfrm>
            <a:off x="88638" y="86887"/>
            <a:ext cx="3561981" cy="545841"/>
          </a:xfrm>
          <a:prstGeom prst="homePlate">
            <a:avLst/>
          </a:prstGeom>
          <a:solidFill>
            <a:srgbClr val="01244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 smtClean="0"/>
              <a:t>Learning Objective</a:t>
            </a:r>
            <a:endParaRPr lang="en-AU" sz="3200" dirty="0"/>
          </a:p>
        </p:txBody>
      </p:sp>
      <p:sp>
        <p:nvSpPr>
          <p:cNvPr id="15" name="Pentagon 14"/>
          <p:cNvSpPr/>
          <p:nvPr userDrawn="1"/>
        </p:nvSpPr>
        <p:spPr>
          <a:xfrm>
            <a:off x="88639" y="3248025"/>
            <a:ext cx="2978412" cy="545841"/>
          </a:xfrm>
          <a:prstGeom prst="homePlate">
            <a:avLst/>
          </a:prstGeom>
          <a:solidFill>
            <a:srgbClr val="01244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 smtClean="0"/>
              <a:t>Success Criteria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42714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0F988-10B1-4607-A046-66BAD8364AB7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AB0E1-AC7D-46F6-82BB-EFB1172A82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730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be able to sketch quadratic equations using transformations.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38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948" y="82302"/>
            <a:ext cx="367948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/>
              <p:cNvSpPr txBox="1">
                <a:spLocks/>
              </p:cNvSpPr>
              <p:nvPr/>
            </p:nvSpPr>
            <p:spPr>
              <a:xfrm>
                <a:off x="103948" y="776390"/>
                <a:ext cx="10091502" cy="5505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4400" b="1" dirty="0" smtClean="0"/>
                  <a:t>Sketch the graph of the following equation </a:t>
                </a:r>
                <a14:m>
                  <m:oMath xmlns:m="http://schemas.openxmlformats.org/officeDocument/2006/math"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4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4400" b="1" dirty="0" smtClean="0"/>
                  <a:t>for </a:t>
                </a:r>
                <a14:m>
                  <m:oMath xmlns:m="http://schemas.openxmlformats.org/officeDocument/2006/math">
                    <m:r>
                      <a:rPr lang="en-AU" sz="4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44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endParaRPr lang="en-AU" sz="4400" b="1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i="1" dirty="0" smtClean="0"/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Substitute each number into the equation to find the points we need. </a:t>
                </a: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48" y="776390"/>
                <a:ext cx="10091502" cy="5505613"/>
              </a:xfrm>
              <a:prstGeom prst="rect">
                <a:avLst/>
              </a:prstGeom>
              <a:blipFill>
                <a:blip r:embed="rId2"/>
                <a:stretch>
                  <a:fillRect l="-2417" t="-3429" r="-33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14"/>
          <p:cNvGraphicFramePr>
            <a:graphicFrameLocks noGrp="1"/>
          </p:cNvGraphicFramePr>
          <p:nvPr>
            <p:extLst/>
          </p:nvPr>
        </p:nvGraphicFramePr>
        <p:xfrm>
          <a:off x="284738" y="5489915"/>
          <a:ext cx="8352925" cy="1158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9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AU" sz="3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-3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-2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-1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0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1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2</a:t>
                      </a:r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3200" b="1" dirty="0" smtClean="0">
                          <a:solidFill>
                            <a:schemeClr val="bg1"/>
                          </a:solidFill>
                        </a:rPr>
                        <a:t>y</a:t>
                      </a:r>
                      <a:endParaRPr lang="en-AU" sz="3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557253" y="4841843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2924317" y="6139569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/>
          <p:cNvSpPr/>
          <p:nvPr/>
        </p:nvSpPr>
        <p:spPr>
          <a:xfrm>
            <a:off x="4106181" y="6137224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5253286" y="6104524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/>
          <p:cNvSpPr/>
          <p:nvPr/>
        </p:nvSpPr>
        <p:spPr>
          <a:xfrm>
            <a:off x="6516472" y="6175292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/>
          <p:cNvSpPr/>
          <p:nvPr/>
        </p:nvSpPr>
        <p:spPr>
          <a:xfrm>
            <a:off x="7585970" y="6126863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-2557529" y="2945956"/>
                <a:ext cx="8977745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r>
                  <a:rPr lang="en-AU" sz="2400" b="1" dirty="0" smtClean="0">
                    <a:solidFill>
                      <a:srgbClr val="C00000"/>
                    </a:solidFill>
                  </a:rPr>
                  <a:t>		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r>
                  <a:rPr lang="en-AU" sz="2400" b="1" dirty="0" smtClean="0">
                    <a:solidFill>
                      <a:srgbClr val="C00000"/>
                    </a:solidFill>
                  </a:rPr>
                  <a:t>                      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endParaRPr lang="en-AU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57529" y="2945956"/>
                <a:ext cx="8977745" cy="26776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64414" y="2917653"/>
                <a:ext cx="8977745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r>
                  <a:rPr lang="en-AU" sz="2400" b="1" dirty="0" smtClean="0">
                    <a:solidFill>
                      <a:srgbClr val="C00000"/>
                    </a:solidFill>
                  </a:rPr>
                  <a:t>		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r>
                  <a:rPr lang="en-AU" sz="2400" b="1" dirty="0" smtClean="0">
                    <a:solidFill>
                      <a:srgbClr val="C00000"/>
                    </a:solidFill>
                  </a:rPr>
                  <a:t>                      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endParaRPr lang="en-AU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414" y="2917653"/>
                <a:ext cx="8977745" cy="26776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148790" y="2879108"/>
                <a:ext cx="8977745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baseline="3000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ctrlP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AU" sz="2400" b="1" i="1" baseline="3000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r>
                  <a:rPr lang="en-AU" sz="2400" b="1" dirty="0" smtClean="0">
                    <a:solidFill>
                      <a:srgbClr val="C00000"/>
                    </a:solidFill>
                  </a:rPr>
                  <a:t>		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r>
                  <a:rPr lang="en-AU" sz="2400" b="1" dirty="0" smtClean="0">
                    <a:solidFill>
                      <a:srgbClr val="C00000"/>
                    </a:solidFill>
                  </a:rPr>
                  <a:t>                                             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endParaRPr lang="en-AU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790" y="2879108"/>
                <a:ext cx="8977745" cy="26776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/>
          <p:cNvGrpSpPr/>
          <p:nvPr/>
        </p:nvGrpSpPr>
        <p:grpSpPr>
          <a:xfrm>
            <a:off x="10113820" y="136668"/>
            <a:ext cx="1939635" cy="1283479"/>
            <a:chOff x="869182" y="3602071"/>
            <a:chExt cx="1826847" cy="407283"/>
          </a:xfrm>
        </p:grpSpPr>
        <p:sp>
          <p:nvSpPr>
            <p:cNvPr id="26" name="TextBox 25"/>
            <p:cNvSpPr txBox="1"/>
            <p:nvPr/>
          </p:nvSpPr>
          <p:spPr>
            <a:xfrm>
              <a:off x="869182" y="3602071"/>
              <a:ext cx="1826847" cy="97666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69182" y="3713914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did we do to find the value of y when x = -3?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0113819" y="1464823"/>
            <a:ext cx="1939635" cy="1283479"/>
            <a:chOff x="869182" y="3602071"/>
            <a:chExt cx="1826847" cy="407283"/>
          </a:xfrm>
        </p:grpSpPr>
        <p:sp>
          <p:nvSpPr>
            <p:cNvPr id="30" name="TextBox 29"/>
            <p:cNvSpPr txBox="1"/>
            <p:nvPr/>
          </p:nvSpPr>
          <p:spPr>
            <a:xfrm>
              <a:off x="869182" y="3602071"/>
              <a:ext cx="1826847" cy="97666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69182" y="3713914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did we do to find the value of y when x = -2?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1775103" y="6096868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518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2" grpId="1"/>
      <p:bldP spid="23" grpId="0"/>
      <p:bldP spid="23" grpId="1"/>
      <p:bldP spid="24" grpId="0"/>
      <p:bldP spid="24" grpId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51917" y="59083"/>
            <a:ext cx="1417791" cy="2562197"/>
            <a:chOff x="869182" y="3602071"/>
            <a:chExt cx="1826847" cy="407283"/>
          </a:xfrm>
        </p:grpSpPr>
        <p:sp>
          <p:nvSpPr>
            <p:cNvPr id="14" name="TextBox 13"/>
            <p:cNvSpPr txBox="1"/>
            <p:nvPr/>
          </p:nvSpPr>
          <p:spPr>
            <a:xfrm>
              <a:off x="869182" y="3602071"/>
              <a:ext cx="1826847" cy="97666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9182" y="3713914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Is this a maximum or minimum turning point?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1916" y="2700339"/>
            <a:ext cx="1417791" cy="2465436"/>
            <a:chOff x="869182" y="3602071"/>
            <a:chExt cx="1826847" cy="391902"/>
          </a:xfrm>
        </p:grpSpPr>
        <p:sp>
          <p:nvSpPr>
            <p:cNvPr id="18" name="TextBox 17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9182" y="3698533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At what x value is our line of symmetry?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7617854" y="2690014"/>
            <a:ext cx="4450002" cy="2677656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This quadratic relationship has a: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 smtClean="0"/>
              <a:t>Minimum TP at (0,3)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 smtClean="0"/>
              <a:t>Line/axis of symmetry x = </a:t>
            </a:r>
            <a:r>
              <a:rPr lang="en-AU" sz="2400" b="1" dirty="0"/>
              <a:t>0</a:t>
            </a:r>
            <a:endParaRPr lang="en-AU" sz="24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 smtClean="0"/>
              <a:t>x-</a:t>
            </a:r>
            <a:r>
              <a:rPr lang="en-AU" sz="2400" b="1" dirty="0" err="1" smtClean="0"/>
              <a:t>int</a:t>
            </a:r>
            <a:r>
              <a:rPr lang="en-AU" sz="2400" b="1" dirty="0" smtClean="0"/>
              <a:t>  (no x-intercept)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 smtClean="0"/>
              <a:t>y-</a:t>
            </a:r>
            <a:r>
              <a:rPr lang="en-AU" sz="2400" b="1" dirty="0" err="1" smtClean="0"/>
              <a:t>int</a:t>
            </a:r>
            <a:r>
              <a:rPr lang="en-AU" sz="2400" b="1" dirty="0" smtClean="0"/>
              <a:t> (0,3)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 smtClean="0"/>
              <a:t>From the graph, find x when </a:t>
            </a:r>
          </a:p>
          <a:p>
            <a:r>
              <a:rPr lang="en-AU" sz="2400" b="1" dirty="0"/>
              <a:t> </a:t>
            </a:r>
            <a:r>
              <a:rPr lang="en-AU" sz="2400" b="1" dirty="0" smtClean="0"/>
              <a:t>      y = 7: x = -2 , x = </a:t>
            </a:r>
            <a:r>
              <a:rPr lang="en-AU" sz="2400" b="1" dirty="0"/>
              <a:t>2</a:t>
            </a:r>
            <a:r>
              <a:rPr lang="en-AU" sz="2400" b="1" dirty="0" smtClean="0"/>
              <a:t>   </a:t>
            </a:r>
            <a:endParaRPr lang="en-AU" sz="2400" b="1" dirty="0"/>
          </a:p>
        </p:txBody>
      </p:sp>
      <p:grpSp>
        <p:nvGrpSpPr>
          <p:cNvPr id="20" name="Group 19"/>
          <p:cNvGrpSpPr/>
          <p:nvPr/>
        </p:nvGrpSpPr>
        <p:grpSpPr>
          <a:xfrm>
            <a:off x="10740044" y="53179"/>
            <a:ext cx="1417791" cy="2465436"/>
            <a:chOff x="869182" y="3602071"/>
            <a:chExt cx="1826847" cy="391902"/>
          </a:xfrm>
        </p:grpSpPr>
        <p:sp>
          <p:nvSpPr>
            <p:cNvPr id="21" name="TextBox 20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9182" y="3698533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Where is the turning point?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46" y="100414"/>
            <a:ext cx="6039093" cy="6237911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 flipV="1">
            <a:off x="2606043" y="2433462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/>
          <p:cNvSpPr/>
          <p:nvPr/>
        </p:nvSpPr>
        <p:spPr>
          <a:xfrm flipV="1">
            <a:off x="3573446" y="3847904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 flipV="1">
            <a:off x="4521233" y="4318725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/>
          <p:cNvSpPr/>
          <p:nvPr/>
        </p:nvSpPr>
        <p:spPr>
          <a:xfrm flipV="1">
            <a:off x="5451634" y="3858537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/>
          <p:cNvSpPr/>
          <p:nvPr/>
        </p:nvSpPr>
        <p:spPr>
          <a:xfrm flipV="1">
            <a:off x="6384033" y="2433461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/>
          <p:cNvSpPr/>
          <p:nvPr/>
        </p:nvSpPr>
        <p:spPr>
          <a:xfrm flipV="1">
            <a:off x="7332544" y="0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/>
          <p:cNvSpPr/>
          <p:nvPr/>
        </p:nvSpPr>
        <p:spPr>
          <a:xfrm flipV="1">
            <a:off x="1705708" y="0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6677542" y="776059"/>
          <a:ext cx="3925019" cy="92327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0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078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chemeClr val="bg1"/>
                          </a:solidFill>
                        </a:rPr>
                        <a:t>y</a:t>
                      </a:r>
                      <a:endParaRPr lang="en-AU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12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7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4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3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4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7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Freeform 23"/>
          <p:cNvSpPr/>
          <p:nvPr/>
        </p:nvSpPr>
        <p:spPr>
          <a:xfrm>
            <a:off x="1766325" y="79513"/>
            <a:ext cx="5622709" cy="4344857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120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/>
              <p:cNvSpPr txBox="1">
                <a:spLocks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AU" sz="4400" b="1" dirty="0" smtClean="0"/>
                  <a:t>Sketch the graph of the following equation </a:t>
                </a:r>
                <a14:m>
                  <m:oMath xmlns:m="http://schemas.openxmlformats.org/officeDocument/2006/math"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4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4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4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4400" b="1" dirty="0" smtClean="0"/>
                  <a:t>for </a:t>
                </a:r>
                <a14:m>
                  <m:oMath xmlns:m="http://schemas.openxmlformats.org/officeDocument/2006/math">
                    <m:r>
                      <a:rPr lang="en-AU" sz="4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44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endParaRPr lang="en-AU" sz="4400" b="1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i="1" dirty="0" smtClean="0"/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Substitute each number into the equation to find the points we need. </a:t>
                </a: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9" y="803564"/>
                <a:ext cx="10213594" cy="5505613"/>
              </a:xfrm>
              <a:prstGeom prst="rect">
                <a:avLst/>
              </a:prstGeom>
              <a:blipFill>
                <a:blip r:embed="rId2"/>
                <a:stretch>
                  <a:fillRect l="-2448" t="-3544" r="-20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/>
          <p:cNvGrpSpPr/>
          <p:nvPr/>
        </p:nvGrpSpPr>
        <p:grpSpPr>
          <a:xfrm>
            <a:off x="10113820" y="136668"/>
            <a:ext cx="1939635" cy="1283479"/>
            <a:chOff x="869182" y="3602071"/>
            <a:chExt cx="1826847" cy="407283"/>
          </a:xfrm>
        </p:grpSpPr>
        <p:sp>
          <p:nvSpPr>
            <p:cNvPr id="26" name="TextBox 25"/>
            <p:cNvSpPr txBox="1"/>
            <p:nvPr/>
          </p:nvSpPr>
          <p:spPr>
            <a:xfrm>
              <a:off x="869182" y="3602071"/>
              <a:ext cx="1826847" cy="97666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69182" y="3713914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did we do to find the value of y when x = -3?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0113819" y="1464823"/>
            <a:ext cx="1939635" cy="1283479"/>
            <a:chOff x="869182" y="3602071"/>
            <a:chExt cx="1826847" cy="407283"/>
          </a:xfrm>
        </p:grpSpPr>
        <p:sp>
          <p:nvSpPr>
            <p:cNvPr id="30" name="TextBox 29"/>
            <p:cNvSpPr txBox="1"/>
            <p:nvPr/>
          </p:nvSpPr>
          <p:spPr>
            <a:xfrm>
              <a:off x="869182" y="3602071"/>
              <a:ext cx="1826847" cy="97666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69182" y="3713914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did we do to find the value of y when x = -2?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8" name="Table 27"/>
          <p:cNvGraphicFramePr>
            <a:graphicFrameLocks noGrp="1"/>
          </p:cNvGraphicFramePr>
          <p:nvPr>
            <p:extLst/>
          </p:nvPr>
        </p:nvGraphicFramePr>
        <p:xfrm>
          <a:off x="188399" y="5613919"/>
          <a:ext cx="8352925" cy="1158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9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3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AU" sz="3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-3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-2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-1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0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1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2</a:t>
                      </a:r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algn="ctr"/>
                      <a:r>
                        <a:rPr lang="en-AU" sz="3200" b="1" dirty="0" smtClean="0">
                          <a:solidFill>
                            <a:schemeClr val="bg1"/>
                          </a:solidFill>
                        </a:rPr>
                        <a:t>y</a:t>
                      </a:r>
                      <a:endParaRPr lang="en-AU" sz="3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-6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1592795" y="6236248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Rectangle 32"/>
          <p:cNvSpPr/>
          <p:nvPr/>
        </p:nvSpPr>
        <p:spPr>
          <a:xfrm>
            <a:off x="2769592" y="6233991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Rectangle 33"/>
          <p:cNvSpPr/>
          <p:nvPr/>
        </p:nvSpPr>
        <p:spPr>
          <a:xfrm>
            <a:off x="5213140" y="6309660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5" name="Rectangle 34"/>
          <p:cNvSpPr/>
          <p:nvPr/>
        </p:nvSpPr>
        <p:spPr>
          <a:xfrm>
            <a:off x="6389937" y="6256751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Rectangle 35"/>
          <p:cNvSpPr/>
          <p:nvPr/>
        </p:nvSpPr>
        <p:spPr>
          <a:xfrm>
            <a:off x="7656688" y="6275488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Rectangle 36"/>
          <p:cNvSpPr/>
          <p:nvPr/>
        </p:nvSpPr>
        <p:spPr>
          <a:xfrm>
            <a:off x="3991366" y="6229640"/>
            <a:ext cx="79208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/>
          <p:cNvSpPr txBox="1"/>
          <p:nvPr/>
        </p:nvSpPr>
        <p:spPr>
          <a:xfrm>
            <a:off x="103948" y="82302"/>
            <a:ext cx="376978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991366" y="2963683"/>
                <a:ext cx="8977745" cy="310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endParaRPr lang="en-AU" sz="2400" b="1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sSup>
                        <m:sSupPr>
                          <m:ctrlP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sz="24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AU" sz="2400" b="1" dirty="0">
                          <a:solidFill>
                            <a:srgbClr val="C00000"/>
                          </a:solidFill>
                        </a:rPr>
                        <m:t>	</m:t>
                      </m:r>
                      <m:r>
                        <a:rPr lang="en-AU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d>
                        <m:dPr>
                          <m:ctrlPr>
                            <a:rPr lang="en-AU" sz="24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i="1" dirty="0" smtClean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400" b="1" dirty="0">
                  <a:solidFill>
                    <a:srgbClr val="C00000"/>
                  </a:solidFill>
                </a:endParaRPr>
              </a:p>
              <a:p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endParaRPr lang="en-AU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366" y="2963683"/>
                <a:ext cx="8977745" cy="31087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-2342147" y="2956571"/>
                <a:ext cx="8977745" cy="310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endParaRPr lang="en-AU" sz="2400" b="1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sSup>
                        <m:sSupPr>
                          <m:ctrlP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sz="24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e>
                        <m:sup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AU" sz="2400" b="1" dirty="0">
                          <a:solidFill>
                            <a:srgbClr val="C00000"/>
                          </a:solidFill>
                        </a:rPr>
                        <m:t>	</m:t>
                      </m:r>
                      <m:r>
                        <a:rPr lang="en-AU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d>
                        <m:dPr>
                          <m:ctrlPr>
                            <a:rPr lang="en-AU" sz="24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e>
                      </m:d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i="1" dirty="0" smtClean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2400" b="1" dirty="0">
                  <a:solidFill>
                    <a:srgbClr val="C00000"/>
                  </a:solidFill>
                </a:endParaRPr>
              </a:p>
              <a:p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endParaRPr lang="en-AU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42147" y="2956571"/>
                <a:ext cx="8977745" cy="31087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06323" y="2941345"/>
                <a:ext cx="8977745" cy="3108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endParaRPr lang="en-AU" sz="2400" b="1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=−</m:t>
                      </m:r>
                      <m:sSup>
                        <m:sSupPr>
                          <m:ctrlP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sz="24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  <m:sup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AU" sz="2400" b="1" dirty="0">
                          <a:solidFill>
                            <a:srgbClr val="C00000"/>
                          </a:solidFill>
                        </a:rPr>
                        <m:t>	</m:t>
                      </m:r>
                      <m:r>
                        <a:rPr lang="en-AU" sz="24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d>
                        <m:dPr>
                          <m:ctrlPr>
                            <a:rPr lang="en-AU" sz="24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i="1" dirty="0" smtClean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AU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2400" b="1" dirty="0">
                  <a:solidFill>
                    <a:srgbClr val="C00000"/>
                  </a:solidFill>
                </a:endParaRPr>
              </a:p>
              <a:p>
                <a:endParaRPr lang="en-AU" sz="2400" b="1" dirty="0" smtClean="0">
                  <a:solidFill>
                    <a:srgbClr val="C00000"/>
                  </a:solidFill>
                </a:endParaRPr>
              </a:p>
              <a:p>
                <a:endParaRPr lang="en-AU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323" y="2941345"/>
                <a:ext cx="8977745" cy="31087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103948" y="82302"/>
            <a:ext cx="367948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21495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17" grpId="0"/>
      <p:bldP spid="17" grpId="1"/>
      <p:bldP spid="18" grpId="0"/>
      <p:bldP spid="18" grpId="1"/>
      <p:bldP spid="20" grpId="0"/>
      <p:bldP spid="2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51917" y="59083"/>
            <a:ext cx="1417791" cy="2562197"/>
            <a:chOff x="869182" y="3602071"/>
            <a:chExt cx="1826847" cy="407283"/>
          </a:xfrm>
        </p:grpSpPr>
        <p:sp>
          <p:nvSpPr>
            <p:cNvPr id="14" name="TextBox 13"/>
            <p:cNvSpPr txBox="1"/>
            <p:nvPr/>
          </p:nvSpPr>
          <p:spPr>
            <a:xfrm>
              <a:off x="869182" y="3602071"/>
              <a:ext cx="1826847" cy="97666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69182" y="3713914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Is this a maximum or minimum turning point?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1916" y="2700339"/>
            <a:ext cx="1417791" cy="2465436"/>
            <a:chOff x="869182" y="3602071"/>
            <a:chExt cx="1826847" cy="391902"/>
          </a:xfrm>
        </p:grpSpPr>
        <p:sp>
          <p:nvSpPr>
            <p:cNvPr id="18" name="TextBox 17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69182" y="3698533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At what x value is our line of symmetry?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7617854" y="2690014"/>
            <a:ext cx="4450002" cy="1938992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This quadratic relationship has a: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 smtClean="0"/>
              <a:t>Maximum TP at (0,3)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 smtClean="0"/>
              <a:t>Line/axis of symmetry x = </a:t>
            </a:r>
            <a:r>
              <a:rPr lang="en-AU" sz="2400" b="1" dirty="0"/>
              <a:t>0</a:t>
            </a:r>
            <a:endParaRPr lang="en-AU" sz="24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 smtClean="0"/>
              <a:t>x-</a:t>
            </a:r>
            <a:r>
              <a:rPr lang="en-AU" sz="2400" b="1" dirty="0" err="1" smtClean="0"/>
              <a:t>int</a:t>
            </a:r>
            <a:r>
              <a:rPr lang="en-AU" sz="2400" b="1" dirty="0" smtClean="0"/>
              <a:t>  (</a:t>
            </a:r>
            <a:r>
              <a:rPr lang="en-AU" sz="2400" b="1" dirty="0"/>
              <a:t>2</a:t>
            </a:r>
            <a:r>
              <a:rPr lang="en-AU" sz="2400" b="1" dirty="0" smtClean="0"/>
              <a:t> x-intercepts)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b="1" dirty="0" smtClean="0"/>
              <a:t>y-</a:t>
            </a:r>
            <a:r>
              <a:rPr lang="en-AU" sz="2400" b="1" dirty="0" err="1" smtClean="0"/>
              <a:t>int</a:t>
            </a:r>
            <a:r>
              <a:rPr lang="en-AU" sz="2400" b="1" dirty="0" smtClean="0"/>
              <a:t> (0,3)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0740044" y="53179"/>
            <a:ext cx="1417791" cy="2465436"/>
            <a:chOff x="869182" y="3602071"/>
            <a:chExt cx="1826847" cy="391902"/>
          </a:xfrm>
        </p:grpSpPr>
        <p:sp>
          <p:nvSpPr>
            <p:cNvPr id="21" name="TextBox 20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9182" y="3698533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Where is the turning point?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46" y="100414"/>
            <a:ext cx="6039093" cy="6237911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 flipV="1">
            <a:off x="2641298" y="6378412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 flipV="1">
            <a:off x="3593456" y="4860831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/>
          <p:cNvSpPr/>
          <p:nvPr/>
        </p:nvSpPr>
        <p:spPr>
          <a:xfrm flipV="1">
            <a:off x="4512776" y="4352903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/>
          <p:cNvSpPr/>
          <p:nvPr/>
        </p:nvSpPr>
        <p:spPr>
          <a:xfrm flipV="1">
            <a:off x="5461639" y="4840707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/>
          <p:cNvSpPr/>
          <p:nvPr/>
        </p:nvSpPr>
        <p:spPr>
          <a:xfrm flipV="1">
            <a:off x="6425184" y="6367887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6118300" y="248289"/>
          <a:ext cx="3925019" cy="92327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0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0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8087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-1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078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 smtClean="0">
                          <a:solidFill>
                            <a:schemeClr val="bg1"/>
                          </a:solidFill>
                        </a:rPr>
                        <a:t>y</a:t>
                      </a:r>
                      <a:endParaRPr lang="en-AU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-6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-1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2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3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2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-1</a:t>
                      </a:r>
                      <a:endParaRPr lang="en-AU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Freeform 23"/>
          <p:cNvSpPr/>
          <p:nvPr/>
        </p:nvSpPr>
        <p:spPr>
          <a:xfrm flipV="1">
            <a:off x="2703443" y="4407293"/>
            <a:ext cx="3788229" cy="2021903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4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202095" y="792480"/>
            <a:ext cx="9509855" cy="23698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Today I </a:t>
            </a:r>
            <a:r>
              <a:rPr lang="en-AU" sz="2400" dirty="0" smtClean="0"/>
              <a:t>will:</a:t>
            </a:r>
          </a:p>
          <a:p>
            <a:r>
              <a:rPr lang="en-AU" sz="2400" dirty="0" smtClean="0"/>
              <a:t>Graph a quadratic relationship</a:t>
            </a:r>
          </a:p>
          <a:p>
            <a:r>
              <a:rPr lang="en-AU" sz="2400" dirty="0" smtClean="0"/>
              <a:t>Explain simple transformations</a:t>
            </a:r>
          </a:p>
          <a:p>
            <a:r>
              <a:rPr lang="en-AU" sz="2400" dirty="0" smtClean="0"/>
              <a:t>Sketch quadratic equations from simple transformations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2"/>
              </p:nvPr>
            </p:nvSpPr>
            <p:spPr>
              <a:xfrm>
                <a:off x="202095" y="3902308"/>
                <a:ext cx="9509855" cy="27866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sz="2400" dirty="0" smtClean="0"/>
                  <a:t>I will be able to:</a:t>
                </a:r>
              </a:p>
              <a:p>
                <a:r>
                  <a:rPr lang="en-AU" dirty="0" smtClean="0"/>
                  <a:t>Graph quadratic relationships</a:t>
                </a:r>
              </a:p>
              <a:p>
                <a:r>
                  <a:rPr lang="en-AU" dirty="0" smtClean="0"/>
                  <a:t>Explain transformations in the form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Sketch quadratics using basic transformations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202095" y="3902308"/>
                <a:ext cx="9509855" cy="2786667"/>
              </a:xfrm>
              <a:blipFill>
                <a:blip r:embed="rId2"/>
                <a:stretch>
                  <a:fillRect l="-1154" t="-30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9906630" y="159794"/>
            <a:ext cx="2035630" cy="971026"/>
            <a:chOff x="660399" y="3602071"/>
            <a:chExt cx="2035630" cy="971026"/>
          </a:xfrm>
        </p:grpSpPr>
        <p:sp>
          <p:nvSpPr>
            <p:cNvPr id="5" name="TextBox 4"/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will we learn today?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9906628" y="2332185"/>
            <a:ext cx="2035630" cy="971026"/>
            <a:chOff x="660399" y="3602071"/>
            <a:chExt cx="2035630" cy="971026"/>
          </a:xfrm>
        </p:grpSpPr>
        <p:sp>
          <p:nvSpPr>
            <p:cNvPr id="11" name="TextBox 10"/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will we learn today?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906627" y="3418179"/>
            <a:ext cx="2036140" cy="1095254"/>
            <a:chOff x="743320" y="2782415"/>
            <a:chExt cx="2036140" cy="927795"/>
          </a:xfrm>
        </p:grpSpPr>
        <p:sp>
          <p:nvSpPr>
            <p:cNvPr id="14" name="TextBox 13"/>
            <p:cNvSpPr txBox="1"/>
            <p:nvPr/>
          </p:nvSpPr>
          <p:spPr>
            <a:xfrm>
              <a:off x="743831" y="2782415"/>
              <a:ext cx="2035629" cy="26072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4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43320" y="3069074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will you know that you are successful?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906627" y="1245674"/>
            <a:ext cx="2035630" cy="973967"/>
            <a:chOff x="507997" y="3521638"/>
            <a:chExt cx="2035630" cy="973967"/>
          </a:xfrm>
        </p:grpSpPr>
        <p:sp>
          <p:nvSpPr>
            <p:cNvPr id="17" name="TextBox 16"/>
            <p:cNvSpPr txBox="1"/>
            <p:nvPr/>
          </p:nvSpPr>
          <p:spPr>
            <a:xfrm>
              <a:off x="507997" y="3521638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07998" y="3854469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will we learn today?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10587316" y="5755457"/>
            <a:ext cx="1492623" cy="980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19" name="Group 18"/>
          <p:cNvGrpSpPr/>
          <p:nvPr/>
        </p:nvGrpSpPr>
        <p:grpSpPr>
          <a:xfrm>
            <a:off x="9906626" y="4611106"/>
            <a:ext cx="2035630" cy="1113665"/>
            <a:chOff x="660398" y="3629705"/>
            <a:chExt cx="2035630" cy="943392"/>
          </a:xfrm>
        </p:grpSpPr>
        <p:sp>
          <p:nvSpPr>
            <p:cNvPr id="20" name="TextBox 19"/>
            <p:cNvSpPr txBox="1"/>
            <p:nvPr/>
          </p:nvSpPr>
          <p:spPr>
            <a:xfrm>
              <a:off x="660398" y="3629705"/>
              <a:ext cx="2035629" cy="26072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5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will you know that you are successful?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863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948" y="82302"/>
            <a:ext cx="5110904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2"/>
              <p:cNvSpPr txBox="1">
                <a:spLocks/>
              </p:cNvSpPr>
              <p:nvPr/>
            </p:nvSpPr>
            <p:spPr>
              <a:xfrm>
                <a:off x="103948" y="776390"/>
                <a:ext cx="10091502" cy="5505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4400" b="1" dirty="0" smtClean="0"/>
                  <a:t>Sketch the graph of the following equation </a:t>
                </a:r>
                <a14:m>
                  <m:oMath xmlns:m="http://schemas.openxmlformats.org/officeDocument/2006/math"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4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4400" b="1" dirty="0" smtClean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AU" sz="4400" b="1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AU" sz="4400" b="1" dirty="0" smtClean="0">
                    <a:solidFill>
                      <a:srgbClr val="FF000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AU" sz="4400" b="1" dirty="0" smtClean="0"/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4400" b="1" dirty="0" smtClean="0"/>
                  <a:t>for </a:t>
                </a:r>
                <a14:m>
                  <m:oMath xmlns:m="http://schemas.openxmlformats.org/officeDocument/2006/math">
                    <m:r>
                      <a:rPr lang="en-AU" sz="4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44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endParaRPr lang="en-AU" sz="2400" i="1" dirty="0" smtClean="0"/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Substitute each number into the equation to find the points we need. </a:t>
                </a: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48" y="776390"/>
                <a:ext cx="10091502" cy="5505613"/>
              </a:xfrm>
              <a:prstGeom prst="rect">
                <a:avLst/>
              </a:prstGeom>
              <a:blipFill>
                <a:blip r:embed="rId2"/>
                <a:stretch>
                  <a:fillRect l="-2417" t="-3429" r="-33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5212022"/>
                  </p:ext>
                </p:extLst>
              </p:nvPr>
            </p:nvGraphicFramePr>
            <p:xfrm>
              <a:off x="391908" y="3226679"/>
              <a:ext cx="10732544" cy="273912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3415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415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415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4156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4156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4156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41568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41568">
                      <a:extLst>
                        <a:ext uri="{9D8B030D-6E8A-4147-A177-3AD203B41FA5}">
                          <a16:colId xmlns:a16="http://schemas.microsoft.com/office/drawing/2014/main" val="1964671711"/>
                        </a:ext>
                      </a:extLst>
                    </a:gridCol>
                  </a:tblGrid>
                  <a:tr h="540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 smtClean="0">
                              <a:solidFill>
                                <a:schemeClr val="bg1"/>
                              </a:solidFill>
                            </a:rPr>
                            <a:t>x</a:t>
                          </a:r>
                          <a:endParaRPr lang="en-AU" sz="3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-3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-2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-1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2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3</a:t>
                          </a:r>
                          <a:endParaRPr lang="en-AU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3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AU" sz="3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AU" sz="3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AU" sz="3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6403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AU" sz="3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AU" sz="32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AU" sz="3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-2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-3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-2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0334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5212022"/>
                  </p:ext>
                </p:extLst>
              </p:nvPr>
            </p:nvGraphicFramePr>
            <p:xfrm>
              <a:off x="391908" y="3226679"/>
              <a:ext cx="10732544" cy="273912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3415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415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415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4156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4156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4156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41568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41568">
                      <a:extLst>
                        <a:ext uri="{9D8B030D-6E8A-4147-A177-3AD203B41FA5}">
                          <a16:colId xmlns:a16="http://schemas.microsoft.com/office/drawing/2014/main" val="1964671711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 smtClean="0">
                              <a:solidFill>
                                <a:schemeClr val="bg1"/>
                              </a:solidFill>
                            </a:rPr>
                            <a:t>x</a:t>
                          </a:r>
                          <a:endParaRPr lang="en-AU" sz="3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-3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-2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-1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2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3</a:t>
                          </a:r>
                          <a:endParaRPr lang="en-AU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55" t="-91525" r="-701364" b="-2093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55" t="-189916" r="-701364" b="-107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6403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55" t="-292373" r="-701364" b="-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-2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-3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-2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03345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5" name="Group 24"/>
          <p:cNvGrpSpPr/>
          <p:nvPr/>
        </p:nvGrpSpPr>
        <p:grpSpPr>
          <a:xfrm>
            <a:off x="10113820" y="136668"/>
            <a:ext cx="1939635" cy="1283479"/>
            <a:chOff x="869182" y="3602071"/>
            <a:chExt cx="1826847" cy="407283"/>
          </a:xfrm>
        </p:grpSpPr>
        <p:sp>
          <p:nvSpPr>
            <p:cNvPr id="26" name="TextBox 25"/>
            <p:cNvSpPr txBox="1"/>
            <p:nvPr/>
          </p:nvSpPr>
          <p:spPr>
            <a:xfrm>
              <a:off x="869182" y="3602071"/>
              <a:ext cx="1826847" cy="97666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69182" y="3713914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did we do to find the value of y when x = -3?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0113819" y="1464823"/>
            <a:ext cx="1939635" cy="1283479"/>
            <a:chOff x="869182" y="3602071"/>
            <a:chExt cx="1826847" cy="407283"/>
          </a:xfrm>
        </p:grpSpPr>
        <p:sp>
          <p:nvSpPr>
            <p:cNvPr id="30" name="TextBox 29"/>
            <p:cNvSpPr txBox="1"/>
            <p:nvPr/>
          </p:nvSpPr>
          <p:spPr>
            <a:xfrm>
              <a:off x="869182" y="3602071"/>
              <a:ext cx="1826847" cy="97666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69182" y="3713914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did we do to find the value of y when x = -2?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078698" y="3941575"/>
            <a:ext cx="894521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2202701" y="4630544"/>
            <a:ext cx="87473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2154822" y="5319514"/>
            <a:ext cx="88690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9663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2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574" y="0"/>
            <a:ext cx="7343394" cy="645395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10740044" y="53177"/>
            <a:ext cx="1417791" cy="1518673"/>
            <a:chOff x="869182" y="3602071"/>
            <a:chExt cx="1826847" cy="241406"/>
          </a:xfrm>
        </p:grpSpPr>
        <p:sp>
          <p:nvSpPr>
            <p:cNvPr id="21" name="TextBox 20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869182" y="3698533"/>
                  <a:ext cx="1826846" cy="144944"/>
                </a:xfrm>
                <a:prstGeom prst="rect">
                  <a:avLst/>
                </a:prstGeom>
                <a:solidFill>
                  <a:srgbClr val="163B68">
                    <a:alpha val="60000"/>
                  </a:srgbClr>
                </a:solidFill>
                <a:ln>
                  <a:solidFill>
                    <a:srgbClr val="005C4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 smtClean="0">
                      <a:solidFill>
                        <a:schemeClr val="tx1"/>
                      </a:solidFill>
                    </a:rPr>
                    <a:t>Where is the turning point of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</m:oMath>
                  </a14:m>
                  <a:r>
                    <a:rPr lang="en-AU" dirty="0" smtClean="0">
                      <a:solidFill>
                        <a:schemeClr val="tx1"/>
                      </a:solidFill>
                    </a:rPr>
                    <a:t>?</a:t>
                  </a:r>
                  <a:endParaRPr lang="en-AU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182" y="3698533"/>
                  <a:ext cx="1826846" cy="144944"/>
                </a:xfrm>
                <a:prstGeom prst="rect">
                  <a:avLst/>
                </a:prstGeom>
                <a:blipFill>
                  <a:blip r:embed="rId3"/>
                  <a:stretch>
                    <a:fillRect l="-3419" t="-2632" r="-5983" b="-9868"/>
                  </a:stretch>
                </a:blipFill>
                <a:ln>
                  <a:solidFill>
                    <a:srgbClr val="005C41"/>
                  </a:solidFill>
                </a:ln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Oval 3"/>
          <p:cNvSpPr/>
          <p:nvPr/>
        </p:nvSpPr>
        <p:spPr>
          <a:xfrm flipV="1">
            <a:off x="3077757" y="2753514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/>
          <p:cNvSpPr/>
          <p:nvPr/>
        </p:nvSpPr>
        <p:spPr>
          <a:xfrm flipV="1">
            <a:off x="4107103" y="4162619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 flipV="1">
            <a:off x="5057283" y="4625993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/>
          <p:cNvSpPr/>
          <p:nvPr/>
        </p:nvSpPr>
        <p:spPr>
          <a:xfrm flipV="1">
            <a:off x="6127663" y="4145685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/>
          <p:cNvSpPr/>
          <p:nvPr/>
        </p:nvSpPr>
        <p:spPr>
          <a:xfrm flipV="1">
            <a:off x="7058947" y="2722495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/>
          <p:cNvSpPr/>
          <p:nvPr/>
        </p:nvSpPr>
        <p:spPr>
          <a:xfrm flipV="1">
            <a:off x="8089295" y="371612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/>
          <p:cNvSpPr/>
          <p:nvPr/>
        </p:nvSpPr>
        <p:spPr>
          <a:xfrm flipV="1">
            <a:off x="2078824" y="366289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Freeform 23"/>
          <p:cNvSpPr/>
          <p:nvPr/>
        </p:nvSpPr>
        <p:spPr>
          <a:xfrm>
            <a:off x="2155371" y="428171"/>
            <a:ext cx="5994399" cy="4281715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6173625"/>
                  </p:ext>
                </p:extLst>
              </p:nvPr>
            </p:nvGraphicFramePr>
            <p:xfrm>
              <a:off x="8165141" y="3702246"/>
              <a:ext cx="3983814" cy="148152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9598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96467171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>
                              <a:solidFill>
                                <a:schemeClr val="bg1"/>
                              </a:solidFill>
                            </a:rPr>
                            <a:t>x</a:t>
                          </a:r>
                          <a:endParaRPr lang="en-AU" sz="1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-3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-2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-1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0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1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2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3</a:t>
                          </a:r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1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AU" sz="18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AU" sz="18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AU" sz="1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7030A0"/>
                              </a:solidFill>
                            </a:rPr>
                            <a:t>11</a:t>
                          </a:r>
                          <a:endParaRPr lang="en-AU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7030A0"/>
                              </a:solidFill>
                            </a:rPr>
                            <a:t>6</a:t>
                          </a:r>
                          <a:endParaRPr lang="en-AU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7030A0"/>
                              </a:solidFill>
                            </a:rPr>
                            <a:t>3</a:t>
                          </a:r>
                          <a:endParaRPr lang="en-AU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7030A0"/>
                              </a:solidFill>
                            </a:rPr>
                            <a:t>2</a:t>
                          </a:r>
                          <a:endParaRPr lang="en-AU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7030A0"/>
                              </a:solidFill>
                            </a:rPr>
                            <a:t>3</a:t>
                          </a:r>
                          <a:endParaRPr lang="en-AU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7030A0"/>
                              </a:solidFill>
                            </a:rPr>
                            <a:t>6</a:t>
                          </a:r>
                          <a:endParaRPr lang="en-AU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7030A0"/>
                              </a:solidFill>
                            </a:rPr>
                            <a:t>11</a:t>
                          </a:r>
                          <a:endParaRPr lang="en-AU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6403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AU" sz="18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AU" sz="18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AU" sz="1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6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-2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-3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-2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6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0334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6173625"/>
                  </p:ext>
                </p:extLst>
              </p:nvPr>
            </p:nvGraphicFramePr>
            <p:xfrm>
              <a:off x="8165141" y="3702246"/>
              <a:ext cx="3983814" cy="148152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9598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96467171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>
                              <a:solidFill>
                                <a:schemeClr val="bg1"/>
                              </a:solidFill>
                            </a:rPr>
                            <a:t>x</a:t>
                          </a:r>
                          <a:endParaRPr lang="en-AU" sz="1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-3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-2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-1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0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1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2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3</a:t>
                          </a:r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33" t="-106557" r="-315823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33" t="-203226" r="-315823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7030A0"/>
                              </a:solidFill>
                            </a:rPr>
                            <a:t>11</a:t>
                          </a:r>
                          <a:endParaRPr lang="en-AU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7030A0"/>
                              </a:solidFill>
                            </a:rPr>
                            <a:t>6</a:t>
                          </a:r>
                          <a:endParaRPr lang="en-AU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7030A0"/>
                              </a:solidFill>
                            </a:rPr>
                            <a:t>3</a:t>
                          </a:r>
                          <a:endParaRPr lang="en-AU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7030A0"/>
                              </a:solidFill>
                            </a:rPr>
                            <a:t>2</a:t>
                          </a:r>
                          <a:endParaRPr lang="en-AU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7030A0"/>
                              </a:solidFill>
                            </a:rPr>
                            <a:t>3</a:t>
                          </a:r>
                          <a:endParaRPr lang="en-AU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7030A0"/>
                              </a:solidFill>
                            </a:rPr>
                            <a:t>6</a:t>
                          </a:r>
                          <a:endParaRPr lang="en-AU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7030A0"/>
                              </a:solidFill>
                            </a:rPr>
                            <a:t>11</a:t>
                          </a:r>
                          <a:endParaRPr lang="en-AU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64039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33" t="-308197" r="-315823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6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-2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-3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-2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6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0334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Oval 24"/>
          <p:cNvSpPr/>
          <p:nvPr/>
        </p:nvSpPr>
        <p:spPr>
          <a:xfrm flipV="1">
            <a:off x="3077757" y="1812351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Oval 25"/>
          <p:cNvSpPr/>
          <p:nvPr/>
        </p:nvSpPr>
        <p:spPr>
          <a:xfrm flipV="1">
            <a:off x="4107103" y="3221456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Oval 26"/>
          <p:cNvSpPr/>
          <p:nvPr/>
        </p:nvSpPr>
        <p:spPr>
          <a:xfrm flipV="1">
            <a:off x="5057283" y="3684830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Oval 27"/>
          <p:cNvSpPr/>
          <p:nvPr/>
        </p:nvSpPr>
        <p:spPr>
          <a:xfrm flipV="1">
            <a:off x="6127663" y="3204522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Oval 28"/>
          <p:cNvSpPr/>
          <p:nvPr/>
        </p:nvSpPr>
        <p:spPr>
          <a:xfrm flipV="1">
            <a:off x="7058947" y="1781332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Freeform 31"/>
          <p:cNvSpPr/>
          <p:nvPr/>
        </p:nvSpPr>
        <p:spPr>
          <a:xfrm>
            <a:off x="2155371" y="-512992"/>
            <a:ext cx="5994399" cy="4281715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9" name="Oval 48"/>
          <p:cNvSpPr/>
          <p:nvPr/>
        </p:nvSpPr>
        <p:spPr>
          <a:xfrm flipV="1">
            <a:off x="3096729" y="4168557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Oval 49"/>
          <p:cNvSpPr/>
          <p:nvPr/>
        </p:nvSpPr>
        <p:spPr>
          <a:xfrm flipV="1">
            <a:off x="4126075" y="5577662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Oval 50"/>
          <p:cNvSpPr/>
          <p:nvPr/>
        </p:nvSpPr>
        <p:spPr>
          <a:xfrm flipV="1">
            <a:off x="5076255" y="6041036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2" name="Oval 51"/>
          <p:cNvSpPr/>
          <p:nvPr/>
        </p:nvSpPr>
        <p:spPr>
          <a:xfrm flipV="1">
            <a:off x="6146635" y="5560728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Oval 52"/>
          <p:cNvSpPr/>
          <p:nvPr/>
        </p:nvSpPr>
        <p:spPr>
          <a:xfrm flipV="1">
            <a:off x="7077919" y="4137538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4" name="Oval 53"/>
          <p:cNvSpPr/>
          <p:nvPr/>
        </p:nvSpPr>
        <p:spPr>
          <a:xfrm flipV="1">
            <a:off x="8108267" y="1786655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5" name="Oval 54"/>
          <p:cNvSpPr/>
          <p:nvPr/>
        </p:nvSpPr>
        <p:spPr>
          <a:xfrm flipV="1">
            <a:off x="2097796" y="1781332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6" name="Freeform 55"/>
          <p:cNvSpPr/>
          <p:nvPr/>
        </p:nvSpPr>
        <p:spPr>
          <a:xfrm>
            <a:off x="2174343" y="1843214"/>
            <a:ext cx="5994399" cy="4281715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7" name="Straight Arrow Connector 56"/>
          <p:cNvCxnSpPr/>
          <p:nvPr/>
        </p:nvCxnSpPr>
        <p:spPr>
          <a:xfrm flipV="1">
            <a:off x="3149648" y="1951637"/>
            <a:ext cx="0" cy="82074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4187420" y="3341879"/>
            <a:ext cx="0" cy="82074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V="1">
            <a:off x="5194090" y="3811583"/>
            <a:ext cx="0" cy="82074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V="1">
            <a:off x="6220928" y="3324945"/>
            <a:ext cx="0" cy="82074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V="1">
            <a:off x="7141077" y="1932774"/>
            <a:ext cx="0" cy="82074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2136399" y="478971"/>
            <a:ext cx="12211" cy="133338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3159456" y="2974463"/>
            <a:ext cx="12211" cy="133338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4168060" y="4329434"/>
            <a:ext cx="12211" cy="133338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5119766" y="4783568"/>
            <a:ext cx="12211" cy="133338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6251597" y="4281715"/>
            <a:ext cx="12211" cy="133338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7180075" y="2949359"/>
            <a:ext cx="12211" cy="133338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8181866" y="536594"/>
            <a:ext cx="12211" cy="133338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/>
          <p:cNvGrpSpPr/>
          <p:nvPr/>
        </p:nvGrpSpPr>
        <p:grpSpPr>
          <a:xfrm>
            <a:off x="10759359" y="1655470"/>
            <a:ext cx="1417791" cy="1518673"/>
            <a:chOff x="869182" y="3602071"/>
            <a:chExt cx="1826847" cy="241406"/>
          </a:xfrm>
        </p:grpSpPr>
        <p:sp>
          <p:nvSpPr>
            <p:cNvPr id="48" name="TextBox 47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/>
                <p:cNvSpPr/>
                <p:nvPr/>
              </p:nvSpPr>
              <p:spPr>
                <a:xfrm>
                  <a:off x="869182" y="3698533"/>
                  <a:ext cx="1826846" cy="144944"/>
                </a:xfrm>
                <a:prstGeom prst="rect">
                  <a:avLst/>
                </a:prstGeom>
                <a:solidFill>
                  <a:srgbClr val="163B68">
                    <a:alpha val="60000"/>
                  </a:srgbClr>
                </a:solidFill>
                <a:ln>
                  <a:solidFill>
                    <a:srgbClr val="005C4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 smtClean="0">
                      <a:solidFill>
                        <a:schemeClr val="tx1"/>
                      </a:solidFill>
                    </a:rPr>
                    <a:t>Where is the turning point of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</m:oMath>
                  </a14:m>
                  <a:r>
                    <a:rPr lang="en-AU" dirty="0" smtClean="0">
                      <a:solidFill>
                        <a:schemeClr val="tx1"/>
                      </a:solidFill>
                    </a:rPr>
                    <a:t>?</a:t>
                  </a:r>
                  <a:endParaRPr lang="en-AU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182" y="3698533"/>
                  <a:ext cx="1826846" cy="144944"/>
                </a:xfrm>
                <a:prstGeom prst="rect">
                  <a:avLst/>
                </a:prstGeom>
                <a:blipFill>
                  <a:blip r:embed="rId5"/>
                  <a:stretch>
                    <a:fillRect l="-2979" t="-3289" r="-5957" b="-9868"/>
                  </a:stretch>
                </a:blipFill>
                <a:ln>
                  <a:solidFill>
                    <a:srgbClr val="005C41"/>
                  </a:solidFill>
                </a:ln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12630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4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4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 txBox="1">
            <a:spLocks/>
          </p:cNvSpPr>
          <p:nvPr/>
        </p:nvSpPr>
        <p:spPr>
          <a:xfrm>
            <a:off x="188399" y="803564"/>
            <a:ext cx="10213594" cy="5505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AU" sz="2400" i="1" dirty="0" smtClean="0"/>
          </a:p>
          <a:p>
            <a:pPr marL="0" indent="0">
              <a:buNone/>
            </a:pPr>
            <a:endParaRPr lang="en-AU" sz="2400" b="1" i="1" dirty="0" smtClean="0">
              <a:solidFill>
                <a:srgbClr val="7030A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>
              <a:solidFill>
                <a:srgbClr val="7030A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>
              <a:solidFill>
                <a:srgbClr val="7030A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948" y="82302"/>
            <a:ext cx="376978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45617" y="1001485"/>
                <a:ext cx="454957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7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7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7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7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7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7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17" y="1001485"/>
                <a:ext cx="4549579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928915" y="2245388"/>
            <a:ext cx="935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solidFill>
                  <a:srgbClr val="FF0000"/>
                </a:solidFill>
              </a:rPr>
              <a:t>What is the effect of changing the value of ‘k’?</a:t>
            </a:r>
            <a:endParaRPr lang="en-AU" sz="3600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8915" y="3404515"/>
            <a:ext cx="935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solidFill>
                  <a:srgbClr val="FF0000"/>
                </a:solidFill>
              </a:rPr>
              <a:t>Vertical translation of the parabola ‘k’ units</a:t>
            </a:r>
            <a:endParaRPr lang="en-AU" sz="3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928915" y="4638230"/>
                <a:ext cx="935445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600" dirty="0" smtClean="0"/>
                  <a:t>For example: the graph </a:t>
                </a:r>
                <a14:m>
                  <m:oMath xmlns:m="http://schemas.openxmlformats.org/officeDocument/2006/math">
                    <m:r>
                      <a:rPr lang="en-AU" sz="3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3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3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+7</m:t>
                    </m:r>
                  </m:oMath>
                </a14:m>
                <a:r>
                  <a:rPr lang="en-AU" sz="3600" dirty="0" smtClean="0">
                    <a:solidFill>
                      <a:srgbClr val="0070C0"/>
                    </a:solidFill>
                  </a:rPr>
                  <a:t> will translate 7 units up</a:t>
                </a:r>
                <a:r>
                  <a:rPr lang="en-AU" sz="3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AU" sz="3600" dirty="0" smtClean="0"/>
                  <a:t>and the graph </a:t>
                </a:r>
                <a14:m>
                  <m:oMath xmlns:m="http://schemas.openxmlformats.org/officeDocument/2006/math">
                    <m:r>
                      <a:rPr lang="en-AU" sz="3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3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3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AU" sz="3600" dirty="0" smtClean="0">
                    <a:solidFill>
                      <a:srgbClr val="00B050"/>
                    </a:solidFill>
                  </a:rPr>
                  <a:t> will translate </a:t>
                </a:r>
                <a:r>
                  <a:rPr lang="en-AU" sz="3600" dirty="0" smtClean="0">
                    <a:solidFill>
                      <a:srgbClr val="00B050"/>
                    </a:solidFill>
                  </a:rPr>
                  <a:t>2 </a:t>
                </a:r>
                <a:r>
                  <a:rPr lang="en-AU" sz="3600" dirty="0" smtClean="0">
                    <a:solidFill>
                      <a:srgbClr val="00B050"/>
                    </a:solidFill>
                  </a:rPr>
                  <a:t>units down</a:t>
                </a:r>
                <a:endParaRPr lang="en-AU" sz="36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15" y="4638230"/>
                <a:ext cx="9354456" cy="1754326"/>
              </a:xfrm>
              <a:prstGeom prst="rect">
                <a:avLst/>
              </a:prstGeom>
              <a:blipFill>
                <a:blip r:embed="rId3"/>
                <a:stretch>
                  <a:fillRect l="-1954" t="-5208" r="-1303" b="-121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10283371" y="242148"/>
            <a:ext cx="1417791" cy="1518673"/>
            <a:chOff x="869182" y="3602071"/>
            <a:chExt cx="1826847" cy="241406"/>
          </a:xfrm>
        </p:grpSpPr>
        <p:sp>
          <p:nvSpPr>
            <p:cNvPr id="9" name="TextBox 8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69182" y="3698533"/>
              <a:ext cx="1826846" cy="14494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effect of changing ‘k’?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0314991" y="1885842"/>
            <a:ext cx="1417791" cy="1518673"/>
            <a:chOff x="869182" y="3602071"/>
            <a:chExt cx="1826847" cy="241406"/>
          </a:xfrm>
        </p:grpSpPr>
        <p:sp>
          <p:nvSpPr>
            <p:cNvPr id="12" name="TextBox 11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69182" y="3698533"/>
              <a:ext cx="1826846" cy="14494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effect of changing ‘k’?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882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25" y="53179"/>
            <a:ext cx="7343394" cy="6453950"/>
          </a:xfrm>
          <a:prstGeom prst="rect">
            <a:avLst/>
          </a:prstGeom>
        </p:spPr>
      </p:pic>
      <p:sp>
        <p:nvSpPr>
          <p:cNvPr id="47" name="Freeform 46"/>
          <p:cNvSpPr/>
          <p:nvPr/>
        </p:nvSpPr>
        <p:spPr>
          <a:xfrm>
            <a:off x="775253" y="468629"/>
            <a:ext cx="5994399" cy="4281715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503818" y="124949"/>
                <a:ext cx="4688181" cy="123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Write the equation of the parabolas and describe the translation from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dirty="0" smtClean="0"/>
                  <a:t> </a:t>
                </a:r>
                <a:endParaRPr lang="en-AU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818" y="124949"/>
                <a:ext cx="4688181" cy="1231940"/>
              </a:xfrm>
              <a:prstGeom prst="rect">
                <a:avLst/>
              </a:prstGeom>
              <a:blipFill>
                <a:blip r:embed="rId3"/>
                <a:stretch>
                  <a:fillRect l="-2081" t="-3941" r="-1821" b="-4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341437" y="90962"/>
                <a:ext cx="978793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437" y="90962"/>
                <a:ext cx="978793" cy="377667"/>
              </a:xfrm>
              <a:prstGeom prst="rect">
                <a:avLst/>
              </a:prstGeom>
              <a:blipFill>
                <a:blip r:embed="rId4"/>
                <a:stretch>
                  <a:fillRect l="-7453" t="-1613" r="-2484" b="-258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Freeform 58"/>
          <p:cNvSpPr/>
          <p:nvPr/>
        </p:nvSpPr>
        <p:spPr>
          <a:xfrm>
            <a:off x="782195" y="-1879953"/>
            <a:ext cx="5994399" cy="4281715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0" name="Freeform 59"/>
          <p:cNvSpPr/>
          <p:nvPr/>
        </p:nvSpPr>
        <p:spPr>
          <a:xfrm>
            <a:off x="778724" y="1423221"/>
            <a:ext cx="5994399" cy="4281715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/>
              <p:cNvSpPr txBox="1"/>
              <p:nvPr/>
            </p:nvSpPr>
            <p:spPr>
              <a:xfrm>
                <a:off x="7852137" y="1863098"/>
                <a:ext cx="3754297" cy="872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200" b="1" dirty="0" smtClean="0">
                  <a:solidFill>
                    <a:srgbClr val="7030A0"/>
                  </a:solidFill>
                </a:endParaRPr>
              </a:p>
              <a:p>
                <a:r>
                  <a:rPr lang="en-AU" sz="2400" b="1" dirty="0" smtClean="0">
                    <a:solidFill>
                      <a:srgbClr val="7030A0"/>
                    </a:solidFill>
                  </a:rPr>
                  <a:t>Vertical translation </a:t>
                </a:r>
                <a:r>
                  <a:rPr lang="en-AU" sz="2400" b="1" dirty="0" smtClean="0">
                    <a:solidFill>
                      <a:srgbClr val="7030A0"/>
                    </a:solidFill>
                  </a:rPr>
                  <a:t>5 </a:t>
                </a:r>
                <a:r>
                  <a:rPr lang="en-AU" sz="2400" b="1" dirty="0" smtClean="0">
                    <a:solidFill>
                      <a:srgbClr val="7030A0"/>
                    </a:solidFill>
                  </a:rPr>
                  <a:t>units up</a:t>
                </a:r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2137" y="1863098"/>
                <a:ext cx="3754297" cy="872931"/>
              </a:xfrm>
              <a:prstGeom prst="rect">
                <a:avLst/>
              </a:prstGeom>
              <a:blipFill>
                <a:blip r:embed="rId5"/>
                <a:stretch>
                  <a:fillRect l="-4870" r="-4058" b="-202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7852137" y="3877413"/>
                <a:ext cx="4148059" cy="872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/>
                  <a:t>Vertical t</a:t>
                </a:r>
                <a:r>
                  <a:rPr lang="en-AU" sz="2400" b="1" dirty="0" smtClean="0">
                    <a:solidFill>
                      <a:schemeClr val="tx1"/>
                    </a:solidFill>
                  </a:rPr>
                  <a:t>ranslation 2 units down</a:t>
                </a:r>
                <a:endParaRPr lang="en-AU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2137" y="3877413"/>
                <a:ext cx="4148059" cy="872931"/>
              </a:xfrm>
              <a:prstGeom prst="rect">
                <a:avLst/>
              </a:prstGeom>
              <a:blipFill>
                <a:blip r:embed="rId6"/>
                <a:stretch>
                  <a:fillRect l="-4405" r="-3524" b="-209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855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948" y="82302"/>
            <a:ext cx="5110904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2"/>
              <p:cNvSpPr txBox="1">
                <a:spLocks/>
              </p:cNvSpPr>
              <p:nvPr/>
            </p:nvSpPr>
            <p:spPr>
              <a:xfrm>
                <a:off x="103948" y="776390"/>
                <a:ext cx="10091502" cy="5505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4400" b="1" dirty="0" smtClean="0"/>
                  <a:t>Sketch the graph of the following equation </a:t>
                </a:r>
                <a14:m>
                  <m:oMath xmlns:m="http://schemas.openxmlformats.org/officeDocument/2006/math"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4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4400" b="1" dirty="0" smtClean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4400" b="1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AU" sz="4400" b="1" dirty="0" smtClean="0">
                    <a:solidFill>
                      <a:srgbClr val="FF000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4400" b="1" dirty="0" smtClean="0"/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4400" b="1" dirty="0" smtClean="0"/>
                  <a:t>for </a:t>
                </a:r>
                <a14:m>
                  <m:oMath xmlns:m="http://schemas.openxmlformats.org/officeDocument/2006/math">
                    <m:r>
                      <a:rPr lang="en-AU" sz="4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44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endParaRPr lang="en-AU" sz="2400" i="1" dirty="0" smtClean="0"/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Substitute each number into the equation to find the points we need. </a:t>
                </a: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48" y="776390"/>
                <a:ext cx="10091502" cy="5505613"/>
              </a:xfrm>
              <a:prstGeom prst="rect">
                <a:avLst/>
              </a:prstGeom>
              <a:blipFill>
                <a:blip r:embed="rId2"/>
                <a:stretch>
                  <a:fillRect l="-2417" t="-3429" r="-33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3524940"/>
                  </p:ext>
                </p:extLst>
              </p:nvPr>
            </p:nvGraphicFramePr>
            <p:xfrm>
              <a:off x="103948" y="3226679"/>
              <a:ext cx="11020504" cy="273912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59422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09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1964671711"/>
                        </a:ext>
                      </a:extLst>
                    </a:gridCol>
                  </a:tblGrid>
                  <a:tr h="540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 smtClean="0">
                              <a:solidFill>
                                <a:schemeClr val="bg1"/>
                              </a:solidFill>
                            </a:rPr>
                            <a:t>x</a:t>
                          </a:r>
                          <a:endParaRPr lang="en-AU" sz="3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-3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-2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-1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2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3</a:t>
                          </a:r>
                          <a:endParaRPr lang="en-AU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3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3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16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25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6403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3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16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0334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3524940"/>
                  </p:ext>
                </p:extLst>
              </p:nvPr>
            </p:nvGraphicFramePr>
            <p:xfrm>
              <a:off x="103948" y="3226679"/>
              <a:ext cx="11020504" cy="273912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59422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09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1964671711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 smtClean="0">
                              <a:solidFill>
                                <a:schemeClr val="bg1"/>
                              </a:solidFill>
                            </a:rPr>
                            <a:t>x</a:t>
                          </a:r>
                          <a:endParaRPr lang="en-AU" sz="3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-3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-2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-1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2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3</a:t>
                          </a:r>
                          <a:endParaRPr lang="en-AU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2" t="-91525" r="-590840" b="-2093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2" t="-189916" r="-590840" b="-107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16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25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6403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2" t="-292373" r="-590840" b="-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16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03345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5" name="Group 24"/>
          <p:cNvGrpSpPr/>
          <p:nvPr/>
        </p:nvGrpSpPr>
        <p:grpSpPr>
          <a:xfrm>
            <a:off x="10113820" y="136668"/>
            <a:ext cx="1939635" cy="1283479"/>
            <a:chOff x="869182" y="3602071"/>
            <a:chExt cx="1826847" cy="407283"/>
          </a:xfrm>
        </p:grpSpPr>
        <p:sp>
          <p:nvSpPr>
            <p:cNvPr id="26" name="TextBox 25"/>
            <p:cNvSpPr txBox="1"/>
            <p:nvPr/>
          </p:nvSpPr>
          <p:spPr>
            <a:xfrm>
              <a:off x="869182" y="3602071"/>
              <a:ext cx="1826847" cy="97666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69182" y="3713914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did we do to find the value of y when x = -3?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0113819" y="1464823"/>
            <a:ext cx="1939635" cy="1283479"/>
            <a:chOff x="869182" y="3602071"/>
            <a:chExt cx="1826847" cy="407283"/>
          </a:xfrm>
        </p:grpSpPr>
        <p:sp>
          <p:nvSpPr>
            <p:cNvPr id="30" name="TextBox 29"/>
            <p:cNvSpPr txBox="1"/>
            <p:nvPr/>
          </p:nvSpPr>
          <p:spPr>
            <a:xfrm>
              <a:off x="869182" y="3602071"/>
              <a:ext cx="1826847" cy="97666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69182" y="3713914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did we do to find the value of y when x = -2?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078698" y="3941575"/>
            <a:ext cx="894521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2078698" y="4642852"/>
            <a:ext cx="87473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1790857" y="5395654"/>
            <a:ext cx="88690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675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2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904" y="0"/>
            <a:ext cx="7343394" cy="645395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 flipV="1">
            <a:off x="3077757" y="2753514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/>
          <p:cNvSpPr/>
          <p:nvPr/>
        </p:nvSpPr>
        <p:spPr>
          <a:xfrm flipV="1">
            <a:off x="4107103" y="4162619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 flipV="1">
            <a:off x="5057283" y="4625993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/>
          <p:cNvSpPr/>
          <p:nvPr/>
        </p:nvSpPr>
        <p:spPr>
          <a:xfrm flipV="1">
            <a:off x="6127663" y="4145685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/>
          <p:cNvSpPr/>
          <p:nvPr/>
        </p:nvSpPr>
        <p:spPr>
          <a:xfrm flipV="1">
            <a:off x="7058947" y="2722495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/>
          <p:cNvSpPr/>
          <p:nvPr/>
        </p:nvSpPr>
        <p:spPr>
          <a:xfrm flipV="1">
            <a:off x="8089295" y="371612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/>
          <p:cNvSpPr/>
          <p:nvPr/>
        </p:nvSpPr>
        <p:spPr>
          <a:xfrm flipV="1">
            <a:off x="2078824" y="366289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Freeform 23"/>
          <p:cNvSpPr/>
          <p:nvPr/>
        </p:nvSpPr>
        <p:spPr>
          <a:xfrm>
            <a:off x="2155371" y="428171"/>
            <a:ext cx="5994399" cy="4281715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5085025"/>
                  </p:ext>
                </p:extLst>
              </p:nvPr>
            </p:nvGraphicFramePr>
            <p:xfrm>
              <a:off x="7957006" y="5016188"/>
              <a:ext cx="3983814" cy="148152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9598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96467171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>
                              <a:solidFill>
                                <a:schemeClr val="bg1"/>
                              </a:solidFill>
                            </a:rPr>
                            <a:t>x</a:t>
                          </a:r>
                          <a:endParaRPr lang="en-AU" sz="1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-3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-2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-1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0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1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2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3</a:t>
                          </a:r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1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1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16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25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6403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1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16</a:t>
                          </a:r>
                          <a:endParaRPr lang="en-AU" sz="1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en-AU" sz="1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0334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5085025"/>
                  </p:ext>
                </p:extLst>
              </p:nvPr>
            </p:nvGraphicFramePr>
            <p:xfrm>
              <a:off x="7957006" y="5016188"/>
              <a:ext cx="3983814" cy="148152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9598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96467171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>
                              <a:solidFill>
                                <a:schemeClr val="bg1"/>
                              </a:solidFill>
                            </a:rPr>
                            <a:t>x</a:t>
                          </a:r>
                          <a:endParaRPr lang="en-AU" sz="1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-3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-2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-1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0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1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2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3</a:t>
                          </a:r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33" t="-106557" r="-315190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33" t="-203226" r="-315190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16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25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64039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33" t="-308197" r="-31519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16</a:t>
                          </a:r>
                          <a:endParaRPr lang="en-AU" sz="1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en-AU" sz="1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0334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Oval 24"/>
          <p:cNvSpPr/>
          <p:nvPr/>
        </p:nvSpPr>
        <p:spPr>
          <a:xfrm flipV="1">
            <a:off x="2061236" y="4114288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Oval 25"/>
          <p:cNvSpPr/>
          <p:nvPr/>
        </p:nvSpPr>
        <p:spPr>
          <a:xfrm flipV="1">
            <a:off x="3084169" y="4624733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Oval 26"/>
          <p:cNvSpPr/>
          <p:nvPr/>
        </p:nvSpPr>
        <p:spPr>
          <a:xfrm flipV="1">
            <a:off x="4134955" y="4168734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Oval 28"/>
          <p:cNvSpPr/>
          <p:nvPr/>
        </p:nvSpPr>
        <p:spPr>
          <a:xfrm flipV="1">
            <a:off x="5099534" y="2731150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7" name="Straight Arrow Connector 56"/>
          <p:cNvCxnSpPr/>
          <p:nvPr/>
        </p:nvCxnSpPr>
        <p:spPr>
          <a:xfrm flipH="1" flipV="1">
            <a:off x="2133245" y="4218196"/>
            <a:ext cx="1972311" cy="7985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24" idx="3"/>
            <a:endCxn id="26" idx="6"/>
          </p:cNvCxnSpPr>
          <p:nvPr/>
        </p:nvCxnSpPr>
        <p:spPr>
          <a:xfrm flipH="1">
            <a:off x="3228185" y="4709850"/>
            <a:ext cx="1948606" cy="35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9" idx="2"/>
            <a:endCxn id="27" idx="2"/>
          </p:cNvCxnSpPr>
          <p:nvPr/>
        </p:nvCxnSpPr>
        <p:spPr>
          <a:xfrm flipH="1">
            <a:off x="4134955" y="4230837"/>
            <a:ext cx="1992708" cy="23049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10" idx="6"/>
            <a:endCxn id="29" idx="6"/>
          </p:cNvCxnSpPr>
          <p:nvPr/>
        </p:nvCxnSpPr>
        <p:spPr>
          <a:xfrm flipH="1">
            <a:off x="5243550" y="2807647"/>
            <a:ext cx="1959413" cy="8655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329597" y="478970"/>
            <a:ext cx="5798066" cy="4230879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9" name="Freeform 58"/>
          <p:cNvSpPr/>
          <p:nvPr/>
        </p:nvSpPr>
        <p:spPr>
          <a:xfrm>
            <a:off x="3217081" y="478970"/>
            <a:ext cx="5798066" cy="4230879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31" name="Group 30"/>
          <p:cNvGrpSpPr/>
          <p:nvPr/>
        </p:nvGrpSpPr>
        <p:grpSpPr>
          <a:xfrm>
            <a:off x="10740044" y="53177"/>
            <a:ext cx="1417791" cy="1518673"/>
            <a:chOff x="869182" y="3602071"/>
            <a:chExt cx="1826847" cy="241406"/>
          </a:xfrm>
        </p:grpSpPr>
        <p:sp>
          <p:nvSpPr>
            <p:cNvPr id="32" name="TextBox 31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869182" y="3698533"/>
                  <a:ext cx="1826846" cy="144944"/>
                </a:xfrm>
                <a:prstGeom prst="rect">
                  <a:avLst/>
                </a:prstGeom>
                <a:solidFill>
                  <a:srgbClr val="163B68">
                    <a:alpha val="60000"/>
                  </a:srgbClr>
                </a:solidFill>
                <a:ln>
                  <a:solidFill>
                    <a:srgbClr val="005C4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 smtClean="0">
                      <a:solidFill>
                        <a:schemeClr val="tx1"/>
                      </a:solidFill>
                    </a:rPr>
                    <a:t>Where is the turning point of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+2)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AU" dirty="0" smtClean="0">
                      <a:solidFill>
                        <a:schemeClr val="tx1"/>
                      </a:solidFill>
                    </a:rPr>
                    <a:t>?</a:t>
                  </a:r>
                  <a:endParaRPr lang="en-AU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182" y="3698533"/>
                  <a:ext cx="1826846" cy="144944"/>
                </a:xfrm>
                <a:prstGeom prst="rect">
                  <a:avLst/>
                </a:prstGeom>
                <a:blipFill>
                  <a:blip r:embed="rId4"/>
                  <a:stretch>
                    <a:fillRect l="-3419" t="-2632" r="-5983" b="-9868"/>
                  </a:stretch>
                </a:blipFill>
                <a:ln>
                  <a:solidFill>
                    <a:srgbClr val="005C41"/>
                  </a:solidFill>
                </a:ln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/>
          <p:cNvGrpSpPr/>
          <p:nvPr/>
        </p:nvGrpSpPr>
        <p:grpSpPr>
          <a:xfrm>
            <a:off x="10749608" y="1655470"/>
            <a:ext cx="1417791" cy="1518673"/>
            <a:chOff x="869182" y="3602071"/>
            <a:chExt cx="1826847" cy="241406"/>
          </a:xfrm>
        </p:grpSpPr>
        <p:sp>
          <p:nvSpPr>
            <p:cNvPr id="35" name="TextBox 34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869182" y="3698533"/>
                  <a:ext cx="1826846" cy="144944"/>
                </a:xfrm>
                <a:prstGeom prst="rect">
                  <a:avLst/>
                </a:prstGeom>
                <a:solidFill>
                  <a:srgbClr val="163B68">
                    <a:alpha val="60000"/>
                  </a:srgbClr>
                </a:solidFill>
                <a:ln>
                  <a:solidFill>
                    <a:srgbClr val="005C4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 smtClean="0">
                      <a:solidFill>
                        <a:schemeClr val="tx1"/>
                      </a:solidFill>
                    </a:rPr>
                    <a:t>Where is the turning point of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AU" dirty="0" smtClean="0">
                      <a:solidFill>
                        <a:schemeClr val="tx1"/>
                      </a:solidFill>
                    </a:rPr>
                    <a:t>?</a:t>
                  </a:r>
                  <a:endParaRPr lang="en-AU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182" y="3698533"/>
                  <a:ext cx="1826846" cy="144944"/>
                </a:xfrm>
                <a:prstGeom prst="rect">
                  <a:avLst/>
                </a:prstGeom>
                <a:blipFill>
                  <a:blip r:embed="rId5"/>
                  <a:stretch>
                    <a:fillRect l="-2979" t="-3289" r="-5957" b="-9868"/>
                  </a:stretch>
                </a:blipFill>
                <a:ln>
                  <a:solidFill>
                    <a:srgbClr val="005C41"/>
                  </a:solidFill>
                </a:ln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39296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4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4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58" grpId="0" animBg="1"/>
      <p:bldP spid="5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 txBox="1">
            <a:spLocks/>
          </p:cNvSpPr>
          <p:nvPr/>
        </p:nvSpPr>
        <p:spPr>
          <a:xfrm>
            <a:off x="188399" y="803564"/>
            <a:ext cx="10213594" cy="5505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AU" sz="2400" i="1" dirty="0" smtClean="0"/>
          </a:p>
          <a:p>
            <a:pPr marL="0" indent="0">
              <a:buNone/>
            </a:pPr>
            <a:endParaRPr lang="en-AU" sz="2400" b="1" i="1" dirty="0" smtClean="0">
              <a:solidFill>
                <a:srgbClr val="7030A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>
              <a:solidFill>
                <a:srgbClr val="7030A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>
              <a:solidFill>
                <a:srgbClr val="7030A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948" y="82302"/>
            <a:ext cx="376978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45617" y="1001485"/>
                <a:ext cx="6511270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7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7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7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7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7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7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7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7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17" y="1001485"/>
                <a:ext cx="651127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928915" y="2245388"/>
            <a:ext cx="935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solidFill>
                  <a:srgbClr val="FF0000"/>
                </a:solidFill>
              </a:rPr>
              <a:t>What is the effect of changing the value of ‘</a:t>
            </a:r>
            <a:r>
              <a:rPr lang="en-AU" sz="3600" dirty="0" smtClean="0">
                <a:solidFill>
                  <a:srgbClr val="7030A0"/>
                </a:solidFill>
              </a:rPr>
              <a:t>k</a:t>
            </a:r>
            <a:r>
              <a:rPr lang="en-AU" sz="3600" dirty="0" smtClean="0">
                <a:solidFill>
                  <a:srgbClr val="FF0000"/>
                </a:solidFill>
              </a:rPr>
              <a:t>’?</a:t>
            </a:r>
            <a:endParaRPr lang="en-AU" sz="3600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8915" y="3404515"/>
            <a:ext cx="9354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solidFill>
                  <a:srgbClr val="FF0000"/>
                </a:solidFill>
              </a:rPr>
              <a:t>Horizontal translation of the parabola ‘</a:t>
            </a:r>
            <a:r>
              <a:rPr lang="en-AU" sz="3600" dirty="0" smtClean="0">
                <a:solidFill>
                  <a:srgbClr val="7030A0"/>
                </a:solidFill>
              </a:rPr>
              <a:t>h</a:t>
            </a:r>
            <a:r>
              <a:rPr lang="en-AU" sz="3600" dirty="0" smtClean="0">
                <a:solidFill>
                  <a:srgbClr val="FF0000"/>
                </a:solidFill>
              </a:rPr>
              <a:t>’ units </a:t>
            </a:r>
          </a:p>
          <a:p>
            <a:r>
              <a:rPr lang="en-AU" sz="3600" dirty="0" smtClean="0">
                <a:solidFill>
                  <a:srgbClr val="FF0000"/>
                </a:solidFill>
              </a:rPr>
              <a:t>(in an opposite direction)</a:t>
            </a:r>
            <a:endParaRPr lang="en-AU" sz="3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928915" y="4549676"/>
                <a:ext cx="935445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600" dirty="0" smtClean="0"/>
                  <a:t>For example: the graph </a:t>
                </a:r>
                <a14:m>
                  <m:oMath xmlns:m="http://schemas.openxmlformats.org/officeDocument/2006/math">
                    <m:r>
                      <a:rPr lang="en-AU" sz="3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3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3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3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3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−3)</m:t>
                        </m:r>
                      </m:e>
                      <m:sup>
                        <m:r>
                          <a:rPr lang="en-AU" sz="3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3600" dirty="0" smtClean="0">
                    <a:solidFill>
                      <a:srgbClr val="0070C0"/>
                    </a:solidFill>
                  </a:rPr>
                  <a:t> will translate 3 units right (positive)</a:t>
                </a:r>
                <a:r>
                  <a:rPr lang="en-AU" sz="3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AU" sz="3600" dirty="0" smtClean="0"/>
                  <a:t>and the graph </a:t>
                </a:r>
                <a14:m>
                  <m:oMath xmlns:m="http://schemas.openxmlformats.org/officeDocument/2006/math">
                    <m:r>
                      <a:rPr lang="en-AU" sz="3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3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3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3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3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+2)</m:t>
                        </m:r>
                      </m:e>
                      <m:sup>
                        <m:r>
                          <a:rPr lang="en-AU" sz="3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3600" dirty="0" smtClean="0">
                    <a:solidFill>
                      <a:srgbClr val="00B050"/>
                    </a:solidFill>
                  </a:rPr>
                  <a:t> will translate </a:t>
                </a:r>
                <a:r>
                  <a:rPr lang="en-AU" sz="3600" dirty="0" smtClean="0">
                    <a:solidFill>
                      <a:srgbClr val="00B050"/>
                    </a:solidFill>
                  </a:rPr>
                  <a:t>2 </a:t>
                </a:r>
                <a:r>
                  <a:rPr lang="en-AU" sz="3600" dirty="0" smtClean="0">
                    <a:solidFill>
                      <a:srgbClr val="00B050"/>
                    </a:solidFill>
                  </a:rPr>
                  <a:t>units </a:t>
                </a:r>
                <a:r>
                  <a:rPr lang="en-AU" sz="3600" dirty="0" smtClean="0">
                    <a:solidFill>
                      <a:srgbClr val="00B050"/>
                    </a:solidFill>
                  </a:rPr>
                  <a:t>left</a:t>
                </a:r>
                <a:endParaRPr lang="en-AU" sz="36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15" y="4549676"/>
                <a:ext cx="9354456" cy="1754326"/>
              </a:xfrm>
              <a:prstGeom prst="rect">
                <a:avLst/>
              </a:prstGeom>
              <a:blipFill>
                <a:blip r:embed="rId3"/>
                <a:stretch>
                  <a:fillRect l="-1954" t="-4861" b="-12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10283371" y="242148"/>
            <a:ext cx="1417791" cy="1518673"/>
            <a:chOff x="869182" y="3602071"/>
            <a:chExt cx="1826847" cy="241406"/>
          </a:xfrm>
        </p:grpSpPr>
        <p:sp>
          <p:nvSpPr>
            <p:cNvPr id="9" name="TextBox 8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69182" y="3698533"/>
              <a:ext cx="1826846" cy="14494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effect of changing ‘h’?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0283370" y="1956411"/>
            <a:ext cx="1417791" cy="1518673"/>
            <a:chOff x="869182" y="3602071"/>
            <a:chExt cx="1826847" cy="241406"/>
          </a:xfrm>
        </p:grpSpPr>
        <p:sp>
          <p:nvSpPr>
            <p:cNvPr id="12" name="TextBox 11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69182" y="3698533"/>
              <a:ext cx="1826846" cy="14494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effect of changing ‘h’?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460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25" y="53179"/>
            <a:ext cx="7343394" cy="6453950"/>
          </a:xfrm>
          <a:prstGeom prst="rect">
            <a:avLst/>
          </a:prstGeom>
        </p:spPr>
      </p:pic>
      <p:sp>
        <p:nvSpPr>
          <p:cNvPr id="47" name="Freeform 46"/>
          <p:cNvSpPr/>
          <p:nvPr/>
        </p:nvSpPr>
        <p:spPr>
          <a:xfrm>
            <a:off x="775253" y="468629"/>
            <a:ext cx="5994399" cy="4281715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503818" y="124949"/>
                <a:ext cx="4688181" cy="123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Write the equation of the parabolas and describe the translation from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dirty="0" smtClean="0"/>
                  <a:t> </a:t>
                </a:r>
                <a:endParaRPr lang="en-AU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818" y="124949"/>
                <a:ext cx="4688181" cy="1231940"/>
              </a:xfrm>
              <a:prstGeom prst="rect">
                <a:avLst/>
              </a:prstGeom>
              <a:blipFill>
                <a:blip r:embed="rId3"/>
                <a:stretch>
                  <a:fillRect l="-2081" t="-3941" r="-1821" b="-4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341437" y="90962"/>
                <a:ext cx="978793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437" y="90962"/>
                <a:ext cx="978793" cy="377667"/>
              </a:xfrm>
              <a:prstGeom prst="rect">
                <a:avLst/>
              </a:prstGeom>
              <a:blipFill>
                <a:blip r:embed="rId4"/>
                <a:stretch>
                  <a:fillRect l="-7453" t="-1613" r="-2484" b="-258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Freeform 58"/>
          <p:cNvSpPr/>
          <p:nvPr/>
        </p:nvSpPr>
        <p:spPr>
          <a:xfrm>
            <a:off x="-775252" y="468628"/>
            <a:ext cx="5994399" cy="4281715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0" name="Freeform 59"/>
          <p:cNvSpPr/>
          <p:nvPr/>
        </p:nvSpPr>
        <p:spPr>
          <a:xfrm>
            <a:off x="1727201" y="468627"/>
            <a:ext cx="5994399" cy="4281715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7624831" y="1863098"/>
                <a:ext cx="4446154" cy="872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3200" b="1" dirty="0" smtClean="0">
                  <a:solidFill>
                    <a:srgbClr val="7030A0"/>
                  </a:solidFill>
                </a:endParaRPr>
              </a:p>
              <a:p>
                <a:r>
                  <a:rPr lang="en-AU" sz="2400" b="1" dirty="0" smtClean="0">
                    <a:solidFill>
                      <a:srgbClr val="7030A0"/>
                    </a:solidFill>
                  </a:rPr>
                  <a:t>Horizontal translation 1.5 units left</a:t>
                </a:r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831" y="1863098"/>
                <a:ext cx="4446154" cy="872931"/>
              </a:xfrm>
              <a:prstGeom prst="rect">
                <a:avLst/>
              </a:prstGeom>
              <a:blipFill>
                <a:blip r:embed="rId5"/>
                <a:stretch>
                  <a:fillRect l="-4252" r="-3155" b="-202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7708803" y="3877411"/>
                <a:ext cx="4374980" cy="872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32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 smtClean="0"/>
                  <a:t>Horizontal t</a:t>
                </a:r>
                <a:r>
                  <a:rPr lang="en-AU" sz="2400" b="1" dirty="0" smtClean="0">
                    <a:solidFill>
                      <a:schemeClr val="tx1"/>
                    </a:solidFill>
                  </a:rPr>
                  <a:t>ranslation 1 units right</a:t>
                </a:r>
                <a:endParaRPr lang="en-AU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8803" y="3877411"/>
                <a:ext cx="4374980" cy="872931"/>
              </a:xfrm>
              <a:prstGeom prst="rect">
                <a:avLst/>
              </a:prstGeom>
              <a:blipFill>
                <a:blip r:embed="rId6"/>
                <a:stretch>
                  <a:fillRect l="-4324" r="-3347" b="-209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4680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948" y="82302"/>
            <a:ext cx="5110904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2"/>
              <p:cNvSpPr txBox="1">
                <a:spLocks/>
              </p:cNvSpPr>
              <p:nvPr/>
            </p:nvSpPr>
            <p:spPr>
              <a:xfrm>
                <a:off x="103948" y="776390"/>
                <a:ext cx="10091502" cy="5505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4400" b="1" dirty="0" smtClean="0"/>
                  <a:t>Sketch the graph of the following equation </a:t>
                </a:r>
                <a14:m>
                  <m:oMath xmlns:m="http://schemas.openxmlformats.org/officeDocument/2006/math"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4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4400" b="1" dirty="0" smtClean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4400" b="1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AU" sz="4400" b="1" dirty="0" smtClean="0">
                    <a:solidFill>
                      <a:srgbClr val="FF000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4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4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AU" sz="4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4400" b="1" dirty="0" smtClean="0"/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4400" b="1" dirty="0" smtClean="0"/>
                  <a:t>for </a:t>
                </a:r>
                <a14:m>
                  <m:oMath xmlns:m="http://schemas.openxmlformats.org/officeDocument/2006/math">
                    <m:r>
                      <a:rPr lang="en-AU" sz="4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44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endParaRPr lang="en-AU" sz="2400" i="1" dirty="0" smtClean="0"/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Substitute each number into the equation to find the points we need. </a:t>
                </a: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48" y="776390"/>
                <a:ext cx="10091502" cy="5505613"/>
              </a:xfrm>
              <a:prstGeom prst="rect">
                <a:avLst/>
              </a:prstGeom>
              <a:blipFill>
                <a:blip r:embed="rId2"/>
                <a:stretch>
                  <a:fillRect l="-2417" t="-3429" r="-33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32936"/>
                  </p:ext>
                </p:extLst>
              </p:nvPr>
            </p:nvGraphicFramePr>
            <p:xfrm>
              <a:off x="103948" y="3226679"/>
              <a:ext cx="11020504" cy="3023627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59422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09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1964671711"/>
                        </a:ext>
                      </a:extLst>
                    </a:gridCol>
                  </a:tblGrid>
                  <a:tr h="540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 smtClean="0">
                              <a:solidFill>
                                <a:schemeClr val="bg1"/>
                              </a:solidFill>
                            </a:rPr>
                            <a:t>x</a:t>
                          </a:r>
                          <a:endParaRPr lang="en-AU" sz="3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-3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-2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-1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2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3</a:t>
                          </a:r>
                          <a:endParaRPr lang="en-AU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3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3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18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18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6403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f>
                                      <m:fPr>
                                        <m:ctrlPr>
                                          <a:rPr lang="en-AU" sz="32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AU" sz="32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num>
                                      <m:den>
                                        <m:r>
                                          <a:rPr lang="en-AU" sz="32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3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4.5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0.5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0.5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4.5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0334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32936"/>
                  </p:ext>
                </p:extLst>
              </p:nvPr>
            </p:nvGraphicFramePr>
            <p:xfrm>
              <a:off x="103948" y="3226679"/>
              <a:ext cx="11020504" cy="3023627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59422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09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1964671711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 smtClean="0">
                              <a:solidFill>
                                <a:schemeClr val="bg1"/>
                              </a:solidFill>
                            </a:rPr>
                            <a:t>x</a:t>
                          </a:r>
                          <a:endParaRPr lang="en-AU" sz="3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-3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-2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-1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2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3</a:t>
                          </a:r>
                          <a:endParaRPr lang="en-AU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2" t="-90756" r="-590840" b="-2394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2" t="-192373" r="-590840" b="-141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18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8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18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64039"/>
                      </a:ext>
                    </a:extLst>
                  </a:tr>
                  <a:tr h="10045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2" t="-209091" r="-590840" b="-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4.5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0.5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0.5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4.5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03345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5" name="Group 24"/>
          <p:cNvGrpSpPr/>
          <p:nvPr/>
        </p:nvGrpSpPr>
        <p:grpSpPr>
          <a:xfrm>
            <a:off x="10113820" y="136668"/>
            <a:ext cx="1939635" cy="1283479"/>
            <a:chOff x="869182" y="3602071"/>
            <a:chExt cx="1826847" cy="407283"/>
          </a:xfrm>
        </p:grpSpPr>
        <p:sp>
          <p:nvSpPr>
            <p:cNvPr id="26" name="TextBox 25"/>
            <p:cNvSpPr txBox="1"/>
            <p:nvPr/>
          </p:nvSpPr>
          <p:spPr>
            <a:xfrm>
              <a:off x="869182" y="3602071"/>
              <a:ext cx="1826847" cy="97666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69182" y="3713914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did we do to find the value of y when x = -3?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0113819" y="1464823"/>
            <a:ext cx="1939635" cy="1283479"/>
            <a:chOff x="869182" y="3602071"/>
            <a:chExt cx="1826847" cy="407283"/>
          </a:xfrm>
        </p:grpSpPr>
        <p:sp>
          <p:nvSpPr>
            <p:cNvPr id="30" name="TextBox 29"/>
            <p:cNvSpPr txBox="1"/>
            <p:nvPr/>
          </p:nvSpPr>
          <p:spPr>
            <a:xfrm>
              <a:off x="869182" y="3602071"/>
              <a:ext cx="1826847" cy="97666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69182" y="3713914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did we do to find the value of y when x = -2?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078698" y="3941575"/>
            <a:ext cx="894521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912570" y="4636885"/>
            <a:ext cx="87473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1912570" y="5395654"/>
            <a:ext cx="88690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239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2" grpId="0" animBg="1"/>
      <p:bldP spid="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904" y="0"/>
            <a:ext cx="7343394" cy="645395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 flipV="1">
            <a:off x="3077757" y="2753514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/>
          <p:cNvSpPr/>
          <p:nvPr/>
        </p:nvSpPr>
        <p:spPr>
          <a:xfrm flipV="1">
            <a:off x="4107103" y="4162619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 flipV="1">
            <a:off x="5057283" y="4625993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/>
          <p:cNvSpPr/>
          <p:nvPr/>
        </p:nvSpPr>
        <p:spPr>
          <a:xfrm flipV="1">
            <a:off x="6127663" y="4145685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/>
          <p:cNvSpPr/>
          <p:nvPr/>
        </p:nvSpPr>
        <p:spPr>
          <a:xfrm flipV="1">
            <a:off x="7058947" y="2722495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/>
          <p:cNvSpPr/>
          <p:nvPr/>
        </p:nvSpPr>
        <p:spPr>
          <a:xfrm flipV="1">
            <a:off x="8089295" y="371612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/>
          <p:cNvSpPr/>
          <p:nvPr/>
        </p:nvSpPr>
        <p:spPr>
          <a:xfrm flipV="1">
            <a:off x="2078824" y="366289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Freeform 23"/>
          <p:cNvSpPr/>
          <p:nvPr/>
        </p:nvSpPr>
        <p:spPr>
          <a:xfrm>
            <a:off x="2155371" y="428171"/>
            <a:ext cx="5994399" cy="4281715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0766320"/>
                  </p:ext>
                </p:extLst>
              </p:nvPr>
            </p:nvGraphicFramePr>
            <p:xfrm>
              <a:off x="7202963" y="4896230"/>
              <a:ext cx="4487814" cy="155772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9598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196467171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>
                              <a:solidFill>
                                <a:schemeClr val="bg1"/>
                              </a:solidFill>
                            </a:rPr>
                            <a:t>x</a:t>
                          </a:r>
                          <a:endParaRPr lang="en-AU" sz="1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-3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-2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-1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0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1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2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3</a:t>
                          </a:r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1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1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18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8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8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18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64039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f>
                                      <m:fPr>
                                        <m:type m:val="skw"/>
                                        <m:ctrlPr>
                                          <a:rPr lang="en-AU" sz="18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AU" sz="18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num>
                                      <m:den>
                                        <m:r>
                                          <a:rPr lang="en-AU" sz="1800" b="1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den>
                                    </m:f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1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1" dirty="0" smtClean="0"/>
                            <a:t>4.5</a:t>
                          </a:r>
                          <a:endParaRPr lang="en-AU" b="1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1" dirty="0" smtClean="0"/>
                            <a:t>2</a:t>
                          </a:r>
                          <a:endParaRPr lang="en-AU" b="1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1" dirty="0" smtClean="0"/>
                            <a:t>0.5</a:t>
                          </a:r>
                          <a:endParaRPr lang="en-AU" b="1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1" dirty="0" smtClean="0"/>
                            <a:t>0</a:t>
                          </a:r>
                          <a:endParaRPr lang="en-AU" b="1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1" dirty="0" smtClean="0"/>
                            <a:t>0.5</a:t>
                          </a:r>
                          <a:endParaRPr lang="en-AU" b="1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1" dirty="0" smtClean="0"/>
                            <a:t>2</a:t>
                          </a:r>
                          <a:endParaRPr lang="en-AU" b="1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1" dirty="0" smtClean="0"/>
                            <a:t>4.5</a:t>
                          </a:r>
                          <a:endParaRPr lang="en-AU" b="1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0334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0766320"/>
                  </p:ext>
                </p:extLst>
              </p:nvPr>
            </p:nvGraphicFramePr>
            <p:xfrm>
              <a:off x="7202963" y="4896230"/>
              <a:ext cx="4487814" cy="155772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9598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196467171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>
                              <a:solidFill>
                                <a:schemeClr val="bg1"/>
                              </a:solidFill>
                            </a:rPr>
                            <a:t>x</a:t>
                          </a:r>
                          <a:endParaRPr lang="en-AU" sz="1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-3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-2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-1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0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1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2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3</a:t>
                          </a:r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33" t="-106557" r="-367722" b="-4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33" t="-206557" r="-367722" b="-3491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18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8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8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18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64039"/>
                      </a:ext>
                    </a:extLst>
                  </a:tr>
                  <a:tr h="4481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33" t="-252703" r="-367722" b="-1878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1" dirty="0" smtClean="0"/>
                            <a:t>4.5</a:t>
                          </a:r>
                          <a:endParaRPr lang="en-AU" b="1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1" dirty="0" smtClean="0"/>
                            <a:t>2</a:t>
                          </a:r>
                          <a:endParaRPr lang="en-AU" b="1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1" dirty="0" smtClean="0"/>
                            <a:t>0.5</a:t>
                          </a:r>
                          <a:endParaRPr lang="en-AU" b="1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1" dirty="0" smtClean="0"/>
                            <a:t>0</a:t>
                          </a:r>
                          <a:endParaRPr lang="en-AU" b="1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1" dirty="0" smtClean="0"/>
                            <a:t>0.5</a:t>
                          </a:r>
                          <a:endParaRPr lang="en-AU" b="1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1" dirty="0" smtClean="0"/>
                            <a:t>2</a:t>
                          </a:r>
                          <a:endParaRPr lang="en-AU" b="1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1" dirty="0" smtClean="0"/>
                            <a:t>4.5</a:t>
                          </a:r>
                          <a:endParaRPr lang="en-AU" b="1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0334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Oval 24"/>
          <p:cNvSpPr/>
          <p:nvPr/>
        </p:nvSpPr>
        <p:spPr>
          <a:xfrm flipV="1">
            <a:off x="3084169" y="843150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Oval 25"/>
          <p:cNvSpPr/>
          <p:nvPr/>
        </p:nvSpPr>
        <p:spPr>
          <a:xfrm flipV="1">
            <a:off x="4107103" y="3688425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Oval 26"/>
          <p:cNvSpPr/>
          <p:nvPr/>
        </p:nvSpPr>
        <p:spPr>
          <a:xfrm flipV="1">
            <a:off x="5073561" y="4621898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Oval 28"/>
          <p:cNvSpPr/>
          <p:nvPr/>
        </p:nvSpPr>
        <p:spPr>
          <a:xfrm flipV="1">
            <a:off x="6081954" y="3688424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8" name="Freeform 57"/>
          <p:cNvSpPr/>
          <p:nvPr/>
        </p:nvSpPr>
        <p:spPr>
          <a:xfrm>
            <a:off x="2982898" y="292589"/>
            <a:ext cx="4339344" cy="4389731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9" name="Freeform 58"/>
          <p:cNvSpPr/>
          <p:nvPr/>
        </p:nvSpPr>
        <p:spPr>
          <a:xfrm>
            <a:off x="1976467" y="2112775"/>
            <a:ext cx="6366723" cy="2592981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31" name="Group 30"/>
          <p:cNvGrpSpPr/>
          <p:nvPr/>
        </p:nvGrpSpPr>
        <p:grpSpPr>
          <a:xfrm>
            <a:off x="10740044" y="53177"/>
            <a:ext cx="1417791" cy="1518673"/>
            <a:chOff x="869182" y="3602071"/>
            <a:chExt cx="1826847" cy="241406"/>
          </a:xfrm>
        </p:grpSpPr>
        <p:sp>
          <p:nvSpPr>
            <p:cNvPr id="32" name="TextBox 31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869182" y="3698533"/>
                  <a:ext cx="1826846" cy="144944"/>
                </a:xfrm>
                <a:prstGeom prst="rect">
                  <a:avLst/>
                </a:prstGeom>
                <a:solidFill>
                  <a:srgbClr val="163B68">
                    <a:alpha val="60000"/>
                  </a:srgbClr>
                </a:solidFill>
                <a:ln>
                  <a:solidFill>
                    <a:srgbClr val="005C4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 smtClean="0">
                      <a:solidFill>
                        <a:schemeClr val="tx1"/>
                      </a:solidFill>
                    </a:rPr>
                    <a:t>Where is the turning point of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AU" dirty="0" smtClean="0">
                      <a:solidFill>
                        <a:schemeClr val="tx1"/>
                      </a:solidFill>
                    </a:rPr>
                    <a:t>?</a:t>
                  </a:r>
                  <a:endParaRPr lang="en-AU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182" y="3698533"/>
                  <a:ext cx="1826846" cy="144944"/>
                </a:xfrm>
                <a:prstGeom prst="rect">
                  <a:avLst/>
                </a:prstGeom>
                <a:blipFill>
                  <a:blip r:embed="rId4"/>
                  <a:stretch>
                    <a:fillRect l="-3419" t="-2632" r="-5983" b="-9868"/>
                  </a:stretch>
                </a:blipFill>
                <a:ln>
                  <a:solidFill>
                    <a:srgbClr val="005C41"/>
                  </a:solidFill>
                </a:ln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/>
          <p:cNvGrpSpPr/>
          <p:nvPr/>
        </p:nvGrpSpPr>
        <p:grpSpPr>
          <a:xfrm>
            <a:off x="10762573" y="1688779"/>
            <a:ext cx="1417791" cy="1518673"/>
            <a:chOff x="869182" y="3602071"/>
            <a:chExt cx="1826847" cy="241406"/>
          </a:xfrm>
        </p:grpSpPr>
        <p:sp>
          <p:nvSpPr>
            <p:cNvPr id="35" name="TextBox 34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869182" y="3698533"/>
                  <a:ext cx="1826846" cy="144944"/>
                </a:xfrm>
                <a:prstGeom prst="rect">
                  <a:avLst/>
                </a:prstGeom>
                <a:solidFill>
                  <a:srgbClr val="163B68">
                    <a:alpha val="60000"/>
                  </a:srgbClr>
                </a:solidFill>
                <a:ln>
                  <a:solidFill>
                    <a:srgbClr val="005C4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 smtClean="0">
                      <a:solidFill>
                        <a:schemeClr val="tx1"/>
                      </a:solidFill>
                    </a:rPr>
                    <a:t>Where is the turning point of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AU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AU" dirty="0" smtClean="0">
                      <a:solidFill>
                        <a:schemeClr val="tx1"/>
                      </a:solidFill>
                    </a:rPr>
                    <a:t>?</a:t>
                  </a:r>
                  <a:endParaRPr lang="en-AU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182" y="3698533"/>
                  <a:ext cx="1826846" cy="144944"/>
                </a:xfrm>
                <a:prstGeom prst="rect">
                  <a:avLst/>
                </a:prstGeom>
                <a:blipFill>
                  <a:blip r:embed="rId5"/>
                  <a:stretch>
                    <a:fillRect l="-3419" t="-9272" r="-5983" b="-10596"/>
                  </a:stretch>
                </a:blipFill>
                <a:ln>
                  <a:solidFill>
                    <a:srgbClr val="005C41"/>
                  </a:solidFill>
                </a:ln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7886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4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58" grpId="0" animBg="1"/>
      <p:bldP spid="5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 txBox="1">
            <a:spLocks/>
          </p:cNvSpPr>
          <p:nvPr/>
        </p:nvSpPr>
        <p:spPr>
          <a:xfrm>
            <a:off x="188399" y="803564"/>
            <a:ext cx="10213594" cy="5505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AU" sz="2400" i="1" dirty="0" smtClean="0"/>
          </a:p>
          <a:p>
            <a:pPr marL="0" indent="0">
              <a:buNone/>
            </a:pPr>
            <a:endParaRPr lang="en-AU" sz="2400" b="1" i="1" dirty="0" smtClean="0">
              <a:solidFill>
                <a:srgbClr val="7030A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>
              <a:solidFill>
                <a:srgbClr val="7030A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>
              <a:solidFill>
                <a:srgbClr val="7030A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948" y="82302"/>
            <a:ext cx="376978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45617" y="1001485"/>
                <a:ext cx="7458773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7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7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7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7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7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7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7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7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7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17" y="1001485"/>
                <a:ext cx="7458773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928915" y="2245388"/>
            <a:ext cx="935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solidFill>
                  <a:srgbClr val="FF0000"/>
                </a:solidFill>
              </a:rPr>
              <a:t>What is the effect of changing the value of ‘</a:t>
            </a:r>
            <a:r>
              <a:rPr lang="en-AU" sz="3600" dirty="0">
                <a:solidFill>
                  <a:srgbClr val="00B050"/>
                </a:solidFill>
              </a:rPr>
              <a:t>a</a:t>
            </a:r>
            <a:r>
              <a:rPr lang="en-AU" sz="3600" dirty="0" smtClean="0">
                <a:solidFill>
                  <a:srgbClr val="FF0000"/>
                </a:solidFill>
              </a:rPr>
              <a:t>’?</a:t>
            </a:r>
            <a:endParaRPr lang="en-AU" sz="3600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8915" y="3404515"/>
            <a:ext cx="9354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solidFill>
                  <a:srgbClr val="FF0000"/>
                </a:solidFill>
              </a:rPr>
              <a:t>Dilation of the parabola by a factor of ‘</a:t>
            </a:r>
            <a:r>
              <a:rPr lang="en-AU" sz="3600" dirty="0" smtClean="0">
                <a:solidFill>
                  <a:srgbClr val="00B050"/>
                </a:solidFill>
              </a:rPr>
              <a:t>a</a:t>
            </a:r>
            <a:r>
              <a:rPr lang="en-AU" sz="3600" dirty="0" smtClean="0">
                <a:solidFill>
                  <a:srgbClr val="FF0000"/>
                </a:solidFill>
              </a:rPr>
              <a:t>’ units making it narrower/wider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928915" y="4549676"/>
                <a:ext cx="9354456" cy="2032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600" dirty="0" smtClean="0"/>
                  <a:t>For example: the graph </a:t>
                </a:r>
                <a14:m>
                  <m:oMath xmlns:m="http://schemas.openxmlformats.org/officeDocument/2006/math">
                    <m:r>
                      <a:rPr lang="en-AU" sz="3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3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3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sz="3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3600" dirty="0" smtClean="0">
                    <a:solidFill>
                      <a:srgbClr val="0070C0"/>
                    </a:solidFill>
                  </a:rPr>
                  <a:t> will become narrower by a factor of 3</a:t>
                </a:r>
                <a:r>
                  <a:rPr lang="en-AU" sz="3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AU" sz="3600" dirty="0" smtClean="0"/>
                  <a:t>and the graph </a:t>
                </a:r>
                <a14:m>
                  <m:oMath xmlns:m="http://schemas.openxmlformats.org/officeDocument/2006/math">
                    <m:r>
                      <a:rPr lang="en-AU" sz="3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36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3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AU" sz="3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3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sz="3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a:rPr lang="en-AU" sz="3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3600" dirty="0" smtClean="0">
                    <a:solidFill>
                      <a:srgbClr val="00B050"/>
                    </a:solidFill>
                  </a:rPr>
                  <a:t> will become wider by a factor of 1/7</a:t>
                </a:r>
                <a:endParaRPr lang="en-AU" sz="3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15" y="4549676"/>
                <a:ext cx="9354456" cy="2032801"/>
              </a:xfrm>
              <a:prstGeom prst="rect">
                <a:avLst/>
              </a:prstGeom>
              <a:blipFill>
                <a:blip r:embed="rId3"/>
                <a:stretch>
                  <a:fillRect l="-1954" t="-4192" b="-77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10283371" y="242148"/>
            <a:ext cx="1417791" cy="1518673"/>
            <a:chOff x="869182" y="3602071"/>
            <a:chExt cx="1826847" cy="241406"/>
          </a:xfrm>
        </p:grpSpPr>
        <p:sp>
          <p:nvSpPr>
            <p:cNvPr id="9" name="TextBox 8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69182" y="3698533"/>
              <a:ext cx="1826846" cy="14494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effect of changing ‘a’?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0314991" y="1962091"/>
            <a:ext cx="1417791" cy="1518673"/>
            <a:chOff x="869182" y="3602071"/>
            <a:chExt cx="1826847" cy="241406"/>
          </a:xfrm>
        </p:grpSpPr>
        <p:sp>
          <p:nvSpPr>
            <p:cNvPr id="12" name="TextBox 11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69182" y="3698533"/>
              <a:ext cx="1826846" cy="14494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effect of changing ‘a’?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201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948" y="82302"/>
            <a:ext cx="5110904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/>
              <p:cNvSpPr txBox="1">
                <a:spLocks/>
              </p:cNvSpPr>
              <p:nvPr/>
            </p:nvSpPr>
            <p:spPr>
              <a:xfrm>
                <a:off x="103948" y="776390"/>
                <a:ext cx="10091502" cy="55056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4400" b="1" dirty="0" smtClean="0"/>
                  <a:t>Sketch the graph of the following equation </a:t>
                </a:r>
                <a14:m>
                  <m:oMath xmlns:m="http://schemas.openxmlformats.org/officeDocument/2006/math"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4400" b="1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4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4400" b="1" dirty="0" smtClean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4400" b="1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AU" sz="4400" b="1" dirty="0" smtClean="0"/>
                  <a:t>for </a:t>
                </a:r>
                <a14:m>
                  <m:oMath xmlns:m="http://schemas.openxmlformats.org/officeDocument/2006/math">
                    <m:r>
                      <a:rPr lang="en-AU" sz="4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44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endParaRPr lang="en-AU" sz="2400" i="1" dirty="0" smtClean="0"/>
              </a:p>
              <a:p>
                <a:pPr marL="0" indent="0">
                  <a:buNone/>
                </a:pPr>
                <a:r>
                  <a:rPr lang="en-AU" sz="2400" b="1" i="1" dirty="0" smtClean="0">
                    <a:solidFill>
                      <a:srgbClr val="7030A0"/>
                    </a:solidFill>
                  </a:rPr>
                  <a:t>Substitute each number into the equation to find the points we need. </a:t>
                </a: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AU" sz="2400" b="1" i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 smtClean="0">
                  <a:solidFill>
                    <a:srgbClr val="7030A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48" y="776390"/>
                <a:ext cx="10091502" cy="5505613"/>
              </a:xfrm>
              <a:prstGeom prst="rect">
                <a:avLst/>
              </a:prstGeom>
              <a:blipFill>
                <a:blip r:embed="rId2"/>
                <a:stretch>
                  <a:fillRect l="-2417" t="-3429" r="-33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1200310"/>
                  </p:ext>
                </p:extLst>
              </p:nvPr>
            </p:nvGraphicFramePr>
            <p:xfrm>
              <a:off x="103948" y="3226679"/>
              <a:ext cx="11020504" cy="201912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59422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09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1964671711"/>
                        </a:ext>
                      </a:extLst>
                    </a:gridCol>
                  </a:tblGrid>
                  <a:tr h="540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 smtClean="0">
                              <a:solidFill>
                                <a:schemeClr val="bg1"/>
                              </a:solidFill>
                            </a:rPr>
                            <a:t>x</a:t>
                          </a:r>
                          <a:endParaRPr lang="en-AU" sz="3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-3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-2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-1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2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3</a:t>
                          </a:r>
                          <a:endParaRPr lang="en-AU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3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3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3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640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1200310"/>
                  </p:ext>
                </p:extLst>
              </p:nvPr>
            </p:nvGraphicFramePr>
            <p:xfrm>
              <a:off x="103948" y="3226679"/>
              <a:ext cx="11020504" cy="201912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59422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09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77563">
                      <a:extLst>
                        <a:ext uri="{9D8B030D-6E8A-4147-A177-3AD203B41FA5}">
                          <a16:colId xmlns:a16="http://schemas.microsoft.com/office/drawing/2014/main" val="1964671711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dirty="0" smtClean="0">
                              <a:solidFill>
                                <a:schemeClr val="bg1"/>
                              </a:solidFill>
                            </a:rPr>
                            <a:t>x</a:t>
                          </a:r>
                          <a:endParaRPr lang="en-AU" sz="3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-3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-2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-1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2</a:t>
                          </a:r>
                          <a:endParaRPr lang="en-AU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3</a:t>
                          </a:r>
                          <a:endParaRPr lang="en-AU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2" t="-90756" r="-590840" b="-1067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2" t="-192373" r="-590840" b="-76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-4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200" b="1" dirty="0" smtClean="0">
                              <a:solidFill>
                                <a:srgbClr val="FF0000"/>
                              </a:solidFill>
                            </a:rPr>
                            <a:t>-9</a:t>
                          </a:r>
                          <a:endParaRPr lang="en-AU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64039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5" name="Group 24"/>
          <p:cNvGrpSpPr/>
          <p:nvPr/>
        </p:nvGrpSpPr>
        <p:grpSpPr>
          <a:xfrm>
            <a:off x="10113820" y="136668"/>
            <a:ext cx="1939635" cy="1283479"/>
            <a:chOff x="869182" y="3602071"/>
            <a:chExt cx="1826847" cy="407283"/>
          </a:xfrm>
        </p:grpSpPr>
        <p:sp>
          <p:nvSpPr>
            <p:cNvPr id="26" name="TextBox 25"/>
            <p:cNvSpPr txBox="1"/>
            <p:nvPr/>
          </p:nvSpPr>
          <p:spPr>
            <a:xfrm>
              <a:off x="869182" y="3602071"/>
              <a:ext cx="1826847" cy="97666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69182" y="3713914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did we do to find the value of y when x = -3?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0113819" y="1464823"/>
            <a:ext cx="1939635" cy="1283479"/>
            <a:chOff x="869182" y="3602071"/>
            <a:chExt cx="1826847" cy="407283"/>
          </a:xfrm>
        </p:grpSpPr>
        <p:sp>
          <p:nvSpPr>
            <p:cNvPr id="30" name="TextBox 29"/>
            <p:cNvSpPr txBox="1"/>
            <p:nvPr/>
          </p:nvSpPr>
          <p:spPr>
            <a:xfrm>
              <a:off x="869182" y="3602071"/>
              <a:ext cx="1826847" cy="97666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69182" y="3713914"/>
              <a:ext cx="1826846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did we do to find the value of y when x = -2?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078698" y="3941575"/>
            <a:ext cx="894521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862302" y="4631037"/>
            <a:ext cx="87473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1912570" y="5332195"/>
            <a:ext cx="88690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793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2" grpId="0" animBg="1"/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904" y="0"/>
            <a:ext cx="7343394" cy="645395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 flipV="1">
            <a:off x="4035095" y="5080622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 flipV="1">
            <a:off x="5057283" y="4625993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/>
          <p:cNvSpPr/>
          <p:nvPr/>
        </p:nvSpPr>
        <p:spPr>
          <a:xfrm flipV="1">
            <a:off x="6081954" y="5080621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Freeform 23"/>
          <p:cNvSpPr/>
          <p:nvPr/>
        </p:nvSpPr>
        <p:spPr>
          <a:xfrm flipV="1">
            <a:off x="3146445" y="4709883"/>
            <a:ext cx="3974320" cy="1832904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7455901"/>
                  </p:ext>
                </p:extLst>
              </p:nvPr>
            </p:nvGraphicFramePr>
            <p:xfrm>
              <a:off x="7202963" y="4896230"/>
              <a:ext cx="4487814" cy="110960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9598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196467171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>
                              <a:solidFill>
                                <a:schemeClr val="bg1"/>
                              </a:solidFill>
                            </a:rPr>
                            <a:t>x</a:t>
                          </a:r>
                          <a:endParaRPr lang="en-AU" sz="1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-3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-2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-1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0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1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2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3</a:t>
                          </a:r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1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1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-9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-4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-4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-9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640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7455901"/>
                  </p:ext>
                </p:extLst>
              </p:nvPr>
            </p:nvGraphicFramePr>
            <p:xfrm>
              <a:off x="7202963" y="4896230"/>
              <a:ext cx="4487814" cy="110960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9598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04000">
                      <a:extLst>
                        <a:ext uri="{9D8B030D-6E8A-4147-A177-3AD203B41FA5}">
                          <a16:colId xmlns:a16="http://schemas.microsoft.com/office/drawing/2014/main" val="196467171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>
                              <a:solidFill>
                                <a:schemeClr val="bg1"/>
                              </a:solidFill>
                            </a:rPr>
                            <a:t>x</a:t>
                          </a:r>
                          <a:endParaRPr lang="en-AU" sz="18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-3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-2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-1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0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1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2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 smtClean="0"/>
                            <a:t>3</a:t>
                          </a:r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33" t="-104839" r="-367722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4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00B050"/>
                              </a:solidFill>
                            </a:rPr>
                            <a:t>9</a:t>
                          </a:r>
                          <a:endParaRPr lang="en-AU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1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33" t="-208197" r="-367722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-9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-4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-4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b="1" dirty="0" smtClean="0">
                              <a:solidFill>
                                <a:srgbClr val="FF0000"/>
                              </a:solidFill>
                            </a:rPr>
                            <a:t>-9</a:t>
                          </a:r>
                          <a:endParaRPr lang="en-AU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6403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Oval 24"/>
          <p:cNvSpPr/>
          <p:nvPr/>
        </p:nvSpPr>
        <p:spPr>
          <a:xfrm flipV="1">
            <a:off x="3084169" y="843150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Oval 25"/>
          <p:cNvSpPr/>
          <p:nvPr/>
        </p:nvSpPr>
        <p:spPr>
          <a:xfrm flipV="1">
            <a:off x="4107103" y="3688425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Oval 26"/>
          <p:cNvSpPr/>
          <p:nvPr/>
        </p:nvSpPr>
        <p:spPr>
          <a:xfrm flipV="1">
            <a:off x="5073561" y="4621898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Oval 28"/>
          <p:cNvSpPr/>
          <p:nvPr/>
        </p:nvSpPr>
        <p:spPr>
          <a:xfrm flipV="1">
            <a:off x="6081954" y="3688424"/>
            <a:ext cx="144016" cy="17030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8" name="Freeform 57"/>
          <p:cNvSpPr/>
          <p:nvPr/>
        </p:nvSpPr>
        <p:spPr>
          <a:xfrm>
            <a:off x="2982898" y="292589"/>
            <a:ext cx="4339344" cy="4389731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8" name="Group 27"/>
          <p:cNvGrpSpPr/>
          <p:nvPr/>
        </p:nvGrpSpPr>
        <p:grpSpPr>
          <a:xfrm>
            <a:off x="10740044" y="53177"/>
            <a:ext cx="1417791" cy="1518673"/>
            <a:chOff x="869182" y="3602071"/>
            <a:chExt cx="1826847" cy="241406"/>
          </a:xfrm>
        </p:grpSpPr>
        <p:sp>
          <p:nvSpPr>
            <p:cNvPr id="30" name="TextBox 29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869182" y="3698533"/>
                  <a:ext cx="1826846" cy="144944"/>
                </a:xfrm>
                <a:prstGeom prst="rect">
                  <a:avLst/>
                </a:prstGeom>
                <a:solidFill>
                  <a:srgbClr val="163B68">
                    <a:alpha val="60000"/>
                  </a:srgbClr>
                </a:solidFill>
                <a:ln>
                  <a:solidFill>
                    <a:srgbClr val="005C4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dirty="0" smtClean="0">
                      <a:solidFill>
                        <a:schemeClr val="tx1"/>
                      </a:solidFill>
                    </a:rPr>
                    <a:t>Where is the turning point of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AU" dirty="0" smtClean="0">
                      <a:solidFill>
                        <a:schemeClr val="tx1"/>
                      </a:solidFill>
                    </a:rPr>
                    <a:t>?</a:t>
                  </a:r>
                  <a:endParaRPr lang="en-AU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182" y="3698533"/>
                  <a:ext cx="1826846" cy="144944"/>
                </a:xfrm>
                <a:prstGeom prst="rect">
                  <a:avLst/>
                </a:prstGeom>
                <a:blipFill>
                  <a:blip r:embed="rId4"/>
                  <a:stretch>
                    <a:fillRect l="-3419" t="-2632" r="-5983" b="-9868"/>
                  </a:stretch>
                </a:blipFill>
                <a:ln>
                  <a:solidFill>
                    <a:srgbClr val="005C41"/>
                  </a:solidFill>
                </a:ln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2820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5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 txBox="1">
            <a:spLocks/>
          </p:cNvSpPr>
          <p:nvPr/>
        </p:nvSpPr>
        <p:spPr>
          <a:xfrm>
            <a:off x="188399" y="803564"/>
            <a:ext cx="10213594" cy="5505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AU" sz="2400" i="1" dirty="0" smtClean="0"/>
          </a:p>
          <a:p>
            <a:pPr marL="0" indent="0">
              <a:buNone/>
            </a:pPr>
            <a:endParaRPr lang="en-AU" sz="2400" b="1" i="1" dirty="0" smtClean="0">
              <a:solidFill>
                <a:srgbClr val="7030A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>
              <a:solidFill>
                <a:srgbClr val="7030A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>
              <a:solidFill>
                <a:srgbClr val="7030A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948" y="82302"/>
            <a:ext cx="376978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45617" y="1001485"/>
                <a:ext cx="7458773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7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7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7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7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7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7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7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7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7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17" y="1001485"/>
                <a:ext cx="7458773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928915" y="2245388"/>
            <a:ext cx="935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solidFill>
                  <a:srgbClr val="FF0000"/>
                </a:solidFill>
              </a:rPr>
              <a:t>What is the effect of ‘</a:t>
            </a:r>
            <a:r>
              <a:rPr lang="en-AU" sz="3600" dirty="0">
                <a:solidFill>
                  <a:srgbClr val="00B050"/>
                </a:solidFill>
              </a:rPr>
              <a:t>a</a:t>
            </a:r>
            <a:r>
              <a:rPr lang="en-AU" sz="3600" dirty="0" smtClean="0">
                <a:solidFill>
                  <a:srgbClr val="FF0000"/>
                </a:solidFill>
              </a:rPr>
              <a:t>’ becoming negative?</a:t>
            </a:r>
            <a:endParaRPr lang="en-AU" sz="3600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8915" y="3404515"/>
            <a:ext cx="935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solidFill>
                  <a:srgbClr val="FF0000"/>
                </a:solidFill>
              </a:rPr>
              <a:t>Reflects the parabola in the x axis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928915" y="4549676"/>
                <a:ext cx="935445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600" dirty="0" smtClean="0"/>
                  <a:t>For example: the graph </a:t>
                </a:r>
                <a14:m>
                  <m:oMath xmlns:m="http://schemas.openxmlformats.org/officeDocument/2006/math">
                    <m:r>
                      <a:rPr lang="en-AU" sz="3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3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3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AU" sz="3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3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3600" dirty="0" smtClean="0">
                    <a:solidFill>
                      <a:srgbClr val="0070C0"/>
                    </a:solidFill>
                  </a:rPr>
                  <a:t> will become narrower by a factor of 3 and reflected in the x axis</a:t>
                </a:r>
                <a:endParaRPr lang="en-AU" sz="3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15" y="4549676"/>
                <a:ext cx="9354456" cy="1754326"/>
              </a:xfrm>
              <a:prstGeom prst="rect">
                <a:avLst/>
              </a:prstGeom>
              <a:blipFill>
                <a:blip r:embed="rId3"/>
                <a:stretch>
                  <a:fillRect l="-1954" t="-4861" b="-121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10283371" y="242148"/>
            <a:ext cx="1417791" cy="2245474"/>
            <a:chOff x="869182" y="3602071"/>
            <a:chExt cx="1826847" cy="241406"/>
          </a:xfrm>
        </p:grpSpPr>
        <p:sp>
          <p:nvSpPr>
            <p:cNvPr id="9" name="TextBox 8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69182" y="3698533"/>
              <a:ext cx="1826846" cy="14494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effect of changing ‘a’ to a negative?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6994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 txBox="1">
            <a:spLocks/>
          </p:cNvSpPr>
          <p:nvPr/>
        </p:nvSpPr>
        <p:spPr>
          <a:xfrm>
            <a:off x="188399" y="803564"/>
            <a:ext cx="10213594" cy="5505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AU" sz="2400" i="1" dirty="0" smtClean="0"/>
          </a:p>
          <a:p>
            <a:pPr marL="0" indent="0">
              <a:buNone/>
            </a:pPr>
            <a:endParaRPr lang="en-AU" sz="2400" b="1" i="1" dirty="0" smtClean="0">
              <a:solidFill>
                <a:srgbClr val="7030A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 smtClean="0">
              <a:solidFill>
                <a:srgbClr val="7030A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>
              <a:solidFill>
                <a:srgbClr val="7030A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948" y="82302"/>
            <a:ext cx="376978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45617" y="1001485"/>
                <a:ext cx="7458773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7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7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7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7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7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7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7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7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7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sz="7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617" y="1001485"/>
                <a:ext cx="7458773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826684" y="2278766"/>
            <a:ext cx="9354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/>
              <a:t>What are the effects of changing the value of ‘</a:t>
            </a:r>
            <a:r>
              <a:rPr lang="en-AU" sz="3600" dirty="0" smtClean="0">
                <a:solidFill>
                  <a:srgbClr val="FF0000"/>
                </a:solidFill>
              </a:rPr>
              <a:t>k</a:t>
            </a:r>
            <a:r>
              <a:rPr lang="en-AU" sz="3600" dirty="0" smtClean="0"/>
              <a:t>’, ‘</a:t>
            </a:r>
            <a:r>
              <a:rPr lang="en-AU" sz="3600" dirty="0" smtClean="0">
                <a:solidFill>
                  <a:srgbClr val="7030A0"/>
                </a:solidFill>
              </a:rPr>
              <a:t>h</a:t>
            </a:r>
            <a:r>
              <a:rPr lang="en-AU" sz="3600" dirty="0" smtClean="0"/>
              <a:t>’ and ‘</a:t>
            </a:r>
            <a:r>
              <a:rPr lang="en-AU" sz="3600" dirty="0" smtClean="0">
                <a:solidFill>
                  <a:srgbClr val="00B050"/>
                </a:solidFill>
              </a:rPr>
              <a:t>a</a:t>
            </a:r>
            <a:r>
              <a:rPr lang="en-AU" sz="3600" dirty="0" smtClean="0"/>
              <a:t>’?</a:t>
            </a:r>
            <a:endParaRPr lang="en-AU" sz="3600" dirty="0"/>
          </a:p>
        </p:txBody>
      </p:sp>
      <p:sp>
        <p:nvSpPr>
          <p:cNvPr id="22" name="TextBox 21"/>
          <p:cNvSpPr txBox="1"/>
          <p:nvPr/>
        </p:nvSpPr>
        <p:spPr>
          <a:xfrm>
            <a:off x="826684" y="3556370"/>
            <a:ext cx="935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solidFill>
                  <a:srgbClr val="FF0000"/>
                </a:solidFill>
              </a:rPr>
              <a:t>k – Vertical Translation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0652539" y="168315"/>
            <a:ext cx="1417791" cy="2245474"/>
            <a:chOff x="869182" y="3602071"/>
            <a:chExt cx="1826847" cy="241406"/>
          </a:xfrm>
        </p:grpSpPr>
        <p:sp>
          <p:nvSpPr>
            <p:cNvPr id="9" name="TextBox 8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69182" y="3698533"/>
              <a:ext cx="1826846" cy="14494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effect of changing ‘k’?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826684" y="4202701"/>
            <a:ext cx="935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solidFill>
                  <a:srgbClr val="7030A0"/>
                </a:solidFill>
              </a:rPr>
              <a:t>h</a:t>
            </a:r>
            <a:r>
              <a:rPr lang="en-AU" sz="3600" dirty="0" smtClean="0">
                <a:solidFill>
                  <a:srgbClr val="7030A0"/>
                </a:solidFill>
              </a:rPr>
              <a:t> – Horizontal Translation (opposite direction)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84" y="4849032"/>
            <a:ext cx="935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solidFill>
                  <a:srgbClr val="00B050"/>
                </a:solidFill>
              </a:rPr>
              <a:t>a – dilation of parabola (wider or narrower)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84" y="5476107"/>
            <a:ext cx="1056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solidFill>
                  <a:srgbClr val="00B050"/>
                </a:solidFill>
              </a:rPr>
              <a:t>a – negative value reflects in the x </a:t>
            </a:r>
            <a:r>
              <a:rPr lang="en-AU" sz="3600" dirty="0" smtClean="0">
                <a:solidFill>
                  <a:srgbClr val="00B050"/>
                </a:solidFill>
              </a:rPr>
              <a:t>axis</a:t>
            </a:r>
            <a:endParaRPr lang="en-AU" sz="3600" dirty="0" smtClean="0">
              <a:solidFill>
                <a:srgbClr val="00B050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0652538" y="2603558"/>
            <a:ext cx="1417791" cy="2245474"/>
            <a:chOff x="869182" y="3602071"/>
            <a:chExt cx="1826847" cy="241406"/>
          </a:xfrm>
        </p:grpSpPr>
        <p:sp>
          <p:nvSpPr>
            <p:cNvPr id="17" name="TextBox 16"/>
            <p:cNvSpPr txBox="1"/>
            <p:nvPr/>
          </p:nvSpPr>
          <p:spPr>
            <a:xfrm>
              <a:off x="869182" y="3602071"/>
              <a:ext cx="1826847" cy="8317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  <a:endParaRPr lang="en-AU" sz="1400" b="1" dirty="0" smtClean="0">
                <a:solidFill>
                  <a:schemeClr val="bg1"/>
                </a:solidFill>
              </a:endParaRPr>
            </a:p>
            <a:p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69182" y="3698533"/>
              <a:ext cx="1826846" cy="14494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effect of changing ‘</a:t>
              </a:r>
              <a:r>
                <a:rPr lang="en-AU" dirty="0">
                  <a:solidFill>
                    <a:schemeClr val="tx1"/>
                  </a:solidFill>
                </a:rPr>
                <a:t>h</a:t>
              </a:r>
              <a:r>
                <a:rPr lang="en-AU" dirty="0" smtClean="0">
                  <a:solidFill>
                    <a:schemeClr val="tx1"/>
                  </a:solidFill>
                </a:rPr>
                <a:t>’?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992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1" grpId="0"/>
      <p:bldP spid="12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25" y="53179"/>
            <a:ext cx="7343394" cy="6453950"/>
          </a:xfrm>
          <a:prstGeom prst="rect">
            <a:avLst/>
          </a:prstGeom>
        </p:spPr>
      </p:pic>
      <p:sp>
        <p:nvSpPr>
          <p:cNvPr id="47" name="Freeform 46"/>
          <p:cNvSpPr/>
          <p:nvPr/>
        </p:nvSpPr>
        <p:spPr>
          <a:xfrm>
            <a:off x="775253" y="468629"/>
            <a:ext cx="5994399" cy="4281715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503818" y="124949"/>
                <a:ext cx="4688181" cy="123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Write the equation of the parabolas and describe the translation from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dirty="0" smtClean="0"/>
                  <a:t> </a:t>
                </a:r>
                <a:endParaRPr lang="en-AU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818" y="124949"/>
                <a:ext cx="4688181" cy="1231940"/>
              </a:xfrm>
              <a:prstGeom prst="rect">
                <a:avLst/>
              </a:prstGeom>
              <a:blipFill>
                <a:blip r:embed="rId3"/>
                <a:stretch>
                  <a:fillRect l="-2081" t="-3941" r="-1821" b="-4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341437" y="90962"/>
                <a:ext cx="978793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437" y="90962"/>
                <a:ext cx="978793" cy="377667"/>
              </a:xfrm>
              <a:prstGeom prst="rect">
                <a:avLst/>
              </a:prstGeom>
              <a:blipFill>
                <a:blip r:embed="rId4"/>
                <a:stretch>
                  <a:fillRect l="-7453" t="-1613" r="-2484" b="-258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Freeform 58"/>
          <p:cNvSpPr/>
          <p:nvPr/>
        </p:nvSpPr>
        <p:spPr>
          <a:xfrm>
            <a:off x="-258418" y="-956927"/>
            <a:ext cx="5994399" cy="4281715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0" name="Freeform 59"/>
          <p:cNvSpPr/>
          <p:nvPr/>
        </p:nvSpPr>
        <p:spPr>
          <a:xfrm>
            <a:off x="2738781" y="0"/>
            <a:ext cx="5994399" cy="4281715"/>
          </a:xfrm>
          <a:custGeom>
            <a:avLst/>
            <a:gdLst>
              <a:gd name="connsiteX0" fmla="*/ 0 w 5622709"/>
              <a:gd name="connsiteY0" fmla="*/ 11359 h 4344857"/>
              <a:gd name="connsiteX1" fmla="*/ 914400 w 5622709"/>
              <a:gd name="connsiteY1" fmla="*/ 2447866 h 4344857"/>
              <a:gd name="connsiteX2" fmla="*/ 1879916 w 5622709"/>
              <a:gd name="connsiteY2" fmla="*/ 3850703 h 4344857"/>
              <a:gd name="connsiteX3" fmla="*/ 2834073 w 5622709"/>
              <a:gd name="connsiteY3" fmla="*/ 4344820 h 4344857"/>
              <a:gd name="connsiteX4" fmla="*/ 3754152 w 5622709"/>
              <a:gd name="connsiteY4" fmla="*/ 3867742 h 4344857"/>
              <a:gd name="connsiteX5" fmla="*/ 4725347 w 5622709"/>
              <a:gd name="connsiteY5" fmla="*/ 2425148 h 4344857"/>
              <a:gd name="connsiteX6" fmla="*/ 5622709 w 5622709"/>
              <a:gd name="connsiteY6" fmla="*/ 0 h 434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2709" h="4344857">
                <a:moveTo>
                  <a:pt x="0" y="11359"/>
                </a:moveTo>
                <a:cubicBezTo>
                  <a:pt x="300540" y="909667"/>
                  <a:pt x="601081" y="1807975"/>
                  <a:pt x="914400" y="2447866"/>
                </a:cubicBezTo>
                <a:cubicBezTo>
                  <a:pt x="1227719" y="3087757"/>
                  <a:pt x="1559971" y="3534544"/>
                  <a:pt x="1879916" y="3850703"/>
                </a:cubicBezTo>
                <a:cubicBezTo>
                  <a:pt x="2199861" y="4166862"/>
                  <a:pt x="2521700" y="4341980"/>
                  <a:pt x="2834073" y="4344820"/>
                </a:cubicBezTo>
                <a:cubicBezTo>
                  <a:pt x="3146446" y="4347660"/>
                  <a:pt x="3438940" y="4187687"/>
                  <a:pt x="3754152" y="3867742"/>
                </a:cubicBezTo>
                <a:cubicBezTo>
                  <a:pt x="4069364" y="3547797"/>
                  <a:pt x="4413921" y="3069772"/>
                  <a:pt x="4725347" y="2425148"/>
                </a:cubicBezTo>
                <a:cubicBezTo>
                  <a:pt x="5036773" y="1780524"/>
                  <a:pt x="5329741" y="890262"/>
                  <a:pt x="5622709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7624831" y="1863098"/>
                <a:ext cx="4410566" cy="12422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3200" b="1" dirty="0" smtClean="0">
                  <a:solidFill>
                    <a:srgbClr val="7030A0"/>
                  </a:solidFill>
                </a:endParaRPr>
              </a:p>
              <a:p>
                <a:r>
                  <a:rPr lang="en-AU" sz="2400" b="1" dirty="0" smtClean="0">
                    <a:solidFill>
                      <a:srgbClr val="7030A0"/>
                    </a:solidFill>
                  </a:rPr>
                  <a:t> Translated horizontally 1 units left</a:t>
                </a:r>
              </a:p>
              <a:p>
                <a:r>
                  <a:rPr lang="en-AU" sz="2400" b="1" dirty="0" smtClean="0">
                    <a:solidFill>
                      <a:srgbClr val="7030A0"/>
                    </a:solidFill>
                  </a:rPr>
                  <a:t>&amp; vertically 3 units up</a:t>
                </a:r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831" y="1863098"/>
                <a:ext cx="4410566" cy="1242263"/>
              </a:xfrm>
              <a:prstGeom prst="rect">
                <a:avLst/>
              </a:prstGeom>
              <a:blipFill>
                <a:blip r:embed="rId5"/>
                <a:stretch>
                  <a:fillRect l="-4288" r="-3181" b="-142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7708803" y="3877411"/>
                <a:ext cx="4507709" cy="1611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sz="3200" b="1" dirty="0" smtClean="0">
                  <a:solidFill>
                    <a:schemeClr val="tx1"/>
                  </a:solidFill>
                </a:endParaRPr>
              </a:p>
              <a:p>
                <a:r>
                  <a:rPr lang="en-AU" sz="2400" b="1" dirty="0"/>
                  <a:t>Translated horizontally </a:t>
                </a:r>
                <a:r>
                  <a:rPr lang="en-AU" sz="2400" b="1" dirty="0" smtClean="0"/>
                  <a:t>2 </a:t>
                </a:r>
                <a:r>
                  <a:rPr lang="en-AU" sz="2400" b="1" dirty="0"/>
                  <a:t>units </a:t>
                </a:r>
                <a:r>
                  <a:rPr lang="en-AU" sz="2400" b="1" dirty="0" smtClean="0"/>
                  <a:t>right</a:t>
                </a:r>
                <a:endParaRPr lang="en-AU" sz="2400" b="1" dirty="0"/>
              </a:p>
              <a:p>
                <a:r>
                  <a:rPr lang="en-AU" sz="2400" b="1" dirty="0"/>
                  <a:t>&amp; vertically </a:t>
                </a:r>
                <a:r>
                  <a:rPr lang="en-AU" sz="2400" b="1" dirty="0" smtClean="0"/>
                  <a:t>1 unit </a:t>
                </a:r>
                <a:r>
                  <a:rPr lang="en-AU" sz="2400" b="1" dirty="0"/>
                  <a:t>up</a:t>
                </a:r>
              </a:p>
              <a:p>
                <a:endParaRPr lang="en-AU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8803" y="3877411"/>
                <a:ext cx="4507709" cy="1611595"/>
              </a:xfrm>
              <a:prstGeom prst="rect">
                <a:avLst/>
              </a:prstGeom>
              <a:blipFill>
                <a:blip r:embed="rId6"/>
                <a:stretch>
                  <a:fillRect l="-4195" r="-32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234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948" y="82302"/>
            <a:ext cx="5110904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193962" y="778408"/>
            <a:ext cx="1180407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/>
              <a:t>Pearson </a:t>
            </a:r>
            <a:r>
              <a:rPr lang="en-AU" sz="2800" b="1" dirty="0" smtClean="0"/>
              <a:t>10</a:t>
            </a:r>
            <a:r>
              <a:rPr lang="en-AU" sz="2800" b="1" dirty="0" smtClean="0"/>
              <a:t> </a:t>
            </a:r>
            <a:r>
              <a:rPr lang="en-AU" sz="2800" b="1" dirty="0" smtClean="0"/>
              <a:t>Mathematics</a:t>
            </a:r>
          </a:p>
          <a:p>
            <a:endParaRPr lang="en-AU" sz="28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AU" sz="2800" b="1" smtClean="0"/>
              <a:t>Exercise 4.4 Questions 4, 6(b) and 10</a:t>
            </a:r>
            <a:endParaRPr lang="en-AU" sz="2800" dirty="0"/>
          </a:p>
          <a:p>
            <a:endParaRPr lang="en-AU" sz="2800" dirty="0" smtClean="0"/>
          </a:p>
          <a:p>
            <a:endParaRPr lang="en-AU" sz="2800" dirty="0"/>
          </a:p>
          <a:p>
            <a:endParaRPr lang="en-AU" sz="2800" dirty="0" smtClean="0"/>
          </a:p>
          <a:p>
            <a:endParaRPr lang="en-AU" sz="2800" dirty="0"/>
          </a:p>
          <a:p>
            <a:endParaRPr lang="en-AU" sz="2800" dirty="0" smtClean="0"/>
          </a:p>
          <a:p>
            <a:endParaRPr lang="en-AU" sz="2800" dirty="0"/>
          </a:p>
        </p:txBody>
      </p:sp>
      <p:sp>
        <p:nvSpPr>
          <p:cNvPr id="2" name="Rectangle 1"/>
          <p:cNvSpPr/>
          <p:nvPr/>
        </p:nvSpPr>
        <p:spPr>
          <a:xfrm>
            <a:off x="10784378" y="5619404"/>
            <a:ext cx="1269077" cy="1097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6" name="Picture 2" descr="Throwing a Football. Is it truly parabolic? - Physics Stack Exchan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84" y="2840080"/>
            <a:ext cx="6572159" cy="3253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210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2240</Words>
  <Application>Microsoft Office PowerPoint</Application>
  <PresentationFormat>Widescreen</PresentationFormat>
  <Paragraphs>539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STEDMAN Shaun [Harrisdale Senior High School]</dc:creator>
  <cp:lastModifiedBy>YOST Amie [Harrisdale Senior High School]</cp:lastModifiedBy>
  <cp:revision>17</cp:revision>
  <dcterms:created xsi:type="dcterms:W3CDTF">2020-11-04T03:47:13Z</dcterms:created>
  <dcterms:modified xsi:type="dcterms:W3CDTF">2021-09-20T02:10:08Z</dcterms:modified>
</cp:coreProperties>
</file>
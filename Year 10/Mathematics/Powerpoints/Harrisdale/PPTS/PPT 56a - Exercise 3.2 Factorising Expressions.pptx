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5"/>
  </p:handoutMasterIdLst>
  <p:sldIdLst>
    <p:sldId id="294" r:id="rId2"/>
    <p:sldId id="300" r:id="rId3"/>
    <p:sldId id="301" r:id="rId4"/>
    <p:sldId id="302" r:id="rId5"/>
    <p:sldId id="303" r:id="rId6"/>
    <p:sldId id="304" r:id="rId7"/>
    <p:sldId id="263" r:id="rId8"/>
    <p:sldId id="305" r:id="rId9"/>
    <p:sldId id="306" r:id="rId10"/>
    <p:sldId id="307" r:id="rId11"/>
    <p:sldId id="284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262" r:id="rId24"/>
  </p:sldIdLst>
  <p:sldSz cx="12192000" cy="6858000"/>
  <p:notesSz cx="9939338" cy="6807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9774" y="1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9774" y="6466154"/>
            <a:ext cx="4307343" cy="341046"/>
          </a:xfrm>
          <a:prstGeom prst="rect">
            <a:avLst/>
          </a:prstGeom>
        </p:spPr>
        <p:txBody>
          <a:bodyPr vert="horz" lIns="88340" tIns="44170" rIns="88340" bIns="4417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56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0.png"/><Relationship Id="rId7" Type="http://schemas.openxmlformats.org/officeDocument/2006/relationships/image" Target="../media/image8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57.png"/><Relationship Id="rId10" Type="http://schemas.openxmlformats.org/officeDocument/2006/relationships/image" Target="../media/image85.png"/><Relationship Id="rId4" Type="http://schemas.openxmlformats.org/officeDocument/2006/relationships/image" Target="../media/image81.png"/><Relationship Id="rId9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89.png"/><Relationship Id="rId10" Type="http://schemas.openxmlformats.org/officeDocument/2006/relationships/image" Target="../media/image93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factorise algebraic expressions.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479338" y="1489207"/>
                <a:ext cx="315022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338" y="1489207"/>
                <a:ext cx="3150221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29327" y="2442858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327" y="2442858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1505068" y="4243193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Connector 17"/>
          <p:cNvCxnSpPr>
            <a:stCxn id="17" idx="0"/>
            <a:endCxn id="17" idx="2"/>
          </p:cNvCxnSpPr>
          <p:nvPr/>
        </p:nvCxnSpPr>
        <p:spPr>
          <a:xfrm>
            <a:off x="3995530" y="4243193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22448" y="4715931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48" y="4715931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329814" y="3166888"/>
                <a:ext cx="80342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14" y="3166888"/>
                <a:ext cx="80342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578897" y="3197209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897" y="3197209"/>
                <a:ext cx="1394934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099783" y="4715931"/>
                <a:ext cx="126348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783" y="4715931"/>
                <a:ext cx="1263487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258696" y="4717270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696" y="4717270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982080" y="5300920"/>
                <a:ext cx="389029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080" y="5300920"/>
                <a:ext cx="3890296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7764905" y="3339780"/>
                <a:ext cx="348262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905" y="3339780"/>
                <a:ext cx="3482620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</p:spTree>
    <p:extLst>
      <p:ext uri="{BB962C8B-B14F-4D97-AF65-F5344CB8AC3E}">
        <p14:creationId xmlns:p14="http://schemas.microsoft.com/office/powerpoint/2010/main" val="86203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9" grpId="0"/>
      <p:bldP spid="20" grpId="0"/>
      <p:bldP spid="21" grpId="0"/>
      <p:bldP spid="22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07253" y="1489207"/>
                <a:ext cx="398378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53" y="1489207"/>
                <a:ext cx="3983783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516791" y="4261276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/>
          <p:cNvCxnSpPr>
            <a:stCxn id="6" idx="0"/>
            <a:endCxn id="6" idx="2"/>
          </p:cNvCxnSpPr>
          <p:nvPr/>
        </p:nvCxnSpPr>
        <p:spPr>
          <a:xfrm>
            <a:off x="4007253" y="4261276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43900" y="4734014"/>
                <a:ext cx="12795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0" y="4734014"/>
                <a:ext cx="127951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51837" y="3181267"/>
                <a:ext cx="125226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7" y="3181267"/>
                <a:ext cx="125226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88075" y="4734014"/>
                <a:ext cx="1526380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075" y="4734014"/>
                <a:ext cx="1526380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09089" y="4734014"/>
                <a:ext cx="171232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89" y="4734014"/>
                <a:ext cx="1712328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111101" y="3697063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101" y="3697063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497715" y="4712726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6000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𝒇𝒚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715" y="4712726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61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0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07253" y="1489207"/>
                <a:ext cx="379943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53" y="1489207"/>
                <a:ext cx="3799437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050" y="2460941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1516791" y="4261276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Connector 30"/>
          <p:cNvCxnSpPr>
            <a:stCxn id="30" idx="0"/>
            <a:endCxn id="30" idx="2"/>
          </p:cNvCxnSpPr>
          <p:nvPr/>
        </p:nvCxnSpPr>
        <p:spPr>
          <a:xfrm>
            <a:off x="4007253" y="4261276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43900" y="4734014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00" y="4734014"/>
                <a:ext cx="139493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537" y="3184971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636420" y="3184971"/>
                <a:ext cx="154080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420" y="3184971"/>
                <a:ext cx="154080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809326" y="4736067"/>
                <a:ext cx="1813317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326" y="4736067"/>
                <a:ext cx="1813317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612376" y="4725422"/>
                <a:ext cx="142539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376" y="4725422"/>
                <a:ext cx="1425390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6475673" y="4699873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73" y="4699873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7048136" y="3692802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136" y="3692802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42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4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8A4024-BB43-4ED6-BDA3-3CE47E955D14}"/>
              </a:ext>
            </a:extLst>
          </p:cNvPr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38D2B-2435-45D4-A379-339E100F3312}"/>
              </a:ext>
            </a:extLst>
          </p:cNvPr>
          <p:cNvSpPr/>
          <p:nvPr/>
        </p:nvSpPr>
        <p:spPr>
          <a:xfrm>
            <a:off x="508931" y="804083"/>
            <a:ext cx="6764324" cy="685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Expand the following expression: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545780" y="1406046"/>
                <a:ext cx="524624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780" y="1406046"/>
                <a:ext cx="5246244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358988" y="2399003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𝐭𝐚𝐤𝐞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𝐚𝐰𝐚𝐲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988" y="2399003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434729" y="4199338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Connector 19"/>
          <p:cNvCxnSpPr>
            <a:stCxn id="19" idx="0"/>
            <a:endCxn id="19" idx="2"/>
          </p:cNvCxnSpPr>
          <p:nvPr/>
        </p:nvCxnSpPr>
        <p:spPr>
          <a:xfrm>
            <a:off x="3925191" y="4199338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90151" y="4672076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51" y="4672076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259475" y="3123033"/>
                <a:ext cx="107273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475" y="3123033"/>
                <a:ext cx="1072730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554358" y="3123033"/>
                <a:ext cx="14013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358" y="3123033"/>
                <a:ext cx="140134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064598" y="4663484"/>
                <a:ext cx="1473480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598" y="4663484"/>
                <a:ext cx="1473480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150315" y="4652839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15" y="4652839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640776" y="4210411"/>
                <a:ext cx="52932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76" y="4210411"/>
                <a:ext cx="5293297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7229643" y="3313998"/>
                <a:ext cx="468589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4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643" y="3313998"/>
                <a:ext cx="468589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640775" y="5106824"/>
                <a:ext cx="529329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𝟓𝟒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75" y="5106824"/>
                <a:ext cx="5293297" cy="83099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2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13247" y="1401216"/>
            <a:ext cx="8429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I will </a:t>
            </a:r>
            <a:r>
              <a:rPr lang="en-AU" sz="3200" b="1" dirty="0" smtClean="0">
                <a:cs typeface="Arial" panose="020B0604020202020204" pitchFamily="34" charset="0"/>
              </a:rPr>
              <a:t>factorise expressions.</a:t>
            </a:r>
            <a:endParaRPr lang="en-AU" sz="3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7845BC-DC72-44E1-BABF-6AFB4DC3022D}"/>
              </a:ext>
            </a:extLst>
          </p:cNvPr>
          <p:cNvSpPr txBox="1"/>
          <p:nvPr/>
        </p:nvSpPr>
        <p:spPr>
          <a:xfrm>
            <a:off x="375746" y="4179512"/>
            <a:ext cx="7845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 smtClean="0"/>
              <a:t>Factorise expressions by finding the HCF.</a:t>
            </a:r>
            <a:endParaRPr lang="en-AU" sz="28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BEE6A2-556E-47EB-BE0D-1D5CA4374488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CB765C-CAC2-440D-9D52-CA15DC2897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71FAA3-C029-4C42-9F5A-D80968D531A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F7365-FCBE-4876-B626-49EB1AB0C0AF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E61856-5929-4FC6-8ACF-5741F7D4236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D2C468-2CD6-425A-8902-5B39168F9670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A7AF8-1FC9-4807-B4FF-6DF092ABA010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456" y="2902352"/>
            <a:ext cx="4474354" cy="350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22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286857"/>
              </p:ext>
            </p:extLst>
          </p:nvPr>
        </p:nvGraphicFramePr>
        <p:xfrm>
          <a:off x="9962402" y="0"/>
          <a:ext cx="2229598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2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factors?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93962" y="778408"/>
            <a:ext cx="11804073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smtClean="0"/>
              <a:t>Factors are numbers that multiply together to give another number. </a:t>
            </a:r>
          </a:p>
          <a:p>
            <a:endParaRPr lang="en-AU" sz="2800" dirty="0"/>
          </a:p>
          <a:p>
            <a:r>
              <a:rPr lang="en-AU" sz="2800" b="1" u="sng" dirty="0" smtClean="0">
                <a:solidFill>
                  <a:srgbClr val="7030A0"/>
                </a:solidFill>
              </a:rPr>
              <a:t>EXAMPLE 1:</a:t>
            </a:r>
          </a:p>
          <a:p>
            <a:r>
              <a:rPr lang="en-AU" sz="2800" dirty="0">
                <a:solidFill>
                  <a:srgbClr val="C00000"/>
                </a:solidFill>
              </a:rPr>
              <a:t>2</a:t>
            </a:r>
            <a:r>
              <a:rPr lang="en-AU" sz="2800" dirty="0" smtClean="0">
                <a:solidFill>
                  <a:srgbClr val="C00000"/>
                </a:solidFill>
              </a:rPr>
              <a:t> × 3 = 6</a:t>
            </a:r>
          </a:p>
          <a:p>
            <a:r>
              <a:rPr lang="en-AU" sz="2800" dirty="0">
                <a:solidFill>
                  <a:srgbClr val="C00000"/>
                </a:solidFill>
              </a:rPr>
              <a:t>1</a:t>
            </a:r>
            <a:r>
              <a:rPr lang="en-AU" sz="2800" dirty="0" smtClean="0">
                <a:solidFill>
                  <a:srgbClr val="C00000"/>
                </a:solidFill>
              </a:rPr>
              <a:t> × 6 = 6				</a:t>
            </a:r>
          </a:p>
          <a:p>
            <a:endParaRPr lang="en-AU" sz="2800" dirty="0">
              <a:solidFill>
                <a:srgbClr val="C00000"/>
              </a:solidFill>
            </a:endParaRPr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6 are 1, 2, 3 and 6.</a:t>
            </a:r>
          </a:p>
          <a:p>
            <a:pPr algn="ctr"/>
            <a:endParaRPr lang="en-AU" sz="2800" b="1" dirty="0"/>
          </a:p>
          <a:p>
            <a:r>
              <a:rPr lang="en-AU" sz="2800" b="1" u="sng" dirty="0" smtClean="0">
                <a:solidFill>
                  <a:srgbClr val="7030A0"/>
                </a:solidFill>
              </a:rPr>
              <a:t>EXAMPLE 2: 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2 × 5 = 10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1 × 10 = 10 	          </a:t>
            </a:r>
          </a:p>
          <a:p>
            <a:endParaRPr lang="en-AU" sz="2800" b="1" dirty="0" smtClean="0"/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10 are 1, 2, 5 and 10.</a:t>
            </a:r>
          </a:p>
          <a:p>
            <a:endParaRPr lang="en-A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98104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75571"/>
              </p:ext>
            </p:extLst>
          </p:nvPr>
        </p:nvGraphicFramePr>
        <p:xfrm>
          <a:off x="9962402" y="0"/>
          <a:ext cx="2229598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2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HCF?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9522" y="1306728"/>
            <a:ext cx="1180407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smtClean="0"/>
              <a:t>The highest common factor (HCF) of two numbers is the largest number that divides into both of the numbers.</a:t>
            </a:r>
          </a:p>
          <a:p>
            <a:endParaRPr lang="en-AU" sz="2800" dirty="0"/>
          </a:p>
          <a:p>
            <a:r>
              <a:rPr lang="en-AU" sz="2800" b="1" u="sng" dirty="0" smtClean="0">
                <a:solidFill>
                  <a:srgbClr val="7030A0"/>
                </a:solidFill>
              </a:rPr>
              <a:t>EXAMPLE 1: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Find the highest common factor of 4 and 8.</a:t>
            </a:r>
          </a:p>
          <a:p>
            <a:endParaRPr lang="en-AU" sz="2800" dirty="0">
              <a:solidFill>
                <a:srgbClr val="C00000"/>
              </a:solidFill>
            </a:endParaRPr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4 are 	1	2	4				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8 are	1	2	4	8</a:t>
            </a:r>
            <a:endParaRPr lang="en-AU" sz="2800" dirty="0">
              <a:solidFill>
                <a:srgbClr val="C00000"/>
              </a:solidFill>
            </a:endParaRPr>
          </a:p>
          <a:p>
            <a:pPr algn="ctr"/>
            <a:endParaRPr lang="en-AU" sz="2800" b="1" i="1" dirty="0" smtClean="0">
              <a:solidFill>
                <a:srgbClr val="C00000"/>
              </a:solidFill>
            </a:endParaRPr>
          </a:p>
          <a:p>
            <a:pPr algn="ctr"/>
            <a:endParaRPr lang="en-AU" sz="2800" b="1" i="1" dirty="0" smtClean="0">
              <a:solidFill>
                <a:schemeClr val="accent6"/>
              </a:solidFill>
            </a:endParaRPr>
          </a:p>
          <a:p>
            <a:r>
              <a:rPr lang="en-AU" sz="2800" b="1" i="1" dirty="0" smtClean="0">
                <a:solidFill>
                  <a:schemeClr val="accent6">
                    <a:lumMod val="75000"/>
                  </a:schemeClr>
                </a:solidFill>
              </a:rPr>
              <a:t>The HCF of 4 and 8 is 4.</a:t>
            </a:r>
            <a:endParaRPr lang="en-AU" sz="2800" b="1" i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800" b="1" dirty="0" smtClean="0"/>
          </a:p>
        </p:txBody>
      </p:sp>
      <p:sp>
        <p:nvSpPr>
          <p:cNvPr id="6" name="Oval 5"/>
          <p:cNvSpPr/>
          <p:nvPr/>
        </p:nvSpPr>
        <p:spPr>
          <a:xfrm>
            <a:off x="5549669" y="3653905"/>
            <a:ext cx="720436" cy="1357746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0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9962402" y="0"/>
          <a:ext cx="2229598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2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HCF?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93962" y="778408"/>
            <a:ext cx="1180407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smtClean="0"/>
              <a:t>The highest common factor of two numbers is the largest number that divides into both of the numbers.</a:t>
            </a:r>
          </a:p>
          <a:p>
            <a:endParaRPr lang="en-AU" sz="2800" dirty="0"/>
          </a:p>
          <a:p>
            <a:r>
              <a:rPr lang="en-AU" sz="2800" b="1" u="sng" dirty="0" smtClean="0">
                <a:solidFill>
                  <a:srgbClr val="7030A0"/>
                </a:solidFill>
              </a:rPr>
              <a:t>EXAMPLE 2: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Find the highest common factor 12 and 36.</a:t>
            </a:r>
          </a:p>
          <a:p>
            <a:endParaRPr lang="en-AU" sz="2800" dirty="0">
              <a:solidFill>
                <a:srgbClr val="C00000"/>
              </a:solidFill>
            </a:endParaRPr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12 are 	1	2	3	4	6	12			</a:t>
            </a:r>
          </a:p>
          <a:p>
            <a:r>
              <a:rPr lang="en-AU" sz="2800" dirty="0" smtClean="0">
                <a:solidFill>
                  <a:srgbClr val="C00000"/>
                </a:solidFill>
              </a:rPr>
              <a:t>The factors of 36 are	1	2	3	4	6	9	12	18	36</a:t>
            </a:r>
            <a:endParaRPr lang="en-AU" sz="2800" dirty="0">
              <a:solidFill>
                <a:srgbClr val="C00000"/>
              </a:solidFill>
            </a:endParaRPr>
          </a:p>
          <a:p>
            <a:pPr algn="ctr"/>
            <a:endParaRPr lang="en-AU" sz="2800" b="1" i="1" dirty="0" smtClean="0">
              <a:solidFill>
                <a:srgbClr val="C00000"/>
              </a:solidFill>
            </a:endParaRPr>
          </a:p>
          <a:p>
            <a:pPr algn="ctr"/>
            <a:endParaRPr lang="en-AU" sz="2800" b="1" i="1" dirty="0" smtClean="0">
              <a:solidFill>
                <a:schemeClr val="accent6"/>
              </a:solidFill>
            </a:endParaRPr>
          </a:p>
          <a:p>
            <a:r>
              <a:rPr lang="en-AU" sz="2800" b="1" i="1" dirty="0" smtClean="0">
                <a:solidFill>
                  <a:schemeClr val="accent6">
                    <a:lumMod val="75000"/>
                  </a:schemeClr>
                </a:solidFill>
              </a:rPr>
              <a:t>The HCF of 12 and 36 is 12.</a:t>
            </a:r>
            <a:endParaRPr lang="en-AU" sz="2800" b="1" i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800" b="1" dirty="0" smtClean="0"/>
          </a:p>
        </p:txBody>
      </p:sp>
      <p:sp>
        <p:nvSpPr>
          <p:cNvPr id="8" name="Oval 7"/>
          <p:cNvSpPr/>
          <p:nvPr/>
        </p:nvSpPr>
        <p:spPr>
          <a:xfrm>
            <a:off x="8263936" y="3173895"/>
            <a:ext cx="873438" cy="84561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184661" y="3609952"/>
            <a:ext cx="873438" cy="84561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88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685800" y="949960"/>
            <a:ext cx="113080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/>
              <a:t>What’s the highest common factor of:</a:t>
            </a:r>
          </a:p>
          <a:p>
            <a:endParaRPr lang="en-AU" sz="2800" b="1" dirty="0"/>
          </a:p>
          <a:p>
            <a:r>
              <a:rPr lang="en-AU" sz="2800" b="1" dirty="0" smtClean="0"/>
              <a:t>3 and 15 ?</a:t>
            </a:r>
          </a:p>
          <a:p>
            <a:endParaRPr lang="en-AU" sz="2800" b="1" dirty="0"/>
          </a:p>
          <a:p>
            <a:r>
              <a:rPr lang="en-AU" sz="2800" b="1" dirty="0" smtClean="0"/>
              <a:t>9 and 15?</a:t>
            </a:r>
          </a:p>
          <a:p>
            <a:endParaRPr lang="en-AU" sz="2800" b="1" dirty="0"/>
          </a:p>
          <a:p>
            <a:r>
              <a:rPr lang="en-AU" sz="2800" b="1" dirty="0" smtClean="0"/>
              <a:t>4 and 14?</a:t>
            </a:r>
          </a:p>
          <a:p>
            <a:endParaRPr lang="en-AU" sz="2800" b="1" dirty="0"/>
          </a:p>
          <a:p>
            <a:r>
              <a:rPr lang="en-AU" sz="2800" b="1" dirty="0" smtClean="0"/>
              <a:t>6 and 20?</a:t>
            </a:r>
          </a:p>
          <a:p>
            <a:endParaRPr lang="en-AU" sz="2800" b="1" dirty="0"/>
          </a:p>
          <a:p>
            <a:r>
              <a:rPr lang="en-AU" sz="2800" b="1" dirty="0" smtClean="0"/>
              <a:t>12 and 20?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998720" y="1767840"/>
                <a:ext cx="5212080" cy="4084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b="1" dirty="0" smtClean="0"/>
                  <a:t>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 smtClean="0"/>
                  <a:t> ?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𝟏𝟏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800" b="1" dirty="0" smtClean="0"/>
                  <a:t> ?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720" y="1767840"/>
                <a:ext cx="5212080" cy="4084067"/>
              </a:xfrm>
              <a:prstGeom prst="rect">
                <a:avLst/>
              </a:prstGeom>
              <a:blipFill rotWithShape="0">
                <a:blip r:embed="rId2"/>
                <a:stretch>
                  <a:fillRect t="-1343" b="-10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56560" y="1810512"/>
            <a:ext cx="17007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3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3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2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2</a:t>
            </a:r>
          </a:p>
          <a:p>
            <a:endParaRPr lang="en-AU" sz="2800" b="1" dirty="0">
              <a:solidFill>
                <a:srgbClr val="FF0000"/>
              </a:solidFill>
            </a:endParaRPr>
          </a:p>
          <a:p>
            <a:r>
              <a:rPr lang="en-AU" sz="2800" b="1" dirty="0" smtClean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558528" y="1712976"/>
                <a:ext cx="170078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  <a:p>
                <a:endParaRPr lang="en-AU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528" y="1712976"/>
                <a:ext cx="1700784" cy="397031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22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749949"/>
              </p:ext>
            </p:extLst>
          </p:nvPr>
        </p:nvGraphicFramePr>
        <p:xfrm>
          <a:off x="8493760" y="0"/>
          <a:ext cx="369824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9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difference between expanding and factorising?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325956" y="2585368"/>
            <a:ext cx="919343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Expanding</a:t>
            </a:r>
            <a:r>
              <a:rPr lang="en-A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process where you </a:t>
            </a:r>
            <a:r>
              <a:rPr lang="en-AU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the brackets</a:t>
            </a:r>
            <a:r>
              <a:rPr lang="en-A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AU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4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Factorising</a:t>
            </a:r>
            <a:r>
              <a:rPr lang="en-A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reverse (you are </a:t>
            </a:r>
            <a:r>
              <a:rPr lang="en-AU" sz="4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putting the brackets in</a:t>
            </a:r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AU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438071-7A0A-42EA-92F9-5CD73FE1282E}"/>
              </a:ext>
            </a:extLst>
          </p:cNvPr>
          <p:cNvSpPr txBox="1">
            <a:spLocks/>
          </p:cNvSpPr>
          <p:nvPr/>
        </p:nvSpPr>
        <p:spPr>
          <a:xfrm>
            <a:off x="-41806" y="1259805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Factorising Expressions</a:t>
            </a:r>
          </a:p>
        </p:txBody>
      </p:sp>
    </p:spTree>
    <p:extLst>
      <p:ext uri="{BB962C8B-B14F-4D97-AF65-F5344CB8AC3E}">
        <p14:creationId xmlns:p14="http://schemas.microsoft.com/office/powerpoint/2010/main" val="87909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chemeClr val="tx1"/>
                </a:solidFill>
                <a:cs typeface="Arial" panose="020B0604020202020204" pitchFamily="34" charset="0"/>
              </a:rPr>
              <a:t>What is the HCF of the two terms?</a:t>
            </a:r>
          </a:p>
          <a:p>
            <a:r>
              <a:rPr lang="en-AU" sz="2800" b="1" dirty="0" smtClean="0">
                <a:cs typeface="Arial" panose="020B0604020202020204" pitchFamily="34" charset="0"/>
              </a:rPr>
              <a:t>What is the term divided by the HCF?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1835995" y="1808685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995" y="1808685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300940" y="4442264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3791402" y="4442264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18320" y="4915002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0" y="4915002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125686" y="3365959"/>
                <a:ext cx="68159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686" y="3365959"/>
                <a:ext cx="68159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62507" y="3365060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507" y="3365060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95654" y="4915001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654" y="4915001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396875" y="4915001"/>
                <a:ext cx="12795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875" y="4915001"/>
                <a:ext cx="1279517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163680" y="5422832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680" y="5422832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37998" y="4442985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998" y="4442985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06341" y="5387015"/>
                <a:ext cx="269714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341" y="5387015"/>
                <a:ext cx="2697149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29002" y="622540"/>
                <a:ext cx="35502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>
                    <a:solidFill>
                      <a:srgbClr val="FF0000"/>
                    </a:solidFill>
                  </a:rPr>
                  <a:t>The HCF of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sz="2400" b="1" dirty="0" smtClean="0">
                    <a:solidFill>
                      <a:srgbClr val="FF0000"/>
                    </a:solidFill>
                  </a:rPr>
                  <a:t> and 15 is 3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.</a:t>
                </a:r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002" y="622540"/>
                <a:ext cx="3550278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274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29002" y="1099593"/>
                <a:ext cx="35502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002" y="1099593"/>
                <a:ext cx="3550278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929002" y="1583200"/>
                <a:ext cx="35502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002" y="1583200"/>
                <a:ext cx="3550278" cy="46166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1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  <p:bldP spid="2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27547" y="4371000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47" y="4371000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217184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184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64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4524765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4524765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1279516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60172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601721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206870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2068707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343933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3439339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0081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13" y="2821957"/>
                <a:ext cx="681597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01132" y="2852278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132" y="2852278"/>
                <a:ext cx="1394934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443065" y="4377561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065" y="4377561"/>
                <a:ext cx="1854995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45" y="4460172"/>
                <a:ext cx="2697149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27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318214" y="2821058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214" y="2821058"/>
                <a:ext cx="1141659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02" y="4370999"/>
                <a:ext cx="1279516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371457" y="4469535"/>
                <a:ext cx="315721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457" y="4469535"/>
                <a:ext cx="3157211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0895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3910814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304881" y="2821058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2821058"/>
                <a:ext cx="1141659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734" y="2821058"/>
                <a:ext cx="819455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881" y="4370999"/>
                <a:ext cx="114165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6102" y="4370999"/>
                <a:ext cx="12795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6102" y="4370999"/>
                <a:ext cx="1279517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297927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559845" y="4460172"/>
                <a:ext cx="315721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45" y="4460172"/>
                <a:ext cx="3157211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0468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7246" y="1436078"/>
                <a:ext cx="4524765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246" y="1436078"/>
                <a:ext cx="4524765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10167" y="389826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/>
          <p:cNvCxnSpPr>
            <a:stCxn id="9" idx="0"/>
            <a:endCxn id="9" idx="2"/>
          </p:cNvCxnSpPr>
          <p:nvPr/>
        </p:nvCxnSpPr>
        <p:spPr>
          <a:xfrm>
            <a:off x="4200629" y="389826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51" y="4370999"/>
                <a:ext cx="819455" cy="10156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534913" y="2821957"/>
                <a:ext cx="11416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13" y="2821957"/>
                <a:ext cx="1141659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49628" y="2821956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628" y="2821956"/>
                <a:ext cx="1394934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172094" y="4370999"/>
                <a:ext cx="160172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094" y="4370999"/>
                <a:ext cx="1601721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558804" y="4370999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804" y="4370999"/>
                <a:ext cx="1854995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286" y="4495989"/>
                <a:ext cx="160864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991502" y="3516142"/>
                <a:ext cx="343933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502" y="3516142"/>
                <a:ext cx="3439339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8273630" y="4469535"/>
                <a:ext cx="315721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30" y="4469535"/>
                <a:ext cx="3157211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5708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5" grpId="0"/>
      <p:bldP spid="16" grpId="0"/>
      <p:bldP spid="18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140536" y="1411738"/>
                <a:ext cx="5521833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536" y="1411738"/>
                <a:ext cx="5521833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7" y="3850301"/>
            <a:ext cx="6291743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  <a:stCxn id="2" idx="0"/>
            <a:endCxn id="2" idx="2"/>
          </p:cNvCxnSpPr>
          <p:nvPr/>
        </p:nvCxnSpPr>
        <p:spPr>
          <a:xfrm>
            <a:off x="4659469" y="385030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1023" y="4463081"/>
                <a:ext cx="143821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3" y="4463081"/>
                <a:ext cx="1438214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08865" y="2831074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65" y="2831074"/>
                <a:ext cx="75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267423" y="2831074"/>
                <a:ext cx="169629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423" y="2831074"/>
                <a:ext cx="1696298" cy="9233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310145" y="4417617"/>
                <a:ext cx="143821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145" y="4417617"/>
                <a:ext cx="1438214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993425" y="4417617"/>
                <a:ext cx="237917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25" y="4417617"/>
                <a:ext cx="2379176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881930" y="4715116"/>
                <a:ext cx="193142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0" y="4715116"/>
                <a:ext cx="1931426" cy="8309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56248" y="3735269"/>
                <a:ext cx="338688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𝒋𝒌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248" y="3735269"/>
                <a:ext cx="3386888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499194" y="4715116"/>
                <a:ext cx="268156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194" y="4715116"/>
                <a:ext cx="268156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Table 29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945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83460" y="1514938"/>
                <a:ext cx="4552015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8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460" y="1514938"/>
                <a:ext cx="4552015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7" y="3850301"/>
            <a:ext cx="6291743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  <a:stCxn id="2" idx="0"/>
            <a:endCxn id="2" idx="2"/>
          </p:cNvCxnSpPr>
          <p:nvPr/>
        </p:nvCxnSpPr>
        <p:spPr>
          <a:xfrm>
            <a:off x="4659469" y="385030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9759" y="4463081"/>
                <a:ext cx="118494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59" y="4463081"/>
                <a:ext cx="1184940" cy="9233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708865" y="2831074"/>
                <a:ext cx="77136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865" y="2831074"/>
                <a:ext cx="771365" cy="9233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862626" y="2831074"/>
                <a:ext cx="75533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26" y="2831074"/>
                <a:ext cx="755335" cy="9233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330568" y="4463081"/>
                <a:ext cx="146065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68" y="4463081"/>
                <a:ext cx="1460656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10966" y="4463081"/>
                <a:ext cx="118494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66" y="4463081"/>
                <a:ext cx="1184940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881930" y="4715116"/>
                <a:ext cx="170700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0" y="4715116"/>
                <a:ext cx="1707006" cy="8309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56248" y="3735269"/>
                <a:ext cx="280660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800" b="1" i="1" baseline="30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48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4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248" y="3735269"/>
                <a:ext cx="2806602" cy="83099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499194" y="4715116"/>
                <a:ext cx="231928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194" y="4715116"/>
                <a:ext cx="2319288" cy="83099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2824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463218" y="1412943"/>
                <a:ext cx="4720331" cy="1323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8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8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8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8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218" y="1412943"/>
                <a:ext cx="4720331" cy="132343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7" y="3850301"/>
            <a:ext cx="6291743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4147740" y="3845640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-26471" y="4463081"/>
                <a:ext cx="1160895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4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4400" b="1" i="1" baseline="3000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471" y="4463081"/>
                <a:ext cx="1160895" cy="7694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77137" y="2965828"/>
                <a:ext cx="663963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137" y="2965828"/>
                <a:ext cx="663963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514324" y="2965828"/>
                <a:ext cx="598241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324" y="2965828"/>
                <a:ext cx="598241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827158" y="4326637"/>
                <a:ext cx="138050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5400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58" y="4326637"/>
                <a:ext cx="1380506" cy="92333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486410" y="4309192"/>
                <a:ext cx="1380506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5400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10" y="4309192"/>
                <a:ext cx="1380506" cy="9233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881930" y="4715116"/>
                <a:ext cx="173919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4400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0" y="4715116"/>
                <a:ext cx="1739194" cy="7694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656248" y="3735269"/>
                <a:ext cx="268131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4400" b="1" i="1" baseline="30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4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4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4400" b="1" i="1" baseline="300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4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248" y="3735269"/>
                <a:ext cx="2681310" cy="76944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748138" y="4712147"/>
                <a:ext cx="207697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138" y="4712147"/>
                <a:ext cx="2076979" cy="76944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6915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1099464" y="1634464"/>
                <a:ext cx="713445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AU" sz="6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6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6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6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64" y="1634464"/>
                <a:ext cx="7134454" cy="101566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13598" y="3850301"/>
            <a:ext cx="5586198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4147740" y="3845640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-156859" y="4450536"/>
                <a:ext cx="176522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859" y="4450536"/>
                <a:ext cx="1765227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77137" y="2965828"/>
                <a:ext cx="66396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137" y="2965828"/>
                <a:ext cx="663964" cy="76944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514324" y="2965828"/>
                <a:ext cx="65113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4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324" y="2965828"/>
                <a:ext cx="651139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49939" y="4388981"/>
                <a:ext cx="2259336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939" y="4388981"/>
                <a:ext cx="2259336" cy="70788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853284" y="4419758"/>
                <a:ext cx="2246512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284" y="4419758"/>
                <a:ext cx="2246512" cy="7078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627006" y="4712146"/>
                <a:ext cx="2695353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006" y="4712146"/>
                <a:ext cx="2695353" cy="7694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325811" y="3648834"/>
                <a:ext cx="481625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5811" y="3648834"/>
                <a:ext cx="4816254" cy="70788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59C7D0-E927-46AA-87D9-CA4711AF2177}"/>
                  </a:ext>
                </a:extLst>
              </p:cNvPr>
              <p:cNvSpPr/>
              <p:nvPr/>
            </p:nvSpPr>
            <p:spPr>
              <a:xfrm>
                <a:off x="9947643" y="4709176"/>
                <a:ext cx="2142702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4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59C7D0-E927-46AA-87D9-CA4711AF2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643" y="4709176"/>
                <a:ext cx="2142702" cy="76944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" name="Table 31"/>
          <p:cNvGraphicFramePr>
            <a:graphicFrameLocks noGrp="1"/>
          </p:cNvGraphicFramePr>
          <p:nvPr>
            <p:extLst/>
          </p:nvPr>
        </p:nvGraphicFramePr>
        <p:xfrm>
          <a:off x="9514839" y="2545086"/>
          <a:ext cx="2677161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77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Expanding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Factorising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/>
          </p:nvPr>
        </p:nvGraphicFramePr>
        <p:xfrm>
          <a:off x="9481140" y="0"/>
          <a:ext cx="2710860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do we expand an expression?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/>
          </p:nvPr>
        </p:nvGraphicFramePr>
        <p:xfrm>
          <a:off x="9517064" y="1281775"/>
          <a:ext cx="267493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do we factorise an expression?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C63463D-71AF-43CD-9BD3-FAE099554E89}"/>
              </a:ext>
            </a:extLst>
          </p:cNvPr>
          <p:cNvSpPr/>
          <p:nvPr/>
        </p:nvSpPr>
        <p:spPr>
          <a:xfrm>
            <a:off x="113457" y="622540"/>
            <a:ext cx="101396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Find the HCF of the two terms.</a:t>
            </a:r>
            <a:endParaRPr lang="en-AU" sz="2800" b="1" dirty="0">
              <a:cs typeface="Arial" panose="020B0604020202020204" pitchFamily="34" charset="0"/>
            </a:endParaRPr>
          </a:p>
          <a:p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Divide the term by the HCF.</a:t>
            </a:r>
            <a:endParaRPr lang="en-AU" sz="2800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-20052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53657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82880" y="770894"/>
            <a:ext cx="1166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Pearson 10 Ex. 3.2 page 160 Questions 1, 2 and 3</a:t>
            </a:r>
          </a:p>
          <a:p>
            <a:endParaRPr lang="en-AU" sz="2400" b="1" dirty="0"/>
          </a:p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task – Year 10 Mainstream </a:t>
            </a:r>
            <a:r>
              <a:rPr lang="en-AU" sz="2400" b="1" dirty="0" smtClean="0"/>
              <a:t>Factorising </a:t>
            </a:r>
            <a:r>
              <a:rPr lang="en-AU" sz="2400" b="1" dirty="0" smtClean="0"/>
              <a:t>Expressions CLASSWORK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</TotalTime>
  <Words>1348</Words>
  <Application>Microsoft Office PowerPoint</Application>
  <PresentationFormat>Widescreen</PresentationFormat>
  <Paragraphs>368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132</cp:revision>
  <cp:lastPrinted>2020-04-07T08:08:10Z</cp:lastPrinted>
  <dcterms:created xsi:type="dcterms:W3CDTF">2017-01-28T08:32:28Z</dcterms:created>
  <dcterms:modified xsi:type="dcterms:W3CDTF">2021-09-01T00:34:44Z</dcterms:modified>
</cp:coreProperties>
</file>
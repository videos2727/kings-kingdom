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94" r:id="rId2"/>
    <p:sldId id="342" r:id="rId3"/>
    <p:sldId id="343" r:id="rId4"/>
    <p:sldId id="344" r:id="rId5"/>
    <p:sldId id="293" r:id="rId6"/>
    <p:sldId id="321" r:id="rId7"/>
    <p:sldId id="284" r:id="rId8"/>
    <p:sldId id="325" r:id="rId9"/>
    <p:sldId id="335" r:id="rId10"/>
    <p:sldId id="336" r:id="rId11"/>
    <p:sldId id="337" r:id="rId12"/>
    <p:sldId id="340" r:id="rId13"/>
    <p:sldId id="341" r:id="rId14"/>
    <p:sldId id="330" r:id="rId15"/>
    <p:sldId id="346" r:id="rId16"/>
    <p:sldId id="347" r:id="rId17"/>
    <p:sldId id="348" r:id="rId18"/>
    <p:sldId id="349" r:id="rId19"/>
    <p:sldId id="350" r:id="rId20"/>
    <p:sldId id="351" r:id="rId21"/>
    <p:sldId id="352" r:id="rId22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4-01T04:49:10.893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 contextRef="#ctx0" brushRef="#br0">6016 25 116,'-4'-4'46,"0"12"-35,-8-12 3,8 4-1,-4 0-11,-4-4-2,-4 8-1,0-4 0,-4 0 7,-4 0 6,-1 0 9,-3 4 7,-4-1-4,0 4 0,-4 0-13,-4 4 0,-1 4 0,-3-5-4,0 5 1,-4-1-3,-1 4 2,1 0-2,0 3 0,-4 0 1,-5 5 1,1-1-1,0 3 1,-1 4 0,-7 4 1,0 0-2,-1 0 1,1-1-2,-4-3 2,-1 1 0,1 2 1,-1 5-2,-3-5 1,0 1-2,-5 0 0,5 0-3,-1 3-2,1 0 1,0 4 1,-5 0 1,5 4 1,0-4-5,-1-1 1,1 5 0,3-8 0,1 4-3,0-4 2,-5 4 1,5-3 2,-5-1-1,1 4 2,0 3 0,-5 4 1,5-3-5,-5 3 1,5-4 2,0 1 1,-1 3-1,-3-4-2,-5-3 1,1 0-1,4 0 0,-1 4 2,1-1 1,-1 4 1,1 4-2,4-1-2,-1 1 1,-3-4-1,3 0 0,1 4 0,0-4 2,-1 0 1,1-4-1,-1 4 1,1 4-4,0 3 0,3 4 1,1-4 2,4 0-3,-5 0-2,5 4 4,0-7 3,-5-1-3,5 1-3,-1 3 3,5 0 1,8 4-3,-4 0-1,7-4 1,5 0 0,4 4-2,0 0 0,3-4-1,1 4 0,4 3-2,-4 19 1,8-5 3,4-3 3,3-7-2,5 0 0,4 0 1,0-7 0,0 0 0,0 3 0,4 4 0,0 0 2,0-4-1,4-3-1,0-4-2,0-3 1,0-1 1,4-6 2,-4-4-1,4 0 2,4-4-2,0-3 2,0-1-2,4-2 2,4-1-2,0-4 2,8 1-2,0-4 2,8 0-2,1 0-1,3 0-2,0-4 1,4-3 1,0-3 0,1-1 0,3-3 2,4-1-1,0-2-1,5-8 3,-1-4 2,-4-3 0,4 0 0,1-4-3,-1-3-2,0 3 1,0-3-1,9-1 0,3-3 0,4 1 0,1-5 0,-1 1-3,0-4 2,1 0 1,-5-4 2,-4 0-3,5 1 0,-1-1 5,0 1 2,1-1 0,-1 0-1,4 1-1,1-4 2,-1-1-3,4 5-2,-3-4 0,-1-4-1,0-3 0,5-4 0,-1-4 0,-4 1 2,1-1-1,-1 4 2,1-3 0,-1 3 1,0 0-2,1 4 1,3 3 0,-4-3 1,1-1-5,-1-6 1,-4-4 0,1 0 2,-5-4-1,0 4-1,1 4 3,-1-4 0,0 7-1,0-4 1,5 4-4,-5-3 0,0-1 1,1-3 2,-1-3-1,0-8-1,-3 4 1,3 0-1,0 3-3,0 4 2,5 3 1,-5-3 0,0 4 0,1-4 0,-1 0 0,0-4 2,-3-7-1,3 4-1,0 0 1,0 3 1,1 4-3,3 0-2,0 0 4,1 4 1,-1-1-3,0-3 1,1 0 0,-5-3 0,4-8 0,-3 0 0,-1 4-3,0 0 2,5 3 1,-5 0 2,4 1-1,-7 3-1,-1-4-2,4-3 1,-4 0 1,-3-8 2,3 5-3,0-1 0,0 4 1,1 7 2,-1 0-3,-4 0 0,1 0 1,-5-4 0,0 0-3,-8 1 2,0-1 1,-3-3 2,-1 3-3,-4 4-2,-4 0 4,0 0 1,-4 0 0,-4 7 1,-4 0-2,-3 4 2,-1 0-2,-4-1 2,-4-3-4,0 0 0,-4 1 1,0 2 2,-5 4-3,5 4-2,-4 4 4,0 3 1,-4 3 0,-8 1-2,-8 3-4,-4 0 0,-12 4-5,-9 3-1,-3 0-6,-12 1-1,3 6-1,1-3 1,8-4-7,3 8 1,17-5-83,20-20-72,36-19 59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4-01T04:49:10.894"/>
    </inkml:context>
    <inkml:brush xml:id="br0">
      <inkml:brushProperty name="width" value="0.13333" units="cm"/>
      <inkml:brushProperty name="height" value="0.13333" units="cm"/>
      <inkml:brushProperty name="color" value="#3165BB"/>
      <inkml:brushProperty name="fitToCurve" value="1"/>
    </inkml:brush>
  </inkml:definitions>
  <inkml:trace contextRef="#ctx0" brushRef="#br0">1869 161 12,'-8'-11'5,"8"7"-4,0 1 9,0 3 3,-4-4 9,0 1 4,0-1-1,0 0 2,-4 1-6,0-1-3,0 1-4,-4-1 1,0 1-2,0-5 0,-5 1-1,1 0 2,-4 0-7,0 0 9,-4 3 6,-4 1-2,-4-4 0,0 3-7,-1 0-3,1 1-1,-4-4-1,0 3-2,0-3-1,-1 3 5,1-3 6,0 4-2,0-1 2,-4 0-5,-1 1-1,1-1-4,0 1-1,0-1-1,0 4 0,3 0 0,1 0 0,0 4 6,4-1 4,0 1-5,-5-1-3,5 1-1,0 0 1,0-1-1,0 1 0,0 3-3,-1 0-2,1 0 5,0 4 4,4 0-5,0 3 0,0 0 0,-1 1 2,5 2-5,-4 1-1,4 4 0,0-1 2,0 4-1,0 0-1,-1-3 3,1 3 0,4 0-4,0 0 1,0-4 4,0 1 2,4 6-2,0-3-3,4 4 0,-4 0 1,4-1 1,-1 4 1,1 0-2,0 4-2,0 0-2,0 0 1,4 3 1,0-3 2,0 0-1,0-1-1,4-3 1,0 1-1,0-1 0,0 4 0,4-4-3,0 0 2,0-4 3,0 5 3,4-5-4,0 1-1,0 3-2,0-3 0,4-1 2,0 4 0,0 1 0,4-1 0,0 0 0,4-3 2,4-1-3,1 1-2,3 3 4,0-4 1,0-2-3,0-1 1,0 0-2,0-4 0,5 0 2,3-3 0,-4 0 0,4 0 2,0 0-3,4-4 0,1 1 1,-1-1 0,0 0-3,0 0 2,-4 1-1,5-1-2,-5-3 5,4-1 3,0-2-3,0-1-3,-4-7 1,5 3 0,-1 1 3,4 0 1,-4-1-4,0-3 1,1 0-2,-1 0-2,0 0 3,-4 0 2,0-3 0,-3-1 2,3 0-2,0 1 2,4-1-7,0-3 1,-4 0 1,-3 0 3,3 0-2,-4-1 0,0 1-1,0 0 0,0-4 2,1 1 0,-1-1-3,0-3 2,0 3 1,-4-3 2,0-1-3,0 1 0,1 0 1,-5-1 0,4 1-3,-8 3 0,0-3-1,0 0 3,0-4-7,-4-3 1,4-4 1,0-1 3,-4-2-3,4-1 2,-3 1 0,-1-1 2,0 0 1,0 1 3,-4 3-1,4-4-1,-4 4-2,-4 0 1,0-3-4,4-1 1,-4-3-3,0 0 0,-4 3 1,4 4 4,-4 0 1,0 4 1,0-1 0,0 1 2,0-1 1,0-3 1,0 4-5,0-1 1,0 1-2,0-1 0,-4 1 0,4 0 0,-4 3 2,0 0 0,0 0 0,4 0 0,-4 4 0,4-1 0,-4 5-3,4-5 2,-4 1 1,0 3 0,0-3-3,0 3 2,4 1 3,-4-1 1,-4 0-1,4 0 1,-4 4-2,4-3 2,-4-1-4,0 4-2,0-4-1,4 0 3,-5 1-5,5-1 2,0 0 2,0 0 1,-4 1-2,0-1 2,4 0 1,-4 0 0,0-3 0,0 3 2,0 1-3,4-1 0,-4 0 3,4 1 1,-4-1-1,4 0-2,-4 0-2,4-3 1,-4 0 3,4-1 1,-4-2-6,0-1 0,0 3 1,4 1 1,-4 0 1,0 0 2,0 3-1,0 0-1,-1-3-4,-3 3 0,4 0-3,-4 1 2,0-1-2,0 4 2,0 0-2,0-1 2,0 1-17,0 0-8,-4-4-90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715B9-05BA-41CA-A7D4-2DE76306C5E2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2320-C100-4469-ADE6-68D1ACC08C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81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83C16-0E4E-4EED-91E3-77B4695E1CCC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190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3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4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5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6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08499" y="740007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solve quadratic equations using the null factor law.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895985" y="27092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2028825" y="27092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895985" y="37287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028825" y="37287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2105" y="29870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05" y="2987040"/>
                <a:ext cx="44704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38885" y="21899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85" y="2189969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1773" y="39036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3" y="3903671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98065" y="21899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065" y="2189968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08405" y="29633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405" y="2963338"/>
                <a:ext cx="447040" cy="53296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9012" y="296333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012" y="2963338"/>
                <a:ext cx="447040" cy="523220"/>
              </a:xfrm>
              <a:prstGeom prst="rect">
                <a:avLst/>
              </a:prstGeom>
              <a:blipFill rotWithShape="0">
                <a:blip r:embed="rId7"/>
                <a:stretch>
                  <a:fillRect r="-13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30299" y="390367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299" y="3903672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56791" y="39036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791" y="3903671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45254" y="5034745"/>
                <a:ext cx="3447354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54" y="5034745"/>
                <a:ext cx="3447354" cy="47211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1485994" y="5592388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15040" y="5953736"/>
                <a:ext cx="2827569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40" y="5953736"/>
                <a:ext cx="2827569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724400" y="1666748"/>
                <a:ext cx="6939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 smtClean="0"/>
                  <a:t>What do we do with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800" dirty="0" smtClean="0"/>
                  <a:t>?</a:t>
                </a:r>
                <a:endParaRPr lang="en-AU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666748"/>
                <a:ext cx="6939280" cy="523220"/>
              </a:xfrm>
              <a:prstGeom prst="rect">
                <a:avLst/>
              </a:prstGeom>
              <a:blipFill rotWithShape="0">
                <a:blip r:embed="rId1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4775200" y="2443988"/>
            <a:ext cx="6939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FF0000"/>
                </a:solidFill>
              </a:rPr>
              <a:t>Add them.</a:t>
            </a:r>
            <a:endParaRPr lang="en-AU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24400" y="3258395"/>
                <a:ext cx="6939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 smtClean="0"/>
                  <a:t>What do we do with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800" dirty="0" smtClean="0"/>
                  <a:t>?</a:t>
                </a:r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258395"/>
                <a:ext cx="693928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775200" y="4161028"/>
            <a:ext cx="6939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0070C0"/>
                </a:solidFill>
              </a:rPr>
              <a:t>Multiply them.</a:t>
            </a:r>
            <a:endParaRPr lang="en-AU" sz="28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/>
              <p14:cNvContentPartPr/>
              <p14:nvPr/>
            </p14:nvContentPartPr>
            <p14:xfrm>
              <a:off x="868440" y="2759040"/>
              <a:ext cx="2323800" cy="192276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4320" y="2748600"/>
                <a:ext cx="2376000" cy="19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/>
              <p14:cNvContentPartPr/>
              <p14:nvPr/>
            </p14:nvContentPartPr>
            <p14:xfrm>
              <a:off x="2212320" y="3907080"/>
              <a:ext cx="743040" cy="66780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83880" y="3883320"/>
                <a:ext cx="796320" cy="7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68440" y="1185304"/>
                <a:ext cx="242899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40" y="1185304"/>
                <a:ext cx="2428998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78813" y="642304"/>
            <a:ext cx="528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Expand the brackets: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9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964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254076" y="634686"/>
            <a:ext cx="10139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cs typeface="Arial" panose="020B0604020202020204" pitchFamily="34" charset="0"/>
              </a:rPr>
              <a:t>Expanding is the process where you remove the brackets</a:t>
            </a:r>
            <a:r>
              <a:rPr lang="en-AU" sz="2400" b="1" dirty="0" smtClean="0">
                <a:cs typeface="Arial" panose="020B0604020202020204" pitchFamily="34" charset="0"/>
              </a:rPr>
              <a:t>.</a:t>
            </a:r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2400" b="1" dirty="0">
                <a:cs typeface="Arial" panose="020B0604020202020204" pitchFamily="34" charset="0"/>
              </a:rPr>
              <a:t>Factorising is the reverse - you are putting the brackets 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648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495800" y="2348909"/>
            <a:ext cx="4993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We are looking for two numbers that multiply together to make 21.</a:t>
            </a:r>
            <a:endParaRPr lang="en-AU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495800" y="3703216"/>
            <a:ext cx="51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We are also looking for two numbers that add together to make 10.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31680" y="3826327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3 and 7</a:t>
            </a:r>
            <a:endParaRPr lang="en-AU" sz="4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9834880" y="2296219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1 and 21</a:t>
            </a:r>
          </a:p>
          <a:p>
            <a:r>
              <a:rPr lang="en-AU" sz="3000" b="1" dirty="0" smtClean="0"/>
              <a:t>3 and 7</a:t>
            </a:r>
            <a:endParaRPr lang="en-AU" sz="3000" b="1" dirty="0"/>
          </a:p>
        </p:txBody>
      </p:sp>
    </p:spTree>
    <p:extLst>
      <p:ext uri="{BB962C8B-B14F-4D97-AF65-F5344CB8AC3E}">
        <p14:creationId xmlns:p14="http://schemas.microsoft.com/office/powerpoint/2010/main" val="228657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254076" y="634686"/>
            <a:ext cx="101396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cs typeface="Arial" panose="020B0604020202020204" pitchFamily="34" charset="0"/>
              </a:rPr>
              <a:t>Expanding is the process where you remove the brackets</a:t>
            </a:r>
            <a:r>
              <a:rPr lang="en-AU" sz="2400" b="1" dirty="0" smtClean="0">
                <a:cs typeface="Arial" panose="020B0604020202020204" pitchFamily="34" charset="0"/>
              </a:rPr>
              <a:t>.</a:t>
            </a:r>
            <a:endParaRPr lang="en-AU" sz="2400" b="1" dirty="0">
              <a:cs typeface="Arial" panose="020B0604020202020204" pitchFamily="34" charset="0"/>
            </a:endParaRPr>
          </a:p>
          <a:p>
            <a:r>
              <a:rPr lang="en-AU" sz="2400" b="1" dirty="0">
                <a:cs typeface="Arial" panose="020B0604020202020204" pitchFamily="34" charset="0"/>
              </a:rPr>
              <a:t>Factorising is the reverse - you are putting the brackets 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43374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99758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2130425" y="300386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9758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130425" y="402336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0" y="3252003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280" y="2420456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845" y="3179906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648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85" y="4266623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3179906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80" y="4266623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720" y="2420456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60" y="4266623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30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96500" y="5675155"/>
                <a:ext cx="5244834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00" y="5675155"/>
                <a:ext cx="5244834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25" name="TextBox 24"/>
          <p:cNvSpPr txBox="1"/>
          <p:nvPr/>
        </p:nvSpPr>
        <p:spPr>
          <a:xfrm>
            <a:off x="4396105" y="2384148"/>
            <a:ext cx="4993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0070C0"/>
                </a:solidFill>
              </a:rPr>
              <a:t>We are looking for two numbers that multiply together to make 21.</a:t>
            </a:r>
            <a:endParaRPr lang="en-AU" sz="2400" b="1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96105" y="3684958"/>
            <a:ext cx="5135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rgbClr val="FF0000"/>
                </a:solidFill>
              </a:rPr>
              <a:t>We are looking for two numbers that also add together to make 10.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14852" y="3752628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3 and 7</a:t>
            </a:r>
            <a:endParaRPr lang="en-AU" sz="4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9735185" y="2331458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000" b="1" dirty="0" smtClean="0"/>
              <a:t>1 and 21</a:t>
            </a:r>
          </a:p>
          <a:p>
            <a:r>
              <a:rPr lang="en-AU" sz="3000" b="1" dirty="0" smtClean="0"/>
              <a:t>3 and 7</a:t>
            </a:r>
            <a:endParaRPr lang="en-AU" sz="3000" b="1" dirty="0"/>
          </a:p>
        </p:txBody>
      </p:sp>
    </p:spTree>
    <p:extLst>
      <p:ext uri="{BB962C8B-B14F-4D97-AF65-F5344CB8AC3E}">
        <p14:creationId xmlns:p14="http://schemas.microsoft.com/office/powerpoint/2010/main" val="169632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solve quadratic equations using the null factor law.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8771965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r>
              <a:rPr lang="en-AU" b="1" dirty="0" smtClean="0"/>
              <a:t>Recognise if a parabola will have a minimum or maximum turning point.</a:t>
            </a:r>
          </a:p>
          <a:p>
            <a:r>
              <a:rPr lang="en-AU" b="1" dirty="0" smtClean="0"/>
              <a:t>Identify the x-intercepts of a parabola.</a:t>
            </a:r>
          </a:p>
          <a:p>
            <a:r>
              <a:rPr lang="en-AU" b="1" dirty="0" smtClean="0"/>
              <a:t>Identify the axis of symmetry of a parabola.</a:t>
            </a:r>
          </a:p>
          <a:p>
            <a:endParaRPr lang="en-AU" b="1" dirty="0" smtClean="0"/>
          </a:p>
        </p:txBody>
      </p:sp>
    </p:spTree>
    <p:extLst>
      <p:ext uri="{BB962C8B-B14F-4D97-AF65-F5344CB8AC3E}">
        <p14:creationId xmlns:p14="http://schemas.microsoft.com/office/powerpoint/2010/main" val="30667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F423DB4-A9D7-46F0-A1AC-98AAD3674293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472440" y="873760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1 x 0 =</a:t>
            </a:r>
            <a:endParaRPr lang="en-AU" sz="3600" dirty="0"/>
          </a:p>
        </p:txBody>
      </p:sp>
      <p:sp>
        <p:nvSpPr>
          <p:cNvPr id="36" name="TextBox 35"/>
          <p:cNvSpPr txBox="1"/>
          <p:nvPr/>
        </p:nvSpPr>
        <p:spPr>
          <a:xfrm>
            <a:off x="472440" y="1783080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2</a:t>
            </a:r>
            <a:r>
              <a:rPr lang="en-AU" sz="3600" dirty="0" smtClean="0"/>
              <a:t> x 0 =</a:t>
            </a:r>
            <a:endParaRPr lang="en-AU" sz="3600" dirty="0"/>
          </a:p>
        </p:txBody>
      </p:sp>
      <p:sp>
        <p:nvSpPr>
          <p:cNvPr id="37" name="TextBox 36"/>
          <p:cNvSpPr txBox="1"/>
          <p:nvPr/>
        </p:nvSpPr>
        <p:spPr>
          <a:xfrm>
            <a:off x="472440" y="2827218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3</a:t>
            </a:r>
            <a:r>
              <a:rPr lang="en-AU" sz="3600" dirty="0" smtClean="0"/>
              <a:t> x 0 =</a:t>
            </a:r>
            <a:endParaRPr lang="en-AU" sz="3600" dirty="0"/>
          </a:p>
        </p:txBody>
      </p:sp>
      <p:sp>
        <p:nvSpPr>
          <p:cNvPr id="38" name="TextBox 37"/>
          <p:cNvSpPr txBox="1"/>
          <p:nvPr/>
        </p:nvSpPr>
        <p:spPr>
          <a:xfrm>
            <a:off x="472440" y="4032349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4</a:t>
            </a:r>
            <a:r>
              <a:rPr lang="en-AU" sz="3600" dirty="0" smtClean="0"/>
              <a:t> x 0 =</a:t>
            </a:r>
            <a:endParaRPr lang="en-AU" sz="3600" dirty="0"/>
          </a:p>
        </p:txBody>
      </p:sp>
      <p:sp>
        <p:nvSpPr>
          <p:cNvPr id="39" name="TextBox 38"/>
          <p:cNvSpPr txBox="1"/>
          <p:nvPr/>
        </p:nvSpPr>
        <p:spPr>
          <a:xfrm>
            <a:off x="472440" y="5283200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5</a:t>
            </a:r>
            <a:r>
              <a:rPr lang="en-AU" sz="3600" dirty="0" smtClean="0"/>
              <a:t> x 0 =</a:t>
            </a:r>
            <a:endParaRPr lang="en-AU" sz="3600" dirty="0"/>
          </a:p>
        </p:txBody>
      </p:sp>
      <p:sp>
        <p:nvSpPr>
          <p:cNvPr id="40" name="TextBox 39"/>
          <p:cNvSpPr txBox="1"/>
          <p:nvPr/>
        </p:nvSpPr>
        <p:spPr>
          <a:xfrm>
            <a:off x="2876154" y="867181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0</a:t>
            </a:r>
            <a:r>
              <a:rPr lang="en-AU" sz="3600" dirty="0" smtClean="0"/>
              <a:t> x 10 =</a:t>
            </a:r>
            <a:endParaRPr lang="en-AU" sz="3600" dirty="0"/>
          </a:p>
        </p:txBody>
      </p:sp>
      <p:sp>
        <p:nvSpPr>
          <p:cNvPr id="41" name="TextBox 40"/>
          <p:cNvSpPr txBox="1"/>
          <p:nvPr/>
        </p:nvSpPr>
        <p:spPr>
          <a:xfrm>
            <a:off x="2863246" y="1783080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0</a:t>
            </a:r>
            <a:r>
              <a:rPr lang="en-AU" sz="3600" dirty="0" smtClean="0"/>
              <a:t> x 532 =</a:t>
            </a:r>
            <a:endParaRPr lang="en-AU" sz="3600" dirty="0"/>
          </a:p>
        </p:txBody>
      </p:sp>
      <p:sp>
        <p:nvSpPr>
          <p:cNvPr id="42" name="TextBox 41"/>
          <p:cNvSpPr txBox="1"/>
          <p:nvPr/>
        </p:nvSpPr>
        <p:spPr>
          <a:xfrm>
            <a:off x="2667000" y="2820639"/>
            <a:ext cx="21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-31 x 0 =</a:t>
            </a:r>
            <a:endParaRPr lang="en-AU" sz="3600" dirty="0"/>
          </a:p>
        </p:txBody>
      </p:sp>
      <p:sp>
        <p:nvSpPr>
          <p:cNvPr id="43" name="TextBox 42"/>
          <p:cNvSpPr txBox="1"/>
          <p:nvPr/>
        </p:nvSpPr>
        <p:spPr>
          <a:xfrm>
            <a:off x="2571909" y="4044134"/>
            <a:ext cx="2645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1084 x 0 =</a:t>
            </a:r>
            <a:endParaRPr lang="en-AU" sz="3600" dirty="0"/>
          </a:p>
        </p:txBody>
      </p:sp>
      <p:sp>
        <p:nvSpPr>
          <p:cNvPr id="44" name="TextBox 43"/>
          <p:cNvSpPr txBox="1"/>
          <p:nvPr/>
        </p:nvSpPr>
        <p:spPr>
          <a:xfrm>
            <a:off x="2504440" y="5283199"/>
            <a:ext cx="2553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-5.34 x 0 =</a:t>
            </a:r>
            <a:endParaRPr lang="en-A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577840" y="2429411"/>
            <a:ext cx="6031588" cy="1477328"/>
          </a:xfrm>
          <a:prstGeom prst="rect">
            <a:avLst/>
          </a:prstGeom>
          <a:solidFill>
            <a:srgbClr val="FFFF00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AU" sz="4800" dirty="0" smtClean="0"/>
              <a:t>Anything multiplied by </a:t>
            </a:r>
          </a:p>
          <a:p>
            <a:pPr algn="ctr"/>
            <a:r>
              <a:rPr lang="en-AU" sz="4800" dirty="0" smtClean="0"/>
              <a:t>zero has a value of zero!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82267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45318" y="1105137"/>
                <a:ext cx="10862761" cy="47352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sz="2400" dirty="0" smtClean="0"/>
                  <a:t>The method we are going to use to solve quadratic equations is the Null Factor Law.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 smtClean="0"/>
                  <a:t>Null Factor Law: if two numbers multiply together to give an answer of zero, one or both of those numbers must be zero.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 smtClean="0"/>
                  <a:t>If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, then either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 smtClean="0"/>
                  <a:t> 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 smtClean="0"/>
                  <a:t> .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9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5318" y="1105137"/>
                <a:ext cx="10862761" cy="4735272"/>
              </a:xfrm>
              <a:blipFill rotWithShape="0">
                <a:blip r:embed="rId2"/>
                <a:stretch>
                  <a:fillRect l="-842" t="-18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47038"/>
              </p:ext>
            </p:extLst>
          </p:nvPr>
        </p:nvGraphicFramePr>
        <p:xfrm>
          <a:off x="9250680" y="0"/>
          <a:ext cx="3012440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1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</a:t>
                      </a:r>
                      <a:r>
                        <a:rPr lang="en-AU" baseline="0" dirty="0" smtClean="0"/>
                        <a:t> null factor law?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187" y="2854033"/>
            <a:ext cx="4751090" cy="352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980440" y="2511585"/>
            <a:ext cx="1254760" cy="10799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1930400" y="2511585"/>
            <a:ext cx="294640" cy="1074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87400" y="3672840"/>
                <a:ext cx="93167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To give an answer of zero when multiplying, either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+3=0 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3672840"/>
                <a:ext cx="931672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81" t="-10667" b="-29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3357880" y="451611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4292600" y="4897731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-3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3160" y="4890414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-3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two solutions to the quadratic equation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0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94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0" y="-20052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980440" y="2511585"/>
            <a:ext cx="1254760" cy="10799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1930400" y="2511585"/>
            <a:ext cx="294640" cy="1074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87400" y="3672840"/>
                <a:ext cx="93167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To give an answer of zero when multiplying, either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−7=0 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3672840"/>
                <a:ext cx="931672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81" t="-10667" b="-29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3357880" y="451611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−7=0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4292600" y="4897731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+7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3160" y="4890414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+7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two solutions to the quadratic equation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0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87680" y="4977783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4977783"/>
                <a:ext cx="54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413000" y="4964158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0" y="4964158"/>
                <a:ext cx="54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04240" y="53984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0" y="5398424"/>
                <a:ext cx="181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77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0" y="-20052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28164" y="1803735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4" y="1803735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605280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2032000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-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78200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-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963420" y="345576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420" y="3455766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871" t="-5839" r="-3950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equations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50433" y="1797932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433" y="1797932"/>
                <a:ext cx="3964436" cy="6463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172702" y="1786266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702" y="1786266"/>
                <a:ext cx="3964436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572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407416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810260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638296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606501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121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blipFill rotWithShape="0">
                <a:blip r:embed="rId1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blipFill rotWithShape="0">
                <a:blip r:embed="rId13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blipFill rotWithShape="0">
                <a:blip r:embed="rId14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9638030" y="2713602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011885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505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blipFill rotWithShape="0">
                <a:blip r:embed="rId19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r="-22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AU" sz="2400" dirty="0" smtClean="0"/>
                  <a:t>.</a:t>
                </a:r>
                <a:endParaRPr lang="en-AU" sz="24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blipFill rotWithShape="0">
                <a:blip r:embed="rId2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5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27" grpId="0"/>
      <p:bldP spid="28" grpId="0"/>
      <p:bldP spid="29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−1)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980440" y="2511585"/>
            <a:ext cx="1254760" cy="10799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225040" y="2511585"/>
            <a:ext cx="670560" cy="1074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87400" y="3672840"/>
                <a:ext cx="97739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To give an answer of zero when multiplying, either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−1=0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+3=0 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3672840"/>
                <a:ext cx="977392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35" t="-10667" b="-29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3357880" y="451611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4292600" y="4897731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-3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3160" y="4890414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-3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two solutions to the quadratic equation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0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14245" y="492140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+1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54805" y="4914089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+1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64765" y="537575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65" y="5375754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56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14244" y="1865254"/>
                <a:ext cx="44775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−6)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+10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44" y="1865254"/>
                <a:ext cx="4477515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980440" y="2511585"/>
            <a:ext cx="1254760" cy="10799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225040" y="2511585"/>
            <a:ext cx="670560" cy="1074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87400" y="3672840"/>
                <a:ext cx="97739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To give an answer of zero when multiplying, either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−6=0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+10=0 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3672840"/>
                <a:ext cx="977392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35" t="-10667" b="-29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3357880" y="451611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+10=0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4292600" y="4897731"/>
            <a:ext cx="701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-10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3160" y="489041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-10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two solutions to the quadratic equation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=6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0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14245" y="492140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54805" y="4914089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64765" y="537575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65" y="5375754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4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0" y="-20052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4482" y="1795613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−1)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2" y="1795613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414520" y="0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120" y="2680897"/>
                <a:ext cx="1813560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605280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080" y="2694524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-61973" y="304355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+1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84227" y="304355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+1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-130553" y="339778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553" y="3397786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" y="4293412"/>
                <a:ext cx="2933700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871" t="-5839" r="-3950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equations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153406" y="1797164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+9)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406" y="1797164"/>
                <a:ext cx="3964436" cy="6463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087358" y="1786266"/>
                <a:ext cx="42418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+1)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358" y="1786266"/>
                <a:ext cx="4241802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572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407416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8102600" y="1656080"/>
            <a:ext cx="4028440" cy="511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+9=0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896" y="2680897"/>
                <a:ext cx="181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5638296" y="2661808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96" y="2694524"/>
                <a:ext cx="181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606501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121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36" y="3455766"/>
                <a:ext cx="181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=−9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96" y="4293412"/>
                <a:ext cx="2933700" cy="830997"/>
              </a:xfrm>
              <a:prstGeom prst="rect">
                <a:avLst/>
              </a:prstGeom>
              <a:blipFill rotWithShape="0">
                <a:blip r:embed="rId1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16" y="3128934"/>
                <a:ext cx="543560" cy="461665"/>
              </a:xfrm>
              <a:prstGeom prst="rect">
                <a:avLst/>
              </a:prstGeom>
              <a:blipFill rotWithShape="0">
                <a:blip r:embed="rId13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096" y="3107614"/>
                <a:ext cx="543560" cy="461665"/>
              </a:xfrm>
              <a:prstGeom prst="rect">
                <a:avLst/>
              </a:prstGeom>
              <a:blipFill rotWithShape="0">
                <a:blip r:embed="rId14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=−9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216" y="3499454"/>
                <a:ext cx="1813560" cy="46166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830" y="2680897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9638030" y="2713602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207" y="2694524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0118856" y="310153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465056" y="3101535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+6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863" y="3437194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332" y="3840412"/>
                <a:ext cx="543560" cy="461665"/>
              </a:xfrm>
              <a:prstGeom prst="rect">
                <a:avLst/>
              </a:prstGeom>
              <a:blipFill rotWithShape="0">
                <a:blip r:embed="rId19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8412" y="3819092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r="-22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640" y="4315281"/>
                <a:ext cx="181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r>
                  <a:rPr lang="en-AU" sz="2400" dirty="0" smtClean="0"/>
                  <a:t>.</a:t>
                </a:r>
                <a:endParaRPr lang="en-AU" sz="24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476" y="4860065"/>
                <a:ext cx="2933700" cy="830997"/>
              </a:xfrm>
              <a:prstGeom prst="rect">
                <a:avLst/>
              </a:prstGeom>
              <a:blipFill rotWithShape="0">
                <a:blip r:embed="rId22"/>
                <a:stretch>
                  <a:fillRect l="-1663" t="-5839" r="-4158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2035810" y="3029704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-2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82010" y="3029703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-2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967230" y="338393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230" y="3383934"/>
                <a:ext cx="1813560" cy="461665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8011679" y="3109178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-1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357879" y="310917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-1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916686" y="3444836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686" y="3444836"/>
                <a:ext cx="1813560" cy="461665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84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27" grpId="0"/>
      <p:bldP spid="28" grpId="0"/>
      <p:bldP spid="29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56" grpId="0"/>
      <p:bldP spid="57" grpId="0"/>
      <p:bldP spid="58" grpId="0"/>
      <p:bldP spid="59" grpId="0"/>
      <p:bldP spid="60" grpId="0"/>
      <p:bldP spid="61" grpId="0"/>
      <p:bldP spid="48" grpId="0"/>
      <p:bldP spid="49" grpId="0"/>
      <p:bldP spid="50" grpId="0"/>
      <p:bldP spid="55" grpId="0"/>
      <p:bldP spid="63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4513109" y="-20052"/>
            <a:ext cx="767080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Mathspace</a:t>
            </a:r>
            <a:r>
              <a:rPr lang="en-AU" sz="2400" dirty="0" smtClean="0"/>
              <a:t> – Year 10 Mainstream PPT 65 Null Factor Law 1 CLASS WORK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239688" y="1049684"/>
            <a:ext cx="9915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Solve the following quadratic equation using the null factor law.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45" y="1865254"/>
                <a:ext cx="396443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4414520" y="2026993"/>
            <a:ext cx="777748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AU" sz="2400" dirty="0"/>
              <a:t>Null Factor Law: if two numbers multiply together to give an answer of zero, one or both of those numbers must be zero.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930400" y="2511585"/>
            <a:ext cx="294640" cy="10748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87400" y="3672840"/>
                <a:ext cx="93167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To give an answer of zero when multiplying, either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−7=0 .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3672840"/>
                <a:ext cx="931672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81" t="-10667" b="-29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0" y="4516120"/>
                <a:ext cx="1813560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357880" y="451611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−7=0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4516118"/>
                <a:ext cx="181356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292600" y="4897731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+7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33160" y="4890414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+7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0" y="5352079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two solutions to the quadratic equation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" y="6090920"/>
                <a:ext cx="943864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0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87680" y="4977783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4977783"/>
                <a:ext cx="54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413000" y="4964158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0" y="4964158"/>
                <a:ext cx="54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 r="-2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04240" y="5398424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0" y="5398424"/>
                <a:ext cx="181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42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0" y="1748315"/>
                <a:ext cx="2321533" cy="4721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0344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1836282" y="2740424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70344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1836282" y="375991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7" y="2988560"/>
                <a:ext cx="223160" cy="523220"/>
              </a:xfrm>
              <a:prstGeom prst="rect">
                <a:avLst/>
              </a:prstGeom>
              <a:blipFill rotWithShape="0">
                <a:blip r:embed="rId3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37" y="2157013"/>
                <a:ext cx="223160" cy="523220"/>
              </a:xfrm>
              <a:prstGeom prst="rect">
                <a:avLst/>
              </a:prstGeom>
              <a:blipFill rotWithShape="0">
                <a:blip r:embed="rId4"/>
                <a:stretch>
                  <a:fillRect r="-29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02" y="2916463"/>
                <a:ext cx="223160" cy="532966"/>
              </a:xfrm>
              <a:prstGeom prst="rect">
                <a:avLst/>
              </a:prstGeom>
              <a:blipFill rotWithShape="0">
                <a:blip r:embed="rId5"/>
                <a:stretch>
                  <a:fillRect r="-9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542" y="4003180"/>
                <a:ext cx="22316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1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377" y="2916463"/>
                <a:ext cx="79756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37" y="4003180"/>
                <a:ext cx="797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577" y="2157013"/>
                <a:ext cx="22316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17" y="4003180"/>
                <a:ext cx="22316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270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569" y="3866020"/>
                <a:ext cx="5891998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896402" y="2394284"/>
            <a:ext cx="579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0070C0"/>
                </a:solidFill>
              </a:rPr>
              <a:t>What do you multiply together to make 15?</a:t>
            </a:r>
            <a:endParaRPr lang="en-AU" sz="2400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96402" y="3148960"/>
            <a:ext cx="593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solidFill>
                  <a:srgbClr val="FF0000"/>
                </a:solidFill>
              </a:rPr>
              <a:t>What do you also add together to make 8?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32684" y="3025849"/>
            <a:ext cx="2059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 smtClean="0"/>
              <a:t>3 and 5</a:t>
            </a:r>
            <a:endParaRPr lang="en-AU" sz="4000" dirty="0"/>
          </a:p>
        </p:txBody>
      </p:sp>
      <p:sp>
        <p:nvSpPr>
          <p:cNvPr id="23" name="TextBox 22"/>
          <p:cNvSpPr txBox="1"/>
          <p:nvPr/>
        </p:nvSpPr>
        <p:spPr>
          <a:xfrm>
            <a:off x="9811882" y="2163153"/>
            <a:ext cx="1818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 smtClean="0"/>
              <a:t>1 and 15</a:t>
            </a:r>
          </a:p>
          <a:p>
            <a:pPr algn="ctr"/>
            <a:r>
              <a:rPr lang="en-AU" sz="3000" dirty="0" smtClean="0"/>
              <a:t>3 and 5</a:t>
            </a:r>
            <a:endParaRPr lang="en-AU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What do you multiply together to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n-AU" sz="2400" dirty="0" smtClean="0"/>
                  <a:t>?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20" y="1837393"/>
                <a:ext cx="7223760" cy="470000"/>
              </a:xfrm>
              <a:prstGeom prst="rect">
                <a:avLst/>
              </a:prstGeom>
              <a:blipFill rotWithShape="0">
                <a:blip r:embed="rId12"/>
                <a:stretch>
                  <a:fillRect l="-1350" t="-10256" b="-256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8547" y="1810783"/>
                <a:ext cx="1874520" cy="523220"/>
              </a:xfrm>
              <a:prstGeom prst="rect">
                <a:avLst/>
              </a:prstGeom>
              <a:blipFill rotWithShape="0"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We need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to find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(8) and multiply to make the constant (15).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988552"/>
                  </p:ext>
                </p:extLst>
              </p:nvPr>
            </p:nvGraphicFramePr>
            <p:xfrm>
              <a:off x="8183880" y="0"/>
              <a:ext cx="4008120" cy="12852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14"/>
                          <a:stretch>
                            <a:fillRect l="-152" t="-44000" r="-760" b="-10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Solve the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 smtClean="0"/>
                  <a:t>by using the null factor law.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" y="736600"/>
                <a:ext cx="7975600" cy="839332"/>
              </a:xfrm>
              <a:prstGeom prst="rect">
                <a:avLst/>
              </a:prstGeom>
              <a:blipFill rotWithShape="0">
                <a:blip r:embed="rId15"/>
                <a:stretch>
                  <a:fillRect l="-1223" t="-4348" b="-15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76" y="4414488"/>
                <a:ext cx="181356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8234176" y="43953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76" y="4428115"/>
                <a:ext cx="1813560" cy="46166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8660896" y="48351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7096" y="48351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316" y="5189357"/>
                <a:ext cx="1813560" cy="46166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=−3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396" y="5818723"/>
                <a:ext cx="2933700" cy="830997"/>
              </a:xfrm>
              <a:prstGeom prst="rect">
                <a:avLst/>
              </a:prstGeom>
              <a:blipFill rotWithShape="0">
                <a:blip r:embed="rId1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896" y="4862525"/>
                <a:ext cx="543560" cy="461665"/>
              </a:xfrm>
              <a:prstGeom prst="rect">
                <a:avLst/>
              </a:prstGeom>
              <a:blipFill rotWithShape="0">
                <a:blip r:embed="rId20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976" y="4841205"/>
                <a:ext cx="543560" cy="461665"/>
              </a:xfrm>
              <a:prstGeom prst="rect">
                <a:avLst/>
              </a:prstGeom>
              <a:blipFill rotWithShape="0">
                <a:blip r:embed="rId21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096" y="5233045"/>
                <a:ext cx="1813560" cy="461665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62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413953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4139531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5596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(10) and multiply to make the constant (16).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9716957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10 and multiplies to make 16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 smtClean="0"/>
              <a:t>8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3912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391284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+8=0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=−8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0857" y="2819411"/>
            <a:ext cx="3048541" cy="342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9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6344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(3) and multiply to make the constant (2).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9403141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3 and multiplies to make 2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1</a:t>
            </a:r>
            <a:r>
              <a:rPr lang="en-AU" sz="2400" b="1" dirty="0" smtClean="0"/>
              <a:t>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4720" y="2483058"/>
            <a:ext cx="4074321" cy="391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6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5965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(8) and multiply to make the constant (15).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4674925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8 and multiplies to make 15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5</a:t>
            </a:r>
            <a:r>
              <a:rPr lang="en-AU" sz="2400" b="1" dirty="0" smtClean="0"/>
              <a:t> and 3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+3=0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12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9893" y="2234565"/>
            <a:ext cx="4891171" cy="426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6344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(5) and multiply to make the constant (4).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0304060"/>
                  </p:ext>
                </p:extLst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5 and multiplies to make 4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4</a:t>
            </a:r>
            <a:r>
              <a:rPr lang="en-AU" sz="2400" b="1" dirty="0" smtClean="0"/>
              <a:t> and 1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=−4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6440" y="2898557"/>
            <a:ext cx="4498165" cy="310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35824" y="1295866"/>
                <a:ext cx="365042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24" y="1295866"/>
                <a:ext cx="3650423" cy="472117"/>
              </a:xfrm>
              <a:prstGeom prst="rect">
                <a:avLst/>
              </a:prstGeom>
              <a:blipFill rotWithShape="0">
                <a:blip r:embed="rId3"/>
                <a:stretch>
                  <a:fillRect l="-6344" t="-23377" b="-50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947341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(5) and multiply to make the constant (4).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375593"/>
                  </p:ext>
                </p:extLst>
              </p:nvPr>
            </p:nvGraphicFramePr>
            <p:xfrm>
              <a:off x="6629400" y="947341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10" t="-27386" r="-548" b="-622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5 and multiplies to make 4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4</a:t>
            </a:r>
            <a:r>
              <a:rPr lang="en-AU" sz="2400" b="1" dirty="0" smtClean="0"/>
              <a:t> and 1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=−4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10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6440" y="2898557"/>
            <a:ext cx="4498165" cy="3101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35120" y="0"/>
            <a:ext cx="792480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Mathspace</a:t>
            </a:r>
            <a:r>
              <a:rPr lang="en-AU" sz="2400" dirty="0" smtClean="0"/>
              <a:t> – Year 10 Mainstream PPT 66 Null Factor Law 2 CLASS WORK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2092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309880" y="792480"/>
            <a:ext cx="1162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err="1" smtClean="0"/>
              <a:t>Mathspace</a:t>
            </a:r>
            <a:r>
              <a:rPr lang="en-AU" sz="2400" b="1" dirty="0" smtClean="0"/>
              <a:t> task – Year 10 </a:t>
            </a:r>
            <a:r>
              <a:rPr lang="en-AU" sz="2400" b="1" smtClean="0"/>
              <a:t>Mainstream </a:t>
            </a:r>
            <a:r>
              <a:rPr lang="en-AU" sz="2400" b="1" smtClean="0"/>
              <a:t>Solving </a:t>
            </a:r>
            <a:r>
              <a:rPr lang="en-AU" sz="2400" b="1" dirty="0" smtClean="0"/>
              <a:t>Monic Quadratics CLASSWORK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05547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2413</Words>
  <Application>Microsoft Office PowerPoint</Application>
  <PresentationFormat>Widescreen</PresentationFormat>
  <Paragraphs>378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167</cp:revision>
  <cp:lastPrinted>2017-04-18T22:41:05Z</cp:lastPrinted>
  <dcterms:created xsi:type="dcterms:W3CDTF">2017-01-28T08:32:28Z</dcterms:created>
  <dcterms:modified xsi:type="dcterms:W3CDTF">2021-09-20T02:11:03Z</dcterms:modified>
</cp:coreProperties>
</file>
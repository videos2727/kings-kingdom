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handoutMasterIdLst>
    <p:handoutMasterId r:id="rId16"/>
  </p:handoutMasterIdLst>
  <p:sldIdLst>
    <p:sldId id="294" r:id="rId2"/>
    <p:sldId id="306" r:id="rId3"/>
    <p:sldId id="305" r:id="rId4"/>
    <p:sldId id="308" r:id="rId5"/>
    <p:sldId id="293" r:id="rId6"/>
    <p:sldId id="263" r:id="rId7"/>
    <p:sldId id="284" r:id="rId8"/>
    <p:sldId id="300" r:id="rId9"/>
    <p:sldId id="301" r:id="rId10"/>
    <p:sldId id="278" r:id="rId11"/>
    <p:sldId id="303" r:id="rId12"/>
    <p:sldId id="302" r:id="rId13"/>
    <p:sldId id="304" r:id="rId14"/>
    <p:sldId id="262" r:id="rId15"/>
  </p:sldIdLst>
  <p:sldSz cx="12192000" cy="6858000"/>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559" autoAdjust="0"/>
    <p:restoredTop sz="94660"/>
  </p:normalViewPr>
  <p:slideViewPr>
    <p:cSldViewPr snapToGrid="0">
      <p:cViewPr varScale="1">
        <p:scale>
          <a:sx n="91" d="100"/>
          <a:sy n="91" d="100"/>
        </p:scale>
        <p:origin x="174" y="72"/>
      </p:cViewPr>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dLbls>
          <c:showLegendKey val="0"/>
          <c:showVal val="0"/>
          <c:showCatName val="0"/>
          <c:showSerName val="0"/>
          <c:showPercent val="0"/>
          <c:showBubbleSize val="0"/>
        </c:dLbls>
        <c:axId val="183424128"/>
        <c:axId val="181447808"/>
      </c:scatterChart>
      <c:valAx>
        <c:axId val="183424128"/>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AU"/>
                  <a:t>Maths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1447808"/>
        <c:crosses val="autoZero"/>
        <c:crossBetween val="midCat"/>
      </c:valAx>
      <c:valAx>
        <c:axId val="18144780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AU"/>
                  <a:t>Physics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3424128"/>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575" cy="512763"/>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sz="quarter" idx="1"/>
          </p:nvPr>
        </p:nvSpPr>
        <p:spPr>
          <a:xfrm>
            <a:off x="4021138" y="0"/>
            <a:ext cx="3076575" cy="512763"/>
          </a:xfrm>
          <a:prstGeom prst="rect">
            <a:avLst/>
          </a:prstGeom>
        </p:spPr>
        <p:txBody>
          <a:bodyPr vert="horz" lIns="91440" tIns="45720" rIns="91440" bIns="45720" rtlCol="0"/>
          <a:lstStyle>
            <a:lvl1pPr algn="r">
              <a:defRPr sz="1200"/>
            </a:lvl1pPr>
          </a:lstStyle>
          <a:p>
            <a:fld id="{5808CDC9-85D4-4503-A1C1-C4A7D08CE495}" type="datetimeFigureOut">
              <a:rPr lang="en-AU" smtClean="0"/>
              <a:t>22/10/2021</a:t>
            </a:fld>
            <a:endParaRPr lang="en-AU"/>
          </a:p>
        </p:txBody>
      </p:sp>
      <p:sp>
        <p:nvSpPr>
          <p:cNvPr id="4" name="Footer Placeholder 3"/>
          <p:cNvSpPr>
            <a:spLocks noGrp="1"/>
          </p:cNvSpPr>
          <p:nvPr>
            <p:ph type="ftr" sz="quarter" idx="2"/>
          </p:nvPr>
        </p:nvSpPr>
        <p:spPr>
          <a:xfrm>
            <a:off x="0" y="9721850"/>
            <a:ext cx="3076575" cy="512763"/>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p:cNvSpPr>
            <a:spLocks noGrp="1"/>
          </p:cNvSpPr>
          <p:nvPr>
            <p:ph type="sldNum" sz="quarter" idx="3"/>
          </p:nvPr>
        </p:nvSpPr>
        <p:spPr>
          <a:xfrm>
            <a:off x="4021138" y="9721850"/>
            <a:ext cx="3076575" cy="512763"/>
          </a:xfrm>
          <a:prstGeom prst="rect">
            <a:avLst/>
          </a:prstGeom>
        </p:spPr>
        <p:txBody>
          <a:bodyPr vert="horz" lIns="91440" tIns="45720" rIns="91440" bIns="45720" rtlCol="0" anchor="b"/>
          <a:lstStyle>
            <a:lvl1pPr algn="r">
              <a:defRPr sz="1200"/>
            </a:lvl1pPr>
          </a:lstStyle>
          <a:p>
            <a:fld id="{275FFA11-8017-47B8-A9A2-068FE447A802}" type="slidenum">
              <a:rPr lang="en-AU" smtClean="0"/>
              <a:t>‹#›</a:t>
            </a:fld>
            <a:endParaRPr lang="en-AU"/>
          </a:p>
        </p:txBody>
      </p:sp>
    </p:spTree>
    <p:extLst>
      <p:ext uri="{BB962C8B-B14F-4D97-AF65-F5344CB8AC3E}">
        <p14:creationId xmlns:p14="http://schemas.microsoft.com/office/powerpoint/2010/main" val="3579129096"/>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E6F726FA-289A-47A4-9DB2-36250D803CC9}" type="datetimeFigureOut">
              <a:rPr lang="en-AU" smtClean="0"/>
              <a:t>22/10/2021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F26B6D5-E49B-468D-A565-A6E4E9BB073F}" type="slidenum">
              <a:rPr lang="en-AU" smtClean="0"/>
              <a:t>‹#›</a:t>
            </a:fld>
            <a:endParaRPr lang="en-AU"/>
          </a:p>
        </p:txBody>
      </p:sp>
    </p:spTree>
    <p:extLst>
      <p:ext uri="{BB962C8B-B14F-4D97-AF65-F5344CB8AC3E}">
        <p14:creationId xmlns:p14="http://schemas.microsoft.com/office/powerpoint/2010/main" val="13386285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E6F726FA-289A-47A4-9DB2-36250D803CC9}" type="datetimeFigureOut">
              <a:rPr lang="en-AU" smtClean="0"/>
              <a:t>22/10/2021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F26B6D5-E49B-468D-A565-A6E4E9BB073F}" type="slidenum">
              <a:rPr lang="en-AU" smtClean="0"/>
              <a:t>‹#›</a:t>
            </a:fld>
            <a:endParaRPr lang="en-AU"/>
          </a:p>
        </p:txBody>
      </p:sp>
    </p:spTree>
    <p:extLst>
      <p:ext uri="{BB962C8B-B14F-4D97-AF65-F5344CB8AC3E}">
        <p14:creationId xmlns:p14="http://schemas.microsoft.com/office/powerpoint/2010/main" val="7907468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6F726FA-289A-47A4-9DB2-36250D803CC9}" type="datetimeFigureOut">
              <a:rPr lang="en-AU" smtClean="0"/>
              <a:t>22/10/2021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F26B6D5-E49B-468D-A565-A6E4E9BB073F}" type="slidenum">
              <a:rPr lang="en-AU" smtClean="0"/>
              <a:t>‹#›</a:t>
            </a:fld>
            <a:endParaRPr lang="en-AU"/>
          </a:p>
        </p:txBody>
      </p:sp>
    </p:spTree>
    <p:extLst>
      <p:ext uri="{BB962C8B-B14F-4D97-AF65-F5344CB8AC3E}">
        <p14:creationId xmlns:p14="http://schemas.microsoft.com/office/powerpoint/2010/main" val="37216318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E6F726FA-289A-47A4-9DB2-36250D803CC9}" type="datetimeFigureOut">
              <a:rPr lang="en-AU" smtClean="0"/>
              <a:t>22/10/2021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F26B6D5-E49B-468D-A565-A6E4E9BB073F}" type="slidenum">
              <a:rPr lang="en-AU" smtClean="0"/>
              <a:t>‹#›</a:t>
            </a:fld>
            <a:endParaRPr lang="en-AU"/>
          </a:p>
        </p:txBody>
      </p:sp>
    </p:spTree>
    <p:extLst>
      <p:ext uri="{BB962C8B-B14F-4D97-AF65-F5344CB8AC3E}">
        <p14:creationId xmlns:p14="http://schemas.microsoft.com/office/powerpoint/2010/main" val="39442873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E6F726FA-289A-47A4-9DB2-36250D803CC9}" type="datetimeFigureOut">
              <a:rPr lang="en-AU" smtClean="0"/>
              <a:t>22/10/2021</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AF26B6D5-E49B-468D-A565-A6E4E9BB073F}" type="slidenum">
              <a:rPr lang="en-AU" smtClean="0"/>
              <a:t>‹#›</a:t>
            </a:fld>
            <a:endParaRPr lang="en-AU"/>
          </a:p>
        </p:txBody>
      </p:sp>
    </p:spTree>
    <p:extLst>
      <p:ext uri="{BB962C8B-B14F-4D97-AF65-F5344CB8AC3E}">
        <p14:creationId xmlns:p14="http://schemas.microsoft.com/office/powerpoint/2010/main" val="40145334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E6F726FA-289A-47A4-9DB2-36250D803CC9}" type="datetimeFigureOut">
              <a:rPr lang="en-AU" smtClean="0"/>
              <a:t>22/10/2021</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AF26B6D5-E49B-468D-A565-A6E4E9BB073F}" type="slidenum">
              <a:rPr lang="en-AU" smtClean="0"/>
              <a:t>‹#›</a:t>
            </a:fld>
            <a:endParaRPr lang="en-AU"/>
          </a:p>
        </p:txBody>
      </p:sp>
    </p:spTree>
    <p:extLst>
      <p:ext uri="{BB962C8B-B14F-4D97-AF65-F5344CB8AC3E}">
        <p14:creationId xmlns:p14="http://schemas.microsoft.com/office/powerpoint/2010/main" val="35312844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F726FA-289A-47A4-9DB2-36250D803CC9}" type="datetimeFigureOut">
              <a:rPr lang="en-AU" smtClean="0"/>
              <a:t>22/10/2021</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AF26B6D5-E49B-468D-A565-A6E4E9BB073F}" type="slidenum">
              <a:rPr lang="en-AU" smtClean="0"/>
              <a:t>‹#›</a:t>
            </a:fld>
            <a:endParaRPr lang="en-AU"/>
          </a:p>
        </p:txBody>
      </p:sp>
    </p:spTree>
    <p:extLst>
      <p:ext uri="{BB962C8B-B14F-4D97-AF65-F5344CB8AC3E}">
        <p14:creationId xmlns:p14="http://schemas.microsoft.com/office/powerpoint/2010/main" val="42532388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6F726FA-289A-47A4-9DB2-36250D803CC9}" type="datetimeFigureOut">
              <a:rPr lang="en-AU" smtClean="0"/>
              <a:t>22/10/2021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F26B6D5-E49B-468D-A565-A6E4E9BB073F}" type="slidenum">
              <a:rPr lang="en-AU" smtClean="0"/>
              <a:t>‹#›</a:t>
            </a:fld>
            <a:endParaRPr lang="en-AU"/>
          </a:p>
        </p:txBody>
      </p:sp>
    </p:spTree>
    <p:extLst>
      <p:ext uri="{BB962C8B-B14F-4D97-AF65-F5344CB8AC3E}">
        <p14:creationId xmlns:p14="http://schemas.microsoft.com/office/powerpoint/2010/main" val="2751689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6F726FA-289A-47A4-9DB2-36250D803CC9}" type="datetimeFigureOut">
              <a:rPr lang="en-AU" smtClean="0"/>
              <a:t>22/10/2021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F26B6D5-E49B-468D-A565-A6E4E9BB073F}" type="slidenum">
              <a:rPr lang="en-AU" smtClean="0"/>
              <a:t>‹#›</a:t>
            </a:fld>
            <a:endParaRPr lang="en-AU"/>
          </a:p>
        </p:txBody>
      </p:sp>
    </p:spTree>
    <p:extLst>
      <p:ext uri="{BB962C8B-B14F-4D97-AF65-F5344CB8AC3E}">
        <p14:creationId xmlns:p14="http://schemas.microsoft.com/office/powerpoint/2010/main" val="27344683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E6F726FA-289A-47A4-9DB2-36250D803CC9}" type="datetimeFigureOut">
              <a:rPr lang="en-AU" smtClean="0"/>
              <a:t>22/10/2021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F26B6D5-E49B-468D-A565-A6E4E9BB073F}" type="slidenum">
              <a:rPr lang="en-AU" smtClean="0"/>
              <a:t>‹#›</a:t>
            </a:fld>
            <a:endParaRPr lang="en-AU"/>
          </a:p>
        </p:txBody>
      </p:sp>
    </p:spTree>
    <p:extLst>
      <p:ext uri="{BB962C8B-B14F-4D97-AF65-F5344CB8AC3E}">
        <p14:creationId xmlns:p14="http://schemas.microsoft.com/office/powerpoint/2010/main" val="41963337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E6F726FA-289A-47A4-9DB2-36250D803CC9}" type="datetimeFigureOut">
              <a:rPr lang="en-AU" smtClean="0"/>
              <a:t>22/10/2021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F26B6D5-E49B-468D-A565-A6E4E9BB073F}" type="slidenum">
              <a:rPr lang="en-AU" smtClean="0"/>
              <a:t>‹#›</a:t>
            </a:fld>
            <a:endParaRPr lang="en-AU"/>
          </a:p>
        </p:txBody>
      </p:sp>
    </p:spTree>
    <p:extLst>
      <p:ext uri="{BB962C8B-B14F-4D97-AF65-F5344CB8AC3E}">
        <p14:creationId xmlns:p14="http://schemas.microsoft.com/office/powerpoint/2010/main" val="1083018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F726FA-289A-47A4-9DB2-36250D803CC9}" type="datetimeFigureOut">
              <a:rPr lang="en-AU" smtClean="0"/>
              <a:t>22/10/2021</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F26B6D5-E49B-468D-A565-A6E4E9BB073F}" type="slidenum">
              <a:rPr lang="en-AU" smtClean="0"/>
              <a:t>‹#›</a:t>
            </a:fld>
            <a:endParaRPr lang="en-AU"/>
          </a:p>
        </p:txBody>
      </p:sp>
    </p:spTree>
    <p:extLst>
      <p:ext uri="{BB962C8B-B14F-4D97-AF65-F5344CB8AC3E}">
        <p14:creationId xmlns:p14="http://schemas.microsoft.com/office/powerpoint/2010/main" val="42062944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Box 134">
            <a:extLst>
              <a:ext uri="{FF2B5EF4-FFF2-40B4-BE49-F238E27FC236}">
                <a16:creationId xmlns:a16="http://schemas.microsoft.com/office/drawing/2014/main" id="{99DDC62D-BC4A-4A69-84F2-CF2A22E4E446}"/>
              </a:ext>
            </a:extLst>
          </p:cNvPr>
          <p:cNvSpPr txBox="1"/>
          <p:nvPr/>
        </p:nvSpPr>
        <p:spPr>
          <a:xfrm>
            <a:off x="723872" y="934008"/>
            <a:ext cx="10759627" cy="707886"/>
          </a:xfrm>
          <a:prstGeom prst="rect">
            <a:avLst/>
          </a:prstGeom>
          <a:solidFill>
            <a:srgbClr val="FFFF00"/>
          </a:solidFill>
        </p:spPr>
        <p:txBody>
          <a:bodyPr wrap="square" rtlCol="0">
            <a:spAutoFit/>
          </a:bodyPr>
          <a:lstStyle/>
          <a:p>
            <a:pPr algn="ctr"/>
            <a:r>
              <a:rPr lang="en-AU" sz="4000" b="1" dirty="0" smtClean="0">
                <a:cs typeface="Arial" panose="020B0604020202020204" pitchFamily="34" charset="0"/>
              </a:rPr>
              <a:t>I will interpret scatter plots</a:t>
            </a:r>
            <a:endParaRPr lang="en-AU" sz="4000" b="1" dirty="0">
              <a:cs typeface="Arial" panose="020B0604020202020204" pitchFamily="34" charset="0"/>
            </a:endParaRPr>
          </a:p>
        </p:txBody>
      </p:sp>
      <p:sp>
        <p:nvSpPr>
          <p:cNvPr id="137" name="TextBox 136"/>
          <p:cNvSpPr txBox="1"/>
          <p:nvPr/>
        </p:nvSpPr>
        <p:spPr>
          <a:xfrm>
            <a:off x="0" y="-6605"/>
            <a:ext cx="3424403" cy="584775"/>
          </a:xfrm>
          <a:prstGeom prst="homePlate">
            <a:avLst/>
          </a:prstGeom>
          <a:solidFill>
            <a:srgbClr val="002060"/>
          </a:solidFill>
          <a:ln>
            <a:solidFill>
              <a:srgbClr val="002060"/>
            </a:solidFill>
          </a:ln>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a:t>Learning Objective</a:t>
            </a:r>
          </a:p>
        </p:txBody>
      </p:sp>
      <p:sp>
        <p:nvSpPr>
          <p:cNvPr id="264" name="Title 1"/>
          <p:cNvSpPr txBox="1">
            <a:spLocks/>
          </p:cNvSpPr>
          <p:nvPr/>
        </p:nvSpPr>
        <p:spPr>
          <a:xfrm>
            <a:off x="-15373" y="1641894"/>
            <a:ext cx="12207373" cy="1070988"/>
          </a:xfrm>
          <a:prstGeom prst="rect">
            <a:avLst/>
          </a:prstGeom>
          <a:noFill/>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AU" sz="3200" b="1" i="1" dirty="0">
                <a:ln>
                  <a:solidFill>
                    <a:sysClr val="windowText" lastClr="000000"/>
                  </a:solidFill>
                </a:ln>
                <a:solidFill>
                  <a:sysClr val="windowText" lastClr="000000"/>
                </a:solidFill>
              </a:rPr>
              <a:t>Enter quietly, please be ready with the following on your desk:</a:t>
            </a:r>
          </a:p>
        </p:txBody>
      </p:sp>
      <p:sp>
        <p:nvSpPr>
          <p:cNvPr id="265" name="Content Placeholder 2"/>
          <p:cNvSpPr txBox="1">
            <a:spLocks/>
          </p:cNvSpPr>
          <p:nvPr/>
        </p:nvSpPr>
        <p:spPr>
          <a:xfrm>
            <a:off x="1980020" y="2972878"/>
            <a:ext cx="7921679" cy="300718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r>
              <a:rPr lang="en-AU" b="1" dirty="0"/>
              <a:t>Whiteboard</a:t>
            </a:r>
          </a:p>
          <a:p>
            <a:pPr marL="342900" indent="-342900" algn="l">
              <a:buFont typeface="Arial" panose="020B0604020202020204" pitchFamily="34" charset="0"/>
              <a:buChar char="•"/>
            </a:pPr>
            <a:r>
              <a:rPr lang="en-AU" b="1" dirty="0"/>
              <a:t>Whiteboard marker</a:t>
            </a:r>
          </a:p>
          <a:p>
            <a:pPr marL="342900" indent="-342900" algn="l">
              <a:buFont typeface="Arial" panose="020B0604020202020204" pitchFamily="34" charset="0"/>
              <a:buChar char="•"/>
            </a:pPr>
            <a:r>
              <a:rPr lang="en-AU" b="1" dirty="0" smtClean="0"/>
              <a:t>Exercise Book</a:t>
            </a:r>
            <a:endParaRPr lang="en-AU" b="1" dirty="0"/>
          </a:p>
          <a:p>
            <a:pPr marL="342900" indent="-342900" algn="l">
              <a:buFont typeface="Arial" panose="020B0604020202020204" pitchFamily="34" charset="0"/>
              <a:buChar char="•"/>
            </a:pPr>
            <a:r>
              <a:rPr lang="en-AU" b="1" dirty="0" smtClean="0"/>
              <a:t>Pencil, pen, </a:t>
            </a:r>
            <a:r>
              <a:rPr lang="en-AU" b="1" dirty="0"/>
              <a:t>ruler and red pen</a:t>
            </a:r>
          </a:p>
          <a:p>
            <a:pPr marL="342900" indent="-342900" algn="l">
              <a:buFont typeface="Arial" panose="020B0604020202020204" pitchFamily="34" charset="0"/>
              <a:buChar char="•"/>
            </a:pPr>
            <a:r>
              <a:rPr lang="en-AU" b="1" dirty="0" smtClean="0"/>
              <a:t>Diary</a:t>
            </a:r>
          </a:p>
          <a:p>
            <a:pPr marL="342900" indent="-342900" algn="l">
              <a:buFont typeface="Arial" panose="020B0604020202020204" pitchFamily="34" charset="0"/>
              <a:buChar char="•"/>
            </a:pPr>
            <a:r>
              <a:rPr lang="en-AU" b="1" dirty="0" smtClean="0"/>
              <a:t>Calculator</a:t>
            </a:r>
            <a:endParaRPr lang="en-AU" b="1" dirty="0"/>
          </a:p>
          <a:p>
            <a:pPr marL="342900" indent="-342900" algn="l">
              <a:buFont typeface="Arial" panose="020B0604020202020204" pitchFamily="34" charset="0"/>
              <a:buChar char="•"/>
            </a:pPr>
            <a:r>
              <a:rPr lang="en-AU" b="1" dirty="0"/>
              <a:t>Device – charged or borrowed from Library before maths</a:t>
            </a:r>
          </a:p>
        </p:txBody>
      </p:sp>
      <p:pic>
        <p:nvPicPr>
          <p:cNvPr id="2" name="Picture 1"/>
          <p:cNvPicPr>
            <a:picLocks noChangeAspect="1"/>
          </p:cNvPicPr>
          <p:nvPr/>
        </p:nvPicPr>
        <p:blipFill>
          <a:blip r:embed="rId2"/>
          <a:stretch>
            <a:fillRect/>
          </a:stretch>
        </p:blipFill>
        <p:spPr>
          <a:xfrm>
            <a:off x="7149214" y="2712882"/>
            <a:ext cx="3649887" cy="2617747"/>
          </a:xfrm>
          <a:prstGeom prst="rect">
            <a:avLst/>
          </a:prstGeom>
        </p:spPr>
      </p:pic>
    </p:spTree>
    <p:extLst>
      <p:ext uri="{BB962C8B-B14F-4D97-AF65-F5344CB8AC3E}">
        <p14:creationId xmlns:p14="http://schemas.microsoft.com/office/powerpoint/2010/main" val="263313720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p:cNvSpPr txBox="1"/>
              <p:nvPr/>
            </p:nvSpPr>
            <p:spPr>
              <a:xfrm>
                <a:off x="121920" y="772160"/>
                <a:ext cx="6487160" cy="3938642"/>
              </a:xfrm>
              <a:prstGeom prst="rect">
                <a:avLst/>
              </a:prstGeom>
              <a:noFill/>
            </p:spPr>
            <p:txBody>
              <a:bodyPr wrap="square" rtlCol="0">
                <a:spAutoFit/>
              </a:bodyPr>
              <a:lstStyle/>
              <a:p>
                <a:r>
                  <a:rPr lang="en-AU" sz="2400" dirty="0" smtClean="0"/>
                  <a:t>By finding the 5 number summary of the data set, calculate the range and the inter-quartile range.</a:t>
                </a:r>
              </a:p>
              <a:p>
                <a:endParaRPr lang="en-AU" sz="2400" dirty="0"/>
              </a:p>
              <a:p>
                <a:r>
                  <a:rPr lang="en-AU" sz="2400" b="1" dirty="0" smtClean="0"/>
                  <a:t>21,  33,  54,  62,  66,  67, 81,  91, 92, 98</a:t>
                </a:r>
              </a:p>
              <a:p>
                <a:endParaRPr lang="en-AU" sz="2400" dirty="0"/>
              </a:p>
              <a:p>
                <a:r>
                  <a:rPr lang="en-AU" sz="2400" dirty="0" smtClean="0"/>
                  <a:t>Minimum = 21</a:t>
                </a:r>
              </a:p>
              <a:p>
                <a:r>
                  <a:rPr lang="en-AU" sz="2400" dirty="0" smtClean="0"/>
                  <a:t>Lower quartile (Q1) = 54</a:t>
                </a:r>
                <a:endParaRPr lang="en-AU" sz="2400" dirty="0"/>
              </a:p>
              <a:p>
                <a:r>
                  <a:rPr lang="en-AU" sz="2400" dirty="0" smtClean="0"/>
                  <a:t>Median = </a:t>
                </a:r>
                <a14:m>
                  <m:oMath xmlns:m="http://schemas.openxmlformats.org/officeDocument/2006/math">
                    <m:f>
                      <m:fPr>
                        <m:ctrlPr>
                          <a:rPr lang="en-AU" sz="2400" i="1" dirty="0" smtClean="0">
                            <a:latin typeface="Cambria Math" panose="02040503050406030204" pitchFamily="18" charset="0"/>
                          </a:rPr>
                        </m:ctrlPr>
                      </m:fPr>
                      <m:num>
                        <m:r>
                          <a:rPr lang="en-AU" sz="2400" b="0" i="1" dirty="0" smtClean="0">
                            <a:latin typeface="Cambria Math" panose="02040503050406030204" pitchFamily="18" charset="0"/>
                          </a:rPr>
                          <m:t>66+67</m:t>
                        </m:r>
                      </m:num>
                      <m:den>
                        <m:r>
                          <a:rPr lang="en-AU" sz="2400" b="0" i="1" dirty="0" smtClean="0">
                            <a:latin typeface="Cambria Math" panose="02040503050406030204" pitchFamily="18" charset="0"/>
                          </a:rPr>
                          <m:t>2</m:t>
                        </m:r>
                      </m:den>
                    </m:f>
                    <m:r>
                      <a:rPr lang="en-AU" sz="2400" b="0" i="1" dirty="0" smtClean="0">
                        <a:latin typeface="Cambria Math" panose="02040503050406030204" pitchFamily="18" charset="0"/>
                      </a:rPr>
                      <m:t>=</m:t>
                    </m:r>
                    <m:r>
                      <a:rPr lang="en-AU" sz="2400" i="1" dirty="0" smtClean="0">
                        <a:latin typeface="Cambria Math" panose="02040503050406030204" pitchFamily="18" charset="0"/>
                      </a:rPr>
                      <m:t>6</m:t>
                    </m:r>
                    <m:r>
                      <a:rPr lang="en-AU" sz="2400" b="0" i="1" dirty="0" smtClean="0">
                        <a:latin typeface="Cambria Math" panose="02040503050406030204" pitchFamily="18" charset="0"/>
                      </a:rPr>
                      <m:t>6</m:t>
                    </m:r>
                    <m:r>
                      <a:rPr lang="en-AU" sz="2400" i="1" dirty="0" smtClean="0">
                        <a:latin typeface="Cambria Math" panose="02040503050406030204" pitchFamily="18" charset="0"/>
                      </a:rPr>
                      <m:t>.5</m:t>
                    </m:r>
                  </m:oMath>
                </a14:m>
                <a:endParaRPr lang="en-AU" sz="2400" dirty="0" smtClean="0"/>
              </a:p>
              <a:p>
                <a:r>
                  <a:rPr lang="en-AU" sz="2400" dirty="0" smtClean="0"/>
                  <a:t>Upper quartile (Q3) = 91</a:t>
                </a:r>
                <a:endParaRPr lang="en-AU" sz="2400" dirty="0"/>
              </a:p>
              <a:p>
                <a:r>
                  <a:rPr lang="en-AU" sz="2400" dirty="0" smtClean="0"/>
                  <a:t>Maximum = 98</a:t>
                </a:r>
                <a:endParaRPr lang="en-AU" sz="2400" dirty="0"/>
              </a:p>
            </p:txBody>
          </p:sp>
        </mc:Choice>
        <mc:Fallback xmlns="">
          <p:sp>
            <p:nvSpPr>
              <p:cNvPr id="2" name="TextBox 1"/>
              <p:cNvSpPr txBox="1">
                <a:spLocks noRot="1" noChangeAspect="1" noMove="1" noResize="1" noEditPoints="1" noAdjustHandles="1" noChangeArrowheads="1" noChangeShapeType="1" noTextEdit="1"/>
              </p:cNvSpPr>
              <p:nvPr/>
            </p:nvSpPr>
            <p:spPr>
              <a:xfrm>
                <a:off x="121920" y="772160"/>
                <a:ext cx="6487160" cy="3938642"/>
              </a:xfrm>
              <a:prstGeom prst="rect">
                <a:avLst/>
              </a:prstGeom>
              <a:blipFill rotWithShape="0">
                <a:blip r:embed="rId2"/>
                <a:stretch>
                  <a:fillRect l="-1410" t="-1238" b="-2632"/>
                </a:stretch>
              </a:blipFill>
            </p:spPr>
            <p:txBody>
              <a:bodyPr/>
              <a:lstStyle/>
              <a:p>
                <a:r>
                  <a:rPr lang="en-AU">
                    <a:noFill/>
                  </a:rPr>
                  <a:t> </a:t>
                </a:r>
              </a:p>
            </p:txBody>
          </p:sp>
        </mc:Fallback>
      </mc:AlternateContent>
      <p:cxnSp>
        <p:nvCxnSpPr>
          <p:cNvPr id="7" name="Straight Arrow Connector 6">
            <a:extLst>
              <a:ext uri="{FF2B5EF4-FFF2-40B4-BE49-F238E27FC236}">
                <a16:creationId xmlns:a16="http://schemas.microsoft.com/office/drawing/2014/main" id="{007A0B51-37CB-41A7-A11F-14650D24B314}"/>
              </a:ext>
            </a:extLst>
          </p:cNvPr>
          <p:cNvCxnSpPr>
            <a:cxnSpLocks/>
          </p:cNvCxnSpPr>
          <p:nvPr/>
        </p:nvCxnSpPr>
        <p:spPr>
          <a:xfrm>
            <a:off x="2748956" y="1640624"/>
            <a:ext cx="0" cy="285225"/>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121920" y="2321560"/>
            <a:ext cx="2458720"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007A0B51-37CB-41A7-A11F-14650D24B314}"/>
              </a:ext>
            </a:extLst>
          </p:cNvPr>
          <p:cNvCxnSpPr>
            <a:cxnSpLocks/>
          </p:cNvCxnSpPr>
          <p:nvPr/>
        </p:nvCxnSpPr>
        <p:spPr>
          <a:xfrm>
            <a:off x="1452880" y="1640624"/>
            <a:ext cx="0" cy="285225"/>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2880360" y="2321560"/>
            <a:ext cx="2148840" cy="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007A0B51-37CB-41A7-A11F-14650D24B314}"/>
              </a:ext>
            </a:extLst>
          </p:cNvPr>
          <p:cNvCxnSpPr>
            <a:cxnSpLocks/>
          </p:cNvCxnSpPr>
          <p:nvPr/>
        </p:nvCxnSpPr>
        <p:spPr>
          <a:xfrm>
            <a:off x="3967480" y="1584744"/>
            <a:ext cx="0" cy="285225"/>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121920" y="5426277"/>
            <a:ext cx="4058920" cy="461665"/>
          </a:xfrm>
          <a:prstGeom prst="rect">
            <a:avLst/>
          </a:prstGeom>
          <a:noFill/>
        </p:spPr>
        <p:txBody>
          <a:bodyPr wrap="square" rtlCol="0">
            <a:spAutoFit/>
          </a:bodyPr>
          <a:lstStyle/>
          <a:p>
            <a:r>
              <a:rPr lang="en-AU" sz="2400" dirty="0" smtClean="0"/>
              <a:t>Range (maximum – minimum):</a:t>
            </a:r>
            <a:endParaRPr lang="en-AU" sz="2400" dirty="0"/>
          </a:p>
        </p:txBody>
      </p:sp>
      <p:sp>
        <p:nvSpPr>
          <p:cNvPr id="15" name="TextBox 14"/>
          <p:cNvSpPr txBox="1"/>
          <p:nvPr/>
        </p:nvSpPr>
        <p:spPr>
          <a:xfrm>
            <a:off x="4109720" y="5426276"/>
            <a:ext cx="4058920" cy="461665"/>
          </a:xfrm>
          <a:prstGeom prst="rect">
            <a:avLst/>
          </a:prstGeom>
          <a:noFill/>
        </p:spPr>
        <p:txBody>
          <a:bodyPr wrap="square" rtlCol="0">
            <a:spAutoFit/>
          </a:bodyPr>
          <a:lstStyle/>
          <a:p>
            <a:r>
              <a:rPr lang="en-AU" sz="2400" dirty="0" smtClean="0"/>
              <a:t>98 – 21 = 77</a:t>
            </a:r>
            <a:endParaRPr lang="en-AU" sz="2400" dirty="0"/>
          </a:p>
        </p:txBody>
      </p:sp>
      <p:sp>
        <p:nvSpPr>
          <p:cNvPr id="16" name="TextBox 15"/>
          <p:cNvSpPr txBox="1"/>
          <p:nvPr/>
        </p:nvSpPr>
        <p:spPr>
          <a:xfrm>
            <a:off x="121920" y="5982188"/>
            <a:ext cx="4058920" cy="461665"/>
          </a:xfrm>
          <a:prstGeom prst="rect">
            <a:avLst/>
          </a:prstGeom>
          <a:noFill/>
        </p:spPr>
        <p:txBody>
          <a:bodyPr wrap="square" rtlCol="0">
            <a:spAutoFit/>
          </a:bodyPr>
          <a:lstStyle/>
          <a:p>
            <a:r>
              <a:rPr lang="en-AU" sz="2400" dirty="0" smtClean="0"/>
              <a:t>Inter-quartile range (Q3 – Q1):</a:t>
            </a:r>
            <a:endParaRPr lang="en-AU" sz="2400" dirty="0"/>
          </a:p>
        </p:txBody>
      </p:sp>
      <p:sp>
        <p:nvSpPr>
          <p:cNvPr id="17" name="TextBox 16"/>
          <p:cNvSpPr txBox="1"/>
          <p:nvPr/>
        </p:nvSpPr>
        <p:spPr>
          <a:xfrm>
            <a:off x="4074160" y="5982187"/>
            <a:ext cx="4058920" cy="461665"/>
          </a:xfrm>
          <a:prstGeom prst="rect">
            <a:avLst/>
          </a:prstGeom>
          <a:noFill/>
        </p:spPr>
        <p:txBody>
          <a:bodyPr wrap="square" rtlCol="0">
            <a:spAutoFit/>
          </a:bodyPr>
          <a:lstStyle/>
          <a:p>
            <a:r>
              <a:rPr lang="en-AU" sz="2400" dirty="0" smtClean="0"/>
              <a:t>91 – 54 = 37</a:t>
            </a:r>
            <a:endParaRPr lang="en-AU" sz="2400" dirty="0"/>
          </a:p>
        </p:txBody>
      </p:sp>
      <p:graphicFrame>
        <p:nvGraphicFramePr>
          <p:cNvPr id="14" name="Table 13"/>
          <p:cNvGraphicFramePr>
            <a:graphicFrameLocks noGrp="1"/>
          </p:cNvGraphicFramePr>
          <p:nvPr>
            <p:extLst/>
          </p:nvPr>
        </p:nvGraphicFramePr>
        <p:xfrm>
          <a:off x="7025640" y="0"/>
          <a:ext cx="5080000" cy="1005840"/>
        </p:xfrm>
        <a:graphic>
          <a:graphicData uri="http://schemas.openxmlformats.org/drawingml/2006/table">
            <a:tbl>
              <a:tblPr firstRow="1" bandRow="1">
                <a:tableStyleId>{21E4AEA4-8DFA-4A89-87EB-49C32662AFE0}</a:tableStyleId>
              </a:tblPr>
              <a:tblGrid>
                <a:gridCol w="5080000">
                  <a:extLst>
                    <a:ext uri="{9D8B030D-6E8A-4147-A177-3AD203B41FA5}">
                      <a16:colId xmlns:a16="http://schemas.microsoft.com/office/drawing/2014/main" val="20000"/>
                    </a:ext>
                  </a:extLst>
                </a:gridCol>
              </a:tblGrid>
              <a:tr h="353527">
                <a:tc>
                  <a:txBody>
                    <a:bodyPr/>
                    <a:lstStyle/>
                    <a:p>
                      <a:r>
                        <a:rPr lang="en-AU" dirty="0" smtClean="0"/>
                        <a:t>To find the median of a data set:</a:t>
                      </a:r>
                      <a:endParaRPr lang="en-AU" dirty="0"/>
                    </a:p>
                  </a:txBody>
                  <a:tcPr>
                    <a:solidFill>
                      <a:srgbClr val="002060"/>
                    </a:solidFill>
                  </a:tcPr>
                </a:tc>
                <a:extLst>
                  <a:ext uri="{0D108BD9-81ED-4DB2-BD59-A6C34878D82A}">
                    <a16:rowId xmlns:a16="http://schemas.microsoft.com/office/drawing/2014/main" val="10000"/>
                  </a:ext>
                </a:extLst>
              </a:tr>
              <a:tr h="370840">
                <a:tc>
                  <a:txBody>
                    <a:bodyPr/>
                    <a:lstStyle/>
                    <a:p>
                      <a:r>
                        <a:rPr lang="en-AU" dirty="0" smtClean="0"/>
                        <a:t>Step 1: Order the numbers from smallest to largest.</a:t>
                      </a:r>
                    </a:p>
                    <a:p>
                      <a:r>
                        <a:rPr lang="en-AU" dirty="0" smtClean="0"/>
                        <a:t>Step 2: Find the middle number.</a:t>
                      </a:r>
                      <a:endParaRPr lang="en-AU" baseline="30000" dirty="0" smtClean="0"/>
                    </a:p>
                  </a:txBody>
                  <a:tcPr>
                    <a:solidFill>
                      <a:schemeClr val="bg2"/>
                    </a:solidFill>
                  </a:tcPr>
                </a:tc>
                <a:extLst>
                  <a:ext uri="{0D108BD9-81ED-4DB2-BD59-A6C34878D82A}">
                    <a16:rowId xmlns:a16="http://schemas.microsoft.com/office/drawing/2014/main" val="10001"/>
                  </a:ext>
                </a:extLst>
              </a:tr>
            </a:tbl>
          </a:graphicData>
        </a:graphic>
      </p:graphicFrame>
      <p:graphicFrame>
        <p:nvGraphicFramePr>
          <p:cNvPr id="18" name="Table 17"/>
          <p:cNvGraphicFramePr>
            <a:graphicFrameLocks noGrp="1"/>
          </p:cNvGraphicFramePr>
          <p:nvPr>
            <p:extLst/>
          </p:nvPr>
        </p:nvGraphicFramePr>
        <p:xfrm>
          <a:off x="7030720" y="1107778"/>
          <a:ext cx="5080000" cy="1005840"/>
        </p:xfrm>
        <a:graphic>
          <a:graphicData uri="http://schemas.openxmlformats.org/drawingml/2006/table">
            <a:tbl>
              <a:tblPr firstRow="1" bandRow="1">
                <a:tableStyleId>{21E4AEA4-8DFA-4A89-87EB-49C32662AFE0}</a:tableStyleId>
              </a:tblPr>
              <a:tblGrid>
                <a:gridCol w="5080000">
                  <a:extLst>
                    <a:ext uri="{9D8B030D-6E8A-4147-A177-3AD203B41FA5}">
                      <a16:colId xmlns:a16="http://schemas.microsoft.com/office/drawing/2014/main" val="20000"/>
                    </a:ext>
                  </a:extLst>
                </a:gridCol>
              </a:tblGrid>
              <a:tr h="353527">
                <a:tc>
                  <a:txBody>
                    <a:bodyPr/>
                    <a:lstStyle/>
                    <a:p>
                      <a:r>
                        <a:rPr lang="en-AU" dirty="0" smtClean="0"/>
                        <a:t>To find the lower quartile of a data set:</a:t>
                      </a:r>
                      <a:endParaRPr lang="en-AU" dirty="0"/>
                    </a:p>
                  </a:txBody>
                  <a:tcPr>
                    <a:solidFill>
                      <a:srgbClr val="002060"/>
                    </a:solidFill>
                  </a:tcPr>
                </a:tc>
                <a:extLst>
                  <a:ext uri="{0D108BD9-81ED-4DB2-BD59-A6C34878D82A}">
                    <a16:rowId xmlns:a16="http://schemas.microsoft.com/office/drawing/2014/main" val="10000"/>
                  </a:ext>
                </a:extLst>
              </a:tr>
              <a:tr h="370840">
                <a:tc>
                  <a:txBody>
                    <a:bodyPr/>
                    <a:lstStyle/>
                    <a:p>
                      <a:r>
                        <a:rPr lang="en-AU" dirty="0" smtClean="0"/>
                        <a:t>Step 1: Underline the bottom half of the data set.</a:t>
                      </a:r>
                    </a:p>
                    <a:p>
                      <a:r>
                        <a:rPr lang="en-AU" dirty="0" smtClean="0"/>
                        <a:t>Step 2: Find the middle number.</a:t>
                      </a:r>
                      <a:endParaRPr lang="en-AU" baseline="30000" dirty="0"/>
                    </a:p>
                  </a:txBody>
                  <a:tcPr>
                    <a:solidFill>
                      <a:schemeClr val="bg2"/>
                    </a:solidFill>
                  </a:tcPr>
                </a:tc>
                <a:extLst>
                  <a:ext uri="{0D108BD9-81ED-4DB2-BD59-A6C34878D82A}">
                    <a16:rowId xmlns:a16="http://schemas.microsoft.com/office/drawing/2014/main" val="10001"/>
                  </a:ext>
                </a:extLst>
              </a:tr>
            </a:tbl>
          </a:graphicData>
        </a:graphic>
      </p:graphicFrame>
      <p:graphicFrame>
        <p:nvGraphicFramePr>
          <p:cNvPr id="19" name="Table 18"/>
          <p:cNvGraphicFramePr>
            <a:graphicFrameLocks noGrp="1"/>
          </p:cNvGraphicFramePr>
          <p:nvPr>
            <p:extLst/>
          </p:nvPr>
        </p:nvGraphicFramePr>
        <p:xfrm>
          <a:off x="7035800" y="2271098"/>
          <a:ext cx="5080000" cy="1005840"/>
        </p:xfrm>
        <a:graphic>
          <a:graphicData uri="http://schemas.openxmlformats.org/drawingml/2006/table">
            <a:tbl>
              <a:tblPr firstRow="1" bandRow="1">
                <a:tableStyleId>{21E4AEA4-8DFA-4A89-87EB-49C32662AFE0}</a:tableStyleId>
              </a:tblPr>
              <a:tblGrid>
                <a:gridCol w="5080000">
                  <a:extLst>
                    <a:ext uri="{9D8B030D-6E8A-4147-A177-3AD203B41FA5}">
                      <a16:colId xmlns:a16="http://schemas.microsoft.com/office/drawing/2014/main" val="20000"/>
                    </a:ext>
                  </a:extLst>
                </a:gridCol>
              </a:tblGrid>
              <a:tr h="353527">
                <a:tc>
                  <a:txBody>
                    <a:bodyPr/>
                    <a:lstStyle/>
                    <a:p>
                      <a:r>
                        <a:rPr lang="en-AU" dirty="0" smtClean="0"/>
                        <a:t>To find the upper quartile of a data set:</a:t>
                      </a:r>
                      <a:endParaRPr lang="en-AU" dirty="0"/>
                    </a:p>
                  </a:txBody>
                  <a:tcPr>
                    <a:solidFill>
                      <a:srgbClr val="002060"/>
                    </a:solidFill>
                  </a:tcPr>
                </a:tc>
                <a:extLst>
                  <a:ext uri="{0D108BD9-81ED-4DB2-BD59-A6C34878D82A}">
                    <a16:rowId xmlns:a16="http://schemas.microsoft.com/office/drawing/2014/main" val="10000"/>
                  </a:ext>
                </a:extLst>
              </a:tr>
              <a:tr h="370840">
                <a:tc>
                  <a:txBody>
                    <a:bodyPr/>
                    <a:lstStyle/>
                    <a:p>
                      <a:r>
                        <a:rPr lang="en-AU" dirty="0" smtClean="0"/>
                        <a:t>Step 1: Underline the top half of the data set.</a:t>
                      </a:r>
                    </a:p>
                    <a:p>
                      <a:r>
                        <a:rPr lang="en-AU" dirty="0" smtClean="0"/>
                        <a:t>Step 2: Find the middle number.</a:t>
                      </a:r>
                      <a:endParaRPr lang="en-AU" baseline="30000" dirty="0"/>
                    </a:p>
                  </a:txBody>
                  <a:tcPr>
                    <a:solidFill>
                      <a:schemeClr val="bg2"/>
                    </a:solidFill>
                  </a:tcPr>
                </a:tc>
                <a:extLst>
                  <a:ext uri="{0D108BD9-81ED-4DB2-BD59-A6C34878D82A}">
                    <a16:rowId xmlns:a16="http://schemas.microsoft.com/office/drawing/2014/main" val="10001"/>
                  </a:ext>
                </a:extLst>
              </a:tr>
            </a:tbl>
          </a:graphicData>
        </a:graphic>
      </p:graphicFrame>
      <p:sp>
        <p:nvSpPr>
          <p:cNvPr id="20" name="TextBox 19"/>
          <p:cNvSpPr txBox="1"/>
          <p:nvPr/>
        </p:nvSpPr>
        <p:spPr>
          <a:xfrm>
            <a:off x="7620000" y="3530150"/>
            <a:ext cx="4358640" cy="1200329"/>
          </a:xfrm>
          <a:prstGeom prst="rect">
            <a:avLst/>
          </a:prstGeom>
          <a:solidFill>
            <a:srgbClr val="FFFF00"/>
          </a:solidFill>
          <a:ln>
            <a:solidFill>
              <a:schemeClr val="tx1"/>
            </a:solidFill>
          </a:ln>
        </p:spPr>
        <p:txBody>
          <a:bodyPr wrap="square" rtlCol="0">
            <a:spAutoFit/>
          </a:bodyPr>
          <a:lstStyle/>
          <a:p>
            <a:pPr algn="ctr"/>
            <a:r>
              <a:rPr lang="en-AU" b="1" dirty="0" smtClean="0"/>
              <a:t>If the median is one of the values, don’t include it in the lower/upper half.</a:t>
            </a:r>
          </a:p>
          <a:p>
            <a:pPr algn="ctr"/>
            <a:r>
              <a:rPr lang="en-AU" b="1" dirty="0" smtClean="0"/>
              <a:t>If the median is between two values, include it in the lower/upper half.</a:t>
            </a:r>
            <a:endParaRPr lang="en-AU" b="1" dirty="0"/>
          </a:p>
        </p:txBody>
      </p:sp>
      <p:sp>
        <p:nvSpPr>
          <p:cNvPr id="21" name="TextBox 20"/>
          <p:cNvSpPr txBox="1"/>
          <p:nvPr/>
        </p:nvSpPr>
        <p:spPr>
          <a:xfrm>
            <a:off x="0" y="0"/>
            <a:ext cx="2429041" cy="584775"/>
          </a:xfrm>
          <a:prstGeom prst="homePlate">
            <a:avLst/>
          </a:prstGeom>
          <a:solidFill>
            <a:srgbClr val="00206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smtClean="0"/>
              <a:t>Daily Review</a:t>
            </a:r>
            <a:endParaRPr lang="en-AU" sz="3200" dirty="0"/>
          </a:p>
        </p:txBody>
      </p:sp>
    </p:spTree>
    <p:extLst>
      <p:ext uri="{BB962C8B-B14F-4D97-AF65-F5344CB8AC3E}">
        <p14:creationId xmlns:p14="http://schemas.microsoft.com/office/powerpoint/2010/main" val="421463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P spid="16" grpId="0"/>
      <p:bldP spid="1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p:cNvSpPr txBox="1"/>
          <p:nvPr/>
        </p:nvSpPr>
        <p:spPr>
          <a:xfrm>
            <a:off x="233680" y="756920"/>
            <a:ext cx="11399520" cy="830997"/>
          </a:xfrm>
          <a:prstGeom prst="rect">
            <a:avLst/>
          </a:prstGeom>
          <a:noFill/>
        </p:spPr>
        <p:txBody>
          <a:bodyPr wrap="square" rtlCol="0">
            <a:spAutoFit/>
          </a:bodyPr>
          <a:lstStyle/>
          <a:p>
            <a:r>
              <a:rPr lang="en-AU" sz="2400" dirty="0" smtClean="0"/>
              <a:t>A Science student records the temperature at midday every day for a month.</a:t>
            </a:r>
          </a:p>
          <a:p>
            <a:r>
              <a:rPr lang="en-AU" sz="2400" dirty="0" smtClean="0"/>
              <a:t>Draw a boxplot of their data.</a:t>
            </a:r>
            <a:endParaRPr lang="en-AU" sz="2400" dirty="0"/>
          </a:p>
        </p:txBody>
      </p:sp>
      <p:graphicFrame>
        <p:nvGraphicFramePr>
          <p:cNvPr id="15" name="Table 14"/>
          <p:cNvGraphicFramePr>
            <a:graphicFrameLocks noGrp="1"/>
          </p:cNvGraphicFramePr>
          <p:nvPr>
            <p:extLst/>
          </p:nvPr>
        </p:nvGraphicFramePr>
        <p:xfrm>
          <a:off x="342900" y="1635761"/>
          <a:ext cx="2506980" cy="2341878"/>
        </p:xfrm>
        <a:graphic>
          <a:graphicData uri="http://schemas.openxmlformats.org/drawingml/2006/table">
            <a:tbl>
              <a:tblPr>
                <a:tableStyleId>{5C22544A-7EE6-4342-B048-85BDC9FD1C3A}</a:tableStyleId>
              </a:tblPr>
              <a:tblGrid>
                <a:gridCol w="1253490">
                  <a:extLst>
                    <a:ext uri="{9D8B030D-6E8A-4147-A177-3AD203B41FA5}">
                      <a16:colId xmlns:a16="http://schemas.microsoft.com/office/drawing/2014/main" val="20000"/>
                    </a:ext>
                  </a:extLst>
                </a:gridCol>
                <a:gridCol w="1253490">
                  <a:extLst>
                    <a:ext uri="{9D8B030D-6E8A-4147-A177-3AD203B41FA5}">
                      <a16:colId xmlns:a16="http://schemas.microsoft.com/office/drawing/2014/main" val="20001"/>
                    </a:ext>
                  </a:extLst>
                </a:gridCol>
              </a:tblGrid>
              <a:tr h="518079">
                <a:tc>
                  <a:txBody>
                    <a:bodyPr/>
                    <a:lstStyle/>
                    <a:p>
                      <a:pPr algn="ctr" fontAlgn="ctr"/>
                      <a:r>
                        <a:rPr lang="en-AU" sz="2000" b="1" u="none" strike="noStrike" dirty="0">
                          <a:effectLst/>
                        </a:rPr>
                        <a:t>Minimum</a:t>
                      </a:r>
                      <a:endParaRPr lang="en-AU" sz="2000" b="1"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ctr"/>
                      <a:r>
                        <a:rPr lang="en-AU" sz="2000" b="1" u="none" strike="noStrike" dirty="0" smtClean="0">
                          <a:effectLst/>
                        </a:rPr>
                        <a:t>13</a:t>
                      </a:r>
                      <a:endParaRPr lang="en-AU" sz="2000" b="1"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0"/>
                  </a:ext>
                </a:extLst>
              </a:tr>
              <a:tr h="399325">
                <a:tc>
                  <a:txBody>
                    <a:bodyPr/>
                    <a:lstStyle/>
                    <a:p>
                      <a:pPr algn="ctr" fontAlgn="ctr"/>
                      <a:r>
                        <a:rPr lang="en-AU" sz="2000" b="1" u="none" strike="noStrike" dirty="0">
                          <a:effectLst/>
                        </a:rPr>
                        <a:t>Q1</a:t>
                      </a:r>
                      <a:endParaRPr lang="en-AU" sz="2000" b="1"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ctr"/>
                      <a:r>
                        <a:rPr lang="en-AU" sz="2000" b="1" i="0" u="none" strike="noStrike" dirty="0" smtClean="0">
                          <a:solidFill>
                            <a:schemeClr val="dk1"/>
                          </a:solidFill>
                          <a:effectLst/>
                          <a:latin typeface="+mn-lt"/>
                        </a:rPr>
                        <a:t>15</a:t>
                      </a:r>
                      <a:endParaRPr lang="en-AU" sz="2000" b="1"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1"/>
                  </a:ext>
                </a:extLst>
              </a:tr>
              <a:tr h="518079">
                <a:tc>
                  <a:txBody>
                    <a:bodyPr/>
                    <a:lstStyle/>
                    <a:p>
                      <a:pPr algn="ctr" fontAlgn="ctr"/>
                      <a:r>
                        <a:rPr lang="en-AU" sz="2000" b="1" u="none" strike="noStrike" dirty="0">
                          <a:solidFill>
                            <a:schemeClr val="tx1"/>
                          </a:solidFill>
                          <a:effectLst/>
                        </a:rPr>
                        <a:t>Median</a:t>
                      </a:r>
                      <a:endParaRPr lang="en-AU" sz="2000" b="1" i="0" u="none" strike="noStrike" dirty="0">
                        <a:solidFill>
                          <a:schemeClr val="tx1"/>
                        </a:solidFill>
                        <a:effectLst/>
                        <a:latin typeface="Calibri" panose="020F0502020204030204" pitchFamily="34" charset="0"/>
                      </a:endParaRPr>
                    </a:p>
                  </a:txBody>
                  <a:tcPr marL="4763" marR="4763" marT="4763" marB="0" anchor="ctr"/>
                </a:tc>
                <a:tc>
                  <a:txBody>
                    <a:bodyPr/>
                    <a:lstStyle/>
                    <a:p>
                      <a:pPr algn="ctr" fontAlgn="ctr"/>
                      <a:r>
                        <a:rPr lang="en-AU" sz="2000" b="1" i="0" u="none" strike="noStrike" dirty="0" smtClean="0">
                          <a:solidFill>
                            <a:schemeClr val="tx1"/>
                          </a:solidFill>
                          <a:effectLst/>
                          <a:latin typeface="+mn-lt"/>
                        </a:rPr>
                        <a:t>16</a:t>
                      </a:r>
                      <a:endParaRPr lang="en-AU" sz="2000" b="1" i="0" u="none" strike="noStrike" dirty="0">
                        <a:solidFill>
                          <a:schemeClr val="tx1"/>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2"/>
                  </a:ext>
                </a:extLst>
              </a:tr>
              <a:tr h="388316">
                <a:tc>
                  <a:txBody>
                    <a:bodyPr/>
                    <a:lstStyle/>
                    <a:p>
                      <a:pPr algn="ctr" fontAlgn="ctr"/>
                      <a:r>
                        <a:rPr lang="en-AU" sz="2000" b="1" u="none" strike="noStrike">
                          <a:effectLst/>
                        </a:rPr>
                        <a:t>Q3</a:t>
                      </a:r>
                      <a:endParaRPr lang="en-AU" sz="2000" b="1"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ctr"/>
                      <a:r>
                        <a:rPr lang="en-AU" sz="2000" b="1" i="0" u="none" strike="noStrike" dirty="0" smtClean="0">
                          <a:solidFill>
                            <a:schemeClr val="dk1"/>
                          </a:solidFill>
                          <a:effectLst/>
                          <a:latin typeface="+mn-lt"/>
                        </a:rPr>
                        <a:t>18.5</a:t>
                      </a:r>
                      <a:endParaRPr lang="en-AU" sz="2000" b="1"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3"/>
                  </a:ext>
                </a:extLst>
              </a:tr>
              <a:tr h="518079">
                <a:tc>
                  <a:txBody>
                    <a:bodyPr/>
                    <a:lstStyle/>
                    <a:p>
                      <a:pPr algn="ctr" fontAlgn="ctr"/>
                      <a:r>
                        <a:rPr lang="en-AU" sz="2000" b="1" u="none" strike="noStrike">
                          <a:effectLst/>
                        </a:rPr>
                        <a:t>Maximum</a:t>
                      </a:r>
                      <a:endParaRPr lang="en-AU" sz="2000" b="1"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ctr"/>
                      <a:r>
                        <a:rPr lang="en-AU" sz="2000" b="1" i="0" u="none" strike="noStrike" dirty="0" smtClean="0">
                          <a:solidFill>
                            <a:schemeClr val="dk1"/>
                          </a:solidFill>
                          <a:effectLst/>
                          <a:latin typeface="+mn-lt"/>
                        </a:rPr>
                        <a:t>24</a:t>
                      </a:r>
                      <a:endParaRPr lang="en-AU" sz="2000" b="1"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4"/>
                  </a:ext>
                </a:extLst>
              </a:tr>
            </a:tbl>
          </a:graphicData>
        </a:graphic>
      </p:graphicFrame>
      <p:sp>
        <p:nvSpPr>
          <p:cNvPr id="22" name="Rectangle 21"/>
          <p:cNvSpPr/>
          <p:nvPr/>
        </p:nvSpPr>
        <p:spPr>
          <a:xfrm>
            <a:off x="4191000" y="4808696"/>
            <a:ext cx="2519680" cy="77216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24" name="Straight Connector 23"/>
          <p:cNvCxnSpPr/>
          <p:nvPr/>
        </p:nvCxnSpPr>
        <p:spPr>
          <a:xfrm>
            <a:off x="4191000" y="5075873"/>
            <a:ext cx="0" cy="68072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6710680" y="5075873"/>
            <a:ext cx="0" cy="68072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4937760" y="4808696"/>
            <a:ext cx="0" cy="81609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a:stCxn id="22" idx="1"/>
          </p:cNvCxnSpPr>
          <p:nvPr/>
        </p:nvCxnSpPr>
        <p:spPr>
          <a:xfrm flipH="1" flipV="1">
            <a:off x="2799080" y="5193745"/>
            <a:ext cx="1391920" cy="1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a:stCxn id="22" idx="3"/>
          </p:cNvCxnSpPr>
          <p:nvPr/>
        </p:nvCxnSpPr>
        <p:spPr>
          <a:xfrm>
            <a:off x="6710680" y="5194776"/>
            <a:ext cx="3952240" cy="21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a:stretch>
            <a:fillRect/>
          </a:stretch>
        </p:blipFill>
        <p:spPr>
          <a:xfrm>
            <a:off x="233680" y="5580856"/>
            <a:ext cx="11541760" cy="729474"/>
          </a:xfrm>
          <a:prstGeom prst="rect">
            <a:avLst/>
          </a:prstGeom>
        </p:spPr>
      </p:pic>
      <p:sp>
        <p:nvSpPr>
          <p:cNvPr id="13" name="TextBox 12"/>
          <p:cNvSpPr txBox="1"/>
          <p:nvPr/>
        </p:nvSpPr>
        <p:spPr>
          <a:xfrm>
            <a:off x="0" y="-20052"/>
            <a:ext cx="2429041" cy="584775"/>
          </a:xfrm>
          <a:prstGeom prst="homePlate">
            <a:avLst/>
          </a:prstGeom>
          <a:solidFill>
            <a:srgbClr val="00206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smtClean="0"/>
              <a:t>Daily Review</a:t>
            </a:r>
            <a:endParaRPr lang="en-AU" sz="3200" dirty="0"/>
          </a:p>
        </p:txBody>
      </p:sp>
      <p:cxnSp>
        <p:nvCxnSpPr>
          <p:cNvPr id="4" name="Straight Connector 3"/>
          <p:cNvCxnSpPr/>
          <p:nvPr/>
        </p:nvCxnSpPr>
        <p:spPr>
          <a:xfrm>
            <a:off x="2799080" y="5034455"/>
            <a:ext cx="0" cy="29954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10662920" y="5075873"/>
            <a:ext cx="0" cy="29954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0037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2429041" cy="584775"/>
          </a:xfrm>
          <a:prstGeom prst="homePlate">
            <a:avLst/>
          </a:prstGeom>
          <a:solidFill>
            <a:srgbClr val="00206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smtClean="0"/>
              <a:t>Daily Review</a:t>
            </a:r>
            <a:endParaRPr lang="en-AU" sz="3200" dirty="0"/>
          </a:p>
        </p:txBody>
      </p:sp>
      <p:graphicFrame>
        <p:nvGraphicFramePr>
          <p:cNvPr id="3" name="Table 2"/>
          <p:cNvGraphicFramePr>
            <a:graphicFrameLocks noGrp="1"/>
          </p:cNvGraphicFramePr>
          <p:nvPr>
            <p:extLst/>
          </p:nvPr>
        </p:nvGraphicFramePr>
        <p:xfrm>
          <a:off x="8869680" y="0"/>
          <a:ext cx="3322320" cy="1005840"/>
        </p:xfrm>
        <a:graphic>
          <a:graphicData uri="http://schemas.openxmlformats.org/drawingml/2006/table">
            <a:tbl>
              <a:tblPr firstRow="1" bandRow="1">
                <a:tableStyleId>{21E4AEA4-8DFA-4A89-87EB-49C32662AFE0}</a:tableStyleId>
              </a:tblPr>
              <a:tblGrid>
                <a:gridCol w="3322320">
                  <a:extLst>
                    <a:ext uri="{9D8B030D-6E8A-4147-A177-3AD203B41FA5}">
                      <a16:colId xmlns:a16="http://schemas.microsoft.com/office/drawing/2014/main" val="20000"/>
                    </a:ext>
                  </a:extLst>
                </a:gridCol>
              </a:tblGrid>
              <a:tr h="353527">
                <a:tc>
                  <a:txBody>
                    <a:bodyPr/>
                    <a:lstStyle/>
                    <a:p>
                      <a:r>
                        <a:rPr lang="en-AU" dirty="0" smtClean="0"/>
                        <a:t>CFU 1</a:t>
                      </a:r>
                      <a:endParaRPr lang="en-AU" dirty="0"/>
                    </a:p>
                  </a:txBody>
                  <a:tcPr>
                    <a:solidFill>
                      <a:srgbClr val="002060"/>
                    </a:solidFill>
                  </a:tcPr>
                </a:tc>
                <a:extLst>
                  <a:ext uri="{0D108BD9-81ED-4DB2-BD59-A6C34878D82A}">
                    <a16:rowId xmlns:a16="http://schemas.microsoft.com/office/drawing/2014/main" val="10000"/>
                  </a:ext>
                </a:extLst>
              </a:tr>
              <a:tr h="370840">
                <a:tc>
                  <a:txBody>
                    <a:bodyPr/>
                    <a:lstStyle/>
                    <a:p>
                      <a:r>
                        <a:rPr lang="en-AU" dirty="0" smtClean="0"/>
                        <a:t>What three things do you need to compare in a boxplot?</a:t>
                      </a:r>
                    </a:p>
                  </a:txBody>
                  <a:tcPr>
                    <a:solidFill>
                      <a:schemeClr val="bg2"/>
                    </a:solidFill>
                  </a:tcPr>
                </a:tc>
                <a:extLst>
                  <a:ext uri="{0D108BD9-81ED-4DB2-BD59-A6C34878D82A}">
                    <a16:rowId xmlns:a16="http://schemas.microsoft.com/office/drawing/2014/main" val="10001"/>
                  </a:ext>
                </a:extLst>
              </a:tr>
            </a:tbl>
          </a:graphicData>
        </a:graphic>
      </p:graphicFrame>
      <p:graphicFrame>
        <p:nvGraphicFramePr>
          <p:cNvPr id="9" name="Table 8"/>
          <p:cNvGraphicFramePr>
            <a:graphicFrameLocks noGrp="1"/>
          </p:cNvGraphicFramePr>
          <p:nvPr>
            <p:extLst/>
          </p:nvPr>
        </p:nvGraphicFramePr>
        <p:xfrm>
          <a:off x="287020" y="1117601"/>
          <a:ext cx="2506980" cy="2341878"/>
        </p:xfrm>
        <a:graphic>
          <a:graphicData uri="http://schemas.openxmlformats.org/drawingml/2006/table">
            <a:tbl>
              <a:tblPr>
                <a:tableStyleId>{5C22544A-7EE6-4342-B048-85BDC9FD1C3A}</a:tableStyleId>
              </a:tblPr>
              <a:tblGrid>
                <a:gridCol w="1253490">
                  <a:extLst>
                    <a:ext uri="{9D8B030D-6E8A-4147-A177-3AD203B41FA5}">
                      <a16:colId xmlns:a16="http://schemas.microsoft.com/office/drawing/2014/main" val="20000"/>
                    </a:ext>
                  </a:extLst>
                </a:gridCol>
                <a:gridCol w="1253490">
                  <a:extLst>
                    <a:ext uri="{9D8B030D-6E8A-4147-A177-3AD203B41FA5}">
                      <a16:colId xmlns:a16="http://schemas.microsoft.com/office/drawing/2014/main" val="20001"/>
                    </a:ext>
                  </a:extLst>
                </a:gridCol>
              </a:tblGrid>
              <a:tr h="518079">
                <a:tc>
                  <a:txBody>
                    <a:bodyPr/>
                    <a:lstStyle/>
                    <a:p>
                      <a:pPr algn="ctr" fontAlgn="ctr"/>
                      <a:r>
                        <a:rPr lang="en-AU" sz="2000" b="1" u="none" strike="noStrike" dirty="0">
                          <a:effectLst/>
                        </a:rPr>
                        <a:t>Minimum</a:t>
                      </a:r>
                      <a:endParaRPr lang="en-AU" sz="2000" b="1"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ctr"/>
                      <a:r>
                        <a:rPr lang="en-AU" sz="2000" b="1" i="0" u="none" strike="noStrike" dirty="0" smtClean="0">
                          <a:solidFill>
                            <a:srgbClr val="000000"/>
                          </a:solidFill>
                          <a:effectLst/>
                          <a:latin typeface="Calibri" panose="020F0502020204030204" pitchFamily="34" charset="0"/>
                        </a:rPr>
                        <a:t>148</a:t>
                      </a:r>
                      <a:endParaRPr lang="en-AU" sz="2000" b="1"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0"/>
                  </a:ext>
                </a:extLst>
              </a:tr>
              <a:tr h="399325">
                <a:tc>
                  <a:txBody>
                    <a:bodyPr/>
                    <a:lstStyle/>
                    <a:p>
                      <a:pPr algn="ctr" fontAlgn="ctr"/>
                      <a:r>
                        <a:rPr lang="en-AU" sz="2000" b="1" u="none" strike="noStrike" dirty="0">
                          <a:effectLst/>
                        </a:rPr>
                        <a:t>Q1</a:t>
                      </a:r>
                      <a:endParaRPr lang="en-AU" sz="2000" b="1"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ctr"/>
                      <a:r>
                        <a:rPr lang="en-AU" sz="2000" b="1" i="0" u="none" strike="noStrike" dirty="0" smtClean="0">
                          <a:solidFill>
                            <a:srgbClr val="000000"/>
                          </a:solidFill>
                          <a:effectLst/>
                          <a:latin typeface="Calibri" panose="020F0502020204030204" pitchFamily="34" charset="0"/>
                        </a:rPr>
                        <a:t>154</a:t>
                      </a:r>
                      <a:endParaRPr lang="en-AU" sz="2000" b="1"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1"/>
                  </a:ext>
                </a:extLst>
              </a:tr>
              <a:tr h="518079">
                <a:tc>
                  <a:txBody>
                    <a:bodyPr/>
                    <a:lstStyle/>
                    <a:p>
                      <a:pPr algn="ctr" fontAlgn="ctr"/>
                      <a:r>
                        <a:rPr lang="en-AU" sz="2000" b="1" u="none" strike="noStrike" dirty="0">
                          <a:solidFill>
                            <a:schemeClr val="tx1"/>
                          </a:solidFill>
                          <a:effectLst/>
                        </a:rPr>
                        <a:t>Median</a:t>
                      </a:r>
                      <a:endParaRPr lang="en-AU" sz="2000" b="1" i="0" u="none" strike="noStrike" dirty="0">
                        <a:solidFill>
                          <a:schemeClr val="tx1"/>
                        </a:solidFill>
                        <a:effectLst/>
                        <a:latin typeface="Calibri" panose="020F0502020204030204" pitchFamily="34" charset="0"/>
                      </a:endParaRPr>
                    </a:p>
                  </a:txBody>
                  <a:tcPr marL="4763" marR="4763" marT="4763" marB="0" anchor="ctr"/>
                </a:tc>
                <a:tc>
                  <a:txBody>
                    <a:bodyPr/>
                    <a:lstStyle/>
                    <a:p>
                      <a:pPr algn="ctr" fontAlgn="ctr"/>
                      <a:r>
                        <a:rPr lang="en-AU" sz="2000" b="1" i="0" u="none" strike="noStrike" dirty="0" smtClean="0">
                          <a:solidFill>
                            <a:schemeClr val="tx1"/>
                          </a:solidFill>
                          <a:effectLst/>
                          <a:latin typeface="Calibri" panose="020F0502020204030204" pitchFamily="34" charset="0"/>
                        </a:rPr>
                        <a:t>156</a:t>
                      </a:r>
                      <a:endParaRPr lang="en-AU" sz="2000" b="1" i="0" u="none" strike="noStrike" dirty="0">
                        <a:solidFill>
                          <a:schemeClr val="tx1"/>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2"/>
                  </a:ext>
                </a:extLst>
              </a:tr>
              <a:tr h="388316">
                <a:tc>
                  <a:txBody>
                    <a:bodyPr/>
                    <a:lstStyle/>
                    <a:p>
                      <a:pPr algn="ctr" fontAlgn="ctr"/>
                      <a:r>
                        <a:rPr lang="en-AU" sz="2000" b="1" u="none" strike="noStrike">
                          <a:effectLst/>
                        </a:rPr>
                        <a:t>Q3</a:t>
                      </a:r>
                      <a:endParaRPr lang="en-AU" sz="2000" b="1"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ctr"/>
                      <a:r>
                        <a:rPr lang="en-AU" sz="2000" b="1" i="0" u="none" strike="noStrike" dirty="0" smtClean="0">
                          <a:solidFill>
                            <a:srgbClr val="000000"/>
                          </a:solidFill>
                          <a:effectLst/>
                          <a:latin typeface="Calibri" panose="020F0502020204030204" pitchFamily="34" charset="0"/>
                        </a:rPr>
                        <a:t>158</a:t>
                      </a:r>
                      <a:endParaRPr lang="en-AU" sz="2000" b="1"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3"/>
                  </a:ext>
                </a:extLst>
              </a:tr>
              <a:tr h="518079">
                <a:tc>
                  <a:txBody>
                    <a:bodyPr/>
                    <a:lstStyle/>
                    <a:p>
                      <a:pPr algn="ctr" fontAlgn="ctr"/>
                      <a:r>
                        <a:rPr lang="en-AU" sz="2000" b="1" u="none" strike="noStrike">
                          <a:effectLst/>
                        </a:rPr>
                        <a:t>Maximum</a:t>
                      </a:r>
                      <a:endParaRPr lang="en-AU" sz="2000" b="1"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ctr"/>
                      <a:r>
                        <a:rPr lang="en-AU" sz="2000" b="1" i="0" u="none" strike="noStrike" dirty="0" smtClean="0">
                          <a:solidFill>
                            <a:srgbClr val="000000"/>
                          </a:solidFill>
                          <a:effectLst/>
                          <a:latin typeface="Calibri" panose="020F0502020204030204" pitchFamily="34" charset="0"/>
                        </a:rPr>
                        <a:t>168</a:t>
                      </a:r>
                      <a:endParaRPr lang="en-AU" sz="2000" b="1"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4"/>
                  </a:ext>
                </a:extLst>
              </a:tr>
            </a:tbl>
          </a:graphicData>
        </a:graphic>
      </p:graphicFrame>
      <p:graphicFrame>
        <p:nvGraphicFramePr>
          <p:cNvPr id="10" name="Table 9"/>
          <p:cNvGraphicFramePr>
            <a:graphicFrameLocks noGrp="1"/>
          </p:cNvGraphicFramePr>
          <p:nvPr>
            <p:extLst/>
          </p:nvPr>
        </p:nvGraphicFramePr>
        <p:xfrm>
          <a:off x="3249222" y="1132841"/>
          <a:ext cx="2506980" cy="2341878"/>
        </p:xfrm>
        <a:graphic>
          <a:graphicData uri="http://schemas.openxmlformats.org/drawingml/2006/table">
            <a:tbl>
              <a:tblPr>
                <a:tableStyleId>{5C22544A-7EE6-4342-B048-85BDC9FD1C3A}</a:tableStyleId>
              </a:tblPr>
              <a:tblGrid>
                <a:gridCol w="1253490">
                  <a:extLst>
                    <a:ext uri="{9D8B030D-6E8A-4147-A177-3AD203B41FA5}">
                      <a16:colId xmlns:a16="http://schemas.microsoft.com/office/drawing/2014/main" val="20000"/>
                    </a:ext>
                  </a:extLst>
                </a:gridCol>
                <a:gridCol w="1253490">
                  <a:extLst>
                    <a:ext uri="{9D8B030D-6E8A-4147-A177-3AD203B41FA5}">
                      <a16:colId xmlns:a16="http://schemas.microsoft.com/office/drawing/2014/main" val="20001"/>
                    </a:ext>
                  </a:extLst>
                </a:gridCol>
              </a:tblGrid>
              <a:tr h="518079">
                <a:tc>
                  <a:txBody>
                    <a:bodyPr/>
                    <a:lstStyle/>
                    <a:p>
                      <a:pPr algn="ctr" fontAlgn="ctr"/>
                      <a:r>
                        <a:rPr lang="en-AU" sz="2000" b="1" u="none" strike="noStrike" dirty="0">
                          <a:effectLst/>
                        </a:rPr>
                        <a:t>Minimum</a:t>
                      </a:r>
                      <a:endParaRPr lang="en-AU" sz="2000" b="1"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ctr"/>
                      <a:r>
                        <a:rPr lang="en-AU" sz="2000" b="1" i="0" u="none" strike="noStrike" dirty="0" smtClean="0">
                          <a:solidFill>
                            <a:srgbClr val="000000"/>
                          </a:solidFill>
                          <a:effectLst/>
                          <a:latin typeface="Calibri" panose="020F0502020204030204" pitchFamily="34" charset="0"/>
                        </a:rPr>
                        <a:t>150</a:t>
                      </a:r>
                      <a:endParaRPr lang="en-AU" sz="2000" b="1"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0"/>
                  </a:ext>
                </a:extLst>
              </a:tr>
              <a:tr h="399325">
                <a:tc>
                  <a:txBody>
                    <a:bodyPr/>
                    <a:lstStyle/>
                    <a:p>
                      <a:pPr algn="ctr" fontAlgn="ctr"/>
                      <a:r>
                        <a:rPr lang="en-AU" sz="2000" b="1" u="none" strike="noStrike" dirty="0">
                          <a:effectLst/>
                        </a:rPr>
                        <a:t>Q1</a:t>
                      </a:r>
                      <a:endParaRPr lang="en-AU" sz="2000" b="1"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ctr"/>
                      <a:r>
                        <a:rPr lang="en-AU" sz="2000" b="1" i="0" u="none" strike="noStrike" dirty="0" smtClean="0">
                          <a:solidFill>
                            <a:srgbClr val="000000"/>
                          </a:solidFill>
                          <a:effectLst/>
                          <a:latin typeface="Calibri" panose="020F0502020204030204" pitchFamily="34" charset="0"/>
                        </a:rPr>
                        <a:t>153</a:t>
                      </a:r>
                      <a:endParaRPr lang="en-AU" sz="2000" b="1"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1"/>
                  </a:ext>
                </a:extLst>
              </a:tr>
              <a:tr h="518079">
                <a:tc>
                  <a:txBody>
                    <a:bodyPr/>
                    <a:lstStyle/>
                    <a:p>
                      <a:pPr algn="ctr" fontAlgn="ctr"/>
                      <a:r>
                        <a:rPr lang="en-AU" sz="2000" b="1" u="none" strike="noStrike" dirty="0">
                          <a:solidFill>
                            <a:schemeClr val="tx1"/>
                          </a:solidFill>
                          <a:effectLst/>
                        </a:rPr>
                        <a:t>Median</a:t>
                      </a:r>
                      <a:endParaRPr lang="en-AU" sz="2000" b="1" i="0" u="none" strike="noStrike" dirty="0">
                        <a:solidFill>
                          <a:schemeClr val="tx1"/>
                        </a:solidFill>
                        <a:effectLst/>
                        <a:latin typeface="Calibri" panose="020F0502020204030204" pitchFamily="34" charset="0"/>
                      </a:endParaRPr>
                    </a:p>
                  </a:txBody>
                  <a:tcPr marL="4763" marR="4763" marT="4763" marB="0" anchor="ctr"/>
                </a:tc>
                <a:tc>
                  <a:txBody>
                    <a:bodyPr/>
                    <a:lstStyle/>
                    <a:p>
                      <a:pPr algn="ctr" fontAlgn="ctr"/>
                      <a:r>
                        <a:rPr lang="en-AU" sz="2000" b="1" i="0" u="none" strike="noStrike" dirty="0" smtClean="0">
                          <a:solidFill>
                            <a:schemeClr val="tx1"/>
                          </a:solidFill>
                          <a:effectLst/>
                          <a:latin typeface="Calibri" panose="020F0502020204030204" pitchFamily="34" charset="0"/>
                        </a:rPr>
                        <a:t>156</a:t>
                      </a:r>
                      <a:endParaRPr lang="en-AU" sz="2000" b="1" i="0" u="none" strike="noStrike" dirty="0">
                        <a:solidFill>
                          <a:schemeClr val="tx1"/>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2"/>
                  </a:ext>
                </a:extLst>
              </a:tr>
              <a:tr h="388316">
                <a:tc>
                  <a:txBody>
                    <a:bodyPr/>
                    <a:lstStyle/>
                    <a:p>
                      <a:pPr algn="ctr" fontAlgn="ctr"/>
                      <a:r>
                        <a:rPr lang="en-AU" sz="2000" b="1" u="none" strike="noStrike">
                          <a:effectLst/>
                        </a:rPr>
                        <a:t>Q3</a:t>
                      </a:r>
                      <a:endParaRPr lang="en-AU" sz="2000" b="1"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ctr"/>
                      <a:r>
                        <a:rPr lang="en-AU" sz="2000" b="1" i="0" u="none" strike="noStrike" dirty="0" smtClean="0">
                          <a:solidFill>
                            <a:srgbClr val="000000"/>
                          </a:solidFill>
                          <a:effectLst/>
                          <a:latin typeface="Calibri" panose="020F0502020204030204" pitchFamily="34" charset="0"/>
                        </a:rPr>
                        <a:t>160</a:t>
                      </a:r>
                      <a:endParaRPr lang="en-AU" sz="2000" b="1"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3"/>
                  </a:ext>
                </a:extLst>
              </a:tr>
              <a:tr h="518079">
                <a:tc>
                  <a:txBody>
                    <a:bodyPr/>
                    <a:lstStyle/>
                    <a:p>
                      <a:pPr algn="ctr" fontAlgn="ctr"/>
                      <a:r>
                        <a:rPr lang="en-AU" sz="2000" b="1" u="none" strike="noStrike">
                          <a:effectLst/>
                        </a:rPr>
                        <a:t>Maximum</a:t>
                      </a:r>
                      <a:endParaRPr lang="en-AU" sz="2000" b="1"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ctr"/>
                      <a:r>
                        <a:rPr lang="en-AU" sz="2000" b="1" i="0" u="none" strike="noStrike" dirty="0" smtClean="0">
                          <a:solidFill>
                            <a:srgbClr val="000000"/>
                          </a:solidFill>
                          <a:effectLst/>
                          <a:latin typeface="Calibri" panose="020F0502020204030204" pitchFamily="34" charset="0"/>
                        </a:rPr>
                        <a:t>163</a:t>
                      </a:r>
                      <a:endParaRPr lang="en-AU" sz="2000" b="1"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4"/>
                  </a:ext>
                </a:extLst>
              </a:tr>
            </a:tbl>
          </a:graphicData>
        </a:graphic>
      </p:graphicFrame>
      <p:sp>
        <p:nvSpPr>
          <p:cNvPr id="18" name="TextBox 17"/>
          <p:cNvSpPr txBox="1"/>
          <p:nvPr/>
        </p:nvSpPr>
        <p:spPr>
          <a:xfrm>
            <a:off x="1209040" y="548640"/>
            <a:ext cx="1640840" cy="461665"/>
          </a:xfrm>
          <a:prstGeom prst="rect">
            <a:avLst/>
          </a:prstGeom>
          <a:noFill/>
        </p:spPr>
        <p:txBody>
          <a:bodyPr wrap="square" rtlCol="0">
            <a:spAutoFit/>
          </a:bodyPr>
          <a:lstStyle/>
          <a:p>
            <a:r>
              <a:rPr lang="en-AU" sz="2400" dirty="0" smtClean="0"/>
              <a:t>8A</a:t>
            </a:r>
            <a:endParaRPr lang="en-AU" sz="2400" dirty="0"/>
          </a:p>
        </p:txBody>
      </p:sp>
      <p:sp>
        <p:nvSpPr>
          <p:cNvPr id="19" name="TextBox 18"/>
          <p:cNvSpPr txBox="1"/>
          <p:nvPr/>
        </p:nvSpPr>
        <p:spPr>
          <a:xfrm>
            <a:off x="4323080" y="548639"/>
            <a:ext cx="1640840" cy="461665"/>
          </a:xfrm>
          <a:prstGeom prst="rect">
            <a:avLst/>
          </a:prstGeom>
          <a:noFill/>
        </p:spPr>
        <p:txBody>
          <a:bodyPr wrap="square" rtlCol="0">
            <a:spAutoFit/>
          </a:bodyPr>
          <a:lstStyle/>
          <a:p>
            <a:r>
              <a:rPr lang="en-AU" sz="2400" dirty="0" smtClean="0"/>
              <a:t>8B</a:t>
            </a:r>
            <a:endParaRPr lang="en-AU" sz="2400" dirty="0"/>
          </a:p>
        </p:txBody>
      </p:sp>
      <p:sp>
        <p:nvSpPr>
          <p:cNvPr id="26" name="TextBox 25"/>
          <p:cNvSpPr txBox="1"/>
          <p:nvPr/>
        </p:nvSpPr>
        <p:spPr>
          <a:xfrm>
            <a:off x="6172200" y="584775"/>
            <a:ext cx="1640840" cy="461665"/>
          </a:xfrm>
          <a:prstGeom prst="rect">
            <a:avLst/>
          </a:prstGeom>
          <a:noFill/>
        </p:spPr>
        <p:txBody>
          <a:bodyPr wrap="square" rtlCol="0">
            <a:spAutoFit/>
          </a:bodyPr>
          <a:lstStyle/>
          <a:p>
            <a:r>
              <a:rPr lang="en-AU" sz="2400" dirty="0" smtClean="0"/>
              <a:t>8A</a:t>
            </a:r>
            <a:endParaRPr lang="en-AU" sz="2400" dirty="0"/>
          </a:p>
        </p:txBody>
      </p:sp>
      <p:sp>
        <p:nvSpPr>
          <p:cNvPr id="27" name="TextBox 26"/>
          <p:cNvSpPr txBox="1"/>
          <p:nvPr/>
        </p:nvSpPr>
        <p:spPr>
          <a:xfrm>
            <a:off x="6172200" y="1920814"/>
            <a:ext cx="1640840" cy="461665"/>
          </a:xfrm>
          <a:prstGeom prst="rect">
            <a:avLst/>
          </a:prstGeom>
          <a:noFill/>
        </p:spPr>
        <p:txBody>
          <a:bodyPr wrap="square" rtlCol="0">
            <a:spAutoFit/>
          </a:bodyPr>
          <a:lstStyle/>
          <a:p>
            <a:r>
              <a:rPr lang="en-AU" sz="2400" dirty="0" smtClean="0"/>
              <a:t>8B</a:t>
            </a:r>
            <a:endParaRPr lang="en-AU" sz="2400" dirty="0"/>
          </a:p>
        </p:txBody>
      </p:sp>
      <p:sp>
        <p:nvSpPr>
          <p:cNvPr id="28" name="TextBox 27"/>
          <p:cNvSpPr txBox="1"/>
          <p:nvPr/>
        </p:nvSpPr>
        <p:spPr>
          <a:xfrm>
            <a:off x="6172200" y="1043047"/>
            <a:ext cx="4541520" cy="461665"/>
          </a:xfrm>
          <a:prstGeom prst="rect">
            <a:avLst/>
          </a:prstGeom>
          <a:noFill/>
        </p:spPr>
        <p:txBody>
          <a:bodyPr wrap="square" rtlCol="0">
            <a:spAutoFit/>
          </a:bodyPr>
          <a:lstStyle/>
          <a:p>
            <a:r>
              <a:rPr lang="en-AU" sz="2400" dirty="0" smtClean="0"/>
              <a:t>Range: 168 – 148 = 20</a:t>
            </a:r>
          </a:p>
        </p:txBody>
      </p:sp>
      <p:sp>
        <p:nvSpPr>
          <p:cNvPr id="29" name="TextBox 28"/>
          <p:cNvSpPr txBox="1"/>
          <p:nvPr/>
        </p:nvSpPr>
        <p:spPr>
          <a:xfrm>
            <a:off x="6172200" y="1440720"/>
            <a:ext cx="4541520" cy="461665"/>
          </a:xfrm>
          <a:prstGeom prst="rect">
            <a:avLst/>
          </a:prstGeom>
          <a:noFill/>
        </p:spPr>
        <p:txBody>
          <a:bodyPr wrap="square" rtlCol="0">
            <a:spAutoFit/>
          </a:bodyPr>
          <a:lstStyle/>
          <a:p>
            <a:r>
              <a:rPr lang="en-AU" sz="2400" dirty="0" smtClean="0"/>
              <a:t>IQ range: 158 – 154 = 4</a:t>
            </a:r>
          </a:p>
        </p:txBody>
      </p:sp>
      <p:sp>
        <p:nvSpPr>
          <p:cNvPr id="30" name="TextBox 29"/>
          <p:cNvSpPr txBox="1"/>
          <p:nvPr/>
        </p:nvSpPr>
        <p:spPr>
          <a:xfrm>
            <a:off x="6172200" y="2286106"/>
            <a:ext cx="4541520" cy="461665"/>
          </a:xfrm>
          <a:prstGeom prst="rect">
            <a:avLst/>
          </a:prstGeom>
          <a:noFill/>
        </p:spPr>
        <p:txBody>
          <a:bodyPr wrap="square" rtlCol="0">
            <a:spAutoFit/>
          </a:bodyPr>
          <a:lstStyle/>
          <a:p>
            <a:r>
              <a:rPr lang="en-AU" sz="2400" dirty="0" smtClean="0"/>
              <a:t>Range: 163 – 150 = 13</a:t>
            </a:r>
          </a:p>
        </p:txBody>
      </p:sp>
      <p:sp>
        <p:nvSpPr>
          <p:cNvPr id="31" name="TextBox 30"/>
          <p:cNvSpPr txBox="1"/>
          <p:nvPr/>
        </p:nvSpPr>
        <p:spPr>
          <a:xfrm>
            <a:off x="6172200" y="2683779"/>
            <a:ext cx="4541520" cy="461665"/>
          </a:xfrm>
          <a:prstGeom prst="rect">
            <a:avLst/>
          </a:prstGeom>
          <a:noFill/>
        </p:spPr>
        <p:txBody>
          <a:bodyPr wrap="square" rtlCol="0">
            <a:spAutoFit/>
          </a:bodyPr>
          <a:lstStyle/>
          <a:p>
            <a:r>
              <a:rPr lang="en-AU" sz="2400" dirty="0" smtClean="0"/>
              <a:t>IQ range: 160 – 153 = 7</a:t>
            </a:r>
          </a:p>
        </p:txBody>
      </p:sp>
      <p:sp>
        <p:nvSpPr>
          <p:cNvPr id="32" name="TextBox 31"/>
          <p:cNvSpPr txBox="1"/>
          <p:nvPr/>
        </p:nvSpPr>
        <p:spPr>
          <a:xfrm>
            <a:off x="156368" y="3546135"/>
            <a:ext cx="8927783" cy="461665"/>
          </a:xfrm>
          <a:prstGeom prst="rect">
            <a:avLst/>
          </a:prstGeom>
          <a:noFill/>
        </p:spPr>
        <p:txBody>
          <a:bodyPr wrap="square" rtlCol="0">
            <a:spAutoFit/>
          </a:bodyPr>
          <a:lstStyle/>
          <a:p>
            <a:r>
              <a:rPr lang="en-AU" sz="2400" dirty="0" smtClean="0"/>
              <a:t>Draw a parallel boxplot of the two class’ data.</a:t>
            </a:r>
            <a:endParaRPr lang="en-AU" sz="2400" dirty="0"/>
          </a:p>
        </p:txBody>
      </p:sp>
      <p:pic>
        <p:nvPicPr>
          <p:cNvPr id="2" name="Picture 1"/>
          <p:cNvPicPr>
            <a:picLocks noChangeAspect="1"/>
          </p:cNvPicPr>
          <p:nvPr/>
        </p:nvPicPr>
        <p:blipFill>
          <a:blip r:embed="rId2"/>
          <a:stretch>
            <a:fillRect/>
          </a:stretch>
        </p:blipFill>
        <p:spPr>
          <a:xfrm>
            <a:off x="210605" y="4229945"/>
            <a:ext cx="5626315" cy="1846992"/>
          </a:xfrm>
          <a:prstGeom prst="rect">
            <a:avLst/>
          </a:prstGeom>
        </p:spPr>
      </p:pic>
      <p:sp>
        <p:nvSpPr>
          <p:cNvPr id="5" name="TextBox 4"/>
          <p:cNvSpPr txBox="1"/>
          <p:nvPr/>
        </p:nvSpPr>
        <p:spPr>
          <a:xfrm>
            <a:off x="6172200" y="3439160"/>
            <a:ext cx="5897880" cy="830997"/>
          </a:xfrm>
          <a:prstGeom prst="rect">
            <a:avLst/>
          </a:prstGeom>
          <a:noFill/>
        </p:spPr>
        <p:txBody>
          <a:bodyPr wrap="square" rtlCol="0">
            <a:spAutoFit/>
          </a:bodyPr>
          <a:lstStyle/>
          <a:p>
            <a:r>
              <a:rPr lang="en-AU" sz="2400" dirty="0" smtClean="0"/>
              <a:t>Compare the median, range and inter-quartile range for each class.</a:t>
            </a:r>
            <a:endParaRPr lang="en-AU" sz="2400" dirty="0"/>
          </a:p>
        </p:txBody>
      </p:sp>
      <p:sp>
        <p:nvSpPr>
          <p:cNvPr id="17" name="TextBox 16"/>
          <p:cNvSpPr txBox="1"/>
          <p:nvPr/>
        </p:nvSpPr>
        <p:spPr>
          <a:xfrm>
            <a:off x="6329680" y="4455160"/>
            <a:ext cx="5618480" cy="1569660"/>
          </a:xfrm>
          <a:prstGeom prst="rect">
            <a:avLst/>
          </a:prstGeom>
          <a:noFill/>
        </p:spPr>
        <p:txBody>
          <a:bodyPr wrap="square" rtlCol="0">
            <a:spAutoFit/>
          </a:bodyPr>
          <a:lstStyle/>
          <a:p>
            <a:r>
              <a:rPr lang="en-AU" sz="2400" dirty="0" smtClean="0"/>
              <a:t>The medians for the two classes are the same. The range for 8A is much larger than for 8B. However, the IQR for 8A is much smaller than the IQR for 8B.</a:t>
            </a:r>
            <a:endParaRPr lang="en-AU" sz="2400" dirty="0"/>
          </a:p>
        </p:txBody>
      </p:sp>
    </p:spTree>
    <p:extLst>
      <p:ext uri="{BB962C8B-B14F-4D97-AF65-F5344CB8AC3E}">
        <p14:creationId xmlns:p14="http://schemas.microsoft.com/office/powerpoint/2010/main" val="384128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2">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p:bldP spid="31" grpId="0"/>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0" y="0"/>
            <a:ext cx="3433207" cy="584775"/>
          </a:xfrm>
          <a:prstGeom prst="homePlate">
            <a:avLst/>
          </a:prstGeom>
          <a:solidFill>
            <a:schemeClr val="accent5">
              <a:lumMod val="50000"/>
            </a:schemeClr>
          </a:solidFill>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en-AU" sz="3200" dirty="0" smtClean="0"/>
              <a:t>Learning Objective</a:t>
            </a:r>
            <a:endParaRPr lang="en-AU" sz="3200" dirty="0"/>
          </a:p>
        </p:txBody>
      </p:sp>
      <p:sp>
        <p:nvSpPr>
          <p:cNvPr id="7" name="TextBox 6"/>
          <p:cNvSpPr txBox="1"/>
          <p:nvPr/>
        </p:nvSpPr>
        <p:spPr>
          <a:xfrm>
            <a:off x="0" y="2548141"/>
            <a:ext cx="2956373" cy="584775"/>
          </a:xfrm>
          <a:prstGeom prst="homePlate">
            <a:avLst/>
          </a:prstGeom>
          <a:solidFill>
            <a:schemeClr val="accent5">
              <a:lumMod val="50000"/>
            </a:schemeClr>
          </a:solidFill>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en-AU" sz="3200" dirty="0" smtClean="0"/>
              <a:t>Success Criteria</a:t>
            </a:r>
            <a:endParaRPr lang="en-AU" sz="3200" dirty="0"/>
          </a:p>
        </p:txBody>
      </p:sp>
      <p:graphicFrame>
        <p:nvGraphicFramePr>
          <p:cNvPr id="22" name="Table 21"/>
          <p:cNvGraphicFramePr>
            <a:graphicFrameLocks noGrp="1"/>
          </p:cNvGraphicFramePr>
          <p:nvPr>
            <p:extLst/>
          </p:nvPr>
        </p:nvGraphicFramePr>
        <p:xfrm>
          <a:off x="9505808" y="0"/>
          <a:ext cx="2686192" cy="736600"/>
        </p:xfrm>
        <a:graphic>
          <a:graphicData uri="http://schemas.openxmlformats.org/drawingml/2006/table">
            <a:tbl>
              <a:tblPr firstRow="1" bandRow="1">
                <a:tableStyleId>{21E4AEA4-8DFA-4A89-87EB-49C32662AFE0}</a:tableStyleId>
              </a:tblPr>
              <a:tblGrid>
                <a:gridCol w="2686192">
                  <a:extLst>
                    <a:ext uri="{9D8B030D-6E8A-4147-A177-3AD203B41FA5}">
                      <a16:colId xmlns:a16="http://schemas.microsoft.com/office/drawing/2014/main" val="20000"/>
                    </a:ext>
                  </a:extLst>
                </a:gridCol>
              </a:tblGrid>
              <a:tr h="353527">
                <a:tc>
                  <a:txBody>
                    <a:bodyPr/>
                    <a:lstStyle/>
                    <a:p>
                      <a:r>
                        <a:rPr lang="en-AU" dirty="0" smtClean="0"/>
                        <a:t>CFU 1</a:t>
                      </a:r>
                      <a:endParaRPr lang="en-AU" dirty="0"/>
                    </a:p>
                  </a:txBody>
                  <a:tcPr>
                    <a:solidFill>
                      <a:srgbClr val="002060"/>
                    </a:solidFill>
                  </a:tcPr>
                </a:tc>
                <a:extLst>
                  <a:ext uri="{0D108BD9-81ED-4DB2-BD59-A6C34878D82A}">
                    <a16:rowId xmlns:a16="http://schemas.microsoft.com/office/drawing/2014/main" val="10000"/>
                  </a:ext>
                </a:extLst>
              </a:tr>
              <a:tr h="370840">
                <a:tc>
                  <a:txBody>
                    <a:bodyPr/>
                    <a:lstStyle/>
                    <a:p>
                      <a:r>
                        <a:rPr lang="en-AU" dirty="0" smtClean="0"/>
                        <a:t>What will we learn?</a:t>
                      </a:r>
                    </a:p>
                  </a:txBody>
                  <a:tcPr>
                    <a:solidFill>
                      <a:schemeClr val="bg2"/>
                    </a:solidFill>
                  </a:tcPr>
                </a:tc>
                <a:extLst>
                  <a:ext uri="{0D108BD9-81ED-4DB2-BD59-A6C34878D82A}">
                    <a16:rowId xmlns:a16="http://schemas.microsoft.com/office/drawing/2014/main" val="10001"/>
                  </a:ext>
                </a:extLst>
              </a:tr>
            </a:tbl>
          </a:graphicData>
        </a:graphic>
      </p:graphicFrame>
      <p:graphicFrame>
        <p:nvGraphicFramePr>
          <p:cNvPr id="23" name="Table 22"/>
          <p:cNvGraphicFramePr>
            <a:graphicFrameLocks noGrp="1"/>
          </p:cNvGraphicFramePr>
          <p:nvPr>
            <p:extLst/>
          </p:nvPr>
        </p:nvGraphicFramePr>
        <p:xfrm>
          <a:off x="9505808" y="995680"/>
          <a:ext cx="2686192" cy="736600"/>
        </p:xfrm>
        <a:graphic>
          <a:graphicData uri="http://schemas.openxmlformats.org/drawingml/2006/table">
            <a:tbl>
              <a:tblPr firstRow="1" bandRow="1">
                <a:tableStyleId>{21E4AEA4-8DFA-4A89-87EB-49C32662AFE0}</a:tableStyleId>
              </a:tblPr>
              <a:tblGrid>
                <a:gridCol w="2686192">
                  <a:extLst>
                    <a:ext uri="{9D8B030D-6E8A-4147-A177-3AD203B41FA5}">
                      <a16:colId xmlns:a16="http://schemas.microsoft.com/office/drawing/2014/main" val="20000"/>
                    </a:ext>
                  </a:extLst>
                </a:gridCol>
              </a:tblGrid>
              <a:tr h="353527">
                <a:tc>
                  <a:txBody>
                    <a:bodyPr/>
                    <a:lstStyle/>
                    <a:p>
                      <a:r>
                        <a:rPr lang="en-AU" dirty="0" smtClean="0"/>
                        <a:t>CFU 2</a:t>
                      </a:r>
                      <a:endParaRPr lang="en-AU" dirty="0"/>
                    </a:p>
                  </a:txBody>
                  <a:tcPr>
                    <a:solidFill>
                      <a:srgbClr val="002060"/>
                    </a:solidFill>
                  </a:tcPr>
                </a:tc>
                <a:extLst>
                  <a:ext uri="{0D108BD9-81ED-4DB2-BD59-A6C34878D82A}">
                    <a16:rowId xmlns:a16="http://schemas.microsoft.com/office/drawing/2014/main" val="10000"/>
                  </a:ext>
                </a:extLst>
              </a:tr>
              <a:tr h="370840">
                <a:tc>
                  <a:txBody>
                    <a:bodyPr/>
                    <a:lstStyle/>
                    <a:p>
                      <a:r>
                        <a:rPr lang="en-AU" dirty="0" smtClean="0"/>
                        <a:t>What will we learn?</a:t>
                      </a:r>
                    </a:p>
                  </a:txBody>
                  <a:tcPr>
                    <a:solidFill>
                      <a:schemeClr val="bg2"/>
                    </a:solidFill>
                  </a:tcPr>
                </a:tc>
                <a:extLst>
                  <a:ext uri="{0D108BD9-81ED-4DB2-BD59-A6C34878D82A}">
                    <a16:rowId xmlns:a16="http://schemas.microsoft.com/office/drawing/2014/main" val="10001"/>
                  </a:ext>
                </a:extLst>
              </a:tr>
            </a:tbl>
          </a:graphicData>
        </a:graphic>
      </p:graphicFrame>
      <p:graphicFrame>
        <p:nvGraphicFramePr>
          <p:cNvPr id="24" name="Table 23"/>
          <p:cNvGraphicFramePr>
            <a:graphicFrameLocks noGrp="1"/>
          </p:cNvGraphicFramePr>
          <p:nvPr>
            <p:extLst/>
          </p:nvPr>
        </p:nvGraphicFramePr>
        <p:xfrm>
          <a:off x="9505808" y="1960880"/>
          <a:ext cx="2686192" cy="1005840"/>
        </p:xfrm>
        <a:graphic>
          <a:graphicData uri="http://schemas.openxmlformats.org/drawingml/2006/table">
            <a:tbl>
              <a:tblPr firstRow="1" bandRow="1">
                <a:tableStyleId>{21E4AEA4-8DFA-4A89-87EB-49C32662AFE0}</a:tableStyleId>
              </a:tblPr>
              <a:tblGrid>
                <a:gridCol w="2686192">
                  <a:extLst>
                    <a:ext uri="{9D8B030D-6E8A-4147-A177-3AD203B41FA5}">
                      <a16:colId xmlns:a16="http://schemas.microsoft.com/office/drawing/2014/main" val="20000"/>
                    </a:ext>
                  </a:extLst>
                </a:gridCol>
              </a:tblGrid>
              <a:tr h="353527">
                <a:tc>
                  <a:txBody>
                    <a:bodyPr/>
                    <a:lstStyle/>
                    <a:p>
                      <a:r>
                        <a:rPr lang="en-AU" dirty="0" smtClean="0"/>
                        <a:t>CFU 3</a:t>
                      </a:r>
                      <a:endParaRPr lang="en-AU" dirty="0"/>
                    </a:p>
                  </a:txBody>
                  <a:tcPr>
                    <a:solidFill>
                      <a:srgbClr val="002060"/>
                    </a:solidFill>
                  </a:tcPr>
                </a:tc>
                <a:extLst>
                  <a:ext uri="{0D108BD9-81ED-4DB2-BD59-A6C34878D82A}">
                    <a16:rowId xmlns:a16="http://schemas.microsoft.com/office/drawing/2014/main" val="10000"/>
                  </a:ext>
                </a:extLst>
              </a:tr>
              <a:tr h="370840">
                <a:tc>
                  <a:txBody>
                    <a:bodyPr/>
                    <a:lstStyle/>
                    <a:p>
                      <a:r>
                        <a:rPr lang="en-AU" dirty="0" smtClean="0"/>
                        <a:t>How will</a:t>
                      </a:r>
                      <a:r>
                        <a:rPr lang="en-AU" baseline="0" dirty="0" smtClean="0"/>
                        <a:t> we know if we’ve been successful?</a:t>
                      </a:r>
                      <a:endParaRPr lang="en-AU" dirty="0" smtClean="0"/>
                    </a:p>
                  </a:txBody>
                  <a:tcPr>
                    <a:solidFill>
                      <a:schemeClr val="bg2"/>
                    </a:solidFill>
                  </a:tcPr>
                </a:tc>
                <a:extLst>
                  <a:ext uri="{0D108BD9-81ED-4DB2-BD59-A6C34878D82A}">
                    <a16:rowId xmlns:a16="http://schemas.microsoft.com/office/drawing/2014/main" val="10001"/>
                  </a:ext>
                </a:extLst>
              </a:tr>
            </a:tbl>
          </a:graphicData>
        </a:graphic>
      </p:graphicFrame>
      <p:graphicFrame>
        <p:nvGraphicFramePr>
          <p:cNvPr id="25" name="Table 24"/>
          <p:cNvGraphicFramePr>
            <a:graphicFrameLocks noGrp="1"/>
          </p:cNvGraphicFramePr>
          <p:nvPr>
            <p:extLst/>
          </p:nvPr>
        </p:nvGraphicFramePr>
        <p:xfrm>
          <a:off x="9505808" y="3175000"/>
          <a:ext cx="2686192" cy="1005840"/>
        </p:xfrm>
        <a:graphic>
          <a:graphicData uri="http://schemas.openxmlformats.org/drawingml/2006/table">
            <a:tbl>
              <a:tblPr firstRow="1" bandRow="1">
                <a:tableStyleId>{21E4AEA4-8DFA-4A89-87EB-49C32662AFE0}</a:tableStyleId>
              </a:tblPr>
              <a:tblGrid>
                <a:gridCol w="2686192">
                  <a:extLst>
                    <a:ext uri="{9D8B030D-6E8A-4147-A177-3AD203B41FA5}">
                      <a16:colId xmlns:a16="http://schemas.microsoft.com/office/drawing/2014/main" val="20000"/>
                    </a:ext>
                  </a:extLst>
                </a:gridCol>
              </a:tblGrid>
              <a:tr h="353527">
                <a:tc>
                  <a:txBody>
                    <a:bodyPr/>
                    <a:lstStyle/>
                    <a:p>
                      <a:r>
                        <a:rPr lang="en-AU" dirty="0" smtClean="0"/>
                        <a:t>CFU 4</a:t>
                      </a:r>
                      <a:endParaRPr lang="en-AU" dirty="0"/>
                    </a:p>
                  </a:txBody>
                  <a:tcPr>
                    <a:solidFill>
                      <a:srgbClr val="002060"/>
                    </a:solidFill>
                  </a:tcPr>
                </a:tc>
                <a:extLst>
                  <a:ext uri="{0D108BD9-81ED-4DB2-BD59-A6C34878D82A}">
                    <a16:rowId xmlns:a16="http://schemas.microsoft.com/office/drawing/2014/main" val="10000"/>
                  </a:ext>
                </a:extLst>
              </a:tr>
              <a:tr h="370840">
                <a:tc>
                  <a:txBody>
                    <a:bodyPr/>
                    <a:lstStyle/>
                    <a:p>
                      <a:r>
                        <a:rPr lang="en-AU" dirty="0" smtClean="0"/>
                        <a:t>How will we know if we’ve been successful?</a:t>
                      </a:r>
                    </a:p>
                  </a:txBody>
                  <a:tcPr>
                    <a:solidFill>
                      <a:schemeClr val="bg2"/>
                    </a:solidFill>
                  </a:tcPr>
                </a:tc>
                <a:extLst>
                  <a:ext uri="{0D108BD9-81ED-4DB2-BD59-A6C34878D82A}">
                    <a16:rowId xmlns:a16="http://schemas.microsoft.com/office/drawing/2014/main" val="10001"/>
                  </a:ext>
                </a:extLst>
              </a:tr>
            </a:tbl>
          </a:graphicData>
        </a:graphic>
      </p:graphicFrame>
      <p:sp>
        <p:nvSpPr>
          <p:cNvPr id="11" name="Content Placeholder 1"/>
          <p:cNvSpPr>
            <a:spLocks noGrp="1"/>
          </p:cNvSpPr>
          <p:nvPr>
            <p:ph sz="half" idx="1"/>
          </p:nvPr>
        </p:nvSpPr>
        <p:spPr>
          <a:xfrm>
            <a:off x="203200" y="795929"/>
            <a:ext cx="8873482" cy="2285216"/>
          </a:xfrm>
        </p:spPr>
        <p:txBody>
          <a:bodyPr>
            <a:normAutofit/>
          </a:bodyPr>
          <a:lstStyle/>
          <a:p>
            <a:pPr marL="0" indent="0">
              <a:buNone/>
            </a:pPr>
            <a:r>
              <a:rPr lang="en-AU" b="1" dirty="0" smtClean="0"/>
              <a:t>I will interpret scatter plots.</a:t>
            </a:r>
            <a:endParaRPr lang="en-AU" dirty="0" smtClean="0"/>
          </a:p>
        </p:txBody>
      </p:sp>
      <p:sp>
        <p:nvSpPr>
          <p:cNvPr id="12" name="Content Placeholder 2"/>
          <p:cNvSpPr txBox="1">
            <a:spLocks/>
          </p:cNvSpPr>
          <p:nvPr/>
        </p:nvSpPr>
        <p:spPr>
          <a:xfrm>
            <a:off x="249168" y="3635312"/>
            <a:ext cx="8771965" cy="2499631"/>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AU" b="1" dirty="0" smtClean="0"/>
              <a:t>I will be able to:</a:t>
            </a:r>
          </a:p>
          <a:p>
            <a:r>
              <a:rPr lang="en-AU" b="1" dirty="0" smtClean="0"/>
              <a:t>Identify types of correlation</a:t>
            </a:r>
          </a:p>
          <a:p>
            <a:r>
              <a:rPr lang="en-AU" b="1" dirty="0" smtClean="0"/>
              <a:t>Identify the dependent and independent variable</a:t>
            </a:r>
          </a:p>
          <a:p>
            <a:r>
              <a:rPr lang="en-AU" b="1" dirty="0" smtClean="0"/>
              <a:t>Interpret scatter plots</a:t>
            </a:r>
          </a:p>
          <a:p>
            <a:endParaRPr lang="en-AU" b="1" dirty="0" smtClean="0"/>
          </a:p>
        </p:txBody>
      </p:sp>
    </p:spTree>
    <p:extLst>
      <p:ext uri="{BB962C8B-B14F-4D97-AF65-F5344CB8AC3E}">
        <p14:creationId xmlns:p14="http://schemas.microsoft.com/office/powerpoint/2010/main" val="3066776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22"/>
                                        </p:tgtEl>
                                      </p:cBhvr>
                                    </p:animEffect>
                                    <p:animScale>
                                      <p:cBhvr>
                                        <p:cTn id="7" dur="250" autoRev="1" fill="hold"/>
                                        <p:tgtEl>
                                          <p:spTgt spid="22"/>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26" presetClass="emph" presetSubtype="0" fill="hold" nodeType="clickEffect">
                                  <p:stCondLst>
                                    <p:cond delay="0"/>
                                  </p:stCondLst>
                                  <p:childTnLst>
                                    <p:animEffect transition="out" filter="fade">
                                      <p:cBhvr>
                                        <p:cTn id="11" dur="500" tmFilter="0, 0; .2, .5; .8, .5; 1, 0"/>
                                        <p:tgtEl>
                                          <p:spTgt spid="23"/>
                                        </p:tgtEl>
                                      </p:cBhvr>
                                    </p:animEffect>
                                    <p:animScale>
                                      <p:cBhvr>
                                        <p:cTn id="12" dur="250" autoRev="1" fill="hold"/>
                                        <p:tgtEl>
                                          <p:spTgt spid="23"/>
                                        </p:tgtEl>
                                      </p:cBhvr>
                                      <p:by x="105000" y="105000"/>
                                    </p:animScale>
                                  </p:childTnLst>
                                </p:cTn>
                              </p:par>
                            </p:childTnLst>
                          </p:cTn>
                        </p:par>
                      </p:childTnLst>
                    </p:cTn>
                  </p:par>
                  <p:par>
                    <p:cTn id="13" fill="hold">
                      <p:stCondLst>
                        <p:cond delay="indefinite"/>
                      </p:stCondLst>
                      <p:childTnLst>
                        <p:par>
                          <p:cTn id="14" fill="hold">
                            <p:stCondLst>
                              <p:cond delay="0"/>
                            </p:stCondLst>
                            <p:childTnLst>
                              <p:par>
                                <p:cTn id="15" presetID="26" presetClass="emph" presetSubtype="0" fill="hold" nodeType="clickEffect">
                                  <p:stCondLst>
                                    <p:cond delay="0"/>
                                  </p:stCondLst>
                                  <p:childTnLst>
                                    <p:animEffect transition="out" filter="fade">
                                      <p:cBhvr>
                                        <p:cTn id="16" dur="500" tmFilter="0, 0; .2, .5; .8, .5; 1, 0"/>
                                        <p:tgtEl>
                                          <p:spTgt spid="24"/>
                                        </p:tgtEl>
                                      </p:cBhvr>
                                    </p:animEffect>
                                    <p:animScale>
                                      <p:cBhvr>
                                        <p:cTn id="17" dur="250" autoRev="1" fill="hold"/>
                                        <p:tgtEl>
                                          <p:spTgt spid="24"/>
                                        </p:tgtEl>
                                      </p:cBhvr>
                                      <p:by x="105000" y="105000"/>
                                    </p:animScale>
                                  </p:childTnLst>
                                </p:cTn>
                              </p:par>
                            </p:childTnLst>
                          </p:cTn>
                        </p:par>
                      </p:childTnLst>
                    </p:cTn>
                  </p:par>
                  <p:par>
                    <p:cTn id="18" fill="hold">
                      <p:stCondLst>
                        <p:cond delay="indefinite"/>
                      </p:stCondLst>
                      <p:childTnLst>
                        <p:par>
                          <p:cTn id="19" fill="hold">
                            <p:stCondLst>
                              <p:cond delay="0"/>
                            </p:stCondLst>
                            <p:childTnLst>
                              <p:par>
                                <p:cTn id="20" presetID="26" presetClass="emph" presetSubtype="0" fill="hold" nodeType="clickEffect">
                                  <p:stCondLst>
                                    <p:cond delay="0"/>
                                  </p:stCondLst>
                                  <p:childTnLst>
                                    <p:animEffect transition="out" filter="fade">
                                      <p:cBhvr>
                                        <p:cTn id="21" dur="500" tmFilter="0, 0; .2, .5; .8, .5; 1, 0"/>
                                        <p:tgtEl>
                                          <p:spTgt spid="25"/>
                                        </p:tgtEl>
                                      </p:cBhvr>
                                    </p:animEffect>
                                    <p:animScale>
                                      <p:cBhvr>
                                        <p:cTn id="22" dur="250" autoRev="1" fill="hold"/>
                                        <p:tgtEl>
                                          <p:spTgt spid="2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0" y="0"/>
            <a:ext cx="4498548" cy="584775"/>
          </a:xfrm>
          <a:prstGeom prst="homePlate">
            <a:avLst/>
          </a:prstGeom>
          <a:solidFill>
            <a:srgbClr val="00206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smtClean="0"/>
              <a:t>Activate Prior Knowledge</a:t>
            </a:r>
            <a:endParaRPr lang="en-AU" sz="3200" dirty="0"/>
          </a:p>
        </p:txBody>
      </p:sp>
      <p:graphicFrame>
        <p:nvGraphicFramePr>
          <p:cNvPr id="11" name="Table 10"/>
          <p:cNvGraphicFramePr>
            <a:graphicFrameLocks noGrp="1"/>
          </p:cNvGraphicFramePr>
          <p:nvPr>
            <p:extLst>
              <p:ext uri="{D42A27DB-BD31-4B8C-83A1-F6EECF244321}">
                <p14:modId xmlns:p14="http://schemas.microsoft.com/office/powerpoint/2010/main" val="246688372"/>
              </p:ext>
            </p:extLst>
          </p:nvPr>
        </p:nvGraphicFramePr>
        <p:xfrm>
          <a:off x="9220200" y="0"/>
          <a:ext cx="2971800" cy="1005840"/>
        </p:xfrm>
        <a:graphic>
          <a:graphicData uri="http://schemas.openxmlformats.org/drawingml/2006/table">
            <a:tbl>
              <a:tblPr firstRow="1" bandRow="1">
                <a:tableStyleId>{21E4AEA4-8DFA-4A89-87EB-49C32662AFE0}</a:tableStyleId>
              </a:tblPr>
              <a:tblGrid>
                <a:gridCol w="2971800">
                  <a:extLst>
                    <a:ext uri="{9D8B030D-6E8A-4147-A177-3AD203B41FA5}">
                      <a16:colId xmlns:a16="http://schemas.microsoft.com/office/drawing/2014/main" val="20000"/>
                    </a:ext>
                  </a:extLst>
                </a:gridCol>
              </a:tblGrid>
              <a:tr h="353527">
                <a:tc>
                  <a:txBody>
                    <a:bodyPr/>
                    <a:lstStyle/>
                    <a:p>
                      <a:r>
                        <a:rPr lang="en-AU" dirty="0" smtClean="0"/>
                        <a:t>CFU 1</a:t>
                      </a:r>
                      <a:endParaRPr lang="en-AU" dirty="0"/>
                    </a:p>
                  </a:txBody>
                  <a:tcPr>
                    <a:solidFill>
                      <a:srgbClr val="002060"/>
                    </a:solidFill>
                  </a:tcPr>
                </a:tc>
                <a:extLst>
                  <a:ext uri="{0D108BD9-81ED-4DB2-BD59-A6C34878D82A}">
                    <a16:rowId xmlns:a16="http://schemas.microsoft.com/office/drawing/2014/main" val="10000"/>
                  </a:ext>
                </a:extLst>
              </a:tr>
              <a:tr h="370840">
                <a:tc>
                  <a:txBody>
                    <a:bodyPr/>
                    <a:lstStyle/>
                    <a:p>
                      <a:r>
                        <a:rPr lang="en-AU" dirty="0" smtClean="0"/>
                        <a:t>Give an example</a:t>
                      </a:r>
                      <a:r>
                        <a:rPr lang="en-AU" baseline="0" dirty="0" smtClean="0"/>
                        <a:t> of primary and secondary data.</a:t>
                      </a:r>
                      <a:endParaRPr lang="en-AU" dirty="0" smtClean="0"/>
                    </a:p>
                  </a:txBody>
                  <a:tcPr>
                    <a:solidFill>
                      <a:schemeClr val="bg1">
                        <a:lumMod val="95000"/>
                      </a:schemeClr>
                    </a:solidFill>
                  </a:tcPr>
                </a:tc>
                <a:extLst>
                  <a:ext uri="{0D108BD9-81ED-4DB2-BD59-A6C34878D82A}">
                    <a16:rowId xmlns:a16="http://schemas.microsoft.com/office/drawing/2014/main" val="10001"/>
                  </a:ext>
                </a:extLst>
              </a:tr>
            </a:tbl>
          </a:graphicData>
        </a:graphic>
      </p:graphicFrame>
      <p:sp>
        <p:nvSpPr>
          <p:cNvPr id="3" name="TextBox 2"/>
          <p:cNvSpPr txBox="1"/>
          <p:nvPr/>
        </p:nvSpPr>
        <p:spPr>
          <a:xfrm>
            <a:off x="40640" y="701040"/>
            <a:ext cx="9352280" cy="5170646"/>
          </a:xfrm>
          <a:prstGeom prst="rect">
            <a:avLst/>
          </a:prstGeom>
          <a:noFill/>
        </p:spPr>
        <p:txBody>
          <a:bodyPr wrap="square" rtlCol="0">
            <a:spAutoFit/>
          </a:bodyPr>
          <a:lstStyle/>
          <a:p>
            <a:r>
              <a:rPr lang="en-AU" sz="2400" dirty="0" smtClean="0"/>
              <a:t>Primary data is data you collect yourself.</a:t>
            </a:r>
          </a:p>
          <a:p>
            <a:r>
              <a:rPr lang="en-AU" sz="2400" dirty="0" smtClean="0"/>
              <a:t>Secondary data is data that has already been collected</a:t>
            </a:r>
            <a:r>
              <a:rPr lang="en-AU" dirty="0" smtClean="0"/>
              <a:t>.</a:t>
            </a:r>
          </a:p>
          <a:p>
            <a:endParaRPr lang="en-AU" dirty="0"/>
          </a:p>
          <a:p>
            <a:r>
              <a:rPr lang="en-AU" sz="2400" dirty="0" smtClean="0"/>
              <a:t>Do the following examples represent primary data or secondary data?</a:t>
            </a:r>
          </a:p>
          <a:p>
            <a:endParaRPr lang="en-AU" sz="2400" dirty="0"/>
          </a:p>
          <a:p>
            <a:r>
              <a:rPr lang="en-AU" sz="2400" dirty="0" smtClean="0"/>
              <a:t>You are doing a project on water storage, so you collect data from the newspaper on the levels of the dams in your state over the past year.</a:t>
            </a:r>
          </a:p>
          <a:p>
            <a:endParaRPr lang="en-AU" sz="2400" dirty="0"/>
          </a:p>
          <a:p>
            <a:r>
              <a:rPr lang="en-AU" sz="2400" dirty="0" smtClean="0"/>
              <a:t>You survey youth in your area to find out what facilities they would like the council to provide.</a:t>
            </a:r>
          </a:p>
          <a:p>
            <a:endParaRPr lang="en-AU" sz="2400" dirty="0"/>
          </a:p>
          <a:p>
            <a:r>
              <a:rPr lang="en-AU" sz="2400" dirty="0" smtClean="0"/>
              <a:t>You sit on your doorstep and record the colour of the cars passing by.</a:t>
            </a:r>
          </a:p>
          <a:p>
            <a:endParaRPr lang="en-AU" sz="2400" dirty="0"/>
          </a:p>
          <a:p>
            <a:r>
              <a:rPr lang="en-AU" sz="2400" dirty="0" smtClean="0"/>
              <a:t>You write the scores for all the weekend’s AFL matches from an app.</a:t>
            </a:r>
            <a:endParaRPr lang="en-AU" sz="2400" dirty="0"/>
          </a:p>
        </p:txBody>
      </p:sp>
      <p:sp>
        <p:nvSpPr>
          <p:cNvPr id="6" name="TextBox 5"/>
          <p:cNvSpPr txBox="1"/>
          <p:nvPr/>
        </p:nvSpPr>
        <p:spPr>
          <a:xfrm>
            <a:off x="9347200" y="2621280"/>
            <a:ext cx="2407920" cy="461665"/>
          </a:xfrm>
          <a:prstGeom prst="rect">
            <a:avLst/>
          </a:prstGeom>
          <a:noFill/>
        </p:spPr>
        <p:txBody>
          <a:bodyPr wrap="square" rtlCol="0">
            <a:spAutoFit/>
          </a:bodyPr>
          <a:lstStyle/>
          <a:p>
            <a:r>
              <a:rPr lang="en-AU" sz="2400" dirty="0" smtClean="0">
                <a:solidFill>
                  <a:srgbClr val="FF0000"/>
                </a:solidFill>
              </a:rPr>
              <a:t>Secondary data</a:t>
            </a:r>
            <a:endParaRPr lang="en-AU" sz="2400" dirty="0">
              <a:solidFill>
                <a:srgbClr val="FF0000"/>
              </a:solidFill>
            </a:endParaRPr>
          </a:p>
        </p:txBody>
      </p:sp>
      <p:sp>
        <p:nvSpPr>
          <p:cNvPr id="10" name="TextBox 9"/>
          <p:cNvSpPr txBox="1"/>
          <p:nvPr/>
        </p:nvSpPr>
        <p:spPr>
          <a:xfrm>
            <a:off x="9347200" y="3495040"/>
            <a:ext cx="2407920" cy="461665"/>
          </a:xfrm>
          <a:prstGeom prst="rect">
            <a:avLst/>
          </a:prstGeom>
          <a:noFill/>
        </p:spPr>
        <p:txBody>
          <a:bodyPr wrap="square" rtlCol="0">
            <a:spAutoFit/>
          </a:bodyPr>
          <a:lstStyle/>
          <a:p>
            <a:r>
              <a:rPr lang="en-AU" sz="2400" dirty="0" smtClean="0">
                <a:solidFill>
                  <a:srgbClr val="FF0000"/>
                </a:solidFill>
              </a:rPr>
              <a:t>Primary data</a:t>
            </a:r>
            <a:endParaRPr lang="en-AU" sz="2400" dirty="0">
              <a:solidFill>
                <a:srgbClr val="FF0000"/>
              </a:solidFill>
            </a:endParaRPr>
          </a:p>
        </p:txBody>
      </p:sp>
      <p:sp>
        <p:nvSpPr>
          <p:cNvPr id="12" name="TextBox 11"/>
          <p:cNvSpPr txBox="1"/>
          <p:nvPr/>
        </p:nvSpPr>
        <p:spPr>
          <a:xfrm>
            <a:off x="9347200" y="4622800"/>
            <a:ext cx="2407920" cy="461665"/>
          </a:xfrm>
          <a:prstGeom prst="rect">
            <a:avLst/>
          </a:prstGeom>
          <a:noFill/>
        </p:spPr>
        <p:txBody>
          <a:bodyPr wrap="square" rtlCol="0">
            <a:spAutoFit/>
          </a:bodyPr>
          <a:lstStyle/>
          <a:p>
            <a:r>
              <a:rPr lang="en-AU" sz="2400" dirty="0" smtClean="0">
                <a:solidFill>
                  <a:srgbClr val="FF0000"/>
                </a:solidFill>
              </a:rPr>
              <a:t>Primary data</a:t>
            </a:r>
            <a:endParaRPr lang="en-AU" sz="2400" dirty="0">
              <a:solidFill>
                <a:srgbClr val="FF0000"/>
              </a:solidFill>
            </a:endParaRPr>
          </a:p>
        </p:txBody>
      </p:sp>
      <p:sp>
        <p:nvSpPr>
          <p:cNvPr id="13" name="TextBox 12"/>
          <p:cNvSpPr txBox="1"/>
          <p:nvPr/>
        </p:nvSpPr>
        <p:spPr>
          <a:xfrm>
            <a:off x="9347200" y="5385236"/>
            <a:ext cx="2407920" cy="461665"/>
          </a:xfrm>
          <a:prstGeom prst="rect">
            <a:avLst/>
          </a:prstGeom>
          <a:noFill/>
        </p:spPr>
        <p:txBody>
          <a:bodyPr wrap="square" rtlCol="0">
            <a:spAutoFit/>
          </a:bodyPr>
          <a:lstStyle/>
          <a:p>
            <a:r>
              <a:rPr lang="en-AU" sz="2400" dirty="0" smtClean="0">
                <a:solidFill>
                  <a:srgbClr val="FF0000"/>
                </a:solidFill>
              </a:rPr>
              <a:t>Secondary data</a:t>
            </a:r>
            <a:endParaRPr lang="en-AU" sz="2400" dirty="0">
              <a:solidFill>
                <a:srgbClr val="FF0000"/>
              </a:solidFill>
            </a:endParaRPr>
          </a:p>
        </p:txBody>
      </p:sp>
    </p:spTree>
    <p:extLst>
      <p:ext uri="{BB962C8B-B14F-4D97-AF65-F5344CB8AC3E}">
        <p14:creationId xmlns:p14="http://schemas.microsoft.com/office/powerpoint/2010/main" val="19810461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p:bldP spid="12" grpId="0"/>
      <p:bldP spid="1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20052"/>
            <a:ext cx="4023093" cy="584775"/>
          </a:xfrm>
          <a:prstGeom prst="homePlate">
            <a:avLst/>
          </a:prstGeom>
          <a:solidFill>
            <a:srgbClr val="00206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smtClean="0"/>
              <a:t>Concept Development</a:t>
            </a:r>
            <a:endParaRPr lang="en-AU" sz="3200" dirty="0"/>
          </a:p>
        </p:txBody>
      </p:sp>
      <p:graphicFrame>
        <p:nvGraphicFramePr>
          <p:cNvPr id="6" name="Table 5"/>
          <p:cNvGraphicFramePr>
            <a:graphicFrameLocks noGrp="1"/>
          </p:cNvGraphicFramePr>
          <p:nvPr>
            <p:extLst>
              <p:ext uri="{D42A27DB-BD31-4B8C-83A1-F6EECF244321}">
                <p14:modId xmlns:p14="http://schemas.microsoft.com/office/powerpoint/2010/main" val="656773015"/>
              </p:ext>
            </p:extLst>
          </p:nvPr>
        </p:nvGraphicFramePr>
        <p:xfrm>
          <a:off x="9672320" y="5852160"/>
          <a:ext cx="2519680" cy="1005840"/>
        </p:xfrm>
        <a:graphic>
          <a:graphicData uri="http://schemas.openxmlformats.org/drawingml/2006/table">
            <a:tbl>
              <a:tblPr firstRow="1" bandRow="1">
                <a:tableStyleId>{21E4AEA4-8DFA-4A89-87EB-49C32662AFE0}</a:tableStyleId>
              </a:tblPr>
              <a:tblGrid>
                <a:gridCol w="2519680">
                  <a:extLst>
                    <a:ext uri="{9D8B030D-6E8A-4147-A177-3AD203B41FA5}">
                      <a16:colId xmlns:a16="http://schemas.microsoft.com/office/drawing/2014/main" val="20000"/>
                    </a:ext>
                  </a:extLst>
                </a:gridCol>
              </a:tblGrid>
              <a:tr h="273159">
                <a:tc>
                  <a:txBody>
                    <a:bodyPr/>
                    <a:lstStyle/>
                    <a:p>
                      <a:r>
                        <a:rPr lang="en-AU" dirty="0" smtClean="0"/>
                        <a:t>VOCABULARY</a:t>
                      </a:r>
                      <a:endParaRPr lang="en-AU" dirty="0"/>
                    </a:p>
                  </a:txBody>
                  <a:tcPr>
                    <a:solidFill>
                      <a:srgbClr val="9933FF"/>
                    </a:solidFill>
                  </a:tcPr>
                </a:tc>
                <a:extLst>
                  <a:ext uri="{0D108BD9-81ED-4DB2-BD59-A6C34878D82A}">
                    <a16:rowId xmlns:a16="http://schemas.microsoft.com/office/drawing/2014/main" val="10000"/>
                  </a:ext>
                </a:extLst>
              </a:tr>
              <a:tr h="493391">
                <a:tc>
                  <a:txBody>
                    <a:bodyPr/>
                    <a:lstStyle/>
                    <a:p>
                      <a:r>
                        <a:rPr lang="en-AU" i="0" dirty="0" smtClean="0"/>
                        <a:t>Bivariate data – data for</a:t>
                      </a:r>
                      <a:r>
                        <a:rPr lang="en-AU" i="0" baseline="0" dirty="0" smtClean="0"/>
                        <a:t> two variables</a:t>
                      </a:r>
                      <a:endParaRPr lang="en-AU" i="0" dirty="0" smtClean="0"/>
                    </a:p>
                  </a:txBody>
                  <a:tcPr>
                    <a:solidFill>
                      <a:srgbClr val="CC99FF"/>
                    </a:solidFill>
                  </a:tcPr>
                </a:tc>
                <a:extLst>
                  <a:ext uri="{0D108BD9-81ED-4DB2-BD59-A6C34878D82A}">
                    <a16:rowId xmlns:a16="http://schemas.microsoft.com/office/drawing/2014/main" val="10001"/>
                  </a:ext>
                </a:extLst>
              </a:tr>
            </a:tbl>
          </a:graphicData>
        </a:graphic>
      </p:graphicFrame>
      <p:sp>
        <p:nvSpPr>
          <p:cNvPr id="7" name="TextBox 6"/>
          <p:cNvSpPr txBox="1"/>
          <p:nvPr/>
        </p:nvSpPr>
        <p:spPr>
          <a:xfrm>
            <a:off x="152400" y="564723"/>
            <a:ext cx="11186160" cy="2677656"/>
          </a:xfrm>
          <a:prstGeom prst="rect">
            <a:avLst/>
          </a:prstGeom>
          <a:noFill/>
        </p:spPr>
        <p:txBody>
          <a:bodyPr wrap="square" rtlCol="0">
            <a:spAutoFit/>
          </a:bodyPr>
          <a:lstStyle/>
          <a:p>
            <a:r>
              <a:rPr lang="en-AU" sz="2400" dirty="0" smtClean="0"/>
              <a:t>Bivariate data is data for two variables (usually two types of related data).</a:t>
            </a:r>
            <a:endParaRPr lang="en-AU" sz="2400" dirty="0"/>
          </a:p>
          <a:p>
            <a:r>
              <a:rPr lang="en-AU" sz="2400" dirty="0" smtClean="0"/>
              <a:t>A scatter plot can be used to display bivariate data and show any connections that might exist between the variables.</a:t>
            </a:r>
            <a:endParaRPr lang="en-AU" sz="2400" dirty="0"/>
          </a:p>
          <a:p>
            <a:r>
              <a:rPr lang="en-AU" sz="2400" dirty="0" smtClean="0"/>
              <a:t>A scatter plot uses the data to create a series of points drawn on a pair of axes, with each axis representing the values of one of the two variables.</a:t>
            </a:r>
            <a:endParaRPr lang="en-AU" sz="2400" dirty="0"/>
          </a:p>
          <a:p>
            <a:r>
              <a:rPr lang="en-AU" sz="2400" dirty="0" smtClean="0"/>
              <a:t>The independent variable is plotted on the x axis and the dependent variable is plotted on the y axis. </a:t>
            </a:r>
            <a:endParaRPr lang="en-AU" sz="2400" dirty="0"/>
          </a:p>
        </p:txBody>
      </p:sp>
      <p:pic>
        <p:nvPicPr>
          <p:cNvPr id="9" name="Picture 8"/>
          <p:cNvPicPr>
            <a:picLocks noChangeAspect="1"/>
          </p:cNvPicPr>
          <p:nvPr/>
        </p:nvPicPr>
        <p:blipFill>
          <a:blip r:embed="rId2"/>
          <a:stretch>
            <a:fillRect/>
          </a:stretch>
        </p:blipFill>
        <p:spPr>
          <a:xfrm>
            <a:off x="63818" y="3312161"/>
            <a:ext cx="5438798" cy="3222624"/>
          </a:xfrm>
          <a:prstGeom prst="rect">
            <a:avLst/>
          </a:prstGeom>
        </p:spPr>
      </p:pic>
      <p:sp>
        <p:nvSpPr>
          <p:cNvPr id="10" name="TextBox 9"/>
          <p:cNvSpPr txBox="1"/>
          <p:nvPr/>
        </p:nvSpPr>
        <p:spPr>
          <a:xfrm>
            <a:off x="5867400" y="3200400"/>
            <a:ext cx="5755640" cy="1938992"/>
          </a:xfrm>
          <a:prstGeom prst="rect">
            <a:avLst/>
          </a:prstGeom>
          <a:noFill/>
        </p:spPr>
        <p:txBody>
          <a:bodyPr wrap="square" rtlCol="0">
            <a:spAutoFit/>
          </a:bodyPr>
          <a:lstStyle/>
          <a:p>
            <a:r>
              <a:rPr lang="en-AU" sz="2400" dirty="0" smtClean="0"/>
              <a:t>This is a scatter plot showing data for temperature (°C) and ice cream sales.</a:t>
            </a:r>
          </a:p>
          <a:p>
            <a:endParaRPr lang="en-AU" sz="2400" dirty="0"/>
          </a:p>
          <a:p>
            <a:r>
              <a:rPr lang="en-AU" sz="2400" dirty="0" smtClean="0"/>
              <a:t>Temperature is the independent variable.</a:t>
            </a:r>
          </a:p>
          <a:p>
            <a:r>
              <a:rPr lang="en-AU" sz="2400" dirty="0" smtClean="0"/>
              <a:t>Ice cream sales is the dependent variable. </a:t>
            </a:r>
            <a:endParaRPr lang="en-AU" sz="2400" dirty="0"/>
          </a:p>
        </p:txBody>
      </p:sp>
    </p:spTree>
    <p:extLst>
      <p:ext uri="{BB962C8B-B14F-4D97-AF65-F5344CB8AC3E}">
        <p14:creationId xmlns:p14="http://schemas.microsoft.com/office/powerpoint/2010/main" val="879091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20052"/>
            <a:ext cx="4023093" cy="584775"/>
          </a:xfrm>
          <a:prstGeom prst="homePlate">
            <a:avLst/>
          </a:prstGeom>
          <a:solidFill>
            <a:srgbClr val="00206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smtClean="0"/>
              <a:t>Concept Development</a:t>
            </a:r>
            <a:endParaRPr lang="en-AU" sz="3200" dirty="0"/>
          </a:p>
        </p:txBody>
      </p:sp>
      <p:sp>
        <p:nvSpPr>
          <p:cNvPr id="7" name="TextBox 6"/>
          <p:cNvSpPr txBox="1"/>
          <p:nvPr/>
        </p:nvSpPr>
        <p:spPr>
          <a:xfrm>
            <a:off x="152400" y="564723"/>
            <a:ext cx="11186160" cy="3046988"/>
          </a:xfrm>
          <a:prstGeom prst="rect">
            <a:avLst/>
          </a:prstGeom>
          <a:noFill/>
        </p:spPr>
        <p:txBody>
          <a:bodyPr wrap="square" rtlCol="0">
            <a:spAutoFit/>
          </a:bodyPr>
          <a:lstStyle/>
          <a:p>
            <a:r>
              <a:rPr lang="en-AU" sz="2400" dirty="0" smtClean="0"/>
              <a:t>A scatter plot makes it easier to see any relationships that might exist between the variables you are looking at. </a:t>
            </a:r>
          </a:p>
          <a:p>
            <a:r>
              <a:rPr lang="en-AU" sz="2400" dirty="0" smtClean="0"/>
              <a:t>Sometimes, the points on the scatter plot will look as though they are almost forming a straight line.</a:t>
            </a:r>
          </a:p>
          <a:p>
            <a:r>
              <a:rPr lang="en-AU" sz="2400" dirty="0" smtClean="0"/>
              <a:t>If one variable increases as the other increases, the relationship is positive (we call this positive correlation).</a:t>
            </a:r>
          </a:p>
          <a:p>
            <a:r>
              <a:rPr lang="en-AU" sz="2400" dirty="0" smtClean="0"/>
              <a:t>If one variable increases as the other decreases, the relationship is negative (negative correlation).</a:t>
            </a:r>
            <a:endParaRPr lang="en-AU" sz="2400" dirty="0"/>
          </a:p>
        </p:txBody>
      </p:sp>
      <p:pic>
        <p:nvPicPr>
          <p:cNvPr id="3" name="Picture 2"/>
          <p:cNvPicPr>
            <a:picLocks noChangeAspect="1"/>
          </p:cNvPicPr>
          <p:nvPr/>
        </p:nvPicPr>
        <p:blipFill>
          <a:blip r:embed="rId2"/>
          <a:stretch>
            <a:fillRect/>
          </a:stretch>
        </p:blipFill>
        <p:spPr>
          <a:xfrm>
            <a:off x="426720" y="3914140"/>
            <a:ext cx="3257550" cy="2581275"/>
          </a:xfrm>
          <a:prstGeom prst="rect">
            <a:avLst/>
          </a:prstGeom>
        </p:spPr>
      </p:pic>
      <p:pic>
        <p:nvPicPr>
          <p:cNvPr id="5" name="Picture 4"/>
          <p:cNvPicPr>
            <a:picLocks noChangeAspect="1"/>
          </p:cNvPicPr>
          <p:nvPr/>
        </p:nvPicPr>
        <p:blipFill>
          <a:blip r:embed="rId3"/>
          <a:stretch>
            <a:fillRect/>
          </a:stretch>
        </p:blipFill>
        <p:spPr>
          <a:xfrm>
            <a:off x="4169092" y="3971290"/>
            <a:ext cx="3152775" cy="2552700"/>
          </a:xfrm>
          <a:prstGeom prst="rect">
            <a:avLst/>
          </a:prstGeom>
        </p:spPr>
      </p:pic>
      <p:pic>
        <p:nvPicPr>
          <p:cNvPr id="8" name="Picture 7"/>
          <p:cNvPicPr>
            <a:picLocks noChangeAspect="1"/>
          </p:cNvPicPr>
          <p:nvPr/>
        </p:nvPicPr>
        <p:blipFill>
          <a:blip r:embed="rId4"/>
          <a:stretch>
            <a:fillRect/>
          </a:stretch>
        </p:blipFill>
        <p:spPr>
          <a:xfrm>
            <a:off x="8204835" y="4028440"/>
            <a:ext cx="3067050" cy="2495550"/>
          </a:xfrm>
          <a:prstGeom prst="rect">
            <a:avLst/>
          </a:prstGeom>
        </p:spPr>
      </p:pic>
    </p:spTree>
    <p:extLst>
      <p:ext uri="{BB962C8B-B14F-4D97-AF65-F5344CB8AC3E}">
        <p14:creationId xmlns:p14="http://schemas.microsoft.com/office/powerpoint/2010/main" val="4059279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20052"/>
            <a:ext cx="4023093" cy="584775"/>
          </a:xfrm>
          <a:prstGeom prst="homePlate">
            <a:avLst/>
          </a:prstGeom>
          <a:solidFill>
            <a:srgbClr val="00206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smtClean="0"/>
              <a:t>Concept Development</a:t>
            </a:r>
            <a:endParaRPr lang="en-AU" sz="3200" dirty="0"/>
          </a:p>
        </p:txBody>
      </p:sp>
      <p:sp>
        <p:nvSpPr>
          <p:cNvPr id="7" name="TextBox 6"/>
          <p:cNvSpPr txBox="1"/>
          <p:nvPr/>
        </p:nvSpPr>
        <p:spPr>
          <a:xfrm>
            <a:off x="152400" y="564723"/>
            <a:ext cx="11186160" cy="3046988"/>
          </a:xfrm>
          <a:prstGeom prst="rect">
            <a:avLst/>
          </a:prstGeom>
          <a:noFill/>
        </p:spPr>
        <p:txBody>
          <a:bodyPr wrap="square" rtlCol="0">
            <a:spAutoFit/>
          </a:bodyPr>
          <a:lstStyle/>
          <a:p>
            <a:r>
              <a:rPr lang="en-AU" sz="2400" dirty="0" smtClean="0"/>
              <a:t>A scatter plot makes it easier to see any relationships that might exist between the variables you are looking at. </a:t>
            </a:r>
          </a:p>
          <a:p>
            <a:r>
              <a:rPr lang="en-AU" sz="2400" dirty="0" smtClean="0"/>
              <a:t>Sometimes, the points on the scatter plot will look as though they are almost forming a straight line.</a:t>
            </a:r>
          </a:p>
          <a:p>
            <a:r>
              <a:rPr lang="en-AU" sz="2400" dirty="0" smtClean="0"/>
              <a:t>If one variable increases as the other increases, the relationship is positive (we call this positive correlation).</a:t>
            </a:r>
          </a:p>
          <a:p>
            <a:r>
              <a:rPr lang="en-AU" sz="2400" dirty="0" smtClean="0"/>
              <a:t>If one variable increases as the other decreases, the relationship is negative (we call this negative correlation).</a:t>
            </a:r>
            <a:endParaRPr lang="en-AU" sz="2400" dirty="0"/>
          </a:p>
        </p:txBody>
      </p:sp>
      <p:pic>
        <p:nvPicPr>
          <p:cNvPr id="2" name="Picture 1"/>
          <p:cNvPicPr>
            <a:picLocks noChangeAspect="1"/>
          </p:cNvPicPr>
          <p:nvPr/>
        </p:nvPicPr>
        <p:blipFill>
          <a:blip r:embed="rId2"/>
          <a:stretch>
            <a:fillRect/>
          </a:stretch>
        </p:blipFill>
        <p:spPr>
          <a:xfrm>
            <a:off x="269875" y="3611711"/>
            <a:ext cx="3371850" cy="2638425"/>
          </a:xfrm>
          <a:prstGeom prst="rect">
            <a:avLst/>
          </a:prstGeom>
        </p:spPr>
      </p:pic>
      <p:pic>
        <p:nvPicPr>
          <p:cNvPr id="6" name="Picture 5"/>
          <p:cNvPicPr>
            <a:picLocks noChangeAspect="1"/>
          </p:cNvPicPr>
          <p:nvPr/>
        </p:nvPicPr>
        <p:blipFill>
          <a:blip r:embed="rId3"/>
          <a:stretch>
            <a:fillRect/>
          </a:stretch>
        </p:blipFill>
        <p:spPr>
          <a:xfrm>
            <a:off x="3161982" y="3678386"/>
            <a:ext cx="3419475" cy="2571750"/>
          </a:xfrm>
          <a:prstGeom prst="rect">
            <a:avLst/>
          </a:prstGeom>
        </p:spPr>
      </p:pic>
      <p:pic>
        <p:nvPicPr>
          <p:cNvPr id="9" name="Picture 8"/>
          <p:cNvPicPr>
            <a:picLocks noChangeAspect="1"/>
          </p:cNvPicPr>
          <p:nvPr/>
        </p:nvPicPr>
        <p:blipFill>
          <a:blip r:embed="rId4"/>
          <a:stretch>
            <a:fillRect/>
          </a:stretch>
        </p:blipFill>
        <p:spPr>
          <a:xfrm>
            <a:off x="5949314" y="3745061"/>
            <a:ext cx="3524250" cy="2571750"/>
          </a:xfrm>
          <a:prstGeom prst="rect">
            <a:avLst/>
          </a:prstGeom>
        </p:spPr>
      </p:pic>
      <p:pic>
        <p:nvPicPr>
          <p:cNvPr id="10" name="Picture 9"/>
          <p:cNvPicPr>
            <a:picLocks noChangeAspect="1"/>
          </p:cNvPicPr>
          <p:nvPr/>
        </p:nvPicPr>
        <p:blipFill>
          <a:blip r:embed="rId5"/>
          <a:stretch>
            <a:fillRect/>
          </a:stretch>
        </p:blipFill>
        <p:spPr>
          <a:xfrm>
            <a:off x="9003346" y="3764111"/>
            <a:ext cx="3257550" cy="2533650"/>
          </a:xfrm>
          <a:prstGeom prst="rect">
            <a:avLst/>
          </a:prstGeom>
        </p:spPr>
      </p:pic>
    </p:spTree>
    <p:extLst>
      <p:ext uri="{BB962C8B-B14F-4D97-AF65-F5344CB8AC3E}">
        <p14:creationId xmlns:p14="http://schemas.microsoft.com/office/powerpoint/2010/main" val="2873113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3310182" cy="584775"/>
          </a:xfrm>
          <a:prstGeom prst="homePlate">
            <a:avLst/>
          </a:prstGeom>
          <a:solidFill>
            <a:srgbClr val="00206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smtClean="0"/>
              <a:t>Skill Development</a:t>
            </a:r>
            <a:endParaRPr lang="en-AU" sz="3200" dirty="0"/>
          </a:p>
        </p:txBody>
      </p:sp>
      <p:pic>
        <p:nvPicPr>
          <p:cNvPr id="3" name="Picture 2"/>
          <p:cNvPicPr>
            <a:picLocks noChangeAspect="1"/>
          </p:cNvPicPr>
          <p:nvPr/>
        </p:nvPicPr>
        <p:blipFill>
          <a:blip r:embed="rId2"/>
          <a:stretch>
            <a:fillRect/>
          </a:stretch>
        </p:blipFill>
        <p:spPr>
          <a:xfrm>
            <a:off x="215265" y="1420445"/>
            <a:ext cx="4839335" cy="4883835"/>
          </a:xfrm>
          <a:prstGeom prst="rect">
            <a:avLst/>
          </a:prstGeom>
        </p:spPr>
      </p:pic>
      <p:sp>
        <p:nvSpPr>
          <p:cNvPr id="9" name="TextBox 8"/>
          <p:cNvSpPr txBox="1"/>
          <p:nvPr/>
        </p:nvSpPr>
        <p:spPr>
          <a:xfrm>
            <a:off x="132080" y="653057"/>
            <a:ext cx="8798560" cy="461665"/>
          </a:xfrm>
          <a:prstGeom prst="rect">
            <a:avLst/>
          </a:prstGeom>
          <a:noFill/>
        </p:spPr>
        <p:txBody>
          <a:bodyPr wrap="square" rtlCol="0">
            <a:spAutoFit/>
          </a:bodyPr>
          <a:lstStyle/>
          <a:p>
            <a:pPr algn="ctr"/>
            <a:r>
              <a:rPr lang="en-AU" sz="2400" dirty="0" smtClean="0"/>
              <a:t>This scatter plot shows the height (cm) and weight (kg) of 6 students.</a:t>
            </a:r>
            <a:endParaRPr lang="en-AU" sz="2400" dirty="0"/>
          </a:p>
        </p:txBody>
      </p:sp>
      <p:sp>
        <p:nvSpPr>
          <p:cNvPr id="10" name="TextBox 9"/>
          <p:cNvSpPr txBox="1"/>
          <p:nvPr/>
        </p:nvSpPr>
        <p:spPr>
          <a:xfrm>
            <a:off x="5267960" y="1420445"/>
            <a:ext cx="6751320" cy="461665"/>
          </a:xfrm>
          <a:prstGeom prst="rect">
            <a:avLst/>
          </a:prstGeom>
          <a:noFill/>
        </p:spPr>
        <p:txBody>
          <a:bodyPr wrap="square" rtlCol="0">
            <a:spAutoFit/>
          </a:bodyPr>
          <a:lstStyle/>
          <a:p>
            <a:r>
              <a:rPr lang="en-AU" sz="2400" dirty="0" smtClean="0"/>
              <a:t>What kind of correlation does this scatter plot show?</a:t>
            </a:r>
          </a:p>
        </p:txBody>
      </p:sp>
      <p:sp>
        <p:nvSpPr>
          <p:cNvPr id="11" name="TextBox 10"/>
          <p:cNvSpPr txBox="1"/>
          <p:nvPr/>
        </p:nvSpPr>
        <p:spPr>
          <a:xfrm>
            <a:off x="5303520" y="1957000"/>
            <a:ext cx="6751320" cy="461665"/>
          </a:xfrm>
          <a:prstGeom prst="rect">
            <a:avLst/>
          </a:prstGeom>
          <a:noFill/>
        </p:spPr>
        <p:txBody>
          <a:bodyPr wrap="square" rtlCol="0">
            <a:spAutoFit/>
          </a:bodyPr>
          <a:lstStyle/>
          <a:p>
            <a:r>
              <a:rPr lang="en-AU" sz="2400" dirty="0" smtClean="0"/>
              <a:t>Strong positive correlation.</a:t>
            </a:r>
          </a:p>
        </p:txBody>
      </p:sp>
      <p:sp>
        <p:nvSpPr>
          <p:cNvPr id="12" name="TextBox 11"/>
          <p:cNvSpPr txBox="1"/>
          <p:nvPr/>
        </p:nvSpPr>
        <p:spPr>
          <a:xfrm>
            <a:off x="5303520" y="2573605"/>
            <a:ext cx="6751320" cy="461665"/>
          </a:xfrm>
          <a:prstGeom prst="rect">
            <a:avLst/>
          </a:prstGeom>
          <a:noFill/>
        </p:spPr>
        <p:txBody>
          <a:bodyPr wrap="square" rtlCol="0">
            <a:spAutoFit/>
          </a:bodyPr>
          <a:lstStyle/>
          <a:p>
            <a:r>
              <a:rPr lang="en-AU" sz="2400" dirty="0" smtClean="0"/>
              <a:t>How tall is the tallest student?</a:t>
            </a:r>
          </a:p>
        </p:txBody>
      </p:sp>
      <p:sp>
        <p:nvSpPr>
          <p:cNvPr id="13" name="TextBox 12"/>
          <p:cNvSpPr txBox="1"/>
          <p:nvPr/>
        </p:nvSpPr>
        <p:spPr>
          <a:xfrm>
            <a:off x="5339080" y="3110160"/>
            <a:ext cx="6751320" cy="461665"/>
          </a:xfrm>
          <a:prstGeom prst="rect">
            <a:avLst/>
          </a:prstGeom>
          <a:noFill/>
        </p:spPr>
        <p:txBody>
          <a:bodyPr wrap="square" rtlCol="0">
            <a:spAutoFit/>
          </a:bodyPr>
          <a:lstStyle/>
          <a:p>
            <a:r>
              <a:rPr lang="en-AU" sz="2400" dirty="0" smtClean="0"/>
              <a:t>159 cm.</a:t>
            </a:r>
          </a:p>
        </p:txBody>
      </p:sp>
      <p:sp>
        <p:nvSpPr>
          <p:cNvPr id="14" name="TextBox 13"/>
          <p:cNvSpPr txBox="1"/>
          <p:nvPr/>
        </p:nvSpPr>
        <p:spPr>
          <a:xfrm>
            <a:off x="5339080" y="3686125"/>
            <a:ext cx="6751320" cy="461665"/>
          </a:xfrm>
          <a:prstGeom prst="rect">
            <a:avLst/>
          </a:prstGeom>
          <a:noFill/>
        </p:spPr>
        <p:txBody>
          <a:bodyPr wrap="square" rtlCol="0">
            <a:spAutoFit/>
          </a:bodyPr>
          <a:lstStyle/>
          <a:p>
            <a:r>
              <a:rPr lang="en-AU" sz="2400" dirty="0" smtClean="0"/>
              <a:t>How heavy is the lightest student?</a:t>
            </a:r>
          </a:p>
        </p:txBody>
      </p:sp>
      <p:sp>
        <p:nvSpPr>
          <p:cNvPr id="15" name="TextBox 14"/>
          <p:cNvSpPr txBox="1"/>
          <p:nvPr/>
        </p:nvSpPr>
        <p:spPr>
          <a:xfrm>
            <a:off x="5374640" y="4222680"/>
            <a:ext cx="6751320" cy="461665"/>
          </a:xfrm>
          <a:prstGeom prst="rect">
            <a:avLst/>
          </a:prstGeom>
          <a:noFill/>
        </p:spPr>
        <p:txBody>
          <a:bodyPr wrap="square" rtlCol="0">
            <a:spAutoFit/>
          </a:bodyPr>
          <a:lstStyle/>
          <a:p>
            <a:r>
              <a:rPr lang="en-AU" sz="2400" dirty="0" smtClean="0"/>
              <a:t>35 kg.</a:t>
            </a:r>
          </a:p>
        </p:txBody>
      </p:sp>
      <p:cxnSp>
        <p:nvCxnSpPr>
          <p:cNvPr id="17" name="Straight Connector 16"/>
          <p:cNvCxnSpPr/>
          <p:nvPr/>
        </p:nvCxnSpPr>
        <p:spPr>
          <a:xfrm flipH="1">
            <a:off x="4358640" y="2098040"/>
            <a:ext cx="10160" cy="35814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H="1">
            <a:off x="807720" y="5034280"/>
            <a:ext cx="513080" cy="0"/>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1869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P spid="14" grpId="0"/>
      <p:bldP spid="1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p:cNvPicPr>
            <a:picLocks noChangeAspect="1"/>
          </p:cNvPicPr>
          <p:nvPr/>
        </p:nvPicPr>
        <p:blipFill>
          <a:blip r:embed="rId2"/>
          <a:stretch>
            <a:fillRect/>
          </a:stretch>
        </p:blipFill>
        <p:spPr>
          <a:xfrm>
            <a:off x="249873" y="1420445"/>
            <a:ext cx="4459288" cy="4516354"/>
          </a:xfrm>
          <a:prstGeom prst="rect">
            <a:avLst/>
          </a:prstGeom>
        </p:spPr>
      </p:pic>
      <p:sp>
        <p:nvSpPr>
          <p:cNvPr id="4" name="TextBox 3"/>
          <p:cNvSpPr txBox="1"/>
          <p:nvPr/>
        </p:nvSpPr>
        <p:spPr>
          <a:xfrm>
            <a:off x="0" y="0"/>
            <a:ext cx="3310182" cy="584775"/>
          </a:xfrm>
          <a:prstGeom prst="homePlate">
            <a:avLst/>
          </a:prstGeom>
          <a:solidFill>
            <a:srgbClr val="00206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smtClean="0"/>
              <a:t>Skill Development</a:t>
            </a:r>
            <a:endParaRPr lang="en-AU" sz="3200" dirty="0"/>
          </a:p>
        </p:txBody>
      </p:sp>
      <p:sp>
        <p:nvSpPr>
          <p:cNvPr id="9" name="TextBox 8"/>
          <p:cNvSpPr txBox="1"/>
          <p:nvPr/>
        </p:nvSpPr>
        <p:spPr>
          <a:xfrm>
            <a:off x="132080" y="653057"/>
            <a:ext cx="10500360" cy="461665"/>
          </a:xfrm>
          <a:prstGeom prst="rect">
            <a:avLst/>
          </a:prstGeom>
          <a:noFill/>
        </p:spPr>
        <p:txBody>
          <a:bodyPr wrap="square" rtlCol="0">
            <a:spAutoFit/>
          </a:bodyPr>
          <a:lstStyle/>
          <a:p>
            <a:r>
              <a:rPr lang="en-AU" sz="2400" dirty="0" smtClean="0"/>
              <a:t>This scatter plot shows the number of pets and shoe size of 6 students.</a:t>
            </a:r>
            <a:endParaRPr lang="en-AU" sz="2400" dirty="0"/>
          </a:p>
        </p:txBody>
      </p:sp>
      <p:sp>
        <p:nvSpPr>
          <p:cNvPr id="10" name="TextBox 9"/>
          <p:cNvSpPr txBox="1"/>
          <p:nvPr/>
        </p:nvSpPr>
        <p:spPr>
          <a:xfrm>
            <a:off x="5267960" y="1420445"/>
            <a:ext cx="6751320" cy="461665"/>
          </a:xfrm>
          <a:prstGeom prst="rect">
            <a:avLst/>
          </a:prstGeom>
          <a:noFill/>
        </p:spPr>
        <p:txBody>
          <a:bodyPr wrap="square" rtlCol="0">
            <a:spAutoFit/>
          </a:bodyPr>
          <a:lstStyle/>
          <a:p>
            <a:r>
              <a:rPr lang="en-AU" sz="2400" dirty="0" smtClean="0"/>
              <a:t>What kind of correlation does this scatter plot show?</a:t>
            </a:r>
          </a:p>
        </p:txBody>
      </p:sp>
      <p:sp>
        <p:nvSpPr>
          <p:cNvPr id="11" name="TextBox 10"/>
          <p:cNvSpPr txBox="1"/>
          <p:nvPr/>
        </p:nvSpPr>
        <p:spPr>
          <a:xfrm>
            <a:off x="5303520" y="1957000"/>
            <a:ext cx="6751320" cy="461665"/>
          </a:xfrm>
          <a:prstGeom prst="rect">
            <a:avLst/>
          </a:prstGeom>
          <a:noFill/>
        </p:spPr>
        <p:txBody>
          <a:bodyPr wrap="square" rtlCol="0">
            <a:spAutoFit/>
          </a:bodyPr>
          <a:lstStyle/>
          <a:p>
            <a:r>
              <a:rPr lang="en-AU" sz="2400" dirty="0" smtClean="0"/>
              <a:t>No correlation</a:t>
            </a:r>
          </a:p>
        </p:txBody>
      </p:sp>
      <p:sp>
        <p:nvSpPr>
          <p:cNvPr id="12" name="TextBox 11"/>
          <p:cNvSpPr txBox="1"/>
          <p:nvPr/>
        </p:nvSpPr>
        <p:spPr>
          <a:xfrm>
            <a:off x="5303520" y="2573605"/>
            <a:ext cx="6751320" cy="830997"/>
          </a:xfrm>
          <a:prstGeom prst="rect">
            <a:avLst/>
          </a:prstGeom>
          <a:noFill/>
        </p:spPr>
        <p:txBody>
          <a:bodyPr wrap="square" rtlCol="0">
            <a:spAutoFit/>
          </a:bodyPr>
          <a:lstStyle/>
          <a:p>
            <a:r>
              <a:rPr lang="en-AU" sz="2400" dirty="0" smtClean="0"/>
              <a:t>One student wears size 6 shoes. How many pets do they have?</a:t>
            </a:r>
          </a:p>
        </p:txBody>
      </p:sp>
      <p:sp>
        <p:nvSpPr>
          <p:cNvPr id="13" name="TextBox 12"/>
          <p:cNvSpPr txBox="1"/>
          <p:nvPr/>
        </p:nvSpPr>
        <p:spPr>
          <a:xfrm>
            <a:off x="5303520" y="3427075"/>
            <a:ext cx="6751320" cy="461665"/>
          </a:xfrm>
          <a:prstGeom prst="rect">
            <a:avLst/>
          </a:prstGeom>
          <a:noFill/>
        </p:spPr>
        <p:txBody>
          <a:bodyPr wrap="square" rtlCol="0">
            <a:spAutoFit/>
          </a:bodyPr>
          <a:lstStyle/>
          <a:p>
            <a:r>
              <a:rPr lang="en-AU" sz="2400" dirty="0" smtClean="0"/>
              <a:t>15 pets.</a:t>
            </a:r>
          </a:p>
        </p:txBody>
      </p:sp>
      <p:sp>
        <p:nvSpPr>
          <p:cNvPr id="14" name="TextBox 13"/>
          <p:cNvSpPr txBox="1"/>
          <p:nvPr/>
        </p:nvSpPr>
        <p:spPr>
          <a:xfrm>
            <a:off x="5303520" y="4046442"/>
            <a:ext cx="6751320" cy="461665"/>
          </a:xfrm>
          <a:prstGeom prst="rect">
            <a:avLst/>
          </a:prstGeom>
          <a:noFill/>
        </p:spPr>
        <p:txBody>
          <a:bodyPr wrap="square" rtlCol="0">
            <a:spAutoFit/>
          </a:bodyPr>
          <a:lstStyle/>
          <a:p>
            <a:r>
              <a:rPr lang="en-AU" sz="2400" dirty="0" smtClean="0"/>
              <a:t>Jim has 7 pets. Bob has 4 pets. Who has bigger feet?</a:t>
            </a:r>
          </a:p>
        </p:txBody>
      </p:sp>
      <p:sp>
        <p:nvSpPr>
          <p:cNvPr id="15" name="TextBox 14"/>
          <p:cNvSpPr txBox="1"/>
          <p:nvPr/>
        </p:nvSpPr>
        <p:spPr>
          <a:xfrm>
            <a:off x="5303520" y="4665809"/>
            <a:ext cx="6751320" cy="461665"/>
          </a:xfrm>
          <a:prstGeom prst="rect">
            <a:avLst/>
          </a:prstGeom>
          <a:noFill/>
        </p:spPr>
        <p:txBody>
          <a:bodyPr wrap="square" rtlCol="0">
            <a:spAutoFit/>
          </a:bodyPr>
          <a:lstStyle/>
          <a:p>
            <a:r>
              <a:rPr lang="en-AU" sz="2400" dirty="0" smtClean="0"/>
              <a:t>Bob.</a:t>
            </a:r>
          </a:p>
        </p:txBody>
      </p:sp>
      <p:cxnSp>
        <p:nvCxnSpPr>
          <p:cNvPr id="17" name="Straight Connector 16"/>
          <p:cNvCxnSpPr/>
          <p:nvPr/>
        </p:nvCxnSpPr>
        <p:spPr>
          <a:xfrm flipH="1">
            <a:off x="1976120" y="2187832"/>
            <a:ext cx="5080" cy="313092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H="1">
            <a:off x="843280" y="2123440"/>
            <a:ext cx="1068351" cy="508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843280" y="3942080"/>
            <a:ext cx="2824480" cy="508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3667760" y="3957320"/>
            <a:ext cx="0" cy="136144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843280" y="4620089"/>
            <a:ext cx="3383280" cy="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4236720" y="4612640"/>
            <a:ext cx="5080" cy="70612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5587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P spid="14" grpId="0"/>
      <p:bldP spid="1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2945880" cy="584775"/>
          </a:xfrm>
          <a:prstGeom prst="homePlate">
            <a:avLst/>
          </a:prstGeom>
          <a:solidFill>
            <a:srgbClr val="00206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smtClean="0"/>
              <a:t>Guided Practice</a:t>
            </a:r>
            <a:endParaRPr lang="en-AU" sz="3200" dirty="0"/>
          </a:p>
        </p:txBody>
      </p:sp>
      <p:pic>
        <p:nvPicPr>
          <p:cNvPr id="3" name="Picture 2"/>
          <p:cNvPicPr>
            <a:picLocks noChangeAspect="1"/>
          </p:cNvPicPr>
          <p:nvPr/>
        </p:nvPicPr>
        <p:blipFill>
          <a:blip r:embed="rId2"/>
          <a:stretch>
            <a:fillRect/>
          </a:stretch>
        </p:blipFill>
        <p:spPr>
          <a:xfrm>
            <a:off x="67945" y="701040"/>
            <a:ext cx="7378152" cy="1652857"/>
          </a:xfrm>
          <a:prstGeom prst="rect">
            <a:avLst/>
          </a:prstGeom>
        </p:spPr>
      </p:pic>
      <p:sp>
        <p:nvSpPr>
          <p:cNvPr id="6" name="TextBox 5"/>
          <p:cNvSpPr txBox="1"/>
          <p:nvPr/>
        </p:nvSpPr>
        <p:spPr>
          <a:xfrm>
            <a:off x="6517640" y="2004645"/>
            <a:ext cx="6751320" cy="400110"/>
          </a:xfrm>
          <a:prstGeom prst="rect">
            <a:avLst/>
          </a:prstGeom>
          <a:noFill/>
        </p:spPr>
        <p:txBody>
          <a:bodyPr wrap="square" rtlCol="0">
            <a:spAutoFit/>
          </a:bodyPr>
          <a:lstStyle/>
          <a:p>
            <a:r>
              <a:rPr lang="en-AU" sz="2000" dirty="0" smtClean="0"/>
              <a:t>What kind of correlation does this scatter plot show?</a:t>
            </a:r>
          </a:p>
        </p:txBody>
      </p:sp>
      <p:sp>
        <p:nvSpPr>
          <p:cNvPr id="7" name="TextBox 6"/>
          <p:cNvSpPr txBox="1"/>
          <p:nvPr/>
        </p:nvSpPr>
        <p:spPr>
          <a:xfrm>
            <a:off x="6553200" y="2541200"/>
            <a:ext cx="6751320" cy="400110"/>
          </a:xfrm>
          <a:prstGeom prst="rect">
            <a:avLst/>
          </a:prstGeom>
          <a:noFill/>
        </p:spPr>
        <p:txBody>
          <a:bodyPr wrap="square" rtlCol="0">
            <a:spAutoFit/>
          </a:bodyPr>
          <a:lstStyle/>
          <a:p>
            <a:r>
              <a:rPr lang="en-AU" sz="2000" dirty="0"/>
              <a:t>P</a:t>
            </a:r>
            <a:r>
              <a:rPr lang="en-AU" sz="2000" dirty="0" smtClean="0"/>
              <a:t>ositive correlation.</a:t>
            </a:r>
          </a:p>
        </p:txBody>
      </p:sp>
      <p:pic>
        <p:nvPicPr>
          <p:cNvPr id="2" name="Picture 1"/>
          <p:cNvPicPr>
            <a:picLocks noChangeAspect="1"/>
          </p:cNvPicPr>
          <p:nvPr/>
        </p:nvPicPr>
        <p:blipFill>
          <a:blip r:embed="rId3"/>
          <a:stretch>
            <a:fillRect/>
          </a:stretch>
        </p:blipFill>
        <p:spPr>
          <a:xfrm>
            <a:off x="0" y="2668915"/>
            <a:ext cx="6129464" cy="3572182"/>
          </a:xfrm>
          <a:prstGeom prst="rect">
            <a:avLst/>
          </a:prstGeom>
        </p:spPr>
      </p:pic>
    </p:spTree>
    <p:extLst>
      <p:ext uri="{BB962C8B-B14F-4D97-AF65-F5344CB8AC3E}">
        <p14:creationId xmlns:p14="http://schemas.microsoft.com/office/powerpoint/2010/main" val="2030208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2945880" cy="584775"/>
          </a:xfrm>
          <a:prstGeom prst="homePlate">
            <a:avLst/>
          </a:prstGeom>
          <a:solidFill>
            <a:srgbClr val="00206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smtClean="0"/>
              <a:t>Guided Practice</a:t>
            </a:r>
            <a:endParaRPr lang="en-AU" sz="3200" dirty="0"/>
          </a:p>
        </p:txBody>
      </p:sp>
      <p:sp>
        <p:nvSpPr>
          <p:cNvPr id="6" name="TextBox 5"/>
          <p:cNvSpPr txBox="1"/>
          <p:nvPr/>
        </p:nvSpPr>
        <p:spPr>
          <a:xfrm>
            <a:off x="6517640" y="2004645"/>
            <a:ext cx="6751320" cy="400110"/>
          </a:xfrm>
          <a:prstGeom prst="rect">
            <a:avLst/>
          </a:prstGeom>
          <a:noFill/>
        </p:spPr>
        <p:txBody>
          <a:bodyPr wrap="square" rtlCol="0">
            <a:spAutoFit/>
          </a:bodyPr>
          <a:lstStyle/>
          <a:p>
            <a:r>
              <a:rPr lang="en-AU" sz="2000" dirty="0" smtClean="0"/>
              <a:t>What kind of correlation does this scatter plot show?</a:t>
            </a:r>
          </a:p>
        </p:txBody>
      </p:sp>
      <p:sp>
        <p:nvSpPr>
          <p:cNvPr id="7" name="TextBox 6"/>
          <p:cNvSpPr txBox="1"/>
          <p:nvPr/>
        </p:nvSpPr>
        <p:spPr>
          <a:xfrm>
            <a:off x="6553200" y="2541200"/>
            <a:ext cx="6751320" cy="400110"/>
          </a:xfrm>
          <a:prstGeom prst="rect">
            <a:avLst/>
          </a:prstGeom>
          <a:noFill/>
        </p:spPr>
        <p:txBody>
          <a:bodyPr wrap="square" rtlCol="0">
            <a:spAutoFit/>
          </a:bodyPr>
          <a:lstStyle/>
          <a:p>
            <a:r>
              <a:rPr lang="en-AU" sz="2000" dirty="0"/>
              <a:t>P</a:t>
            </a:r>
            <a:r>
              <a:rPr lang="en-AU" sz="2000" dirty="0" smtClean="0"/>
              <a:t>ositive correlation.</a:t>
            </a:r>
          </a:p>
        </p:txBody>
      </p:sp>
      <p:pic>
        <p:nvPicPr>
          <p:cNvPr id="8" name="Picture 7"/>
          <p:cNvPicPr>
            <a:picLocks noChangeAspect="1"/>
          </p:cNvPicPr>
          <p:nvPr/>
        </p:nvPicPr>
        <p:blipFill>
          <a:blip r:embed="rId2"/>
          <a:stretch>
            <a:fillRect/>
          </a:stretch>
        </p:blipFill>
        <p:spPr>
          <a:xfrm>
            <a:off x="77787" y="814020"/>
            <a:ext cx="6753225" cy="1190625"/>
          </a:xfrm>
          <a:prstGeom prst="rect">
            <a:avLst/>
          </a:prstGeom>
        </p:spPr>
      </p:pic>
      <p:graphicFrame>
        <p:nvGraphicFramePr>
          <p:cNvPr id="9" name="Chart 8"/>
          <p:cNvGraphicFramePr>
            <a:graphicFrameLocks/>
          </p:cNvGraphicFramePr>
          <p:nvPr>
            <p:extLst>
              <p:ext uri="{D42A27DB-BD31-4B8C-83A1-F6EECF244321}">
                <p14:modId xmlns:p14="http://schemas.microsoft.com/office/powerpoint/2010/main" val="4045344864"/>
              </p:ext>
            </p:extLst>
          </p:nvPr>
        </p:nvGraphicFramePr>
        <p:xfrm>
          <a:off x="77787" y="2204700"/>
          <a:ext cx="6150293" cy="4218355"/>
        </p:xfrm>
        <a:graphic>
          <a:graphicData uri="http://schemas.openxmlformats.org/drawingml/2006/chart">
            <c:chart xmlns:c="http://schemas.openxmlformats.org/drawingml/2006/chart" xmlns:r="http://schemas.openxmlformats.org/officeDocument/2006/relationships" r:id="rId3"/>
          </a:graphicData>
        </a:graphic>
      </p:graphicFrame>
      <p:pic>
        <p:nvPicPr>
          <p:cNvPr id="2" name="Picture 1"/>
          <p:cNvPicPr>
            <a:picLocks noChangeAspect="1"/>
          </p:cNvPicPr>
          <p:nvPr/>
        </p:nvPicPr>
        <p:blipFill>
          <a:blip r:embed="rId4"/>
          <a:stretch>
            <a:fillRect/>
          </a:stretch>
        </p:blipFill>
        <p:spPr>
          <a:xfrm>
            <a:off x="761364" y="2112645"/>
            <a:ext cx="5309235" cy="4407455"/>
          </a:xfrm>
          <a:prstGeom prst="rect">
            <a:avLst/>
          </a:prstGeom>
        </p:spPr>
      </p:pic>
    </p:spTree>
    <p:extLst>
      <p:ext uri="{BB962C8B-B14F-4D97-AF65-F5344CB8AC3E}">
        <p14:creationId xmlns:p14="http://schemas.microsoft.com/office/powerpoint/2010/main" val="3048649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6605"/>
            <a:ext cx="3895468" cy="584775"/>
          </a:xfrm>
          <a:prstGeom prst="homePlate">
            <a:avLst/>
          </a:prstGeom>
          <a:solidFill>
            <a:srgbClr val="00206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smtClean="0"/>
              <a:t>Independent Practice</a:t>
            </a:r>
            <a:endParaRPr lang="en-AU" sz="3200" dirty="0"/>
          </a:p>
        </p:txBody>
      </p:sp>
      <p:sp>
        <p:nvSpPr>
          <p:cNvPr id="6" name="TextBox 5"/>
          <p:cNvSpPr txBox="1"/>
          <p:nvPr/>
        </p:nvSpPr>
        <p:spPr>
          <a:xfrm>
            <a:off x="132080" y="792480"/>
            <a:ext cx="11821160" cy="830997"/>
          </a:xfrm>
          <a:prstGeom prst="rect">
            <a:avLst/>
          </a:prstGeom>
          <a:noFill/>
        </p:spPr>
        <p:txBody>
          <a:bodyPr wrap="square" rtlCol="0">
            <a:spAutoFit/>
          </a:bodyPr>
          <a:lstStyle/>
          <a:p>
            <a:r>
              <a:rPr lang="en-AU" sz="2400" dirty="0" err="1" smtClean="0"/>
              <a:t>Mathspace</a:t>
            </a:r>
            <a:r>
              <a:rPr lang="en-AU" sz="2400" dirty="0" smtClean="0"/>
              <a:t> – Year 10 Mainstream Scatter Plots CLASSWORK</a:t>
            </a:r>
          </a:p>
          <a:p>
            <a:endParaRPr lang="en-AU" sz="2400" dirty="0"/>
          </a:p>
        </p:txBody>
      </p:sp>
    </p:spTree>
    <p:extLst>
      <p:ext uri="{BB962C8B-B14F-4D97-AF65-F5344CB8AC3E}">
        <p14:creationId xmlns:p14="http://schemas.microsoft.com/office/powerpoint/2010/main" val="375474614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2640</TotalTime>
  <Words>1063</Words>
  <Application>Microsoft Office PowerPoint</Application>
  <PresentationFormat>Widescreen</PresentationFormat>
  <Paragraphs>163</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Science</dc:title>
  <dc:creator>Microsoft account</dc:creator>
  <cp:lastModifiedBy>YOST Amie [Harrisdale Senior High School]</cp:lastModifiedBy>
  <cp:revision>133</cp:revision>
  <cp:lastPrinted>2017-04-18T22:41:05Z</cp:lastPrinted>
  <dcterms:created xsi:type="dcterms:W3CDTF">2017-01-28T08:32:28Z</dcterms:created>
  <dcterms:modified xsi:type="dcterms:W3CDTF">2021-10-22T01:39:50Z</dcterms:modified>
</cp:coreProperties>
</file>
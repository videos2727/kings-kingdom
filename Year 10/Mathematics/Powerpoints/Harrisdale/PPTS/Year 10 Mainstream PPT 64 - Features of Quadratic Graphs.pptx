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94" r:id="rId2"/>
    <p:sldId id="321" r:id="rId3"/>
    <p:sldId id="317" r:id="rId4"/>
    <p:sldId id="318" r:id="rId5"/>
    <p:sldId id="319" r:id="rId6"/>
    <p:sldId id="320" r:id="rId7"/>
    <p:sldId id="293" r:id="rId8"/>
    <p:sldId id="322" r:id="rId9"/>
    <p:sldId id="323" r:id="rId10"/>
    <p:sldId id="316" r:id="rId11"/>
    <p:sldId id="284" r:id="rId12"/>
    <p:sldId id="329" r:id="rId13"/>
    <p:sldId id="325" r:id="rId14"/>
    <p:sldId id="326" r:id="rId15"/>
    <p:sldId id="327" r:id="rId16"/>
    <p:sldId id="328" r:id="rId17"/>
    <p:sldId id="330" r:id="rId18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9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70.png"/><Relationship Id="rId7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90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identify features of quadratic graphs.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BC080-C8AC-42DE-9879-84EBAB41D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2" y="621381"/>
            <a:ext cx="3807291" cy="276189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357E88D-BDCC-41B3-8987-68BC4873C91D}"/>
              </a:ext>
            </a:extLst>
          </p:cNvPr>
          <p:cNvSpPr/>
          <p:nvPr/>
        </p:nvSpPr>
        <p:spPr>
          <a:xfrm>
            <a:off x="1144740" y="1147687"/>
            <a:ext cx="176169" cy="18455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A5572-8381-4B4A-A0F0-250C6DFFC029}"/>
              </a:ext>
            </a:extLst>
          </p:cNvPr>
          <p:cNvSpPr txBox="1"/>
          <p:nvPr/>
        </p:nvSpPr>
        <p:spPr>
          <a:xfrm>
            <a:off x="1232191" y="701357"/>
            <a:ext cx="97373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(0,3)</a:t>
            </a:r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11EBD3-59A9-4162-85BE-019E35F39DFC}"/>
                  </a:ext>
                </a:extLst>
              </p:cNvPr>
              <p:cNvSpPr txBox="1"/>
              <p:nvPr/>
            </p:nvSpPr>
            <p:spPr>
              <a:xfrm>
                <a:off x="139642" y="3367945"/>
                <a:ext cx="56380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hat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solidFill>
                      <a:srgbClr val="0070C0"/>
                    </a:solidFill>
                  </a:rPr>
                  <a:t>-intercept</a:t>
                </a:r>
                <a:r>
                  <a:rPr lang="en-AU" sz="2400" dirty="0"/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C11EBD3-59A9-4162-85BE-019E35F39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2" y="3367945"/>
                <a:ext cx="563803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730" t="-11842" b="-30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F624A7-C40A-4C63-862D-FAD1E66B1BDD}"/>
                  </a:ext>
                </a:extLst>
              </p:cNvPr>
              <p:cNvSpPr txBox="1"/>
              <p:nvPr/>
            </p:nvSpPr>
            <p:spPr>
              <a:xfrm>
                <a:off x="139642" y="3939464"/>
                <a:ext cx="56380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AU" sz="2400" dirty="0"/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hat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solidFill>
                      <a:srgbClr val="0070C0"/>
                    </a:solidFill>
                  </a:rPr>
                  <a:t>-intercept</a:t>
                </a:r>
                <a:r>
                  <a:rPr lang="en-AU" sz="24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CF624A7-C40A-4C63-862D-FAD1E66B1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2" y="3939464"/>
                <a:ext cx="5638030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730" t="-11842" b="-30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C194EF-C443-498B-A43F-B17EF4523178}"/>
              </a:ext>
            </a:extLst>
          </p:cNvPr>
          <p:cNvSpPr txBox="1"/>
          <p:nvPr/>
        </p:nvSpPr>
        <p:spPr>
          <a:xfrm>
            <a:off x="139642" y="4510983"/>
            <a:ext cx="563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Write down 4 coordinates on this line.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423DB4-A9D7-46F0-A1AC-98AAD3674293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194EF-C443-498B-A43F-B17EF4523178}"/>
              </a:ext>
            </a:extLst>
          </p:cNvPr>
          <p:cNvSpPr txBox="1"/>
          <p:nvPr/>
        </p:nvSpPr>
        <p:spPr>
          <a:xfrm>
            <a:off x="139642" y="5465146"/>
            <a:ext cx="563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4.     What’s in common?</a:t>
            </a:r>
            <a:endParaRPr lang="en-A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C194EF-C443-498B-A43F-B17EF4523178}"/>
              </a:ext>
            </a:extLst>
          </p:cNvPr>
          <p:cNvSpPr txBox="1"/>
          <p:nvPr/>
        </p:nvSpPr>
        <p:spPr>
          <a:xfrm>
            <a:off x="139642" y="6034983"/>
            <a:ext cx="563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5.     What’s the equation of the line?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262120" y="3367944"/>
            <a:ext cx="1683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3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62120" y="3925005"/>
            <a:ext cx="1683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N/A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880" y="4960925"/>
            <a:ext cx="395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(1, 3)  (2, 3)  (4, 3)  (-1, 3)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03600" y="5453423"/>
            <a:ext cx="395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The y value is 3.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866640" y="6034983"/>
                <a:ext cx="1310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640" y="6034983"/>
                <a:ext cx="1310640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395"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2230B824-E343-4B63-A3F2-D6B8A7062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400" y="564723"/>
            <a:ext cx="2870147" cy="2874437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3B8304CB-19D8-4968-BC64-96870C5343E1}"/>
              </a:ext>
            </a:extLst>
          </p:cNvPr>
          <p:cNvSpPr/>
          <p:nvPr/>
        </p:nvSpPr>
        <p:spPr>
          <a:xfrm>
            <a:off x="8684985" y="2526039"/>
            <a:ext cx="103517" cy="11937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2E771B-BFD5-4EBB-BDF5-3681CCC844E5}"/>
              </a:ext>
            </a:extLst>
          </p:cNvPr>
          <p:cNvSpPr txBox="1"/>
          <p:nvPr/>
        </p:nvSpPr>
        <p:spPr>
          <a:xfrm>
            <a:off x="7909561" y="2001941"/>
            <a:ext cx="10666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(2,0)</a:t>
            </a:r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11EBD3-59A9-4162-85BE-019E35F39DFC}"/>
                  </a:ext>
                </a:extLst>
              </p:cNvPr>
              <p:cNvSpPr txBox="1"/>
              <p:nvPr/>
            </p:nvSpPr>
            <p:spPr>
              <a:xfrm>
                <a:off x="6177280" y="3383280"/>
                <a:ext cx="56380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/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hat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solidFill>
                      <a:srgbClr val="0070C0"/>
                    </a:solidFill>
                  </a:rPr>
                  <a:t>-intercept</a:t>
                </a:r>
                <a:r>
                  <a:rPr lang="en-AU" sz="2400" dirty="0"/>
                  <a:t>?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C11EBD3-59A9-4162-85BE-019E35F39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280" y="3383280"/>
                <a:ext cx="563803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730" t="-11842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CF624A7-C40A-4C63-862D-FAD1E66B1BDD}"/>
                  </a:ext>
                </a:extLst>
              </p:cNvPr>
              <p:cNvSpPr txBox="1"/>
              <p:nvPr/>
            </p:nvSpPr>
            <p:spPr>
              <a:xfrm>
                <a:off x="6177280" y="3954799"/>
                <a:ext cx="56380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AU" sz="2400" dirty="0"/>
                  <a:t>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hat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solidFill>
                      <a:srgbClr val="0070C0"/>
                    </a:solidFill>
                  </a:rPr>
                  <a:t>-intercept</a:t>
                </a:r>
                <a:r>
                  <a:rPr lang="en-AU" sz="2400" dirty="0"/>
                  <a:t>?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CF624A7-C40A-4C63-862D-FAD1E66B1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280" y="3954799"/>
                <a:ext cx="563803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730" t="-12000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3C194EF-C443-498B-A43F-B17EF4523178}"/>
              </a:ext>
            </a:extLst>
          </p:cNvPr>
          <p:cNvSpPr txBox="1"/>
          <p:nvPr/>
        </p:nvSpPr>
        <p:spPr>
          <a:xfrm>
            <a:off x="6177280" y="4526318"/>
            <a:ext cx="563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Write down 4 coordinates on this line.</a:t>
            </a:r>
            <a:endParaRPr lang="en-AU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C194EF-C443-498B-A43F-B17EF4523178}"/>
              </a:ext>
            </a:extLst>
          </p:cNvPr>
          <p:cNvSpPr txBox="1"/>
          <p:nvPr/>
        </p:nvSpPr>
        <p:spPr>
          <a:xfrm>
            <a:off x="6177280" y="5480481"/>
            <a:ext cx="563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4.     What’s in common?</a:t>
            </a:r>
            <a:endParaRPr lang="en-AU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C194EF-C443-498B-A43F-B17EF4523178}"/>
              </a:ext>
            </a:extLst>
          </p:cNvPr>
          <p:cNvSpPr txBox="1"/>
          <p:nvPr/>
        </p:nvSpPr>
        <p:spPr>
          <a:xfrm>
            <a:off x="6177280" y="6050318"/>
            <a:ext cx="563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5.     What’s the equation of the line?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0299758" y="3383279"/>
            <a:ext cx="1683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N/A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99758" y="3940340"/>
            <a:ext cx="1683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8518" y="4976260"/>
            <a:ext cx="395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(2, </a:t>
            </a:r>
            <a:r>
              <a:rPr lang="en-AU" sz="2400" b="1" dirty="0">
                <a:solidFill>
                  <a:srgbClr val="FF0000"/>
                </a:solidFill>
              </a:rPr>
              <a:t>1</a:t>
            </a:r>
            <a:r>
              <a:rPr lang="en-AU" sz="2400" b="1" dirty="0" smtClean="0">
                <a:solidFill>
                  <a:srgbClr val="FF0000"/>
                </a:solidFill>
              </a:rPr>
              <a:t>)  (2, 2)  (2, 3)  (2, -1)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84078" y="5477922"/>
            <a:ext cx="395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The x value is 2.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836958" y="6034983"/>
                <a:ext cx="1310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958" y="6034983"/>
                <a:ext cx="131064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67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2" grpId="0"/>
      <p:bldP spid="16" grpId="0"/>
      <p:bldP spid="20" grpId="0"/>
      <p:bldP spid="21" grpId="0"/>
      <p:bldP spid="22" grpId="0"/>
      <p:bldP spid="24" grpId="0" animBg="1"/>
      <p:bldP spid="25" grpId="0"/>
      <p:bldP spid="31" grpId="0"/>
      <p:bldP spid="32" grpId="0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652887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77023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029151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53287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77423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29551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3516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-media-cache-ak0.pinimg.com/originals/ea/80/03/ea80032253f7805efd180eea413bd22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1000"/>
                    </a14:imgEffect>
                    <a14:imgEffect>
                      <a14:brightnessContrast bright="10000" contras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68" t="20785" r="17164" b="36946"/>
          <a:stretch/>
        </p:blipFill>
        <p:spPr bwMode="auto">
          <a:xfrm>
            <a:off x="1541752" y="0"/>
            <a:ext cx="9126248" cy="686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reeform 14"/>
          <p:cNvSpPr/>
          <p:nvPr/>
        </p:nvSpPr>
        <p:spPr>
          <a:xfrm>
            <a:off x="4391029" y="-128275"/>
            <a:ext cx="2880320" cy="4444648"/>
          </a:xfrm>
          <a:custGeom>
            <a:avLst/>
            <a:gdLst>
              <a:gd name="connsiteX0" fmla="*/ 0 w 2494625"/>
              <a:gd name="connsiteY0" fmla="*/ 0 h 4367877"/>
              <a:gd name="connsiteX1" fmla="*/ 1242874 w 2494625"/>
              <a:gd name="connsiteY1" fmla="*/ 4367813 h 4367877"/>
              <a:gd name="connsiteX2" fmla="*/ 2494625 w 2494625"/>
              <a:gd name="connsiteY2" fmla="*/ 106532 h 4367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4625" h="4367877">
                <a:moveTo>
                  <a:pt x="0" y="0"/>
                </a:moveTo>
                <a:cubicBezTo>
                  <a:pt x="413551" y="2175029"/>
                  <a:pt x="827103" y="4350058"/>
                  <a:pt x="1242874" y="4367813"/>
                </a:cubicBezTo>
                <a:cubicBezTo>
                  <a:pt x="1658645" y="4385568"/>
                  <a:pt x="2203142" y="711693"/>
                  <a:pt x="2494625" y="106532"/>
                </a:cubicBezTo>
              </a:path>
            </a:pathLst>
          </a:cu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Oval 3"/>
          <p:cNvSpPr/>
          <p:nvPr/>
        </p:nvSpPr>
        <p:spPr>
          <a:xfrm flipV="1">
            <a:off x="5102681" y="3068961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456041" y="5674074"/>
          <a:ext cx="3925019" cy="92327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78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 flipV="1">
            <a:off x="5411421" y="393305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5718183" y="418809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6038743" y="393305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 flipV="1">
            <a:off x="6360267" y="306706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 flipV="1">
            <a:off x="6656683" y="1628801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7741998" y="1115214"/>
            <a:ext cx="4450002" cy="830997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x-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 </a:t>
            </a:r>
            <a:r>
              <a:rPr lang="en-AU" sz="2400" b="1" dirty="0" smtClean="0"/>
              <a:t>(no x-intercept)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y-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(0,3)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52690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=−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45366" y="606597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94018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092701" y="6110214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68011" y="6045040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52208" y="6122405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91873" y="6093795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𝟏𝟕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0829" y="3354202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31" y="3278638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51686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s-media-cache-ak0.pinimg.com/originals/ea/80/03/ea80032253f7805efd180eea413bd22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1000"/>
                    </a14:imgEffect>
                    <a14:imgEffect>
                      <a14:brightnessContrast bright="10000" contras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68" t="20785" r="17164" b="36946"/>
          <a:stretch/>
        </p:blipFill>
        <p:spPr bwMode="auto">
          <a:xfrm>
            <a:off x="1541752" y="0"/>
            <a:ext cx="9126248" cy="686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1"/>
          <p:cNvSpPr/>
          <p:nvPr/>
        </p:nvSpPr>
        <p:spPr>
          <a:xfrm rot="10800000">
            <a:off x="5386646" y="4593456"/>
            <a:ext cx="1673629" cy="4358777"/>
          </a:xfrm>
          <a:custGeom>
            <a:avLst/>
            <a:gdLst>
              <a:gd name="connsiteX0" fmla="*/ 0 w 1120855"/>
              <a:gd name="connsiteY0" fmla="*/ 0 h 3852983"/>
              <a:gd name="connsiteX1" fmla="*/ 639192 w 1120855"/>
              <a:gd name="connsiteY1" fmla="*/ 3852908 h 3852983"/>
              <a:gd name="connsiteX2" fmla="*/ 1118587 w 1120855"/>
              <a:gd name="connsiteY2" fmla="*/ 106532 h 385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0855" h="3852983">
                <a:moveTo>
                  <a:pt x="0" y="0"/>
                </a:moveTo>
                <a:cubicBezTo>
                  <a:pt x="226380" y="1917576"/>
                  <a:pt x="452761" y="3835153"/>
                  <a:pt x="639192" y="3852908"/>
                </a:cubicBezTo>
                <a:cubicBezTo>
                  <a:pt x="825623" y="3870663"/>
                  <a:pt x="1151138" y="763480"/>
                  <a:pt x="1118587" y="106532"/>
                </a:cubicBezTo>
              </a:path>
            </a:pathLst>
          </a:cu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 flipV="1">
            <a:off x="6032868" y="449547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 flipV="1">
            <a:off x="6351644" y="508062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5723725" y="508062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6709056" y="53179"/>
          <a:ext cx="3925019" cy="92327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78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 flipV="1">
            <a:off x="5447928" y="677284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 flipV="1">
            <a:off x="6637048" y="678295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7108350" y="2777404"/>
            <a:ext cx="4450002" cy="1200329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quadratic relationship has 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x-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 </a:t>
            </a:r>
            <a:r>
              <a:rPr lang="en-AU" sz="2400" b="1" dirty="0" smtClean="0"/>
              <a:t>(0.5,0) (-0.5, 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y-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(0,1)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4672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8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identify features of quadratic graphs.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r>
              <a:rPr lang="en-AU" b="1" dirty="0" smtClean="0"/>
              <a:t>Recognise if a parabola will have a minimum or maximum turning point.</a:t>
            </a:r>
          </a:p>
          <a:p>
            <a:r>
              <a:rPr lang="en-AU" b="1" dirty="0" smtClean="0"/>
              <a:t>Identify the x-intercepts of a parabola.</a:t>
            </a:r>
          </a:p>
          <a:p>
            <a:r>
              <a:rPr lang="en-AU" b="1" dirty="0" smtClean="0"/>
              <a:t>Identify the axis of symmetry of a parabola.</a:t>
            </a:r>
          </a:p>
          <a:p>
            <a:endParaRPr lang="en-AU" b="1" dirty="0" smtClean="0"/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" y="1204615"/>
            <a:ext cx="4027334" cy="40678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815" y="1269067"/>
            <a:ext cx="4004722" cy="3938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1920" y="742950"/>
                <a:ext cx="3992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This is the parabola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742950"/>
                <a:ext cx="3992880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0" y="576031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a minimum turning point at (0, 0).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0" y="5409799"/>
                <a:ext cx="4567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dirty="0" smtClean="0"/>
                  <a:t>Its axis of symmetry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000" dirty="0" smtClean="0"/>
                  <a:t>.</a:t>
                </a:r>
                <a:endParaRPr lang="en-AU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09799"/>
                <a:ext cx="4567272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0" y="611083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one x-intercept at 0.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57520" y="742950"/>
                <a:ext cx="3992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This is the parabola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520" y="742950"/>
                <a:ext cx="399288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435600" y="576031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a </a:t>
            </a:r>
            <a:r>
              <a:rPr lang="en-AU" sz="2000" b="1" dirty="0" smtClean="0"/>
              <a:t>maximum</a:t>
            </a:r>
            <a:r>
              <a:rPr lang="en-AU" sz="2000" dirty="0" smtClean="0"/>
              <a:t> turning point at (0, 0).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435600" y="5409799"/>
                <a:ext cx="4567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dirty="0" smtClean="0"/>
                  <a:t>Its axis of symmetry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000" dirty="0" smtClean="0"/>
                  <a:t>.</a:t>
                </a:r>
                <a:endParaRPr lang="en-AU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0" y="5409799"/>
                <a:ext cx="4567272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435600" y="611083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one x-intercept at 0.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70387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1920" y="742950"/>
                <a:ext cx="4373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This is the parabola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1/2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742950"/>
                <a:ext cx="4373880" cy="461665"/>
              </a:xfrm>
              <a:prstGeom prst="rect">
                <a:avLst/>
              </a:prstGeom>
              <a:blipFill rotWithShape="0">
                <a:blip r:embed="rId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0" y="576031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a minimum turning point at (0, 0).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0" y="5409799"/>
                <a:ext cx="4567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dirty="0" smtClean="0"/>
                  <a:t>Its axis of symmetry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000" dirty="0" smtClean="0"/>
                  <a:t>.</a:t>
                </a:r>
                <a:endParaRPr lang="en-AU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09799"/>
                <a:ext cx="4567272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0" y="611083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one x-intercept at 0.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57520" y="742950"/>
                <a:ext cx="44453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This is the parabola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−1/2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520" y="742950"/>
                <a:ext cx="4445352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86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435600" y="576031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a </a:t>
            </a:r>
            <a:r>
              <a:rPr lang="en-AU" sz="2000" b="1" dirty="0" smtClean="0"/>
              <a:t>maximum</a:t>
            </a:r>
            <a:r>
              <a:rPr lang="en-AU" sz="2000" dirty="0" smtClean="0"/>
              <a:t> turning point at (0, 0).</a:t>
            </a:r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435600" y="5409799"/>
                <a:ext cx="45672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000" dirty="0" smtClean="0"/>
                  <a:t>Its axis of symmetry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000" dirty="0" smtClean="0"/>
                  <a:t>.</a:t>
                </a:r>
                <a:endParaRPr lang="en-AU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0" y="5409799"/>
                <a:ext cx="4567272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435600" y="6110839"/>
            <a:ext cx="4567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It has one x-intercept at 0.</a:t>
            </a:r>
            <a:endParaRPr lang="en-AU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05" y="1267755"/>
            <a:ext cx="4001135" cy="38846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298" y="1267755"/>
            <a:ext cx="3948182" cy="39026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6280" y="1697819"/>
                <a:ext cx="3423920" cy="1938992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If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is positive, the parabola will be a ‘u’ shape and will have a minimum turning point.</a:t>
                </a:r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" y="1697819"/>
                <a:ext cx="3423920" cy="1938992"/>
              </a:xfrm>
              <a:prstGeom prst="rect">
                <a:avLst/>
              </a:prstGeom>
              <a:blipFill rotWithShape="0">
                <a:blip r:embed="rId8"/>
                <a:stretch>
                  <a:fillRect l="-1776" t="-2188" r="-3730" b="-5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123429" y="2754459"/>
                <a:ext cx="3423920" cy="1938992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If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is negative, the parabola will be a ‘n’ shape and will have a maximum turning point.</a:t>
                </a:r>
                <a:endParaRPr lang="en-AU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429" y="2754459"/>
                <a:ext cx="3423920" cy="1938992"/>
              </a:xfrm>
              <a:prstGeom prst="rect">
                <a:avLst/>
              </a:prstGeom>
              <a:blipFill rotWithShape="0">
                <a:blip r:embed="rId9"/>
                <a:stretch>
                  <a:fillRect l="-2305" t="-2188" r="-4787" b="-5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81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8" grpId="0"/>
      <p:bldP spid="19" grpId="0"/>
      <p:bldP spid="20" grpId="0"/>
      <p:bldP spid="5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Does this parabola have a maximum or minimum turning point?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1"/>
          <p:cNvSpPr>
            <a:spLocks noGrp="1"/>
          </p:cNvSpPr>
          <p:nvPr>
            <p:ph sz="half" idx="1"/>
          </p:nvPr>
        </p:nvSpPr>
        <p:spPr>
          <a:xfrm>
            <a:off x="217737" y="790710"/>
            <a:ext cx="8336983" cy="58594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 smtClean="0"/>
              <a:t>The graph of a quadratic equation is a parabola, as shown below.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Every parabola has:</a:t>
            </a:r>
          </a:p>
          <a:p>
            <a:pPr algn="just"/>
            <a:r>
              <a:rPr lang="en-AU" dirty="0" smtClean="0"/>
              <a:t>A symmetrical shape about the line of symmetry</a:t>
            </a:r>
          </a:p>
          <a:p>
            <a:pPr algn="just"/>
            <a:r>
              <a:rPr lang="en-AU" dirty="0"/>
              <a:t>A</a:t>
            </a:r>
            <a:r>
              <a:rPr lang="en-AU" dirty="0" smtClean="0"/>
              <a:t> turning point that is either a maximum turning point (n) or a minimum turning point (u)</a:t>
            </a:r>
          </a:p>
          <a:p>
            <a:pPr algn="just"/>
            <a:r>
              <a:rPr lang="en-AU" dirty="0" smtClean="0"/>
              <a:t>Changing directions on either side of the turning point.</a:t>
            </a:r>
          </a:p>
          <a:p>
            <a:pPr algn="just"/>
            <a:r>
              <a:rPr lang="en-AU" dirty="0" smtClean="0"/>
              <a:t>X-intercept (where it cuts x-axis): </a:t>
            </a:r>
          </a:p>
          <a:p>
            <a:pPr marL="0" indent="0" algn="just">
              <a:buNone/>
            </a:pPr>
            <a:r>
              <a:rPr lang="en-AU" dirty="0"/>
              <a:t> </a:t>
            </a:r>
            <a:r>
              <a:rPr lang="en-AU" dirty="0" smtClean="0"/>
              <a:t>  - can have 2, 1 or 0 x-intercepts</a:t>
            </a:r>
            <a:endParaRPr lang="en-AU" dirty="0"/>
          </a:p>
        </p:txBody>
      </p:sp>
      <p:pic>
        <p:nvPicPr>
          <p:cNvPr id="7" name="Picture 2" descr="Image result for quadratic x and y intercep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" t="27529" r="49527" b="26508"/>
          <a:stretch/>
        </p:blipFill>
        <p:spPr bwMode="auto">
          <a:xfrm>
            <a:off x="2464905" y="1224929"/>
            <a:ext cx="3996014" cy="268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9505808" y="14782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many x-intercepts does this parabola have?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9505808" y="265684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 the x-intercepts of this parabola?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7858760" y="5303520"/>
          <a:ext cx="433324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3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159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993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1">
                <a:tc>
                  <a:txBody>
                    <a:bodyPr/>
                    <a:lstStyle/>
                    <a:p>
                      <a:r>
                        <a:rPr lang="en-AU" i="0" dirty="0" smtClean="0"/>
                        <a:t>Quadratic – an equation where the highest power is 2</a:t>
                      </a:r>
                    </a:p>
                    <a:p>
                      <a:r>
                        <a:rPr lang="en-AU" i="0" dirty="0" smtClean="0"/>
                        <a:t>Parabola – the graph of a quadratic equation (looks like a u or a n)</a:t>
                      </a:r>
                    </a:p>
                  </a:txBody>
                  <a:tcPr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13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17737" y="790710"/>
            <a:ext cx="8336983" cy="58594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 smtClean="0"/>
              <a:t>The graph of a quadratic equation is a parabola, as shown below.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Every parabola has:</a:t>
            </a:r>
          </a:p>
          <a:p>
            <a:pPr algn="just"/>
            <a:r>
              <a:rPr lang="en-AU" dirty="0" smtClean="0"/>
              <a:t>An axis of symmetry</a:t>
            </a:r>
          </a:p>
          <a:p>
            <a:pPr algn="just"/>
            <a:r>
              <a:rPr lang="en-AU" dirty="0"/>
              <a:t>A</a:t>
            </a:r>
            <a:r>
              <a:rPr lang="en-AU" dirty="0" smtClean="0"/>
              <a:t> maximum (n) or minimum (u) turning point </a:t>
            </a:r>
          </a:p>
          <a:p>
            <a:pPr algn="just"/>
            <a:r>
              <a:rPr lang="en-AU" dirty="0" smtClean="0"/>
              <a:t>X-intercept (where it cuts x-axis): </a:t>
            </a:r>
          </a:p>
          <a:p>
            <a:pPr marL="0" indent="0" algn="just">
              <a:buNone/>
            </a:pPr>
            <a:r>
              <a:rPr lang="en-AU" dirty="0"/>
              <a:t> </a:t>
            </a:r>
            <a:r>
              <a:rPr lang="en-AU" dirty="0" smtClean="0"/>
              <a:t>  - can have 2, 1 or 0 x-intercepts</a:t>
            </a:r>
            <a:endParaRPr lang="en-AU" dirty="0"/>
          </a:p>
        </p:txBody>
      </p:sp>
      <p:pic>
        <p:nvPicPr>
          <p:cNvPr id="5" name="Picture 2" descr="Image result for quadratic x and y intercep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" t="27529" r="49527" b="26508"/>
          <a:stretch/>
        </p:blipFill>
        <p:spPr bwMode="auto">
          <a:xfrm>
            <a:off x="1514945" y="1286270"/>
            <a:ext cx="3996014" cy="268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93088" y="460248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088" y="4602480"/>
                <a:ext cx="198628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735728" y="5064145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A minimum turning point at (1, -9)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6968" y="5698764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Two x-intercepts, at -2 and 4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17737" y="790710"/>
            <a:ext cx="10653463" cy="58594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The graph of a quadratic equation is a parabola, as shown below.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Every parabola has:</a:t>
            </a:r>
          </a:p>
          <a:p>
            <a:pPr algn="just"/>
            <a:r>
              <a:rPr lang="en-AU" dirty="0" smtClean="0"/>
              <a:t>An axis of symmetry</a:t>
            </a:r>
          </a:p>
          <a:p>
            <a:pPr algn="just"/>
            <a:r>
              <a:rPr lang="en-AU" dirty="0"/>
              <a:t>A</a:t>
            </a:r>
            <a:r>
              <a:rPr lang="en-AU" dirty="0" smtClean="0"/>
              <a:t> turning point</a:t>
            </a:r>
          </a:p>
          <a:p>
            <a:pPr algn="just"/>
            <a:r>
              <a:rPr lang="en-AU" dirty="0" smtClean="0"/>
              <a:t>X-intercept (where it cuts x-axis): </a:t>
            </a:r>
          </a:p>
          <a:p>
            <a:pPr marL="0" indent="0" algn="just">
              <a:buNone/>
            </a:pPr>
            <a:r>
              <a:rPr lang="en-AU" dirty="0"/>
              <a:t> </a:t>
            </a:r>
            <a:r>
              <a:rPr lang="en-AU" dirty="0" smtClean="0"/>
              <a:t>  - can have 2, 1 or 0 x-intercepts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048" y="449580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048" y="4495800"/>
                <a:ext cx="198628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783488" y="4952619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Minimum TP at (-2, -5)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81888" y="6348450"/>
            <a:ext cx="35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2 x-intercepts at -2 and 4</a:t>
            </a:r>
            <a:endParaRPr lang="en-AU" sz="24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130664"/>
            <a:ext cx="7062634" cy="29589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91888" y="449580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888" y="4495800"/>
                <a:ext cx="198628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075328" y="4952619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2060"/>
                </a:solidFill>
              </a:rPr>
              <a:t>Minimum TP at (0, 0)</a:t>
            </a:r>
            <a:endParaRPr lang="en-AU" sz="24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12768" y="5542959"/>
            <a:ext cx="35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1</a:t>
            </a:r>
            <a:r>
              <a:rPr lang="en-AU" sz="2400" b="1" dirty="0" smtClean="0">
                <a:solidFill>
                  <a:srgbClr val="002060"/>
                </a:solidFill>
              </a:rPr>
              <a:t> x-intercept at 0</a:t>
            </a:r>
            <a:endParaRPr lang="en-AU" sz="24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07044" y="449580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044" y="4495800"/>
                <a:ext cx="198628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090484" y="4952619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B050"/>
                </a:solidFill>
              </a:rPr>
              <a:t>Minimum TP at (2, </a:t>
            </a:r>
            <a:r>
              <a:rPr lang="en-AU" sz="2400" b="1" dirty="0">
                <a:solidFill>
                  <a:srgbClr val="00B050"/>
                </a:solidFill>
              </a:rPr>
              <a:t>5</a:t>
            </a:r>
            <a:r>
              <a:rPr lang="en-AU" sz="2400" b="1" dirty="0" smtClean="0">
                <a:solidFill>
                  <a:srgbClr val="00B050"/>
                </a:solidFill>
              </a:rPr>
              <a:t>)</a:t>
            </a:r>
            <a:endParaRPr lang="en-AU" sz="2400" b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7324" y="5570567"/>
            <a:ext cx="35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B050"/>
                </a:solidFill>
              </a:rPr>
              <a:t>No x-intercepts</a:t>
            </a:r>
            <a:endParaRPr lang="en-AU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25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=−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=−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781108"/>
              </p:ext>
            </p:extLst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-10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0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0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24895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86106" y="606233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041923" y="6074292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89291" y="6115970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00252" y="606233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647620" y="6074292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912709" y="3295699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2709" y="3295699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424471" y="3237196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471" y="3237196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6670040" y="0"/>
            <a:ext cx="342392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Will this be a n shape or u shape parabola?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1094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5624990" y="1385484"/>
            <a:ext cx="4450002" cy="1569660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quadratic relationship has 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 Axis of symmetry at x = 0.5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Maximum TP at (0.5, 2.25)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2 x-intercepts at -1 and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36" y="1161097"/>
            <a:ext cx="5184138" cy="50923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2215" y="600064"/>
                <a:ext cx="80281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400" b="1" dirty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 =−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15" y="600064"/>
                <a:ext cx="802816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13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 flipH="1">
            <a:off x="3068320" y="1249680"/>
            <a:ext cx="10160" cy="4922520"/>
          </a:xfrm>
          <a:prstGeom prst="line">
            <a:avLst/>
          </a:prstGeom>
          <a:ln w="3810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988310" y="2245360"/>
            <a:ext cx="180340" cy="16256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2087880" y="3642360"/>
            <a:ext cx="142240" cy="13208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3916680" y="3642360"/>
            <a:ext cx="142240" cy="13208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70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baseline="3000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We want to graph the equation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i="1" dirty="0" smtClean="0">
                    <a:solidFill>
                      <a:srgbClr val="7030A0"/>
                    </a:solidFill>
                  </a:rPr>
                  <a:t>using integer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values of x from -3 to 2.  Substitute each number into the equation to find the </a:t>
                </a:r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points we need. (Use a scientific calculator and brackets to help you do this.)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 rotWithShape="0">
                <a:blip r:embed="rId2"/>
                <a:stretch>
                  <a:fillRect l="-1254" t="-18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  </a:t>
                </a:r>
                <a:r>
                  <a:rPr lang="en-AU" sz="2400" b="1" dirty="0" smtClean="0"/>
                  <a:t>                    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76" y="3295699"/>
                <a:ext cx="5703363" cy="267765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05365"/>
              </p:ext>
            </p:extLst>
          </p:nvPr>
        </p:nvGraphicFramePr>
        <p:xfrm>
          <a:off x="284738" y="5489915"/>
          <a:ext cx="8352925" cy="1080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30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20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0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30289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891500" y="606233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4042622" y="606233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294334" y="6137645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6422467" y="609315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7719902" y="6115970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-912709" y="3295699"/>
                <a:ext cx="57826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2709" y="3295699"/>
                <a:ext cx="5782626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424471" y="3237196"/>
                <a:ext cx="582473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	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>
                    <a:solidFill>
                      <a:schemeClr val="tx1"/>
                    </a:solidFill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b="1" dirty="0" smtClean="0">
                  <a:solidFill>
                    <a:schemeClr val="tx1"/>
                  </a:solidFill>
                </a:endParaRPr>
              </a:p>
              <a:p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471" y="3237196"/>
                <a:ext cx="5824735" cy="26776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6670040" y="0"/>
            <a:ext cx="342392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Will this be a n shape or u shape parabola?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3172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0" grpId="1"/>
      <p:bldP spid="21" grpId="0"/>
      <p:bldP spid="21" grpId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5624990" y="1385484"/>
            <a:ext cx="4450002" cy="1569660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quadratic relationship has 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 Axis of symmetry at x = 2.5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Minimum TP at (2.5, -0.25)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2 x-intercepts at </a:t>
            </a:r>
            <a:r>
              <a:rPr lang="en-AU" sz="2400" b="1" dirty="0"/>
              <a:t>2</a:t>
            </a:r>
            <a:r>
              <a:rPr lang="en-AU" sz="2400" b="1" dirty="0" smtClean="0"/>
              <a:t> and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2215" y="600064"/>
                <a:ext cx="79832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sz="2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baseline="3000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400" b="1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15" y="600064"/>
                <a:ext cx="7983276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145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32545"/>
            <a:ext cx="3256280" cy="5264321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2286000" y="1332545"/>
            <a:ext cx="5080" cy="5225735"/>
          </a:xfrm>
          <a:prstGeom prst="line">
            <a:avLst/>
          </a:prstGeom>
          <a:ln w="3810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237740" y="6126480"/>
            <a:ext cx="96520" cy="11684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1993900" y="6027420"/>
            <a:ext cx="96520" cy="1168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2481580" y="6027420"/>
            <a:ext cx="96520" cy="1168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94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92337" y="810945"/>
            <a:ext cx="10653463" cy="58594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The graph of a quadratic equation is a parabola, as shown below.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Every parabola has:</a:t>
            </a:r>
          </a:p>
          <a:p>
            <a:pPr algn="just"/>
            <a:r>
              <a:rPr lang="en-AU" dirty="0" smtClean="0"/>
              <a:t>An axis of symmetry</a:t>
            </a:r>
          </a:p>
          <a:p>
            <a:pPr algn="just"/>
            <a:r>
              <a:rPr lang="en-AU" dirty="0"/>
              <a:t>A</a:t>
            </a:r>
            <a:r>
              <a:rPr lang="en-AU" dirty="0" smtClean="0"/>
              <a:t> turning point</a:t>
            </a:r>
          </a:p>
          <a:p>
            <a:pPr algn="just"/>
            <a:r>
              <a:rPr lang="en-AU" dirty="0" smtClean="0"/>
              <a:t>X-intercept (where it cuts x-axis): </a:t>
            </a:r>
          </a:p>
          <a:p>
            <a:pPr marL="0" indent="0" algn="just">
              <a:buNone/>
            </a:pPr>
            <a:r>
              <a:rPr lang="en-AU" dirty="0"/>
              <a:t> </a:t>
            </a:r>
            <a:r>
              <a:rPr lang="en-AU" dirty="0" smtClean="0"/>
              <a:t>  - can have 2, 1 or 0 x-intercepts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048" y="449580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048" y="4495800"/>
                <a:ext cx="198628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783488" y="4952619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Minimum TP at (-2, -5)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81888" y="6348450"/>
            <a:ext cx="35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2 x-intercepts at -2 and 4</a:t>
            </a:r>
            <a:endParaRPr lang="en-AU" sz="24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130664"/>
            <a:ext cx="7062634" cy="29589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91888" y="449580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24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888" y="4495800"/>
                <a:ext cx="198628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075328" y="4952619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2060"/>
                </a:solidFill>
              </a:rPr>
              <a:t>Minimum TP at (0, 0)</a:t>
            </a:r>
            <a:endParaRPr lang="en-AU" sz="24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12768" y="5542959"/>
            <a:ext cx="35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1</a:t>
            </a:r>
            <a:r>
              <a:rPr lang="en-AU" sz="2400" b="1" dirty="0" smtClean="0">
                <a:solidFill>
                  <a:srgbClr val="002060"/>
                </a:solidFill>
              </a:rPr>
              <a:t> x-intercept at 0</a:t>
            </a:r>
            <a:endParaRPr lang="en-AU" sz="24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07044" y="4495800"/>
                <a:ext cx="1986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044" y="4495800"/>
                <a:ext cx="198628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090484" y="4952619"/>
            <a:ext cx="461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B050"/>
                </a:solidFill>
              </a:rPr>
              <a:t>Minimum TP at (2, </a:t>
            </a:r>
            <a:r>
              <a:rPr lang="en-AU" sz="2400" b="1" dirty="0">
                <a:solidFill>
                  <a:srgbClr val="00B050"/>
                </a:solidFill>
              </a:rPr>
              <a:t>5</a:t>
            </a:r>
            <a:r>
              <a:rPr lang="en-AU" sz="2400" b="1" dirty="0" smtClean="0">
                <a:solidFill>
                  <a:srgbClr val="00B050"/>
                </a:solidFill>
              </a:rPr>
              <a:t>)</a:t>
            </a:r>
            <a:endParaRPr lang="en-AU" sz="2400" b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7324" y="5570567"/>
            <a:ext cx="354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00B050"/>
                </a:solidFill>
              </a:rPr>
              <a:t>No x-intercepts</a:t>
            </a:r>
            <a:endParaRPr lang="en-AU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42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</TotalTime>
  <Words>1839</Words>
  <Application>Microsoft Office PowerPoint</Application>
  <PresentationFormat>Widescreen</PresentationFormat>
  <Paragraphs>348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154</cp:revision>
  <cp:lastPrinted>2017-04-18T22:41:05Z</cp:lastPrinted>
  <dcterms:created xsi:type="dcterms:W3CDTF">2017-01-28T08:32:28Z</dcterms:created>
  <dcterms:modified xsi:type="dcterms:W3CDTF">2021-09-20T01:33:29Z</dcterms:modified>
</cp:coreProperties>
</file>
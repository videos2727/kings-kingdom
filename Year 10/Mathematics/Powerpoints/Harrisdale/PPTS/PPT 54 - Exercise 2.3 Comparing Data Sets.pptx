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6"/>
  </p:handoutMasterIdLst>
  <p:sldIdLst>
    <p:sldId id="294" r:id="rId2"/>
    <p:sldId id="300" r:id="rId3"/>
    <p:sldId id="301" r:id="rId4"/>
    <p:sldId id="302" r:id="rId5"/>
    <p:sldId id="293" r:id="rId6"/>
    <p:sldId id="284" r:id="rId7"/>
    <p:sldId id="267" r:id="rId8"/>
    <p:sldId id="303" r:id="rId9"/>
    <p:sldId id="278" r:id="rId10"/>
    <p:sldId id="304" r:id="rId11"/>
    <p:sldId id="306" r:id="rId12"/>
    <p:sldId id="308" r:id="rId13"/>
    <p:sldId id="309" r:id="rId14"/>
    <p:sldId id="262" r:id="rId15"/>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59" autoAdjust="0"/>
    <p:restoredTop sz="94660"/>
  </p:normalViewPr>
  <p:slideViewPr>
    <p:cSldViewPr snapToGrid="0">
      <p:cViewPr>
        <p:scale>
          <a:sx n="74" d="100"/>
          <a:sy n="74" d="100"/>
        </p:scale>
        <p:origin x="126" y="363"/>
      </p:cViewPr>
      <p:guideLst/>
    </p:cSldViewPr>
  </p:slideViewPr>
  <p:notesTextViewPr>
    <p:cViewPr>
      <p:scale>
        <a:sx n="3" d="2"/>
        <a:sy n="3" d="2"/>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5808CDC9-85D4-4503-A1C1-C4A7D08CE495}" type="datetimeFigureOut">
              <a:rPr lang="en-AU" smtClean="0"/>
              <a:t>26/08/2021</a:t>
            </a:fld>
            <a:endParaRPr lang="en-AU"/>
          </a:p>
        </p:txBody>
      </p:sp>
      <p:sp>
        <p:nvSpPr>
          <p:cNvPr id="4" name="Footer Placeholder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275FFA11-8017-47B8-A9A2-068FE447A802}" type="slidenum">
              <a:rPr lang="en-AU" smtClean="0"/>
              <a:t>‹#›</a:t>
            </a:fld>
            <a:endParaRPr lang="en-AU"/>
          </a:p>
        </p:txBody>
      </p:sp>
    </p:spTree>
    <p:extLst>
      <p:ext uri="{BB962C8B-B14F-4D97-AF65-F5344CB8AC3E}">
        <p14:creationId xmlns:p14="http://schemas.microsoft.com/office/powerpoint/2010/main" val="3579129096"/>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3386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79074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F726FA-289A-47A4-9DB2-36250D803CC9}" type="datetimeFigureOut">
              <a:rPr lang="en-AU" smtClean="0"/>
              <a:t>26/08/2021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7216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E6F726FA-289A-47A4-9DB2-36250D803CC9}" type="datetimeFigureOut">
              <a:rPr lang="en-AU" smtClean="0"/>
              <a:t>26/08/2021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944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E6F726FA-289A-47A4-9DB2-36250D803CC9}" type="datetimeFigureOut">
              <a:rPr lang="en-AU" smtClean="0"/>
              <a:t>26/08/2021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01453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E6F726FA-289A-47A4-9DB2-36250D803CC9}" type="datetimeFigureOut">
              <a:rPr lang="en-AU" smtClean="0"/>
              <a:t>26/08/2021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531284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726FA-289A-47A4-9DB2-36250D803CC9}" type="datetimeFigureOut">
              <a:rPr lang="en-AU" smtClean="0"/>
              <a:t>26/08/2021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25323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516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26/08/2021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3446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19633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26/08/2021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0830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26FA-289A-47A4-9DB2-36250D803CC9}" type="datetimeFigureOut">
              <a:rPr lang="en-AU" smtClean="0"/>
              <a:t>26/08/2021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6B6D5-E49B-468D-A565-A6E4E9BB073F}" type="slidenum">
              <a:rPr lang="en-AU" smtClean="0"/>
              <a:t>‹#›</a:t>
            </a:fld>
            <a:endParaRPr lang="en-AU"/>
          </a:p>
        </p:txBody>
      </p:sp>
    </p:spTree>
    <p:extLst>
      <p:ext uri="{BB962C8B-B14F-4D97-AF65-F5344CB8AC3E}">
        <p14:creationId xmlns:p14="http://schemas.microsoft.com/office/powerpoint/2010/main" val="4206294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34">
            <a:extLst>
              <a:ext uri="{FF2B5EF4-FFF2-40B4-BE49-F238E27FC236}">
                <a16:creationId xmlns:a16="http://schemas.microsoft.com/office/drawing/2014/main" id="{99DDC62D-BC4A-4A69-84F2-CF2A22E4E446}"/>
              </a:ext>
            </a:extLst>
          </p:cNvPr>
          <p:cNvSpPr txBox="1"/>
          <p:nvPr/>
        </p:nvSpPr>
        <p:spPr>
          <a:xfrm>
            <a:off x="723872" y="934008"/>
            <a:ext cx="10759627" cy="707886"/>
          </a:xfrm>
          <a:prstGeom prst="rect">
            <a:avLst/>
          </a:prstGeom>
          <a:solidFill>
            <a:srgbClr val="FFFF00"/>
          </a:solidFill>
        </p:spPr>
        <p:txBody>
          <a:bodyPr wrap="square" rtlCol="0">
            <a:spAutoFit/>
          </a:bodyPr>
          <a:lstStyle/>
          <a:p>
            <a:pPr algn="ctr"/>
            <a:r>
              <a:rPr lang="en-AU" sz="4000" b="1" dirty="0" smtClean="0">
                <a:cs typeface="Arial" panose="020B0604020202020204" pitchFamily="34" charset="0"/>
              </a:rPr>
              <a:t>I will compare parallel </a:t>
            </a:r>
            <a:r>
              <a:rPr lang="en-AU" sz="4000" b="1" dirty="0" smtClean="0">
                <a:cs typeface="Arial" panose="020B0604020202020204" pitchFamily="34" charset="0"/>
              </a:rPr>
              <a:t>boxplots</a:t>
            </a:r>
            <a:endParaRPr lang="en-AU" sz="4000" b="1" dirty="0">
              <a:cs typeface="Arial" panose="020B0604020202020204" pitchFamily="34" charset="0"/>
            </a:endParaRPr>
          </a:p>
        </p:txBody>
      </p:sp>
      <p:sp>
        <p:nvSpPr>
          <p:cNvPr id="137" name="TextBox 136"/>
          <p:cNvSpPr txBox="1"/>
          <p:nvPr/>
        </p:nvSpPr>
        <p:spPr>
          <a:xfrm>
            <a:off x="0" y="-6605"/>
            <a:ext cx="3424403" cy="584775"/>
          </a:xfrm>
          <a:prstGeom prst="homePlate">
            <a:avLst/>
          </a:prstGeom>
          <a:solidFill>
            <a:srgbClr val="002060"/>
          </a:solidFill>
          <a:ln>
            <a:solidFill>
              <a:srgbClr val="002060"/>
            </a:solidFill>
          </a:ln>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Learning Objective</a:t>
            </a:r>
          </a:p>
        </p:txBody>
      </p:sp>
      <p:sp>
        <p:nvSpPr>
          <p:cNvPr id="264" name="Title 1"/>
          <p:cNvSpPr txBox="1">
            <a:spLocks/>
          </p:cNvSpPr>
          <p:nvPr/>
        </p:nvSpPr>
        <p:spPr>
          <a:xfrm>
            <a:off x="-15373" y="1641894"/>
            <a:ext cx="12207373" cy="1070988"/>
          </a:xfrm>
          <a:prstGeom prst="rect">
            <a:avLst/>
          </a:prstGeom>
          <a:no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3200" b="1" i="1" dirty="0">
                <a:ln>
                  <a:solidFill>
                    <a:sysClr val="windowText" lastClr="000000"/>
                  </a:solidFill>
                </a:ln>
                <a:solidFill>
                  <a:sysClr val="windowText" lastClr="000000"/>
                </a:solidFill>
              </a:rPr>
              <a:t>Enter quietly, please be ready with the following on your desk:</a:t>
            </a:r>
          </a:p>
        </p:txBody>
      </p:sp>
      <p:sp>
        <p:nvSpPr>
          <p:cNvPr id="265" name="Content Placeholder 2"/>
          <p:cNvSpPr txBox="1">
            <a:spLocks/>
          </p:cNvSpPr>
          <p:nvPr/>
        </p:nvSpPr>
        <p:spPr>
          <a:xfrm>
            <a:off x="1980020" y="2972878"/>
            <a:ext cx="7921679" cy="3007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AU" b="1" dirty="0"/>
              <a:t>Whiteboard</a:t>
            </a:r>
          </a:p>
          <a:p>
            <a:pPr marL="342900" indent="-342900" algn="l">
              <a:buFont typeface="Arial" panose="020B0604020202020204" pitchFamily="34" charset="0"/>
              <a:buChar char="•"/>
            </a:pPr>
            <a:r>
              <a:rPr lang="en-AU" b="1" dirty="0"/>
              <a:t>Whiteboard marker</a:t>
            </a:r>
          </a:p>
          <a:p>
            <a:pPr marL="342900" indent="-342900" algn="l">
              <a:buFont typeface="Arial" panose="020B0604020202020204" pitchFamily="34" charset="0"/>
              <a:buChar char="•"/>
            </a:pPr>
            <a:r>
              <a:rPr lang="en-AU" b="1" dirty="0" smtClean="0"/>
              <a:t>Exercise Book</a:t>
            </a:r>
            <a:endParaRPr lang="en-AU" b="1" dirty="0"/>
          </a:p>
          <a:p>
            <a:pPr marL="342900" indent="-342900" algn="l">
              <a:buFont typeface="Arial" panose="020B0604020202020204" pitchFamily="34" charset="0"/>
              <a:buChar char="•"/>
            </a:pPr>
            <a:r>
              <a:rPr lang="en-AU" b="1" dirty="0" smtClean="0"/>
              <a:t>Pencil, pen, </a:t>
            </a:r>
            <a:r>
              <a:rPr lang="en-AU" b="1" dirty="0"/>
              <a:t>ruler and red pen</a:t>
            </a:r>
          </a:p>
          <a:p>
            <a:pPr marL="342900" indent="-342900" algn="l">
              <a:buFont typeface="Arial" panose="020B0604020202020204" pitchFamily="34" charset="0"/>
              <a:buChar char="•"/>
            </a:pPr>
            <a:r>
              <a:rPr lang="en-AU" b="1" dirty="0" smtClean="0"/>
              <a:t>Diary</a:t>
            </a:r>
          </a:p>
          <a:p>
            <a:pPr marL="342900" indent="-342900" algn="l">
              <a:buFont typeface="Arial" panose="020B0604020202020204" pitchFamily="34" charset="0"/>
              <a:buChar char="•"/>
            </a:pPr>
            <a:r>
              <a:rPr lang="en-AU" b="1" dirty="0" smtClean="0"/>
              <a:t>Calculator</a:t>
            </a:r>
            <a:endParaRPr lang="en-AU" b="1" dirty="0"/>
          </a:p>
          <a:p>
            <a:pPr marL="342900" indent="-342900" algn="l">
              <a:buFont typeface="Arial" panose="020B0604020202020204" pitchFamily="34" charset="0"/>
              <a:buChar char="•"/>
            </a:pPr>
            <a:r>
              <a:rPr lang="en-AU" b="1" dirty="0"/>
              <a:t>Device – charged or borrowed from Library before maths</a:t>
            </a:r>
          </a:p>
        </p:txBody>
      </p:sp>
      <p:pic>
        <p:nvPicPr>
          <p:cNvPr id="2" name="Picture 1"/>
          <p:cNvPicPr>
            <a:picLocks noChangeAspect="1"/>
          </p:cNvPicPr>
          <p:nvPr/>
        </p:nvPicPr>
        <p:blipFill>
          <a:blip r:embed="rId2"/>
          <a:stretch>
            <a:fillRect/>
          </a:stretch>
        </p:blipFill>
        <p:spPr>
          <a:xfrm>
            <a:off x="7149214" y="2712882"/>
            <a:ext cx="3649887" cy="2617747"/>
          </a:xfrm>
          <a:prstGeom prst="rect">
            <a:avLst/>
          </a:prstGeom>
        </p:spPr>
      </p:pic>
    </p:spTree>
    <p:extLst>
      <p:ext uri="{BB962C8B-B14F-4D97-AF65-F5344CB8AC3E}">
        <p14:creationId xmlns:p14="http://schemas.microsoft.com/office/powerpoint/2010/main" val="2633137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908800" cy="2123658"/>
          </a:xfrm>
          <a:prstGeom prst="rect">
            <a:avLst/>
          </a:prstGeom>
          <a:noFill/>
        </p:spPr>
        <p:txBody>
          <a:bodyPr wrap="square" rtlCol="0">
            <a:spAutoFit/>
          </a:bodyPr>
          <a:lstStyle/>
          <a:p>
            <a:r>
              <a:rPr lang="en-AU" sz="2400" dirty="0" smtClean="0"/>
              <a:t>Find the minimum, maximum, median, lower quartile and upper quartile of the following data set:</a:t>
            </a:r>
          </a:p>
          <a:p>
            <a:r>
              <a:rPr lang="en-AU" sz="2800" b="1" dirty="0" smtClean="0"/>
              <a:t>2, 9, 4, 2, 5, 8, 9, 6, 6, 2, 3, 7, 5</a:t>
            </a:r>
          </a:p>
          <a:p>
            <a:endParaRPr lang="en-AU" sz="2800" b="1" dirty="0"/>
          </a:p>
          <a:p>
            <a:r>
              <a:rPr lang="en-AU" sz="2800" b="1" dirty="0" smtClean="0"/>
              <a:t>2, 2, 2, 3, 4, 5, 5, 6, 6, 7, 8, 9, 9</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520356" y="2224823"/>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4182563"/>
            <a:ext cx="4541520" cy="461665"/>
          </a:xfrm>
          <a:prstGeom prst="rect">
            <a:avLst/>
          </a:prstGeom>
          <a:noFill/>
        </p:spPr>
        <p:txBody>
          <a:bodyPr wrap="square" rtlCol="0">
            <a:spAutoFit/>
          </a:bodyPr>
          <a:lstStyle/>
          <a:p>
            <a:r>
              <a:rPr lang="en-AU" sz="2400" dirty="0" smtClean="0"/>
              <a:t>Median = 5</a:t>
            </a:r>
            <a:endParaRPr lang="en-AU" sz="2400" dirty="0"/>
          </a:p>
        </p:txBody>
      </p:sp>
      <p:cxnSp>
        <p:nvCxnSpPr>
          <p:cNvPr id="18" name="Straight Connector 17"/>
          <p:cNvCxnSpPr/>
          <p:nvPr/>
        </p:nvCxnSpPr>
        <p:spPr>
          <a:xfrm>
            <a:off x="264160" y="2916138"/>
            <a:ext cx="20116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4565378"/>
            <a:ext cx="4541520" cy="461665"/>
          </a:xfrm>
          <a:prstGeom prst="rect">
            <a:avLst/>
          </a:prstGeom>
          <a:noFill/>
        </p:spPr>
        <p:txBody>
          <a:bodyPr wrap="square" rtlCol="0">
            <a:spAutoFit/>
          </a:bodyPr>
          <a:lstStyle/>
          <a:p>
            <a:r>
              <a:rPr lang="en-AU" sz="2400" dirty="0" smtClean="0"/>
              <a:t>Lower quartile = 2.5</a:t>
            </a:r>
            <a:endParaRPr lang="en-AU" sz="2400" dirty="0"/>
          </a:p>
        </p:txBody>
      </p:sp>
      <p:cxnSp>
        <p:nvCxnSpPr>
          <p:cNvPr id="22" name="Straight Connector 21"/>
          <p:cNvCxnSpPr/>
          <p:nvPr/>
        </p:nvCxnSpPr>
        <p:spPr>
          <a:xfrm>
            <a:off x="2804160" y="2929234"/>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3766820" y="2224822"/>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973392"/>
            <a:ext cx="4541520" cy="461665"/>
          </a:xfrm>
          <a:prstGeom prst="rect">
            <a:avLst/>
          </a:prstGeom>
          <a:noFill/>
        </p:spPr>
        <p:txBody>
          <a:bodyPr wrap="square" rtlCol="0">
            <a:spAutoFit/>
          </a:bodyPr>
          <a:lstStyle/>
          <a:p>
            <a:r>
              <a:rPr lang="en-AU" sz="2400" dirty="0" smtClean="0"/>
              <a:t>Upper quartile = 7.5</a:t>
            </a:r>
            <a:endParaRPr lang="en-AU" sz="2400" dirty="0"/>
          </a:p>
        </p:txBody>
      </p:sp>
      <p:sp>
        <p:nvSpPr>
          <p:cNvPr id="20" name="TextBox 19"/>
          <p:cNvSpPr txBox="1"/>
          <p:nvPr/>
        </p:nvSpPr>
        <p:spPr>
          <a:xfrm>
            <a:off x="187960" y="3426210"/>
            <a:ext cx="4541520" cy="461665"/>
          </a:xfrm>
          <a:prstGeom prst="rect">
            <a:avLst/>
          </a:prstGeom>
          <a:noFill/>
        </p:spPr>
        <p:txBody>
          <a:bodyPr wrap="square" rtlCol="0">
            <a:spAutoFit/>
          </a:bodyPr>
          <a:lstStyle/>
          <a:p>
            <a:r>
              <a:rPr lang="en-AU" sz="2400" dirty="0" smtClean="0"/>
              <a:t>Minimum = 2</a:t>
            </a:r>
            <a:endParaRPr lang="en-AU" sz="2400" dirty="0"/>
          </a:p>
        </p:txBody>
      </p:sp>
      <p:sp>
        <p:nvSpPr>
          <p:cNvPr id="24" name="TextBox 23"/>
          <p:cNvSpPr txBox="1"/>
          <p:nvPr/>
        </p:nvSpPr>
        <p:spPr>
          <a:xfrm>
            <a:off x="187960" y="3774549"/>
            <a:ext cx="4541520" cy="461665"/>
          </a:xfrm>
          <a:prstGeom prst="rect">
            <a:avLst/>
          </a:prstGeom>
          <a:noFill/>
        </p:spPr>
        <p:txBody>
          <a:bodyPr wrap="square" rtlCol="0">
            <a:spAutoFit/>
          </a:bodyPr>
          <a:lstStyle/>
          <a:p>
            <a:r>
              <a:rPr lang="en-AU" sz="2400" dirty="0" smtClean="0"/>
              <a:t>Maximum = </a:t>
            </a:r>
            <a:r>
              <a:rPr lang="en-AU" sz="2400" dirty="0"/>
              <a:t>9</a:t>
            </a:r>
          </a:p>
        </p:txBody>
      </p:sp>
      <p:sp>
        <p:nvSpPr>
          <p:cNvPr id="26" name="TextBox 25"/>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386415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10"/>
                                        </p:tgtEl>
                                      </p:cBhvr>
                                    </p:animEffect>
                                    <p:animScale>
                                      <p:cBhvr>
                                        <p:cTn id="15" dur="250" autoRev="1" fill="hold"/>
                                        <p:tgtEl>
                                          <p:spTgt spid="10"/>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11"/>
                                        </p:tgtEl>
                                      </p:cBhvr>
                                    </p:animEffect>
                                    <p:animScale>
                                      <p:cBhvr>
                                        <p:cTn id="32" dur="250" autoRev="1" fill="hold"/>
                                        <p:tgtEl>
                                          <p:spTgt spid="11"/>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nodeType="clickEffect">
                                  <p:stCondLst>
                                    <p:cond delay="0"/>
                                  </p:stCondLst>
                                  <p:childTnLst>
                                    <p:animEffect transition="out" filter="fade">
                                      <p:cBhvr>
                                        <p:cTn id="48" dur="500" tmFilter="0, 0; .2, .5; .8, .5; 1, 0"/>
                                        <p:tgtEl>
                                          <p:spTgt spid="12"/>
                                        </p:tgtEl>
                                      </p:cBhvr>
                                    </p:animEffect>
                                    <p:animScale>
                                      <p:cBhvr>
                                        <p:cTn id="49" dur="250" autoRev="1" fill="hold"/>
                                        <p:tgtEl>
                                          <p:spTgt spid="12"/>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P spid="20"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119697" y="5075873"/>
            <a:ext cx="11827922" cy="735647"/>
          </a:xfrm>
          <a:prstGeom prst="rect">
            <a:avLst/>
          </a:prstGeom>
        </p:spPr>
      </p:pic>
      <p:sp>
        <p:nvSpPr>
          <p:cNvPr id="12" name="TextBox 11"/>
          <p:cNvSpPr txBox="1"/>
          <p:nvPr/>
        </p:nvSpPr>
        <p:spPr>
          <a:xfrm>
            <a:off x="233680" y="756920"/>
            <a:ext cx="11399520" cy="830997"/>
          </a:xfrm>
          <a:prstGeom prst="rect">
            <a:avLst/>
          </a:prstGeom>
          <a:noFill/>
        </p:spPr>
        <p:txBody>
          <a:bodyPr wrap="square" rtlCol="0">
            <a:spAutoFit/>
          </a:bodyPr>
          <a:lstStyle/>
          <a:p>
            <a:r>
              <a:rPr lang="en-AU" sz="2400" dirty="0" smtClean="0"/>
              <a:t>A Mathematics teacher creates a 5 number summary of their students’ test results. </a:t>
            </a:r>
          </a:p>
          <a:p>
            <a:r>
              <a:rPr lang="en-AU" sz="2400" dirty="0" smtClean="0"/>
              <a:t>Use this data to draw a boxplot.</a:t>
            </a:r>
            <a:endParaRPr lang="en-AU" sz="2400" dirty="0"/>
          </a:p>
        </p:txBody>
      </p:sp>
      <p:graphicFrame>
        <p:nvGraphicFramePr>
          <p:cNvPr id="15" name="Table 14"/>
          <p:cNvGraphicFramePr>
            <a:graphicFrameLocks noGrp="1"/>
          </p:cNvGraphicFramePr>
          <p:nvPr>
            <p:extLst/>
          </p:nvPr>
        </p:nvGraphicFramePr>
        <p:xfrm>
          <a:off x="342900" y="16357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effectLst/>
                        </a:rPr>
                        <a:t>10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a:effectLst/>
                        </a:rPr>
                        <a:t>35</a:t>
                      </a:r>
                      <a:endParaRPr lang="en-AU" sz="2000" b="1"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rgbClr val="7030A0"/>
                          </a:solidFill>
                          <a:effectLst/>
                        </a:rPr>
                        <a:t>Median</a:t>
                      </a:r>
                      <a:endParaRPr lang="en-AU" sz="2000" b="1" i="0" u="none" strike="noStrike" dirty="0">
                        <a:solidFill>
                          <a:srgbClr val="7030A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solidFill>
                            <a:srgbClr val="7030A0"/>
                          </a:solidFill>
                          <a:effectLst/>
                        </a:rPr>
                        <a:t>55</a:t>
                      </a:r>
                      <a:endParaRPr lang="en-AU" sz="2000" b="1" i="0" u="none" strike="noStrike" dirty="0">
                        <a:solidFill>
                          <a:srgbClr val="7030A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a:effectLst/>
                        </a:rPr>
                        <a:t>70</a:t>
                      </a:r>
                      <a:endParaRPr lang="en-AU" sz="2000" b="1"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effectLst/>
                        </a:rPr>
                        <a:t>100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6" name="Right Brace 15"/>
          <p:cNvSpPr/>
          <p:nvPr/>
        </p:nvSpPr>
        <p:spPr>
          <a:xfrm>
            <a:off x="2890520" y="2164080"/>
            <a:ext cx="340360" cy="127508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7" name="TextBox 16"/>
          <p:cNvSpPr txBox="1"/>
          <p:nvPr/>
        </p:nvSpPr>
        <p:spPr>
          <a:xfrm>
            <a:off x="3388360" y="2534920"/>
            <a:ext cx="1610360" cy="461665"/>
          </a:xfrm>
          <a:prstGeom prst="rect">
            <a:avLst/>
          </a:prstGeom>
          <a:noFill/>
        </p:spPr>
        <p:txBody>
          <a:bodyPr wrap="square" rtlCol="0">
            <a:spAutoFit/>
          </a:bodyPr>
          <a:lstStyle/>
          <a:p>
            <a:r>
              <a:rPr lang="en-AU" sz="2400" dirty="0">
                <a:solidFill>
                  <a:srgbClr val="0070C0"/>
                </a:solidFill>
              </a:rPr>
              <a:t>B</a:t>
            </a:r>
            <a:r>
              <a:rPr lang="en-AU" sz="2400" dirty="0" smtClean="0">
                <a:solidFill>
                  <a:srgbClr val="0070C0"/>
                </a:solidFill>
              </a:rPr>
              <a:t>ox</a:t>
            </a:r>
            <a:endParaRPr lang="en-AU" sz="2400" dirty="0">
              <a:solidFill>
                <a:srgbClr val="0070C0"/>
              </a:solidFill>
            </a:endParaRPr>
          </a:p>
        </p:txBody>
      </p:sp>
      <p:sp>
        <p:nvSpPr>
          <p:cNvPr id="18" name="Right Brace 17"/>
          <p:cNvSpPr/>
          <p:nvPr/>
        </p:nvSpPr>
        <p:spPr>
          <a:xfrm>
            <a:off x="2945880" y="1656080"/>
            <a:ext cx="244360" cy="47244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9" name="TextBox 18"/>
          <p:cNvSpPr txBox="1"/>
          <p:nvPr/>
        </p:nvSpPr>
        <p:spPr>
          <a:xfrm>
            <a:off x="3388360" y="1666855"/>
            <a:ext cx="1610360" cy="461665"/>
          </a:xfrm>
          <a:prstGeom prst="rect">
            <a:avLst/>
          </a:prstGeom>
          <a:noFill/>
        </p:spPr>
        <p:txBody>
          <a:bodyPr wrap="square" rtlCol="0">
            <a:spAutoFit/>
          </a:bodyPr>
          <a:lstStyle/>
          <a:p>
            <a:r>
              <a:rPr lang="en-AU" sz="2400" dirty="0" smtClean="0">
                <a:solidFill>
                  <a:srgbClr val="FF0000"/>
                </a:solidFill>
              </a:rPr>
              <a:t>Whisker</a:t>
            </a:r>
            <a:endParaRPr lang="en-AU" sz="2400" dirty="0">
              <a:solidFill>
                <a:srgbClr val="FF0000"/>
              </a:solidFill>
            </a:endParaRPr>
          </a:p>
        </p:txBody>
      </p:sp>
      <p:sp>
        <p:nvSpPr>
          <p:cNvPr id="20" name="Right Brace 19"/>
          <p:cNvSpPr/>
          <p:nvPr/>
        </p:nvSpPr>
        <p:spPr>
          <a:xfrm>
            <a:off x="2890520" y="3463945"/>
            <a:ext cx="244360" cy="472440"/>
          </a:xfrm>
          <a:prstGeom prst="rightBrace">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1" name="TextBox 20"/>
          <p:cNvSpPr txBox="1"/>
          <p:nvPr/>
        </p:nvSpPr>
        <p:spPr>
          <a:xfrm>
            <a:off x="3333000" y="3474720"/>
            <a:ext cx="1610360" cy="461665"/>
          </a:xfrm>
          <a:prstGeom prst="rect">
            <a:avLst/>
          </a:prstGeom>
          <a:noFill/>
        </p:spPr>
        <p:txBody>
          <a:bodyPr wrap="square" rtlCol="0">
            <a:spAutoFit/>
          </a:bodyPr>
          <a:lstStyle/>
          <a:p>
            <a:r>
              <a:rPr lang="en-AU" sz="2400" dirty="0" smtClean="0">
                <a:solidFill>
                  <a:srgbClr val="00B050"/>
                </a:solidFill>
              </a:rPr>
              <a:t>Whisker</a:t>
            </a:r>
            <a:endParaRPr lang="en-AU" sz="2400" dirty="0">
              <a:solidFill>
                <a:srgbClr val="00B050"/>
              </a:solidFill>
            </a:endParaRPr>
          </a:p>
        </p:txBody>
      </p:sp>
      <p:sp>
        <p:nvSpPr>
          <p:cNvPr id="22" name="Rectangle 21"/>
          <p:cNvSpPr/>
          <p:nvPr/>
        </p:nvSpPr>
        <p:spPr>
          <a:xfrm>
            <a:off x="4419600" y="4285457"/>
            <a:ext cx="3779520" cy="77216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4" name="Straight Connector 23"/>
          <p:cNvCxnSpPr/>
          <p:nvPr/>
        </p:nvCxnSpPr>
        <p:spPr>
          <a:xfrm>
            <a:off x="4419600" y="4358640"/>
            <a:ext cx="0" cy="68072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199120" y="4358640"/>
            <a:ext cx="0" cy="68072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6578600" y="4285457"/>
            <a:ext cx="5080" cy="77216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2" idx="1"/>
          </p:cNvCxnSpPr>
          <p:nvPr/>
        </p:nvCxnSpPr>
        <p:spPr>
          <a:xfrm flipH="1">
            <a:off x="1737360" y="4671537"/>
            <a:ext cx="2682240" cy="20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3"/>
          </p:cNvCxnSpPr>
          <p:nvPr/>
        </p:nvCxnSpPr>
        <p:spPr>
          <a:xfrm>
            <a:off x="8199120" y="4671537"/>
            <a:ext cx="322072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cxnSp>
        <p:nvCxnSpPr>
          <p:cNvPr id="3" name="Straight Connector 2"/>
          <p:cNvCxnSpPr/>
          <p:nvPr/>
        </p:nvCxnSpPr>
        <p:spPr>
          <a:xfrm>
            <a:off x="1743799" y="4512489"/>
            <a:ext cx="0" cy="315311"/>
          </a:xfrm>
          <a:prstGeom prst="line">
            <a:avLst/>
          </a:prstGeom>
          <a:ln w="3492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26" name="Straight Connector 25"/>
          <p:cNvCxnSpPr/>
          <p:nvPr/>
        </p:nvCxnSpPr>
        <p:spPr>
          <a:xfrm>
            <a:off x="11409969" y="4499611"/>
            <a:ext cx="0" cy="315311"/>
          </a:xfrm>
          <a:prstGeom prst="line">
            <a:avLst/>
          </a:prstGeom>
          <a:ln w="34925">
            <a:solidFill>
              <a:srgbClr val="00B05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3884264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animBg="1"/>
      <p:bldP spid="19" grpId="0"/>
      <p:bldP spid="20" grpId="0" animBg="1"/>
      <p:bldP spid="21" grpId="0"/>
      <p:bldP spid="2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p:cNvSpPr txBox="1"/>
          <p:nvPr/>
        </p:nvSpPr>
        <p:spPr>
          <a:xfrm>
            <a:off x="233680" y="756920"/>
            <a:ext cx="11399520" cy="830997"/>
          </a:xfrm>
          <a:prstGeom prst="rect">
            <a:avLst/>
          </a:prstGeom>
          <a:noFill/>
        </p:spPr>
        <p:txBody>
          <a:bodyPr wrap="square" rtlCol="0">
            <a:spAutoFit/>
          </a:bodyPr>
          <a:lstStyle/>
          <a:p>
            <a:r>
              <a:rPr lang="en-AU" sz="2400" dirty="0" smtClean="0"/>
              <a:t>A Science student records the temperature at midday every day for a month.</a:t>
            </a:r>
          </a:p>
          <a:p>
            <a:r>
              <a:rPr lang="en-AU" sz="2400" dirty="0" smtClean="0"/>
              <a:t>Draw a boxplot of their data.</a:t>
            </a:r>
            <a:endParaRPr lang="en-AU" sz="2400" dirty="0"/>
          </a:p>
        </p:txBody>
      </p:sp>
      <p:graphicFrame>
        <p:nvGraphicFramePr>
          <p:cNvPr id="15" name="Table 14"/>
          <p:cNvGraphicFramePr>
            <a:graphicFrameLocks noGrp="1"/>
          </p:cNvGraphicFramePr>
          <p:nvPr>
            <p:extLst/>
          </p:nvPr>
        </p:nvGraphicFramePr>
        <p:xfrm>
          <a:off x="342900" y="16357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smtClean="0">
                          <a:effectLst/>
                        </a:rPr>
                        <a:t>13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mn-lt"/>
                        </a:rPr>
                        <a:t>16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18.5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24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22" name="Rectangle 21"/>
          <p:cNvSpPr/>
          <p:nvPr/>
        </p:nvSpPr>
        <p:spPr>
          <a:xfrm>
            <a:off x="4191000" y="4808696"/>
            <a:ext cx="2519680" cy="772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4" name="Straight Connector 23"/>
          <p:cNvCxnSpPr/>
          <p:nvPr/>
        </p:nvCxnSpPr>
        <p:spPr>
          <a:xfrm>
            <a:off x="419100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71068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37760" y="4808696"/>
            <a:ext cx="0" cy="8160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2" idx="1"/>
          </p:cNvCxnSpPr>
          <p:nvPr/>
        </p:nvCxnSpPr>
        <p:spPr>
          <a:xfrm flipH="1" flipV="1">
            <a:off x="2799080" y="5193745"/>
            <a:ext cx="1391920" cy="1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3"/>
          </p:cNvCxnSpPr>
          <p:nvPr/>
        </p:nvCxnSpPr>
        <p:spPr>
          <a:xfrm>
            <a:off x="6710680" y="5194776"/>
            <a:ext cx="3952240" cy="21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233680" y="5580856"/>
            <a:ext cx="11541760" cy="729474"/>
          </a:xfrm>
          <a:prstGeom prst="rect">
            <a:avLst/>
          </a:prstGeom>
        </p:spPr>
      </p:pic>
      <p:sp>
        <p:nvSpPr>
          <p:cNvPr id="13" name="TextBox 12"/>
          <p:cNvSpPr txBox="1"/>
          <p:nvPr/>
        </p:nvSpPr>
        <p:spPr>
          <a:xfrm>
            <a:off x="0" y="0"/>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cxnSp>
        <p:nvCxnSpPr>
          <p:cNvPr id="14" name="Straight Connector 13"/>
          <p:cNvCxnSpPr/>
          <p:nvPr/>
        </p:nvCxnSpPr>
        <p:spPr>
          <a:xfrm>
            <a:off x="2786986" y="5034076"/>
            <a:ext cx="0" cy="315311"/>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cxnSp>
        <p:nvCxnSpPr>
          <p:cNvPr id="16" name="Straight Connector 15"/>
          <p:cNvCxnSpPr/>
          <p:nvPr/>
        </p:nvCxnSpPr>
        <p:spPr>
          <a:xfrm>
            <a:off x="10653794" y="5044817"/>
            <a:ext cx="0" cy="315311"/>
          </a:xfrm>
          <a:prstGeom prst="line">
            <a:avLst/>
          </a:prstGeom>
          <a:ln w="34925">
            <a:solidFill>
              <a:schemeClr val="tx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999587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3433207"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Learning Objective</a:t>
            </a:r>
            <a:endParaRPr lang="en-AU" sz="3200" dirty="0"/>
          </a:p>
        </p:txBody>
      </p:sp>
      <p:sp>
        <p:nvSpPr>
          <p:cNvPr id="7" name="TextBox 6"/>
          <p:cNvSpPr txBox="1"/>
          <p:nvPr/>
        </p:nvSpPr>
        <p:spPr>
          <a:xfrm>
            <a:off x="0" y="2548141"/>
            <a:ext cx="295637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Success Criteria</a:t>
            </a:r>
            <a:endParaRPr lang="en-AU" sz="3200" dirty="0"/>
          </a:p>
        </p:txBody>
      </p:sp>
      <p:graphicFrame>
        <p:nvGraphicFramePr>
          <p:cNvPr id="22" name="Table 21"/>
          <p:cNvGraphicFramePr>
            <a:graphicFrameLocks noGrp="1"/>
          </p:cNvGraphicFramePr>
          <p:nvPr>
            <p:extLst/>
          </p:nvPr>
        </p:nvGraphicFramePr>
        <p:xfrm>
          <a:off x="9505808" y="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3" name="Table 22"/>
          <p:cNvGraphicFramePr>
            <a:graphicFrameLocks noGrp="1"/>
          </p:cNvGraphicFramePr>
          <p:nvPr>
            <p:extLst/>
          </p:nvPr>
        </p:nvGraphicFramePr>
        <p:xfrm>
          <a:off x="9505808" y="99568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2</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4" name="Table 23"/>
          <p:cNvGraphicFramePr>
            <a:graphicFrameLocks noGrp="1"/>
          </p:cNvGraphicFramePr>
          <p:nvPr>
            <p:extLst/>
          </p:nvPr>
        </p:nvGraphicFramePr>
        <p:xfrm>
          <a:off x="9505808" y="196088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3</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a:t>
                      </a:r>
                      <a:r>
                        <a:rPr lang="en-AU" baseline="0" dirty="0" smtClean="0"/>
                        <a:t> we know if we’ve been successful?</a:t>
                      </a:r>
                      <a:endParaRPr lang="en-AU"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5" name="Table 24"/>
          <p:cNvGraphicFramePr>
            <a:graphicFrameLocks noGrp="1"/>
          </p:cNvGraphicFramePr>
          <p:nvPr>
            <p:extLst/>
          </p:nvPr>
        </p:nvGraphicFramePr>
        <p:xfrm>
          <a:off x="9505808" y="317500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4</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 we know if we’ve been successful?</a:t>
                      </a:r>
                    </a:p>
                  </a:txBody>
                  <a:tcPr>
                    <a:solidFill>
                      <a:schemeClr val="bg2"/>
                    </a:solidFill>
                  </a:tcPr>
                </a:tc>
                <a:extLst>
                  <a:ext uri="{0D108BD9-81ED-4DB2-BD59-A6C34878D82A}">
                    <a16:rowId xmlns:a16="http://schemas.microsoft.com/office/drawing/2014/main" val="10001"/>
                  </a:ext>
                </a:extLst>
              </a:tr>
            </a:tbl>
          </a:graphicData>
        </a:graphic>
      </p:graphicFrame>
      <p:sp>
        <p:nvSpPr>
          <p:cNvPr id="11" name="Content Placeholder 1"/>
          <p:cNvSpPr>
            <a:spLocks noGrp="1"/>
          </p:cNvSpPr>
          <p:nvPr>
            <p:ph sz="half" idx="1"/>
          </p:nvPr>
        </p:nvSpPr>
        <p:spPr>
          <a:xfrm>
            <a:off x="203200" y="795929"/>
            <a:ext cx="8873482" cy="2285216"/>
          </a:xfrm>
        </p:spPr>
        <p:txBody>
          <a:bodyPr>
            <a:normAutofit/>
          </a:bodyPr>
          <a:lstStyle/>
          <a:p>
            <a:pPr marL="0" indent="0">
              <a:buNone/>
            </a:pPr>
            <a:r>
              <a:rPr lang="en-AU" b="1" dirty="0" smtClean="0"/>
              <a:t>I will compare parallel boxplots.</a:t>
            </a:r>
            <a:endParaRPr lang="en-AU" dirty="0" smtClean="0"/>
          </a:p>
        </p:txBody>
      </p:sp>
      <p:sp>
        <p:nvSpPr>
          <p:cNvPr id="12" name="Content Placeholder 2"/>
          <p:cNvSpPr txBox="1">
            <a:spLocks/>
          </p:cNvSpPr>
          <p:nvPr/>
        </p:nvSpPr>
        <p:spPr>
          <a:xfrm>
            <a:off x="249168" y="3635312"/>
            <a:ext cx="8771965" cy="24996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smtClean="0"/>
              <a:t>I will be able to:</a:t>
            </a:r>
          </a:p>
          <a:p>
            <a:r>
              <a:rPr lang="en-AU" b="1" dirty="0" smtClean="0"/>
              <a:t>Find the 5 number summary of parallel boxplots.</a:t>
            </a:r>
          </a:p>
          <a:p>
            <a:r>
              <a:rPr lang="en-AU" b="1" dirty="0" smtClean="0"/>
              <a:t>Compare the median, range and inter-quartile range of parallel boxplots.</a:t>
            </a:r>
          </a:p>
        </p:txBody>
      </p:sp>
    </p:spTree>
    <p:extLst>
      <p:ext uri="{BB962C8B-B14F-4D97-AF65-F5344CB8AC3E}">
        <p14:creationId xmlns:p14="http://schemas.microsoft.com/office/powerpoint/2010/main" val="306677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23"/>
                                        </p:tgtEl>
                                      </p:cBhvr>
                                    </p:animEffect>
                                    <p:animScale>
                                      <p:cBhvr>
                                        <p:cTn id="12" dur="250" autoRev="1" fill="hold"/>
                                        <p:tgtEl>
                                          <p:spTgt spid="2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24"/>
                                        </p:tgtEl>
                                      </p:cBhvr>
                                    </p:animEffect>
                                    <p:animScale>
                                      <p:cBhvr>
                                        <p:cTn id="17" dur="250" autoRev="1" fill="hold"/>
                                        <p:tgtEl>
                                          <p:spTgt spid="2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25"/>
                                        </p:tgtEl>
                                      </p:cBhvr>
                                    </p:animEffect>
                                    <p:animScale>
                                      <p:cBhvr>
                                        <p:cTn id="22"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graphicFrame>
        <p:nvGraphicFramePr>
          <p:cNvPr id="5" name="Table 4"/>
          <p:cNvGraphicFramePr>
            <a:graphicFrameLocks noGrp="1"/>
          </p:cNvGraphicFramePr>
          <p:nvPr>
            <p:extLst>
              <p:ext uri="{D42A27DB-BD31-4B8C-83A1-F6EECF244321}">
                <p14:modId xmlns:p14="http://schemas.microsoft.com/office/powerpoint/2010/main" val="3724435370"/>
              </p:ext>
            </p:extLst>
          </p:nvPr>
        </p:nvGraphicFramePr>
        <p:xfrm>
          <a:off x="8625840" y="0"/>
          <a:ext cx="3566160" cy="736600"/>
        </p:xfrm>
        <a:graphic>
          <a:graphicData uri="http://schemas.openxmlformats.org/drawingml/2006/table">
            <a:tbl>
              <a:tblPr firstRow="1" bandRow="1">
                <a:tableStyleId>{21E4AEA4-8DFA-4A89-87EB-49C32662AFE0}</a:tableStyleId>
              </a:tblPr>
              <a:tblGrid>
                <a:gridCol w="356616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Why</a:t>
                      </a:r>
                      <a:r>
                        <a:rPr lang="en-AU" baseline="0" dirty="0" smtClean="0"/>
                        <a:t> is a parallel boxplot useful?</a:t>
                      </a:r>
                      <a:endParaRPr lang="en-AU" dirty="0" smtClean="0"/>
                    </a:p>
                  </a:txBody>
                  <a:tcPr>
                    <a:solidFill>
                      <a:schemeClr val="bg2"/>
                    </a:solidFill>
                  </a:tcPr>
                </a:tc>
                <a:extLst>
                  <a:ext uri="{0D108BD9-81ED-4DB2-BD59-A6C34878D82A}">
                    <a16:rowId xmlns:a16="http://schemas.microsoft.com/office/drawing/2014/main" val="10001"/>
                  </a:ext>
                </a:extLst>
              </a:tr>
            </a:tbl>
          </a:graphicData>
        </a:graphic>
      </p:graphicFrame>
      <p:sp>
        <p:nvSpPr>
          <p:cNvPr id="2" name="TextBox 1"/>
          <p:cNvSpPr txBox="1"/>
          <p:nvPr/>
        </p:nvSpPr>
        <p:spPr>
          <a:xfrm>
            <a:off x="127000" y="828040"/>
            <a:ext cx="11871960" cy="3416320"/>
          </a:xfrm>
          <a:prstGeom prst="rect">
            <a:avLst/>
          </a:prstGeom>
          <a:noFill/>
        </p:spPr>
        <p:txBody>
          <a:bodyPr wrap="square" rtlCol="0">
            <a:spAutoFit/>
          </a:bodyPr>
          <a:lstStyle/>
          <a:p>
            <a:r>
              <a:rPr lang="en-AU" sz="2400" dirty="0" smtClean="0"/>
              <a:t>Boxplots are useful when comparing data sets. You can use a parallel boxplot, which is when two or more boxplots are drawn on the same number line.</a:t>
            </a:r>
          </a:p>
          <a:p>
            <a:r>
              <a:rPr lang="en-AU" sz="2400" dirty="0" smtClean="0"/>
              <a:t>From the parallel boxplot, you can easily compare and comment on the median, range and inter-quartile range of the data sets, as well as deciding which data set is more consistent.</a:t>
            </a:r>
          </a:p>
          <a:p>
            <a:endParaRPr lang="en-AU" sz="2400" dirty="0"/>
          </a:p>
          <a:p>
            <a:r>
              <a:rPr lang="en-AU" sz="2400" dirty="0" smtClean="0"/>
              <a:t>Two classes take a test and their teacher wants to compare the results. They find the 5 number summary and draw two boxplots on the same number line.</a:t>
            </a:r>
          </a:p>
          <a:p>
            <a:endParaRPr lang="en-AU" sz="2400" dirty="0"/>
          </a:p>
          <a:p>
            <a:endParaRPr lang="en-AU" sz="2400" dirty="0"/>
          </a:p>
        </p:txBody>
      </p:sp>
      <p:pic>
        <p:nvPicPr>
          <p:cNvPr id="7" name="Picture 6"/>
          <p:cNvPicPr>
            <a:picLocks noChangeAspect="1"/>
          </p:cNvPicPr>
          <p:nvPr/>
        </p:nvPicPr>
        <p:blipFill>
          <a:blip r:embed="rId2"/>
          <a:stretch>
            <a:fillRect/>
          </a:stretch>
        </p:blipFill>
        <p:spPr>
          <a:xfrm>
            <a:off x="243522" y="3854579"/>
            <a:ext cx="7007345" cy="2297301"/>
          </a:xfrm>
          <a:prstGeom prst="rect">
            <a:avLst/>
          </a:prstGeom>
        </p:spPr>
      </p:pic>
      <p:sp>
        <p:nvSpPr>
          <p:cNvPr id="8" name="TextBox 7"/>
          <p:cNvSpPr txBox="1"/>
          <p:nvPr/>
        </p:nvSpPr>
        <p:spPr>
          <a:xfrm>
            <a:off x="7432040" y="3843556"/>
            <a:ext cx="4470400" cy="2308324"/>
          </a:xfrm>
          <a:prstGeom prst="rect">
            <a:avLst/>
          </a:prstGeom>
          <a:noFill/>
        </p:spPr>
        <p:txBody>
          <a:bodyPr wrap="square" rtlCol="0">
            <a:spAutoFit/>
          </a:bodyPr>
          <a:lstStyle/>
          <a:p>
            <a:r>
              <a:rPr lang="en-AU" sz="2400" dirty="0" smtClean="0"/>
              <a:t>10B has a higher median score than 10A, and also has a smaller range and inter-quartile range.</a:t>
            </a:r>
          </a:p>
          <a:p>
            <a:endParaRPr lang="en-AU" sz="2400" dirty="0"/>
          </a:p>
          <a:p>
            <a:r>
              <a:rPr lang="en-AU" sz="2400" dirty="0" smtClean="0"/>
              <a:t>10B performed better and more consistently in the test.</a:t>
            </a:r>
            <a:endParaRPr lang="en-AU" sz="2400" dirty="0"/>
          </a:p>
        </p:txBody>
      </p:sp>
    </p:spTree>
    <p:extLst>
      <p:ext uri="{BB962C8B-B14F-4D97-AF65-F5344CB8AC3E}">
        <p14:creationId xmlns:p14="http://schemas.microsoft.com/office/powerpoint/2010/main" val="87909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graphicFrame>
        <p:nvGraphicFramePr>
          <p:cNvPr id="3" name="Table 2"/>
          <p:cNvGraphicFramePr>
            <a:graphicFrameLocks noGrp="1"/>
          </p:cNvGraphicFramePr>
          <p:nvPr>
            <p:extLst>
              <p:ext uri="{D42A27DB-BD31-4B8C-83A1-F6EECF244321}">
                <p14:modId xmlns:p14="http://schemas.microsoft.com/office/powerpoint/2010/main" val="1515490533"/>
              </p:ext>
            </p:extLst>
          </p:nvPr>
        </p:nvGraphicFramePr>
        <p:xfrm>
          <a:off x="8869680" y="0"/>
          <a:ext cx="3322320" cy="1005840"/>
        </p:xfrm>
        <a:graphic>
          <a:graphicData uri="http://schemas.openxmlformats.org/drawingml/2006/table">
            <a:tbl>
              <a:tblPr firstRow="1" bandRow="1">
                <a:tableStyleId>{21E4AEA4-8DFA-4A89-87EB-49C32662AFE0}</a:tableStyleId>
              </a:tblPr>
              <a:tblGrid>
                <a:gridCol w="332232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three things do you need to compare in a boxplot?</a:t>
                      </a:r>
                    </a:p>
                  </a:txBody>
                  <a:tcPr>
                    <a:solidFill>
                      <a:schemeClr val="bg2"/>
                    </a:solidFill>
                  </a:tcPr>
                </a:tc>
                <a:extLst>
                  <a:ext uri="{0D108BD9-81ED-4DB2-BD59-A6C34878D82A}">
                    <a16:rowId xmlns:a16="http://schemas.microsoft.com/office/drawing/2014/main" val="10001"/>
                  </a:ext>
                </a:extLst>
              </a:tr>
            </a:tbl>
          </a:graphicData>
        </a:graphic>
      </p:graphicFrame>
      <p:sp>
        <p:nvSpPr>
          <p:cNvPr id="6" name="TextBox 5"/>
          <p:cNvSpPr txBox="1"/>
          <p:nvPr/>
        </p:nvSpPr>
        <p:spPr>
          <a:xfrm>
            <a:off x="71120" y="640080"/>
            <a:ext cx="8854440" cy="461665"/>
          </a:xfrm>
          <a:prstGeom prst="rect">
            <a:avLst/>
          </a:prstGeom>
          <a:noFill/>
        </p:spPr>
        <p:txBody>
          <a:bodyPr wrap="square" rtlCol="0">
            <a:spAutoFit/>
          </a:bodyPr>
          <a:lstStyle/>
          <a:p>
            <a:r>
              <a:rPr lang="en-AU" sz="2400" dirty="0" smtClean="0"/>
              <a:t>The heights (cm) of the students in two Year 8 classes were recorded.</a:t>
            </a:r>
            <a:endParaRPr lang="en-AU" sz="2400" dirty="0"/>
          </a:p>
        </p:txBody>
      </p:sp>
      <p:pic>
        <p:nvPicPr>
          <p:cNvPr id="7" name="Picture 6"/>
          <p:cNvPicPr>
            <a:picLocks noChangeAspect="1"/>
          </p:cNvPicPr>
          <p:nvPr/>
        </p:nvPicPr>
        <p:blipFill>
          <a:blip r:embed="rId2"/>
          <a:stretch>
            <a:fillRect/>
          </a:stretch>
        </p:blipFill>
        <p:spPr>
          <a:xfrm>
            <a:off x="175577" y="1157050"/>
            <a:ext cx="11320463" cy="1858205"/>
          </a:xfrm>
          <a:prstGeom prst="rect">
            <a:avLst/>
          </a:prstGeom>
        </p:spPr>
      </p:pic>
      <p:sp>
        <p:nvSpPr>
          <p:cNvPr id="8" name="TextBox 7"/>
          <p:cNvSpPr txBox="1"/>
          <p:nvPr/>
        </p:nvSpPr>
        <p:spPr>
          <a:xfrm>
            <a:off x="34448" y="3019295"/>
            <a:ext cx="8927783" cy="461665"/>
          </a:xfrm>
          <a:prstGeom prst="rect">
            <a:avLst/>
          </a:prstGeom>
          <a:noFill/>
        </p:spPr>
        <p:txBody>
          <a:bodyPr wrap="square" rtlCol="0">
            <a:spAutoFit/>
          </a:bodyPr>
          <a:lstStyle/>
          <a:p>
            <a:r>
              <a:rPr lang="en-AU" sz="2400" dirty="0" smtClean="0"/>
              <a:t>Find the 5 number summary of each class’ data.</a:t>
            </a:r>
            <a:endParaRPr lang="en-AU" sz="2400" dirty="0"/>
          </a:p>
        </p:txBody>
      </p:sp>
      <p:graphicFrame>
        <p:nvGraphicFramePr>
          <p:cNvPr id="9" name="Table 8"/>
          <p:cNvGraphicFramePr>
            <a:graphicFrameLocks noGrp="1"/>
          </p:cNvGraphicFramePr>
          <p:nvPr>
            <p:extLst>
              <p:ext uri="{D42A27DB-BD31-4B8C-83A1-F6EECF244321}">
                <p14:modId xmlns:p14="http://schemas.microsoft.com/office/powerpoint/2010/main" val="3319548334"/>
              </p:ext>
            </p:extLst>
          </p:nvPr>
        </p:nvGraphicFramePr>
        <p:xfrm>
          <a:off x="347980" y="42773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173321137"/>
              </p:ext>
            </p:extLst>
          </p:nvPr>
        </p:nvGraphicFramePr>
        <p:xfrm>
          <a:off x="3310182" y="429260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11141116" y="1014437"/>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117600" y="1620520"/>
            <a:ext cx="9469120" cy="10378"/>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07A0B51-37CB-41A7-A11F-14650D24B314}"/>
              </a:ext>
            </a:extLst>
          </p:cNvPr>
          <p:cNvCxnSpPr>
            <a:cxnSpLocks/>
          </p:cNvCxnSpPr>
          <p:nvPr/>
        </p:nvCxnSpPr>
        <p:spPr>
          <a:xfrm>
            <a:off x="5862320" y="1014437"/>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1117600" y="2016760"/>
            <a:ext cx="9469120" cy="171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5852160" y="1493302"/>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270000" y="3708400"/>
            <a:ext cx="1640840" cy="461665"/>
          </a:xfrm>
          <a:prstGeom prst="rect">
            <a:avLst/>
          </a:prstGeom>
          <a:noFill/>
        </p:spPr>
        <p:txBody>
          <a:bodyPr wrap="square" rtlCol="0">
            <a:spAutoFit/>
          </a:bodyPr>
          <a:lstStyle/>
          <a:p>
            <a:r>
              <a:rPr lang="en-AU" sz="2400" dirty="0" smtClean="0"/>
              <a:t>8A</a:t>
            </a:r>
            <a:endParaRPr lang="en-AU" sz="2400" dirty="0"/>
          </a:p>
        </p:txBody>
      </p:sp>
      <p:sp>
        <p:nvSpPr>
          <p:cNvPr id="19" name="TextBox 18"/>
          <p:cNvSpPr txBox="1"/>
          <p:nvPr/>
        </p:nvSpPr>
        <p:spPr>
          <a:xfrm>
            <a:off x="4384040" y="3708399"/>
            <a:ext cx="1640840" cy="461665"/>
          </a:xfrm>
          <a:prstGeom prst="rect">
            <a:avLst/>
          </a:prstGeom>
          <a:noFill/>
        </p:spPr>
        <p:txBody>
          <a:bodyPr wrap="square" rtlCol="0">
            <a:spAutoFit/>
          </a:bodyPr>
          <a:lstStyle/>
          <a:p>
            <a:r>
              <a:rPr lang="en-AU" sz="2400" dirty="0" smtClean="0"/>
              <a:t>8B</a:t>
            </a:r>
            <a:endParaRPr lang="en-AU" sz="2400" dirty="0"/>
          </a:p>
        </p:txBody>
      </p:sp>
      <p:cxnSp>
        <p:nvCxnSpPr>
          <p:cNvPr id="20" name="Straight Arrow Connector 19">
            <a:extLst>
              <a:ext uri="{FF2B5EF4-FFF2-40B4-BE49-F238E27FC236}">
                <a16:creationId xmlns:a16="http://schemas.microsoft.com/office/drawing/2014/main" id="{007A0B51-37CB-41A7-A11F-14650D24B314}"/>
              </a:ext>
            </a:extLst>
          </p:cNvPr>
          <p:cNvCxnSpPr>
            <a:cxnSpLocks/>
          </p:cNvCxnSpPr>
          <p:nvPr/>
        </p:nvCxnSpPr>
        <p:spPr>
          <a:xfrm>
            <a:off x="11141116" y="1886056"/>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V="1">
            <a:off x="1117600" y="2492139"/>
            <a:ext cx="9469120" cy="10378"/>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007A0B51-37CB-41A7-A11F-14650D24B314}"/>
              </a:ext>
            </a:extLst>
          </p:cNvPr>
          <p:cNvCxnSpPr>
            <a:cxnSpLocks/>
          </p:cNvCxnSpPr>
          <p:nvPr/>
        </p:nvCxnSpPr>
        <p:spPr>
          <a:xfrm>
            <a:off x="5862320" y="1886056"/>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V="1">
            <a:off x="1117600" y="2888379"/>
            <a:ext cx="9469120" cy="1714"/>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07A0B51-37CB-41A7-A11F-14650D24B314}"/>
              </a:ext>
            </a:extLst>
          </p:cNvPr>
          <p:cNvCxnSpPr>
            <a:cxnSpLocks/>
          </p:cNvCxnSpPr>
          <p:nvPr/>
        </p:nvCxnSpPr>
        <p:spPr>
          <a:xfrm>
            <a:off x="5852160" y="2364921"/>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197600" y="3015255"/>
            <a:ext cx="5994400" cy="830997"/>
          </a:xfrm>
          <a:prstGeom prst="rect">
            <a:avLst/>
          </a:prstGeom>
          <a:noFill/>
        </p:spPr>
        <p:txBody>
          <a:bodyPr wrap="square" rtlCol="0">
            <a:spAutoFit/>
          </a:bodyPr>
          <a:lstStyle/>
          <a:p>
            <a:r>
              <a:rPr lang="en-AU" sz="2400" dirty="0" smtClean="0"/>
              <a:t>Find the range and inter-quartile range of each class’ data.</a:t>
            </a:r>
            <a:endParaRPr lang="en-AU" sz="2400" dirty="0"/>
          </a:p>
        </p:txBody>
      </p:sp>
      <p:sp>
        <p:nvSpPr>
          <p:cNvPr id="26" name="TextBox 25"/>
          <p:cNvSpPr txBox="1"/>
          <p:nvPr/>
        </p:nvSpPr>
        <p:spPr>
          <a:xfrm>
            <a:off x="6233160" y="3978386"/>
            <a:ext cx="1640840" cy="461665"/>
          </a:xfrm>
          <a:prstGeom prst="rect">
            <a:avLst/>
          </a:prstGeom>
          <a:noFill/>
        </p:spPr>
        <p:txBody>
          <a:bodyPr wrap="square" rtlCol="0">
            <a:spAutoFit/>
          </a:bodyPr>
          <a:lstStyle/>
          <a:p>
            <a:r>
              <a:rPr lang="en-AU" sz="2400" dirty="0" smtClean="0"/>
              <a:t>8A</a:t>
            </a:r>
            <a:endParaRPr lang="en-AU" sz="2400" dirty="0"/>
          </a:p>
        </p:txBody>
      </p:sp>
      <p:sp>
        <p:nvSpPr>
          <p:cNvPr id="27" name="TextBox 26"/>
          <p:cNvSpPr txBox="1"/>
          <p:nvPr/>
        </p:nvSpPr>
        <p:spPr>
          <a:xfrm>
            <a:off x="6233160" y="5314425"/>
            <a:ext cx="1640840" cy="461665"/>
          </a:xfrm>
          <a:prstGeom prst="rect">
            <a:avLst/>
          </a:prstGeom>
          <a:noFill/>
        </p:spPr>
        <p:txBody>
          <a:bodyPr wrap="square" rtlCol="0">
            <a:spAutoFit/>
          </a:bodyPr>
          <a:lstStyle/>
          <a:p>
            <a:r>
              <a:rPr lang="en-AU" sz="2400" dirty="0" smtClean="0"/>
              <a:t>8B</a:t>
            </a:r>
            <a:endParaRPr lang="en-AU" sz="2400" dirty="0"/>
          </a:p>
        </p:txBody>
      </p:sp>
      <p:sp>
        <p:nvSpPr>
          <p:cNvPr id="28" name="TextBox 27"/>
          <p:cNvSpPr txBox="1"/>
          <p:nvPr/>
        </p:nvSpPr>
        <p:spPr>
          <a:xfrm>
            <a:off x="6233160" y="4436658"/>
            <a:ext cx="4541520" cy="461665"/>
          </a:xfrm>
          <a:prstGeom prst="rect">
            <a:avLst/>
          </a:prstGeom>
          <a:noFill/>
        </p:spPr>
        <p:txBody>
          <a:bodyPr wrap="square" rtlCol="0">
            <a:spAutoFit/>
          </a:bodyPr>
          <a:lstStyle/>
          <a:p>
            <a:r>
              <a:rPr lang="en-AU" sz="2400" dirty="0" smtClean="0"/>
              <a:t>Range: 168 – 148 = 20</a:t>
            </a:r>
          </a:p>
        </p:txBody>
      </p:sp>
      <p:sp>
        <p:nvSpPr>
          <p:cNvPr id="29" name="TextBox 28"/>
          <p:cNvSpPr txBox="1"/>
          <p:nvPr/>
        </p:nvSpPr>
        <p:spPr>
          <a:xfrm>
            <a:off x="6233160" y="4834331"/>
            <a:ext cx="4541520" cy="461665"/>
          </a:xfrm>
          <a:prstGeom prst="rect">
            <a:avLst/>
          </a:prstGeom>
          <a:noFill/>
        </p:spPr>
        <p:txBody>
          <a:bodyPr wrap="square" rtlCol="0">
            <a:spAutoFit/>
          </a:bodyPr>
          <a:lstStyle/>
          <a:p>
            <a:r>
              <a:rPr lang="en-AU" sz="2400" dirty="0" smtClean="0"/>
              <a:t>IQ range: 158 – 154 = 4</a:t>
            </a:r>
          </a:p>
        </p:txBody>
      </p:sp>
      <p:sp>
        <p:nvSpPr>
          <p:cNvPr id="30" name="TextBox 29"/>
          <p:cNvSpPr txBox="1"/>
          <p:nvPr/>
        </p:nvSpPr>
        <p:spPr>
          <a:xfrm>
            <a:off x="6233160" y="5679717"/>
            <a:ext cx="4541520" cy="461665"/>
          </a:xfrm>
          <a:prstGeom prst="rect">
            <a:avLst/>
          </a:prstGeom>
          <a:noFill/>
        </p:spPr>
        <p:txBody>
          <a:bodyPr wrap="square" rtlCol="0">
            <a:spAutoFit/>
          </a:bodyPr>
          <a:lstStyle/>
          <a:p>
            <a:r>
              <a:rPr lang="en-AU" sz="2400" dirty="0" smtClean="0"/>
              <a:t>Range: 163 – 150 = 13</a:t>
            </a:r>
          </a:p>
        </p:txBody>
      </p:sp>
      <p:sp>
        <p:nvSpPr>
          <p:cNvPr id="31" name="TextBox 30"/>
          <p:cNvSpPr txBox="1"/>
          <p:nvPr/>
        </p:nvSpPr>
        <p:spPr>
          <a:xfrm>
            <a:off x="6233160" y="6077390"/>
            <a:ext cx="4541520" cy="461665"/>
          </a:xfrm>
          <a:prstGeom prst="rect">
            <a:avLst/>
          </a:prstGeom>
          <a:noFill/>
        </p:spPr>
        <p:txBody>
          <a:bodyPr wrap="square" rtlCol="0">
            <a:spAutoFit/>
          </a:bodyPr>
          <a:lstStyle/>
          <a:p>
            <a:r>
              <a:rPr lang="en-AU" sz="2400" dirty="0" smtClean="0"/>
              <a:t>IQ range: 160 – 153 = 7</a:t>
            </a:r>
          </a:p>
        </p:txBody>
      </p:sp>
    </p:spTree>
    <p:extLst>
      <p:ext uri="{BB962C8B-B14F-4D97-AF65-F5344CB8AC3E}">
        <p14:creationId xmlns:p14="http://schemas.microsoft.com/office/powerpoint/2010/main" val="139543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2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6"/>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30"/>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5" grpId="0"/>
      <p:bldP spid="26" grpId="0"/>
      <p:bldP spid="27" grpId="0"/>
      <p:bldP spid="28" grpId="0"/>
      <p:bldP spid="29" grpId="0"/>
      <p:bldP spid="30" grpId="0"/>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graphicFrame>
        <p:nvGraphicFramePr>
          <p:cNvPr id="3" name="Table 2"/>
          <p:cNvGraphicFramePr>
            <a:graphicFrameLocks noGrp="1"/>
          </p:cNvGraphicFramePr>
          <p:nvPr>
            <p:extLst/>
          </p:nvPr>
        </p:nvGraphicFramePr>
        <p:xfrm>
          <a:off x="8869680" y="0"/>
          <a:ext cx="3322320" cy="1005840"/>
        </p:xfrm>
        <a:graphic>
          <a:graphicData uri="http://schemas.openxmlformats.org/drawingml/2006/table">
            <a:tbl>
              <a:tblPr firstRow="1" bandRow="1">
                <a:tableStyleId>{21E4AEA4-8DFA-4A89-87EB-49C32662AFE0}</a:tableStyleId>
              </a:tblPr>
              <a:tblGrid>
                <a:gridCol w="332232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three things do you need to compare in a boxplot?</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727528696"/>
              </p:ext>
            </p:extLst>
          </p:nvPr>
        </p:nvGraphicFramePr>
        <p:xfrm>
          <a:off x="287020" y="111760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168</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814823698"/>
              </p:ext>
            </p:extLst>
          </p:nvPr>
        </p:nvGraphicFramePr>
        <p:xfrm>
          <a:off x="3249222" y="113284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8" name="TextBox 17"/>
          <p:cNvSpPr txBox="1"/>
          <p:nvPr/>
        </p:nvSpPr>
        <p:spPr>
          <a:xfrm>
            <a:off x="1209040" y="548640"/>
            <a:ext cx="1640840" cy="461665"/>
          </a:xfrm>
          <a:prstGeom prst="rect">
            <a:avLst/>
          </a:prstGeom>
          <a:noFill/>
        </p:spPr>
        <p:txBody>
          <a:bodyPr wrap="square" rtlCol="0">
            <a:spAutoFit/>
          </a:bodyPr>
          <a:lstStyle/>
          <a:p>
            <a:r>
              <a:rPr lang="en-AU" sz="2400" dirty="0" smtClean="0"/>
              <a:t>8A</a:t>
            </a:r>
            <a:endParaRPr lang="en-AU" sz="2400" dirty="0"/>
          </a:p>
        </p:txBody>
      </p:sp>
      <p:sp>
        <p:nvSpPr>
          <p:cNvPr id="19" name="TextBox 18"/>
          <p:cNvSpPr txBox="1"/>
          <p:nvPr/>
        </p:nvSpPr>
        <p:spPr>
          <a:xfrm>
            <a:off x="4323080" y="548639"/>
            <a:ext cx="1640840" cy="461665"/>
          </a:xfrm>
          <a:prstGeom prst="rect">
            <a:avLst/>
          </a:prstGeom>
          <a:noFill/>
        </p:spPr>
        <p:txBody>
          <a:bodyPr wrap="square" rtlCol="0">
            <a:spAutoFit/>
          </a:bodyPr>
          <a:lstStyle/>
          <a:p>
            <a:r>
              <a:rPr lang="en-AU" sz="2400" dirty="0" smtClean="0"/>
              <a:t>8B</a:t>
            </a:r>
            <a:endParaRPr lang="en-AU" sz="2400" dirty="0"/>
          </a:p>
        </p:txBody>
      </p:sp>
      <p:sp>
        <p:nvSpPr>
          <p:cNvPr id="26" name="TextBox 25"/>
          <p:cNvSpPr txBox="1"/>
          <p:nvPr/>
        </p:nvSpPr>
        <p:spPr>
          <a:xfrm>
            <a:off x="6172200" y="584775"/>
            <a:ext cx="1640840" cy="461665"/>
          </a:xfrm>
          <a:prstGeom prst="rect">
            <a:avLst/>
          </a:prstGeom>
          <a:noFill/>
        </p:spPr>
        <p:txBody>
          <a:bodyPr wrap="square" rtlCol="0">
            <a:spAutoFit/>
          </a:bodyPr>
          <a:lstStyle/>
          <a:p>
            <a:r>
              <a:rPr lang="en-AU" sz="2400" dirty="0" smtClean="0"/>
              <a:t>8A</a:t>
            </a:r>
            <a:endParaRPr lang="en-AU" sz="2400" dirty="0"/>
          </a:p>
        </p:txBody>
      </p:sp>
      <p:sp>
        <p:nvSpPr>
          <p:cNvPr id="27" name="TextBox 26"/>
          <p:cNvSpPr txBox="1"/>
          <p:nvPr/>
        </p:nvSpPr>
        <p:spPr>
          <a:xfrm>
            <a:off x="6172200" y="1920814"/>
            <a:ext cx="1640840" cy="461665"/>
          </a:xfrm>
          <a:prstGeom prst="rect">
            <a:avLst/>
          </a:prstGeom>
          <a:noFill/>
        </p:spPr>
        <p:txBody>
          <a:bodyPr wrap="square" rtlCol="0">
            <a:spAutoFit/>
          </a:bodyPr>
          <a:lstStyle/>
          <a:p>
            <a:r>
              <a:rPr lang="en-AU" sz="2400" dirty="0" smtClean="0"/>
              <a:t>8B</a:t>
            </a:r>
            <a:endParaRPr lang="en-AU" sz="2400" dirty="0"/>
          </a:p>
        </p:txBody>
      </p:sp>
      <p:sp>
        <p:nvSpPr>
          <p:cNvPr id="28" name="TextBox 27"/>
          <p:cNvSpPr txBox="1"/>
          <p:nvPr/>
        </p:nvSpPr>
        <p:spPr>
          <a:xfrm>
            <a:off x="6172200" y="1043047"/>
            <a:ext cx="4541520" cy="461665"/>
          </a:xfrm>
          <a:prstGeom prst="rect">
            <a:avLst/>
          </a:prstGeom>
          <a:noFill/>
        </p:spPr>
        <p:txBody>
          <a:bodyPr wrap="square" rtlCol="0">
            <a:spAutoFit/>
          </a:bodyPr>
          <a:lstStyle/>
          <a:p>
            <a:r>
              <a:rPr lang="en-AU" sz="2400" dirty="0" smtClean="0"/>
              <a:t>Range: 168 – 148 = 20</a:t>
            </a:r>
          </a:p>
        </p:txBody>
      </p:sp>
      <p:sp>
        <p:nvSpPr>
          <p:cNvPr id="29" name="TextBox 28"/>
          <p:cNvSpPr txBox="1"/>
          <p:nvPr/>
        </p:nvSpPr>
        <p:spPr>
          <a:xfrm>
            <a:off x="6172200" y="1440720"/>
            <a:ext cx="4541520" cy="461665"/>
          </a:xfrm>
          <a:prstGeom prst="rect">
            <a:avLst/>
          </a:prstGeom>
          <a:noFill/>
        </p:spPr>
        <p:txBody>
          <a:bodyPr wrap="square" rtlCol="0">
            <a:spAutoFit/>
          </a:bodyPr>
          <a:lstStyle/>
          <a:p>
            <a:r>
              <a:rPr lang="en-AU" sz="2400" dirty="0" smtClean="0"/>
              <a:t>IQ range: 158 – 154 = 4</a:t>
            </a:r>
          </a:p>
        </p:txBody>
      </p:sp>
      <p:sp>
        <p:nvSpPr>
          <p:cNvPr id="30" name="TextBox 29"/>
          <p:cNvSpPr txBox="1"/>
          <p:nvPr/>
        </p:nvSpPr>
        <p:spPr>
          <a:xfrm>
            <a:off x="6172200" y="2286106"/>
            <a:ext cx="4541520" cy="461665"/>
          </a:xfrm>
          <a:prstGeom prst="rect">
            <a:avLst/>
          </a:prstGeom>
          <a:noFill/>
        </p:spPr>
        <p:txBody>
          <a:bodyPr wrap="square" rtlCol="0">
            <a:spAutoFit/>
          </a:bodyPr>
          <a:lstStyle/>
          <a:p>
            <a:r>
              <a:rPr lang="en-AU" sz="2400" dirty="0" smtClean="0"/>
              <a:t>Range: 163 – 150 = 13</a:t>
            </a:r>
          </a:p>
        </p:txBody>
      </p:sp>
      <p:sp>
        <p:nvSpPr>
          <p:cNvPr id="31" name="TextBox 30"/>
          <p:cNvSpPr txBox="1"/>
          <p:nvPr/>
        </p:nvSpPr>
        <p:spPr>
          <a:xfrm>
            <a:off x="6172200" y="2683779"/>
            <a:ext cx="4541520" cy="461665"/>
          </a:xfrm>
          <a:prstGeom prst="rect">
            <a:avLst/>
          </a:prstGeom>
          <a:noFill/>
        </p:spPr>
        <p:txBody>
          <a:bodyPr wrap="square" rtlCol="0">
            <a:spAutoFit/>
          </a:bodyPr>
          <a:lstStyle/>
          <a:p>
            <a:r>
              <a:rPr lang="en-AU" sz="2400" dirty="0" smtClean="0"/>
              <a:t>IQ range: 160 – 153 = 7</a:t>
            </a:r>
          </a:p>
        </p:txBody>
      </p:sp>
      <p:sp>
        <p:nvSpPr>
          <p:cNvPr id="32" name="TextBox 31"/>
          <p:cNvSpPr txBox="1"/>
          <p:nvPr/>
        </p:nvSpPr>
        <p:spPr>
          <a:xfrm>
            <a:off x="156368" y="3546135"/>
            <a:ext cx="8927783" cy="461665"/>
          </a:xfrm>
          <a:prstGeom prst="rect">
            <a:avLst/>
          </a:prstGeom>
          <a:noFill/>
        </p:spPr>
        <p:txBody>
          <a:bodyPr wrap="square" rtlCol="0">
            <a:spAutoFit/>
          </a:bodyPr>
          <a:lstStyle/>
          <a:p>
            <a:r>
              <a:rPr lang="en-AU" sz="2400" dirty="0" smtClean="0"/>
              <a:t>Draw a parallel boxplot of the two class’ data.</a:t>
            </a:r>
            <a:endParaRPr lang="en-AU" sz="2400" dirty="0"/>
          </a:p>
        </p:txBody>
      </p:sp>
      <p:pic>
        <p:nvPicPr>
          <p:cNvPr id="2" name="Picture 1"/>
          <p:cNvPicPr>
            <a:picLocks noChangeAspect="1"/>
          </p:cNvPicPr>
          <p:nvPr/>
        </p:nvPicPr>
        <p:blipFill>
          <a:blip r:embed="rId2"/>
          <a:stretch>
            <a:fillRect/>
          </a:stretch>
        </p:blipFill>
        <p:spPr>
          <a:xfrm>
            <a:off x="210605" y="4229945"/>
            <a:ext cx="5626315" cy="1846992"/>
          </a:xfrm>
          <a:prstGeom prst="rect">
            <a:avLst/>
          </a:prstGeom>
        </p:spPr>
      </p:pic>
      <p:sp>
        <p:nvSpPr>
          <p:cNvPr id="5" name="TextBox 4"/>
          <p:cNvSpPr txBox="1"/>
          <p:nvPr/>
        </p:nvSpPr>
        <p:spPr>
          <a:xfrm>
            <a:off x="6172200" y="3439160"/>
            <a:ext cx="5897880" cy="830997"/>
          </a:xfrm>
          <a:prstGeom prst="rect">
            <a:avLst/>
          </a:prstGeom>
          <a:noFill/>
        </p:spPr>
        <p:txBody>
          <a:bodyPr wrap="square" rtlCol="0">
            <a:spAutoFit/>
          </a:bodyPr>
          <a:lstStyle/>
          <a:p>
            <a:r>
              <a:rPr lang="en-AU" sz="2400" dirty="0" smtClean="0"/>
              <a:t>Compare the median, range and inter-quartile range for each class.</a:t>
            </a:r>
            <a:endParaRPr lang="en-AU" sz="2400" dirty="0"/>
          </a:p>
        </p:txBody>
      </p:sp>
      <p:sp>
        <p:nvSpPr>
          <p:cNvPr id="17" name="TextBox 16"/>
          <p:cNvSpPr txBox="1"/>
          <p:nvPr/>
        </p:nvSpPr>
        <p:spPr>
          <a:xfrm>
            <a:off x="6329680" y="4455160"/>
            <a:ext cx="5618480" cy="1569660"/>
          </a:xfrm>
          <a:prstGeom prst="rect">
            <a:avLst/>
          </a:prstGeom>
          <a:noFill/>
        </p:spPr>
        <p:txBody>
          <a:bodyPr wrap="square" rtlCol="0">
            <a:spAutoFit/>
          </a:bodyPr>
          <a:lstStyle/>
          <a:p>
            <a:r>
              <a:rPr lang="en-AU" sz="2400" dirty="0" smtClean="0"/>
              <a:t>The medians for the two classes are the same. The range for 8A is much larger than for 8B. However, the IQR for 8A is much smaller than the IQR for 8B.</a:t>
            </a:r>
            <a:endParaRPr lang="en-AU" sz="2400" dirty="0"/>
          </a:p>
        </p:txBody>
      </p:sp>
    </p:spTree>
    <p:extLst>
      <p:ext uri="{BB962C8B-B14F-4D97-AF65-F5344CB8AC3E}">
        <p14:creationId xmlns:p14="http://schemas.microsoft.com/office/powerpoint/2010/main" val="162895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graphicFrame>
        <p:nvGraphicFramePr>
          <p:cNvPr id="8" name="Table 7"/>
          <p:cNvGraphicFramePr>
            <a:graphicFrameLocks noGrp="1"/>
          </p:cNvGraphicFramePr>
          <p:nvPr>
            <p:extLst>
              <p:ext uri="{D42A27DB-BD31-4B8C-83A1-F6EECF244321}">
                <p14:modId xmlns:p14="http://schemas.microsoft.com/office/powerpoint/2010/main" val="852406481"/>
              </p:ext>
            </p:extLst>
          </p:nvPr>
        </p:nvGraphicFramePr>
        <p:xfrm>
          <a:off x="5989320" y="0"/>
          <a:ext cx="6202680" cy="1554480"/>
        </p:xfrm>
        <a:graphic>
          <a:graphicData uri="http://schemas.openxmlformats.org/drawingml/2006/table">
            <a:tbl>
              <a:tblPr firstRow="1" bandRow="1">
                <a:tableStyleId>{F5AB1C69-6EDB-4FF4-983F-18BD219EF322}</a:tableStyleId>
              </a:tblPr>
              <a:tblGrid>
                <a:gridCol w="6202680">
                  <a:extLst>
                    <a:ext uri="{9D8B030D-6E8A-4147-A177-3AD203B41FA5}">
                      <a16:colId xmlns:a16="http://schemas.microsoft.com/office/drawing/2014/main" val="20000"/>
                    </a:ext>
                  </a:extLst>
                </a:gridCol>
              </a:tblGrid>
              <a:tr h="355600">
                <a:tc>
                  <a:txBody>
                    <a:bodyPr/>
                    <a:lstStyle/>
                    <a:p>
                      <a:r>
                        <a:rPr lang="en-AU" dirty="0" smtClean="0"/>
                        <a:t>Reminders:</a:t>
                      </a:r>
                      <a:endParaRPr lang="en-AU" dirty="0"/>
                    </a:p>
                  </a:txBody>
                  <a:tcPr>
                    <a:solidFill>
                      <a:srgbClr val="002060"/>
                    </a:solidFill>
                  </a:tcPr>
                </a:tc>
                <a:extLst>
                  <a:ext uri="{0D108BD9-81ED-4DB2-BD59-A6C34878D82A}">
                    <a16:rowId xmlns:a16="http://schemas.microsoft.com/office/drawing/2014/main" val="10000"/>
                  </a:ext>
                </a:extLst>
              </a:tr>
              <a:tr h="5537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Step 1: Find the 5</a:t>
                      </a:r>
                      <a:r>
                        <a:rPr lang="en-AU" baseline="0" dirty="0" smtClean="0"/>
                        <a:t> number summary, range and inter-quartile range of the data.</a:t>
                      </a:r>
                    </a:p>
                    <a:p>
                      <a:pPr marL="0" marR="0" indent="0" algn="l" defTabSz="914400" rtl="0" eaLnBrk="1" fontAlgn="auto" latinLnBrk="0" hangingPunct="1">
                        <a:lnSpc>
                          <a:spcPct val="100000"/>
                        </a:lnSpc>
                        <a:spcBef>
                          <a:spcPts val="0"/>
                        </a:spcBef>
                        <a:spcAft>
                          <a:spcPts val="0"/>
                        </a:spcAft>
                        <a:buClrTx/>
                        <a:buSzTx/>
                        <a:buFontTx/>
                        <a:buNone/>
                        <a:tabLst/>
                        <a:defRPr/>
                      </a:pPr>
                      <a:r>
                        <a:rPr lang="en-AU" baseline="0" dirty="0" smtClean="0"/>
                        <a:t>Step 2: Draw a parallel boxplot of the data.</a:t>
                      </a:r>
                    </a:p>
                    <a:p>
                      <a:pPr marL="0" marR="0" indent="0" algn="l" defTabSz="914400" rtl="0" eaLnBrk="1" fontAlgn="auto" latinLnBrk="0" hangingPunct="1">
                        <a:lnSpc>
                          <a:spcPct val="100000"/>
                        </a:lnSpc>
                        <a:spcBef>
                          <a:spcPts val="0"/>
                        </a:spcBef>
                        <a:spcAft>
                          <a:spcPts val="0"/>
                        </a:spcAft>
                        <a:buClrTx/>
                        <a:buSzTx/>
                        <a:buFontTx/>
                        <a:buNone/>
                        <a:tabLst/>
                        <a:defRPr/>
                      </a:pPr>
                      <a:r>
                        <a:rPr lang="en-AU" baseline="0" dirty="0" smtClean="0"/>
                        <a:t>Step 3: Compare the median, range and inter-quartile range.</a:t>
                      </a:r>
                      <a:endParaRPr lang="en-AU" dirty="0" smtClean="0"/>
                    </a:p>
                  </a:txBody>
                  <a:tcPr>
                    <a:solidFill>
                      <a:schemeClr val="bg1">
                        <a:lumMod val="95000"/>
                      </a:schemeClr>
                    </a:solidFill>
                  </a:tcPr>
                </a:tc>
                <a:extLst>
                  <a:ext uri="{0D108BD9-81ED-4DB2-BD59-A6C34878D82A}">
                    <a16:rowId xmlns:a16="http://schemas.microsoft.com/office/drawing/2014/main" val="10001"/>
                  </a:ext>
                </a:extLst>
              </a:tr>
            </a:tbl>
          </a:graphicData>
        </a:graphic>
      </p:graphicFrame>
      <p:pic>
        <p:nvPicPr>
          <p:cNvPr id="2" name="Picture 1"/>
          <p:cNvPicPr>
            <a:picLocks noChangeAspect="1"/>
          </p:cNvPicPr>
          <p:nvPr/>
        </p:nvPicPr>
        <p:blipFill>
          <a:blip r:embed="rId2"/>
          <a:stretch>
            <a:fillRect/>
          </a:stretch>
        </p:blipFill>
        <p:spPr>
          <a:xfrm>
            <a:off x="137160" y="1630814"/>
            <a:ext cx="8788400" cy="1760288"/>
          </a:xfrm>
          <a:prstGeom prst="rect">
            <a:avLst/>
          </a:prstGeom>
        </p:spPr>
      </p:pic>
      <p:graphicFrame>
        <p:nvGraphicFramePr>
          <p:cNvPr id="9" name="Table 8"/>
          <p:cNvGraphicFramePr>
            <a:graphicFrameLocks noGrp="1"/>
          </p:cNvGraphicFramePr>
          <p:nvPr>
            <p:extLst>
              <p:ext uri="{D42A27DB-BD31-4B8C-83A1-F6EECF244321}">
                <p14:modId xmlns:p14="http://schemas.microsoft.com/office/powerpoint/2010/main" val="1458746589"/>
              </p:ext>
            </p:extLst>
          </p:nvPr>
        </p:nvGraphicFramePr>
        <p:xfrm>
          <a:off x="256540" y="414020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155</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161</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169</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800935741"/>
              </p:ext>
            </p:extLst>
          </p:nvPr>
        </p:nvGraphicFramePr>
        <p:xfrm>
          <a:off x="3218742" y="415544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147</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151</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155</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159</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162</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1" name="TextBox 10"/>
          <p:cNvSpPr txBox="1"/>
          <p:nvPr/>
        </p:nvSpPr>
        <p:spPr>
          <a:xfrm>
            <a:off x="1178560" y="3571240"/>
            <a:ext cx="1640840" cy="461665"/>
          </a:xfrm>
          <a:prstGeom prst="rect">
            <a:avLst/>
          </a:prstGeom>
          <a:noFill/>
        </p:spPr>
        <p:txBody>
          <a:bodyPr wrap="square" rtlCol="0">
            <a:spAutoFit/>
          </a:bodyPr>
          <a:lstStyle/>
          <a:p>
            <a:r>
              <a:rPr lang="en-AU" sz="2400" dirty="0" smtClean="0"/>
              <a:t>8C</a:t>
            </a:r>
            <a:endParaRPr lang="en-AU" sz="2400" dirty="0"/>
          </a:p>
        </p:txBody>
      </p:sp>
      <p:sp>
        <p:nvSpPr>
          <p:cNvPr id="12" name="TextBox 11"/>
          <p:cNvSpPr txBox="1"/>
          <p:nvPr/>
        </p:nvSpPr>
        <p:spPr>
          <a:xfrm>
            <a:off x="4292600" y="3571239"/>
            <a:ext cx="1640840" cy="461665"/>
          </a:xfrm>
          <a:prstGeom prst="rect">
            <a:avLst/>
          </a:prstGeom>
          <a:noFill/>
        </p:spPr>
        <p:txBody>
          <a:bodyPr wrap="square" rtlCol="0">
            <a:spAutoFit/>
          </a:bodyPr>
          <a:lstStyle/>
          <a:p>
            <a:r>
              <a:rPr lang="en-AU" sz="2400" dirty="0" smtClean="0"/>
              <a:t>8D</a:t>
            </a:r>
            <a:endParaRPr lang="en-AU" sz="2400" dirty="0"/>
          </a:p>
        </p:txBody>
      </p:sp>
      <p:sp>
        <p:nvSpPr>
          <p:cNvPr id="13" name="TextBox 12"/>
          <p:cNvSpPr txBox="1"/>
          <p:nvPr/>
        </p:nvSpPr>
        <p:spPr>
          <a:xfrm>
            <a:off x="6141720" y="3607375"/>
            <a:ext cx="1640840" cy="461665"/>
          </a:xfrm>
          <a:prstGeom prst="rect">
            <a:avLst/>
          </a:prstGeom>
          <a:noFill/>
        </p:spPr>
        <p:txBody>
          <a:bodyPr wrap="square" rtlCol="0">
            <a:spAutoFit/>
          </a:bodyPr>
          <a:lstStyle/>
          <a:p>
            <a:r>
              <a:rPr lang="en-AU" sz="2400" dirty="0" smtClean="0"/>
              <a:t>8C</a:t>
            </a:r>
            <a:endParaRPr lang="en-AU" sz="2400" dirty="0"/>
          </a:p>
        </p:txBody>
      </p:sp>
      <p:sp>
        <p:nvSpPr>
          <p:cNvPr id="14" name="TextBox 13"/>
          <p:cNvSpPr txBox="1"/>
          <p:nvPr/>
        </p:nvSpPr>
        <p:spPr>
          <a:xfrm>
            <a:off x="6141720" y="4943414"/>
            <a:ext cx="1640840" cy="461665"/>
          </a:xfrm>
          <a:prstGeom prst="rect">
            <a:avLst/>
          </a:prstGeom>
          <a:noFill/>
        </p:spPr>
        <p:txBody>
          <a:bodyPr wrap="square" rtlCol="0">
            <a:spAutoFit/>
          </a:bodyPr>
          <a:lstStyle/>
          <a:p>
            <a:r>
              <a:rPr lang="en-AU" sz="2400" dirty="0" smtClean="0"/>
              <a:t>8D</a:t>
            </a:r>
            <a:endParaRPr lang="en-AU" sz="2400" dirty="0"/>
          </a:p>
        </p:txBody>
      </p:sp>
      <p:sp>
        <p:nvSpPr>
          <p:cNvPr id="15" name="TextBox 14"/>
          <p:cNvSpPr txBox="1"/>
          <p:nvPr/>
        </p:nvSpPr>
        <p:spPr>
          <a:xfrm>
            <a:off x="6141720" y="4065647"/>
            <a:ext cx="4541520" cy="461665"/>
          </a:xfrm>
          <a:prstGeom prst="rect">
            <a:avLst/>
          </a:prstGeom>
          <a:noFill/>
        </p:spPr>
        <p:txBody>
          <a:bodyPr wrap="square" rtlCol="0">
            <a:spAutoFit/>
          </a:bodyPr>
          <a:lstStyle/>
          <a:p>
            <a:r>
              <a:rPr lang="en-AU" sz="2400" dirty="0" smtClean="0"/>
              <a:t>Range: 169 – 145 = 24</a:t>
            </a:r>
          </a:p>
        </p:txBody>
      </p:sp>
      <p:sp>
        <p:nvSpPr>
          <p:cNvPr id="16" name="TextBox 15"/>
          <p:cNvSpPr txBox="1"/>
          <p:nvPr/>
        </p:nvSpPr>
        <p:spPr>
          <a:xfrm>
            <a:off x="6141720" y="4463320"/>
            <a:ext cx="4541520" cy="461665"/>
          </a:xfrm>
          <a:prstGeom prst="rect">
            <a:avLst/>
          </a:prstGeom>
          <a:noFill/>
        </p:spPr>
        <p:txBody>
          <a:bodyPr wrap="square" rtlCol="0">
            <a:spAutoFit/>
          </a:bodyPr>
          <a:lstStyle/>
          <a:p>
            <a:r>
              <a:rPr lang="en-AU" sz="2400" dirty="0" smtClean="0"/>
              <a:t>IQ range: 161 – 150 = 11</a:t>
            </a:r>
          </a:p>
        </p:txBody>
      </p:sp>
      <p:sp>
        <p:nvSpPr>
          <p:cNvPr id="17" name="TextBox 16"/>
          <p:cNvSpPr txBox="1"/>
          <p:nvPr/>
        </p:nvSpPr>
        <p:spPr>
          <a:xfrm>
            <a:off x="6141720" y="5308706"/>
            <a:ext cx="4541520" cy="461665"/>
          </a:xfrm>
          <a:prstGeom prst="rect">
            <a:avLst/>
          </a:prstGeom>
          <a:noFill/>
        </p:spPr>
        <p:txBody>
          <a:bodyPr wrap="square" rtlCol="0">
            <a:spAutoFit/>
          </a:bodyPr>
          <a:lstStyle/>
          <a:p>
            <a:r>
              <a:rPr lang="en-AU" sz="2400" dirty="0" smtClean="0"/>
              <a:t>Range: 162 – 147 = 15</a:t>
            </a:r>
          </a:p>
        </p:txBody>
      </p:sp>
      <p:sp>
        <p:nvSpPr>
          <p:cNvPr id="18" name="TextBox 17"/>
          <p:cNvSpPr txBox="1"/>
          <p:nvPr/>
        </p:nvSpPr>
        <p:spPr>
          <a:xfrm>
            <a:off x="6141720" y="5706379"/>
            <a:ext cx="4541520" cy="461665"/>
          </a:xfrm>
          <a:prstGeom prst="rect">
            <a:avLst/>
          </a:prstGeom>
          <a:noFill/>
        </p:spPr>
        <p:txBody>
          <a:bodyPr wrap="square" rtlCol="0">
            <a:spAutoFit/>
          </a:bodyPr>
          <a:lstStyle/>
          <a:p>
            <a:r>
              <a:rPr lang="en-AU" sz="2400" dirty="0" smtClean="0"/>
              <a:t>IQ range: 159 – 151 = 8</a:t>
            </a:r>
          </a:p>
        </p:txBody>
      </p:sp>
    </p:spTree>
    <p:extLst>
      <p:ext uri="{BB962C8B-B14F-4D97-AF65-F5344CB8AC3E}">
        <p14:creationId xmlns:p14="http://schemas.microsoft.com/office/powerpoint/2010/main" val="3001869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5" grpId="0"/>
      <p:bldP spid="16" grpId="0"/>
      <p:bldP spid="17" grpId="0"/>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graphicFrame>
        <p:nvGraphicFramePr>
          <p:cNvPr id="8" name="Table 7"/>
          <p:cNvGraphicFramePr>
            <a:graphicFrameLocks noGrp="1"/>
          </p:cNvGraphicFramePr>
          <p:nvPr>
            <p:extLst/>
          </p:nvPr>
        </p:nvGraphicFramePr>
        <p:xfrm>
          <a:off x="5989320" y="0"/>
          <a:ext cx="6202680" cy="1554480"/>
        </p:xfrm>
        <a:graphic>
          <a:graphicData uri="http://schemas.openxmlformats.org/drawingml/2006/table">
            <a:tbl>
              <a:tblPr firstRow="1" bandRow="1">
                <a:tableStyleId>{F5AB1C69-6EDB-4FF4-983F-18BD219EF322}</a:tableStyleId>
              </a:tblPr>
              <a:tblGrid>
                <a:gridCol w="6202680">
                  <a:extLst>
                    <a:ext uri="{9D8B030D-6E8A-4147-A177-3AD203B41FA5}">
                      <a16:colId xmlns:a16="http://schemas.microsoft.com/office/drawing/2014/main" val="20000"/>
                    </a:ext>
                  </a:extLst>
                </a:gridCol>
              </a:tblGrid>
              <a:tr h="355600">
                <a:tc>
                  <a:txBody>
                    <a:bodyPr/>
                    <a:lstStyle/>
                    <a:p>
                      <a:r>
                        <a:rPr lang="en-AU" dirty="0" smtClean="0"/>
                        <a:t>Reminders:</a:t>
                      </a:r>
                      <a:endParaRPr lang="en-AU" dirty="0"/>
                    </a:p>
                  </a:txBody>
                  <a:tcPr>
                    <a:solidFill>
                      <a:srgbClr val="002060"/>
                    </a:solidFill>
                  </a:tcPr>
                </a:tc>
                <a:extLst>
                  <a:ext uri="{0D108BD9-81ED-4DB2-BD59-A6C34878D82A}">
                    <a16:rowId xmlns:a16="http://schemas.microsoft.com/office/drawing/2014/main" val="10000"/>
                  </a:ext>
                </a:extLst>
              </a:tr>
              <a:tr h="55372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dirty="0" smtClean="0"/>
                        <a:t>Step 1: Find the 5</a:t>
                      </a:r>
                      <a:r>
                        <a:rPr lang="en-AU" baseline="0" dirty="0" smtClean="0"/>
                        <a:t> number summary, range and inter-quartile range of the data.</a:t>
                      </a:r>
                    </a:p>
                    <a:p>
                      <a:pPr marL="0" marR="0" indent="0" algn="l" defTabSz="914400" rtl="0" eaLnBrk="1" fontAlgn="auto" latinLnBrk="0" hangingPunct="1">
                        <a:lnSpc>
                          <a:spcPct val="100000"/>
                        </a:lnSpc>
                        <a:spcBef>
                          <a:spcPts val="0"/>
                        </a:spcBef>
                        <a:spcAft>
                          <a:spcPts val="0"/>
                        </a:spcAft>
                        <a:buClrTx/>
                        <a:buSzTx/>
                        <a:buFontTx/>
                        <a:buNone/>
                        <a:tabLst/>
                        <a:defRPr/>
                      </a:pPr>
                      <a:r>
                        <a:rPr lang="en-AU" baseline="0" dirty="0" smtClean="0"/>
                        <a:t>Step 2: Draw a parallel boxplot of the data.</a:t>
                      </a:r>
                    </a:p>
                    <a:p>
                      <a:pPr marL="0" marR="0" indent="0" algn="l" defTabSz="914400" rtl="0" eaLnBrk="1" fontAlgn="auto" latinLnBrk="0" hangingPunct="1">
                        <a:lnSpc>
                          <a:spcPct val="100000"/>
                        </a:lnSpc>
                        <a:spcBef>
                          <a:spcPts val="0"/>
                        </a:spcBef>
                        <a:spcAft>
                          <a:spcPts val="0"/>
                        </a:spcAft>
                        <a:buClrTx/>
                        <a:buSzTx/>
                        <a:buFontTx/>
                        <a:buNone/>
                        <a:tabLst/>
                        <a:defRPr/>
                      </a:pPr>
                      <a:r>
                        <a:rPr lang="en-AU" baseline="0" dirty="0" smtClean="0"/>
                        <a:t>Step 3: Compare the median, range and inter-quartile range.</a:t>
                      </a:r>
                      <a:endParaRPr lang="en-AU" dirty="0" smtClean="0"/>
                    </a:p>
                  </a:txBody>
                  <a:tcPr>
                    <a:solidFill>
                      <a:schemeClr val="bg1">
                        <a:lumMod val="95000"/>
                      </a:schemeClr>
                    </a:solidFill>
                  </a:tcPr>
                </a:tc>
                <a:extLst>
                  <a:ext uri="{0D108BD9-81ED-4DB2-BD59-A6C34878D82A}">
                    <a16:rowId xmlns:a16="http://schemas.microsoft.com/office/drawing/2014/main" val="10001"/>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747200522"/>
              </p:ext>
            </p:extLst>
          </p:nvPr>
        </p:nvGraphicFramePr>
        <p:xfrm>
          <a:off x="99060" y="1153736"/>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155</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161</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169</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2444689413"/>
              </p:ext>
            </p:extLst>
          </p:nvPr>
        </p:nvGraphicFramePr>
        <p:xfrm>
          <a:off x="3061262" y="1168976"/>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147</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151</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Calibri" panose="020F0502020204030204" pitchFamily="34" charset="0"/>
                        </a:rPr>
                        <a:t>155</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159</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rgbClr val="000000"/>
                          </a:solidFill>
                          <a:effectLst/>
                          <a:latin typeface="Calibri" panose="020F0502020204030204" pitchFamily="34" charset="0"/>
                        </a:rPr>
                        <a:t>162</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1" name="TextBox 10"/>
          <p:cNvSpPr txBox="1"/>
          <p:nvPr/>
        </p:nvSpPr>
        <p:spPr>
          <a:xfrm>
            <a:off x="1021080" y="584775"/>
            <a:ext cx="1640840" cy="461665"/>
          </a:xfrm>
          <a:prstGeom prst="rect">
            <a:avLst/>
          </a:prstGeom>
          <a:noFill/>
        </p:spPr>
        <p:txBody>
          <a:bodyPr wrap="square" rtlCol="0">
            <a:spAutoFit/>
          </a:bodyPr>
          <a:lstStyle/>
          <a:p>
            <a:r>
              <a:rPr lang="en-AU" sz="2400" dirty="0" smtClean="0"/>
              <a:t>8C</a:t>
            </a:r>
            <a:endParaRPr lang="en-AU" sz="2400" dirty="0"/>
          </a:p>
        </p:txBody>
      </p:sp>
      <p:sp>
        <p:nvSpPr>
          <p:cNvPr id="12" name="TextBox 11"/>
          <p:cNvSpPr txBox="1"/>
          <p:nvPr/>
        </p:nvSpPr>
        <p:spPr>
          <a:xfrm>
            <a:off x="4135120" y="584774"/>
            <a:ext cx="1640840" cy="461665"/>
          </a:xfrm>
          <a:prstGeom prst="rect">
            <a:avLst/>
          </a:prstGeom>
          <a:noFill/>
        </p:spPr>
        <p:txBody>
          <a:bodyPr wrap="square" rtlCol="0">
            <a:spAutoFit/>
          </a:bodyPr>
          <a:lstStyle/>
          <a:p>
            <a:r>
              <a:rPr lang="en-AU" sz="2400" dirty="0" smtClean="0"/>
              <a:t>8D</a:t>
            </a:r>
            <a:endParaRPr lang="en-AU" sz="2400" dirty="0"/>
          </a:p>
        </p:txBody>
      </p:sp>
      <p:sp>
        <p:nvSpPr>
          <p:cNvPr id="13" name="TextBox 12"/>
          <p:cNvSpPr txBox="1"/>
          <p:nvPr/>
        </p:nvSpPr>
        <p:spPr>
          <a:xfrm>
            <a:off x="5943600" y="1529655"/>
            <a:ext cx="1640840" cy="461665"/>
          </a:xfrm>
          <a:prstGeom prst="rect">
            <a:avLst/>
          </a:prstGeom>
          <a:noFill/>
        </p:spPr>
        <p:txBody>
          <a:bodyPr wrap="square" rtlCol="0">
            <a:spAutoFit/>
          </a:bodyPr>
          <a:lstStyle/>
          <a:p>
            <a:r>
              <a:rPr lang="en-AU" sz="2400" dirty="0" smtClean="0"/>
              <a:t>8C</a:t>
            </a:r>
            <a:endParaRPr lang="en-AU" sz="2400" dirty="0"/>
          </a:p>
        </p:txBody>
      </p:sp>
      <p:sp>
        <p:nvSpPr>
          <p:cNvPr id="14" name="TextBox 13"/>
          <p:cNvSpPr txBox="1"/>
          <p:nvPr/>
        </p:nvSpPr>
        <p:spPr>
          <a:xfrm>
            <a:off x="5943600" y="2865694"/>
            <a:ext cx="1640840" cy="461665"/>
          </a:xfrm>
          <a:prstGeom prst="rect">
            <a:avLst/>
          </a:prstGeom>
          <a:noFill/>
        </p:spPr>
        <p:txBody>
          <a:bodyPr wrap="square" rtlCol="0">
            <a:spAutoFit/>
          </a:bodyPr>
          <a:lstStyle/>
          <a:p>
            <a:r>
              <a:rPr lang="en-AU" sz="2400" dirty="0" smtClean="0"/>
              <a:t>8D</a:t>
            </a:r>
            <a:endParaRPr lang="en-AU" sz="2400" dirty="0"/>
          </a:p>
        </p:txBody>
      </p:sp>
      <p:sp>
        <p:nvSpPr>
          <p:cNvPr id="15" name="TextBox 14"/>
          <p:cNvSpPr txBox="1"/>
          <p:nvPr/>
        </p:nvSpPr>
        <p:spPr>
          <a:xfrm>
            <a:off x="5943600" y="1987927"/>
            <a:ext cx="4541520" cy="461665"/>
          </a:xfrm>
          <a:prstGeom prst="rect">
            <a:avLst/>
          </a:prstGeom>
          <a:noFill/>
        </p:spPr>
        <p:txBody>
          <a:bodyPr wrap="square" rtlCol="0">
            <a:spAutoFit/>
          </a:bodyPr>
          <a:lstStyle/>
          <a:p>
            <a:r>
              <a:rPr lang="en-AU" sz="2400" dirty="0" smtClean="0"/>
              <a:t>Range: 169 – 145 = 24</a:t>
            </a:r>
          </a:p>
        </p:txBody>
      </p:sp>
      <p:sp>
        <p:nvSpPr>
          <p:cNvPr id="16" name="TextBox 15"/>
          <p:cNvSpPr txBox="1"/>
          <p:nvPr/>
        </p:nvSpPr>
        <p:spPr>
          <a:xfrm>
            <a:off x="5943600" y="2385600"/>
            <a:ext cx="4541520" cy="461665"/>
          </a:xfrm>
          <a:prstGeom prst="rect">
            <a:avLst/>
          </a:prstGeom>
          <a:noFill/>
        </p:spPr>
        <p:txBody>
          <a:bodyPr wrap="square" rtlCol="0">
            <a:spAutoFit/>
          </a:bodyPr>
          <a:lstStyle/>
          <a:p>
            <a:r>
              <a:rPr lang="en-AU" sz="2400" dirty="0" smtClean="0"/>
              <a:t>IQ range: 161 – 150 = 11</a:t>
            </a:r>
          </a:p>
        </p:txBody>
      </p:sp>
      <p:sp>
        <p:nvSpPr>
          <p:cNvPr id="17" name="TextBox 16"/>
          <p:cNvSpPr txBox="1"/>
          <p:nvPr/>
        </p:nvSpPr>
        <p:spPr>
          <a:xfrm>
            <a:off x="5943600" y="3230986"/>
            <a:ext cx="4541520" cy="461665"/>
          </a:xfrm>
          <a:prstGeom prst="rect">
            <a:avLst/>
          </a:prstGeom>
          <a:noFill/>
        </p:spPr>
        <p:txBody>
          <a:bodyPr wrap="square" rtlCol="0">
            <a:spAutoFit/>
          </a:bodyPr>
          <a:lstStyle/>
          <a:p>
            <a:r>
              <a:rPr lang="en-AU" sz="2400" dirty="0" smtClean="0"/>
              <a:t>Range: 162 – 147 = 15</a:t>
            </a:r>
          </a:p>
        </p:txBody>
      </p:sp>
      <p:sp>
        <p:nvSpPr>
          <p:cNvPr id="18" name="TextBox 17"/>
          <p:cNvSpPr txBox="1"/>
          <p:nvPr/>
        </p:nvSpPr>
        <p:spPr>
          <a:xfrm>
            <a:off x="5943600" y="3628659"/>
            <a:ext cx="4541520" cy="461665"/>
          </a:xfrm>
          <a:prstGeom prst="rect">
            <a:avLst/>
          </a:prstGeom>
          <a:noFill/>
        </p:spPr>
        <p:txBody>
          <a:bodyPr wrap="square" rtlCol="0">
            <a:spAutoFit/>
          </a:bodyPr>
          <a:lstStyle/>
          <a:p>
            <a:r>
              <a:rPr lang="en-AU" sz="2400" dirty="0" smtClean="0"/>
              <a:t>IQ range: 159 – 151 = 8</a:t>
            </a:r>
          </a:p>
        </p:txBody>
      </p:sp>
      <p:pic>
        <p:nvPicPr>
          <p:cNvPr id="3" name="Picture 2"/>
          <p:cNvPicPr>
            <a:picLocks noChangeAspect="1"/>
          </p:cNvPicPr>
          <p:nvPr/>
        </p:nvPicPr>
        <p:blipFill>
          <a:blip r:embed="rId2"/>
          <a:stretch>
            <a:fillRect/>
          </a:stretch>
        </p:blipFill>
        <p:spPr>
          <a:xfrm>
            <a:off x="206057" y="4090324"/>
            <a:ext cx="7073583" cy="2481080"/>
          </a:xfrm>
          <a:prstGeom prst="rect">
            <a:avLst/>
          </a:prstGeom>
        </p:spPr>
      </p:pic>
      <p:sp>
        <p:nvSpPr>
          <p:cNvPr id="19" name="TextBox 18"/>
          <p:cNvSpPr txBox="1"/>
          <p:nvPr/>
        </p:nvSpPr>
        <p:spPr>
          <a:xfrm>
            <a:off x="7279640" y="4455160"/>
            <a:ext cx="4668520" cy="1938992"/>
          </a:xfrm>
          <a:prstGeom prst="rect">
            <a:avLst/>
          </a:prstGeom>
          <a:noFill/>
        </p:spPr>
        <p:txBody>
          <a:bodyPr wrap="square" rtlCol="0">
            <a:spAutoFit/>
          </a:bodyPr>
          <a:lstStyle/>
          <a:p>
            <a:r>
              <a:rPr lang="en-AU" sz="2400" dirty="0" smtClean="0"/>
              <a:t>The medians for the two classes are the same. The range for 8C is much larger than for 8D. The inter-quartile range for 8C is also larger than for 8D.</a:t>
            </a:r>
            <a:endParaRPr lang="en-AU" sz="2400" dirty="0"/>
          </a:p>
        </p:txBody>
      </p:sp>
    </p:spTree>
    <p:extLst>
      <p:ext uri="{BB962C8B-B14F-4D97-AF65-F5344CB8AC3E}">
        <p14:creationId xmlns:p14="http://schemas.microsoft.com/office/powerpoint/2010/main" val="255798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5002" y="1802110"/>
            <a:ext cx="11089783" cy="4481847"/>
          </a:xfrm>
        </p:spPr>
        <p:txBody>
          <a:bodyPr/>
          <a:lstStyle/>
          <a:p>
            <a:pPr marL="0" indent="0">
              <a:buNone/>
            </a:pPr>
            <a:r>
              <a:rPr lang="en-AU" b="1" dirty="0" smtClean="0"/>
              <a:t>Shape:</a:t>
            </a:r>
            <a:r>
              <a:rPr lang="en-AU" dirty="0" smtClean="0"/>
              <a:t> 		State </a:t>
            </a:r>
            <a:r>
              <a:rPr lang="en-AU" dirty="0"/>
              <a:t>and compare the </a:t>
            </a:r>
            <a:r>
              <a:rPr lang="en-AU" dirty="0" smtClean="0"/>
              <a:t>shape. Symmetrical? Negative or 			positive skew? Gaps? Clusters?</a:t>
            </a:r>
          </a:p>
          <a:p>
            <a:pPr marL="0" indent="0">
              <a:buNone/>
            </a:pPr>
            <a:endParaRPr lang="en-AU" dirty="0"/>
          </a:p>
          <a:p>
            <a:pPr marL="0" indent="0">
              <a:buNone/>
            </a:pPr>
            <a:r>
              <a:rPr lang="en-AU" b="1" dirty="0" smtClean="0"/>
              <a:t>Location (centres): </a:t>
            </a:r>
            <a:r>
              <a:rPr lang="en-AU" dirty="0" smtClean="0"/>
              <a:t>State and compare the mean, median or mode</a:t>
            </a:r>
          </a:p>
          <a:p>
            <a:pPr marL="0" indent="0">
              <a:buNone/>
            </a:pPr>
            <a:endParaRPr lang="en-AU" dirty="0"/>
          </a:p>
          <a:p>
            <a:pPr marL="0" indent="0">
              <a:buNone/>
            </a:pPr>
            <a:r>
              <a:rPr lang="en-AU" b="1" dirty="0" smtClean="0"/>
              <a:t>Spread: </a:t>
            </a:r>
            <a:r>
              <a:rPr lang="en-AU" dirty="0" smtClean="0"/>
              <a:t>		State </a:t>
            </a:r>
            <a:r>
              <a:rPr lang="en-AU" dirty="0"/>
              <a:t>and compare the </a:t>
            </a:r>
            <a:r>
              <a:rPr lang="en-AU" dirty="0" smtClean="0"/>
              <a:t>range and IQR</a:t>
            </a:r>
            <a:endParaRPr lang="en-AU" dirty="0"/>
          </a:p>
        </p:txBody>
      </p:sp>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sp>
        <p:nvSpPr>
          <p:cNvPr id="5" name="Content Placeholder 2"/>
          <p:cNvSpPr txBox="1">
            <a:spLocks/>
          </p:cNvSpPr>
          <p:nvPr/>
        </p:nvSpPr>
        <p:spPr>
          <a:xfrm>
            <a:off x="270456" y="847860"/>
            <a:ext cx="11089783" cy="6911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sz="3600" dirty="0" smtClean="0"/>
              <a:t>To describe the Distribution of Data or Compare Data Sets:</a:t>
            </a:r>
          </a:p>
          <a:p>
            <a:pPr marL="0" indent="0">
              <a:buFont typeface="Arial" panose="020B0604020202020204" pitchFamily="34" charset="0"/>
              <a:buNone/>
            </a:pPr>
            <a:endParaRPr lang="en-AU" dirty="0" smtClean="0"/>
          </a:p>
        </p:txBody>
      </p:sp>
      <p:sp>
        <p:nvSpPr>
          <p:cNvPr id="6" name="Rectangle 5"/>
          <p:cNvSpPr/>
          <p:nvPr/>
        </p:nvSpPr>
        <p:spPr>
          <a:xfrm>
            <a:off x="206061" y="3306649"/>
            <a:ext cx="9826581" cy="701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Rectangle 6"/>
          <p:cNvSpPr/>
          <p:nvPr/>
        </p:nvSpPr>
        <p:spPr>
          <a:xfrm>
            <a:off x="270456" y="4164704"/>
            <a:ext cx="9826581" cy="7018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349359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animBg="1"/>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79124" y="-27600"/>
            <a:ext cx="10515600" cy="1325563"/>
          </a:xfrm>
        </p:spPr>
        <p:txBody>
          <a:bodyPr/>
          <a:lstStyle/>
          <a:p>
            <a:r>
              <a:rPr lang="en-AU" dirty="0" smtClean="0"/>
              <a:t>Describe the distribution of data:</a:t>
            </a:r>
            <a:endParaRPr lang="en-AU" dirty="0"/>
          </a:p>
        </p:txBody>
      </p:sp>
      <p:sp>
        <p:nvSpPr>
          <p:cNvPr id="3" name="Content Placeholder 2"/>
          <p:cNvSpPr>
            <a:spLocks noGrp="1"/>
          </p:cNvSpPr>
          <p:nvPr>
            <p:ph idx="1"/>
          </p:nvPr>
        </p:nvSpPr>
        <p:spPr>
          <a:xfrm>
            <a:off x="838199" y="3672696"/>
            <a:ext cx="11210365" cy="2923085"/>
          </a:xfrm>
        </p:spPr>
        <p:txBody>
          <a:bodyPr>
            <a:normAutofit fontScale="92500" lnSpcReduction="10000"/>
          </a:bodyPr>
          <a:lstStyle/>
          <a:p>
            <a:pPr marL="0" indent="0">
              <a:buNone/>
            </a:pPr>
            <a:r>
              <a:rPr lang="en-AU" b="1" dirty="0" smtClean="0"/>
              <a:t>Shape: </a:t>
            </a:r>
            <a:r>
              <a:rPr lang="en-AU" dirty="0" smtClean="0"/>
              <a:t>	Class 10A is positively skewed and 10B is negatively skewed.</a:t>
            </a:r>
          </a:p>
          <a:p>
            <a:pPr marL="0" indent="0">
              <a:buNone/>
            </a:pPr>
            <a:endParaRPr lang="en-AU" dirty="0"/>
          </a:p>
          <a:p>
            <a:pPr marL="0" indent="0">
              <a:buNone/>
            </a:pPr>
            <a:r>
              <a:rPr lang="en-AU" b="1" dirty="0" smtClean="0"/>
              <a:t>Location:</a:t>
            </a:r>
            <a:r>
              <a:rPr lang="en-AU" dirty="0" smtClean="0"/>
              <a:t> 	The median for 10A is just under 60 whereas the median for 10B is 			higher at around 72.</a:t>
            </a:r>
          </a:p>
          <a:p>
            <a:pPr marL="0" indent="0">
              <a:buNone/>
            </a:pPr>
            <a:endParaRPr lang="en-AU" dirty="0"/>
          </a:p>
          <a:p>
            <a:pPr marL="0" indent="0">
              <a:buNone/>
            </a:pPr>
            <a:r>
              <a:rPr lang="en-AU" b="1" dirty="0" smtClean="0"/>
              <a:t>Spread:</a:t>
            </a:r>
            <a:r>
              <a:rPr lang="en-AU" dirty="0" smtClean="0"/>
              <a:t> 	Class 10A’s range and IQR are both higher than 10B at approximately 		54 and 23 compared to approximately 46 and 20. </a:t>
            </a:r>
            <a:endParaRPr lang="en-AU" dirty="0"/>
          </a:p>
        </p:txBody>
      </p:sp>
      <p:pic>
        <p:nvPicPr>
          <p:cNvPr id="4" name="Picture 3"/>
          <p:cNvPicPr>
            <a:picLocks noChangeAspect="1"/>
          </p:cNvPicPr>
          <p:nvPr/>
        </p:nvPicPr>
        <p:blipFill>
          <a:blip r:embed="rId2"/>
          <a:stretch>
            <a:fillRect/>
          </a:stretch>
        </p:blipFill>
        <p:spPr>
          <a:xfrm>
            <a:off x="5845832" y="1590023"/>
            <a:ext cx="5461819" cy="1790613"/>
          </a:xfrm>
          <a:prstGeom prst="rect">
            <a:avLst/>
          </a:prstGeom>
        </p:spPr>
      </p:pic>
      <p:sp>
        <p:nvSpPr>
          <p:cNvPr id="5" name="TextBox 4"/>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sp>
        <p:nvSpPr>
          <p:cNvPr id="6" name="TextBox 5"/>
          <p:cNvSpPr txBox="1"/>
          <p:nvPr/>
        </p:nvSpPr>
        <p:spPr>
          <a:xfrm>
            <a:off x="838200" y="1416676"/>
            <a:ext cx="4841383" cy="1569660"/>
          </a:xfrm>
          <a:prstGeom prst="rect">
            <a:avLst/>
          </a:prstGeom>
          <a:noFill/>
        </p:spPr>
        <p:txBody>
          <a:bodyPr wrap="square" rtlCol="0">
            <a:spAutoFit/>
          </a:bodyPr>
          <a:lstStyle/>
          <a:p>
            <a:r>
              <a:rPr lang="en-AU" sz="2400" dirty="0"/>
              <a:t>Two classes take a test and their teacher wants to compare the results. </a:t>
            </a:r>
            <a:r>
              <a:rPr lang="en-AU" sz="2400" dirty="0" smtClean="0"/>
              <a:t>The two </a:t>
            </a:r>
            <a:r>
              <a:rPr lang="en-AU" sz="2400" dirty="0"/>
              <a:t>boxplots </a:t>
            </a:r>
            <a:r>
              <a:rPr lang="en-AU" sz="2400" dirty="0" smtClean="0"/>
              <a:t>are shown on </a:t>
            </a:r>
            <a:r>
              <a:rPr lang="en-AU" sz="2400" dirty="0"/>
              <a:t>the same number line</a:t>
            </a:r>
            <a:r>
              <a:rPr lang="en-AU" sz="2400" dirty="0" smtClean="0"/>
              <a:t>.</a:t>
            </a:r>
            <a:endParaRPr lang="en-AU" sz="2400" dirty="0"/>
          </a:p>
        </p:txBody>
      </p:sp>
      <p:sp>
        <p:nvSpPr>
          <p:cNvPr id="7" name="Rectangle 6"/>
          <p:cNvSpPr/>
          <p:nvPr/>
        </p:nvSpPr>
        <p:spPr>
          <a:xfrm>
            <a:off x="2640170" y="3465045"/>
            <a:ext cx="9137560" cy="92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2515674" y="4569993"/>
            <a:ext cx="9137560" cy="92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p:cNvSpPr/>
          <p:nvPr/>
        </p:nvSpPr>
        <p:spPr>
          <a:xfrm>
            <a:off x="2640169" y="5582887"/>
            <a:ext cx="9298545" cy="92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216294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P spid="8" grpId="0" animBg="1"/>
      <p:bldP spid="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30639" y="-39375"/>
            <a:ext cx="10515600" cy="1325563"/>
          </a:xfrm>
        </p:spPr>
        <p:txBody>
          <a:bodyPr/>
          <a:lstStyle/>
          <a:p>
            <a:r>
              <a:rPr lang="en-AU" dirty="0" smtClean="0"/>
              <a:t>Describe the distribution of data:</a:t>
            </a:r>
            <a:endParaRPr lang="en-AU" dirty="0"/>
          </a:p>
        </p:txBody>
      </p:sp>
      <p:sp>
        <p:nvSpPr>
          <p:cNvPr id="3" name="Content Placeholder 2"/>
          <p:cNvSpPr>
            <a:spLocks noGrp="1"/>
          </p:cNvSpPr>
          <p:nvPr>
            <p:ph idx="1"/>
          </p:nvPr>
        </p:nvSpPr>
        <p:spPr>
          <a:xfrm>
            <a:off x="457201" y="3215497"/>
            <a:ext cx="11661818" cy="3533033"/>
          </a:xfrm>
        </p:spPr>
        <p:txBody>
          <a:bodyPr>
            <a:normAutofit fontScale="85000" lnSpcReduction="10000"/>
          </a:bodyPr>
          <a:lstStyle/>
          <a:p>
            <a:pPr marL="0" indent="0">
              <a:buNone/>
            </a:pPr>
            <a:r>
              <a:rPr lang="en-AU" b="1" dirty="0" smtClean="0"/>
              <a:t>Shape:</a:t>
            </a:r>
            <a:r>
              <a:rPr lang="en-AU" dirty="0" smtClean="0"/>
              <a:t> 	Arts Program students heights are almost symmetrical with a slight 			positive skew whereas the Basketball students heights are negatively skewed.</a:t>
            </a:r>
          </a:p>
          <a:p>
            <a:pPr marL="0" indent="0">
              <a:buNone/>
            </a:pPr>
            <a:endParaRPr lang="en-AU" dirty="0"/>
          </a:p>
          <a:p>
            <a:pPr marL="0" indent="0">
              <a:buNone/>
            </a:pPr>
            <a:r>
              <a:rPr lang="en-AU" b="1" dirty="0" smtClean="0"/>
              <a:t>Location: 	</a:t>
            </a:r>
            <a:r>
              <a:rPr lang="en-AU" dirty="0" smtClean="0"/>
              <a:t>The modal class interval for the Arts students is 176 – 180 cm whereas it is 		196 – 200 cm for the Basketball students. The mean, median and modal 			intervals will be very similar for the Arts students. The mean will be higher 		than the median for the Basketball students. </a:t>
            </a:r>
          </a:p>
          <a:p>
            <a:pPr marL="0" indent="0">
              <a:buNone/>
            </a:pPr>
            <a:endParaRPr lang="en-AU" dirty="0"/>
          </a:p>
          <a:p>
            <a:pPr marL="0" indent="0">
              <a:buNone/>
            </a:pPr>
            <a:r>
              <a:rPr lang="en-AU" b="1" dirty="0" smtClean="0"/>
              <a:t>Spread: 	</a:t>
            </a:r>
            <a:r>
              <a:rPr lang="en-AU" dirty="0" smtClean="0"/>
              <a:t>The Arts students range and IQR are both higher than the Basketball students. 		The ranges being approximately 44 and 34 respectively.</a:t>
            </a:r>
            <a:endParaRPr lang="en-AU" dirty="0"/>
          </a:p>
        </p:txBody>
      </p:sp>
      <p:sp>
        <p:nvSpPr>
          <p:cNvPr id="5" name="TextBox 4"/>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pic>
        <p:nvPicPr>
          <p:cNvPr id="9" name="Picture 8"/>
          <p:cNvPicPr>
            <a:picLocks noChangeAspect="1"/>
          </p:cNvPicPr>
          <p:nvPr/>
        </p:nvPicPr>
        <p:blipFill>
          <a:blip r:embed="rId2"/>
          <a:stretch>
            <a:fillRect/>
          </a:stretch>
        </p:blipFill>
        <p:spPr>
          <a:xfrm>
            <a:off x="6416521" y="917190"/>
            <a:ext cx="4652684" cy="2251426"/>
          </a:xfrm>
          <a:prstGeom prst="rect">
            <a:avLst/>
          </a:prstGeom>
        </p:spPr>
      </p:pic>
      <p:pic>
        <p:nvPicPr>
          <p:cNvPr id="10" name="Picture 9"/>
          <p:cNvPicPr>
            <a:picLocks noChangeAspect="1"/>
          </p:cNvPicPr>
          <p:nvPr/>
        </p:nvPicPr>
        <p:blipFill>
          <a:blip r:embed="rId3"/>
          <a:stretch>
            <a:fillRect/>
          </a:stretch>
        </p:blipFill>
        <p:spPr>
          <a:xfrm>
            <a:off x="1143033" y="917190"/>
            <a:ext cx="4631380" cy="2248740"/>
          </a:xfrm>
          <a:prstGeom prst="rect">
            <a:avLst/>
          </a:prstGeom>
        </p:spPr>
      </p:pic>
      <p:sp>
        <p:nvSpPr>
          <p:cNvPr id="11" name="Rectangle 10"/>
          <p:cNvSpPr/>
          <p:nvPr/>
        </p:nvSpPr>
        <p:spPr>
          <a:xfrm>
            <a:off x="2125014" y="3165930"/>
            <a:ext cx="9923171" cy="92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p:cNvSpPr/>
          <p:nvPr/>
        </p:nvSpPr>
        <p:spPr>
          <a:xfrm>
            <a:off x="1974760" y="4371578"/>
            <a:ext cx="9923171" cy="1185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p:cNvSpPr/>
          <p:nvPr/>
        </p:nvSpPr>
        <p:spPr>
          <a:xfrm>
            <a:off x="2094003" y="5796652"/>
            <a:ext cx="10097997" cy="920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76716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895468"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Independent Practice</a:t>
            </a:r>
            <a:endParaRPr lang="en-AU" sz="3200" dirty="0"/>
          </a:p>
        </p:txBody>
      </p:sp>
      <p:sp>
        <p:nvSpPr>
          <p:cNvPr id="2" name="TextBox 1"/>
          <p:cNvSpPr txBox="1"/>
          <p:nvPr/>
        </p:nvSpPr>
        <p:spPr>
          <a:xfrm>
            <a:off x="132080" y="792480"/>
            <a:ext cx="11821160" cy="830997"/>
          </a:xfrm>
          <a:prstGeom prst="rect">
            <a:avLst/>
          </a:prstGeom>
          <a:noFill/>
        </p:spPr>
        <p:txBody>
          <a:bodyPr wrap="square" rtlCol="0">
            <a:spAutoFit/>
          </a:bodyPr>
          <a:lstStyle/>
          <a:p>
            <a:r>
              <a:rPr lang="en-AU" sz="2400" dirty="0" err="1" smtClean="0"/>
              <a:t>Mathspace</a:t>
            </a:r>
            <a:r>
              <a:rPr lang="en-AU" sz="2400" dirty="0" smtClean="0"/>
              <a:t> – Year 10 Mainstream </a:t>
            </a:r>
            <a:r>
              <a:rPr lang="en-AU" sz="2400" dirty="0" smtClean="0"/>
              <a:t>Compare Data Sets CLASSWORK</a:t>
            </a:r>
            <a:endParaRPr lang="en-AU" sz="2400" dirty="0" smtClean="0"/>
          </a:p>
          <a:p>
            <a:endParaRPr lang="en-AU" sz="2400" dirty="0"/>
          </a:p>
        </p:txBody>
      </p:sp>
    </p:spTree>
    <p:extLst>
      <p:ext uri="{BB962C8B-B14F-4D97-AF65-F5344CB8AC3E}">
        <p14:creationId xmlns:p14="http://schemas.microsoft.com/office/powerpoint/2010/main" val="375474614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2739</TotalTime>
  <Words>1296</Words>
  <Application>Microsoft Office PowerPoint</Application>
  <PresentationFormat>Widescreen</PresentationFormat>
  <Paragraphs>243</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Describe the distribution of data:</vt:lpstr>
      <vt:lpstr>Describe the distribution of data:</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Science</dc:title>
  <dc:creator>Microsoft account</dc:creator>
  <cp:lastModifiedBy>YOST Amie [Harrisdale Senior High School]</cp:lastModifiedBy>
  <cp:revision>139</cp:revision>
  <cp:lastPrinted>2017-04-18T22:41:05Z</cp:lastPrinted>
  <dcterms:created xsi:type="dcterms:W3CDTF">2017-01-28T08:32:28Z</dcterms:created>
  <dcterms:modified xsi:type="dcterms:W3CDTF">2021-08-26T04:14:40Z</dcterms:modified>
</cp:coreProperties>
</file>
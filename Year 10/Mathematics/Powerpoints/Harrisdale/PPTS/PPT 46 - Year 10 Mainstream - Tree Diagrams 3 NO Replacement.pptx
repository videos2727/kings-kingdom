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10" r:id="rId2"/>
    <p:sldId id="319" r:id="rId3"/>
    <p:sldId id="320" r:id="rId4"/>
    <p:sldId id="269" r:id="rId5"/>
    <p:sldId id="312" r:id="rId6"/>
    <p:sldId id="321" r:id="rId7"/>
    <p:sldId id="322" r:id="rId8"/>
    <p:sldId id="313" r:id="rId9"/>
    <p:sldId id="323" r:id="rId10"/>
    <p:sldId id="304" r:id="rId11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27" autoAdjust="0"/>
    <p:restoredTop sz="94660"/>
  </p:normalViewPr>
  <p:slideViewPr>
    <p:cSldViewPr snapToGrid="0">
      <p:cViewPr>
        <p:scale>
          <a:sx n="89" d="100"/>
          <a:sy n="89" d="100"/>
        </p:scale>
        <p:origin x="723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840248-1E88-4C0B-8BDD-00163168496B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A1A794-A5AC-445D-B701-B563E85604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007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1188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1039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7533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6621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56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5898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194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744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1131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473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531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150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1426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E633B-4FB6-44B9-9A8C-4793665C69FD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395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calculate probabilities from tree </a:t>
            </a:r>
            <a:r>
              <a:rPr lang="en-AU" sz="4000" b="1" dirty="0" smtClean="0">
                <a:cs typeface="Arial" panose="020B0604020202020204" pitchFamily="34" charset="0"/>
              </a:rPr>
              <a:t>diagrams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0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0" y="678665"/>
            <a:ext cx="11740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spinner numbered 1 to 3 is spun twice. Let T represent the </a:t>
            </a:r>
          </a:p>
          <a:p>
            <a:r>
              <a:rPr lang="en-AU" sz="2400" dirty="0" smtClean="0"/>
              <a:t>spinner lands on 2 and N represent the spinner does not land on 2.</a:t>
            </a:r>
            <a:endParaRPr lang="en-AU" sz="2400" dirty="0"/>
          </a:p>
          <a:p>
            <a:pPr marL="457200" indent="-457200">
              <a:buAutoNum type="alphaLcParenR"/>
            </a:pPr>
            <a:r>
              <a:rPr lang="en-AU" sz="2400" dirty="0" smtClean="0"/>
              <a:t>Draw a tree diagram that represents this situation 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the probability of spinning 2 twice.		</a:t>
            </a:r>
            <a:r>
              <a:rPr lang="en-AU" sz="2400" dirty="0"/>
              <a:t>c</a:t>
            </a:r>
            <a:r>
              <a:rPr lang="en-AU" sz="2400" dirty="0" smtClean="0"/>
              <a:t>) Find the probability of spinning 2 once. </a:t>
            </a:r>
          </a:p>
          <a:p>
            <a:r>
              <a:rPr lang="en-AU" sz="2400" dirty="0" smtClean="0"/>
              <a:t>d)   Find the probability of spinning 2 at least once.	e) Find the probability of not spinning 2.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72" y="3039078"/>
            <a:ext cx="3726861" cy="34885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954" y="58688"/>
            <a:ext cx="1818186" cy="175207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40486" y="3564419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1/3</a:t>
            </a:r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2185320" y="4371792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2/3</a:t>
            </a:r>
            <a:endParaRPr lang="en-AU" dirty="0"/>
          </a:p>
        </p:txBody>
      </p:sp>
      <p:sp>
        <p:nvSpPr>
          <p:cNvPr id="34" name="TextBox 33"/>
          <p:cNvSpPr txBox="1"/>
          <p:nvPr/>
        </p:nvSpPr>
        <p:spPr>
          <a:xfrm>
            <a:off x="2185320" y="5350918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1/3</a:t>
            </a:r>
            <a:endParaRPr lang="en-AU" dirty="0"/>
          </a:p>
        </p:txBody>
      </p:sp>
      <p:sp>
        <p:nvSpPr>
          <p:cNvPr id="35" name="TextBox 34"/>
          <p:cNvSpPr txBox="1"/>
          <p:nvPr/>
        </p:nvSpPr>
        <p:spPr>
          <a:xfrm>
            <a:off x="2130154" y="6158291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2/3</a:t>
            </a:r>
            <a:endParaRPr lang="en-AU" dirty="0"/>
          </a:p>
        </p:txBody>
      </p:sp>
      <p:sp>
        <p:nvSpPr>
          <p:cNvPr id="36" name="TextBox 35"/>
          <p:cNvSpPr txBox="1"/>
          <p:nvPr/>
        </p:nvSpPr>
        <p:spPr>
          <a:xfrm>
            <a:off x="2593183" y="3432376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(TT</a:t>
            </a:r>
            <a:r>
              <a:rPr lang="en-AU" sz="2400" dirty="0" smtClean="0"/>
              <a:t>): </a:t>
            </a:r>
            <a:r>
              <a:rPr lang="en-AU" sz="2400" dirty="0" smtClean="0"/>
              <a:t>1/3 x 1/3 = 1/9</a:t>
            </a:r>
            <a:endParaRPr lang="en-AU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2593182" y="4351926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(TN</a:t>
            </a:r>
            <a:r>
              <a:rPr lang="en-AU" sz="2400" dirty="0" smtClean="0"/>
              <a:t>): </a:t>
            </a:r>
            <a:r>
              <a:rPr lang="en-AU" sz="2400" dirty="0" smtClean="0"/>
              <a:t>1/3 x 2/3 = 2/9</a:t>
            </a:r>
            <a:endParaRPr lang="en-AU" sz="2400" dirty="0"/>
          </a:p>
        </p:txBody>
      </p:sp>
      <p:sp>
        <p:nvSpPr>
          <p:cNvPr id="38" name="TextBox 37"/>
          <p:cNvSpPr txBox="1"/>
          <p:nvPr/>
        </p:nvSpPr>
        <p:spPr>
          <a:xfrm>
            <a:off x="2593181" y="5192552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(NT</a:t>
            </a:r>
            <a:r>
              <a:rPr lang="en-AU" sz="2400" dirty="0" smtClean="0"/>
              <a:t>): </a:t>
            </a:r>
            <a:r>
              <a:rPr lang="en-AU" sz="2400" dirty="0" smtClean="0"/>
              <a:t>2/3 x 1/3 = 2/9</a:t>
            </a:r>
            <a:endParaRPr lang="en-AU" sz="2400" dirty="0"/>
          </a:p>
        </p:txBody>
      </p:sp>
      <p:sp>
        <p:nvSpPr>
          <p:cNvPr id="39" name="TextBox 38"/>
          <p:cNvSpPr txBox="1"/>
          <p:nvPr/>
        </p:nvSpPr>
        <p:spPr>
          <a:xfrm>
            <a:off x="2593181" y="6085813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(NN</a:t>
            </a:r>
            <a:r>
              <a:rPr lang="en-AU" sz="2400" dirty="0" smtClean="0"/>
              <a:t>): </a:t>
            </a:r>
            <a:r>
              <a:rPr lang="en-AU" sz="2400" dirty="0" smtClean="0"/>
              <a:t>2/3 x 2/3 = 4/9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15212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  <p:bldP spid="34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0" y="678665"/>
            <a:ext cx="11740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spinner numbered 1 to 3 is spun twice. Let T represent the </a:t>
            </a:r>
          </a:p>
          <a:p>
            <a:r>
              <a:rPr lang="en-AU" sz="2400" dirty="0" smtClean="0"/>
              <a:t>spinner lands on 2 and N represent the spinner does not land on 2.</a:t>
            </a:r>
            <a:endParaRPr lang="en-AU" sz="2400" dirty="0"/>
          </a:p>
          <a:p>
            <a:pPr marL="457200" indent="-457200">
              <a:buAutoNum type="alphaLcParenR"/>
            </a:pPr>
            <a:r>
              <a:rPr lang="en-AU" sz="2400" dirty="0" smtClean="0"/>
              <a:t>Draw a tree diagram that represents this situation 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the probability of spinning 2 twice.		</a:t>
            </a:r>
            <a:r>
              <a:rPr lang="en-AU" sz="2400" dirty="0"/>
              <a:t>c</a:t>
            </a:r>
            <a:r>
              <a:rPr lang="en-AU" sz="2400" dirty="0" smtClean="0"/>
              <a:t>) Find the probability of spinning 2 once. </a:t>
            </a:r>
          </a:p>
          <a:p>
            <a:r>
              <a:rPr lang="en-AU" sz="2400" dirty="0" smtClean="0"/>
              <a:t>d)   Find the probability of spinning 2 at least once.	e) Find the probability of not spinning 2.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72" y="3039078"/>
            <a:ext cx="3726861" cy="34885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954" y="58688"/>
            <a:ext cx="1818186" cy="175207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40486" y="3564419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1/3</a:t>
            </a:r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2185320" y="4371792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2/3</a:t>
            </a:r>
            <a:endParaRPr lang="en-AU" dirty="0"/>
          </a:p>
        </p:txBody>
      </p:sp>
      <p:sp>
        <p:nvSpPr>
          <p:cNvPr id="34" name="TextBox 33"/>
          <p:cNvSpPr txBox="1"/>
          <p:nvPr/>
        </p:nvSpPr>
        <p:spPr>
          <a:xfrm>
            <a:off x="2185320" y="5350918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1/3</a:t>
            </a:r>
            <a:endParaRPr lang="en-AU" dirty="0"/>
          </a:p>
        </p:txBody>
      </p:sp>
      <p:sp>
        <p:nvSpPr>
          <p:cNvPr id="35" name="TextBox 34"/>
          <p:cNvSpPr txBox="1"/>
          <p:nvPr/>
        </p:nvSpPr>
        <p:spPr>
          <a:xfrm>
            <a:off x="2130154" y="6158291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2/3</a:t>
            </a:r>
            <a:endParaRPr lang="en-AU" dirty="0"/>
          </a:p>
        </p:txBody>
      </p:sp>
      <p:sp>
        <p:nvSpPr>
          <p:cNvPr id="36" name="TextBox 35"/>
          <p:cNvSpPr txBox="1"/>
          <p:nvPr/>
        </p:nvSpPr>
        <p:spPr>
          <a:xfrm>
            <a:off x="1851213" y="3412521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(TT) = 1/9</a:t>
            </a:r>
            <a:endParaRPr lang="en-AU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1851212" y="4332071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(TN) = 2/9</a:t>
            </a:r>
            <a:endParaRPr lang="en-AU" sz="2400" dirty="0"/>
          </a:p>
        </p:txBody>
      </p:sp>
      <p:sp>
        <p:nvSpPr>
          <p:cNvPr id="38" name="TextBox 37"/>
          <p:cNvSpPr txBox="1"/>
          <p:nvPr/>
        </p:nvSpPr>
        <p:spPr>
          <a:xfrm>
            <a:off x="1851211" y="5172697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(NT) = 2/9</a:t>
            </a:r>
            <a:endParaRPr lang="en-AU" sz="2400" dirty="0"/>
          </a:p>
        </p:txBody>
      </p:sp>
      <p:sp>
        <p:nvSpPr>
          <p:cNvPr id="39" name="TextBox 38"/>
          <p:cNvSpPr txBox="1"/>
          <p:nvPr/>
        </p:nvSpPr>
        <p:spPr>
          <a:xfrm>
            <a:off x="1851211" y="6065958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(NN) = 4/9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5399314" y="2805119"/>
            <a:ext cx="6792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/>
              <a:t>b) The probability of spinning 2 twice is 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(TT) = </a:t>
            </a:r>
            <a:r>
              <a:rPr lang="en-AU" sz="2400" b="1" dirty="0" smtClean="0"/>
              <a:t>1/9</a:t>
            </a:r>
            <a:endParaRPr lang="en-AU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5399314" y="3611372"/>
            <a:ext cx="6792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c</a:t>
            </a:r>
            <a:r>
              <a:rPr lang="en-AU" sz="2400" b="1" dirty="0" smtClean="0"/>
              <a:t>) The probability of spinning 2 once is 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(TN) +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(NT</a:t>
            </a:r>
            <a:r>
              <a:rPr lang="en-AU" sz="2400" b="1" dirty="0" smtClean="0"/>
              <a:t>): </a:t>
            </a:r>
            <a:r>
              <a:rPr lang="en-AU" sz="2400" b="1" dirty="0" smtClean="0"/>
              <a:t>2/9 + 2/9 = 4/9</a:t>
            </a:r>
            <a:endParaRPr lang="en-AU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5399314" y="4521816"/>
            <a:ext cx="6792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/>
              <a:t>d) The probability of spinning 2 at least once is 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(TT) +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(TN) +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(NT</a:t>
            </a:r>
            <a:r>
              <a:rPr lang="en-AU" sz="2400" b="1" dirty="0" smtClean="0"/>
              <a:t>): </a:t>
            </a:r>
            <a:r>
              <a:rPr lang="en-AU" sz="2400" b="1" dirty="0" smtClean="0"/>
              <a:t>1/9 + 2/9 + 2/9 = 5/9</a:t>
            </a:r>
            <a:endParaRPr lang="en-AU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5399314" y="5474539"/>
            <a:ext cx="6792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e</a:t>
            </a:r>
            <a:r>
              <a:rPr lang="en-AU" sz="2400" b="1" dirty="0" smtClean="0"/>
              <a:t>) The probability of not spinning 2 is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(NN) = 4/9</a:t>
            </a:r>
            <a:endParaRPr lang="en-AU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567158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43320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Learning Objective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548141"/>
            <a:ext cx="29563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Success Criteria</a:t>
            </a:r>
            <a:endParaRPr lang="en-AU" sz="3200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50580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505808" y="995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203200" y="795929"/>
            <a:ext cx="8873482" cy="2285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I will calculate probabilities from tree diagrams.</a:t>
            </a:r>
            <a:endParaRPr lang="en-AU" dirty="0" smtClean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498" y="2159553"/>
            <a:ext cx="3058494" cy="3058494"/>
          </a:xfrm>
          <a:prstGeom prst="rect">
            <a:avLst/>
          </a:prstGeom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214418" y="3467784"/>
            <a:ext cx="10573257" cy="22852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b="1" dirty="0"/>
              <a:t>I will be able to list sample spaces.</a:t>
            </a:r>
          </a:p>
          <a:p>
            <a:pPr marL="0" indent="0">
              <a:buNone/>
            </a:pPr>
            <a:r>
              <a:rPr lang="en-AU" b="1" dirty="0"/>
              <a:t>I will be able to calculate probabilities of multiple events.</a:t>
            </a:r>
          </a:p>
          <a:p>
            <a:pPr marL="0" indent="0">
              <a:buNone/>
            </a:pPr>
            <a:r>
              <a:rPr lang="en-AU" b="1" dirty="0"/>
              <a:t>I will be able to interpret tree diagrams.</a:t>
            </a:r>
          </a:p>
          <a:p>
            <a:pPr marL="0" indent="0">
              <a:buNone/>
            </a:pPr>
            <a:r>
              <a:rPr lang="en-AU" b="1" dirty="0"/>
              <a:t>I will be able to calculate probabilities of multiple events that </a:t>
            </a:r>
          </a:p>
          <a:p>
            <a:pPr marL="0" indent="0">
              <a:buNone/>
            </a:pPr>
            <a:r>
              <a:rPr lang="en-AU" b="1" dirty="0"/>
              <a:t>are not equally </a:t>
            </a:r>
            <a:r>
              <a:rPr lang="en-AU" b="1" dirty="0" smtClean="0"/>
              <a:t>likely, with and without replacement.</a:t>
            </a:r>
            <a:endParaRPr lang="en-AU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118922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4655602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678665"/>
            <a:ext cx="11740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marble is taken from a bag containing 4 blue marbles and 7 green marbles. It is replaced and then a 2</a:t>
            </a:r>
            <a:r>
              <a:rPr lang="en-AU" sz="2400" baseline="30000" dirty="0" smtClean="0"/>
              <a:t>nd</a:t>
            </a:r>
            <a:r>
              <a:rPr lang="en-AU" sz="2400" dirty="0" smtClean="0"/>
              <a:t> marble is taken out.</a:t>
            </a:r>
            <a:endParaRPr lang="en-AU" sz="2400" dirty="0"/>
          </a:p>
          <a:p>
            <a:pPr marL="457200" indent="-457200">
              <a:buAutoNum type="alphaLcParenR"/>
            </a:pPr>
            <a:r>
              <a:rPr lang="en-AU" sz="2400" dirty="0" smtClean="0"/>
              <a:t>Draw a tree diagram that represents this situation 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the probability of getting two green marbles.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the probability of getting at least one blue marble.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35854" y="302519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6895" y="228827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6895" y="3913293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1333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1st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2800676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2nd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920855" y="3140533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48958" y="375021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20855" y="471289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1091" y="510698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20855" y="5814870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99083" y="4071479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9038" y="1097280"/>
            <a:ext cx="1922852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i="1" dirty="0" smtClean="0"/>
              <a:t>‘with replacement’</a:t>
            </a:r>
            <a:endParaRPr lang="en-AU" sz="2400" i="1" dirty="0"/>
          </a:p>
        </p:txBody>
      </p:sp>
      <p:sp>
        <p:nvSpPr>
          <p:cNvPr id="17" name="TextBox 16"/>
          <p:cNvSpPr txBox="1"/>
          <p:nvPr/>
        </p:nvSpPr>
        <p:spPr>
          <a:xfrm>
            <a:off x="338764" y="3873325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4/11</a:t>
            </a:r>
            <a:endParaRPr lang="en-AU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1775678" y="3288550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4/11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1725168" y="4947535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4/11</a:t>
            </a:r>
            <a:endParaRPr lang="en-AU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286513" y="510698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  <a:r>
              <a:rPr lang="en-AU" sz="2400" dirty="0" smtClean="0"/>
              <a:t>/11</a:t>
            </a:r>
            <a:endParaRPr lang="en-AU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1768709" y="426090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  <a:r>
              <a:rPr lang="en-AU" sz="2400" dirty="0" smtClean="0"/>
              <a:t>/11</a:t>
            </a:r>
            <a:endParaRPr lang="en-AU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1745851" y="587974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  <a:r>
              <a:rPr lang="en-AU" sz="2400" dirty="0" smtClean="0"/>
              <a:t>/11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2606909" y="3238086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(BB</a:t>
            </a:r>
            <a:r>
              <a:rPr lang="en-AU" sz="2400" dirty="0" smtClean="0"/>
              <a:t>): </a:t>
            </a:r>
            <a:r>
              <a:rPr lang="en-AU" sz="2400" dirty="0" smtClean="0"/>
              <a:t>4/11 x 4/11 = 16/121</a:t>
            </a:r>
            <a:endParaRPr lang="en-AU"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2606909" y="4168407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(BG</a:t>
            </a:r>
            <a:r>
              <a:rPr lang="en-AU" sz="2400" dirty="0" smtClean="0"/>
              <a:t>): </a:t>
            </a:r>
            <a:r>
              <a:rPr lang="en-AU" sz="2400" dirty="0" smtClean="0"/>
              <a:t>4/11 x 7/11 = 28/121</a:t>
            </a:r>
            <a:endParaRPr lang="en-AU"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2606908" y="4830999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(GB</a:t>
            </a:r>
            <a:r>
              <a:rPr lang="en-AU" sz="2400" dirty="0" smtClean="0"/>
              <a:t>): </a:t>
            </a:r>
            <a:r>
              <a:rPr lang="en-AU" sz="2400" dirty="0" smtClean="0"/>
              <a:t>7/11 x 4/11 = 28/121</a:t>
            </a:r>
            <a:endParaRPr lang="en-AU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2613980" y="5907902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(GG</a:t>
            </a:r>
            <a:r>
              <a:rPr lang="en-AU" sz="2400" dirty="0" smtClean="0"/>
              <a:t>): </a:t>
            </a:r>
            <a:r>
              <a:rPr lang="en-AU" sz="2400" dirty="0" smtClean="0"/>
              <a:t>7/11 x 7/11 = 49/121</a:t>
            </a:r>
            <a:endParaRPr lang="en-AU" sz="2400" dirty="0"/>
          </a:p>
        </p:txBody>
      </p:sp>
      <p:sp>
        <p:nvSpPr>
          <p:cNvPr id="32" name="TextBox 31"/>
          <p:cNvSpPr txBox="1"/>
          <p:nvPr/>
        </p:nvSpPr>
        <p:spPr>
          <a:xfrm>
            <a:off x="7576456" y="2805119"/>
            <a:ext cx="4615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/>
              <a:t>b) The probability of 2 greens is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(GG) = 49/121.</a:t>
            </a:r>
            <a:endParaRPr lang="en-AU" sz="24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320425" y="4603336"/>
            <a:ext cx="48715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c</a:t>
            </a:r>
            <a:r>
              <a:rPr lang="en-AU" sz="2400" b="1" dirty="0" smtClean="0"/>
              <a:t>) The probability of at least 1 blue is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(BB) +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(BG) +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(GB</a:t>
            </a:r>
            <a:r>
              <a:rPr lang="en-AU" sz="2400" b="1" dirty="0" smtClean="0"/>
              <a:t>):</a:t>
            </a:r>
            <a:endParaRPr lang="en-AU" sz="2400" b="1" dirty="0" smtClean="0"/>
          </a:p>
          <a:p>
            <a:pPr algn="ctr"/>
            <a:r>
              <a:rPr lang="en-AU" sz="2400" b="1" dirty="0" smtClean="0"/>
              <a:t> </a:t>
            </a:r>
            <a:r>
              <a:rPr lang="en-AU" sz="2400" b="1" dirty="0" smtClean="0"/>
              <a:t> </a:t>
            </a:r>
            <a:r>
              <a:rPr lang="en-AU" sz="2400" b="1" dirty="0" smtClean="0"/>
              <a:t>16/121 + 28/121 + 28/121</a:t>
            </a:r>
          </a:p>
          <a:p>
            <a:pPr algn="ctr"/>
            <a:r>
              <a:rPr lang="en-AU" sz="2400" b="1" dirty="0" smtClean="0"/>
              <a:t>= </a:t>
            </a:r>
            <a:r>
              <a:rPr lang="en-AU" sz="2400" b="1" dirty="0" smtClean="0"/>
              <a:t>72/121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70732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 animBg="1"/>
      <p:bldP spid="17" grpId="0"/>
      <p:bldP spid="23" grpId="0"/>
      <p:bldP spid="24" grpId="0"/>
      <p:bldP spid="25" grpId="0"/>
      <p:bldP spid="26" grpId="0"/>
      <p:bldP spid="27" grpId="0"/>
      <p:bldP spid="32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4096512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57477" y="571548"/>
            <a:ext cx="1174089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marble is taken from a bag containing 4 blue marbles and 7 green marbles. It is </a:t>
            </a:r>
            <a:r>
              <a:rPr lang="en-AU" sz="3000" b="1" i="1" dirty="0" smtClean="0"/>
              <a:t>not</a:t>
            </a:r>
            <a:r>
              <a:rPr lang="en-AU" sz="2400" dirty="0" smtClean="0"/>
              <a:t> replaced before a 2</a:t>
            </a:r>
            <a:r>
              <a:rPr lang="en-AU" sz="2400" baseline="30000" dirty="0" smtClean="0"/>
              <a:t>nd</a:t>
            </a:r>
            <a:r>
              <a:rPr lang="en-AU" sz="2400" dirty="0" smtClean="0"/>
              <a:t> marble is taken out.</a:t>
            </a:r>
            <a:endParaRPr lang="en-AU" sz="2400" dirty="0"/>
          </a:p>
          <a:p>
            <a:r>
              <a:rPr lang="en-AU" sz="2400" dirty="0" smtClean="0"/>
              <a:t>Draw a tree diagram that represents this situation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9038" y="1097280"/>
            <a:ext cx="1922852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i="1" dirty="0" smtClean="0"/>
              <a:t>‘without replacement’</a:t>
            </a:r>
            <a:endParaRPr lang="en-AU" sz="2400" i="1" dirty="0"/>
          </a:p>
        </p:txBody>
      </p:sp>
      <p:sp>
        <p:nvSpPr>
          <p:cNvPr id="7" name="TextBox 6"/>
          <p:cNvSpPr txBox="1"/>
          <p:nvPr/>
        </p:nvSpPr>
        <p:spPr>
          <a:xfrm>
            <a:off x="135854" y="302519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6895" y="228827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6895" y="3913293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333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1st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2800676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2nd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348958" y="375021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20855" y="471289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1091" y="510698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8764" y="3873325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4/11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1775678" y="3288550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</a:t>
            </a:r>
            <a:r>
              <a:rPr lang="en-AU" sz="2400" dirty="0" smtClean="0"/>
              <a:t>/10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1745852" y="4927098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4/10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286513" y="510698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  <a:r>
              <a:rPr lang="en-AU" sz="2400" dirty="0" smtClean="0"/>
              <a:t>/11</a:t>
            </a:r>
            <a:endParaRPr lang="en-AU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1745852" y="423620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7/10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775678" y="5861222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6/10</a:t>
            </a:r>
            <a:endParaRPr lang="en-AU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2929999" y="3116911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06922" y="409034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20855" y="5772022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44983" y="3213463"/>
            <a:ext cx="7790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After we take one marble out, there are only 10 marbles left.</a:t>
            </a:r>
          </a:p>
          <a:p>
            <a:r>
              <a:rPr lang="en-AU" sz="2400" dirty="0" smtClean="0"/>
              <a:t>If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marble was blue, there are only 3 blue marbles left.</a:t>
            </a:r>
          </a:p>
          <a:p>
            <a:r>
              <a:rPr lang="en-AU" sz="2400" dirty="0" smtClean="0"/>
              <a:t>If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marble was blue, there are still 7 green marbles left.</a:t>
            </a:r>
            <a:endParaRPr lang="en-AU"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3944983" y="5050649"/>
            <a:ext cx="8031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If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marble was green, there are still </a:t>
            </a:r>
            <a:r>
              <a:rPr lang="en-AU" sz="2400" dirty="0"/>
              <a:t>4</a:t>
            </a:r>
            <a:r>
              <a:rPr lang="en-AU" sz="2400" dirty="0" smtClean="0"/>
              <a:t> blue marbles left.</a:t>
            </a:r>
          </a:p>
          <a:p>
            <a:r>
              <a:rPr lang="en-AU" sz="2400" dirty="0" smtClean="0"/>
              <a:t>If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marble was green, there are only </a:t>
            </a:r>
            <a:r>
              <a:rPr lang="en-AU" sz="2400" dirty="0"/>
              <a:t>6</a:t>
            </a:r>
            <a:r>
              <a:rPr lang="en-AU" sz="2400" dirty="0" smtClean="0"/>
              <a:t> green marbles left.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093173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5" grpId="0"/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3413761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88828" y="532081"/>
            <a:ext cx="1174089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marble is taken from a bag containing 4 blue marbles and 7 green marbles. It is </a:t>
            </a:r>
            <a:r>
              <a:rPr lang="en-AU" sz="3000" b="1" i="1" dirty="0" smtClean="0"/>
              <a:t>not</a:t>
            </a:r>
            <a:r>
              <a:rPr lang="en-AU" sz="2400" dirty="0" smtClean="0"/>
              <a:t> replaced before a 2</a:t>
            </a:r>
            <a:r>
              <a:rPr lang="en-AU" sz="2400" baseline="30000" dirty="0" smtClean="0"/>
              <a:t>nd</a:t>
            </a:r>
            <a:r>
              <a:rPr lang="en-AU" sz="2400" dirty="0" smtClean="0"/>
              <a:t> marble is taken out.</a:t>
            </a:r>
            <a:endParaRPr lang="en-AU" sz="2400" dirty="0"/>
          </a:p>
          <a:p>
            <a:r>
              <a:rPr lang="en-AU" sz="2400" dirty="0" smtClean="0"/>
              <a:t>a)   Draw a tree diagram that represents this situation.</a:t>
            </a:r>
          </a:p>
          <a:p>
            <a:r>
              <a:rPr lang="en-AU" sz="2400" dirty="0" smtClean="0"/>
              <a:t>b)   Find </a:t>
            </a:r>
            <a:r>
              <a:rPr lang="en-AU" sz="2400" dirty="0"/>
              <a:t>the probability of getting two green marbles.</a:t>
            </a:r>
          </a:p>
          <a:p>
            <a:r>
              <a:rPr lang="en-AU" sz="2400" dirty="0" smtClean="0"/>
              <a:t>c)    Find </a:t>
            </a:r>
            <a:r>
              <a:rPr lang="en-AU" sz="2400" dirty="0"/>
              <a:t>the probability of getting at least one blue marble.</a:t>
            </a:r>
          </a:p>
          <a:p>
            <a:endParaRPr lang="en-AU" sz="24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9609038" y="1097280"/>
            <a:ext cx="1922852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i="1" dirty="0" smtClean="0"/>
              <a:t>‘without replacement’</a:t>
            </a:r>
            <a:endParaRPr lang="en-AU" sz="2400" i="1" dirty="0"/>
          </a:p>
        </p:txBody>
      </p:sp>
      <p:sp>
        <p:nvSpPr>
          <p:cNvPr id="7" name="TextBox 6"/>
          <p:cNvSpPr txBox="1"/>
          <p:nvPr/>
        </p:nvSpPr>
        <p:spPr>
          <a:xfrm>
            <a:off x="135854" y="302519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6895" y="228827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6895" y="3913293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333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1st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2800676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2nd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348958" y="375021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20855" y="471289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1091" y="510698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8764" y="3873325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4/11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1775678" y="3288550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</a:t>
            </a:r>
            <a:r>
              <a:rPr lang="en-AU" sz="2400" dirty="0" smtClean="0"/>
              <a:t>/10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1786780" y="4940401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4/10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286513" y="510698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  <a:r>
              <a:rPr lang="en-AU" sz="2400" dirty="0" smtClean="0"/>
              <a:t>/11</a:t>
            </a:r>
            <a:endParaRPr lang="en-AU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1775678" y="4218779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7/10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745851" y="5853859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6/10</a:t>
            </a:r>
            <a:endParaRPr lang="en-AU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2929999" y="3116911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06922" y="409034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20855" y="5772022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20848" y="3238509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(BB</a:t>
            </a:r>
            <a:r>
              <a:rPr lang="en-AU" sz="2400" dirty="0" smtClean="0"/>
              <a:t>): </a:t>
            </a:r>
            <a:r>
              <a:rPr lang="en-AU" sz="2400" dirty="0" smtClean="0"/>
              <a:t>4/11 x 3/10 = 6/55</a:t>
            </a:r>
            <a:endParaRPr lang="en-AU"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2606909" y="4168407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(BG</a:t>
            </a:r>
            <a:r>
              <a:rPr lang="en-AU" sz="2400" dirty="0" smtClean="0"/>
              <a:t>): </a:t>
            </a:r>
            <a:r>
              <a:rPr lang="en-AU" sz="2400" dirty="0" smtClean="0"/>
              <a:t>4/11 x 7/10 = 14/55</a:t>
            </a:r>
            <a:endParaRPr lang="en-AU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2606908" y="4830999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(GB</a:t>
            </a:r>
            <a:r>
              <a:rPr lang="en-AU" sz="2400" dirty="0" smtClean="0"/>
              <a:t>): </a:t>
            </a:r>
            <a:r>
              <a:rPr lang="en-AU" sz="2400" dirty="0" smtClean="0"/>
              <a:t>7/11 x 4/10 = 14/55</a:t>
            </a:r>
            <a:endParaRPr lang="en-AU" sz="2400" dirty="0"/>
          </a:p>
        </p:txBody>
      </p:sp>
      <p:sp>
        <p:nvSpPr>
          <p:cNvPr id="32" name="TextBox 31"/>
          <p:cNvSpPr txBox="1"/>
          <p:nvPr/>
        </p:nvSpPr>
        <p:spPr>
          <a:xfrm>
            <a:off x="2648712" y="5899039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(GG</a:t>
            </a:r>
            <a:r>
              <a:rPr lang="en-AU" sz="2400" dirty="0" smtClean="0"/>
              <a:t>): </a:t>
            </a:r>
            <a:r>
              <a:rPr lang="en-AU" sz="2400" dirty="0" smtClean="0"/>
              <a:t>7/11 x 6/10 = 21/55</a:t>
            </a:r>
            <a:endParaRPr lang="en-AU" sz="2400" dirty="0"/>
          </a:p>
        </p:txBody>
      </p:sp>
      <p:sp>
        <p:nvSpPr>
          <p:cNvPr id="33" name="TextBox 32"/>
          <p:cNvSpPr txBox="1"/>
          <p:nvPr/>
        </p:nvSpPr>
        <p:spPr>
          <a:xfrm>
            <a:off x="7576456" y="2805119"/>
            <a:ext cx="4615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/>
              <a:t>b) The probability of 2 greens is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(GG) = 21/55</a:t>
            </a:r>
            <a:endParaRPr lang="en-AU" sz="24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7320425" y="4603336"/>
            <a:ext cx="48715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c</a:t>
            </a:r>
            <a:r>
              <a:rPr lang="en-AU" sz="2400" b="1" dirty="0" smtClean="0"/>
              <a:t>) The probability of at least 1 blue is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(BB) +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(BG) +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(GB)</a:t>
            </a:r>
          </a:p>
          <a:p>
            <a:pPr algn="ctr"/>
            <a:r>
              <a:rPr lang="en-AU" sz="2400" b="1" dirty="0" smtClean="0"/>
              <a:t> = 6/55 + 14/55 + 14/55</a:t>
            </a:r>
          </a:p>
          <a:p>
            <a:pPr algn="ctr"/>
            <a:r>
              <a:rPr lang="en-AU" sz="2400" b="1" dirty="0" smtClean="0"/>
              <a:t>= 34/55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48256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3067159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88828" y="532081"/>
            <a:ext cx="11740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Two cards are drawn, without replacement, from a set of 20 cards that are numbered 1 to 20.</a:t>
            </a:r>
          </a:p>
          <a:p>
            <a:r>
              <a:rPr lang="en-AU" sz="2400" dirty="0" smtClean="0"/>
              <a:t>Let P = ‘a prime number is drawn’ and N = ‘a prime number is not drawn’.</a:t>
            </a:r>
          </a:p>
          <a:p>
            <a:r>
              <a:rPr lang="en-AU" sz="2400" dirty="0" smtClean="0"/>
              <a:t>Draw a tree diagram to show this information.</a:t>
            </a:r>
          </a:p>
          <a:p>
            <a:r>
              <a:rPr lang="en-AU" sz="2400" dirty="0" smtClean="0">
                <a:solidFill>
                  <a:srgbClr val="FF0000"/>
                </a:solidFill>
              </a:rPr>
              <a:t>Prime numbers between 1 and 20 are 2, 3, 5, 7, 11, 13, 17, 19 (eight in total).</a:t>
            </a:r>
            <a:endParaRPr lang="en-AU" sz="2400" dirty="0">
              <a:solidFill>
                <a:srgbClr val="FF0000"/>
              </a:solidFill>
            </a:endParaRPr>
          </a:p>
          <a:p>
            <a:endParaRPr lang="en-AU" sz="24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35854" y="302519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6895" y="228827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6895" y="3913293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1333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1st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2800676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2nd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348958" y="375021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P</a:t>
            </a:r>
            <a:endParaRPr lang="en-AU" sz="4000" dirty="0"/>
          </a:p>
        </p:txBody>
      </p:sp>
      <p:sp>
        <p:nvSpPr>
          <p:cNvPr id="11" name="TextBox 10"/>
          <p:cNvSpPr txBox="1"/>
          <p:nvPr/>
        </p:nvSpPr>
        <p:spPr>
          <a:xfrm>
            <a:off x="2920855" y="471289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P</a:t>
            </a:r>
            <a:endParaRPr lang="en-AU" sz="4000" dirty="0"/>
          </a:p>
        </p:txBody>
      </p:sp>
      <p:sp>
        <p:nvSpPr>
          <p:cNvPr id="12" name="TextBox 11"/>
          <p:cNvSpPr txBox="1"/>
          <p:nvPr/>
        </p:nvSpPr>
        <p:spPr>
          <a:xfrm>
            <a:off x="1321091" y="510698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N</a:t>
            </a:r>
            <a:endParaRPr lang="en-AU" sz="4000" dirty="0"/>
          </a:p>
        </p:txBody>
      </p:sp>
      <p:sp>
        <p:nvSpPr>
          <p:cNvPr id="13" name="TextBox 12"/>
          <p:cNvSpPr txBox="1"/>
          <p:nvPr/>
        </p:nvSpPr>
        <p:spPr>
          <a:xfrm>
            <a:off x="2929999" y="3116911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P</a:t>
            </a:r>
            <a:endParaRPr lang="en-AU" sz="4000" dirty="0"/>
          </a:p>
        </p:txBody>
      </p:sp>
      <p:sp>
        <p:nvSpPr>
          <p:cNvPr id="14" name="TextBox 13"/>
          <p:cNvSpPr txBox="1"/>
          <p:nvPr/>
        </p:nvSpPr>
        <p:spPr>
          <a:xfrm>
            <a:off x="2906922" y="409034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N</a:t>
            </a:r>
            <a:endParaRPr lang="en-AU" sz="4000" dirty="0"/>
          </a:p>
        </p:txBody>
      </p:sp>
      <p:sp>
        <p:nvSpPr>
          <p:cNvPr id="15" name="TextBox 14"/>
          <p:cNvSpPr txBox="1"/>
          <p:nvPr/>
        </p:nvSpPr>
        <p:spPr>
          <a:xfrm>
            <a:off x="2920855" y="5772022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N</a:t>
            </a:r>
            <a:endParaRPr lang="en-AU" sz="4000" dirty="0"/>
          </a:p>
        </p:txBody>
      </p:sp>
      <p:sp>
        <p:nvSpPr>
          <p:cNvPr id="16" name="TextBox 15"/>
          <p:cNvSpPr txBox="1"/>
          <p:nvPr/>
        </p:nvSpPr>
        <p:spPr>
          <a:xfrm>
            <a:off x="338764" y="3873325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8/20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286513" y="510698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12/20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3944983" y="3213463"/>
            <a:ext cx="7790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After we take one card, there are only 19 cards left.</a:t>
            </a:r>
          </a:p>
          <a:p>
            <a:r>
              <a:rPr lang="en-AU" sz="2400" dirty="0" smtClean="0"/>
              <a:t>If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card was prime, there are only 7 primes left.</a:t>
            </a:r>
          </a:p>
          <a:p>
            <a:r>
              <a:rPr lang="en-AU" sz="2400" dirty="0" smtClean="0"/>
              <a:t>If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card was prime, there are still 12 non-primes left.</a:t>
            </a:r>
            <a:endParaRPr lang="en-AU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3944983" y="5050649"/>
            <a:ext cx="8031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If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card wasn’t prime, there are still 8 primes left.</a:t>
            </a:r>
          </a:p>
          <a:p>
            <a:r>
              <a:rPr lang="en-AU" sz="2400" dirty="0" smtClean="0"/>
              <a:t>If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card wasn’t prime, there are only 11 non-primes left.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775678" y="3288550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7/19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775678" y="489794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8/19</a:t>
            </a:r>
            <a:endParaRPr lang="en-AU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1725168" y="4298652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12/19</a:t>
            </a:r>
            <a:endParaRPr lang="en-AU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1671610" y="5881646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11/19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14098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0" grpId="0"/>
      <p:bldP spid="21" grpId="0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3067159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88828" y="532081"/>
            <a:ext cx="117408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Two cards are drawn, without replacement, from a set of 20 cards that are numbered 1 to 20.</a:t>
            </a:r>
          </a:p>
          <a:p>
            <a:r>
              <a:rPr lang="en-AU" sz="2400" dirty="0" smtClean="0"/>
              <a:t>Let P = ‘a prime number is drawn’ and N = ‘a prime number is not drawn’.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</a:t>
            </a:r>
            <a:r>
              <a:rPr lang="en-AU" sz="2400" dirty="0" err="1" smtClean="0"/>
              <a:t>Pr</a:t>
            </a:r>
            <a:r>
              <a:rPr lang="en-AU" sz="2400" dirty="0" smtClean="0"/>
              <a:t>(both cards are prime)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</a:t>
            </a:r>
            <a:r>
              <a:rPr lang="en-AU" sz="2400" dirty="0" err="1" smtClean="0"/>
              <a:t>Pr</a:t>
            </a:r>
            <a:r>
              <a:rPr lang="en-AU" sz="2400" dirty="0" smtClean="0"/>
              <a:t>(no cards are prime)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</a:t>
            </a:r>
            <a:r>
              <a:rPr lang="en-AU" sz="2400" dirty="0" err="1" smtClean="0"/>
              <a:t>Pr</a:t>
            </a:r>
            <a:r>
              <a:rPr lang="en-AU" sz="2400" dirty="0" smtClean="0"/>
              <a:t>(at least one card is prime)</a:t>
            </a:r>
            <a:endParaRPr lang="en-AU" sz="2400" dirty="0"/>
          </a:p>
          <a:p>
            <a:endParaRPr lang="en-AU" sz="2400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135854" y="302519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16895" y="228827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16895" y="3913293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1333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1st</a:t>
            </a:r>
            <a:endParaRPr lang="en-AU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2800676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2nd</a:t>
            </a:r>
            <a:endParaRPr lang="en-AU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1348958" y="375021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P</a:t>
            </a:r>
            <a:endParaRPr lang="en-AU" sz="4000" dirty="0"/>
          </a:p>
        </p:txBody>
      </p:sp>
      <p:sp>
        <p:nvSpPr>
          <p:cNvPr id="28" name="TextBox 27"/>
          <p:cNvSpPr txBox="1"/>
          <p:nvPr/>
        </p:nvSpPr>
        <p:spPr>
          <a:xfrm>
            <a:off x="2920855" y="471289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P</a:t>
            </a:r>
            <a:endParaRPr lang="en-AU" sz="4000" dirty="0"/>
          </a:p>
        </p:txBody>
      </p:sp>
      <p:sp>
        <p:nvSpPr>
          <p:cNvPr id="29" name="TextBox 28"/>
          <p:cNvSpPr txBox="1"/>
          <p:nvPr/>
        </p:nvSpPr>
        <p:spPr>
          <a:xfrm>
            <a:off x="1321091" y="510698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N</a:t>
            </a:r>
            <a:endParaRPr lang="en-AU" sz="4000" dirty="0"/>
          </a:p>
        </p:txBody>
      </p:sp>
      <p:sp>
        <p:nvSpPr>
          <p:cNvPr id="30" name="TextBox 29"/>
          <p:cNvSpPr txBox="1"/>
          <p:nvPr/>
        </p:nvSpPr>
        <p:spPr>
          <a:xfrm>
            <a:off x="2929999" y="3116911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P</a:t>
            </a:r>
            <a:endParaRPr lang="en-AU" sz="4000" dirty="0"/>
          </a:p>
        </p:txBody>
      </p:sp>
      <p:sp>
        <p:nvSpPr>
          <p:cNvPr id="31" name="TextBox 30"/>
          <p:cNvSpPr txBox="1"/>
          <p:nvPr/>
        </p:nvSpPr>
        <p:spPr>
          <a:xfrm>
            <a:off x="2906922" y="409034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N</a:t>
            </a:r>
            <a:endParaRPr lang="en-AU" sz="4000" dirty="0"/>
          </a:p>
        </p:txBody>
      </p:sp>
      <p:sp>
        <p:nvSpPr>
          <p:cNvPr id="32" name="TextBox 31"/>
          <p:cNvSpPr txBox="1"/>
          <p:nvPr/>
        </p:nvSpPr>
        <p:spPr>
          <a:xfrm>
            <a:off x="2920855" y="5772022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N</a:t>
            </a:r>
            <a:endParaRPr lang="en-AU" sz="4000" dirty="0"/>
          </a:p>
        </p:txBody>
      </p:sp>
      <p:sp>
        <p:nvSpPr>
          <p:cNvPr id="33" name="TextBox 32"/>
          <p:cNvSpPr txBox="1"/>
          <p:nvPr/>
        </p:nvSpPr>
        <p:spPr>
          <a:xfrm>
            <a:off x="338764" y="3873325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8/20</a:t>
            </a:r>
            <a:endParaRPr lang="en-AU" sz="2400" dirty="0"/>
          </a:p>
        </p:txBody>
      </p:sp>
      <p:sp>
        <p:nvSpPr>
          <p:cNvPr id="34" name="TextBox 33"/>
          <p:cNvSpPr txBox="1"/>
          <p:nvPr/>
        </p:nvSpPr>
        <p:spPr>
          <a:xfrm>
            <a:off x="286513" y="510698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12/20</a:t>
            </a:r>
            <a:endParaRPr lang="en-AU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1775678" y="3288550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7/19</a:t>
            </a:r>
            <a:endParaRPr lang="en-AU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1761282" y="4947535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8/19</a:t>
            </a:r>
            <a:endParaRPr lang="en-AU" sz="2400" dirty="0"/>
          </a:p>
        </p:txBody>
      </p:sp>
      <p:sp>
        <p:nvSpPr>
          <p:cNvPr id="38" name="TextBox 37"/>
          <p:cNvSpPr txBox="1"/>
          <p:nvPr/>
        </p:nvSpPr>
        <p:spPr>
          <a:xfrm>
            <a:off x="1725168" y="4298652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12/19</a:t>
            </a:r>
            <a:endParaRPr lang="en-AU" sz="2400" dirty="0"/>
          </a:p>
        </p:txBody>
      </p:sp>
      <p:sp>
        <p:nvSpPr>
          <p:cNvPr id="39" name="TextBox 38"/>
          <p:cNvSpPr txBox="1"/>
          <p:nvPr/>
        </p:nvSpPr>
        <p:spPr>
          <a:xfrm>
            <a:off x="1671610" y="5881646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11/19</a:t>
            </a:r>
            <a:endParaRPr lang="en-AU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2510684" y="3182776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(PP</a:t>
            </a:r>
            <a:r>
              <a:rPr lang="en-AU" sz="2400" dirty="0" smtClean="0"/>
              <a:t>): </a:t>
            </a:r>
            <a:r>
              <a:rPr lang="en-AU" sz="2400" dirty="0" smtClean="0"/>
              <a:t>8/20 x 7/19 = 14/95</a:t>
            </a:r>
            <a:endParaRPr lang="en-AU" sz="2400" dirty="0"/>
          </a:p>
        </p:txBody>
      </p:sp>
      <p:sp>
        <p:nvSpPr>
          <p:cNvPr id="41" name="TextBox 40"/>
          <p:cNvSpPr txBox="1"/>
          <p:nvPr/>
        </p:nvSpPr>
        <p:spPr>
          <a:xfrm>
            <a:off x="2584765" y="4243670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(PN</a:t>
            </a:r>
            <a:r>
              <a:rPr lang="en-AU" sz="2400" dirty="0" smtClean="0"/>
              <a:t>): </a:t>
            </a:r>
            <a:r>
              <a:rPr lang="en-AU" sz="2400" dirty="0" smtClean="0"/>
              <a:t>8/20 x 12/19 = 24/95</a:t>
            </a:r>
            <a:endParaRPr lang="en-AU" sz="2400" dirty="0"/>
          </a:p>
        </p:txBody>
      </p:sp>
      <p:sp>
        <p:nvSpPr>
          <p:cNvPr id="42" name="TextBox 41"/>
          <p:cNvSpPr txBox="1"/>
          <p:nvPr/>
        </p:nvSpPr>
        <p:spPr>
          <a:xfrm>
            <a:off x="2584765" y="4862036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(NP</a:t>
            </a:r>
            <a:r>
              <a:rPr lang="en-AU" sz="2400" dirty="0" smtClean="0"/>
              <a:t>): </a:t>
            </a:r>
            <a:r>
              <a:rPr lang="en-AU" sz="2400" dirty="0" smtClean="0"/>
              <a:t>12/20 x 8/19 = 24/95</a:t>
            </a:r>
            <a:endParaRPr lang="en-AU" sz="2400" dirty="0"/>
          </a:p>
        </p:txBody>
      </p:sp>
      <p:sp>
        <p:nvSpPr>
          <p:cNvPr id="43" name="TextBox 42"/>
          <p:cNvSpPr txBox="1"/>
          <p:nvPr/>
        </p:nvSpPr>
        <p:spPr>
          <a:xfrm>
            <a:off x="2710543" y="5896707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(NN</a:t>
            </a:r>
            <a:r>
              <a:rPr lang="en-AU" sz="2400" dirty="0" smtClean="0"/>
              <a:t>): </a:t>
            </a:r>
            <a:r>
              <a:rPr lang="en-AU" sz="2400" dirty="0" smtClean="0"/>
              <a:t>12/20 x 11/19 = 33/95</a:t>
            </a:r>
            <a:endParaRPr lang="en-AU" sz="2400" dirty="0"/>
          </a:p>
        </p:txBody>
      </p:sp>
      <p:sp>
        <p:nvSpPr>
          <p:cNvPr id="44" name="TextBox 43"/>
          <p:cNvSpPr txBox="1"/>
          <p:nvPr/>
        </p:nvSpPr>
        <p:spPr>
          <a:xfrm>
            <a:off x="7528127" y="2342215"/>
            <a:ext cx="4615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a</a:t>
            </a:r>
            <a:r>
              <a:rPr lang="en-AU" sz="2400" b="1" dirty="0" smtClean="0"/>
              <a:t>)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(both prime) is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(PP) = 14/95.</a:t>
            </a:r>
            <a:endParaRPr lang="en-AU" sz="240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7320425" y="4788712"/>
            <a:ext cx="48715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c</a:t>
            </a:r>
            <a:r>
              <a:rPr lang="en-AU" sz="2400" b="1" dirty="0" smtClean="0"/>
              <a:t>)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(at least 1 prime) is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(PP) +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(PN) +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(NP)</a:t>
            </a:r>
          </a:p>
          <a:p>
            <a:pPr algn="ctr"/>
            <a:r>
              <a:rPr lang="en-AU" sz="2400" b="1" dirty="0" smtClean="0"/>
              <a:t> = 14/95 + 24/95 + 24/95</a:t>
            </a:r>
          </a:p>
          <a:p>
            <a:pPr algn="ctr"/>
            <a:r>
              <a:rPr lang="en-AU" sz="2400" b="1" dirty="0" smtClean="0"/>
              <a:t>= 62/95</a:t>
            </a:r>
            <a:endParaRPr lang="en-AU" sz="24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7448440" y="3521073"/>
            <a:ext cx="4615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/>
              <a:t>b)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(no primes) is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(NN) = 33/95.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34780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8269616" y="2240042"/>
            <a:ext cx="619973" cy="69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TextBox 24"/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2800676" y="1053431"/>
            <a:ext cx="747775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err="1" smtClean="0"/>
              <a:t>Mathspace</a:t>
            </a:r>
            <a:r>
              <a:rPr lang="en-AU" sz="2400" b="1" dirty="0" smtClean="0"/>
              <a:t> – Year 10 </a:t>
            </a:r>
            <a:r>
              <a:rPr lang="en-AU" sz="2400" b="1" dirty="0" smtClean="0"/>
              <a:t>Mainstream Tree Diagrams </a:t>
            </a:r>
          </a:p>
          <a:p>
            <a:pPr algn="ctr"/>
            <a:r>
              <a:rPr lang="en-AU" sz="2400" b="1" dirty="0" smtClean="0"/>
              <a:t>Without </a:t>
            </a:r>
            <a:r>
              <a:rPr lang="en-AU" sz="2400" b="1" dirty="0" smtClean="0"/>
              <a:t>Replacement CLASS WORK</a:t>
            </a:r>
            <a:endParaRPr lang="en-AU" sz="2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35854" y="302519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16895" y="228827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6895" y="3913293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1333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1st</a:t>
            </a:r>
            <a:endParaRPr lang="en-AU"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2800676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2nd</a:t>
            </a:r>
            <a:endParaRPr lang="en-AU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1348958" y="375021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20855" y="471289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21091" y="510698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38764" y="3873325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4/11</a:t>
            </a:r>
            <a:endParaRPr lang="en-AU" sz="2400" dirty="0"/>
          </a:p>
        </p:txBody>
      </p:sp>
      <p:sp>
        <p:nvSpPr>
          <p:cNvPr id="35" name="TextBox 34"/>
          <p:cNvSpPr txBox="1"/>
          <p:nvPr/>
        </p:nvSpPr>
        <p:spPr>
          <a:xfrm>
            <a:off x="1775678" y="3288550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</a:t>
            </a:r>
            <a:r>
              <a:rPr lang="en-AU" sz="2400" dirty="0" smtClean="0"/>
              <a:t>/10</a:t>
            </a:r>
            <a:endParaRPr lang="en-AU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1725168" y="4881371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4/10</a:t>
            </a:r>
            <a:endParaRPr lang="en-AU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286513" y="510698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  <a:r>
              <a:rPr lang="en-AU" sz="2400" dirty="0" smtClean="0"/>
              <a:t>/11</a:t>
            </a:r>
            <a:endParaRPr lang="en-AU" sz="2400" dirty="0"/>
          </a:p>
        </p:txBody>
      </p:sp>
      <p:sp>
        <p:nvSpPr>
          <p:cNvPr id="38" name="TextBox 37"/>
          <p:cNvSpPr txBox="1"/>
          <p:nvPr/>
        </p:nvSpPr>
        <p:spPr>
          <a:xfrm>
            <a:off x="1725168" y="4298652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7/10</a:t>
            </a:r>
            <a:endParaRPr lang="en-AU" sz="2400" dirty="0"/>
          </a:p>
        </p:txBody>
      </p:sp>
      <p:sp>
        <p:nvSpPr>
          <p:cNvPr id="39" name="TextBox 38"/>
          <p:cNvSpPr txBox="1"/>
          <p:nvPr/>
        </p:nvSpPr>
        <p:spPr>
          <a:xfrm>
            <a:off x="1671610" y="5881646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6/10</a:t>
            </a:r>
            <a:endParaRPr lang="en-AU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2929999" y="3116911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906922" y="409034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920855" y="5772022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520848" y="3224823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(BB</a:t>
            </a:r>
            <a:r>
              <a:rPr lang="en-AU" sz="2400" dirty="0" smtClean="0"/>
              <a:t>): </a:t>
            </a:r>
            <a:r>
              <a:rPr lang="en-AU" sz="2400" dirty="0" smtClean="0"/>
              <a:t>4/11 x 3/10 = 6/55</a:t>
            </a:r>
            <a:endParaRPr lang="en-AU" sz="2400" dirty="0"/>
          </a:p>
        </p:txBody>
      </p:sp>
      <p:sp>
        <p:nvSpPr>
          <p:cNvPr id="44" name="TextBox 43"/>
          <p:cNvSpPr txBox="1"/>
          <p:nvPr/>
        </p:nvSpPr>
        <p:spPr>
          <a:xfrm>
            <a:off x="2606909" y="4168407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(BG</a:t>
            </a:r>
            <a:r>
              <a:rPr lang="en-AU" sz="2400" dirty="0" smtClean="0"/>
              <a:t>): </a:t>
            </a:r>
            <a:r>
              <a:rPr lang="en-AU" sz="2400" dirty="0" smtClean="0"/>
              <a:t>4/11 x 7/10 = 14/55</a:t>
            </a:r>
            <a:endParaRPr lang="en-AU" sz="2400" dirty="0"/>
          </a:p>
        </p:txBody>
      </p:sp>
      <p:sp>
        <p:nvSpPr>
          <p:cNvPr id="45" name="TextBox 44"/>
          <p:cNvSpPr txBox="1"/>
          <p:nvPr/>
        </p:nvSpPr>
        <p:spPr>
          <a:xfrm>
            <a:off x="2606908" y="4830999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(GB</a:t>
            </a:r>
            <a:r>
              <a:rPr lang="en-AU" sz="2400" dirty="0" smtClean="0"/>
              <a:t>): </a:t>
            </a:r>
            <a:r>
              <a:rPr lang="en-AU" sz="2400" dirty="0" smtClean="0"/>
              <a:t>7/11 x 4/10 = 14/55</a:t>
            </a:r>
            <a:endParaRPr lang="en-AU" sz="2400" dirty="0"/>
          </a:p>
        </p:txBody>
      </p:sp>
      <p:sp>
        <p:nvSpPr>
          <p:cNvPr id="46" name="TextBox 45"/>
          <p:cNvSpPr txBox="1"/>
          <p:nvPr/>
        </p:nvSpPr>
        <p:spPr>
          <a:xfrm>
            <a:off x="2648712" y="5899039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(GG</a:t>
            </a:r>
            <a:r>
              <a:rPr lang="en-AU" sz="2400" dirty="0" smtClean="0"/>
              <a:t>): </a:t>
            </a:r>
            <a:r>
              <a:rPr lang="en-AU" sz="2400" dirty="0" smtClean="0"/>
              <a:t>7/11 x 6/10 = 21/55</a:t>
            </a:r>
            <a:endParaRPr lang="en-AU" sz="2400" dirty="0"/>
          </a:p>
        </p:txBody>
      </p:sp>
      <p:sp>
        <p:nvSpPr>
          <p:cNvPr id="47" name="TextBox 46"/>
          <p:cNvSpPr txBox="1"/>
          <p:nvPr/>
        </p:nvSpPr>
        <p:spPr>
          <a:xfrm>
            <a:off x="7576456" y="2805119"/>
            <a:ext cx="4615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/>
              <a:t>b) The probability of 2 greens is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(GG) = 21/55</a:t>
            </a:r>
            <a:endParaRPr lang="en-AU" sz="2400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320425" y="4603336"/>
            <a:ext cx="48715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c</a:t>
            </a:r>
            <a:r>
              <a:rPr lang="en-AU" sz="2400" b="1" dirty="0" smtClean="0"/>
              <a:t>) The probability of at least 1 blue is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(BB) +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(BG) +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(GB)</a:t>
            </a:r>
          </a:p>
          <a:p>
            <a:pPr algn="ctr"/>
            <a:r>
              <a:rPr lang="en-AU" sz="2400" b="1" dirty="0" smtClean="0"/>
              <a:t> = 6/55 + 14/55 + 14/55</a:t>
            </a:r>
          </a:p>
          <a:p>
            <a:pPr algn="ctr"/>
            <a:r>
              <a:rPr lang="en-AU" sz="2400" b="1" dirty="0" smtClean="0"/>
              <a:t>= 34/55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79054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1263</Words>
  <Application>Microsoft Office PowerPoint</Application>
  <PresentationFormat>Widescreen</PresentationFormat>
  <Paragraphs>244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Back! </dc:title>
  <dc:creator>Megan Levitt</dc:creator>
  <cp:lastModifiedBy>YOST Amie [Harrisdale Senior High School]</cp:lastModifiedBy>
  <cp:revision>58</cp:revision>
  <cp:lastPrinted>2019-11-11T06:40:49Z</cp:lastPrinted>
  <dcterms:created xsi:type="dcterms:W3CDTF">2019-11-04T23:32:38Z</dcterms:created>
  <dcterms:modified xsi:type="dcterms:W3CDTF">2021-08-02T00:56:35Z</dcterms:modified>
</cp:coreProperties>
</file>
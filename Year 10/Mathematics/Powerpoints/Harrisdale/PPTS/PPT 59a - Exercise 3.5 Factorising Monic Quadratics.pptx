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94" r:id="rId2"/>
    <p:sldId id="300" r:id="rId3"/>
    <p:sldId id="301" r:id="rId4"/>
    <p:sldId id="302" r:id="rId5"/>
    <p:sldId id="304" r:id="rId6"/>
    <p:sldId id="303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262" r:id="rId15"/>
  </p:sldIdLst>
  <p:sldSz cx="12192000" cy="6858000"/>
  <p:notesSz cx="9939338" cy="6807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9774" y="1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21/09/2021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66154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9774" y="6466154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9774" y="1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/>
          <a:lstStyle>
            <a:lvl1pPr algn="r">
              <a:defRPr sz="1200"/>
            </a:lvl1pPr>
          </a:lstStyle>
          <a:p>
            <a:fld id="{98A407FC-2B23-4A93-97F3-503A9B8158DA}" type="datetimeFigureOut">
              <a:rPr lang="en-AU" smtClean="0"/>
              <a:t>21/09/2021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340" tIns="44170" rIns="88340" bIns="4417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490" y="3276368"/>
            <a:ext cx="7952360" cy="2679801"/>
          </a:xfrm>
          <a:prstGeom prst="rect">
            <a:avLst/>
          </a:prstGeom>
        </p:spPr>
        <p:txBody>
          <a:bodyPr vert="horz" lIns="88340" tIns="44170" rIns="88340" bIns="4417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66154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9774" y="6466154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 anchor="b"/>
          <a:lstStyle>
            <a:lvl1pPr algn="r">
              <a:defRPr sz="1200"/>
            </a:lvl1pPr>
          </a:lstStyle>
          <a:p>
            <a:fld id="{2708504B-110C-4133-AEC9-6CE92E459A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699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08504B-110C-4133-AEC9-6CE92E459A0C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0457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08504B-110C-4133-AEC9-6CE92E459A0C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4244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5F2E-F4FC-43B4-94AA-1106B84C5646}" type="datetime1">
              <a:rPr lang="en-AU" smtClean="0"/>
              <a:t>21/09/2021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A0130-55CB-4C1B-AAE9-3C10F34D9EBE}" type="datetime1">
              <a:rPr lang="en-AU" smtClean="0"/>
              <a:t>21/09/2021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DC440-21A6-44BE-9F23-BBEC4BE3FBED}" type="datetime1">
              <a:rPr lang="en-AU" smtClean="0"/>
              <a:t>21/09/2021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34185-69F4-4345-90C1-B8A1E236DE60}" type="datetime1">
              <a:rPr lang="en-AU" smtClean="0"/>
              <a:t>21/09/2021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02DE-837E-4CDD-97AD-B8F4118C5580}" type="datetime1">
              <a:rPr lang="en-AU" smtClean="0"/>
              <a:t>21/09/2021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4FD5-9417-4DEE-8A98-6ECDAC14191E}" type="datetime1">
              <a:rPr lang="en-AU" smtClean="0"/>
              <a:t>21/09/2021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A3856-1DCB-47DE-B73D-49578A856E3C}" type="datetime1">
              <a:rPr lang="en-AU" smtClean="0"/>
              <a:t>21/09/2021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926-A154-4730-8587-F8399479649A}" type="datetime1">
              <a:rPr lang="en-AU" smtClean="0"/>
              <a:t>21/09/2021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FBAE-5CF0-43E4-9EEA-85161AB24772}" type="datetime1">
              <a:rPr lang="en-AU" smtClean="0"/>
              <a:t>21/09/2021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37FA-D622-4ACF-BEE5-5A918DFBD30C}" type="datetime1">
              <a:rPr lang="en-AU" smtClean="0"/>
              <a:t>21/09/2021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45571-EBF6-4C45-BE21-3DA10917424B}" type="datetime1">
              <a:rPr lang="en-AU" smtClean="0"/>
              <a:t>21/09/2021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85E0A-3359-4673-BE97-05D40FA27689}" type="datetime1">
              <a:rPr lang="en-AU" smtClean="0"/>
              <a:t>21/09/2021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12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5.png"/><Relationship Id="rId10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19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12" Type="http://schemas.openxmlformats.org/officeDocument/2006/relationships/image" Target="../media/image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28.png"/><Relationship Id="rId5" Type="http://schemas.openxmlformats.org/officeDocument/2006/relationships/image" Target="../media/image5.png"/><Relationship Id="rId10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image" Target="../media/image26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1.png"/><Relationship Id="rId7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41.png"/><Relationship Id="rId5" Type="http://schemas.openxmlformats.org/officeDocument/2006/relationships/image" Target="../media/image33.png"/><Relationship Id="rId10" Type="http://schemas.openxmlformats.org/officeDocument/2006/relationships/image" Target="../media/image40.png"/><Relationship Id="rId4" Type="http://schemas.openxmlformats.org/officeDocument/2006/relationships/image" Target="../media/image32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12" Type="http://schemas.openxmlformats.org/officeDocument/2006/relationships/image" Target="../media/image1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5.png"/><Relationship Id="rId10" Type="http://schemas.openxmlformats.org/officeDocument/2006/relationships/image" Target="../media/image47.png"/><Relationship Id="rId4" Type="http://schemas.openxmlformats.org/officeDocument/2006/relationships/image" Target="../media/image4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12" Type="http://schemas.openxmlformats.org/officeDocument/2006/relationships/image" Target="../media/image1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5.png"/><Relationship Id="rId10" Type="http://schemas.openxmlformats.org/officeDocument/2006/relationships/image" Target="../media/image54.png"/><Relationship Id="rId4" Type="http://schemas.openxmlformats.org/officeDocument/2006/relationships/image" Target="../media/image4.png"/><Relationship Id="rId9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12" Type="http://schemas.openxmlformats.org/officeDocument/2006/relationships/image" Target="../media/image1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0.png"/><Relationship Id="rId5" Type="http://schemas.openxmlformats.org/officeDocument/2006/relationships/image" Target="../media/image5.png"/><Relationship Id="rId10" Type="http://schemas.openxmlformats.org/officeDocument/2006/relationships/image" Target="../media/image54.png"/><Relationship Id="rId4" Type="http://schemas.openxmlformats.org/officeDocument/2006/relationships/image" Target="../media/image4.png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12" Type="http://schemas.openxmlformats.org/officeDocument/2006/relationships/image" Target="../media/image1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5.png"/><Relationship Id="rId5" Type="http://schemas.openxmlformats.org/officeDocument/2006/relationships/image" Target="../media/image5.png"/><Relationship Id="rId10" Type="http://schemas.openxmlformats.org/officeDocument/2006/relationships/image" Target="../media/image64.png"/><Relationship Id="rId4" Type="http://schemas.openxmlformats.org/officeDocument/2006/relationships/image" Target="../media/image4.png"/><Relationship Id="rId9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08499" y="740007"/>
            <a:ext cx="10759627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factorise </a:t>
            </a:r>
            <a:r>
              <a:rPr lang="en-AU" sz="4000" b="1" dirty="0" err="1" smtClean="0">
                <a:cs typeface="Arial" panose="020B0604020202020204" pitchFamily="34" charset="0"/>
              </a:rPr>
              <a:t>monic</a:t>
            </a:r>
            <a:r>
              <a:rPr lang="en-AU" sz="4000" b="1" dirty="0" smtClean="0">
                <a:cs typeface="Arial" panose="020B0604020202020204" pitchFamily="34" charset="0"/>
              </a:rPr>
              <a:t> quadratic expressions with negatives.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7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43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283306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283306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20?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80" y="4266623"/>
            <a:ext cx="593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also add together to make 9?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3762" y="4143512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4 and 5</a:t>
            </a:r>
            <a:endParaRPr lang="en-AU" sz="4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790747" y="2486788"/>
            <a:ext cx="1818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20</a:t>
            </a:r>
          </a:p>
          <a:p>
            <a:pPr algn="ctr"/>
            <a:r>
              <a:rPr lang="en-AU" sz="3000" b="1" dirty="0" smtClean="0"/>
              <a:t>2 and 10</a:t>
            </a:r>
          </a:p>
          <a:p>
            <a:pPr algn="ctr"/>
            <a:r>
              <a:rPr lang="en-AU" sz="3000" b="1" dirty="0"/>
              <a:t>4</a:t>
            </a:r>
            <a:r>
              <a:rPr lang="en-AU" sz="3000" b="1" dirty="0" smtClean="0"/>
              <a:t> and 5</a:t>
            </a:r>
            <a:endParaRPr lang="en-AU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631612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(9) and multiply to make the constant (20).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631612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806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𝟒𝟐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𝟒𝟐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30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51413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𝟒𝟐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51413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42?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80" y="4266623"/>
            <a:ext cx="580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also add together to make 13?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3762" y="4143512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6 and 7</a:t>
            </a:r>
            <a:endParaRPr lang="en-AU" sz="4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768840" y="2317512"/>
            <a:ext cx="1818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42</a:t>
            </a:r>
          </a:p>
          <a:p>
            <a:pPr algn="ctr"/>
            <a:r>
              <a:rPr lang="en-AU" sz="3000" b="1" dirty="0"/>
              <a:t>2</a:t>
            </a:r>
            <a:r>
              <a:rPr lang="en-AU" sz="3000" b="1" dirty="0" smtClean="0"/>
              <a:t> and 21</a:t>
            </a:r>
          </a:p>
          <a:p>
            <a:pPr algn="ctr"/>
            <a:r>
              <a:rPr lang="en-AU" sz="3000" b="1" dirty="0" smtClean="0"/>
              <a:t>3 and 14</a:t>
            </a:r>
          </a:p>
          <a:p>
            <a:pPr algn="ctr"/>
            <a:r>
              <a:rPr lang="en-AU" sz="3000" b="1" dirty="0"/>
              <a:t>6</a:t>
            </a:r>
            <a:r>
              <a:rPr lang="en-AU" sz="3000" b="1" dirty="0" smtClean="0"/>
              <a:t> and 7</a:t>
            </a:r>
            <a:endParaRPr lang="en-AU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3929474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(13) and multiply to make the constant (42).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3929474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6" name="TextBox 25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70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7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362105" y="240855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05" y="2408550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2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74497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744971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20?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80" y="4266623"/>
            <a:ext cx="589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also add together to make 12?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60280" y="4081957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/>
              <a:t>2</a:t>
            </a:r>
            <a:r>
              <a:rPr lang="en-AU" sz="4000" b="1" dirty="0" smtClean="0"/>
              <a:t> and 10</a:t>
            </a:r>
            <a:endParaRPr lang="en-AU" sz="4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795827" y="2513398"/>
            <a:ext cx="1818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20</a:t>
            </a:r>
          </a:p>
          <a:p>
            <a:pPr algn="ctr"/>
            <a:r>
              <a:rPr lang="en-AU" sz="3000" b="1" dirty="0" smtClean="0"/>
              <a:t>2 and 10</a:t>
            </a:r>
          </a:p>
          <a:p>
            <a:pPr algn="ctr"/>
            <a:r>
              <a:rPr lang="en-AU" sz="3000" b="1" dirty="0"/>
              <a:t>4</a:t>
            </a:r>
            <a:r>
              <a:rPr lang="en-AU" sz="3000" b="1" dirty="0" smtClean="0"/>
              <a:t> and 5</a:t>
            </a:r>
            <a:endParaRPr lang="en-AU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23540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(12) and multiply to make the constant (20).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23540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6" name="TextBox 25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37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9505808" y="196088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</a:t>
                      </a:r>
                      <a:r>
                        <a:rPr lang="en-AU" baseline="0" dirty="0" smtClean="0"/>
                        <a:t> we know if we’ve been successful?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9505808" y="317500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 we know if we’ve been successful?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factorise </a:t>
            </a:r>
            <a:r>
              <a:rPr lang="en-AU" b="1" dirty="0" err="1" smtClean="0"/>
              <a:t>monic</a:t>
            </a:r>
            <a:r>
              <a:rPr lang="en-AU" b="1" dirty="0" smtClean="0"/>
              <a:t> quadratic expressions.</a:t>
            </a:r>
            <a:endParaRPr lang="en-AU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49168" y="3635312"/>
            <a:ext cx="8771965" cy="2499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Find factors of a number.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Factorise </a:t>
            </a:r>
            <a:r>
              <a:rPr lang="en-AU" b="1" dirty="0" err="1" smtClean="0"/>
              <a:t>monic</a:t>
            </a:r>
            <a:r>
              <a:rPr lang="en-AU" b="1" dirty="0" smtClean="0"/>
              <a:t> quadratic expressions.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992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D2ED3D5-6D6C-4BC7-8B5C-3E2734DDEA31}"/>
              </a:ext>
            </a:extLst>
          </p:cNvPr>
          <p:cNvSpPr txBox="1"/>
          <p:nvPr/>
        </p:nvSpPr>
        <p:spPr>
          <a:xfrm>
            <a:off x="581610" y="3334239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</a:t>
            </a:r>
            <a:r>
              <a:rPr lang="en-US" sz="3600" b="1" dirty="0"/>
              <a:t>(</a:t>
            </a:r>
            <a:r>
              <a:rPr lang="en-US" sz="3600" b="1" dirty="0">
                <a:solidFill>
                  <a:srgbClr val="C00000"/>
                </a:solidFill>
              </a:rPr>
              <a:t>-</a:t>
            </a:r>
            <a:r>
              <a:rPr lang="en-US" sz="3600" b="1" dirty="0"/>
              <a:t>10) x (</a:t>
            </a:r>
            <a:r>
              <a:rPr lang="en-US" sz="3600" b="1" dirty="0">
                <a:solidFill>
                  <a:srgbClr val="C00000"/>
                </a:solidFill>
              </a:rPr>
              <a:t>+</a:t>
            </a:r>
            <a:r>
              <a:rPr lang="en-US" sz="3600" b="1" dirty="0"/>
              <a:t>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D731FE-FF56-4CA9-BF43-61623C8EC320}"/>
              </a:ext>
            </a:extLst>
          </p:cNvPr>
          <p:cNvSpPr txBox="1"/>
          <p:nvPr/>
        </p:nvSpPr>
        <p:spPr>
          <a:xfrm>
            <a:off x="193116" y="768152"/>
            <a:ext cx="95113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When multiplying or dividing: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If two numbers have the </a:t>
            </a:r>
            <a:r>
              <a:rPr lang="en-AU" sz="2800" dirty="0">
                <a:solidFill>
                  <a:srgbClr val="C00000"/>
                </a:solidFill>
              </a:rPr>
              <a:t>same sign</a:t>
            </a:r>
            <a:r>
              <a:rPr lang="en-AU" sz="2800" dirty="0"/>
              <a:t>, then the answer will be </a:t>
            </a:r>
            <a:r>
              <a:rPr lang="en-AU" sz="2800" dirty="0">
                <a:solidFill>
                  <a:srgbClr val="C00000"/>
                </a:solidFill>
              </a:rPr>
              <a:t>positive</a:t>
            </a:r>
            <a:r>
              <a:rPr lang="en-AU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If two numbers have </a:t>
            </a:r>
            <a:r>
              <a:rPr lang="en-AU" sz="2800" dirty="0">
                <a:solidFill>
                  <a:srgbClr val="C00000"/>
                </a:solidFill>
              </a:rPr>
              <a:t>different signs</a:t>
            </a:r>
            <a:r>
              <a:rPr lang="en-AU" sz="2800" dirty="0"/>
              <a:t>, then the answer will be </a:t>
            </a:r>
            <a:r>
              <a:rPr lang="en-AU" sz="2800" dirty="0">
                <a:solidFill>
                  <a:srgbClr val="C00000"/>
                </a:solidFill>
              </a:rPr>
              <a:t>negative</a:t>
            </a:r>
            <a:r>
              <a:rPr lang="en-AU" sz="2800" dirty="0"/>
              <a:t>.</a:t>
            </a:r>
            <a:endParaRPr lang="en-AU" sz="2800" dirty="0">
              <a:solidFill>
                <a:srgbClr val="C00000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48BD5F2-DB7A-4289-A7DD-5C369643E96D}"/>
              </a:ext>
            </a:extLst>
          </p:cNvPr>
          <p:cNvGrpSpPr/>
          <p:nvPr/>
        </p:nvGrpSpPr>
        <p:grpSpPr>
          <a:xfrm>
            <a:off x="10156369" y="7779"/>
            <a:ext cx="2035631" cy="1520746"/>
            <a:chOff x="660399" y="3602071"/>
            <a:chExt cx="2035631" cy="152074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E58870-5B36-4819-9C16-9B6E2A8769F1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DEC4C55-2A9B-4270-AD83-A84864DC493C}"/>
                </a:ext>
              </a:extLst>
            </p:cNvPr>
            <p:cNvSpPr/>
            <p:nvPr/>
          </p:nvSpPr>
          <p:spPr>
            <a:xfrm>
              <a:off x="660399" y="3931961"/>
              <a:ext cx="2035629" cy="119085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 What sign will the answer be if the two signs are different?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1949401-0BB9-4387-8CCF-D3CB07A9E1E8}"/>
              </a:ext>
            </a:extLst>
          </p:cNvPr>
          <p:cNvGrpSpPr/>
          <p:nvPr/>
        </p:nvGrpSpPr>
        <p:grpSpPr>
          <a:xfrm>
            <a:off x="10156367" y="1676093"/>
            <a:ext cx="2035631" cy="1520746"/>
            <a:chOff x="660399" y="3602071"/>
            <a:chExt cx="2035631" cy="152074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D3C4F1-FCDB-4C3B-8D5B-93AAAEB91EF6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DD670DE-7C5D-428E-A6CE-4348E30D13C4}"/>
                </a:ext>
              </a:extLst>
            </p:cNvPr>
            <p:cNvSpPr/>
            <p:nvPr/>
          </p:nvSpPr>
          <p:spPr>
            <a:xfrm>
              <a:off x="660399" y="3931961"/>
              <a:ext cx="2035629" cy="119085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 What sign will the answer be if the two signs are the same?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D47264C-6CB5-4068-A40B-C02EB1032EFB}"/>
              </a:ext>
            </a:extLst>
          </p:cNvPr>
          <p:cNvSpPr txBox="1"/>
          <p:nvPr/>
        </p:nvSpPr>
        <p:spPr>
          <a:xfrm>
            <a:off x="4529261" y="3337996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</a:t>
            </a:r>
            <a:r>
              <a:rPr lang="en-US" sz="3600" b="1" dirty="0"/>
              <a:t>(</a:t>
            </a:r>
            <a:r>
              <a:rPr lang="en-US" sz="3600" b="1" dirty="0">
                <a:solidFill>
                  <a:srgbClr val="C00000"/>
                </a:solidFill>
              </a:rPr>
              <a:t>+</a:t>
            </a:r>
            <a:r>
              <a:rPr lang="en-US" sz="3600" b="1" dirty="0"/>
              <a:t>18) ÷ (</a:t>
            </a:r>
            <a:r>
              <a:rPr lang="en-US" sz="3600" b="1" dirty="0">
                <a:solidFill>
                  <a:srgbClr val="C00000"/>
                </a:solidFill>
              </a:rPr>
              <a:t>+</a:t>
            </a:r>
            <a:r>
              <a:rPr lang="en-US" sz="3600" b="1" dirty="0"/>
              <a:t>6)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85CA69-AF0C-4586-9E5C-4008BEB49DB8}"/>
              </a:ext>
            </a:extLst>
          </p:cNvPr>
          <p:cNvSpPr txBox="1"/>
          <p:nvPr/>
        </p:nvSpPr>
        <p:spPr>
          <a:xfrm>
            <a:off x="8358926" y="3334239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3. </a:t>
            </a:r>
            <a:r>
              <a:rPr lang="en-US" sz="3600" b="1" dirty="0"/>
              <a:t>(</a:t>
            </a:r>
            <a:r>
              <a:rPr lang="en-US" sz="3600" b="1" dirty="0">
                <a:solidFill>
                  <a:srgbClr val="C00000"/>
                </a:solidFill>
              </a:rPr>
              <a:t>+</a:t>
            </a:r>
            <a:r>
              <a:rPr lang="en-US" sz="3600" b="1" dirty="0"/>
              <a:t>6) x (</a:t>
            </a:r>
            <a:r>
              <a:rPr lang="en-US" sz="3600" b="1" dirty="0">
                <a:solidFill>
                  <a:srgbClr val="C00000"/>
                </a:solidFill>
              </a:rPr>
              <a:t>-</a:t>
            </a:r>
            <a:r>
              <a:rPr lang="en-US" sz="3600" b="1" dirty="0"/>
              <a:t>9)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F983ED-5485-4139-A0EF-A98592E4E699}"/>
              </a:ext>
            </a:extLst>
          </p:cNvPr>
          <p:cNvSpPr txBox="1"/>
          <p:nvPr/>
        </p:nvSpPr>
        <p:spPr>
          <a:xfrm>
            <a:off x="581610" y="4126884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-20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A19714-B437-4DF7-9B82-A04892A886EB}"/>
              </a:ext>
            </a:extLst>
          </p:cNvPr>
          <p:cNvSpPr txBox="1"/>
          <p:nvPr/>
        </p:nvSpPr>
        <p:spPr>
          <a:xfrm>
            <a:off x="4529261" y="4126883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+3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4D5C6C-8B99-4D43-B5D9-2D546F833BD2}"/>
              </a:ext>
            </a:extLst>
          </p:cNvPr>
          <p:cNvSpPr txBox="1"/>
          <p:nvPr/>
        </p:nvSpPr>
        <p:spPr>
          <a:xfrm>
            <a:off x="8358926" y="4126882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-54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B43037-1985-4321-8D78-DB89EAE38901}"/>
              </a:ext>
            </a:extLst>
          </p:cNvPr>
          <p:cNvSpPr txBox="1"/>
          <p:nvPr/>
        </p:nvSpPr>
        <p:spPr>
          <a:xfrm>
            <a:off x="581610" y="4882015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4. </a:t>
            </a:r>
            <a:r>
              <a:rPr lang="en-US" sz="3600" b="1" dirty="0"/>
              <a:t>(-27) ÷ </a:t>
            </a:r>
            <a:r>
              <a:rPr lang="en-US" sz="3600" b="1" dirty="0" smtClean="0"/>
              <a:t>(-3)</a:t>
            </a:r>
            <a:endParaRPr lang="en-US" sz="36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E2257E-61D5-4243-BCC8-DCEB7C360B72}"/>
              </a:ext>
            </a:extLst>
          </p:cNvPr>
          <p:cNvSpPr txBox="1"/>
          <p:nvPr/>
        </p:nvSpPr>
        <p:spPr>
          <a:xfrm>
            <a:off x="4529261" y="4885772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5. </a:t>
            </a:r>
            <a:r>
              <a:rPr lang="en-US" sz="3600" b="1" dirty="0"/>
              <a:t>(+7) x (-7)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34073B-9495-4C58-81CA-D88258198E4A}"/>
              </a:ext>
            </a:extLst>
          </p:cNvPr>
          <p:cNvSpPr txBox="1"/>
          <p:nvPr/>
        </p:nvSpPr>
        <p:spPr>
          <a:xfrm>
            <a:off x="8358926" y="4882015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6. </a:t>
            </a:r>
            <a:r>
              <a:rPr lang="en-US" sz="3600" b="1" dirty="0"/>
              <a:t>(-56) ÷ (+7)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370E4D-AE34-4979-891C-998A9D2E865A}"/>
              </a:ext>
            </a:extLst>
          </p:cNvPr>
          <p:cNvSpPr txBox="1"/>
          <p:nvPr/>
        </p:nvSpPr>
        <p:spPr>
          <a:xfrm>
            <a:off x="581610" y="5745948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+9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A94A25-2BD3-4B75-8D41-D24D03B9D6FB}"/>
              </a:ext>
            </a:extLst>
          </p:cNvPr>
          <p:cNvSpPr txBox="1"/>
          <p:nvPr/>
        </p:nvSpPr>
        <p:spPr>
          <a:xfrm>
            <a:off x="4529261" y="5745947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-49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9A7D9D-7DBD-4710-8C13-CE3880B48A9D}"/>
              </a:ext>
            </a:extLst>
          </p:cNvPr>
          <p:cNvSpPr txBox="1"/>
          <p:nvPr/>
        </p:nvSpPr>
        <p:spPr>
          <a:xfrm>
            <a:off x="8358926" y="5745946"/>
            <a:ext cx="28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022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2" grpId="0"/>
      <p:bldP spid="33" grpId="0"/>
      <p:bldP spid="34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254076" y="634686"/>
            <a:ext cx="101396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cs typeface="Arial" panose="020B0604020202020204" pitchFamily="34" charset="0"/>
              </a:rPr>
              <a:t>Expanding is the process where you remove the brackets</a:t>
            </a:r>
            <a:r>
              <a:rPr lang="en-AU" sz="2400" b="1" dirty="0" smtClean="0">
                <a:cs typeface="Arial" panose="020B0604020202020204" pitchFamily="34" charset="0"/>
              </a:rPr>
              <a:t>.</a:t>
            </a:r>
            <a:endParaRPr lang="en-AU" sz="2400" b="1" dirty="0">
              <a:cs typeface="Arial" panose="020B0604020202020204" pitchFamily="34" charset="0"/>
            </a:endParaRPr>
          </a:p>
          <a:p>
            <a:r>
              <a:rPr lang="en-AU" sz="2400" b="1" dirty="0">
                <a:cs typeface="Arial" panose="020B0604020202020204" pitchFamily="34" charset="0"/>
              </a:rPr>
              <a:t>Factorising is the reverse - you are putting the brackets in.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648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495800" y="2348909"/>
            <a:ext cx="4993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We are looking for two numbers that multiply together to make 21.</a:t>
            </a:r>
            <a:endParaRPr lang="en-AU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4495800" y="3703216"/>
            <a:ext cx="5135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We are also looking for two numbers that add together to make -10.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51975" y="3641660"/>
            <a:ext cx="2245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/>
              <a:t>1 + 21 = 22</a:t>
            </a:r>
          </a:p>
          <a:p>
            <a:pPr algn="ctr"/>
            <a:r>
              <a:rPr lang="en-AU" sz="2800" b="1" dirty="0" smtClean="0"/>
              <a:t>3 + 7 = 10</a:t>
            </a:r>
            <a:endParaRPr lang="en-AU" sz="28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9834880" y="2296219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1 and 21</a:t>
            </a:r>
          </a:p>
          <a:p>
            <a:r>
              <a:rPr lang="en-AU" sz="3000" b="1" dirty="0" smtClean="0"/>
              <a:t>3 and 7</a:t>
            </a:r>
            <a:endParaRPr lang="en-AU" sz="3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4427220" y="4925545"/>
            <a:ext cx="5273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/>
              <a:t>Neither of these options work!</a:t>
            </a:r>
          </a:p>
          <a:p>
            <a:pPr algn="ctr"/>
            <a:r>
              <a:rPr lang="en-AU" sz="2800" b="1" dirty="0" smtClean="0"/>
              <a:t>(But 3 and 7 work better)</a:t>
            </a:r>
            <a:endParaRPr lang="en-AU" sz="28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290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254076" y="634686"/>
            <a:ext cx="101396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cs typeface="Arial" panose="020B0604020202020204" pitchFamily="34" charset="0"/>
              </a:rPr>
              <a:t>Expanding is the process where you remove the brackets</a:t>
            </a:r>
            <a:r>
              <a:rPr lang="en-AU" sz="2400" b="1" dirty="0" smtClean="0">
                <a:cs typeface="Arial" panose="020B0604020202020204" pitchFamily="34" charset="0"/>
              </a:rPr>
              <a:t>.</a:t>
            </a:r>
            <a:endParaRPr lang="en-AU" sz="2400" b="1" dirty="0">
              <a:cs typeface="Arial" panose="020B0604020202020204" pitchFamily="34" charset="0"/>
            </a:endParaRPr>
          </a:p>
          <a:p>
            <a:r>
              <a:rPr lang="en-AU" sz="2400" b="1" dirty="0">
                <a:cs typeface="Arial" panose="020B0604020202020204" pitchFamily="34" charset="0"/>
              </a:rPr>
              <a:t>Factorising is the reverse - you are putting the brackets in.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648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495800" y="2348909"/>
            <a:ext cx="4993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We are looking for two numbers that multiply together to make 21.</a:t>
            </a:r>
            <a:endParaRPr lang="en-AU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0078720" y="2487408"/>
            <a:ext cx="1818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3 and 7</a:t>
            </a:r>
            <a:endParaRPr lang="en-AU" sz="3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4396105" y="3518548"/>
            <a:ext cx="5273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If two numbers add together to make </a:t>
            </a:r>
          </a:p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-10, at least one of them must be negative.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96105" y="4856480"/>
            <a:ext cx="5410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If the two numbers also multiply to give a positive number, they must both be negative as:</a:t>
            </a:r>
          </a:p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Negative x negative = positive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06000" y="4861386"/>
            <a:ext cx="208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-3 x -7 = 21</a:t>
            </a:r>
          </a:p>
          <a:p>
            <a:r>
              <a:rPr lang="en-AU" sz="3000" b="1" dirty="0" smtClean="0"/>
              <a:t>-3 + -7 = -10</a:t>
            </a:r>
            <a:endParaRPr lang="en-AU" sz="3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886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254076" y="634686"/>
            <a:ext cx="101396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cs typeface="Arial" panose="020B0604020202020204" pitchFamily="34" charset="0"/>
              </a:rPr>
              <a:t>Expanding is the process where you remove the brackets</a:t>
            </a:r>
            <a:r>
              <a:rPr lang="en-AU" sz="2400" b="1" dirty="0" smtClean="0">
                <a:cs typeface="Arial" panose="020B0604020202020204" pitchFamily="34" charset="0"/>
              </a:rPr>
              <a:t>.</a:t>
            </a:r>
            <a:endParaRPr lang="en-AU" sz="2400" b="1" dirty="0">
              <a:cs typeface="Arial" panose="020B0604020202020204" pitchFamily="34" charset="0"/>
            </a:endParaRPr>
          </a:p>
          <a:p>
            <a:r>
              <a:rPr lang="en-AU" sz="2400" b="1" dirty="0">
                <a:cs typeface="Arial" panose="020B0604020202020204" pitchFamily="34" charset="0"/>
              </a:rPr>
              <a:t>Factorising is the reverse - you are putting the brackets in.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648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362105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05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40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1498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8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1432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35043" y="5492358"/>
                <a:ext cx="2790764" cy="9337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43" y="5492358"/>
                <a:ext cx="2790764" cy="93378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4495800" y="2348909"/>
            <a:ext cx="4993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We are looking for two numbers that multiply together to make 21.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78720" y="2487408"/>
            <a:ext cx="1818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3 and 7</a:t>
            </a:r>
            <a:endParaRPr lang="en-AU" sz="30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4396105" y="3518548"/>
            <a:ext cx="5273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If two numbers add together to make </a:t>
            </a:r>
          </a:p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-10, at least one of them must be negative.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96105" y="4856480"/>
            <a:ext cx="5410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If the two numbers also multiply to give a positive number, they must both be negative as:</a:t>
            </a:r>
          </a:p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Negative x negative = positive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06000" y="4861386"/>
            <a:ext cx="208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-3 x -7 = 21</a:t>
            </a:r>
          </a:p>
          <a:p>
            <a:r>
              <a:rPr lang="en-AU" sz="3000" b="1" dirty="0" smtClean="0"/>
              <a:t>-3 + -7 = -10</a:t>
            </a:r>
            <a:endParaRPr lang="en-AU" sz="3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9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378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892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85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1432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283306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283306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15?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80" y="4266623"/>
            <a:ext cx="593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add together to make -8?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11067" y="4081957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-3 and -5</a:t>
            </a:r>
            <a:endParaRPr lang="en-AU" sz="4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811067" y="2790039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15</a:t>
            </a:r>
          </a:p>
          <a:p>
            <a:pPr algn="ctr"/>
            <a:r>
              <a:rPr lang="en-AU" sz="3000" b="1" dirty="0" smtClean="0"/>
              <a:t>3 and 5</a:t>
            </a:r>
            <a:endParaRPr lang="en-AU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531312"/>
              </p:ext>
            </p:extLst>
          </p:nvPr>
        </p:nvGraphicFramePr>
        <p:xfrm>
          <a:off x="5740400" y="0"/>
          <a:ext cx="64516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5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Reminders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If the constant is positive, the numbers must</a:t>
                      </a:r>
                      <a:r>
                        <a:rPr lang="en-AU" baseline="0" dirty="0" smtClean="0"/>
                        <a:t> have the same sign.</a:t>
                      </a:r>
                    </a:p>
                    <a:p>
                      <a:r>
                        <a:rPr lang="en-AU" baseline="0" dirty="0" smtClean="0"/>
                        <a:t>If the constant is negative, the numbers must have different signs.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880267" y="4719978"/>
            <a:ext cx="208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-3 x -5 = 15</a:t>
            </a:r>
          </a:p>
          <a:p>
            <a:r>
              <a:rPr lang="en-AU" sz="3000" b="1" dirty="0" smtClean="0"/>
              <a:t>-3 + -5 = -8</a:t>
            </a:r>
            <a:endParaRPr lang="en-AU" sz="3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01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552365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7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378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892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85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1432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51413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51413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18?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80" y="4266623"/>
            <a:ext cx="593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add together to make -11?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11067" y="4081957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-2 and -9</a:t>
            </a:r>
            <a:endParaRPr lang="en-AU" sz="4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811067" y="2574954"/>
            <a:ext cx="1818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18</a:t>
            </a:r>
          </a:p>
          <a:p>
            <a:pPr algn="ctr"/>
            <a:r>
              <a:rPr lang="en-AU" sz="3000" b="1" dirty="0" smtClean="0"/>
              <a:t>2 and 9</a:t>
            </a:r>
          </a:p>
          <a:p>
            <a:pPr algn="ctr"/>
            <a:r>
              <a:rPr lang="en-AU" sz="3000" b="1" dirty="0" smtClean="0"/>
              <a:t>3 and 6</a:t>
            </a:r>
            <a:endParaRPr lang="en-AU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5740400" y="0"/>
          <a:ext cx="64516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5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Reminders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If the constant is positive, the numbers must</a:t>
                      </a:r>
                      <a:r>
                        <a:rPr lang="en-AU" baseline="0" dirty="0" smtClean="0"/>
                        <a:t> have the same sign.</a:t>
                      </a:r>
                    </a:p>
                    <a:p>
                      <a:r>
                        <a:rPr lang="en-AU" baseline="0" dirty="0" smtClean="0"/>
                        <a:t>If the constant is negative, the numbers must have different signs.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880267" y="4719978"/>
            <a:ext cx="208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-2 x -9 = 18</a:t>
            </a:r>
          </a:p>
          <a:p>
            <a:r>
              <a:rPr lang="en-AU" sz="3000" b="1" dirty="0" smtClean="0"/>
              <a:t>-2 + -9 = -11</a:t>
            </a:r>
            <a:endParaRPr lang="en-AU" sz="3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167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3792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920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2378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892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85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1432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283306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283306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18?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80" y="4266623"/>
            <a:ext cx="593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add together to make -7?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11067" y="4081957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/>
              <a:t> </a:t>
            </a:r>
            <a:r>
              <a:rPr lang="en-AU" sz="4000" b="1" dirty="0" smtClean="0"/>
              <a:t>2 and -9</a:t>
            </a:r>
            <a:endParaRPr lang="en-AU" sz="4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811067" y="2574954"/>
            <a:ext cx="1818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18</a:t>
            </a:r>
          </a:p>
          <a:p>
            <a:pPr algn="ctr"/>
            <a:r>
              <a:rPr lang="en-AU" sz="3000" b="1" dirty="0" smtClean="0"/>
              <a:t>2 and 9</a:t>
            </a:r>
          </a:p>
          <a:p>
            <a:pPr algn="ctr"/>
            <a:r>
              <a:rPr lang="en-AU" sz="3000" b="1" dirty="0" smtClean="0"/>
              <a:t>3 and 6</a:t>
            </a:r>
            <a:endParaRPr lang="en-AU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5740400" y="0"/>
          <a:ext cx="64516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5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Reminders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If the constant is positive, the numbers must</a:t>
                      </a:r>
                      <a:r>
                        <a:rPr lang="en-AU" baseline="0" dirty="0" smtClean="0"/>
                        <a:t> have the same sign.</a:t>
                      </a:r>
                    </a:p>
                    <a:p>
                      <a:r>
                        <a:rPr lang="en-AU" baseline="0" dirty="0" smtClean="0"/>
                        <a:t>If the constant is negative, the numbers must have different signs.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880267" y="4719978"/>
            <a:ext cx="208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2 x -9 = -18</a:t>
            </a:r>
          </a:p>
          <a:p>
            <a:r>
              <a:rPr lang="en-AU" sz="3000" b="1" dirty="0" smtClean="0"/>
              <a:t>2 + -9 = -7</a:t>
            </a:r>
            <a:endParaRPr lang="en-AU" sz="3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89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89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3792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920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2378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378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334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27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500" y="5675155"/>
                <a:ext cx="5283306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283306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5587" y="3021170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What do you multiply together to make 18?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7480" y="4266623"/>
            <a:ext cx="593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What do you add together to make 3?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11361" y="4081957"/>
            <a:ext cx="2259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/>
              <a:t> </a:t>
            </a:r>
            <a:r>
              <a:rPr lang="en-AU" sz="4000" b="1" dirty="0" smtClean="0"/>
              <a:t>-2 and </a:t>
            </a:r>
            <a:r>
              <a:rPr lang="en-AU" sz="4000" b="1" dirty="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0267" y="2791069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 smtClean="0"/>
              <a:t>1 and 10</a:t>
            </a:r>
          </a:p>
          <a:p>
            <a:pPr algn="ctr"/>
            <a:r>
              <a:rPr lang="en-AU" sz="3000" b="1" dirty="0" smtClean="0"/>
              <a:t>2 and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400" b="1" dirty="0" smtClean="0"/>
                  <a:t>?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7692" b="-28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8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5740400" y="0"/>
          <a:ext cx="64516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5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Reminders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If the constant is positive, the numbers must</a:t>
                      </a:r>
                      <a:r>
                        <a:rPr lang="en-AU" baseline="0" dirty="0" smtClean="0"/>
                        <a:t> have the same sign.</a:t>
                      </a:r>
                    </a:p>
                    <a:p>
                      <a:r>
                        <a:rPr lang="en-AU" baseline="0" dirty="0" smtClean="0"/>
                        <a:t>If the constant is negative, the numbers must have different signs.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880267" y="4719978"/>
            <a:ext cx="208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-2 x 5 = -10</a:t>
            </a:r>
          </a:p>
          <a:p>
            <a:r>
              <a:rPr lang="en-AU" sz="3000" b="1" dirty="0" smtClean="0"/>
              <a:t>-2 + 5 = 3</a:t>
            </a:r>
            <a:endParaRPr lang="en-AU" sz="3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208280" y="833120"/>
            <a:ext cx="11739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Pearson 10 Exercise 3.5 page 184 Question 2</a:t>
            </a:r>
          </a:p>
          <a:p>
            <a:endParaRPr lang="en-AU" sz="2400" b="1" dirty="0"/>
          </a:p>
          <a:p>
            <a:r>
              <a:rPr lang="en-AU" sz="2400" b="1" dirty="0" err="1" smtClean="0"/>
              <a:t>Mathspace</a:t>
            </a:r>
            <a:r>
              <a:rPr lang="en-AU" sz="2400" b="1" dirty="0" smtClean="0"/>
              <a:t> – Year 10 Mainstream PPT </a:t>
            </a:r>
            <a:r>
              <a:rPr lang="en-AU" sz="2400" b="1" dirty="0" smtClean="0"/>
              <a:t>59a </a:t>
            </a:r>
            <a:r>
              <a:rPr lang="en-AU" sz="2400" b="1" dirty="0" smtClean="0"/>
              <a:t>Factorising Monic Quadratics CLASSWORK </a:t>
            </a:r>
            <a:endParaRPr lang="en-AU" sz="24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474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2625</TotalTime>
  <Words>1539</Words>
  <Application>Microsoft Office PowerPoint</Application>
  <PresentationFormat>Widescreen</PresentationFormat>
  <Paragraphs>280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135</cp:revision>
  <cp:lastPrinted>2020-04-07T08:13:57Z</cp:lastPrinted>
  <dcterms:created xsi:type="dcterms:W3CDTF">2017-01-28T08:32:28Z</dcterms:created>
  <dcterms:modified xsi:type="dcterms:W3CDTF">2021-09-21T04:57:54Z</dcterms:modified>
</cp:coreProperties>
</file>
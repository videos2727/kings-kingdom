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94" r:id="rId2"/>
    <p:sldId id="300" r:id="rId3"/>
    <p:sldId id="301" r:id="rId4"/>
    <p:sldId id="302" r:id="rId5"/>
    <p:sldId id="303" r:id="rId6"/>
    <p:sldId id="304" r:id="rId7"/>
    <p:sldId id="305" r:id="rId8"/>
    <p:sldId id="293" r:id="rId9"/>
    <p:sldId id="263" r:id="rId10"/>
    <p:sldId id="284" r:id="rId11"/>
    <p:sldId id="306" r:id="rId12"/>
    <p:sldId id="313" r:id="rId13"/>
    <p:sldId id="314" r:id="rId14"/>
    <p:sldId id="315" r:id="rId1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9" y="1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plot the graph of quadratic equations.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D7B240-3B81-492D-A1E0-153CCBEE1ADD}"/>
              </a:ext>
            </a:extLst>
          </p:cNvPr>
          <p:cNvSpPr txBox="1">
            <a:spLocks/>
          </p:cNvSpPr>
          <p:nvPr/>
        </p:nvSpPr>
        <p:spPr>
          <a:xfrm>
            <a:off x="139909" y="581513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Plotting Linear Equations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C9D0B-399E-437A-9E66-49B567C3F2D5}"/>
              </a:ext>
            </a:extLst>
          </p:cNvPr>
          <p:cNvSpPr txBox="1"/>
          <p:nvPr/>
        </p:nvSpPr>
        <p:spPr>
          <a:xfrm>
            <a:off x="807734" y="1466860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Graph the following relationship.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4632795" y="2113192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795" y="2113192"/>
                <a:ext cx="3709670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807734" y="3341802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1: Draw a table. Pick a range of values for x</a:t>
            </a:r>
            <a:r>
              <a:rPr lang="en-A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A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BB111-0941-4CEC-90BB-28FDABB138C6}"/>
              </a:ext>
            </a:extLst>
          </p:cNvPr>
          <p:cNvSpPr/>
          <p:nvPr/>
        </p:nvSpPr>
        <p:spPr>
          <a:xfrm>
            <a:off x="964734" y="4293413"/>
            <a:ext cx="10435905" cy="1998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759245-9CD3-43DD-AB05-1E0262900943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964734" y="5292578"/>
            <a:ext cx="10435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BFE64-5112-4259-8E36-23E23CCF1E8A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6182687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3EA13C-5415-4CD6-AE83-EFC63B7887DD}"/>
              </a:ext>
            </a:extLst>
          </p:cNvPr>
          <p:cNvCxnSpPr/>
          <p:nvPr/>
        </p:nvCxnSpPr>
        <p:spPr>
          <a:xfrm>
            <a:off x="2526485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7CEF0C-2445-43DA-BF8E-EBE57C9CB814}"/>
              </a:ext>
            </a:extLst>
          </p:cNvPr>
          <p:cNvCxnSpPr/>
          <p:nvPr/>
        </p:nvCxnSpPr>
        <p:spPr>
          <a:xfrm>
            <a:off x="4338507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FAA14C-4BBC-4D6E-917B-79097DD1DBFA}"/>
              </a:ext>
            </a:extLst>
          </p:cNvPr>
          <p:cNvCxnSpPr/>
          <p:nvPr/>
        </p:nvCxnSpPr>
        <p:spPr>
          <a:xfrm>
            <a:off x="7878661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F3D6D-6082-43D7-8489-7C1C59E40F2B}"/>
              </a:ext>
            </a:extLst>
          </p:cNvPr>
          <p:cNvCxnSpPr/>
          <p:nvPr/>
        </p:nvCxnSpPr>
        <p:spPr>
          <a:xfrm>
            <a:off x="9640349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CA292E-0D3D-461B-83F0-E08555DFF4AA}"/>
                  </a:ext>
                </a:extLst>
              </p:cNvPr>
              <p:cNvSpPr/>
              <p:nvPr/>
            </p:nvSpPr>
            <p:spPr>
              <a:xfrm>
                <a:off x="1375156" y="4331331"/>
                <a:ext cx="7409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0CA292E-0D3D-461B-83F0-E08555DFF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56" y="4331331"/>
                <a:ext cx="740908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57E74B0-A524-4A9E-99A6-B5914EB6593E}"/>
                  </a:ext>
                </a:extLst>
              </p:cNvPr>
              <p:cNvSpPr/>
              <p:nvPr/>
            </p:nvSpPr>
            <p:spPr>
              <a:xfrm>
                <a:off x="1375156" y="5292578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7E74B0-A524-4A9E-99A6-B5914EB65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56" y="5292578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1311230-F15A-4CCC-9291-72C2B2DB5048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8073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774178" y="3883088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78" y="3883088"/>
                <a:ext cx="3709670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774178" y="857312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2: Complete the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BB111-0941-4CEC-90BB-28FDABB138C6}"/>
              </a:ext>
            </a:extLst>
          </p:cNvPr>
          <p:cNvSpPr/>
          <p:nvPr/>
        </p:nvSpPr>
        <p:spPr>
          <a:xfrm>
            <a:off x="931178" y="1808923"/>
            <a:ext cx="10435905" cy="1998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759245-9CD3-43DD-AB05-1E0262900943}"/>
              </a:ext>
            </a:extLst>
          </p:cNvPr>
          <p:cNvCxnSpPr/>
          <p:nvPr/>
        </p:nvCxnSpPr>
        <p:spPr>
          <a:xfrm>
            <a:off x="931178" y="2808088"/>
            <a:ext cx="10435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BFE64-5112-4259-8E36-23E23CCF1E8A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6149131" y="180892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3EA13C-5415-4CD6-AE83-EFC63B7887DD}"/>
              </a:ext>
            </a:extLst>
          </p:cNvPr>
          <p:cNvCxnSpPr/>
          <p:nvPr/>
        </p:nvCxnSpPr>
        <p:spPr>
          <a:xfrm>
            <a:off x="2492929" y="180892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7CEF0C-2445-43DA-BF8E-EBE57C9CB814}"/>
              </a:ext>
            </a:extLst>
          </p:cNvPr>
          <p:cNvCxnSpPr/>
          <p:nvPr/>
        </p:nvCxnSpPr>
        <p:spPr>
          <a:xfrm>
            <a:off x="4304951" y="180892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FAA14C-4BBC-4D6E-917B-79097DD1DBFA}"/>
              </a:ext>
            </a:extLst>
          </p:cNvPr>
          <p:cNvCxnSpPr/>
          <p:nvPr/>
        </p:nvCxnSpPr>
        <p:spPr>
          <a:xfrm>
            <a:off x="7845105" y="180892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F3D6D-6082-43D7-8489-7C1C59E40F2B}"/>
              </a:ext>
            </a:extLst>
          </p:cNvPr>
          <p:cNvCxnSpPr/>
          <p:nvPr/>
        </p:nvCxnSpPr>
        <p:spPr>
          <a:xfrm>
            <a:off x="9606793" y="180892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CA292E-0D3D-461B-83F0-E08555DFF4AA}"/>
                  </a:ext>
                </a:extLst>
              </p:cNvPr>
              <p:cNvSpPr/>
              <p:nvPr/>
            </p:nvSpPr>
            <p:spPr>
              <a:xfrm>
                <a:off x="1341600" y="1846841"/>
                <a:ext cx="7409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0CA292E-0D3D-461B-83F0-E08555DFF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00" y="1846841"/>
                <a:ext cx="740908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57E74B0-A524-4A9E-99A6-B5914EB6593E}"/>
                  </a:ext>
                </a:extLst>
              </p:cNvPr>
              <p:cNvSpPr/>
              <p:nvPr/>
            </p:nvSpPr>
            <p:spPr>
              <a:xfrm>
                <a:off x="1341600" y="2808088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7E74B0-A524-4A9E-99A6-B5914EB65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00" y="2808088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39A36-0093-40C5-82CC-24CE8347E9B7}"/>
                  </a:ext>
                </a:extLst>
              </p:cNvPr>
              <p:cNvSpPr/>
              <p:nvPr/>
            </p:nvSpPr>
            <p:spPr>
              <a:xfrm>
                <a:off x="2713887" y="1861713"/>
                <a:ext cx="127310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D739A36-0093-40C5-82CC-24CE8347E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87" y="1861713"/>
                <a:ext cx="1273105" cy="9233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8349282-A641-4A34-B0AF-03ABB40AAD71}"/>
                  </a:ext>
                </a:extLst>
              </p:cNvPr>
              <p:cNvSpPr/>
              <p:nvPr/>
            </p:nvSpPr>
            <p:spPr>
              <a:xfrm>
                <a:off x="1367214" y="4684491"/>
                <a:ext cx="42107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349282-A641-4A34-B0AF-03ABB40AA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214" y="4684491"/>
                <a:ext cx="4210704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F0F8B6-6053-4182-8B48-24DE43CC63E2}"/>
                  </a:ext>
                </a:extLst>
              </p:cNvPr>
              <p:cNvSpPr/>
              <p:nvPr/>
            </p:nvSpPr>
            <p:spPr>
              <a:xfrm>
                <a:off x="4187718" y="5531649"/>
                <a:ext cx="19832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5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7F0F8B6-6053-4182-8B48-24DE43CC6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718" y="5531649"/>
                <a:ext cx="1983235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E1300B-B2C3-422F-A333-644FB1DC1622}"/>
                  </a:ext>
                </a:extLst>
              </p:cNvPr>
              <p:cNvSpPr/>
              <p:nvPr/>
            </p:nvSpPr>
            <p:spPr>
              <a:xfrm>
                <a:off x="2713887" y="2893423"/>
                <a:ext cx="12731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5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E1300B-B2C3-422F-A333-644FB1DC1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87" y="2893423"/>
                <a:ext cx="1273104" cy="92333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3B74468-C395-4C35-A66D-982637644D39}"/>
                  </a:ext>
                </a:extLst>
              </p:cNvPr>
              <p:cNvSpPr/>
              <p:nvPr/>
            </p:nvSpPr>
            <p:spPr>
              <a:xfrm>
                <a:off x="4605779" y="1850088"/>
                <a:ext cx="127310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3B74468-C395-4C35-A66D-982637644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779" y="1850088"/>
                <a:ext cx="1273105" cy="9233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D8D06FC-D66E-4A3C-8190-2287E166C8E1}"/>
                  </a:ext>
                </a:extLst>
              </p:cNvPr>
              <p:cNvSpPr/>
              <p:nvPr/>
            </p:nvSpPr>
            <p:spPr>
              <a:xfrm>
                <a:off x="4636379" y="2875917"/>
                <a:ext cx="12731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5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D8D06FC-D66E-4A3C-8190-2287E166C8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379" y="2875917"/>
                <a:ext cx="1273104" cy="9233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1034D53-1DD1-4984-BDFF-74577829E046}"/>
                  </a:ext>
                </a:extLst>
              </p:cNvPr>
              <p:cNvSpPr/>
              <p:nvPr/>
            </p:nvSpPr>
            <p:spPr>
              <a:xfrm>
                <a:off x="6619451" y="1846841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1034D53-1DD1-4984-BDFF-74577829E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451" y="1846841"/>
                <a:ext cx="755335" cy="92333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B56EBFE-F18E-4307-A218-F8D3C1FF45E3}"/>
                  </a:ext>
                </a:extLst>
              </p:cNvPr>
              <p:cNvSpPr/>
              <p:nvPr/>
            </p:nvSpPr>
            <p:spPr>
              <a:xfrm>
                <a:off x="6363214" y="2861127"/>
                <a:ext cx="127310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B56EBFE-F18E-4307-A218-F8D3C1FF4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214" y="2861127"/>
                <a:ext cx="1273105" cy="92333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A42DA73-181C-471F-B488-3CF7CEBC3377}"/>
                  </a:ext>
                </a:extLst>
              </p:cNvPr>
              <p:cNvSpPr/>
              <p:nvPr/>
            </p:nvSpPr>
            <p:spPr>
              <a:xfrm>
                <a:off x="8381138" y="1841427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A42DA73-181C-471F-B488-3CF7CEBC3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138" y="1841427"/>
                <a:ext cx="755335" cy="92333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F479B95-26F6-4250-A161-021F78AFD0D0}"/>
                  </a:ext>
                </a:extLst>
              </p:cNvPr>
              <p:cNvSpPr/>
              <p:nvPr/>
            </p:nvSpPr>
            <p:spPr>
              <a:xfrm>
                <a:off x="8315427" y="2840592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F479B95-26F6-4250-A161-021F78AFD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427" y="2840592"/>
                <a:ext cx="755335" cy="92333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A648A6D-12D8-4CE6-A9AF-B10E9EDEB582}"/>
                  </a:ext>
                </a:extLst>
              </p:cNvPr>
              <p:cNvSpPr/>
              <p:nvPr/>
            </p:nvSpPr>
            <p:spPr>
              <a:xfrm>
                <a:off x="10142825" y="1831720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A648A6D-12D8-4CE6-A9AF-B10E9EDEB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825" y="1831720"/>
                <a:ext cx="755335" cy="92333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8EDE68-C4E1-4FFA-856D-E0BFB17EE2BF}"/>
                  </a:ext>
                </a:extLst>
              </p:cNvPr>
              <p:cNvSpPr/>
              <p:nvPr/>
            </p:nvSpPr>
            <p:spPr>
              <a:xfrm>
                <a:off x="10142825" y="2860877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28EDE68-C4E1-4FFA-856D-E0BFB17EE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825" y="2860877"/>
                <a:ext cx="755335" cy="92333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4BAC77E-294D-4B56-8366-8B2D78D3A6B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76B2E4-D756-4812-9DB0-60BFF3D9E621}"/>
                  </a:ext>
                </a:extLst>
              </p:cNvPr>
              <p:cNvSpPr/>
              <p:nvPr/>
            </p:nvSpPr>
            <p:spPr>
              <a:xfrm>
                <a:off x="1364953" y="5531649"/>
                <a:ext cx="322235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476B2E4-D756-4812-9DB0-60BFF3D9E6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953" y="5531649"/>
                <a:ext cx="3222357" cy="92333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19EE341-E29F-45DB-85AA-CF7C38E6C389}"/>
                  </a:ext>
                </a:extLst>
              </p:cNvPr>
              <p:cNvSpPr/>
              <p:nvPr/>
            </p:nvSpPr>
            <p:spPr>
              <a:xfrm>
                <a:off x="5990270" y="3883088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19EE341-E29F-45DB-85AA-CF7C38E6C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270" y="3883088"/>
                <a:ext cx="3709670" cy="92333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58FCCED-ABF4-4976-8827-219F998B0C83}"/>
                  </a:ext>
                </a:extLst>
              </p:cNvPr>
              <p:cNvSpPr/>
              <p:nvPr/>
            </p:nvSpPr>
            <p:spPr>
              <a:xfrm>
                <a:off x="6583306" y="4684491"/>
                <a:ext cx="369293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8FCCED-ABF4-4976-8827-219F998B0C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306" y="4684491"/>
                <a:ext cx="3692934" cy="92333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AD4FC97-0633-4E94-8CB3-BF452F741FF9}"/>
                  </a:ext>
                </a:extLst>
              </p:cNvPr>
              <p:cNvSpPr/>
              <p:nvPr/>
            </p:nvSpPr>
            <p:spPr>
              <a:xfrm>
                <a:off x="9809686" y="5531649"/>
                <a:ext cx="19832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AD4FC97-0633-4E94-8CB3-BF452F741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9686" y="5531649"/>
                <a:ext cx="1983235" cy="92333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3957EFE-7C3C-4558-864E-55A079D3BB9D}"/>
                  </a:ext>
                </a:extLst>
              </p:cNvPr>
              <p:cNvSpPr/>
              <p:nvPr/>
            </p:nvSpPr>
            <p:spPr>
              <a:xfrm>
                <a:off x="6581045" y="5531649"/>
                <a:ext cx="270458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3957EFE-7C3C-4558-864E-55A079D3B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045" y="5531649"/>
                <a:ext cx="2704587" cy="92333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7188490" y="469771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490" y="469771"/>
                <a:ext cx="3709670" cy="923330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04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3" grpId="0"/>
      <p:bldP spid="28" grpId="0"/>
      <p:bldP spid="33" grpId="0"/>
      <p:bldP spid="35" grpId="0"/>
      <p:bldP spid="37" grpId="0"/>
      <p:bldP spid="40" grpId="0"/>
      <p:bldP spid="41" grpId="0"/>
      <p:bldP spid="42" grpId="0"/>
      <p:bldP spid="43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220503" y="3318761"/>
            <a:ext cx="6230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4: Plot your coordinates.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0DB11-B00A-4874-83D7-5F6E437A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962" y="1165973"/>
            <a:ext cx="5616038" cy="559823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72DFA4B-08C8-4532-8FE7-4FE3B9D96F34}"/>
              </a:ext>
            </a:extLst>
          </p:cNvPr>
          <p:cNvSpPr txBox="1"/>
          <p:nvPr/>
        </p:nvSpPr>
        <p:spPr>
          <a:xfrm>
            <a:off x="220503" y="1086668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3: Draw up your axes.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7E3332-3D9F-44D9-BD93-0C71A1CAC989}"/>
              </a:ext>
            </a:extLst>
          </p:cNvPr>
          <p:cNvCxnSpPr>
            <a:cxnSpLocks/>
          </p:cNvCxnSpPr>
          <p:nvPr/>
        </p:nvCxnSpPr>
        <p:spPr>
          <a:xfrm>
            <a:off x="9983056" y="2924298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2D58ED-2243-4BBB-9701-458B305709E1}"/>
              </a:ext>
            </a:extLst>
          </p:cNvPr>
          <p:cNvCxnSpPr>
            <a:cxnSpLocks/>
          </p:cNvCxnSpPr>
          <p:nvPr/>
        </p:nvCxnSpPr>
        <p:spPr>
          <a:xfrm flipV="1">
            <a:off x="9983056" y="2924299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19EFEF1-2ED3-478A-B408-A568A7AA872D}"/>
              </a:ext>
            </a:extLst>
          </p:cNvPr>
          <p:cNvSpPr txBox="1"/>
          <p:nvPr/>
        </p:nvSpPr>
        <p:spPr>
          <a:xfrm>
            <a:off x="220503" y="4241433"/>
            <a:ext cx="6230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5: Draw a line through  </a:t>
            </a:r>
          </a:p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            your coordinates.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C3E0C6F-8D6B-488D-A849-16A977D60E63}"/>
              </a:ext>
            </a:extLst>
          </p:cNvPr>
          <p:cNvCxnSpPr>
            <a:cxnSpLocks/>
          </p:cNvCxnSpPr>
          <p:nvPr/>
        </p:nvCxnSpPr>
        <p:spPr>
          <a:xfrm flipV="1">
            <a:off x="8144142" y="1409833"/>
            <a:ext cx="2668260" cy="529297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B2970C0-5CDC-46F8-B63B-3AC10E72C842}"/>
              </a:ext>
            </a:extLst>
          </p:cNvPr>
          <p:cNvSpPr txBox="1"/>
          <p:nvPr/>
        </p:nvSpPr>
        <p:spPr>
          <a:xfrm>
            <a:off x="220503" y="5550854"/>
            <a:ext cx="6230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6: Label the line.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984D523-0A99-43CC-8403-01F4FF262FA1}"/>
                  </a:ext>
                </a:extLst>
              </p:cNvPr>
              <p:cNvSpPr/>
              <p:nvPr/>
            </p:nvSpPr>
            <p:spPr>
              <a:xfrm>
                <a:off x="9918621" y="3223093"/>
                <a:ext cx="227337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984D523-0A99-43CC-8403-01F4FF262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8621" y="3223093"/>
                <a:ext cx="2273379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897C579-FFA3-4BEA-ADE2-D4E86598022B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D22F19-942D-4F4C-911D-496E2F4FBED8}"/>
              </a:ext>
            </a:extLst>
          </p:cNvPr>
          <p:cNvCxnSpPr>
            <a:cxnSpLocks/>
          </p:cNvCxnSpPr>
          <p:nvPr/>
        </p:nvCxnSpPr>
        <p:spPr>
          <a:xfrm>
            <a:off x="9648345" y="3538482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A4E50-D467-415B-B981-9FA5E9190248}"/>
              </a:ext>
            </a:extLst>
          </p:cNvPr>
          <p:cNvCxnSpPr>
            <a:cxnSpLocks/>
          </p:cNvCxnSpPr>
          <p:nvPr/>
        </p:nvCxnSpPr>
        <p:spPr>
          <a:xfrm flipV="1">
            <a:off x="9648345" y="3538483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3872517-BE38-4457-AF61-D6917DFB80FD}"/>
              </a:ext>
            </a:extLst>
          </p:cNvPr>
          <p:cNvCxnSpPr>
            <a:cxnSpLocks/>
          </p:cNvCxnSpPr>
          <p:nvPr/>
        </p:nvCxnSpPr>
        <p:spPr>
          <a:xfrm>
            <a:off x="9302671" y="4241276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AB6A98-25AD-4F86-A7A6-7782EEDE2AA2}"/>
              </a:ext>
            </a:extLst>
          </p:cNvPr>
          <p:cNvCxnSpPr>
            <a:cxnSpLocks/>
          </p:cNvCxnSpPr>
          <p:nvPr/>
        </p:nvCxnSpPr>
        <p:spPr>
          <a:xfrm flipV="1">
            <a:off x="9302671" y="4241277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D33DB2-F72E-40D6-8F23-BA00A19204AD}"/>
              </a:ext>
            </a:extLst>
          </p:cNvPr>
          <p:cNvCxnSpPr>
            <a:cxnSpLocks/>
          </p:cNvCxnSpPr>
          <p:nvPr/>
        </p:nvCxnSpPr>
        <p:spPr>
          <a:xfrm>
            <a:off x="8976611" y="4914969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4EA4EE-BE62-4456-9030-C72FBDEF8C5A}"/>
              </a:ext>
            </a:extLst>
          </p:cNvPr>
          <p:cNvCxnSpPr>
            <a:cxnSpLocks/>
          </p:cNvCxnSpPr>
          <p:nvPr/>
        </p:nvCxnSpPr>
        <p:spPr>
          <a:xfrm flipV="1">
            <a:off x="8976611" y="4914970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7D9D75-C85F-4E6C-B2A3-0A7E0DADD25D}"/>
              </a:ext>
            </a:extLst>
          </p:cNvPr>
          <p:cNvCxnSpPr>
            <a:cxnSpLocks/>
          </p:cNvCxnSpPr>
          <p:nvPr/>
        </p:nvCxnSpPr>
        <p:spPr>
          <a:xfrm>
            <a:off x="8638929" y="5592799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0F3AAA-7FF2-4C27-B061-DA943AFA3C59}"/>
              </a:ext>
            </a:extLst>
          </p:cNvPr>
          <p:cNvCxnSpPr>
            <a:cxnSpLocks/>
          </p:cNvCxnSpPr>
          <p:nvPr/>
        </p:nvCxnSpPr>
        <p:spPr>
          <a:xfrm flipV="1">
            <a:off x="8638929" y="5592800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88" y="1911959"/>
            <a:ext cx="5370685" cy="1092039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V="1">
            <a:off x="10687572" y="1348427"/>
            <a:ext cx="168744" cy="274100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100228" y="6472802"/>
            <a:ext cx="156014" cy="291408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35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D7B240-3B81-492D-A1E0-153CCBEE1ADD}"/>
              </a:ext>
            </a:extLst>
          </p:cNvPr>
          <p:cNvSpPr txBox="1">
            <a:spLocks/>
          </p:cNvSpPr>
          <p:nvPr/>
        </p:nvSpPr>
        <p:spPr>
          <a:xfrm>
            <a:off x="139909" y="705641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Plotting Linear Equations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C9D0B-399E-437A-9E66-49B567C3F2D5}"/>
              </a:ext>
            </a:extLst>
          </p:cNvPr>
          <p:cNvSpPr txBox="1"/>
          <p:nvPr/>
        </p:nvSpPr>
        <p:spPr>
          <a:xfrm>
            <a:off x="807734" y="1561289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Graph the following relationship.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4632795" y="2238978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795" y="2238978"/>
                <a:ext cx="3709670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807734" y="3341802"/>
            <a:ext cx="10467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1: Draw a table. Pick a range of values for x.</a:t>
            </a:r>
          </a:p>
          <a:p>
            <a:endParaRPr lang="en-A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BB111-0941-4CEC-90BB-28FDABB138C6}"/>
              </a:ext>
            </a:extLst>
          </p:cNvPr>
          <p:cNvSpPr/>
          <p:nvPr/>
        </p:nvSpPr>
        <p:spPr>
          <a:xfrm>
            <a:off x="964734" y="4293413"/>
            <a:ext cx="10435905" cy="1998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759245-9CD3-43DD-AB05-1E0262900943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964734" y="5292578"/>
            <a:ext cx="10435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BFE64-5112-4259-8E36-23E23CCF1E8A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6182687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3EA13C-5415-4CD6-AE83-EFC63B7887DD}"/>
              </a:ext>
            </a:extLst>
          </p:cNvPr>
          <p:cNvCxnSpPr/>
          <p:nvPr/>
        </p:nvCxnSpPr>
        <p:spPr>
          <a:xfrm>
            <a:off x="2526485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7CEF0C-2445-43DA-BF8E-EBE57C9CB814}"/>
              </a:ext>
            </a:extLst>
          </p:cNvPr>
          <p:cNvCxnSpPr/>
          <p:nvPr/>
        </p:nvCxnSpPr>
        <p:spPr>
          <a:xfrm>
            <a:off x="4338507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FAA14C-4BBC-4D6E-917B-79097DD1DBFA}"/>
              </a:ext>
            </a:extLst>
          </p:cNvPr>
          <p:cNvCxnSpPr/>
          <p:nvPr/>
        </p:nvCxnSpPr>
        <p:spPr>
          <a:xfrm>
            <a:off x="7878661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F3D6D-6082-43D7-8489-7C1C59E40F2B}"/>
              </a:ext>
            </a:extLst>
          </p:cNvPr>
          <p:cNvCxnSpPr/>
          <p:nvPr/>
        </p:nvCxnSpPr>
        <p:spPr>
          <a:xfrm>
            <a:off x="9640349" y="4293413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CA292E-0D3D-461B-83F0-E08555DFF4AA}"/>
                  </a:ext>
                </a:extLst>
              </p:cNvPr>
              <p:cNvSpPr/>
              <p:nvPr/>
            </p:nvSpPr>
            <p:spPr>
              <a:xfrm>
                <a:off x="1375156" y="4331331"/>
                <a:ext cx="7409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0CA292E-0D3D-461B-83F0-E08555DFF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56" y="4331331"/>
                <a:ext cx="740908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57E74B0-A524-4A9E-99A6-B5914EB6593E}"/>
                  </a:ext>
                </a:extLst>
              </p:cNvPr>
              <p:cNvSpPr/>
              <p:nvPr/>
            </p:nvSpPr>
            <p:spPr>
              <a:xfrm>
                <a:off x="1375156" y="5292578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7E74B0-A524-4A9E-99A6-B5914EB65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56" y="5292578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C8D2B0F-2289-4C74-9083-663699C58640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9706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3093481" y="3892218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481" y="3892218"/>
                <a:ext cx="3709670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862465" y="806978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2: Complete the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BB111-0941-4CEC-90BB-28FDABB138C6}"/>
              </a:ext>
            </a:extLst>
          </p:cNvPr>
          <p:cNvSpPr/>
          <p:nvPr/>
        </p:nvSpPr>
        <p:spPr>
          <a:xfrm>
            <a:off x="1019465" y="1758589"/>
            <a:ext cx="10435905" cy="1998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759245-9CD3-43DD-AB05-1E0262900943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1019465" y="2757754"/>
            <a:ext cx="10435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BFE64-5112-4259-8E36-23E23CCF1E8A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6237418" y="1758589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3EA13C-5415-4CD6-AE83-EFC63B7887DD}"/>
              </a:ext>
            </a:extLst>
          </p:cNvPr>
          <p:cNvCxnSpPr/>
          <p:nvPr/>
        </p:nvCxnSpPr>
        <p:spPr>
          <a:xfrm>
            <a:off x="2581216" y="1758589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7CEF0C-2445-43DA-BF8E-EBE57C9CB814}"/>
              </a:ext>
            </a:extLst>
          </p:cNvPr>
          <p:cNvCxnSpPr/>
          <p:nvPr/>
        </p:nvCxnSpPr>
        <p:spPr>
          <a:xfrm>
            <a:off x="4393238" y="1758589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FAA14C-4BBC-4D6E-917B-79097DD1DBFA}"/>
              </a:ext>
            </a:extLst>
          </p:cNvPr>
          <p:cNvCxnSpPr/>
          <p:nvPr/>
        </p:nvCxnSpPr>
        <p:spPr>
          <a:xfrm>
            <a:off x="7933392" y="1758589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F3D6D-6082-43D7-8489-7C1C59E40F2B}"/>
              </a:ext>
            </a:extLst>
          </p:cNvPr>
          <p:cNvCxnSpPr/>
          <p:nvPr/>
        </p:nvCxnSpPr>
        <p:spPr>
          <a:xfrm>
            <a:off x="9695080" y="1758589"/>
            <a:ext cx="0" cy="19983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CA292E-0D3D-461B-83F0-E08555DFF4AA}"/>
                  </a:ext>
                </a:extLst>
              </p:cNvPr>
              <p:cNvSpPr/>
              <p:nvPr/>
            </p:nvSpPr>
            <p:spPr>
              <a:xfrm>
                <a:off x="1429887" y="1796507"/>
                <a:ext cx="7409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0CA292E-0D3D-461B-83F0-E08555DFF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887" y="1796507"/>
                <a:ext cx="740908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57E74B0-A524-4A9E-99A6-B5914EB6593E}"/>
                  </a:ext>
                </a:extLst>
              </p:cNvPr>
              <p:cNvSpPr/>
              <p:nvPr/>
            </p:nvSpPr>
            <p:spPr>
              <a:xfrm>
                <a:off x="1429887" y="2757754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7E74B0-A524-4A9E-99A6-B5914EB65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887" y="2757754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39A36-0093-40C5-82CC-24CE8347E9B7}"/>
                  </a:ext>
                </a:extLst>
              </p:cNvPr>
              <p:cNvSpPr/>
              <p:nvPr/>
            </p:nvSpPr>
            <p:spPr>
              <a:xfrm>
                <a:off x="3093481" y="1796507"/>
                <a:ext cx="80983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5400" b="1" dirty="0" smtClean="0">
                    <a:solidFill>
                      <a:schemeClr val="tx1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D739A36-0093-40C5-82CC-24CE8347E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481" y="1796507"/>
                <a:ext cx="809837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39850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8349282-A641-4A34-B0AF-03ABB40AAD71}"/>
                  </a:ext>
                </a:extLst>
              </p:cNvPr>
              <p:cNvSpPr/>
              <p:nvPr/>
            </p:nvSpPr>
            <p:spPr>
              <a:xfrm>
                <a:off x="3656764" y="4875747"/>
                <a:ext cx="42107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349282-A641-4A34-B0AF-03ABB40AA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764" y="4875747"/>
                <a:ext cx="4210704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F0F8B6-6053-4182-8B48-24DE43CC63E2}"/>
                  </a:ext>
                </a:extLst>
              </p:cNvPr>
              <p:cNvSpPr/>
              <p:nvPr/>
            </p:nvSpPr>
            <p:spPr>
              <a:xfrm>
                <a:off x="6860779" y="5799070"/>
                <a:ext cx="239681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</m:oMath>
                  </m:oMathPara>
                </a14:m>
                <a:endParaRPr lang="en-AU" sz="5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7F0F8B6-6053-4182-8B48-24DE43CC6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79" y="5799070"/>
                <a:ext cx="2396810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E1300B-B2C3-422F-A333-644FB1DC1622}"/>
                  </a:ext>
                </a:extLst>
              </p:cNvPr>
              <p:cNvSpPr/>
              <p:nvPr/>
            </p:nvSpPr>
            <p:spPr>
              <a:xfrm>
                <a:off x="2556544" y="2818239"/>
                <a:ext cx="168668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E1300B-B2C3-422F-A333-644FB1DC1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544" y="2818239"/>
                <a:ext cx="1686680" cy="92333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3B74468-C395-4C35-A66D-982637644D39}"/>
                  </a:ext>
                </a:extLst>
              </p:cNvPr>
              <p:cNvSpPr/>
              <p:nvPr/>
            </p:nvSpPr>
            <p:spPr>
              <a:xfrm>
                <a:off x="4978907" y="1796507"/>
                <a:ext cx="80983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5400" b="1" dirty="0" smtClean="0">
                    <a:solidFill>
                      <a:schemeClr val="tx1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AU" sz="5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3B74468-C395-4C35-A66D-982637644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907" y="1796507"/>
                <a:ext cx="809837" cy="923330"/>
              </a:xfrm>
              <a:prstGeom prst="rect">
                <a:avLst/>
              </a:prstGeom>
              <a:blipFill rotWithShape="0">
                <a:blip r:embed="rId9"/>
                <a:stretch>
                  <a:fillRect l="-40602" t="-17881" b="-403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D8D06FC-D66E-4A3C-8190-2287E166C8E1}"/>
                  </a:ext>
                </a:extLst>
              </p:cNvPr>
              <p:cNvSpPr/>
              <p:nvPr/>
            </p:nvSpPr>
            <p:spPr>
              <a:xfrm>
                <a:off x="4717566" y="2808655"/>
                <a:ext cx="12731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5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D8D06FC-D66E-4A3C-8190-2287E166C8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566" y="2808655"/>
                <a:ext cx="1273104" cy="9233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1034D53-1DD1-4984-BDFF-74577829E046}"/>
                  </a:ext>
                </a:extLst>
              </p:cNvPr>
              <p:cNvSpPr/>
              <p:nvPr/>
            </p:nvSpPr>
            <p:spPr>
              <a:xfrm>
                <a:off x="6707738" y="1796507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1034D53-1DD1-4984-BDFF-74577829E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38" y="1796507"/>
                <a:ext cx="755335" cy="92333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B56EBFE-F18E-4307-A218-F8D3C1FF45E3}"/>
                  </a:ext>
                </a:extLst>
              </p:cNvPr>
              <p:cNvSpPr/>
              <p:nvPr/>
            </p:nvSpPr>
            <p:spPr>
              <a:xfrm>
                <a:off x="6711761" y="2831216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B56EBFE-F18E-4307-A218-F8D3C1FF4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761" y="2831216"/>
                <a:ext cx="755335" cy="92333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A42DA73-181C-471F-B488-3CF7CEBC3377}"/>
                  </a:ext>
                </a:extLst>
              </p:cNvPr>
              <p:cNvSpPr/>
              <p:nvPr/>
            </p:nvSpPr>
            <p:spPr>
              <a:xfrm>
                <a:off x="8469425" y="1825502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A42DA73-181C-471F-B488-3CF7CEBC3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425" y="1825502"/>
                <a:ext cx="755335" cy="92333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F479B95-26F6-4250-A161-021F78AFD0D0}"/>
                  </a:ext>
                </a:extLst>
              </p:cNvPr>
              <p:cNvSpPr/>
              <p:nvPr/>
            </p:nvSpPr>
            <p:spPr>
              <a:xfrm>
                <a:off x="8100144" y="2806999"/>
                <a:ext cx="116891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F479B95-26F6-4250-A161-021F78AFD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144" y="2806999"/>
                <a:ext cx="1168910" cy="92333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A648A6D-12D8-4CE6-A9AF-B10E9EDEB582}"/>
                  </a:ext>
                </a:extLst>
              </p:cNvPr>
              <p:cNvSpPr/>
              <p:nvPr/>
            </p:nvSpPr>
            <p:spPr>
              <a:xfrm>
                <a:off x="10121107" y="1796507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A648A6D-12D8-4CE6-A9AF-B10E9EDEB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1107" y="1796507"/>
                <a:ext cx="755335" cy="92333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8EDE68-C4E1-4FFA-856D-E0BFB17EE2BF}"/>
                  </a:ext>
                </a:extLst>
              </p:cNvPr>
              <p:cNvSpPr/>
              <p:nvPr/>
            </p:nvSpPr>
            <p:spPr>
              <a:xfrm>
                <a:off x="10009141" y="2798153"/>
                <a:ext cx="116891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AU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28EDE68-C4E1-4FFA-856D-E0BFB17EE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141" y="2798153"/>
                <a:ext cx="1168910" cy="92333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55618AA-26EB-4DF9-A6E8-4BDB921FDFC1}"/>
                  </a:ext>
                </a:extLst>
              </p:cNvPr>
              <p:cNvSpPr/>
              <p:nvPr/>
            </p:nvSpPr>
            <p:spPr>
              <a:xfrm>
                <a:off x="3670366" y="5807192"/>
                <a:ext cx="3635932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55618AA-26EB-4DF9-A6E8-4BDB921FD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366" y="5807192"/>
                <a:ext cx="3635932" cy="92333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FA3D152-F545-4670-806D-CD963C92EBCA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4885FB1-F734-46C9-902C-7CA9027C8D26}"/>
                  </a:ext>
                </a:extLst>
              </p:cNvPr>
              <p:cNvSpPr/>
              <p:nvPr/>
            </p:nvSpPr>
            <p:spPr>
              <a:xfrm>
                <a:off x="6860779" y="440508"/>
                <a:ext cx="370967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4885FB1-F734-46C9-902C-7CA9027C8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79" y="440508"/>
                <a:ext cx="3709670" cy="92333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28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3" grpId="0"/>
      <p:bldP spid="28" grpId="0"/>
      <p:bldP spid="33" grpId="0"/>
      <p:bldP spid="35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852D721-4A45-4E7D-9032-6C4D87D0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76" y="1199626"/>
            <a:ext cx="5658374" cy="5658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F32D0F-A383-4DA1-8F11-D7E2FEE18B56}"/>
              </a:ext>
            </a:extLst>
          </p:cNvPr>
          <p:cNvSpPr txBox="1"/>
          <p:nvPr/>
        </p:nvSpPr>
        <p:spPr>
          <a:xfrm>
            <a:off x="282155" y="3335539"/>
            <a:ext cx="6230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4: Plot your coordinates.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2DFA4B-08C8-4532-8FE7-4FE3B9D96F34}"/>
              </a:ext>
            </a:extLst>
          </p:cNvPr>
          <p:cNvSpPr txBox="1"/>
          <p:nvPr/>
        </p:nvSpPr>
        <p:spPr>
          <a:xfrm>
            <a:off x="282155" y="1103446"/>
            <a:ext cx="10467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3: Draw up your axes.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7E3332-3D9F-44D9-BD93-0C71A1CAC989}"/>
              </a:ext>
            </a:extLst>
          </p:cNvPr>
          <p:cNvCxnSpPr>
            <a:cxnSpLocks/>
          </p:cNvCxnSpPr>
          <p:nvPr/>
        </p:nvCxnSpPr>
        <p:spPr>
          <a:xfrm>
            <a:off x="10905531" y="2128099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2D58ED-2243-4BBB-9701-458B305709E1}"/>
              </a:ext>
            </a:extLst>
          </p:cNvPr>
          <p:cNvCxnSpPr>
            <a:cxnSpLocks/>
          </p:cNvCxnSpPr>
          <p:nvPr/>
        </p:nvCxnSpPr>
        <p:spPr>
          <a:xfrm flipV="1">
            <a:off x="10905531" y="2128100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F7700C-55E7-4CEB-A190-D0119647D5CA}"/>
              </a:ext>
            </a:extLst>
          </p:cNvPr>
          <p:cNvCxnSpPr>
            <a:cxnSpLocks/>
          </p:cNvCxnSpPr>
          <p:nvPr/>
        </p:nvCxnSpPr>
        <p:spPr>
          <a:xfrm>
            <a:off x="9883603" y="3147981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AAAFBF-5EC5-413C-A7EB-F8AB134AD20A}"/>
              </a:ext>
            </a:extLst>
          </p:cNvPr>
          <p:cNvCxnSpPr>
            <a:cxnSpLocks/>
          </p:cNvCxnSpPr>
          <p:nvPr/>
        </p:nvCxnSpPr>
        <p:spPr>
          <a:xfrm flipV="1">
            <a:off x="9883603" y="3147982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05B9E2-9FA1-45A4-A299-8E6C81915546}"/>
              </a:ext>
            </a:extLst>
          </p:cNvPr>
          <p:cNvCxnSpPr>
            <a:cxnSpLocks/>
          </p:cNvCxnSpPr>
          <p:nvPr/>
        </p:nvCxnSpPr>
        <p:spPr>
          <a:xfrm>
            <a:off x="9191569" y="3813900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523A2A-9F27-46BE-A9AE-21562443A1AF}"/>
              </a:ext>
            </a:extLst>
          </p:cNvPr>
          <p:cNvCxnSpPr>
            <a:cxnSpLocks/>
          </p:cNvCxnSpPr>
          <p:nvPr/>
        </p:nvCxnSpPr>
        <p:spPr>
          <a:xfrm flipV="1">
            <a:off x="9191569" y="3813901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13AEBB3-6CA5-4B20-A3E4-859259ABCE87}"/>
              </a:ext>
            </a:extLst>
          </p:cNvPr>
          <p:cNvCxnSpPr>
            <a:cxnSpLocks/>
          </p:cNvCxnSpPr>
          <p:nvPr/>
        </p:nvCxnSpPr>
        <p:spPr>
          <a:xfrm>
            <a:off x="8517414" y="4476325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CDE588-2FDD-4A9B-80A9-3C8EB686F72A}"/>
              </a:ext>
            </a:extLst>
          </p:cNvPr>
          <p:cNvCxnSpPr>
            <a:cxnSpLocks/>
          </p:cNvCxnSpPr>
          <p:nvPr/>
        </p:nvCxnSpPr>
        <p:spPr>
          <a:xfrm flipV="1">
            <a:off x="8517414" y="4476326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E5D698-AF94-4FCB-987D-700DF7E55090}"/>
              </a:ext>
            </a:extLst>
          </p:cNvPr>
          <p:cNvCxnSpPr>
            <a:cxnSpLocks/>
          </p:cNvCxnSpPr>
          <p:nvPr/>
        </p:nvCxnSpPr>
        <p:spPr>
          <a:xfrm>
            <a:off x="7501051" y="5490998"/>
            <a:ext cx="109057" cy="12583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398E599-AF3B-49EC-86FE-26B568322BDC}"/>
              </a:ext>
            </a:extLst>
          </p:cNvPr>
          <p:cNvCxnSpPr>
            <a:cxnSpLocks/>
          </p:cNvCxnSpPr>
          <p:nvPr/>
        </p:nvCxnSpPr>
        <p:spPr>
          <a:xfrm flipV="1">
            <a:off x="7501051" y="5490999"/>
            <a:ext cx="109057" cy="1258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19EFEF1-2ED3-478A-B408-A568A7AA872D}"/>
              </a:ext>
            </a:extLst>
          </p:cNvPr>
          <p:cNvSpPr txBox="1"/>
          <p:nvPr/>
        </p:nvSpPr>
        <p:spPr>
          <a:xfrm>
            <a:off x="282155" y="4258211"/>
            <a:ext cx="6230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5: Draw a line through  </a:t>
            </a:r>
          </a:p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            your coordinates.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C3E0C6F-8D6B-488D-A849-16A977D60E63}"/>
              </a:ext>
            </a:extLst>
          </p:cNvPr>
          <p:cNvCxnSpPr>
            <a:cxnSpLocks/>
          </p:cNvCxnSpPr>
          <p:nvPr/>
        </p:nvCxnSpPr>
        <p:spPr>
          <a:xfrm flipV="1">
            <a:off x="6520441" y="1290131"/>
            <a:ext cx="5389404" cy="524740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B2970C0-5CDC-46F8-B63B-3AC10E72C842}"/>
              </a:ext>
            </a:extLst>
          </p:cNvPr>
          <p:cNvSpPr txBox="1"/>
          <p:nvPr/>
        </p:nvSpPr>
        <p:spPr>
          <a:xfrm>
            <a:off x="282155" y="5567632"/>
            <a:ext cx="6230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Step 6: Label the line.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984D523-0A99-43CC-8403-01F4FF262FA1}"/>
                  </a:ext>
                </a:extLst>
              </p:cNvPr>
              <p:cNvSpPr/>
              <p:nvPr/>
            </p:nvSpPr>
            <p:spPr>
              <a:xfrm>
                <a:off x="9804386" y="3292043"/>
                <a:ext cx="227337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984D523-0A99-43CC-8403-01F4FF262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386" y="3292043"/>
                <a:ext cx="2273379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A4763C1-67A3-44BA-BB16-F991F8485759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70" y="1907201"/>
            <a:ext cx="5499591" cy="1140969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11764892" y="1246380"/>
            <a:ext cx="213318" cy="180232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512784" y="6323055"/>
            <a:ext cx="219996" cy="239247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44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6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plot the graph of quadratic equations.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r>
              <a:rPr lang="en-AU" b="1" dirty="0" smtClean="0"/>
              <a:t>Recognise if an equation is linear or quadratic</a:t>
            </a:r>
          </a:p>
          <a:p>
            <a:r>
              <a:rPr lang="en-AU" b="1" dirty="0" smtClean="0"/>
              <a:t>Complete a table of values for a quadratic equation</a:t>
            </a:r>
          </a:p>
          <a:p>
            <a:r>
              <a:rPr lang="en-AU" b="1" dirty="0" smtClean="0"/>
              <a:t>Plot co-ordinates on a Cartesian plane</a:t>
            </a:r>
          </a:p>
          <a:p>
            <a:endParaRPr lang="en-AU" b="1" dirty="0" smtClean="0"/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8403705" y="1729509"/>
            <a:ext cx="37074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Not all relationships are linear (form straight lines)!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flight path of a basketball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area of a block of 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Calculating profits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 smtClean="0"/>
          </a:p>
          <a:p>
            <a:endParaRPr lang="en-AU" sz="2400" dirty="0"/>
          </a:p>
          <a:p>
            <a:pPr algn="ctr"/>
            <a:endParaRPr lang="en-AU" sz="2400" b="1" dirty="0"/>
          </a:p>
          <a:p>
            <a:endParaRPr lang="en-AU" sz="2400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1" y="743989"/>
            <a:ext cx="7963593" cy="597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4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384847"/>
              </p:ext>
            </p:extLst>
          </p:nvPr>
        </p:nvGraphicFramePr>
        <p:xfrm>
          <a:off x="7858760" y="0"/>
          <a:ext cx="433324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3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99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i="0" dirty="0" smtClean="0"/>
                        <a:t>Quadratic – an equation where the highest power is 2</a:t>
                      </a:r>
                    </a:p>
                    <a:p>
                      <a:r>
                        <a:rPr lang="en-AU" i="0" dirty="0" smtClean="0"/>
                        <a:t>Parabola – the graph of a quadratic equation (looks like a u or a n)</a:t>
                      </a:r>
                    </a:p>
                  </a:txBody>
                  <a:tcP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88880" y="3461543"/>
                <a:ext cx="1180407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Quadratic equations also occur often in everyday life. </a:t>
                </a:r>
              </a:p>
              <a:p>
                <a:r>
                  <a:rPr lang="en-AU" sz="2400" dirty="0" smtClean="0"/>
                  <a:t>The path of a ball in flight is modelled by a quadratic equation.</a:t>
                </a:r>
                <a:endParaRPr lang="en-AU" sz="2400" dirty="0" smtClean="0">
                  <a:solidFill>
                    <a:schemeClr val="tx1"/>
                  </a:solidFill>
                </a:endParaRPr>
              </a:p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The highest power in a quadratic equation is ALWAYS equal to 2.</a:t>
                </a:r>
                <a:endParaRPr lang="en-AU" sz="2400" dirty="0">
                  <a:solidFill>
                    <a:schemeClr val="tx1"/>
                  </a:solidFill>
                </a:endParaRPr>
              </a:p>
              <a:p>
                <a:endParaRPr lang="en-AU" sz="2400" dirty="0" smtClean="0">
                  <a:solidFill>
                    <a:schemeClr val="tx1"/>
                  </a:solidFill>
                </a:endParaRPr>
              </a:p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EXAMPLE: 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−5</m:t>
                    </m:r>
                    <m:r>
                      <a:rPr lang="en-AU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AU" sz="2400" dirty="0" smtClean="0"/>
                  <a:t>i</a:t>
                </a:r>
                <a:r>
                  <a:rPr lang="en-AU" sz="2400" dirty="0" smtClean="0">
                    <a:solidFill>
                      <a:schemeClr val="tx1"/>
                    </a:solidFill>
                  </a:rPr>
                  <a:t>s quadratic because the highest power is 2.</a:t>
                </a:r>
                <a:endParaRPr lang="en-AU" sz="2400" dirty="0">
                  <a:solidFill>
                    <a:schemeClr val="tx1"/>
                  </a:solidFill>
                </a:endParaRPr>
              </a:p>
              <a:p>
                <a:endParaRPr lang="en-AU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80" y="3461543"/>
                <a:ext cx="11804073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826" t="-18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88881" y="646003"/>
                <a:ext cx="11804073" cy="3136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Linear relationships occur often in everyday life. </a:t>
                </a:r>
              </a:p>
              <a:p>
                <a:r>
                  <a:rPr lang="en-AU" sz="2400" dirty="0" smtClean="0"/>
                  <a:t>The total amount earned through hourly wages is modelled </a:t>
                </a:r>
              </a:p>
              <a:p>
                <a:r>
                  <a:rPr lang="en-AU" sz="2400" dirty="0" smtClean="0"/>
                  <a:t>by a</a:t>
                </a:r>
                <a:r>
                  <a:rPr lang="en-AU" sz="2400" dirty="0" smtClean="0">
                    <a:solidFill>
                      <a:schemeClr val="tx1"/>
                    </a:solidFill>
                  </a:rPr>
                  <a:t> linear equation.</a:t>
                </a:r>
              </a:p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The highest power in a linear equation is ALWAYS equal to 1. </a:t>
                </a:r>
              </a:p>
              <a:p>
                <a:endParaRPr lang="en-AU" sz="2400" dirty="0" smtClean="0">
                  <a:solidFill>
                    <a:schemeClr val="tx1"/>
                  </a:solidFill>
                </a:endParaRPr>
              </a:p>
              <a:p>
                <a:r>
                  <a:rPr lang="en-AU" sz="2400" dirty="0" smtClean="0">
                    <a:solidFill>
                      <a:schemeClr val="tx1"/>
                    </a:solidFill>
                  </a:rPr>
                  <a:t>EXAMPLE: 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−5 </m:t>
                    </m:r>
                  </m:oMath>
                </a14:m>
                <a:r>
                  <a:rPr lang="en-AU" sz="2400" dirty="0" smtClean="0"/>
                  <a:t>i</a:t>
                </a:r>
                <a:r>
                  <a:rPr lang="en-AU" sz="2400" dirty="0" smtClean="0">
                    <a:solidFill>
                      <a:schemeClr val="tx1"/>
                    </a:solidFill>
                  </a:rPr>
                  <a:t>s linear because the highest power is 1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>
                    <a:solidFill>
                      <a:schemeClr val="tx1"/>
                    </a:solidFill>
                  </a:rPr>
                  <a:t>.</a:t>
                </a:r>
                <a:endParaRPr lang="en-AU" sz="2400" dirty="0">
                  <a:solidFill>
                    <a:schemeClr val="tx1"/>
                  </a:solidFill>
                </a:endParaRPr>
              </a:p>
              <a:p>
                <a:endParaRPr lang="en-AU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81" y="646003"/>
                <a:ext cx="11804073" cy="3136180"/>
              </a:xfrm>
              <a:prstGeom prst="rect">
                <a:avLst/>
              </a:prstGeom>
              <a:blipFill rotWithShape="0">
                <a:blip r:embed="rId3"/>
                <a:stretch>
                  <a:fillRect l="-826" t="-1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458" y="1674951"/>
            <a:ext cx="1972679" cy="19623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14280" y="1698288"/>
            <a:ext cx="1788160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we graph a linear equation, we get a straight line.</a:t>
            </a:r>
            <a:endParaRPr lang="en-AU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561" y="4743271"/>
            <a:ext cx="1960270" cy="1962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04793" y="4723675"/>
            <a:ext cx="1788160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we graph a quadratic equation, we get a parabola.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99047"/>
              </p:ext>
            </p:extLst>
          </p:nvPr>
        </p:nvGraphicFramePr>
        <p:xfrm>
          <a:off x="7858760" y="0"/>
          <a:ext cx="433324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3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99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i="0" dirty="0" smtClean="0"/>
                        <a:t>Quadratic – an equation where the highest power is 2</a:t>
                      </a:r>
                    </a:p>
                    <a:p>
                      <a:r>
                        <a:rPr lang="en-AU" i="0" dirty="0" smtClean="0"/>
                        <a:t>Parabola – the graph of a quadratic equation (looks like a u or a n)</a:t>
                      </a:r>
                    </a:p>
                  </a:txBody>
                  <a:tcP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88880" y="788711"/>
                <a:ext cx="11804073" cy="622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600" dirty="0" smtClean="0"/>
                  <a:t>Which of the following is a quadratic relationship?</a:t>
                </a:r>
              </a:p>
              <a:p>
                <a:endParaRPr lang="en-AU" sz="2600" b="1" dirty="0"/>
              </a:p>
              <a:p>
                <a:endParaRPr lang="en-AU" sz="2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600" b="1" dirty="0" smtClean="0"/>
              </a:p>
              <a:p>
                <a:endParaRPr lang="en-AU" sz="2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600" b="1" dirty="0" smtClean="0"/>
              </a:p>
              <a:p>
                <a:endParaRPr lang="en-AU" sz="2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600" b="1" dirty="0" smtClean="0"/>
              </a:p>
              <a:p>
                <a:endParaRPr lang="en-AU" sz="2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600" b="1" dirty="0" smtClean="0"/>
              </a:p>
              <a:p>
                <a:endParaRPr lang="en-AU" sz="2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600" b="1" dirty="0" smtClean="0"/>
              </a:p>
              <a:p>
                <a:endParaRPr lang="en-AU" sz="2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2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600" b="1" dirty="0"/>
              </a:p>
              <a:p>
                <a:endParaRPr lang="en-AU" sz="2600" b="1" dirty="0" smtClean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80" y="788711"/>
                <a:ext cx="11804073" cy="6226769"/>
              </a:xfrm>
              <a:prstGeom prst="rect">
                <a:avLst/>
              </a:prstGeom>
              <a:blipFill rotWithShape="0">
                <a:blip r:embed="rId2"/>
                <a:stretch>
                  <a:fillRect l="-930" t="-7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738120" y="2014451"/>
            <a:ext cx="684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YES, it is quadratic, because the highest power is 2.</a:t>
            </a:r>
            <a:endParaRPr lang="en-A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377787" y="2846095"/>
            <a:ext cx="724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NO, it is NOT quadratic, because the highest power is 3.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798667" y="4406117"/>
            <a:ext cx="724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NO, it is NOT quadratic, because the highest power is 1.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843713" y="3597047"/>
            <a:ext cx="684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YES, it is quadratic, because the highest power is 2.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045393" y="5211393"/>
            <a:ext cx="684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YES, it is quadratic, because the highest power is 2.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738120" y="6016669"/>
            <a:ext cx="684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/>
              <a:t>YES, it is quadratic, because the highest power is 2.</a:t>
            </a:r>
            <a:endParaRPr lang="en-AU" sz="2400" b="1" dirty="0"/>
          </a:p>
        </p:txBody>
      </p:sp>
      <p:sp>
        <p:nvSpPr>
          <p:cNvPr id="2" name="Oval 1"/>
          <p:cNvSpPr/>
          <p:nvPr/>
        </p:nvSpPr>
        <p:spPr>
          <a:xfrm>
            <a:off x="858520" y="1935480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10660" y="2718480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1320800" y="3533239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/>
          <p:cNvSpPr/>
          <p:nvPr/>
        </p:nvSpPr>
        <p:spPr>
          <a:xfrm>
            <a:off x="1010660" y="4342309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822960" y="5147585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1583113" y="5889054"/>
            <a:ext cx="462280" cy="5892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30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2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65288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770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2915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5328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774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2955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14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683944"/>
              </p:ext>
            </p:extLst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9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5156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770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101159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69208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3725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61393" y="6084342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𝟒𝟗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67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53759"/>
              </p:ext>
            </p:extLst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45366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94018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92701" y="6110214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68011" y="604504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52208" y="6122405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91873" y="6093795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𝟏𝟕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3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1289</Words>
  <Application>Microsoft Office PowerPoint</Application>
  <PresentationFormat>Widescreen</PresentationFormat>
  <Paragraphs>257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138</cp:revision>
  <cp:lastPrinted>2017-04-18T22:41:05Z</cp:lastPrinted>
  <dcterms:created xsi:type="dcterms:W3CDTF">2017-01-28T08:32:28Z</dcterms:created>
  <dcterms:modified xsi:type="dcterms:W3CDTF">2021-09-20T01:27:49Z</dcterms:modified>
</cp:coreProperties>
</file>
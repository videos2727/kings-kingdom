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5"/>
  </p:handoutMasterIdLst>
  <p:sldIdLst>
    <p:sldId id="294" r:id="rId2"/>
    <p:sldId id="301" r:id="rId3"/>
    <p:sldId id="299" r:id="rId4"/>
    <p:sldId id="300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262" r:id="rId14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08CDC9-85D4-4503-A1C1-C4A7D08CE495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FA11-8017-47B8-A9A2-068FE447A80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91290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6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4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1631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28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53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1284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23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446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33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0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26FA-289A-47A4-9DB2-36250D803CC9}" type="datetimeFigureOut">
              <a:rPr lang="en-AU" smtClean="0"/>
              <a:t>1/09/2021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B6D5-E49B-468D-A565-A6E4E9BB07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29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0.png"/><Relationship Id="rId7" Type="http://schemas.openxmlformats.org/officeDocument/2006/relationships/image" Target="../media/image46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44.png"/><Relationship Id="rId10" Type="http://schemas.openxmlformats.org/officeDocument/2006/relationships/image" Target="../media/image57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8.png"/><Relationship Id="rId7" Type="http://schemas.openxmlformats.org/officeDocument/2006/relationships/image" Target="../media/image7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1.png"/><Relationship Id="rId10" Type="http://schemas.openxmlformats.org/officeDocument/2006/relationships/image" Target="../media/image74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expand and simplify algebraic expressions.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3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46BE2BE-401B-43B6-9F59-E6AE635E14BD}"/>
              </a:ext>
            </a:extLst>
          </p:cNvPr>
          <p:cNvSpPr txBox="1"/>
          <p:nvPr/>
        </p:nvSpPr>
        <p:spPr>
          <a:xfrm>
            <a:off x="513247" y="1401216"/>
            <a:ext cx="8429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I will </a:t>
            </a:r>
            <a:r>
              <a:rPr lang="en-AU" sz="3200" b="1" dirty="0">
                <a:cs typeface="Arial" panose="020B0604020202020204" pitchFamily="34" charset="0"/>
              </a:rPr>
              <a:t>expand </a:t>
            </a:r>
            <a:r>
              <a:rPr lang="en-AU" sz="3200" b="1" dirty="0" smtClean="0">
                <a:cs typeface="Arial" panose="020B0604020202020204" pitchFamily="34" charset="0"/>
              </a:rPr>
              <a:t>and simplify algebraic </a:t>
            </a:r>
            <a:r>
              <a:rPr lang="en-AU" sz="3200" b="1" dirty="0">
                <a:cs typeface="Arial" panose="020B0604020202020204" pitchFamily="34" charset="0"/>
              </a:rPr>
              <a:t>expressions.</a:t>
            </a:r>
            <a:endParaRPr lang="en-AU" sz="3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7845BC-DC72-44E1-BABF-6AFB4DC3022D}"/>
              </a:ext>
            </a:extLst>
          </p:cNvPr>
          <p:cNvSpPr txBox="1"/>
          <p:nvPr/>
        </p:nvSpPr>
        <p:spPr>
          <a:xfrm>
            <a:off x="375746" y="4179512"/>
            <a:ext cx="78454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cs typeface="Arial" panose="020B0604020202020204" pitchFamily="34" charset="0"/>
              </a:rPr>
              <a:t>At the end of the lesson, I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/>
              <a:t>Expand algebraic expressions by multiplying out the brackets using the array method.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BEE6A2-556E-47EB-BE0D-1D5CA4374488}"/>
              </a:ext>
            </a:extLst>
          </p:cNvPr>
          <p:cNvGrpSpPr/>
          <p:nvPr/>
        </p:nvGrpSpPr>
        <p:grpSpPr>
          <a:xfrm>
            <a:off x="10156369" y="0"/>
            <a:ext cx="2035631" cy="971026"/>
            <a:chOff x="660399" y="3602071"/>
            <a:chExt cx="2035631" cy="97102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CB765C-CAC2-440D-9D52-CA15DC2897B0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071FAA3-C029-4C42-9F5A-D80968D531A2}"/>
                </a:ext>
              </a:extLst>
            </p:cNvPr>
            <p:cNvSpPr/>
            <p:nvPr/>
          </p:nvSpPr>
          <p:spPr>
            <a:xfrm>
              <a:off x="660399" y="3931961"/>
              <a:ext cx="2035629" cy="64113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What will we learn today?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D8F7365-FCBE-4876-B626-49EB1AB0C0AF}"/>
              </a:ext>
            </a:extLst>
          </p:cNvPr>
          <p:cNvGrpSpPr/>
          <p:nvPr/>
        </p:nvGrpSpPr>
        <p:grpSpPr>
          <a:xfrm>
            <a:off x="10156369" y="1080311"/>
            <a:ext cx="2035631" cy="1194596"/>
            <a:chOff x="660399" y="3602071"/>
            <a:chExt cx="2035631" cy="119459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E61856-5929-4FC6-8ACF-5741F7D4236E}"/>
                </a:ext>
              </a:extLst>
            </p:cNvPr>
            <p:cNvSpPr txBox="1"/>
            <p:nvPr/>
          </p:nvSpPr>
          <p:spPr>
            <a:xfrm>
              <a:off x="660400" y="3602071"/>
              <a:ext cx="2035630" cy="307777"/>
            </a:xfrm>
            <a:prstGeom prst="rect">
              <a:avLst/>
            </a:prstGeom>
            <a:solidFill>
              <a:srgbClr val="01244E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bg1"/>
                  </a:solidFill>
                </a:rPr>
                <a:t>CFU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AD2C468-2CD6-425A-8902-5B39168F9670}"/>
                </a:ext>
              </a:extLst>
            </p:cNvPr>
            <p:cNvSpPr/>
            <p:nvPr/>
          </p:nvSpPr>
          <p:spPr>
            <a:xfrm>
              <a:off x="660399" y="3931961"/>
              <a:ext cx="2035629" cy="86470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dirty="0">
                  <a:solidFill>
                    <a:schemeClr val="tx1"/>
                  </a:solidFill>
                </a:rPr>
                <a:t>How will you know that you are successful?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EBEE264-396E-4E54-8000-6F24F770F99A}"/>
              </a:ext>
            </a:extLst>
          </p:cNvPr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DA7AF8-1FC9-4807-B4FF-6DF092ABA010}"/>
              </a:ext>
            </a:extLst>
          </p:cNvPr>
          <p:cNvSpPr txBox="1"/>
          <p:nvPr/>
        </p:nvSpPr>
        <p:spPr>
          <a:xfrm>
            <a:off x="0" y="3336331"/>
            <a:ext cx="2916437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Success Criteria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83F6C0-6FF0-4E33-8D8F-54FA43FB7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1" y="4286774"/>
            <a:ext cx="3519020" cy="2333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3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19" y="846559"/>
            <a:ext cx="8932826" cy="918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b="1" dirty="0" smtClean="0"/>
              <a:t>Distributive law – we split large numbers into 1s, 10s and 100s</a:t>
            </a:r>
          </a:p>
          <a:p>
            <a:pPr marL="0" indent="0">
              <a:buNone/>
            </a:pPr>
            <a:endParaRPr lang="en-AU" b="1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11695044" y="6326859"/>
            <a:ext cx="549965" cy="4306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1977237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 smtClean="0"/>
              <a:t>15 x 9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2690553"/>
            <a:ext cx="8166973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3200" b="1" dirty="0"/>
              <a:t>9</a:t>
            </a:r>
            <a:r>
              <a:rPr lang="en-AU" sz="3200" b="1" dirty="0" smtClean="0"/>
              <a:t> is a small number so we leave it as it is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b="1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285873" y="3428880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15 is a large number so we split it into 10 + 5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4253302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9 x (10 + 5)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5001094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9 x 10 + 9 x 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5659485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90 + 45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FFC5A9A1-D7F9-4F08-AA5C-9FF4AABC404F}"/>
              </a:ext>
            </a:extLst>
          </p:cNvPr>
          <p:cNvSpPr txBox="1">
            <a:spLocks/>
          </p:cNvSpPr>
          <p:nvPr/>
        </p:nvSpPr>
        <p:spPr>
          <a:xfrm>
            <a:off x="332963" y="6199609"/>
            <a:ext cx="8932826" cy="6583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b="1" dirty="0" smtClean="0"/>
              <a:t>= 135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75E2EE-D511-47BA-96B1-2D89396BAFBE}"/>
              </a:ext>
            </a:extLst>
          </p:cNvPr>
          <p:cNvSpPr txBox="1"/>
          <p:nvPr/>
        </p:nvSpPr>
        <p:spPr>
          <a:xfrm>
            <a:off x="0" y="-6605"/>
            <a:ext cx="4498548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Activate Prior Knowledge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66889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  <p:bldP spid="15" grpId="0" build="p"/>
      <p:bldP spid="16" grpId="0"/>
      <p:bldP spid="18" grpId="0"/>
      <p:bldP spid="19" grpId="0"/>
      <p:bldP spid="20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6892" y="1064506"/>
            <a:ext cx="113163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 smtClean="0">
                <a:solidFill>
                  <a:srgbClr val="FF0000"/>
                </a:solidFill>
                <a:cs typeface="Arial" panose="020B0604020202020204" pitchFamily="34" charset="0"/>
              </a:rPr>
              <a:t>When expanding brackets we want to get rid of the brackets.</a:t>
            </a:r>
            <a:endParaRPr lang="en-AU" sz="36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72910-4C3C-49FF-A32A-69F466FD12DA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346892" y="2264835"/>
            <a:ext cx="11316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 smtClean="0">
                <a:solidFill>
                  <a:srgbClr val="FF0000"/>
                </a:solidFill>
                <a:cs typeface="Arial" panose="020B0604020202020204" pitchFamily="34" charset="0"/>
              </a:rPr>
              <a:t>The Distributive Law helps us do this.</a:t>
            </a:r>
            <a:endParaRPr lang="en-AU" sz="3600" b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46892" y="3154219"/>
                <a:ext cx="113163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400" b="1" dirty="0" smtClean="0">
                    <a:cs typeface="Arial" panose="020B0604020202020204" pitchFamily="34" charset="0"/>
                  </a:rPr>
                  <a:t>5(y + 2) is </a:t>
                </a:r>
              </a:p>
              <a:p>
                <a:pPr algn="ctr"/>
                <a:r>
                  <a:rPr lang="en-AU" sz="4400" b="1" dirty="0" smtClean="0">
                    <a:cs typeface="Arial" panose="020B0604020202020204" pitchFamily="34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AU" sz="4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 </m:t>
                    </m:r>
                  </m:oMath>
                </a14:m>
                <a:r>
                  <a:rPr lang="en-AU" sz="4400" b="1" dirty="0" smtClean="0">
                    <a:cs typeface="Arial" panose="020B0604020202020204" pitchFamily="34" charset="0"/>
                  </a:rPr>
                  <a:t>y + 5 </a:t>
                </a:r>
                <a14:m>
                  <m:oMath xmlns:m="http://schemas.openxmlformats.org/officeDocument/2006/math">
                    <m:r>
                      <a:rPr lang="en-AU" sz="4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</m:oMath>
                </a14:m>
                <a:r>
                  <a:rPr lang="en-AU" sz="4400" b="1" dirty="0" smtClean="0">
                    <a:cs typeface="Arial" panose="020B0604020202020204" pitchFamily="34" charset="0"/>
                  </a:rPr>
                  <a:t> 2 = 5y + 10</a:t>
                </a:r>
                <a:endParaRPr lang="en-AU" sz="4400" b="1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92" y="3154219"/>
                <a:ext cx="11316319" cy="1446550"/>
              </a:xfrm>
              <a:prstGeom prst="rect">
                <a:avLst/>
              </a:prstGeom>
              <a:blipFill>
                <a:blip r:embed="rId2"/>
                <a:stretch>
                  <a:fillRect t="-8403" b="-189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43309" y="4894506"/>
                <a:ext cx="1131631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400" b="1" dirty="0" smtClean="0">
                    <a:cs typeface="Arial" panose="020B0604020202020204" pitchFamily="34" charset="0"/>
                  </a:rPr>
                  <a:t>What would 4(</a:t>
                </a:r>
                <a14:m>
                  <m:oMath xmlns:m="http://schemas.openxmlformats.org/officeDocument/2006/math">
                    <m:r>
                      <a:rPr lang="en-AU" sz="440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𝟐𝐱</m:t>
                    </m:r>
                  </m:oMath>
                </a14:m>
                <a:r>
                  <a:rPr lang="en-AU" sz="4400" b="1" dirty="0" smtClean="0">
                    <a:cs typeface="Arial" panose="020B0604020202020204" pitchFamily="34" charset="0"/>
                  </a:rPr>
                  <a:t> + 4) be?</a:t>
                </a:r>
                <a:endParaRPr lang="en-AU" sz="4400" b="1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09" y="4894506"/>
                <a:ext cx="11316319" cy="769441"/>
              </a:xfrm>
              <a:prstGeom prst="rect">
                <a:avLst/>
              </a:prstGeom>
              <a:blipFill rotWithShape="0">
                <a:blip r:embed="rId3"/>
                <a:stretch>
                  <a:fillRect t="-16667" b="-373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8729" y="5540837"/>
                <a:ext cx="1131631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4400" b="1" dirty="0" smtClean="0">
                    <a:solidFill>
                      <a:srgbClr val="FF0000"/>
                    </a:solidFill>
                    <a:cs typeface="Arial" panose="020B0604020202020204" pitchFamily="34" charset="0"/>
                  </a:rPr>
                  <a:t>4 </a:t>
                </a:r>
                <a14:m>
                  <m:oMath xmlns:m="http://schemas.openxmlformats.org/officeDocument/2006/math">
                    <m:r>
                      <a:rPr lang="en-AU" sz="4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r>
                      <a:rPr lang="en-AU" sz="4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𝟐𝐱</m:t>
                    </m:r>
                  </m:oMath>
                </a14:m>
                <a:r>
                  <a:rPr lang="en-AU" sz="4400" b="1" dirty="0" smtClean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AU" sz="44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+ </a:t>
                </a:r>
                <a:r>
                  <a:rPr lang="en-AU" sz="4400" b="1" dirty="0" smtClean="0">
                    <a:solidFill>
                      <a:srgbClr val="FF0000"/>
                    </a:solidFill>
                    <a:cs typeface="Arial" panose="020B0604020202020204" pitchFamily="34" charset="0"/>
                  </a:rPr>
                  <a:t>4 </a:t>
                </a:r>
                <a14:m>
                  <m:oMath xmlns:m="http://schemas.openxmlformats.org/officeDocument/2006/math">
                    <m:r>
                      <a:rPr lang="en-AU" sz="4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</m:oMath>
                </a14:m>
                <a:r>
                  <a:rPr lang="en-AU" sz="44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4</a:t>
                </a:r>
                <a:r>
                  <a:rPr lang="en-AU" sz="4400" b="1" dirty="0" smtClean="0">
                    <a:solidFill>
                      <a:srgbClr val="FF0000"/>
                    </a:solidFill>
                    <a:cs typeface="Arial" panose="020B0604020202020204" pitchFamily="34" charset="0"/>
                  </a:rPr>
                  <a:t> </a:t>
                </a:r>
                <a:r>
                  <a:rPr lang="en-AU" sz="44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= </a:t>
                </a:r>
                <a:r>
                  <a:rPr lang="en-AU" sz="4400" b="1" dirty="0" smtClean="0">
                    <a:solidFill>
                      <a:srgbClr val="FF0000"/>
                    </a:solidFill>
                    <a:cs typeface="Arial" panose="020B0604020202020204" pitchFamily="34" charset="0"/>
                  </a:rPr>
                  <a:t>8</a:t>
                </a:r>
                <a14:m>
                  <m:oMath xmlns:m="http://schemas.openxmlformats.org/officeDocument/2006/math">
                    <m:r>
                      <a:rPr lang="en-AU" sz="4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𝐱</m:t>
                    </m:r>
                  </m:oMath>
                </a14:m>
                <a:r>
                  <a:rPr lang="en-AU" sz="4400" b="1" dirty="0">
                    <a:solidFill>
                      <a:srgbClr val="FF0000"/>
                    </a:solidFill>
                    <a:cs typeface="Arial" panose="020B0604020202020204" pitchFamily="34" charset="0"/>
                  </a:rPr>
                  <a:t> + </a:t>
                </a:r>
                <a:r>
                  <a:rPr lang="en-AU" sz="4400" b="1" dirty="0" smtClean="0">
                    <a:solidFill>
                      <a:srgbClr val="FF0000"/>
                    </a:solidFill>
                    <a:cs typeface="Arial" panose="020B0604020202020204" pitchFamily="34" charset="0"/>
                  </a:rPr>
                  <a:t>16</a:t>
                </a:r>
                <a:endParaRPr lang="en-AU" sz="4400" b="1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29" y="5540837"/>
                <a:ext cx="11316319" cy="769441"/>
              </a:xfrm>
              <a:prstGeom prst="rect">
                <a:avLst/>
              </a:prstGeom>
              <a:blipFill rotWithShape="0">
                <a:blip r:embed="rId4"/>
                <a:stretch>
                  <a:fillRect t="-16667" b="-373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65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336725" y="1070595"/>
                <a:ext cx="3150221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725" y="1070595"/>
                <a:ext cx="3150221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286714" y="2024246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714" y="2024246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362455" y="3824581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3852917" y="3824581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79835" y="4297319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35" y="4297319"/>
                <a:ext cx="819455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187201" y="2748276"/>
                <a:ext cx="83708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201" y="2748276"/>
                <a:ext cx="83708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742977" y="2748276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977" y="2748276"/>
                <a:ext cx="819455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957170" y="4297319"/>
                <a:ext cx="129715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170" y="4297319"/>
                <a:ext cx="1297150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349006" y="4297318"/>
                <a:ext cx="127951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006" y="4297318"/>
                <a:ext cx="127951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123442" y="4048492"/>
                <a:ext cx="392395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442" y="4048492"/>
                <a:ext cx="3923959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7622292" y="2921168"/>
                <a:ext cx="348262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292" y="2921168"/>
                <a:ext cx="3482620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9CBA79C-6189-4A8F-BDF0-B78BF188C18E}"/>
              </a:ext>
            </a:extLst>
          </p:cNvPr>
          <p:cNvSpPr txBox="1"/>
          <p:nvPr/>
        </p:nvSpPr>
        <p:spPr>
          <a:xfrm>
            <a:off x="0" y="0"/>
            <a:ext cx="6275967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 / Guided Practice</a:t>
            </a:r>
          </a:p>
        </p:txBody>
      </p:sp>
    </p:spTree>
    <p:extLst>
      <p:ext uri="{BB962C8B-B14F-4D97-AF65-F5344CB8AC3E}">
        <p14:creationId xmlns:p14="http://schemas.microsoft.com/office/powerpoint/2010/main" val="368216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13" grpId="0"/>
      <p:bldP spid="15" grpId="0"/>
      <p:bldP spid="16" grpId="0"/>
      <p:bldP spid="17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336725" y="1070595"/>
                <a:ext cx="3150221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725" y="1070595"/>
                <a:ext cx="3150221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286714" y="2024246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714" y="2024246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362455" y="3824581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3852917" y="3824581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79835" y="4297319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35" y="4297319"/>
                <a:ext cx="819455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187201" y="2748276"/>
                <a:ext cx="83708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201" y="2748276"/>
                <a:ext cx="83708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436284" y="2778597"/>
                <a:ext cx="139493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284" y="2778597"/>
                <a:ext cx="1394934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957170" y="4297319"/>
                <a:ext cx="129715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170" y="4297319"/>
                <a:ext cx="1297150" cy="101566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116083" y="4298658"/>
                <a:ext cx="185499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083" y="4298658"/>
                <a:ext cx="1854995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7023694" y="3824581"/>
                <a:ext cx="392395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694" y="3824581"/>
                <a:ext cx="3923958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7622292" y="2921168"/>
                <a:ext cx="348262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292" y="2921168"/>
                <a:ext cx="3482620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9CBA79C-6189-4A8F-BDF0-B78BF188C18E}"/>
              </a:ext>
            </a:extLst>
          </p:cNvPr>
          <p:cNvSpPr txBox="1"/>
          <p:nvPr/>
        </p:nvSpPr>
        <p:spPr>
          <a:xfrm>
            <a:off x="0" y="0"/>
            <a:ext cx="6275967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 / Guided Practice</a:t>
            </a:r>
          </a:p>
        </p:txBody>
      </p:sp>
    </p:spTree>
    <p:extLst>
      <p:ext uri="{BB962C8B-B14F-4D97-AF65-F5344CB8AC3E}">
        <p14:creationId xmlns:p14="http://schemas.microsoft.com/office/powerpoint/2010/main" val="375847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13" grpId="0"/>
      <p:bldP spid="15" grpId="0"/>
      <p:bldP spid="16" grpId="0"/>
      <p:bldP spid="17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029086" y="1105260"/>
                <a:ext cx="391966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086" y="1105260"/>
                <a:ext cx="3919663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462883" y="2076994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883" y="2076994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38624" y="3877329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4029086" y="3877329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5733" y="4350067"/>
                <a:ext cx="1207382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3" y="4350067"/>
                <a:ext cx="1207382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363370" y="2801024"/>
                <a:ext cx="83708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370" y="2801024"/>
                <a:ext cx="83708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773670" y="2797320"/>
                <a:ext cx="128592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670" y="2797320"/>
                <a:ext cx="1285929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009908" y="4350067"/>
                <a:ext cx="1625766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𝒂𝒄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908" y="4350067"/>
                <a:ext cx="1625766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330922" y="4350067"/>
                <a:ext cx="167385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𝒃𝒄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922" y="4350067"/>
                <a:ext cx="167385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132934" y="3313116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934" y="3313116"/>
                <a:ext cx="529329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519548" y="4328779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𝒂𝒄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𝒃𝒄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548" y="4328779"/>
                <a:ext cx="5293297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ABC0063-163A-40C5-AE6F-3C943AF58E41}"/>
              </a:ext>
            </a:extLst>
          </p:cNvPr>
          <p:cNvSpPr txBox="1"/>
          <p:nvPr/>
        </p:nvSpPr>
        <p:spPr>
          <a:xfrm>
            <a:off x="0" y="0"/>
            <a:ext cx="6275967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 / Guided Practice</a:t>
            </a:r>
          </a:p>
        </p:txBody>
      </p:sp>
    </p:spTree>
    <p:extLst>
      <p:ext uri="{BB962C8B-B14F-4D97-AF65-F5344CB8AC3E}">
        <p14:creationId xmlns:p14="http://schemas.microsoft.com/office/powerpoint/2010/main" val="201063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15" grpId="0"/>
      <p:bldP spid="17" grpId="0"/>
      <p:bldP spid="18" grpId="0"/>
      <p:bldP spid="19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029086" y="1105260"/>
                <a:ext cx="3999813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9086" y="1105260"/>
                <a:ext cx="3999813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462883" y="2076994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883" y="2076994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38624" y="3877329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4029086" y="3877329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5733" y="4350067"/>
                <a:ext cx="1297150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3" y="4350067"/>
                <a:ext cx="1297150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363370" y="2801024"/>
                <a:ext cx="83708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370" y="2801024"/>
                <a:ext cx="83708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773670" y="2797320"/>
                <a:ext cx="128592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670" y="2797320"/>
                <a:ext cx="1285928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009908" y="4350067"/>
                <a:ext cx="1544012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908" y="4350067"/>
                <a:ext cx="1544012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330922" y="4350067"/>
                <a:ext cx="176362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922" y="4350067"/>
                <a:ext cx="1763624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132934" y="3313116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934" y="3313116"/>
                <a:ext cx="529329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519548" y="4328779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 baseline="300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𝒂𝒃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548" y="4328779"/>
                <a:ext cx="5293297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ABC0063-163A-40C5-AE6F-3C943AF58E41}"/>
              </a:ext>
            </a:extLst>
          </p:cNvPr>
          <p:cNvSpPr txBox="1"/>
          <p:nvPr/>
        </p:nvSpPr>
        <p:spPr>
          <a:xfrm>
            <a:off x="0" y="0"/>
            <a:ext cx="6275967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 / Guided Practice</a:t>
            </a:r>
          </a:p>
        </p:txBody>
      </p:sp>
    </p:spTree>
    <p:extLst>
      <p:ext uri="{BB962C8B-B14F-4D97-AF65-F5344CB8AC3E}">
        <p14:creationId xmlns:p14="http://schemas.microsoft.com/office/powerpoint/2010/main" val="344731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15" grpId="0"/>
      <p:bldP spid="17" grpId="0"/>
      <p:bldP spid="18" grpId="0"/>
      <p:bldP spid="19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020697" y="1088483"/>
                <a:ext cx="3674404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697" y="1088483"/>
                <a:ext cx="3674404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454494" y="2060217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494" y="2060217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30235" y="3860552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4020697" y="3860552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57344" y="4333290"/>
                <a:ext cx="139493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44" y="4333290"/>
                <a:ext cx="1394934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354981" y="2784247"/>
                <a:ext cx="83708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981" y="2784247"/>
                <a:ext cx="83708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649864" y="2784247"/>
                <a:ext cx="14013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864" y="2784247"/>
                <a:ext cx="1401346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822770" y="4335343"/>
                <a:ext cx="1813317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770" y="4335343"/>
                <a:ext cx="1813317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707572" y="4333290"/>
                <a:ext cx="128592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572" y="4333290"/>
                <a:ext cx="1285929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489117" y="4299149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117" y="4299149"/>
                <a:ext cx="529329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061580" y="3292078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580" y="3292078"/>
                <a:ext cx="5293297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D86580F-593A-4AF1-A4E0-A2065C66B82B}"/>
              </a:ext>
            </a:extLst>
          </p:cNvPr>
          <p:cNvSpPr txBox="1"/>
          <p:nvPr/>
        </p:nvSpPr>
        <p:spPr>
          <a:xfrm>
            <a:off x="0" y="0"/>
            <a:ext cx="6275967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 / Guided Practice</a:t>
            </a:r>
          </a:p>
        </p:txBody>
      </p:sp>
    </p:spTree>
    <p:extLst>
      <p:ext uri="{BB962C8B-B14F-4D97-AF65-F5344CB8AC3E}">
        <p14:creationId xmlns:p14="http://schemas.microsoft.com/office/powerpoint/2010/main" val="254869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16" grpId="0"/>
      <p:bldP spid="18" grpId="0"/>
      <p:bldP spid="19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020697" y="1088483"/>
                <a:ext cx="3684022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697" y="1088483"/>
                <a:ext cx="3684022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454494" y="2060217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494" y="2060217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530235" y="3860552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4020697" y="3860552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57344" y="4333290"/>
                <a:ext cx="139493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44" y="4333290"/>
                <a:ext cx="1394934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354981" y="2784247"/>
                <a:ext cx="854721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981" y="2784247"/>
                <a:ext cx="854721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649864" y="2784247"/>
                <a:ext cx="1394934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864" y="2784247"/>
                <a:ext cx="1394934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822770" y="4335343"/>
                <a:ext cx="1830950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770" y="4335343"/>
                <a:ext cx="1830950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707572" y="4333290"/>
                <a:ext cx="127951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572" y="4333290"/>
                <a:ext cx="1279516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489117" y="4299149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6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117" y="4299149"/>
                <a:ext cx="5293297" cy="101566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061580" y="3292078"/>
                <a:ext cx="529329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6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6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1580" y="3292078"/>
                <a:ext cx="5293297" cy="1015663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D86580F-593A-4AF1-A4E0-A2065C66B82B}"/>
              </a:ext>
            </a:extLst>
          </p:cNvPr>
          <p:cNvSpPr txBox="1"/>
          <p:nvPr/>
        </p:nvSpPr>
        <p:spPr>
          <a:xfrm>
            <a:off x="0" y="0"/>
            <a:ext cx="6275967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 / Guided Practice</a:t>
            </a:r>
          </a:p>
        </p:txBody>
      </p:sp>
    </p:spTree>
    <p:extLst>
      <p:ext uri="{BB962C8B-B14F-4D97-AF65-F5344CB8AC3E}">
        <p14:creationId xmlns:p14="http://schemas.microsoft.com/office/powerpoint/2010/main" val="211189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16" grpId="0"/>
      <p:bldP spid="18" grpId="0"/>
      <p:bldP spid="19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3590952" y="1134372"/>
                <a:ext cx="4704429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952" y="1134372"/>
                <a:ext cx="4704429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C63463D-71AF-43CD-9BD3-FAE099554E89}"/>
                  </a:ext>
                </a:extLst>
              </p:cNvPr>
              <p:cNvSpPr/>
              <p:nvPr/>
            </p:nvSpPr>
            <p:spPr>
              <a:xfrm>
                <a:off x="1404160" y="2127329"/>
                <a:ext cx="919343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𝐥𝐨𝐭𝐬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𝐨𝐟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𝐭𝐡𝐞𝐧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𝐭𝐚𝐤𝐞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𝐚𝐰𝐚𝐲</m:t>
                      </m:r>
                      <m:r>
                        <a:rPr lang="en-AU" sz="3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3200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63463D-71AF-43CD-9BD3-FAE099554E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160" y="2127329"/>
                <a:ext cx="9193432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479901" y="3927664"/>
            <a:ext cx="4980924" cy="2158211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3970363" y="3927664"/>
            <a:ext cx="0" cy="215821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35323" y="4400402"/>
                <a:ext cx="81945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23" y="4400402"/>
                <a:ext cx="819455" cy="101566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304647" y="2851359"/>
                <a:ext cx="772968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4647" y="2851359"/>
                <a:ext cx="772968" cy="101566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599530" y="2851359"/>
                <a:ext cx="1401346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530" y="2851359"/>
                <a:ext cx="1401346" cy="101566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109770" y="4391810"/>
                <a:ext cx="1173719" cy="994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770" y="4391810"/>
                <a:ext cx="1173719" cy="9943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195487" y="4381165"/>
                <a:ext cx="1854995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6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AU" sz="6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5487" y="4381165"/>
                <a:ext cx="1854995" cy="101566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685948" y="3938737"/>
                <a:ext cx="529329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5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5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948" y="3938737"/>
                <a:ext cx="5293297" cy="92333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7274815" y="3042324"/>
                <a:ext cx="4704429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815" y="3042324"/>
                <a:ext cx="4704429" cy="92333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6685947" y="4835150"/>
                <a:ext cx="529329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5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5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AU" sz="5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947" y="4835150"/>
                <a:ext cx="5293297" cy="92333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133308B2-9F2A-4C37-AC07-39AE18D40921}"/>
              </a:ext>
            </a:extLst>
          </p:cNvPr>
          <p:cNvSpPr txBox="1"/>
          <p:nvPr/>
        </p:nvSpPr>
        <p:spPr>
          <a:xfrm>
            <a:off x="0" y="0"/>
            <a:ext cx="6275967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 / Guided Practice</a:t>
            </a:r>
          </a:p>
        </p:txBody>
      </p:sp>
    </p:spTree>
    <p:extLst>
      <p:ext uri="{BB962C8B-B14F-4D97-AF65-F5344CB8AC3E}">
        <p14:creationId xmlns:p14="http://schemas.microsoft.com/office/powerpoint/2010/main" val="590723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18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2327963" y="1427461"/>
                <a:ext cx="789600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AU" sz="54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5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5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963" y="1427461"/>
                <a:ext cx="7896008" cy="92333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653907" y="3649940"/>
            <a:ext cx="2732560" cy="90351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3200"/>
          </a:p>
        </p:txBody>
      </p:sp>
      <p:cxnSp>
        <p:nvCxnSpPr>
          <p:cNvPr id="12" name="Straight Connector 11"/>
          <p:cNvCxnSpPr>
            <a:stCxn id="2" idx="0"/>
            <a:endCxn id="2" idx="2"/>
          </p:cNvCxnSpPr>
          <p:nvPr/>
        </p:nvCxnSpPr>
        <p:spPr>
          <a:xfrm>
            <a:off x="2020187" y="3649940"/>
            <a:ext cx="0" cy="9035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92697" y="3811685"/>
                <a:ext cx="486670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7" y="3811685"/>
                <a:ext cx="486670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139198" y="2993750"/>
                <a:ext cx="495623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198" y="2993750"/>
                <a:ext cx="495623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360494" y="3006132"/>
                <a:ext cx="717922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0494" y="3006132"/>
                <a:ext cx="717922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981286" y="3792770"/>
                <a:ext cx="695542" cy="5734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32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286" y="3792770"/>
                <a:ext cx="695542" cy="57342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246361" y="3811685"/>
                <a:ext cx="946189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361" y="3811685"/>
                <a:ext cx="946189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4148802" y="3065165"/>
                <a:ext cx="475284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d>
                        <m:dPr>
                          <m:ctrlPr>
                            <a:rPr lang="en-AU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AU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AU" sz="32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802" y="3065165"/>
                <a:ext cx="4752840" cy="5847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816332" y="4862862"/>
                <a:ext cx="2206981" cy="5734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AU" sz="32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332" y="4862862"/>
                <a:ext cx="2206981" cy="57342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9316711" y="3578525"/>
            <a:ext cx="2726410" cy="90351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3200"/>
          </a:p>
        </p:txBody>
      </p:sp>
      <p:cxnSp>
        <p:nvCxnSpPr>
          <p:cNvPr id="23" name="Straight Connector 22"/>
          <p:cNvCxnSpPr>
            <a:stCxn id="22" idx="0"/>
            <a:endCxn id="22" idx="2"/>
          </p:cNvCxnSpPr>
          <p:nvPr/>
        </p:nvCxnSpPr>
        <p:spPr>
          <a:xfrm>
            <a:off x="10679916" y="3578525"/>
            <a:ext cx="0" cy="90351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787756" y="3781422"/>
                <a:ext cx="53251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756" y="3781422"/>
                <a:ext cx="532518" cy="58477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9736864" y="3006131"/>
                <a:ext cx="522899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864" y="3006131"/>
                <a:ext cx="522899" cy="584775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0679916" y="2983545"/>
                <a:ext cx="132921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9916" y="2983545"/>
                <a:ext cx="1329210" cy="58477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9628216" y="3743566"/>
                <a:ext cx="747319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AU" sz="32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216" y="3743566"/>
                <a:ext cx="747319" cy="573427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0613391" y="3753144"/>
                <a:ext cx="1462259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391" y="3753144"/>
                <a:ext cx="1462259" cy="57342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9628216" y="4767715"/>
                <a:ext cx="2144753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 baseline="3000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aseline="300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216" y="4767715"/>
                <a:ext cx="2144753" cy="57342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3737131" y="3737891"/>
                <a:ext cx="5077672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AU" sz="3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AU" sz="3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131" y="3737891"/>
                <a:ext cx="5077672" cy="584775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3806427" y="4410617"/>
                <a:ext cx="485645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AU" sz="3200" b="1" baseline="300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427" y="4410617"/>
                <a:ext cx="4856458" cy="584775"/>
              </a:xfrm>
              <a:prstGeom prst="rect">
                <a:avLst/>
              </a:prstGeom>
              <a:blipFill rotWithShape="0">
                <a:blip r:embed="rId17"/>
                <a:stretch>
                  <a:fillRect t="-5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B42C66B-D6E1-4EE0-B34F-5B73310B2164}"/>
                  </a:ext>
                </a:extLst>
              </p:cNvPr>
              <p:cNvSpPr/>
              <p:nvPr/>
            </p:nvSpPr>
            <p:spPr>
              <a:xfrm>
                <a:off x="3806427" y="5083343"/>
                <a:ext cx="3951146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𝟏𝟒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AU" sz="3200" b="1" baseline="30000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B42C66B-D6E1-4EE0-B34F-5B73310B2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6427" y="5083343"/>
                <a:ext cx="3951146" cy="573427"/>
              </a:xfrm>
              <a:prstGeom prst="rect">
                <a:avLst/>
              </a:prstGeom>
              <a:blipFill rotWithShape="0">
                <a:blip r:embed="rId18"/>
                <a:stretch>
                  <a:fillRect t="-4255" r="-61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108ACAD0-0080-4817-B8E9-F009E24FE811}"/>
              </a:ext>
            </a:extLst>
          </p:cNvPr>
          <p:cNvSpPr txBox="1"/>
          <p:nvPr/>
        </p:nvSpPr>
        <p:spPr>
          <a:xfrm>
            <a:off x="0" y="0"/>
            <a:ext cx="6275967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 / Guided Practice</a:t>
            </a:r>
          </a:p>
        </p:txBody>
      </p:sp>
    </p:spTree>
    <p:extLst>
      <p:ext uri="{BB962C8B-B14F-4D97-AF65-F5344CB8AC3E}">
        <p14:creationId xmlns:p14="http://schemas.microsoft.com/office/powerpoint/2010/main" val="273471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5" grpId="0"/>
      <p:bldP spid="14" grpId="0"/>
      <p:bldP spid="22" grpId="0" animBg="1"/>
      <p:bldP spid="24" grpId="0"/>
      <p:bldP spid="25" grpId="0"/>
      <p:bldP spid="27" grpId="0"/>
      <p:bldP spid="28" grpId="0"/>
      <p:bldP spid="29" grpId="0"/>
      <p:bldP spid="30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6605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2" name="TextBox 1"/>
          <p:cNvSpPr txBox="1"/>
          <p:nvPr/>
        </p:nvSpPr>
        <p:spPr>
          <a:xfrm>
            <a:off x="182880" y="828040"/>
            <a:ext cx="63398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Pearson 10 – Ex 3.1 page 154 Question 1</a:t>
            </a:r>
          </a:p>
          <a:p>
            <a:endParaRPr lang="en-AU" sz="2400" b="1" dirty="0" smtClean="0"/>
          </a:p>
          <a:p>
            <a:endParaRPr lang="en-AU" sz="2400" b="1" dirty="0"/>
          </a:p>
          <a:p>
            <a:r>
              <a:rPr lang="en-AU" sz="2400" b="1" dirty="0" err="1" smtClean="0"/>
              <a:t>Mathspace</a:t>
            </a:r>
            <a:r>
              <a:rPr lang="en-AU" sz="2400" b="1" dirty="0" smtClean="0"/>
              <a:t> task – Year 10 </a:t>
            </a:r>
            <a:r>
              <a:rPr lang="en-AU" sz="2400" b="1" dirty="0" smtClean="0"/>
              <a:t>Mainstream </a:t>
            </a:r>
            <a:r>
              <a:rPr lang="en-AU" sz="2400" b="1" dirty="0" smtClean="0"/>
              <a:t>Expanding Brackets CLASSWORK</a:t>
            </a:r>
            <a:endParaRPr lang="en-AU" sz="2400" b="1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C1DE274-75E8-4178-AF08-49F3C0182597}"/>
              </a:ext>
            </a:extLst>
          </p:cNvPr>
          <p:cNvSpPr txBox="1">
            <a:spLocks/>
          </p:cNvSpPr>
          <p:nvPr/>
        </p:nvSpPr>
        <p:spPr>
          <a:xfrm>
            <a:off x="7133193" y="197964"/>
            <a:ext cx="4598366" cy="490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b="1" dirty="0"/>
              <a:t>Mathematics Page Layout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2A0945-420F-49DC-8F2A-6BDF186E9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193" y="770894"/>
            <a:ext cx="4598366" cy="592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4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2517</TotalTime>
  <Words>596</Words>
  <Application>Microsoft Office PowerPoint</Application>
  <PresentationFormat>Widescreen</PresentationFormat>
  <Paragraphs>131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Science</dc:title>
  <dc:creator>Microsoft account</dc:creator>
  <cp:lastModifiedBy>YOST Amie [Harrisdale Senior High School]</cp:lastModifiedBy>
  <cp:revision>129</cp:revision>
  <cp:lastPrinted>2017-04-18T22:41:05Z</cp:lastPrinted>
  <dcterms:created xsi:type="dcterms:W3CDTF">2017-01-28T08:32:28Z</dcterms:created>
  <dcterms:modified xsi:type="dcterms:W3CDTF">2021-09-01T00:33:53Z</dcterms:modified>
</cp:coreProperties>
</file>
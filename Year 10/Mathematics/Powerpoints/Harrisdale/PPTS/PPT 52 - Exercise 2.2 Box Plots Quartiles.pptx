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94" r:id="rId2"/>
    <p:sldId id="293" r:id="rId3"/>
    <p:sldId id="302" r:id="rId4"/>
    <p:sldId id="304" r:id="rId5"/>
    <p:sldId id="303" r:id="rId6"/>
    <p:sldId id="284" r:id="rId7"/>
    <p:sldId id="267" r:id="rId8"/>
    <p:sldId id="305" r:id="rId9"/>
    <p:sldId id="306" r:id="rId10"/>
    <p:sldId id="278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262" r:id="rId19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91" d="100"/>
          <a:sy n="91" d="100"/>
        </p:scale>
        <p:origin x="1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find the </a:t>
            </a:r>
            <a:r>
              <a:rPr lang="en-AU" sz="4000" b="1" dirty="0" smtClean="0">
                <a:cs typeface="Arial" panose="020B0604020202020204" pitchFamily="34" charset="0"/>
              </a:rPr>
              <a:t>Five Number Summary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find the median, the upper quartile and the lower quartile of a set of numbers (a data set).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r>
              <a:rPr lang="en-AU" b="1" dirty="0" smtClean="0"/>
              <a:t>Find the median of a data set with an odd or even amount of numbers.</a:t>
            </a:r>
          </a:p>
          <a:p>
            <a:r>
              <a:rPr lang="en-AU" b="1" dirty="0" smtClean="0"/>
              <a:t>Find the upper or lower quartile of a data set  with an odd or even amount of numbers.</a:t>
            </a:r>
          </a:p>
        </p:txBody>
      </p:sp>
    </p:spTree>
    <p:extLst>
      <p:ext uri="{BB962C8B-B14F-4D97-AF65-F5344CB8AC3E}">
        <p14:creationId xmlns:p14="http://schemas.microsoft.com/office/powerpoint/2010/main" val="30667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47320" y="685800"/>
            <a:ext cx="69443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We see statistics being used all the time, but in order to draw conclusions or make decisions, we need to understand how to organise and analyse this data.</a:t>
            </a:r>
          </a:p>
          <a:p>
            <a:pPr algn="ctr"/>
            <a:endParaRPr lang="en-AU" sz="2800" dirty="0"/>
          </a:p>
          <a:p>
            <a:r>
              <a:rPr lang="en-AU" sz="2800" dirty="0" smtClean="0"/>
              <a:t>Statistics are used by all sorts of organisations to make decisions and convince others of what to do. </a:t>
            </a:r>
          </a:p>
          <a:p>
            <a:endParaRPr lang="en-AU" sz="2800" dirty="0"/>
          </a:p>
          <a:p>
            <a:r>
              <a:rPr lang="en-AU" sz="2800" dirty="0" smtClean="0"/>
              <a:t>Understanding the processes used to collect, analyse and present data will help you to tell the difference between credible facts and unlikely fiction!</a:t>
            </a:r>
            <a:endParaRPr lang="en-AU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038" y="685800"/>
            <a:ext cx="4844525" cy="585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413201-CA46-4CB5-84A5-BD06AD91802C}"/>
              </a:ext>
            </a:extLst>
          </p:cNvPr>
          <p:cNvSpPr/>
          <p:nvPr/>
        </p:nvSpPr>
        <p:spPr>
          <a:xfrm>
            <a:off x="5684520" y="5128024"/>
            <a:ext cx="732173" cy="393625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B64B16-EB3E-4DB8-9D80-63BEA27EC18F}"/>
              </a:ext>
            </a:extLst>
          </p:cNvPr>
          <p:cNvSpPr/>
          <p:nvPr/>
        </p:nvSpPr>
        <p:spPr>
          <a:xfrm>
            <a:off x="385818" y="1351278"/>
            <a:ext cx="110340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>
                <a:solidFill>
                  <a:srgbClr val="C00000"/>
                </a:solidFill>
              </a:rPr>
              <a:t>Median </a:t>
            </a:r>
            <a:r>
              <a:rPr lang="en-AU" sz="3200" dirty="0"/>
              <a:t>– The median is the middle value of an ordered data set</a:t>
            </a:r>
            <a:r>
              <a:rPr lang="en-AU" sz="3200" dirty="0" smtClean="0"/>
              <a:t>.</a:t>
            </a:r>
            <a:endParaRPr lang="en-AU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6DFD5A-351B-4EA4-8706-A31A3CCDA048}"/>
              </a:ext>
            </a:extLst>
          </p:cNvPr>
          <p:cNvSpPr/>
          <p:nvPr/>
        </p:nvSpPr>
        <p:spPr>
          <a:xfrm>
            <a:off x="690073" y="4273774"/>
            <a:ext cx="2977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For this data set: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65376-646A-4E8F-9879-C6E4B4B19697}"/>
              </a:ext>
            </a:extLst>
          </p:cNvPr>
          <p:cNvSpPr/>
          <p:nvPr/>
        </p:nvSpPr>
        <p:spPr>
          <a:xfrm>
            <a:off x="8981579" y="4273774"/>
            <a:ext cx="18101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Median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6176CBF-E63F-4846-9734-BD0B539C1206}"/>
                  </a:ext>
                </a:extLst>
              </p:cNvPr>
              <p:cNvSpPr/>
              <p:nvPr/>
            </p:nvSpPr>
            <p:spPr>
              <a:xfrm>
                <a:off x="10785527" y="4257903"/>
                <a:ext cx="697777" cy="791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5+7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6176CBF-E63F-4846-9734-BD0B539C1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527" y="4257903"/>
                <a:ext cx="697777" cy="791307"/>
              </a:xfrm>
              <a:prstGeom prst="rect">
                <a:avLst/>
              </a:prstGeom>
              <a:blipFill rotWithShape="0">
                <a:blip r:embed="rId2"/>
                <a:stretch>
                  <a:fillRect r="-1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0935D05-AF5C-4BC1-89F1-7DB9A97E4024}"/>
              </a:ext>
            </a:extLst>
          </p:cNvPr>
          <p:cNvSpPr/>
          <p:nvPr/>
        </p:nvSpPr>
        <p:spPr>
          <a:xfrm>
            <a:off x="426950" y="5032173"/>
            <a:ext cx="30557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9,  3,  9,  7,  </a:t>
            </a:r>
            <a:r>
              <a:rPr lang="en-AU" sz="3200" dirty="0" smtClean="0"/>
              <a:t>5, 4</a:t>
            </a:r>
            <a:endParaRPr lang="en-AU" sz="3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48B820-42AD-4D86-B6D4-B1E1922AE050}"/>
              </a:ext>
            </a:extLst>
          </p:cNvPr>
          <p:cNvSpPr/>
          <p:nvPr/>
        </p:nvSpPr>
        <p:spPr>
          <a:xfrm>
            <a:off x="4006909" y="4279951"/>
            <a:ext cx="4672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Order from smallest to largest.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66ACEC-F7D1-4758-8264-36913C168DCD}"/>
              </a:ext>
            </a:extLst>
          </p:cNvPr>
          <p:cNvSpPr/>
          <p:nvPr/>
        </p:nvSpPr>
        <p:spPr>
          <a:xfrm>
            <a:off x="3859589" y="5648688"/>
            <a:ext cx="4672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Find the middle.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FEEC3-E705-4B97-BC62-8C7E13DE2EC9}"/>
              </a:ext>
            </a:extLst>
          </p:cNvPr>
          <p:cNvSpPr/>
          <p:nvPr/>
        </p:nvSpPr>
        <p:spPr>
          <a:xfrm>
            <a:off x="4573842" y="5048042"/>
            <a:ext cx="30557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3</a:t>
            </a:r>
            <a:r>
              <a:rPr lang="en-AU" sz="3200" dirty="0" smtClean="0"/>
              <a:t>, 4,  </a:t>
            </a:r>
            <a:r>
              <a:rPr lang="en-AU" sz="3200" dirty="0"/>
              <a:t>5,  7,  9,  9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FF75CA5-05B8-46D0-8F37-070070D26E9F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B64B16-EB3E-4DB8-9D80-63BEA27EC18F}"/>
              </a:ext>
            </a:extLst>
          </p:cNvPr>
          <p:cNvSpPr/>
          <p:nvPr/>
        </p:nvSpPr>
        <p:spPr>
          <a:xfrm>
            <a:off x="759290" y="2123117"/>
            <a:ext cx="855248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b="1" u="sng" dirty="0" smtClean="0"/>
              <a:t>To find the Median</a:t>
            </a:r>
          </a:p>
          <a:p>
            <a:r>
              <a:rPr lang="en-AU" sz="2400" b="1" i="1" dirty="0" smtClean="0"/>
              <a:t>Step 1: Order the numbers from smallest to largest</a:t>
            </a:r>
          </a:p>
          <a:p>
            <a:r>
              <a:rPr lang="en-AU" sz="2400" b="1" i="1" dirty="0" smtClean="0"/>
              <a:t>Step 2: Find the middle number</a:t>
            </a:r>
            <a:r>
              <a:rPr lang="en-AU" sz="2400" b="1" i="1" baseline="30000" dirty="0" smtClean="0"/>
              <a:t>*</a:t>
            </a:r>
          </a:p>
          <a:p>
            <a:r>
              <a:rPr lang="en-AU" sz="2400" b="1" i="1" baseline="30000" dirty="0" smtClean="0"/>
              <a:t>*</a:t>
            </a:r>
            <a:r>
              <a:rPr lang="en-AU" sz="2400" b="1" i="1" dirty="0" smtClean="0"/>
              <a:t>If the middle is between two numbers, then add them up and divide by two. </a:t>
            </a:r>
          </a:p>
          <a:p>
            <a:endParaRPr lang="en-AU" sz="2400" b="1" i="1" dirty="0" smtClean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D65376-646A-4E8F-9879-C6E4B4B19697}"/>
              </a:ext>
            </a:extLst>
          </p:cNvPr>
          <p:cNvSpPr/>
          <p:nvPr/>
        </p:nvSpPr>
        <p:spPr>
          <a:xfrm>
            <a:off x="9067939" y="5879520"/>
            <a:ext cx="2637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	     =   6</a:t>
            </a:r>
            <a:endParaRPr lang="en-AU" sz="3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6047590" y="4794126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6176CBF-E63F-4846-9734-BD0B539C1206}"/>
                  </a:ext>
                </a:extLst>
              </p:cNvPr>
              <p:cNvSpPr/>
              <p:nvPr/>
            </p:nvSpPr>
            <p:spPr>
              <a:xfrm>
                <a:off x="10582220" y="5118991"/>
                <a:ext cx="697777" cy="791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6176CBF-E63F-4846-9734-BD0B539C1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2220" y="5118991"/>
                <a:ext cx="697777" cy="791307"/>
              </a:xfrm>
              <a:prstGeom prst="rect">
                <a:avLst/>
              </a:prstGeom>
              <a:blipFill rotWithShape="0">
                <a:blip r:embed="rId3"/>
                <a:stretch>
                  <a:fillRect r="-61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46823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6" grpId="0"/>
      <p:bldP spid="26" grpId="0"/>
      <p:bldP spid="14" grpId="0"/>
      <p:bldP spid="15" grpId="0"/>
      <p:bldP spid="18" grpId="0"/>
      <p:bldP spid="17" grpId="0"/>
      <p:bldP spid="22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B0D668-ABF8-4AD1-9EA6-7149D34485DD}"/>
              </a:ext>
            </a:extLst>
          </p:cNvPr>
          <p:cNvSpPr/>
          <p:nvPr/>
        </p:nvSpPr>
        <p:spPr>
          <a:xfrm>
            <a:off x="2281806" y="5176007"/>
            <a:ext cx="285225" cy="31878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6F7F8F-9100-4EC8-A116-46DF1A8DD0E0}"/>
              </a:ext>
            </a:extLst>
          </p:cNvPr>
          <p:cNvSpPr/>
          <p:nvPr/>
        </p:nvSpPr>
        <p:spPr>
          <a:xfrm>
            <a:off x="2453033" y="1414578"/>
            <a:ext cx="7264429" cy="1234924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C527A7-A1C5-4F11-8F34-64C7E99851A6}"/>
              </a:ext>
            </a:extLst>
          </p:cNvPr>
          <p:cNvSpPr/>
          <p:nvPr/>
        </p:nvSpPr>
        <p:spPr>
          <a:xfrm>
            <a:off x="2196410" y="2993465"/>
            <a:ext cx="77376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Find the median of the following data sets.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B32155-84A8-4089-B8D2-923BE0F15021}"/>
              </a:ext>
            </a:extLst>
          </p:cNvPr>
          <p:cNvSpPr/>
          <p:nvPr/>
        </p:nvSpPr>
        <p:spPr>
          <a:xfrm>
            <a:off x="1061631" y="3972356"/>
            <a:ext cx="271104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7,  9,  2,  4,  2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B4B912-8145-42DF-932B-E99F9D4CFC95}"/>
              </a:ext>
            </a:extLst>
          </p:cNvPr>
          <p:cNvSpPr/>
          <p:nvPr/>
        </p:nvSpPr>
        <p:spPr>
          <a:xfrm>
            <a:off x="4662500" y="3972356"/>
            <a:ext cx="3088335" cy="646331"/>
          </a:xfrm>
          <a:prstGeom prst="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12,  11,  19,  10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32D7B-BEDD-4C78-B36C-BAA5C6CC02D0}"/>
              </a:ext>
            </a:extLst>
          </p:cNvPr>
          <p:cNvSpPr/>
          <p:nvPr/>
        </p:nvSpPr>
        <p:spPr>
          <a:xfrm>
            <a:off x="8439322" y="3972356"/>
            <a:ext cx="3137485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11,  12,  11,  13,  17,  13,  12,  15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85FEE4-6652-4586-AFAC-0B6B72166C02}"/>
              </a:ext>
            </a:extLst>
          </p:cNvPr>
          <p:cNvSpPr/>
          <p:nvPr/>
        </p:nvSpPr>
        <p:spPr>
          <a:xfrm>
            <a:off x="1599865" y="5745472"/>
            <a:ext cx="16345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001600-D303-401E-99D6-9C763A803BF4}"/>
              </a:ext>
            </a:extLst>
          </p:cNvPr>
          <p:cNvSpPr/>
          <p:nvPr/>
        </p:nvSpPr>
        <p:spPr>
          <a:xfrm>
            <a:off x="5206346" y="5710707"/>
            <a:ext cx="2000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11.5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08B053-4E2A-437C-8FA9-F2AD9C69D4B0}"/>
              </a:ext>
            </a:extLst>
          </p:cNvPr>
          <p:cNvSpPr/>
          <p:nvPr/>
        </p:nvSpPr>
        <p:spPr>
          <a:xfrm>
            <a:off x="8980413" y="5708782"/>
            <a:ext cx="2055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Median = 12.5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E8C329-E006-448D-ACD6-399E201B4B13}"/>
              </a:ext>
            </a:extLst>
          </p:cNvPr>
          <p:cNvSpPr/>
          <p:nvPr/>
        </p:nvSpPr>
        <p:spPr>
          <a:xfrm>
            <a:off x="2494541" y="1475657"/>
            <a:ext cx="71444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Median</a:t>
            </a:r>
            <a:r>
              <a:rPr lang="en-AU" sz="3200" b="1" dirty="0">
                <a:solidFill>
                  <a:srgbClr val="C00000"/>
                </a:solidFill>
              </a:rPr>
              <a:t> </a:t>
            </a:r>
            <a:r>
              <a:rPr lang="en-AU" sz="3200" dirty="0"/>
              <a:t>– The median is the middle value of an ordered data set. </a:t>
            </a:r>
            <a:endParaRPr lang="en-AU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27303E-1583-4E1E-99C6-5BAB995C2615}"/>
              </a:ext>
            </a:extLst>
          </p:cNvPr>
          <p:cNvSpPr/>
          <p:nvPr/>
        </p:nvSpPr>
        <p:spPr>
          <a:xfrm>
            <a:off x="1341561" y="5102248"/>
            <a:ext cx="2151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2,  2,  4,  7,  9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D3A90-C12C-441B-813F-C063524CA0E7}"/>
              </a:ext>
            </a:extLst>
          </p:cNvPr>
          <p:cNvSpPr/>
          <p:nvPr/>
        </p:nvSpPr>
        <p:spPr>
          <a:xfrm>
            <a:off x="5131073" y="5102248"/>
            <a:ext cx="2151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10,  11,  12,  19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6198276" y="496802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33B64804-1175-49DB-8FE3-521CDAD97A1B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9D3A90-C12C-441B-813F-C063524CA0E7}"/>
              </a:ext>
            </a:extLst>
          </p:cNvPr>
          <p:cNvSpPr/>
          <p:nvPr/>
        </p:nvSpPr>
        <p:spPr>
          <a:xfrm>
            <a:off x="7899863" y="5283807"/>
            <a:ext cx="4216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 smtClean="0"/>
              <a:t>11, 11, 12, 12, 13, 13, 15, 17</a:t>
            </a:r>
            <a:endParaRPr lang="en-AU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0018898" y="514119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10894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1" grpId="0"/>
      <p:bldP spid="43" grpId="0"/>
      <p:bldP spid="44" grpId="0"/>
      <p:bldP spid="12" grpId="0"/>
      <p:bldP spid="14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162381"/>
              </p:ext>
            </p:extLst>
          </p:nvPr>
        </p:nvGraphicFramePr>
        <p:xfrm>
          <a:off x="7350760" y="0"/>
          <a:ext cx="484124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41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information</a:t>
                      </a:r>
                      <a:r>
                        <a:rPr lang="en-AU" baseline="0" dirty="0" smtClean="0"/>
                        <a:t> do we need to draw a box plot?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586285"/>
              </p:ext>
            </p:extLst>
          </p:nvPr>
        </p:nvGraphicFramePr>
        <p:xfrm>
          <a:off x="9672320" y="5851207"/>
          <a:ext cx="251968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1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159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99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1">
                <a:tc>
                  <a:txBody>
                    <a:bodyPr/>
                    <a:lstStyle/>
                    <a:p>
                      <a:r>
                        <a:rPr lang="en-AU" i="0" dirty="0" smtClean="0"/>
                        <a:t>Box plot</a:t>
                      </a:r>
                    </a:p>
                    <a:p>
                      <a:r>
                        <a:rPr lang="en-AU" i="0" dirty="0" smtClean="0"/>
                        <a:t>Quartile</a:t>
                      </a:r>
                    </a:p>
                  </a:txBody>
                  <a:tcPr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7480" y="695960"/>
            <a:ext cx="11485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Over the next few lessons, we are going to learn how to create, draw </a:t>
            </a:r>
          </a:p>
          <a:p>
            <a:r>
              <a:rPr lang="en-AU" sz="2400" dirty="0" smtClean="0"/>
              <a:t>and compare box plots (box and whisker plots).</a:t>
            </a:r>
          </a:p>
          <a:p>
            <a:endParaRPr lang="en-AU" sz="2400" dirty="0"/>
          </a:p>
          <a:p>
            <a:r>
              <a:rPr lang="en-AU" sz="2400" dirty="0" smtClean="0"/>
              <a:t>The box plot is a quick way of examining and comparing sets of data graphically.</a:t>
            </a:r>
          </a:p>
          <a:p>
            <a:endParaRPr lang="en-AU" sz="2400" dirty="0"/>
          </a:p>
          <a:p>
            <a:r>
              <a:rPr lang="en-AU" sz="2400" dirty="0" smtClean="0"/>
              <a:t>The box plot is based on five pieces of information from a data 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 smtClean="0"/>
              <a:t>The minimum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 smtClean="0"/>
              <a:t>The lower quartile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 smtClean="0"/>
              <a:t>The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 smtClean="0"/>
              <a:t>The upper quartile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 smtClean="0"/>
              <a:t>The maximum. </a:t>
            </a:r>
            <a:endParaRPr lang="en-AU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447" y="3236456"/>
            <a:ext cx="5975033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32205"/>
              </p:ext>
            </p:extLst>
          </p:nvPr>
        </p:nvGraphicFramePr>
        <p:xfrm>
          <a:off x="8813800" y="0"/>
          <a:ext cx="33782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you find the median if there’s two middle numbers?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7317" y="706120"/>
            <a:ext cx="87931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 find the median of a data set:</a:t>
            </a:r>
          </a:p>
          <a:p>
            <a:endParaRPr lang="en-AU" sz="2400" dirty="0" smtClean="0"/>
          </a:p>
          <a:p>
            <a:r>
              <a:rPr lang="en-AU" sz="2400" b="1" dirty="0"/>
              <a:t>Step 1: Order the numbers from smallest to largest</a:t>
            </a:r>
          </a:p>
          <a:p>
            <a:r>
              <a:rPr lang="en-AU" sz="2400" b="1" dirty="0"/>
              <a:t>Step 2: Find the middle number</a:t>
            </a:r>
            <a:r>
              <a:rPr lang="en-AU" sz="2400" b="1" baseline="30000" dirty="0"/>
              <a:t>*</a:t>
            </a:r>
          </a:p>
          <a:p>
            <a:r>
              <a:rPr lang="en-AU" sz="2400" b="1" baseline="30000" dirty="0"/>
              <a:t>*</a:t>
            </a:r>
            <a:r>
              <a:rPr lang="en-AU" sz="2400" b="1" dirty="0"/>
              <a:t>If the middle is between two numbers, then add them up and divide by two. </a:t>
            </a:r>
          </a:p>
          <a:p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27000" y="3285230"/>
            <a:ext cx="6451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</a:t>
            </a:r>
            <a:r>
              <a:rPr lang="en-AU" sz="2400" b="1" dirty="0" smtClean="0"/>
              <a:t>median</a:t>
            </a:r>
            <a:r>
              <a:rPr lang="en-AU" sz="2400" dirty="0" smtClean="0"/>
              <a:t> of the following sets of scores:</a:t>
            </a:r>
          </a:p>
          <a:p>
            <a:endParaRPr lang="en-AU" sz="2400" dirty="0" smtClean="0"/>
          </a:p>
          <a:p>
            <a:r>
              <a:rPr lang="en-AU" sz="2400" dirty="0" smtClean="0"/>
              <a:t>2, 7, 5, 1, 3, 5, 7</a:t>
            </a:r>
          </a:p>
          <a:p>
            <a:endParaRPr lang="en-AU" sz="2400" dirty="0"/>
          </a:p>
          <a:p>
            <a:r>
              <a:rPr lang="en-AU" sz="2400" dirty="0" smtClean="0"/>
              <a:t>1, 2, 3, 5, 5, 7, 7</a:t>
            </a:r>
          </a:p>
          <a:p>
            <a:endParaRPr lang="en-AU" sz="2400" dirty="0"/>
          </a:p>
          <a:p>
            <a:r>
              <a:rPr lang="en-AU" sz="2400" b="1" dirty="0" smtClean="0"/>
              <a:t>Median = 5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10182" y="3285230"/>
                <a:ext cx="5669280" cy="3214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400" dirty="0" smtClean="0"/>
              </a:p>
              <a:p>
                <a:endParaRPr lang="en-AU" sz="2400" dirty="0" smtClean="0"/>
              </a:p>
              <a:p>
                <a:r>
                  <a:rPr lang="en-AU" sz="2400" dirty="0" smtClean="0"/>
                  <a:t>2, 7, 5, 1, 3, 5, 7, 4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1, 2, 3, 4, 5, 5, 7, 7</a:t>
                </a:r>
              </a:p>
              <a:p>
                <a:endParaRPr lang="en-AU" sz="2400" dirty="0"/>
              </a:p>
              <a:p>
                <a:r>
                  <a:rPr lang="en-AU" sz="2400" b="1" dirty="0" smtClean="0"/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AU" sz="2400" b="1" dirty="0" smtClean="0"/>
              </a:p>
              <a:p>
                <a:r>
                  <a:rPr lang="en-AU" sz="2400" b="1" dirty="0" smtClean="0"/>
                  <a:t>      = 4.5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82" y="3285230"/>
                <a:ext cx="5669280" cy="3214854"/>
              </a:xfrm>
              <a:prstGeom prst="rect">
                <a:avLst/>
              </a:prstGeom>
              <a:blipFill rotWithShape="0">
                <a:blip r:embed="rId2"/>
                <a:stretch>
                  <a:fillRect l="-1613" b="-34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48500" y="3285230"/>
                <a:ext cx="3586480" cy="3214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On your whiteboards: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1, </a:t>
                </a:r>
                <a:r>
                  <a:rPr lang="en-AU" sz="2400" dirty="0" smtClean="0"/>
                  <a:t> 3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5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2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7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7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500, 8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1,  2,  3,  5,  7,  7,  8,  500</a:t>
                </a:r>
              </a:p>
              <a:p>
                <a:endParaRPr lang="en-AU" sz="2400" dirty="0"/>
              </a:p>
              <a:p>
                <a:r>
                  <a:rPr lang="en-AU" sz="2400" b="1" dirty="0" smtClean="0"/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AU" sz="2400" b="1" dirty="0" smtClean="0"/>
              </a:p>
              <a:p>
                <a:r>
                  <a:rPr lang="en-AU" sz="2400" b="1" dirty="0"/>
                  <a:t> </a:t>
                </a:r>
                <a:r>
                  <a:rPr lang="en-AU" sz="2400" b="1" dirty="0" smtClean="0"/>
                  <a:t>      = 6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0" y="3285230"/>
                <a:ext cx="3586480" cy="3214854"/>
              </a:xfrm>
              <a:prstGeom prst="rect">
                <a:avLst/>
              </a:prstGeom>
              <a:blipFill rotWithShape="0">
                <a:blip r:embed="rId3"/>
                <a:stretch>
                  <a:fillRect l="-2547" t="-1518" b="-34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179236" y="458194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4521876" y="454638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8519836" y="458194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4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27317" y="706120"/>
            <a:ext cx="87931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lower quartile is the median of the lower half of the data set.</a:t>
            </a:r>
          </a:p>
          <a:p>
            <a:endParaRPr lang="en-AU" sz="2400" dirty="0" smtClean="0"/>
          </a:p>
          <a:p>
            <a:r>
              <a:rPr lang="en-AU" sz="2400" b="1" dirty="0"/>
              <a:t>Step 1: </a:t>
            </a:r>
            <a:r>
              <a:rPr lang="en-AU" sz="2400" b="1" dirty="0" smtClean="0"/>
              <a:t>Underline the lower half of the data set.</a:t>
            </a:r>
            <a:endParaRPr lang="en-AU" sz="2400" b="1" dirty="0"/>
          </a:p>
          <a:p>
            <a:r>
              <a:rPr lang="en-AU" sz="2400" b="1" dirty="0"/>
              <a:t>Step 2: Find the middle number</a:t>
            </a:r>
            <a:r>
              <a:rPr lang="en-AU" sz="2400" b="1" baseline="30000" dirty="0"/>
              <a:t>*</a:t>
            </a:r>
          </a:p>
          <a:p>
            <a:r>
              <a:rPr lang="en-AU" sz="2400" b="1" baseline="30000" dirty="0"/>
              <a:t>*</a:t>
            </a:r>
            <a:r>
              <a:rPr lang="en-AU" sz="2400" b="1" dirty="0"/>
              <a:t>If the middle is between two numbers, then add them up and divide by two. </a:t>
            </a:r>
          </a:p>
          <a:p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27000" y="3285230"/>
            <a:ext cx="7172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</a:t>
            </a:r>
            <a:r>
              <a:rPr lang="en-AU" sz="2400" b="1" dirty="0" smtClean="0"/>
              <a:t>lower quartile </a:t>
            </a:r>
            <a:r>
              <a:rPr lang="en-AU" sz="2400" dirty="0" smtClean="0"/>
              <a:t>of the following sets of scores:</a:t>
            </a:r>
          </a:p>
          <a:p>
            <a:endParaRPr lang="en-AU" sz="2400" dirty="0" smtClean="0"/>
          </a:p>
          <a:p>
            <a:r>
              <a:rPr lang="en-AU" sz="2400" dirty="0" smtClean="0"/>
              <a:t>2, 7, 5, 1, 3, 5, 7</a:t>
            </a:r>
          </a:p>
          <a:p>
            <a:endParaRPr lang="en-AU" sz="2400" dirty="0"/>
          </a:p>
          <a:p>
            <a:r>
              <a:rPr lang="en-AU" sz="2400" dirty="0" smtClean="0"/>
              <a:t>1, 2, 3, 5, 5, 7, 7</a:t>
            </a:r>
          </a:p>
          <a:p>
            <a:endParaRPr lang="en-AU" sz="2400" dirty="0"/>
          </a:p>
          <a:p>
            <a:r>
              <a:rPr lang="en-AU" sz="2400" b="1" dirty="0" smtClean="0"/>
              <a:t>Median = 5</a:t>
            </a:r>
          </a:p>
          <a:p>
            <a:r>
              <a:rPr lang="en-AU" sz="2400" b="1" dirty="0" smtClean="0"/>
              <a:t>Lower quartile =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10182" y="3285230"/>
                <a:ext cx="566928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400" dirty="0" smtClean="0"/>
              </a:p>
              <a:p>
                <a:endParaRPr lang="en-AU" sz="2400" dirty="0" smtClean="0"/>
              </a:p>
              <a:p>
                <a:r>
                  <a:rPr lang="en-AU" sz="2400" dirty="0" smtClean="0"/>
                  <a:t>2, 7, 5, 1, 3, 5, 7, 4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1, 2, 3, 4, 5, 5, 7, 7</a:t>
                </a:r>
              </a:p>
              <a:p>
                <a:endParaRPr lang="en-AU" sz="2400" dirty="0"/>
              </a:p>
              <a:p>
                <a:r>
                  <a:rPr lang="en-AU" sz="2400" b="1" dirty="0" smtClean="0"/>
                  <a:t>Median =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AU" sz="2400" b="1" dirty="0" smtClean="0"/>
              </a:p>
              <a:p>
                <a:r>
                  <a:rPr lang="en-AU" sz="2400" b="1" dirty="0" smtClean="0"/>
                  <a:t>Lower quartile = 2.5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82" y="3285230"/>
                <a:ext cx="5669280" cy="3046988"/>
              </a:xfrm>
              <a:prstGeom prst="rect">
                <a:avLst/>
              </a:prstGeom>
              <a:blipFill rotWithShape="0">
                <a:blip r:embed="rId2"/>
                <a:stretch>
                  <a:fillRect l="-1613" b="-36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556500" y="3307573"/>
                <a:ext cx="358648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On your whiteboards: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1, </a:t>
                </a:r>
                <a:r>
                  <a:rPr lang="en-AU" sz="2400" dirty="0" smtClean="0"/>
                  <a:t> 3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5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2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7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7</a:t>
                </a:r>
                <a:r>
                  <a:rPr lang="en-AU" sz="2400" dirty="0"/>
                  <a:t>, </a:t>
                </a:r>
                <a:r>
                  <a:rPr lang="en-AU" sz="2400" dirty="0" smtClean="0"/>
                  <a:t> 500, 8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1,  2,  3,  5,  7,  7,  8,  500</a:t>
                </a:r>
              </a:p>
              <a:p>
                <a:endParaRPr lang="en-AU" sz="2400" dirty="0"/>
              </a:p>
              <a:p>
                <a:r>
                  <a:rPr lang="en-AU" sz="2400" b="1" dirty="0" smtClean="0"/>
                  <a:t>Median =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AU" sz="2400" b="1" dirty="0" smtClean="0"/>
              </a:p>
              <a:p>
                <a:r>
                  <a:rPr lang="en-AU" sz="2400" b="1" dirty="0" smtClean="0"/>
                  <a:t>Lower quartile = 2.5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500" y="3307573"/>
                <a:ext cx="3586480" cy="3046988"/>
              </a:xfrm>
              <a:prstGeom prst="rect">
                <a:avLst/>
              </a:prstGeom>
              <a:blipFill rotWithShape="0">
                <a:blip r:embed="rId3"/>
                <a:stretch>
                  <a:fillRect l="-2721" t="-1603" b="-3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204636" y="4523499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4521876" y="454638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9027836" y="4604287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83382"/>
              </p:ext>
            </p:extLst>
          </p:nvPr>
        </p:nvGraphicFramePr>
        <p:xfrm>
          <a:off x="8813800" y="0"/>
          <a:ext cx="3378200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you find the lower quartile if there’s two middle numbers?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218440" y="5176520"/>
            <a:ext cx="77216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942756" y="454638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434080" y="5176520"/>
            <a:ext cx="1000760" cy="508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639331" y="5212080"/>
            <a:ext cx="1281149" cy="1016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8279905" y="4589203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604520" y="4523499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26120" y="1706430"/>
            <a:ext cx="362712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 half.</a:t>
            </a:r>
          </a:p>
          <a:p>
            <a:pPr algn="ctr"/>
            <a:r>
              <a:rPr lang="en-AU" b="1" dirty="0" smtClean="0"/>
              <a:t>If the median is between two values, include it in the lower half.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24731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27317" y="706120"/>
            <a:ext cx="87931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upper quartile is the median of the upper half of the data set.</a:t>
            </a:r>
          </a:p>
          <a:p>
            <a:endParaRPr lang="en-AU" sz="2400" dirty="0" smtClean="0"/>
          </a:p>
          <a:p>
            <a:r>
              <a:rPr lang="en-AU" sz="2400" b="1" dirty="0"/>
              <a:t>Step 1: </a:t>
            </a:r>
            <a:r>
              <a:rPr lang="en-AU" sz="2400" b="1" dirty="0" smtClean="0"/>
              <a:t>Underline the upper half of the data set.</a:t>
            </a:r>
            <a:endParaRPr lang="en-AU" sz="2400" b="1" dirty="0"/>
          </a:p>
          <a:p>
            <a:r>
              <a:rPr lang="en-AU" sz="2400" b="1" dirty="0"/>
              <a:t>Step 2: Find the middle number</a:t>
            </a:r>
            <a:r>
              <a:rPr lang="en-AU" sz="2400" b="1" baseline="30000" dirty="0"/>
              <a:t>*</a:t>
            </a:r>
          </a:p>
          <a:p>
            <a:r>
              <a:rPr lang="en-AU" sz="2400" b="1" baseline="30000" dirty="0"/>
              <a:t>*</a:t>
            </a:r>
            <a:r>
              <a:rPr lang="en-AU" sz="2400" b="1" dirty="0"/>
              <a:t>If the middle is between two numbers, then add them up and divide by two. </a:t>
            </a:r>
          </a:p>
          <a:p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27000" y="3285230"/>
            <a:ext cx="7172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</a:t>
            </a:r>
            <a:r>
              <a:rPr lang="en-AU" sz="2400" b="1" dirty="0" smtClean="0"/>
              <a:t>upper quartile </a:t>
            </a:r>
            <a:r>
              <a:rPr lang="en-AU" sz="2400" dirty="0" smtClean="0"/>
              <a:t>of the following sets of scores:</a:t>
            </a:r>
          </a:p>
          <a:p>
            <a:endParaRPr lang="en-AU" sz="2400" dirty="0" smtClean="0"/>
          </a:p>
          <a:p>
            <a:r>
              <a:rPr lang="en-AU" sz="2400" dirty="0" smtClean="0"/>
              <a:t>2, 7, 5, 1, 3, 5, 7</a:t>
            </a:r>
          </a:p>
          <a:p>
            <a:endParaRPr lang="en-AU" sz="2400" dirty="0"/>
          </a:p>
          <a:p>
            <a:r>
              <a:rPr lang="en-AU" sz="2400" dirty="0" smtClean="0"/>
              <a:t>1, 2, 3, 5, 5, 7, 7</a:t>
            </a:r>
          </a:p>
          <a:p>
            <a:endParaRPr lang="en-AU" sz="2400" dirty="0"/>
          </a:p>
          <a:p>
            <a:r>
              <a:rPr lang="en-AU" sz="2400" b="1" dirty="0" smtClean="0"/>
              <a:t>Median = 5</a:t>
            </a:r>
          </a:p>
          <a:p>
            <a:r>
              <a:rPr lang="en-AU" sz="2400" b="1" dirty="0" smtClean="0"/>
              <a:t>Lower quartile = 2</a:t>
            </a:r>
          </a:p>
          <a:p>
            <a:r>
              <a:rPr lang="en-AU" sz="2400" b="1" dirty="0" smtClean="0"/>
              <a:t>Upper quartile = 7</a:t>
            </a:r>
            <a:endParaRPr lang="en-A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310182" y="3285230"/>
            <a:ext cx="56692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 smtClean="0"/>
          </a:p>
          <a:p>
            <a:endParaRPr lang="en-AU" sz="2400" dirty="0" smtClean="0"/>
          </a:p>
          <a:p>
            <a:r>
              <a:rPr lang="en-AU" sz="2400" dirty="0" smtClean="0"/>
              <a:t>2, 7, 5, 1, 3, 5, 7, 4</a:t>
            </a:r>
          </a:p>
          <a:p>
            <a:endParaRPr lang="en-AU" sz="2400" dirty="0"/>
          </a:p>
          <a:p>
            <a:r>
              <a:rPr lang="en-AU" sz="2400" dirty="0" smtClean="0"/>
              <a:t>1, 2, 3, 4, 5, 5, 7, 7</a:t>
            </a:r>
          </a:p>
          <a:p>
            <a:endParaRPr lang="en-AU" sz="2400" dirty="0"/>
          </a:p>
          <a:p>
            <a:r>
              <a:rPr lang="en-AU" sz="2400" b="1" dirty="0" smtClean="0"/>
              <a:t>Median = 4.5</a:t>
            </a:r>
          </a:p>
          <a:p>
            <a:r>
              <a:rPr lang="en-AU" sz="2400" b="1" dirty="0" smtClean="0"/>
              <a:t>Lower quartile = 2.5</a:t>
            </a:r>
          </a:p>
          <a:p>
            <a:r>
              <a:rPr lang="en-AU" sz="2400" b="1" dirty="0" smtClean="0"/>
              <a:t>Upper quartile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6500" y="3307573"/>
            <a:ext cx="3586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On your whiteboards:</a:t>
            </a:r>
          </a:p>
          <a:p>
            <a:endParaRPr lang="en-AU" sz="2400" dirty="0"/>
          </a:p>
          <a:p>
            <a:r>
              <a:rPr lang="en-AU" sz="2400" dirty="0"/>
              <a:t>1, </a:t>
            </a:r>
            <a:r>
              <a:rPr lang="en-AU" sz="2400" dirty="0" smtClean="0"/>
              <a:t> 3</a:t>
            </a:r>
            <a:r>
              <a:rPr lang="en-AU" sz="2400" dirty="0"/>
              <a:t>, </a:t>
            </a:r>
            <a:r>
              <a:rPr lang="en-AU" sz="2400" dirty="0" smtClean="0"/>
              <a:t> 5</a:t>
            </a:r>
            <a:r>
              <a:rPr lang="en-AU" sz="2400" dirty="0"/>
              <a:t>, </a:t>
            </a:r>
            <a:r>
              <a:rPr lang="en-AU" sz="2400" dirty="0" smtClean="0"/>
              <a:t> 2</a:t>
            </a:r>
            <a:r>
              <a:rPr lang="en-AU" sz="2400" dirty="0"/>
              <a:t>, </a:t>
            </a:r>
            <a:r>
              <a:rPr lang="en-AU" sz="2400" dirty="0" smtClean="0"/>
              <a:t> 7</a:t>
            </a:r>
            <a:r>
              <a:rPr lang="en-AU" sz="2400" dirty="0"/>
              <a:t>, </a:t>
            </a:r>
            <a:r>
              <a:rPr lang="en-AU" sz="2400" dirty="0" smtClean="0"/>
              <a:t> 7</a:t>
            </a:r>
            <a:r>
              <a:rPr lang="en-AU" sz="2400" dirty="0"/>
              <a:t>, </a:t>
            </a:r>
            <a:r>
              <a:rPr lang="en-AU" sz="2400" dirty="0" smtClean="0"/>
              <a:t> 500, 8</a:t>
            </a:r>
          </a:p>
          <a:p>
            <a:endParaRPr lang="en-AU" sz="2400" dirty="0"/>
          </a:p>
          <a:p>
            <a:r>
              <a:rPr lang="en-AU" sz="2400" dirty="0" smtClean="0"/>
              <a:t>1,  2,  3,  5,  7,  7,  8,  500</a:t>
            </a:r>
          </a:p>
          <a:p>
            <a:endParaRPr lang="en-AU" sz="2400" dirty="0"/>
          </a:p>
          <a:p>
            <a:r>
              <a:rPr lang="en-AU" sz="2400" b="1" dirty="0" smtClean="0"/>
              <a:t>Median = 6</a:t>
            </a:r>
          </a:p>
          <a:p>
            <a:r>
              <a:rPr lang="en-AU" sz="2400" b="1" dirty="0" smtClean="0"/>
              <a:t>Lower quartile = 2.5</a:t>
            </a:r>
          </a:p>
          <a:p>
            <a:r>
              <a:rPr lang="en-AU" sz="2400" b="1" dirty="0" smtClean="0"/>
              <a:t>Upper quartile = 7.5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199556" y="454638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4521876" y="454638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9027836" y="4604287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515238"/>
              </p:ext>
            </p:extLst>
          </p:nvPr>
        </p:nvGraphicFramePr>
        <p:xfrm>
          <a:off x="8813800" y="0"/>
          <a:ext cx="3378200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you find the upper quartile if there’s two middle numbers?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218440" y="5176520"/>
            <a:ext cx="77216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942756" y="454638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434080" y="5176520"/>
            <a:ext cx="1000760" cy="508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639331" y="5212080"/>
            <a:ext cx="1281149" cy="1016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8279905" y="4589203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599440" y="4589203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1412240" y="5176520"/>
            <a:ext cx="7467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793240" y="4589203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7080" y="5176520"/>
            <a:ext cx="103124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5130800" y="4499570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118600" y="5212080"/>
            <a:ext cx="15341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9789160" y="4589203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21040" y="1696270"/>
            <a:ext cx="362712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upper half.</a:t>
            </a:r>
          </a:p>
          <a:p>
            <a:pPr algn="ctr"/>
            <a:r>
              <a:rPr lang="en-AU" b="1" dirty="0" smtClean="0"/>
              <a:t>If the median is between two values, include it in the upper half.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61086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914650"/>
              </p:ext>
            </p:extLst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997021"/>
              </p:ext>
            </p:extLst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91202"/>
              </p:ext>
            </p:extLst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98120" y="797560"/>
            <a:ext cx="64871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median, lower quartile and upper quartile of the following data set:</a:t>
            </a:r>
          </a:p>
          <a:p>
            <a:r>
              <a:rPr lang="en-AU" sz="2800" b="1" dirty="0" smtClean="0"/>
              <a:t>13, 15, 13, 11, 16, 13, 12, 15</a:t>
            </a:r>
          </a:p>
          <a:p>
            <a:endParaRPr lang="en-AU" sz="2800" b="1" dirty="0"/>
          </a:p>
          <a:p>
            <a:r>
              <a:rPr lang="en-AU" sz="2800" b="1" dirty="0" smtClean="0"/>
              <a:t>11, 12, 13, 13, 13, 15, 15, 16</a:t>
            </a:r>
            <a:endParaRPr lang="en-AU" sz="28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2373036" y="222482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7960" y="3395979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Median = 13</a:t>
            </a:r>
            <a:endParaRPr lang="en-AU" sz="24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335280" y="2921218"/>
            <a:ext cx="19050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290320" y="222482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7960" y="3807149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Lower quartile = 12.5</a:t>
            </a:r>
            <a:endParaRPr lang="en-AU" sz="24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458720" y="2916138"/>
            <a:ext cx="1925320" cy="5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429000" y="2224824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7960" y="4268814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Upper quartile = 15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0186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98120" y="797560"/>
            <a:ext cx="6908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minimum, maximum, median, lower quartile and upper quartile of the following data set:</a:t>
            </a:r>
          </a:p>
          <a:p>
            <a:r>
              <a:rPr lang="en-AU" sz="2800" b="1" dirty="0" smtClean="0"/>
              <a:t>2, 9, 4, 2, 5, 8, 9, 6, 6, 2, 3, 7, 5</a:t>
            </a:r>
          </a:p>
          <a:p>
            <a:endParaRPr lang="en-AU" sz="2800" b="1" dirty="0"/>
          </a:p>
          <a:p>
            <a:r>
              <a:rPr lang="en-AU" sz="2800" b="1" dirty="0" smtClean="0"/>
              <a:t>2, 2, 2, 3, 4, 5, 5, 6, 6, 7, 8, 9, 9</a:t>
            </a:r>
            <a:endParaRPr lang="en-AU" sz="28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2520356" y="2224823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7960" y="4182563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Median = 5</a:t>
            </a:r>
            <a:endParaRPr lang="en-AU" sz="24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264160" y="2916138"/>
            <a:ext cx="201168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290320" y="222482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7960" y="4565378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Lower quartile = 2.5</a:t>
            </a:r>
            <a:endParaRPr lang="en-AU" sz="24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804160" y="2929234"/>
            <a:ext cx="1925320" cy="5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766820" y="2224822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7960" y="4973392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Upper quartile = 7.5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87960" y="3426210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Minimum = 2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87960" y="3774549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Maximum = </a:t>
            </a:r>
            <a:r>
              <a:rPr lang="en-AU" sz="24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10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5" grpId="0"/>
      <p:bldP spid="20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98120" y="797560"/>
            <a:ext cx="64871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median, lower quartile and upper quartile of the following data set:</a:t>
            </a:r>
          </a:p>
          <a:p>
            <a:r>
              <a:rPr lang="en-AU" sz="2800" b="1" dirty="0" smtClean="0"/>
              <a:t>435, 275, 195, 460, 565, 650, 335</a:t>
            </a:r>
          </a:p>
          <a:p>
            <a:endParaRPr lang="en-AU" sz="2800" b="1" dirty="0"/>
          </a:p>
          <a:p>
            <a:r>
              <a:rPr lang="en-AU" sz="2800" b="1" dirty="0" smtClean="0"/>
              <a:t>195, 275, 335, 435, 460, 565, 650</a:t>
            </a:r>
            <a:endParaRPr lang="en-AU" sz="28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2743200" y="221481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7960" y="3395979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Median = 435</a:t>
            </a:r>
            <a:endParaRPr lang="en-AU" sz="24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264160" y="2916138"/>
            <a:ext cx="201168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290320" y="222482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7960" y="3807149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Lower quartile = 275</a:t>
            </a:r>
            <a:endParaRPr lang="en-AU" sz="24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3164840" y="2934314"/>
            <a:ext cx="1925320" cy="5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4155440" y="2224821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7960" y="4268814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Upper quartile = 565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2346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98120" y="797560"/>
            <a:ext cx="67411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minimum, maximum, median, lower quartile and upper quartile of the following data set:</a:t>
            </a:r>
          </a:p>
          <a:p>
            <a:r>
              <a:rPr lang="en-AU" sz="2800" b="1" dirty="0" smtClean="0"/>
              <a:t>435, 275, 195, 460, 565, 650, 335, 800</a:t>
            </a:r>
          </a:p>
          <a:p>
            <a:endParaRPr lang="en-AU" sz="2800" b="1" dirty="0"/>
          </a:p>
          <a:p>
            <a:r>
              <a:rPr lang="en-AU" sz="2800" b="1" dirty="0" smtClean="0"/>
              <a:t>195, 275, 335, 435, 460, 565, 650, 800</a:t>
            </a:r>
            <a:endParaRPr lang="en-AU" sz="28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083560" y="2224821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3040" y="4348479"/>
                <a:ext cx="4541520" cy="619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435+460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=447.5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4348479"/>
                <a:ext cx="4541520" cy="619913"/>
              </a:xfrm>
              <a:prstGeom prst="rect">
                <a:avLst/>
              </a:prstGeom>
              <a:blipFill rotWithShape="0">
                <a:blip r:embed="rId2"/>
                <a:stretch>
                  <a:fillRect l="-2148"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264160" y="2916138"/>
            <a:ext cx="2681720" cy="508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661160" y="2224821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93040" y="5082814"/>
                <a:ext cx="4541520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Lower quartile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275+335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=305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5082814"/>
                <a:ext cx="4541520" cy="614655"/>
              </a:xfrm>
              <a:prstGeom prst="rect">
                <a:avLst/>
              </a:prstGeom>
              <a:blipFill rotWithShape="0">
                <a:blip r:embed="rId3"/>
                <a:stretch>
                  <a:fillRect l="-2148" b="-108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3164840" y="2934314"/>
            <a:ext cx="2606040" cy="2224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4500880" y="2224821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93040" y="5823244"/>
                <a:ext cx="4541520" cy="619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Upper quartile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565+650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=607.5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5823244"/>
                <a:ext cx="4541520" cy="619913"/>
              </a:xfrm>
              <a:prstGeom prst="rect">
                <a:avLst/>
              </a:prstGeom>
              <a:blipFill rotWithShape="0">
                <a:blip r:embed="rId4"/>
                <a:stretch>
                  <a:fillRect l="-2148"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87960" y="3426210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Minimum = 195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77800" y="3851472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Maximum = 800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6744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5" grpId="0"/>
      <p:bldP spid="20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21920" y="772160"/>
            <a:ext cx="64871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By finding the 5 number summary of the data set, calculate the range and the inter-quartile range.</a:t>
            </a:r>
          </a:p>
          <a:p>
            <a:endParaRPr lang="en-AU" sz="2400" dirty="0"/>
          </a:p>
          <a:p>
            <a:r>
              <a:rPr lang="en-AU" sz="2400" b="1" dirty="0"/>
              <a:t>3</a:t>
            </a:r>
            <a:r>
              <a:rPr lang="en-AU" sz="2400" b="1" dirty="0" smtClean="0"/>
              <a:t>6,  52,  53,  55,  61,  66,  78</a:t>
            </a:r>
          </a:p>
          <a:p>
            <a:endParaRPr lang="en-AU" sz="2400" dirty="0"/>
          </a:p>
          <a:p>
            <a:r>
              <a:rPr lang="en-AU" sz="2400" dirty="0" smtClean="0"/>
              <a:t>Minimum = 36</a:t>
            </a:r>
          </a:p>
          <a:p>
            <a:r>
              <a:rPr lang="en-AU" sz="2400" dirty="0" smtClean="0"/>
              <a:t>Lower quartile (Q1) = 52</a:t>
            </a:r>
            <a:endParaRPr lang="en-AU" sz="2400" dirty="0"/>
          </a:p>
          <a:p>
            <a:r>
              <a:rPr lang="en-AU" sz="2400" dirty="0" smtClean="0"/>
              <a:t>Median = 55</a:t>
            </a:r>
          </a:p>
          <a:p>
            <a:r>
              <a:rPr lang="en-AU" sz="2400" dirty="0" smtClean="0"/>
              <a:t>Upper quartile (Q3) = 66</a:t>
            </a:r>
            <a:endParaRPr lang="en-AU" sz="2400" dirty="0"/>
          </a:p>
          <a:p>
            <a:r>
              <a:rPr lang="en-AU" sz="2400" dirty="0" smtClean="0"/>
              <a:t>Maximum = 78</a:t>
            </a:r>
            <a:endParaRPr lang="en-AU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931076" y="164062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1920" y="2321560"/>
            <a:ext cx="15494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883920" y="164062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280920" y="2321560"/>
            <a:ext cx="136144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017520" y="1640624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" y="465836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Range (maximum – minimum):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4109720" y="4658359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78 – 36 = 42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21920" y="5214271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Inter-quartile range (Q3 – Q1):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4074160" y="521427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66 – 52 = 14</a:t>
            </a:r>
            <a:endParaRPr lang="en-AU" sz="2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87598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21920" y="772160"/>
            <a:ext cx="64871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By finding the 5 number summary of the data set, calculate the range and the inter-quartile range.</a:t>
            </a:r>
          </a:p>
          <a:p>
            <a:endParaRPr lang="en-AU" sz="2400" dirty="0"/>
          </a:p>
          <a:p>
            <a:r>
              <a:rPr lang="en-AU" sz="2400" b="1" dirty="0" smtClean="0"/>
              <a:t>21,  34,  53,  65,  66,  67,  92</a:t>
            </a:r>
          </a:p>
          <a:p>
            <a:endParaRPr lang="en-AU" sz="2400" dirty="0"/>
          </a:p>
          <a:p>
            <a:r>
              <a:rPr lang="en-AU" sz="2400" dirty="0" smtClean="0"/>
              <a:t>Minimum = 21</a:t>
            </a:r>
          </a:p>
          <a:p>
            <a:r>
              <a:rPr lang="en-AU" sz="2400" dirty="0" smtClean="0"/>
              <a:t>Lower quartile (Q1) = 34</a:t>
            </a:r>
            <a:endParaRPr lang="en-AU" sz="2400" dirty="0"/>
          </a:p>
          <a:p>
            <a:r>
              <a:rPr lang="en-AU" sz="2400" dirty="0" smtClean="0"/>
              <a:t>Median = 65</a:t>
            </a:r>
          </a:p>
          <a:p>
            <a:r>
              <a:rPr lang="en-AU" sz="2400" dirty="0" smtClean="0"/>
              <a:t>Upper quartile (Q3) = 67</a:t>
            </a:r>
            <a:endParaRPr lang="en-AU" sz="2400" dirty="0"/>
          </a:p>
          <a:p>
            <a:r>
              <a:rPr lang="en-AU" sz="2400" dirty="0" smtClean="0"/>
              <a:t>Maximum = 92</a:t>
            </a:r>
            <a:endParaRPr lang="en-AU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931076" y="164062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1920" y="2321560"/>
            <a:ext cx="15494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883920" y="164062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280920" y="2321560"/>
            <a:ext cx="136144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017520" y="1640624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" y="465836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Range (maximum – minimum):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4109720" y="4658359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92 – 21 = 71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21920" y="5214271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Inter-quartile range (Q3 – Q1):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4074160" y="521427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67 – 34 = 33</a:t>
            </a:r>
            <a:endParaRPr lang="en-AU" sz="2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50122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1920" y="772160"/>
                <a:ext cx="6487160" cy="4287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By finding the 5 number summary of the data set, calculate the range and the inter-quartile range.</a:t>
                </a:r>
              </a:p>
              <a:p>
                <a:endParaRPr lang="en-AU" sz="2400" dirty="0"/>
              </a:p>
              <a:p>
                <a:r>
                  <a:rPr lang="en-AU" sz="2400" b="1" dirty="0" smtClean="0"/>
                  <a:t>21,  34,  53,  65,  66,  67, 80,  92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Minimum = 21</a:t>
                </a:r>
              </a:p>
              <a:p>
                <a:r>
                  <a:rPr lang="en-AU" sz="2400" dirty="0" smtClean="0"/>
                  <a:t>Lower quartile (Q1)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34+53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=43.5</m:t>
                    </m:r>
                  </m:oMath>
                </a14:m>
                <a:endParaRPr lang="en-AU" sz="2400" dirty="0"/>
              </a:p>
              <a:p>
                <a:r>
                  <a:rPr lang="en-AU" sz="2400" dirty="0" smtClean="0"/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65+66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65.5</m:t>
                    </m:r>
                  </m:oMath>
                </a14:m>
                <a:endParaRPr lang="en-AU" sz="2400" dirty="0" smtClean="0"/>
              </a:p>
              <a:p>
                <a:r>
                  <a:rPr lang="en-AU" sz="2400" dirty="0" smtClean="0"/>
                  <a:t>Upper quartile (Q3)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67+80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=73.5</m:t>
                    </m:r>
                  </m:oMath>
                </a14:m>
                <a:endParaRPr lang="en-AU" sz="2400" dirty="0"/>
              </a:p>
              <a:p>
                <a:r>
                  <a:rPr lang="en-AU" sz="2400" dirty="0" smtClean="0"/>
                  <a:t>Maximum = 92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772160"/>
                <a:ext cx="6487160" cy="4287840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138" b="-15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2230796" y="164062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1920" y="2321560"/>
            <a:ext cx="19558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183640" y="164062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82520" y="2321560"/>
            <a:ext cx="169164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230880" y="1640624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" y="5426277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Range (maximum – minimum):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4109720" y="5426276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92 – 21 = 71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21920" y="5982188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Inter-quartile range (Q3 – Q1):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4074160" y="5982187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73.5 – 43.5 = 30</a:t>
            </a:r>
            <a:endParaRPr lang="en-AU" sz="2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70278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1920" y="772160"/>
                <a:ext cx="6487160" cy="3938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By finding the 5 number summary of the data set, calculate the range and the inter-quartile range.</a:t>
                </a:r>
              </a:p>
              <a:p>
                <a:endParaRPr lang="en-AU" sz="2400" dirty="0"/>
              </a:p>
              <a:p>
                <a:r>
                  <a:rPr lang="en-AU" sz="2400" b="1" dirty="0" smtClean="0"/>
                  <a:t>21,  33,  54,  62,  66,  67, 81,  91, 92, 98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Minimum = 21</a:t>
                </a:r>
              </a:p>
              <a:p>
                <a:r>
                  <a:rPr lang="en-AU" sz="2400" dirty="0" smtClean="0"/>
                  <a:t>Lower quartile (Q1) = 54</a:t>
                </a:r>
                <a:endParaRPr lang="en-AU" sz="2400" dirty="0"/>
              </a:p>
              <a:p>
                <a:r>
                  <a:rPr lang="en-AU" sz="2400" dirty="0" smtClean="0"/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66+67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endParaRPr lang="en-AU" sz="2400" dirty="0" smtClean="0"/>
              </a:p>
              <a:p>
                <a:r>
                  <a:rPr lang="en-AU" sz="2400" dirty="0" smtClean="0"/>
                  <a:t>Upper quartile (Q3) = 91</a:t>
                </a:r>
                <a:endParaRPr lang="en-AU" sz="2400" dirty="0"/>
              </a:p>
              <a:p>
                <a:r>
                  <a:rPr lang="en-AU" sz="2400" dirty="0" smtClean="0"/>
                  <a:t>Maximum = 98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772160"/>
                <a:ext cx="6487160" cy="3938642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238" b="-26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2748956" y="164062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1920" y="2321560"/>
            <a:ext cx="24587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1452880" y="1640624"/>
            <a:ext cx="0" cy="2852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80360" y="2321560"/>
            <a:ext cx="214884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3967480" y="1584744"/>
            <a:ext cx="0" cy="2852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" y="5426277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Range (maximum – minimum):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4109720" y="5426276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92 – 21 = 71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21920" y="5982188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Inter-quartile range (Q3 – Q1):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4074160" y="5982187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73.5 – 43.5 = 30</a:t>
            </a:r>
            <a:endParaRPr lang="en-AU" sz="2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7025640" y="0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median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Order the numbers from smallest to largest.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7030720" y="110777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lower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bottom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7035800" y="2271098"/>
          <a:ext cx="5080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To find the upper quartile of a data set: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Step 1: Underline the top half of the data set.</a:t>
                      </a:r>
                    </a:p>
                    <a:p>
                      <a:r>
                        <a:rPr lang="en-AU" dirty="0" smtClean="0"/>
                        <a:t>Step 2: Find the middle number.</a:t>
                      </a:r>
                      <a:endParaRPr lang="en-AU" baseline="30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20000" y="3530150"/>
            <a:ext cx="43586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If the median is one of the values, don’t include it in the lower/upper half.</a:t>
            </a:r>
          </a:p>
          <a:p>
            <a:pPr algn="ctr"/>
            <a:r>
              <a:rPr lang="en-AU" b="1" dirty="0" smtClean="0"/>
              <a:t>If the median is between two values, include it in the lower/upper half.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10138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23520" y="797560"/>
            <a:ext cx="11577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err="1" smtClean="0"/>
              <a:t>Mathspace</a:t>
            </a:r>
            <a:r>
              <a:rPr lang="en-AU" sz="2400" b="1" dirty="0" smtClean="0"/>
              <a:t> – Year 10 Mainstream </a:t>
            </a:r>
            <a:r>
              <a:rPr lang="en-AU" sz="2400" b="1" dirty="0" smtClean="0"/>
              <a:t>Five Number Summary CLASSWORK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7547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2724</TotalTime>
  <Words>2788</Words>
  <Application>Microsoft Office PowerPoint</Application>
  <PresentationFormat>Widescreen</PresentationFormat>
  <Paragraphs>360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146</cp:revision>
  <cp:lastPrinted>2017-04-18T22:41:05Z</cp:lastPrinted>
  <dcterms:created xsi:type="dcterms:W3CDTF">2017-01-28T08:32:28Z</dcterms:created>
  <dcterms:modified xsi:type="dcterms:W3CDTF">2021-08-23T00:39:58Z</dcterms:modified>
</cp:coreProperties>
</file>
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94" r:id="rId2"/>
    <p:sldId id="312" r:id="rId3"/>
    <p:sldId id="313" r:id="rId4"/>
    <p:sldId id="314" r:id="rId5"/>
    <p:sldId id="320" r:id="rId6"/>
    <p:sldId id="267" r:id="rId7"/>
    <p:sldId id="325" r:id="rId8"/>
    <p:sldId id="324" r:id="rId9"/>
    <p:sldId id="293" r:id="rId10"/>
    <p:sldId id="321" r:id="rId11"/>
    <p:sldId id="322" r:id="rId12"/>
    <p:sldId id="309" r:id="rId13"/>
    <p:sldId id="316" r:id="rId14"/>
    <p:sldId id="317" r:id="rId15"/>
    <p:sldId id="323" r:id="rId16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59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1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08CDC9-85D4-4503-A1C1-C4A7D08CE495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FFA11-8017-47B8-A9A2-068FE447A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129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9FCB49-B75D-48F9-965E-F5B41389C131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83C16-0E4E-4EED-91E3-77B4695E1C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998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862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4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1631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428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453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1284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323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168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446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633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0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629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3.png"/><Relationship Id="rId18" Type="http://schemas.openxmlformats.org/officeDocument/2006/relationships/image" Target="../media/image20.png"/><Relationship Id="rId3" Type="http://schemas.openxmlformats.org/officeDocument/2006/relationships/image" Target="../media/image26.png"/><Relationship Id="rId21" Type="http://schemas.openxmlformats.org/officeDocument/2006/relationships/image" Target="../media/image23.png"/><Relationship Id="rId7" Type="http://schemas.openxmlformats.org/officeDocument/2006/relationships/image" Target="../media/image29.png"/><Relationship Id="rId12" Type="http://schemas.openxmlformats.org/officeDocument/2006/relationships/image" Target="../media/image32.png"/><Relationship Id="rId17" Type="http://schemas.openxmlformats.org/officeDocument/2006/relationships/image" Target="../media/image19.png"/><Relationship Id="rId2" Type="http://schemas.openxmlformats.org/officeDocument/2006/relationships/image" Target="../media/image25.png"/><Relationship Id="rId16" Type="http://schemas.openxmlformats.org/officeDocument/2006/relationships/image" Target="../media/image36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13.png"/><Relationship Id="rId24" Type="http://schemas.openxmlformats.org/officeDocument/2006/relationships/image" Target="../media/image39.png"/><Relationship Id="rId5" Type="http://schemas.openxmlformats.org/officeDocument/2006/relationships/image" Target="../media/image27.png"/><Relationship Id="rId15" Type="http://schemas.openxmlformats.org/officeDocument/2006/relationships/image" Target="../media/image35.png"/><Relationship Id="rId23" Type="http://schemas.openxmlformats.org/officeDocument/2006/relationships/image" Target="../media/image38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31.png"/><Relationship Id="rId14" Type="http://schemas.openxmlformats.org/officeDocument/2006/relationships/image" Target="../media/image34.png"/><Relationship Id="rId22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41.png"/><Relationship Id="rId21" Type="http://schemas.openxmlformats.org/officeDocument/2006/relationships/image" Target="../media/image59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Relationship Id="rId22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550.png"/><Relationship Id="rId18" Type="http://schemas.openxmlformats.org/officeDocument/2006/relationships/image" Target="../media/image92.png"/><Relationship Id="rId3" Type="http://schemas.openxmlformats.org/officeDocument/2006/relationships/image" Target="../media/image430.png"/><Relationship Id="rId21" Type="http://schemas.openxmlformats.org/officeDocument/2006/relationships/image" Target="../media/image95.png"/><Relationship Id="rId7" Type="http://schemas.openxmlformats.org/officeDocument/2006/relationships/image" Target="../media/image84.png"/><Relationship Id="rId12" Type="http://schemas.openxmlformats.org/officeDocument/2006/relationships/image" Target="../media/image540.png"/><Relationship Id="rId17" Type="http://schemas.openxmlformats.org/officeDocument/2006/relationships/image" Target="../media/image91.png"/><Relationship Id="rId2" Type="http://schemas.openxmlformats.org/officeDocument/2006/relationships/image" Target="../media/image83.png"/><Relationship Id="rId16" Type="http://schemas.openxmlformats.org/officeDocument/2006/relationships/image" Target="../media/image90.png"/><Relationship Id="rId20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0.png"/><Relationship Id="rId11" Type="http://schemas.openxmlformats.org/officeDocument/2006/relationships/image" Target="../media/image88.png"/><Relationship Id="rId5" Type="http://schemas.openxmlformats.org/officeDocument/2006/relationships/image" Target="../media/image450.png"/><Relationship Id="rId15" Type="http://schemas.openxmlformats.org/officeDocument/2006/relationships/image" Target="../media/image89.png"/><Relationship Id="rId10" Type="http://schemas.openxmlformats.org/officeDocument/2006/relationships/image" Target="../media/image87.png"/><Relationship Id="rId19" Type="http://schemas.openxmlformats.org/officeDocument/2006/relationships/image" Target="../media/image93.png"/><Relationship Id="rId4" Type="http://schemas.openxmlformats.org/officeDocument/2006/relationships/image" Target="../media/image440.png"/><Relationship Id="rId9" Type="http://schemas.openxmlformats.org/officeDocument/2006/relationships/image" Target="../media/image86.png"/><Relationship Id="rId14" Type="http://schemas.openxmlformats.org/officeDocument/2006/relationships/image" Target="../media/image96.png"/><Relationship Id="rId22" Type="http://schemas.openxmlformats.org/officeDocument/2006/relationships/image" Target="../media/image9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550.png"/><Relationship Id="rId18" Type="http://schemas.openxmlformats.org/officeDocument/2006/relationships/image" Target="../media/image92.png"/><Relationship Id="rId3" Type="http://schemas.openxmlformats.org/officeDocument/2006/relationships/image" Target="../media/image430.png"/><Relationship Id="rId21" Type="http://schemas.openxmlformats.org/officeDocument/2006/relationships/image" Target="../media/image95.png"/><Relationship Id="rId7" Type="http://schemas.openxmlformats.org/officeDocument/2006/relationships/image" Target="../media/image84.png"/><Relationship Id="rId12" Type="http://schemas.openxmlformats.org/officeDocument/2006/relationships/image" Target="../media/image540.png"/><Relationship Id="rId17" Type="http://schemas.openxmlformats.org/officeDocument/2006/relationships/image" Target="../media/image91.png"/><Relationship Id="rId2" Type="http://schemas.openxmlformats.org/officeDocument/2006/relationships/image" Target="../media/image83.png"/><Relationship Id="rId16" Type="http://schemas.openxmlformats.org/officeDocument/2006/relationships/image" Target="../media/image90.png"/><Relationship Id="rId20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0.png"/><Relationship Id="rId11" Type="http://schemas.openxmlformats.org/officeDocument/2006/relationships/image" Target="../media/image88.png"/><Relationship Id="rId5" Type="http://schemas.openxmlformats.org/officeDocument/2006/relationships/image" Target="../media/image450.png"/><Relationship Id="rId15" Type="http://schemas.openxmlformats.org/officeDocument/2006/relationships/image" Target="../media/image89.png"/><Relationship Id="rId10" Type="http://schemas.openxmlformats.org/officeDocument/2006/relationships/image" Target="../media/image87.png"/><Relationship Id="rId19" Type="http://schemas.openxmlformats.org/officeDocument/2006/relationships/image" Target="../media/image93.png"/><Relationship Id="rId4" Type="http://schemas.openxmlformats.org/officeDocument/2006/relationships/image" Target="../media/image440.png"/><Relationship Id="rId9" Type="http://schemas.openxmlformats.org/officeDocument/2006/relationships/image" Target="../media/image86.png"/><Relationship Id="rId14" Type="http://schemas.openxmlformats.org/officeDocument/2006/relationships/image" Target="../media/image96.png"/><Relationship Id="rId22" Type="http://schemas.openxmlformats.org/officeDocument/2006/relationships/image" Target="../media/image9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10.png"/><Relationship Id="rId7" Type="http://schemas.openxmlformats.org/officeDocument/2006/relationships/image" Target="../media/image650.png"/><Relationship Id="rId12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0.png"/><Relationship Id="rId11" Type="http://schemas.openxmlformats.org/officeDocument/2006/relationships/image" Target="../media/image69.png"/><Relationship Id="rId5" Type="http://schemas.openxmlformats.org/officeDocument/2006/relationships/image" Target="../media/image630.png"/><Relationship Id="rId10" Type="http://schemas.openxmlformats.org/officeDocument/2006/relationships/image" Target="../media/image68.png"/><Relationship Id="rId4" Type="http://schemas.openxmlformats.org/officeDocument/2006/relationships/image" Target="../media/image620.png"/><Relationship Id="rId9" Type="http://schemas.openxmlformats.org/officeDocument/2006/relationships/image" Target="../media/image6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74.png"/><Relationship Id="rId7" Type="http://schemas.openxmlformats.org/officeDocument/2006/relationships/image" Target="../media/image66.png"/><Relationship Id="rId12" Type="http://schemas.openxmlformats.org/officeDocument/2006/relationships/image" Target="../media/image81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0.png"/><Relationship Id="rId5" Type="http://schemas.openxmlformats.org/officeDocument/2006/relationships/image" Target="../media/image76.png"/><Relationship Id="rId10" Type="http://schemas.openxmlformats.org/officeDocument/2006/relationships/image" Target="../media/image79.png"/><Relationship Id="rId4" Type="http://schemas.openxmlformats.org/officeDocument/2006/relationships/image" Target="../media/image75.png"/><Relationship Id="rId9" Type="http://schemas.openxmlformats.org/officeDocument/2006/relationships/image" Target="../media/image7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0.png"/><Relationship Id="rId13" Type="http://schemas.openxmlformats.org/officeDocument/2006/relationships/image" Target="../media/image82.png"/><Relationship Id="rId3" Type="http://schemas.openxmlformats.org/officeDocument/2006/relationships/image" Target="../media/image99.png"/><Relationship Id="rId7" Type="http://schemas.openxmlformats.org/officeDocument/2006/relationships/image" Target="../media/image690.png"/><Relationship Id="rId12" Type="http://schemas.openxmlformats.org/officeDocument/2006/relationships/image" Target="../media/image106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105.png"/><Relationship Id="rId5" Type="http://schemas.openxmlformats.org/officeDocument/2006/relationships/image" Target="../media/image101.png"/><Relationship Id="rId10" Type="http://schemas.openxmlformats.org/officeDocument/2006/relationships/image" Target="../media/image104.png"/><Relationship Id="rId4" Type="http://schemas.openxmlformats.org/officeDocument/2006/relationships/image" Target="../media/image100.png"/><Relationship Id="rId9" Type="http://schemas.openxmlformats.org/officeDocument/2006/relationships/image" Target="../media/image10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07.pn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12" Type="http://schemas.openxmlformats.org/officeDocument/2006/relationships/image" Target="../media/image118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5" Type="http://schemas.openxmlformats.org/officeDocument/2006/relationships/image" Target="../media/image111.png"/><Relationship Id="rId10" Type="http://schemas.openxmlformats.org/officeDocument/2006/relationships/image" Target="../media/image116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19.png"/><Relationship Id="rId3" Type="http://schemas.openxmlformats.org/officeDocument/2006/relationships/image" Target="../media/image121.png"/><Relationship Id="rId7" Type="http://schemas.openxmlformats.org/officeDocument/2006/relationships/image" Target="../media/image124.png"/><Relationship Id="rId12" Type="http://schemas.openxmlformats.org/officeDocument/2006/relationships/image" Target="../media/image108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0.png"/><Relationship Id="rId11" Type="http://schemas.openxmlformats.org/officeDocument/2006/relationships/image" Target="../media/image1070.png"/><Relationship Id="rId5" Type="http://schemas.openxmlformats.org/officeDocument/2006/relationships/image" Target="../media/image123.png"/><Relationship Id="rId10" Type="http://schemas.openxmlformats.org/officeDocument/2006/relationships/image" Target="../media/image1060.png"/><Relationship Id="rId4" Type="http://schemas.openxmlformats.org/officeDocument/2006/relationships/image" Target="../media/image122.png"/><Relationship Id="rId9" Type="http://schemas.openxmlformats.org/officeDocument/2006/relationships/image" Target="../media/image12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19.png"/><Relationship Id="rId3" Type="http://schemas.openxmlformats.org/officeDocument/2006/relationships/image" Target="../media/image127.png"/><Relationship Id="rId7" Type="http://schemas.openxmlformats.org/officeDocument/2006/relationships/image" Target="../media/image124.png"/><Relationship Id="rId12" Type="http://schemas.openxmlformats.org/officeDocument/2006/relationships/image" Target="../media/image132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11" Type="http://schemas.openxmlformats.org/officeDocument/2006/relationships/image" Target="../media/image131.png"/><Relationship Id="rId5" Type="http://schemas.openxmlformats.org/officeDocument/2006/relationships/image" Target="../media/image123.png"/><Relationship Id="rId10" Type="http://schemas.openxmlformats.org/officeDocument/2006/relationships/image" Target="../media/image130.png"/><Relationship Id="rId4" Type="http://schemas.openxmlformats.org/officeDocument/2006/relationships/image" Target="../media/image122.png"/><Relationship Id="rId9" Type="http://schemas.openxmlformats.org/officeDocument/2006/relationships/image" Target="../media/image1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will solve quadratic equations by factorising.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3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45318" y="1105137"/>
                <a:ext cx="10862761" cy="473527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AU" sz="2400" dirty="0" smtClean="0"/>
                  <a:t>The method we are going to use to solve quadratic equations is the Null Factor Law.</a:t>
                </a:r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r>
                  <a:rPr lang="en-AU" sz="2400" dirty="0" smtClean="0"/>
                  <a:t>Null Factor Law: if two numbers multiply together to give an answer of zero, one or both of those numbers must be zero.</a:t>
                </a:r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r>
                  <a:rPr lang="en-AU" sz="2400" dirty="0" smtClean="0"/>
                  <a:t>If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AU" sz="2400" dirty="0" smtClean="0"/>
                  <a:t>, then either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sz="2400" dirty="0" smtClean="0"/>
                  <a:t> 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sz="2400" dirty="0" smtClean="0"/>
                  <a:t> .</a:t>
                </a:r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9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45318" y="1105137"/>
                <a:ext cx="10862761" cy="4735272"/>
              </a:xfrm>
              <a:blipFill rotWithShape="0">
                <a:blip r:embed="rId2"/>
                <a:stretch>
                  <a:fillRect l="-842" t="-18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9250680" y="0"/>
          <a:ext cx="3012440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1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</a:t>
                      </a:r>
                      <a:r>
                        <a:rPr lang="en-AU" baseline="0" dirty="0" smtClean="0"/>
                        <a:t> null factor law?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187" y="2854033"/>
            <a:ext cx="4751090" cy="352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934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28164" y="1803735"/>
                <a:ext cx="39644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64" y="1803735"/>
                <a:ext cx="3964436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4414520" y="0"/>
            <a:ext cx="7777480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AU" sz="2400" dirty="0"/>
              <a:t>Null Factor Law: if two numbers multiply together to give an answer of zero, one or both of those numbers must be zero.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-71120" y="268089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1120" y="2680897"/>
                <a:ext cx="1813560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605280" y="2661808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164080" y="269452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+2=0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080" y="2694524"/>
                <a:ext cx="1813560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2032000" y="310153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>
                <a:solidFill>
                  <a:srgbClr val="7030A0"/>
                </a:solidFill>
              </a:rPr>
              <a:t>-</a:t>
            </a:r>
            <a:r>
              <a:rPr lang="en-AU" sz="2400" i="1" dirty="0" smtClean="0">
                <a:solidFill>
                  <a:srgbClr val="7030A0"/>
                </a:solidFill>
              </a:rPr>
              <a:t>2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378200" y="3101535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>
                <a:solidFill>
                  <a:srgbClr val="7030A0"/>
                </a:solidFill>
              </a:rPr>
              <a:t>-</a:t>
            </a:r>
            <a:r>
              <a:rPr lang="en-AU" sz="2400" i="1" dirty="0" smtClean="0">
                <a:solidFill>
                  <a:srgbClr val="7030A0"/>
                </a:solidFill>
              </a:rPr>
              <a:t>2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1963420" y="3455766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3420" y="3455766"/>
                <a:ext cx="1813560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24180" y="4293412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80" y="4293412"/>
                <a:ext cx="2933700" cy="830997"/>
              </a:xfrm>
              <a:prstGeom prst="rect">
                <a:avLst/>
              </a:prstGeom>
              <a:blipFill rotWithShape="0">
                <a:blip r:embed="rId6"/>
                <a:stretch>
                  <a:fillRect l="-1871" t="-5839" r="-3950" b="-153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239688" y="1049684"/>
            <a:ext cx="9915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Solve the following quadratic equations using the null factor law.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250433" y="1797932"/>
                <a:ext cx="39644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0433" y="1797932"/>
                <a:ext cx="3964436" cy="64633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172702" y="1786266"/>
                <a:ext cx="39644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702" y="1786266"/>
                <a:ext cx="3964436" cy="64633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45720" y="1656080"/>
            <a:ext cx="4028440" cy="5110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/>
          <p:cNvSpPr/>
          <p:nvPr/>
        </p:nvSpPr>
        <p:spPr>
          <a:xfrm>
            <a:off x="4074160" y="1656080"/>
            <a:ext cx="4028440" cy="5110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/>
          <p:cNvSpPr/>
          <p:nvPr/>
        </p:nvSpPr>
        <p:spPr>
          <a:xfrm>
            <a:off x="8102600" y="1656080"/>
            <a:ext cx="4028440" cy="5110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961896" y="268089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896" y="2680897"/>
                <a:ext cx="1813560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5638296" y="2661808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197096" y="269452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+5=0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096" y="2694524"/>
                <a:ext cx="1813560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6065016" y="310153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1216" y="3101535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5996436" y="3455766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436" y="3455766"/>
                <a:ext cx="1813560" cy="46166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457196" y="4293412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=−5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196" y="4293412"/>
                <a:ext cx="2933700" cy="830997"/>
              </a:xfrm>
              <a:prstGeom prst="rect">
                <a:avLst/>
              </a:prstGeom>
              <a:blipFill rotWithShape="0">
                <a:blip r:embed="rId12"/>
                <a:stretch>
                  <a:fillRect l="-1663" t="-5839" r="-4158" b="-153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4033016" y="3128934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016" y="3128934"/>
                <a:ext cx="543560" cy="461665"/>
              </a:xfrm>
              <a:prstGeom prst="rect">
                <a:avLst/>
              </a:prstGeom>
              <a:blipFill rotWithShape="0">
                <a:blip r:embed="rId13"/>
                <a:stretch>
                  <a:fillRect r="-213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181096" y="3107614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096" y="3107614"/>
                <a:ext cx="543560" cy="461665"/>
              </a:xfrm>
              <a:prstGeom prst="rect">
                <a:avLst/>
              </a:prstGeom>
              <a:blipFill rotWithShape="0">
                <a:blip r:embed="rId14"/>
                <a:stretch>
                  <a:fillRect r="-213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82216" y="349945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216" y="3499454"/>
                <a:ext cx="1813560" cy="461665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7910830" y="268089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830" y="2680897"/>
                <a:ext cx="1813560" cy="461665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9638030" y="2713602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0141207" y="269452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−6=0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1207" y="2694524"/>
                <a:ext cx="1813560" cy="461665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/>
          <p:cNvSpPr txBox="1"/>
          <p:nvPr/>
        </p:nvSpPr>
        <p:spPr>
          <a:xfrm>
            <a:off x="10118856" y="310153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+6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465056" y="3101535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+6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10023863" y="343719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3863" y="3437194"/>
                <a:ext cx="1813560" cy="461665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9990332" y="3840412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0332" y="3840412"/>
                <a:ext cx="543560" cy="461665"/>
              </a:xfrm>
              <a:prstGeom prst="rect">
                <a:avLst/>
              </a:prstGeom>
              <a:blipFill rotWithShape="0">
                <a:blip r:embed="rId19"/>
                <a:stretch>
                  <a:fillRect r="-213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11138412" y="3819092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8412" y="3819092"/>
                <a:ext cx="543560" cy="461665"/>
              </a:xfrm>
              <a:prstGeom prst="rect">
                <a:avLst/>
              </a:prstGeom>
              <a:blipFill rotWithShape="0">
                <a:blip r:embed="rId20"/>
                <a:stretch>
                  <a:fillRect r="-224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10025640" y="4315281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5640" y="4315281"/>
                <a:ext cx="1813560" cy="461665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8602476" y="4860065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 </m:t>
                    </m:r>
                  </m:oMath>
                </a14:m>
                <a:r>
                  <a:rPr lang="en-AU" sz="2400" dirty="0" smtClean="0"/>
                  <a:t>.</a:t>
                </a:r>
                <a:endParaRPr lang="en-AU" sz="2400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2476" y="4860065"/>
                <a:ext cx="2933700" cy="830997"/>
              </a:xfrm>
              <a:prstGeom prst="rect">
                <a:avLst/>
              </a:prstGeom>
              <a:blipFill rotWithShape="0">
                <a:blip r:embed="rId22"/>
                <a:stretch>
                  <a:fillRect l="-1663" t="-5839" r="-4158" b="-153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48321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5" grpId="0"/>
      <p:bldP spid="36" grpId="0"/>
      <p:bldP spid="27" grpId="0"/>
      <p:bldP spid="28" grpId="0"/>
      <p:bldP spid="29" grpId="0"/>
      <p:bldP spid="38" grpId="0"/>
      <p:bldP spid="39" grpId="0"/>
      <p:bldP spid="40" grpId="0"/>
      <p:bldP spid="42" grpId="0"/>
      <p:bldP spid="43" grpId="0"/>
      <p:bldP spid="44" grpId="0"/>
      <p:bldP spid="45" grpId="0"/>
      <p:bldP spid="46" grpId="0"/>
      <p:bldP spid="47" grpId="0"/>
      <p:bldP spid="56" grpId="0"/>
      <p:bldP spid="57" grpId="0"/>
      <p:bldP spid="58" grpId="0"/>
      <p:bldP spid="59" grpId="0"/>
      <p:bldP spid="60" grpId="0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4482" y="1795613"/>
                <a:ext cx="39644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−1)</m:t>
                      </m:r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2" y="1795613"/>
                <a:ext cx="3964436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4414520" y="0"/>
            <a:ext cx="7777480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AU" sz="2400" dirty="0"/>
              <a:t>Null Factor Law: if two numbers multiply together to give an answer of zero, one or both of those numbers must be zero.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-71120" y="268089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1120" y="2680897"/>
                <a:ext cx="1813560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605280" y="2661808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164080" y="269452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+2=0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080" y="2694524"/>
                <a:ext cx="1813560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-61973" y="304355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+1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84227" y="3043555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+1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-130553" y="3397786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553" y="3397786"/>
                <a:ext cx="1813560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24180" y="4293412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80" y="4293412"/>
                <a:ext cx="2933700" cy="830997"/>
              </a:xfrm>
              <a:prstGeom prst="rect">
                <a:avLst/>
              </a:prstGeom>
              <a:blipFill rotWithShape="0">
                <a:blip r:embed="rId6"/>
                <a:stretch>
                  <a:fillRect l="-1871" t="-5839" r="-3950" b="-153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239688" y="1049684"/>
            <a:ext cx="9915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Solve the following quadratic equations using the null factor law.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153406" y="1797164"/>
                <a:ext cx="39644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+9)</m:t>
                      </m:r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3406" y="1797164"/>
                <a:ext cx="3964436" cy="64633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087358" y="1786266"/>
                <a:ext cx="424180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+1)</m:t>
                      </m:r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358" y="1786266"/>
                <a:ext cx="4241802" cy="64633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45720" y="1656080"/>
            <a:ext cx="4028440" cy="5110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/>
          <p:cNvSpPr/>
          <p:nvPr/>
        </p:nvSpPr>
        <p:spPr>
          <a:xfrm>
            <a:off x="4074160" y="1656080"/>
            <a:ext cx="4028440" cy="5110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/>
          <p:cNvSpPr/>
          <p:nvPr/>
        </p:nvSpPr>
        <p:spPr>
          <a:xfrm>
            <a:off x="8102600" y="1656080"/>
            <a:ext cx="4028440" cy="5110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961896" y="268089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+9=0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896" y="2680897"/>
                <a:ext cx="1813560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5638296" y="2661808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197096" y="269452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+5=0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096" y="2694524"/>
                <a:ext cx="1813560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6065016" y="310153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1216" y="3101535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5996436" y="3455766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436" y="3455766"/>
                <a:ext cx="1813560" cy="46166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457196" y="4293412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=−9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=−5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196" y="4293412"/>
                <a:ext cx="2933700" cy="830997"/>
              </a:xfrm>
              <a:prstGeom prst="rect">
                <a:avLst/>
              </a:prstGeom>
              <a:blipFill rotWithShape="0">
                <a:blip r:embed="rId12"/>
                <a:stretch>
                  <a:fillRect l="-1663" t="-5839" r="-4158" b="-153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4033016" y="3128934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016" y="3128934"/>
                <a:ext cx="543560" cy="461665"/>
              </a:xfrm>
              <a:prstGeom prst="rect">
                <a:avLst/>
              </a:prstGeom>
              <a:blipFill rotWithShape="0">
                <a:blip r:embed="rId13"/>
                <a:stretch>
                  <a:fillRect r="-89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181096" y="3107614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096" y="3107614"/>
                <a:ext cx="543560" cy="461665"/>
              </a:xfrm>
              <a:prstGeom prst="rect">
                <a:avLst/>
              </a:prstGeom>
              <a:blipFill rotWithShape="0">
                <a:blip r:embed="rId14"/>
                <a:stretch>
                  <a:fillRect r="-89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82216" y="349945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=−9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216" y="3499454"/>
                <a:ext cx="1813560" cy="461665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7910830" y="268089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+1=0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830" y="2680897"/>
                <a:ext cx="1813560" cy="461665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9638030" y="2713602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0141207" y="269452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−6=0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1207" y="2694524"/>
                <a:ext cx="1813560" cy="461665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/>
          <p:cNvSpPr txBox="1"/>
          <p:nvPr/>
        </p:nvSpPr>
        <p:spPr>
          <a:xfrm>
            <a:off x="10118856" y="310153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+6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465056" y="3101535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+6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10023863" y="343719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3863" y="3437194"/>
                <a:ext cx="1813560" cy="461665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9990332" y="3840412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0332" y="3840412"/>
                <a:ext cx="543560" cy="461665"/>
              </a:xfrm>
              <a:prstGeom prst="rect">
                <a:avLst/>
              </a:prstGeom>
              <a:blipFill rotWithShape="0">
                <a:blip r:embed="rId19"/>
                <a:stretch>
                  <a:fillRect r="-213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11138412" y="3819092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8412" y="3819092"/>
                <a:ext cx="543560" cy="461665"/>
              </a:xfrm>
              <a:prstGeom prst="rect">
                <a:avLst/>
              </a:prstGeom>
              <a:blipFill rotWithShape="0">
                <a:blip r:embed="rId20"/>
                <a:stretch>
                  <a:fillRect r="-224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10025640" y="4315281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5640" y="4315281"/>
                <a:ext cx="1813560" cy="461665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8602476" y="4860065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=−1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 </m:t>
                    </m:r>
                  </m:oMath>
                </a14:m>
                <a:r>
                  <a:rPr lang="en-AU" sz="2400" dirty="0" smtClean="0"/>
                  <a:t>.</a:t>
                </a:r>
                <a:endParaRPr lang="en-AU" sz="2400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2476" y="4860065"/>
                <a:ext cx="2933700" cy="830997"/>
              </a:xfrm>
              <a:prstGeom prst="rect">
                <a:avLst/>
              </a:prstGeom>
              <a:blipFill rotWithShape="0">
                <a:blip r:embed="rId22"/>
                <a:stretch>
                  <a:fillRect l="-1663" t="-5839" r="-4158" b="-153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2035810" y="3029704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-2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382010" y="3029703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-2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1967230" y="338393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230" y="3383934"/>
                <a:ext cx="1813560" cy="461665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/>
          <p:cNvSpPr txBox="1"/>
          <p:nvPr/>
        </p:nvSpPr>
        <p:spPr>
          <a:xfrm>
            <a:off x="8011679" y="3109178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-1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357879" y="3109177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-1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7916686" y="3444836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686" y="3444836"/>
                <a:ext cx="1813560" cy="461665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06763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5" grpId="0"/>
      <p:bldP spid="36" grpId="0"/>
      <p:bldP spid="27" grpId="0"/>
      <p:bldP spid="28" grpId="0"/>
      <p:bldP spid="29" grpId="0"/>
      <p:bldP spid="38" grpId="0"/>
      <p:bldP spid="39" grpId="0"/>
      <p:bldP spid="40" grpId="0"/>
      <p:bldP spid="42" grpId="0"/>
      <p:bldP spid="43" grpId="0"/>
      <p:bldP spid="44" grpId="0"/>
      <p:bldP spid="45" grpId="0"/>
      <p:bldP spid="46" grpId="0"/>
      <p:bldP spid="47" grpId="0"/>
      <p:bldP spid="56" grpId="0"/>
      <p:bldP spid="57" grpId="0"/>
      <p:bldP spid="58" grpId="0"/>
      <p:bldP spid="59" grpId="0"/>
      <p:bldP spid="60" grpId="0"/>
      <p:bldP spid="61" grpId="0"/>
      <p:bldP spid="48" grpId="0"/>
      <p:bldP spid="49" grpId="0"/>
      <p:bldP spid="50" grpId="0"/>
      <p:bldP spid="55" grpId="0"/>
      <p:bldP spid="63" grpId="0"/>
      <p:bldP spid="6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52200" y="1748315"/>
                <a:ext cx="232153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321533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03442" y="2740424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1836282" y="2740424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703442" y="375991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1836282" y="375991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197" y="2988560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97" y="2988560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29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98137" y="215701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137" y="2157013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29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046702" y="2916463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702" y="2916463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944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179542" y="4003180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542" y="4003180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961377" y="291646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377" y="2916463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10937" y="4003180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937" y="4003180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248577" y="215701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577" y="2157013"/>
                <a:ext cx="22316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84817" y="4003180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17" y="4003180"/>
                <a:ext cx="22316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2702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259569" y="3866020"/>
                <a:ext cx="5891998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+15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569" y="3866020"/>
                <a:ext cx="5891998" cy="46166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896402" y="2394284"/>
            <a:ext cx="5796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>
                <a:solidFill>
                  <a:srgbClr val="0070C0"/>
                </a:solidFill>
              </a:rPr>
              <a:t>What do you multiply together to make 15?</a:t>
            </a:r>
            <a:endParaRPr lang="en-AU" sz="2400" dirty="0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96402" y="3148960"/>
            <a:ext cx="5936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>
                <a:solidFill>
                  <a:srgbClr val="FF0000"/>
                </a:solidFill>
              </a:rPr>
              <a:t>What do you also add together to make 8?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32684" y="3025849"/>
            <a:ext cx="2059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3 and 5</a:t>
            </a:r>
            <a:endParaRPr lang="en-AU" sz="4000" dirty="0"/>
          </a:p>
        </p:txBody>
      </p:sp>
      <p:sp>
        <p:nvSpPr>
          <p:cNvPr id="23" name="TextBox 22"/>
          <p:cNvSpPr txBox="1"/>
          <p:nvPr/>
        </p:nvSpPr>
        <p:spPr>
          <a:xfrm>
            <a:off x="9811882" y="2163153"/>
            <a:ext cx="1818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 dirty="0" smtClean="0"/>
              <a:t>1 and 15</a:t>
            </a:r>
          </a:p>
          <a:p>
            <a:pPr algn="ctr"/>
            <a:r>
              <a:rPr lang="en-AU" sz="3000" dirty="0" smtClean="0"/>
              <a:t>3 and 5</a:t>
            </a:r>
            <a:endParaRPr lang="en-AU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What do you multiply together to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2 </m:t>
                        </m:r>
                      </m:sup>
                    </m:sSup>
                  </m:oMath>
                </a14:m>
                <a:r>
                  <a:rPr lang="en-AU" sz="2400" dirty="0" smtClean="0"/>
                  <a:t>?</a:t>
                </a:r>
                <a:endParaRPr lang="en-AU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blipFill rotWithShape="0">
                <a:blip r:embed="rId12"/>
                <a:stretch>
                  <a:fillRect l="-1350" t="-10256" b="-256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800" dirty="0" smtClean="0"/>
                  <a:t> and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blipFill rotWithShape="0">
                <a:blip r:embed="rId1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We need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to find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(8) and multiply to make the constant (15).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14"/>
                          <a:stretch>
                            <a:fillRect l="-152" t="-44000" r="-760" b="-10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6520" y="736600"/>
                <a:ext cx="7975600" cy="83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Solve the quadratic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 smtClean="0"/>
                  <a:t>by using the null factor law.</a:t>
                </a:r>
                <a:endParaRPr lang="en-AU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0" y="736600"/>
                <a:ext cx="7975600" cy="839332"/>
              </a:xfrm>
              <a:prstGeom prst="rect">
                <a:avLst/>
              </a:prstGeom>
              <a:blipFill rotWithShape="0">
                <a:blip r:embed="rId15"/>
                <a:stretch>
                  <a:fillRect l="-1223" t="-4348" b="-152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557776" y="44144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+3=0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776" y="4414488"/>
                <a:ext cx="1813560" cy="461665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8234176" y="43953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8792976" y="44281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+5=0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976" y="4428115"/>
                <a:ext cx="1813560" cy="461665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8660896" y="4835127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7096" y="483512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592316" y="518935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2316" y="5189357"/>
                <a:ext cx="1813560" cy="461665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073396" y="5818723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=−3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=−5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396" y="5818723"/>
                <a:ext cx="2933700" cy="830997"/>
              </a:xfrm>
              <a:prstGeom prst="rect">
                <a:avLst/>
              </a:prstGeom>
              <a:blipFill rotWithShape="0">
                <a:blip r:embed="rId19"/>
                <a:stretch>
                  <a:fillRect l="-1660" t="-5882" r="-3942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628896" y="486252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896" y="4862525"/>
                <a:ext cx="543560" cy="461665"/>
              </a:xfrm>
              <a:prstGeom prst="rect">
                <a:avLst/>
              </a:prstGeom>
              <a:blipFill rotWithShape="0">
                <a:blip r:embed="rId20"/>
                <a:stretch>
                  <a:fillRect r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7776976" y="484120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6976" y="4841205"/>
                <a:ext cx="543560" cy="461665"/>
              </a:xfrm>
              <a:prstGeom prst="rect">
                <a:avLst/>
              </a:prstGeom>
              <a:blipFill rotWithShape="0">
                <a:blip r:embed="rId21"/>
                <a:stretch>
                  <a:fillRect r="-89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578096" y="523304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=−3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096" y="5233045"/>
                <a:ext cx="1813560" cy="461665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85202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" grpId="0"/>
      <p:bldP spid="24" grpId="0"/>
      <p:bldP spid="26" grpId="0"/>
      <p:bldP spid="27" grpId="0"/>
      <p:bldP spid="28" grpId="0"/>
      <p:bldP spid="29" grpId="0"/>
      <p:bldP spid="30" grpId="0"/>
      <p:bldP spid="31" grpId="0"/>
      <p:bldP spid="33" grpId="0"/>
      <p:bldP spid="34" grpId="0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52200" y="1748315"/>
                <a:ext cx="232153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321533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03442" y="2740424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1836282" y="2740424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703442" y="375991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1836282" y="375991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197" y="2988560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97" y="2988560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29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98137" y="215701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137" y="2157013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29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046702" y="2916463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702" y="2916463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944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179542" y="4003180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542" y="4003180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961377" y="291646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377" y="2916463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10937" y="4003180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937" y="4003180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248577" y="215701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577" y="2157013"/>
                <a:ext cx="22316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1444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84817" y="4003180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17" y="4003180"/>
                <a:ext cx="22316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1432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259569" y="3866020"/>
                <a:ext cx="5891998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−8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+15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569" y="3866020"/>
                <a:ext cx="5891998" cy="46166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896402" y="2394284"/>
            <a:ext cx="5796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>
                <a:solidFill>
                  <a:srgbClr val="0070C0"/>
                </a:solidFill>
              </a:rPr>
              <a:t>What do you multiply together to make 15?</a:t>
            </a:r>
            <a:endParaRPr lang="en-AU" sz="2400" dirty="0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96402" y="3148960"/>
            <a:ext cx="5936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>
                <a:solidFill>
                  <a:srgbClr val="FF0000"/>
                </a:solidFill>
              </a:rPr>
              <a:t>What do you also add together to make -8?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32684" y="3025849"/>
            <a:ext cx="2059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-3 and -5</a:t>
            </a:r>
            <a:endParaRPr lang="en-AU" sz="4000" dirty="0"/>
          </a:p>
        </p:txBody>
      </p:sp>
      <p:sp>
        <p:nvSpPr>
          <p:cNvPr id="23" name="TextBox 22"/>
          <p:cNvSpPr txBox="1"/>
          <p:nvPr/>
        </p:nvSpPr>
        <p:spPr>
          <a:xfrm>
            <a:off x="9811882" y="2163153"/>
            <a:ext cx="1818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 dirty="0" smtClean="0"/>
              <a:t>1 and 15</a:t>
            </a:r>
          </a:p>
          <a:p>
            <a:pPr algn="ctr"/>
            <a:r>
              <a:rPr lang="en-AU" sz="3000" dirty="0" smtClean="0"/>
              <a:t>3 and 5</a:t>
            </a:r>
            <a:endParaRPr lang="en-AU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What do you multiply together to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2 </m:t>
                        </m:r>
                      </m:sup>
                    </m:sSup>
                  </m:oMath>
                </a14:m>
                <a:r>
                  <a:rPr lang="en-AU" sz="2400" dirty="0" smtClean="0"/>
                  <a:t>?</a:t>
                </a:r>
                <a:endParaRPr lang="en-AU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blipFill rotWithShape="0">
                <a:blip r:embed="rId12"/>
                <a:stretch>
                  <a:fillRect l="-1350" t="-10256" b="-256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800" dirty="0" smtClean="0"/>
                  <a:t> and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blipFill rotWithShape="0">
                <a:blip r:embed="rId1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9988552"/>
                  </p:ext>
                </p:extLst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We need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to find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(8) and multiply to make the constant (15).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9988552"/>
                  </p:ext>
                </p:extLst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14"/>
                          <a:stretch>
                            <a:fillRect l="-152" t="-44000" r="-760" b="-10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6520" y="736600"/>
                <a:ext cx="7975600" cy="83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Solve the quadratic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 smtClean="0"/>
                  <a:t>by using the null factor law.</a:t>
                </a:r>
                <a:endParaRPr lang="en-AU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0" y="736600"/>
                <a:ext cx="7975600" cy="839332"/>
              </a:xfrm>
              <a:prstGeom prst="rect">
                <a:avLst/>
              </a:prstGeom>
              <a:blipFill rotWithShape="0">
                <a:blip r:embed="rId15"/>
                <a:stretch>
                  <a:fillRect l="-1223" t="-4348" b="-152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557776" y="44144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−3=0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776" y="4414488"/>
                <a:ext cx="1813560" cy="461665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8234176" y="43953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8792976" y="44281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−5=0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976" y="4428115"/>
                <a:ext cx="1813560" cy="461665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8660896" y="4835127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>
                <a:solidFill>
                  <a:srgbClr val="7030A0"/>
                </a:solidFill>
              </a:rPr>
              <a:t>+</a:t>
            </a:r>
            <a:r>
              <a:rPr lang="en-AU" sz="2400" i="1" dirty="0" smtClean="0">
                <a:solidFill>
                  <a:srgbClr val="7030A0"/>
                </a:solidFill>
              </a:rPr>
              <a:t>5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07096" y="483512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>
                <a:solidFill>
                  <a:srgbClr val="7030A0"/>
                </a:solidFill>
              </a:rPr>
              <a:t>+</a:t>
            </a:r>
            <a:r>
              <a:rPr lang="en-AU" sz="2400" i="1" dirty="0" smtClean="0">
                <a:solidFill>
                  <a:srgbClr val="7030A0"/>
                </a:solidFill>
              </a:rPr>
              <a:t>5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592316" y="518935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2316" y="5189357"/>
                <a:ext cx="1813560" cy="461665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073396" y="5818723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=3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396" y="5818723"/>
                <a:ext cx="2933700" cy="830997"/>
              </a:xfrm>
              <a:prstGeom prst="rect">
                <a:avLst/>
              </a:prstGeom>
              <a:blipFill rotWithShape="0">
                <a:blip r:embed="rId19"/>
                <a:stretch>
                  <a:fillRect l="-1660" t="-5882" r="-3942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628896" y="486252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896" y="4862525"/>
                <a:ext cx="543560" cy="461665"/>
              </a:xfrm>
              <a:prstGeom prst="rect">
                <a:avLst/>
              </a:prstGeom>
              <a:blipFill rotWithShape="0">
                <a:blip r:embed="rId20"/>
                <a:stretch>
                  <a:fillRect l="-1111" r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7776976" y="484120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6976" y="4841205"/>
                <a:ext cx="543560" cy="461665"/>
              </a:xfrm>
              <a:prstGeom prst="rect">
                <a:avLst/>
              </a:prstGeom>
              <a:blipFill rotWithShape="0">
                <a:blip r:embed="rId21"/>
                <a:stretch>
                  <a:fillRect l="-1124" r="-89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578096" y="523304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096" y="5233045"/>
                <a:ext cx="1813560" cy="461665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543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" grpId="0"/>
      <p:bldP spid="24" grpId="0"/>
      <p:bldP spid="26" grpId="0"/>
      <p:bldP spid="27" grpId="0"/>
      <p:bldP spid="28" grpId="0"/>
      <p:bldP spid="29" grpId="0"/>
      <p:bldP spid="30" grpId="0"/>
      <p:bldP spid="31" grpId="0"/>
      <p:bldP spid="33" grpId="0"/>
      <p:bldP spid="34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52200" y="1748315"/>
                <a:ext cx="232153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321533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03442" y="2740424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1836282" y="2740424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703442" y="375991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1836282" y="375991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197" y="2988560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97" y="2988560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29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98137" y="215701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137" y="2157013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29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046702" y="2916463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702" y="2916463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944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179542" y="4003180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542" y="4003180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961377" y="291646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377" y="2916463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10937" y="4003180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937" y="4003180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248577" y="215701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577" y="2157013"/>
                <a:ext cx="22316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1444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84817" y="4003180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17" y="4003180"/>
                <a:ext cx="22316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1432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259569" y="3866020"/>
                <a:ext cx="5891998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−8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+15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569" y="3866020"/>
                <a:ext cx="5891998" cy="46166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896402" y="2394284"/>
            <a:ext cx="5796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>
                <a:solidFill>
                  <a:srgbClr val="0070C0"/>
                </a:solidFill>
              </a:rPr>
              <a:t>What do you multiply together to make 15?</a:t>
            </a:r>
            <a:endParaRPr lang="en-AU" sz="2400" dirty="0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96402" y="3148960"/>
            <a:ext cx="5936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>
                <a:solidFill>
                  <a:srgbClr val="FF0000"/>
                </a:solidFill>
              </a:rPr>
              <a:t>What do you also add together to make -8?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32684" y="3025849"/>
            <a:ext cx="2059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-3 and -5</a:t>
            </a:r>
            <a:endParaRPr lang="en-AU" sz="4000" dirty="0"/>
          </a:p>
        </p:txBody>
      </p:sp>
      <p:sp>
        <p:nvSpPr>
          <p:cNvPr id="23" name="TextBox 22"/>
          <p:cNvSpPr txBox="1"/>
          <p:nvPr/>
        </p:nvSpPr>
        <p:spPr>
          <a:xfrm>
            <a:off x="9811882" y="2163153"/>
            <a:ext cx="1818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 dirty="0" smtClean="0"/>
              <a:t>1 and 15</a:t>
            </a:r>
          </a:p>
          <a:p>
            <a:pPr algn="ctr"/>
            <a:r>
              <a:rPr lang="en-AU" sz="3000" dirty="0" smtClean="0"/>
              <a:t>3 and 5</a:t>
            </a:r>
            <a:endParaRPr lang="en-AU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What do you multiply together to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2 </m:t>
                        </m:r>
                      </m:sup>
                    </m:sSup>
                  </m:oMath>
                </a14:m>
                <a:r>
                  <a:rPr lang="en-AU" sz="2400" dirty="0" smtClean="0"/>
                  <a:t>?</a:t>
                </a:r>
                <a:endParaRPr lang="en-AU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blipFill rotWithShape="0">
                <a:blip r:embed="rId12"/>
                <a:stretch>
                  <a:fillRect l="-1350" t="-10256" b="-256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800" dirty="0" smtClean="0"/>
                  <a:t> and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blipFill rotWithShape="0">
                <a:blip r:embed="rId1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9988552"/>
                  </p:ext>
                </p:extLst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We need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to find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(8) and multiply to make the constant (15).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9988552"/>
                  </p:ext>
                </p:extLst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14"/>
                          <a:stretch>
                            <a:fillRect l="-152" t="-44000" r="-760" b="-10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6520" y="736600"/>
                <a:ext cx="7975600" cy="83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Solve the quadratic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 smtClean="0"/>
                  <a:t>by using the null factor law.</a:t>
                </a:r>
                <a:endParaRPr lang="en-AU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0" y="736600"/>
                <a:ext cx="7975600" cy="839332"/>
              </a:xfrm>
              <a:prstGeom prst="rect">
                <a:avLst/>
              </a:prstGeom>
              <a:blipFill rotWithShape="0">
                <a:blip r:embed="rId15"/>
                <a:stretch>
                  <a:fillRect l="-1223" t="-4348" b="-152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557776" y="44144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−3=0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776" y="4414488"/>
                <a:ext cx="1813560" cy="461665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8234176" y="43953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8792976" y="44281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−5=0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976" y="4428115"/>
                <a:ext cx="1813560" cy="461665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8660896" y="4835127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>
                <a:solidFill>
                  <a:srgbClr val="7030A0"/>
                </a:solidFill>
              </a:rPr>
              <a:t>+</a:t>
            </a:r>
            <a:r>
              <a:rPr lang="en-AU" sz="2400" i="1" dirty="0" smtClean="0">
                <a:solidFill>
                  <a:srgbClr val="7030A0"/>
                </a:solidFill>
              </a:rPr>
              <a:t>5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07096" y="483512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>
                <a:solidFill>
                  <a:srgbClr val="7030A0"/>
                </a:solidFill>
              </a:rPr>
              <a:t>+</a:t>
            </a:r>
            <a:r>
              <a:rPr lang="en-AU" sz="2400" i="1" dirty="0" smtClean="0">
                <a:solidFill>
                  <a:srgbClr val="7030A0"/>
                </a:solidFill>
              </a:rPr>
              <a:t>5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592316" y="518935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2316" y="5189357"/>
                <a:ext cx="1813560" cy="461665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073396" y="5818723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=3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396" y="5818723"/>
                <a:ext cx="2933700" cy="830997"/>
              </a:xfrm>
              <a:prstGeom prst="rect">
                <a:avLst/>
              </a:prstGeom>
              <a:blipFill rotWithShape="0">
                <a:blip r:embed="rId19"/>
                <a:stretch>
                  <a:fillRect l="-1660" t="-5882" r="-3942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628896" y="486252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896" y="4862525"/>
                <a:ext cx="543560" cy="461665"/>
              </a:xfrm>
              <a:prstGeom prst="rect">
                <a:avLst/>
              </a:prstGeom>
              <a:blipFill rotWithShape="0">
                <a:blip r:embed="rId20"/>
                <a:stretch>
                  <a:fillRect l="-1111" r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7776976" y="484120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6976" y="4841205"/>
                <a:ext cx="543560" cy="461665"/>
              </a:xfrm>
              <a:prstGeom prst="rect">
                <a:avLst/>
              </a:prstGeom>
              <a:blipFill rotWithShape="0">
                <a:blip r:embed="rId21"/>
                <a:stretch>
                  <a:fillRect l="-1124" r="-89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578096" y="523304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096" y="5233045"/>
                <a:ext cx="1813560" cy="461665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076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" grpId="0"/>
      <p:bldP spid="24" grpId="0"/>
      <p:bldP spid="26" grpId="0"/>
      <p:bldP spid="27" grpId="0"/>
      <p:bldP spid="28" grpId="0"/>
      <p:bldP spid="29" grpId="0"/>
      <p:bldP spid="30" grpId="0"/>
      <p:bldP spid="31" grpId="0"/>
      <p:bldP spid="33" grpId="0"/>
      <p:bldP spid="34" grpId="0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/>
              <p:cNvSpPr txBox="1">
                <a:spLocks/>
              </p:cNvSpPr>
              <p:nvPr/>
            </p:nvSpPr>
            <p:spPr>
              <a:xfrm>
                <a:off x="188399" y="803564"/>
                <a:ext cx="10213594" cy="55056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b="1" dirty="0" smtClean="0"/>
                  <a:t>Sketch the graph of the following equation </a:t>
                </a:r>
                <a14:m>
                  <m:oMath xmlns:m="http://schemas.openxmlformats.org/officeDocument/2006/math"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baseline="30000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AU" b="1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i="1" dirty="0" smtClean="0"/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We want to graph the equation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baseline="3000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b="1" i="1" dirty="0" smtClean="0">
                    <a:solidFill>
                      <a:srgbClr val="7030A0"/>
                    </a:solidFill>
                  </a:rPr>
                  <a:t>using integer </a:t>
                </a:r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values of x from -3 to 2.  Substitute each number into the equation to find the </a:t>
                </a:r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points we need. (Use a scientific calculator and brackets to help you do this.)</a:t>
                </a: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99" y="803564"/>
                <a:ext cx="10213594" cy="5505613"/>
              </a:xfrm>
              <a:prstGeom prst="rect">
                <a:avLst/>
              </a:prstGeom>
              <a:blipFill rotWithShape="0">
                <a:blip r:embed="rId2"/>
                <a:stretch>
                  <a:fillRect l="-1254" t="-18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718276" y="3295699"/>
                <a:ext cx="5703363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/>
                  <a:t>  </a:t>
                </a:r>
                <a:r>
                  <a:rPr lang="en-AU" sz="2400" b="1" dirty="0" smtClean="0"/>
                  <a:t>                    </a:t>
                </a:r>
                <a:r>
                  <a:rPr lang="en-AU" sz="24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d>
                      <m:dPr>
                        <m:ctrlP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276" y="3295699"/>
                <a:ext cx="5703363" cy="267765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284738" y="5489915"/>
          <a:ext cx="8352925" cy="10801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19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chemeClr val="bg1"/>
                          </a:solidFill>
                        </a:rPr>
                        <a:t>y</a:t>
                      </a:r>
                      <a:endParaRPr lang="en-AU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49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24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9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4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9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24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751561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/>
          <p:cNvSpPr/>
          <p:nvPr/>
        </p:nvSpPr>
        <p:spPr>
          <a:xfrm>
            <a:off x="2877023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/>
          <p:cNvSpPr/>
          <p:nvPr/>
        </p:nvSpPr>
        <p:spPr>
          <a:xfrm>
            <a:off x="4101159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5269208" y="6093153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/>
          <p:cNvSpPr/>
          <p:nvPr/>
        </p:nvSpPr>
        <p:spPr>
          <a:xfrm>
            <a:off x="6437257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/>
          <p:cNvSpPr/>
          <p:nvPr/>
        </p:nvSpPr>
        <p:spPr>
          <a:xfrm>
            <a:off x="7661393" y="6084342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-1110829" y="3354202"/>
                <a:ext cx="578262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	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d>
                      <m:dPr>
                        <m:ctrlP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e>
                    </m:d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𝟒𝟗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10829" y="3354202"/>
                <a:ext cx="5782626" cy="267765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739431" y="3278638"/>
                <a:ext cx="5824735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	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𝟐𝟒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431" y="3278638"/>
                <a:ext cx="5824735" cy="267765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881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0" grpId="1"/>
      <p:bldP spid="21" grpId="0"/>
      <p:bldP spid="2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3433207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Learning Objective</a:t>
            </a:r>
            <a:endParaRPr lang="en-A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2548141"/>
            <a:ext cx="295637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Success Criteria</a:t>
            </a:r>
            <a:endParaRPr lang="en-AU" sz="3200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/>
          </p:nvPr>
        </p:nvGraphicFramePr>
        <p:xfrm>
          <a:off x="9505808" y="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9505808" y="99568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/>
          </p:nvPr>
        </p:nvGraphicFramePr>
        <p:xfrm>
          <a:off x="9505808" y="196088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will</a:t>
                      </a:r>
                      <a:r>
                        <a:rPr lang="en-AU" baseline="0" dirty="0" smtClean="0"/>
                        <a:t> we know if we’ve been successful?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/>
          </p:nvPr>
        </p:nvGraphicFramePr>
        <p:xfrm>
          <a:off x="9505808" y="317500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4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will we know if we’ve been successful?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Content Placeholder 1"/>
          <p:cNvSpPr>
            <a:spLocks noGrp="1"/>
          </p:cNvSpPr>
          <p:nvPr>
            <p:ph sz="half" idx="1"/>
          </p:nvPr>
        </p:nvSpPr>
        <p:spPr>
          <a:xfrm>
            <a:off x="203200" y="795929"/>
            <a:ext cx="8873482" cy="2285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I will solve quadratic equations using </a:t>
            </a:r>
            <a:r>
              <a:rPr lang="en-AU" b="1" dirty="0" smtClean="0"/>
              <a:t>graphing.</a:t>
            </a:r>
            <a:endParaRPr lang="en-AU" dirty="0" smtClean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49168" y="3635312"/>
            <a:ext cx="8771965" cy="24996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I will be able to: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Factorise </a:t>
            </a:r>
            <a:r>
              <a:rPr lang="en-AU" b="1" dirty="0" err="1" smtClean="0"/>
              <a:t>monic</a:t>
            </a:r>
            <a:r>
              <a:rPr lang="en-AU" b="1" dirty="0" smtClean="0"/>
              <a:t> quadratic expressions with negatives.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Solve quadratic equations using the null factor law.</a:t>
            </a:r>
          </a:p>
        </p:txBody>
      </p:sp>
    </p:spTree>
    <p:extLst>
      <p:ext uri="{BB962C8B-B14F-4D97-AF65-F5344CB8AC3E}">
        <p14:creationId xmlns:p14="http://schemas.microsoft.com/office/powerpoint/2010/main" val="306677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131" y="2006945"/>
            <a:ext cx="4024393" cy="45274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64160" y="878555"/>
                <a:ext cx="4139531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3000" dirty="0" smtClean="0">
                    <a:solidFill>
                      <a:schemeClr val="tx1"/>
                    </a:solidFill>
                  </a:rPr>
                  <a:t>Solve</a:t>
                </a:r>
                <a:r>
                  <a:rPr lang="en-AU" sz="30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sz="3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" y="878555"/>
                <a:ext cx="4139531" cy="472117"/>
              </a:xfrm>
              <a:prstGeom prst="rect">
                <a:avLst/>
              </a:prstGeom>
              <a:blipFill rotWithShape="0">
                <a:blip r:embed="rId3"/>
                <a:stretch>
                  <a:fillRect l="-5596" t="-21795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1: Factorise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the quadratic equation by finding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(10) and multiply to make the constant (16).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 smtClean="0">
                              <a:latin typeface="+mn-lt"/>
                            </a:rPr>
                            <a:t>Step 2: Set the factorise</a:t>
                          </a:r>
                          <a:r>
                            <a:rPr lang="en-AU" baseline="0" dirty="0" smtClean="0">
                              <a:latin typeface="+mn-lt"/>
                            </a:rPr>
                            <a:t>d equation equal to zero and solve using the null factor law.</a:t>
                          </a:r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10" t="-27500" r="-548" b="-6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264160" y="2067560"/>
            <a:ext cx="66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1: Adds to make 10 and multiplies to make 16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</a:t>
            </a:r>
            <a:r>
              <a:rPr lang="en-AU" sz="2400" b="1" dirty="0" smtClean="0"/>
              <a:t>8 and 2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257289" y="3101836"/>
                <a:ext cx="5391284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+8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289" y="3101836"/>
                <a:ext cx="5391284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64160" y="4055881"/>
            <a:ext cx="668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</a:t>
            </a:r>
            <a:r>
              <a:rPr lang="en-AU" sz="2400" dirty="0"/>
              <a:t>2</a:t>
            </a:r>
            <a:r>
              <a:rPr lang="en-AU" sz="2400" dirty="0" smtClean="0"/>
              <a:t>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+8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+8=0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402336" y="45014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+2=0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2829056" y="4941227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75256" y="494122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=−8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blipFill rotWithShape="0">
                <a:blip r:embed="rId10"/>
                <a:stretch>
                  <a:fillRect l="-1871" t="-5882" r="-3950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blipFill rotWithShape="0">
                <a:blip r:embed="rId11"/>
                <a:stretch>
                  <a:fillRect r="-89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blipFill rotWithShape="0">
                <a:blip r:embed="rId12"/>
                <a:stretch>
                  <a:fillRect r="-101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=−8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0" y="-20052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sp>
        <p:nvSpPr>
          <p:cNvPr id="2" name="Oval 1"/>
          <p:cNvSpPr/>
          <p:nvPr/>
        </p:nvSpPr>
        <p:spPr>
          <a:xfrm>
            <a:off x="8183496" y="3569528"/>
            <a:ext cx="499462" cy="484094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Oval 21"/>
          <p:cNvSpPr/>
          <p:nvPr/>
        </p:nvSpPr>
        <p:spPr>
          <a:xfrm>
            <a:off x="10571949" y="3580290"/>
            <a:ext cx="499462" cy="484094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440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/>
      <p:bldP spid="38" grpId="0"/>
      <p:bldP spid="2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64160" y="878555"/>
                <a:ext cx="365042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3000" dirty="0" smtClean="0">
                    <a:solidFill>
                      <a:schemeClr val="tx1"/>
                    </a:solidFill>
                  </a:rPr>
                  <a:t>Solve</a:t>
                </a:r>
                <a:r>
                  <a:rPr lang="en-AU" sz="30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" y="878555"/>
                <a:ext cx="3650423" cy="472117"/>
              </a:xfrm>
              <a:prstGeom prst="rect">
                <a:avLst/>
              </a:prstGeom>
              <a:blipFill rotWithShape="0">
                <a:blip r:embed="rId2"/>
                <a:stretch>
                  <a:fillRect l="-6344" t="-21795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1: Factorise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the quadratic equation by finding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(3) and multiply to make the constant (2).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 smtClean="0">
                              <a:latin typeface="+mn-lt"/>
                            </a:rPr>
                            <a:t>Step 2: Set the factorise</a:t>
                          </a:r>
                          <a:r>
                            <a:rPr lang="en-AU" baseline="0" dirty="0" smtClean="0">
                              <a:latin typeface="+mn-lt"/>
                            </a:rPr>
                            <a:t>d equation equal to zero and solve using the null factor law.</a:t>
                          </a:r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10" t="-27500" r="-548" b="-6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264160" y="2067560"/>
            <a:ext cx="66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1: Adds to make 3 and multiplies to make 2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</a:t>
            </a:r>
            <a:r>
              <a:rPr lang="en-AU" sz="2400" b="1" dirty="0"/>
              <a:t>1</a:t>
            </a:r>
            <a:r>
              <a:rPr lang="en-AU" sz="2400" b="1" dirty="0" smtClean="0"/>
              <a:t> and 2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257289" y="3101836"/>
                <a:ext cx="496488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289" y="3101836"/>
                <a:ext cx="4964885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64160" y="4055881"/>
            <a:ext cx="668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</a:t>
            </a:r>
            <a:r>
              <a:rPr lang="en-AU" sz="2400" dirty="0"/>
              <a:t>2</a:t>
            </a:r>
            <a:r>
              <a:rPr lang="en-AU" sz="2400" dirty="0" smtClean="0"/>
              <a:t>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+1=0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402336" y="45014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+2=0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2829056" y="4941227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75256" y="494122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=−1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blipFill rotWithShape="0">
                <a:blip r:embed="rId9"/>
                <a:stretch>
                  <a:fillRect l="-1871" t="-5882" r="-3950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blipFill rotWithShape="0">
                <a:blip r:embed="rId10"/>
                <a:stretch>
                  <a:fillRect r="-89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blipFill rotWithShape="0">
                <a:blip r:embed="rId11"/>
                <a:stretch>
                  <a:fillRect r="-101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=−−1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28498" y="2215554"/>
            <a:ext cx="4074321" cy="391043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sp>
        <p:nvSpPr>
          <p:cNvPr id="22" name="Oval 21"/>
          <p:cNvSpPr/>
          <p:nvPr/>
        </p:nvSpPr>
        <p:spPr>
          <a:xfrm>
            <a:off x="8105609" y="4553998"/>
            <a:ext cx="499462" cy="484094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9019774" y="4534215"/>
            <a:ext cx="499462" cy="484094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187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/>
      <p:bldP spid="38" grpId="0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64160" y="878555"/>
                <a:ext cx="3881255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3000" dirty="0" smtClean="0">
                    <a:solidFill>
                      <a:schemeClr val="tx1"/>
                    </a:solidFill>
                  </a:rPr>
                  <a:t>Solve</a:t>
                </a:r>
                <a:r>
                  <a:rPr lang="en-AU" sz="30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sz="3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" y="878555"/>
                <a:ext cx="3881255" cy="472117"/>
              </a:xfrm>
              <a:prstGeom prst="rect">
                <a:avLst/>
              </a:prstGeom>
              <a:blipFill rotWithShape="0">
                <a:blip r:embed="rId2"/>
                <a:stretch>
                  <a:fillRect l="-5965" t="-21795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4600966"/>
                  </p:ext>
                </p:extLst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1: Factorise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the quadratic equation by finding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(-6) and multiply to make the constant (-16).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 smtClean="0">
                              <a:latin typeface="+mn-lt"/>
                            </a:rPr>
                            <a:t>Step 2: Set the factorise</a:t>
                          </a:r>
                          <a:r>
                            <a:rPr lang="en-AU" baseline="0" dirty="0" smtClean="0">
                              <a:latin typeface="+mn-lt"/>
                            </a:rPr>
                            <a:t>d equation equal to zero and solve using the null factor law.</a:t>
                          </a:r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4600966"/>
                  </p:ext>
                </p:extLst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10" t="-27500" r="-548" b="-6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264160" y="2067560"/>
            <a:ext cx="66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1: Adds to make -6 and multiplies to make -16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-</a:t>
            </a:r>
            <a:r>
              <a:rPr lang="en-AU" sz="2400" b="1" dirty="0" smtClean="0"/>
              <a:t>8 and 2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257289" y="3101836"/>
                <a:ext cx="5178084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289" y="3101836"/>
                <a:ext cx="5178084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64160" y="4055881"/>
            <a:ext cx="668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</a:t>
            </a:r>
            <a:r>
              <a:rPr lang="en-AU" sz="2400" dirty="0"/>
              <a:t>2</a:t>
            </a:r>
            <a:r>
              <a:rPr lang="en-AU" sz="2400" dirty="0" smtClean="0"/>
              <a:t>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−8=0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402336" y="45014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+2=0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2829056" y="4941227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75256" y="494122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=8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blipFill rotWithShape="0">
                <a:blip r:embed="rId9"/>
                <a:stretch>
                  <a:fillRect l="-1871" t="-5882" r="-3950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1124" r="-89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1124" r="-101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16520" y="2606838"/>
            <a:ext cx="3921893" cy="3733483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8183496" y="3569528"/>
            <a:ext cx="499462" cy="484094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Oval 21"/>
          <p:cNvSpPr/>
          <p:nvPr/>
        </p:nvSpPr>
        <p:spPr>
          <a:xfrm>
            <a:off x="10571949" y="3580290"/>
            <a:ext cx="499462" cy="484094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262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/>
      <p:bldP spid="38" grpId="0"/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64160" y="878555"/>
                <a:ext cx="365042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3000" dirty="0" smtClean="0">
                    <a:solidFill>
                      <a:schemeClr val="tx1"/>
                    </a:solidFill>
                  </a:rPr>
                  <a:t>Solve</a:t>
                </a:r>
                <a:r>
                  <a:rPr lang="en-AU" sz="30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" y="878555"/>
                <a:ext cx="3650423" cy="472117"/>
              </a:xfrm>
              <a:prstGeom prst="rect">
                <a:avLst/>
              </a:prstGeom>
              <a:blipFill rotWithShape="0">
                <a:blip r:embed="rId2"/>
                <a:stretch>
                  <a:fillRect l="-6344" t="-21795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332522"/>
                  </p:ext>
                </p:extLst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1: Factorise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the quadratic equation by finding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(-3) and multiply to make the constant (2).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 smtClean="0">
                              <a:latin typeface="+mn-lt"/>
                            </a:rPr>
                            <a:t>Step 2: Set the factorise</a:t>
                          </a:r>
                          <a:r>
                            <a:rPr lang="en-AU" baseline="0" dirty="0" smtClean="0">
                              <a:latin typeface="+mn-lt"/>
                            </a:rPr>
                            <a:t>d equation equal to zero and solve using the null factor law.</a:t>
                          </a:r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332522"/>
                  </p:ext>
                </p:extLst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10" t="-27500" r="-548" b="-6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264160" y="2067560"/>
            <a:ext cx="66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1: Adds to make -3 and multiplies to make 2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- </a:t>
            </a:r>
            <a:r>
              <a:rPr lang="en-AU" sz="2400" b="1" dirty="0"/>
              <a:t>1</a:t>
            </a:r>
            <a:r>
              <a:rPr lang="en-AU" sz="2400" b="1" dirty="0" smtClean="0"/>
              <a:t> and -2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257289" y="3101836"/>
                <a:ext cx="496488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289" y="3101836"/>
                <a:ext cx="4964885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64160" y="4055881"/>
            <a:ext cx="668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</a:t>
            </a:r>
            <a:r>
              <a:rPr lang="en-AU" sz="2400" dirty="0"/>
              <a:t>2</a:t>
            </a:r>
            <a:r>
              <a:rPr lang="en-AU" sz="2400" dirty="0" smtClean="0"/>
              <a:t>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402336" y="45014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−2=0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2829056" y="4941227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>
                <a:solidFill>
                  <a:srgbClr val="7030A0"/>
                </a:solidFill>
              </a:rPr>
              <a:t>+</a:t>
            </a:r>
            <a:r>
              <a:rPr lang="en-AU" sz="2400" i="1" dirty="0" smtClean="0">
                <a:solidFill>
                  <a:srgbClr val="7030A0"/>
                </a:solidFill>
              </a:rPr>
              <a:t>2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175256" y="494122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>
                <a:solidFill>
                  <a:srgbClr val="7030A0"/>
                </a:solidFill>
              </a:rPr>
              <a:t>+</a:t>
            </a:r>
            <a:r>
              <a:rPr lang="en-AU" sz="2400" i="1" dirty="0" smtClean="0">
                <a:solidFill>
                  <a:srgbClr val="7030A0"/>
                </a:solidFill>
              </a:rPr>
              <a:t>2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blipFill rotWithShape="0">
                <a:blip r:embed="rId9"/>
                <a:stretch>
                  <a:fillRect l="-1871" t="-5882" r="-3950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1124" r="-89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1124" r="-101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227" y="2249633"/>
            <a:ext cx="4386375" cy="4074160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8988720" y="4534215"/>
            <a:ext cx="499462" cy="484094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Oval 21"/>
          <p:cNvSpPr/>
          <p:nvPr/>
        </p:nvSpPr>
        <p:spPr>
          <a:xfrm>
            <a:off x="9844654" y="4534215"/>
            <a:ext cx="499462" cy="484094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668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/>
      <p:bldP spid="38" grpId="0"/>
      <p:bldP spid="21" grpId="0" animBg="1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64160" y="878555"/>
                <a:ext cx="3881255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3000" dirty="0" smtClean="0">
                    <a:solidFill>
                      <a:schemeClr val="tx1"/>
                    </a:solidFill>
                  </a:rPr>
                  <a:t>Solve</a:t>
                </a:r>
                <a:r>
                  <a:rPr lang="en-AU" sz="30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" y="878555"/>
                <a:ext cx="3881255" cy="472117"/>
              </a:xfrm>
              <a:prstGeom prst="rect">
                <a:avLst/>
              </a:prstGeom>
              <a:blipFill rotWithShape="0">
                <a:blip r:embed="rId2"/>
                <a:stretch>
                  <a:fillRect l="-5965" t="-21795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2151613"/>
                  </p:ext>
                </p:extLst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1: Factorise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the quadratic equation by finding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(2) and multiply to make the constant (-15).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 smtClean="0">
                              <a:latin typeface="+mn-lt"/>
                            </a:rPr>
                            <a:t>Step 2: Set the factorise</a:t>
                          </a:r>
                          <a:r>
                            <a:rPr lang="en-AU" baseline="0" dirty="0" smtClean="0">
                              <a:latin typeface="+mn-lt"/>
                            </a:rPr>
                            <a:t>d equation equal to zero and solve using the null factor law.</a:t>
                          </a:r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2151613"/>
                  </p:ext>
                </p:extLst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10" t="-27500" r="-548" b="-6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264160" y="2067560"/>
            <a:ext cx="66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1: Adds to make 2 and multiplies to make -15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</a:t>
            </a:r>
            <a:r>
              <a:rPr lang="en-AU" sz="2400" b="1" dirty="0"/>
              <a:t>5</a:t>
            </a:r>
            <a:r>
              <a:rPr lang="en-AU" sz="2400" b="1" dirty="0" smtClean="0"/>
              <a:t> and -3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257289" y="3101836"/>
                <a:ext cx="5178084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289" y="3101836"/>
                <a:ext cx="5178084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64160" y="4055881"/>
            <a:ext cx="668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</a:t>
            </a:r>
            <a:r>
              <a:rPr lang="en-AU" sz="2400" dirty="0"/>
              <a:t>2</a:t>
            </a:r>
            <a:r>
              <a:rPr lang="en-AU" sz="2400" dirty="0" smtClean="0"/>
              <a:t>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+5=0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402336" y="45014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−3=0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2829056" y="4941227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>
                <a:solidFill>
                  <a:srgbClr val="7030A0"/>
                </a:solidFill>
              </a:rPr>
              <a:t>+</a:t>
            </a:r>
            <a:r>
              <a:rPr lang="en-AU" sz="2400" i="1" dirty="0" smtClean="0">
                <a:solidFill>
                  <a:srgbClr val="7030A0"/>
                </a:solidFill>
              </a:rPr>
              <a:t>3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175256" y="494122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>
                <a:solidFill>
                  <a:srgbClr val="7030A0"/>
                </a:solidFill>
              </a:rPr>
              <a:t>+</a:t>
            </a:r>
            <a:r>
              <a:rPr lang="en-AU" sz="2400" i="1" dirty="0" smtClean="0">
                <a:solidFill>
                  <a:srgbClr val="7030A0"/>
                </a:solidFill>
              </a:rPr>
              <a:t>3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=−5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blipFill rotWithShape="0">
                <a:blip r:embed="rId9"/>
                <a:stretch>
                  <a:fillRect l="-1871" t="-5882" r="-3950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blipFill rotWithShape="0">
                <a:blip r:embed="rId10"/>
                <a:stretch>
                  <a:fillRect r="-101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blipFill rotWithShape="0">
                <a:blip r:embed="rId11"/>
                <a:stretch>
                  <a:fillRect r="-112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1986" y="2195091"/>
            <a:ext cx="4281989" cy="4145230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8115918" y="3730892"/>
            <a:ext cx="499462" cy="484094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Oval 21"/>
          <p:cNvSpPr/>
          <p:nvPr/>
        </p:nvSpPr>
        <p:spPr>
          <a:xfrm>
            <a:off x="10810154" y="3730892"/>
            <a:ext cx="499462" cy="484094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000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/>
      <p:bldP spid="38" grpId="0"/>
      <p:bldP spid="21" grpId="0" animBg="1"/>
      <p:bldP spid="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64160" y="878555"/>
                <a:ext cx="3881255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3000" dirty="0" smtClean="0">
                    <a:solidFill>
                      <a:schemeClr val="tx1"/>
                    </a:solidFill>
                  </a:rPr>
                  <a:t>Solve</a:t>
                </a:r>
                <a:r>
                  <a:rPr lang="en-AU" sz="30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" y="878555"/>
                <a:ext cx="3881255" cy="472117"/>
              </a:xfrm>
              <a:prstGeom prst="rect">
                <a:avLst/>
              </a:prstGeom>
              <a:blipFill rotWithShape="0">
                <a:blip r:embed="rId2"/>
                <a:stretch>
                  <a:fillRect l="-5965" t="-21795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8281062"/>
                  </p:ext>
                </p:extLst>
              </p:nvPr>
            </p:nvGraphicFramePr>
            <p:xfrm>
              <a:off x="6629400" y="30401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1: Factorise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the quadratic equation by finding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(2) and multiply to make the constant (-15).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 smtClean="0">
                              <a:latin typeface="+mn-lt"/>
                            </a:rPr>
                            <a:t>Step 2: Set the factorise</a:t>
                          </a:r>
                          <a:r>
                            <a:rPr lang="en-AU" baseline="0" dirty="0" smtClean="0">
                              <a:latin typeface="+mn-lt"/>
                            </a:rPr>
                            <a:t>d equation equal to zero and solve using the null factor law.</a:t>
                          </a:r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8281062"/>
                  </p:ext>
                </p:extLst>
              </p:nvPr>
            </p:nvGraphicFramePr>
            <p:xfrm>
              <a:off x="6629400" y="30401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0" t="-27386" r="-548" b="-6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264160" y="2067560"/>
            <a:ext cx="66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1: Adds to make 2 and multiplies to make -15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</a:t>
            </a:r>
            <a:r>
              <a:rPr lang="en-AU" sz="2400" b="1" dirty="0"/>
              <a:t>5</a:t>
            </a:r>
            <a:r>
              <a:rPr lang="en-AU" sz="2400" b="1" dirty="0" smtClean="0"/>
              <a:t> and -3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257289" y="3101836"/>
                <a:ext cx="5178084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289" y="3101836"/>
                <a:ext cx="5178084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64160" y="4055881"/>
            <a:ext cx="668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</a:t>
            </a:r>
            <a:r>
              <a:rPr lang="en-AU" sz="2400" dirty="0"/>
              <a:t>2</a:t>
            </a:r>
            <a:r>
              <a:rPr lang="en-AU" sz="2400" dirty="0" smtClean="0"/>
              <a:t>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+5=0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402336" y="45014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−3=0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2829056" y="4941227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>
                <a:solidFill>
                  <a:srgbClr val="7030A0"/>
                </a:solidFill>
              </a:rPr>
              <a:t>+</a:t>
            </a:r>
            <a:r>
              <a:rPr lang="en-AU" sz="2400" i="1" dirty="0" smtClean="0">
                <a:solidFill>
                  <a:srgbClr val="7030A0"/>
                </a:solidFill>
              </a:rPr>
              <a:t>3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175256" y="494122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>
                <a:solidFill>
                  <a:srgbClr val="7030A0"/>
                </a:solidFill>
              </a:rPr>
              <a:t>+</a:t>
            </a:r>
            <a:r>
              <a:rPr lang="en-AU" sz="2400" i="1" dirty="0" smtClean="0">
                <a:solidFill>
                  <a:srgbClr val="7030A0"/>
                </a:solidFill>
              </a:rPr>
              <a:t>3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=−5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blipFill rotWithShape="0">
                <a:blip r:embed="rId9"/>
                <a:stretch>
                  <a:fillRect l="-1871" t="-5882" r="-3950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blipFill rotWithShape="0">
                <a:blip r:embed="rId10"/>
                <a:stretch>
                  <a:fillRect r="-101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blipFill rotWithShape="0">
                <a:blip r:embed="rId11"/>
                <a:stretch>
                  <a:fillRect r="-112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10054" y="2067952"/>
            <a:ext cx="4159751" cy="4026896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8183496" y="3569528"/>
            <a:ext cx="499462" cy="484094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10689811" y="3569528"/>
            <a:ext cx="499462" cy="484094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691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2651</TotalTime>
  <Words>2186</Words>
  <Application>Microsoft Office PowerPoint</Application>
  <PresentationFormat>Widescreen</PresentationFormat>
  <Paragraphs>354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Science</dc:title>
  <dc:creator>Microsoft account</dc:creator>
  <cp:lastModifiedBy>YOST Amie [Harrisdale Senior High School]</cp:lastModifiedBy>
  <cp:revision>140</cp:revision>
  <cp:lastPrinted>2017-04-18T22:41:05Z</cp:lastPrinted>
  <dcterms:created xsi:type="dcterms:W3CDTF">2017-01-28T08:32:28Z</dcterms:created>
  <dcterms:modified xsi:type="dcterms:W3CDTF">2021-09-20T01:27:38Z</dcterms:modified>
</cp:coreProperties>
</file>
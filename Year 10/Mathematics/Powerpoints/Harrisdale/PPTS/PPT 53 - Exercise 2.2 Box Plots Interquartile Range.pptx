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1"/>
  </p:notesMasterIdLst>
  <p:handoutMasterIdLst>
    <p:handoutMasterId r:id="rId22"/>
  </p:handoutMasterIdLst>
  <p:sldIdLst>
    <p:sldId id="294" r:id="rId2"/>
    <p:sldId id="300" r:id="rId3"/>
    <p:sldId id="302" r:id="rId4"/>
    <p:sldId id="301" r:id="rId5"/>
    <p:sldId id="293" r:id="rId6"/>
    <p:sldId id="310" r:id="rId7"/>
    <p:sldId id="311" r:id="rId8"/>
    <p:sldId id="312" r:id="rId9"/>
    <p:sldId id="313" r:id="rId10"/>
    <p:sldId id="314" r:id="rId11"/>
    <p:sldId id="315" r:id="rId12"/>
    <p:sldId id="316" r:id="rId13"/>
    <p:sldId id="284" r:id="rId14"/>
    <p:sldId id="305" r:id="rId15"/>
    <p:sldId id="267" r:id="rId16"/>
    <p:sldId id="306" r:id="rId17"/>
    <p:sldId id="308" r:id="rId18"/>
    <p:sldId id="309" r:id="rId19"/>
    <p:sldId id="307" r:id="rId20"/>
  </p:sldIdLst>
  <p:sldSz cx="12192000" cy="6858000"/>
  <p:notesSz cx="7099300" cy="102346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559" autoAdjust="0"/>
    <p:restoredTop sz="94660"/>
  </p:normalViewPr>
  <p:slideViewPr>
    <p:cSldViewPr snapToGrid="0">
      <p:cViewPr>
        <p:scale>
          <a:sx n="78" d="100"/>
          <a:sy n="78" d="100"/>
        </p:scale>
        <p:origin x="-99" y="282"/>
      </p:cViewPr>
      <p:guideLst/>
    </p:cSldViewPr>
  </p:slideViewPr>
  <p:notesTextViewPr>
    <p:cViewPr>
      <p:scale>
        <a:sx n="1" d="1"/>
        <a:sy n="1" d="1"/>
      </p:scale>
      <p:origin x="0" y="0"/>
    </p:cViewPr>
  </p:notesTextViewPr>
  <p:sorterViewPr>
    <p:cViewPr varScale="1">
      <p:scale>
        <a:sx n="1" d="1"/>
        <a:sy n="1" d="1"/>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sz="quarter" idx="1"/>
          </p:nvPr>
        </p:nvSpPr>
        <p:spPr>
          <a:xfrm>
            <a:off x="4021138" y="0"/>
            <a:ext cx="3076575" cy="512763"/>
          </a:xfrm>
          <a:prstGeom prst="rect">
            <a:avLst/>
          </a:prstGeom>
        </p:spPr>
        <p:txBody>
          <a:bodyPr vert="horz" lIns="91440" tIns="45720" rIns="91440" bIns="45720" rtlCol="0"/>
          <a:lstStyle>
            <a:lvl1pPr algn="r">
              <a:defRPr sz="1200"/>
            </a:lvl1pPr>
          </a:lstStyle>
          <a:p>
            <a:fld id="{5808CDC9-85D4-4503-A1C1-C4A7D08CE495}" type="datetimeFigureOut">
              <a:rPr lang="en-AU" smtClean="0"/>
              <a:t>27/08/2021</a:t>
            </a:fld>
            <a:endParaRPr lang="en-AU"/>
          </a:p>
        </p:txBody>
      </p:sp>
      <p:sp>
        <p:nvSpPr>
          <p:cNvPr id="4" name="Footer Placeholder 3"/>
          <p:cNvSpPr>
            <a:spLocks noGrp="1"/>
          </p:cNvSpPr>
          <p:nvPr>
            <p:ph type="ftr" sz="quarter" idx="2"/>
          </p:nvPr>
        </p:nvSpPr>
        <p:spPr>
          <a:xfrm>
            <a:off x="0" y="9721850"/>
            <a:ext cx="3076575" cy="512763"/>
          </a:xfrm>
          <a:prstGeom prst="rect">
            <a:avLst/>
          </a:prstGeom>
        </p:spPr>
        <p:txBody>
          <a:bodyPr vert="horz" lIns="91440" tIns="45720" rIns="91440" bIns="45720" rtlCol="0" anchor="b"/>
          <a:lstStyle>
            <a:lvl1pPr algn="l">
              <a:defRPr sz="1200"/>
            </a:lvl1pPr>
          </a:lstStyle>
          <a:p>
            <a:endParaRPr lang="en-AU"/>
          </a:p>
        </p:txBody>
      </p:sp>
      <p:sp>
        <p:nvSpPr>
          <p:cNvPr id="5" name="Slide Number Placeholder 4"/>
          <p:cNvSpPr>
            <a:spLocks noGrp="1"/>
          </p:cNvSpPr>
          <p:nvPr>
            <p:ph type="sldNum" sz="quarter" idx="3"/>
          </p:nvPr>
        </p:nvSpPr>
        <p:spPr>
          <a:xfrm>
            <a:off x="4021138" y="9721850"/>
            <a:ext cx="3076575" cy="512763"/>
          </a:xfrm>
          <a:prstGeom prst="rect">
            <a:avLst/>
          </a:prstGeom>
        </p:spPr>
        <p:txBody>
          <a:bodyPr vert="horz" lIns="91440" tIns="45720" rIns="91440" bIns="45720" rtlCol="0" anchor="b"/>
          <a:lstStyle>
            <a:lvl1pPr algn="r">
              <a:defRPr sz="1200"/>
            </a:lvl1pPr>
          </a:lstStyle>
          <a:p>
            <a:fld id="{275FFA11-8017-47B8-A9A2-068FE447A802}" type="slidenum">
              <a:rPr lang="en-AU" smtClean="0"/>
              <a:t>‹#›</a:t>
            </a:fld>
            <a:endParaRPr lang="en-AU"/>
          </a:p>
        </p:txBody>
      </p:sp>
    </p:spTree>
    <p:extLst>
      <p:ext uri="{BB962C8B-B14F-4D97-AF65-F5344CB8AC3E}">
        <p14:creationId xmlns:p14="http://schemas.microsoft.com/office/powerpoint/2010/main" val="357912909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76575" cy="512763"/>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4021138" y="0"/>
            <a:ext cx="3076575" cy="512763"/>
          </a:xfrm>
          <a:prstGeom prst="rect">
            <a:avLst/>
          </a:prstGeom>
        </p:spPr>
        <p:txBody>
          <a:bodyPr vert="horz" lIns="91440" tIns="45720" rIns="91440" bIns="45720" rtlCol="0"/>
          <a:lstStyle>
            <a:lvl1pPr algn="r">
              <a:defRPr sz="1200"/>
            </a:lvl1pPr>
          </a:lstStyle>
          <a:p>
            <a:fld id="{F7366DA0-9D7F-400A-A77D-01936C403256}" type="datetimeFigureOut">
              <a:rPr lang="en-AU" smtClean="0"/>
              <a:t>27/08/2021</a:t>
            </a:fld>
            <a:endParaRPr lang="en-AU"/>
          </a:p>
        </p:txBody>
      </p:sp>
      <p:sp>
        <p:nvSpPr>
          <p:cNvPr id="4" name="Slide Image Placeholder 3"/>
          <p:cNvSpPr>
            <a:spLocks noGrp="1" noRot="1" noChangeAspect="1"/>
          </p:cNvSpPr>
          <p:nvPr>
            <p:ph type="sldImg" idx="2"/>
          </p:nvPr>
        </p:nvSpPr>
        <p:spPr>
          <a:xfrm>
            <a:off x="479425" y="1279525"/>
            <a:ext cx="6140450" cy="34544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709613" y="4926013"/>
            <a:ext cx="5680075" cy="4029075"/>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6" name="Footer Placeholder 5"/>
          <p:cNvSpPr>
            <a:spLocks noGrp="1"/>
          </p:cNvSpPr>
          <p:nvPr>
            <p:ph type="ftr" sz="quarter" idx="4"/>
          </p:nvPr>
        </p:nvSpPr>
        <p:spPr>
          <a:xfrm>
            <a:off x="0" y="9721850"/>
            <a:ext cx="3076575" cy="512763"/>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4021138" y="9721850"/>
            <a:ext cx="3076575" cy="512763"/>
          </a:xfrm>
          <a:prstGeom prst="rect">
            <a:avLst/>
          </a:prstGeom>
        </p:spPr>
        <p:txBody>
          <a:bodyPr vert="horz" lIns="91440" tIns="45720" rIns="91440" bIns="45720" rtlCol="0" anchor="b"/>
          <a:lstStyle>
            <a:lvl1pPr algn="r">
              <a:defRPr sz="1200"/>
            </a:lvl1pPr>
          </a:lstStyle>
          <a:p>
            <a:fld id="{94E044A3-6814-4772-86EE-6AD52679CDD6}" type="slidenum">
              <a:rPr lang="en-AU" smtClean="0"/>
              <a:t>‹#›</a:t>
            </a:fld>
            <a:endParaRPr lang="en-AU"/>
          </a:p>
        </p:txBody>
      </p:sp>
    </p:spTree>
    <p:extLst>
      <p:ext uri="{BB962C8B-B14F-4D97-AF65-F5344CB8AC3E}">
        <p14:creationId xmlns:p14="http://schemas.microsoft.com/office/powerpoint/2010/main" val="41785477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a:p>
        </p:txBody>
      </p:sp>
      <p:sp>
        <p:nvSpPr>
          <p:cNvPr id="4" name="Slide Number Placeholder 3"/>
          <p:cNvSpPr>
            <a:spLocks noGrp="1"/>
          </p:cNvSpPr>
          <p:nvPr>
            <p:ph type="sldNum" sz="quarter" idx="10"/>
          </p:nvPr>
        </p:nvSpPr>
        <p:spPr/>
        <p:txBody>
          <a:bodyPr/>
          <a:lstStyle/>
          <a:p>
            <a:fld id="{C250417E-B715-4C3C-B1A9-D3C8BE27BF01}" type="slidenum">
              <a:rPr lang="en-AU" smtClean="0"/>
              <a:t>7</a:t>
            </a:fld>
            <a:endParaRPr lang="en-AU"/>
          </a:p>
        </p:txBody>
      </p:sp>
    </p:spTree>
    <p:extLst>
      <p:ext uri="{BB962C8B-B14F-4D97-AF65-F5344CB8AC3E}">
        <p14:creationId xmlns:p14="http://schemas.microsoft.com/office/powerpoint/2010/main" val="1417513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AU"/>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AU"/>
          </a:p>
        </p:txBody>
      </p:sp>
      <p:sp>
        <p:nvSpPr>
          <p:cNvPr id="4" name="Date Placeholder 3"/>
          <p:cNvSpPr>
            <a:spLocks noGrp="1"/>
          </p:cNvSpPr>
          <p:nvPr>
            <p:ph type="dt" sz="half" idx="10"/>
          </p:nvPr>
        </p:nvSpPr>
        <p:spPr/>
        <p:txBody>
          <a:bodyPr/>
          <a:lstStyle/>
          <a:p>
            <a:fld id="{E6F726FA-289A-47A4-9DB2-36250D803CC9}" type="datetimeFigureOut">
              <a:rPr lang="en-AU" smtClean="0"/>
              <a:t>27/08/2021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13386285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E6F726FA-289A-47A4-9DB2-36250D803CC9}" type="datetimeFigureOut">
              <a:rPr lang="en-AU" smtClean="0"/>
              <a:t>27/08/2021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7907468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AU"/>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6F726FA-289A-47A4-9DB2-36250D803CC9}" type="datetimeFigureOut">
              <a:rPr lang="en-AU" smtClean="0"/>
              <a:t>27/08/2021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37216318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Date Placeholder 4"/>
          <p:cNvSpPr>
            <a:spLocks noGrp="1"/>
          </p:cNvSpPr>
          <p:nvPr>
            <p:ph type="dt" sz="half" idx="10"/>
          </p:nvPr>
        </p:nvSpPr>
        <p:spPr/>
        <p:txBody>
          <a:bodyPr/>
          <a:lstStyle/>
          <a:p>
            <a:fld id="{E6F726FA-289A-47A4-9DB2-36250D803CC9}" type="datetimeFigureOut">
              <a:rPr lang="en-AU" smtClean="0"/>
              <a:t>27/08/2021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3944287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AU"/>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7" name="Date Placeholder 6"/>
          <p:cNvSpPr>
            <a:spLocks noGrp="1"/>
          </p:cNvSpPr>
          <p:nvPr>
            <p:ph type="dt" sz="half" idx="10"/>
          </p:nvPr>
        </p:nvSpPr>
        <p:spPr/>
        <p:txBody>
          <a:bodyPr/>
          <a:lstStyle/>
          <a:p>
            <a:fld id="{E6F726FA-289A-47A4-9DB2-36250D803CC9}" type="datetimeFigureOut">
              <a:rPr lang="en-AU" smtClean="0"/>
              <a:t>27/08/2021</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40145334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Date Placeholder 2"/>
          <p:cNvSpPr>
            <a:spLocks noGrp="1"/>
          </p:cNvSpPr>
          <p:nvPr>
            <p:ph type="dt" sz="half" idx="10"/>
          </p:nvPr>
        </p:nvSpPr>
        <p:spPr/>
        <p:txBody>
          <a:bodyPr/>
          <a:lstStyle/>
          <a:p>
            <a:fld id="{E6F726FA-289A-47A4-9DB2-36250D803CC9}" type="datetimeFigureOut">
              <a:rPr lang="en-AU" smtClean="0"/>
              <a:t>27/08/2021</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35312844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F726FA-289A-47A4-9DB2-36250D803CC9}" type="datetimeFigureOut">
              <a:rPr lang="en-AU" smtClean="0"/>
              <a:t>27/08/2021</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425323889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6F726FA-289A-47A4-9DB2-36250D803CC9}" type="datetimeFigureOut">
              <a:rPr lang="en-AU" smtClean="0"/>
              <a:t>27/08/2021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275168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AU"/>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6F726FA-289A-47A4-9DB2-36250D803CC9}" type="datetimeFigureOut">
              <a:rPr lang="en-AU" smtClean="0"/>
              <a:t>27/08/2021</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27344683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AU"/>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E6F726FA-289A-47A4-9DB2-36250D803CC9}" type="datetimeFigureOut">
              <a:rPr lang="en-AU" smtClean="0"/>
              <a:t>27/08/2021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41963337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AU"/>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10"/>
          </p:nvPr>
        </p:nvSpPr>
        <p:spPr/>
        <p:txBody>
          <a:bodyPr/>
          <a:lstStyle/>
          <a:p>
            <a:fld id="{E6F726FA-289A-47A4-9DB2-36250D803CC9}" type="datetimeFigureOut">
              <a:rPr lang="en-AU" smtClean="0"/>
              <a:t>27/08/2021</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AF26B6D5-E49B-468D-A565-A6E4E9BB073F}" type="slidenum">
              <a:rPr lang="en-AU" smtClean="0"/>
              <a:t>‹#›</a:t>
            </a:fld>
            <a:endParaRPr lang="en-AU"/>
          </a:p>
        </p:txBody>
      </p:sp>
    </p:spTree>
    <p:extLst>
      <p:ext uri="{BB962C8B-B14F-4D97-AF65-F5344CB8AC3E}">
        <p14:creationId xmlns:p14="http://schemas.microsoft.com/office/powerpoint/2010/main" val="10830183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AU"/>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AU"/>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F726FA-289A-47A4-9DB2-36250D803CC9}" type="datetimeFigureOut">
              <a:rPr lang="en-AU" smtClean="0"/>
              <a:t>27/08/2021</a:t>
            </a:fld>
            <a:endParaRPr lang="en-AU"/>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AU"/>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F26B6D5-E49B-468D-A565-A6E4E9BB073F}" type="slidenum">
              <a:rPr lang="en-AU" smtClean="0"/>
              <a:t>‹#›</a:t>
            </a:fld>
            <a:endParaRPr lang="en-AU"/>
          </a:p>
        </p:txBody>
      </p:sp>
    </p:spTree>
    <p:extLst>
      <p:ext uri="{BB962C8B-B14F-4D97-AF65-F5344CB8AC3E}">
        <p14:creationId xmlns:p14="http://schemas.microsoft.com/office/powerpoint/2010/main" val="42062944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 name="TextBox 134">
            <a:extLst>
              <a:ext uri="{FF2B5EF4-FFF2-40B4-BE49-F238E27FC236}">
                <a16:creationId xmlns:a16="http://schemas.microsoft.com/office/drawing/2014/main" id="{99DDC62D-BC4A-4A69-84F2-CF2A22E4E446}"/>
              </a:ext>
            </a:extLst>
          </p:cNvPr>
          <p:cNvSpPr txBox="1"/>
          <p:nvPr/>
        </p:nvSpPr>
        <p:spPr>
          <a:xfrm>
            <a:off x="723872" y="934008"/>
            <a:ext cx="10759627" cy="1323439"/>
          </a:xfrm>
          <a:prstGeom prst="rect">
            <a:avLst/>
          </a:prstGeom>
          <a:solidFill>
            <a:srgbClr val="FFFF00"/>
          </a:solidFill>
        </p:spPr>
        <p:txBody>
          <a:bodyPr wrap="square" rtlCol="0">
            <a:spAutoFit/>
          </a:bodyPr>
          <a:lstStyle/>
          <a:p>
            <a:pPr algn="ctr"/>
            <a:r>
              <a:rPr lang="en-AU" sz="4000" b="1" dirty="0" smtClean="0">
                <a:cs typeface="Arial" panose="020B0604020202020204" pitchFamily="34" charset="0"/>
              </a:rPr>
              <a:t>I will </a:t>
            </a:r>
            <a:r>
              <a:rPr lang="en-AU" sz="4000" b="1" dirty="0">
                <a:cs typeface="Arial" panose="020B0604020202020204" pitchFamily="34" charset="0"/>
              </a:rPr>
              <a:t>I </a:t>
            </a:r>
            <a:r>
              <a:rPr lang="en-AU" sz="4000" b="1" dirty="0" smtClean="0">
                <a:cs typeface="Arial" panose="020B0604020202020204" pitchFamily="34" charset="0"/>
              </a:rPr>
              <a:t>draw </a:t>
            </a:r>
            <a:r>
              <a:rPr lang="en-AU" sz="4000" b="1" dirty="0">
                <a:cs typeface="Arial" panose="020B0604020202020204" pitchFamily="34" charset="0"/>
              </a:rPr>
              <a:t>and describe </a:t>
            </a:r>
            <a:r>
              <a:rPr lang="en-AU" sz="4000" b="1" dirty="0" smtClean="0">
                <a:cs typeface="Arial" panose="020B0604020202020204" pitchFamily="34" charset="0"/>
              </a:rPr>
              <a:t>boxplots and find the range and interquartile range of a data set</a:t>
            </a:r>
            <a:endParaRPr lang="en-AU" sz="4000" b="1" dirty="0">
              <a:cs typeface="Arial" panose="020B0604020202020204" pitchFamily="34" charset="0"/>
            </a:endParaRPr>
          </a:p>
        </p:txBody>
      </p:sp>
      <p:sp>
        <p:nvSpPr>
          <p:cNvPr id="137" name="TextBox 136"/>
          <p:cNvSpPr txBox="1"/>
          <p:nvPr/>
        </p:nvSpPr>
        <p:spPr>
          <a:xfrm>
            <a:off x="0" y="-6605"/>
            <a:ext cx="3424403" cy="584775"/>
          </a:xfrm>
          <a:prstGeom prst="homePlate">
            <a:avLst/>
          </a:prstGeom>
          <a:solidFill>
            <a:srgbClr val="002060"/>
          </a:solidFill>
          <a:ln>
            <a:solidFill>
              <a:srgbClr val="002060"/>
            </a:solidFill>
          </a:ln>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a:t>Learning Objective</a:t>
            </a:r>
          </a:p>
        </p:txBody>
      </p:sp>
      <p:sp>
        <p:nvSpPr>
          <p:cNvPr id="264" name="Title 1"/>
          <p:cNvSpPr txBox="1">
            <a:spLocks/>
          </p:cNvSpPr>
          <p:nvPr/>
        </p:nvSpPr>
        <p:spPr>
          <a:xfrm>
            <a:off x="-15373" y="1641894"/>
            <a:ext cx="12207373" cy="1070988"/>
          </a:xfrm>
          <a:prstGeom prst="rect">
            <a:avLst/>
          </a:prstGeom>
          <a:noFill/>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AU" sz="3200" b="1" i="1" dirty="0">
                <a:ln>
                  <a:solidFill>
                    <a:sysClr val="windowText" lastClr="000000"/>
                  </a:solidFill>
                </a:ln>
                <a:solidFill>
                  <a:sysClr val="windowText" lastClr="000000"/>
                </a:solidFill>
              </a:rPr>
              <a:t>Enter quietly, please be ready with the following on your desk:</a:t>
            </a:r>
          </a:p>
        </p:txBody>
      </p:sp>
      <p:sp>
        <p:nvSpPr>
          <p:cNvPr id="265" name="Content Placeholder 2"/>
          <p:cNvSpPr txBox="1">
            <a:spLocks/>
          </p:cNvSpPr>
          <p:nvPr/>
        </p:nvSpPr>
        <p:spPr>
          <a:xfrm>
            <a:off x="1980020" y="2972878"/>
            <a:ext cx="7921679" cy="300718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342900" indent="-342900" algn="l">
              <a:buFont typeface="Arial" panose="020B0604020202020204" pitchFamily="34" charset="0"/>
              <a:buChar char="•"/>
            </a:pPr>
            <a:r>
              <a:rPr lang="en-AU" b="1" dirty="0"/>
              <a:t>Whiteboard</a:t>
            </a:r>
          </a:p>
          <a:p>
            <a:pPr marL="342900" indent="-342900" algn="l">
              <a:buFont typeface="Arial" panose="020B0604020202020204" pitchFamily="34" charset="0"/>
              <a:buChar char="•"/>
            </a:pPr>
            <a:r>
              <a:rPr lang="en-AU" b="1" dirty="0"/>
              <a:t>Whiteboard marker</a:t>
            </a:r>
          </a:p>
          <a:p>
            <a:pPr marL="342900" indent="-342900" algn="l">
              <a:buFont typeface="Arial" panose="020B0604020202020204" pitchFamily="34" charset="0"/>
              <a:buChar char="•"/>
            </a:pPr>
            <a:r>
              <a:rPr lang="en-AU" b="1" dirty="0" smtClean="0"/>
              <a:t>Exercise Book</a:t>
            </a:r>
            <a:endParaRPr lang="en-AU" b="1" dirty="0"/>
          </a:p>
          <a:p>
            <a:pPr marL="342900" indent="-342900" algn="l">
              <a:buFont typeface="Arial" panose="020B0604020202020204" pitchFamily="34" charset="0"/>
              <a:buChar char="•"/>
            </a:pPr>
            <a:r>
              <a:rPr lang="en-AU" b="1" dirty="0" smtClean="0"/>
              <a:t>Pencil, pen, </a:t>
            </a:r>
            <a:r>
              <a:rPr lang="en-AU" b="1" dirty="0"/>
              <a:t>ruler and red pen</a:t>
            </a:r>
          </a:p>
          <a:p>
            <a:pPr marL="342900" indent="-342900" algn="l">
              <a:buFont typeface="Arial" panose="020B0604020202020204" pitchFamily="34" charset="0"/>
              <a:buChar char="•"/>
            </a:pPr>
            <a:r>
              <a:rPr lang="en-AU" b="1" dirty="0" smtClean="0"/>
              <a:t>Diary</a:t>
            </a:r>
          </a:p>
          <a:p>
            <a:pPr marL="342900" indent="-342900" algn="l">
              <a:buFont typeface="Arial" panose="020B0604020202020204" pitchFamily="34" charset="0"/>
              <a:buChar char="•"/>
            </a:pPr>
            <a:r>
              <a:rPr lang="en-AU" b="1" dirty="0" smtClean="0"/>
              <a:t>Calculator</a:t>
            </a:r>
            <a:endParaRPr lang="en-AU" b="1" dirty="0"/>
          </a:p>
          <a:p>
            <a:pPr marL="342900" indent="-342900" algn="l">
              <a:buFont typeface="Arial" panose="020B0604020202020204" pitchFamily="34" charset="0"/>
              <a:buChar char="•"/>
            </a:pPr>
            <a:r>
              <a:rPr lang="en-AU" b="1" dirty="0"/>
              <a:t>Device – charged or borrowed from Library before maths</a:t>
            </a:r>
          </a:p>
        </p:txBody>
      </p:sp>
      <p:pic>
        <p:nvPicPr>
          <p:cNvPr id="2" name="Picture 1"/>
          <p:cNvPicPr>
            <a:picLocks noChangeAspect="1"/>
          </p:cNvPicPr>
          <p:nvPr/>
        </p:nvPicPr>
        <p:blipFill>
          <a:blip r:embed="rId2"/>
          <a:stretch>
            <a:fillRect/>
          </a:stretch>
        </p:blipFill>
        <p:spPr>
          <a:xfrm>
            <a:off x="7149214" y="2712882"/>
            <a:ext cx="3649887" cy="2617747"/>
          </a:xfrm>
          <a:prstGeom prst="rect">
            <a:avLst/>
          </a:prstGeom>
        </p:spPr>
      </p:pic>
    </p:spTree>
    <p:extLst>
      <p:ext uri="{BB962C8B-B14F-4D97-AF65-F5344CB8AC3E}">
        <p14:creationId xmlns:p14="http://schemas.microsoft.com/office/powerpoint/2010/main" val="263313720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p:cNvGraphicFramePr>
            <a:graphicFrameLocks noGrp="1"/>
          </p:cNvGraphicFramePr>
          <p:nvPr>
            <p:extLst/>
          </p:nvPr>
        </p:nvGraphicFramePr>
        <p:xfrm>
          <a:off x="7025640" y="0"/>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median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Order the numbers from smallest to largest.</a:t>
                      </a:r>
                    </a:p>
                    <a:p>
                      <a:r>
                        <a:rPr lang="en-AU" dirty="0" smtClean="0"/>
                        <a:t>Step 2: Find the middle number.</a:t>
                      </a:r>
                      <a:endParaRPr lang="en-AU" baseline="30000" dirty="0" smtClean="0"/>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11" name="Table 10"/>
          <p:cNvGraphicFramePr>
            <a:graphicFrameLocks noGrp="1"/>
          </p:cNvGraphicFramePr>
          <p:nvPr>
            <p:extLst/>
          </p:nvPr>
        </p:nvGraphicFramePr>
        <p:xfrm>
          <a:off x="7030720" y="1107778"/>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lower quartile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Underline the bottom half of the data set.</a:t>
                      </a:r>
                    </a:p>
                    <a:p>
                      <a:r>
                        <a:rPr lang="en-AU" dirty="0" smtClean="0"/>
                        <a:t>Step 2: Find the middle number.</a:t>
                      </a:r>
                      <a:endParaRPr lang="en-AU" baseline="30000" dirty="0"/>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12" name="Table 11"/>
          <p:cNvGraphicFramePr>
            <a:graphicFrameLocks noGrp="1"/>
          </p:cNvGraphicFramePr>
          <p:nvPr>
            <p:extLst/>
          </p:nvPr>
        </p:nvGraphicFramePr>
        <p:xfrm>
          <a:off x="7035800" y="2271098"/>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upper quartile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Underline the top half of the data set.</a:t>
                      </a:r>
                    </a:p>
                    <a:p>
                      <a:r>
                        <a:rPr lang="en-AU" dirty="0" smtClean="0"/>
                        <a:t>Step 2: Find the middle number.</a:t>
                      </a:r>
                      <a:endParaRPr lang="en-AU" baseline="30000" dirty="0"/>
                    </a:p>
                  </a:txBody>
                  <a:tcPr>
                    <a:solidFill>
                      <a:schemeClr val="bg2"/>
                    </a:solidFill>
                  </a:tcPr>
                </a:tc>
                <a:extLst>
                  <a:ext uri="{0D108BD9-81ED-4DB2-BD59-A6C34878D82A}">
                    <a16:rowId xmlns:a16="http://schemas.microsoft.com/office/drawing/2014/main" val="10001"/>
                  </a:ext>
                </a:extLst>
              </a:tr>
            </a:tbl>
          </a:graphicData>
        </a:graphic>
      </p:graphicFrame>
      <p:sp>
        <p:nvSpPr>
          <p:cNvPr id="13" name="TextBox 12"/>
          <p:cNvSpPr txBox="1"/>
          <p:nvPr/>
        </p:nvSpPr>
        <p:spPr>
          <a:xfrm>
            <a:off x="7620000" y="3530150"/>
            <a:ext cx="4358640" cy="1200329"/>
          </a:xfrm>
          <a:prstGeom prst="rect">
            <a:avLst/>
          </a:prstGeom>
          <a:solidFill>
            <a:srgbClr val="FFFF00"/>
          </a:solidFill>
          <a:ln>
            <a:solidFill>
              <a:schemeClr val="tx1"/>
            </a:solidFill>
          </a:ln>
        </p:spPr>
        <p:txBody>
          <a:bodyPr wrap="square" rtlCol="0">
            <a:spAutoFit/>
          </a:bodyPr>
          <a:lstStyle/>
          <a:p>
            <a:pPr algn="ctr"/>
            <a:r>
              <a:rPr lang="en-AU" b="1" dirty="0" smtClean="0"/>
              <a:t>If the median is one of the values, don’t include it in the lower/upper half.</a:t>
            </a:r>
          </a:p>
          <a:p>
            <a:pPr algn="ctr"/>
            <a:r>
              <a:rPr lang="en-AU" b="1" dirty="0" smtClean="0"/>
              <a:t>If the median is between two values, include it in the lower/upper half.</a:t>
            </a:r>
            <a:endParaRPr lang="en-AU" b="1" dirty="0"/>
          </a:p>
        </p:txBody>
      </p:sp>
      <p:sp>
        <p:nvSpPr>
          <p:cNvPr id="15" name="TextBox 14"/>
          <p:cNvSpPr txBox="1"/>
          <p:nvPr/>
        </p:nvSpPr>
        <p:spPr>
          <a:xfrm>
            <a:off x="198120" y="797560"/>
            <a:ext cx="6487160" cy="2123658"/>
          </a:xfrm>
          <a:prstGeom prst="rect">
            <a:avLst/>
          </a:prstGeom>
          <a:noFill/>
        </p:spPr>
        <p:txBody>
          <a:bodyPr wrap="square" rtlCol="0">
            <a:spAutoFit/>
          </a:bodyPr>
          <a:lstStyle/>
          <a:p>
            <a:r>
              <a:rPr lang="en-AU" sz="2400" dirty="0" smtClean="0"/>
              <a:t>Find the median, lower quartile and upper quartile of the following data set:</a:t>
            </a:r>
          </a:p>
          <a:p>
            <a:r>
              <a:rPr lang="en-AU" sz="2800" b="1" dirty="0" smtClean="0"/>
              <a:t>13, 15, 13, 11, 16, 13, 12, 15</a:t>
            </a:r>
          </a:p>
          <a:p>
            <a:endParaRPr lang="en-AU" sz="2800" b="1" dirty="0"/>
          </a:p>
          <a:p>
            <a:r>
              <a:rPr lang="en-AU" sz="2800" b="1" dirty="0" smtClean="0"/>
              <a:t>11, 12, 13, 13, 13, 15, 15, 16</a:t>
            </a:r>
            <a:endParaRPr lang="en-AU" sz="2800" b="1" dirty="0"/>
          </a:p>
        </p:txBody>
      </p:sp>
      <p:cxnSp>
        <p:nvCxnSpPr>
          <p:cNvPr id="16" name="Straight Arrow Connector 15">
            <a:extLst>
              <a:ext uri="{FF2B5EF4-FFF2-40B4-BE49-F238E27FC236}">
                <a16:creationId xmlns:a16="http://schemas.microsoft.com/office/drawing/2014/main" id="{007A0B51-37CB-41A7-A11F-14650D24B314}"/>
              </a:ext>
            </a:extLst>
          </p:cNvPr>
          <p:cNvCxnSpPr>
            <a:cxnSpLocks/>
          </p:cNvCxnSpPr>
          <p:nvPr/>
        </p:nvCxnSpPr>
        <p:spPr>
          <a:xfrm>
            <a:off x="2373036" y="2224824"/>
            <a:ext cx="0" cy="28522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87960" y="3395979"/>
            <a:ext cx="4541520" cy="461665"/>
          </a:xfrm>
          <a:prstGeom prst="rect">
            <a:avLst/>
          </a:prstGeom>
          <a:noFill/>
        </p:spPr>
        <p:txBody>
          <a:bodyPr wrap="square" rtlCol="0">
            <a:spAutoFit/>
          </a:bodyPr>
          <a:lstStyle/>
          <a:p>
            <a:r>
              <a:rPr lang="en-AU" sz="2400" dirty="0" smtClean="0"/>
              <a:t>Median = 13</a:t>
            </a:r>
            <a:endParaRPr lang="en-AU" sz="2400" dirty="0"/>
          </a:p>
        </p:txBody>
      </p:sp>
      <p:cxnSp>
        <p:nvCxnSpPr>
          <p:cNvPr id="18" name="Straight Connector 17"/>
          <p:cNvCxnSpPr/>
          <p:nvPr/>
        </p:nvCxnSpPr>
        <p:spPr>
          <a:xfrm>
            <a:off x="335280" y="2921218"/>
            <a:ext cx="19050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07A0B51-37CB-41A7-A11F-14650D24B314}"/>
              </a:ext>
            </a:extLst>
          </p:cNvPr>
          <p:cNvCxnSpPr>
            <a:cxnSpLocks/>
          </p:cNvCxnSpPr>
          <p:nvPr/>
        </p:nvCxnSpPr>
        <p:spPr>
          <a:xfrm>
            <a:off x="1290320" y="2224824"/>
            <a:ext cx="0" cy="285225"/>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87960" y="3807149"/>
            <a:ext cx="4541520" cy="461665"/>
          </a:xfrm>
          <a:prstGeom prst="rect">
            <a:avLst/>
          </a:prstGeom>
          <a:noFill/>
        </p:spPr>
        <p:txBody>
          <a:bodyPr wrap="square" rtlCol="0">
            <a:spAutoFit/>
          </a:bodyPr>
          <a:lstStyle/>
          <a:p>
            <a:r>
              <a:rPr lang="en-AU" sz="2400" dirty="0" smtClean="0"/>
              <a:t>Lower quartile = 12.5</a:t>
            </a:r>
            <a:endParaRPr lang="en-AU" sz="2400" dirty="0"/>
          </a:p>
        </p:txBody>
      </p:sp>
      <p:cxnSp>
        <p:nvCxnSpPr>
          <p:cNvPr id="22" name="Straight Connector 21"/>
          <p:cNvCxnSpPr/>
          <p:nvPr/>
        </p:nvCxnSpPr>
        <p:spPr>
          <a:xfrm>
            <a:off x="2458720" y="2916138"/>
            <a:ext cx="1925320" cy="508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07A0B51-37CB-41A7-A11F-14650D24B314}"/>
              </a:ext>
            </a:extLst>
          </p:cNvPr>
          <p:cNvCxnSpPr>
            <a:cxnSpLocks/>
          </p:cNvCxnSpPr>
          <p:nvPr/>
        </p:nvCxnSpPr>
        <p:spPr>
          <a:xfrm>
            <a:off x="3429000" y="2224824"/>
            <a:ext cx="0" cy="28522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187960" y="4268814"/>
            <a:ext cx="4541520" cy="461665"/>
          </a:xfrm>
          <a:prstGeom prst="rect">
            <a:avLst/>
          </a:prstGeom>
          <a:noFill/>
        </p:spPr>
        <p:txBody>
          <a:bodyPr wrap="square" rtlCol="0">
            <a:spAutoFit/>
          </a:bodyPr>
          <a:lstStyle/>
          <a:p>
            <a:r>
              <a:rPr lang="en-AU" sz="2400" dirty="0" smtClean="0"/>
              <a:t>Upper quartile = 15</a:t>
            </a:r>
            <a:endParaRPr lang="en-AU" sz="2400" dirty="0"/>
          </a:p>
        </p:txBody>
      </p:sp>
      <p:sp>
        <p:nvSpPr>
          <p:cNvPr id="20" name="TextBox 19"/>
          <p:cNvSpPr txBox="1"/>
          <p:nvPr/>
        </p:nvSpPr>
        <p:spPr>
          <a:xfrm>
            <a:off x="0" y="-20052"/>
            <a:ext cx="2429041"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Daily Review</a:t>
            </a:r>
            <a:endParaRPr lang="en-AU" sz="3200" dirty="0"/>
          </a:p>
        </p:txBody>
      </p:sp>
    </p:spTree>
    <p:extLst>
      <p:ext uri="{BB962C8B-B14F-4D97-AF65-F5344CB8AC3E}">
        <p14:creationId xmlns:p14="http://schemas.microsoft.com/office/powerpoint/2010/main" val="6729081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10"/>
                                        </p:tgtEl>
                                      </p:cBhvr>
                                    </p:animEffect>
                                    <p:animScale>
                                      <p:cBhvr>
                                        <p:cTn id="7" dur="250" autoRev="1" fill="hold"/>
                                        <p:tgtEl>
                                          <p:spTgt spid="10"/>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6" presetClass="emph" presetSubtype="0" fill="hold" nodeType="clickEffect">
                                  <p:stCondLst>
                                    <p:cond delay="0"/>
                                  </p:stCondLst>
                                  <p:childTnLst>
                                    <p:animEffect transition="out" filter="fade">
                                      <p:cBhvr>
                                        <p:cTn id="23" dur="500" tmFilter="0, 0; .2, .5; .8, .5; 1, 0"/>
                                        <p:tgtEl>
                                          <p:spTgt spid="11"/>
                                        </p:tgtEl>
                                      </p:cBhvr>
                                    </p:animEffect>
                                    <p:animScale>
                                      <p:cBhvr>
                                        <p:cTn id="24" dur="250" autoRev="1" fill="hold"/>
                                        <p:tgtEl>
                                          <p:spTgt spid="11"/>
                                        </p:tgtEl>
                                      </p:cBhvr>
                                      <p:by x="105000" y="105000"/>
                                    </p:animScale>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6" presetClass="emph" presetSubtype="0" fill="hold" nodeType="clickEffect">
                                  <p:stCondLst>
                                    <p:cond delay="0"/>
                                  </p:stCondLst>
                                  <p:childTnLst>
                                    <p:animEffect transition="out" filter="fade">
                                      <p:cBhvr>
                                        <p:cTn id="40" dur="500" tmFilter="0, 0; .2, .5; .8, .5; 1, 0"/>
                                        <p:tgtEl>
                                          <p:spTgt spid="12"/>
                                        </p:tgtEl>
                                      </p:cBhvr>
                                    </p:animEffect>
                                    <p:animScale>
                                      <p:cBhvr>
                                        <p:cTn id="41" dur="250" autoRev="1" fill="hold"/>
                                        <p:tgtEl>
                                          <p:spTgt spid="12"/>
                                        </p:tgtEl>
                                      </p:cBhvr>
                                      <p:by x="105000" y="105000"/>
                                    </p:animScale>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22"/>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23"/>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1" grpId="0"/>
      <p:bldP spid="25"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p:cNvGraphicFramePr>
            <a:graphicFrameLocks noGrp="1"/>
          </p:cNvGraphicFramePr>
          <p:nvPr>
            <p:extLst/>
          </p:nvPr>
        </p:nvGraphicFramePr>
        <p:xfrm>
          <a:off x="7025640" y="0"/>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median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Order the numbers from smallest to largest.</a:t>
                      </a:r>
                    </a:p>
                    <a:p>
                      <a:r>
                        <a:rPr lang="en-AU" dirty="0" smtClean="0"/>
                        <a:t>Step 2: Find the middle number.</a:t>
                      </a:r>
                      <a:endParaRPr lang="en-AU" baseline="30000" dirty="0" smtClean="0"/>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11" name="Table 10"/>
          <p:cNvGraphicFramePr>
            <a:graphicFrameLocks noGrp="1"/>
          </p:cNvGraphicFramePr>
          <p:nvPr>
            <p:extLst/>
          </p:nvPr>
        </p:nvGraphicFramePr>
        <p:xfrm>
          <a:off x="7030720" y="1107778"/>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lower quartile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Underline the bottom half of the data set.</a:t>
                      </a:r>
                    </a:p>
                    <a:p>
                      <a:r>
                        <a:rPr lang="en-AU" dirty="0" smtClean="0"/>
                        <a:t>Step 2: Find the middle number.</a:t>
                      </a:r>
                      <a:endParaRPr lang="en-AU" baseline="30000" dirty="0"/>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12" name="Table 11"/>
          <p:cNvGraphicFramePr>
            <a:graphicFrameLocks noGrp="1"/>
          </p:cNvGraphicFramePr>
          <p:nvPr>
            <p:extLst/>
          </p:nvPr>
        </p:nvGraphicFramePr>
        <p:xfrm>
          <a:off x="7035800" y="2271098"/>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upper quartile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Underline the top half of the data set.</a:t>
                      </a:r>
                    </a:p>
                    <a:p>
                      <a:r>
                        <a:rPr lang="en-AU" dirty="0" smtClean="0"/>
                        <a:t>Step 2: Find the middle number.</a:t>
                      </a:r>
                      <a:endParaRPr lang="en-AU" baseline="30000" dirty="0"/>
                    </a:p>
                  </a:txBody>
                  <a:tcPr>
                    <a:solidFill>
                      <a:schemeClr val="bg2"/>
                    </a:solidFill>
                  </a:tcPr>
                </a:tc>
                <a:extLst>
                  <a:ext uri="{0D108BD9-81ED-4DB2-BD59-A6C34878D82A}">
                    <a16:rowId xmlns:a16="http://schemas.microsoft.com/office/drawing/2014/main" val="10001"/>
                  </a:ext>
                </a:extLst>
              </a:tr>
            </a:tbl>
          </a:graphicData>
        </a:graphic>
      </p:graphicFrame>
      <p:sp>
        <p:nvSpPr>
          <p:cNvPr id="13" name="TextBox 12"/>
          <p:cNvSpPr txBox="1"/>
          <p:nvPr/>
        </p:nvSpPr>
        <p:spPr>
          <a:xfrm>
            <a:off x="7620000" y="3530150"/>
            <a:ext cx="4358640" cy="1200329"/>
          </a:xfrm>
          <a:prstGeom prst="rect">
            <a:avLst/>
          </a:prstGeom>
          <a:solidFill>
            <a:srgbClr val="FFFF00"/>
          </a:solidFill>
          <a:ln>
            <a:solidFill>
              <a:schemeClr val="tx1"/>
            </a:solidFill>
          </a:ln>
        </p:spPr>
        <p:txBody>
          <a:bodyPr wrap="square" rtlCol="0">
            <a:spAutoFit/>
          </a:bodyPr>
          <a:lstStyle/>
          <a:p>
            <a:pPr algn="ctr"/>
            <a:r>
              <a:rPr lang="en-AU" b="1" dirty="0" smtClean="0"/>
              <a:t>If the median is one of the values, don’t include it in the lower/upper half.</a:t>
            </a:r>
          </a:p>
          <a:p>
            <a:pPr algn="ctr"/>
            <a:r>
              <a:rPr lang="en-AU" b="1" dirty="0" smtClean="0"/>
              <a:t>If the median is between two values, include it in the lower/upper half.</a:t>
            </a:r>
            <a:endParaRPr lang="en-AU" b="1" dirty="0"/>
          </a:p>
        </p:txBody>
      </p:sp>
      <p:sp>
        <p:nvSpPr>
          <p:cNvPr id="15" name="TextBox 14"/>
          <p:cNvSpPr txBox="1"/>
          <p:nvPr/>
        </p:nvSpPr>
        <p:spPr>
          <a:xfrm>
            <a:off x="198120" y="797560"/>
            <a:ext cx="6487160" cy="2123658"/>
          </a:xfrm>
          <a:prstGeom prst="rect">
            <a:avLst/>
          </a:prstGeom>
          <a:noFill/>
        </p:spPr>
        <p:txBody>
          <a:bodyPr wrap="square" rtlCol="0">
            <a:spAutoFit/>
          </a:bodyPr>
          <a:lstStyle/>
          <a:p>
            <a:r>
              <a:rPr lang="en-AU" sz="2400" dirty="0" smtClean="0"/>
              <a:t>Find the median, lower quartile and upper quartile of the following data set:</a:t>
            </a:r>
          </a:p>
          <a:p>
            <a:r>
              <a:rPr lang="en-AU" sz="2800" b="1" dirty="0" smtClean="0"/>
              <a:t>435, 275, 195, 460, 565, 650, 335</a:t>
            </a:r>
          </a:p>
          <a:p>
            <a:endParaRPr lang="en-AU" sz="2800" b="1" dirty="0"/>
          </a:p>
          <a:p>
            <a:r>
              <a:rPr lang="en-AU" sz="2800" b="1" dirty="0" smtClean="0"/>
              <a:t>195, 275, 335, 435, 460, 565, 650</a:t>
            </a:r>
            <a:endParaRPr lang="en-AU" sz="2800" b="1" dirty="0"/>
          </a:p>
        </p:txBody>
      </p:sp>
      <p:cxnSp>
        <p:nvCxnSpPr>
          <p:cNvPr id="16" name="Straight Arrow Connector 15">
            <a:extLst>
              <a:ext uri="{FF2B5EF4-FFF2-40B4-BE49-F238E27FC236}">
                <a16:creationId xmlns:a16="http://schemas.microsoft.com/office/drawing/2014/main" id="{007A0B51-37CB-41A7-A11F-14650D24B314}"/>
              </a:ext>
            </a:extLst>
          </p:cNvPr>
          <p:cNvCxnSpPr>
            <a:cxnSpLocks/>
          </p:cNvCxnSpPr>
          <p:nvPr/>
        </p:nvCxnSpPr>
        <p:spPr>
          <a:xfrm>
            <a:off x="2743200" y="2214814"/>
            <a:ext cx="0" cy="28522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87960" y="3395979"/>
            <a:ext cx="4541520" cy="461665"/>
          </a:xfrm>
          <a:prstGeom prst="rect">
            <a:avLst/>
          </a:prstGeom>
          <a:noFill/>
        </p:spPr>
        <p:txBody>
          <a:bodyPr wrap="square" rtlCol="0">
            <a:spAutoFit/>
          </a:bodyPr>
          <a:lstStyle/>
          <a:p>
            <a:r>
              <a:rPr lang="en-AU" sz="2400" dirty="0" smtClean="0"/>
              <a:t>Median = 435</a:t>
            </a:r>
            <a:endParaRPr lang="en-AU" sz="2400" dirty="0"/>
          </a:p>
        </p:txBody>
      </p:sp>
      <p:cxnSp>
        <p:nvCxnSpPr>
          <p:cNvPr id="18" name="Straight Connector 17"/>
          <p:cNvCxnSpPr/>
          <p:nvPr/>
        </p:nvCxnSpPr>
        <p:spPr>
          <a:xfrm>
            <a:off x="264160" y="2916138"/>
            <a:ext cx="201168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07A0B51-37CB-41A7-A11F-14650D24B314}"/>
              </a:ext>
            </a:extLst>
          </p:cNvPr>
          <p:cNvCxnSpPr>
            <a:cxnSpLocks/>
          </p:cNvCxnSpPr>
          <p:nvPr/>
        </p:nvCxnSpPr>
        <p:spPr>
          <a:xfrm>
            <a:off x="1290320" y="2224824"/>
            <a:ext cx="0" cy="285225"/>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87960" y="3807149"/>
            <a:ext cx="4541520" cy="461665"/>
          </a:xfrm>
          <a:prstGeom prst="rect">
            <a:avLst/>
          </a:prstGeom>
          <a:noFill/>
        </p:spPr>
        <p:txBody>
          <a:bodyPr wrap="square" rtlCol="0">
            <a:spAutoFit/>
          </a:bodyPr>
          <a:lstStyle/>
          <a:p>
            <a:r>
              <a:rPr lang="en-AU" sz="2400" dirty="0" smtClean="0"/>
              <a:t>Lower quartile = 275</a:t>
            </a:r>
            <a:endParaRPr lang="en-AU" sz="2400" dirty="0"/>
          </a:p>
        </p:txBody>
      </p:sp>
      <p:cxnSp>
        <p:nvCxnSpPr>
          <p:cNvPr id="22" name="Straight Connector 21"/>
          <p:cNvCxnSpPr/>
          <p:nvPr/>
        </p:nvCxnSpPr>
        <p:spPr>
          <a:xfrm>
            <a:off x="3164840" y="2934314"/>
            <a:ext cx="1925320" cy="508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07A0B51-37CB-41A7-A11F-14650D24B314}"/>
              </a:ext>
            </a:extLst>
          </p:cNvPr>
          <p:cNvCxnSpPr>
            <a:cxnSpLocks/>
          </p:cNvCxnSpPr>
          <p:nvPr/>
        </p:nvCxnSpPr>
        <p:spPr>
          <a:xfrm>
            <a:off x="4155440" y="2224821"/>
            <a:ext cx="0" cy="28522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187960" y="4268814"/>
            <a:ext cx="4541520" cy="461665"/>
          </a:xfrm>
          <a:prstGeom prst="rect">
            <a:avLst/>
          </a:prstGeom>
          <a:noFill/>
        </p:spPr>
        <p:txBody>
          <a:bodyPr wrap="square" rtlCol="0">
            <a:spAutoFit/>
          </a:bodyPr>
          <a:lstStyle/>
          <a:p>
            <a:r>
              <a:rPr lang="en-AU" sz="2400" dirty="0" smtClean="0"/>
              <a:t>Upper quartile = 565</a:t>
            </a:r>
            <a:endParaRPr lang="en-AU" sz="2400" dirty="0"/>
          </a:p>
        </p:txBody>
      </p:sp>
      <p:sp>
        <p:nvSpPr>
          <p:cNvPr id="20" name="TextBox 19"/>
          <p:cNvSpPr txBox="1"/>
          <p:nvPr/>
        </p:nvSpPr>
        <p:spPr>
          <a:xfrm>
            <a:off x="0" y="-20052"/>
            <a:ext cx="2429041"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Daily Review</a:t>
            </a:r>
            <a:endParaRPr lang="en-AU" sz="3200" dirty="0"/>
          </a:p>
        </p:txBody>
      </p:sp>
    </p:spTree>
    <p:extLst>
      <p:ext uri="{BB962C8B-B14F-4D97-AF65-F5344CB8AC3E}">
        <p14:creationId xmlns:p14="http://schemas.microsoft.com/office/powerpoint/2010/main" val="3693177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10"/>
                                        </p:tgtEl>
                                      </p:cBhvr>
                                    </p:animEffect>
                                    <p:animScale>
                                      <p:cBhvr>
                                        <p:cTn id="7" dur="250" autoRev="1" fill="hold"/>
                                        <p:tgtEl>
                                          <p:spTgt spid="10"/>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17"/>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26" presetClass="emph" presetSubtype="0" fill="hold" nodeType="clickEffect">
                                  <p:stCondLst>
                                    <p:cond delay="0"/>
                                  </p:stCondLst>
                                  <p:childTnLst>
                                    <p:animEffect transition="out" filter="fade">
                                      <p:cBhvr>
                                        <p:cTn id="23" dur="500" tmFilter="0, 0; .2, .5; .8, .5; 1, 0"/>
                                        <p:tgtEl>
                                          <p:spTgt spid="11"/>
                                        </p:tgtEl>
                                      </p:cBhvr>
                                    </p:animEffect>
                                    <p:animScale>
                                      <p:cBhvr>
                                        <p:cTn id="24" dur="250" autoRev="1" fill="hold"/>
                                        <p:tgtEl>
                                          <p:spTgt spid="11"/>
                                        </p:tgtEl>
                                      </p:cBhvr>
                                      <p:by x="105000" y="105000"/>
                                    </p:animScale>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1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1"/>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26" presetClass="emph" presetSubtype="0" fill="hold" nodeType="clickEffect">
                                  <p:stCondLst>
                                    <p:cond delay="0"/>
                                  </p:stCondLst>
                                  <p:childTnLst>
                                    <p:animEffect transition="out" filter="fade">
                                      <p:cBhvr>
                                        <p:cTn id="40" dur="500" tmFilter="0, 0; .2, .5; .8, .5; 1, 0"/>
                                        <p:tgtEl>
                                          <p:spTgt spid="12"/>
                                        </p:tgtEl>
                                      </p:cBhvr>
                                    </p:animEffect>
                                    <p:animScale>
                                      <p:cBhvr>
                                        <p:cTn id="41" dur="250" autoRev="1" fill="hold"/>
                                        <p:tgtEl>
                                          <p:spTgt spid="12"/>
                                        </p:tgtEl>
                                      </p:cBhvr>
                                      <p:by x="105000" y="105000"/>
                                    </p:animScale>
                                  </p:childTnLst>
                                </p:cTn>
                              </p:par>
                            </p:childTnLst>
                          </p:cTn>
                        </p:par>
                      </p:childTnLst>
                    </p:cTn>
                  </p:par>
                  <p:par>
                    <p:cTn id="42" fill="hold">
                      <p:stCondLst>
                        <p:cond delay="indefinite"/>
                      </p:stCondLst>
                      <p:childTnLst>
                        <p:par>
                          <p:cTn id="43" fill="hold">
                            <p:stCondLst>
                              <p:cond delay="0"/>
                            </p:stCondLst>
                            <p:childTnLst>
                              <p:par>
                                <p:cTn id="44" presetID="1" presetClass="entr" presetSubtype="0" fill="hold" nodeType="clickEffect">
                                  <p:stCondLst>
                                    <p:cond delay="0"/>
                                  </p:stCondLst>
                                  <p:childTnLst>
                                    <p:set>
                                      <p:cBhvr>
                                        <p:cTn id="45" dur="1" fill="hold">
                                          <p:stCondLst>
                                            <p:cond delay="0"/>
                                          </p:stCondLst>
                                        </p:cTn>
                                        <p:tgtEl>
                                          <p:spTgt spid="22"/>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23"/>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grpId="0" nodeType="clickEffect">
                                  <p:stCondLst>
                                    <p:cond delay="0"/>
                                  </p:stCondLst>
                                  <p:childTnLst>
                                    <p:set>
                                      <p:cBhvr>
                                        <p:cTn id="53"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1" grpId="0"/>
      <p:bldP spid="25"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0" name="Table 9"/>
          <p:cNvGraphicFramePr>
            <a:graphicFrameLocks noGrp="1"/>
          </p:cNvGraphicFramePr>
          <p:nvPr>
            <p:extLst/>
          </p:nvPr>
        </p:nvGraphicFramePr>
        <p:xfrm>
          <a:off x="7025640" y="0"/>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median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Order the numbers from smallest to largest.</a:t>
                      </a:r>
                    </a:p>
                    <a:p>
                      <a:r>
                        <a:rPr lang="en-AU" dirty="0" smtClean="0"/>
                        <a:t>Step 2: Find the middle number.</a:t>
                      </a:r>
                      <a:endParaRPr lang="en-AU" baseline="30000" dirty="0" smtClean="0"/>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11" name="Table 10"/>
          <p:cNvGraphicFramePr>
            <a:graphicFrameLocks noGrp="1"/>
          </p:cNvGraphicFramePr>
          <p:nvPr>
            <p:extLst/>
          </p:nvPr>
        </p:nvGraphicFramePr>
        <p:xfrm>
          <a:off x="7030720" y="1107778"/>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lower quartile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Underline the bottom half of the data set.</a:t>
                      </a:r>
                    </a:p>
                    <a:p>
                      <a:r>
                        <a:rPr lang="en-AU" dirty="0" smtClean="0"/>
                        <a:t>Step 2: Find the middle number.</a:t>
                      </a:r>
                      <a:endParaRPr lang="en-AU" baseline="30000" dirty="0"/>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12" name="Table 11"/>
          <p:cNvGraphicFramePr>
            <a:graphicFrameLocks noGrp="1"/>
          </p:cNvGraphicFramePr>
          <p:nvPr>
            <p:extLst/>
          </p:nvPr>
        </p:nvGraphicFramePr>
        <p:xfrm>
          <a:off x="7035800" y="2271098"/>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upper quartile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Underline the top half of the data set.</a:t>
                      </a:r>
                    </a:p>
                    <a:p>
                      <a:r>
                        <a:rPr lang="en-AU" dirty="0" smtClean="0"/>
                        <a:t>Step 2: Find the middle number.</a:t>
                      </a:r>
                      <a:endParaRPr lang="en-AU" baseline="30000" dirty="0"/>
                    </a:p>
                  </a:txBody>
                  <a:tcPr>
                    <a:solidFill>
                      <a:schemeClr val="bg2"/>
                    </a:solidFill>
                  </a:tcPr>
                </a:tc>
                <a:extLst>
                  <a:ext uri="{0D108BD9-81ED-4DB2-BD59-A6C34878D82A}">
                    <a16:rowId xmlns:a16="http://schemas.microsoft.com/office/drawing/2014/main" val="10001"/>
                  </a:ext>
                </a:extLst>
              </a:tr>
            </a:tbl>
          </a:graphicData>
        </a:graphic>
      </p:graphicFrame>
      <p:sp>
        <p:nvSpPr>
          <p:cNvPr id="13" name="TextBox 12"/>
          <p:cNvSpPr txBox="1"/>
          <p:nvPr/>
        </p:nvSpPr>
        <p:spPr>
          <a:xfrm>
            <a:off x="7620000" y="3530150"/>
            <a:ext cx="4358640" cy="1200329"/>
          </a:xfrm>
          <a:prstGeom prst="rect">
            <a:avLst/>
          </a:prstGeom>
          <a:solidFill>
            <a:srgbClr val="FFFF00"/>
          </a:solidFill>
          <a:ln>
            <a:solidFill>
              <a:schemeClr val="tx1"/>
            </a:solidFill>
          </a:ln>
        </p:spPr>
        <p:txBody>
          <a:bodyPr wrap="square" rtlCol="0">
            <a:spAutoFit/>
          </a:bodyPr>
          <a:lstStyle/>
          <a:p>
            <a:pPr algn="ctr"/>
            <a:r>
              <a:rPr lang="en-AU" b="1" dirty="0" smtClean="0"/>
              <a:t>If the median is one of the values, don’t include it in the lower/upper half.</a:t>
            </a:r>
          </a:p>
          <a:p>
            <a:pPr algn="ctr"/>
            <a:r>
              <a:rPr lang="en-AU" b="1" dirty="0" smtClean="0"/>
              <a:t>If the median is between two values, include it in the lower/upper half.</a:t>
            </a:r>
            <a:endParaRPr lang="en-AU" b="1" dirty="0"/>
          </a:p>
        </p:txBody>
      </p:sp>
      <p:sp>
        <p:nvSpPr>
          <p:cNvPr id="15" name="TextBox 14"/>
          <p:cNvSpPr txBox="1"/>
          <p:nvPr/>
        </p:nvSpPr>
        <p:spPr>
          <a:xfrm>
            <a:off x="198120" y="797560"/>
            <a:ext cx="6908800" cy="2123658"/>
          </a:xfrm>
          <a:prstGeom prst="rect">
            <a:avLst/>
          </a:prstGeom>
          <a:noFill/>
        </p:spPr>
        <p:txBody>
          <a:bodyPr wrap="square" rtlCol="0">
            <a:spAutoFit/>
          </a:bodyPr>
          <a:lstStyle/>
          <a:p>
            <a:r>
              <a:rPr lang="en-AU" sz="2400" dirty="0" smtClean="0"/>
              <a:t>Find the minimum, maximum, median, lower quartile and upper quartile of the following data set:</a:t>
            </a:r>
          </a:p>
          <a:p>
            <a:r>
              <a:rPr lang="en-AU" sz="2800" b="1" dirty="0" smtClean="0"/>
              <a:t>2, 9, 4, 2, 5, 8, 9, 6, 6, 2, 3, 7, 5</a:t>
            </a:r>
          </a:p>
          <a:p>
            <a:endParaRPr lang="en-AU" sz="2800" b="1" dirty="0"/>
          </a:p>
          <a:p>
            <a:r>
              <a:rPr lang="en-AU" sz="2800" b="1" dirty="0" smtClean="0"/>
              <a:t>2, 2, 2, 3, 4, 5, 5, 6, 6, 7, 8, 9, 9</a:t>
            </a:r>
            <a:endParaRPr lang="en-AU" sz="2800" b="1" dirty="0"/>
          </a:p>
        </p:txBody>
      </p:sp>
      <p:cxnSp>
        <p:nvCxnSpPr>
          <p:cNvPr id="16" name="Straight Arrow Connector 15">
            <a:extLst>
              <a:ext uri="{FF2B5EF4-FFF2-40B4-BE49-F238E27FC236}">
                <a16:creationId xmlns:a16="http://schemas.microsoft.com/office/drawing/2014/main" id="{007A0B51-37CB-41A7-A11F-14650D24B314}"/>
              </a:ext>
            </a:extLst>
          </p:cNvPr>
          <p:cNvCxnSpPr>
            <a:cxnSpLocks/>
          </p:cNvCxnSpPr>
          <p:nvPr/>
        </p:nvCxnSpPr>
        <p:spPr>
          <a:xfrm>
            <a:off x="2520356" y="2224823"/>
            <a:ext cx="0" cy="28522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187960" y="4182563"/>
            <a:ext cx="4541520" cy="461665"/>
          </a:xfrm>
          <a:prstGeom prst="rect">
            <a:avLst/>
          </a:prstGeom>
          <a:noFill/>
        </p:spPr>
        <p:txBody>
          <a:bodyPr wrap="square" rtlCol="0">
            <a:spAutoFit/>
          </a:bodyPr>
          <a:lstStyle/>
          <a:p>
            <a:r>
              <a:rPr lang="en-AU" sz="2400" dirty="0" smtClean="0"/>
              <a:t>Median = 5</a:t>
            </a:r>
            <a:endParaRPr lang="en-AU" sz="2400" dirty="0"/>
          </a:p>
        </p:txBody>
      </p:sp>
      <p:cxnSp>
        <p:nvCxnSpPr>
          <p:cNvPr id="18" name="Straight Connector 17"/>
          <p:cNvCxnSpPr/>
          <p:nvPr/>
        </p:nvCxnSpPr>
        <p:spPr>
          <a:xfrm>
            <a:off x="264160" y="2916138"/>
            <a:ext cx="201168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19" name="Straight Arrow Connector 18">
            <a:extLst>
              <a:ext uri="{FF2B5EF4-FFF2-40B4-BE49-F238E27FC236}">
                <a16:creationId xmlns:a16="http://schemas.microsoft.com/office/drawing/2014/main" id="{007A0B51-37CB-41A7-A11F-14650D24B314}"/>
              </a:ext>
            </a:extLst>
          </p:cNvPr>
          <p:cNvCxnSpPr>
            <a:cxnSpLocks/>
          </p:cNvCxnSpPr>
          <p:nvPr/>
        </p:nvCxnSpPr>
        <p:spPr>
          <a:xfrm>
            <a:off x="1290320" y="2224824"/>
            <a:ext cx="0" cy="285225"/>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87960" y="4565378"/>
            <a:ext cx="4541520" cy="461665"/>
          </a:xfrm>
          <a:prstGeom prst="rect">
            <a:avLst/>
          </a:prstGeom>
          <a:noFill/>
        </p:spPr>
        <p:txBody>
          <a:bodyPr wrap="square" rtlCol="0">
            <a:spAutoFit/>
          </a:bodyPr>
          <a:lstStyle/>
          <a:p>
            <a:r>
              <a:rPr lang="en-AU" sz="2400" dirty="0" smtClean="0"/>
              <a:t>Lower quartile = 2.5</a:t>
            </a:r>
            <a:endParaRPr lang="en-AU" sz="2400" dirty="0"/>
          </a:p>
        </p:txBody>
      </p:sp>
      <p:cxnSp>
        <p:nvCxnSpPr>
          <p:cNvPr id="22" name="Straight Connector 21"/>
          <p:cNvCxnSpPr/>
          <p:nvPr/>
        </p:nvCxnSpPr>
        <p:spPr>
          <a:xfrm>
            <a:off x="2804160" y="2929234"/>
            <a:ext cx="1925320" cy="508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007A0B51-37CB-41A7-A11F-14650D24B314}"/>
              </a:ext>
            </a:extLst>
          </p:cNvPr>
          <p:cNvCxnSpPr>
            <a:cxnSpLocks/>
          </p:cNvCxnSpPr>
          <p:nvPr/>
        </p:nvCxnSpPr>
        <p:spPr>
          <a:xfrm>
            <a:off x="3766820" y="2224822"/>
            <a:ext cx="0" cy="28522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187960" y="4973392"/>
            <a:ext cx="4541520" cy="461665"/>
          </a:xfrm>
          <a:prstGeom prst="rect">
            <a:avLst/>
          </a:prstGeom>
          <a:noFill/>
        </p:spPr>
        <p:txBody>
          <a:bodyPr wrap="square" rtlCol="0">
            <a:spAutoFit/>
          </a:bodyPr>
          <a:lstStyle/>
          <a:p>
            <a:r>
              <a:rPr lang="en-AU" sz="2400" dirty="0" smtClean="0"/>
              <a:t>Upper quartile = 7.5</a:t>
            </a:r>
            <a:endParaRPr lang="en-AU" sz="2400" dirty="0"/>
          </a:p>
        </p:txBody>
      </p:sp>
      <p:sp>
        <p:nvSpPr>
          <p:cNvPr id="20" name="TextBox 19"/>
          <p:cNvSpPr txBox="1"/>
          <p:nvPr/>
        </p:nvSpPr>
        <p:spPr>
          <a:xfrm>
            <a:off x="187960" y="3426210"/>
            <a:ext cx="4541520" cy="461665"/>
          </a:xfrm>
          <a:prstGeom prst="rect">
            <a:avLst/>
          </a:prstGeom>
          <a:noFill/>
        </p:spPr>
        <p:txBody>
          <a:bodyPr wrap="square" rtlCol="0">
            <a:spAutoFit/>
          </a:bodyPr>
          <a:lstStyle/>
          <a:p>
            <a:r>
              <a:rPr lang="en-AU" sz="2400" dirty="0" smtClean="0"/>
              <a:t>Minimum = 2</a:t>
            </a:r>
            <a:endParaRPr lang="en-AU" sz="2400" dirty="0"/>
          </a:p>
        </p:txBody>
      </p:sp>
      <p:sp>
        <p:nvSpPr>
          <p:cNvPr id="24" name="TextBox 23"/>
          <p:cNvSpPr txBox="1"/>
          <p:nvPr/>
        </p:nvSpPr>
        <p:spPr>
          <a:xfrm>
            <a:off x="187960" y="3774549"/>
            <a:ext cx="4541520" cy="461665"/>
          </a:xfrm>
          <a:prstGeom prst="rect">
            <a:avLst/>
          </a:prstGeom>
          <a:noFill/>
        </p:spPr>
        <p:txBody>
          <a:bodyPr wrap="square" rtlCol="0">
            <a:spAutoFit/>
          </a:bodyPr>
          <a:lstStyle/>
          <a:p>
            <a:r>
              <a:rPr lang="en-AU" sz="2400" dirty="0" smtClean="0"/>
              <a:t>Maximum = </a:t>
            </a:r>
            <a:r>
              <a:rPr lang="en-AU" sz="2400" dirty="0"/>
              <a:t>9</a:t>
            </a:r>
          </a:p>
        </p:txBody>
      </p:sp>
      <p:sp>
        <p:nvSpPr>
          <p:cNvPr id="26" name="TextBox 25"/>
          <p:cNvSpPr txBox="1"/>
          <p:nvPr/>
        </p:nvSpPr>
        <p:spPr>
          <a:xfrm>
            <a:off x="0" y="-20052"/>
            <a:ext cx="2429041"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Daily Review</a:t>
            </a:r>
            <a:endParaRPr lang="en-AU" sz="3200" dirty="0"/>
          </a:p>
        </p:txBody>
      </p:sp>
    </p:spTree>
    <p:extLst>
      <p:ext uri="{BB962C8B-B14F-4D97-AF65-F5344CB8AC3E}">
        <p14:creationId xmlns:p14="http://schemas.microsoft.com/office/powerpoint/2010/main" val="33343518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26" presetClass="emph" presetSubtype="0" fill="hold" nodeType="clickEffect">
                                  <p:stCondLst>
                                    <p:cond delay="0"/>
                                  </p:stCondLst>
                                  <p:childTnLst>
                                    <p:animEffect transition="out" filter="fade">
                                      <p:cBhvr>
                                        <p:cTn id="14" dur="500" tmFilter="0, 0; .2, .5; .8, .5; 1, 0"/>
                                        <p:tgtEl>
                                          <p:spTgt spid="10"/>
                                        </p:tgtEl>
                                      </p:cBhvr>
                                    </p:animEffect>
                                    <p:animScale>
                                      <p:cBhvr>
                                        <p:cTn id="15" dur="250" autoRev="1" fill="hold"/>
                                        <p:tgtEl>
                                          <p:spTgt spid="10"/>
                                        </p:tgtEl>
                                      </p:cBhvr>
                                      <p:by x="105000" y="105000"/>
                                    </p:animScale>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7"/>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26" presetClass="emph" presetSubtype="0" fill="hold" nodeType="clickEffect">
                                  <p:stCondLst>
                                    <p:cond delay="0"/>
                                  </p:stCondLst>
                                  <p:childTnLst>
                                    <p:animEffect transition="out" filter="fade">
                                      <p:cBhvr>
                                        <p:cTn id="31" dur="500" tmFilter="0, 0; .2, .5; .8, .5; 1, 0"/>
                                        <p:tgtEl>
                                          <p:spTgt spid="11"/>
                                        </p:tgtEl>
                                      </p:cBhvr>
                                    </p:animEffect>
                                    <p:animScale>
                                      <p:cBhvr>
                                        <p:cTn id="32" dur="250" autoRev="1" fill="hold"/>
                                        <p:tgtEl>
                                          <p:spTgt spid="11"/>
                                        </p:tgtEl>
                                      </p:cBhvr>
                                      <p:by x="105000" y="105000"/>
                                    </p:animScale>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21"/>
                                        </p:tgtEl>
                                        <p:attrNameLst>
                                          <p:attrName>style.visibility</p:attrName>
                                        </p:attrNameLst>
                                      </p:cBhvr>
                                      <p:to>
                                        <p:strVal val="visible"/>
                                      </p:to>
                                    </p:set>
                                  </p:childTnLst>
                                </p:cTn>
                              </p:par>
                            </p:childTnLst>
                          </p:cTn>
                        </p:par>
                      </p:childTnLst>
                    </p:cTn>
                  </p:par>
                  <p:par>
                    <p:cTn id="45" fill="hold">
                      <p:stCondLst>
                        <p:cond delay="indefinite"/>
                      </p:stCondLst>
                      <p:childTnLst>
                        <p:par>
                          <p:cTn id="46" fill="hold">
                            <p:stCondLst>
                              <p:cond delay="0"/>
                            </p:stCondLst>
                            <p:childTnLst>
                              <p:par>
                                <p:cTn id="47" presetID="26" presetClass="emph" presetSubtype="0" fill="hold" nodeType="clickEffect">
                                  <p:stCondLst>
                                    <p:cond delay="0"/>
                                  </p:stCondLst>
                                  <p:childTnLst>
                                    <p:animEffect transition="out" filter="fade">
                                      <p:cBhvr>
                                        <p:cTn id="48" dur="500" tmFilter="0, 0; .2, .5; .8, .5; 1, 0"/>
                                        <p:tgtEl>
                                          <p:spTgt spid="12"/>
                                        </p:tgtEl>
                                      </p:cBhvr>
                                    </p:animEffect>
                                    <p:animScale>
                                      <p:cBhvr>
                                        <p:cTn id="49" dur="250" autoRev="1" fill="hold"/>
                                        <p:tgtEl>
                                          <p:spTgt spid="12"/>
                                        </p:tgtEl>
                                      </p:cBhvr>
                                      <p:by x="105000" y="105000"/>
                                    </p:animScale>
                                  </p:childTnLst>
                                </p:cTn>
                              </p:par>
                            </p:childTnLst>
                          </p:cTn>
                        </p:par>
                      </p:childTnLst>
                    </p:cTn>
                  </p:par>
                  <p:par>
                    <p:cTn id="50" fill="hold">
                      <p:stCondLst>
                        <p:cond delay="indefinite"/>
                      </p:stCondLst>
                      <p:childTnLst>
                        <p:par>
                          <p:cTn id="51" fill="hold">
                            <p:stCondLst>
                              <p:cond delay="0"/>
                            </p:stCondLst>
                            <p:childTnLst>
                              <p:par>
                                <p:cTn id="52" presetID="1" presetClass="entr" presetSubtype="0" fill="hold" nodeType="clickEffect">
                                  <p:stCondLst>
                                    <p:cond delay="0"/>
                                  </p:stCondLst>
                                  <p:childTnLst>
                                    <p:set>
                                      <p:cBhvr>
                                        <p:cTn id="53" dur="1" fill="hold">
                                          <p:stCondLst>
                                            <p:cond delay="0"/>
                                          </p:stCondLst>
                                        </p:cTn>
                                        <p:tgtEl>
                                          <p:spTgt spid="22"/>
                                        </p:tgtEl>
                                        <p:attrNameLst>
                                          <p:attrName>style.visibility</p:attrName>
                                        </p:attrNameLst>
                                      </p:cBhvr>
                                      <p:to>
                                        <p:strVal val="visible"/>
                                      </p:to>
                                    </p:set>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nodeType="clickEffect">
                                  <p:stCondLst>
                                    <p:cond delay="0"/>
                                  </p:stCondLst>
                                  <p:childTnLst>
                                    <p:set>
                                      <p:cBhvr>
                                        <p:cTn id="57" dur="1" fill="hold">
                                          <p:stCondLst>
                                            <p:cond delay="0"/>
                                          </p:stCondLst>
                                        </p:cTn>
                                        <p:tgtEl>
                                          <p:spTgt spid="23"/>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grpId="0" nodeType="clickEffect">
                                  <p:stCondLst>
                                    <p:cond delay="0"/>
                                  </p:stCondLst>
                                  <p:childTnLst>
                                    <p:set>
                                      <p:cBhvr>
                                        <p:cTn id="61"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21" grpId="0"/>
      <p:bldP spid="25" grpId="0"/>
      <p:bldP spid="20" grpId="0"/>
      <p:bldP spid="2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0" y="0"/>
            <a:ext cx="3433207" cy="584775"/>
          </a:xfrm>
          <a:prstGeom prst="homePlate">
            <a:avLst/>
          </a:prstGeom>
          <a:solidFill>
            <a:schemeClr val="accent5">
              <a:lumMod val="50000"/>
            </a:schemeClr>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3200" dirty="0" smtClean="0"/>
              <a:t>Learning Objective</a:t>
            </a:r>
            <a:endParaRPr lang="en-AU" sz="3200" dirty="0"/>
          </a:p>
        </p:txBody>
      </p:sp>
      <p:sp>
        <p:nvSpPr>
          <p:cNvPr id="7" name="TextBox 6"/>
          <p:cNvSpPr txBox="1"/>
          <p:nvPr/>
        </p:nvSpPr>
        <p:spPr>
          <a:xfrm>
            <a:off x="0" y="2548141"/>
            <a:ext cx="2956373" cy="584775"/>
          </a:xfrm>
          <a:prstGeom prst="homePlate">
            <a:avLst/>
          </a:prstGeom>
          <a:solidFill>
            <a:schemeClr val="accent5">
              <a:lumMod val="50000"/>
            </a:schemeClr>
          </a:solidFill>
        </p:spPr>
        <p:style>
          <a:lnRef idx="0">
            <a:schemeClr val="accent6"/>
          </a:lnRef>
          <a:fillRef idx="3">
            <a:schemeClr val="accent6"/>
          </a:fillRef>
          <a:effectRef idx="3">
            <a:schemeClr val="accent6"/>
          </a:effectRef>
          <a:fontRef idx="minor">
            <a:schemeClr val="lt1"/>
          </a:fontRef>
        </p:style>
        <p:txBody>
          <a:bodyPr wrap="square" rtlCol="0">
            <a:spAutoFit/>
          </a:bodyPr>
          <a:lstStyle/>
          <a:p>
            <a:r>
              <a:rPr lang="en-AU" sz="3200" dirty="0" smtClean="0"/>
              <a:t>Success Criteria</a:t>
            </a:r>
            <a:endParaRPr lang="en-AU" sz="3200" dirty="0"/>
          </a:p>
        </p:txBody>
      </p:sp>
      <p:graphicFrame>
        <p:nvGraphicFramePr>
          <p:cNvPr id="22" name="Table 21"/>
          <p:cNvGraphicFramePr>
            <a:graphicFrameLocks noGrp="1"/>
          </p:cNvGraphicFramePr>
          <p:nvPr>
            <p:extLst/>
          </p:nvPr>
        </p:nvGraphicFramePr>
        <p:xfrm>
          <a:off x="9505808" y="0"/>
          <a:ext cx="2686192" cy="736600"/>
        </p:xfrm>
        <a:graphic>
          <a:graphicData uri="http://schemas.openxmlformats.org/drawingml/2006/table">
            <a:tbl>
              <a:tblPr firstRow="1" bandRow="1">
                <a:tableStyleId>{21E4AEA4-8DFA-4A89-87EB-49C32662AFE0}</a:tableStyleId>
              </a:tblPr>
              <a:tblGrid>
                <a:gridCol w="2686192">
                  <a:extLst>
                    <a:ext uri="{9D8B030D-6E8A-4147-A177-3AD203B41FA5}">
                      <a16:colId xmlns:a16="http://schemas.microsoft.com/office/drawing/2014/main" val="20000"/>
                    </a:ext>
                  </a:extLst>
                </a:gridCol>
              </a:tblGrid>
              <a:tr h="353527">
                <a:tc>
                  <a:txBody>
                    <a:bodyPr/>
                    <a:lstStyle/>
                    <a:p>
                      <a:r>
                        <a:rPr lang="en-AU" dirty="0" smtClean="0"/>
                        <a:t>CFU 1</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What will we learn?</a:t>
                      </a:r>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23" name="Table 22"/>
          <p:cNvGraphicFramePr>
            <a:graphicFrameLocks noGrp="1"/>
          </p:cNvGraphicFramePr>
          <p:nvPr>
            <p:extLst/>
          </p:nvPr>
        </p:nvGraphicFramePr>
        <p:xfrm>
          <a:off x="9505808" y="995680"/>
          <a:ext cx="2686192" cy="736600"/>
        </p:xfrm>
        <a:graphic>
          <a:graphicData uri="http://schemas.openxmlformats.org/drawingml/2006/table">
            <a:tbl>
              <a:tblPr firstRow="1" bandRow="1">
                <a:tableStyleId>{21E4AEA4-8DFA-4A89-87EB-49C32662AFE0}</a:tableStyleId>
              </a:tblPr>
              <a:tblGrid>
                <a:gridCol w="2686192">
                  <a:extLst>
                    <a:ext uri="{9D8B030D-6E8A-4147-A177-3AD203B41FA5}">
                      <a16:colId xmlns:a16="http://schemas.microsoft.com/office/drawing/2014/main" val="20000"/>
                    </a:ext>
                  </a:extLst>
                </a:gridCol>
              </a:tblGrid>
              <a:tr h="353527">
                <a:tc>
                  <a:txBody>
                    <a:bodyPr/>
                    <a:lstStyle/>
                    <a:p>
                      <a:r>
                        <a:rPr lang="en-AU" dirty="0" smtClean="0"/>
                        <a:t>CFU 2</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What will we learn?</a:t>
                      </a:r>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24" name="Table 23"/>
          <p:cNvGraphicFramePr>
            <a:graphicFrameLocks noGrp="1"/>
          </p:cNvGraphicFramePr>
          <p:nvPr>
            <p:extLst/>
          </p:nvPr>
        </p:nvGraphicFramePr>
        <p:xfrm>
          <a:off x="9505808" y="1960880"/>
          <a:ext cx="2686192" cy="1005840"/>
        </p:xfrm>
        <a:graphic>
          <a:graphicData uri="http://schemas.openxmlformats.org/drawingml/2006/table">
            <a:tbl>
              <a:tblPr firstRow="1" bandRow="1">
                <a:tableStyleId>{21E4AEA4-8DFA-4A89-87EB-49C32662AFE0}</a:tableStyleId>
              </a:tblPr>
              <a:tblGrid>
                <a:gridCol w="2686192">
                  <a:extLst>
                    <a:ext uri="{9D8B030D-6E8A-4147-A177-3AD203B41FA5}">
                      <a16:colId xmlns:a16="http://schemas.microsoft.com/office/drawing/2014/main" val="20000"/>
                    </a:ext>
                  </a:extLst>
                </a:gridCol>
              </a:tblGrid>
              <a:tr h="353527">
                <a:tc>
                  <a:txBody>
                    <a:bodyPr/>
                    <a:lstStyle/>
                    <a:p>
                      <a:r>
                        <a:rPr lang="en-AU" dirty="0" smtClean="0"/>
                        <a:t>CFU 3</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How will</a:t>
                      </a:r>
                      <a:r>
                        <a:rPr lang="en-AU" baseline="0" dirty="0" smtClean="0"/>
                        <a:t> we know if we’ve been successful?</a:t>
                      </a:r>
                      <a:endParaRPr lang="en-AU" dirty="0" smtClean="0"/>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25" name="Table 24"/>
          <p:cNvGraphicFramePr>
            <a:graphicFrameLocks noGrp="1"/>
          </p:cNvGraphicFramePr>
          <p:nvPr>
            <p:extLst/>
          </p:nvPr>
        </p:nvGraphicFramePr>
        <p:xfrm>
          <a:off x="9505808" y="3175000"/>
          <a:ext cx="2686192" cy="1005840"/>
        </p:xfrm>
        <a:graphic>
          <a:graphicData uri="http://schemas.openxmlformats.org/drawingml/2006/table">
            <a:tbl>
              <a:tblPr firstRow="1" bandRow="1">
                <a:tableStyleId>{21E4AEA4-8DFA-4A89-87EB-49C32662AFE0}</a:tableStyleId>
              </a:tblPr>
              <a:tblGrid>
                <a:gridCol w="2686192">
                  <a:extLst>
                    <a:ext uri="{9D8B030D-6E8A-4147-A177-3AD203B41FA5}">
                      <a16:colId xmlns:a16="http://schemas.microsoft.com/office/drawing/2014/main" val="20000"/>
                    </a:ext>
                  </a:extLst>
                </a:gridCol>
              </a:tblGrid>
              <a:tr h="353527">
                <a:tc>
                  <a:txBody>
                    <a:bodyPr/>
                    <a:lstStyle/>
                    <a:p>
                      <a:r>
                        <a:rPr lang="en-AU" dirty="0" smtClean="0"/>
                        <a:t>CFU 4</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How will we know if we’ve been successful?</a:t>
                      </a:r>
                    </a:p>
                  </a:txBody>
                  <a:tcPr>
                    <a:solidFill>
                      <a:schemeClr val="bg2"/>
                    </a:solidFill>
                  </a:tcPr>
                </a:tc>
                <a:extLst>
                  <a:ext uri="{0D108BD9-81ED-4DB2-BD59-A6C34878D82A}">
                    <a16:rowId xmlns:a16="http://schemas.microsoft.com/office/drawing/2014/main" val="10001"/>
                  </a:ext>
                </a:extLst>
              </a:tr>
            </a:tbl>
          </a:graphicData>
        </a:graphic>
      </p:graphicFrame>
      <p:sp>
        <p:nvSpPr>
          <p:cNvPr id="11" name="Content Placeholder 1"/>
          <p:cNvSpPr>
            <a:spLocks noGrp="1"/>
          </p:cNvSpPr>
          <p:nvPr>
            <p:ph sz="half" idx="1"/>
          </p:nvPr>
        </p:nvSpPr>
        <p:spPr>
          <a:xfrm>
            <a:off x="203200" y="795929"/>
            <a:ext cx="8873482" cy="2285216"/>
          </a:xfrm>
        </p:spPr>
        <p:txBody>
          <a:bodyPr>
            <a:normAutofit/>
          </a:bodyPr>
          <a:lstStyle/>
          <a:p>
            <a:pPr marL="0" indent="0">
              <a:buNone/>
            </a:pPr>
            <a:r>
              <a:rPr lang="en-AU" b="1" dirty="0" smtClean="0"/>
              <a:t>I will draw boxplots and find the range and interquartile range of a data set.</a:t>
            </a:r>
            <a:endParaRPr lang="en-AU" dirty="0" smtClean="0"/>
          </a:p>
        </p:txBody>
      </p:sp>
      <p:sp>
        <p:nvSpPr>
          <p:cNvPr id="12" name="Content Placeholder 2"/>
          <p:cNvSpPr txBox="1">
            <a:spLocks/>
          </p:cNvSpPr>
          <p:nvPr/>
        </p:nvSpPr>
        <p:spPr>
          <a:xfrm>
            <a:off x="249168" y="3635312"/>
            <a:ext cx="8771965" cy="2499631"/>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AU" b="1" dirty="0" smtClean="0"/>
              <a:t>I will be able to:</a:t>
            </a:r>
          </a:p>
          <a:p>
            <a:r>
              <a:rPr lang="en-AU" b="1" dirty="0" smtClean="0"/>
              <a:t>Calculate the range by identifying the maximum and minimum in a data set.</a:t>
            </a:r>
          </a:p>
          <a:p>
            <a:r>
              <a:rPr lang="en-AU" b="1" dirty="0" smtClean="0"/>
              <a:t>Calculate the interquartile range by identifying the lower quartile and the upper quartile in a data set.</a:t>
            </a:r>
          </a:p>
        </p:txBody>
      </p:sp>
    </p:spTree>
    <p:extLst>
      <p:ext uri="{BB962C8B-B14F-4D97-AF65-F5344CB8AC3E}">
        <p14:creationId xmlns:p14="http://schemas.microsoft.com/office/powerpoint/2010/main" val="30667768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6" presetClass="emph" presetSubtype="0" fill="hold" nodeType="clickEffect">
                                  <p:stCondLst>
                                    <p:cond delay="0"/>
                                  </p:stCondLst>
                                  <p:childTnLst>
                                    <p:animEffect transition="out" filter="fade">
                                      <p:cBhvr>
                                        <p:cTn id="6" dur="500" tmFilter="0, 0; .2, .5; .8, .5; 1, 0"/>
                                        <p:tgtEl>
                                          <p:spTgt spid="22"/>
                                        </p:tgtEl>
                                      </p:cBhvr>
                                    </p:animEffect>
                                    <p:animScale>
                                      <p:cBhvr>
                                        <p:cTn id="7" dur="250" autoRev="1" fill="hold"/>
                                        <p:tgtEl>
                                          <p:spTgt spid="22"/>
                                        </p:tgtEl>
                                      </p:cBhvr>
                                      <p:by x="105000" y="105000"/>
                                    </p:animScale>
                                  </p:childTnLst>
                                </p:cTn>
                              </p:par>
                            </p:childTnLst>
                          </p:cTn>
                        </p:par>
                      </p:childTnLst>
                    </p:cTn>
                  </p:par>
                  <p:par>
                    <p:cTn id="8" fill="hold">
                      <p:stCondLst>
                        <p:cond delay="indefinite"/>
                      </p:stCondLst>
                      <p:childTnLst>
                        <p:par>
                          <p:cTn id="9" fill="hold">
                            <p:stCondLst>
                              <p:cond delay="0"/>
                            </p:stCondLst>
                            <p:childTnLst>
                              <p:par>
                                <p:cTn id="10" presetID="26" presetClass="emph" presetSubtype="0" fill="hold" nodeType="clickEffect">
                                  <p:stCondLst>
                                    <p:cond delay="0"/>
                                  </p:stCondLst>
                                  <p:childTnLst>
                                    <p:animEffect transition="out" filter="fade">
                                      <p:cBhvr>
                                        <p:cTn id="11" dur="500" tmFilter="0, 0; .2, .5; .8, .5; 1, 0"/>
                                        <p:tgtEl>
                                          <p:spTgt spid="23"/>
                                        </p:tgtEl>
                                      </p:cBhvr>
                                    </p:animEffect>
                                    <p:animScale>
                                      <p:cBhvr>
                                        <p:cTn id="12" dur="250" autoRev="1" fill="hold"/>
                                        <p:tgtEl>
                                          <p:spTgt spid="23"/>
                                        </p:tgtEl>
                                      </p:cBhvr>
                                      <p:by x="105000" y="105000"/>
                                    </p:animScale>
                                  </p:childTnLst>
                                </p:cTn>
                              </p:par>
                            </p:childTnLst>
                          </p:cTn>
                        </p:par>
                      </p:childTnLst>
                    </p:cTn>
                  </p:par>
                  <p:par>
                    <p:cTn id="13" fill="hold">
                      <p:stCondLst>
                        <p:cond delay="indefinite"/>
                      </p:stCondLst>
                      <p:childTnLst>
                        <p:par>
                          <p:cTn id="14" fill="hold">
                            <p:stCondLst>
                              <p:cond delay="0"/>
                            </p:stCondLst>
                            <p:childTnLst>
                              <p:par>
                                <p:cTn id="15" presetID="26" presetClass="emph" presetSubtype="0" fill="hold" nodeType="clickEffect">
                                  <p:stCondLst>
                                    <p:cond delay="0"/>
                                  </p:stCondLst>
                                  <p:childTnLst>
                                    <p:animEffect transition="out" filter="fade">
                                      <p:cBhvr>
                                        <p:cTn id="16" dur="500" tmFilter="0, 0; .2, .5; .8, .5; 1, 0"/>
                                        <p:tgtEl>
                                          <p:spTgt spid="24"/>
                                        </p:tgtEl>
                                      </p:cBhvr>
                                    </p:animEffect>
                                    <p:animScale>
                                      <p:cBhvr>
                                        <p:cTn id="17" dur="250" autoRev="1" fill="hold"/>
                                        <p:tgtEl>
                                          <p:spTgt spid="24"/>
                                        </p:tgtEl>
                                      </p:cBhvr>
                                      <p:by x="105000" y="105000"/>
                                    </p:animScale>
                                  </p:childTnLst>
                                </p:cTn>
                              </p:par>
                            </p:childTnLst>
                          </p:cTn>
                        </p:par>
                      </p:childTnLst>
                    </p:cTn>
                  </p:par>
                  <p:par>
                    <p:cTn id="18" fill="hold">
                      <p:stCondLst>
                        <p:cond delay="indefinite"/>
                      </p:stCondLst>
                      <p:childTnLst>
                        <p:par>
                          <p:cTn id="19" fill="hold">
                            <p:stCondLst>
                              <p:cond delay="0"/>
                            </p:stCondLst>
                            <p:childTnLst>
                              <p:par>
                                <p:cTn id="20" presetID="26" presetClass="emph" presetSubtype="0" fill="hold" nodeType="clickEffect">
                                  <p:stCondLst>
                                    <p:cond delay="0"/>
                                  </p:stCondLst>
                                  <p:childTnLst>
                                    <p:animEffect transition="out" filter="fade">
                                      <p:cBhvr>
                                        <p:cTn id="21" dur="500" tmFilter="0, 0; .2, .5; .8, .5; 1, 0"/>
                                        <p:tgtEl>
                                          <p:spTgt spid="25"/>
                                        </p:tgtEl>
                                      </p:cBhvr>
                                    </p:animEffect>
                                    <p:animScale>
                                      <p:cBhvr>
                                        <p:cTn id="22" dur="250" autoRev="1" fill="hold"/>
                                        <p:tgtEl>
                                          <p:spTgt spid="25"/>
                                        </p:tgtEl>
                                      </p:cBhvr>
                                      <p:by x="105000" y="105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0052"/>
            <a:ext cx="4023093"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Concept Development</a:t>
            </a:r>
            <a:endParaRPr lang="en-AU" sz="3200" dirty="0"/>
          </a:p>
        </p:txBody>
      </p:sp>
      <p:graphicFrame>
        <p:nvGraphicFramePr>
          <p:cNvPr id="5" name="Table 4"/>
          <p:cNvGraphicFramePr>
            <a:graphicFrameLocks noGrp="1"/>
          </p:cNvGraphicFramePr>
          <p:nvPr>
            <p:extLst/>
          </p:nvPr>
        </p:nvGraphicFramePr>
        <p:xfrm>
          <a:off x="7350760" y="0"/>
          <a:ext cx="4841240" cy="736600"/>
        </p:xfrm>
        <a:graphic>
          <a:graphicData uri="http://schemas.openxmlformats.org/drawingml/2006/table">
            <a:tbl>
              <a:tblPr firstRow="1" bandRow="1">
                <a:tableStyleId>{21E4AEA4-8DFA-4A89-87EB-49C32662AFE0}</a:tableStyleId>
              </a:tblPr>
              <a:tblGrid>
                <a:gridCol w="4841240">
                  <a:extLst>
                    <a:ext uri="{9D8B030D-6E8A-4147-A177-3AD203B41FA5}">
                      <a16:colId xmlns:a16="http://schemas.microsoft.com/office/drawing/2014/main" val="20000"/>
                    </a:ext>
                  </a:extLst>
                </a:gridCol>
              </a:tblGrid>
              <a:tr h="353527">
                <a:tc>
                  <a:txBody>
                    <a:bodyPr/>
                    <a:lstStyle/>
                    <a:p>
                      <a:r>
                        <a:rPr lang="en-AU" dirty="0" smtClean="0"/>
                        <a:t>CFU 1</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What information</a:t>
                      </a:r>
                      <a:r>
                        <a:rPr lang="en-AU" baseline="0" dirty="0" smtClean="0"/>
                        <a:t> do we need to draw a box plot?</a:t>
                      </a:r>
                      <a:endParaRPr lang="en-AU" dirty="0" smtClean="0"/>
                    </a:p>
                  </a:txBody>
                  <a:tcPr>
                    <a:solidFill>
                      <a:schemeClr val="bg2"/>
                    </a:solidFill>
                  </a:tcPr>
                </a:tc>
                <a:extLst>
                  <a:ext uri="{0D108BD9-81ED-4DB2-BD59-A6C34878D82A}">
                    <a16:rowId xmlns:a16="http://schemas.microsoft.com/office/drawing/2014/main" val="10001"/>
                  </a:ext>
                </a:extLst>
              </a:tr>
            </a:tbl>
          </a:graphicData>
        </a:graphic>
      </p:graphicFrame>
      <p:sp>
        <p:nvSpPr>
          <p:cNvPr id="3" name="TextBox 2"/>
          <p:cNvSpPr txBox="1"/>
          <p:nvPr/>
        </p:nvSpPr>
        <p:spPr>
          <a:xfrm>
            <a:off x="157480" y="695960"/>
            <a:ext cx="11485880" cy="3046988"/>
          </a:xfrm>
          <a:prstGeom prst="rect">
            <a:avLst/>
          </a:prstGeom>
          <a:noFill/>
        </p:spPr>
        <p:txBody>
          <a:bodyPr wrap="square" rtlCol="0">
            <a:spAutoFit/>
          </a:bodyPr>
          <a:lstStyle/>
          <a:p>
            <a:r>
              <a:rPr lang="en-AU" sz="2400" dirty="0" smtClean="0"/>
              <a:t>The box plot is a quick way of examining and comparing sets of data graphically.</a:t>
            </a:r>
          </a:p>
          <a:p>
            <a:endParaRPr lang="en-AU" sz="2400" dirty="0"/>
          </a:p>
          <a:p>
            <a:r>
              <a:rPr lang="en-AU" sz="2400" dirty="0" smtClean="0"/>
              <a:t>The box plot is based on five pieces of information from a data set:</a:t>
            </a:r>
          </a:p>
          <a:p>
            <a:pPr marL="285750" indent="-285750">
              <a:buFont typeface="Arial" panose="020B0604020202020204" pitchFamily="34" charset="0"/>
              <a:buChar char="•"/>
            </a:pPr>
            <a:r>
              <a:rPr lang="en-AU" sz="2400" dirty="0" smtClean="0"/>
              <a:t>The minimum</a:t>
            </a:r>
          </a:p>
          <a:p>
            <a:pPr marL="285750" indent="-285750">
              <a:buFont typeface="Arial" panose="020B0604020202020204" pitchFamily="34" charset="0"/>
              <a:buChar char="•"/>
            </a:pPr>
            <a:r>
              <a:rPr lang="en-AU" sz="2400" dirty="0" smtClean="0"/>
              <a:t>The lower quartile</a:t>
            </a:r>
          </a:p>
          <a:p>
            <a:pPr marL="285750" indent="-285750">
              <a:buFont typeface="Arial" panose="020B0604020202020204" pitchFamily="34" charset="0"/>
              <a:buChar char="•"/>
            </a:pPr>
            <a:r>
              <a:rPr lang="en-AU" sz="2400" dirty="0" smtClean="0"/>
              <a:t>The median</a:t>
            </a:r>
          </a:p>
          <a:p>
            <a:pPr marL="285750" indent="-285750">
              <a:buFont typeface="Arial" panose="020B0604020202020204" pitchFamily="34" charset="0"/>
              <a:buChar char="•"/>
            </a:pPr>
            <a:r>
              <a:rPr lang="en-AU" sz="2400" dirty="0" smtClean="0"/>
              <a:t>The upper quartile</a:t>
            </a:r>
          </a:p>
          <a:p>
            <a:pPr marL="285750" indent="-285750">
              <a:buFont typeface="Arial" panose="020B0604020202020204" pitchFamily="34" charset="0"/>
              <a:buChar char="•"/>
            </a:pPr>
            <a:r>
              <a:rPr lang="en-AU" sz="2400" dirty="0" smtClean="0"/>
              <a:t>The maximum. </a:t>
            </a:r>
            <a:endParaRPr lang="en-AU" sz="2400" dirty="0"/>
          </a:p>
        </p:txBody>
      </p:sp>
      <p:pic>
        <p:nvPicPr>
          <p:cNvPr id="8" name="Picture 7"/>
          <p:cNvPicPr>
            <a:picLocks noChangeAspect="1"/>
          </p:cNvPicPr>
          <p:nvPr/>
        </p:nvPicPr>
        <p:blipFill>
          <a:blip r:embed="rId2"/>
          <a:stretch>
            <a:fillRect/>
          </a:stretch>
        </p:blipFill>
        <p:spPr>
          <a:xfrm>
            <a:off x="3193415" y="2293402"/>
            <a:ext cx="8286292" cy="2899092"/>
          </a:xfrm>
          <a:prstGeom prst="rect">
            <a:avLst/>
          </a:prstGeom>
        </p:spPr>
      </p:pic>
      <p:sp>
        <p:nvSpPr>
          <p:cNvPr id="2" name="TextBox 1"/>
          <p:cNvSpPr txBox="1"/>
          <p:nvPr/>
        </p:nvSpPr>
        <p:spPr>
          <a:xfrm>
            <a:off x="441960" y="5425440"/>
            <a:ext cx="4038600" cy="923330"/>
          </a:xfrm>
          <a:prstGeom prst="rect">
            <a:avLst/>
          </a:prstGeom>
          <a:noFill/>
        </p:spPr>
        <p:txBody>
          <a:bodyPr wrap="square" rtlCol="0">
            <a:spAutoFit/>
          </a:bodyPr>
          <a:lstStyle/>
          <a:p>
            <a:pPr algn="ctr"/>
            <a:r>
              <a:rPr lang="en-AU" b="1" dirty="0" smtClean="0">
                <a:solidFill>
                  <a:srgbClr val="FF0000"/>
                </a:solidFill>
              </a:rPr>
              <a:t>The bottom 25% of the data is in the section from the minimum to the lower quartile (Q1).</a:t>
            </a:r>
            <a:endParaRPr lang="en-AU" b="1" dirty="0">
              <a:solidFill>
                <a:srgbClr val="FF0000"/>
              </a:solidFill>
            </a:endParaRPr>
          </a:p>
        </p:txBody>
      </p:sp>
      <p:cxnSp>
        <p:nvCxnSpPr>
          <p:cNvPr id="10" name="Straight Arrow Connector 9"/>
          <p:cNvCxnSpPr/>
          <p:nvPr/>
        </p:nvCxnSpPr>
        <p:spPr>
          <a:xfrm flipV="1">
            <a:off x="2575560" y="4006056"/>
            <a:ext cx="2743200" cy="1419384"/>
          </a:xfrm>
          <a:prstGeom prst="straightConnector1">
            <a:avLst/>
          </a:prstGeom>
          <a:ln w="57150">
            <a:solidFill>
              <a:srgbClr val="FF0000"/>
            </a:solidFill>
            <a:tailEnd type="triangle"/>
          </a:ln>
        </p:spPr>
        <p:style>
          <a:lnRef idx="1">
            <a:schemeClr val="accent1"/>
          </a:lnRef>
          <a:fillRef idx="0">
            <a:schemeClr val="accent1"/>
          </a:fillRef>
          <a:effectRef idx="0">
            <a:schemeClr val="accent1"/>
          </a:effectRef>
          <a:fontRef idx="minor">
            <a:schemeClr val="tx1"/>
          </a:fontRef>
        </p:style>
      </p:cxnSp>
      <p:sp>
        <p:nvSpPr>
          <p:cNvPr id="11" name="Right Brace 10"/>
          <p:cNvSpPr/>
          <p:nvPr/>
        </p:nvSpPr>
        <p:spPr>
          <a:xfrm rot="16200000">
            <a:off x="5184140" y="3043922"/>
            <a:ext cx="309880" cy="1351280"/>
          </a:xfrm>
          <a:prstGeom prst="righ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12" name="TextBox 11"/>
          <p:cNvSpPr txBox="1"/>
          <p:nvPr/>
        </p:nvSpPr>
        <p:spPr>
          <a:xfrm>
            <a:off x="4394200" y="5425440"/>
            <a:ext cx="4038600" cy="923330"/>
          </a:xfrm>
          <a:prstGeom prst="rect">
            <a:avLst/>
          </a:prstGeom>
          <a:noFill/>
        </p:spPr>
        <p:txBody>
          <a:bodyPr wrap="square" rtlCol="0">
            <a:spAutoFit/>
          </a:bodyPr>
          <a:lstStyle/>
          <a:p>
            <a:pPr algn="ctr"/>
            <a:r>
              <a:rPr lang="en-AU" b="1" dirty="0" smtClean="0">
                <a:solidFill>
                  <a:srgbClr val="0070C0"/>
                </a:solidFill>
              </a:rPr>
              <a:t>The middle 50% of the data is in the section from the lower quartile (Q1) to the upper quartile (Q3).</a:t>
            </a:r>
            <a:endParaRPr lang="en-AU" b="1" dirty="0">
              <a:solidFill>
                <a:srgbClr val="0070C0"/>
              </a:solidFill>
            </a:endParaRPr>
          </a:p>
        </p:txBody>
      </p:sp>
      <p:cxnSp>
        <p:nvCxnSpPr>
          <p:cNvPr id="13" name="Straight Arrow Connector 12"/>
          <p:cNvCxnSpPr/>
          <p:nvPr/>
        </p:nvCxnSpPr>
        <p:spPr>
          <a:xfrm flipV="1">
            <a:off x="7228840" y="4006056"/>
            <a:ext cx="782320" cy="1419384"/>
          </a:xfrm>
          <a:prstGeom prst="straightConnector1">
            <a:avLst/>
          </a:prstGeom>
          <a:ln w="57150">
            <a:solidFill>
              <a:srgbClr val="0070C0"/>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p:cNvSpPr txBox="1"/>
          <p:nvPr/>
        </p:nvSpPr>
        <p:spPr>
          <a:xfrm>
            <a:off x="8564880" y="5479314"/>
            <a:ext cx="3627120" cy="923330"/>
          </a:xfrm>
          <a:prstGeom prst="rect">
            <a:avLst/>
          </a:prstGeom>
          <a:noFill/>
          <a:ln>
            <a:noFill/>
          </a:ln>
        </p:spPr>
        <p:txBody>
          <a:bodyPr wrap="square" rtlCol="0">
            <a:spAutoFit/>
          </a:bodyPr>
          <a:lstStyle/>
          <a:p>
            <a:pPr algn="ctr"/>
            <a:r>
              <a:rPr lang="en-AU" b="1" dirty="0" smtClean="0">
                <a:solidFill>
                  <a:srgbClr val="00B050"/>
                </a:solidFill>
              </a:rPr>
              <a:t>The top 25% of the data is in the section from the upper quartile (Q3) to the maximum.</a:t>
            </a:r>
            <a:endParaRPr lang="en-AU" b="1" dirty="0">
              <a:solidFill>
                <a:srgbClr val="00B050"/>
              </a:solidFill>
            </a:endParaRPr>
          </a:p>
        </p:txBody>
      </p:sp>
      <p:cxnSp>
        <p:nvCxnSpPr>
          <p:cNvPr id="17" name="Straight Arrow Connector 16"/>
          <p:cNvCxnSpPr/>
          <p:nvPr/>
        </p:nvCxnSpPr>
        <p:spPr>
          <a:xfrm flipH="1" flipV="1">
            <a:off x="9484360" y="4029768"/>
            <a:ext cx="1102360" cy="1449546"/>
          </a:xfrm>
          <a:prstGeom prst="straightConnector1">
            <a:avLst/>
          </a:prstGeom>
          <a:ln w="5715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20" name="TextBox 19"/>
          <p:cNvSpPr txBox="1"/>
          <p:nvPr/>
        </p:nvSpPr>
        <p:spPr>
          <a:xfrm>
            <a:off x="5039995" y="2986483"/>
            <a:ext cx="860425" cy="461665"/>
          </a:xfrm>
          <a:prstGeom prst="rect">
            <a:avLst/>
          </a:prstGeom>
          <a:noFill/>
        </p:spPr>
        <p:txBody>
          <a:bodyPr wrap="square" rtlCol="0">
            <a:spAutoFit/>
          </a:bodyPr>
          <a:lstStyle/>
          <a:p>
            <a:r>
              <a:rPr lang="en-AU" sz="2400" b="1" dirty="0" smtClean="0">
                <a:solidFill>
                  <a:srgbClr val="FF0000"/>
                </a:solidFill>
              </a:rPr>
              <a:t>25%</a:t>
            </a:r>
            <a:endParaRPr lang="en-AU" sz="2400" b="1" dirty="0">
              <a:solidFill>
                <a:srgbClr val="FF0000"/>
              </a:solidFill>
            </a:endParaRPr>
          </a:p>
        </p:txBody>
      </p:sp>
      <p:sp>
        <p:nvSpPr>
          <p:cNvPr id="21" name="Right Brace 20"/>
          <p:cNvSpPr/>
          <p:nvPr/>
        </p:nvSpPr>
        <p:spPr>
          <a:xfrm rot="16200000">
            <a:off x="6565900" y="3038123"/>
            <a:ext cx="309880" cy="1351280"/>
          </a:xfrm>
          <a:prstGeom prst="rightBrace">
            <a:avLst/>
          </a:prstGeom>
          <a:ln w="381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solidFill>
                <a:srgbClr val="0070C0"/>
              </a:solidFill>
            </a:endParaRPr>
          </a:p>
        </p:txBody>
      </p:sp>
      <p:sp>
        <p:nvSpPr>
          <p:cNvPr id="22" name="TextBox 21"/>
          <p:cNvSpPr txBox="1"/>
          <p:nvPr/>
        </p:nvSpPr>
        <p:spPr>
          <a:xfrm>
            <a:off x="6421755" y="2980684"/>
            <a:ext cx="860425" cy="461665"/>
          </a:xfrm>
          <a:prstGeom prst="rect">
            <a:avLst/>
          </a:prstGeom>
          <a:noFill/>
          <a:ln>
            <a:noFill/>
          </a:ln>
        </p:spPr>
        <p:txBody>
          <a:bodyPr wrap="square" rtlCol="0">
            <a:spAutoFit/>
          </a:bodyPr>
          <a:lstStyle/>
          <a:p>
            <a:r>
              <a:rPr lang="en-AU" sz="2400" b="1" dirty="0" smtClean="0">
                <a:solidFill>
                  <a:srgbClr val="0070C0"/>
                </a:solidFill>
              </a:rPr>
              <a:t>25%</a:t>
            </a:r>
            <a:endParaRPr lang="en-AU" sz="2400" b="1" dirty="0">
              <a:solidFill>
                <a:srgbClr val="0070C0"/>
              </a:solidFill>
            </a:endParaRPr>
          </a:p>
        </p:txBody>
      </p:sp>
      <p:sp>
        <p:nvSpPr>
          <p:cNvPr id="23" name="Right Brace 22"/>
          <p:cNvSpPr/>
          <p:nvPr/>
        </p:nvSpPr>
        <p:spPr>
          <a:xfrm rot="16200000">
            <a:off x="7958543" y="3038123"/>
            <a:ext cx="309880" cy="1351280"/>
          </a:xfrm>
          <a:prstGeom prst="rightBrace">
            <a:avLst/>
          </a:prstGeom>
          <a:ln w="381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solidFill>
                <a:srgbClr val="0070C0"/>
              </a:solidFill>
            </a:endParaRPr>
          </a:p>
        </p:txBody>
      </p:sp>
      <p:sp>
        <p:nvSpPr>
          <p:cNvPr id="24" name="TextBox 23"/>
          <p:cNvSpPr txBox="1"/>
          <p:nvPr/>
        </p:nvSpPr>
        <p:spPr>
          <a:xfrm>
            <a:off x="7814398" y="2980684"/>
            <a:ext cx="860425" cy="461665"/>
          </a:xfrm>
          <a:prstGeom prst="rect">
            <a:avLst/>
          </a:prstGeom>
          <a:noFill/>
          <a:ln>
            <a:noFill/>
          </a:ln>
        </p:spPr>
        <p:txBody>
          <a:bodyPr wrap="square" rtlCol="0">
            <a:spAutoFit/>
          </a:bodyPr>
          <a:lstStyle/>
          <a:p>
            <a:r>
              <a:rPr lang="en-AU" sz="2400" b="1" dirty="0" smtClean="0">
                <a:solidFill>
                  <a:srgbClr val="0070C0"/>
                </a:solidFill>
              </a:rPr>
              <a:t>25%</a:t>
            </a:r>
            <a:endParaRPr lang="en-AU" sz="2400" b="1" dirty="0">
              <a:solidFill>
                <a:srgbClr val="0070C0"/>
              </a:solidFill>
            </a:endParaRPr>
          </a:p>
        </p:txBody>
      </p:sp>
      <p:sp>
        <p:nvSpPr>
          <p:cNvPr id="25" name="Right Brace 24"/>
          <p:cNvSpPr/>
          <p:nvPr/>
        </p:nvSpPr>
        <p:spPr>
          <a:xfrm rot="16200000">
            <a:off x="9351186" y="3046232"/>
            <a:ext cx="309880" cy="1351280"/>
          </a:xfrm>
          <a:prstGeom prst="rightBrace">
            <a:avLst/>
          </a:prstGeom>
          <a:ln w="381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solidFill>
                <a:srgbClr val="00B050"/>
              </a:solidFill>
            </a:endParaRPr>
          </a:p>
        </p:txBody>
      </p:sp>
      <p:sp>
        <p:nvSpPr>
          <p:cNvPr id="26" name="TextBox 25"/>
          <p:cNvSpPr txBox="1"/>
          <p:nvPr/>
        </p:nvSpPr>
        <p:spPr>
          <a:xfrm>
            <a:off x="9207041" y="2988793"/>
            <a:ext cx="860425" cy="461665"/>
          </a:xfrm>
          <a:prstGeom prst="rect">
            <a:avLst/>
          </a:prstGeom>
          <a:noFill/>
          <a:ln>
            <a:noFill/>
          </a:ln>
        </p:spPr>
        <p:txBody>
          <a:bodyPr wrap="square" rtlCol="0">
            <a:spAutoFit/>
          </a:bodyPr>
          <a:lstStyle/>
          <a:p>
            <a:r>
              <a:rPr lang="en-AU" sz="2400" b="1" dirty="0" smtClean="0">
                <a:solidFill>
                  <a:srgbClr val="00B050"/>
                </a:solidFill>
              </a:rPr>
              <a:t>25%</a:t>
            </a:r>
            <a:endParaRPr lang="en-AU" sz="2400" b="1" dirty="0">
              <a:solidFill>
                <a:srgbClr val="00B050"/>
              </a:solidFill>
            </a:endParaRPr>
          </a:p>
        </p:txBody>
      </p:sp>
    </p:spTree>
    <p:extLst>
      <p:ext uri="{BB962C8B-B14F-4D97-AF65-F5344CB8AC3E}">
        <p14:creationId xmlns:p14="http://schemas.microsoft.com/office/powerpoint/2010/main" val="21312104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25"/>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animBg="1"/>
      <p:bldP spid="12" grpId="0"/>
      <p:bldP spid="16" grpId="0"/>
      <p:bldP spid="20" grpId="0"/>
      <p:bldP spid="21" grpId="0" animBg="1"/>
      <p:bldP spid="22" grpId="0"/>
      <p:bldP spid="23" grpId="0" animBg="1"/>
      <p:bldP spid="24" grpId="0"/>
      <p:bldP spid="25" grpId="0" animBg="1"/>
      <p:bldP spid="2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3310182"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Skill Development</a:t>
            </a:r>
            <a:endParaRPr lang="en-AU" sz="3200" dirty="0"/>
          </a:p>
        </p:txBody>
      </p:sp>
      <p:pic>
        <p:nvPicPr>
          <p:cNvPr id="2" name="Picture 1"/>
          <p:cNvPicPr>
            <a:picLocks noChangeAspect="1"/>
          </p:cNvPicPr>
          <p:nvPr/>
        </p:nvPicPr>
        <p:blipFill>
          <a:blip r:embed="rId3"/>
          <a:stretch>
            <a:fillRect/>
          </a:stretch>
        </p:blipFill>
        <p:spPr>
          <a:xfrm>
            <a:off x="281940" y="3281680"/>
            <a:ext cx="5732780" cy="3284546"/>
          </a:xfrm>
          <a:prstGeom prst="rect">
            <a:avLst/>
          </a:prstGeom>
        </p:spPr>
      </p:pic>
      <p:sp>
        <p:nvSpPr>
          <p:cNvPr id="8" name="TextBox 7"/>
          <p:cNvSpPr txBox="1"/>
          <p:nvPr/>
        </p:nvSpPr>
        <p:spPr>
          <a:xfrm>
            <a:off x="281940" y="714534"/>
            <a:ext cx="6487160" cy="3046988"/>
          </a:xfrm>
          <a:prstGeom prst="rect">
            <a:avLst/>
          </a:prstGeom>
          <a:noFill/>
        </p:spPr>
        <p:txBody>
          <a:bodyPr wrap="square" rtlCol="0">
            <a:spAutoFit/>
          </a:bodyPr>
          <a:lstStyle/>
          <a:p>
            <a:r>
              <a:rPr lang="en-AU" sz="2400" dirty="0" smtClean="0"/>
              <a:t>Find the 5 number summary, range and </a:t>
            </a:r>
          </a:p>
          <a:p>
            <a:r>
              <a:rPr lang="en-AU" sz="2400" dirty="0" smtClean="0"/>
              <a:t>inter-quartile range for this boxplot.</a:t>
            </a:r>
          </a:p>
          <a:p>
            <a:endParaRPr lang="en-AU" sz="2400" dirty="0"/>
          </a:p>
          <a:p>
            <a:r>
              <a:rPr lang="en-AU" sz="2400" dirty="0" smtClean="0"/>
              <a:t>Minimum = </a:t>
            </a:r>
            <a:r>
              <a:rPr lang="en-AU" sz="2400" dirty="0"/>
              <a:t>1</a:t>
            </a:r>
            <a:endParaRPr lang="en-AU" sz="2400" dirty="0" smtClean="0"/>
          </a:p>
          <a:p>
            <a:r>
              <a:rPr lang="en-AU" sz="2400" dirty="0" smtClean="0"/>
              <a:t>Lower quartile (Q1) = </a:t>
            </a:r>
            <a:r>
              <a:rPr lang="en-AU" sz="2400" dirty="0"/>
              <a:t>8</a:t>
            </a:r>
          </a:p>
          <a:p>
            <a:r>
              <a:rPr lang="en-AU" sz="2400" dirty="0" smtClean="0"/>
              <a:t>Median = 10</a:t>
            </a:r>
          </a:p>
          <a:p>
            <a:r>
              <a:rPr lang="en-AU" sz="2400" dirty="0" smtClean="0"/>
              <a:t>Upper quartile (Q3) = 15</a:t>
            </a:r>
            <a:endParaRPr lang="en-AU" sz="2400" dirty="0"/>
          </a:p>
          <a:p>
            <a:r>
              <a:rPr lang="en-AU" sz="2400" dirty="0" smtClean="0"/>
              <a:t>Maximum = 20</a:t>
            </a:r>
            <a:endParaRPr lang="en-AU" sz="2400" dirty="0"/>
          </a:p>
        </p:txBody>
      </p:sp>
      <p:sp>
        <p:nvSpPr>
          <p:cNvPr id="9" name="TextBox 8"/>
          <p:cNvSpPr txBox="1"/>
          <p:nvPr/>
        </p:nvSpPr>
        <p:spPr>
          <a:xfrm>
            <a:off x="4302760" y="2374614"/>
            <a:ext cx="4058920" cy="461665"/>
          </a:xfrm>
          <a:prstGeom prst="rect">
            <a:avLst/>
          </a:prstGeom>
          <a:noFill/>
        </p:spPr>
        <p:txBody>
          <a:bodyPr wrap="square" rtlCol="0">
            <a:spAutoFit/>
          </a:bodyPr>
          <a:lstStyle/>
          <a:p>
            <a:r>
              <a:rPr lang="en-AU" sz="2400" dirty="0" smtClean="0"/>
              <a:t>Range (maximum – minimum):</a:t>
            </a:r>
            <a:endParaRPr lang="en-AU" sz="2400" dirty="0"/>
          </a:p>
        </p:txBody>
      </p:sp>
      <p:sp>
        <p:nvSpPr>
          <p:cNvPr id="10" name="TextBox 9"/>
          <p:cNvSpPr txBox="1"/>
          <p:nvPr/>
        </p:nvSpPr>
        <p:spPr>
          <a:xfrm>
            <a:off x="8290560" y="2374613"/>
            <a:ext cx="4058920" cy="461665"/>
          </a:xfrm>
          <a:prstGeom prst="rect">
            <a:avLst/>
          </a:prstGeom>
          <a:noFill/>
        </p:spPr>
        <p:txBody>
          <a:bodyPr wrap="square" rtlCol="0">
            <a:spAutoFit/>
          </a:bodyPr>
          <a:lstStyle/>
          <a:p>
            <a:r>
              <a:rPr lang="en-AU" sz="2400" dirty="0" smtClean="0"/>
              <a:t>20 – </a:t>
            </a:r>
            <a:r>
              <a:rPr lang="en-AU" sz="2400" dirty="0"/>
              <a:t>1</a:t>
            </a:r>
            <a:r>
              <a:rPr lang="en-AU" sz="2400" dirty="0" smtClean="0"/>
              <a:t> = 19</a:t>
            </a:r>
            <a:endParaRPr lang="en-AU" sz="2400" dirty="0"/>
          </a:p>
        </p:txBody>
      </p:sp>
      <p:sp>
        <p:nvSpPr>
          <p:cNvPr id="11" name="TextBox 10"/>
          <p:cNvSpPr txBox="1"/>
          <p:nvPr/>
        </p:nvSpPr>
        <p:spPr>
          <a:xfrm>
            <a:off x="4302760" y="2930525"/>
            <a:ext cx="4058920" cy="461665"/>
          </a:xfrm>
          <a:prstGeom prst="rect">
            <a:avLst/>
          </a:prstGeom>
          <a:noFill/>
        </p:spPr>
        <p:txBody>
          <a:bodyPr wrap="square" rtlCol="0">
            <a:spAutoFit/>
          </a:bodyPr>
          <a:lstStyle/>
          <a:p>
            <a:r>
              <a:rPr lang="en-AU" sz="2400" dirty="0" smtClean="0"/>
              <a:t>Inter-quartile range (Q3 – Q1):</a:t>
            </a:r>
            <a:endParaRPr lang="en-AU" sz="2400" dirty="0"/>
          </a:p>
        </p:txBody>
      </p:sp>
      <p:sp>
        <p:nvSpPr>
          <p:cNvPr id="12" name="TextBox 11"/>
          <p:cNvSpPr txBox="1"/>
          <p:nvPr/>
        </p:nvSpPr>
        <p:spPr>
          <a:xfrm>
            <a:off x="8255000" y="2930524"/>
            <a:ext cx="4058920" cy="461665"/>
          </a:xfrm>
          <a:prstGeom prst="rect">
            <a:avLst/>
          </a:prstGeom>
          <a:noFill/>
        </p:spPr>
        <p:txBody>
          <a:bodyPr wrap="square" rtlCol="0">
            <a:spAutoFit/>
          </a:bodyPr>
          <a:lstStyle/>
          <a:p>
            <a:r>
              <a:rPr lang="en-AU" sz="2400" dirty="0" smtClean="0"/>
              <a:t>15 – </a:t>
            </a:r>
            <a:r>
              <a:rPr lang="en-AU" sz="2400" dirty="0"/>
              <a:t>8</a:t>
            </a:r>
            <a:r>
              <a:rPr lang="en-AU" sz="2400" dirty="0" smtClean="0"/>
              <a:t> = </a:t>
            </a:r>
            <a:r>
              <a:rPr lang="en-AU" sz="2400" dirty="0"/>
              <a:t>7</a:t>
            </a:r>
          </a:p>
        </p:txBody>
      </p:sp>
      <p:sp>
        <p:nvSpPr>
          <p:cNvPr id="14" name="TextBox 13"/>
          <p:cNvSpPr txBox="1"/>
          <p:nvPr/>
        </p:nvSpPr>
        <p:spPr>
          <a:xfrm>
            <a:off x="6070600" y="3765920"/>
            <a:ext cx="4058920" cy="830997"/>
          </a:xfrm>
          <a:prstGeom prst="rect">
            <a:avLst/>
          </a:prstGeom>
          <a:noFill/>
        </p:spPr>
        <p:txBody>
          <a:bodyPr wrap="square" rtlCol="0">
            <a:spAutoFit/>
          </a:bodyPr>
          <a:lstStyle/>
          <a:p>
            <a:pPr algn="ctr"/>
            <a:r>
              <a:rPr lang="en-AU" sz="2400" dirty="0" smtClean="0"/>
              <a:t>What was the range in the first quartile of scores?</a:t>
            </a:r>
            <a:endParaRPr lang="en-AU" sz="2400" dirty="0"/>
          </a:p>
        </p:txBody>
      </p:sp>
      <p:sp>
        <p:nvSpPr>
          <p:cNvPr id="15" name="TextBox 14"/>
          <p:cNvSpPr txBox="1"/>
          <p:nvPr/>
        </p:nvSpPr>
        <p:spPr>
          <a:xfrm>
            <a:off x="7264400" y="4596917"/>
            <a:ext cx="4058920" cy="461665"/>
          </a:xfrm>
          <a:prstGeom prst="rect">
            <a:avLst/>
          </a:prstGeom>
          <a:noFill/>
        </p:spPr>
        <p:txBody>
          <a:bodyPr wrap="square" rtlCol="0">
            <a:spAutoFit/>
          </a:bodyPr>
          <a:lstStyle/>
          <a:p>
            <a:r>
              <a:rPr lang="en-AU" sz="2400" dirty="0"/>
              <a:t>8</a:t>
            </a:r>
            <a:r>
              <a:rPr lang="en-AU" sz="2400" dirty="0" smtClean="0"/>
              <a:t> – </a:t>
            </a:r>
            <a:r>
              <a:rPr lang="en-AU" sz="2400" dirty="0"/>
              <a:t>1</a:t>
            </a:r>
            <a:r>
              <a:rPr lang="en-AU" sz="2400" dirty="0" smtClean="0"/>
              <a:t> = </a:t>
            </a:r>
            <a:r>
              <a:rPr lang="en-AU" sz="2400" dirty="0"/>
              <a:t>7</a:t>
            </a:r>
          </a:p>
        </p:txBody>
      </p:sp>
      <p:sp>
        <p:nvSpPr>
          <p:cNvPr id="16" name="Right Brace 15"/>
          <p:cNvSpPr/>
          <p:nvPr/>
        </p:nvSpPr>
        <p:spPr>
          <a:xfrm rot="16200000">
            <a:off x="1493520" y="3345597"/>
            <a:ext cx="309880" cy="1844040"/>
          </a:xfrm>
          <a:prstGeom prst="righ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17" name="TextBox 16"/>
          <p:cNvSpPr txBox="1"/>
          <p:nvPr/>
        </p:nvSpPr>
        <p:spPr>
          <a:xfrm>
            <a:off x="1301115" y="3532889"/>
            <a:ext cx="1174189" cy="461665"/>
          </a:xfrm>
          <a:prstGeom prst="rect">
            <a:avLst/>
          </a:prstGeom>
          <a:noFill/>
        </p:spPr>
        <p:txBody>
          <a:bodyPr wrap="square" rtlCol="0">
            <a:spAutoFit/>
          </a:bodyPr>
          <a:lstStyle/>
          <a:p>
            <a:r>
              <a:rPr lang="en-AU" sz="2400" b="1" dirty="0" smtClean="0">
                <a:solidFill>
                  <a:srgbClr val="FF0000"/>
                </a:solidFill>
              </a:rPr>
              <a:t>25%</a:t>
            </a:r>
            <a:endParaRPr lang="en-AU" sz="2400" b="1" dirty="0">
              <a:solidFill>
                <a:srgbClr val="FF0000"/>
              </a:solidFill>
            </a:endParaRPr>
          </a:p>
        </p:txBody>
      </p:sp>
      <p:sp>
        <p:nvSpPr>
          <p:cNvPr id="18" name="TextBox 17"/>
          <p:cNvSpPr txBox="1"/>
          <p:nvPr/>
        </p:nvSpPr>
        <p:spPr>
          <a:xfrm>
            <a:off x="6090920" y="5120804"/>
            <a:ext cx="4058920" cy="830997"/>
          </a:xfrm>
          <a:prstGeom prst="rect">
            <a:avLst/>
          </a:prstGeom>
          <a:noFill/>
        </p:spPr>
        <p:txBody>
          <a:bodyPr wrap="square" rtlCol="0">
            <a:spAutoFit/>
          </a:bodyPr>
          <a:lstStyle/>
          <a:p>
            <a:pPr algn="ctr"/>
            <a:r>
              <a:rPr lang="en-AU" sz="2400" dirty="0" smtClean="0"/>
              <a:t>In which quartile were the scores least spread out?</a:t>
            </a:r>
            <a:endParaRPr lang="en-AU" sz="2400" dirty="0"/>
          </a:p>
        </p:txBody>
      </p:sp>
      <p:sp>
        <p:nvSpPr>
          <p:cNvPr id="19" name="TextBox 18"/>
          <p:cNvSpPr txBox="1"/>
          <p:nvPr/>
        </p:nvSpPr>
        <p:spPr>
          <a:xfrm>
            <a:off x="6908800" y="6032477"/>
            <a:ext cx="4058920" cy="461665"/>
          </a:xfrm>
          <a:prstGeom prst="rect">
            <a:avLst/>
          </a:prstGeom>
          <a:noFill/>
        </p:spPr>
        <p:txBody>
          <a:bodyPr wrap="square" rtlCol="0">
            <a:spAutoFit/>
          </a:bodyPr>
          <a:lstStyle/>
          <a:p>
            <a:r>
              <a:rPr lang="en-AU" sz="2400" dirty="0" smtClean="0"/>
              <a:t>The 2</a:t>
            </a:r>
            <a:r>
              <a:rPr lang="en-AU" sz="2400" baseline="30000" dirty="0" smtClean="0"/>
              <a:t>nd</a:t>
            </a:r>
            <a:r>
              <a:rPr lang="en-AU" sz="2400" dirty="0" smtClean="0"/>
              <a:t> quartile</a:t>
            </a:r>
            <a:endParaRPr lang="en-AU" sz="2400" dirty="0"/>
          </a:p>
        </p:txBody>
      </p:sp>
      <p:sp>
        <p:nvSpPr>
          <p:cNvPr id="20" name="Right Brace 19"/>
          <p:cNvSpPr/>
          <p:nvPr/>
        </p:nvSpPr>
        <p:spPr>
          <a:xfrm rot="16200000">
            <a:off x="2707823" y="4006180"/>
            <a:ext cx="309880" cy="522874"/>
          </a:xfrm>
          <a:prstGeom prst="rightBrace">
            <a:avLst/>
          </a:prstGeom>
          <a:ln w="38100">
            <a:solidFill>
              <a:srgbClr val="0070C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solidFill>
                <a:srgbClr val="0070C0"/>
              </a:solidFill>
            </a:endParaRPr>
          </a:p>
        </p:txBody>
      </p:sp>
      <p:sp>
        <p:nvSpPr>
          <p:cNvPr id="21" name="TextBox 20"/>
          <p:cNvSpPr txBox="1"/>
          <p:nvPr/>
        </p:nvSpPr>
        <p:spPr>
          <a:xfrm>
            <a:off x="2537105" y="3525018"/>
            <a:ext cx="1174189" cy="461665"/>
          </a:xfrm>
          <a:prstGeom prst="rect">
            <a:avLst/>
          </a:prstGeom>
          <a:noFill/>
        </p:spPr>
        <p:txBody>
          <a:bodyPr wrap="square" rtlCol="0">
            <a:spAutoFit/>
          </a:bodyPr>
          <a:lstStyle/>
          <a:p>
            <a:r>
              <a:rPr lang="en-AU" sz="2400" b="1" dirty="0" smtClean="0">
                <a:solidFill>
                  <a:srgbClr val="0070C0"/>
                </a:solidFill>
              </a:rPr>
              <a:t>25%</a:t>
            </a:r>
            <a:endParaRPr lang="en-AU" sz="2400" b="1" dirty="0">
              <a:solidFill>
                <a:srgbClr val="0070C0"/>
              </a:solidFill>
            </a:endParaRPr>
          </a:p>
        </p:txBody>
      </p:sp>
      <p:pic>
        <p:nvPicPr>
          <p:cNvPr id="22" name="Picture 21"/>
          <p:cNvPicPr>
            <a:picLocks noChangeAspect="1"/>
          </p:cNvPicPr>
          <p:nvPr/>
        </p:nvPicPr>
        <p:blipFill>
          <a:blip r:embed="rId4"/>
          <a:stretch>
            <a:fillRect/>
          </a:stretch>
        </p:blipFill>
        <p:spPr>
          <a:xfrm>
            <a:off x="7919721" y="183799"/>
            <a:ext cx="4196080" cy="1810869"/>
          </a:xfrm>
          <a:prstGeom prst="rect">
            <a:avLst/>
          </a:prstGeom>
        </p:spPr>
      </p:pic>
    </p:spTree>
    <p:extLst>
      <p:ext uri="{BB962C8B-B14F-4D97-AF65-F5344CB8AC3E}">
        <p14:creationId xmlns:p14="http://schemas.microsoft.com/office/powerpoint/2010/main" val="1842055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2"/>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15"/>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8"/>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20"/>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1" grpId="0"/>
      <p:bldP spid="12" grpId="0"/>
      <p:bldP spid="14" grpId="0"/>
      <p:bldP spid="15" grpId="0"/>
      <p:bldP spid="16" grpId="0" animBg="1"/>
      <p:bldP spid="17" grpId="0"/>
      <p:bldP spid="18" grpId="0"/>
      <p:bldP spid="19" grpId="0"/>
      <p:bldP spid="20" grpId="0" animBg="1"/>
      <p:bldP spid="21"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2945880"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Guided Practice</a:t>
            </a:r>
            <a:endParaRPr lang="en-AU" sz="3200" dirty="0"/>
          </a:p>
        </p:txBody>
      </p:sp>
      <p:pic>
        <p:nvPicPr>
          <p:cNvPr id="2" name="Picture 1"/>
          <p:cNvPicPr>
            <a:picLocks noChangeAspect="1"/>
          </p:cNvPicPr>
          <p:nvPr/>
        </p:nvPicPr>
        <p:blipFill>
          <a:blip r:embed="rId2"/>
          <a:stretch>
            <a:fillRect/>
          </a:stretch>
        </p:blipFill>
        <p:spPr>
          <a:xfrm>
            <a:off x="2148840" y="4150759"/>
            <a:ext cx="7588568" cy="2844401"/>
          </a:xfrm>
          <a:prstGeom prst="rect">
            <a:avLst/>
          </a:prstGeom>
        </p:spPr>
      </p:pic>
      <p:sp>
        <p:nvSpPr>
          <p:cNvPr id="10" name="TextBox 9"/>
          <p:cNvSpPr txBox="1"/>
          <p:nvPr/>
        </p:nvSpPr>
        <p:spPr>
          <a:xfrm>
            <a:off x="281940" y="714534"/>
            <a:ext cx="6487160" cy="2677656"/>
          </a:xfrm>
          <a:prstGeom prst="rect">
            <a:avLst/>
          </a:prstGeom>
          <a:noFill/>
        </p:spPr>
        <p:txBody>
          <a:bodyPr wrap="square" rtlCol="0">
            <a:spAutoFit/>
          </a:bodyPr>
          <a:lstStyle/>
          <a:p>
            <a:r>
              <a:rPr lang="en-AU" sz="2400" dirty="0" smtClean="0"/>
              <a:t>Find the 5 number summary, range </a:t>
            </a:r>
          </a:p>
          <a:p>
            <a:r>
              <a:rPr lang="en-AU" sz="2400" dirty="0" smtClean="0"/>
              <a:t>and inter-quartile range for Set A.</a:t>
            </a:r>
            <a:endParaRPr lang="en-AU" sz="2400" dirty="0"/>
          </a:p>
          <a:p>
            <a:r>
              <a:rPr lang="en-AU" sz="2400" dirty="0" smtClean="0"/>
              <a:t>Minimum = </a:t>
            </a:r>
            <a:r>
              <a:rPr lang="en-AU" sz="2400" dirty="0"/>
              <a:t>1</a:t>
            </a:r>
            <a:endParaRPr lang="en-AU" sz="2400" dirty="0" smtClean="0"/>
          </a:p>
          <a:p>
            <a:r>
              <a:rPr lang="en-AU" sz="2400" dirty="0" smtClean="0"/>
              <a:t>Lower quartile (Q1) = 2</a:t>
            </a:r>
            <a:endParaRPr lang="en-AU" sz="2400" dirty="0"/>
          </a:p>
          <a:p>
            <a:r>
              <a:rPr lang="en-AU" sz="2400" dirty="0" smtClean="0"/>
              <a:t>Median = </a:t>
            </a:r>
            <a:r>
              <a:rPr lang="en-AU" sz="2400" dirty="0"/>
              <a:t>3</a:t>
            </a:r>
            <a:endParaRPr lang="en-AU" sz="2400" dirty="0" smtClean="0"/>
          </a:p>
          <a:p>
            <a:r>
              <a:rPr lang="en-AU" sz="2400" dirty="0" smtClean="0"/>
              <a:t>Upper quartile (Q3) = </a:t>
            </a:r>
            <a:r>
              <a:rPr lang="en-AU" sz="2400" dirty="0"/>
              <a:t>4</a:t>
            </a:r>
          </a:p>
          <a:p>
            <a:r>
              <a:rPr lang="en-AU" sz="2400" dirty="0" smtClean="0"/>
              <a:t>Maximum = </a:t>
            </a:r>
            <a:r>
              <a:rPr lang="en-AU" sz="2400" dirty="0"/>
              <a:t>5</a:t>
            </a:r>
          </a:p>
        </p:txBody>
      </p:sp>
      <p:sp>
        <p:nvSpPr>
          <p:cNvPr id="11" name="TextBox 10"/>
          <p:cNvSpPr txBox="1"/>
          <p:nvPr/>
        </p:nvSpPr>
        <p:spPr>
          <a:xfrm>
            <a:off x="281940" y="3323288"/>
            <a:ext cx="4058920" cy="461665"/>
          </a:xfrm>
          <a:prstGeom prst="rect">
            <a:avLst/>
          </a:prstGeom>
          <a:noFill/>
        </p:spPr>
        <p:txBody>
          <a:bodyPr wrap="square" rtlCol="0">
            <a:spAutoFit/>
          </a:bodyPr>
          <a:lstStyle/>
          <a:p>
            <a:r>
              <a:rPr lang="en-AU" sz="2400" dirty="0" smtClean="0"/>
              <a:t>Range (maximum – minimum):</a:t>
            </a:r>
            <a:endParaRPr lang="en-AU" sz="2400" dirty="0"/>
          </a:p>
        </p:txBody>
      </p:sp>
      <p:sp>
        <p:nvSpPr>
          <p:cNvPr id="12" name="TextBox 11"/>
          <p:cNvSpPr txBox="1"/>
          <p:nvPr/>
        </p:nvSpPr>
        <p:spPr>
          <a:xfrm>
            <a:off x="4269740" y="3323287"/>
            <a:ext cx="4058920" cy="461665"/>
          </a:xfrm>
          <a:prstGeom prst="rect">
            <a:avLst/>
          </a:prstGeom>
          <a:noFill/>
        </p:spPr>
        <p:txBody>
          <a:bodyPr wrap="square" rtlCol="0">
            <a:spAutoFit/>
          </a:bodyPr>
          <a:lstStyle/>
          <a:p>
            <a:r>
              <a:rPr lang="en-AU" sz="2400" dirty="0"/>
              <a:t>5</a:t>
            </a:r>
            <a:r>
              <a:rPr lang="en-AU" sz="2400" dirty="0" smtClean="0"/>
              <a:t> – </a:t>
            </a:r>
            <a:r>
              <a:rPr lang="en-AU" sz="2400" dirty="0"/>
              <a:t>1</a:t>
            </a:r>
            <a:r>
              <a:rPr lang="en-AU" sz="2400" dirty="0" smtClean="0"/>
              <a:t> = </a:t>
            </a:r>
            <a:r>
              <a:rPr lang="en-AU" sz="2400" dirty="0"/>
              <a:t>4</a:t>
            </a:r>
          </a:p>
        </p:txBody>
      </p:sp>
      <p:sp>
        <p:nvSpPr>
          <p:cNvPr id="13" name="TextBox 12"/>
          <p:cNvSpPr txBox="1"/>
          <p:nvPr/>
        </p:nvSpPr>
        <p:spPr>
          <a:xfrm>
            <a:off x="281940" y="3879199"/>
            <a:ext cx="4058920" cy="461665"/>
          </a:xfrm>
          <a:prstGeom prst="rect">
            <a:avLst/>
          </a:prstGeom>
          <a:noFill/>
        </p:spPr>
        <p:txBody>
          <a:bodyPr wrap="square" rtlCol="0">
            <a:spAutoFit/>
          </a:bodyPr>
          <a:lstStyle/>
          <a:p>
            <a:r>
              <a:rPr lang="en-AU" sz="2400" dirty="0" smtClean="0"/>
              <a:t>Inter-quartile range (Q3 – Q1):</a:t>
            </a:r>
            <a:endParaRPr lang="en-AU" sz="2400" dirty="0"/>
          </a:p>
        </p:txBody>
      </p:sp>
      <p:sp>
        <p:nvSpPr>
          <p:cNvPr id="14" name="TextBox 13"/>
          <p:cNvSpPr txBox="1"/>
          <p:nvPr/>
        </p:nvSpPr>
        <p:spPr>
          <a:xfrm>
            <a:off x="4234180" y="3879198"/>
            <a:ext cx="4058920" cy="461665"/>
          </a:xfrm>
          <a:prstGeom prst="rect">
            <a:avLst/>
          </a:prstGeom>
          <a:noFill/>
        </p:spPr>
        <p:txBody>
          <a:bodyPr wrap="square" rtlCol="0">
            <a:spAutoFit/>
          </a:bodyPr>
          <a:lstStyle/>
          <a:p>
            <a:r>
              <a:rPr lang="en-AU" sz="2400" dirty="0"/>
              <a:t>4</a:t>
            </a:r>
            <a:r>
              <a:rPr lang="en-AU" sz="2400" dirty="0" smtClean="0"/>
              <a:t> – 2 = 2</a:t>
            </a:r>
            <a:endParaRPr lang="en-AU" sz="2400" dirty="0"/>
          </a:p>
        </p:txBody>
      </p:sp>
      <p:sp>
        <p:nvSpPr>
          <p:cNvPr id="15" name="TextBox 14"/>
          <p:cNvSpPr txBox="1"/>
          <p:nvPr/>
        </p:nvSpPr>
        <p:spPr>
          <a:xfrm>
            <a:off x="6148388" y="714534"/>
            <a:ext cx="6487160" cy="2677656"/>
          </a:xfrm>
          <a:prstGeom prst="rect">
            <a:avLst/>
          </a:prstGeom>
          <a:noFill/>
        </p:spPr>
        <p:txBody>
          <a:bodyPr wrap="square" rtlCol="0">
            <a:spAutoFit/>
          </a:bodyPr>
          <a:lstStyle/>
          <a:p>
            <a:r>
              <a:rPr lang="en-AU" sz="2400" dirty="0" smtClean="0"/>
              <a:t>Find the 5 number summary, range </a:t>
            </a:r>
          </a:p>
          <a:p>
            <a:r>
              <a:rPr lang="en-AU" sz="2400" dirty="0" smtClean="0"/>
              <a:t>and inter-quartile range for Set B.</a:t>
            </a:r>
            <a:endParaRPr lang="en-AU" sz="2400" dirty="0"/>
          </a:p>
          <a:p>
            <a:r>
              <a:rPr lang="en-AU" sz="2400" dirty="0" smtClean="0"/>
              <a:t>Minimum = 0</a:t>
            </a:r>
          </a:p>
          <a:p>
            <a:r>
              <a:rPr lang="en-AU" sz="2400" dirty="0" smtClean="0"/>
              <a:t>Lower quartile (Q1) = 0.5</a:t>
            </a:r>
            <a:endParaRPr lang="en-AU" sz="2400" dirty="0"/>
          </a:p>
          <a:p>
            <a:r>
              <a:rPr lang="en-AU" sz="2400" dirty="0" smtClean="0"/>
              <a:t>Median = </a:t>
            </a:r>
            <a:r>
              <a:rPr lang="en-AU" sz="2400" dirty="0"/>
              <a:t>2</a:t>
            </a:r>
            <a:endParaRPr lang="en-AU" sz="2400" dirty="0" smtClean="0"/>
          </a:p>
          <a:p>
            <a:r>
              <a:rPr lang="en-AU" sz="2400" dirty="0" smtClean="0"/>
              <a:t>Upper quartile (Q3) = </a:t>
            </a:r>
            <a:r>
              <a:rPr lang="en-AU" sz="2400" dirty="0"/>
              <a:t>4</a:t>
            </a:r>
          </a:p>
          <a:p>
            <a:r>
              <a:rPr lang="en-AU" sz="2400" dirty="0" smtClean="0"/>
              <a:t>Maximum = </a:t>
            </a:r>
            <a:r>
              <a:rPr lang="en-AU" sz="2400" dirty="0"/>
              <a:t>5</a:t>
            </a:r>
          </a:p>
        </p:txBody>
      </p:sp>
      <p:sp>
        <p:nvSpPr>
          <p:cNvPr id="16" name="TextBox 15"/>
          <p:cNvSpPr txBox="1"/>
          <p:nvPr/>
        </p:nvSpPr>
        <p:spPr>
          <a:xfrm>
            <a:off x="6148388" y="3323288"/>
            <a:ext cx="4058920" cy="461665"/>
          </a:xfrm>
          <a:prstGeom prst="rect">
            <a:avLst/>
          </a:prstGeom>
          <a:noFill/>
        </p:spPr>
        <p:txBody>
          <a:bodyPr wrap="square" rtlCol="0">
            <a:spAutoFit/>
          </a:bodyPr>
          <a:lstStyle/>
          <a:p>
            <a:r>
              <a:rPr lang="en-AU" sz="2400" dirty="0" smtClean="0"/>
              <a:t>Range (maximum – minimum):</a:t>
            </a:r>
            <a:endParaRPr lang="en-AU" sz="2400" dirty="0"/>
          </a:p>
        </p:txBody>
      </p:sp>
      <p:sp>
        <p:nvSpPr>
          <p:cNvPr id="17" name="TextBox 16"/>
          <p:cNvSpPr txBox="1"/>
          <p:nvPr/>
        </p:nvSpPr>
        <p:spPr>
          <a:xfrm>
            <a:off x="10136188" y="3323287"/>
            <a:ext cx="4058920" cy="461665"/>
          </a:xfrm>
          <a:prstGeom prst="rect">
            <a:avLst/>
          </a:prstGeom>
          <a:noFill/>
        </p:spPr>
        <p:txBody>
          <a:bodyPr wrap="square" rtlCol="0">
            <a:spAutoFit/>
          </a:bodyPr>
          <a:lstStyle/>
          <a:p>
            <a:r>
              <a:rPr lang="en-AU" sz="2400" dirty="0"/>
              <a:t>5</a:t>
            </a:r>
            <a:r>
              <a:rPr lang="en-AU" sz="2400" dirty="0" smtClean="0"/>
              <a:t> – 0 = </a:t>
            </a:r>
            <a:r>
              <a:rPr lang="en-AU" sz="2400" dirty="0"/>
              <a:t>5</a:t>
            </a:r>
          </a:p>
        </p:txBody>
      </p:sp>
      <p:sp>
        <p:nvSpPr>
          <p:cNvPr id="18" name="TextBox 17"/>
          <p:cNvSpPr txBox="1"/>
          <p:nvPr/>
        </p:nvSpPr>
        <p:spPr>
          <a:xfrm>
            <a:off x="6148388" y="3879199"/>
            <a:ext cx="4058920" cy="461665"/>
          </a:xfrm>
          <a:prstGeom prst="rect">
            <a:avLst/>
          </a:prstGeom>
          <a:noFill/>
        </p:spPr>
        <p:txBody>
          <a:bodyPr wrap="square" rtlCol="0">
            <a:spAutoFit/>
          </a:bodyPr>
          <a:lstStyle/>
          <a:p>
            <a:r>
              <a:rPr lang="en-AU" sz="2400" dirty="0" smtClean="0"/>
              <a:t>Inter-quartile range (Q3 – Q1):</a:t>
            </a:r>
            <a:endParaRPr lang="en-AU" sz="2400" dirty="0"/>
          </a:p>
        </p:txBody>
      </p:sp>
      <p:sp>
        <p:nvSpPr>
          <p:cNvPr id="19" name="TextBox 18"/>
          <p:cNvSpPr txBox="1"/>
          <p:nvPr/>
        </p:nvSpPr>
        <p:spPr>
          <a:xfrm>
            <a:off x="10100628" y="3879198"/>
            <a:ext cx="4058920" cy="461665"/>
          </a:xfrm>
          <a:prstGeom prst="rect">
            <a:avLst/>
          </a:prstGeom>
          <a:noFill/>
        </p:spPr>
        <p:txBody>
          <a:bodyPr wrap="square" rtlCol="0">
            <a:spAutoFit/>
          </a:bodyPr>
          <a:lstStyle/>
          <a:p>
            <a:r>
              <a:rPr lang="en-AU" sz="2400" dirty="0"/>
              <a:t>4</a:t>
            </a:r>
            <a:r>
              <a:rPr lang="en-AU" sz="2400" dirty="0" smtClean="0"/>
              <a:t> – 0.5 = 3.5</a:t>
            </a:r>
            <a:endParaRPr lang="en-AU" sz="2400" dirty="0"/>
          </a:p>
        </p:txBody>
      </p:sp>
    </p:spTree>
    <p:extLst>
      <p:ext uri="{BB962C8B-B14F-4D97-AF65-F5344CB8AC3E}">
        <p14:creationId xmlns:p14="http://schemas.microsoft.com/office/powerpoint/2010/main" val="22097771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4"/>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5">
                                            <p:txEl>
                                              <p:pRg st="2" end="2"/>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5">
                                            <p:txEl>
                                              <p:pRg st="3" end="3"/>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15">
                                            <p:txEl>
                                              <p:pRg st="4" end="4"/>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15">
                                            <p:txEl>
                                              <p:pRg st="5" end="5"/>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5">
                                            <p:txEl>
                                              <p:pRg st="6" end="6"/>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1" presetClass="entr" presetSubtype="0" fill="hold" grpId="0" nodeType="clickEffect">
                                  <p:stCondLst>
                                    <p:cond delay="0"/>
                                  </p:stCondLst>
                                  <p:childTnLst>
                                    <p:set>
                                      <p:cBhvr>
                                        <p:cTn id="62" dur="1" fill="hold">
                                          <p:stCondLst>
                                            <p:cond delay="0"/>
                                          </p:stCondLst>
                                        </p:cTn>
                                        <p:tgtEl>
                                          <p:spTgt spid="16"/>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7"/>
                                        </p:tgtEl>
                                        <p:attrNameLst>
                                          <p:attrName>style.visibility</p:attrName>
                                        </p:attrNameLst>
                                      </p:cBhvr>
                                      <p:to>
                                        <p:strVal val="visible"/>
                                      </p:to>
                                    </p:se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18"/>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4" grpId="0"/>
      <p:bldP spid="16" grpId="0"/>
      <p:bldP spid="17" grpId="0"/>
      <p:bldP spid="18" grpId="0"/>
      <p:bldP spid="1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0052"/>
            <a:ext cx="4023093"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Concept Development</a:t>
            </a:r>
            <a:endParaRPr lang="en-AU" sz="3200" dirty="0"/>
          </a:p>
        </p:txBody>
      </p:sp>
      <p:sp>
        <p:nvSpPr>
          <p:cNvPr id="3" name="TextBox 2"/>
          <p:cNvSpPr txBox="1"/>
          <p:nvPr/>
        </p:nvSpPr>
        <p:spPr>
          <a:xfrm>
            <a:off x="157480" y="695960"/>
            <a:ext cx="11485880" cy="3046988"/>
          </a:xfrm>
          <a:prstGeom prst="rect">
            <a:avLst/>
          </a:prstGeom>
          <a:noFill/>
        </p:spPr>
        <p:txBody>
          <a:bodyPr wrap="square" rtlCol="0">
            <a:spAutoFit/>
          </a:bodyPr>
          <a:lstStyle/>
          <a:p>
            <a:r>
              <a:rPr lang="en-AU" sz="2400" dirty="0" smtClean="0"/>
              <a:t>To draw a box plot, you need a box and two whiskers.</a:t>
            </a:r>
            <a:endParaRPr lang="en-AU" sz="2400" dirty="0"/>
          </a:p>
          <a:p>
            <a:r>
              <a:rPr lang="en-AU" sz="2400" dirty="0" smtClean="0"/>
              <a:t>The central part of the box plot, between the lower quartile and the upper quartile, is the ‘box.’ This box contains the middle 50% of the data values. We also draw a line through the box to show the value of the median.</a:t>
            </a:r>
          </a:p>
          <a:p>
            <a:endParaRPr lang="en-AU" sz="2400" dirty="0"/>
          </a:p>
          <a:p>
            <a:r>
              <a:rPr lang="en-AU" sz="2400" dirty="0" smtClean="0"/>
              <a:t>The lines extending to the minimum and maximum values are the ‘whiskers’, which contain the remaining upper and lower 25% of the data values.</a:t>
            </a:r>
          </a:p>
          <a:p>
            <a:endParaRPr lang="en-AU" sz="2400" dirty="0"/>
          </a:p>
        </p:txBody>
      </p:sp>
      <p:pic>
        <p:nvPicPr>
          <p:cNvPr id="6" name="Picture 5"/>
          <p:cNvPicPr>
            <a:picLocks noChangeAspect="1"/>
          </p:cNvPicPr>
          <p:nvPr/>
        </p:nvPicPr>
        <p:blipFill>
          <a:blip r:embed="rId2"/>
          <a:stretch>
            <a:fillRect/>
          </a:stretch>
        </p:blipFill>
        <p:spPr>
          <a:xfrm>
            <a:off x="1877695" y="3407563"/>
            <a:ext cx="7865745" cy="3394557"/>
          </a:xfrm>
          <a:prstGeom prst="rect">
            <a:avLst/>
          </a:prstGeom>
        </p:spPr>
      </p:pic>
    </p:spTree>
    <p:extLst>
      <p:ext uri="{BB962C8B-B14F-4D97-AF65-F5344CB8AC3E}">
        <p14:creationId xmlns:p14="http://schemas.microsoft.com/office/powerpoint/2010/main" val="16267522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3310182"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Skill Development</a:t>
            </a:r>
            <a:endParaRPr lang="en-AU" sz="3200" dirty="0"/>
          </a:p>
        </p:txBody>
      </p:sp>
      <p:pic>
        <p:nvPicPr>
          <p:cNvPr id="11" name="Picture 10"/>
          <p:cNvPicPr>
            <a:picLocks noChangeAspect="1"/>
          </p:cNvPicPr>
          <p:nvPr/>
        </p:nvPicPr>
        <p:blipFill>
          <a:blip r:embed="rId2"/>
          <a:stretch>
            <a:fillRect/>
          </a:stretch>
        </p:blipFill>
        <p:spPr>
          <a:xfrm>
            <a:off x="119697" y="5075873"/>
            <a:ext cx="11827922" cy="735647"/>
          </a:xfrm>
          <a:prstGeom prst="rect">
            <a:avLst/>
          </a:prstGeom>
        </p:spPr>
      </p:pic>
      <p:sp>
        <p:nvSpPr>
          <p:cNvPr id="12" name="TextBox 11"/>
          <p:cNvSpPr txBox="1"/>
          <p:nvPr/>
        </p:nvSpPr>
        <p:spPr>
          <a:xfrm>
            <a:off x="233680" y="756920"/>
            <a:ext cx="11399520" cy="830997"/>
          </a:xfrm>
          <a:prstGeom prst="rect">
            <a:avLst/>
          </a:prstGeom>
          <a:noFill/>
        </p:spPr>
        <p:txBody>
          <a:bodyPr wrap="square" rtlCol="0">
            <a:spAutoFit/>
          </a:bodyPr>
          <a:lstStyle/>
          <a:p>
            <a:r>
              <a:rPr lang="en-AU" sz="2400" dirty="0" smtClean="0"/>
              <a:t>A Mathematics teacher creates a 5 number summary of their students’ test results. </a:t>
            </a:r>
          </a:p>
          <a:p>
            <a:r>
              <a:rPr lang="en-AU" sz="2400" dirty="0" smtClean="0"/>
              <a:t>Use this data to draw a boxplot.</a:t>
            </a:r>
            <a:endParaRPr lang="en-AU" sz="2400" dirty="0"/>
          </a:p>
        </p:txBody>
      </p:sp>
      <p:graphicFrame>
        <p:nvGraphicFramePr>
          <p:cNvPr id="15" name="Table 14"/>
          <p:cNvGraphicFramePr>
            <a:graphicFrameLocks noGrp="1"/>
          </p:cNvGraphicFramePr>
          <p:nvPr>
            <p:extLst/>
          </p:nvPr>
        </p:nvGraphicFramePr>
        <p:xfrm>
          <a:off x="342900" y="1635761"/>
          <a:ext cx="2506980" cy="2341878"/>
        </p:xfrm>
        <a:graphic>
          <a:graphicData uri="http://schemas.openxmlformats.org/drawingml/2006/table">
            <a:tbl>
              <a:tblPr>
                <a:tableStyleId>{5C22544A-7EE6-4342-B048-85BDC9FD1C3A}</a:tableStyleId>
              </a:tblPr>
              <a:tblGrid>
                <a:gridCol w="1253490">
                  <a:extLst>
                    <a:ext uri="{9D8B030D-6E8A-4147-A177-3AD203B41FA5}">
                      <a16:colId xmlns:a16="http://schemas.microsoft.com/office/drawing/2014/main" val="20000"/>
                    </a:ext>
                  </a:extLst>
                </a:gridCol>
                <a:gridCol w="1253490">
                  <a:extLst>
                    <a:ext uri="{9D8B030D-6E8A-4147-A177-3AD203B41FA5}">
                      <a16:colId xmlns:a16="http://schemas.microsoft.com/office/drawing/2014/main" val="20001"/>
                    </a:ext>
                  </a:extLst>
                </a:gridCol>
              </a:tblGrid>
              <a:tr h="518079">
                <a:tc>
                  <a:txBody>
                    <a:bodyPr/>
                    <a:lstStyle/>
                    <a:p>
                      <a:pPr algn="ctr" fontAlgn="ctr"/>
                      <a:r>
                        <a:rPr lang="en-AU" sz="2000" b="1" u="none" strike="noStrike" dirty="0">
                          <a:effectLst/>
                        </a:rPr>
                        <a:t>Minimum</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u="none" strike="noStrike" dirty="0">
                          <a:effectLst/>
                        </a:rPr>
                        <a:t>10</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0"/>
                  </a:ext>
                </a:extLst>
              </a:tr>
              <a:tr h="399325">
                <a:tc>
                  <a:txBody>
                    <a:bodyPr/>
                    <a:lstStyle/>
                    <a:p>
                      <a:pPr algn="ctr" fontAlgn="ctr"/>
                      <a:r>
                        <a:rPr lang="en-AU" sz="2000" b="1" u="none" strike="noStrike" dirty="0">
                          <a:effectLst/>
                        </a:rPr>
                        <a:t>Q1</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u="none" strike="noStrike">
                          <a:effectLst/>
                        </a:rPr>
                        <a:t>35</a:t>
                      </a:r>
                      <a:endParaRPr lang="en-AU" sz="2000" b="1"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1"/>
                  </a:ext>
                </a:extLst>
              </a:tr>
              <a:tr h="518079">
                <a:tc>
                  <a:txBody>
                    <a:bodyPr/>
                    <a:lstStyle/>
                    <a:p>
                      <a:pPr algn="ctr" fontAlgn="ctr"/>
                      <a:r>
                        <a:rPr lang="en-AU" sz="2000" b="1" u="none" strike="noStrike" dirty="0">
                          <a:solidFill>
                            <a:srgbClr val="7030A0"/>
                          </a:solidFill>
                          <a:effectLst/>
                        </a:rPr>
                        <a:t>Median</a:t>
                      </a:r>
                      <a:endParaRPr lang="en-AU" sz="2000" b="1" i="0" u="none" strike="noStrike" dirty="0">
                        <a:solidFill>
                          <a:srgbClr val="7030A0"/>
                        </a:solidFill>
                        <a:effectLst/>
                        <a:latin typeface="Calibri" panose="020F0502020204030204" pitchFamily="34" charset="0"/>
                      </a:endParaRPr>
                    </a:p>
                  </a:txBody>
                  <a:tcPr marL="4763" marR="4763" marT="4763" marB="0" anchor="ctr"/>
                </a:tc>
                <a:tc>
                  <a:txBody>
                    <a:bodyPr/>
                    <a:lstStyle/>
                    <a:p>
                      <a:pPr algn="ctr" fontAlgn="ctr"/>
                      <a:r>
                        <a:rPr lang="en-AU" sz="2000" b="1" u="none" strike="noStrike" dirty="0">
                          <a:solidFill>
                            <a:srgbClr val="7030A0"/>
                          </a:solidFill>
                          <a:effectLst/>
                        </a:rPr>
                        <a:t>55</a:t>
                      </a:r>
                      <a:endParaRPr lang="en-AU" sz="2000" b="1" i="0" u="none" strike="noStrike" dirty="0">
                        <a:solidFill>
                          <a:srgbClr val="7030A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2"/>
                  </a:ext>
                </a:extLst>
              </a:tr>
              <a:tr h="388316">
                <a:tc>
                  <a:txBody>
                    <a:bodyPr/>
                    <a:lstStyle/>
                    <a:p>
                      <a:pPr algn="ctr" fontAlgn="ctr"/>
                      <a:r>
                        <a:rPr lang="en-AU" sz="2000" b="1" u="none" strike="noStrike">
                          <a:effectLst/>
                        </a:rPr>
                        <a:t>Q3</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u="none" strike="noStrike">
                          <a:effectLst/>
                        </a:rPr>
                        <a:t>70</a:t>
                      </a:r>
                      <a:endParaRPr lang="en-AU" sz="2000" b="1" i="0" u="none" strike="noStrike">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3"/>
                  </a:ext>
                </a:extLst>
              </a:tr>
              <a:tr h="518079">
                <a:tc>
                  <a:txBody>
                    <a:bodyPr/>
                    <a:lstStyle/>
                    <a:p>
                      <a:pPr algn="ctr" fontAlgn="ctr"/>
                      <a:r>
                        <a:rPr lang="en-AU" sz="2000" b="1" u="none" strike="noStrike">
                          <a:effectLst/>
                        </a:rPr>
                        <a:t>Maximum</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u="none" strike="noStrike" dirty="0">
                          <a:effectLst/>
                        </a:rPr>
                        <a:t>100</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4"/>
                  </a:ext>
                </a:extLst>
              </a:tr>
            </a:tbl>
          </a:graphicData>
        </a:graphic>
      </p:graphicFrame>
      <p:sp>
        <p:nvSpPr>
          <p:cNvPr id="16" name="Right Brace 15"/>
          <p:cNvSpPr/>
          <p:nvPr/>
        </p:nvSpPr>
        <p:spPr>
          <a:xfrm>
            <a:off x="2890520" y="2164080"/>
            <a:ext cx="340360" cy="1275080"/>
          </a:xfrm>
          <a:prstGeom prst="rightBrace">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17" name="TextBox 16"/>
          <p:cNvSpPr txBox="1"/>
          <p:nvPr/>
        </p:nvSpPr>
        <p:spPr>
          <a:xfrm>
            <a:off x="3388360" y="2534920"/>
            <a:ext cx="1610360" cy="461665"/>
          </a:xfrm>
          <a:prstGeom prst="rect">
            <a:avLst/>
          </a:prstGeom>
          <a:noFill/>
        </p:spPr>
        <p:txBody>
          <a:bodyPr wrap="square" rtlCol="0">
            <a:spAutoFit/>
          </a:bodyPr>
          <a:lstStyle/>
          <a:p>
            <a:r>
              <a:rPr lang="en-AU" sz="2400" dirty="0">
                <a:solidFill>
                  <a:srgbClr val="0070C0"/>
                </a:solidFill>
              </a:rPr>
              <a:t>B</a:t>
            </a:r>
            <a:r>
              <a:rPr lang="en-AU" sz="2400" dirty="0" smtClean="0">
                <a:solidFill>
                  <a:srgbClr val="0070C0"/>
                </a:solidFill>
              </a:rPr>
              <a:t>ox</a:t>
            </a:r>
            <a:endParaRPr lang="en-AU" sz="2400" dirty="0">
              <a:solidFill>
                <a:srgbClr val="0070C0"/>
              </a:solidFill>
            </a:endParaRPr>
          </a:p>
        </p:txBody>
      </p:sp>
      <p:sp>
        <p:nvSpPr>
          <p:cNvPr id="18" name="Right Brace 17"/>
          <p:cNvSpPr/>
          <p:nvPr/>
        </p:nvSpPr>
        <p:spPr>
          <a:xfrm>
            <a:off x="2945880" y="1656080"/>
            <a:ext cx="244360" cy="472440"/>
          </a:xfrm>
          <a:prstGeom prst="rightBrace">
            <a:avLst/>
          </a:prstGeom>
          <a:ln w="38100">
            <a:solidFill>
              <a:srgbClr val="FF000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19" name="TextBox 18"/>
          <p:cNvSpPr txBox="1"/>
          <p:nvPr/>
        </p:nvSpPr>
        <p:spPr>
          <a:xfrm>
            <a:off x="3388360" y="1666855"/>
            <a:ext cx="1610360" cy="461665"/>
          </a:xfrm>
          <a:prstGeom prst="rect">
            <a:avLst/>
          </a:prstGeom>
          <a:noFill/>
        </p:spPr>
        <p:txBody>
          <a:bodyPr wrap="square" rtlCol="0">
            <a:spAutoFit/>
          </a:bodyPr>
          <a:lstStyle/>
          <a:p>
            <a:r>
              <a:rPr lang="en-AU" sz="2400" dirty="0" smtClean="0">
                <a:solidFill>
                  <a:srgbClr val="FF0000"/>
                </a:solidFill>
              </a:rPr>
              <a:t>Whisker</a:t>
            </a:r>
            <a:endParaRPr lang="en-AU" sz="2400" dirty="0">
              <a:solidFill>
                <a:srgbClr val="FF0000"/>
              </a:solidFill>
            </a:endParaRPr>
          </a:p>
        </p:txBody>
      </p:sp>
      <p:sp>
        <p:nvSpPr>
          <p:cNvPr id="20" name="Right Brace 19"/>
          <p:cNvSpPr/>
          <p:nvPr/>
        </p:nvSpPr>
        <p:spPr>
          <a:xfrm>
            <a:off x="2890520" y="3463945"/>
            <a:ext cx="244360" cy="472440"/>
          </a:xfrm>
          <a:prstGeom prst="rightBrace">
            <a:avLst/>
          </a:prstGeom>
          <a:ln w="38100">
            <a:solidFill>
              <a:srgbClr val="00B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AU"/>
          </a:p>
        </p:txBody>
      </p:sp>
      <p:sp>
        <p:nvSpPr>
          <p:cNvPr id="21" name="TextBox 20"/>
          <p:cNvSpPr txBox="1"/>
          <p:nvPr/>
        </p:nvSpPr>
        <p:spPr>
          <a:xfrm>
            <a:off x="3333000" y="3474720"/>
            <a:ext cx="1610360" cy="461665"/>
          </a:xfrm>
          <a:prstGeom prst="rect">
            <a:avLst/>
          </a:prstGeom>
          <a:noFill/>
        </p:spPr>
        <p:txBody>
          <a:bodyPr wrap="square" rtlCol="0">
            <a:spAutoFit/>
          </a:bodyPr>
          <a:lstStyle/>
          <a:p>
            <a:r>
              <a:rPr lang="en-AU" sz="2400" dirty="0" smtClean="0">
                <a:solidFill>
                  <a:srgbClr val="00B050"/>
                </a:solidFill>
              </a:rPr>
              <a:t>Whisker</a:t>
            </a:r>
            <a:endParaRPr lang="en-AU" sz="2400" dirty="0">
              <a:solidFill>
                <a:srgbClr val="00B050"/>
              </a:solidFill>
            </a:endParaRPr>
          </a:p>
        </p:txBody>
      </p:sp>
      <p:sp>
        <p:nvSpPr>
          <p:cNvPr id="22" name="Rectangle 21"/>
          <p:cNvSpPr/>
          <p:nvPr/>
        </p:nvSpPr>
        <p:spPr>
          <a:xfrm>
            <a:off x="4419600" y="4285457"/>
            <a:ext cx="3779520" cy="77216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4" name="Straight Connector 23"/>
          <p:cNvCxnSpPr/>
          <p:nvPr/>
        </p:nvCxnSpPr>
        <p:spPr>
          <a:xfrm>
            <a:off x="4419600" y="4358640"/>
            <a:ext cx="0" cy="68072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8199120" y="4358640"/>
            <a:ext cx="0" cy="680720"/>
          </a:xfrm>
          <a:prstGeom prst="line">
            <a:avLst/>
          </a:prstGeom>
          <a:ln w="19050">
            <a:solidFill>
              <a:srgbClr val="0070C0"/>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H="1">
            <a:off x="6578600" y="4285457"/>
            <a:ext cx="5080" cy="772160"/>
          </a:xfrm>
          <a:prstGeom prst="line">
            <a:avLst/>
          </a:prstGeom>
          <a:ln w="28575">
            <a:solidFill>
              <a:srgbClr val="7030A0"/>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22" idx="1"/>
          </p:cNvCxnSpPr>
          <p:nvPr/>
        </p:nvCxnSpPr>
        <p:spPr>
          <a:xfrm flipH="1">
            <a:off x="1737360" y="4671537"/>
            <a:ext cx="2682240" cy="2063"/>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22" idx="3"/>
          </p:cNvCxnSpPr>
          <p:nvPr/>
        </p:nvCxnSpPr>
        <p:spPr>
          <a:xfrm>
            <a:off x="8199120" y="4671537"/>
            <a:ext cx="3220720"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3" name="Straight Connector 22"/>
          <p:cNvCxnSpPr/>
          <p:nvPr/>
        </p:nvCxnSpPr>
        <p:spPr>
          <a:xfrm>
            <a:off x="1743799" y="4512489"/>
            <a:ext cx="0" cy="315311"/>
          </a:xfrm>
          <a:prstGeom prst="line">
            <a:avLst/>
          </a:prstGeom>
          <a:ln w="34925">
            <a:solidFill>
              <a:srgbClr val="FF0000"/>
            </a:solidFill>
          </a:ln>
        </p:spPr>
        <p:style>
          <a:lnRef idx="1">
            <a:schemeClr val="accent2"/>
          </a:lnRef>
          <a:fillRef idx="0">
            <a:schemeClr val="accent2"/>
          </a:fillRef>
          <a:effectRef idx="0">
            <a:schemeClr val="accent2"/>
          </a:effectRef>
          <a:fontRef idx="minor">
            <a:schemeClr val="tx1"/>
          </a:fontRef>
        </p:style>
      </p:cxnSp>
      <p:cxnSp>
        <p:nvCxnSpPr>
          <p:cNvPr id="26" name="Straight Connector 25"/>
          <p:cNvCxnSpPr/>
          <p:nvPr/>
        </p:nvCxnSpPr>
        <p:spPr>
          <a:xfrm>
            <a:off x="11409969" y="4499611"/>
            <a:ext cx="0" cy="315311"/>
          </a:xfrm>
          <a:prstGeom prst="line">
            <a:avLst/>
          </a:prstGeom>
          <a:ln w="34925">
            <a:solidFill>
              <a:srgbClr val="00B050"/>
            </a:solidFill>
          </a:ln>
        </p:spPr>
        <p:style>
          <a:lnRef idx="1">
            <a:schemeClr val="accent2"/>
          </a:lnRef>
          <a:fillRef idx="0">
            <a:schemeClr val="accent2"/>
          </a:fillRef>
          <a:effectRef idx="0">
            <a:schemeClr val="accent2"/>
          </a:effectRef>
          <a:fontRef idx="minor">
            <a:schemeClr val="tx1"/>
          </a:fontRef>
        </p:style>
      </p:cxnSp>
    </p:spTree>
    <p:extLst>
      <p:ext uri="{BB962C8B-B14F-4D97-AF65-F5344CB8AC3E}">
        <p14:creationId xmlns:p14="http://schemas.microsoft.com/office/powerpoint/2010/main" val="11847927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27"/>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29"/>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nodeType="clickEffect">
                                  <p:stCondLst>
                                    <p:cond delay="0"/>
                                  </p:stCondLst>
                                  <p:childTnLst>
                                    <p:set>
                                      <p:cBhvr>
                                        <p:cTn id="44"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p:bldP spid="18" grpId="0" animBg="1"/>
      <p:bldP spid="19" grpId="0"/>
      <p:bldP spid="20" grpId="0" animBg="1"/>
      <p:bldP spid="21" grpId="0"/>
      <p:bldP spid="2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2945880"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Guided Practice</a:t>
            </a:r>
            <a:endParaRPr lang="en-AU" sz="3200" dirty="0"/>
          </a:p>
        </p:txBody>
      </p:sp>
      <p:sp>
        <p:nvSpPr>
          <p:cNvPr id="12" name="TextBox 11"/>
          <p:cNvSpPr txBox="1"/>
          <p:nvPr/>
        </p:nvSpPr>
        <p:spPr>
          <a:xfrm>
            <a:off x="233680" y="756920"/>
            <a:ext cx="11399520" cy="830997"/>
          </a:xfrm>
          <a:prstGeom prst="rect">
            <a:avLst/>
          </a:prstGeom>
          <a:noFill/>
        </p:spPr>
        <p:txBody>
          <a:bodyPr wrap="square" rtlCol="0">
            <a:spAutoFit/>
          </a:bodyPr>
          <a:lstStyle/>
          <a:p>
            <a:r>
              <a:rPr lang="en-AU" sz="2400" dirty="0" smtClean="0"/>
              <a:t>A Science student records the temperature at midday every day for a month.</a:t>
            </a:r>
          </a:p>
          <a:p>
            <a:r>
              <a:rPr lang="en-AU" sz="2400" dirty="0" smtClean="0"/>
              <a:t>Draw a boxplot of their data.</a:t>
            </a:r>
            <a:endParaRPr lang="en-AU" sz="2400" dirty="0"/>
          </a:p>
        </p:txBody>
      </p:sp>
      <p:graphicFrame>
        <p:nvGraphicFramePr>
          <p:cNvPr id="15" name="Table 14"/>
          <p:cNvGraphicFramePr>
            <a:graphicFrameLocks noGrp="1"/>
          </p:cNvGraphicFramePr>
          <p:nvPr>
            <p:extLst/>
          </p:nvPr>
        </p:nvGraphicFramePr>
        <p:xfrm>
          <a:off x="342900" y="1635761"/>
          <a:ext cx="2506980" cy="2341878"/>
        </p:xfrm>
        <a:graphic>
          <a:graphicData uri="http://schemas.openxmlformats.org/drawingml/2006/table">
            <a:tbl>
              <a:tblPr>
                <a:tableStyleId>{5C22544A-7EE6-4342-B048-85BDC9FD1C3A}</a:tableStyleId>
              </a:tblPr>
              <a:tblGrid>
                <a:gridCol w="1253490">
                  <a:extLst>
                    <a:ext uri="{9D8B030D-6E8A-4147-A177-3AD203B41FA5}">
                      <a16:colId xmlns:a16="http://schemas.microsoft.com/office/drawing/2014/main" val="20000"/>
                    </a:ext>
                  </a:extLst>
                </a:gridCol>
                <a:gridCol w="1253490">
                  <a:extLst>
                    <a:ext uri="{9D8B030D-6E8A-4147-A177-3AD203B41FA5}">
                      <a16:colId xmlns:a16="http://schemas.microsoft.com/office/drawing/2014/main" val="20001"/>
                    </a:ext>
                  </a:extLst>
                </a:gridCol>
              </a:tblGrid>
              <a:tr h="518079">
                <a:tc>
                  <a:txBody>
                    <a:bodyPr/>
                    <a:lstStyle/>
                    <a:p>
                      <a:pPr algn="ctr" fontAlgn="ctr"/>
                      <a:r>
                        <a:rPr lang="en-AU" sz="2000" b="1" u="none" strike="noStrike" dirty="0">
                          <a:effectLst/>
                        </a:rPr>
                        <a:t>Minimum</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u="none" strike="noStrike" dirty="0" smtClean="0">
                          <a:effectLst/>
                        </a:rPr>
                        <a:t>13</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0"/>
                  </a:ext>
                </a:extLst>
              </a:tr>
              <a:tr h="399325">
                <a:tc>
                  <a:txBody>
                    <a:bodyPr/>
                    <a:lstStyle/>
                    <a:p>
                      <a:pPr algn="ctr" fontAlgn="ctr"/>
                      <a:r>
                        <a:rPr lang="en-AU" sz="2000" b="1" u="none" strike="noStrike" dirty="0">
                          <a:effectLst/>
                        </a:rPr>
                        <a:t>Q1</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chemeClr val="dk1"/>
                          </a:solidFill>
                          <a:effectLst/>
                          <a:latin typeface="+mn-lt"/>
                        </a:rPr>
                        <a:t>15</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1"/>
                  </a:ext>
                </a:extLst>
              </a:tr>
              <a:tr h="518079">
                <a:tc>
                  <a:txBody>
                    <a:bodyPr/>
                    <a:lstStyle/>
                    <a:p>
                      <a:pPr algn="ctr" fontAlgn="ctr"/>
                      <a:r>
                        <a:rPr lang="en-AU" sz="2000" b="1" u="none" strike="noStrike" dirty="0">
                          <a:solidFill>
                            <a:schemeClr val="tx1"/>
                          </a:solidFill>
                          <a:effectLst/>
                        </a:rPr>
                        <a:t>Median</a:t>
                      </a:r>
                      <a:endParaRPr lang="en-AU" sz="2000" b="1" i="0" u="none" strike="noStrike" dirty="0">
                        <a:solidFill>
                          <a:schemeClr val="tx1"/>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chemeClr val="tx1"/>
                          </a:solidFill>
                          <a:effectLst/>
                          <a:latin typeface="+mn-lt"/>
                        </a:rPr>
                        <a:t>16</a:t>
                      </a:r>
                      <a:endParaRPr lang="en-AU" sz="2000" b="1" i="0" u="none" strike="noStrike" dirty="0">
                        <a:solidFill>
                          <a:schemeClr val="tx1"/>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2"/>
                  </a:ext>
                </a:extLst>
              </a:tr>
              <a:tr h="388316">
                <a:tc>
                  <a:txBody>
                    <a:bodyPr/>
                    <a:lstStyle/>
                    <a:p>
                      <a:pPr algn="ctr" fontAlgn="ctr"/>
                      <a:r>
                        <a:rPr lang="en-AU" sz="2000" b="1" u="none" strike="noStrike">
                          <a:effectLst/>
                        </a:rPr>
                        <a:t>Q3</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chemeClr val="dk1"/>
                          </a:solidFill>
                          <a:effectLst/>
                          <a:latin typeface="+mn-lt"/>
                        </a:rPr>
                        <a:t>18.5</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3"/>
                  </a:ext>
                </a:extLst>
              </a:tr>
              <a:tr h="518079">
                <a:tc>
                  <a:txBody>
                    <a:bodyPr/>
                    <a:lstStyle/>
                    <a:p>
                      <a:pPr algn="ctr" fontAlgn="ctr"/>
                      <a:r>
                        <a:rPr lang="en-AU" sz="2000" b="1" u="none" strike="noStrike">
                          <a:effectLst/>
                        </a:rPr>
                        <a:t>Maximum</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chemeClr val="dk1"/>
                          </a:solidFill>
                          <a:effectLst/>
                          <a:latin typeface="+mn-lt"/>
                        </a:rPr>
                        <a:t>24</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4"/>
                  </a:ext>
                </a:extLst>
              </a:tr>
            </a:tbl>
          </a:graphicData>
        </a:graphic>
      </p:graphicFrame>
      <p:sp>
        <p:nvSpPr>
          <p:cNvPr id="22" name="Rectangle 21"/>
          <p:cNvSpPr/>
          <p:nvPr/>
        </p:nvSpPr>
        <p:spPr>
          <a:xfrm>
            <a:off x="4191000" y="4808696"/>
            <a:ext cx="2519680" cy="772160"/>
          </a:xfrm>
          <a:prstGeom prst="rect">
            <a:avLst/>
          </a:prstGeom>
          <a:no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cxnSp>
        <p:nvCxnSpPr>
          <p:cNvPr id="24" name="Straight Connector 23"/>
          <p:cNvCxnSpPr/>
          <p:nvPr/>
        </p:nvCxnSpPr>
        <p:spPr>
          <a:xfrm>
            <a:off x="4191000" y="5075873"/>
            <a:ext cx="0" cy="6807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5" name="Straight Connector 24"/>
          <p:cNvCxnSpPr/>
          <p:nvPr/>
        </p:nvCxnSpPr>
        <p:spPr>
          <a:xfrm>
            <a:off x="6710680" y="5075873"/>
            <a:ext cx="0" cy="68072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a:off x="4937760" y="4808696"/>
            <a:ext cx="0" cy="816094"/>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9" name="Straight Connector 28"/>
          <p:cNvCxnSpPr>
            <a:stCxn id="22" idx="1"/>
          </p:cNvCxnSpPr>
          <p:nvPr/>
        </p:nvCxnSpPr>
        <p:spPr>
          <a:xfrm flipH="1" flipV="1">
            <a:off x="2799080" y="5193745"/>
            <a:ext cx="1391920" cy="10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22" idx="3"/>
          </p:cNvCxnSpPr>
          <p:nvPr/>
        </p:nvCxnSpPr>
        <p:spPr>
          <a:xfrm>
            <a:off x="6710680" y="5194776"/>
            <a:ext cx="3952240" cy="2196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pic>
        <p:nvPicPr>
          <p:cNvPr id="2" name="Picture 1"/>
          <p:cNvPicPr>
            <a:picLocks noChangeAspect="1"/>
          </p:cNvPicPr>
          <p:nvPr/>
        </p:nvPicPr>
        <p:blipFill>
          <a:blip r:embed="rId2"/>
          <a:stretch>
            <a:fillRect/>
          </a:stretch>
        </p:blipFill>
        <p:spPr>
          <a:xfrm>
            <a:off x="233680" y="5580856"/>
            <a:ext cx="11541760" cy="729474"/>
          </a:xfrm>
          <a:prstGeom prst="rect">
            <a:avLst/>
          </a:prstGeom>
        </p:spPr>
      </p:pic>
      <p:cxnSp>
        <p:nvCxnSpPr>
          <p:cNvPr id="5" name="Straight Connector 4"/>
          <p:cNvCxnSpPr/>
          <p:nvPr/>
        </p:nvCxnSpPr>
        <p:spPr>
          <a:xfrm>
            <a:off x="2799080" y="5048982"/>
            <a:ext cx="0" cy="289034"/>
          </a:xfrm>
          <a:prstGeom prst="line">
            <a:avLst/>
          </a:prstGeom>
          <a:ln w="25400"/>
        </p:spPr>
        <p:style>
          <a:lnRef idx="1">
            <a:schemeClr val="dk1"/>
          </a:lnRef>
          <a:fillRef idx="0">
            <a:schemeClr val="dk1"/>
          </a:fillRef>
          <a:effectRef idx="0">
            <a:schemeClr val="dk1"/>
          </a:effectRef>
          <a:fontRef idx="minor">
            <a:schemeClr val="tx1"/>
          </a:fontRef>
        </p:style>
      </p:cxnSp>
      <p:cxnSp>
        <p:nvCxnSpPr>
          <p:cNvPr id="14" name="Straight Connector 13"/>
          <p:cNvCxnSpPr/>
          <p:nvPr/>
        </p:nvCxnSpPr>
        <p:spPr>
          <a:xfrm>
            <a:off x="10662920" y="5072226"/>
            <a:ext cx="0" cy="289034"/>
          </a:xfrm>
          <a:prstGeom prst="line">
            <a:avLst/>
          </a:prstGeom>
          <a:ln w="25400"/>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212057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0" y="-5080"/>
            <a:ext cx="2311405"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Skill Closure</a:t>
            </a:r>
            <a:endParaRPr lang="en-AU" sz="3200" dirty="0"/>
          </a:p>
        </p:txBody>
      </p:sp>
      <p:graphicFrame>
        <p:nvGraphicFramePr>
          <p:cNvPr id="6" name="Table 5"/>
          <p:cNvGraphicFramePr>
            <a:graphicFrameLocks noGrp="1"/>
          </p:cNvGraphicFramePr>
          <p:nvPr>
            <p:extLst/>
          </p:nvPr>
        </p:nvGraphicFramePr>
        <p:xfrm>
          <a:off x="7155180" y="287307"/>
          <a:ext cx="2506980" cy="2341878"/>
        </p:xfrm>
        <a:graphic>
          <a:graphicData uri="http://schemas.openxmlformats.org/drawingml/2006/table">
            <a:tbl>
              <a:tblPr>
                <a:tableStyleId>{5C22544A-7EE6-4342-B048-85BDC9FD1C3A}</a:tableStyleId>
              </a:tblPr>
              <a:tblGrid>
                <a:gridCol w="1253490">
                  <a:extLst>
                    <a:ext uri="{9D8B030D-6E8A-4147-A177-3AD203B41FA5}">
                      <a16:colId xmlns:a16="http://schemas.microsoft.com/office/drawing/2014/main" val="20000"/>
                    </a:ext>
                  </a:extLst>
                </a:gridCol>
                <a:gridCol w="1253490">
                  <a:extLst>
                    <a:ext uri="{9D8B030D-6E8A-4147-A177-3AD203B41FA5}">
                      <a16:colId xmlns:a16="http://schemas.microsoft.com/office/drawing/2014/main" val="20001"/>
                    </a:ext>
                  </a:extLst>
                </a:gridCol>
              </a:tblGrid>
              <a:tr h="518079">
                <a:tc>
                  <a:txBody>
                    <a:bodyPr/>
                    <a:lstStyle/>
                    <a:p>
                      <a:pPr algn="ctr" fontAlgn="ctr"/>
                      <a:r>
                        <a:rPr lang="en-AU" sz="2000" b="1" u="none" strike="noStrike" dirty="0">
                          <a:effectLst/>
                        </a:rPr>
                        <a:t>Minimum</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u="none" strike="noStrike" dirty="0" smtClean="0">
                          <a:effectLst/>
                        </a:rPr>
                        <a:t>1</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0"/>
                  </a:ext>
                </a:extLst>
              </a:tr>
              <a:tr h="399325">
                <a:tc>
                  <a:txBody>
                    <a:bodyPr/>
                    <a:lstStyle/>
                    <a:p>
                      <a:pPr algn="ctr" fontAlgn="ctr"/>
                      <a:r>
                        <a:rPr lang="en-AU" sz="2000" b="1" u="none" strike="noStrike" dirty="0">
                          <a:effectLst/>
                        </a:rPr>
                        <a:t>Q1</a:t>
                      </a:r>
                      <a:endParaRPr lang="en-AU" sz="2000" b="1" i="0" u="none" strike="noStrike" dirty="0">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chemeClr val="dk1"/>
                          </a:solidFill>
                          <a:effectLst/>
                          <a:latin typeface="+mn-lt"/>
                        </a:rPr>
                        <a:t>2</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1"/>
                  </a:ext>
                </a:extLst>
              </a:tr>
              <a:tr h="518079">
                <a:tc>
                  <a:txBody>
                    <a:bodyPr/>
                    <a:lstStyle/>
                    <a:p>
                      <a:pPr algn="ctr" fontAlgn="ctr"/>
                      <a:r>
                        <a:rPr lang="en-AU" sz="2000" b="1" u="none" strike="noStrike" dirty="0">
                          <a:solidFill>
                            <a:schemeClr val="tx1"/>
                          </a:solidFill>
                          <a:effectLst/>
                        </a:rPr>
                        <a:t>Median</a:t>
                      </a:r>
                      <a:endParaRPr lang="en-AU" sz="2000" b="1" i="0" u="none" strike="noStrike" dirty="0">
                        <a:solidFill>
                          <a:schemeClr val="tx1"/>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chemeClr val="tx1"/>
                          </a:solidFill>
                          <a:effectLst/>
                          <a:latin typeface="+mn-lt"/>
                        </a:rPr>
                        <a:t>3</a:t>
                      </a:r>
                      <a:endParaRPr lang="en-AU" sz="2000" b="1" i="0" u="none" strike="noStrike" dirty="0">
                        <a:solidFill>
                          <a:schemeClr val="tx1"/>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2"/>
                  </a:ext>
                </a:extLst>
              </a:tr>
              <a:tr h="388316">
                <a:tc>
                  <a:txBody>
                    <a:bodyPr/>
                    <a:lstStyle/>
                    <a:p>
                      <a:pPr algn="ctr" fontAlgn="ctr"/>
                      <a:r>
                        <a:rPr lang="en-AU" sz="2000" b="1" u="none" strike="noStrike">
                          <a:effectLst/>
                        </a:rPr>
                        <a:t>Q3</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chemeClr val="dk1"/>
                          </a:solidFill>
                          <a:effectLst/>
                          <a:latin typeface="+mn-lt"/>
                        </a:rPr>
                        <a:t>5.5</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3"/>
                  </a:ext>
                </a:extLst>
              </a:tr>
              <a:tr h="518079">
                <a:tc>
                  <a:txBody>
                    <a:bodyPr/>
                    <a:lstStyle/>
                    <a:p>
                      <a:pPr algn="ctr" fontAlgn="ctr"/>
                      <a:r>
                        <a:rPr lang="en-AU" sz="2000" b="1" u="none" strike="noStrike">
                          <a:effectLst/>
                        </a:rPr>
                        <a:t>Maximum</a:t>
                      </a:r>
                      <a:endParaRPr lang="en-AU" sz="2000" b="1" i="0" u="none" strike="noStrike">
                        <a:solidFill>
                          <a:srgbClr val="000000"/>
                        </a:solidFill>
                        <a:effectLst/>
                        <a:latin typeface="Calibri" panose="020F0502020204030204" pitchFamily="34" charset="0"/>
                      </a:endParaRPr>
                    </a:p>
                  </a:txBody>
                  <a:tcPr marL="4763" marR="4763" marT="4763" marB="0" anchor="ctr"/>
                </a:tc>
                <a:tc>
                  <a:txBody>
                    <a:bodyPr/>
                    <a:lstStyle/>
                    <a:p>
                      <a:pPr algn="ctr" fontAlgn="ctr"/>
                      <a:r>
                        <a:rPr lang="en-AU" sz="2000" b="1" i="0" u="none" strike="noStrike" dirty="0" smtClean="0">
                          <a:solidFill>
                            <a:schemeClr val="dk1"/>
                          </a:solidFill>
                          <a:effectLst/>
                          <a:latin typeface="+mn-lt"/>
                        </a:rPr>
                        <a:t>6</a:t>
                      </a:r>
                      <a:endParaRPr lang="en-AU" sz="2000" b="1" i="0" u="none" strike="noStrike" dirty="0">
                        <a:solidFill>
                          <a:srgbClr val="000000"/>
                        </a:solidFill>
                        <a:effectLst/>
                        <a:latin typeface="Calibri" panose="020F0502020204030204" pitchFamily="34" charset="0"/>
                      </a:endParaRPr>
                    </a:p>
                  </a:txBody>
                  <a:tcPr marL="4763" marR="4763" marT="4763" marB="0" anchor="ctr"/>
                </a:tc>
                <a:extLst>
                  <a:ext uri="{0D108BD9-81ED-4DB2-BD59-A6C34878D82A}">
                    <a16:rowId xmlns:a16="http://schemas.microsoft.com/office/drawing/2014/main" val="10004"/>
                  </a:ext>
                </a:extLst>
              </a:tr>
            </a:tbl>
          </a:graphicData>
        </a:graphic>
      </p:graphicFrame>
      <p:sp>
        <p:nvSpPr>
          <p:cNvPr id="3" name="TextBox 2"/>
          <p:cNvSpPr txBox="1"/>
          <p:nvPr/>
        </p:nvSpPr>
        <p:spPr>
          <a:xfrm>
            <a:off x="553720" y="756920"/>
            <a:ext cx="7376160" cy="461665"/>
          </a:xfrm>
          <a:prstGeom prst="rect">
            <a:avLst/>
          </a:prstGeom>
          <a:noFill/>
        </p:spPr>
        <p:txBody>
          <a:bodyPr wrap="square" rtlCol="0">
            <a:spAutoFit/>
          </a:bodyPr>
          <a:lstStyle/>
          <a:p>
            <a:r>
              <a:rPr lang="en-AU" sz="2400" dirty="0" smtClean="0"/>
              <a:t>Which boxplot represents the following data set?</a:t>
            </a:r>
            <a:endParaRPr lang="en-AU" sz="2400" dirty="0"/>
          </a:p>
        </p:txBody>
      </p:sp>
      <p:pic>
        <p:nvPicPr>
          <p:cNvPr id="4" name="Picture 3"/>
          <p:cNvPicPr>
            <a:picLocks noChangeAspect="1"/>
          </p:cNvPicPr>
          <p:nvPr/>
        </p:nvPicPr>
        <p:blipFill>
          <a:blip r:embed="rId2"/>
          <a:stretch>
            <a:fillRect/>
          </a:stretch>
        </p:blipFill>
        <p:spPr>
          <a:xfrm>
            <a:off x="553720" y="3038793"/>
            <a:ext cx="10660378" cy="3463643"/>
          </a:xfrm>
          <a:prstGeom prst="rect">
            <a:avLst/>
          </a:prstGeom>
        </p:spPr>
      </p:pic>
      <p:sp>
        <p:nvSpPr>
          <p:cNvPr id="7" name="Oval 6"/>
          <p:cNvSpPr/>
          <p:nvPr/>
        </p:nvSpPr>
        <p:spPr>
          <a:xfrm>
            <a:off x="6106160" y="2707640"/>
            <a:ext cx="5582920" cy="2219960"/>
          </a:xfrm>
          <a:prstGeom prst="ellipse">
            <a:avLst/>
          </a:prstGeom>
          <a:noFill/>
          <a:ln>
            <a:solidFill>
              <a:srgbClr val="00B05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spTree>
    <p:extLst>
      <p:ext uri="{BB962C8B-B14F-4D97-AF65-F5344CB8AC3E}">
        <p14:creationId xmlns:p14="http://schemas.microsoft.com/office/powerpoint/2010/main" val="3063560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0052"/>
            <a:ext cx="4023093"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Concept Development</a:t>
            </a:r>
            <a:endParaRPr lang="en-AU" sz="3200" dirty="0"/>
          </a:p>
        </p:txBody>
      </p:sp>
      <p:graphicFrame>
        <p:nvGraphicFramePr>
          <p:cNvPr id="5" name="Table 4"/>
          <p:cNvGraphicFramePr>
            <a:graphicFrameLocks noGrp="1"/>
          </p:cNvGraphicFramePr>
          <p:nvPr>
            <p:extLst>
              <p:ext uri="{D42A27DB-BD31-4B8C-83A1-F6EECF244321}">
                <p14:modId xmlns:p14="http://schemas.microsoft.com/office/powerpoint/2010/main" val="1511673240"/>
              </p:ext>
            </p:extLst>
          </p:nvPr>
        </p:nvGraphicFramePr>
        <p:xfrm>
          <a:off x="9505808" y="0"/>
          <a:ext cx="2686192" cy="736600"/>
        </p:xfrm>
        <a:graphic>
          <a:graphicData uri="http://schemas.openxmlformats.org/drawingml/2006/table">
            <a:tbl>
              <a:tblPr firstRow="1" bandRow="1">
                <a:tableStyleId>{21E4AEA4-8DFA-4A89-87EB-49C32662AFE0}</a:tableStyleId>
              </a:tblPr>
              <a:tblGrid>
                <a:gridCol w="2686192">
                  <a:extLst>
                    <a:ext uri="{9D8B030D-6E8A-4147-A177-3AD203B41FA5}">
                      <a16:colId xmlns:a16="http://schemas.microsoft.com/office/drawing/2014/main" val="20000"/>
                    </a:ext>
                  </a:extLst>
                </a:gridCol>
              </a:tblGrid>
              <a:tr h="353527">
                <a:tc>
                  <a:txBody>
                    <a:bodyPr/>
                    <a:lstStyle/>
                    <a:p>
                      <a:r>
                        <a:rPr lang="en-AU" dirty="0" smtClean="0"/>
                        <a:t>CFU 1</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What does range show?</a:t>
                      </a:r>
                    </a:p>
                  </a:txBody>
                  <a:tcPr>
                    <a:solidFill>
                      <a:schemeClr val="bg2"/>
                    </a:solidFill>
                  </a:tcPr>
                </a:tc>
                <a:extLst>
                  <a:ext uri="{0D108BD9-81ED-4DB2-BD59-A6C34878D82A}">
                    <a16:rowId xmlns:a16="http://schemas.microsoft.com/office/drawing/2014/main" val="10001"/>
                  </a:ext>
                </a:extLst>
              </a:tr>
            </a:tbl>
          </a:graphicData>
        </a:graphic>
      </p:graphicFrame>
      <p:sp>
        <p:nvSpPr>
          <p:cNvPr id="2" name="TextBox 1"/>
          <p:cNvSpPr txBox="1"/>
          <p:nvPr/>
        </p:nvSpPr>
        <p:spPr>
          <a:xfrm>
            <a:off x="294640" y="797560"/>
            <a:ext cx="11496040" cy="7109639"/>
          </a:xfrm>
          <a:prstGeom prst="rect">
            <a:avLst/>
          </a:prstGeom>
          <a:noFill/>
        </p:spPr>
        <p:txBody>
          <a:bodyPr wrap="square" rtlCol="0">
            <a:spAutoFit/>
          </a:bodyPr>
          <a:lstStyle/>
          <a:p>
            <a:r>
              <a:rPr lang="en-AU" sz="2400" dirty="0" smtClean="0"/>
              <a:t>The range shows how far the data is spread out.</a:t>
            </a:r>
          </a:p>
          <a:p>
            <a:endParaRPr lang="en-AU" sz="2400" dirty="0"/>
          </a:p>
          <a:p>
            <a:r>
              <a:rPr lang="en-AU" sz="2400" dirty="0" smtClean="0"/>
              <a:t>Two Mathematics classes take the same test. </a:t>
            </a:r>
          </a:p>
          <a:p>
            <a:endParaRPr lang="en-AU" sz="2400" dirty="0"/>
          </a:p>
          <a:p>
            <a:r>
              <a:rPr lang="en-AU" sz="2400" dirty="0" smtClean="0"/>
              <a:t>Class 1’s results (%) are: 21, 23, 24, 65, 67, 80 and 82.</a:t>
            </a:r>
          </a:p>
          <a:p>
            <a:endParaRPr lang="en-AU" sz="2400" dirty="0"/>
          </a:p>
          <a:p>
            <a:r>
              <a:rPr lang="en-AU" sz="2400" dirty="0" smtClean="0"/>
              <a:t>Class 2’s results (%) are: 56, 58, 61, 65, 66, 70 and 72.</a:t>
            </a:r>
          </a:p>
          <a:p>
            <a:endParaRPr lang="en-AU" sz="2400" dirty="0"/>
          </a:p>
          <a:p>
            <a:r>
              <a:rPr lang="en-AU" sz="2400" dirty="0" smtClean="0"/>
              <a:t>The median score for both classes is 65. </a:t>
            </a:r>
            <a:endParaRPr lang="en-AU" sz="2400" dirty="0"/>
          </a:p>
          <a:p>
            <a:r>
              <a:rPr lang="en-AU" sz="2400" dirty="0" smtClean="0"/>
              <a:t>The range for class 1 is: 82 – 21 = 61.</a:t>
            </a:r>
          </a:p>
          <a:p>
            <a:r>
              <a:rPr lang="en-AU" sz="2400" dirty="0" smtClean="0"/>
              <a:t>The range for class 2 is: 72 – 56 = 16.</a:t>
            </a:r>
          </a:p>
          <a:p>
            <a:endParaRPr lang="en-AU" sz="2400" dirty="0"/>
          </a:p>
          <a:p>
            <a:r>
              <a:rPr lang="en-AU" sz="2400" dirty="0" smtClean="0"/>
              <a:t>Although both classes had the same median, the data </a:t>
            </a:r>
          </a:p>
          <a:p>
            <a:r>
              <a:rPr lang="en-AU" sz="2400" dirty="0" smtClean="0"/>
              <a:t>for class 1 was more spread out than the data for class 2.</a:t>
            </a:r>
            <a:endParaRPr lang="en-AU" sz="2400" dirty="0"/>
          </a:p>
          <a:p>
            <a:r>
              <a:rPr lang="en-AU" sz="2400" dirty="0" smtClean="0"/>
              <a:t>We know this because the range was bigger.</a:t>
            </a:r>
          </a:p>
          <a:p>
            <a:endParaRPr lang="en-AU" sz="2400" dirty="0"/>
          </a:p>
          <a:p>
            <a:endParaRPr lang="en-AU" sz="2400" dirty="0" smtClean="0"/>
          </a:p>
          <a:p>
            <a:endParaRPr lang="en-AU" sz="2400" dirty="0"/>
          </a:p>
          <a:p>
            <a:endParaRPr lang="en-AU" sz="2400" dirty="0"/>
          </a:p>
        </p:txBody>
      </p:sp>
      <p:pic>
        <p:nvPicPr>
          <p:cNvPr id="3" name="Picture 2"/>
          <p:cNvPicPr>
            <a:picLocks noChangeAspect="1"/>
          </p:cNvPicPr>
          <p:nvPr/>
        </p:nvPicPr>
        <p:blipFill>
          <a:blip r:embed="rId2"/>
          <a:stretch>
            <a:fillRect/>
          </a:stretch>
        </p:blipFill>
        <p:spPr>
          <a:xfrm>
            <a:off x="7450137" y="1156653"/>
            <a:ext cx="4503177" cy="4512628"/>
          </a:xfrm>
          <a:prstGeom prst="rect">
            <a:avLst/>
          </a:prstGeom>
        </p:spPr>
      </p:pic>
    </p:spTree>
    <p:extLst>
      <p:ext uri="{BB962C8B-B14F-4D97-AF65-F5344CB8AC3E}">
        <p14:creationId xmlns:p14="http://schemas.microsoft.com/office/powerpoint/2010/main" val="879091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12" end="12"/>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
                                            <p:txEl>
                                              <p:pRg st="13" end="13"/>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2">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20052"/>
            <a:ext cx="4023093"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Concept Development</a:t>
            </a:r>
            <a:endParaRPr lang="en-AU" sz="3200" dirty="0"/>
          </a:p>
        </p:txBody>
      </p:sp>
      <p:graphicFrame>
        <p:nvGraphicFramePr>
          <p:cNvPr id="5" name="Table 4"/>
          <p:cNvGraphicFramePr>
            <a:graphicFrameLocks noGrp="1"/>
          </p:cNvGraphicFramePr>
          <p:nvPr>
            <p:extLst>
              <p:ext uri="{D42A27DB-BD31-4B8C-83A1-F6EECF244321}">
                <p14:modId xmlns:p14="http://schemas.microsoft.com/office/powerpoint/2010/main" val="3942115976"/>
              </p:ext>
            </p:extLst>
          </p:nvPr>
        </p:nvGraphicFramePr>
        <p:xfrm>
          <a:off x="8300720" y="0"/>
          <a:ext cx="3891280" cy="736600"/>
        </p:xfrm>
        <a:graphic>
          <a:graphicData uri="http://schemas.openxmlformats.org/drawingml/2006/table">
            <a:tbl>
              <a:tblPr firstRow="1" bandRow="1">
                <a:tableStyleId>{21E4AEA4-8DFA-4A89-87EB-49C32662AFE0}</a:tableStyleId>
              </a:tblPr>
              <a:tblGrid>
                <a:gridCol w="3891280">
                  <a:extLst>
                    <a:ext uri="{9D8B030D-6E8A-4147-A177-3AD203B41FA5}">
                      <a16:colId xmlns:a16="http://schemas.microsoft.com/office/drawing/2014/main" val="20000"/>
                    </a:ext>
                  </a:extLst>
                </a:gridCol>
              </a:tblGrid>
              <a:tr h="353527">
                <a:tc>
                  <a:txBody>
                    <a:bodyPr/>
                    <a:lstStyle/>
                    <a:p>
                      <a:r>
                        <a:rPr lang="en-AU" dirty="0" smtClean="0"/>
                        <a:t>CFU 1</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What does inter-quartile</a:t>
                      </a:r>
                      <a:r>
                        <a:rPr lang="en-AU" baseline="0" dirty="0" smtClean="0"/>
                        <a:t> </a:t>
                      </a:r>
                      <a:r>
                        <a:rPr lang="en-AU" dirty="0" smtClean="0"/>
                        <a:t>range show?</a:t>
                      </a:r>
                    </a:p>
                  </a:txBody>
                  <a:tcPr>
                    <a:solidFill>
                      <a:schemeClr val="bg2"/>
                    </a:solidFill>
                  </a:tcPr>
                </a:tc>
                <a:extLst>
                  <a:ext uri="{0D108BD9-81ED-4DB2-BD59-A6C34878D82A}">
                    <a16:rowId xmlns:a16="http://schemas.microsoft.com/office/drawing/2014/main" val="10001"/>
                  </a:ext>
                </a:extLst>
              </a:tr>
            </a:tbl>
          </a:graphicData>
        </a:graphic>
      </p:graphicFrame>
      <p:sp>
        <p:nvSpPr>
          <p:cNvPr id="2" name="TextBox 1"/>
          <p:cNvSpPr txBox="1"/>
          <p:nvPr/>
        </p:nvSpPr>
        <p:spPr>
          <a:xfrm>
            <a:off x="294640" y="797560"/>
            <a:ext cx="11689080" cy="7848302"/>
          </a:xfrm>
          <a:prstGeom prst="rect">
            <a:avLst/>
          </a:prstGeom>
          <a:noFill/>
        </p:spPr>
        <p:txBody>
          <a:bodyPr wrap="square" rtlCol="0">
            <a:spAutoFit/>
          </a:bodyPr>
          <a:lstStyle/>
          <a:p>
            <a:r>
              <a:rPr lang="en-AU" sz="2400" dirty="0" smtClean="0"/>
              <a:t>The inter-quartile range shows the spread of the data between the lower quartile and the upper quartile (the middle half of the data set). It’s sometimes more useful than the range because it doesn’t have any extreme low or high values in it.</a:t>
            </a:r>
          </a:p>
          <a:p>
            <a:endParaRPr lang="en-AU" sz="2400" dirty="0"/>
          </a:p>
          <a:p>
            <a:r>
              <a:rPr lang="en-AU" sz="2400" dirty="0" smtClean="0"/>
              <a:t>Another Mathematics class takes the same test as before. </a:t>
            </a:r>
          </a:p>
          <a:p>
            <a:endParaRPr lang="en-AU" sz="2400" dirty="0" smtClean="0"/>
          </a:p>
          <a:p>
            <a:endParaRPr lang="en-AU" sz="2400" dirty="0"/>
          </a:p>
          <a:p>
            <a:r>
              <a:rPr lang="en-AU" sz="2400" dirty="0" smtClean="0"/>
              <a:t>Class 3’s results (%) are: </a:t>
            </a:r>
            <a:r>
              <a:rPr lang="en-AU" sz="2400" dirty="0"/>
              <a:t>2</a:t>
            </a:r>
            <a:r>
              <a:rPr lang="en-AU" sz="2400" dirty="0" smtClean="0"/>
              <a:t>, 42, 54, 61, 65, 67, 72, 80, 99.</a:t>
            </a:r>
          </a:p>
          <a:p>
            <a:endParaRPr lang="en-AU" sz="2400" dirty="0"/>
          </a:p>
          <a:p>
            <a:r>
              <a:rPr lang="en-AU" sz="2400" dirty="0" smtClean="0"/>
              <a:t>The range for class 3 is: 99 – 2 = 97. </a:t>
            </a:r>
          </a:p>
          <a:p>
            <a:r>
              <a:rPr lang="en-AU" sz="2400" dirty="0" smtClean="0"/>
              <a:t>The range for class 3 is high, but it does contain an extreme low (2) and an extreme high (99).</a:t>
            </a:r>
          </a:p>
          <a:p>
            <a:endParaRPr lang="en-AU" sz="2400" dirty="0" smtClean="0"/>
          </a:p>
          <a:p>
            <a:r>
              <a:rPr lang="en-AU" sz="2400" dirty="0" smtClean="0"/>
              <a:t>The inter-quartile range is: 76 – 48 = 28.</a:t>
            </a:r>
          </a:p>
          <a:p>
            <a:r>
              <a:rPr lang="en-AU" sz="2400" dirty="0" smtClean="0"/>
              <a:t>The inter-quartile range for class 3 is much smaller, showing that the middle half of the class got scores quite close to the median of 65. </a:t>
            </a:r>
          </a:p>
          <a:p>
            <a:r>
              <a:rPr lang="en-AU" sz="2400" dirty="0" smtClean="0"/>
              <a:t> </a:t>
            </a:r>
            <a:endParaRPr lang="en-AU" sz="2400" dirty="0"/>
          </a:p>
          <a:p>
            <a:endParaRPr lang="en-AU" sz="2400" dirty="0"/>
          </a:p>
          <a:p>
            <a:endParaRPr lang="en-AU" sz="2400" dirty="0"/>
          </a:p>
          <a:p>
            <a:endParaRPr lang="en-AU" sz="2400" dirty="0" smtClean="0"/>
          </a:p>
          <a:p>
            <a:endParaRPr lang="en-AU" sz="2400" dirty="0"/>
          </a:p>
          <a:p>
            <a:endParaRPr lang="en-AU" sz="2400" dirty="0"/>
          </a:p>
        </p:txBody>
      </p:sp>
      <p:cxnSp>
        <p:nvCxnSpPr>
          <p:cNvPr id="6" name="Straight Arrow Connector 5">
            <a:extLst>
              <a:ext uri="{FF2B5EF4-FFF2-40B4-BE49-F238E27FC236}">
                <a16:creationId xmlns:a16="http://schemas.microsoft.com/office/drawing/2014/main" id="{007A0B51-37CB-41A7-A11F-14650D24B314}"/>
              </a:ext>
            </a:extLst>
          </p:cNvPr>
          <p:cNvCxnSpPr>
            <a:cxnSpLocks/>
          </p:cNvCxnSpPr>
          <p:nvPr/>
        </p:nvCxnSpPr>
        <p:spPr>
          <a:xfrm>
            <a:off x="5187356" y="3103664"/>
            <a:ext cx="0" cy="28522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 name="Straight Connector 6"/>
          <p:cNvCxnSpPr/>
          <p:nvPr/>
        </p:nvCxnSpPr>
        <p:spPr>
          <a:xfrm>
            <a:off x="3378200" y="3784600"/>
            <a:ext cx="15494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8" name="Straight Arrow Connector 7">
            <a:extLst>
              <a:ext uri="{FF2B5EF4-FFF2-40B4-BE49-F238E27FC236}">
                <a16:creationId xmlns:a16="http://schemas.microsoft.com/office/drawing/2014/main" id="{007A0B51-37CB-41A7-A11F-14650D24B314}"/>
              </a:ext>
            </a:extLst>
          </p:cNvPr>
          <p:cNvCxnSpPr>
            <a:cxnSpLocks/>
          </p:cNvCxnSpPr>
          <p:nvPr/>
        </p:nvCxnSpPr>
        <p:spPr>
          <a:xfrm>
            <a:off x="4074160" y="3103664"/>
            <a:ext cx="0" cy="285225"/>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a:off x="5537200" y="3784600"/>
            <a:ext cx="1610360"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007A0B51-37CB-41A7-A11F-14650D24B314}"/>
              </a:ext>
            </a:extLst>
          </p:cNvPr>
          <p:cNvCxnSpPr>
            <a:cxnSpLocks/>
          </p:cNvCxnSpPr>
          <p:nvPr/>
        </p:nvCxnSpPr>
        <p:spPr>
          <a:xfrm>
            <a:off x="6360160" y="3103664"/>
            <a:ext cx="0" cy="28522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7739380" y="2818259"/>
            <a:ext cx="4541520" cy="400110"/>
          </a:xfrm>
          <a:prstGeom prst="rect">
            <a:avLst/>
          </a:prstGeom>
          <a:noFill/>
        </p:spPr>
        <p:txBody>
          <a:bodyPr wrap="square" rtlCol="0">
            <a:spAutoFit/>
          </a:bodyPr>
          <a:lstStyle/>
          <a:p>
            <a:r>
              <a:rPr lang="en-AU" sz="2000" b="1" dirty="0" smtClean="0"/>
              <a:t>Median = 65</a:t>
            </a:r>
            <a:endParaRPr lang="en-AU" sz="2000" b="1" dirty="0"/>
          </a:p>
        </p:txBody>
      </p:sp>
      <mc:AlternateContent xmlns:mc="http://schemas.openxmlformats.org/markup-compatibility/2006" xmlns:a14="http://schemas.microsoft.com/office/drawing/2010/main">
        <mc:Choice Requires="a14">
          <p:sp>
            <p:nvSpPr>
              <p:cNvPr id="15" name="TextBox 14"/>
              <p:cNvSpPr txBox="1"/>
              <p:nvPr/>
            </p:nvSpPr>
            <p:spPr>
              <a:xfrm>
                <a:off x="7754620" y="3182894"/>
                <a:ext cx="4541520" cy="540020"/>
              </a:xfrm>
              <a:prstGeom prst="rect">
                <a:avLst/>
              </a:prstGeom>
              <a:noFill/>
            </p:spPr>
            <p:txBody>
              <a:bodyPr wrap="square" rtlCol="0">
                <a:spAutoFit/>
              </a:bodyPr>
              <a:lstStyle/>
              <a:p>
                <a:r>
                  <a:rPr lang="en-AU" sz="2000" b="1" dirty="0" smtClean="0"/>
                  <a:t>Lower quartile = </a:t>
                </a:r>
                <a14:m>
                  <m:oMath xmlns:m="http://schemas.openxmlformats.org/officeDocument/2006/math">
                    <m:f>
                      <m:fPr>
                        <m:ctrlPr>
                          <a:rPr lang="en-AU" sz="2000" b="1" i="1" smtClean="0">
                            <a:latin typeface="Cambria Math" panose="02040503050406030204" pitchFamily="18" charset="0"/>
                          </a:rPr>
                        </m:ctrlPr>
                      </m:fPr>
                      <m:num>
                        <m:r>
                          <a:rPr lang="en-AU" sz="2000" b="1" i="1" smtClean="0">
                            <a:latin typeface="Cambria Math" panose="02040503050406030204" pitchFamily="18" charset="0"/>
                          </a:rPr>
                          <m:t>𝟒𝟐</m:t>
                        </m:r>
                        <m:r>
                          <a:rPr lang="en-AU" sz="2000" b="1" i="1" smtClean="0">
                            <a:latin typeface="Cambria Math" panose="02040503050406030204" pitchFamily="18" charset="0"/>
                          </a:rPr>
                          <m:t>+</m:t>
                        </m:r>
                        <m:r>
                          <a:rPr lang="en-AU" sz="2000" b="1" i="1" smtClean="0">
                            <a:latin typeface="Cambria Math" panose="02040503050406030204" pitchFamily="18" charset="0"/>
                          </a:rPr>
                          <m:t>𝟓𝟒</m:t>
                        </m:r>
                      </m:num>
                      <m:den>
                        <m:r>
                          <a:rPr lang="en-AU" sz="2000" b="1" i="1" smtClean="0">
                            <a:latin typeface="Cambria Math" panose="02040503050406030204" pitchFamily="18" charset="0"/>
                          </a:rPr>
                          <m:t>𝟐</m:t>
                        </m:r>
                      </m:den>
                    </m:f>
                    <m:r>
                      <a:rPr lang="en-AU" sz="2000" b="1" i="1" smtClean="0">
                        <a:latin typeface="Cambria Math" panose="02040503050406030204" pitchFamily="18" charset="0"/>
                      </a:rPr>
                      <m:t>=</m:t>
                    </m:r>
                    <m:r>
                      <a:rPr lang="en-AU" sz="2000" b="1" i="1" smtClean="0">
                        <a:latin typeface="Cambria Math" panose="02040503050406030204" pitchFamily="18" charset="0"/>
                      </a:rPr>
                      <m:t>𝟒𝟖</m:t>
                    </m:r>
                  </m:oMath>
                </a14:m>
                <a:endParaRPr lang="en-AU" sz="2000" b="1" dirty="0"/>
              </a:p>
            </p:txBody>
          </p:sp>
        </mc:Choice>
        <mc:Fallback xmlns="">
          <p:sp>
            <p:nvSpPr>
              <p:cNvPr id="15" name="TextBox 14"/>
              <p:cNvSpPr txBox="1">
                <a:spLocks noRot="1" noChangeAspect="1" noMove="1" noResize="1" noEditPoints="1" noAdjustHandles="1" noChangeArrowheads="1" noChangeShapeType="1" noTextEdit="1"/>
              </p:cNvSpPr>
              <p:nvPr/>
            </p:nvSpPr>
            <p:spPr>
              <a:xfrm>
                <a:off x="7754620" y="3182894"/>
                <a:ext cx="4541520" cy="540020"/>
              </a:xfrm>
              <a:prstGeom prst="rect">
                <a:avLst/>
              </a:prstGeom>
              <a:blipFill rotWithShape="0">
                <a:blip r:embed="rId2"/>
                <a:stretch>
                  <a:fillRect l="-1342" b="-7865"/>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7754620" y="3722914"/>
                <a:ext cx="4541520" cy="540020"/>
              </a:xfrm>
              <a:prstGeom prst="rect">
                <a:avLst/>
              </a:prstGeom>
              <a:noFill/>
            </p:spPr>
            <p:txBody>
              <a:bodyPr wrap="square" rtlCol="0">
                <a:spAutoFit/>
              </a:bodyPr>
              <a:lstStyle/>
              <a:p>
                <a:r>
                  <a:rPr lang="en-AU" sz="2000" b="1" dirty="0" smtClean="0"/>
                  <a:t>Upper quartile = </a:t>
                </a:r>
                <a14:m>
                  <m:oMath xmlns:m="http://schemas.openxmlformats.org/officeDocument/2006/math">
                    <m:f>
                      <m:fPr>
                        <m:ctrlPr>
                          <a:rPr lang="en-AU" sz="2000" b="1" i="1" smtClean="0">
                            <a:latin typeface="Cambria Math" panose="02040503050406030204" pitchFamily="18" charset="0"/>
                          </a:rPr>
                        </m:ctrlPr>
                      </m:fPr>
                      <m:num>
                        <m:r>
                          <a:rPr lang="en-AU" sz="2000" b="1" i="1" smtClean="0">
                            <a:latin typeface="Cambria Math" panose="02040503050406030204" pitchFamily="18" charset="0"/>
                          </a:rPr>
                          <m:t>𝟕𝟐</m:t>
                        </m:r>
                        <m:r>
                          <a:rPr lang="en-AU" sz="2000" b="1" i="1" smtClean="0">
                            <a:latin typeface="Cambria Math" panose="02040503050406030204" pitchFamily="18" charset="0"/>
                          </a:rPr>
                          <m:t>+</m:t>
                        </m:r>
                        <m:r>
                          <a:rPr lang="en-AU" sz="2000" b="1" i="1" smtClean="0">
                            <a:latin typeface="Cambria Math" panose="02040503050406030204" pitchFamily="18" charset="0"/>
                          </a:rPr>
                          <m:t>𝟖𝟎</m:t>
                        </m:r>
                      </m:num>
                      <m:den>
                        <m:r>
                          <a:rPr lang="en-AU" sz="2000" b="1" i="1" smtClean="0">
                            <a:latin typeface="Cambria Math" panose="02040503050406030204" pitchFamily="18" charset="0"/>
                          </a:rPr>
                          <m:t>𝟐</m:t>
                        </m:r>
                      </m:den>
                    </m:f>
                    <m:r>
                      <a:rPr lang="en-AU" sz="2000" b="1" i="1" smtClean="0">
                        <a:latin typeface="Cambria Math" panose="02040503050406030204" pitchFamily="18" charset="0"/>
                      </a:rPr>
                      <m:t>=</m:t>
                    </m:r>
                    <m:r>
                      <a:rPr lang="en-AU" sz="2000" b="1" i="1" smtClean="0">
                        <a:latin typeface="Cambria Math" panose="02040503050406030204" pitchFamily="18" charset="0"/>
                      </a:rPr>
                      <m:t>𝟕𝟔</m:t>
                    </m:r>
                  </m:oMath>
                </a14:m>
                <a:endParaRPr lang="en-AU" sz="2000" b="1" dirty="0"/>
              </a:p>
            </p:txBody>
          </p:sp>
        </mc:Choice>
        <mc:Fallback xmlns="">
          <p:sp>
            <p:nvSpPr>
              <p:cNvPr id="16" name="TextBox 15"/>
              <p:cNvSpPr txBox="1">
                <a:spLocks noRot="1" noChangeAspect="1" noMove="1" noResize="1" noEditPoints="1" noAdjustHandles="1" noChangeArrowheads="1" noChangeShapeType="1" noTextEdit="1"/>
              </p:cNvSpPr>
              <p:nvPr/>
            </p:nvSpPr>
            <p:spPr>
              <a:xfrm>
                <a:off x="7754620" y="3722914"/>
                <a:ext cx="4541520" cy="540020"/>
              </a:xfrm>
              <a:prstGeom prst="rect">
                <a:avLst/>
              </a:prstGeom>
              <a:blipFill rotWithShape="0">
                <a:blip r:embed="rId3"/>
                <a:stretch>
                  <a:fillRect l="-1342" b="-7955"/>
                </a:stretch>
              </a:blipFill>
            </p:spPr>
            <p:txBody>
              <a:bodyPr/>
              <a:lstStyle/>
              <a:p>
                <a:r>
                  <a:rPr lang="en-AU">
                    <a:noFill/>
                  </a:rPr>
                  <a:t> </a:t>
                </a:r>
              </a:p>
            </p:txBody>
          </p:sp>
        </mc:Fallback>
      </mc:AlternateContent>
      <p:sp>
        <p:nvSpPr>
          <p:cNvPr id="17" name="TextBox 16"/>
          <p:cNvSpPr txBox="1"/>
          <p:nvPr/>
        </p:nvSpPr>
        <p:spPr>
          <a:xfrm>
            <a:off x="7739380" y="2101177"/>
            <a:ext cx="4541520" cy="400110"/>
          </a:xfrm>
          <a:prstGeom prst="rect">
            <a:avLst/>
          </a:prstGeom>
          <a:noFill/>
        </p:spPr>
        <p:txBody>
          <a:bodyPr wrap="square" rtlCol="0">
            <a:spAutoFit/>
          </a:bodyPr>
          <a:lstStyle/>
          <a:p>
            <a:r>
              <a:rPr lang="en-AU" sz="2000" b="1" dirty="0" smtClean="0"/>
              <a:t>Minimum = </a:t>
            </a:r>
            <a:r>
              <a:rPr lang="en-AU" sz="2000" b="1" dirty="0"/>
              <a:t>2</a:t>
            </a:r>
          </a:p>
        </p:txBody>
      </p:sp>
      <p:sp>
        <p:nvSpPr>
          <p:cNvPr id="18" name="TextBox 17"/>
          <p:cNvSpPr txBox="1"/>
          <p:nvPr/>
        </p:nvSpPr>
        <p:spPr>
          <a:xfrm>
            <a:off x="7739380" y="2453623"/>
            <a:ext cx="4541520" cy="400110"/>
          </a:xfrm>
          <a:prstGeom prst="rect">
            <a:avLst/>
          </a:prstGeom>
          <a:noFill/>
        </p:spPr>
        <p:txBody>
          <a:bodyPr wrap="square" rtlCol="0">
            <a:spAutoFit/>
          </a:bodyPr>
          <a:lstStyle/>
          <a:p>
            <a:r>
              <a:rPr lang="en-AU" sz="2000" b="1" dirty="0" smtClean="0"/>
              <a:t>Maximum = 99</a:t>
            </a:r>
            <a:endParaRPr lang="en-AU" sz="2000" b="1" dirty="0"/>
          </a:p>
        </p:txBody>
      </p:sp>
    </p:spTree>
    <p:extLst>
      <p:ext uri="{BB962C8B-B14F-4D97-AF65-F5344CB8AC3E}">
        <p14:creationId xmlns:p14="http://schemas.microsoft.com/office/powerpoint/2010/main" val="3598875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8"/>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9"/>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6"/>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
                                            <p:txEl>
                                              <p:pRg st="10" end="10"/>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17" grpId="0"/>
      <p:bldP spid="1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3310182"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Skill Development</a:t>
            </a:r>
            <a:endParaRPr lang="en-AU" sz="3200" dirty="0"/>
          </a:p>
        </p:txBody>
      </p:sp>
      <p:sp>
        <p:nvSpPr>
          <p:cNvPr id="2" name="TextBox 1"/>
          <p:cNvSpPr txBox="1"/>
          <p:nvPr/>
        </p:nvSpPr>
        <p:spPr>
          <a:xfrm>
            <a:off x="121920" y="772160"/>
            <a:ext cx="6487160" cy="3785652"/>
          </a:xfrm>
          <a:prstGeom prst="rect">
            <a:avLst/>
          </a:prstGeom>
          <a:noFill/>
        </p:spPr>
        <p:txBody>
          <a:bodyPr wrap="square" rtlCol="0">
            <a:spAutoFit/>
          </a:bodyPr>
          <a:lstStyle/>
          <a:p>
            <a:r>
              <a:rPr lang="en-AU" sz="2400" dirty="0" smtClean="0"/>
              <a:t>By finding the 5 number summary of the data set, calculate the range and the inter-quartile range.</a:t>
            </a:r>
          </a:p>
          <a:p>
            <a:endParaRPr lang="en-AU" sz="2400" dirty="0"/>
          </a:p>
          <a:p>
            <a:r>
              <a:rPr lang="en-AU" sz="2400" b="1" dirty="0"/>
              <a:t>3</a:t>
            </a:r>
            <a:r>
              <a:rPr lang="en-AU" sz="2400" b="1" dirty="0" smtClean="0"/>
              <a:t>6,  52,  53,  55,  61,  66,  78</a:t>
            </a:r>
          </a:p>
          <a:p>
            <a:endParaRPr lang="en-AU" sz="2400" dirty="0"/>
          </a:p>
          <a:p>
            <a:r>
              <a:rPr lang="en-AU" sz="2400" dirty="0" smtClean="0"/>
              <a:t>Minimum = 36</a:t>
            </a:r>
          </a:p>
          <a:p>
            <a:r>
              <a:rPr lang="en-AU" sz="2400" dirty="0" smtClean="0"/>
              <a:t>Lower quartile (Q1) = 52</a:t>
            </a:r>
            <a:endParaRPr lang="en-AU" sz="2400" dirty="0"/>
          </a:p>
          <a:p>
            <a:r>
              <a:rPr lang="en-AU" sz="2400" dirty="0" smtClean="0"/>
              <a:t>Median = 55</a:t>
            </a:r>
          </a:p>
          <a:p>
            <a:r>
              <a:rPr lang="en-AU" sz="2400" dirty="0" smtClean="0"/>
              <a:t>Upper quartile (Q3) = 66</a:t>
            </a:r>
            <a:endParaRPr lang="en-AU" sz="2400" dirty="0"/>
          </a:p>
          <a:p>
            <a:r>
              <a:rPr lang="en-AU" sz="2400" dirty="0" smtClean="0"/>
              <a:t>Maximum = 78</a:t>
            </a:r>
            <a:endParaRPr lang="en-AU" sz="2400" dirty="0"/>
          </a:p>
        </p:txBody>
      </p:sp>
      <p:cxnSp>
        <p:nvCxnSpPr>
          <p:cNvPr id="7" name="Straight Arrow Connector 6">
            <a:extLst>
              <a:ext uri="{FF2B5EF4-FFF2-40B4-BE49-F238E27FC236}">
                <a16:creationId xmlns:a16="http://schemas.microsoft.com/office/drawing/2014/main" id="{007A0B51-37CB-41A7-A11F-14650D24B314}"/>
              </a:ext>
            </a:extLst>
          </p:cNvPr>
          <p:cNvCxnSpPr>
            <a:cxnSpLocks/>
          </p:cNvCxnSpPr>
          <p:nvPr/>
        </p:nvCxnSpPr>
        <p:spPr>
          <a:xfrm>
            <a:off x="1931076" y="1640624"/>
            <a:ext cx="0" cy="28522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21920" y="2321560"/>
            <a:ext cx="15494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07A0B51-37CB-41A7-A11F-14650D24B314}"/>
              </a:ext>
            </a:extLst>
          </p:cNvPr>
          <p:cNvCxnSpPr>
            <a:cxnSpLocks/>
          </p:cNvCxnSpPr>
          <p:nvPr/>
        </p:nvCxnSpPr>
        <p:spPr>
          <a:xfrm>
            <a:off x="883920" y="1640624"/>
            <a:ext cx="0" cy="285225"/>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280920" y="2321560"/>
            <a:ext cx="1361440"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07A0B51-37CB-41A7-A11F-14650D24B314}"/>
              </a:ext>
            </a:extLst>
          </p:cNvPr>
          <p:cNvCxnSpPr>
            <a:cxnSpLocks/>
          </p:cNvCxnSpPr>
          <p:nvPr/>
        </p:nvCxnSpPr>
        <p:spPr>
          <a:xfrm>
            <a:off x="3017520" y="1640624"/>
            <a:ext cx="0" cy="28522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21920" y="4658360"/>
            <a:ext cx="4058920" cy="461665"/>
          </a:xfrm>
          <a:prstGeom prst="rect">
            <a:avLst/>
          </a:prstGeom>
          <a:noFill/>
        </p:spPr>
        <p:txBody>
          <a:bodyPr wrap="square" rtlCol="0">
            <a:spAutoFit/>
          </a:bodyPr>
          <a:lstStyle/>
          <a:p>
            <a:r>
              <a:rPr lang="en-AU" sz="2400" dirty="0" smtClean="0"/>
              <a:t>Range (maximum – minimum):</a:t>
            </a:r>
            <a:endParaRPr lang="en-AU" sz="2400" dirty="0"/>
          </a:p>
        </p:txBody>
      </p:sp>
      <p:sp>
        <p:nvSpPr>
          <p:cNvPr id="15" name="TextBox 14"/>
          <p:cNvSpPr txBox="1"/>
          <p:nvPr/>
        </p:nvSpPr>
        <p:spPr>
          <a:xfrm>
            <a:off x="4109720" y="4658359"/>
            <a:ext cx="4058920" cy="461665"/>
          </a:xfrm>
          <a:prstGeom prst="rect">
            <a:avLst/>
          </a:prstGeom>
          <a:noFill/>
        </p:spPr>
        <p:txBody>
          <a:bodyPr wrap="square" rtlCol="0">
            <a:spAutoFit/>
          </a:bodyPr>
          <a:lstStyle/>
          <a:p>
            <a:r>
              <a:rPr lang="en-AU" sz="2400" dirty="0" smtClean="0"/>
              <a:t>78 – 36 = 42</a:t>
            </a:r>
            <a:endParaRPr lang="en-AU" sz="2400" dirty="0"/>
          </a:p>
        </p:txBody>
      </p:sp>
      <p:sp>
        <p:nvSpPr>
          <p:cNvPr id="16" name="TextBox 15"/>
          <p:cNvSpPr txBox="1"/>
          <p:nvPr/>
        </p:nvSpPr>
        <p:spPr>
          <a:xfrm>
            <a:off x="121920" y="5214271"/>
            <a:ext cx="4058920" cy="461665"/>
          </a:xfrm>
          <a:prstGeom prst="rect">
            <a:avLst/>
          </a:prstGeom>
          <a:noFill/>
        </p:spPr>
        <p:txBody>
          <a:bodyPr wrap="square" rtlCol="0">
            <a:spAutoFit/>
          </a:bodyPr>
          <a:lstStyle/>
          <a:p>
            <a:r>
              <a:rPr lang="en-AU" sz="2400" dirty="0" smtClean="0"/>
              <a:t>Inter-quartile range (Q3 – Q1):</a:t>
            </a:r>
            <a:endParaRPr lang="en-AU" sz="2400" dirty="0"/>
          </a:p>
        </p:txBody>
      </p:sp>
      <p:sp>
        <p:nvSpPr>
          <p:cNvPr id="17" name="TextBox 16"/>
          <p:cNvSpPr txBox="1"/>
          <p:nvPr/>
        </p:nvSpPr>
        <p:spPr>
          <a:xfrm>
            <a:off x="4074160" y="5214270"/>
            <a:ext cx="4058920" cy="461665"/>
          </a:xfrm>
          <a:prstGeom prst="rect">
            <a:avLst/>
          </a:prstGeom>
          <a:noFill/>
        </p:spPr>
        <p:txBody>
          <a:bodyPr wrap="square" rtlCol="0">
            <a:spAutoFit/>
          </a:bodyPr>
          <a:lstStyle/>
          <a:p>
            <a:r>
              <a:rPr lang="en-AU" sz="2400" dirty="0" smtClean="0"/>
              <a:t>66 – 52 = 14</a:t>
            </a:r>
            <a:endParaRPr lang="en-AU" sz="2400" dirty="0"/>
          </a:p>
        </p:txBody>
      </p:sp>
      <p:graphicFrame>
        <p:nvGraphicFramePr>
          <p:cNvPr id="14" name="Table 13"/>
          <p:cNvGraphicFramePr>
            <a:graphicFrameLocks noGrp="1"/>
          </p:cNvGraphicFramePr>
          <p:nvPr>
            <p:extLst/>
          </p:nvPr>
        </p:nvGraphicFramePr>
        <p:xfrm>
          <a:off x="7025640" y="0"/>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median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Order the numbers from smallest to largest.</a:t>
                      </a:r>
                    </a:p>
                    <a:p>
                      <a:r>
                        <a:rPr lang="en-AU" dirty="0" smtClean="0"/>
                        <a:t>Step 2: Find the middle number.</a:t>
                      </a:r>
                      <a:endParaRPr lang="en-AU" baseline="30000" dirty="0" smtClean="0"/>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18" name="Table 17"/>
          <p:cNvGraphicFramePr>
            <a:graphicFrameLocks noGrp="1"/>
          </p:cNvGraphicFramePr>
          <p:nvPr>
            <p:extLst/>
          </p:nvPr>
        </p:nvGraphicFramePr>
        <p:xfrm>
          <a:off x="7030720" y="1107778"/>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lower quartile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Underline the bottom half of the data set.</a:t>
                      </a:r>
                    </a:p>
                    <a:p>
                      <a:r>
                        <a:rPr lang="en-AU" dirty="0" smtClean="0"/>
                        <a:t>Step 2: Find the middle number.</a:t>
                      </a:r>
                      <a:endParaRPr lang="en-AU" baseline="30000" dirty="0"/>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19" name="Table 18"/>
          <p:cNvGraphicFramePr>
            <a:graphicFrameLocks noGrp="1"/>
          </p:cNvGraphicFramePr>
          <p:nvPr>
            <p:extLst/>
          </p:nvPr>
        </p:nvGraphicFramePr>
        <p:xfrm>
          <a:off x="7035800" y="2271098"/>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upper quartile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Underline the top half of the data set.</a:t>
                      </a:r>
                    </a:p>
                    <a:p>
                      <a:r>
                        <a:rPr lang="en-AU" dirty="0" smtClean="0"/>
                        <a:t>Step 2: Find the middle number.</a:t>
                      </a:r>
                      <a:endParaRPr lang="en-AU" baseline="30000" dirty="0"/>
                    </a:p>
                  </a:txBody>
                  <a:tcPr>
                    <a:solidFill>
                      <a:schemeClr val="bg2"/>
                    </a:solidFill>
                  </a:tcPr>
                </a:tc>
                <a:extLst>
                  <a:ext uri="{0D108BD9-81ED-4DB2-BD59-A6C34878D82A}">
                    <a16:rowId xmlns:a16="http://schemas.microsoft.com/office/drawing/2014/main" val="10001"/>
                  </a:ext>
                </a:extLst>
              </a:tr>
            </a:tbl>
          </a:graphicData>
        </a:graphic>
      </p:graphicFrame>
      <p:sp>
        <p:nvSpPr>
          <p:cNvPr id="20" name="TextBox 19"/>
          <p:cNvSpPr txBox="1"/>
          <p:nvPr/>
        </p:nvSpPr>
        <p:spPr>
          <a:xfrm>
            <a:off x="7620000" y="3530150"/>
            <a:ext cx="4358640" cy="1200329"/>
          </a:xfrm>
          <a:prstGeom prst="rect">
            <a:avLst/>
          </a:prstGeom>
          <a:solidFill>
            <a:srgbClr val="FFFF00"/>
          </a:solidFill>
          <a:ln>
            <a:solidFill>
              <a:schemeClr val="tx1"/>
            </a:solidFill>
          </a:ln>
        </p:spPr>
        <p:txBody>
          <a:bodyPr wrap="square" rtlCol="0">
            <a:spAutoFit/>
          </a:bodyPr>
          <a:lstStyle/>
          <a:p>
            <a:pPr algn="ctr"/>
            <a:r>
              <a:rPr lang="en-AU" b="1" dirty="0" smtClean="0"/>
              <a:t>If the median is one of the values, don’t include it in the lower/upper half.</a:t>
            </a:r>
          </a:p>
          <a:p>
            <a:pPr algn="ctr"/>
            <a:r>
              <a:rPr lang="en-AU" b="1" dirty="0" smtClean="0"/>
              <a:t>If the median is between two values, include it in the lower/upper half.</a:t>
            </a:r>
            <a:endParaRPr lang="en-AU" b="1" dirty="0"/>
          </a:p>
        </p:txBody>
      </p:sp>
    </p:spTree>
    <p:extLst>
      <p:ext uri="{BB962C8B-B14F-4D97-AF65-F5344CB8AC3E}">
        <p14:creationId xmlns:p14="http://schemas.microsoft.com/office/powerpoint/2010/main" val="13954351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6" grpId="0"/>
      <p:bldP spid="17"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2945880"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Guided Practice</a:t>
            </a:r>
            <a:endParaRPr lang="en-AU" sz="3200" dirty="0"/>
          </a:p>
        </p:txBody>
      </p:sp>
      <p:sp>
        <p:nvSpPr>
          <p:cNvPr id="2" name="TextBox 1"/>
          <p:cNvSpPr txBox="1"/>
          <p:nvPr/>
        </p:nvSpPr>
        <p:spPr>
          <a:xfrm>
            <a:off x="121920" y="772160"/>
            <a:ext cx="6487160" cy="3785652"/>
          </a:xfrm>
          <a:prstGeom prst="rect">
            <a:avLst/>
          </a:prstGeom>
          <a:noFill/>
        </p:spPr>
        <p:txBody>
          <a:bodyPr wrap="square" rtlCol="0">
            <a:spAutoFit/>
          </a:bodyPr>
          <a:lstStyle/>
          <a:p>
            <a:r>
              <a:rPr lang="en-AU" sz="2400" dirty="0" smtClean="0"/>
              <a:t>By finding the 5 number summary of the data set, calculate the range and the inter-quartile range.</a:t>
            </a:r>
          </a:p>
          <a:p>
            <a:endParaRPr lang="en-AU" sz="2400" dirty="0"/>
          </a:p>
          <a:p>
            <a:r>
              <a:rPr lang="en-AU" sz="2400" b="1" dirty="0" smtClean="0"/>
              <a:t>21,  34,  53,  65,  66,  67,  92</a:t>
            </a:r>
          </a:p>
          <a:p>
            <a:endParaRPr lang="en-AU" sz="2400" dirty="0"/>
          </a:p>
          <a:p>
            <a:r>
              <a:rPr lang="en-AU" sz="2400" dirty="0" smtClean="0"/>
              <a:t>Minimum = 21</a:t>
            </a:r>
          </a:p>
          <a:p>
            <a:r>
              <a:rPr lang="en-AU" sz="2400" dirty="0" smtClean="0"/>
              <a:t>Lower quartile (Q1) = 34</a:t>
            </a:r>
            <a:endParaRPr lang="en-AU" sz="2400" dirty="0"/>
          </a:p>
          <a:p>
            <a:r>
              <a:rPr lang="en-AU" sz="2400" dirty="0" smtClean="0"/>
              <a:t>Median = 65</a:t>
            </a:r>
          </a:p>
          <a:p>
            <a:r>
              <a:rPr lang="en-AU" sz="2400" dirty="0" smtClean="0"/>
              <a:t>Upper quartile (Q3) = 67</a:t>
            </a:r>
            <a:endParaRPr lang="en-AU" sz="2400" dirty="0"/>
          </a:p>
          <a:p>
            <a:r>
              <a:rPr lang="en-AU" sz="2400" dirty="0" smtClean="0"/>
              <a:t>Maximum = 92</a:t>
            </a:r>
            <a:endParaRPr lang="en-AU" sz="2400" dirty="0"/>
          </a:p>
        </p:txBody>
      </p:sp>
      <p:cxnSp>
        <p:nvCxnSpPr>
          <p:cNvPr id="7" name="Straight Arrow Connector 6">
            <a:extLst>
              <a:ext uri="{FF2B5EF4-FFF2-40B4-BE49-F238E27FC236}">
                <a16:creationId xmlns:a16="http://schemas.microsoft.com/office/drawing/2014/main" id="{007A0B51-37CB-41A7-A11F-14650D24B314}"/>
              </a:ext>
            </a:extLst>
          </p:cNvPr>
          <p:cNvCxnSpPr>
            <a:cxnSpLocks/>
          </p:cNvCxnSpPr>
          <p:nvPr/>
        </p:nvCxnSpPr>
        <p:spPr>
          <a:xfrm>
            <a:off x="1931076" y="1640624"/>
            <a:ext cx="0" cy="28522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21920" y="2321560"/>
            <a:ext cx="15494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07A0B51-37CB-41A7-A11F-14650D24B314}"/>
              </a:ext>
            </a:extLst>
          </p:cNvPr>
          <p:cNvCxnSpPr>
            <a:cxnSpLocks/>
          </p:cNvCxnSpPr>
          <p:nvPr/>
        </p:nvCxnSpPr>
        <p:spPr>
          <a:xfrm>
            <a:off x="883920" y="1640624"/>
            <a:ext cx="0" cy="285225"/>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280920" y="2321560"/>
            <a:ext cx="1361440"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07A0B51-37CB-41A7-A11F-14650D24B314}"/>
              </a:ext>
            </a:extLst>
          </p:cNvPr>
          <p:cNvCxnSpPr>
            <a:cxnSpLocks/>
          </p:cNvCxnSpPr>
          <p:nvPr/>
        </p:nvCxnSpPr>
        <p:spPr>
          <a:xfrm>
            <a:off x="3017520" y="1640624"/>
            <a:ext cx="0" cy="28522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21920" y="4658360"/>
            <a:ext cx="4058920" cy="461665"/>
          </a:xfrm>
          <a:prstGeom prst="rect">
            <a:avLst/>
          </a:prstGeom>
          <a:noFill/>
        </p:spPr>
        <p:txBody>
          <a:bodyPr wrap="square" rtlCol="0">
            <a:spAutoFit/>
          </a:bodyPr>
          <a:lstStyle/>
          <a:p>
            <a:r>
              <a:rPr lang="en-AU" sz="2400" dirty="0" smtClean="0"/>
              <a:t>Range (maximum – minimum):</a:t>
            </a:r>
            <a:endParaRPr lang="en-AU" sz="2400" dirty="0"/>
          </a:p>
        </p:txBody>
      </p:sp>
      <p:sp>
        <p:nvSpPr>
          <p:cNvPr id="15" name="TextBox 14"/>
          <p:cNvSpPr txBox="1"/>
          <p:nvPr/>
        </p:nvSpPr>
        <p:spPr>
          <a:xfrm>
            <a:off x="4109720" y="4658359"/>
            <a:ext cx="4058920" cy="461665"/>
          </a:xfrm>
          <a:prstGeom prst="rect">
            <a:avLst/>
          </a:prstGeom>
          <a:noFill/>
        </p:spPr>
        <p:txBody>
          <a:bodyPr wrap="square" rtlCol="0">
            <a:spAutoFit/>
          </a:bodyPr>
          <a:lstStyle/>
          <a:p>
            <a:r>
              <a:rPr lang="en-AU" sz="2400" dirty="0" smtClean="0"/>
              <a:t>92 – 21 = 71</a:t>
            </a:r>
            <a:endParaRPr lang="en-AU" sz="2400" dirty="0"/>
          </a:p>
        </p:txBody>
      </p:sp>
      <p:sp>
        <p:nvSpPr>
          <p:cNvPr id="16" name="TextBox 15"/>
          <p:cNvSpPr txBox="1"/>
          <p:nvPr/>
        </p:nvSpPr>
        <p:spPr>
          <a:xfrm>
            <a:off x="121920" y="5214271"/>
            <a:ext cx="4058920" cy="461665"/>
          </a:xfrm>
          <a:prstGeom prst="rect">
            <a:avLst/>
          </a:prstGeom>
          <a:noFill/>
        </p:spPr>
        <p:txBody>
          <a:bodyPr wrap="square" rtlCol="0">
            <a:spAutoFit/>
          </a:bodyPr>
          <a:lstStyle/>
          <a:p>
            <a:r>
              <a:rPr lang="en-AU" sz="2400" dirty="0" smtClean="0"/>
              <a:t>Inter-quartile range (Q3 – Q1):</a:t>
            </a:r>
            <a:endParaRPr lang="en-AU" sz="2400" dirty="0"/>
          </a:p>
        </p:txBody>
      </p:sp>
      <p:sp>
        <p:nvSpPr>
          <p:cNvPr id="17" name="TextBox 16"/>
          <p:cNvSpPr txBox="1"/>
          <p:nvPr/>
        </p:nvSpPr>
        <p:spPr>
          <a:xfrm>
            <a:off x="4074160" y="5214270"/>
            <a:ext cx="4058920" cy="461665"/>
          </a:xfrm>
          <a:prstGeom prst="rect">
            <a:avLst/>
          </a:prstGeom>
          <a:noFill/>
        </p:spPr>
        <p:txBody>
          <a:bodyPr wrap="square" rtlCol="0">
            <a:spAutoFit/>
          </a:bodyPr>
          <a:lstStyle/>
          <a:p>
            <a:r>
              <a:rPr lang="en-AU" sz="2400" dirty="0" smtClean="0"/>
              <a:t>67 – 34 = 33</a:t>
            </a:r>
            <a:endParaRPr lang="en-AU" sz="2400" dirty="0"/>
          </a:p>
        </p:txBody>
      </p:sp>
      <p:graphicFrame>
        <p:nvGraphicFramePr>
          <p:cNvPr id="14" name="Table 13"/>
          <p:cNvGraphicFramePr>
            <a:graphicFrameLocks noGrp="1"/>
          </p:cNvGraphicFramePr>
          <p:nvPr>
            <p:extLst/>
          </p:nvPr>
        </p:nvGraphicFramePr>
        <p:xfrm>
          <a:off x="7025640" y="0"/>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median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Order the numbers from smallest to largest.</a:t>
                      </a:r>
                    </a:p>
                    <a:p>
                      <a:r>
                        <a:rPr lang="en-AU" dirty="0" smtClean="0"/>
                        <a:t>Step 2: Find the middle number.</a:t>
                      </a:r>
                      <a:endParaRPr lang="en-AU" baseline="30000" dirty="0" smtClean="0"/>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18" name="Table 17"/>
          <p:cNvGraphicFramePr>
            <a:graphicFrameLocks noGrp="1"/>
          </p:cNvGraphicFramePr>
          <p:nvPr>
            <p:extLst/>
          </p:nvPr>
        </p:nvGraphicFramePr>
        <p:xfrm>
          <a:off x="7030720" y="1107778"/>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lower quartile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Underline the bottom half of the data set.</a:t>
                      </a:r>
                    </a:p>
                    <a:p>
                      <a:r>
                        <a:rPr lang="en-AU" dirty="0" smtClean="0"/>
                        <a:t>Step 2: Find the middle number.</a:t>
                      </a:r>
                      <a:endParaRPr lang="en-AU" baseline="30000" dirty="0"/>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19" name="Table 18"/>
          <p:cNvGraphicFramePr>
            <a:graphicFrameLocks noGrp="1"/>
          </p:cNvGraphicFramePr>
          <p:nvPr>
            <p:extLst/>
          </p:nvPr>
        </p:nvGraphicFramePr>
        <p:xfrm>
          <a:off x="7035800" y="2271098"/>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upper quartile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Underline the top half of the data set.</a:t>
                      </a:r>
                    </a:p>
                    <a:p>
                      <a:r>
                        <a:rPr lang="en-AU" dirty="0" smtClean="0"/>
                        <a:t>Step 2: Find the middle number.</a:t>
                      </a:r>
                      <a:endParaRPr lang="en-AU" baseline="30000" dirty="0"/>
                    </a:p>
                  </a:txBody>
                  <a:tcPr>
                    <a:solidFill>
                      <a:schemeClr val="bg2"/>
                    </a:solidFill>
                  </a:tcPr>
                </a:tc>
                <a:extLst>
                  <a:ext uri="{0D108BD9-81ED-4DB2-BD59-A6C34878D82A}">
                    <a16:rowId xmlns:a16="http://schemas.microsoft.com/office/drawing/2014/main" val="10001"/>
                  </a:ext>
                </a:extLst>
              </a:tr>
            </a:tbl>
          </a:graphicData>
        </a:graphic>
      </p:graphicFrame>
      <p:sp>
        <p:nvSpPr>
          <p:cNvPr id="20" name="TextBox 19"/>
          <p:cNvSpPr txBox="1"/>
          <p:nvPr/>
        </p:nvSpPr>
        <p:spPr>
          <a:xfrm>
            <a:off x="7620000" y="3530150"/>
            <a:ext cx="4358640" cy="1200329"/>
          </a:xfrm>
          <a:prstGeom prst="rect">
            <a:avLst/>
          </a:prstGeom>
          <a:solidFill>
            <a:srgbClr val="FFFF00"/>
          </a:solidFill>
          <a:ln>
            <a:solidFill>
              <a:schemeClr val="tx1"/>
            </a:solidFill>
          </a:ln>
        </p:spPr>
        <p:txBody>
          <a:bodyPr wrap="square" rtlCol="0">
            <a:spAutoFit/>
          </a:bodyPr>
          <a:lstStyle/>
          <a:p>
            <a:pPr algn="ctr"/>
            <a:r>
              <a:rPr lang="en-AU" b="1" dirty="0" smtClean="0"/>
              <a:t>If the median is one of the values, don’t include it in the lower/upper half.</a:t>
            </a:r>
          </a:p>
          <a:p>
            <a:pPr algn="ctr"/>
            <a:r>
              <a:rPr lang="en-AU" b="1" dirty="0" smtClean="0"/>
              <a:t>If the median is between two values, include it in the lower/upper half.</a:t>
            </a:r>
            <a:endParaRPr lang="en-AU" b="1" dirty="0"/>
          </a:p>
        </p:txBody>
      </p:sp>
    </p:spTree>
    <p:extLst>
      <p:ext uri="{BB962C8B-B14F-4D97-AF65-F5344CB8AC3E}">
        <p14:creationId xmlns:p14="http://schemas.microsoft.com/office/powerpoint/2010/main" val="929350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6" grpId="0"/>
      <p:bldP spid="17"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2945880"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Guided Practice</a:t>
            </a:r>
            <a:endParaRPr lang="en-AU" sz="3200" dirty="0"/>
          </a:p>
        </p:txBody>
      </p:sp>
      <mc:AlternateContent xmlns:mc="http://schemas.openxmlformats.org/markup-compatibility/2006" xmlns:a14="http://schemas.microsoft.com/office/drawing/2010/main">
        <mc:Choice Requires="a14">
          <p:sp>
            <p:nvSpPr>
              <p:cNvPr id="2" name="TextBox 1"/>
              <p:cNvSpPr txBox="1"/>
              <p:nvPr/>
            </p:nvSpPr>
            <p:spPr>
              <a:xfrm>
                <a:off x="121920" y="772160"/>
                <a:ext cx="6487160" cy="4287840"/>
              </a:xfrm>
              <a:prstGeom prst="rect">
                <a:avLst/>
              </a:prstGeom>
              <a:noFill/>
            </p:spPr>
            <p:txBody>
              <a:bodyPr wrap="square" rtlCol="0">
                <a:spAutoFit/>
              </a:bodyPr>
              <a:lstStyle/>
              <a:p>
                <a:r>
                  <a:rPr lang="en-AU" sz="2400" dirty="0" smtClean="0"/>
                  <a:t>By finding the 5 number summary of the data set, calculate the range and the inter-quartile range.</a:t>
                </a:r>
              </a:p>
              <a:p>
                <a:endParaRPr lang="en-AU" sz="2400" dirty="0"/>
              </a:p>
              <a:p>
                <a:r>
                  <a:rPr lang="en-AU" sz="2400" b="1" dirty="0" smtClean="0"/>
                  <a:t>21,  34,  53,  65,  66,  67, 80,  92</a:t>
                </a:r>
              </a:p>
              <a:p>
                <a:endParaRPr lang="en-AU" sz="2400" dirty="0"/>
              </a:p>
              <a:p>
                <a:r>
                  <a:rPr lang="en-AU" sz="2400" dirty="0" smtClean="0"/>
                  <a:t>Minimum = 21</a:t>
                </a:r>
              </a:p>
              <a:p>
                <a:r>
                  <a:rPr lang="en-AU" sz="2400" dirty="0" smtClean="0"/>
                  <a:t>Lower quartile (Q1) = </a:t>
                </a:r>
                <a14:m>
                  <m:oMath xmlns:m="http://schemas.openxmlformats.org/officeDocument/2006/math">
                    <m:f>
                      <m:fPr>
                        <m:ctrlPr>
                          <a:rPr lang="en-AU" sz="2400" i="1" dirty="0" smtClean="0">
                            <a:latin typeface="Cambria Math" panose="02040503050406030204" pitchFamily="18" charset="0"/>
                          </a:rPr>
                        </m:ctrlPr>
                      </m:fPr>
                      <m:num>
                        <m:r>
                          <a:rPr lang="en-AU" sz="2400" b="0" i="1" dirty="0" smtClean="0">
                            <a:latin typeface="Cambria Math" panose="02040503050406030204" pitchFamily="18" charset="0"/>
                          </a:rPr>
                          <m:t>34+53</m:t>
                        </m:r>
                      </m:num>
                      <m:den>
                        <m:r>
                          <a:rPr lang="en-AU" sz="2400" b="0" i="1" dirty="0" smtClean="0">
                            <a:latin typeface="Cambria Math" panose="02040503050406030204" pitchFamily="18" charset="0"/>
                          </a:rPr>
                          <m:t>2</m:t>
                        </m:r>
                      </m:den>
                    </m:f>
                    <m:r>
                      <a:rPr lang="en-AU" sz="2400" b="0" i="1" dirty="0" smtClean="0">
                        <a:latin typeface="Cambria Math" panose="02040503050406030204" pitchFamily="18" charset="0"/>
                      </a:rPr>
                      <m:t>=43.5</m:t>
                    </m:r>
                  </m:oMath>
                </a14:m>
                <a:endParaRPr lang="en-AU" sz="2400" dirty="0"/>
              </a:p>
              <a:p>
                <a:r>
                  <a:rPr lang="en-AU" sz="2400" dirty="0" smtClean="0"/>
                  <a:t>Median = </a:t>
                </a:r>
                <a14:m>
                  <m:oMath xmlns:m="http://schemas.openxmlformats.org/officeDocument/2006/math">
                    <m:f>
                      <m:fPr>
                        <m:ctrlPr>
                          <a:rPr lang="en-AU" sz="2400" i="1" dirty="0" smtClean="0">
                            <a:latin typeface="Cambria Math" panose="02040503050406030204" pitchFamily="18" charset="0"/>
                          </a:rPr>
                        </m:ctrlPr>
                      </m:fPr>
                      <m:num>
                        <m:r>
                          <a:rPr lang="en-AU" sz="2400" b="0" i="1" dirty="0" smtClean="0">
                            <a:latin typeface="Cambria Math" panose="02040503050406030204" pitchFamily="18" charset="0"/>
                          </a:rPr>
                          <m:t>65+66</m:t>
                        </m:r>
                      </m:num>
                      <m:den>
                        <m:r>
                          <a:rPr lang="en-AU" sz="2400" b="0" i="1" dirty="0" smtClean="0">
                            <a:latin typeface="Cambria Math" panose="02040503050406030204" pitchFamily="18" charset="0"/>
                          </a:rPr>
                          <m:t>2</m:t>
                        </m:r>
                      </m:den>
                    </m:f>
                    <m:r>
                      <a:rPr lang="en-AU" sz="2400" b="0" i="1" dirty="0" smtClean="0">
                        <a:latin typeface="Cambria Math" panose="02040503050406030204" pitchFamily="18" charset="0"/>
                      </a:rPr>
                      <m:t>=</m:t>
                    </m:r>
                    <m:r>
                      <a:rPr lang="en-AU" sz="2400" i="1" dirty="0" smtClean="0">
                        <a:latin typeface="Cambria Math" panose="02040503050406030204" pitchFamily="18" charset="0"/>
                      </a:rPr>
                      <m:t>65.5</m:t>
                    </m:r>
                  </m:oMath>
                </a14:m>
                <a:endParaRPr lang="en-AU" sz="2400" dirty="0" smtClean="0"/>
              </a:p>
              <a:p>
                <a:r>
                  <a:rPr lang="en-AU" sz="2400" dirty="0" smtClean="0"/>
                  <a:t>Upper quartile (Q3) = </a:t>
                </a:r>
                <a14:m>
                  <m:oMath xmlns:m="http://schemas.openxmlformats.org/officeDocument/2006/math">
                    <m:f>
                      <m:fPr>
                        <m:ctrlPr>
                          <a:rPr lang="en-AU" sz="2400" i="1" dirty="0" smtClean="0">
                            <a:latin typeface="Cambria Math" panose="02040503050406030204" pitchFamily="18" charset="0"/>
                          </a:rPr>
                        </m:ctrlPr>
                      </m:fPr>
                      <m:num>
                        <m:r>
                          <a:rPr lang="en-AU" sz="2400" b="0" i="1" dirty="0" smtClean="0">
                            <a:latin typeface="Cambria Math" panose="02040503050406030204" pitchFamily="18" charset="0"/>
                          </a:rPr>
                          <m:t>67+80</m:t>
                        </m:r>
                      </m:num>
                      <m:den>
                        <m:r>
                          <a:rPr lang="en-AU" sz="2400" b="0" i="1" dirty="0" smtClean="0">
                            <a:latin typeface="Cambria Math" panose="02040503050406030204" pitchFamily="18" charset="0"/>
                          </a:rPr>
                          <m:t>2</m:t>
                        </m:r>
                      </m:den>
                    </m:f>
                    <m:r>
                      <a:rPr lang="en-AU" sz="2400" b="0" i="1" dirty="0" smtClean="0">
                        <a:latin typeface="Cambria Math" panose="02040503050406030204" pitchFamily="18" charset="0"/>
                      </a:rPr>
                      <m:t>=73.5</m:t>
                    </m:r>
                  </m:oMath>
                </a14:m>
                <a:endParaRPr lang="en-AU" sz="2400" dirty="0"/>
              </a:p>
              <a:p>
                <a:r>
                  <a:rPr lang="en-AU" sz="2400" dirty="0" smtClean="0"/>
                  <a:t>Maximum = 92</a:t>
                </a:r>
                <a:endParaRPr lang="en-AU"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121920" y="772160"/>
                <a:ext cx="6487160" cy="4287840"/>
              </a:xfrm>
              <a:prstGeom prst="rect">
                <a:avLst/>
              </a:prstGeom>
              <a:blipFill rotWithShape="0">
                <a:blip r:embed="rId2"/>
                <a:stretch>
                  <a:fillRect l="-1410" t="-1138" b="-1565"/>
                </a:stretch>
              </a:blipFill>
            </p:spPr>
            <p:txBody>
              <a:bodyPr/>
              <a:lstStyle/>
              <a:p>
                <a:r>
                  <a:rPr lang="en-AU">
                    <a:noFill/>
                  </a:rPr>
                  <a:t> </a:t>
                </a:r>
              </a:p>
            </p:txBody>
          </p:sp>
        </mc:Fallback>
      </mc:AlternateContent>
      <p:cxnSp>
        <p:nvCxnSpPr>
          <p:cNvPr id="7" name="Straight Arrow Connector 6">
            <a:extLst>
              <a:ext uri="{FF2B5EF4-FFF2-40B4-BE49-F238E27FC236}">
                <a16:creationId xmlns:a16="http://schemas.microsoft.com/office/drawing/2014/main" id="{007A0B51-37CB-41A7-A11F-14650D24B314}"/>
              </a:ext>
            </a:extLst>
          </p:cNvPr>
          <p:cNvCxnSpPr>
            <a:cxnSpLocks/>
          </p:cNvCxnSpPr>
          <p:nvPr/>
        </p:nvCxnSpPr>
        <p:spPr>
          <a:xfrm>
            <a:off x="2230796" y="1640624"/>
            <a:ext cx="0" cy="28522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21920" y="2321560"/>
            <a:ext cx="195580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07A0B51-37CB-41A7-A11F-14650D24B314}"/>
              </a:ext>
            </a:extLst>
          </p:cNvPr>
          <p:cNvCxnSpPr>
            <a:cxnSpLocks/>
          </p:cNvCxnSpPr>
          <p:nvPr/>
        </p:nvCxnSpPr>
        <p:spPr>
          <a:xfrm>
            <a:off x="1183640" y="1640624"/>
            <a:ext cx="0" cy="285225"/>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382520" y="2321560"/>
            <a:ext cx="1691640"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07A0B51-37CB-41A7-A11F-14650D24B314}"/>
              </a:ext>
            </a:extLst>
          </p:cNvPr>
          <p:cNvCxnSpPr>
            <a:cxnSpLocks/>
          </p:cNvCxnSpPr>
          <p:nvPr/>
        </p:nvCxnSpPr>
        <p:spPr>
          <a:xfrm>
            <a:off x="3230880" y="1640624"/>
            <a:ext cx="0" cy="28522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21920" y="5426277"/>
            <a:ext cx="4058920" cy="461665"/>
          </a:xfrm>
          <a:prstGeom prst="rect">
            <a:avLst/>
          </a:prstGeom>
          <a:noFill/>
        </p:spPr>
        <p:txBody>
          <a:bodyPr wrap="square" rtlCol="0">
            <a:spAutoFit/>
          </a:bodyPr>
          <a:lstStyle/>
          <a:p>
            <a:r>
              <a:rPr lang="en-AU" sz="2400" dirty="0" smtClean="0"/>
              <a:t>Range (maximum – minimum):</a:t>
            </a:r>
            <a:endParaRPr lang="en-AU" sz="2400" dirty="0"/>
          </a:p>
        </p:txBody>
      </p:sp>
      <p:sp>
        <p:nvSpPr>
          <p:cNvPr id="15" name="TextBox 14"/>
          <p:cNvSpPr txBox="1"/>
          <p:nvPr/>
        </p:nvSpPr>
        <p:spPr>
          <a:xfrm>
            <a:off x="4109720" y="5426276"/>
            <a:ext cx="4058920" cy="461665"/>
          </a:xfrm>
          <a:prstGeom prst="rect">
            <a:avLst/>
          </a:prstGeom>
          <a:noFill/>
        </p:spPr>
        <p:txBody>
          <a:bodyPr wrap="square" rtlCol="0">
            <a:spAutoFit/>
          </a:bodyPr>
          <a:lstStyle/>
          <a:p>
            <a:r>
              <a:rPr lang="en-AU" sz="2400" dirty="0" smtClean="0"/>
              <a:t>92 – 21 = 71</a:t>
            </a:r>
            <a:endParaRPr lang="en-AU" sz="2400" dirty="0"/>
          </a:p>
        </p:txBody>
      </p:sp>
      <p:sp>
        <p:nvSpPr>
          <p:cNvPr id="16" name="TextBox 15"/>
          <p:cNvSpPr txBox="1"/>
          <p:nvPr/>
        </p:nvSpPr>
        <p:spPr>
          <a:xfrm>
            <a:off x="121920" y="5982188"/>
            <a:ext cx="4058920" cy="461665"/>
          </a:xfrm>
          <a:prstGeom prst="rect">
            <a:avLst/>
          </a:prstGeom>
          <a:noFill/>
        </p:spPr>
        <p:txBody>
          <a:bodyPr wrap="square" rtlCol="0">
            <a:spAutoFit/>
          </a:bodyPr>
          <a:lstStyle/>
          <a:p>
            <a:r>
              <a:rPr lang="en-AU" sz="2400" dirty="0" smtClean="0"/>
              <a:t>Inter-quartile range (Q3 – Q1):</a:t>
            </a:r>
            <a:endParaRPr lang="en-AU" sz="2400" dirty="0"/>
          </a:p>
        </p:txBody>
      </p:sp>
      <p:sp>
        <p:nvSpPr>
          <p:cNvPr id="17" name="TextBox 16"/>
          <p:cNvSpPr txBox="1"/>
          <p:nvPr/>
        </p:nvSpPr>
        <p:spPr>
          <a:xfrm>
            <a:off x="4074160" y="5982187"/>
            <a:ext cx="4058920" cy="461665"/>
          </a:xfrm>
          <a:prstGeom prst="rect">
            <a:avLst/>
          </a:prstGeom>
          <a:noFill/>
        </p:spPr>
        <p:txBody>
          <a:bodyPr wrap="square" rtlCol="0">
            <a:spAutoFit/>
          </a:bodyPr>
          <a:lstStyle/>
          <a:p>
            <a:r>
              <a:rPr lang="en-AU" sz="2400" dirty="0" smtClean="0"/>
              <a:t>73.5 – 43.5 = 30</a:t>
            </a:r>
            <a:endParaRPr lang="en-AU" sz="2400" dirty="0"/>
          </a:p>
        </p:txBody>
      </p:sp>
      <p:graphicFrame>
        <p:nvGraphicFramePr>
          <p:cNvPr id="14" name="Table 13"/>
          <p:cNvGraphicFramePr>
            <a:graphicFrameLocks noGrp="1"/>
          </p:cNvGraphicFramePr>
          <p:nvPr>
            <p:extLst/>
          </p:nvPr>
        </p:nvGraphicFramePr>
        <p:xfrm>
          <a:off x="7025640" y="0"/>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median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Order the numbers from smallest to largest.</a:t>
                      </a:r>
                    </a:p>
                    <a:p>
                      <a:r>
                        <a:rPr lang="en-AU" dirty="0" smtClean="0"/>
                        <a:t>Step 2: Find the middle number.</a:t>
                      </a:r>
                      <a:endParaRPr lang="en-AU" baseline="30000" dirty="0" smtClean="0"/>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18" name="Table 17"/>
          <p:cNvGraphicFramePr>
            <a:graphicFrameLocks noGrp="1"/>
          </p:cNvGraphicFramePr>
          <p:nvPr>
            <p:extLst/>
          </p:nvPr>
        </p:nvGraphicFramePr>
        <p:xfrm>
          <a:off x="7030720" y="1107778"/>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lower quartile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Underline the bottom half of the data set.</a:t>
                      </a:r>
                    </a:p>
                    <a:p>
                      <a:r>
                        <a:rPr lang="en-AU" dirty="0" smtClean="0"/>
                        <a:t>Step 2: Find the middle number.</a:t>
                      </a:r>
                      <a:endParaRPr lang="en-AU" baseline="30000" dirty="0"/>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19" name="Table 18"/>
          <p:cNvGraphicFramePr>
            <a:graphicFrameLocks noGrp="1"/>
          </p:cNvGraphicFramePr>
          <p:nvPr>
            <p:extLst/>
          </p:nvPr>
        </p:nvGraphicFramePr>
        <p:xfrm>
          <a:off x="7035800" y="2271098"/>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upper quartile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Underline the top half of the data set.</a:t>
                      </a:r>
                    </a:p>
                    <a:p>
                      <a:r>
                        <a:rPr lang="en-AU" dirty="0" smtClean="0"/>
                        <a:t>Step 2: Find the middle number.</a:t>
                      </a:r>
                      <a:endParaRPr lang="en-AU" baseline="30000" dirty="0"/>
                    </a:p>
                  </a:txBody>
                  <a:tcPr>
                    <a:solidFill>
                      <a:schemeClr val="bg2"/>
                    </a:solidFill>
                  </a:tcPr>
                </a:tc>
                <a:extLst>
                  <a:ext uri="{0D108BD9-81ED-4DB2-BD59-A6C34878D82A}">
                    <a16:rowId xmlns:a16="http://schemas.microsoft.com/office/drawing/2014/main" val="10001"/>
                  </a:ext>
                </a:extLst>
              </a:tr>
            </a:tbl>
          </a:graphicData>
        </a:graphic>
      </p:graphicFrame>
      <p:sp>
        <p:nvSpPr>
          <p:cNvPr id="20" name="TextBox 19"/>
          <p:cNvSpPr txBox="1"/>
          <p:nvPr/>
        </p:nvSpPr>
        <p:spPr>
          <a:xfrm>
            <a:off x="7620000" y="3530150"/>
            <a:ext cx="4358640" cy="1200329"/>
          </a:xfrm>
          <a:prstGeom prst="rect">
            <a:avLst/>
          </a:prstGeom>
          <a:solidFill>
            <a:srgbClr val="FFFF00"/>
          </a:solidFill>
          <a:ln>
            <a:solidFill>
              <a:schemeClr val="tx1"/>
            </a:solidFill>
          </a:ln>
        </p:spPr>
        <p:txBody>
          <a:bodyPr wrap="square" rtlCol="0">
            <a:spAutoFit/>
          </a:bodyPr>
          <a:lstStyle/>
          <a:p>
            <a:pPr algn="ctr"/>
            <a:r>
              <a:rPr lang="en-AU" b="1" dirty="0" smtClean="0"/>
              <a:t>If the median is one of the values, don’t include it in the lower/upper half.</a:t>
            </a:r>
          </a:p>
          <a:p>
            <a:pPr algn="ctr"/>
            <a:r>
              <a:rPr lang="en-AU" b="1" dirty="0" smtClean="0"/>
              <a:t>If the median is between two values, include it in the lower/upper half.</a:t>
            </a:r>
            <a:endParaRPr lang="en-AU" b="1" dirty="0"/>
          </a:p>
        </p:txBody>
      </p:sp>
    </p:spTree>
    <p:extLst>
      <p:ext uri="{BB962C8B-B14F-4D97-AF65-F5344CB8AC3E}">
        <p14:creationId xmlns:p14="http://schemas.microsoft.com/office/powerpoint/2010/main" val="555422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6" grpId="0"/>
      <p:bldP spid="17"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0"/>
            <a:ext cx="2945880"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Guided Practice</a:t>
            </a:r>
            <a:endParaRPr lang="en-AU" sz="3200" dirty="0"/>
          </a:p>
        </p:txBody>
      </p:sp>
      <mc:AlternateContent xmlns:mc="http://schemas.openxmlformats.org/markup-compatibility/2006" xmlns:a14="http://schemas.microsoft.com/office/drawing/2010/main">
        <mc:Choice Requires="a14">
          <p:sp>
            <p:nvSpPr>
              <p:cNvPr id="2" name="TextBox 1"/>
              <p:cNvSpPr txBox="1"/>
              <p:nvPr/>
            </p:nvSpPr>
            <p:spPr>
              <a:xfrm>
                <a:off x="121920" y="772160"/>
                <a:ext cx="6487160" cy="3938642"/>
              </a:xfrm>
              <a:prstGeom prst="rect">
                <a:avLst/>
              </a:prstGeom>
              <a:noFill/>
            </p:spPr>
            <p:txBody>
              <a:bodyPr wrap="square" rtlCol="0">
                <a:spAutoFit/>
              </a:bodyPr>
              <a:lstStyle/>
              <a:p>
                <a:r>
                  <a:rPr lang="en-AU" sz="2400" dirty="0" smtClean="0"/>
                  <a:t>By finding the 5 number summary of the data set, calculate the range and the inter-quartile range.</a:t>
                </a:r>
              </a:p>
              <a:p>
                <a:endParaRPr lang="en-AU" sz="2400" dirty="0"/>
              </a:p>
              <a:p>
                <a:r>
                  <a:rPr lang="en-AU" sz="2400" b="1" dirty="0" smtClean="0"/>
                  <a:t>21,  33,  54,  62,  66,  67, 81,  91, 92, 98</a:t>
                </a:r>
              </a:p>
              <a:p>
                <a:endParaRPr lang="en-AU" sz="2400" dirty="0"/>
              </a:p>
              <a:p>
                <a:r>
                  <a:rPr lang="en-AU" sz="2400" dirty="0" smtClean="0"/>
                  <a:t>Minimum = 21</a:t>
                </a:r>
              </a:p>
              <a:p>
                <a:r>
                  <a:rPr lang="en-AU" sz="2400" dirty="0" smtClean="0"/>
                  <a:t>Lower quartile (Q1) = 54</a:t>
                </a:r>
                <a:endParaRPr lang="en-AU" sz="2400" dirty="0"/>
              </a:p>
              <a:p>
                <a:r>
                  <a:rPr lang="en-AU" sz="2400" dirty="0" smtClean="0"/>
                  <a:t>Median = </a:t>
                </a:r>
                <a14:m>
                  <m:oMath xmlns:m="http://schemas.openxmlformats.org/officeDocument/2006/math">
                    <m:f>
                      <m:fPr>
                        <m:ctrlPr>
                          <a:rPr lang="en-AU" sz="2400" i="1" dirty="0" smtClean="0">
                            <a:latin typeface="Cambria Math" panose="02040503050406030204" pitchFamily="18" charset="0"/>
                          </a:rPr>
                        </m:ctrlPr>
                      </m:fPr>
                      <m:num>
                        <m:r>
                          <a:rPr lang="en-AU" sz="2400" b="0" i="1" dirty="0" smtClean="0">
                            <a:latin typeface="Cambria Math" panose="02040503050406030204" pitchFamily="18" charset="0"/>
                          </a:rPr>
                          <m:t>66+67</m:t>
                        </m:r>
                      </m:num>
                      <m:den>
                        <m:r>
                          <a:rPr lang="en-AU" sz="2400" b="0" i="1" dirty="0" smtClean="0">
                            <a:latin typeface="Cambria Math" panose="02040503050406030204" pitchFamily="18" charset="0"/>
                          </a:rPr>
                          <m:t>2</m:t>
                        </m:r>
                      </m:den>
                    </m:f>
                    <m:r>
                      <a:rPr lang="en-AU" sz="2400" b="0" i="1" dirty="0" smtClean="0">
                        <a:latin typeface="Cambria Math" panose="02040503050406030204" pitchFamily="18" charset="0"/>
                      </a:rPr>
                      <m:t>=</m:t>
                    </m:r>
                    <m:r>
                      <a:rPr lang="en-AU" sz="2400" i="1" dirty="0" smtClean="0">
                        <a:latin typeface="Cambria Math" panose="02040503050406030204" pitchFamily="18" charset="0"/>
                      </a:rPr>
                      <m:t>6</m:t>
                    </m:r>
                    <m:r>
                      <a:rPr lang="en-AU" sz="2400" b="0" i="1" dirty="0" smtClean="0">
                        <a:latin typeface="Cambria Math" panose="02040503050406030204" pitchFamily="18" charset="0"/>
                      </a:rPr>
                      <m:t>6</m:t>
                    </m:r>
                    <m:r>
                      <a:rPr lang="en-AU" sz="2400" i="1" dirty="0" smtClean="0">
                        <a:latin typeface="Cambria Math" panose="02040503050406030204" pitchFamily="18" charset="0"/>
                      </a:rPr>
                      <m:t>.5</m:t>
                    </m:r>
                  </m:oMath>
                </a14:m>
                <a:endParaRPr lang="en-AU" sz="2400" dirty="0" smtClean="0"/>
              </a:p>
              <a:p>
                <a:r>
                  <a:rPr lang="en-AU" sz="2400" dirty="0" smtClean="0"/>
                  <a:t>Upper quartile (Q3) = 91</a:t>
                </a:r>
                <a:endParaRPr lang="en-AU" sz="2400" dirty="0"/>
              </a:p>
              <a:p>
                <a:r>
                  <a:rPr lang="en-AU" sz="2400" dirty="0" smtClean="0"/>
                  <a:t>Maximum = 98</a:t>
                </a:r>
                <a:endParaRPr lang="en-AU" sz="2400" dirty="0"/>
              </a:p>
            </p:txBody>
          </p:sp>
        </mc:Choice>
        <mc:Fallback xmlns="">
          <p:sp>
            <p:nvSpPr>
              <p:cNvPr id="2" name="TextBox 1"/>
              <p:cNvSpPr txBox="1">
                <a:spLocks noRot="1" noChangeAspect="1" noMove="1" noResize="1" noEditPoints="1" noAdjustHandles="1" noChangeArrowheads="1" noChangeShapeType="1" noTextEdit="1"/>
              </p:cNvSpPr>
              <p:nvPr/>
            </p:nvSpPr>
            <p:spPr>
              <a:xfrm>
                <a:off x="121920" y="772160"/>
                <a:ext cx="6487160" cy="3938642"/>
              </a:xfrm>
              <a:prstGeom prst="rect">
                <a:avLst/>
              </a:prstGeom>
              <a:blipFill rotWithShape="0">
                <a:blip r:embed="rId2"/>
                <a:stretch>
                  <a:fillRect l="-1410" t="-1238" b="-2632"/>
                </a:stretch>
              </a:blipFill>
            </p:spPr>
            <p:txBody>
              <a:bodyPr/>
              <a:lstStyle/>
              <a:p>
                <a:r>
                  <a:rPr lang="en-AU">
                    <a:noFill/>
                  </a:rPr>
                  <a:t> </a:t>
                </a:r>
              </a:p>
            </p:txBody>
          </p:sp>
        </mc:Fallback>
      </mc:AlternateContent>
      <p:cxnSp>
        <p:nvCxnSpPr>
          <p:cNvPr id="7" name="Straight Arrow Connector 6">
            <a:extLst>
              <a:ext uri="{FF2B5EF4-FFF2-40B4-BE49-F238E27FC236}">
                <a16:creationId xmlns:a16="http://schemas.microsoft.com/office/drawing/2014/main" id="{007A0B51-37CB-41A7-A11F-14650D24B314}"/>
              </a:ext>
            </a:extLst>
          </p:cNvPr>
          <p:cNvCxnSpPr>
            <a:cxnSpLocks/>
          </p:cNvCxnSpPr>
          <p:nvPr/>
        </p:nvCxnSpPr>
        <p:spPr>
          <a:xfrm>
            <a:off x="2748956" y="1640624"/>
            <a:ext cx="0" cy="285225"/>
          </a:xfrm>
          <a:prstGeom prst="straightConnector1">
            <a:avLst/>
          </a:prstGeom>
          <a:ln w="3810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21920" y="2321560"/>
            <a:ext cx="2458720" cy="0"/>
          </a:xfrm>
          <a:prstGeom prst="line">
            <a:avLst/>
          </a:prstGeom>
          <a:ln w="38100">
            <a:solidFill>
              <a:srgbClr val="00B0F0"/>
            </a:solidFill>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007A0B51-37CB-41A7-A11F-14650D24B314}"/>
              </a:ext>
            </a:extLst>
          </p:cNvPr>
          <p:cNvCxnSpPr>
            <a:cxnSpLocks/>
          </p:cNvCxnSpPr>
          <p:nvPr/>
        </p:nvCxnSpPr>
        <p:spPr>
          <a:xfrm>
            <a:off x="1452880" y="1640624"/>
            <a:ext cx="0" cy="285225"/>
          </a:xfrm>
          <a:prstGeom prst="straightConnector1">
            <a:avLst/>
          </a:prstGeom>
          <a:ln w="38100">
            <a:solidFill>
              <a:srgbClr val="00B0F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Connector 9"/>
          <p:cNvCxnSpPr/>
          <p:nvPr/>
        </p:nvCxnSpPr>
        <p:spPr>
          <a:xfrm>
            <a:off x="2880360" y="2321560"/>
            <a:ext cx="2148840" cy="0"/>
          </a:xfrm>
          <a:prstGeom prst="line">
            <a:avLst/>
          </a:prstGeom>
          <a:ln w="381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1" name="Straight Arrow Connector 10">
            <a:extLst>
              <a:ext uri="{FF2B5EF4-FFF2-40B4-BE49-F238E27FC236}">
                <a16:creationId xmlns:a16="http://schemas.microsoft.com/office/drawing/2014/main" id="{007A0B51-37CB-41A7-A11F-14650D24B314}"/>
              </a:ext>
            </a:extLst>
          </p:cNvPr>
          <p:cNvCxnSpPr>
            <a:cxnSpLocks/>
          </p:cNvCxnSpPr>
          <p:nvPr/>
        </p:nvCxnSpPr>
        <p:spPr>
          <a:xfrm>
            <a:off x="3967480" y="1584744"/>
            <a:ext cx="0" cy="285225"/>
          </a:xfrm>
          <a:prstGeom prst="straightConnector1">
            <a:avLst/>
          </a:prstGeom>
          <a:ln w="38100">
            <a:solidFill>
              <a:srgbClr val="00B050"/>
            </a:solidFill>
            <a:tailEnd type="triangle"/>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21920" y="5426277"/>
            <a:ext cx="4058920" cy="461665"/>
          </a:xfrm>
          <a:prstGeom prst="rect">
            <a:avLst/>
          </a:prstGeom>
          <a:noFill/>
        </p:spPr>
        <p:txBody>
          <a:bodyPr wrap="square" rtlCol="0">
            <a:spAutoFit/>
          </a:bodyPr>
          <a:lstStyle/>
          <a:p>
            <a:r>
              <a:rPr lang="en-AU" sz="2400" dirty="0" smtClean="0"/>
              <a:t>Range (maximum – minimum):</a:t>
            </a:r>
            <a:endParaRPr lang="en-AU" sz="2400" dirty="0"/>
          </a:p>
        </p:txBody>
      </p:sp>
      <p:sp>
        <p:nvSpPr>
          <p:cNvPr id="15" name="TextBox 14"/>
          <p:cNvSpPr txBox="1"/>
          <p:nvPr/>
        </p:nvSpPr>
        <p:spPr>
          <a:xfrm>
            <a:off x="4109720" y="5426276"/>
            <a:ext cx="4058920" cy="461665"/>
          </a:xfrm>
          <a:prstGeom prst="rect">
            <a:avLst/>
          </a:prstGeom>
          <a:noFill/>
        </p:spPr>
        <p:txBody>
          <a:bodyPr wrap="square" rtlCol="0">
            <a:spAutoFit/>
          </a:bodyPr>
          <a:lstStyle/>
          <a:p>
            <a:r>
              <a:rPr lang="en-AU" sz="2400" dirty="0" smtClean="0"/>
              <a:t>92 – 21 = 71</a:t>
            </a:r>
            <a:endParaRPr lang="en-AU" sz="2400" dirty="0"/>
          </a:p>
        </p:txBody>
      </p:sp>
      <p:sp>
        <p:nvSpPr>
          <p:cNvPr id="16" name="TextBox 15"/>
          <p:cNvSpPr txBox="1"/>
          <p:nvPr/>
        </p:nvSpPr>
        <p:spPr>
          <a:xfrm>
            <a:off x="121920" y="5982188"/>
            <a:ext cx="4058920" cy="461665"/>
          </a:xfrm>
          <a:prstGeom prst="rect">
            <a:avLst/>
          </a:prstGeom>
          <a:noFill/>
        </p:spPr>
        <p:txBody>
          <a:bodyPr wrap="square" rtlCol="0">
            <a:spAutoFit/>
          </a:bodyPr>
          <a:lstStyle/>
          <a:p>
            <a:r>
              <a:rPr lang="en-AU" sz="2400" dirty="0" smtClean="0"/>
              <a:t>Inter-quartile range (Q3 – Q1):</a:t>
            </a:r>
            <a:endParaRPr lang="en-AU" sz="2400" dirty="0"/>
          </a:p>
        </p:txBody>
      </p:sp>
      <p:sp>
        <p:nvSpPr>
          <p:cNvPr id="17" name="TextBox 16"/>
          <p:cNvSpPr txBox="1"/>
          <p:nvPr/>
        </p:nvSpPr>
        <p:spPr>
          <a:xfrm>
            <a:off x="4074160" y="5982187"/>
            <a:ext cx="4058920" cy="461665"/>
          </a:xfrm>
          <a:prstGeom prst="rect">
            <a:avLst/>
          </a:prstGeom>
          <a:noFill/>
        </p:spPr>
        <p:txBody>
          <a:bodyPr wrap="square" rtlCol="0">
            <a:spAutoFit/>
          </a:bodyPr>
          <a:lstStyle/>
          <a:p>
            <a:r>
              <a:rPr lang="en-AU" sz="2400" dirty="0" smtClean="0"/>
              <a:t>73.5 – 43.5 = 30</a:t>
            </a:r>
            <a:endParaRPr lang="en-AU" sz="2400" dirty="0"/>
          </a:p>
        </p:txBody>
      </p:sp>
      <p:graphicFrame>
        <p:nvGraphicFramePr>
          <p:cNvPr id="14" name="Table 13"/>
          <p:cNvGraphicFramePr>
            <a:graphicFrameLocks noGrp="1"/>
          </p:cNvGraphicFramePr>
          <p:nvPr>
            <p:extLst/>
          </p:nvPr>
        </p:nvGraphicFramePr>
        <p:xfrm>
          <a:off x="7025640" y="0"/>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median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Order the numbers from smallest to largest.</a:t>
                      </a:r>
                    </a:p>
                    <a:p>
                      <a:r>
                        <a:rPr lang="en-AU" dirty="0" smtClean="0"/>
                        <a:t>Step 2: Find the middle number.</a:t>
                      </a:r>
                      <a:endParaRPr lang="en-AU" baseline="30000" dirty="0" smtClean="0"/>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18" name="Table 17"/>
          <p:cNvGraphicFramePr>
            <a:graphicFrameLocks noGrp="1"/>
          </p:cNvGraphicFramePr>
          <p:nvPr>
            <p:extLst/>
          </p:nvPr>
        </p:nvGraphicFramePr>
        <p:xfrm>
          <a:off x="7030720" y="1107778"/>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lower quartile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Underline the bottom half of the data set.</a:t>
                      </a:r>
                    </a:p>
                    <a:p>
                      <a:r>
                        <a:rPr lang="en-AU" dirty="0" smtClean="0"/>
                        <a:t>Step 2: Find the middle number.</a:t>
                      </a:r>
                      <a:endParaRPr lang="en-AU" baseline="30000" dirty="0"/>
                    </a:p>
                  </a:txBody>
                  <a:tcPr>
                    <a:solidFill>
                      <a:schemeClr val="bg2"/>
                    </a:solidFill>
                  </a:tcPr>
                </a:tc>
                <a:extLst>
                  <a:ext uri="{0D108BD9-81ED-4DB2-BD59-A6C34878D82A}">
                    <a16:rowId xmlns:a16="http://schemas.microsoft.com/office/drawing/2014/main" val="10001"/>
                  </a:ext>
                </a:extLst>
              </a:tr>
            </a:tbl>
          </a:graphicData>
        </a:graphic>
      </p:graphicFrame>
      <p:graphicFrame>
        <p:nvGraphicFramePr>
          <p:cNvPr id="19" name="Table 18"/>
          <p:cNvGraphicFramePr>
            <a:graphicFrameLocks noGrp="1"/>
          </p:cNvGraphicFramePr>
          <p:nvPr>
            <p:extLst/>
          </p:nvPr>
        </p:nvGraphicFramePr>
        <p:xfrm>
          <a:off x="7035800" y="2271098"/>
          <a:ext cx="5080000" cy="1005840"/>
        </p:xfrm>
        <a:graphic>
          <a:graphicData uri="http://schemas.openxmlformats.org/drawingml/2006/table">
            <a:tbl>
              <a:tblPr firstRow="1" bandRow="1">
                <a:tableStyleId>{21E4AEA4-8DFA-4A89-87EB-49C32662AFE0}</a:tableStyleId>
              </a:tblPr>
              <a:tblGrid>
                <a:gridCol w="5080000">
                  <a:extLst>
                    <a:ext uri="{9D8B030D-6E8A-4147-A177-3AD203B41FA5}">
                      <a16:colId xmlns:a16="http://schemas.microsoft.com/office/drawing/2014/main" val="20000"/>
                    </a:ext>
                  </a:extLst>
                </a:gridCol>
              </a:tblGrid>
              <a:tr h="353527">
                <a:tc>
                  <a:txBody>
                    <a:bodyPr/>
                    <a:lstStyle/>
                    <a:p>
                      <a:r>
                        <a:rPr lang="en-AU" dirty="0" smtClean="0"/>
                        <a:t>To find the upper quartile of a data set:</a:t>
                      </a:r>
                      <a:endParaRPr lang="en-AU" dirty="0"/>
                    </a:p>
                  </a:txBody>
                  <a:tcPr>
                    <a:solidFill>
                      <a:srgbClr val="002060"/>
                    </a:solidFill>
                  </a:tcPr>
                </a:tc>
                <a:extLst>
                  <a:ext uri="{0D108BD9-81ED-4DB2-BD59-A6C34878D82A}">
                    <a16:rowId xmlns:a16="http://schemas.microsoft.com/office/drawing/2014/main" val="10000"/>
                  </a:ext>
                </a:extLst>
              </a:tr>
              <a:tr h="370840">
                <a:tc>
                  <a:txBody>
                    <a:bodyPr/>
                    <a:lstStyle/>
                    <a:p>
                      <a:r>
                        <a:rPr lang="en-AU" dirty="0" smtClean="0"/>
                        <a:t>Step 1: Underline the top half of the data set.</a:t>
                      </a:r>
                    </a:p>
                    <a:p>
                      <a:r>
                        <a:rPr lang="en-AU" dirty="0" smtClean="0"/>
                        <a:t>Step 2: Find the middle number.</a:t>
                      </a:r>
                      <a:endParaRPr lang="en-AU" baseline="30000" dirty="0"/>
                    </a:p>
                  </a:txBody>
                  <a:tcPr>
                    <a:solidFill>
                      <a:schemeClr val="bg2"/>
                    </a:solidFill>
                  </a:tcPr>
                </a:tc>
                <a:extLst>
                  <a:ext uri="{0D108BD9-81ED-4DB2-BD59-A6C34878D82A}">
                    <a16:rowId xmlns:a16="http://schemas.microsoft.com/office/drawing/2014/main" val="10001"/>
                  </a:ext>
                </a:extLst>
              </a:tr>
            </a:tbl>
          </a:graphicData>
        </a:graphic>
      </p:graphicFrame>
      <p:sp>
        <p:nvSpPr>
          <p:cNvPr id="20" name="TextBox 19"/>
          <p:cNvSpPr txBox="1"/>
          <p:nvPr/>
        </p:nvSpPr>
        <p:spPr>
          <a:xfrm>
            <a:off x="7620000" y="3530150"/>
            <a:ext cx="4358640" cy="1200329"/>
          </a:xfrm>
          <a:prstGeom prst="rect">
            <a:avLst/>
          </a:prstGeom>
          <a:solidFill>
            <a:srgbClr val="FFFF00"/>
          </a:solidFill>
          <a:ln>
            <a:solidFill>
              <a:schemeClr val="tx1"/>
            </a:solidFill>
          </a:ln>
        </p:spPr>
        <p:txBody>
          <a:bodyPr wrap="square" rtlCol="0">
            <a:spAutoFit/>
          </a:bodyPr>
          <a:lstStyle/>
          <a:p>
            <a:pPr algn="ctr"/>
            <a:r>
              <a:rPr lang="en-AU" b="1" dirty="0" smtClean="0"/>
              <a:t>If the median is one of the values, don’t include it in the lower/upper half.</a:t>
            </a:r>
          </a:p>
          <a:p>
            <a:pPr algn="ctr"/>
            <a:r>
              <a:rPr lang="en-AU" b="1" dirty="0" smtClean="0"/>
              <a:t>If the median is between two values, include it in the lower/upper half.</a:t>
            </a:r>
            <a:endParaRPr lang="en-AU" b="1" dirty="0"/>
          </a:p>
        </p:txBody>
      </p:sp>
    </p:spTree>
    <p:extLst>
      <p:ext uri="{BB962C8B-B14F-4D97-AF65-F5344CB8AC3E}">
        <p14:creationId xmlns:p14="http://schemas.microsoft.com/office/powerpoint/2010/main" val="876928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5"/>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0" nodeType="clickEffect">
                                  <p:stCondLst>
                                    <p:cond delay="0"/>
                                  </p:stCondLst>
                                  <p:childTnLst>
                                    <p:set>
                                      <p:cBhvr>
                                        <p:cTn id="54" dur="1" fill="hold">
                                          <p:stCondLst>
                                            <p:cond delay="0"/>
                                          </p:stCondLst>
                                        </p:cTn>
                                        <p:tgtEl>
                                          <p:spTgt spid="16"/>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grpId="0" nodeType="clickEffect">
                                  <p:stCondLst>
                                    <p:cond delay="0"/>
                                  </p:stCondLst>
                                  <p:childTnLst>
                                    <p:set>
                                      <p:cBhvr>
                                        <p:cTn id="5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6" grpId="0"/>
      <p:bldP spid="17"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0" y="-6605"/>
            <a:ext cx="3895468" cy="584775"/>
          </a:xfrm>
          <a:prstGeom prst="homePlate">
            <a:avLst/>
          </a:prstGeom>
          <a:solidFill>
            <a:srgbClr val="002060"/>
          </a:solidFill>
        </p:spPr>
        <p:style>
          <a:lnRef idx="0">
            <a:schemeClr val="accent6"/>
          </a:lnRef>
          <a:fillRef idx="3">
            <a:schemeClr val="accent6"/>
          </a:fillRef>
          <a:effectRef idx="3">
            <a:schemeClr val="accent6"/>
          </a:effectRef>
          <a:fontRef idx="minor">
            <a:schemeClr val="lt1"/>
          </a:fontRef>
        </p:style>
        <p:txBody>
          <a:bodyPr wrap="none" rtlCol="0">
            <a:spAutoFit/>
          </a:bodyPr>
          <a:lstStyle/>
          <a:p>
            <a:r>
              <a:rPr lang="en-AU" sz="3200" dirty="0" smtClean="0"/>
              <a:t>Independent Practice</a:t>
            </a:r>
            <a:endParaRPr lang="en-AU" sz="3200" dirty="0"/>
          </a:p>
        </p:txBody>
      </p:sp>
      <p:sp>
        <p:nvSpPr>
          <p:cNvPr id="2" name="TextBox 1"/>
          <p:cNvSpPr txBox="1"/>
          <p:nvPr/>
        </p:nvSpPr>
        <p:spPr>
          <a:xfrm>
            <a:off x="223520" y="797560"/>
            <a:ext cx="11577320" cy="830997"/>
          </a:xfrm>
          <a:prstGeom prst="rect">
            <a:avLst/>
          </a:prstGeom>
          <a:noFill/>
        </p:spPr>
        <p:txBody>
          <a:bodyPr wrap="square" rtlCol="0">
            <a:spAutoFit/>
          </a:bodyPr>
          <a:lstStyle/>
          <a:p>
            <a:r>
              <a:rPr lang="en-AU" sz="2400" b="1" dirty="0" err="1" smtClean="0"/>
              <a:t>Mathspace</a:t>
            </a:r>
            <a:r>
              <a:rPr lang="en-AU" sz="2400" b="1" dirty="0" smtClean="0"/>
              <a:t> – Year 10 Mainstream PPT Drawing Box Plots and Finding Interquartile Range CLASSWORK</a:t>
            </a:r>
            <a:endParaRPr lang="en-AU" sz="2400" b="1" dirty="0"/>
          </a:p>
        </p:txBody>
      </p:sp>
    </p:spTree>
    <p:extLst>
      <p:ext uri="{BB962C8B-B14F-4D97-AF65-F5344CB8AC3E}">
        <p14:creationId xmlns:p14="http://schemas.microsoft.com/office/powerpoint/2010/main" val="2820538415"/>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2617</TotalTime>
  <Words>2434</Words>
  <Application>Microsoft Office PowerPoint</Application>
  <PresentationFormat>Widescreen</PresentationFormat>
  <Paragraphs>336</Paragraphs>
  <Slides>19</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Calibri Light</vt:lpstr>
      <vt:lpstr>Cambria Math</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Science</dc:title>
  <dc:creator>Microsoft account</dc:creator>
  <cp:lastModifiedBy>YOST Amie [Harrisdale Senior High School]</cp:lastModifiedBy>
  <cp:revision>134</cp:revision>
  <cp:lastPrinted>2017-04-18T22:41:05Z</cp:lastPrinted>
  <dcterms:created xsi:type="dcterms:W3CDTF">2017-01-28T08:32:28Z</dcterms:created>
  <dcterms:modified xsi:type="dcterms:W3CDTF">2021-08-27T00:11:31Z</dcterms:modified>
</cp:coreProperties>
</file>
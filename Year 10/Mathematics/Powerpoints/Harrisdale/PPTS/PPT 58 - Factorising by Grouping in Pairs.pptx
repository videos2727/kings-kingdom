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9" r:id="rId3"/>
    <p:sldId id="290" r:id="rId4"/>
    <p:sldId id="285" r:id="rId5"/>
    <p:sldId id="286" r:id="rId6"/>
    <p:sldId id="287" r:id="rId7"/>
    <p:sldId id="288" r:id="rId8"/>
    <p:sldId id="270" r:id="rId9"/>
    <p:sldId id="271" r:id="rId10"/>
    <p:sldId id="272" r:id="rId11"/>
    <p:sldId id="276" r:id="rId12"/>
    <p:sldId id="277" r:id="rId13"/>
    <p:sldId id="278" r:id="rId14"/>
    <p:sldId id="280" r:id="rId15"/>
    <p:sldId id="281" r:id="rId16"/>
    <p:sldId id="282" r:id="rId17"/>
    <p:sldId id="273" r:id="rId18"/>
    <p:sldId id="2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57" d="100"/>
          <a:sy n="57" d="100"/>
        </p:scale>
        <p:origin x="39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590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3286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9783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461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288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80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533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38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73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499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7017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kill Develop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0" cap="flat" cmpd="sng">
            <a:gradFill>
              <a:gsLst>
                <a:gs pos="100000">
                  <a:srgbClr val="01244E"/>
                </a:gs>
                <a:gs pos="0">
                  <a:srgbClr val="94B5E0"/>
                </a:gs>
              </a:gsLst>
              <a:lin ang="5400000" scaled="0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014" y="5747656"/>
            <a:ext cx="975044" cy="975044"/>
          </a:xfrm>
          <a:prstGeom prst="rect">
            <a:avLst/>
          </a:prstGeom>
        </p:spPr>
      </p:pic>
      <p:sp>
        <p:nvSpPr>
          <p:cNvPr id="8" name="AutoShape 2" descr="data:image/png;base64,iVBORw0KGgoAAAANSUhEUgAAAf8AAAEOCAYAAACHPx4CAAAxEUlEQVR42u2d93tV1b6v79+z+W0fOd69gyBoVDCCAqEIHIIUg4fg3ogQKYfLBs7GDRaKBAm9Q0B6KNKLEiAovRo6gZCEpnT43vMZ95nzzrWyahop7/s848mac8y25pgZ72hzjf915rZZfQwAAABQOf4X8gcAAED+yB8AAAD5I38AAADkj/wBAACQP/IHAACo5/J/4+02cSX82cix1uqtd/zlfaeLrV3HLn74U5MmIcuKDx73z680tdzlG5I+NwAAALwE+R8tfmjvd/rQ+g/Ktryt+xM+RnDda6+3coWHA0VlyB8AAKCuy3/ynGU2ZV6e5e8/YR998mml5K/Ps1ZstIzMLOQPAABQ1+Wf3q2nHbvxyH1WC0B47T1R+euv5K9CAPIHAACoo/JfveuwDRs70V/OWbzaxn77faXlr4JDsPkf+QMAANQx+ffN+sxat/3AH8j3XvtO1jL1bTtd/qJS8leYmZdvvfoPRP4AAAB1Tf6qnad3z6iw/tPsUbZ0095Ky1+h58cDbPbKTcgfAACgLsl/zNc5brBf+Po1u3+xHn36V0n+Bb+VuhYEvQWA/AEAAGpZ/q/+NcXS2qeHhHc/6GgpLVpa4eW7Efd5/c237OdzJZWWv4Le+9f7/8gfAACgluXPL/wBAAAgf+QPAACA/JE/AAAA8kf+AAAAyB/5AwAA1BH5cwsAAACQPwAAACB/AAAAQP4AAACA/AEAAAD5AwAAAPIHAAAA5A8AAADIHwAAAOqx/Nu0acOdBgAAQP4AAABQb+RfWlpqo0ePtoyMDOvSpYsNHjzYioqKXNyzZ89szZo11r17d+vQoYNt374d+QMAANR3+Y8fP97y8/P95cLCQhs0aJD7vGnTJvv888/t/v37VlZWZiNGjLAWLVpwpwEAAOqz/A8cOBCyfPLkSUtJSXGfhwwZYqdOnfLjjh8/bk2bNk342OXl5dUa7t27Z0+fPiWlAQAAqiL/mzdv2siRIy0zM9PV+HNyciw1NdXFtW3b1l68eOFv+/z5c2vWrJn7fPbsWddN4IXHjx9XOPZvv/1WI6GkpMRdCwAAAPKvBNnZ2bZ//35/+c6dO9a8eXP3eejQoXb69Ok6U/MvLi62CxcuuALAlStXSHEAAED+ldmpd+/erqlf3L1714YNG+Y3+2/ZssXv81ehQC0EXqvAy0LN/pcuXXIFAHUDAAAAIP8kUW2+T58+1qlTJ0tLS3OD/IYPH26TJ092o/1XrVpl3bp1c/G7d+92TfwvG0lf8r927RqpDgAAyL8xoP5+r/8fAAAA+TcSqir/M7frT2gMkB6kF4HnDJA/8kf+pAfphfwBkD/yRyakB+mF/AGQP/JHJqQH6YX8Afkjf2SDTEgP0gv5A/JH/sgGmZAeyB/5A/JH/pH/2d54u03cf8jPRo61Vm+94y/vO11s7Tp28cOfmjQJWVZ88Lh/fqWp5S7fkNS5G6tMSI/6lV7Hbjyy7H/8y97v9KF90LmbdfvoYxv1r8l27ObjhO7rq39N8dPpnffet7T26TZw6H9ZwW+lCe3jhe69MyPG6XiZfx9q+87ciLm/wuyVmxJ+Po4WP7Qh/+ef9n56V7dvz48H2PTFaxJ6nnjOAPnXA/nrn1wZW/9B2Za3dX/Cxwiue+31Vk5WB4rKyARIjwaTXsdLnljbDp0tZ/HqkPVT56+wjz751E7cehr3vkaKm7tqi6W2TrNDl+4k/YxEipOUB40Yk/AzFu/5UMFGhYoZS9f5cSqs/EffT0IKDcgfalz+s2bNqlMXVVPX8zLkP3nOMpsyL8/y959wGVplZKPPs1ZstIzMLDIB0qPBpNfYb793tepI9+vjTz+3f+XMrZSsFXKXrXctPNUh/yPXH9jbae0SfsbiPR9jvs6xTz77osJ+KqyoBSBeoYfnDJB/PZB/ereermlTn1XjDK8NJCob/VVmokyFTID0aAjppWb+ZZv3RbxfWt+jT/9Ky//wlfuuVaGq8tezMnL8ty4kI/9Yz4eeu+U//hy3ewr5Q43Kf+HChTZx4kTT3+vXr7uVmglv48aNbp3+alksXrzYTdbjMW/ePDt06JC/vHfvXjt69Kj98ccfboKfZcuWuWOsW7fOysrKQuR++fJlW7BggZsB8MSJE7ZkyRJ3vPPnz4fIX9MHa66ARYsW2cqVK+3WrVv1Rv6rdx22YWMn+stq3lRtp7KykaiCzYnIn/Soz+nVvNWbfi03UpdAy9S3Ky1/hTffeTfhPn+vEBIep+UOXXu464nX53/48r2Eno9Y3zvedXrXxHMG1V7zLy0tdVL2JHvjxg2bP3++W3/w4EE7fPiwW//w4UNfyB7a78GDB7Z9+3Y7deqUv/7q1au2du1af3n69OmuUKHJds6cOWPr16+3x48fu301SVBOTo6/rQoQXoFDk/IEj1PX5d836zNr3fYD/5/2vfadXIZ2uvxFpWSjMDMv33r1H4hsSI96n16xasCSsVoGqlLzVxpXteYvSY+fOssNIky25h/t+dAgv2jjTTS+4ODF29T8ofblL3EXFRVVkOaOHTuchPPy8tw6yV0FAdXYNWmOxK3CgFCtPohq71OnTvWXJ02a5AoVYsOGDS7eQ+sV77FmzRo3i+CLFy/ccrDloS7LX6X99O4ZFdZ/mj3Klm7aW2nZKKhfUCOLkT/pUZ/TK1rft0Lm34b4rTKVkf/3S9ZWW5//ydJnbhBfZeQf6fnQ984aMqLCfntOXnMFUpr94aXIf+7cuU7mQTRN7+zZs91ntQJoWTX327dvuyl7JXsJuqCgwG1z//59V4NXq4Bq6j/99JPNmDHDP15ubq7/ec6cOSHnkuS/++47f1ktAjquCh3qPqgv8tc/uAaXha9fs/sXvy+zsrLRyGDVWIMZEvInPepbemnU+7vvd6jwilvOolVuNLzX1J6srOet2erWV9dof4VWb7WutPzDn4/jGu3/QUfXKuBts/Xweeua0dfmrv4R+cPLq/lfuHChgjS95n3JXvFLly71m/R37drlJF9eXu7W5efn26VLl/z91UUwbdo0fzl4PtX8S0pKItb8VcgIylpjEryWh7oif/W/KaMKhnf/5x87pUVLK7x8N+I+r7/5lv18rqTSsnGjmZdvcO8TI3/Soz6nl0bSDxk93u+K0SA9LeuVzFhpqqDm8WC/eJt27Z1Us4aMtP3nb1VqnEC0OA0U9a4pWl/8tIU/JPx86HurZcL7znq7QS1QwS4o5A81Lv+ZM2f6K9S3r0F6Xp+/xKzmfK8rQIP/JGAN6PNq6mr695r8xfLly/2mfIlfrQTBZv+g/M+ePev3+WtbtRgEWwl0LXfv3vW7DzT4ry7Jn1/6qlsyIT1IL37hDyBB+e/cudMJ3BvV7432VxO/RvhrRH4QiVyj8j1++OEHV/sP1t5VQNAAQHUXaFCfjqe3AcLlr8KDugx0Hm2vQoaE76GWhRUrVrjChcQffGsA+SN/0oP0IvCcQSXl31hA/siE9CC9kD8A8kc2yIT0IL2QPyB/5I9skAnpgfyRPyB/5A8AAID8kT8AAADyR/4AAADIH/kDAAAgf+QPAACA/JE/AAAA8kf+AAAAyB/5AwAAIH/kDwAAgPyrJn/NLFgTtGnTJuJniE9NpEl1pQdpWb+fg5p8FoLLmtysc+fObrp0AORfB+VfXl7upjCuyQzmypUrPHVJcOHChWrP+KsrPZB/7VHX/zfDn4Xgsdq1a+dmLwVA/nVY/oqPl8mUlpba6NGjLSMjw7p06WKDBw92UxGLZ8+e2Zo1a6x79+7WoUMHV9qPVrsoKCiwgQMHWteuXW348OHuvMoktm3bZn379rXWrVvbpEmT/IxD+2qfTp06uSmSo23X0NIsXgGgOtIj1n0PTycdW+dp0qSJ+/vrr7+Sk9SC/Gvrf7M6ngUd6+HDhyFxZ8+eJSEB+ddl+cfLZMaPH2/5+fn+cmFhoQ0aNMh93rRpk33++ed2//59KysrsxEjRliLFi0qZDDKJHr16mXXrl1zyxs2bLBRo0bZjh07bMCAAW7/Bw8euAxmz549bpuWLVu65eLi4pjbNcQ0i1UAqI70iHY/o6UTNf+XI//a+N+sjmeBrj5A/nVQJMpIIoXr16/728TKZA4cOBCyfPLkSUtJSXGfhwwZYqdOnfLjjh8/bk2bNq2QEYwZM8YOHjwYchzVKpTRBGsIaj4cO3as+6zjnDhxwn2OtZ2Hah7Rvmt9CcH0iFYAqI70iHY/o6VTZTL1+p4WLzPU5v9mdTwL8eRf1/837927Z0+fPsWQyL9hyT+ZoH+CcG7evGkjR460zMxMV6vIycmx1NRUF9e2bduQ5vfnz59bs2bNKmQE6gdUM2Q4ilcTYTD07t3bxb3zzjsJbRepttRQwqVLl2okPaLdz2jpFJ6pSxbBfSMVUhpaWrzsUFP/m1V9FhKRf33531QhS/cJkH+DrvmrOS/44CsjiUR2drbt37/fX75z5441b97cfR46dKidPn066Zq//sGmTJliw4YNs6tXr/rrlVkdOnSoQiYSa7vGVvOvjvSIdj+jpRM1/9oNtfm/WR3PQn2v+atrUf9vutcMUkb+DUb+ifQrRstchGoBak4Ud+/edZmF17S4ZcsWv19RGY9qIV7NI5gRhPcfLlmyxL755hs30Ej7qK9R6DWh+fPnV8hEYm3XENMsVp9/daRHtPsZLZ2EBoMxirt2qM3/zep4FhpCn7+a/dXSFq2VBZB/g5N/rMzFqzH06dPHjbpPS0tzA4nUTzh58mTXLLhq1Srr1q2bi9+9e7drNoyUEaiGkpWV5d4BVp+iMivtv379epeJ6Rjjxo3z+96C+8barqGlWbzR/tWRHrHuZ6R0EhMmTLAePXrY0aNHyUlqSf618b9ZHc9CQxnwJ+nrvnsFHkD+DVb+8TIXqF1q4j3/IIzErj/yr+n/TZ6Fiqhrg19GbeDyP3O7/oSakn9NSgYqR02miTK2YM0PGudzwLNQtXwTkH+9lz80HtRcqx97WbZsGTeDZ4FngXwT+SN/AAAg30T+yB8AGjz0+ZNvIn/kDwCNDN5nJ99E/sgfABppzb99+/bu54Q99LqbNzNfY5hMi3wT+dsbb7eJK+LPRo61Vm+94y/vO11s7Tp28cOfmjQJWVZ88Lh/fqWp5S7fkNS5eYgBoKbkrx/0yc3N9devXLnSpk+f3mgm0yLfRP5x5X+0+KG93+lD6z8o2/K27k/4GMF1r73eyhUeDhSVIX8AeOny128KpKen++v1o0FqCUhkMi3kD41C/pPnLLMp8/Isf/8J++iTTyslf32etWKjZWRmIX+oVWbNmlWpuOrcB2qfaJMwBQf8aWKgixcvup8B7tmzpx8fbzIt5A+NQv7p3XrasRuP3Ge1AITX3hOVv/5K/ioEIH9A/vAya/5i8+bNNnXqVFu+fLkLIpHJtJA/NHj5r9512IaNnegv5yxebWO//b7S8lfBIdj8j/whWf744w83eYt+rGXhwoW2bt06Kysr8zPqEydOuMlY5s2bZ+fPn/dlHStOnDt3zvLy8mzmzJl+H2+8faB+y//JkyfWtWtX69evnz+pTWOZTIt8E/nHFHDfrM+sddsP/IF877XvZC1T37bT5S8qJX+FmXn51qv/QOQPlWL79u126tQpf1m1tLVr1/6/5/vMGTdZi5p4lXlrwhfN9R4vTs+LJoNRnISwceNGKyoqirkP1H/5i1GjRtnAgQP95cYymRb5JvKPKmDVztO7Z1RY/2n2KFu6aW+l5a/Q8+MBNnvlJuQPSXP58uWQZU0Eo6ZbsWHDhpCJYW7cuOFe1YoXJ9nfunXLj1Mf8NatW2PuA4D8oUHKf8zXOW6wX/j6Nbt/sR59+ldJ/gW/lboWBL0FgPwhGfQKlmrgejVLNf6ffvrJZsyY4eLmzJkTsq2a7b/77ru4cWrKVxdCMKgPONY+AMgf6rX8X/1riqW1Tw8J737Q0VJatLTCy3cj7vP6m2/Zz+dKKi1/Bb33r/f/kT8kQ35+vl26dMlffvjwoU2bNs2v3ZeUlESt+UeLU81ftf0g6k6ItQ8A8od6LX9+4Q/qE6qRe03xEr/E7TX76/Uur49ecWoh8FoFYsVpsJ+W1d8vDh486EZ4x9oHAPkD8kf+UEuo9q1R+QsWLHAjsTUoTwWAvXv3umb548eP2+LFi128Bu2pCV/Eizt58qQrWCheI74193usfQCQPyB/5A8AgPwB+SN/AADkD8gf+QMAIH+obfnzEAMAAPkm8uchBgBA/uSbyJ+HGACAfBOQPw8xAAD5JiB/HmIAAPJNQP48xAAA5JuA/HmIAQDINwH58xADAJBvAvLnIQYAIN+EWpZ/mzZteIgBAJA/NCb5X7lypUF8Uc3ExkMMAID8IYmaf2lpqY0ePdoyMjKsS5cuNnjwYDeNqUdBQYENHDjQunbtasOHD7eSkhI37ammQO3bt6+1bt3aJk2a5NZ5x9U+nTp1ctOuRtuuurh37557gK9du0aqAwAgf+SfiPzHjx9v+fn5/vrCwkIbNGiQ+/zrr79ar169fLFu2LDBRo0aZTt27LABAwbY/fv37cGDB65QsGfPHrdNy5Yt3XJxcXHM7aqDp0+f2qVLl9wDrEIAAAAgf+SfgPwPHDgQsv7kyZOWkpLiPo8ZM8YOHjwYEq9avSR+9uxZf526EMaOHes+N23a1E6cOOE+x9ouSHl5edJBhQvv4W0oXRgAAMgfakX+N2/etJEjR1pmZqar8efk5FhqaqqLa9eunT179izivuoiCIbevXu7uHfeeSeh7SI9hJUJun71+wMAAPJH/gnKPzs72/bv3++vv3PnjjVv3jxizV+SnTJlig0bNsyuXr3qr1c//qFDh0KOK2JtV9Wav5r51ewPAADIH5KUv2riauoXd+/edcL2mv3D+/yXLFli33zzjRvEp9YC9eOL2bNn2/z58yvIP9Z2AACA/OElyf/48ePWp08fNzo/LS3NNm3a5PrqJ0+e7OLVKpCVlWWdO3d2/fUqIKgrYP369a7g0K1bNxs3bpxfCw/KP9Z2AACA/OElyR8AAJA/NAL5q+9eg+8AAAD5QyOQv5rtu3fvbsuWLeMuAQAgf2gsNX8AAED+yB/5AwAA8gfkDwAAyB+QPwAAIH9A/gAAgPwB+QMAAPKHuij/WbNmxVwGAADkD8gfAACQP9RH+T969MgWLlxoEydOdH+vX7/uy//ixYvux380+U5+fr6b4S9YOLh8+bItWLDAzpw5Y8XFxbZx40Z3DP3Vsli8eHHIfvPmzQuZyW/v3r129OhRUggAAPnDy675T5s2zXbt2uUvHzlyxLZu3eovT58+3UleU+mWlpa6QsCtW7dc3I0bN1yBQes1BfDhw4fd+ocPH9qiRYts5cqV/nG0nzfLHwAAIH94ifKfMmWKPX782F/WjHzBbSZNmuQkL7Zv325FRUUVHqQdO3a4Wn9eXp5bd+rUKVcQ0FTAmk9A0ldhAAAAkD/UAflH6vMPrsvNzfU/z50718k8iAoLs2fPdp/VCqBltRTcvn3bdu/e7boMNH1wQUEBqQMAgPyhPsg/+Fk1/wsXLlR4kLzmfcle8UuXLnXLV69edV0Ka9eutfLyclIHAAD5w8uQ/8yZMystf/Xta6Cf1+dfUlLimvO9rgAN/lPT/5YtW9zyixcvXNM/Tf4AAMgfXqL8d+7c6YTsjdJPRv6e4NWsryZ+jfA/ffp0SPzUqVPt/Pnz/vIPP/wQMqAQAACQP9Sy/AEAAPkD8gcAAOQPyB8AAJA/IH8AAED+gPwBAAD5A/IHAADkD8gfAACQPyB/AABA/oD8AQAA+QPyBwAA5A/IHwAAkD8gfwAAQP7IHwAAAPkjfwAAAOSP/AEAAPkD8gcAAOQPyB8AAJA/IH8AAED+gPwBAAD5A/IHAADkD8gfAACQPyB/AABA/oD8AaB+ceY2oToD8gfkDwDIH/kjf0D+AID8kT/yB+QPAMgf+SN/5A8AgPyRP/JH/gAAyB/5I3/kDwDw8uX/6l9TrF3HLhXC7JWbXPyfX2lqucs3VNjvjbfb+J+Plzyxf3w9zT7o3M3eT+9q73f60LL/8S/7sfBc1H2iHe9o8UMbP3WWdc3o647X8+MBNmVeXtxjxDo28gfkDwDIPwlpvvZ6K2v11jt2oKgs4n4nS59Z+y7d7asZC+10+Qu37tjNx7Zk4x5LbZ1mhy/fS0r+/z0518Z++72duPXULWv/Tz77wuav3Yb8AfkDANSG/BU/a8VGy8jMirifaum9P/lbxH0XrtthU+evSEr+bdq1t2M3HoXEHbhQbsPGfYX8AfkDANSW/PVX8lchIHy9av2L83dX+VzBmn+/gYNt/U/H7FTZ84SPgfxfPm3atIn4uSrHqeqxkD8AIP8k+vy95npPqmr2Dzb/e+tbvJHq+vy9463aWRhynNZtP0hK/gqbDpy2QSPGuLEDPfr0t2Wb98W9Xq1H/olz8+bNGpX/lStXqk3+VTkW8gcA5F+Fmr/CzLx869V/YIWav/r3I+27/cgF+7em/570gL/g+v3nb1nWkJE25pvp1Pyr+TpKSkpiblNaWmqjR4+2jIwM69Kliw0ePNiKiopc3LNnz2zNmjXWvXt369Chg23fvj1izf/Fixe2bds269u3r7Vu3domTZrk1omCggIbOHCgde3a1YYPH+6OrfM0adLE/f31119DjtW+fXu7fv26f4579+5Zu3btYp4D+QMA8q+i/BU0+l5vAnjrv/xutvX+z79H3HfI6PHubYFk5K8R/rtPXg2JO3zlvhsLgPyr/zpiFQDGjx9v+fn5/nJhYaENGjTIfd60aZN9/vnndv/+fSsrK7MRI0ZYixYtKsh/x44dNmDAALfdgwcPnOT37NnjxN6rVy+7du2a227Dhg02atSoiDV/b3n+/PmWm5vrr1+5cqVNnz496jmQPwAg/2qSf8FvpdYy9W33FkBwtP/XuYv80f4HL952y32zPnPbJiN/FSwy/z7U715Ql8KwsRPtn1NmNij5P3z48KUG7zpiFQAOHDgQsnzy5ElLSUlxn4cMGWKnTp3y444fP25NmzatIGyJ+OzZs/56NeGPHTvWxowZYwcPHgw5vloCYsm/vLzc0tPT/fV9+vRxLQHRzoH8AQD5J9nnP23hD1Glqvf+gzV6CXr0V9+5Pvq2HTrb22ntXJ+9Ru0H99e50tqnVwgqLHjbaZCfCg7dPvrY3mvfyT7s1c/GfJ1jR64/aFDyr2shUgFA4wJGjhxpmZmZrsafk5NjqampLq5t27YhTevPnz+3Zs2aVRC2/qoJPxh69+7tmuvVdRCJWAP+dC0XL160O3fuWM+ePWOeA/kDAPIn1Cn5q7n7ZYZw+av/PJzs7Gzbv3+/vyzhNm/e3H0eOnSonT59Om7Nf9iwYXb16lV/vQoMhw4dqlDzV+FhypQpceW/efNmmzp1qi1fvtyFWOdA/gCA/An0+UdpgYgkfqHas5r6xd27d51kvWb/LVu2+H3+KhSohcBrFQgKWwPxFKe+eDF79mzXdx/e579kyRL75ptv3GcN2gu2KgTl/+TJEzdAsF+/fv51RzsH8gcA5E9A/hGuI5r4vdq8+tU7depkaWlpbpCf+tcnT57smuxXrVpl3bp1c/G7d+92ze3hwtZ269evdwUJbTtu3Dh7+vSpi1OrQlZWlnXu3Nn10auAISZMmGA9evSwo0ePRmwJ0MBAvSXgEescyB8AkD8B+QeuI5b4q0p9+GEe5A8AyJ/QqORfk+JX/32wFQD5AwBAo6ah/7a/mu71wz/Lli1D/gAAAI1B/o0V5A8AAMgf+QMAACB/5A8AAMgfkD8AACB/QP4AAID8AfkDAEBjl/+lS5fsxx9/jLvdrFmzKnV8zfqn6Xyj/T6+fplP8Y8ePbILFy64n9eNhCbg0c8Ax4pL9LsE0c/46qeAFy5cWCHcvn27Svc01vfxttu6dSvyBwCA2pX/Tz/9FDKdbiT0e/vexDfJcv78efee/saNGyMed/Hixf5v53tTBEdi79697ieCY8Ul8l0iXV9+fn61pot3HbG+j7ddcEIj5A8AkCTBn4Ctys/BxpoFriHKPy8vz/1Cn6bhXbNmjavxamIcb057TZozffp0FxQvtP2KFSts7ty5rlAQ6xp27drlBBdpchwdQ9L25Kvj6Xf01Qqwbt06dy3z5s1z16IChGriseK875Ls9f3yyy8R43R81c51fB1rx44dftwff/xhP/zwgy1YsMAVYG7cuGGLFi0Kuafe99F31DEUr2v3CgTa7syZMxWOj/wBACoh7StXrlSb/KtyrJpEP3tbHfLXrHVCAisvL3efHz9+bDNmzPC3UdN1UVGR+6wZ8mbOnOma2oWazefMmeOuJxIqSEh22iaIZviTeNUdcOTIESdJCVDHkdi942v92rVrXeEjVpz3XSpzfRJ3ODq2ugMkZE/WkrfXFSDpe1P/6hwqCGhyIu86vO+jOF2zN7NgYWGh3wXy3XffuUmMVKAJHh/5A8BLkei+ffvso48+svT0dPviiy9CBKjZ0TQbm2ZP019vtrRoteTwGnmsYwcpLS210aNHW0ZGhvtt98GDB/sC0sxrqoXqp187dOhg27dvj1jzV4YrcfXt29dN7Tpp0iQ/Ey4oKHCzuWlKV30PHVvnadKkifurGm/wWO3bt7fr16/751DNrl27djHPUZPo/FWVv2QvYel+quYfXJ+bm+svq2DgCfDy5cuumT1IsHAQRPfBk77O4xUudCzJU4JcvXq1S2tNx6sWANXCw7sIVHNWTT5WnPddkr0+CV7XEuzrV2uBrkczDgZn9NNsf7pPN2/erNBVoEKCmvG96/C+j+6tCgPFxcX+s6upi7VdtOMjfwCodZo3b24TJ070BaaMUFOkinPnzrkpV9VU6WW8HTt2dP2micg/1rHD0SCwYAarGtOgQYPcZ00H683/XlZWZiNGjLAWLVpUOKcy5AEDBrjtVAOT5Pfs2VNh/vcNGza4qV0jfQdvWc3WQSGuXLnS1TijnaMmkTDUHF1V+R87dswOHDhgt27dcuJR87PXPK1lD9VgPTZv3uyaw4Oy1GDASNchSapmLiRk77mRwL2auWrpQrVhyV33NVzUGjz3888/x4zzvksy1yfRek314eh6JPMgug96dtViEX48fU9dm3cd3vfxWgY0sE8FVt0T795HOz7yB4Ba5y9/+Yv9/vvv/rKagD0BSshqpgyijPDLL79MSP6xjh2OMtAgaiZOSUlxn4cMGRIysEuFkKZNm1Y4p0Ts9V0LtTKosDFmzBg7ePBgyPHVEhBL/qqpqbXCQ3PTqyUg2jki1bKrI6gG6Um/qvJXIUoFIAkyWPPXvVBTvFDhyhO4UD+1+ruDBFtEgqjApuAVHFUo0v1RYUtowN/SpUvdZ/WFq/ldy8FnREydOtXV6GPFed8lmetTIXDnzp0R43Q9wf30rHoFBRWMvIKjV5v/6quvXIuGdx3e9wkO6FO8BK9jabtox0f+AFDrxBK4mrmfPHkSEqdMKy0tLeq+qampCR07Uq1x5MiRlpmZ6Wr8OTk5/rHatm0b0rSu/txmzZpVOKb+qgk/GHr37u2+hzLsRL5/cFnXohqrpNWzZ8+Y5wgnXNhVDbo/VZW/JyKvr9yrDasp3KuhqtClmnWwtUASD3af6HW9SKjQ4DV3a4Y+iVkFDdWEvUKb10ri9curxhw8n7qJdD1q7YgVp++iNE3m+lQI8VqtwtE9CT4jSnfvtT0V9tQq5Y0j0Pn0fHr3VPt530ctKd691Hqvu0OtE9GOj/wBoE7JXzX/8P5U1fwlRfHuu++GZGjRauSJyD87Ozsk05Zw1W0ghg4dGlKjinaeYcOG+YOyhIQggYTX/JVJT5kyJa781aSsmqa6K7xX36Kdo6Zq/urr9/qJqyJ/FeIkIqHmaXVrqOYpASlNvdq+5K1mc+8de+0n2XlvBWjbaGMc1KQfHGgnUQdf11PtV9evAkjwdT9dg5ZV01eLQby44HdJ5vrUjSNZh7/f792PIGqiV0HIk7gKIRK4ngO1IGjsgncdwe8j8WswoI6rbgtdc/B6Ix0f+QNAnZK/Mi7VbL2+Wwn4ww8/9LsC1G/uNemquVhifPPNNyslf9WevcxQtUYdy2v2l4i8Pn8VCtRCEKmFQaJQnFfTVG1OmXJ4n78kITEJDdoLyiJ4fcq0NUCwX79+TsKxzlEb8At/tY8KIF5rhoe6qIIDX6sK8geAOiV/oUxOItZAv27durnam4d+0Uyj8tWsrpH4yhRVWKiM/FVDVL+6BhiqW0HnUf+6Rkir5qUR1Tq/4lX4iHQebaf+WRUktO24ceP8WrNaFbKystxbC+qjVwFDTJgwwXr06OFn5uHXpwKO3hLwiHUO5N/w8Jr0ve4vtcbotUjvdT3kDwBQhwowDRHk/3LwflhIr0DqzYVIvxOA/AEAahH1MQdbAZA/1DeQPwBAEqjpXt0NqpUhf0D+AACA/AH5AwAA8gfkDwAAyB+QPwAAIH9A/gAAgPwB+QMAAPIH5A8AAMgfkD8AACB/QP4AAID8AfkDAADyR/4AAADIH/kDAAAgf+QPAADIH5A/AAAgf0D+AACA/AH5AwAA8gfkDwAAyB+QP9R3ztwm1IVA2hOq89lA/sgfAAEgf9Ie+QPyB0AAyJ97jvwB+QPyJyB/AvIH5A/In4D8CcgfkD8gfwLyJyB/QP6A/JMLx0ue2D++nmYfdO5m76d3tfc7fWjZ//iX/Vh4LmS7V/+aYu06dvFDWvt0y/z7UNt35kbUbbwwe+WmhOLfeLtNheubv3abtWnXPuQ8yL/2QqQ0CQ+fjRxrrd56x1/ed7o4JH3/1KRJyLLig8f98ytNLXf5hkqdG/kD8gfkn2Q4WfrM2nfpbl/NWGiny1+4dcduPrYlG/dYaus0O3z5XsyMePriNTZoxJiEM+tk4yfPWeauL3gdyL9uyf9o8UNXYOw/KNvytu5P+BjBda+93soVHg4UlSF/QP6A/Gs6jJ86y3p/8reIcQvX7bCp81fEzIiPXH9gb6e1qxH5j5owxf6j33/a8f8pjNDsX3flrwLalHl5lr//hH30yaeVkr8+z1qx0TIys5A/IH9A/jUdVKtenL+7UhI4duORjRz/rQvVKf9TZc8ta8hI69V/oPtMn3/dln96t57uWdBntQCE194Tlb/+Sv4qBCB/QP6A/GswtHgj1fX5e8urdhaG9M22bvtB1P58LXfo2iNk/2h9+l6zfbz4lqlvW48+/Z381RT887kS5F+H5b9612EbNnaiv5yzeLWN/fb7SstfBYdg8z/yB+QPyL+Gav7q348Ut/3IBfu3pv8eNQM/ceup6zYYOPS/qq3m3/R//8U1IXvjCd59vwPN/nVY/n2zPnMFRK8Q9177Tq4A540fSVb+CjPz8l2rD/IH5A/Iv4bCl9/Ntt7/+feIcUNGj3ejsGNl4BowqBp6TQ34+2LMBOs3cDDyr4PyV+08vXtGhfWfZo+ypZv2Vlr+Cj0/HuDeAEH+gPwB+dfgaP+vcxf5tbWDF2+7ZdXqVIuLJ4FWb7WuMfnrmj7s1c/+e3Iu8q9j8h/zdY4b7Be+fs3uX1zXTVXkX/BbqXv2ggVL5A/IH5B/Nb/nP/qr79xgrbYdOrvR+3p9T4O4YmXQwQFfet0rVp/+tIU/JBQf6Ry/XP3dvXaotw+Qf+0HpZl+0yEY3v2go6W0aGmFl+9G3Of1N98KGa+RrPwV9N5/sOUJ+QPyB+RPQP4E5A/IH5A/AfkTkD8gf0D+BORPQP6A/AH5E5A/AfkD8gfkT0D+BOQPyB8AAKoX5I/8AQAA+QPyBwAA5A/IHwAAkD8gfwAAQP6A/AEAAPkD8gcAAOQPyB8AAJA/IH8AAED+gPwBapU2bdpE/BxpuTLHrGs8fvyYNI+R5lVJ57qc7sgf+QNAgCtXrjQq+V+4cKHRFwCC6RNM/6qmc1WOVRs8f/4c+SN/gPgcPXrUhg8fbp07d3Z/tRzM+Pbt22cfffSRpaen2xdffBGS+cXat0uXLrZy5Urr1KmTvffeey5u9uzZbjkjI8PftrS01EaPHu3WaZ/BgwdbUVFRxGt98eKFbdu2zfr27WutW7e2SZMmuXXe+bZs2eKus3v37rZ+/XqXEXrf4969e26bJk2auL+//vpr3O8Y6XzRjlOV+1gTNb9ECgC1kb6x0iyZ+xLrOXn27JmtWbPGpXuHDh1s+/btEWv+sa6loKDABg4caF27dnXfVceO9ryI9u3b2/Xr1/1z6Llo165d1IJhcF2i964y6DqU/teuXSNzQ/4AkTl37pzLcM6cOeOWjx8/bh07drTz58+75ebNm9vEiRP9DHL58uU2duzYhPZt1aqVTZ482Z4+fWqnTp2yV1991RYsWODijh07ZllZWe7z+PHjLT8/37+mwsJCGzRoUMTr3bFjhw0YMMDu379vDx48cJn0nj17XFxqaqr985//tN9//91lgH/7299s8+bNFTLe8Iw51neMdb7gcapyH2tK/okUAGojfWPdw2TuS6znZNOmTfb555+7c5SVldmIESOsRYsWFdI82rVI7L169fKFuWHDBhs1alTMlqL58+dbbm6uv14ynz59ekLyT/TeJYuOd+nSJZf2+h8A5A8QNUPdvXt3yLpdu3bZl19+6T7/5S9/cTL1kEi8TCzevsrQSkpK/LhXXnnF7t696y+r5iUOHDgQcoyTJ09aSkpKxOtVZn327Fl/WbVETxZNmzb1RSVOnDhhQ4cOjSv/WN8x1vmCx6nKfQynvLy8ysGTf7wCQG2kb6x7mMx9ifWcDBkyxEnUQwUVPQ/haR7tWsaMGWMHDx4MOb5aAmLJX/dZrRUeffr08VsC4sk/0XuXzLNRXFzsp3ld75oA5A8vGTVTPnnyJGSdMuC0tLS4mVi8fcMzsGiZ6M2bN23kyJGWmZnpanI5OTmuFh8J7aMm02Do3bu3i3vttdf8GqTQ57Zt28aVf6zvGOt8wf2qch+j1dqrM6g2GO1+1nT6JnoP492XWM+J0jmY9uruadasWcLXou+qroNE7lFwWddy8eJFu3PnjvXs2TPmdwg+04neu8o8G7pPXncXIH+AqDX/vXv3VqjdKVOLlzknu2+05ezsbNu/f7+/XhmpmoMjMWzYMLt69WqI4A8dOuTX/FXbD9YME6n5x/qOsc4XXvOv7H18mTX/2kjfRO9hvPsS6zlROp8+fTpuzT/atYTX/CXPKVOmxP2e6laaOnWq665Q8Hj33XdDChPRridZ+cdKczXzq9kfkD9AXNSvq9qP11yuDPTDDz/0m3tjZc7J7httWTUviVqo6VMZdLRmfw3WUu1P/bVCg6TU9yrUx6u427dvuz5d1Q4j9fmr1hWsJcb6jrHOFzxOVe5jTZBon39tpG+se5jMfYn1nGigp9fnr0KBzhesace7lvA+/yVLltg333wT93lRy4gGCPbr1y+kj13jBTRuQGgMgq71zTffrLL8AfkDVBsaWazMSYO5unXr5gZPJSKHZPeNtqxakfpLNbhMTco6hvpmNSAqHNWmNIpfItD5xo0b59d2dLytW7e6Udga9b127dqQ0f4eEyZMsB49evgjqmN9x1jnCz9OVe5jTcg/0dH+NZ2+8dIs0fsS6znROVatWuWOr3gVUFRwSeZa1KqggXZ6s0HjALw++HjPi0SvtwSC6N7rbQR1J+hZ1HiFSNeD/AH5A1QRMsxQ+fBDPzwbgPwByOAbEYj//6PWn2CtGwD5AyB/aMCo6V7N7suWLeNmAPIHAAAA5A8AAADIHwAAAJA/AAAAIH8AAABA/gAAAID8oSEwa9asmMuxto+3bXWeFwAA+QO8JPnrN9ZrQv7B4wIAIH+AKvDHH3+4CVL0gygLFy60devWuUlJHj165JYnTpzo/mp62OCyN4e5JH358mVbsGCBmwwmvOaviWI0iYomTdHc695kKZEKBloXft7gecS8efNCJlPR9nPnznWfda68vDybOXOm7dmzJ2bBQlOy6jvr2vLz8/3CRbT74aF1x44dc99XE8To+vQb7lrWPt71JnM9AADIH2qV7du3Oyl7aOpTTY6TaM1/+vTptnHjRl/IwXjNva4Z9h4+fOgkreOePXs2pvzjnVdTsRYUFPjrJeKff/7ZTWqjSV70E7eadU3XVFRUFPE7T5s2zU1T63HkyBE3OVAi90PfV1Pe6udjNYe6JpgpLCx0ccXFxbZ69Wr3OZnrAQBA/lCrqNYeRELTXOWJyn/SpEl248aNiPHhcfqsWnZV5K9pWb2pYYVq1ip4SK63bt3y16sm7wk9HM3ZHvwdfM365h0/3v2Q7H///Xd/+dtvv3WFGw/V8kUy1wMAgPyhVtFc6JomdeXKla6G+9NPP9mMGTMSln9ubm7UeNWww5kzZ05U+Sd6Xl1reXm5k+7SpUv9eDXJB8Py5csjfudYBY9498OTe7zrTOZ6AACQP9QqqomrP99DQg1KO578Yy2H1/xViw7W/L3+f69VQNsnclyNLdi3b59rrlfwatrhgwLVZJ+s/KvrfiRzPQAAyB9qFdVGJWVPdJJWsJk7vKabaM3Xq8nreDqumtlVk9YgOKFBdV7fuprytd3333+f0HnU375o0SJbsWKFG0sgdFzV2NW/Lg4ePOjGByQr/3j3I1H5J3M9AADIH2oV1bjVb+6NXletWsLToDaxc+dON1Jfg9kiLceSoZq6NcBPo/G1z8mTJ/3avprtNZLei1Nfu7b3iHceFR68wXVCx9XxJe/Fixfbtm3bXCEhWfnHux+Jyj+Z6wEAiMb/BcRRmn4M+gkIAAAAAElFTkSuQmCC"/>
          <p:cNvSpPr>
            <a:spLocks noChangeAspect="1" noChangeArrowheads="1"/>
          </p:cNvSpPr>
          <p:nvPr userDrawn="1"/>
        </p:nvSpPr>
        <p:spPr bwMode="auto">
          <a:xfrm>
            <a:off x="155575" y="-1233488"/>
            <a:ext cx="4867275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dirty="0"/>
          </a:p>
        </p:txBody>
      </p:sp>
      <p:sp>
        <p:nvSpPr>
          <p:cNvPr id="9" name="Pentagon 8"/>
          <p:cNvSpPr/>
          <p:nvPr userDrawn="1"/>
        </p:nvSpPr>
        <p:spPr>
          <a:xfrm>
            <a:off x="88638" y="86887"/>
            <a:ext cx="3702312" cy="545841"/>
          </a:xfrm>
          <a:prstGeom prst="homePlate">
            <a:avLst/>
          </a:prstGeom>
          <a:solidFill>
            <a:srgbClr val="0124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72414" y="1012384"/>
            <a:ext cx="11059862" cy="47352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05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 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0"/>
          <p:cNvSpPr>
            <a:spLocks noGrp="1"/>
          </p:cNvSpPr>
          <p:nvPr>
            <p:ph sz="half" idx="1"/>
          </p:nvPr>
        </p:nvSpPr>
        <p:spPr>
          <a:xfrm>
            <a:off x="838200" y="877084"/>
            <a:ext cx="10515600" cy="228521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half" idx="2"/>
          </p:nvPr>
        </p:nvSpPr>
        <p:spPr>
          <a:xfrm>
            <a:off x="838200" y="3879590"/>
            <a:ext cx="10515600" cy="249963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90500" cap="flat" cmpd="sng">
            <a:gradFill>
              <a:gsLst>
                <a:gs pos="100000">
                  <a:srgbClr val="01244E"/>
                </a:gs>
                <a:gs pos="0">
                  <a:srgbClr val="94B5E0"/>
                </a:gs>
              </a:gsLst>
              <a:lin ang="5400000" scaled="0"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014" y="5747656"/>
            <a:ext cx="975044" cy="975044"/>
          </a:xfrm>
          <a:prstGeom prst="rect">
            <a:avLst/>
          </a:prstGeom>
        </p:spPr>
      </p:pic>
      <p:sp>
        <p:nvSpPr>
          <p:cNvPr id="14" name="Pentagon 13"/>
          <p:cNvSpPr/>
          <p:nvPr userDrawn="1"/>
        </p:nvSpPr>
        <p:spPr>
          <a:xfrm>
            <a:off x="88638" y="86887"/>
            <a:ext cx="3561981" cy="545841"/>
          </a:xfrm>
          <a:prstGeom prst="homePlate">
            <a:avLst/>
          </a:prstGeom>
          <a:solidFill>
            <a:srgbClr val="0124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15" name="Pentagon 14"/>
          <p:cNvSpPr/>
          <p:nvPr userDrawn="1"/>
        </p:nvSpPr>
        <p:spPr>
          <a:xfrm>
            <a:off x="88639" y="3248025"/>
            <a:ext cx="2978412" cy="545841"/>
          </a:xfrm>
          <a:prstGeom prst="homePlate">
            <a:avLst/>
          </a:prstGeom>
          <a:solidFill>
            <a:srgbClr val="0124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 smtClean="0"/>
              <a:t>Success Criteria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11689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21F66-EBC9-4DEF-8AFC-25C86D3B01D2}" type="datetimeFigureOut">
              <a:rPr lang="en-AU" smtClean="0"/>
              <a:t>13/09/2021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1715B-4236-4B82-9CFC-48BED42A4D9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43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/>
              <a:t>Factorise algebraic </a:t>
            </a:r>
            <a:r>
              <a:rPr lang="en-AU" sz="4000" b="1" dirty="0" smtClean="0"/>
              <a:t>expressions by grouping in pairs.</a:t>
            </a:r>
            <a:endParaRPr lang="en-AU" sz="4000" b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740906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8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5474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368867" y="324273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867" y="3242738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66646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646" y="4183071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108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946191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67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2173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b="0" i="0" dirty="0" smtClean="0">
                              <a:latin typeface="+mn-lt"/>
                            </a:rPr>
                            <a:t>Multiply everything in the 1st bracket by everything in the 2nd bracket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endParaRPr lang="en-AU" dirty="0" smtClean="0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8183880" y="0"/>
              <a:ext cx="4008120" cy="10109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008120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 smtClean="0"/>
                            <a:t>Reminders:</a:t>
                          </a:r>
                          <a:endParaRPr lang="en-AU" dirty="0"/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52" t="-62857" r="-760" b="-1523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3" name="Rectangle 22"/>
          <p:cNvSpPr/>
          <p:nvPr/>
        </p:nvSpPr>
        <p:spPr>
          <a:xfrm>
            <a:off x="100584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2138680" y="2988627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100584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2138680" y="4008120"/>
            <a:ext cx="1132840" cy="101949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" y="3266440"/>
                <a:ext cx="44704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740" y="2469369"/>
                <a:ext cx="447040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39" y="4183071"/>
                <a:ext cx="447040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20" y="2469368"/>
                <a:ext cx="447040" cy="523220"/>
              </a:xfrm>
              <a:prstGeom prst="rect">
                <a:avLst/>
              </a:prstGeom>
              <a:blipFill rotWithShape="0">
                <a:blip r:embed="rId6"/>
                <a:stretch>
                  <a:fillRect r="-205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260" y="3242738"/>
                <a:ext cx="447040" cy="53296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3252484"/>
                <a:ext cx="447040" cy="523220"/>
              </a:xfrm>
              <a:prstGeom prst="rect">
                <a:avLst/>
              </a:prstGeom>
              <a:blipFill rotWithShape="0">
                <a:blip r:embed="rId8"/>
                <a:stretch>
                  <a:fillRect r="-716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806" y="4190362"/>
                <a:ext cx="447040" cy="523220"/>
              </a:xfrm>
              <a:prstGeom prst="rect">
                <a:avLst/>
              </a:prstGeom>
              <a:blipFill rotWithShape="0">
                <a:blip r:embed="rId9"/>
                <a:stretch>
                  <a:fillRect r="-121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184" y="4190362"/>
                <a:ext cx="447040" cy="523220"/>
              </a:xfrm>
              <a:prstGeom prst="rect">
                <a:avLst/>
              </a:prstGeom>
              <a:blipFill rotWithShape="0">
                <a:blip r:embed="rId10"/>
                <a:stretch>
                  <a:fillRect r="-689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660" y="3531916"/>
                <a:ext cx="3625288" cy="47211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5821680" y="4183071"/>
            <a:ext cx="1676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000" b="1" i="1" smtClean="0"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AU" sz="3000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08" y="4555496"/>
                <a:ext cx="2715359" cy="472117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2704466"/>
                <a:ext cx="4048760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Expand the binomial product: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777240"/>
                <a:ext cx="7315200" cy="523220"/>
              </a:xfrm>
              <a:prstGeom prst="rect">
                <a:avLst/>
              </a:prstGeom>
              <a:blipFill rotWithShape="0">
                <a:blip r:embed="rId14"/>
                <a:stretch>
                  <a:fillRect l="-1667" t="-11765" b="-32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86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17516" y="839181"/>
            <a:ext cx="9658004" cy="5838710"/>
          </a:xfrm>
        </p:spPr>
        <p:txBody>
          <a:bodyPr/>
          <a:lstStyle/>
          <a:p>
            <a:pPr marL="0" indent="0">
              <a:buNone/>
            </a:pPr>
            <a:r>
              <a:rPr lang="en-AU" dirty="0" smtClean="0"/>
              <a:t>Using FOIL, expand the following binomial products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C00000"/>
                </a:solidFill>
              </a:rPr>
              <a:t>F = First</a:t>
            </a:r>
          </a:p>
          <a:p>
            <a:pPr marL="0" indent="0">
              <a:buNone/>
            </a:pPr>
            <a:r>
              <a:rPr lang="en-AU" sz="4000" b="1" dirty="0" smtClean="0">
                <a:solidFill>
                  <a:srgbClr val="7030A0"/>
                </a:solidFill>
              </a:rPr>
              <a:t>O = Outer</a:t>
            </a:r>
          </a:p>
          <a:p>
            <a:pPr marL="0" indent="0">
              <a:buNone/>
            </a:pPr>
            <a:r>
              <a:rPr lang="en-AU" sz="4000" b="1" dirty="0" smtClean="0">
                <a:solidFill>
                  <a:srgbClr val="0070C0"/>
                </a:solidFill>
              </a:rPr>
              <a:t>I = Inner</a:t>
            </a:r>
          </a:p>
          <a:p>
            <a:pPr marL="0" indent="0">
              <a:buNone/>
            </a:pPr>
            <a:r>
              <a:rPr lang="en-AU" sz="4000" b="1" dirty="0" smtClean="0">
                <a:solidFill>
                  <a:schemeClr val="accent6">
                    <a:lumMod val="75000"/>
                  </a:schemeClr>
                </a:solidFill>
              </a:rPr>
              <a:t>L = Last</a:t>
            </a:r>
            <a:endParaRPr lang="en-AU" sz="4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742340" y="2099264"/>
            <a:ext cx="3329758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 smtClean="0"/>
              <a:t>(2x + 5)(3x – 6) =</a:t>
            </a:r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endParaRPr lang="en-AU" sz="2800" dirty="0" smtClean="0"/>
          </a:p>
          <a:p>
            <a:r>
              <a:rPr lang="en-AU" sz="3600" b="1" dirty="0" smtClean="0"/>
              <a:t>(4a – 2)(a + 3) = </a:t>
            </a:r>
            <a:endParaRPr lang="en-AU" sz="3600" b="1" dirty="0"/>
          </a:p>
        </p:txBody>
      </p:sp>
      <p:sp>
        <p:nvSpPr>
          <p:cNvPr id="4" name="Arc 3"/>
          <p:cNvSpPr/>
          <p:nvPr/>
        </p:nvSpPr>
        <p:spPr>
          <a:xfrm rot="19023971">
            <a:off x="3823099" y="1947922"/>
            <a:ext cx="2058779" cy="2105390"/>
          </a:xfrm>
          <a:prstGeom prst="arc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7010879" y="2041793"/>
            <a:ext cx="8402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6x</a:t>
            </a:r>
            <a:r>
              <a:rPr lang="en-AU" sz="4000" baseline="30000" dirty="0" smtClean="0"/>
              <a:t>2</a:t>
            </a:r>
            <a:endParaRPr lang="en-AU" sz="4000" dirty="0"/>
          </a:p>
        </p:txBody>
      </p:sp>
      <p:sp>
        <p:nvSpPr>
          <p:cNvPr id="20" name="TextBox 19"/>
          <p:cNvSpPr txBox="1"/>
          <p:nvPr/>
        </p:nvSpPr>
        <p:spPr>
          <a:xfrm>
            <a:off x="7813409" y="2041793"/>
            <a:ext cx="12971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– 12x</a:t>
            </a:r>
            <a:endParaRPr lang="en-AU" sz="4000" dirty="0"/>
          </a:p>
        </p:txBody>
      </p:sp>
      <p:sp>
        <p:nvSpPr>
          <p:cNvPr id="21" name="TextBox 20"/>
          <p:cNvSpPr txBox="1"/>
          <p:nvPr/>
        </p:nvSpPr>
        <p:spPr>
          <a:xfrm>
            <a:off x="9039544" y="2041793"/>
            <a:ext cx="12971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+ 15x</a:t>
            </a:r>
            <a:endParaRPr lang="en-AU" sz="4000" dirty="0"/>
          </a:p>
        </p:txBody>
      </p:sp>
      <p:sp>
        <p:nvSpPr>
          <p:cNvPr id="23" name="TextBox 22"/>
          <p:cNvSpPr txBox="1"/>
          <p:nvPr/>
        </p:nvSpPr>
        <p:spPr>
          <a:xfrm>
            <a:off x="10276512" y="2041793"/>
            <a:ext cx="1074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– 30</a:t>
            </a:r>
            <a:endParaRPr lang="en-AU" sz="4000" dirty="0"/>
          </a:p>
        </p:txBody>
      </p:sp>
      <p:sp>
        <p:nvSpPr>
          <p:cNvPr id="24" name="Arc 23"/>
          <p:cNvSpPr/>
          <p:nvPr/>
        </p:nvSpPr>
        <p:spPr>
          <a:xfrm rot="19023971">
            <a:off x="3622690" y="1751479"/>
            <a:ext cx="3131442" cy="3068330"/>
          </a:xfrm>
          <a:prstGeom prst="arc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5" name="Arc 24"/>
          <p:cNvSpPr/>
          <p:nvPr/>
        </p:nvSpPr>
        <p:spPr>
          <a:xfrm rot="19023971">
            <a:off x="4780093" y="2128556"/>
            <a:ext cx="976207" cy="947074"/>
          </a:xfrm>
          <a:prstGeom prst="arc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6" name="Arc 25"/>
          <p:cNvSpPr/>
          <p:nvPr/>
        </p:nvSpPr>
        <p:spPr>
          <a:xfrm rot="19023971">
            <a:off x="4547861" y="1869140"/>
            <a:ext cx="2126934" cy="2063187"/>
          </a:xfrm>
          <a:prstGeom prst="arc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1" name="Arc 40"/>
          <p:cNvSpPr/>
          <p:nvPr/>
        </p:nvSpPr>
        <p:spPr>
          <a:xfrm rot="19023971">
            <a:off x="3846697" y="4246466"/>
            <a:ext cx="1890741" cy="1909580"/>
          </a:xfrm>
          <a:prstGeom prst="arc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TextBox 41"/>
          <p:cNvSpPr txBox="1"/>
          <p:nvPr/>
        </p:nvSpPr>
        <p:spPr>
          <a:xfrm>
            <a:off x="6820246" y="4256882"/>
            <a:ext cx="862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4a</a:t>
            </a:r>
            <a:r>
              <a:rPr lang="en-AU" sz="4000" baseline="30000" dirty="0" smtClean="0"/>
              <a:t>2</a:t>
            </a:r>
            <a:endParaRPr lang="en-AU" sz="4000" dirty="0"/>
          </a:p>
        </p:txBody>
      </p:sp>
      <p:sp>
        <p:nvSpPr>
          <p:cNvPr id="43" name="TextBox 42"/>
          <p:cNvSpPr txBox="1"/>
          <p:nvPr/>
        </p:nvSpPr>
        <p:spPr>
          <a:xfrm>
            <a:off x="7540100" y="4266442"/>
            <a:ext cx="13195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+ 12a</a:t>
            </a:r>
            <a:endParaRPr lang="en-AU" sz="4000" dirty="0"/>
          </a:p>
        </p:txBody>
      </p:sp>
      <p:sp>
        <p:nvSpPr>
          <p:cNvPr id="44" name="TextBox 43"/>
          <p:cNvSpPr txBox="1"/>
          <p:nvPr/>
        </p:nvSpPr>
        <p:spPr>
          <a:xfrm>
            <a:off x="8776869" y="4256882"/>
            <a:ext cx="1059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– 2a</a:t>
            </a:r>
            <a:endParaRPr lang="en-AU" sz="4000" dirty="0"/>
          </a:p>
        </p:txBody>
      </p:sp>
      <p:sp>
        <p:nvSpPr>
          <p:cNvPr id="45" name="TextBox 44"/>
          <p:cNvSpPr txBox="1"/>
          <p:nvPr/>
        </p:nvSpPr>
        <p:spPr>
          <a:xfrm>
            <a:off x="9746549" y="4266442"/>
            <a:ext cx="8146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dirty="0" smtClean="0"/>
              <a:t>– 6</a:t>
            </a:r>
            <a:endParaRPr lang="en-AU" sz="4000" dirty="0"/>
          </a:p>
        </p:txBody>
      </p:sp>
      <p:sp>
        <p:nvSpPr>
          <p:cNvPr id="46" name="Arc 45"/>
          <p:cNvSpPr/>
          <p:nvPr/>
        </p:nvSpPr>
        <p:spPr>
          <a:xfrm rot="19023971">
            <a:off x="3627704" y="4089518"/>
            <a:ext cx="2881551" cy="2785768"/>
          </a:xfrm>
          <a:prstGeom prst="arc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7" name="Arc 46"/>
          <p:cNvSpPr/>
          <p:nvPr/>
        </p:nvSpPr>
        <p:spPr>
          <a:xfrm rot="19023971">
            <a:off x="4778751" y="4382362"/>
            <a:ext cx="905109" cy="915177"/>
          </a:xfrm>
          <a:prstGeom prst="arc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Arc 47"/>
          <p:cNvSpPr/>
          <p:nvPr/>
        </p:nvSpPr>
        <p:spPr>
          <a:xfrm rot="19023971">
            <a:off x="4582525" y="4180353"/>
            <a:ext cx="1915613" cy="1882850"/>
          </a:xfrm>
          <a:prstGeom prst="arc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9" name="TextBox 48"/>
          <p:cNvSpPr txBox="1"/>
          <p:nvPr/>
        </p:nvSpPr>
        <p:spPr>
          <a:xfrm>
            <a:off x="6934078" y="2795115"/>
            <a:ext cx="3324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b="1" dirty="0" smtClean="0"/>
              <a:t>= 6x</a:t>
            </a:r>
            <a:r>
              <a:rPr lang="en-AU" sz="4000" b="1" baseline="30000" dirty="0" smtClean="0"/>
              <a:t>2</a:t>
            </a:r>
            <a:r>
              <a:rPr lang="en-AU" sz="4000" b="1" dirty="0" smtClean="0"/>
              <a:t> + 3x – 30 </a:t>
            </a:r>
            <a:endParaRPr lang="en-AU" sz="40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6675664" y="5039895"/>
            <a:ext cx="33602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b="1" dirty="0" smtClean="0"/>
              <a:t>= 4a</a:t>
            </a:r>
            <a:r>
              <a:rPr lang="en-AU" sz="4000" b="1" baseline="30000" dirty="0" smtClean="0"/>
              <a:t>2</a:t>
            </a:r>
            <a:r>
              <a:rPr lang="en-AU" sz="4000" b="1" dirty="0" smtClean="0"/>
              <a:t> + 10a – 6 </a:t>
            </a:r>
            <a:endParaRPr lang="en-AU" sz="4000" b="1" dirty="0"/>
          </a:p>
        </p:txBody>
      </p:sp>
      <p:grpSp>
        <p:nvGrpSpPr>
          <p:cNvPr id="27" name="Group 26"/>
          <p:cNvGrpSpPr/>
          <p:nvPr/>
        </p:nvGrpSpPr>
        <p:grpSpPr>
          <a:xfrm>
            <a:off x="9956865" y="221673"/>
            <a:ext cx="2035630" cy="1418705"/>
            <a:chOff x="660399" y="3602071"/>
            <a:chExt cx="2035630" cy="971026"/>
          </a:xfrm>
        </p:grpSpPr>
        <p:sp>
          <p:nvSpPr>
            <p:cNvPr id="28" name="TextBox 27"/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does FOIL stand for?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03947" y="82302"/>
            <a:ext cx="7051861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/>
              <a:t>Skill Development/Guided Practice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82296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20" grpId="0"/>
      <p:bldP spid="21" grpId="0"/>
      <p:bldP spid="23" grpId="0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41" grpId="0" animBg="1"/>
      <p:bldP spid="41" grpId="1" animBg="1"/>
      <p:bldP spid="42" grpId="0"/>
      <p:bldP spid="43" grpId="0"/>
      <p:bldP spid="44" grpId="0"/>
      <p:bldP spid="45" grpId="0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193962" y="778408"/>
            <a:ext cx="11804073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Find the highest common factor of 24x</a:t>
            </a:r>
            <a:r>
              <a:rPr lang="en-AU" sz="3200" baseline="30000" dirty="0" smtClean="0"/>
              <a:t>2</a:t>
            </a:r>
            <a:r>
              <a:rPr lang="en-AU" sz="3200" dirty="0" smtClean="0"/>
              <a:t>yz</a:t>
            </a:r>
            <a:r>
              <a:rPr lang="en-AU" sz="3200" baseline="30000" dirty="0" smtClean="0"/>
              <a:t>2 </a:t>
            </a:r>
            <a:r>
              <a:rPr lang="en-AU" sz="3200" dirty="0" smtClean="0"/>
              <a:t>and 36xyz</a:t>
            </a:r>
            <a:r>
              <a:rPr lang="en-AU" sz="3200" baseline="30000" dirty="0" smtClean="0"/>
              <a:t>3</a:t>
            </a:r>
            <a:r>
              <a:rPr lang="en-AU" sz="3200" dirty="0" smtClean="0"/>
              <a:t>.</a:t>
            </a:r>
            <a:r>
              <a:rPr lang="en-AU" sz="2400" dirty="0" smtClean="0">
                <a:solidFill>
                  <a:srgbClr val="C00000"/>
                </a:solidFill>
              </a:rPr>
              <a:t>		</a:t>
            </a:r>
          </a:p>
          <a:p>
            <a:endParaRPr lang="en-AU" sz="2400" dirty="0">
              <a:solidFill>
                <a:srgbClr val="C00000"/>
              </a:solidFill>
            </a:endParaRPr>
          </a:p>
          <a:p>
            <a:r>
              <a:rPr lang="en-AU" sz="2400" b="1" i="1" dirty="0" smtClean="0">
                <a:solidFill>
                  <a:srgbClr val="C00000"/>
                </a:solidFill>
              </a:rPr>
              <a:t>What is the highest common factor between the numbers?</a:t>
            </a:r>
            <a:endParaRPr lang="en-AU" sz="2400" dirty="0" smtClean="0">
              <a:solidFill>
                <a:srgbClr val="C00000"/>
              </a:solidFill>
            </a:endParaRPr>
          </a:p>
          <a:p>
            <a:r>
              <a:rPr lang="en-AU" sz="2400" dirty="0" smtClean="0">
                <a:solidFill>
                  <a:srgbClr val="C00000"/>
                </a:solidFill>
              </a:rPr>
              <a:t>The factors of 24 are 	1	2	3	4	6	8	12	24		</a:t>
            </a:r>
          </a:p>
          <a:p>
            <a:r>
              <a:rPr lang="en-AU" sz="2400" dirty="0" smtClean="0">
                <a:solidFill>
                  <a:srgbClr val="C00000"/>
                </a:solidFill>
              </a:rPr>
              <a:t>The factors of 36 are 	1	2	3	4	6	9	12	18	36</a:t>
            </a:r>
          </a:p>
          <a:p>
            <a:endParaRPr lang="en-AU" sz="2400" dirty="0">
              <a:solidFill>
                <a:srgbClr val="C00000"/>
              </a:solidFill>
            </a:endParaRPr>
          </a:p>
          <a:p>
            <a:r>
              <a:rPr lang="en-AU" sz="3200" dirty="0" smtClean="0">
                <a:solidFill>
                  <a:srgbClr val="FF0000"/>
                </a:solidFill>
              </a:rPr>
              <a:t>The HCF of the numbers is 12.</a:t>
            </a:r>
          </a:p>
          <a:p>
            <a:endParaRPr lang="en-AU" sz="2400" dirty="0">
              <a:solidFill>
                <a:srgbClr val="C00000"/>
              </a:solidFill>
            </a:endParaRPr>
          </a:p>
          <a:p>
            <a:r>
              <a:rPr lang="en-AU" sz="2400" b="1" i="1" dirty="0" smtClean="0">
                <a:solidFill>
                  <a:srgbClr val="C00000"/>
                </a:solidFill>
              </a:rPr>
              <a:t>What is the highest common factor between the variables?</a:t>
            </a:r>
          </a:p>
          <a:p>
            <a:r>
              <a:rPr lang="en-AU" sz="2400" dirty="0" smtClean="0">
                <a:solidFill>
                  <a:srgbClr val="C00000"/>
                </a:solidFill>
              </a:rPr>
              <a:t>Both x, y and z</a:t>
            </a:r>
            <a:r>
              <a:rPr lang="en-AU" sz="2400" baseline="30000" dirty="0" smtClean="0">
                <a:solidFill>
                  <a:srgbClr val="C00000"/>
                </a:solidFill>
              </a:rPr>
              <a:t>2</a:t>
            </a:r>
            <a:r>
              <a:rPr lang="en-AU" sz="2400" dirty="0" smtClean="0">
                <a:solidFill>
                  <a:srgbClr val="C00000"/>
                </a:solidFill>
              </a:rPr>
              <a:t> are common variables. 	</a:t>
            </a:r>
          </a:p>
          <a:p>
            <a:endParaRPr lang="en-AU" sz="2400" dirty="0">
              <a:solidFill>
                <a:srgbClr val="C00000"/>
              </a:solidFill>
            </a:endParaRPr>
          </a:p>
          <a:p>
            <a:r>
              <a:rPr lang="en-AU" sz="3200" dirty="0" smtClean="0">
                <a:solidFill>
                  <a:srgbClr val="FF0000"/>
                </a:solidFill>
              </a:rPr>
              <a:t>The HCF of the variables is xyz</a:t>
            </a:r>
            <a:r>
              <a:rPr lang="en-AU" sz="3200" baseline="30000" dirty="0" smtClean="0">
                <a:solidFill>
                  <a:srgbClr val="FF0000"/>
                </a:solidFill>
              </a:rPr>
              <a:t>2</a:t>
            </a:r>
            <a:r>
              <a:rPr lang="en-AU" sz="3200" dirty="0" smtClean="0">
                <a:solidFill>
                  <a:srgbClr val="FF0000"/>
                </a:solidFill>
              </a:rPr>
              <a:t>.</a:t>
            </a:r>
          </a:p>
          <a:p>
            <a:pPr algn="ctr"/>
            <a:endParaRPr lang="en-AU" sz="2800" b="1" dirty="0"/>
          </a:p>
          <a:p>
            <a:endParaRPr lang="en-AU" sz="2800" b="1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9848105" y="253742"/>
            <a:ext cx="2035630" cy="1532169"/>
            <a:chOff x="660399" y="3602071"/>
            <a:chExt cx="2035630" cy="407283"/>
          </a:xfrm>
        </p:grpSpPr>
        <p:sp>
          <p:nvSpPr>
            <p:cNvPr id="8" name="TextBox 7"/>
            <p:cNvSpPr txBox="1"/>
            <p:nvPr/>
          </p:nvSpPr>
          <p:spPr>
            <a:xfrm>
              <a:off x="660400" y="3602071"/>
              <a:ext cx="2035629" cy="81814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60399" y="3690240"/>
              <a:ext cx="2035629" cy="31911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do we find the highest common factor of two algebraic terms?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8317605" y="1900209"/>
            <a:ext cx="668874" cy="114317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74718" y="4863907"/>
            <a:ext cx="535473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>
                <a:solidFill>
                  <a:srgbClr val="FF0000"/>
                </a:solidFill>
              </a:rPr>
              <a:t>The </a:t>
            </a:r>
            <a:r>
              <a:rPr lang="en-AU" sz="3200" b="1" dirty="0" smtClean="0">
                <a:solidFill>
                  <a:srgbClr val="FF0000"/>
                </a:solidFill>
              </a:rPr>
              <a:t>highest common factor </a:t>
            </a:r>
            <a:r>
              <a:rPr lang="en-AU" sz="3200" dirty="0" smtClean="0">
                <a:solidFill>
                  <a:srgbClr val="FF0000"/>
                </a:solidFill>
              </a:rPr>
              <a:t>of </a:t>
            </a:r>
          </a:p>
          <a:p>
            <a:r>
              <a:rPr lang="en-AU" sz="3200" dirty="0" smtClean="0">
                <a:solidFill>
                  <a:srgbClr val="FF0000"/>
                </a:solidFill>
              </a:rPr>
              <a:t>24x</a:t>
            </a:r>
            <a:r>
              <a:rPr lang="en-AU" sz="3200" baseline="30000" dirty="0" smtClean="0">
                <a:solidFill>
                  <a:srgbClr val="FF0000"/>
                </a:solidFill>
              </a:rPr>
              <a:t>2</a:t>
            </a:r>
            <a:r>
              <a:rPr lang="en-AU" sz="3200" dirty="0" smtClean="0">
                <a:solidFill>
                  <a:srgbClr val="FF0000"/>
                </a:solidFill>
              </a:rPr>
              <a:t>yz</a:t>
            </a:r>
            <a:r>
              <a:rPr lang="en-AU" sz="3200" baseline="30000" dirty="0" smtClean="0">
                <a:solidFill>
                  <a:srgbClr val="FF0000"/>
                </a:solidFill>
              </a:rPr>
              <a:t>2 </a:t>
            </a:r>
            <a:r>
              <a:rPr lang="en-AU" sz="3200" dirty="0" smtClean="0">
                <a:solidFill>
                  <a:srgbClr val="FF0000"/>
                </a:solidFill>
              </a:rPr>
              <a:t>and 36xyz</a:t>
            </a:r>
            <a:r>
              <a:rPr lang="en-AU" sz="3200" baseline="30000" dirty="0" smtClean="0">
                <a:solidFill>
                  <a:srgbClr val="FF0000"/>
                </a:solidFill>
              </a:rPr>
              <a:t>3 </a:t>
            </a:r>
            <a:r>
              <a:rPr lang="en-AU" sz="3200" dirty="0" smtClean="0">
                <a:solidFill>
                  <a:srgbClr val="FF0000"/>
                </a:solidFill>
              </a:rPr>
              <a:t>is </a:t>
            </a:r>
            <a:r>
              <a:rPr lang="en-AU" sz="3200" b="1" dirty="0" smtClean="0">
                <a:solidFill>
                  <a:srgbClr val="FF0000"/>
                </a:solidFill>
              </a:rPr>
              <a:t>12xyz</a:t>
            </a:r>
            <a:r>
              <a:rPr lang="en-AU" sz="3200" b="1" baseline="30000" dirty="0" smtClean="0">
                <a:solidFill>
                  <a:srgbClr val="FF0000"/>
                </a:solidFill>
              </a:rPr>
              <a:t>2</a:t>
            </a:r>
            <a:endParaRPr lang="en-AU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30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3962" y="778408"/>
                <a:ext cx="11804073" cy="4844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b="1" dirty="0" smtClean="0"/>
                  <a:t>Find the highest common factor of the following:</a:t>
                </a:r>
              </a:p>
              <a:p>
                <a:endParaRPr lang="en-AU" sz="2800" b="1" dirty="0"/>
              </a:p>
              <a:p>
                <a14:m>
                  <m:oMath xmlns:m="http://schemas.openxmlformats.org/officeDocument/2006/math"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𝒂𝒃</m:t>
                    </m:r>
                  </m:oMath>
                </a14:m>
                <a:r>
                  <a:rPr lang="en-AU" sz="36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𝟖𝟏</m:t>
                    </m:r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AU" sz="3600" b="1" i="1" dirty="0" smtClean="0"/>
              </a:p>
              <a:p>
                <a:endParaRPr lang="en-AU" sz="3600" b="1" dirty="0" smtClean="0"/>
              </a:p>
              <a:p>
                <a:endParaRPr lang="en-AU" sz="3600" b="1" dirty="0" smtClean="0"/>
              </a:p>
              <a:p>
                <a14:m>
                  <m:oMath xmlns:m="http://schemas.openxmlformats.org/officeDocument/2006/math"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𝟏𝟔</m:t>
                    </m:r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𝒑𝒒𝒓𝒔</m:t>
                    </m:r>
                  </m:oMath>
                </a14:m>
                <a:r>
                  <a:rPr lang="en-AU" sz="36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𝟐𝟒</m:t>
                    </m:r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endParaRPr lang="en-AU" sz="3600" b="1" i="1" dirty="0" smtClean="0"/>
              </a:p>
              <a:p>
                <a:endParaRPr lang="en-AU" sz="3600" b="1" dirty="0"/>
              </a:p>
              <a:p>
                <a:endParaRPr lang="en-AU" sz="3600" b="1" dirty="0" smtClean="0"/>
              </a:p>
              <a:p>
                <a14:m>
                  <m:oMath xmlns:m="http://schemas.openxmlformats.org/officeDocument/2006/math"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𝟐𝟓</m:t>
                    </m:r>
                    <m:sSup>
                      <m:sSupPr>
                        <m:ctrlPr>
                          <a:rPr lang="en-AU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AU" sz="3600" b="1" dirty="0" smtClean="0"/>
                  <a:t> and </a:t>
                </a:r>
                <a14:m>
                  <m:oMath xmlns:m="http://schemas.openxmlformats.org/officeDocument/2006/math">
                    <m:r>
                      <a:rPr lang="en-AU" sz="3600" b="1" i="1" smtClean="0">
                        <a:latin typeface="Cambria Math" panose="02040503050406030204" pitchFamily="18" charset="0"/>
                      </a:rPr>
                      <m:t>𝟏𝟎</m:t>
                    </m:r>
                    <m:sSup>
                      <m:sSupPr>
                        <m:ctrlPr>
                          <a:rPr lang="en-AU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𝒙𝒚</m:t>
                        </m:r>
                      </m:e>
                      <m:sup>
                        <m:r>
                          <a:rPr lang="en-AU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800" b="1" dirty="0" smtClean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2" y="778408"/>
                <a:ext cx="11804073" cy="4844660"/>
              </a:xfrm>
              <a:prstGeom prst="rect">
                <a:avLst/>
              </a:prstGeom>
              <a:blipFill>
                <a:blip r:embed="rId2"/>
                <a:stretch>
                  <a:fillRect l="-1085" t="-1259" b="-40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3962" y="2208211"/>
                <a:ext cx="99271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 smtClean="0">
                    <a:solidFill>
                      <a:srgbClr val="FF0000"/>
                    </a:solidFill>
                  </a:rPr>
                  <a:t>The </a:t>
                </a:r>
                <a:r>
                  <a:rPr lang="en-AU" sz="2800" b="1" dirty="0" smtClean="0">
                    <a:solidFill>
                      <a:srgbClr val="FF0000"/>
                    </a:solidFill>
                  </a:rPr>
                  <a:t>highest common factor </a:t>
                </a:r>
                <a:r>
                  <a:rPr lang="en-AU" sz="2800" dirty="0" smtClean="0">
                    <a:solidFill>
                      <a:srgbClr val="FF000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en-AU" sz="2800" dirty="0" smtClean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 smtClean="0">
                    <a:solidFill>
                      <a:srgbClr val="FF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sz="28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en-AU" sz="2800" b="1" dirty="0" smtClean="0">
                    <a:solidFill>
                      <a:srgbClr val="FF0000"/>
                    </a:solidFill>
                  </a:rPr>
                  <a:t>.</a:t>
                </a:r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2" y="2208211"/>
                <a:ext cx="9927140" cy="523220"/>
              </a:xfrm>
              <a:prstGeom prst="rect">
                <a:avLst/>
              </a:prstGeom>
              <a:blipFill>
                <a:blip r:embed="rId3"/>
                <a:stretch>
                  <a:fillRect l="-1290" t="-10465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9990115" y="181564"/>
            <a:ext cx="2035630" cy="971026"/>
            <a:chOff x="7094763" y="3602071"/>
            <a:chExt cx="2035630" cy="971026"/>
          </a:xfrm>
        </p:grpSpPr>
        <p:sp>
          <p:nvSpPr>
            <p:cNvPr id="12" name="TextBox 11"/>
            <p:cNvSpPr txBox="1"/>
            <p:nvPr/>
          </p:nvSpPr>
          <p:spPr>
            <a:xfrm>
              <a:off x="7094764" y="3602071"/>
              <a:ext cx="2035629" cy="307777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HINT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94763" y="3931961"/>
              <a:ext cx="2035629" cy="641136"/>
            </a:xfrm>
            <a:prstGeom prst="rect">
              <a:avLst/>
            </a:prstGeom>
            <a:solidFill>
              <a:srgbClr val="1E9654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the HCF of the numbers?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990114" y="1237185"/>
            <a:ext cx="2035630" cy="971026"/>
            <a:chOff x="7094763" y="3602071"/>
            <a:chExt cx="2035630" cy="971026"/>
          </a:xfrm>
        </p:grpSpPr>
        <p:sp>
          <p:nvSpPr>
            <p:cNvPr id="16" name="TextBox 15"/>
            <p:cNvSpPr txBox="1"/>
            <p:nvPr/>
          </p:nvSpPr>
          <p:spPr>
            <a:xfrm>
              <a:off x="7094764" y="3602071"/>
              <a:ext cx="2035629" cy="307777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HINT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094763" y="3931961"/>
              <a:ext cx="2035629" cy="641136"/>
            </a:xfrm>
            <a:prstGeom prst="rect">
              <a:avLst/>
            </a:prstGeom>
            <a:solidFill>
              <a:srgbClr val="1E9654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Are there any common variables?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93961" y="3899624"/>
                <a:ext cx="109930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 smtClean="0">
                    <a:solidFill>
                      <a:srgbClr val="FF0000"/>
                    </a:solidFill>
                  </a:rPr>
                  <a:t>The </a:t>
                </a:r>
                <a:r>
                  <a:rPr lang="en-AU" sz="2800" b="1" dirty="0" smtClean="0">
                    <a:solidFill>
                      <a:srgbClr val="FF0000"/>
                    </a:solidFill>
                  </a:rPr>
                  <a:t>highest common factor </a:t>
                </a:r>
                <a:r>
                  <a:rPr lang="en-AU" sz="2800" dirty="0" smtClean="0">
                    <a:solidFill>
                      <a:srgbClr val="FF000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𝑝𝑞𝑟𝑠</m:t>
                    </m:r>
                  </m:oMath>
                </a14:m>
                <a:r>
                  <a:rPr lang="en-AU" sz="2800" dirty="0" smtClean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 smtClean="0">
                    <a:solidFill>
                      <a:srgbClr val="FF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AU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𝒑𝒒</m:t>
                    </m:r>
                  </m:oMath>
                </a14:m>
                <a:r>
                  <a:rPr lang="en-AU" sz="2800" b="1" dirty="0" smtClean="0">
                    <a:solidFill>
                      <a:srgbClr val="FF0000"/>
                    </a:solidFill>
                  </a:rPr>
                  <a:t>.</a:t>
                </a:r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1" y="3899624"/>
                <a:ext cx="10993070" cy="523220"/>
              </a:xfrm>
              <a:prstGeom prst="rect">
                <a:avLst/>
              </a:prstGeom>
              <a:blipFill>
                <a:blip r:embed="rId4"/>
                <a:stretch>
                  <a:fillRect l="-1165" t="-11628" b="-325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93961" y="5619404"/>
                <a:ext cx="8479775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 smtClean="0">
                    <a:solidFill>
                      <a:srgbClr val="FF0000"/>
                    </a:solidFill>
                  </a:rPr>
                  <a:t>The </a:t>
                </a:r>
                <a:r>
                  <a:rPr lang="en-AU" sz="2800" b="1" dirty="0" smtClean="0">
                    <a:solidFill>
                      <a:srgbClr val="FF0000"/>
                    </a:solidFill>
                  </a:rPr>
                  <a:t>highest common factor </a:t>
                </a:r>
                <a:r>
                  <a:rPr lang="en-AU" sz="2800" dirty="0" smtClean="0">
                    <a:solidFill>
                      <a:srgbClr val="FF000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sSupPr>
                        <m:ctrlPr>
                          <a:rPr lang="en-AU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800" dirty="0" smtClean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sSupPr>
                        <m:ctrlPr>
                          <a:rPr lang="en-AU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  <m:sup>
                        <m:r>
                          <a:rPr lang="en-AU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800" dirty="0" smtClean="0">
                    <a:solidFill>
                      <a:srgbClr val="FF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𝒙𝒚</m:t>
                    </m:r>
                  </m:oMath>
                </a14:m>
                <a:r>
                  <a:rPr lang="en-AU" sz="2800" b="1" dirty="0" smtClean="0">
                    <a:solidFill>
                      <a:srgbClr val="FF0000"/>
                    </a:solidFill>
                  </a:rPr>
                  <a:t>.</a:t>
                </a:r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1" y="5619404"/>
                <a:ext cx="8479775" cy="532966"/>
              </a:xfrm>
              <a:prstGeom prst="rect">
                <a:avLst/>
              </a:prstGeom>
              <a:blipFill>
                <a:blip r:embed="rId5"/>
                <a:stretch>
                  <a:fillRect l="-1510" t="-11494" b="-31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8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3962" y="778408"/>
                <a:ext cx="11804073" cy="45480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b="1" dirty="0" smtClean="0">
                    <a:solidFill>
                      <a:schemeClr val="tx1"/>
                    </a:solidFill>
                  </a:rPr>
                  <a:t>Factorise 40</a:t>
                </a:r>
                <a14:m>
                  <m:oMath xmlns:m="http://schemas.openxmlformats.org/officeDocument/2006/math">
                    <m:r>
                      <a:rPr lang="en-AU" sz="3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AU" sz="3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sz="3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AU" sz="3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AU" sz="36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sSup>
                      <m:sSupPr>
                        <m:ctrlPr>
                          <a:rPr lang="en-AU" sz="3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sz="3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800" b="1" dirty="0" smtClean="0">
                  <a:solidFill>
                    <a:srgbClr val="7030A0"/>
                  </a:solidFill>
                </a:endParaRPr>
              </a:p>
              <a:p>
                <a:endParaRPr lang="en-AU" sz="2800" b="1" dirty="0"/>
              </a:p>
              <a:p>
                <a:r>
                  <a:rPr lang="en-AU" sz="3200" b="1" dirty="0" smtClean="0">
                    <a:solidFill>
                      <a:srgbClr val="C00000"/>
                    </a:solidFill>
                  </a:rPr>
                  <a:t>First, find the highest common factor of 40ac</a:t>
                </a:r>
                <a:r>
                  <a:rPr lang="en-AU" sz="3200" b="1" baseline="30000" dirty="0">
                    <a:solidFill>
                      <a:srgbClr val="C00000"/>
                    </a:solidFill>
                  </a:rPr>
                  <a:t>3</a:t>
                </a:r>
                <a:r>
                  <a:rPr lang="en-AU" sz="3200" b="1" dirty="0" smtClean="0">
                    <a:solidFill>
                      <a:srgbClr val="C00000"/>
                    </a:solidFill>
                  </a:rPr>
                  <a:t> and 30c</a:t>
                </a:r>
                <a:r>
                  <a:rPr lang="en-AU" sz="3200" b="1" baseline="30000" dirty="0" smtClean="0">
                    <a:solidFill>
                      <a:srgbClr val="C00000"/>
                    </a:solidFill>
                  </a:rPr>
                  <a:t>2</a:t>
                </a:r>
                <a:endParaRPr lang="en-AU" sz="3200" b="1" dirty="0">
                  <a:solidFill>
                    <a:srgbClr val="C00000"/>
                  </a:solidFill>
                </a:endParaRPr>
              </a:p>
              <a:p>
                <a:endParaRPr lang="en-AU" sz="3200" b="1" dirty="0" smtClean="0">
                  <a:solidFill>
                    <a:srgbClr val="C00000"/>
                  </a:solidFill>
                </a:endParaRPr>
              </a:p>
              <a:p>
                <a:r>
                  <a:rPr lang="en-AU" sz="3200" b="1" dirty="0" smtClean="0">
                    <a:solidFill>
                      <a:srgbClr val="C00000"/>
                    </a:solidFill>
                  </a:rPr>
                  <a:t>The HCF is 10c</a:t>
                </a:r>
                <a:r>
                  <a:rPr lang="en-AU" sz="3200" b="1" baseline="30000" dirty="0" smtClean="0">
                    <a:solidFill>
                      <a:srgbClr val="C00000"/>
                    </a:solidFill>
                  </a:rPr>
                  <a:t>2</a:t>
                </a:r>
                <a:r>
                  <a:rPr lang="en-AU" sz="3200" b="1" dirty="0" smtClean="0">
                    <a:solidFill>
                      <a:srgbClr val="C00000"/>
                    </a:solidFill>
                  </a:rPr>
                  <a:t>.</a:t>
                </a:r>
              </a:p>
              <a:p>
                <a:endParaRPr lang="en-AU" sz="3200" b="1" dirty="0">
                  <a:solidFill>
                    <a:srgbClr val="C00000"/>
                  </a:solidFill>
                </a:endParaRPr>
              </a:p>
              <a:p>
                <a:r>
                  <a:rPr lang="en-AU" sz="3200" b="1" dirty="0" smtClean="0">
                    <a:solidFill>
                      <a:srgbClr val="C00000"/>
                    </a:solidFill>
                  </a:rPr>
                  <a:t>Divide both terms by 10c</a:t>
                </a:r>
                <a:r>
                  <a:rPr lang="en-AU" sz="3200" b="1" baseline="30000" dirty="0" smtClean="0">
                    <a:solidFill>
                      <a:srgbClr val="C00000"/>
                    </a:solidFill>
                  </a:rPr>
                  <a:t>2</a:t>
                </a:r>
                <a:r>
                  <a:rPr lang="en-AU" sz="3200" b="1" dirty="0" smtClean="0">
                    <a:solidFill>
                      <a:srgbClr val="C00000"/>
                    </a:solidFill>
                  </a:rPr>
                  <a:t>.</a:t>
                </a:r>
              </a:p>
              <a:p>
                <a:endParaRPr lang="en-AU" sz="3200" b="1" dirty="0">
                  <a:solidFill>
                    <a:srgbClr val="C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AU" sz="3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AU" sz="3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AU" sz="3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AU" sz="3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AU" sz="32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sSup>
                        <m:sSupPr>
                          <m:ctrlPr>
                            <a:rPr lang="en-AU" sz="3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AU" sz="32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sSup>
                        <m:sSupPr>
                          <m:ctrlPr>
                            <a:rPr lang="en-AU" sz="32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en-AU" sz="32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2" y="778408"/>
                <a:ext cx="11804073" cy="4548040"/>
              </a:xfrm>
              <a:prstGeom prst="rect">
                <a:avLst/>
              </a:prstGeom>
              <a:blipFill>
                <a:blip r:embed="rId2"/>
                <a:stretch>
                  <a:fillRect l="-1601" t="-17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6" name="Group 5"/>
          <p:cNvGrpSpPr/>
          <p:nvPr/>
        </p:nvGrpSpPr>
        <p:grpSpPr>
          <a:xfrm>
            <a:off x="9962405" y="2285451"/>
            <a:ext cx="2035630" cy="1532169"/>
            <a:chOff x="660399" y="3602071"/>
            <a:chExt cx="2035630" cy="407283"/>
          </a:xfrm>
        </p:grpSpPr>
        <p:sp>
          <p:nvSpPr>
            <p:cNvPr id="7" name="TextBox 6"/>
            <p:cNvSpPr txBox="1"/>
            <p:nvPr/>
          </p:nvSpPr>
          <p:spPr>
            <a:xfrm>
              <a:off x="660400" y="3602071"/>
              <a:ext cx="2035629" cy="81814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60399" y="3690240"/>
              <a:ext cx="2035629" cy="31911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factorising?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962404" y="3907390"/>
            <a:ext cx="2035630" cy="1532169"/>
            <a:chOff x="660399" y="3602071"/>
            <a:chExt cx="2035630" cy="407283"/>
          </a:xfrm>
        </p:grpSpPr>
        <p:sp>
          <p:nvSpPr>
            <p:cNvPr id="11" name="TextBox 10"/>
            <p:cNvSpPr txBox="1"/>
            <p:nvPr/>
          </p:nvSpPr>
          <p:spPr>
            <a:xfrm>
              <a:off x="660400" y="3602071"/>
              <a:ext cx="2035629" cy="81814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0399" y="3690240"/>
              <a:ext cx="2035629" cy="31911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did I factorise 120abc</a:t>
              </a:r>
              <a:r>
                <a:rPr lang="en-AU" baseline="30000" dirty="0" smtClean="0">
                  <a:solidFill>
                    <a:schemeClr val="tx1"/>
                  </a:solidFill>
                </a:rPr>
                <a:t>2</a:t>
              </a:r>
              <a:r>
                <a:rPr lang="en-AU" dirty="0" smtClean="0">
                  <a:solidFill>
                    <a:schemeClr val="tx1"/>
                  </a:solidFill>
                </a:rPr>
                <a:t> + 20c</a:t>
              </a:r>
              <a:r>
                <a:rPr lang="en-AU" baseline="30000" dirty="0" smtClean="0">
                  <a:solidFill>
                    <a:schemeClr val="tx1"/>
                  </a:solidFill>
                </a:rPr>
                <a:t>2</a:t>
              </a:r>
              <a:r>
                <a:rPr lang="en-AU" dirty="0" smtClean="0">
                  <a:solidFill>
                    <a:schemeClr val="tx1"/>
                  </a:solidFill>
                </a:rPr>
                <a:t>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237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202095" y="792480"/>
            <a:ext cx="9509855" cy="2369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Today I </a:t>
            </a:r>
            <a:r>
              <a:rPr lang="en-AU" sz="2400" dirty="0" smtClean="0"/>
              <a:t>will:</a:t>
            </a:r>
          </a:p>
          <a:p>
            <a:r>
              <a:rPr lang="en-AU" sz="2400" dirty="0" smtClean="0"/>
              <a:t>Factorise using grouping in pairs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02095" y="3902308"/>
            <a:ext cx="9509855" cy="2499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I will be able to:</a:t>
            </a:r>
          </a:p>
          <a:p>
            <a:r>
              <a:rPr lang="en-AU" sz="2400" dirty="0" smtClean="0"/>
              <a:t>Use the grouping in pairs method to factorise an algebraic expression.</a:t>
            </a:r>
            <a:endParaRPr lang="en-AU" sz="2400" dirty="0"/>
          </a:p>
          <a:p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9906630" y="159794"/>
            <a:ext cx="2035630" cy="971026"/>
            <a:chOff x="660399" y="3602071"/>
            <a:chExt cx="2035630" cy="971026"/>
          </a:xfrm>
        </p:grpSpPr>
        <p:sp>
          <p:nvSpPr>
            <p:cNvPr id="5" name="TextBox 4"/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will we learn today?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906628" y="2332185"/>
            <a:ext cx="2035630" cy="971026"/>
            <a:chOff x="660399" y="3602071"/>
            <a:chExt cx="2035630" cy="971026"/>
          </a:xfrm>
        </p:grpSpPr>
        <p:sp>
          <p:nvSpPr>
            <p:cNvPr id="11" name="TextBox 10"/>
            <p:cNvSpPr txBox="1"/>
            <p:nvPr/>
          </p:nvSpPr>
          <p:spPr>
            <a:xfrm>
              <a:off x="660400" y="3602071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will we learn today?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906627" y="3418179"/>
            <a:ext cx="2036140" cy="1095254"/>
            <a:chOff x="743320" y="2782415"/>
            <a:chExt cx="2036140" cy="927795"/>
          </a:xfrm>
        </p:grpSpPr>
        <p:sp>
          <p:nvSpPr>
            <p:cNvPr id="14" name="TextBox 13"/>
            <p:cNvSpPr txBox="1"/>
            <p:nvPr/>
          </p:nvSpPr>
          <p:spPr>
            <a:xfrm>
              <a:off x="743831" y="2782415"/>
              <a:ext cx="2035629" cy="26072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43320" y="3069074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know that you are successful?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906627" y="1245674"/>
            <a:ext cx="2035630" cy="973967"/>
            <a:chOff x="507997" y="3521638"/>
            <a:chExt cx="2035630" cy="973967"/>
          </a:xfrm>
        </p:grpSpPr>
        <p:sp>
          <p:nvSpPr>
            <p:cNvPr id="17" name="TextBox 16"/>
            <p:cNvSpPr txBox="1"/>
            <p:nvPr/>
          </p:nvSpPr>
          <p:spPr>
            <a:xfrm>
              <a:off x="507997" y="3521638"/>
              <a:ext cx="2035629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07998" y="3854469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will we learn today?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10587316" y="5755457"/>
            <a:ext cx="1492623" cy="980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9" name="Group 18"/>
          <p:cNvGrpSpPr/>
          <p:nvPr/>
        </p:nvGrpSpPr>
        <p:grpSpPr>
          <a:xfrm>
            <a:off x="9906626" y="4611106"/>
            <a:ext cx="2035630" cy="1113665"/>
            <a:chOff x="660398" y="3629705"/>
            <a:chExt cx="2035630" cy="943392"/>
          </a:xfrm>
        </p:grpSpPr>
        <p:sp>
          <p:nvSpPr>
            <p:cNvPr id="20" name="TextBox 19"/>
            <p:cNvSpPr txBox="1"/>
            <p:nvPr/>
          </p:nvSpPr>
          <p:spPr>
            <a:xfrm>
              <a:off x="660398" y="3629705"/>
              <a:ext cx="2035629" cy="26072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5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will you know that you are successful?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86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193962" y="778408"/>
            <a:ext cx="11804073" cy="7540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/>
              <a:t>Factorise the following expression:</a:t>
            </a:r>
          </a:p>
          <a:p>
            <a:endParaRPr lang="en-AU" sz="2800" b="1" dirty="0" smtClean="0"/>
          </a:p>
          <a:p>
            <a:r>
              <a:rPr lang="en-AU" sz="3600" b="1" dirty="0" smtClean="0"/>
              <a:t>k(m + 3) + 5(m + 3)</a:t>
            </a:r>
          </a:p>
          <a:p>
            <a:endParaRPr lang="en-AU" sz="3600" dirty="0"/>
          </a:p>
          <a:p>
            <a:r>
              <a:rPr lang="en-AU" sz="3600" dirty="0" smtClean="0">
                <a:solidFill>
                  <a:srgbClr val="C00000"/>
                </a:solidFill>
              </a:rPr>
              <a:t>Notice that there is something common to both terms in this expression: (m + 3)</a:t>
            </a:r>
          </a:p>
          <a:p>
            <a:endParaRPr lang="en-AU" sz="3600" b="1" dirty="0">
              <a:solidFill>
                <a:srgbClr val="C00000"/>
              </a:solidFill>
            </a:endParaRPr>
          </a:p>
          <a:p>
            <a:r>
              <a:rPr lang="en-AU" sz="3600" dirty="0" smtClean="0">
                <a:solidFill>
                  <a:srgbClr val="C00000"/>
                </a:solidFill>
              </a:rPr>
              <a:t>Divide both algebraic terms by (m + 3)</a:t>
            </a:r>
          </a:p>
          <a:p>
            <a:endParaRPr lang="en-AU" sz="3600" b="1" dirty="0"/>
          </a:p>
          <a:p>
            <a:r>
              <a:rPr lang="en-AU" sz="3600" b="1" dirty="0" smtClean="0">
                <a:solidFill>
                  <a:srgbClr val="C00000"/>
                </a:solidFill>
              </a:rPr>
              <a:t>k(m + 3) + 5(m + 3) = </a:t>
            </a:r>
            <a:r>
              <a:rPr lang="en-AU" sz="3600" b="1" dirty="0" smtClean="0">
                <a:solidFill>
                  <a:schemeClr val="accent6">
                    <a:lumMod val="75000"/>
                  </a:schemeClr>
                </a:solidFill>
              </a:rPr>
              <a:t>(m + 3)(k + 5)</a:t>
            </a:r>
            <a:endParaRPr lang="en-AU" sz="3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sz="2800" dirty="0" smtClean="0"/>
          </a:p>
          <a:p>
            <a:endParaRPr lang="en-AU" sz="2800" dirty="0" smtClean="0"/>
          </a:p>
          <a:p>
            <a:endParaRPr lang="en-AU" sz="2800" dirty="0"/>
          </a:p>
          <a:p>
            <a:pPr algn="ctr"/>
            <a:endParaRPr lang="en-AU" sz="2800" b="1" dirty="0"/>
          </a:p>
          <a:p>
            <a:endParaRPr lang="en-AU" sz="2800" b="1" dirty="0" smtClean="0"/>
          </a:p>
        </p:txBody>
      </p:sp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8" name="Group 7"/>
          <p:cNvGrpSpPr/>
          <p:nvPr/>
        </p:nvGrpSpPr>
        <p:grpSpPr>
          <a:xfrm>
            <a:off x="9869979" y="157392"/>
            <a:ext cx="2161308" cy="1477443"/>
            <a:chOff x="660399" y="3602071"/>
            <a:chExt cx="2035630" cy="407283"/>
          </a:xfrm>
        </p:grpSpPr>
        <p:sp>
          <p:nvSpPr>
            <p:cNvPr id="9" name="TextBox 8"/>
            <p:cNvSpPr txBox="1"/>
            <p:nvPr/>
          </p:nvSpPr>
          <p:spPr>
            <a:xfrm>
              <a:off x="660400" y="3602071"/>
              <a:ext cx="2035629" cy="81814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60399" y="3690240"/>
              <a:ext cx="2035629" cy="31911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was the common factor between k(m + 3) and 5(m + 3)?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864437" y="5399954"/>
            <a:ext cx="2161308" cy="1283479"/>
            <a:chOff x="660399" y="3602071"/>
            <a:chExt cx="2035630" cy="407283"/>
          </a:xfrm>
        </p:grpSpPr>
        <p:sp>
          <p:nvSpPr>
            <p:cNvPr id="12" name="TextBox 11"/>
            <p:cNvSpPr txBox="1"/>
            <p:nvPr/>
          </p:nvSpPr>
          <p:spPr>
            <a:xfrm>
              <a:off x="660400" y="3602071"/>
              <a:ext cx="2035629" cy="97666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60399" y="3713914"/>
              <a:ext cx="2035629" cy="295440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were the steps in factorising k(m + 3) + 5(m + 3)?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309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193962" y="778408"/>
            <a:ext cx="11804073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 smtClean="0"/>
              <a:t>For expressions with four terms, you can sometimes factorise by </a:t>
            </a:r>
            <a:r>
              <a:rPr lang="en-AU" sz="2800" b="1" dirty="0" smtClean="0"/>
              <a:t>grouping in pairs.</a:t>
            </a:r>
            <a:r>
              <a:rPr lang="en-AU" sz="2800" dirty="0" smtClean="0"/>
              <a:t> To factorise by grouping in pairs:</a:t>
            </a:r>
          </a:p>
          <a:p>
            <a:endParaRPr lang="en-A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 smtClean="0"/>
              <a:t>Check that the expression has four terms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 smtClean="0"/>
              <a:t>Group the terms into pairs, with a common factor in each pair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 smtClean="0"/>
              <a:t>Take out the common factor from each pair of terms, then write the expression as a binomial product.</a:t>
            </a:r>
          </a:p>
          <a:p>
            <a:endParaRPr lang="en-AU" sz="2800" dirty="0" smtClean="0"/>
          </a:p>
          <a:p>
            <a:endParaRPr lang="en-AU" sz="2800" dirty="0"/>
          </a:p>
          <a:p>
            <a:pPr algn="ctr"/>
            <a:endParaRPr lang="en-AU" sz="2800" b="1" dirty="0"/>
          </a:p>
          <a:p>
            <a:endParaRPr lang="en-AU" sz="2800" b="1" dirty="0" smtClean="0"/>
          </a:p>
        </p:txBody>
      </p:sp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/>
          <p:nvPr/>
        </p:nvGrpSpPr>
        <p:grpSpPr>
          <a:xfrm>
            <a:off x="9864437" y="5228157"/>
            <a:ext cx="2161308" cy="1477443"/>
            <a:chOff x="660399" y="3602071"/>
            <a:chExt cx="2035630" cy="407283"/>
          </a:xfrm>
        </p:grpSpPr>
        <p:sp>
          <p:nvSpPr>
            <p:cNvPr id="6" name="TextBox 5"/>
            <p:cNvSpPr txBox="1"/>
            <p:nvPr/>
          </p:nvSpPr>
          <p:spPr>
            <a:xfrm>
              <a:off x="660400" y="3602071"/>
              <a:ext cx="2035629" cy="81814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60399" y="3690240"/>
              <a:ext cx="2035629" cy="319114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are the steps in factorising by grouping in pairs?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969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49489" y="5575069"/>
            <a:ext cx="1091738" cy="1162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103948" y="82302"/>
            <a:ext cx="5978800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0006168" y="144089"/>
            <a:ext cx="2035631" cy="1518456"/>
            <a:chOff x="660398" y="3602071"/>
            <a:chExt cx="2035631" cy="614459"/>
          </a:xfrm>
        </p:grpSpPr>
        <p:sp>
          <p:nvSpPr>
            <p:cNvPr id="13" name="TextBox 12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one in factorising using grouping in pairs?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Factorise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AU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768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0005596" y="1865118"/>
            <a:ext cx="2035631" cy="1518456"/>
            <a:chOff x="660398" y="3602071"/>
            <a:chExt cx="2035631" cy="614459"/>
          </a:xfrm>
        </p:grpSpPr>
        <p:sp>
          <p:nvSpPr>
            <p:cNvPr id="19" name="TextBox 18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two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03948" y="2396973"/>
            <a:ext cx="97644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1: </a:t>
            </a:r>
            <a:r>
              <a:rPr lang="en-AU" sz="3200" b="1" dirty="0" smtClean="0">
                <a:solidFill>
                  <a:srgbClr val="FF0000"/>
                </a:solidFill>
              </a:rPr>
              <a:t>the highest common factor of both terms is (k+1)</a:t>
            </a:r>
            <a:endParaRPr lang="en-AU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02639" y="3784039"/>
                <a:ext cx="11547892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Step 2: </a:t>
                </a:r>
                <a:r>
                  <a:rPr lang="en-AU" sz="3200" b="1" dirty="0" smtClean="0">
                    <a:solidFill>
                      <a:srgbClr val="FF0000"/>
                    </a:solidFill>
                  </a:rPr>
                  <a:t>take the highest </a:t>
                </a:r>
                <a:r>
                  <a:rPr lang="en-AU" sz="3200" b="1" dirty="0">
                    <a:solidFill>
                      <a:srgbClr val="FF0000"/>
                    </a:solidFill>
                  </a:rPr>
                  <a:t>common factor </a:t>
                </a:r>
                <a:r>
                  <a:rPr lang="en-AU" sz="3200" b="1" dirty="0" smtClean="0">
                    <a:solidFill>
                      <a:srgbClr val="FF0000"/>
                    </a:solidFill>
                  </a:rPr>
                  <a:t>out of each term which leaves		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AU" sz="3600" b="1" dirty="0" smtClean="0">
                    <a:solidFill>
                      <a:srgbClr val="FF0000"/>
                    </a:solidFill>
                  </a:rPr>
                  <a:t>)</a:t>
                </a:r>
                <a:endParaRPr lang="en-AU" sz="3600" b="1" dirty="0">
                  <a:solidFill>
                    <a:srgbClr val="FF0000"/>
                  </a:solidFill>
                </a:endParaRPr>
              </a:p>
              <a:p>
                <a:endParaRPr lang="en-AU" sz="3200" b="1" dirty="0">
                  <a:solidFill>
                    <a:srgbClr val="7030A0"/>
                  </a:solidFill>
                </a:endParaRPr>
              </a:p>
              <a:p>
                <a:r>
                  <a:rPr lang="en-AU" sz="3200" b="1" dirty="0" smtClean="0"/>
                  <a:t> </a:t>
                </a:r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39" y="3784039"/>
                <a:ext cx="11547892" cy="2123658"/>
              </a:xfrm>
              <a:prstGeom prst="rect">
                <a:avLst/>
              </a:prstGeom>
              <a:blipFill>
                <a:blip r:embed="rId3"/>
                <a:stretch>
                  <a:fillRect l="-1319" t="-3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249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49489" y="5575069"/>
            <a:ext cx="1091738" cy="1162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103948" y="82302"/>
            <a:ext cx="5978800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0006168" y="144089"/>
            <a:ext cx="2035631" cy="1518456"/>
            <a:chOff x="660398" y="3602071"/>
            <a:chExt cx="2035631" cy="614459"/>
          </a:xfrm>
        </p:grpSpPr>
        <p:sp>
          <p:nvSpPr>
            <p:cNvPr id="13" name="TextBox 12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one in factorising using grouping in pairs?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Factorise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3200" b="1" dirty="0" smtClean="0"/>
                  <a:t>+ </a:t>
                </a:r>
                <a14:m>
                  <m:oMath xmlns:m="http://schemas.openxmlformats.org/officeDocument/2006/math">
                    <m:r>
                      <a:rPr lang="en-AU" sz="3200" b="1" i="0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768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0005596" y="1865118"/>
            <a:ext cx="2035631" cy="1518456"/>
            <a:chOff x="660398" y="3602071"/>
            <a:chExt cx="2035631" cy="614459"/>
          </a:xfrm>
        </p:grpSpPr>
        <p:sp>
          <p:nvSpPr>
            <p:cNvPr id="19" name="TextBox 18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two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26415" y="2038563"/>
            <a:ext cx="10708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1: </a:t>
            </a:r>
            <a:r>
              <a:rPr lang="en-AU" sz="3200" b="1" dirty="0" smtClean="0">
                <a:solidFill>
                  <a:srgbClr val="FF0000"/>
                </a:solidFill>
              </a:rPr>
              <a:t>the highest common factor of both terms is (x – 4)</a:t>
            </a:r>
            <a:endParaRPr lang="en-AU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6415" y="3428466"/>
                <a:ext cx="11547892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Step 2: </a:t>
                </a:r>
                <a:r>
                  <a:rPr lang="en-AU" sz="3600" b="1" dirty="0" smtClean="0">
                    <a:solidFill>
                      <a:srgbClr val="FF0000"/>
                    </a:solidFill>
                  </a:rPr>
                  <a:t>take the highest </a:t>
                </a:r>
                <a:r>
                  <a:rPr lang="en-AU" sz="3600" b="1" dirty="0">
                    <a:solidFill>
                      <a:srgbClr val="FF0000"/>
                    </a:solidFill>
                  </a:rPr>
                  <a:t>common factor </a:t>
                </a:r>
                <a:r>
                  <a:rPr lang="en-AU" sz="3600" b="1" dirty="0" smtClean="0">
                    <a:solidFill>
                      <a:srgbClr val="FF0000"/>
                    </a:solidFill>
                  </a:rPr>
                  <a:t>out of each term which leaves 		</a:t>
                </a:r>
                <a14:m>
                  <m:oMath xmlns:m="http://schemas.openxmlformats.org/officeDocument/2006/math">
                    <m:r>
                      <a:rPr lang="en-AU" sz="36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	</m:t>
                    </m:r>
                    <m:d>
                      <m:dPr>
                        <m:ctrlP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600" b="1" dirty="0">
                  <a:solidFill>
                    <a:srgbClr val="FF0000"/>
                  </a:solidFill>
                </a:endParaRPr>
              </a:p>
              <a:p>
                <a:endParaRPr lang="en-AU" sz="3200" b="1" dirty="0">
                  <a:solidFill>
                    <a:srgbClr val="7030A0"/>
                  </a:solidFill>
                </a:endParaRPr>
              </a:p>
              <a:p>
                <a:r>
                  <a:rPr lang="en-AU" sz="3200" b="1" dirty="0" smtClean="0"/>
                  <a:t> </a:t>
                </a:r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5" y="3428466"/>
                <a:ext cx="11547892" cy="2185214"/>
              </a:xfrm>
              <a:prstGeom prst="rect">
                <a:avLst/>
              </a:prstGeom>
              <a:blipFill>
                <a:blip r:embed="rId3"/>
                <a:stretch>
                  <a:fillRect l="-1584" t="-41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09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49489" y="5575069"/>
            <a:ext cx="1091738" cy="1162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2" name="Group 11"/>
          <p:cNvGrpSpPr/>
          <p:nvPr/>
        </p:nvGrpSpPr>
        <p:grpSpPr>
          <a:xfrm>
            <a:off x="10006168" y="144089"/>
            <a:ext cx="2035631" cy="1518456"/>
            <a:chOff x="660398" y="3602071"/>
            <a:chExt cx="2035631" cy="614459"/>
          </a:xfrm>
        </p:grpSpPr>
        <p:sp>
          <p:nvSpPr>
            <p:cNvPr id="13" name="TextBox 12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one in factorising using grouping in pairs?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Factorise </a:t>
                </a:r>
                <a14:m>
                  <m:oMath xmlns:m="http://schemas.openxmlformats.org/officeDocument/2006/math">
                    <m:r>
                      <a:rPr lang="en-AU" sz="3200" b="1" i="0" smtClean="0"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3200" b="1" dirty="0" smtClean="0"/>
                  <a:t>+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blipFill>
                <a:blip r:embed="rId2"/>
                <a:stretch>
                  <a:fillRect l="-1768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0005596" y="1865118"/>
            <a:ext cx="2035631" cy="1518456"/>
            <a:chOff x="660398" y="3602071"/>
            <a:chExt cx="2035631" cy="614459"/>
          </a:xfrm>
        </p:grpSpPr>
        <p:sp>
          <p:nvSpPr>
            <p:cNvPr id="19" name="TextBox 18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two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90651" y="2256476"/>
            <a:ext cx="10708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1: </a:t>
            </a:r>
            <a:r>
              <a:rPr lang="en-AU" sz="3200" b="1" dirty="0" smtClean="0">
                <a:solidFill>
                  <a:srgbClr val="FF0000"/>
                </a:solidFill>
              </a:rPr>
              <a:t>the highest common factor of both terms is (c + 5)</a:t>
            </a:r>
            <a:endParaRPr lang="en-AU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41117" y="4094381"/>
                <a:ext cx="11547892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Step 2: </a:t>
                </a:r>
                <a:r>
                  <a:rPr lang="en-AU" sz="3600" b="1" dirty="0" smtClean="0">
                    <a:solidFill>
                      <a:srgbClr val="FF0000"/>
                    </a:solidFill>
                  </a:rPr>
                  <a:t>take the highest </a:t>
                </a:r>
                <a:r>
                  <a:rPr lang="en-AU" sz="3600" b="1" dirty="0">
                    <a:solidFill>
                      <a:srgbClr val="FF0000"/>
                    </a:solidFill>
                  </a:rPr>
                  <a:t>common factor </a:t>
                </a:r>
                <a:r>
                  <a:rPr lang="en-AU" sz="3600" b="1" dirty="0" smtClean="0">
                    <a:solidFill>
                      <a:srgbClr val="FF0000"/>
                    </a:solidFill>
                  </a:rPr>
                  <a:t>out of each term which leaves 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3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AU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600" b="1" dirty="0">
                  <a:solidFill>
                    <a:srgbClr val="FF0000"/>
                  </a:solidFill>
                </a:endParaRPr>
              </a:p>
              <a:p>
                <a:endParaRPr lang="en-AU" sz="3200" b="1" dirty="0">
                  <a:solidFill>
                    <a:srgbClr val="7030A0"/>
                  </a:solidFill>
                </a:endParaRPr>
              </a:p>
              <a:p>
                <a:r>
                  <a:rPr lang="en-AU" sz="3200" b="1" dirty="0" smtClean="0"/>
                  <a:t> </a:t>
                </a:r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7" y="4094381"/>
                <a:ext cx="11547892" cy="2185214"/>
              </a:xfrm>
              <a:prstGeom prst="rect">
                <a:avLst/>
              </a:prstGeom>
              <a:blipFill>
                <a:blip r:embed="rId3"/>
                <a:stretch>
                  <a:fillRect l="-1637" t="-44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90651" y="92288"/>
            <a:ext cx="5978800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10823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49489" y="5575069"/>
            <a:ext cx="1091738" cy="1162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2" name="Group 11"/>
          <p:cNvGrpSpPr/>
          <p:nvPr/>
        </p:nvGrpSpPr>
        <p:grpSpPr>
          <a:xfrm>
            <a:off x="10006168" y="144086"/>
            <a:ext cx="2035631" cy="1199692"/>
            <a:chOff x="660398" y="3602071"/>
            <a:chExt cx="2035631" cy="485468"/>
          </a:xfrm>
        </p:grpSpPr>
        <p:sp>
          <p:nvSpPr>
            <p:cNvPr id="13" name="TextBox 12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0398" y="3744782"/>
              <a:ext cx="2035629" cy="342757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one in factorising using grouping in pairs?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Factorise </a:t>
                </a:r>
                <a14:m>
                  <m:oMath xmlns:m="http://schemas.openxmlformats.org/officeDocument/2006/math">
                    <m:r>
                      <a:rPr lang="en-AU" sz="3200" b="1" i="0" smtClean="0">
                        <a:latin typeface="Cambria Math" panose="02040503050406030204" pitchFamily="18" charset="0"/>
                      </a:rPr>
                      <m:t>𝐚𝐛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768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0006168" y="1359970"/>
            <a:ext cx="2035631" cy="1245086"/>
            <a:chOff x="660398" y="3602071"/>
            <a:chExt cx="2035631" cy="614459"/>
          </a:xfrm>
        </p:grpSpPr>
        <p:sp>
          <p:nvSpPr>
            <p:cNvPr id="19" name="TextBox 18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two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0" y="1493932"/>
                <a:ext cx="1070837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Step 1: </a:t>
                </a:r>
                <a:r>
                  <a:rPr lang="en-AU" sz="3200" b="1" dirty="0" smtClean="0">
                    <a:solidFill>
                      <a:srgbClr val="FF0000"/>
                    </a:solidFill>
                  </a:rPr>
                  <a:t>group into pairs:   </a:t>
                </a:r>
                <a:r>
                  <a:rPr lang="en-AU" sz="3200" b="1" dirty="0" smtClean="0">
                    <a:solidFill>
                      <a:schemeClr val="accent6"/>
                    </a:solidFill>
                  </a:rPr>
                  <a:t>ab</a:t>
                </a:r>
                <a14:m>
                  <m:oMath xmlns:m="http://schemas.openxmlformats.org/officeDocument/2006/math">
                    <m:r>
                      <a:rPr lang="en-AU" sz="3200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AU" sz="32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AU" sz="32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2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𝟏𝟒</m:t>
                    </m:r>
                  </m:oMath>
                </a14:m>
                <a:endParaRPr lang="en-AU" sz="3200" b="1" dirty="0">
                  <a:solidFill>
                    <a:schemeClr val="accent6"/>
                  </a:solidFill>
                </a:endParaRPr>
              </a:p>
              <a:p>
                <a:r>
                  <a:rPr lang="en-AU" sz="3200" b="1" dirty="0" smtClean="0">
                    <a:solidFill>
                      <a:srgbClr val="7030A0"/>
                    </a:solidFill>
                  </a:rPr>
                  <a:t>  </a:t>
                </a:r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93932"/>
                <a:ext cx="10708372" cy="1077218"/>
              </a:xfrm>
              <a:prstGeom prst="rect">
                <a:avLst/>
              </a:prstGeom>
              <a:blipFill>
                <a:blip r:embed="rId3"/>
                <a:stretch>
                  <a:fillRect l="-1423" t="-6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0" y="2251886"/>
            <a:ext cx="115478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2: </a:t>
            </a:r>
            <a:r>
              <a:rPr lang="en-AU" sz="3200" b="1" dirty="0" smtClean="0">
                <a:solidFill>
                  <a:srgbClr val="FF0000"/>
                </a:solidFill>
              </a:rPr>
              <a:t>Factorise each pair: </a:t>
            </a:r>
            <a:r>
              <a:rPr lang="en-AU" sz="3200" b="1" dirty="0" smtClean="0">
                <a:solidFill>
                  <a:schemeClr val="accent6"/>
                </a:solidFill>
              </a:rPr>
              <a:t>b(a + 7) + 2(a + 7)</a:t>
            </a:r>
            <a:endParaRPr lang="en-AU" sz="3200" b="1" dirty="0">
              <a:solidFill>
                <a:schemeClr val="accent6"/>
              </a:solidFill>
            </a:endParaRPr>
          </a:p>
          <a:p>
            <a:endParaRPr lang="en-AU" sz="3200" b="1" dirty="0">
              <a:solidFill>
                <a:srgbClr val="7030A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651" y="92288"/>
            <a:ext cx="5978800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3" name="Oval 2"/>
          <p:cNvSpPr/>
          <p:nvPr/>
        </p:nvSpPr>
        <p:spPr>
          <a:xfrm>
            <a:off x="4202216" y="1531058"/>
            <a:ext cx="1601734" cy="64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6161387" y="1487724"/>
            <a:ext cx="1601734" cy="64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0" y="3058225"/>
            <a:ext cx="11547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3: </a:t>
            </a:r>
            <a:r>
              <a:rPr lang="en-AU" sz="3200" b="1" dirty="0">
                <a:solidFill>
                  <a:srgbClr val="FF0000"/>
                </a:solidFill>
              </a:rPr>
              <a:t>T</a:t>
            </a:r>
            <a:r>
              <a:rPr lang="en-AU" sz="3200" b="1" dirty="0" smtClean="0">
                <a:solidFill>
                  <a:srgbClr val="FF0000"/>
                </a:solidFill>
              </a:rPr>
              <a:t>he highest common factor of both terms is: </a:t>
            </a:r>
            <a:r>
              <a:rPr lang="en-AU" sz="3200" b="1" dirty="0" smtClean="0">
                <a:solidFill>
                  <a:schemeClr val="accent6"/>
                </a:solidFill>
              </a:rPr>
              <a:t>(a + 7)</a:t>
            </a:r>
            <a:r>
              <a:rPr lang="en-AU" sz="3200" b="1" dirty="0" smtClean="0">
                <a:solidFill>
                  <a:srgbClr val="FF0000"/>
                </a:solidFill>
              </a:rPr>
              <a:t> </a:t>
            </a:r>
            <a:endParaRPr lang="en-AU" sz="32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004" y="3943316"/>
            <a:ext cx="115478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4: </a:t>
            </a:r>
            <a:r>
              <a:rPr lang="en-AU" sz="3200" b="1" dirty="0" smtClean="0">
                <a:solidFill>
                  <a:srgbClr val="FF0000"/>
                </a:solidFill>
              </a:rPr>
              <a:t>Take out the highest common factor from each </a:t>
            </a:r>
          </a:p>
          <a:p>
            <a:r>
              <a:rPr lang="en-AU" sz="3200" b="1" dirty="0" smtClean="0">
                <a:solidFill>
                  <a:srgbClr val="FF0000"/>
                </a:solidFill>
              </a:rPr>
              <a:t>pair which leaves: </a:t>
            </a:r>
            <a:r>
              <a:rPr lang="en-AU" sz="3200" b="1" dirty="0" smtClean="0">
                <a:solidFill>
                  <a:schemeClr val="accent6"/>
                </a:solidFill>
              </a:rPr>
              <a:t>(a + 7) (b + 2)</a:t>
            </a:r>
            <a:endParaRPr lang="en-AU" sz="3200" b="1" dirty="0">
              <a:solidFill>
                <a:schemeClr val="accent6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005596" y="2558325"/>
            <a:ext cx="2035631" cy="1245086"/>
            <a:chOff x="660398" y="3602071"/>
            <a:chExt cx="2035631" cy="614459"/>
          </a:xfrm>
        </p:grpSpPr>
        <p:sp>
          <p:nvSpPr>
            <p:cNvPr id="25" name="TextBox 24"/>
            <p:cNvSpPr txBox="1"/>
            <p:nvPr/>
          </p:nvSpPr>
          <p:spPr>
            <a:xfrm>
              <a:off x="660400" y="3602071"/>
              <a:ext cx="2035629" cy="15189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three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005594" y="3803411"/>
            <a:ext cx="2035631" cy="1245086"/>
            <a:chOff x="660398" y="3602071"/>
            <a:chExt cx="2035631" cy="614459"/>
          </a:xfrm>
        </p:grpSpPr>
        <p:sp>
          <p:nvSpPr>
            <p:cNvPr id="28" name="TextBox 27"/>
            <p:cNvSpPr txBox="1"/>
            <p:nvPr/>
          </p:nvSpPr>
          <p:spPr>
            <a:xfrm>
              <a:off x="660400" y="3602071"/>
              <a:ext cx="2035629" cy="15189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four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047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  <p:bldP spid="3" grpId="0" animBg="1"/>
      <p:bldP spid="16" grpId="0" animBg="1"/>
      <p:bldP spid="17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49489" y="5575069"/>
            <a:ext cx="1091738" cy="1162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2" name="Group 11"/>
          <p:cNvGrpSpPr/>
          <p:nvPr/>
        </p:nvGrpSpPr>
        <p:grpSpPr>
          <a:xfrm>
            <a:off x="10006168" y="144086"/>
            <a:ext cx="2035631" cy="1199692"/>
            <a:chOff x="660398" y="3602071"/>
            <a:chExt cx="2035631" cy="485468"/>
          </a:xfrm>
        </p:grpSpPr>
        <p:sp>
          <p:nvSpPr>
            <p:cNvPr id="13" name="TextBox 12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0398" y="3744782"/>
              <a:ext cx="2035629" cy="342757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one in factorising using grouping in pairs?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Factorise </a:t>
                </a:r>
                <a14:m>
                  <m:oMath xmlns:m="http://schemas.openxmlformats.org/officeDocument/2006/math">
                    <m:r>
                      <a:rPr lang="en-AU" sz="3200" b="1" i="1" dirty="0" smtClean="0">
                        <a:latin typeface="Cambria Math" panose="02040503050406030204" pitchFamily="18" charset="0"/>
                      </a:rPr>
                      <m:t>𝒈𝒉</m:t>
                    </m:r>
                    <m:r>
                      <a:rPr lang="en-AU" sz="3200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𝒇𝒉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𝒅𝒈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𝒅𝒇</m:t>
                    </m:r>
                  </m:oMath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768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0006168" y="1359970"/>
            <a:ext cx="2035631" cy="1245086"/>
            <a:chOff x="660398" y="3602071"/>
            <a:chExt cx="2035631" cy="614459"/>
          </a:xfrm>
        </p:grpSpPr>
        <p:sp>
          <p:nvSpPr>
            <p:cNvPr id="19" name="TextBox 18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two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0" y="1493932"/>
                <a:ext cx="1070837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Step 1: </a:t>
                </a:r>
                <a:r>
                  <a:rPr lang="en-AU" sz="3200" b="1" dirty="0" smtClean="0">
                    <a:solidFill>
                      <a:srgbClr val="FF0000"/>
                    </a:solidFill>
                  </a:rPr>
                  <a:t>group into pairs:   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𝒈𝒉</m:t>
                    </m:r>
                    <m:r>
                      <a:rPr lang="en-AU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𝒇𝒉</m:t>
                    </m:r>
                    <m:r>
                      <a:rPr lang="en-AU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𝒅𝒈</m:t>
                    </m:r>
                    <m:r>
                      <a:rPr lang="en-AU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𝒅𝒇</m:t>
                    </m:r>
                  </m:oMath>
                </a14:m>
                <a:endParaRPr lang="en-AU" sz="3200" b="1" dirty="0">
                  <a:solidFill>
                    <a:srgbClr val="00B050"/>
                  </a:solidFill>
                </a:endParaRPr>
              </a:p>
              <a:p>
                <a:r>
                  <a:rPr lang="en-AU" sz="3200" b="1" dirty="0" smtClean="0">
                    <a:solidFill>
                      <a:srgbClr val="7030A0"/>
                    </a:solidFill>
                  </a:rPr>
                  <a:t>  </a:t>
                </a:r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93932"/>
                <a:ext cx="10708372" cy="1077218"/>
              </a:xfrm>
              <a:prstGeom prst="rect">
                <a:avLst/>
              </a:prstGeom>
              <a:blipFill>
                <a:blip r:embed="rId3"/>
                <a:stretch>
                  <a:fillRect l="-1423" t="-6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0" y="2251886"/>
            <a:ext cx="115478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2: </a:t>
            </a:r>
            <a:r>
              <a:rPr lang="en-AU" sz="3200" b="1" dirty="0" smtClean="0">
                <a:solidFill>
                  <a:srgbClr val="FF0000"/>
                </a:solidFill>
              </a:rPr>
              <a:t>Factorise each pair: </a:t>
            </a:r>
            <a:r>
              <a:rPr lang="en-AU" sz="3200" b="1" dirty="0" smtClean="0">
                <a:solidFill>
                  <a:srgbClr val="00B050"/>
                </a:solidFill>
              </a:rPr>
              <a:t>h(g </a:t>
            </a:r>
            <a:r>
              <a:rPr lang="en-AU" sz="3200" b="1" dirty="0">
                <a:solidFill>
                  <a:srgbClr val="00B050"/>
                </a:solidFill>
              </a:rPr>
              <a:t>-</a:t>
            </a:r>
            <a:r>
              <a:rPr lang="en-AU" sz="3200" b="1" dirty="0" smtClean="0">
                <a:solidFill>
                  <a:srgbClr val="00B050"/>
                </a:solidFill>
              </a:rPr>
              <a:t> </a:t>
            </a:r>
            <a:r>
              <a:rPr lang="en-AU" sz="3200" b="1" dirty="0">
                <a:solidFill>
                  <a:srgbClr val="00B050"/>
                </a:solidFill>
              </a:rPr>
              <a:t>f</a:t>
            </a:r>
            <a:r>
              <a:rPr lang="en-AU" sz="3200" b="1" dirty="0" smtClean="0">
                <a:solidFill>
                  <a:srgbClr val="00B050"/>
                </a:solidFill>
              </a:rPr>
              <a:t>) </a:t>
            </a:r>
            <a:r>
              <a:rPr lang="en-AU" sz="3200" b="1" dirty="0">
                <a:solidFill>
                  <a:srgbClr val="00B050"/>
                </a:solidFill>
              </a:rPr>
              <a:t>-</a:t>
            </a:r>
            <a:r>
              <a:rPr lang="en-AU" sz="3200" b="1" dirty="0" smtClean="0">
                <a:solidFill>
                  <a:srgbClr val="00B050"/>
                </a:solidFill>
              </a:rPr>
              <a:t> d(g - f)</a:t>
            </a:r>
            <a:endParaRPr lang="en-AU" sz="3200" b="1" dirty="0">
              <a:solidFill>
                <a:srgbClr val="00B050"/>
              </a:solidFill>
            </a:endParaRPr>
          </a:p>
          <a:p>
            <a:endParaRPr lang="en-AU" sz="3200" b="1" dirty="0">
              <a:solidFill>
                <a:srgbClr val="7030A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651" y="92288"/>
            <a:ext cx="5978800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3" name="Oval 2"/>
          <p:cNvSpPr/>
          <p:nvPr/>
        </p:nvSpPr>
        <p:spPr>
          <a:xfrm>
            <a:off x="4423145" y="1493932"/>
            <a:ext cx="1601734" cy="64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6413789" y="1462688"/>
            <a:ext cx="1601734" cy="64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0" y="3058225"/>
            <a:ext cx="11547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3: </a:t>
            </a:r>
            <a:r>
              <a:rPr lang="en-AU" sz="3200" b="1" dirty="0">
                <a:solidFill>
                  <a:srgbClr val="FF0000"/>
                </a:solidFill>
              </a:rPr>
              <a:t>T</a:t>
            </a:r>
            <a:r>
              <a:rPr lang="en-AU" sz="3200" b="1" dirty="0" smtClean="0">
                <a:solidFill>
                  <a:srgbClr val="FF0000"/>
                </a:solidFill>
              </a:rPr>
              <a:t>he highest common factor of both terms is:</a:t>
            </a:r>
            <a:r>
              <a:rPr lang="en-AU" sz="3200" b="1" dirty="0" smtClean="0">
                <a:solidFill>
                  <a:srgbClr val="7030A0"/>
                </a:solidFill>
              </a:rPr>
              <a:t> </a:t>
            </a:r>
            <a:r>
              <a:rPr lang="en-AU" sz="3200" b="1" dirty="0" smtClean="0">
                <a:solidFill>
                  <a:srgbClr val="00B050"/>
                </a:solidFill>
              </a:rPr>
              <a:t>(g - f) </a:t>
            </a:r>
            <a:endParaRPr lang="en-AU" sz="3200" b="1" dirty="0">
              <a:solidFill>
                <a:srgbClr val="00B05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004" y="3943316"/>
            <a:ext cx="115478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4: </a:t>
            </a:r>
            <a:r>
              <a:rPr lang="en-AU" sz="3200" b="1" dirty="0" smtClean="0">
                <a:solidFill>
                  <a:srgbClr val="FF0000"/>
                </a:solidFill>
              </a:rPr>
              <a:t>Take out the highest common factor from each </a:t>
            </a:r>
          </a:p>
          <a:p>
            <a:r>
              <a:rPr lang="en-AU" sz="3200" b="1" dirty="0" smtClean="0">
                <a:solidFill>
                  <a:srgbClr val="FF0000"/>
                </a:solidFill>
              </a:rPr>
              <a:t>pair which leaves:</a:t>
            </a:r>
            <a:r>
              <a:rPr lang="en-AU" sz="3200" b="1" dirty="0" smtClean="0">
                <a:solidFill>
                  <a:srgbClr val="7030A0"/>
                </a:solidFill>
              </a:rPr>
              <a:t> </a:t>
            </a:r>
            <a:r>
              <a:rPr lang="en-AU" sz="3200" b="1" dirty="0" smtClean="0">
                <a:solidFill>
                  <a:srgbClr val="00B050"/>
                </a:solidFill>
              </a:rPr>
              <a:t>(h - d) (g - f)</a:t>
            </a:r>
            <a:endParaRPr lang="en-AU" sz="3200" b="1" dirty="0">
              <a:solidFill>
                <a:srgbClr val="00B050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005596" y="2558325"/>
            <a:ext cx="2035631" cy="1245086"/>
            <a:chOff x="660398" y="3602071"/>
            <a:chExt cx="2035631" cy="614459"/>
          </a:xfrm>
        </p:grpSpPr>
        <p:sp>
          <p:nvSpPr>
            <p:cNvPr id="25" name="TextBox 24"/>
            <p:cNvSpPr txBox="1"/>
            <p:nvPr/>
          </p:nvSpPr>
          <p:spPr>
            <a:xfrm>
              <a:off x="660400" y="3602071"/>
              <a:ext cx="2035629" cy="15189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three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005594" y="3803411"/>
            <a:ext cx="2035631" cy="1245086"/>
            <a:chOff x="660398" y="3602071"/>
            <a:chExt cx="2035631" cy="614459"/>
          </a:xfrm>
        </p:grpSpPr>
        <p:sp>
          <p:nvSpPr>
            <p:cNvPr id="28" name="TextBox 27"/>
            <p:cNvSpPr txBox="1"/>
            <p:nvPr/>
          </p:nvSpPr>
          <p:spPr>
            <a:xfrm>
              <a:off x="660400" y="3602071"/>
              <a:ext cx="2035629" cy="15189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four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31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  <p:bldP spid="3" grpId="0" animBg="1"/>
      <p:bldP spid="16" grpId="0" animBg="1"/>
      <p:bldP spid="17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49489" y="5575069"/>
            <a:ext cx="1091738" cy="1162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2" name="Group 11"/>
          <p:cNvGrpSpPr/>
          <p:nvPr/>
        </p:nvGrpSpPr>
        <p:grpSpPr>
          <a:xfrm>
            <a:off x="10006168" y="144086"/>
            <a:ext cx="2035631" cy="1199692"/>
            <a:chOff x="660398" y="3602071"/>
            <a:chExt cx="2035631" cy="485468"/>
          </a:xfrm>
        </p:grpSpPr>
        <p:sp>
          <p:nvSpPr>
            <p:cNvPr id="13" name="TextBox 12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1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60398" y="3744782"/>
              <a:ext cx="2035629" cy="342757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What is step one in factorising using grouping in pairs?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Factorise </a:t>
                </a:r>
                <a14:m>
                  <m:oMath xmlns:m="http://schemas.openxmlformats.org/officeDocument/2006/math">
                    <m:r>
                      <a:rPr lang="en-AU" sz="3200" b="1" i="0" dirty="0" smtClean="0">
                        <a:latin typeface="Cambria Math" panose="02040503050406030204" pitchFamily="18" charset="0"/>
                      </a:rPr>
                      <m:t>𝟔𝐚𝐛</m:t>
                    </m:r>
                    <m:r>
                      <a:rPr lang="en-AU" sz="3200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200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15" y="787263"/>
                <a:ext cx="8621451" cy="584775"/>
              </a:xfrm>
              <a:prstGeom prst="rect">
                <a:avLst/>
              </a:prstGeom>
              <a:blipFill rotWithShape="0">
                <a:blip r:embed="rId2"/>
                <a:stretch>
                  <a:fillRect l="-1768" t="-12500" b="-343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10006168" y="1359970"/>
            <a:ext cx="2035631" cy="1245086"/>
            <a:chOff x="660398" y="3602071"/>
            <a:chExt cx="2035631" cy="614459"/>
          </a:xfrm>
        </p:grpSpPr>
        <p:sp>
          <p:nvSpPr>
            <p:cNvPr id="19" name="TextBox 18"/>
            <p:cNvSpPr txBox="1"/>
            <p:nvPr/>
          </p:nvSpPr>
          <p:spPr>
            <a:xfrm>
              <a:off x="660400" y="3602071"/>
              <a:ext cx="2035629" cy="124545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2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two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0" y="1493932"/>
                <a:ext cx="10708372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 smtClean="0"/>
                  <a:t>Step 1: </a:t>
                </a:r>
                <a:r>
                  <a:rPr lang="en-AU" sz="3200" b="1" dirty="0" smtClean="0">
                    <a:solidFill>
                      <a:srgbClr val="FF0000"/>
                    </a:solidFill>
                  </a:rPr>
                  <a:t>group into pairs:    </a:t>
                </a:r>
                <a14:m>
                  <m:oMath xmlns:m="http://schemas.openxmlformats.org/officeDocument/2006/math">
                    <m:r>
                      <a:rPr lang="en-AU" sz="3200" b="1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AU" sz="3200" b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𝐚𝐛</m:t>
                    </m:r>
                    <m:r>
                      <a:rPr lang="en-AU" sz="32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32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AU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endParaRPr lang="en-AU" sz="3200" b="1" dirty="0"/>
              </a:p>
              <a:p>
                <a:r>
                  <a:rPr lang="en-AU" sz="3200" b="1" dirty="0" smtClean="0">
                    <a:solidFill>
                      <a:srgbClr val="7030A0"/>
                    </a:solidFill>
                  </a:rPr>
                  <a:t>  </a:t>
                </a:r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93932"/>
                <a:ext cx="10708372" cy="1077218"/>
              </a:xfrm>
              <a:prstGeom prst="rect">
                <a:avLst/>
              </a:prstGeom>
              <a:blipFill>
                <a:blip r:embed="rId3"/>
                <a:stretch>
                  <a:fillRect l="-1423" t="-6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0" y="2251886"/>
            <a:ext cx="115478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2: </a:t>
            </a:r>
            <a:r>
              <a:rPr lang="en-AU" sz="3200" b="1" dirty="0" smtClean="0">
                <a:solidFill>
                  <a:srgbClr val="FF0000"/>
                </a:solidFill>
              </a:rPr>
              <a:t>Factorise each pair: </a:t>
            </a:r>
            <a:r>
              <a:rPr lang="en-AU" sz="3200" b="1" dirty="0" smtClean="0">
                <a:solidFill>
                  <a:srgbClr val="00B050"/>
                </a:solidFill>
              </a:rPr>
              <a:t>2b(3a </a:t>
            </a:r>
            <a:r>
              <a:rPr lang="en-AU" sz="3200" b="1" dirty="0">
                <a:solidFill>
                  <a:srgbClr val="00B050"/>
                </a:solidFill>
              </a:rPr>
              <a:t>-</a:t>
            </a:r>
            <a:r>
              <a:rPr lang="en-AU" sz="3200" b="1" dirty="0" smtClean="0">
                <a:solidFill>
                  <a:srgbClr val="00B050"/>
                </a:solidFill>
              </a:rPr>
              <a:t> 2) </a:t>
            </a:r>
            <a:r>
              <a:rPr lang="en-AU" sz="3200" b="1" dirty="0">
                <a:solidFill>
                  <a:srgbClr val="00B050"/>
                </a:solidFill>
              </a:rPr>
              <a:t>-</a:t>
            </a:r>
            <a:r>
              <a:rPr lang="en-AU" sz="3200" b="1" dirty="0" smtClean="0">
                <a:solidFill>
                  <a:srgbClr val="00B050"/>
                </a:solidFill>
              </a:rPr>
              <a:t> 5(3a - 2)</a:t>
            </a:r>
            <a:endParaRPr lang="en-AU" sz="3200" b="1" dirty="0">
              <a:solidFill>
                <a:srgbClr val="00B050"/>
              </a:solidFill>
            </a:endParaRPr>
          </a:p>
          <a:p>
            <a:endParaRPr lang="en-AU" sz="3200" b="1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651" y="92288"/>
            <a:ext cx="5978800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3" name="Oval 2"/>
          <p:cNvSpPr/>
          <p:nvPr/>
        </p:nvSpPr>
        <p:spPr>
          <a:xfrm>
            <a:off x="4553319" y="1481124"/>
            <a:ext cx="1601734" cy="64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6689950" y="1444511"/>
            <a:ext cx="1601734" cy="640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0" y="3058225"/>
            <a:ext cx="11547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3: </a:t>
            </a:r>
            <a:r>
              <a:rPr lang="en-AU" sz="3200" b="1" dirty="0">
                <a:solidFill>
                  <a:srgbClr val="FF0000"/>
                </a:solidFill>
              </a:rPr>
              <a:t>T</a:t>
            </a:r>
            <a:r>
              <a:rPr lang="en-AU" sz="3200" b="1" dirty="0" smtClean="0">
                <a:solidFill>
                  <a:srgbClr val="FF0000"/>
                </a:solidFill>
              </a:rPr>
              <a:t>he highest common factor of both terms is: </a:t>
            </a:r>
            <a:r>
              <a:rPr lang="en-AU" sz="3200" b="1" dirty="0" smtClean="0">
                <a:solidFill>
                  <a:srgbClr val="00B050"/>
                </a:solidFill>
              </a:rPr>
              <a:t>(3a-2) </a:t>
            </a:r>
            <a:endParaRPr lang="en-AU" sz="3200" b="1" dirty="0">
              <a:solidFill>
                <a:srgbClr val="00B05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004" y="3943316"/>
            <a:ext cx="115478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Step 4: </a:t>
            </a:r>
            <a:r>
              <a:rPr lang="en-AU" sz="3200" b="1" dirty="0" smtClean="0">
                <a:solidFill>
                  <a:srgbClr val="FF0000"/>
                </a:solidFill>
              </a:rPr>
              <a:t>Take out the highest common factor from each </a:t>
            </a:r>
          </a:p>
          <a:p>
            <a:r>
              <a:rPr lang="en-AU" sz="3200" b="1" dirty="0" smtClean="0">
                <a:solidFill>
                  <a:srgbClr val="FF0000"/>
                </a:solidFill>
              </a:rPr>
              <a:t>pair which leaves: </a:t>
            </a:r>
            <a:r>
              <a:rPr lang="en-AU" sz="3200" b="1" dirty="0" smtClean="0">
                <a:solidFill>
                  <a:srgbClr val="00B050"/>
                </a:solidFill>
              </a:rPr>
              <a:t>(3a-2) (2b-5)</a:t>
            </a:r>
            <a:endParaRPr lang="en-AU" sz="3200" b="1" dirty="0">
              <a:solidFill>
                <a:srgbClr val="00B050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0005596" y="2558325"/>
            <a:ext cx="2035631" cy="1245086"/>
            <a:chOff x="660398" y="3602071"/>
            <a:chExt cx="2035631" cy="614459"/>
          </a:xfrm>
        </p:grpSpPr>
        <p:sp>
          <p:nvSpPr>
            <p:cNvPr id="25" name="TextBox 24"/>
            <p:cNvSpPr txBox="1"/>
            <p:nvPr/>
          </p:nvSpPr>
          <p:spPr>
            <a:xfrm>
              <a:off x="660400" y="3602071"/>
              <a:ext cx="2035629" cy="15189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</a:t>
              </a:r>
              <a:r>
                <a:rPr lang="en-AU" sz="14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three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005594" y="3803411"/>
            <a:ext cx="2035631" cy="1245086"/>
            <a:chOff x="660398" y="3602071"/>
            <a:chExt cx="2035631" cy="614459"/>
          </a:xfrm>
        </p:grpSpPr>
        <p:sp>
          <p:nvSpPr>
            <p:cNvPr id="28" name="TextBox 27"/>
            <p:cNvSpPr txBox="1"/>
            <p:nvPr/>
          </p:nvSpPr>
          <p:spPr>
            <a:xfrm>
              <a:off x="660400" y="3602071"/>
              <a:ext cx="2035629" cy="151890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CFU 4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0398" y="3744782"/>
              <a:ext cx="2035629" cy="471748"/>
            </a:xfrm>
            <a:prstGeom prst="rect">
              <a:avLst/>
            </a:prstGeom>
            <a:solidFill>
              <a:srgbClr val="163B68">
                <a:alpha val="60000"/>
              </a:srgb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is step </a:t>
              </a:r>
              <a:r>
                <a:rPr lang="en-AU" dirty="0" smtClean="0">
                  <a:solidFill>
                    <a:schemeClr val="tx1"/>
                  </a:solidFill>
                </a:rPr>
                <a:t>four </a:t>
              </a:r>
              <a:r>
                <a:rPr lang="en-AU" dirty="0">
                  <a:solidFill>
                    <a:schemeClr val="tx1"/>
                  </a:solidFill>
                </a:rPr>
                <a:t>in factorising using grouping in pairs?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9612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  <p:bldP spid="3" grpId="0" animBg="1"/>
      <p:bldP spid="16" grpId="0" animBg="1"/>
      <p:bldP spid="17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93962" y="778408"/>
                <a:ext cx="11804073" cy="61863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2800" b="1" dirty="0" smtClean="0"/>
                  <a:t>Factorise the following by grouping in pairs:</a:t>
                </a:r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𝒂𝒙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𝒂𝒚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 – 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𝒄𝒙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𝒄𝒚</m:t>
                      </m:r>
                    </m:oMath>
                  </m:oMathPara>
                </a14:m>
                <a:endParaRPr lang="en-AU" sz="3600" b="1" dirty="0" smtClean="0"/>
              </a:p>
              <a:p>
                <a:endParaRPr lang="en-AU" sz="280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A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sz="3200" b="1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/>
              </a:p>
              <a:p>
                <a:endParaRPr lang="en-AU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AU" sz="3600" b="1" i="1" dirty="0" err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AU" sz="3600" b="1" i="1" dirty="0" err="1" smtClean="0">
                          <a:latin typeface="Cambria Math" panose="02040503050406030204" pitchFamily="18" charset="0"/>
                        </a:rPr>
                        <m:t>𝒗𝒙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AU" sz="3600" b="1" i="1" dirty="0" err="1" smtClean="0">
                          <a:latin typeface="Cambria Math" panose="02040503050406030204" pitchFamily="18" charset="0"/>
                        </a:rPr>
                        <m:t>𝒙𝒖</m:t>
                      </m:r>
                      <m:r>
                        <a:rPr lang="en-AU" sz="36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AU" sz="3600" b="1" i="1" dirty="0" err="1" smtClean="0">
                          <a:latin typeface="Cambria Math" panose="02040503050406030204" pitchFamily="18" charset="0"/>
                        </a:rPr>
                        <m:t>𝒗𝒘</m:t>
                      </m:r>
                    </m:oMath>
                  </m:oMathPara>
                </a14:m>
                <a:endParaRPr lang="en-AU" sz="3600" b="1" dirty="0" smtClean="0"/>
              </a:p>
              <a:p>
                <a:endParaRPr lang="en-AU" sz="2800" b="1" dirty="0"/>
              </a:p>
              <a:p>
                <a:pPr algn="ctr"/>
                <a:r>
                  <a:rPr lang="en-AU" sz="2800" b="1" dirty="0" smtClean="0">
                    <a:solidFill>
                      <a:srgbClr val="C00000"/>
                    </a:solidFill>
                  </a:rPr>
                  <a:t>Rewrite the expression first by moving terms around: </a:t>
                </a:r>
                <a14:m>
                  <m:oMath xmlns:m="http://schemas.openxmlformats.org/officeDocument/2006/math">
                    <m:r>
                      <a:rPr lang="en-AU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AU" sz="2800" b="1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AU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AU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𝒙𝒖</m:t>
                    </m:r>
                    <m:r>
                      <a:rPr lang="en-AU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AU" sz="2800" b="1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𝒗𝒘</m:t>
                    </m:r>
                    <m:r>
                      <a:rPr lang="en-AU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8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𝒗𝒙</m:t>
                    </m:r>
                  </m:oMath>
                </a14:m>
                <a:endParaRPr lang="en-AU" sz="2800" b="1" dirty="0">
                  <a:solidFill>
                    <a:srgbClr val="C00000"/>
                  </a:solidFill>
                </a:endParaRPr>
              </a:p>
              <a:p>
                <a:pPr algn="ctr"/>
                <a:endParaRPr lang="en-AU" sz="28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AU" sz="3200" b="0" dirty="0" smtClean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AU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dirty="0"/>
              </a:p>
              <a:p>
                <a:pPr algn="ctr"/>
                <a:endParaRPr lang="en-AU" sz="2800" b="1" dirty="0" smtClean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2" y="778408"/>
                <a:ext cx="11804073" cy="6186309"/>
              </a:xfrm>
              <a:prstGeom prst="rect">
                <a:avLst/>
              </a:prstGeom>
              <a:blipFill>
                <a:blip r:embed="rId2"/>
                <a:stretch>
                  <a:fillRect l="-1085" t="-9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1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948" y="82302"/>
            <a:ext cx="5110904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4" name="Rectangle 3"/>
          <p:cNvSpPr/>
          <p:nvPr/>
        </p:nvSpPr>
        <p:spPr>
          <a:xfrm>
            <a:off x="193962" y="778408"/>
            <a:ext cx="1180407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/>
              <a:t>Pearson 10 Mathematics</a:t>
            </a:r>
          </a:p>
          <a:p>
            <a:endParaRPr lang="en-AU" sz="28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AU" sz="2800" b="1" dirty="0" smtClean="0"/>
              <a:t>Exercise 3.5: Factorising using Grouping in Pairs</a:t>
            </a:r>
          </a:p>
          <a:p>
            <a:endParaRPr lang="en-AU" sz="2800" b="1" dirty="0"/>
          </a:p>
          <a:p>
            <a:r>
              <a:rPr lang="en-AU" sz="2800" b="1" dirty="0" smtClean="0"/>
              <a:t>Questions 1</a:t>
            </a:r>
          </a:p>
          <a:p>
            <a:endParaRPr lang="en-AU" sz="2800" b="1" dirty="0"/>
          </a:p>
          <a:p>
            <a:r>
              <a:rPr lang="en-AU" sz="2800" b="1" dirty="0" err="1" smtClean="0"/>
              <a:t>Mathspace</a:t>
            </a:r>
            <a:r>
              <a:rPr lang="en-AU" sz="2800" b="1" smtClean="0"/>
              <a:t> Activity</a:t>
            </a:r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</p:txBody>
      </p:sp>
      <p:sp>
        <p:nvSpPr>
          <p:cNvPr id="2" name="Rectangle 1"/>
          <p:cNvSpPr/>
          <p:nvPr/>
        </p:nvSpPr>
        <p:spPr>
          <a:xfrm>
            <a:off x="10784378" y="5619404"/>
            <a:ext cx="1269077" cy="1097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80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1584</Words>
  <Application>Microsoft Office PowerPoint</Application>
  <PresentationFormat>Widescreen</PresentationFormat>
  <Paragraphs>261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YOST Amie [Harrisdale Senior High School]</cp:lastModifiedBy>
  <cp:revision>22</cp:revision>
  <dcterms:created xsi:type="dcterms:W3CDTF">2019-03-24T04:58:00Z</dcterms:created>
  <dcterms:modified xsi:type="dcterms:W3CDTF">2021-09-13T06:35:52Z</dcterms:modified>
</cp:coreProperties>
</file>
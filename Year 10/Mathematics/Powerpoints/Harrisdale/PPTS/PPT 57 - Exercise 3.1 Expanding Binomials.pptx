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94" r:id="rId2"/>
    <p:sldId id="311" r:id="rId3"/>
    <p:sldId id="312" r:id="rId4"/>
    <p:sldId id="313" r:id="rId5"/>
    <p:sldId id="314" r:id="rId6"/>
    <p:sldId id="315" r:id="rId7"/>
    <p:sldId id="300" r:id="rId8"/>
    <p:sldId id="301" r:id="rId9"/>
    <p:sldId id="284" r:id="rId10"/>
    <p:sldId id="267" r:id="rId11"/>
    <p:sldId id="307" r:id="rId12"/>
    <p:sldId id="308" r:id="rId13"/>
    <p:sldId id="309" r:id="rId14"/>
    <p:sldId id="310" r:id="rId15"/>
    <p:sldId id="262" r:id="rId16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39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223C6-F879-4288-96E9-663491C5DC72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771E9-3306-47F0-B58A-5987D7D718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64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69631B-0B25-4EDD-ABFF-12A9E79AB151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846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87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6.png"/><Relationship Id="rId5" Type="http://schemas.openxmlformats.org/officeDocument/2006/relationships/image" Target="../media/image81.png"/><Relationship Id="rId10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5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9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3.png"/><Relationship Id="rId5" Type="http://schemas.openxmlformats.org/officeDocument/2006/relationships/image" Target="../media/image81.png"/><Relationship Id="rId10" Type="http://schemas.openxmlformats.org/officeDocument/2006/relationships/image" Target="../media/image92.png"/><Relationship Id="rId4" Type="http://schemas.openxmlformats.org/officeDocument/2006/relationships/image" Target="../media/image70.png"/><Relationship Id="rId9" Type="http://schemas.openxmlformats.org/officeDocument/2006/relationships/image" Target="../media/image84.png"/><Relationship Id="rId14" Type="http://schemas.openxmlformats.org/officeDocument/2006/relationships/image" Target="../media/image9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10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2.png"/><Relationship Id="rId5" Type="http://schemas.openxmlformats.org/officeDocument/2006/relationships/image" Target="../media/image97.png"/><Relationship Id="rId10" Type="http://schemas.openxmlformats.org/officeDocument/2006/relationships/image" Target="../media/image101.png"/><Relationship Id="rId4" Type="http://schemas.openxmlformats.org/officeDocument/2006/relationships/image" Target="../media/image70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expand </a:t>
            </a:r>
            <a:r>
              <a:rPr lang="en-AU" sz="4000" b="1" dirty="0" smtClean="0">
                <a:cs typeface="Arial" panose="020B0604020202020204" pitchFamily="34" charset="0"/>
              </a:rPr>
              <a:t>binomials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336725" y="1070595"/>
                <a:ext cx="3150221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725" y="1070595"/>
                <a:ext cx="3150221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286714" y="2024246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714" y="2024246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362455" y="3824581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3852917" y="3824581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79835" y="4297319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35" y="4297319"/>
                <a:ext cx="819455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187201" y="2748276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201" y="2748276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742977" y="2748276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977" y="2748276"/>
                <a:ext cx="819455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957170" y="4297319"/>
                <a:ext cx="129715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170" y="4297319"/>
                <a:ext cx="1297150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349006" y="4297318"/>
                <a:ext cx="127951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006" y="4297318"/>
                <a:ext cx="127951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123442" y="4048492"/>
                <a:ext cx="39239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442" y="4048492"/>
                <a:ext cx="3923959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7622292" y="2921168"/>
                <a:ext cx="348262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292" y="2921168"/>
                <a:ext cx="3482620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9CBA79C-6189-4A8F-BDF0-B78BF188C18E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58643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3" grpId="0"/>
      <p:bldP spid="15" grpId="0"/>
      <p:bldP spid="16" grpId="0"/>
      <p:bldP spid="17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336725" y="1070595"/>
                <a:ext cx="3150221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725" y="1070595"/>
                <a:ext cx="3150221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286714" y="2024246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714" y="2024246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362455" y="3824581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3852917" y="3824581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79835" y="4297319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35" y="4297319"/>
                <a:ext cx="819455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187201" y="2748276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201" y="2748276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436284" y="2778597"/>
                <a:ext cx="139493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284" y="2778597"/>
                <a:ext cx="1394934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957170" y="4297319"/>
                <a:ext cx="129715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170" y="4297319"/>
                <a:ext cx="1297150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116083" y="4298658"/>
                <a:ext cx="185499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083" y="4298658"/>
                <a:ext cx="1854995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023694" y="3824581"/>
                <a:ext cx="392395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694" y="3824581"/>
                <a:ext cx="3923958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7622292" y="2921168"/>
                <a:ext cx="348262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292" y="2921168"/>
                <a:ext cx="3482620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9CBA79C-6189-4A8F-BDF0-B78BF188C18E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91339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3" grpId="0"/>
      <p:bldP spid="15" grpId="0"/>
      <p:bldP spid="16" grpId="0"/>
      <p:bldP spid="17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029086" y="1105260"/>
                <a:ext cx="391966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086" y="1105260"/>
                <a:ext cx="3919663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62883" y="2076994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883" y="2076994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38624" y="3877329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4029086" y="3877329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5733" y="4350067"/>
                <a:ext cx="1207382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3" y="4350067"/>
                <a:ext cx="1207382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363370" y="2801024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370" y="2801024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773670" y="2797320"/>
                <a:ext cx="128592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670" y="2797320"/>
                <a:ext cx="1285929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009908" y="4350067"/>
                <a:ext cx="1625766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𝒂𝒄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908" y="4350067"/>
                <a:ext cx="1625766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330922" y="4350067"/>
                <a:ext cx="167385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𝒃𝒄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922" y="4350067"/>
                <a:ext cx="167385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132934" y="3313116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934" y="3313116"/>
                <a:ext cx="529329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519548" y="4328779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𝒃𝒄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548" y="4328779"/>
                <a:ext cx="5293297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9CBA79C-6189-4A8F-BDF0-B78BF188C18E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29691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5" grpId="0"/>
      <p:bldP spid="17" grpId="0"/>
      <p:bldP spid="18" grpId="0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3590952" y="1134372"/>
                <a:ext cx="4704429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952" y="1134372"/>
                <a:ext cx="4704429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04160" y="2127329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𝐭𝐡𝐞𝐧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𝐭𝐚𝐤𝐞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𝐚𝐰𝐚𝐲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32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160" y="2127329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479901" y="3927664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3970363" y="3927664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35323" y="4400402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23" y="4400402"/>
                <a:ext cx="819455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304647" y="2851359"/>
                <a:ext cx="77296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647" y="2851359"/>
                <a:ext cx="77296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599530" y="2851359"/>
                <a:ext cx="14013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530" y="2851359"/>
                <a:ext cx="1401346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109770" y="4391810"/>
                <a:ext cx="1173719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770" y="4391810"/>
                <a:ext cx="1173719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195487" y="4381165"/>
                <a:ext cx="185499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487" y="4381165"/>
                <a:ext cx="1854995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685948" y="3938737"/>
                <a:ext cx="529329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5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48" y="3938737"/>
                <a:ext cx="5293297" cy="92333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7274815" y="3042324"/>
                <a:ext cx="4704429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815" y="3042324"/>
                <a:ext cx="4704429" cy="92333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6685947" y="4835150"/>
                <a:ext cx="529329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5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47" y="4835150"/>
                <a:ext cx="5293297" cy="92333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9CBA79C-6189-4A8F-BDF0-B78BF188C18E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61134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8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27963" y="1427461"/>
                <a:ext cx="789600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963" y="1427461"/>
                <a:ext cx="7896008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653907" y="3649940"/>
            <a:ext cx="2732560" cy="90351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3200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2020187" y="3649940"/>
            <a:ext cx="0" cy="9035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92697" y="3811685"/>
                <a:ext cx="48667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7" y="3811685"/>
                <a:ext cx="486670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139198" y="2993750"/>
                <a:ext cx="49562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98" y="2993750"/>
                <a:ext cx="495623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60494" y="3006132"/>
                <a:ext cx="71792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494" y="3006132"/>
                <a:ext cx="717922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981286" y="3792770"/>
                <a:ext cx="695542" cy="5734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32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286" y="3792770"/>
                <a:ext cx="695542" cy="57342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246361" y="3811685"/>
                <a:ext cx="94618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361" y="3811685"/>
                <a:ext cx="946189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148802" y="3065165"/>
                <a:ext cx="475284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AU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AU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802" y="3065165"/>
                <a:ext cx="4752840" cy="584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16332" y="4862862"/>
                <a:ext cx="2206981" cy="5734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32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32" y="4862862"/>
                <a:ext cx="2206981" cy="57342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9316711" y="3578525"/>
            <a:ext cx="2726410" cy="90351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3200"/>
          </a:p>
        </p:txBody>
      </p:sp>
      <p:cxnSp>
        <p:nvCxnSpPr>
          <p:cNvPr id="23" name="Straight Connector 22"/>
          <p:cNvCxnSpPr>
            <a:stCxn id="22" idx="0"/>
            <a:endCxn id="22" idx="2"/>
          </p:cNvCxnSpPr>
          <p:nvPr/>
        </p:nvCxnSpPr>
        <p:spPr>
          <a:xfrm>
            <a:off x="10679916" y="3578525"/>
            <a:ext cx="0" cy="9035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787756" y="3781422"/>
                <a:ext cx="53251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756" y="3781422"/>
                <a:ext cx="532518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9736864" y="3006131"/>
                <a:ext cx="52289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864" y="3006131"/>
                <a:ext cx="522899" cy="58477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0679916" y="2983545"/>
                <a:ext cx="132921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9916" y="2983545"/>
                <a:ext cx="1329210" cy="5847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9628216" y="3743566"/>
                <a:ext cx="747319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32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216" y="3743566"/>
                <a:ext cx="747319" cy="57342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0613391" y="3753144"/>
                <a:ext cx="1462259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391" y="3753144"/>
                <a:ext cx="1462259" cy="57342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628216" y="4767715"/>
                <a:ext cx="2144753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 baseline="3000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aseline="300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216" y="4767715"/>
                <a:ext cx="2144753" cy="57342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3737131" y="3737891"/>
                <a:ext cx="50776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131" y="3737891"/>
                <a:ext cx="5077672" cy="58477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3806427" y="4410617"/>
                <a:ext cx="485645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AU" sz="3200" b="1" baseline="300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427" y="4410617"/>
                <a:ext cx="4856458" cy="584775"/>
              </a:xfrm>
              <a:prstGeom prst="rect">
                <a:avLst/>
              </a:prstGeom>
              <a:blipFill rotWithShape="0">
                <a:blip r:embed="rId17"/>
                <a:stretch>
                  <a:fillRect t="-5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3806427" y="5083343"/>
                <a:ext cx="3951146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AU" sz="3200" b="1" baseline="30000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427" y="5083343"/>
                <a:ext cx="3951146" cy="573427"/>
              </a:xfrm>
              <a:prstGeom prst="rect">
                <a:avLst/>
              </a:prstGeom>
              <a:blipFill rotWithShape="0">
                <a:blip r:embed="rId18"/>
                <a:stretch>
                  <a:fillRect t="-4255" r="-6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9CBA79C-6189-4A8F-BDF0-B78BF188C18E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48353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5" grpId="0"/>
      <p:bldP spid="14" grpId="0"/>
      <p:bldP spid="22" grpId="0" animBg="1"/>
      <p:bldP spid="24" grpId="0"/>
      <p:bldP spid="25" grpId="0"/>
      <p:bldP spid="27" grpId="0"/>
      <p:bldP spid="28" grpId="0"/>
      <p:bldP spid="29" grpId="0"/>
      <p:bldP spid="30" grpId="0"/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13247" y="1401216"/>
            <a:ext cx="8429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I will </a:t>
            </a:r>
            <a:r>
              <a:rPr lang="en-AU" sz="3200" b="1" dirty="0">
                <a:cs typeface="Arial" panose="020B0604020202020204" pitchFamily="34" charset="0"/>
              </a:rPr>
              <a:t>expand </a:t>
            </a:r>
            <a:r>
              <a:rPr lang="en-AU" sz="3200" b="1" dirty="0" smtClean="0">
                <a:cs typeface="Arial" panose="020B0604020202020204" pitchFamily="34" charset="0"/>
              </a:rPr>
              <a:t>binomials.</a:t>
            </a:r>
            <a:endParaRPr lang="en-AU" sz="3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7845BC-DC72-44E1-BABF-6AFB4DC3022D}"/>
              </a:ext>
            </a:extLst>
          </p:cNvPr>
          <p:cNvSpPr txBox="1"/>
          <p:nvPr/>
        </p:nvSpPr>
        <p:spPr>
          <a:xfrm>
            <a:off x="375746" y="4179512"/>
            <a:ext cx="78454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/>
              <a:t>Expand algebraic expressions by multiplying out the brackets using the array method.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BEE6A2-556E-47EB-BE0D-1D5CA4374488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CB765C-CAC2-440D-9D52-CA15DC2897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071FAA3-C029-4C42-9F5A-D80968D531A2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D8F7365-FCBE-4876-B626-49EB1AB0C0AF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E61856-5929-4FC6-8ACF-5741F7D4236E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AD2C468-2CD6-425A-8902-5B39168F9670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DA7AF8-1FC9-4807-B4FF-6DF092ABA010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972" y="3336331"/>
            <a:ext cx="3553663" cy="343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3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/>
          <p:cNvSpPr txBox="1"/>
          <p:nvPr/>
        </p:nvSpPr>
        <p:spPr>
          <a:xfrm>
            <a:off x="0" y="-6605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8852290" y="0"/>
          <a:ext cx="333971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3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159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99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1">
                <a:tc>
                  <a:txBody>
                    <a:bodyPr/>
                    <a:lstStyle/>
                    <a:p>
                      <a:r>
                        <a:rPr lang="en-AU" i="0" dirty="0" smtClean="0"/>
                        <a:t>Multiply – groups of, lots of, product, times, per, of, by</a:t>
                      </a:r>
                    </a:p>
                  </a:txBody>
                  <a:tcPr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26824" y="3144520"/>
            <a:ext cx="5088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6 x 53</a:t>
            </a:r>
            <a:endParaRPr lang="en-AU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911221" y="4215996"/>
            <a:ext cx="1183671" cy="11219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2094892" y="4215996"/>
            <a:ext cx="1183671" cy="11219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423167" y="4462826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6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70208" y="3680258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50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65140" y="3667740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002" y="4462826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30</a:t>
            </a:r>
            <a:endParaRPr lang="en-AU" sz="28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1385250" y="4456672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331906" y="4452570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18</a:t>
            </a:r>
            <a:endParaRPr lang="en-AU" sz="28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3502021" y="4076539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30</a:t>
            </a:r>
            <a:endParaRPr lang="en-AU" sz="28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3872269" y="4070385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49580" y="4418923"/>
            <a:ext cx="1109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+   18</a:t>
            </a:r>
            <a:endParaRPr lang="en-AU" sz="2800" b="1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3563730" y="4843392"/>
            <a:ext cx="7152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563730" y="5208965"/>
            <a:ext cx="7152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51575" y="4742139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318</a:t>
            </a:r>
            <a:endParaRPr lang="en-AU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273053" y="3127786"/>
            <a:ext cx="40110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= (6 x 50) + (6 x 3)</a:t>
            </a:r>
          </a:p>
          <a:p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4539839" y="3118086"/>
            <a:ext cx="5088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26 x 43 </a:t>
            </a:r>
            <a:endParaRPr lang="en-AU" sz="2800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5765582" y="3101352"/>
            <a:ext cx="40110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= </a:t>
            </a:r>
            <a:r>
              <a:rPr lang="en-AU" sz="2800" b="1" dirty="0" smtClean="0"/>
              <a:t>(20 </a:t>
            </a:r>
            <a:r>
              <a:rPr lang="en-AU" sz="2800" b="1" dirty="0"/>
              <a:t>x </a:t>
            </a:r>
            <a:r>
              <a:rPr lang="en-AU" sz="2800" b="1" dirty="0" smtClean="0"/>
              <a:t>40) </a:t>
            </a:r>
            <a:r>
              <a:rPr lang="en-AU" sz="2800" b="1" dirty="0"/>
              <a:t>+ </a:t>
            </a:r>
            <a:r>
              <a:rPr lang="en-AU" sz="2800" b="1" dirty="0" smtClean="0"/>
              <a:t>(20 </a:t>
            </a:r>
            <a:r>
              <a:rPr lang="en-AU" sz="2800" b="1" dirty="0"/>
              <a:t>x 3</a:t>
            </a:r>
            <a:r>
              <a:rPr lang="en-AU" sz="2800" b="1" dirty="0" smtClean="0"/>
              <a:t>) </a:t>
            </a:r>
          </a:p>
          <a:p>
            <a:r>
              <a:rPr lang="en-AU" sz="2800" b="1" dirty="0" smtClean="0"/>
              <a:t>+ (6 x 40) + (6 x 3)</a:t>
            </a:r>
            <a:endParaRPr lang="en-AU" sz="2800" b="1" dirty="0"/>
          </a:p>
          <a:p>
            <a:endParaRPr lang="en-AU" dirty="0"/>
          </a:p>
        </p:txBody>
      </p:sp>
      <p:sp>
        <p:nvSpPr>
          <p:cNvPr id="64" name="Rectangle 63"/>
          <p:cNvSpPr/>
          <p:nvPr/>
        </p:nvSpPr>
        <p:spPr>
          <a:xfrm>
            <a:off x="6097963" y="4282410"/>
            <a:ext cx="1183671" cy="11219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Rectangle 64"/>
          <p:cNvSpPr/>
          <p:nvPr/>
        </p:nvSpPr>
        <p:spPr>
          <a:xfrm>
            <a:off x="7281634" y="4282410"/>
            <a:ext cx="1183671" cy="11219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Rectangle 65"/>
          <p:cNvSpPr/>
          <p:nvPr/>
        </p:nvSpPr>
        <p:spPr>
          <a:xfrm>
            <a:off x="6097963" y="5404373"/>
            <a:ext cx="1183671" cy="11219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7" name="Rectangle 66"/>
          <p:cNvSpPr/>
          <p:nvPr/>
        </p:nvSpPr>
        <p:spPr>
          <a:xfrm>
            <a:off x="7281634" y="5404373"/>
            <a:ext cx="1183671" cy="11219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8" name="TextBox 67"/>
          <p:cNvSpPr txBox="1"/>
          <p:nvPr/>
        </p:nvSpPr>
        <p:spPr>
          <a:xfrm>
            <a:off x="5567367" y="4513166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20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651046" y="5604993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6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390610" y="3808775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40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574281" y="3808775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07823" y="4505388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19591" y="4505388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00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414400" y="4470534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6</a:t>
            </a:r>
            <a:endParaRPr lang="en-AU" sz="2800" b="1" dirty="0"/>
          </a:p>
        </p:txBody>
      </p:sp>
      <p:sp>
        <p:nvSpPr>
          <p:cNvPr id="75" name="TextBox 74"/>
          <p:cNvSpPr txBox="1"/>
          <p:nvPr/>
        </p:nvSpPr>
        <p:spPr>
          <a:xfrm>
            <a:off x="7626168" y="4470534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190063" y="5562069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24</a:t>
            </a:r>
            <a:endParaRPr lang="en-AU" sz="28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6560311" y="5562069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466757" y="5599183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18</a:t>
            </a:r>
            <a:endParaRPr lang="en-AU" sz="2800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9358670" y="4452570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70438" y="4452570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00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564834" y="5142763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6</a:t>
            </a:r>
            <a:endParaRPr lang="en-AU" sz="2800" b="1" dirty="0"/>
          </a:p>
        </p:txBody>
      </p:sp>
      <p:sp>
        <p:nvSpPr>
          <p:cNvPr id="82" name="TextBox 81"/>
          <p:cNvSpPr txBox="1"/>
          <p:nvPr/>
        </p:nvSpPr>
        <p:spPr>
          <a:xfrm>
            <a:off x="9776602" y="5142763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369890" y="4797667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24</a:t>
            </a:r>
            <a:endParaRPr lang="en-AU" sz="28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9740138" y="4797667"/>
            <a:ext cx="813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208843" y="5487860"/>
            <a:ext cx="1135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+  18</a:t>
            </a:r>
            <a:endParaRPr lang="en-AU" sz="2800" b="1" dirty="0"/>
          </a:p>
        </p:txBody>
      </p:sp>
      <p:cxnSp>
        <p:nvCxnSpPr>
          <p:cNvPr id="86" name="Straight Connector 85"/>
          <p:cNvCxnSpPr/>
          <p:nvPr/>
        </p:nvCxnSpPr>
        <p:spPr>
          <a:xfrm>
            <a:off x="9407756" y="6011169"/>
            <a:ext cx="7152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9407756" y="6376742"/>
            <a:ext cx="7152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285746" y="5941793"/>
            <a:ext cx="1008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1118</a:t>
            </a:r>
            <a:endParaRPr lang="en-AU" sz="2800" b="1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11447" y="1701779"/>
            <a:ext cx="10911840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smtClean="0"/>
              <a:t>Distributive law – we split large numbers into 1s, 10s and 100s</a:t>
            </a:r>
          </a:p>
          <a:p>
            <a:endParaRPr lang="en-AU" b="1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7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9" grpId="0" animBg="1"/>
      <p:bldP spid="6" grpId="0"/>
      <p:bldP spid="40" grpId="0"/>
      <p:bldP spid="41" grpId="0"/>
      <p:bldP spid="43" grpId="0"/>
      <p:bldP spid="46" grpId="0"/>
      <p:bldP spid="11" grpId="0"/>
      <p:bldP spid="63" grpId="0"/>
      <p:bldP spid="64" grpId="0" animBg="1"/>
      <p:bldP spid="65" grpId="0" animBg="1"/>
      <p:bldP spid="66" grpId="0" animBg="1"/>
      <p:bldP spid="67" grpId="0" animBg="1"/>
      <p:bldP spid="68" grpId="0"/>
      <p:bldP spid="69" grpId="0"/>
      <p:bldP spid="70" grpId="0"/>
      <p:bldP spid="71" grpId="0"/>
      <p:bldP spid="73" grpId="0"/>
      <p:bldP spid="75" grpId="0"/>
      <p:bldP spid="77" grpId="0"/>
      <p:bldP spid="80" grpId="0"/>
      <p:bldP spid="82" grpId="0"/>
      <p:bldP spid="8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122065"/>
              </p:ext>
            </p:extLst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Can we simplify it at all?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8280" y="984949"/>
                <a:ext cx="11983720" cy="295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A binomial product is a product that has two terms in each expression being multiplied, </a:t>
                </a:r>
              </a:p>
              <a:p>
                <a:r>
                  <a:rPr lang="en-AU" sz="2400" dirty="0" smtClean="0"/>
                  <a:t>such as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+3)(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+7)</m:t>
                    </m:r>
                  </m:oMath>
                </a14:m>
                <a:r>
                  <a:rPr lang="en-AU" sz="2400" dirty="0" smtClean="0"/>
                  <a:t>.</a:t>
                </a:r>
              </a:p>
              <a:p>
                <a:endParaRPr lang="en-AU" sz="2400" dirty="0"/>
              </a:p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A common mistake is to multiply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by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and to multiply 3 by 7 to get: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+21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(which is wrong).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To expand this binomial product, we need to multiply each term in the 1</a:t>
                </a:r>
                <a:r>
                  <a:rPr lang="en-AU" sz="2400" baseline="30000" dirty="0" smtClean="0"/>
                  <a:t>st</a:t>
                </a:r>
                <a:r>
                  <a:rPr lang="en-AU" sz="2400" dirty="0" smtClean="0"/>
                  <a:t> bracket by each term in the 2</a:t>
                </a:r>
                <a:r>
                  <a:rPr lang="en-AU" sz="2400" baseline="30000" dirty="0" smtClean="0"/>
                  <a:t>nd</a:t>
                </a:r>
                <a:r>
                  <a:rPr lang="en-AU" sz="2400" dirty="0" smtClean="0"/>
                  <a:t> bracket.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80" y="984949"/>
                <a:ext cx="11983720" cy="2954655"/>
              </a:xfrm>
              <a:prstGeom prst="rect">
                <a:avLst/>
              </a:prstGeom>
              <a:blipFill rotWithShape="0">
                <a:blip r:embed="rId2"/>
                <a:stretch>
                  <a:fillRect l="-763" t="-1653" r="-7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270000" y="432974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2402840" y="432974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1270000" y="534924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2402840" y="534924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06120" y="460756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20" y="4607560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612900" y="381048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900" y="3810489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75799" y="552419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9" y="5524191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672080" y="381048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080" y="3810488"/>
                <a:ext cx="44704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582420" y="458385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420" y="4583858"/>
                <a:ext cx="447040" cy="5329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633027" y="458385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027" y="4583858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 r="-13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497966" y="553148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966" y="5531482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3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30806" y="552419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806" y="5524191"/>
                <a:ext cx="44704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109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909820" y="4873036"/>
                <a:ext cx="362528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820" y="4873036"/>
                <a:ext cx="362528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5934595" y="5484009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249368" y="5896616"/>
                <a:ext cx="294619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368" y="5896616"/>
                <a:ext cx="2946191" cy="4721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866640" y="4045586"/>
                <a:ext cx="4048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640" y="4045586"/>
                <a:ext cx="40487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09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8968221"/>
                  </p:ext>
                </p:extLst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8968221"/>
                  </p:ext>
                </p:extLst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3" name="Rectangle 22"/>
          <p:cNvSpPr/>
          <p:nvPr/>
        </p:nvSpPr>
        <p:spPr>
          <a:xfrm>
            <a:off x="100584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213868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100584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213868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09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368867" y="324273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867" y="3242738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 r="-616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21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66646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𝟐𝟐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646" y="4183071"/>
                <a:ext cx="44704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645660" y="3531916"/>
                <a:ext cx="3856120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𝟐𝟐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660" y="3531916"/>
                <a:ext cx="3856120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21680" y="4183071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85208" y="4555496"/>
                <a:ext cx="294619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𝟐𝟐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208" y="4555496"/>
                <a:ext cx="2946191" cy="4721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Expand the binomial product: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blipFill rotWithShape="0">
                <a:blip r:embed="rId14"/>
                <a:stretch>
                  <a:fillRect l="-1667" t="-11765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43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3" name="Rectangle 22"/>
          <p:cNvSpPr/>
          <p:nvPr/>
        </p:nvSpPr>
        <p:spPr>
          <a:xfrm>
            <a:off x="100584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213868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100584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213868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368867" y="324273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867" y="3242738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 r="-13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21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66646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646" y="4183071"/>
                <a:ext cx="44704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108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21680" y="4183071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85208" y="4555496"/>
                <a:ext cx="294619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208" y="4555496"/>
                <a:ext cx="2946191" cy="4721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Expand the binomial product: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blipFill rotWithShape="0">
                <a:blip r:embed="rId14"/>
                <a:stretch>
                  <a:fillRect l="-1667" t="-11765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4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3" name="Rectangle 22"/>
          <p:cNvSpPr/>
          <p:nvPr/>
        </p:nvSpPr>
        <p:spPr>
          <a:xfrm>
            <a:off x="100584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213868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100584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213868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205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307184" y="3252484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184" y="3252484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 r="-7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21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07184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184" y="4190362"/>
                <a:ext cx="44704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689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21680" y="4183071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85208" y="4555496"/>
                <a:ext cx="2715359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208" y="4555496"/>
                <a:ext cx="2715359" cy="4721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Expand the binomial product: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blipFill rotWithShape="0">
                <a:blip r:embed="rId14"/>
                <a:stretch>
                  <a:fillRect l="-1667" t="-11765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784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3" name="Rectangle 22"/>
          <p:cNvSpPr/>
          <p:nvPr/>
        </p:nvSpPr>
        <p:spPr>
          <a:xfrm>
            <a:off x="100584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213868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100584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213868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 r="-21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205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307184" y="3252484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184" y="3252484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 r="-7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702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07184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184" y="4190362"/>
                <a:ext cx="44704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108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21680" y="4183071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85208" y="4555496"/>
                <a:ext cx="2715359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208" y="4555496"/>
                <a:ext cx="2715359" cy="4721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Expand the binomial product: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blipFill rotWithShape="0">
                <a:blip r:embed="rId14"/>
                <a:stretch>
                  <a:fillRect l="-1667" t="-11765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24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3" name="Rectangle 22"/>
          <p:cNvSpPr/>
          <p:nvPr/>
        </p:nvSpPr>
        <p:spPr>
          <a:xfrm>
            <a:off x="100584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213868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100584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213868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13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121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 r="-21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21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blipFill rotWithShape="0">
                <a:blip r:embed="rId7"/>
                <a:stretch>
                  <a:fillRect r="-418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184400" y="324761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400" y="3247611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 r="-1175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174344" y="419544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44" y="4195442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726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490064" y="419544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064" y="4195442"/>
                <a:ext cx="447040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645660" y="3531916"/>
                <a:ext cx="3856120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660" y="3531916"/>
                <a:ext cx="3856120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21680" y="4183071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85208" y="4555496"/>
                <a:ext cx="294619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208" y="4555496"/>
                <a:ext cx="2946191" cy="4721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2880" y="777240"/>
                <a:ext cx="7442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Expand the binomial product: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777240"/>
                <a:ext cx="7442200" cy="523220"/>
              </a:xfrm>
              <a:prstGeom prst="rect">
                <a:avLst/>
              </a:prstGeom>
              <a:blipFill rotWithShape="0">
                <a:blip r:embed="rId14"/>
                <a:stretch>
                  <a:fillRect l="-1638" t="-11765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97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9080" y="863600"/>
            <a:ext cx="666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Pearson 10 – Ex 3.1 page 154 Question 2</a:t>
            </a:r>
            <a:endParaRPr lang="en-A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59080" y="1869440"/>
            <a:ext cx="6664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err="1" smtClean="0"/>
              <a:t>Mathspace</a:t>
            </a:r>
            <a:r>
              <a:rPr lang="en-AU" sz="2400" b="1" dirty="0" smtClean="0"/>
              <a:t> task – Year 10 </a:t>
            </a:r>
            <a:r>
              <a:rPr lang="en-AU" sz="2400" b="1" dirty="0" smtClean="0"/>
              <a:t>Mainstream </a:t>
            </a:r>
            <a:r>
              <a:rPr lang="en-AU" sz="2400" b="1" dirty="0" smtClean="0"/>
              <a:t>Expanding Brackets CLASSWORK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75474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2738</TotalTime>
  <Words>964</Words>
  <Application>Microsoft Office PowerPoint</Application>
  <PresentationFormat>Widescreen</PresentationFormat>
  <Paragraphs>216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131</cp:revision>
  <cp:lastPrinted>2017-04-18T22:41:05Z</cp:lastPrinted>
  <dcterms:created xsi:type="dcterms:W3CDTF">2017-01-28T08:32:28Z</dcterms:created>
  <dcterms:modified xsi:type="dcterms:W3CDTF">2021-09-01T03:58:31Z</dcterms:modified>
</cp:coreProperties>
</file>
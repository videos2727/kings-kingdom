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56" r:id="rId5"/>
    <p:sldId id="299" r:id="rId6"/>
    <p:sldId id="316" r:id="rId7"/>
    <p:sldId id="317" r:id="rId8"/>
    <p:sldId id="318" r:id="rId9"/>
    <p:sldId id="630" r:id="rId10"/>
    <p:sldId id="632" r:id="rId11"/>
    <p:sldId id="637" r:id="rId12"/>
    <p:sldId id="638" r:id="rId13"/>
    <p:sldId id="319" r:id="rId14"/>
    <p:sldId id="634" r:id="rId15"/>
    <p:sldId id="643" r:id="rId16"/>
    <p:sldId id="644" r:id="rId17"/>
    <p:sldId id="645" r:id="rId18"/>
    <p:sldId id="320" r:id="rId19"/>
    <p:sldId id="640" r:id="rId20"/>
    <p:sldId id="641" r:id="rId21"/>
    <p:sldId id="657" r:id="rId22"/>
    <p:sldId id="658" r:id="rId23"/>
    <p:sldId id="659" r:id="rId24"/>
    <p:sldId id="660" r:id="rId25"/>
    <p:sldId id="62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86"/>
  </p:normalViewPr>
  <p:slideViewPr>
    <p:cSldViewPr snapToGrid="0">
      <p:cViewPr varScale="1">
        <p:scale>
          <a:sx n="109" d="100"/>
          <a:sy n="109" d="100"/>
        </p:scale>
        <p:origin x="6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Favourite ice-cream flavour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8BF-45CF-ABA5-3B2C7349E9C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8BF-45CF-ABA5-3B2C7349E9C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8BF-45CF-ABA5-3B2C7349E9C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8BF-45CF-ABA5-3B2C7349E9C5}"/>
              </c:ext>
            </c:extLst>
          </c:dPt>
          <c:cat>
            <c:strRef>
              <c:f>Sheet1!$A$2:$A$5</c:f>
              <c:strCache>
                <c:ptCount val="4"/>
                <c:pt idx="0">
                  <c:v>Chocolate</c:v>
                </c:pt>
                <c:pt idx="1">
                  <c:v>Vanilla</c:v>
                </c:pt>
                <c:pt idx="2">
                  <c:v>Strawberry</c:v>
                </c:pt>
                <c:pt idx="3">
                  <c:v>Banana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4</c:v>
                </c:pt>
                <c:pt idx="2">
                  <c:v>7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8BF-45CF-ABA5-3B2C7349E9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Favourite pets of Year 7 students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5E9-4CD2-B9CD-F679F4D7834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5E9-4CD2-B9CD-F679F4D7834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5E9-4CD2-B9CD-F679F4D7834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5E9-4CD2-B9CD-F679F4D7834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5E9-4CD2-B9CD-F679F4D78342}"/>
              </c:ext>
            </c:extLst>
          </c:dPt>
          <c:cat>
            <c:strRef>
              <c:f>Sheet1!$A$2:$A$6</c:f>
              <c:strCache>
                <c:ptCount val="5"/>
                <c:pt idx="0">
                  <c:v>Dog</c:v>
                </c:pt>
                <c:pt idx="1">
                  <c:v>Cat</c:v>
                </c:pt>
                <c:pt idx="2">
                  <c:v>Bird</c:v>
                </c:pt>
                <c:pt idx="3">
                  <c:v>Rabbit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65</c:v>
                </c:pt>
                <c:pt idx="2">
                  <c:v>39</c:v>
                </c:pt>
                <c:pt idx="3">
                  <c:v>26</c:v>
                </c:pt>
                <c:pt idx="4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5E9-4CD2-B9CD-F679F4D783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57519-1602-4C36-AA16-64C7DAF1548D}" type="datetimeFigureOut">
              <a:rPr lang="en-AU" smtClean="0"/>
              <a:t>22/8/21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540D16-FF1C-4D77-98C1-C4ED7B9DF4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175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F469D-47B9-41DB-B012-D31BF48DFDE7}" type="datetimeFigureOut">
              <a:rPr lang="en-AU" smtClean="0"/>
              <a:t>22/8/21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292A-BD85-490B-8F6D-0FBBC12C0A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6312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F469D-47B9-41DB-B012-D31BF48DFDE7}" type="datetimeFigureOut">
              <a:rPr lang="en-AU" smtClean="0"/>
              <a:t>22/8/21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292A-BD85-490B-8F6D-0FBBC12C0A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9493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F469D-47B9-41DB-B012-D31BF48DFDE7}" type="datetimeFigureOut">
              <a:rPr lang="en-AU" smtClean="0"/>
              <a:t>22/8/21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292A-BD85-490B-8F6D-0FBBC12C0A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8472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F469D-47B9-41DB-B012-D31BF48DFDE7}" type="datetimeFigureOut">
              <a:rPr lang="en-AU" smtClean="0"/>
              <a:t>22/8/21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292A-BD85-490B-8F6D-0FBBC12C0A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0328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F469D-47B9-41DB-B012-D31BF48DFDE7}" type="datetimeFigureOut">
              <a:rPr lang="en-AU" smtClean="0"/>
              <a:t>22/8/21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292A-BD85-490B-8F6D-0FBBC12C0A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8983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F469D-47B9-41DB-B012-D31BF48DFDE7}" type="datetimeFigureOut">
              <a:rPr lang="en-AU" smtClean="0"/>
              <a:t>22/8/21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292A-BD85-490B-8F6D-0FBBC12C0A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4486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F469D-47B9-41DB-B012-D31BF48DFDE7}" type="datetimeFigureOut">
              <a:rPr lang="en-AU" smtClean="0"/>
              <a:t>22/8/21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292A-BD85-490B-8F6D-0FBBC12C0A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4881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F469D-47B9-41DB-B012-D31BF48DFDE7}" type="datetimeFigureOut">
              <a:rPr lang="en-AU" smtClean="0"/>
              <a:t>22/8/21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292A-BD85-490B-8F6D-0FBBC12C0A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2154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F469D-47B9-41DB-B012-D31BF48DFDE7}" type="datetimeFigureOut">
              <a:rPr lang="en-AU" smtClean="0"/>
              <a:t>22/8/21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292A-BD85-490B-8F6D-0FBBC12C0A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138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F469D-47B9-41DB-B012-D31BF48DFDE7}" type="datetimeFigureOut">
              <a:rPr lang="en-AU" smtClean="0"/>
              <a:t>22/8/21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292A-BD85-490B-8F6D-0FBBC12C0A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6158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F469D-47B9-41DB-B012-D31BF48DFDE7}" type="datetimeFigureOut">
              <a:rPr lang="en-AU" smtClean="0"/>
              <a:t>22/8/21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292A-BD85-490B-8F6D-0FBBC12C0A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7990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F469D-47B9-41DB-B012-D31BF48DFDE7}" type="datetimeFigureOut">
              <a:rPr lang="en-AU" smtClean="0"/>
              <a:t>22/8/21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C292A-BD85-490B-8F6D-0FBBC12C0A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4945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gif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3.jpe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>
                <a:cs typeface="Arial" panose="020B0604020202020204" pitchFamily="34" charset="0"/>
              </a:rPr>
              <a:t>Review reading and interpreting graphs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Exercise Book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Pencil, pen, 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Calculator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Textbook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215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513247" y="1401216"/>
            <a:ext cx="80211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Read and interpret information from graphs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7845BC-DC72-44E1-BABF-6AFB4DC3022D}"/>
              </a:ext>
            </a:extLst>
          </p:cNvPr>
          <p:cNvSpPr txBox="1"/>
          <p:nvPr/>
        </p:nvSpPr>
        <p:spPr>
          <a:xfrm>
            <a:off x="459635" y="4267098"/>
            <a:ext cx="76895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At the end of the lesson, I will be able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cs typeface="Arial" panose="020B0604020202020204" pitchFamily="34" charset="0"/>
              </a:rPr>
              <a:t>Read information from graphs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BEE264-396E-4E54-8000-6F24F770F99A}"/>
              </a:ext>
            </a:extLst>
          </p:cNvPr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DA7AF8-1FC9-4807-B4FF-6DF092ABA010}"/>
              </a:ext>
            </a:extLst>
          </p:cNvPr>
          <p:cNvSpPr txBox="1"/>
          <p:nvPr/>
        </p:nvSpPr>
        <p:spPr>
          <a:xfrm>
            <a:off x="0" y="3336331"/>
            <a:ext cx="2916437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Success Criteria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2F3EE22-EC53-41F3-85D9-AFE096937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1" y="4286774"/>
            <a:ext cx="3519020" cy="233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766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20CD441-8408-423D-BF90-6A9010CB1C0A}"/>
              </a:ext>
            </a:extLst>
          </p:cNvPr>
          <p:cNvSpPr txBox="1"/>
          <p:nvPr/>
        </p:nvSpPr>
        <p:spPr>
          <a:xfrm>
            <a:off x="0" y="-6605"/>
            <a:ext cx="481321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Activating Prior Knowledge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DDCA27-4316-4A13-947D-DEF3A44B22E7}"/>
              </a:ext>
            </a:extLst>
          </p:cNvPr>
          <p:cNvSpPr/>
          <p:nvPr/>
        </p:nvSpPr>
        <p:spPr>
          <a:xfrm>
            <a:off x="288853" y="690215"/>
            <a:ext cx="11614296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b="1" dirty="0"/>
              <a:t>Graphs and charts are easy ways to visually represent data.</a:t>
            </a:r>
          </a:p>
          <a:p>
            <a:pPr algn="ctr"/>
            <a:endParaRPr lang="en-AU" dirty="0"/>
          </a:p>
          <a:p>
            <a:pPr algn="ctr"/>
            <a:r>
              <a:rPr lang="en-AU" sz="3200" dirty="0"/>
              <a:t>We see them every day, especially in the news.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D02E0E-2173-4193-8D68-8B7E86A53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06" y="2814253"/>
            <a:ext cx="6990421" cy="29975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8CF888-7CE2-400C-8501-27D5A35C2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677" y="2570954"/>
            <a:ext cx="4623100" cy="34841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B32F65-35DE-4D32-A2C9-08B5519CA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1087" y="2510596"/>
            <a:ext cx="6162280" cy="37670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1AF449-1F36-4F16-9E75-2DAB9D6FA6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02" y="2218448"/>
            <a:ext cx="5905500" cy="44291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E348929-182A-4FC1-A7B4-CF91CF6727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352" y="3677007"/>
            <a:ext cx="4572000" cy="2552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1855A5-C4A2-4D49-A782-DB15DBC97E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8070" y="3756621"/>
            <a:ext cx="2886047" cy="260217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E24A4B4-9FF7-4D30-9179-86B511658BE5}"/>
              </a:ext>
            </a:extLst>
          </p:cNvPr>
          <p:cNvSpPr/>
          <p:nvPr/>
        </p:nvSpPr>
        <p:spPr>
          <a:xfrm>
            <a:off x="7815700" y="2287731"/>
            <a:ext cx="28953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7200" b="1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193%</a:t>
            </a:r>
            <a:endParaRPr lang="en-AU" sz="7200" dirty="0">
              <a:solidFill>
                <a:srgbClr val="C0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91371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9AEEB7C-FCB4-40BC-AFD2-18C03C063159}"/>
              </a:ext>
            </a:extLst>
          </p:cNvPr>
          <p:cNvSpPr/>
          <p:nvPr/>
        </p:nvSpPr>
        <p:spPr>
          <a:xfrm>
            <a:off x="338205" y="1982840"/>
            <a:ext cx="1161429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These two types of graphs are used to show a whole divided into parts so you can easily compare.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7A62796-C4FE-468B-BBB4-C170BDC92E1C}"/>
              </a:ext>
            </a:extLst>
          </p:cNvPr>
          <p:cNvSpPr txBox="1">
            <a:spLocks/>
          </p:cNvSpPr>
          <p:nvPr/>
        </p:nvSpPr>
        <p:spPr>
          <a:xfrm>
            <a:off x="69954" y="743223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b="1" dirty="0">
                <a:latin typeface="+mn-lt"/>
              </a:rPr>
              <a:t>Divided Bar Graphs and Sector Graphs</a:t>
            </a:r>
          </a:p>
        </p:txBody>
      </p:sp>
      <p:graphicFrame>
        <p:nvGraphicFramePr>
          <p:cNvPr id="7" name="Chart 6"/>
          <p:cNvGraphicFramePr/>
          <p:nvPr/>
        </p:nvGraphicFramePr>
        <p:xfrm>
          <a:off x="7363230" y="3348231"/>
          <a:ext cx="5466080" cy="3078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1401" y="3770596"/>
          <a:ext cx="3511320" cy="22183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1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9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AU" sz="2400" u="none" strike="noStrike" dirty="0">
                          <a:effectLst/>
                        </a:rPr>
                        <a:t> </a:t>
                      </a:r>
                      <a:endParaRPr lang="en-AU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 dirty="0">
                          <a:effectLst/>
                        </a:rPr>
                        <a:t>Favourite ice-cream flavour</a:t>
                      </a:r>
                      <a:endParaRPr lang="en-AU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AU" sz="2400" u="none" strike="noStrike">
                          <a:effectLst/>
                        </a:rPr>
                        <a:t>Chocolate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 dirty="0">
                          <a:effectLst/>
                        </a:rPr>
                        <a:t>12</a:t>
                      </a:r>
                      <a:endParaRPr lang="en-AU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AU" sz="2400" u="none" strike="noStrike">
                          <a:effectLst/>
                        </a:rPr>
                        <a:t>Vanilla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 dirty="0">
                          <a:effectLst/>
                        </a:rPr>
                        <a:t>4</a:t>
                      </a:r>
                      <a:endParaRPr lang="en-AU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AU" sz="2400" u="none" strike="noStrike">
                          <a:effectLst/>
                        </a:rPr>
                        <a:t>Strawberry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 dirty="0">
                          <a:effectLst/>
                        </a:rPr>
                        <a:t>7</a:t>
                      </a:r>
                      <a:endParaRPr lang="en-AU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AU" sz="2400" u="none" strike="noStrike">
                          <a:effectLst/>
                        </a:rPr>
                        <a:t>Banana</a:t>
                      </a:r>
                      <a:endParaRPr lang="en-AU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400" u="none" strike="noStrike" dirty="0">
                          <a:effectLst/>
                        </a:rPr>
                        <a:t>1</a:t>
                      </a:r>
                      <a:endParaRPr lang="en-AU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00666" y="4570095"/>
            <a:ext cx="1440000" cy="540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7758266" y="4570095"/>
            <a:ext cx="1188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6440666" y="4570095"/>
            <a:ext cx="478800" cy="54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/>
          <p:cNvSpPr/>
          <p:nvPr/>
        </p:nvSpPr>
        <p:spPr>
          <a:xfrm>
            <a:off x="6919466" y="4570095"/>
            <a:ext cx="838800" cy="5400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121" y="5988971"/>
            <a:ext cx="3490979" cy="45596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032" y="3404623"/>
            <a:ext cx="3163268" cy="46238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BA360F2-9649-474C-B328-5A959D336D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5876" y="2148505"/>
            <a:ext cx="5960245" cy="39662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2154198-86B4-4268-95D9-1C2648829A58}"/>
              </a:ext>
            </a:extLst>
          </p:cNvPr>
          <p:cNvSpPr txBox="1"/>
          <p:nvPr/>
        </p:nvSpPr>
        <p:spPr>
          <a:xfrm>
            <a:off x="0" y="-99565"/>
            <a:ext cx="481321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Activating Prior Knowledge</a:t>
            </a:r>
          </a:p>
        </p:txBody>
      </p:sp>
      <p:pic>
        <p:nvPicPr>
          <p:cNvPr id="1026" name="Picture 2" descr="Memebase - graphs - All Your Memes In Our Base - Funny Memes ..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634" y="2095195"/>
            <a:ext cx="7620000" cy="4000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is just happened tonight | Funny charts, Funny pie charts, Funny ...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36"/>
          <a:stretch/>
        </p:blipFill>
        <p:spPr bwMode="auto">
          <a:xfrm>
            <a:off x="2072608" y="87467"/>
            <a:ext cx="8145490" cy="7177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064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P spid="10" grpId="0" animBg="1"/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20CD441-8408-423D-BF90-6A9010CB1C0A}"/>
              </a:ext>
            </a:extLst>
          </p:cNvPr>
          <p:cNvSpPr txBox="1"/>
          <p:nvPr/>
        </p:nvSpPr>
        <p:spPr>
          <a:xfrm>
            <a:off x="0" y="-6605"/>
            <a:ext cx="481321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Activating Prior Knowledge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DDCA27-4316-4A13-947D-DEF3A44B22E7}"/>
              </a:ext>
            </a:extLst>
          </p:cNvPr>
          <p:cNvSpPr/>
          <p:nvPr/>
        </p:nvSpPr>
        <p:spPr>
          <a:xfrm>
            <a:off x="288853" y="690215"/>
            <a:ext cx="116142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b="1" dirty="0"/>
              <a:t>What graphs have you used so far in school?</a:t>
            </a:r>
          </a:p>
        </p:txBody>
      </p:sp>
      <p:pic>
        <p:nvPicPr>
          <p:cNvPr id="6" name="Picture 2" descr="Image result for bar grap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1457493"/>
            <a:ext cx="3019425" cy="185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EDDCA27-4316-4A13-947D-DEF3A44B22E7}"/>
              </a:ext>
            </a:extLst>
          </p:cNvPr>
          <p:cNvSpPr/>
          <p:nvPr/>
        </p:nvSpPr>
        <p:spPr>
          <a:xfrm>
            <a:off x="569347" y="3276069"/>
            <a:ext cx="25474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Bar Graph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32" y="3989268"/>
            <a:ext cx="2353733" cy="17653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EDDCA27-4316-4A13-947D-DEF3A44B22E7}"/>
              </a:ext>
            </a:extLst>
          </p:cNvPr>
          <p:cNvSpPr/>
          <p:nvPr/>
        </p:nvSpPr>
        <p:spPr>
          <a:xfrm>
            <a:off x="553507" y="5788435"/>
            <a:ext cx="25474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Column Graph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9812" y="1507414"/>
            <a:ext cx="2619375" cy="17526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EDDCA27-4316-4A13-947D-DEF3A44B22E7}"/>
              </a:ext>
            </a:extLst>
          </p:cNvPr>
          <p:cNvSpPr/>
          <p:nvPr/>
        </p:nvSpPr>
        <p:spPr>
          <a:xfrm>
            <a:off x="8859307" y="3276069"/>
            <a:ext cx="25474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Histogram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2492" y="3989268"/>
            <a:ext cx="2724150" cy="16764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EDDCA27-4316-4A13-947D-DEF3A44B22E7}"/>
              </a:ext>
            </a:extLst>
          </p:cNvPr>
          <p:cNvSpPr/>
          <p:nvPr/>
        </p:nvSpPr>
        <p:spPr>
          <a:xfrm>
            <a:off x="4360827" y="5788435"/>
            <a:ext cx="25474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Sector Graph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6395" y="4091152"/>
            <a:ext cx="3267075" cy="14001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EDDCA27-4316-4A13-947D-DEF3A44B22E7}"/>
              </a:ext>
            </a:extLst>
          </p:cNvPr>
          <p:cNvSpPr/>
          <p:nvPr/>
        </p:nvSpPr>
        <p:spPr>
          <a:xfrm>
            <a:off x="8551333" y="5783190"/>
            <a:ext cx="2997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Divided Bar Graph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6683" y="1420698"/>
            <a:ext cx="3972438" cy="192603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EDDCA27-4316-4A13-947D-DEF3A44B22E7}"/>
              </a:ext>
            </a:extLst>
          </p:cNvPr>
          <p:cNvSpPr/>
          <p:nvPr/>
        </p:nvSpPr>
        <p:spPr>
          <a:xfrm>
            <a:off x="4449162" y="3276069"/>
            <a:ext cx="25474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Scatter Plot</a:t>
            </a:r>
          </a:p>
        </p:txBody>
      </p:sp>
      <p:pic>
        <p:nvPicPr>
          <p:cNvPr id="1028" name="Picture 4" descr="Stem and Leaf plot - Graphically Speaki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27" y="2341770"/>
            <a:ext cx="5390824" cy="269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504" y="2619345"/>
            <a:ext cx="4421187" cy="17461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67708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/>
      <p:bldP spid="18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9AEEB7C-FCB4-40BC-AFD2-18C03C063159}"/>
              </a:ext>
            </a:extLst>
          </p:cNvPr>
          <p:cNvSpPr/>
          <p:nvPr/>
        </p:nvSpPr>
        <p:spPr>
          <a:xfrm>
            <a:off x="298854" y="1392926"/>
            <a:ext cx="11614296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Another way to represent data is to use a stem-and-leaf plot.</a:t>
            </a:r>
          </a:p>
          <a:p>
            <a:pPr algn="ctr"/>
            <a:endParaRPr lang="en-AU" dirty="0"/>
          </a:p>
          <a:p>
            <a:pPr algn="ctr"/>
            <a:r>
              <a:rPr lang="en-AU" sz="3200" dirty="0"/>
              <a:t>A stem-and-leaf plot is a good way to represent a large amount of numerical data. It also shows individual data points.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F0016E-2287-49D5-8B00-1D1312815045}"/>
              </a:ext>
            </a:extLst>
          </p:cNvPr>
          <p:cNvSpPr/>
          <p:nvPr/>
        </p:nvSpPr>
        <p:spPr>
          <a:xfrm>
            <a:off x="617223" y="3367191"/>
            <a:ext cx="4904054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The numbers of ‘leaves’ represents the number data points.</a:t>
            </a:r>
          </a:p>
          <a:p>
            <a:pPr algn="ctr"/>
            <a:endParaRPr lang="en-AU" sz="1400" dirty="0"/>
          </a:p>
          <a:p>
            <a:pPr algn="ctr"/>
            <a:r>
              <a:rPr lang="en-AU" sz="3200" dirty="0"/>
              <a:t>When ordered correctly it can also be used to quickly interpret range and mode.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7A62796-C4FE-468B-BBB4-C170BDC92E1C}"/>
              </a:ext>
            </a:extLst>
          </p:cNvPr>
          <p:cNvSpPr txBox="1">
            <a:spLocks/>
          </p:cNvSpPr>
          <p:nvPr/>
        </p:nvSpPr>
        <p:spPr>
          <a:xfrm>
            <a:off x="139909" y="669036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dirty="0">
                <a:latin typeface="Arial Black" panose="020B0A04020102020204" pitchFamily="34" charset="0"/>
              </a:rPr>
              <a:t>Stem-and-Leaf Plots</a:t>
            </a:r>
          </a:p>
        </p:txBody>
      </p:sp>
      <p:pic>
        <p:nvPicPr>
          <p:cNvPr id="1026" name="Picture 2" descr="Image result for stem and leaf plo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459" y="3280128"/>
            <a:ext cx="5398057" cy="3436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FD15C8-FF46-4076-B5DB-1C62E638D6D4}"/>
              </a:ext>
            </a:extLst>
          </p:cNvPr>
          <p:cNvSpPr txBox="1"/>
          <p:nvPr/>
        </p:nvSpPr>
        <p:spPr>
          <a:xfrm>
            <a:off x="0" y="-20052"/>
            <a:ext cx="481321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Activating Prior Knowledge</a:t>
            </a:r>
          </a:p>
        </p:txBody>
      </p:sp>
    </p:spTree>
    <p:extLst>
      <p:ext uri="{BB962C8B-B14F-4D97-AF65-F5344CB8AC3E}">
        <p14:creationId xmlns:p14="http://schemas.microsoft.com/office/powerpoint/2010/main" val="351624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31BDC5F-A4C4-4A6D-B4CB-35003EAA3C7E}"/>
              </a:ext>
            </a:extLst>
          </p:cNvPr>
          <p:cNvSpPr/>
          <p:nvPr/>
        </p:nvSpPr>
        <p:spPr>
          <a:xfrm>
            <a:off x="7762936" y="3620594"/>
            <a:ext cx="4883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87AE21-E82B-4162-9E03-6BB7E3195E2B}"/>
              </a:ext>
            </a:extLst>
          </p:cNvPr>
          <p:cNvSpPr/>
          <p:nvPr/>
        </p:nvSpPr>
        <p:spPr>
          <a:xfrm>
            <a:off x="7761473" y="5751030"/>
            <a:ext cx="4883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B9A2ED-0BDB-4893-A09D-965AC5D770C8}"/>
              </a:ext>
            </a:extLst>
          </p:cNvPr>
          <p:cNvSpPr/>
          <p:nvPr/>
        </p:nvSpPr>
        <p:spPr>
          <a:xfrm>
            <a:off x="7765435" y="4175642"/>
            <a:ext cx="4883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AB28A8-5719-4EDD-AF50-DC6FDB662377}"/>
              </a:ext>
            </a:extLst>
          </p:cNvPr>
          <p:cNvSpPr/>
          <p:nvPr/>
        </p:nvSpPr>
        <p:spPr>
          <a:xfrm>
            <a:off x="7761473" y="4698862"/>
            <a:ext cx="4883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870607-5D22-4F15-9361-EC62E43729EF}"/>
              </a:ext>
            </a:extLst>
          </p:cNvPr>
          <p:cNvSpPr/>
          <p:nvPr/>
        </p:nvSpPr>
        <p:spPr>
          <a:xfrm>
            <a:off x="7761473" y="5222082"/>
            <a:ext cx="4883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3BDBE3-EE88-4207-B149-71A6C1630FFE}"/>
              </a:ext>
            </a:extLst>
          </p:cNvPr>
          <p:cNvSpPr/>
          <p:nvPr/>
        </p:nvSpPr>
        <p:spPr>
          <a:xfrm>
            <a:off x="6213370" y="2327213"/>
            <a:ext cx="576349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Number of Hours</a:t>
            </a:r>
          </a:p>
        </p:txBody>
      </p:sp>
      <p:cxnSp>
        <p:nvCxnSpPr>
          <p:cNvPr id="3" name="Straight Connector 2"/>
          <p:cNvCxnSpPr>
            <a:cxnSpLocks/>
          </p:cNvCxnSpPr>
          <p:nvPr/>
        </p:nvCxnSpPr>
        <p:spPr>
          <a:xfrm>
            <a:off x="8442731" y="2979998"/>
            <a:ext cx="0" cy="343589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73BDBE3-EE88-4207-B149-71A6C1630FFE}"/>
              </a:ext>
            </a:extLst>
          </p:cNvPr>
          <p:cNvSpPr/>
          <p:nvPr/>
        </p:nvSpPr>
        <p:spPr>
          <a:xfrm>
            <a:off x="7066098" y="2979998"/>
            <a:ext cx="962617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AU" sz="2800" u="sng" dirty="0"/>
              <a:t>Stem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73BDBE3-EE88-4207-B149-71A6C1630FFE}"/>
              </a:ext>
            </a:extLst>
          </p:cNvPr>
          <p:cNvSpPr/>
          <p:nvPr/>
        </p:nvSpPr>
        <p:spPr>
          <a:xfrm>
            <a:off x="8900141" y="2979998"/>
            <a:ext cx="962617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AU" sz="2800" u="sng" dirty="0"/>
              <a:t>Leaf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31BDC5F-A4C4-4A6D-B4CB-35003EAA3C7E}"/>
              </a:ext>
            </a:extLst>
          </p:cNvPr>
          <p:cNvSpPr/>
          <p:nvPr/>
        </p:nvSpPr>
        <p:spPr>
          <a:xfrm>
            <a:off x="8682306" y="3620594"/>
            <a:ext cx="4883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31BDC5F-A4C4-4A6D-B4CB-35003EAA3C7E}"/>
              </a:ext>
            </a:extLst>
          </p:cNvPr>
          <p:cNvSpPr/>
          <p:nvPr/>
        </p:nvSpPr>
        <p:spPr>
          <a:xfrm>
            <a:off x="9187530" y="3620594"/>
            <a:ext cx="488313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31BDC5F-A4C4-4A6D-B4CB-35003EAA3C7E}"/>
              </a:ext>
            </a:extLst>
          </p:cNvPr>
          <p:cNvSpPr/>
          <p:nvPr/>
        </p:nvSpPr>
        <p:spPr>
          <a:xfrm>
            <a:off x="8684804" y="4175642"/>
            <a:ext cx="488313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31BDC5F-A4C4-4A6D-B4CB-35003EAA3C7E}"/>
              </a:ext>
            </a:extLst>
          </p:cNvPr>
          <p:cNvSpPr/>
          <p:nvPr/>
        </p:nvSpPr>
        <p:spPr>
          <a:xfrm>
            <a:off x="8680839" y="5751030"/>
            <a:ext cx="488313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31BDC5F-A4C4-4A6D-B4CB-35003EAA3C7E}"/>
              </a:ext>
            </a:extLst>
          </p:cNvPr>
          <p:cNvSpPr/>
          <p:nvPr/>
        </p:nvSpPr>
        <p:spPr>
          <a:xfrm>
            <a:off x="8680841" y="4698862"/>
            <a:ext cx="488313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2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31BDC5F-A4C4-4A6D-B4CB-35003EAA3C7E}"/>
              </a:ext>
            </a:extLst>
          </p:cNvPr>
          <p:cNvSpPr/>
          <p:nvPr/>
        </p:nvSpPr>
        <p:spPr>
          <a:xfrm>
            <a:off x="10179603" y="4693833"/>
            <a:ext cx="488313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8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31BDC5F-A4C4-4A6D-B4CB-35003EAA3C7E}"/>
              </a:ext>
            </a:extLst>
          </p:cNvPr>
          <p:cNvSpPr/>
          <p:nvPr/>
        </p:nvSpPr>
        <p:spPr>
          <a:xfrm>
            <a:off x="9186065" y="5226990"/>
            <a:ext cx="488313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8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31BDC5F-A4C4-4A6D-B4CB-35003EAA3C7E}"/>
              </a:ext>
            </a:extLst>
          </p:cNvPr>
          <p:cNvSpPr/>
          <p:nvPr/>
        </p:nvSpPr>
        <p:spPr>
          <a:xfrm>
            <a:off x="8680839" y="5222082"/>
            <a:ext cx="488313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31BDC5F-A4C4-4A6D-B4CB-35003EAA3C7E}"/>
              </a:ext>
            </a:extLst>
          </p:cNvPr>
          <p:cNvSpPr/>
          <p:nvPr/>
        </p:nvSpPr>
        <p:spPr>
          <a:xfrm>
            <a:off x="9186066" y="4698862"/>
            <a:ext cx="488313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4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31BDC5F-A4C4-4A6D-B4CB-35003EAA3C7E}"/>
              </a:ext>
            </a:extLst>
          </p:cNvPr>
          <p:cNvSpPr/>
          <p:nvPr/>
        </p:nvSpPr>
        <p:spPr>
          <a:xfrm>
            <a:off x="9691290" y="4693833"/>
            <a:ext cx="488313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7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31BDC5F-A4C4-4A6D-B4CB-35003EAA3C7E}"/>
              </a:ext>
            </a:extLst>
          </p:cNvPr>
          <p:cNvSpPr/>
          <p:nvPr/>
        </p:nvSpPr>
        <p:spPr>
          <a:xfrm>
            <a:off x="9691290" y="3620594"/>
            <a:ext cx="488313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9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31BDC5F-A4C4-4A6D-B4CB-35003EAA3C7E}"/>
              </a:ext>
            </a:extLst>
          </p:cNvPr>
          <p:cNvSpPr/>
          <p:nvPr/>
        </p:nvSpPr>
        <p:spPr>
          <a:xfrm>
            <a:off x="9191706" y="5751030"/>
            <a:ext cx="488313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98BAF67-5CCD-41DB-B4D1-4B810B4DFD7E}"/>
              </a:ext>
            </a:extLst>
          </p:cNvPr>
          <p:cNvSpPr/>
          <p:nvPr/>
        </p:nvSpPr>
        <p:spPr>
          <a:xfrm>
            <a:off x="833720" y="1185706"/>
            <a:ext cx="10792854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3600" b="1" dirty="0"/>
              <a:t>59	88	72	63	77	78	54	90	51	95	83	74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D1807D6-7D9A-40A0-8A42-CE3348AF6557}"/>
              </a:ext>
            </a:extLst>
          </p:cNvPr>
          <p:cNvSpPr/>
          <p:nvPr/>
        </p:nvSpPr>
        <p:spPr>
          <a:xfrm>
            <a:off x="833720" y="581166"/>
            <a:ext cx="10792854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Number of hours spent on the phone each month.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3BBDEEA-FA61-493B-AEE3-DF43FC58214B}"/>
              </a:ext>
            </a:extLst>
          </p:cNvPr>
          <p:cNvSpPr/>
          <p:nvPr/>
        </p:nvSpPr>
        <p:spPr>
          <a:xfrm>
            <a:off x="9744620" y="6188665"/>
            <a:ext cx="230774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2800" dirty="0"/>
              <a:t>Key: 9 l 0 = 90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15EBE9-819E-4C68-8AA0-AF2F1EF5E4BB}"/>
              </a:ext>
            </a:extLst>
          </p:cNvPr>
          <p:cNvSpPr/>
          <p:nvPr/>
        </p:nvSpPr>
        <p:spPr>
          <a:xfrm>
            <a:off x="183449" y="2037820"/>
            <a:ext cx="6029921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2400" b="1" dirty="0"/>
              <a:t>Step 1</a:t>
            </a:r>
            <a:r>
              <a:rPr lang="en-AU" sz="2400" dirty="0"/>
              <a:t>: Draw a vertical line. Label the left side ‘stem’ and the right side ‘leaf’.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6004A86-9800-462E-8748-3A31E552CA50}"/>
              </a:ext>
            </a:extLst>
          </p:cNvPr>
          <p:cNvSpPr/>
          <p:nvPr/>
        </p:nvSpPr>
        <p:spPr>
          <a:xfrm>
            <a:off x="183449" y="2993591"/>
            <a:ext cx="6029921" cy="120032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2400" b="1" dirty="0"/>
              <a:t>Step 2</a:t>
            </a:r>
            <a:r>
              <a:rPr lang="en-AU" sz="2400" dirty="0"/>
              <a:t>: Cover the digit on the right. Looking at the digit/s on the left, place the numbers in ascending order in the stem column.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61FC050-9E17-48D8-B7AD-C4933BED0929}"/>
              </a:ext>
            </a:extLst>
          </p:cNvPr>
          <p:cNvSpPr/>
          <p:nvPr/>
        </p:nvSpPr>
        <p:spPr>
          <a:xfrm>
            <a:off x="183449" y="4341122"/>
            <a:ext cx="6029921" cy="120032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2400" b="1" dirty="0"/>
              <a:t>Step 3</a:t>
            </a:r>
            <a:r>
              <a:rPr lang="en-AU" sz="2400" dirty="0"/>
              <a:t>: Now look at the ones column of your data. Place these in the leaf column in line with the appropriate stem.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2167A1D-19E7-4F09-BA68-16D1D8BA1730}"/>
              </a:ext>
            </a:extLst>
          </p:cNvPr>
          <p:cNvSpPr/>
          <p:nvPr/>
        </p:nvSpPr>
        <p:spPr>
          <a:xfrm>
            <a:off x="183449" y="5688653"/>
            <a:ext cx="6029921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2400" b="1" dirty="0"/>
              <a:t>Step 4</a:t>
            </a:r>
            <a:r>
              <a:rPr lang="en-AU" sz="2400" dirty="0"/>
              <a:t>: Label your dot plot.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388FBE9-1295-4E63-88F4-F330CF4EF280}"/>
              </a:ext>
            </a:extLst>
          </p:cNvPr>
          <p:cNvSpPr/>
          <p:nvPr/>
        </p:nvSpPr>
        <p:spPr>
          <a:xfrm>
            <a:off x="183449" y="6297520"/>
            <a:ext cx="6029921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2400" b="1" dirty="0"/>
              <a:t>Step 5</a:t>
            </a:r>
            <a:r>
              <a:rPr lang="en-AU" sz="2400" dirty="0"/>
              <a:t>: Rearrange data if needed and write key.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698605-C29B-48C7-ADC9-A7F94ECDC8DC}"/>
              </a:ext>
            </a:extLst>
          </p:cNvPr>
          <p:cNvSpPr txBox="1"/>
          <p:nvPr/>
        </p:nvSpPr>
        <p:spPr>
          <a:xfrm>
            <a:off x="0" y="-20052"/>
            <a:ext cx="481321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Activating Prior Knowledge</a:t>
            </a:r>
          </a:p>
        </p:txBody>
      </p:sp>
    </p:spTree>
    <p:extLst>
      <p:ext uri="{BB962C8B-B14F-4D97-AF65-F5344CB8AC3E}">
        <p14:creationId xmlns:p14="http://schemas.microsoft.com/office/powerpoint/2010/main" val="146859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6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62796-C4FE-468B-BBB4-C170BDC92E1C}"/>
              </a:ext>
            </a:extLst>
          </p:cNvPr>
          <p:cNvSpPr txBox="1">
            <a:spLocks/>
          </p:cNvSpPr>
          <p:nvPr/>
        </p:nvSpPr>
        <p:spPr>
          <a:xfrm>
            <a:off x="3310182" y="155942"/>
            <a:ext cx="882386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b="1" dirty="0">
                <a:latin typeface="+mn-lt"/>
              </a:rPr>
              <a:t>Finding fractions of a whole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353887" y="2289490"/>
              <a:ext cx="8128000" cy="43455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Types of Pet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Number recorded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Fraction of a whole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Length of line (mm)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Sector angle </a:t>
                          </a:r>
                        </a:p>
                        <a:p>
                          <a:pPr algn="ctr"/>
                          <a:r>
                            <a:rPr lang="en-AU" dirty="0"/>
                            <a:t>(°)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Dog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78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78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260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2400" dirty="0"/>
                            <a:t> = 0.3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108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Cat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65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65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260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2400" dirty="0"/>
                            <a:t> = 0.25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Bird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39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39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260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2400" dirty="0"/>
                            <a:t> = 0.15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19.5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54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Rabbit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26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26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260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2400" dirty="0"/>
                            <a:t> = 0.10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Other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52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52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260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sz="2400" dirty="0"/>
                            <a:t> = 0.20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72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130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360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7062836"/>
                  </p:ext>
                </p:extLst>
              </p:nvPr>
            </p:nvGraphicFramePr>
            <p:xfrm>
              <a:off x="353887" y="2289490"/>
              <a:ext cx="8128000" cy="43455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/>
                    <a:gridCol w="1625600"/>
                    <a:gridCol w="1625600"/>
                    <a:gridCol w="1625600"/>
                    <a:gridCol w="1625600"/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 smtClean="0"/>
                            <a:t>Types of Pet</a:t>
                          </a:r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 smtClean="0"/>
                            <a:t>Number recorded</a:t>
                          </a:r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 smtClean="0"/>
                            <a:t>Fraction of a whole</a:t>
                          </a:r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Length of line (mm)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Sector angle </a:t>
                          </a:r>
                        </a:p>
                        <a:p>
                          <a:pPr algn="ctr"/>
                          <a:r>
                            <a:rPr lang="en-AU" dirty="0" smtClean="0"/>
                            <a:t>(°)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6109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 smtClean="0"/>
                            <a:t>Dog</a:t>
                          </a:r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 smtClean="0"/>
                            <a:t>78</a:t>
                          </a:r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01128" t="-140594" r="-202256" b="-4950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39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108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616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 smtClean="0"/>
                            <a:t>Cat</a:t>
                          </a:r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 smtClean="0"/>
                            <a:t>65</a:t>
                          </a:r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01128" t="-240594" r="-202256" b="-3950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32.5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90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6109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 smtClean="0"/>
                            <a:t>Bird</a:t>
                          </a:r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 smtClean="0"/>
                            <a:t>39</a:t>
                          </a:r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01128" t="-344000" r="-202256" b="-299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19.5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54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6109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 smtClean="0"/>
                            <a:t>Rabbit</a:t>
                          </a:r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 smtClean="0"/>
                            <a:t>26</a:t>
                          </a:r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01128" t="-439604" r="-202256" b="-1960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13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36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616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 smtClean="0"/>
                            <a:t>Other</a:t>
                          </a:r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 smtClean="0"/>
                            <a:t>52</a:t>
                          </a:r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01128" t="-539604" r="-202256" b="-960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26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72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 smtClean="0"/>
                            <a:t>Total</a:t>
                          </a:r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 smtClean="0"/>
                            <a:t>260</a:t>
                          </a:r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400" dirty="0" smtClean="0"/>
                            <a:t>1</a:t>
                          </a:r>
                          <a:endParaRPr lang="en-A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130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360</a:t>
                          </a:r>
                          <a:endParaRPr lang="en-AU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A9AEEB7C-FCB4-40BC-AFD2-18C03C063159}"/>
              </a:ext>
            </a:extLst>
          </p:cNvPr>
          <p:cNvSpPr/>
          <p:nvPr/>
        </p:nvSpPr>
        <p:spPr>
          <a:xfrm>
            <a:off x="300848" y="1521688"/>
            <a:ext cx="116142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Divide each number by the total to get the fraction of a whole.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21154" y="2289490"/>
            <a:ext cx="3469136" cy="4397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3615782" y="3110426"/>
            <a:ext cx="1885805" cy="5859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3608800" y="3696393"/>
            <a:ext cx="1885805" cy="662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3615781" y="4359151"/>
            <a:ext cx="1885805" cy="5747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3608799" y="4933924"/>
            <a:ext cx="1885805" cy="6132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3615781" y="5547212"/>
            <a:ext cx="1885805" cy="10865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AEEB7C-FCB4-40BC-AFD2-18C03C063159}"/>
              </a:ext>
            </a:extLst>
          </p:cNvPr>
          <p:cNvSpPr/>
          <p:nvPr/>
        </p:nvSpPr>
        <p:spPr>
          <a:xfrm>
            <a:off x="300848" y="935721"/>
            <a:ext cx="116142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Add the number of responses to find the total.</a:t>
            </a:r>
          </a:p>
        </p:txBody>
      </p:sp>
      <p:sp>
        <p:nvSpPr>
          <p:cNvPr id="13" name="Freeform 12"/>
          <p:cNvSpPr/>
          <p:nvPr/>
        </p:nvSpPr>
        <p:spPr>
          <a:xfrm>
            <a:off x="2395631" y="6119733"/>
            <a:ext cx="837618" cy="523512"/>
          </a:xfrm>
          <a:custGeom>
            <a:avLst/>
            <a:gdLst>
              <a:gd name="connsiteX0" fmla="*/ 691633 w 1012720"/>
              <a:gd name="connsiteY0" fmla="*/ 154650 h 859645"/>
              <a:gd name="connsiteX1" fmla="*/ 621831 w 1012720"/>
              <a:gd name="connsiteY1" fmla="*/ 147670 h 859645"/>
              <a:gd name="connsiteX2" fmla="*/ 593911 w 1012720"/>
              <a:gd name="connsiteY2" fmla="*/ 126729 h 859645"/>
              <a:gd name="connsiteX3" fmla="*/ 517129 w 1012720"/>
              <a:gd name="connsiteY3" fmla="*/ 105789 h 859645"/>
              <a:gd name="connsiteX4" fmla="*/ 482228 w 1012720"/>
              <a:gd name="connsiteY4" fmla="*/ 91828 h 859645"/>
              <a:gd name="connsiteX5" fmla="*/ 461288 w 1012720"/>
              <a:gd name="connsiteY5" fmla="*/ 84848 h 859645"/>
              <a:gd name="connsiteX6" fmla="*/ 349605 w 1012720"/>
              <a:gd name="connsiteY6" fmla="*/ 77868 h 859645"/>
              <a:gd name="connsiteX7" fmla="*/ 223963 w 1012720"/>
              <a:gd name="connsiteY7" fmla="*/ 84848 h 859645"/>
              <a:gd name="connsiteX8" fmla="*/ 189062 w 1012720"/>
              <a:gd name="connsiteY8" fmla="*/ 105789 h 859645"/>
              <a:gd name="connsiteX9" fmla="*/ 133221 w 1012720"/>
              <a:gd name="connsiteY9" fmla="*/ 140689 h 859645"/>
              <a:gd name="connsiteX10" fmla="*/ 119260 w 1012720"/>
              <a:gd name="connsiteY10" fmla="*/ 161630 h 859645"/>
              <a:gd name="connsiteX11" fmla="*/ 98320 w 1012720"/>
              <a:gd name="connsiteY11" fmla="*/ 168610 h 859645"/>
              <a:gd name="connsiteX12" fmla="*/ 63419 w 1012720"/>
              <a:gd name="connsiteY12" fmla="*/ 203511 h 859645"/>
              <a:gd name="connsiteX13" fmla="*/ 35498 w 1012720"/>
              <a:gd name="connsiteY13" fmla="*/ 266332 h 859645"/>
              <a:gd name="connsiteX14" fmla="*/ 28518 w 1012720"/>
              <a:gd name="connsiteY14" fmla="*/ 301233 h 859645"/>
              <a:gd name="connsiteX15" fmla="*/ 14558 w 1012720"/>
              <a:gd name="connsiteY15" fmla="*/ 322173 h 859645"/>
              <a:gd name="connsiteX16" fmla="*/ 598 w 1012720"/>
              <a:gd name="connsiteY16" fmla="*/ 391975 h 859645"/>
              <a:gd name="connsiteX17" fmla="*/ 7578 w 1012720"/>
              <a:gd name="connsiteY17" fmla="*/ 566479 h 859645"/>
              <a:gd name="connsiteX18" fmla="*/ 28518 w 1012720"/>
              <a:gd name="connsiteY18" fmla="*/ 622320 h 859645"/>
              <a:gd name="connsiteX19" fmla="*/ 77379 w 1012720"/>
              <a:gd name="connsiteY19" fmla="*/ 685141 h 859645"/>
              <a:gd name="connsiteX20" fmla="*/ 98320 w 1012720"/>
              <a:gd name="connsiteY20" fmla="*/ 699102 h 859645"/>
              <a:gd name="connsiteX21" fmla="*/ 133221 w 1012720"/>
              <a:gd name="connsiteY21" fmla="*/ 713062 h 859645"/>
              <a:gd name="connsiteX22" fmla="*/ 182082 w 1012720"/>
              <a:gd name="connsiteY22" fmla="*/ 740983 h 859645"/>
              <a:gd name="connsiteX23" fmla="*/ 223963 w 1012720"/>
              <a:gd name="connsiteY23" fmla="*/ 761923 h 859645"/>
              <a:gd name="connsiteX24" fmla="*/ 272824 w 1012720"/>
              <a:gd name="connsiteY24" fmla="*/ 789844 h 859645"/>
              <a:gd name="connsiteX25" fmla="*/ 314705 w 1012720"/>
              <a:gd name="connsiteY25" fmla="*/ 796824 h 859645"/>
              <a:gd name="connsiteX26" fmla="*/ 391486 w 1012720"/>
              <a:gd name="connsiteY26" fmla="*/ 824744 h 859645"/>
              <a:gd name="connsiteX27" fmla="*/ 419407 w 1012720"/>
              <a:gd name="connsiteY27" fmla="*/ 845685 h 859645"/>
              <a:gd name="connsiteX28" fmla="*/ 475248 w 1012720"/>
              <a:gd name="connsiteY28" fmla="*/ 859645 h 859645"/>
              <a:gd name="connsiteX29" fmla="*/ 803315 w 1012720"/>
              <a:gd name="connsiteY29" fmla="*/ 838705 h 859645"/>
              <a:gd name="connsiteX30" fmla="*/ 824256 w 1012720"/>
              <a:gd name="connsiteY30" fmla="*/ 831725 h 859645"/>
              <a:gd name="connsiteX31" fmla="*/ 859156 w 1012720"/>
              <a:gd name="connsiteY31" fmla="*/ 810784 h 859645"/>
              <a:gd name="connsiteX32" fmla="*/ 901037 w 1012720"/>
              <a:gd name="connsiteY32" fmla="*/ 789844 h 859645"/>
              <a:gd name="connsiteX33" fmla="*/ 928958 w 1012720"/>
              <a:gd name="connsiteY33" fmla="*/ 761923 h 859645"/>
              <a:gd name="connsiteX34" fmla="*/ 949898 w 1012720"/>
              <a:gd name="connsiteY34" fmla="*/ 747963 h 859645"/>
              <a:gd name="connsiteX35" fmla="*/ 977819 w 1012720"/>
              <a:gd name="connsiteY35" fmla="*/ 720042 h 859645"/>
              <a:gd name="connsiteX36" fmla="*/ 991779 w 1012720"/>
              <a:gd name="connsiteY36" fmla="*/ 692121 h 859645"/>
              <a:gd name="connsiteX37" fmla="*/ 998760 w 1012720"/>
              <a:gd name="connsiteY37" fmla="*/ 671181 h 859645"/>
              <a:gd name="connsiteX38" fmla="*/ 1012720 w 1012720"/>
              <a:gd name="connsiteY38" fmla="*/ 650241 h 859645"/>
              <a:gd name="connsiteX39" fmla="*/ 970839 w 1012720"/>
              <a:gd name="connsiteY39" fmla="*/ 489697 h 859645"/>
              <a:gd name="connsiteX40" fmla="*/ 963859 w 1012720"/>
              <a:gd name="connsiteY40" fmla="*/ 461776 h 859645"/>
              <a:gd name="connsiteX41" fmla="*/ 928958 w 1012720"/>
              <a:gd name="connsiteY41" fmla="*/ 419896 h 859645"/>
              <a:gd name="connsiteX42" fmla="*/ 921978 w 1012720"/>
              <a:gd name="connsiteY42" fmla="*/ 398955 h 859645"/>
              <a:gd name="connsiteX43" fmla="*/ 866137 w 1012720"/>
              <a:gd name="connsiteY43" fmla="*/ 336134 h 859645"/>
              <a:gd name="connsiteX44" fmla="*/ 845196 w 1012720"/>
              <a:gd name="connsiteY44" fmla="*/ 322173 h 859645"/>
              <a:gd name="connsiteX45" fmla="*/ 817276 w 1012720"/>
              <a:gd name="connsiteY45" fmla="*/ 273312 h 859645"/>
              <a:gd name="connsiteX46" fmla="*/ 796335 w 1012720"/>
              <a:gd name="connsiteY46" fmla="*/ 245392 h 859645"/>
              <a:gd name="connsiteX47" fmla="*/ 761434 w 1012720"/>
              <a:gd name="connsiteY47" fmla="*/ 189551 h 859645"/>
              <a:gd name="connsiteX48" fmla="*/ 726534 w 1012720"/>
              <a:gd name="connsiteY48" fmla="*/ 140689 h 859645"/>
              <a:gd name="connsiteX49" fmla="*/ 719553 w 1012720"/>
              <a:gd name="connsiteY49" fmla="*/ 119749 h 859645"/>
              <a:gd name="connsiteX50" fmla="*/ 642772 w 1012720"/>
              <a:gd name="connsiteY50" fmla="*/ 49947 h 859645"/>
              <a:gd name="connsiteX51" fmla="*/ 614851 w 1012720"/>
              <a:gd name="connsiteY51" fmla="*/ 35987 h 859645"/>
              <a:gd name="connsiteX52" fmla="*/ 607871 w 1012720"/>
              <a:gd name="connsiteY52" fmla="*/ 15047 h 859645"/>
              <a:gd name="connsiteX53" fmla="*/ 579950 w 1012720"/>
              <a:gd name="connsiteY53" fmla="*/ 8067 h 859645"/>
              <a:gd name="connsiteX54" fmla="*/ 510149 w 1012720"/>
              <a:gd name="connsiteY54" fmla="*/ 1086 h 859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012720" h="859645">
                <a:moveTo>
                  <a:pt x="691633" y="154650"/>
                </a:moveTo>
                <a:cubicBezTo>
                  <a:pt x="668366" y="152323"/>
                  <a:pt x="644315" y="154094"/>
                  <a:pt x="621831" y="147670"/>
                </a:cubicBezTo>
                <a:cubicBezTo>
                  <a:pt x="610645" y="144474"/>
                  <a:pt x="604316" y="131932"/>
                  <a:pt x="593911" y="126729"/>
                </a:cubicBezTo>
                <a:cubicBezTo>
                  <a:pt x="570296" y="114921"/>
                  <a:pt x="542659" y="110895"/>
                  <a:pt x="517129" y="105789"/>
                </a:cubicBezTo>
                <a:cubicBezTo>
                  <a:pt x="505495" y="101135"/>
                  <a:pt x="493960" y="96228"/>
                  <a:pt x="482228" y="91828"/>
                </a:cubicBezTo>
                <a:cubicBezTo>
                  <a:pt x="475339" y="89245"/>
                  <a:pt x="468605" y="85618"/>
                  <a:pt x="461288" y="84848"/>
                </a:cubicBezTo>
                <a:cubicBezTo>
                  <a:pt x="424193" y="80943"/>
                  <a:pt x="386833" y="80195"/>
                  <a:pt x="349605" y="77868"/>
                </a:cubicBezTo>
                <a:cubicBezTo>
                  <a:pt x="307724" y="80195"/>
                  <a:pt x="265719" y="80871"/>
                  <a:pt x="223963" y="84848"/>
                </a:cubicBezTo>
                <a:cubicBezTo>
                  <a:pt x="200707" y="87063"/>
                  <a:pt x="204711" y="92748"/>
                  <a:pt x="189062" y="105789"/>
                </a:cubicBezTo>
                <a:cubicBezTo>
                  <a:pt x="161881" y="128440"/>
                  <a:pt x="163439" y="125580"/>
                  <a:pt x="133221" y="140689"/>
                </a:cubicBezTo>
                <a:cubicBezTo>
                  <a:pt x="128567" y="147669"/>
                  <a:pt x="125811" y="156389"/>
                  <a:pt x="119260" y="161630"/>
                </a:cubicBezTo>
                <a:cubicBezTo>
                  <a:pt x="113515" y="166226"/>
                  <a:pt x="103523" y="163407"/>
                  <a:pt x="98320" y="168610"/>
                </a:cubicBezTo>
                <a:cubicBezTo>
                  <a:pt x="55194" y="211737"/>
                  <a:pt x="112528" y="187142"/>
                  <a:pt x="63419" y="203511"/>
                </a:cubicBezTo>
                <a:cubicBezTo>
                  <a:pt x="44211" y="232323"/>
                  <a:pt x="46999" y="224162"/>
                  <a:pt x="35498" y="266332"/>
                </a:cubicBezTo>
                <a:cubicBezTo>
                  <a:pt x="32376" y="277778"/>
                  <a:pt x="32684" y="290124"/>
                  <a:pt x="28518" y="301233"/>
                </a:cubicBezTo>
                <a:cubicBezTo>
                  <a:pt x="25573" y="309088"/>
                  <a:pt x="19211" y="315193"/>
                  <a:pt x="14558" y="322173"/>
                </a:cubicBezTo>
                <a:cubicBezTo>
                  <a:pt x="9905" y="345440"/>
                  <a:pt x="1276" y="368257"/>
                  <a:pt x="598" y="391975"/>
                </a:cubicBezTo>
                <a:cubicBezTo>
                  <a:pt x="-1065" y="450166"/>
                  <a:pt x="573" y="508687"/>
                  <a:pt x="7578" y="566479"/>
                </a:cubicBezTo>
                <a:cubicBezTo>
                  <a:pt x="9970" y="586214"/>
                  <a:pt x="19628" y="604539"/>
                  <a:pt x="28518" y="622320"/>
                </a:cubicBezTo>
                <a:cubicBezTo>
                  <a:pt x="39636" y="644556"/>
                  <a:pt x="57682" y="668727"/>
                  <a:pt x="77379" y="685141"/>
                </a:cubicBezTo>
                <a:cubicBezTo>
                  <a:pt x="83824" y="690512"/>
                  <a:pt x="90816" y="695350"/>
                  <a:pt x="98320" y="699102"/>
                </a:cubicBezTo>
                <a:cubicBezTo>
                  <a:pt x="109527" y="704705"/>
                  <a:pt x="122014" y="707459"/>
                  <a:pt x="133221" y="713062"/>
                </a:cubicBezTo>
                <a:cubicBezTo>
                  <a:pt x="149999" y="721451"/>
                  <a:pt x="165566" y="732090"/>
                  <a:pt x="182082" y="740983"/>
                </a:cubicBezTo>
                <a:cubicBezTo>
                  <a:pt x="195824" y="748383"/>
                  <a:pt x="210221" y="754523"/>
                  <a:pt x="223963" y="761923"/>
                </a:cubicBezTo>
                <a:cubicBezTo>
                  <a:pt x="240479" y="770816"/>
                  <a:pt x="255316" y="783110"/>
                  <a:pt x="272824" y="789844"/>
                </a:cubicBezTo>
                <a:cubicBezTo>
                  <a:pt x="286034" y="794925"/>
                  <a:pt x="300745" y="794497"/>
                  <a:pt x="314705" y="796824"/>
                </a:cubicBezTo>
                <a:cubicBezTo>
                  <a:pt x="370259" y="833860"/>
                  <a:pt x="284852" y="780313"/>
                  <a:pt x="391486" y="824744"/>
                </a:cubicBezTo>
                <a:cubicBezTo>
                  <a:pt x="402225" y="829219"/>
                  <a:pt x="409306" y="839913"/>
                  <a:pt x="419407" y="845685"/>
                </a:cubicBezTo>
                <a:cubicBezTo>
                  <a:pt x="430964" y="852289"/>
                  <a:pt x="466411" y="857878"/>
                  <a:pt x="475248" y="859645"/>
                </a:cubicBezTo>
                <a:cubicBezTo>
                  <a:pt x="513725" y="857813"/>
                  <a:pt x="704804" y="863332"/>
                  <a:pt x="803315" y="838705"/>
                </a:cubicBezTo>
                <a:cubicBezTo>
                  <a:pt x="810453" y="836921"/>
                  <a:pt x="817276" y="834052"/>
                  <a:pt x="824256" y="831725"/>
                </a:cubicBezTo>
                <a:cubicBezTo>
                  <a:pt x="859623" y="796355"/>
                  <a:pt x="813856" y="837963"/>
                  <a:pt x="859156" y="810784"/>
                </a:cubicBezTo>
                <a:cubicBezTo>
                  <a:pt x="903607" y="784114"/>
                  <a:pt x="832177" y="807059"/>
                  <a:pt x="901037" y="789844"/>
                </a:cubicBezTo>
                <a:cubicBezTo>
                  <a:pt x="910344" y="780537"/>
                  <a:pt x="918965" y="770489"/>
                  <a:pt x="928958" y="761923"/>
                </a:cubicBezTo>
                <a:cubicBezTo>
                  <a:pt x="935327" y="756464"/>
                  <a:pt x="944657" y="754514"/>
                  <a:pt x="949898" y="747963"/>
                </a:cubicBezTo>
                <a:cubicBezTo>
                  <a:pt x="976973" y="714120"/>
                  <a:pt x="932133" y="735271"/>
                  <a:pt x="977819" y="720042"/>
                </a:cubicBezTo>
                <a:cubicBezTo>
                  <a:pt x="982472" y="710735"/>
                  <a:pt x="987680" y="701685"/>
                  <a:pt x="991779" y="692121"/>
                </a:cubicBezTo>
                <a:cubicBezTo>
                  <a:pt x="994677" y="685358"/>
                  <a:pt x="995469" y="677762"/>
                  <a:pt x="998760" y="671181"/>
                </a:cubicBezTo>
                <a:cubicBezTo>
                  <a:pt x="1002512" y="663678"/>
                  <a:pt x="1008067" y="657221"/>
                  <a:pt x="1012720" y="650241"/>
                </a:cubicBezTo>
                <a:cubicBezTo>
                  <a:pt x="976149" y="455198"/>
                  <a:pt x="1012484" y="604223"/>
                  <a:pt x="970839" y="489697"/>
                </a:cubicBezTo>
                <a:cubicBezTo>
                  <a:pt x="967561" y="480681"/>
                  <a:pt x="967638" y="470594"/>
                  <a:pt x="963859" y="461776"/>
                </a:cubicBezTo>
                <a:cubicBezTo>
                  <a:pt x="956571" y="444772"/>
                  <a:pt x="941534" y="432472"/>
                  <a:pt x="928958" y="419896"/>
                </a:cubicBezTo>
                <a:cubicBezTo>
                  <a:pt x="926631" y="412916"/>
                  <a:pt x="925878" y="405194"/>
                  <a:pt x="921978" y="398955"/>
                </a:cubicBezTo>
                <a:cubicBezTo>
                  <a:pt x="911235" y="381767"/>
                  <a:pt x="882152" y="349862"/>
                  <a:pt x="866137" y="336134"/>
                </a:cubicBezTo>
                <a:cubicBezTo>
                  <a:pt x="859767" y="330674"/>
                  <a:pt x="852176" y="326827"/>
                  <a:pt x="845196" y="322173"/>
                </a:cubicBezTo>
                <a:cubicBezTo>
                  <a:pt x="835889" y="305886"/>
                  <a:pt x="827347" y="289138"/>
                  <a:pt x="817276" y="273312"/>
                </a:cubicBezTo>
                <a:cubicBezTo>
                  <a:pt x="811030" y="263497"/>
                  <a:pt x="801985" y="255562"/>
                  <a:pt x="796335" y="245392"/>
                </a:cubicBezTo>
                <a:cubicBezTo>
                  <a:pt x="763285" y="185902"/>
                  <a:pt x="803387" y="231502"/>
                  <a:pt x="761434" y="189551"/>
                </a:cubicBezTo>
                <a:cubicBezTo>
                  <a:pt x="722500" y="92214"/>
                  <a:pt x="772534" y="198188"/>
                  <a:pt x="726534" y="140689"/>
                </a:cubicBezTo>
                <a:cubicBezTo>
                  <a:pt x="721938" y="134944"/>
                  <a:pt x="724212" y="125443"/>
                  <a:pt x="719553" y="119749"/>
                </a:cubicBezTo>
                <a:cubicBezTo>
                  <a:pt x="698554" y="94084"/>
                  <a:pt x="672620" y="67003"/>
                  <a:pt x="642772" y="49947"/>
                </a:cubicBezTo>
                <a:cubicBezTo>
                  <a:pt x="633738" y="44784"/>
                  <a:pt x="624158" y="40640"/>
                  <a:pt x="614851" y="35987"/>
                </a:cubicBezTo>
                <a:cubicBezTo>
                  <a:pt x="612524" y="29007"/>
                  <a:pt x="613616" y="19643"/>
                  <a:pt x="607871" y="15047"/>
                </a:cubicBezTo>
                <a:cubicBezTo>
                  <a:pt x="600380" y="9054"/>
                  <a:pt x="589174" y="10703"/>
                  <a:pt x="579950" y="8067"/>
                </a:cubicBezTo>
                <a:cubicBezTo>
                  <a:pt x="537490" y="-4065"/>
                  <a:pt x="579802" y="1086"/>
                  <a:pt x="510149" y="1086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4DBC26-2FDA-49AF-A77E-01D134951C46}"/>
              </a:ext>
            </a:extLst>
          </p:cNvPr>
          <p:cNvSpPr txBox="1"/>
          <p:nvPr/>
        </p:nvSpPr>
        <p:spPr>
          <a:xfrm>
            <a:off x="0" y="-20052"/>
            <a:ext cx="481321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Activating Prior Knowledge</a:t>
            </a:r>
          </a:p>
        </p:txBody>
      </p:sp>
    </p:spTree>
    <p:extLst>
      <p:ext uri="{BB962C8B-B14F-4D97-AF65-F5344CB8AC3E}">
        <p14:creationId xmlns:p14="http://schemas.microsoft.com/office/powerpoint/2010/main" val="1886961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62796-C4FE-468B-BBB4-C170BDC92E1C}"/>
              </a:ext>
            </a:extLst>
          </p:cNvPr>
          <p:cNvSpPr txBox="1">
            <a:spLocks/>
          </p:cNvSpPr>
          <p:nvPr/>
        </p:nvSpPr>
        <p:spPr>
          <a:xfrm>
            <a:off x="3310182" y="207031"/>
            <a:ext cx="881688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b="1" dirty="0">
                <a:latin typeface="+mn-lt"/>
              </a:rPr>
              <a:t>Sector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342803" y="2500464"/>
              <a:ext cx="6476740" cy="36983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78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6987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3134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1770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Types of Pet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Number recorded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Fraction of a whole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Sector angle </a:t>
                          </a:r>
                        </a:p>
                        <a:p>
                          <a:pPr algn="ctr"/>
                          <a:r>
                            <a:rPr lang="en-AU" dirty="0"/>
                            <a:t>Fraction x 360 (°)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Dog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78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78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260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dirty="0"/>
                            <a:t> = 0.3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108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Cat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65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65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260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dirty="0"/>
                            <a:t> = 0.25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Bird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39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260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dirty="0"/>
                            <a:t> = 0.15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54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Rabbit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26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260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dirty="0"/>
                            <a:t> = 0.10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Other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52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52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260</m:t>
                                  </m:r>
                                </m:den>
                              </m:f>
                            </m:oMath>
                          </a14:m>
                          <a:r>
                            <a:rPr lang="en-AU" dirty="0"/>
                            <a:t> = 0.20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72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360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2612324"/>
                  </p:ext>
                </p:extLst>
              </p:nvPr>
            </p:nvGraphicFramePr>
            <p:xfrm>
              <a:off x="342803" y="2500464"/>
              <a:ext cx="6476740" cy="36983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78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6987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3134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1770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Types of Pet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Number recorded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Fraction of a whole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Sector angle </a:t>
                          </a:r>
                        </a:p>
                        <a:p>
                          <a:pPr algn="ctr"/>
                          <a:r>
                            <a:rPr lang="en-AU" dirty="0"/>
                            <a:t>Fraction x 360 (°)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10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Dog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78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6688" t="-196203" r="-90221" b="-4974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108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849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Cat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65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6688" t="-292500" r="-90221" b="-39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810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Bird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6688" t="-397468" r="-90221" b="-296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54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810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Rabbit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6688" t="-497468" r="-90221" b="-196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849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Other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52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6688" t="-597468" r="-90221" b="-96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72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/>
                            <a:t>360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A9AEEB7C-FCB4-40BC-AFD2-18C03C063159}"/>
              </a:ext>
            </a:extLst>
          </p:cNvPr>
          <p:cNvSpPr/>
          <p:nvPr/>
        </p:nvSpPr>
        <p:spPr>
          <a:xfrm>
            <a:off x="293868" y="1240206"/>
            <a:ext cx="116142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Multiply the fraction for each type by 360°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4927" y="2208077"/>
            <a:ext cx="1794616" cy="4397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AEEB7C-FCB4-40BC-AFD2-18C03C063159}"/>
              </a:ext>
            </a:extLst>
          </p:cNvPr>
          <p:cNvSpPr/>
          <p:nvPr/>
        </p:nvSpPr>
        <p:spPr>
          <a:xfrm>
            <a:off x="925141" y="1789748"/>
            <a:ext cx="116142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Use a protractor to accurately measure and mark out graph</a:t>
            </a:r>
          </a:p>
        </p:txBody>
      </p:sp>
      <p:graphicFrame>
        <p:nvGraphicFramePr>
          <p:cNvPr id="11" name="Chart 10"/>
          <p:cNvGraphicFramePr/>
          <p:nvPr/>
        </p:nvGraphicFramePr>
        <p:xfrm>
          <a:off x="8247530" y="2565769"/>
          <a:ext cx="4123764" cy="3860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3B3A71-C936-4CB9-8400-5B08D11D849B}"/>
              </a:ext>
            </a:extLst>
          </p:cNvPr>
          <p:cNvSpPr txBox="1"/>
          <p:nvPr/>
        </p:nvSpPr>
        <p:spPr>
          <a:xfrm>
            <a:off x="0" y="-20052"/>
            <a:ext cx="481321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Activating Prior Knowledge</a:t>
            </a:r>
          </a:p>
        </p:txBody>
      </p:sp>
    </p:spTree>
    <p:extLst>
      <p:ext uri="{BB962C8B-B14F-4D97-AF65-F5344CB8AC3E}">
        <p14:creationId xmlns:p14="http://schemas.microsoft.com/office/powerpoint/2010/main" val="238591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Graphic spid="11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9AEEB7C-FCB4-40BC-AFD2-18C03C063159}"/>
              </a:ext>
            </a:extLst>
          </p:cNvPr>
          <p:cNvSpPr/>
          <p:nvPr/>
        </p:nvSpPr>
        <p:spPr>
          <a:xfrm>
            <a:off x="893033" y="807269"/>
            <a:ext cx="1026650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b="1" dirty="0"/>
              <a:t>Two commonly used graphs are the column and bar graph.</a:t>
            </a:r>
          </a:p>
          <a:p>
            <a:pPr algn="ctr"/>
            <a:endParaRPr lang="en-AU" sz="12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F0016E-2287-49D5-8B00-1D1312815045}"/>
              </a:ext>
            </a:extLst>
          </p:cNvPr>
          <p:cNvSpPr/>
          <p:nvPr/>
        </p:nvSpPr>
        <p:spPr>
          <a:xfrm>
            <a:off x="4530496" y="3551411"/>
            <a:ext cx="314104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People often mix up the two as they are very similar.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4DADC0-6B70-4AF7-8F44-FC3BC1658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05" y="2943342"/>
            <a:ext cx="3832867" cy="25817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24B15C0-B76E-4728-857B-1E9CE8B9FC37}"/>
              </a:ext>
            </a:extLst>
          </p:cNvPr>
          <p:cNvSpPr/>
          <p:nvPr/>
        </p:nvSpPr>
        <p:spPr>
          <a:xfrm>
            <a:off x="74973" y="5626634"/>
            <a:ext cx="475173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Column graphs have </a:t>
            </a:r>
            <a:r>
              <a:rPr lang="en-AU" sz="3200" b="1" dirty="0"/>
              <a:t>vertical columns</a:t>
            </a:r>
            <a:r>
              <a:rPr lang="en-AU" sz="32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CB9D80-ABF8-43A5-B12D-1ED5CDF28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710" y="2715483"/>
            <a:ext cx="3173136" cy="303744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27041A7-BBF6-4626-9B60-1E0D52C21F3B}"/>
              </a:ext>
            </a:extLst>
          </p:cNvPr>
          <p:cNvSpPr/>
          <p:nvPr/>
        </p:nvSpPr>
        <p:spPr>
          <a:xfrm>
            <a:off x="7671540" y="5613514"/>
            <a:ext cx="445468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Bar graphs have </a:t>
            </a:r>
            <a:r>
              <a:rPr lang="en-AU" sz="3200" b="1" dirty="0"/>
              <a:t>horizontal bars</a:t>
            </a:r>
            <a:r>
              <a:rPr lang="en-AU" sz="32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283ABE-EE6F-4392-B9E6-DEF4D11B9CF1}"/>
              </a:ext>
            </a:extLst>
          </p:cNvPr>
          <p:cNvSpPr txBox="1"/>
          <p:nvPr/>
        </p:nvSpPr>
        <p:spPr>
          <a:xfrm>
            <a:off x="0" y="-20052"/>
            <a:ext cx="481321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Activating Prior Knowledge</a:t>
            </a:r>
          </a:p>
        </p:txBody>
      </p:sp>
    </p:spTree>
    <p:extLst>
      <p:ext uri="{BB962C8B-B14F-4D97-AF65-F5344CB8AC3E}">
        <p14:creationId xmlns:p14="http://schemas.microsoft.com/office/powerpoint/2010/main" val="29086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E6C85C-FD66-414A-9086-55A4CC6AA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8291" y="1186847"/>
            <a:ext cx="4840105" cy="4840105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E61C84-8A9B-4C2D-9430-AF5780AE9564}"/>
              </a:ext>
            </a:extLst>
          </p:cNvPr>
          <p:cNvGraphicFramePr>
            <a:graphicFrameLocks noGrp="1"/>
          </p:cNvGraphicFramePr>
          <p:nvPr/>
        </p:nvGraphicFramePr>
        <p:xfrm>
          <a:off x="9382052" y="1781714"/>
          <a:ext cx="2650922" cy="4020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353">
                  <a:extLst>
                    <a:ext uri="{9D8B030D-6E8A-4147-A177-3AD203B41FA5}">
                      <a16:colId xmlns:a16="http://schemas.microsoft.com/office/drawing/2014/main" val="2532697275"/>
                    </a:ext>
                  </a:extLst>
                </a:gridCol>
                <a:gridCol w="1090569">
                  <a:extLst>
                    <a:ext uri="{9D8B030D-6E8A-4147-A177-3AD203B41FA5}">
                      <a16:colId xmlns:a16="http://schemas.microsoft.com/office/drawing/2014/main" val="1052776906"/>
                    </a:ext>
                  </a:extLst>
                </a:gridCol>
              </a:tblGrid>
              <a:tr h="40448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solidFill>
                            <a:schemeClr val="tx1"/>
                          </a:solidFill>
                        </a:rPr>
                        <a:t>Favourite Chocolate 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</a:rPr>
                        <a:t>Freq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942423"/>
                  </a:ext>
                </a:extLst>
              </a:tr>
              <a:tr h="404484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chemeClr val="tx1"/>
                          </a:solidFill>
                        </a:rPr>
                        <a:t>Mars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744033"/>
                  </a:ext>
                </a:extLst>
              </a:tr>
              <a:tr h="404484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chemeClr val="tx1"/>
                          </a:solidFill>
                        </a:rPr>
                        <a:t>Bounty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007377"/>
                  </a:ext>
                </a:extLst>
              </a:tr>
              <a:tr h="404484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chemeClr val="tx1"/>
                          </a:solidFill>
                        </a:rPr>
                        <a:t>Snickers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869545"/>
                  </a:ext>
                </a:extLst>
              </a:tr>
              <a:tr h="404484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chemeClr val="tx1"/>
                          </a:solidFill>
                        </a:rPr>
                        <a:t>Picnic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046129"/>
                  </a:ext>
                </a:extLst>
              </a:tr>
              <a:tr h="404484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chemeClr val="tx1"/>
                          </a:solidFill>
                        </a:rPr>
                        <a:t>Milky 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405728"/>
                  </a:ext>
                </a:extLst>
              </a:tr>
              <a:tr h="404484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chemeClr val="tx1"/>
                          </a:solidFill>
                        </a:rPr>
                        <a:t>Flake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010282"/>
                  </a:ext>
                </a:extLst>
              </a:tr>
              <a:tr h="404484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chemeClr val="tx1"/>
                          </a:solidFill>
                        </a:rPr>
                        <a:t>Crunchy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428048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09A655EC-6DEA-489C-9252-F86454E84498}"/>
              </a:ext>
            </a:extLst>
          </p:cNvPr>
          <p:cNvSpPr txBox="1">
            <a:spLocks/>
          </p:cNvSpPr>
          <p:nvPr/>
        </p:nvSpPr>
        <p:spPr>
          <a:xfrm>
            <a:off x="582328" y="262056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b="1" dirty="0">
                <a:latin typeface="Arial" panose="020B0604020202020204" pitchFamily="34" charset="0"/>
                <a:cs typeface="Arial" panose="020B0604020202020204" pitchFamily="34" charset="0"/>
              </a:rPr>
              <a:t>Column Graphs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3F7E39-EAA9-4E0C-A86B-D9006A7BBFD0}"/>
              </a:ext>
            </a:extLst>
          </p:cNvPr>
          <p:cNvSpPr txBox="1"/>
          <p:nvPr/>
        </p:nvSpPr>
        <p:spPr>
          <a:xfrm>
            <a:off x="0" y="-20052"/>
            <a:ext cx="481321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Activating Prior Knowledge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187750-7B07-4F90-AAC0-FA61C18BDC14}"/>
              </a:ext>
            </a:extLst>
          </p:cNvPr>
          <p:cNvSpPr/>
          <p:nvPr/>
        </p:nvSpPr>
        <p:spPr>
          <a:xfrm>
            <a:off x="159026" y="1578144"/>
            <a:ext cx="3110948" cy="35394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2800" b="1" dirty="0"/>
              <a:t>Must Have:</a:t>
            </a:r>
          </a:p>
          <a:p>
            <a:pPr marL="514350" indent="-514350">
              <a:buAutoNum type="arabicPeriod"/>
            </a:pPr>
            <a:r>
              <a:rPr lang="en-AU" sz="2800" dirty="0"/>
              <a:t>Title.</a:t>
            </a:r>
          </a:p>
          <a:p>
            <a:pPr marL="514350" indent="-514350">
              <a:buAutoNum type="arabicPeriod"/>
            </a:pPr>
            <a:r>
              <a:rPr lang="en-AU" sz="2800" i="1" dirty="0"/>
              <a:t>x</a:t>
            </a:r>
            <a:r>
              <a:rPr lang="en-AU" sz="2800" dirty="0"/>
              <a:t>-axis scale.</a:t>
            </a:r>
          </a:p>
          <a:p>
            <a:pPr marL="514350" indent="-514350">
              <a:buAutoNum type="arabicPeriod"/>
            </a:pPr>
            <a:r>
              <a:rPr lang="en-AU" sz="2800" i="1" dirty="0"/>
              <a:t>y-</a:t>
            </a:r>
            <a:r>
              <a:rPr lang="en-AU" sz="2800" dirty="0"/>
              <a:t>axis scale.</a:t>
            </a:r>
          </a:p>
          <a:p>
            <a:pPr marL="514350" indent="-514350">
              <a:buAutoNum type="arabicPeriod"/>
            </a:pPr>
            <a:r>
              <a:rPr lang="en-AU" sz="2800" i="1" dirty="0"/>
              <a:t>x</a:t>
            </a:r>
            <a:r>
              <a:rPr lang="en-AU" sz="2800" dirty="0"/>
              <a:t>-axis label.</a:t>
            </a:r>
          </a:p>
          <a:p>
            <a:pPr marL="514350" indent="-514350">
              <a:buAutoNum type="arabicPeriod"/>
            </a:pPr>
            <a:r>
              <a:rPr lang="en-AU" sz="2800" i="1" dirty="0"/>
              <a:t>y</a:t>
            </a:r>
            <a:r>
              <a:rPr lang="en-AU" sz="2800" dirty="0"/>
              <a:t>-axis label.</a:t>
            </a:r>
          </a:p>
          <a:p>
            <a:pPr marL="514350" indent="-514350">
              <a:buAutoNum type="arabicPeriod"/>
            </a:pPr>
            <a:r>
              <a:rPr lang="en-AU" sz="2800" b="1" dirty="0"/>
              <a:t>Gaps between columns.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4BEE6A2-556E-47EB-BE0D-1D5CA4374488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4CB765C-CAC2-440D-9D52-CA15DC2897B0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071FAA3-C029-4C42-9F5A-D80968D531A2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type of data is this?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5013386" y="817514"/>
            <a:ext cx="332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rgbClr val="FF0000"/>
                </a:solidFill>
                <a:latin typeface="Algerian" panose="04020705040A02060702" pitchFamily="82" charset="0"/>
              </a:rPr>
              <a:t>Favourite Chocolate Bar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647389" y="5919281"/>
            <a:ext cx="0" cy="2358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5124971" y="5919281"/>
            <a:ext cx="5558" cy="22561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612990" y="5919281"/>
            <a:ext cx="1491" cy="22561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096000" y="5909004"/>
            <a:ext cx="0" cy="2358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579964" y="5909004"/>
            <a:ext cx="0" cy="2358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063104" y="5916157"/>
            <a:ext cx="0" cy="2358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543812" y="5889119"/>
            <a:ext cx="799" cy="26293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 rot="16200000">
            <a:off x="4304444" y="6142994"/>
            <a:ext cx="47641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Mars</a:t>
            </a:r>
          </a:p>
        </p:txBody>
      </p:sp>
      <p:sp>
        <p:nvSpPr>
          <p:cNvPr id="31" name="Rectangle 30"/>
          <p:cNvSpPr/>
          <p:nvPr/>
        </p:nvSpPr>
        <p:spPr>
          <a:xfrm rot="16200000">
            <a:off x="4727857" y="6180836"/>
            <a:ext cx="5934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Bounty</a:t>
            </a:r>
          </a:p>
        </p:txBody>
      </p:sp>
      <p:sp>
        <p:nvSpPr>
          <p:cNvPr id="32" name="Rectangle 31"/>
          <p:cNvSpPr/>
          <p:nvPr/>
        </p:nvSpPr>
        <p:spPr>
          <a:xfrm rot="16200000">
            <a:off x="5200871" y="6202970"/>
            <a:ext cx="65274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Snickers</a:t>
            </a:r>
          </a:p>
        </p:txBody>
      </p:sp>
      <p:sp>
        <p:nvSpPr>
          <p:cNvPr id="33" name="Rectangle 32"/>
          <p:cNvSpPr/>
          <p:nvPr/>
        </p:nvSpPr>
        <p:spPr>
          <a:xfrm rot="16200000">
            <a:off x="5732790" y="6180835"/>
            <a:ext cx="51328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Picnic</a:t>
            </a:r>
          </a:p>
        </p:txBody>
      </p:sp>
      <p:sp>
        <p:nvSpPr>
          <p:cNvPr id="34" name="Rectangle 33"/>
          <p:cNvSpPr/>
          <p:nvPr/>
        </p:nvSpPr>
        <p:spPr>
          <a:xfrm rot="16200000">
            <a:off x="6084672" y="6227056"/>
            <a:ext cx="78579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Milky Way</a:t>
            </a:r>
          </a:p>
        </p:txBody>
      </p:sp>
      <p:sp>
        <p:nvSpPr>
          <p:cNvPr id="35" name="Rectangle 34"/>
          <p:cNvSpPr/>
          <p:nvPr/>
        </p:nvSpPr>
        <p:spPr>
          <a:xfrm rot="16200000">
            <a:off x="6710833" y="6137559"/>
            <a:ext cx="48282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Flake</a:t>
            </a:r>
          </a:p>
        </p:txBody>
      </p:sp>
      <p:sp>
        <p:nvSpPr>
          <p:cNvPr id="36" name="Rectangle 35"/>
          <p:cNvSpPr/>
          <p:nvPr/>
        </p:nvSpPr>
        <p:spPr>
          <a:xfrm rot="16200000">
            <a:off x="7114243" y="6223319"/>
            <a:ext cx="65434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Crunchy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89390" y="5392948"/>
            <a:ext cx="25680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93955" y="4941724"/>
            <a:ext cx="2568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93955" y="4452090"/>
            <a:ext cx="25680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87371" y="3962456"/>
            <a:ext cx="2568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87370" y="3492027"/>
            <a:ext cx="2568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87369" y="3002393"/>
            <a:ext cx="2568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01489" y="2517105"/>
            <a:ext cx="2568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93536" y="2053141"/>
            <a:ext cx="2568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89726" y="1553865"/>
            <a:ext cx="2568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51302" y="1104286"/>
            <a:ext cx="3289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24483" y="6537823"/>
            <a:ext cx="2148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i="1" dirty="0"/>
              <a:t>Chocolate Bar Brand</a:t>
            </a:r>
          </a:p>
        </p:txBody>
      </p:sp>
      <p:sp>
        <p:nvSpPr>
          <p:cNvPr id="49" name="Rectangle 48"/>
          <p:cNvSpPr/>
          <p:nvPr/>
        </p:nvSpPr>
        <p:spPr>
          <a:xfrm rot="16200000">
            <a:off x="2498403" y="3362497"/>
            <a:ext cx="2099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i="1" dirty="0"/>
              <a:t>Number of Students</a:t>
            </a:r>
          </a:p>
        </p:txBody>
      </p:sp>
    </p:spTree>
    <p:extLst>
      <p:ext uri="{BB962C8B-B14F-4D97-AF65-F5344CB8AC3E}">
        <p14:creationId xmlns:p14="http://schemas.microsoft.com/office/powerpoint/2010/main" val="1929538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9AEEB7C-FCB4-40BC-AFD2-18C03C063159}"/>
              </a:ext>
            </a:extLst>
          </p:cNvPr>
          <p:cNvSpPr/>
          <p:nvPr/>
        </p:nvSpPr>
        <p:spPr>
          <a:xfrm>
            <a:off x="293870" y="1079523"/>
            <a:ext cx="11614296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One graph you might have seen in science is called a histogram.</a:t>
            </a:r>
          </a:p>
          <a:p>
            <a:pPr algn="ctr"/>
            <a:endParaRPr lang="en-AU" dirty="0"/>
          </a:p>
          <a:p>
            <a:pPr algn="ctr"/>
            <a:r>
              <a:rPr lang="en-AU" sz="3200" dirty="0"/>
              <a:t>Histograms are used to graph </a:t>
            </a:r>
            <a:r>
              <a:rPr lang="en-AU" sz="3200" b="1" dirty="0"/>
              <a:t>grouped continuous data</a:t>
            </a:r>
            <a:r>
              <a:rPr lang="en-AU" sz="3200" dirty="0"/>
              <a:t>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FE666D-4AE7-4E21-94DC-6073A3F33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771" y="2669890"/>
            <a:ext cx="5663621" cy="30919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E755695-6719-4FAB-A492-4988462DA220}"/>
              </a:ext>
            </a:extLst>
          </p:cNvPr>
          <p:cNvSpPr/>
          <p:nvPr/>
        </p:nvSpPr>
        <p:spPr>
          <a:xfrm>
            <a:off x="169434" y="5870897"/>
            <a:ext cx="116142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Column and Bar graphs have gaps. Histograms </a:t>
            </a:r>
            <a:r>
              <a:rPr lang="en-AU" sz="3200" b="1" dirty="0"/>
              <a:t>do not.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755695-6719-4FAB-A492-4988462DA220}"/>
              </a:ext>
            </a:extLst>
          </p:cNvPr>
          <p:cNvSpPr/>
          <p:nvPr/>
        </p:nvSpPr>
        <p:spPr>
          <a:xfrm>
            <a:off x="277244" y="2508287"/>
            <a:ext cx="2704254" cy="156966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WRONG!</a:t>
            </a:r>
          </a:p>
          <a:p>
            <a:pPr algn="ctr"/>
            <a:r>
              <a:rPr lang="en-AU" sz="3200" dirty="0"/>
              <a:t>This is a column graph.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2981498" y="2770909"/>
            <a:ext cx="676102" cy="554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7B8949D-EE1F-43EF-BD8A-8F4CF5991133}"/>
              </a:ext>
            </a:extLst>
          </p:cNvPr>
          <p:cNvSpPr txBox="1"/>
          <p:nvPr/>
        </p:nvSpPr>
        <p:spPr>
          <a:xfrm>
            <a:off x="0" y="-20052"/>
            <a:ext cx="481321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Activating Prior Knowledge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0934778-E8EA-43DB-96B6-A9C1EEE893EA}"/>
              </a:ext>
            </a:extLst>
          </p:cNvPr>
          <p:cNvSpPr txBox="1">
            <a:spLocks/>
          </p:cNvSpPr>
          <p:nvPr/>
        </p:nvSpPr>
        <p:spPr>
          <a:xfrm>
            <a:off x="74973" y="248976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b="1" dirty="0">
                <a:latin typeface="Arial" panose="020B0604020202020204" pitchFamily="34" charset="0"/>
                <a:cs typeface="Arial" panose="020B0604020202020204" pitchFamily="34" charset="0"/>
              </a:rPr>
              <a:t>Histograms</a:t>
            </a:r>
          </a:p>
        </p:txBody>
      </p:sp>
    </p:spTree>
    <p:extLst>
      <p:ext uri="{BB962C8B-B14F-4D97-AF65-F5344CB8AC3E}">
        <p14:creationId xmlns:p14="http://schemas.microsoft.com/office/powerpoint/2010/main" val="2634352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E61C84-8A9B-4C2D-9430-AF5780AE9564}"/>
              </a:ext>
            </a:extLst>
          </p:cNvPr>
          <p:cNvGraphicFramePr>
            <a:graphicFrameLocks noGrp="1"/>
          </p:cNvGraphicFramePr>
          <p:nvPr/>
        </p:nvGraphicFramePr>
        <p:xfrm>
          <a:off x="9385223" y="2119696"/>
          <a:ext cx="2432808" cy="3211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465">
                  <a:extLst>
                    <a:ext uri="{9D8B030D-6E8A-4147-A177-3AD203B41FA5}">
                      <a16:colId xmlns:a16="http://schemas.microsoft.com/office/drawing/2014/main" val="2532697275"/>
                    </a:ext>
                  </a:extLst>
                </a:gridCol>
                <a:gridCol w="805343">
                  <a:extLst>
                    <a:ext uri="{9D8B030D-6E8A-4147-A177-3AD203B41FA5}">
                      <a16:colId xmlns:a16="http://schemas.microsoft.com/office/drawing/2014/main" val="1052776906"/>
                    </a:ext>
                  </a:extLst>
                </a:gridCol>
              </a:tblGrid>
              <a:tr h="40448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solidFill>
                            <a:schemeClr val="tx1"/>
                          </a:solidFill>
                        </a:rPr>
                        <a:t>Time to Run 1 km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</a:rPr>
                        <a:t>Freq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942423"/>
                  </a:ext>
                </a:extLst>
              </a:tr>
              <a:tr h="404484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chemeClr val="tx1"/>
                          </a:solidFill>
                        </a:rPr>
                        <a:t>4 - &lt;6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744033"/>
                  </a:ext>
                </a:extLst>
              </a:tr>
              <a:tr h="404484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chemeClr val="tx1"/>
                          </a:solidFill>
                        </a:rPr>
                        <a:t>6 - &lt;8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007377"/>
                  </a:ext>
                </a:extLst>
              </a:tr>
              <a:tr h="404484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chemeClr val="tx1"/>
                          </a:solidFill>
                        </a:rPr>
                        <a:t>8 - &lt;10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869545"/>
                  </a:ext>
                </a:extLst>
              </a:tr>
              <a:tr h="404484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chemeClr val="tx1"/>
                          </a:solidFill>
                        </a:rPr>
                        <a:t>10 - &lt;12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046129"/>
                  </a:ext>
                </a:extLst>
              </a:tr>
              <a:tr h="404484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chemeClr val="tx1"/>
                          </a:solidFill>
                        </a:rPr>
                        <a:t>12 - &lt;14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405728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409E2E7B-3D18-40D9-A10D-EB62D2616108}"/>
              </a:ext>
            </a:extLst>
          </p:cNvPr>
          <p:cNvSpPr txBox="1">
            <a:spLocks/>
          </p:cNvSpPr>
          <p:nvPr/>
        </p:nvSpPr>
        <p:spPr>
          <a:xfrm>
            <a:off x="74973" y="248976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b="1" dirty="0">
                <a:latin typeface="Arial" panose="020B0604020202020204" pitchFamily="34" charset="0"/>
                <a:cs typeface="Arial" panose="020B0604020202020204" pitchFamily="34" charset="0"/>
              </a:rPr>
              <a:t>Histograms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DAD71E-16B0-4AEB-BB27-4395339ABD07}"/>
              </a:ext>
            </a:extLst>
          </p:cNvPr>
          <p:cNvSpPr txBox="1"/>
          <p:nvPr/>
        </p:nvSpPr>
        <p:spPr>
          <a:xfrm>
            <a:off x="0" y="-20052"/>
            <a:ext cx="481321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Activating Prior Knowledge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E4D398-BD2C-4B6E-A14C-1A0459D9856F}"/>
              </a:ext>
            </a:extLst>
          </p:cNvPr>
          <p:cNvSpPr/>
          <p:nvPr/>
        </p:nvSpPr>
        <p:spPr>
          <a:xfrm>
            <a:off x="74973" y="1574539"/>
            <a:ext cx="3260035" cy="35394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2800" b="1" dirty="0"/>
              <a:t>Must Have:</a:t>
            </a:r>
          </a:p>
          <a:p>
            <a:pPr marL="514350" indent="-514350">
              <a:buAutoNum type="arabicPeriod"/>
            </a:pPr>
            <a:r>
              <a:rPr lang="en-AU" sz="2800" dirty="0"/>
              <a:t>Title.</a:t>
            </a:r>
          </a:p>
          <a:p>
            <a:pPr marL="514350" indent="-514350">
              <a:buAutoNum type="arabicPeriod"/>
            </a:pPr>
            <a:r>
              <a:rPr lang="en-AU" sz="2800" i="1" dirty="0"/>
              <a:t>x</a:t>
            </a:r>
            <a:r>
              <a:rPr lang="en-AU" sz="2800" dirty="0"/>
              <a:t>-axis scale.</a:t>
            </a:r>
          </a:p>
          <a:p>
            <a:pPr marL="514350" indent="-514350">
              <a:buAutoNum type="arabicPeriod"/>
            </a:pPr>
            <a:r>
              <a:rPr lang="en-AU" sz="2800" i="1" dirty="0"/>
              <a:t>y-</a:t>
            </a:r>
            <a:r>
              <a:rPr lang="en-AU" sz="2800" dirty="0"/>
              <a:t>axis scale.</a:t>
            </a:r>
          </a:p>
          <a:p>
            <a:pPr marL="514350" indent="-514350">
              <a:buAutoNum type="arabicPeriod"/>
            </a:pPr>
            <a:r>
              <a:rPr lang="en-AU" sz="2800" i="1" dirty="0"/>
              <a:t>x</a:t>
            </a:r>
            <a:r>
              <a:rPr lang="en-AU" sz="2800" dirty="0"/>
              <a:t>-axis label.</a:t>
            </a:r>
          </a:p>
          <a:p>
            <a:pPr marL="514350" indent="-514350">
              <a:buAutoNum type="arabicPeriod"/>
            </a:pPr>
            <a:r>
              <a:rPr lang="en-AU" sz="2800" i="1" dirty="0"/>
              <a:t>y</a:t>
            </a:r>
            <a:r>
              <a:rPr lang="en-AU" sz="2800" dirty="0"/>
              <a:t>-axis label.</a:t>
            </a:r>
          </a:p>
          <a:p>
            <a:pPr marL="514350" indent="-514350">
              <a:buAutoNum type="arabicPeriod"/>
            </a:pPr>
            <a:r>
              <a:rPr lang="en-AU" sz="2800" b="1" dirty="0"/>
              <a:t>No gaps between columns.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E6C85C-FD66-414A-9086-55A4CC6AA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8291" y="1186847"/>
            <a:ext cx="4840105" cy="484010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13386" y="817514"/>
            <a:ext cx="332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rgbClr val="FF0000"/>
                </a:solidFill>
                <a:latin typeface="Algerian" panose="04020705040A02060702" pitchFamily="82" charset="0"/>
              </a:rPr>
              <a:t>Time to run 1 km (mins)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4647389" y="5919281"/>
            <a:ext cx="0" cy="2358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5124971" y="5919281"/>
            <a:ext cx="5558" cy="22561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5612990" y="5919281"/>
            <a:ext cx="1491" cy="22561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096000" y="5909004"/>
            <a:ext cx="0" cy="2358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579964" y="5909004"/>
            <a:ext cx="0" cy="2358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063104" y="5916157"/>
            <a:ext cx="0" cy="2358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543812" y="5889119"/>
            <a:ext cx="799" cy="26293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007120" y="6095801"/>
            <a:ext cx="30234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1100" dirty="0"/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89390" y="5392948"/>
            <a:ext cx="25680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93955" y="4941724"/>
            <a:ext cx="2568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93955" y="4452090"/>
            <a:ext cx="25680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87371" y="3962456"/>
            <a:ext cx="2568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87370" y="3492027"/>
            <a:ext cx="2568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87369" y="3002393"/>
            <a:ext cx="2568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01489" y="2517105"/>
            <a:ext cx="2568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3536" y="2053141"/>
            <a:ext cx="2568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89726" y="1553865"/>
            <a:ext cx="2568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51302" y="1104286"/>
            <a:ext cx="3289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20896" y="6317654"/>
            <a:ext cx="13067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i="1" dirty="0"/>
              <a:t>Time (mins)</a:t>
            </a:r>
          </a:p>
        </p:txBody>
      </p:sp>
      <p:sp>
        <p:nvSpPr>
          <p:cNvPr id="37" name="Rectangle 36"/>
          <p:cNvSpPr/>
          <p:nvPr/>
        </p:nvSpPr>
        <p:spPr>
          <a:xfrm rot="16200000">
            <a:off x="2223848" y="3334097"/>
            <a:ext cx="30918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i="1" dirty="0"/>
              <a:t>Number of people (Frequency)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18988" y="6105233"/>
            <a:ext cx="2568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99695" y="6108082"/>
            <a:ext cx="2568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8120" y="6105233"/>
            <a:ext cx="2568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77812" y="6104531"/>
            <a:ext cx="2568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33477" y="6104531"/>
            <a:ext cx="3289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5315" y="6104531"/>
            <a:ext cx="3289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92040" y="6104531"/>
            <a:ext cx="3289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14</a:t>
            </a:r>
          </a:p>
        </p:txBody>
      </p:sp>
      <p:sp>
        <p:nvSpPr>
          <p:cNvPr id="2" name="Rectangle 1"/>
          <p:cNvSpPr/>
          <p:nvPr/>
        </p:nvSpPr>
        <p:spPr>
          <a:xfrm>
            <a:off x="5137974" y="5064699"/>
            <a:ext cx="473276" cy="95588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Rectangle 44"/>
          <p:cNvSpPr/>
          <p:nvPr/>
        </p:nvSpPr>
        <p:spPr>
          <a:xfrm>
            <a:off x="5618194" y="3600805"/>
            <a:ext cx="493699" cy="2413415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6" name="Rectangle 45"/>
          <p:cNvSpPr/>
          <p:nvPr/>
        </p:nvSpPr>
        <p:spPr>
          <a:xfrm>
            <a:off x="6094833" y="1678675"/>
            <a:ext cx="488019" cy="433417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Rectangle 46"/>
          <p:cNvSpPr/>
          <p:nvPr/>
        </p:nvSpPr>
        <p:spPr>
          <a:xfrm>
            <a:off x="6575312" y="2153824"/>
            <a:ext cx="488019" cy="38624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8" name="Rectangle 47"/>
          <p:cNvSpPr/>
          <p:nvPr/>
        </p:nvSpPr>
        <p:spPr>
          <a:xfrm>
            <a:off x="7058151" y="4095299"/>
            <a:ext cx="488019" cy="1921959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149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2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E6C85C-FD66-414A-9086-55A4CC6AA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469" y="1114750"/>
            <a:ext cx="4840105" cy="4840105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E61C84-8A9B-4C2D-9430-AF5780AE9564}"/>
              </a:ext>
            </a:extLst>
          </p:cNvPr>
          <p:cNvGraphicFramePr>
            <a:graphicFrameLocks noGrp="1"/>
          </p:cNvGraphicFramePr>
          <p:nvPr/>
        </p:nvGraphicFramePr>
        <p:xfrm>
          <a:off x="9027413" y="1335924"/>
          <a:ext cx="3024677" cy="533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405">
                  <a:extLst>
                    <a:ext uri="{9D8B030D-6E8A-4147-A177-3AD203B41FA5}">
                      <a16:colId xmlns:a16="http://schemas.microsoft.com/office/drawing/2014/main" val="2532697275"/>
                    </a:ext>
                  </a:extLst>
                </a:gridCol>
                <a:gridCol w="1001272">
                  <a:extLst>
                    <a:ext uri="{9D8B030D-6E8A-4147-A177-3AD203B41FA5}">
                      <a16:colId xmlns:a16="http://schemas.microsoft.com/office/drawing/2014/main" val="1052776906"/>
                    </a:ext>
                  </a:extLst>
                </a:gridCol>
              </a:tblGrid>
              <a:tr h="1975866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solidFill>
                            <a:schemeClr val="tx1"/>
                          </a:solidFill>
                        </a:rPr>
                        <a:t>Time spent</a:t>
                      </a:r>
                      <a:r>
                        <a:rPr lang="en-AU" sz="2400" baseline="0" dirty="0">
                          <a:solidFill>
                            <a:schemeClr val="tx1"/>
                          </a:solidFill>
                        </a:rPr>
                        <a:t> playing games in a day</a:t>
                      </a:r>
                    </a:p>
                    <a:p>
                      <a:pPr algn="ctr"/>
                      <a:r>
                        <a:rPr lang="en-AU" sz="2400" baseline="0" dirty="0">
                          <a:solidFill>
                            <a:schemeClr val="tx1"/>
                          </a:solidFill>
                        </a:rPr>
                        <a:t>(min) 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400" dirty="0">
                          <a:solidFill>
                            <a:schemeClr val="tx1"/>
                          </a:solidFill>
                        </a:rPr>
                        <a:t>Freq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942423"/>
                  </a:ext>
                </a:extLst>
              </a:tr>
              <a:tr h="672325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chemeClr val="tx1"/>
                          </a:solidFill>
                        </a:rPr>
                        <a:t>0 - &lt;20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744033"/>
                  </a:ext>
                </a:extLst>
              </a:tr>
              <a:tr h="672325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chemeClr val="tx1"/>
                          </a:solidFill>
                        </a:rPr>
                        <a:t>20 - &lt;40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007377"/>
                  </a:ext>
                </a:extLst>
              </a:tr>
              <a:tr h="672325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chemeClr val="tx1"/>
                          </a:solidFill>
                        </a:rPr>
                        <a:t>40 - &lt;60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869545"/>
                  </a:ext>
                </a:extLst>
              </a:tr>
              <a:tr h="672325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chemeClr val="tx1"/>
                          </a:solidFill>
                        </a:rPr>
                        <a:t>60 - &lt;80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046129"/>
                  </a:ext>
                </a:extLst>
              </a:tr>
              <a:tr h="672325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chemeClr val="tx1"/>
                          </a:solidFill>
                        </a:rPr>
                        <a:t>80 - &lt;100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405728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409E2E7B-3D18-40D9-A10D-EB62D2616108}"/>
              </a:ext>
            </a:extLst>
          </p:cNvPr>
          <p:cNvSpPr txBox="1">
            <a:spLocks/>
          </p:cNvSpPr>
          <p:nvPr/>
        </p:nvSpPr>
        <p:spPr>
          <a:xfrm>
            <a:off x="0" y="383851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b="1" dirty="0">
                <a:latin typeface="Arial" panose="020B0604020202020204" pitchFamily="34" charset="0"/>
                <a:cs typeface="Arial" panose="020B0604020202020204" pitchFamily="34" charset="0"/>
              </a:rPr>
              <a:t>Histograms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DAD71E-16B0-4AEB-BB27-4395339ABD07}"/>
              </a:ext>
            </a:extLst>
          </p:cNvPr>
          <p:cNvSpPr txBox="1"/>
          <p:nvPr/>
        </p:nvSpPr>
        <p:spPr>
          <a:xfrm>
            <a:off x="0" y="-20052"/>
            <a:ext cx="481321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Activating Prior Knowledge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E4D398-BD2C-4B6E-A14C-1A0459D9856F}"/>
              </a:ext>
            </a:extLst>
          </p:cNvPr>
          <p:cNvSpPr/>
          <p:nvPr/>
        </p:nvSpPr>
        <p:spPr>
          <a:xfrm>
            <a:off x="74973" y="1574539"/>
            <a:ext cx="3260035" cy="35394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2800" b="1" dirty="0"/>
              <a:t>Must Have:</a:t>
            </a:r>
          </a:p>
          <a:p>
            <a:pPr marL="514350" indent="-514350">
              <a:buAutoNum type="arabicPeriod"/>
            </a:pPr>
            <a:r>
              <a:rPr lang="en-AU" sz="2800" dirty="0"/>
              <a:t>Title.</a:t>
            </a:r>
          </a:p>
          <a:p>
            <a:pPr marL="514350" indent="-514350">
              <a:buAutoNum type="arabicPeriod"/>
            </a:pPr>
            <a:r>
              <a:rPr lang="en-AU" sz="2800" i="1" dirty="0"/>
              <a:t>x</a:t>
            </a:r>
            <a:r>
              <a:rPr lang="en-AU" sz="2800" dirty="0"/>
              <a:t>-axis scale.</a:t>
            </a:r>
          </a:p>
          <a:p>
            <a:pPr marL="514350" indent="-514350">
              <a:buAutoNum type="arabicPeriod"/>
            </a:pPr>
            <a:r>
              <a:rPr lang="en-AU" sz="2800" i="1" dirty="0"/>
              <a:t>y-</a:t>
            </a:r>
            <a:r>
              <a:rPr lang="en-AU" sz="2800" dirty="0"/>
              <a:t>axis scale.</a:t>
            </a:r>
          </a:p>
          <a:p>
            <a:pPr marL="514350" indent="-514350">
              <a:buAutoNum type="arabicPeriod"/>
            </a:pPr>
            <a:r>
              <a:rPr lang="en-AU" sz="2800" i="1" dirty="0"/>
              <a:t>x</a:t>
            </a:r>
            <a:r>
              <a:rPr lang="en-AU" sz="2800" dirty="0"/>
              <a:t>-axis label.</a:t>
            </a:r>
          </a:p>
          <a:p>
            <a:pPr marL="514350" indent="-514350">
              <a:buAutoNum type="arabicPeriod"/>
            </a:pPr>
            <a:r>
              <a:rPr lang="en-AU" sz="2800" i="1" dirty="0"/>
              <a:t>y</a:t>
            </a:r>
            <a:r>
              <a:rPr lang="en-AU" sz="2800" dirty="0"/>
              <a:t>-axis label.</a:t>
            </a:r>
          </a:p>
          <a:p>
            <a:pPr marL="514350" indent="-514350">
              <a:buAutoNum type="arabicPeriod"/>
            </a:pPr>
            <a:r>
              <a:rPr lang="en-AU" sz="2800" b="1" dirty="0"/>
              <a:t>No gaps between columns.</a:t>
            </a:r>
          </a:p>
        </p:txBody>
      </p:sp>
    </p:spTree>
    <p:extLst>
      <p:ext uri="{BB962C8B-B14F-4D97-AF65-F5344CB8AC3E}">
        <p14:creationId xmlns:p14="http://schemas.microsoft.com/office/powerpoint/2010/main" val="1377178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783667" y="2048933"/>
            <a:ext cx="2438400" cy="457200"/>
          </a:xfrm>
          <a:prstGeom prst="round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283ABE-EE6F-4392-B9E6-DEF4D11B9CF1}"/>
              </a:ext>
            </a:extLst>
          </p:cNvPr>
          <p:cNvSpPr txBox="1"/>
          <p:nvPr/>
        </p:nvSpPr>
        <p:spPr>
          <a:xfrm>
            <a:off x="0" y="-20052"/>
            <a:ext cx="481321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Activating Prior Knowledge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894667" y="2269066"/>
            <a:ext cx="7112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EDDCA27-4316-4A13-947D-DEF3A44B22E7}"/>
              </a:ext>
            </a:extLst>
          </p:cNvPr>
          <p:cNvSpPr/>
          <p:nvPr/>
        </p:nvSpPr>
        <p:spPr>
          <a:xfrm>
            <a:off x="2587626" y="2108256"/>
            <a:ext cx="1307041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600" dirty="0"/>
              <a:t>Two variables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46" y="3083091"/>
            <a:ext cx="4666721" cy="28943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600" y="2446810"/>
            <a:ext cx="3596217" cy="359621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EDDCA27-4316-4A13-947D-DEF3A44B22E7}"/>
              </a:ext>
            </a:extLst>
          </p:cNvPr>
          <p:cNvSpPr/>
          <p:nvPr/>
        </p:nvSpPr>
        <p:spPr>
          <a:xfrm>
            <a:off x="1127125" y="2722405"/>
            <a:ext cx="3055408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1600" dirty="0"/>
              <a:t>Ice-cream Sale Profits at the Beach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AEEB7C-FCB4-40BC-AFD2-18C03C063159}"/>
              </a:ext>
            </a:extLst>
          </p:cNvPr>
          <p:cNvSpPr/>
          <p:nvPr/>
        </p:nvSpPr>
        <p:spPr>
          <a:xfrm>
            <a:off x="194734" y="822199"/>
            <a:ext cx="1167553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b="1" dirty="0"/>
              <a:t>Line graphs are similar to the scatter plots that you draw in science.</a:t>
            </a:r>
          </a:p>
          <a:p>
            <a:pPr algn="ctr"/>
            <a:endParaRPr lang="en-AU" sz="1200" dirty="0"/>
          </a:p>
          <a:p>
            <a:pPr algn="ctr"/>
            <a:r>
              <a:rPr lang="en-AU" sz="3200" dirty="0"/>
              <a:t>Both types of graph are a good way to show patterns or trends in bivariate data. </a:t>
            </a:r>
          </a:p>
        </p:txBody>
      </p:sp>
    </p:spTree>
    <p:extLst>
      <p:ext uri="{BB962C8B-B14F-4D97-AF65-F5344CB8AC3E}">
        <p14:creationId xmlns:p14="http://schemas.microsoft.com/office/powerpoint/2010/main" val="348891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9AEEB7C-FCB4-40BC-AFD2-18C03C063159}"/>
              </a:ext>
            </a:extLst>
          </p:cNvPr>
          <p:cNvSpPr/>
          <p:nvPr/>
        </p:nvSpPr>
        <p:spPr>
          <a:xfrm>
            <a:off x="237068" y="761911"/>
            <a:ext cx="116755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b="1" dirty="0"/>
              <a:t>Line graphs have 6 important characteristics.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283ABE-EE6F-4392-B9E6-DEF4D11B9CF1}"/>
              </a:ext>
            </a:extLst>
          </p:cNvPr>
          <p:cNvSpPr txBox="1"/>
          <p:nvPr/>
        </p:nvSpPr>
        <p:spPr>
          <a:xfrm>
            <a:off x="0" y="-20052"/>
            <a:ext cx="481321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Activating Prior Knowledge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620" y="1488895"/>
            <a:ext cx="4223279" cy="21803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908" y="3766094"/>
            <a:ext cx="3100702" cy="294957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1187750-7B07-4F90-AAC0-FA61C18BDC14}"/>
              </a:ext>
            </a:extLst>
          </p:cNvPr>
          <p:cNvSpPr/>
          <p:nvPr/>
        </p:nvSpPr>
        <p:spPr>
          <a:xfrm>
            <a:off x="237068" y="1634590"/>
            <a:ext cx="3110948" cy="483209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2800" b="1" dirty="0"/>
              <a:t>Must Have:</a:t>
            </a:r>
          </a:p>
          <a:p>
            <a:pPr marL="514350" indent="-514350">
              <a:buAutoNum type="arabicPeriod"/>
            </a:pPr>
            <a:r>
              <a:rPr lang="en-AU" sz="2800" dirty="0"/>
              <a:t>Title.</a:t>
            </a:r>
          </a:p>
          <a:p>
            <a:pPr marL="514350" indent="-514350">
              <a:buAutoNum type="arabicPeriod"/>
            </a:pPr>
            <a:r>
              <a:rPr lang="en-AU" sz="2800" dirty="0"/>
              <a:t>Continuous </a:t>
            </a:r>
            <a:br>
              <a:rPr lang="en-AU" sz="2800" dirty="0"/>
            </a:br>
            <a:r>
              <a:rPr lang="en-AU" sz="2800" i="1" dirty="0"/>
              <a:t>y-</a:t>
            </a:r>
            <a:r>
              <a:rPr lang="en-AU" sz="2800" dirty="0"/>
              <a:t>axis scale.</a:t>
            </a:r>
          </a:p>
          <a:p>
            <a:pPr marL="514350" indent="-514350">
              <a:buFontTx/>
              <a:buAutoNum type="arabicPeriod"/>
            </a:pPr>
            <a:r>
              <a:rPr lang="en-AU" sz="2800" dirty="0"/>
              <a:t>Continuous</a:t>
            </a:r>
            <a:br>
              <a:rPr lang="en-AU" sz="2800" dirty="0"/>
            </a:br>
            <a:r>
              <a:rPr lang="en-AU" sz="2800" i="1" dirty="0"/>
              <a:t>x</a:t>
            </a:r>
            <a:r>
              <a:rPr lang="en-AU" sz="2800" dirty="0"/>
              <a:t>-axis scale (usually time).</a:t>
            </a:r>
          </a:p>
          <a:p>
            <a:pPr marL="514350" indent="-514350">
              <a:buAutoNum type="arabicPeriod"/>
            </a:pPr>
            <a:r>
              <a:rPr lang="en-AU" sz="2800" i="1" dirty="0"/>
              <a:t>x</a:t>
            </a:r>
            <a:r>
              <a:rPr lang="en-AU" sz="2800" dirty="0"/>
              <a:t>-axis label.</a:t>
            </a:r>
          </a:p>
          <a:p>
            <a:pPr marL="514350" indent="-514350">
              <a:buAutoNum type="arabicPeriod"/>
            </a:pPr>
            <a:r>
              <a:rPr lang="en-AU" sz="2800" i="1" dirty="0"/>
              <a:t>y</a:t>
            </a:r>
            <a:r>
              <a:rPr lang="en-AU" sz="2800" dirty="0"/>
              <a:t>-axis label.</a:t>
            </a:r>
          </a:p>
          <a:p>
            <a:pPr marL="514350" indent="-514350">
              <a:buAutoNum type="arabicPeriod"/>
            </a:pPr>
            <a:r>
              <a:rPr lang="en-AU" sz="2800" dirty="0"/>
              <a:t>Line between points.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1693333" y="1710267"/>
            <a:ext cx="3903134" cy="6434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2633133" y="3171930"/>
            <a:ext cx="3251200" cy="369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2683933" y="3406733"/>
            <a:ext cx="3521975" cy="5306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2599100" y="3557520"/>
            <a:ext cx="4876967" cy="13282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7" idx="1"/>
          </p:cNvCxnSpPr>
          <p:nvPr/>
        </p:nvCxnSpPr>
        <p:spPr>
          <a:xfrm flipV="1">
            <a:off x="2599094" y="5240882"/>
            <a:ext cx="3606814" cy="778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1938866" y="5747036"/>
            <a:ext cx="4961467" cy="4360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50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9A655EC-6DEA-489C-9252-F86454E84498}"/>
              </a:ext>
            </a:extLst>
          </p:cNvPr>
          <p:cNvSpPr txBox="1">
            <a:spLocks/>
          </p:cNvSpPr>
          <p:nvPr/>
        </p:nvSpPr>
        <p:spPr>
          <a:xfrm>
            <a:off x="66507" y="252581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b="1" dirty="0">
                <a:latin typeface="Arial" panose="020B0604020202020204" pitchFamily="34" charset="0"/>
                <a:cs typeface="Arial" panose="020B0604020202020204" pitchFamily="34" charset="0"/>
              </a:rPr>
              <a:t>Line Graphs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3F7E39-EAA9-4E0C-A86B-D9006A7BBFD0}"/>
              </a:ext>
            </a:extLst>
          </p:cNvPr>
          <p:cNvSpPr txBox="1"/>
          <p:nvPr/>
        </p:nvSpPr>
        <p:spPr>
          <a:xfrm>
            <a:off x="0" y="-20052"/>
            <a:ext cx="481321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Activating Prior Knowledge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187750-7B07-4F90-AAC0-FA61C18BDC14}"/>
              </a:ext>
            </a:extLst>
          </p:cNvPr>
          <p:cNvSpPr/>
          <p:nvPr/>
        </p:nvSpPr>
        <p:spPr>
          <a:xfrm>
            <a:off x="202917" y="1379729"/>
            <a:ext cx="3110948" cy="483209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2800" b="1" dirty="0"/>
              <a:t>Must Have:</a:t>
            </a:r>
          </a:p>
          <a:p>
            <a:pPr marL="514350" indent="-514350">
              <a:buAutoNum type="arabicPeriod"/>
            </a:pPr>
            <a:r>
              <a:rPr lang="en-AU" sz="2800" dirty="0"/>
              <a:t>Title.</a:t>
            </a:r>
          </a:p>
          <a:p>
            <a:pPr marL="514350" indent="-514350">
              <a:buAutoNum type="arabicPeriod"/>
            </a:pPr>
            <a:r>
              <a:rPr lang="en-AU" sz="2800" dirty="0"/>
              <a:t>Continuous </a:t>
            </a:r>
            <a:br>
              <a:rPr lang="en-AU" sz="2800" dirty="0"/>
            </a:br>
            <a:r>
              <a:rPr lang="en-AU" sz="2800" i="1" dirty="0"/>
              <a:t>y-</a:t>
            </a:r>
            <a:r>
              <a:rPr lang="en-AU" sz="2800" dirty="0"/>
              <a:t>axis scale.</a:t>
            </a:r>
          </a:p>
          <a:p>
            <a:pPr marL="514350" indent="-514350">
              <a:buFontTx/>
              <a:buAutoNum type="arabicPeriod"/>
            </a:pPr>
            <a:r>
              <a:rPr lang="en-AU" sz="2800" dirty="0"/>
              <a:t>Continuous</a:t>
            </a:r>
            <a:br>
              <a:rPr lang="en-AU" sz="2800" dirty="0"/>
            </a:br>
            <a:r>
              <a:rPr lang="en-AU" sz="2800" i="1" dirty="0"/>
              <a:t>x</a:t>
            </a:r>
            <a:r>
              <a:rPr lang="en-AU" sz="2800" dirty="0"/>
              <a:t>-axis scale (usually time).</a:t>
            </a:r>
          </a:p>
          <a:p>
            <a:pPr marL="514350" indent="-514350">
              <a:buAutoNum type="arabicPeriod"/>
            </a:pPr>
            <a:r>
              <a:rPr lang="en-AU" sz="2800" i="1" dirty="0"/>
              <a:t>x</a:t>
            </a:r>
            <a:r>
              <a:rPr lang="en-AU" sz="2800" dirty="0"/>
              <a:t>-axis label.</a:t>
            </a:r>
          </a:p>
          <a:p>
            <a:pPr marL="514350" indent="-514350">
              <a:buAutoNum type="arabicPeriod"/>
            </a:pPr>
            <a:r>
              <a:rPr lang="en-AU" sz="2800" i="1" dirty="0"/>
              <a:t>y</a:t>
            </a:r>
            <a:r>
              <a:rPr lang="en-AU" sz="2800" dirty="0"/>
              <a:t>-axis label.</a:t>
            </a:r>
          </a:p>
          <a:p>
            <a:pPr marL="514350" indent="-514350">
              <a:buAutoNum type="arabicPeriod"/>
            </a:pPr>
            <a:r>
              <a:rPr lang="en-AU" sz="2800" dirty="0"/>
              <a:t>Line between points.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F883D2E-5A6D-49AF-9EBB-C8C94BBAAE21}"/>
              </a:ext>
            </a:extLst>
          </p:cNvPr>
          <p:cNvGraphicFramePr>
            <a:graphicFrameLocks noGrp="1"/>
          </p:cNvGraphicFramePr>
          <p:nvPr/>
        </p:nvGraphicFramePr>
        <p:xfrm>
          <a:off x="9626600" y="643485"/>
          <a:ext cx="2311885" cy="556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806">
                  <a:extLst>
                    <a:ext uri="{9D8B030D-6E8A-4147-A177-3AD203B41FA5}">
                      <a16:colId xmlns:a16="http://schemas.microsoft.com/office/drawing/2014/main" val="2532697275"/>
                    </a:ext>
                  </a:extLst>
                </a:gridCol>
                <a:gridCol w="943079">
                  <a:extLst>
                    <a:ext uri="{9D8B030D-6E8A-4147-A177-3AD203B41FA5}">
                      <a16:colId xmlns:a16="http://schemas.microsoft.com/office/drawing/2014/main" val="1052776906"/>
                    </a:ext>
                  </a:extLst>
                </a:gridCol>
              </a:tblGrid>
              <a:tr h="804575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solidFill>
                            <a:schemeClr val="tx1"/>
                          </a:solidFill>
                        </a:rPr>
                        <a:t>Time (Months)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solidFill>
                            <a:schemeClr val="tx1"/>
                          </a:solidFill>
                        </a:rPr>
                        <a:t>Temp (</a:t>
                      </a:r>
                      <a:r>
                        <a:rPr lang="en-AU" sz="2400" baseline="30000" dirty="0">
                          <a:solidFill>
                            <a:schemeClr val="tx1"/>
                          </a:solidFill>
                        </a:rPr>
                        <a:t>○</a:t>
                      </a:r>
                      <a:r>
                        <a:rPr lang="en-AU" sz="2400" dirty="0">
                          <a:solidFill>
                            <a:schemeClr val="tx1"/>
                          </a:solidFill>
                        </a:rPr>
                        <a:t>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942423"/>
                  </a:ext>
                </a:extLst>
              </a:tr>
              <a:tr h="395448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744033"/>
                  </a:ext>
                </a:extLst>
              </a:tr>
              <a:tr h="395448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007377"/>
                  </a:ext>
                </a:extLst>
              </a:tr>
              <a:tr h="395448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869545"/>
                  </a:ext>
                </a:extLst>
              </a:tr>
              <a:tr h="395448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046129"/>
                  </a:ext>
                </a:extLst>
              </a:tr>
              <a:tr h="395448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405728"/>
                  </a:ext>
                </a:extLst>
              </a:tr>
              <a:tr h="395448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973136"/>
                  </a:ext>
                </a:extLst>
              </a:tr>
              <a:tr h="395448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448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5448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5448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5448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5448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>
                          <a:solidFill>
                            <a:schemeClr val="tx1"/>
                          </a:solidFill>
                        </a:rPr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AE6C85C-FD66-414A-9086-55A4CC6AA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8291" y="1186847"/>
            <a:ext cx="4840105" cy="48401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26768" y="817514"/>
            <a:ext cx="503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i="1" dirty="0">
                <a:solidFill>
                  <a:srgbClr val="FF0000"/>
                </a:solidFill>
                <a:latin typeface="Algerian" panose="04020705040A02060702" pitchFamily="82" charset="0"/>
              </a:rPr>
              <a:t>Average Temperature for each month</a:t>
            </a:r>
          </a:p>
        </p:txBody>
      </p:sp>
      <p:sp>
        <p:nvSpPr>
          <p:cNvPr id="21" name="Rectangle 20"/>
          <p:cNvSpPr/>
          <p:nvPr/>
        </p:nvSpPr>
        <p:spPr>
          <a:xfrm rot="16200000">
            <a:off x="3832275" y="6141506"/>
            <a:ext cx="62549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January</a:t>
            </a:r>
          </a:p>
        </p:txBody>
      </p:sp>
      <p:sp>
        <p:nvSpPr>
          <p:cNvPr id="22" name="Rectangle 21"/>
          <p:cNvSpPr/>
          <p:nvPr/>
        </p:nvSpPr>
        <p:spPr>
          <a:xfrm rot="16200000">
            <a:off x="4044442" y="6199800"/>
            <a:ext cx="69762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February</a:t>
            </a:r>
          </a:p>
        </p:txBody>
      </p:sp>
      <p:sp>
        <p:nvSpPr>
          <p:cNvPr id="23" name="Rectangle 22"/>
          <p:cNvSpPr/>
          <p:nvPr/>
        </p:nvSpPr>
        <p:spPr>
          <a:xfrm rot="16200000">
            <a:off x="4350643" y="6140358"/>
            <a:ext cx="55496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March</a:t>
            </a:r>
          </a:p>
        </p:txBody>
      </p:sp>
      <p:sp>
        <p:nvSpPr>
          <p:cNvPr id="24" name="Rectangle 23"/>
          <p:cNvSpPr/>
          <p:nvPr/>
        </p:nvSpPr>
        <p:spPr>
          <a:xfrm rot="16200000">
            <a:off x="4654163" y="6111684"/>
            <a:ext cx="45397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April</a:t>
            </a:r>
          </a:p>
        </p:txBody>
      </p:sp>
      <p:sp>
        <p:nvSpPr>
          <p:cNvPr id="25" name="Rectangle 24"/>
          <p:cNvSpPr/>
          <p:nvPr/>
        </p:nvSpPr>
        <p:spPr>
          <a:xfrm rot="16200000">
            <a:off x="4896290" y="6105945"/>
            <a:ext cx="43633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May</a:t>
            </a:r>
          </a:p>
        </p:txBody>
      </p:sp>
      <p:sp>
        <p:nvSpPr>
          <p:cNvPr id="26" name="Rectangle 25"/>
          <p:cNvSpPr/>
          <p:nvPr/>
        </p:nvSpPr>
        <p:spPr>
          <a:xfrm rot="16200000">
            <a:off x="5139830" y="6117091"/>
            <a:ext cx="4475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June</a:t>
            </a:r>
          </a:p>
        </p:txBody>
      </p:sp>
      <p:sp>
        <p:nvSpPr>
          <p:cNvPr id="27" name="Rectangle 26"/>
          <p:cNvSpPr/>
          <p:nvPr/>
        </p:nvSpPr>
        <p:spPr>
          <a:xfrm rot="16200000">
            <a:off x="5389994" y="6094123"/>
            <a:ext cx="39946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July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89389" y="5392948"/>
            <a:ext cx="2568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93955" y="4941724"/>
            <a:ext cx="25680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57887" y="4452090"/>
            <a:ext cx="3289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51304" y="3962456"/>
            <a:ext cx="3289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16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51303" y="3492027"/>
            <a:ext cx="3289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51301" y="3002393"/>
            <a:ext cx="3289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24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65422" y="2517105"/>
            <a:ext cx="3289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28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57469" y="2053141"/>
            <a:ext cx="3289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32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53659" y="1553865"/>
            <a:ext cx="3289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36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51302" y="1104286"/>
            <a:ext cx="3289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40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27130" y="6368875"/>
            <a:ext cx="8830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i="1" dirty="0"/>
              <a:t>Month </a:t>
            </a:r>
          </a:p>
        </p:txBody>
      </p:sp>
      <p:sp>
        <p:nvSpPr>
          <p:cNvPr id="39" name="Rectangle 38"/>
          <p:cNvSpPr/>
          <p:nvPr/>
        </p:nvSpPr>
        <p:spPr>
          <a:xfrm rot="16200000">
            <a:off x="2639888" y="3362497"/>
            <a:ext cx="18167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i="1" dirty="0"/>
              <a:t>Temperature (</a:t>
            </a:r>
            <a:r>
              <a:rPr lang="en-AU" b="1" i="1" baseline="30000" dirty="0" err="1"/>
              <a:t>o</a:t>
            </a:r>
            <a:r>
              <a:rPr lang="en-AU" b="1" i="1" dirty="0" err="1"/>
              <a:t>C</a:t>
            </a:r>
            <a:r>
              <a:rPr lang="en-AU" b="1" i="1" dirty="0"/>
              <a:t>)</a:t>
            </a:r>
          </a:p>
        </p:txBody>
      </p:sp>
      <p:sp>
        <p:nvSpPr>
          <p:cNvPr id="40" name="Rectangle 39"/>
          <p:cNvSpPr/>
          <p:nvPr/>
        </p:nvSpPr>
        <p:spPr>
          <a:xfrm rot="16200000">
            <a:off x="5548576" y="6176535"/>
            <a:ext cx="58060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August</a:t>
            </a:r>
          </a:p>
        </p:txBody>
      </p:sp>
      <p:sp>
        <p:nvSpPr>
          <p:cNvPr id="41" name="Rectangle 40"/>
          <p:cNvSpPr/>
          <p:nvPr/>
        </p:nvSpPr>
        <p:spPr>
          <a:xfrm rot="16200000">
            <a:off x="5676574" y="6213492"/>
            <a:ext cx="8162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September</a:t>
            </a:r>
          </a:p>
        </p:txBody>
      </p:sp>
      <p:sp>
        <p:nvSpPr>
          <p:cNvPr id="42" name="Rectangle 41"/>
          <p:cNvSpPr/>
          <p:nvPr/>
        </p:nvSpPr>
        <p:spPr>
          <a:xfrm rot="16200000">
            <a:off x="5998164" y="6173636"/>
            <a:ext cx="65114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October</a:t>
            </a:r>
          </a:p>
        </p:txBody>
      </p:sp>
      <p:sp>
        <p:nvSpPr>
          <p:cNvPr id="43" name="Rectangle 42"/>
          <p:cNvSpPr/>
          <p:nvPr/>
        </p:nvSpPr>
        <p:spPr>
          <a:xfrm rot="16200000">
            <a:off x="6181568" y="6224537"/>
            <a:ext cx="7906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November</a:t>
            </a:r>
          </a:p>
        </p:txBody>
      </p:sp>
      <p:sp>
        <p:nvSpPr>
          <p:cNvPr id="44" name="Rectangle 43"/>
          <p:cNvSpPr/>
          <p:nvPr/>
        </p:nvSpPr>
        <p:spPr>
          <a:xfrm rot="16200000">
            <a:off x="6419700" y="6230431"/>
            <a:ext cx="77777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100" dirty="0"/>
              <a:t>December</a:t>
            </a:r>
          </a:p>
        </p:txBody>
      </p:sp>
      <p:sp>
        <p:nvSpPr>
          <p:cNvPr id="2" name="Oval 1"/>
          <p:cNvSpPr/>
          <p:nvPr/>
        </p:nvSpPr>
        <p:spPr>
          <a:xfrm>
            <a:off x="4106282" y="1379729"/>
            <a:ext cx="88076" cy="1121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Oval 44"/>
          <p:cNvSpPr/>
          <p:nvPr/>
        </p:nvSpPr>
        <p:spPr>
          <a:xfrm>
            <a:off x="4366233" y="1849465"/>
            <a:ext cx="99436" cy="1121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6" name="Oval 45"/>
          <p:cNvSpPr/>
          <p:nvPr/>
        </p:nvSpPr>
        <p:spPr>
          <a:xfrm>
            <a:off x="4608974" y="2701101"/>
            <a:ext cx="99436" cy="1121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Oval 46"/>
          <p:cNvSpPr/>
          <p:nvPr/>
        </p:nvSpPr>
        <p:spPr>
          <a:xfrm>
            <a:off x="4842256" y="2828388"/>
            <a:ext cx="99436" cy="1121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8" name="Oval 47"/>
          <p:cNvSpPr/>
          <p:nvPr/>
        </p:nvSpPr>
        <p:spPr>
          <a:xfrm>
            <a:off x="5076693" y="3181760"/>
            <a:ext cx="99436" cy="1121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9" name="Oval 48"/>
          <p:cNvSpPr/>
          <p:nvPr/>
        </p:nvSpPr>
        <p:spPr>
          <a:xfrm>
            <a:off x="5313891" y="3661837"/>
            <a:ext cx="99436" cy="1121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0" name="Oval 49"/>
          <p:cNvSpPr/>
          <p:nvPr/>
        </p:nvSpPr>
        <p:spPr>
          <a:xfrm>
            <a:off x="5555908" y="4031223"/>
            <a:ext cx="99436" cy="1121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1" name="Oval 50"/>
          <p:cNvSpPr/>
          <p:nvPr/>
        </p:nvSpPr>
        <p:spPr>
          <a:xfrm>
            <a:off x="5799419" y="3905848"/>
            <a:ext cx="99436" cy="1121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2" name="Oval 51"/>
          <p:cNvSpPr/>
          <p:nvPr/>
        </p:nvSpPr>
        <p:spPr>
          <a:xfrm>
            <a:off x="6046933" y="3553139"/>
            <a:ext cx="99436" cy="1121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3" name="Oval 52"/>
          <p:cNvSpPr/>
          <p:nvPr/>
        </p:nvSpPr>
        <p:spPr>
          <a:xfrm>
            <a:off x="6290832" y="3058098"/>
            <a:ext cx="99436" cy="1121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4" name="Oval 53"/>
          <p:cNvSpPr/>
          <p:nvPr/>
        </p:nvSpPr>
        <p:spPr>
          <a:xfrm>
            <a:off x="6542787" y="2582711"/>
            <a:ext cx="99436" cy="1121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5" name="Oval 54"/>
          <p:cNvSpPr/>
          <p:nvPr/>
        </p:nvSpPr>
        <p:spPr>
          <a:xfrm>
            <a:off x="6774804" y="1849465"/>
            <a:ext cx="99436" cy="1121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" name="Straight Connector 3"/>
          <p:cNvCxnSpPr>
            <a:stCxn id="2" idx="5"/>
            <a:endCxn id="45" idx="5"/>
          </p:cNvCxnSpPr>
          <p:nvPr/>
        </p:nvCxnSpPr>
        <p:spPr>
          <a:xfrm>
            <a:off x="4181460" y="1475432"/>
            <a:ext cx="269647" cy="46973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5" idx="5"/>
            <a:endCxn id="46" idx="1"/>
          </p:cNvCxnSpPr>
          <p:nvPr/>
        </p:nvCxnSpPr>
        <p:spPr>
          <a:xfrm>
            <a:off x="4451107" y="1945168"/>
            <a:ext cx="172429" cy="77235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46" idx="2"/>
            <a:endCxn id="47" idx="1"/>
          </p:cNvCxnSpPr>
          <p:nvPr/>
        </p:nvCxnSpPr>
        <p:spPr>
          <a:xfrm>
            <a:off x="4608974" y="2757163"/>
            <a:ext cx="247844" cy="8764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47" idx="5"/>
            <a:endCxn id="48" idx="1"/>
          </p:cNvCxnSpPr>
          <p:nvPr/>
        </p:nvCxnSpPr>
        <p:spPr>
          <a:xfrm>
            <a:off x="4927130" y="2924091"/>
            <a:ext cx="164125" cy="27408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48" idx="5"/>
            <a:endCxn id="49" idx="1"/>
          </p:cNvCxnSpPr>
          <p:nvPr/>
        </p:nvCxnSpPr>
        <p:spPr>
          <a:xfrm>
            <a:off x="5161567" y="3277463"/>
            <a:ext cx="166886" cy="40079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49" idx="5"/>
            <a:endCxn id="50" idx="1"/>
          </p:cNvCxnSpPr>
          <p:nvPr/>
        </p:nvCxnSpPr>
        <p:spPr>
          <a:xfrm>
            <a:off x="5398765" y="3757540"/>
            <a:ext cx="171705" cy="29010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50" idx="6"/>
            <a:endCxn id="51" idx="3"/>
          </p:cNvCxnSpPr>
          <p:nvPr/>
        </p:nvCxnSpPr>
        <p:spPr>
          <a:xfrm flipV="1">
            <a:off x="5655344" y="4001551"/>
            <a:ext cx="158637" cy="8573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51" idx="7"/>
            <a:endCxn id="52" idx="3"/>
          </p:cNvCxnSpPr>
          <p:nvPr/>
        </p:nvCxnSpPr>
        <p:spPr>
          <a:xfrm flipV="1">
            <a:off x="5884293" y="3648842"/>
            <a:ext cx="177202" cy="27342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52" idx="7"/>
            <a:endCxn id="53" idx="3"/>
          </p:cNvCxnSpPr>
          <p:nvPr/>
        </p:nvCxnSpPr>
        <p:spPr>
          <a:xfrm flipV="1">
            <a:off x="6131807" y="3153801"/>
            <a:ext cx="173587" cy="41575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53" idx="7"/>
            <a:endCxn id="54" idx="3"/>
          </p:cNvCxnSpPr>
          <p:nvPr/>
        </p:nvCxnSpPr>
        <p:spPr>
          <a:xfrm flipV="1">
            <a:off x="6375706" y="2678414"/>
            <a:ext cx="181643" cy="39610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54" idx="7"/>
            <a:endCxn id="55" idx="3"/>
          </p:cNvCxnSpPr>
          <p:nvPr/>
        </p:nvCxnSpPr>
        <p:spPr>
          <a:xfrm flipV="1">
            <a:off x="6627661" y="1945168"/>
            <a:ext cx="161705" cy="65396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12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2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81321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Activating Prior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165" y="655484"/>
            <a:ext cx="112862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Symmetry     (Mean=Median)</a:t>
            </a:r>
          </a:p>
          <a:p>
            <a:endParaRPr lang="en-AU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/>
              <a:t>When a graph is evenly distributed about the median (middle score)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/>
              <a:t>If the graph is symmetrical, then the mean, mode and median will be similar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3382" t="31027" r="59504" b="50021"/>
          <a:stretch/>
        </p:blipFill>
        <p:spPr>
          <a:xfrm>
            <a:off x="1800045" y="3082505"/>
            <a:ext cx="5886953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805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81321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Activating Prior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165" y="655484"/>
            <a:ext cx="112862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Positive Skew  (Mean&gt;Median)</a:t>
            </a:r>
          </a:p>
          <a:p>
            <a:endParaRPr lang="en-AU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/>
              <a:t>If there is more data on one side, then graph is called skewed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/>
              <a:t>In mathematics, “skewed means empty”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/>
              <a:t>This graph is skewed to the right/empty to the right/positive skew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462" t="55477" r="59073" b="24345"/>
          <a:stretch/>
        </p:blipFill>
        <p:spPr>
          <a:xfrm>
            <a:off x="-183467" y="3527919"/>
            <a:ext cx="9494341" cy="323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590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81321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Activating Prior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165" y="655484"/>
            <a:ext cx="112862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Negative Skew    (Mean&lt;Median)</a:t>
            </a:r>
          </a:p>
          <a:p>
            <a:endParaRPr lang="en-AU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/>
              <a:t>If there is more data on one side, then graph is called skewed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/>
              <a:t>In mathematics, “skewed means empty”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/>
              <a:t>This graph is skewed to the left/empty to the left/negative skew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41836" t="31928" r="31876" b="44620"/>
          <a:stretch/>
        </p:blipFill>
        <p:spPr>
          <a:xfrm>
            <a:off x="2408518" y="3463364"/>
            <a:ext cx="5707529" cy="339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295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81321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Activating Prior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165" y="655484"/>
            <a:ext cx="112862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Bi-Modal:</a:t>
            </a:r>
          </a:p>
          <a:p>
            <a:endParaRPr lang="en-AU" sz="2400" b="1" dirty="0"/>
          </a:p>
          <a:p>
            <a:r>
              <a:rPr lang="en-AU" sz="2400" b="1" dirty="0"/>
              <a:t>A graph is bi-modal (2 modes)/multi-modal(more than 2 modes) if it 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/>
              <a:t>not skewed to the left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/>
              <a:t>not skewed to the right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/>
              <a:t>has more than one peak/mode/ common score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/>
              <a:t>This graph is bi-modal as it has two peaks/modes/common scores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41643" t="55462" r="32069" b="21086"/>
          <a:stretch/>
        </p:blipFill>
        <p:spPr>
          <a:xfrm>
            <a:off x="2616085" y="3721846"/>
            <a:ext cx="5707529" cy="339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550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A8D08E-840A-4ABF-BDB3-968EFCCE1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348" y="791955"/>
            <a:ext cx="11738113" cy="5887141"/>
          </a:xfrm>
        </p:spPr>
        <p:txBody>
          <a:bodyPr/>
          <a:lstStyle/>
          <a:p>
            <a:pPr marL="0" indent="0">
              <a:buNone/>
            </a:pPr>
            <a:r>
              <a:rPr lang="en-AU" b="1" dirty="0" err="1"/>
              <a:t>Mathspace</a:t>
            </a:r>
            <a:r>
              <a:rPr lang="en-AU" b="1"/>
              <a:t> Activity</a:t>
            </a:r>
            <a:endParaRPr lang="en-AU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0C1DE274-75E8-4178-AF08-49F3C0182597}"/>
              </a:ext>
            </a:extLst>
          </p:cNvPr>
          <p:cNvSpPr txBox="1">
            <a:spLocks/>
          </p:cNvSpPr>
          <p:nvPr/>
        </p:nvSpPr>
        <p:spPr>
          <a:xfrm>
            <a:off x="7133193" y="197964"/>
            <a:ext cx="4598366" cy="490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b="1" dirty="0"/>
              <a:t>Mathematics Page Layout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D24C62-EECE-4C3B-93F2-AB10B845F190}"/>
              </a:ext>
            </a:extLst>
          </p:cNvPr>
          <p:cNvSpPr txBox="1"/>
          <p:nvPr/>
        </p:nvSpPr>
        <p:spPr>
          <a:xfrm>
            <a:off x="0" y="0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Independent Practice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2A0945-420F-49DC-8F2A-6BDF186E9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193" y="770894"/>
            <a:ext cx="4598366" cy="592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00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478f4f37-ca30-444c-9cac-b002d0ed8aff" xsi:nil="true"/>
    <AppVersion xmlns="478f4f37-ca30-444c-9cac-b002d0ed8aff" xsi:nil="true"/>
    <TeamsChannelId xmlns="478f4f37-ca30-444c-9cac-b002d0ed8aff" xsi:nil="true"/>
    <FolderType xmlns="478f4f37-ca30-444c-9cac-b002d0ed8aff" xsi:nil="true"/>
    <CultureName xmlns="478f4f37-ca30-444c-9cac-b002d0ed8af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9A4B38D6A5D54483AF9FA4719DD2E2" ma:contentTypeVersion="11" ma:contentTypeDescription="Create a new document." ma:contentTypeScope="" ma:versionID="e59fd501df0e20e3abc5b17de1e59987">
  <xsd:schema xmlns:xsd="http://www.w3.org/2001/XMLSchema" xmlns:xs="http://www.w3.org/2001/XMLSchema" xmlns:p="http://schemas.microsoft.com/office/2006/metadata/properties" xmlns:ns2="478f4f37-ca30-444c-9cac-b002d0ed8aff" targetNamespace="http://schemas.microsoft.com/office/2006/metadata/properties" ma:root="true" ma:fieldsID="8c7440dfa370e92e14454dd9e3fc393e" ns2:_="">
    <xsd:import namespace="478f4f37-ca30-444c-9cac-b002d0ed8aff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8f4f37-ca30-444c-9cac-b002d0ed8aff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16B8A5-82F0-4955-B3FB-CF55F37413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BFA095-2D51-4E4D-8A61-64B43239FD46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478f4f37-ca30-444c-9cac-b002d0ed8aff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97C0695-20A1-4B89-8C3D-D6621BB752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8f4f37-ca30-444c-9cac-b002d0ed8a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1257</Words>
  <Application>Microsoft Macintosh PowerPoint</Application>
  <PresentationFormat>Widescreen</PresentationFormat>
  <Paragraphs>382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Aharoni</vt:lpstr>
      <vt:lpstr>Algerian</vt:lpstr>
      <vt:lpstr>Arial</vt:lpstr>
      <vt:lpstr>Arial Black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LIFFERS Sebastian [Harrisdale Senior High School]</dc:creator>
  <cp:lastModifiedBy>YOST Amie [Harrisdale Senior High School]</cp:lastModifiedBy>
  <cp:revision>61</cp:revision>
  <dcterms:created xsi:type="dcterms:W3CDTF">2021-03-14T23:41:02Z</dcterms:created>
  <dcterms:modified xsi:type="dcterms:W3CDTF">2021-08-22T07:02:43Z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0x0101000B9A4B38D6A5D54483AF9FA4719DD2E2</vt:lpwstr>
  </property>
</Properties>
</file>
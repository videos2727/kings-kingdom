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1" r:id="rId1"/>
  </p:sldMasterIdLst>
  <p:notesMasterIdLst>
    <p:notesMasterId r:id="rId11"/>
  </p:notesMasterIdLst>
  <p:sldIdLst>
    <p:sldId id="266" r:id="rId2"/>
    <p:sldId id="283" r:id="rId3"/>
    <p:sldId id="277" r:id="rId4"/>
    <p:sldId id="280" r:id="rId5"/>
    <p:sldId id="284" r:id="rId6"/>
    <p:sldId id="275" r:id="rId7"/>
    <p:sldId id="281" r:id="rId8"/>
    <p:sldId id="282" r:id="rId9"/>
    <p:sldId id="27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2"/>
    <p:restoredTop sz="78303" autoAdjust="0"/>
  </p:normalViewPr>
  <p:slideViewPr>
    <p:cSldViewPr snapToGrid="0" snapToObjects="1">
      <p:cViewPr varScale="1">
        <p:scale>
          <a:sx n="82" d="100"/>
          <a:sy n="82" d="100"/>
        </p:scale>
        <p:origin x="9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2789E-5AC8-448E-8E6F-EC7423D7B148}" type="datetimeFigureOut">
              <a:rPr lang="en-GB" smtClean="0"/>
              <a:t>15/11/2018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5D6DF-A159-4F50-B9AF-8F30B100F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226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Have a general discussion with the class about things to take loans for e.g. car, holiday, eventually a house</a:t>
            </a:r>
          </a:p>
          <a:p>
            <a:r>
              <a:rPr lang="en-AU" dirty="0"/>
              <a:t>How these could all start as things to save for car, holiday, house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260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74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15/11/2018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4712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15/11/2018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4137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15/11/2018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4328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15/11/2018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6625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15/11/2018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1337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15/11/2018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2676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15/11/2018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3496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15/11/2018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1562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15/11/2018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2376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15/11/2018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7292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15/11/2018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0894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15/11/2018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7527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15/11/2018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30282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15/11/2018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78237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15/11/2018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87648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15/11/2018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5892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C23BB-2070-D146-BD10-A01B23AF686B}" type="datetimeFigureOut">
              <a:rPr lang="en-AU" smtClean="0"/>
              <a:t>15/11/2018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0588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  <p:sldLayoutId id="2147483816" r:id="rId15"/>
    <p:sldLayoutId id="214748381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2744-6AE1-4460-BB81-220391B100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Simple Interest</a:t>
            </a:r>
            <a:br>
              <a:rPr lang="en-US" sz="5400" b="1" dirty="0">
                <a:solidFill>
                  <a:srgbClr val="0070C0"/>
                </a:solidFill>
                <a:latin typeface="Kiwi School Handwriting" panose="00000500000000000000" pitchFamily="2" charset="0"/>
              </a:rPr>
            </a:br>
            <a:endParaRPr lang="en-GB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E286F-EE8D-4E43-8AA7-04B4265BF3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sz="28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Year </a:t>
            </a:r>
            <a:r>
              <a:rPr lang="en-AU" sz="2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10</a:t>
            </a:r>
            <a:endParaRPr lang="en-GB" sz="28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2862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B7BF1-B7FD-43B1-A6E5-0C01A1B9E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Up – Talk – Down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76A1548-1149-47B2-B58F-5615F2A0BEEA}"/>
              </a:ext>
            </a:extLst>
          </p:cNvPr>
          <p:cNvSpPr txBox="1">
            <a:spLocks noChangeArrowheads="1"/>
          </p:cNvSpPr>
          <p:nvPr/>
        </p:nvSpPr>
        <p:spPr>
          <a:xfrm>
            <a:off x="1282780" y="1901728"/>
            <a:ext cx="9575720" cy="44069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			</a:t>
            </a:r>
          </a:p>
          <a:p>
            <a:pPr marL="533400" indent="-533400"/>
            <a:r>
              <a:rPr lang="en-US" sz="2800" dirty="0"/>
              <a:t>Spend 60 seconds writing down things you would save money for, or take a loan out for</a:t>
            </a:r>
          </a:p>
          <a:p>
            <a:pPr marL="533400" indent="-533400"/>
            <a:r>
              <a:rPr lang="en-US" sz="2800" dirty="0"/>
              <a:t>When asked, everyone will stand up, take turns to say one of your items, and then sit down once you have had your turn to speak</a:t>
            </a:r>
          </a:p>
        </p:txBody>
      </p:sp>
    </p:spTree>
    <p:extLst>
      <p:ext uri="{BB962C8B-B14F-4D97-AF65-F5344CB8AC3E}">
        <p14:creationId xmlns:p14="http://schemas.microsoft.com/office/powerpoint/2010/main" val="3207765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9031" y="61709"/>
            <a:ext cx="2756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Simple Interest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633" y="204438"/>
            <a:ext cx="244796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  /   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Simple Interest?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5" y="1580871"/>
            <a:ext cx="9544926" cy="2123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Verdana" pitchFamily="34" charset="0"/>
              </a:rPr>
              <a:t>When you deposit money into a bank, the bank pays you </a:t>
            </a:r>
            <a:r>
              <a:rPr lang="en-US" sz="2400" b="1" dirty="0">
                <a:latin typeface="Verdana" pitchFamily="34" charset="0"/>
              </a:rPr>
              <a:t>interest</a:t>
            </a:r>
            <a:r>
              <a:rPr lang="en-US" sz="2400" dirty="0">
                <a:latin typeface="Verdana" pitchFamily="34" charset="0"/>
              </a:rPr>
              <a:t>. 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latin typeface="Verdana" pitchFamily="34" charset="0"/>
              </a:rPr>
              <a:t>When you borrow money from a bank, you pay </a:t>
            </a:r>
            <a:r>
              <a:rPr lang="en-US" sz="2400" b="1" dirty="0">
                <a:latin typeface="Verdana" pitchFamily="34" charset="0"/>
              </a:rPr>
              <a:t>interest</a:t>
            </a:r>
            <a:r>
              <a:rPr lang="en-US" sz="2400" dirty="0">
                <a:latin typeface="Verdana" pitchFamily="34" charset="0"/>
              </a:rPr>
              <a:t> to the bank. </a:t>
            </a:r>
          </a:p>
          <a:p>
            <a:pPr defTabSz="914126"/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4">
                <a:extLst>
                  <a:ext uri="{FF2B5EF4-FFF2-40B4-BE49-F238E27FC236}">
                    <a16:creationId xmlns:a16="http://schemas.microsoft.com/office/drawing/2014/main" id="{1BFF3DF3-8952-41ED-BAAF-A426306F92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8917" y="4790290"/>
                <a:ext cx="486971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800" dirty="0">
                    <a:latin typeface="Verdana" pitchFamily="34" charset="0"/>
                  </a:rPr>
                  <a:t>		</a:t>
                </a:r>
                <a:r>
                  <a:rPr lang="en-US" sz="2800" i="1" dirty="0">
                    <a:solidFill>
                      <a:srgbClr val="006600"/>
                    </a:solidFill>
                    <a:latin typeface="Verdana" pitchFamily="34" charset="0"/>
                  </a:rPr>
                  <a:t>I</a:t>
                </a:r>
                <a:r>
                  <a:rPr lang="en-US" sz="2800" dirty="0">
                    <a:solidFill>
                      <a:srgbClr val="006600"/>
                    </a:solidFill>
                    <a:latin typeface="Verdana" pitchFamily="34" charset="0"/>
                  </a:rPr>
                  <a:t> </a:t>
                </a:r>
                <a:r>
                  <a:rPr lang="en-US" sz="2800" dirty="0">
                    <a:latin typeface="Verdana" pitchFamily="34" charset="0"/>
                  </a:rPr>
                  <a:t>= </a:t>
                </a:r>
                <a:r>
                  <a:rPr lang="en-US" sz="2800" i="1" dirty="0">
                    <a:solidFill>
                      <a:srgbClr val="006699"/>
                    </a:solidFill>
                    <a:latin typeface="Verdana" pitchFamily="34" charset="0"/>
                  </a:rPr>
                  <a:t>P</a:t>
                </a:r>
                <a:r>
                  <a:rPr lang="en-US" sz="2800" dirty="0">
                    <a:latin typeface="Verdan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dirty="0">
                    <a:latin typeface="Verdana" pitchFamily="34" charset="0"/>
                    <a:sym typeface="Webdings" charset="2"/>
                  </a:rPr>
                  <a:t> </a:t>
                </a:r>
                <a:r>
                  <a:rPr lang="en-US" sz="2800" i="1" dirty="0">
                    <a:solidFill>
                      <a:srgbClr val="FF0000"/>
                    </a:solidFill>
                    <a:latin typeface="Verdana" pitchFamily="34" charset="0"/>
                    <a:sym typeface="Webdings" charset="2"/>
                  </a:rPr>
                  <a:t>r</a:t>
                </a:r>
                <a:r>
                  <a:rPr lang="en-US" sz="2800" dirty="0">
                    <a:solidFill>
                      <a:srgbClr val="FF0000"/>
                    </a:solidFill>
                    <a:latin typeface="Verdana" pitchFamily="34" charset="0"/>
                    <a:sym typeface="Webdings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Verdana" pitchFamily="34" charset="0"/>
                    <a:sym typeface="Webdings" charset="2"/>
                  </a:rPr>
                  <a:t> </a:t>
                </a:r>
                <a:r>
                  <a:rPr lang="en-US" sz="2800" i="1" dirty="0">
                    <a:solidFill>
                      <a:srgbClr val="660066"/>
                    </a:solidFill>
                    <a:latin typeface="Verdana" pitchFamily="34" charset="0"/>
                    <a:sym typeface="Webdings" charset="2"/>
                  </a:rPr>
                  <a:t>t</a:t>
                </a:r>
              </a:p>
            </p:txBody>
          </p:sp>
        </mc:Choice>
        <mc:Fallback xmlns="">
          <p:sp>
            <p:nvSpPr>
              <p:cNvPr id="12" name="Text Box 14">
                <a:extLst>
                  <a:ext uri="{FF2B5EF4-FFF2-40B4-BE49-F238E27FC236}">
                    <a16:creationId xmlns:a16="http://schemas.microsoft.com/office/drawing/2014/main" id="{1BFF3DF3-8952-41ED-BAAF-A426306F9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78917" y="4790290"/>
                <a:ext cx="4869716" cy="523220"/>
              </a:xfrm>
              <a:prstGeom prst="rect">
                <a:avLst/>
              </a:prstGeom>
              <a:blipFill>
                <a:blip r:embed="rId3"/>
                <a:stretch>
                  <a:fillRect t="-13953" b="-302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28">
            <a:extLst>
              <a:ext uri="{FF2B5EF4-FFF2-40B4-BE49-F238E27FC236}">
                <a16:creationId xmlns:a16="http://schemas.microsoft.com/office/drawing/2014/main" id="{BFF9985B-AA3F-4302-9517-DF8B1B11C2F9}"/>
              </a:ext>
            </a:extLst>
          </p:cNvPr>
          <p:cNvGrpSpPr>
            <a:grpSpLocks/>
          </p:cNvGrpSpPr>
          <p:nvPr/>
        </p:nvGrpSpPr>
        <p:grpSpPr bwMode="auto">
          <a:xfrm>
            <a:off x="2738974" y="4224808"/>
            <a:ext cx="3267075" cy="836613"/>
            <a:chOff x="-14" y="2449"/>
            <a:chExt cx="2058" cy="527"/>
          </a:xfrm>
        </p:grpSpPr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3EA49935-057C-4A8E-AAEA-7E13BC07B4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4" y="2449"/>
              <a:ext cx="205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rgbClr val="006600"/>
                  </a:solidFill>
                  <a:latin typeface="Verdana" pitchFamily="34" charset="0"/>
                </a:rPr>
                <a:t>Simple interest</a:t>
              </a:r>
            </a:p>
          </p:txBody>
        </p:sp>
        <p:sp>
          <p:nvSpPr>
            <p:cNvPr id="16" name="Line 20">
              <a:extLst>
                <a:ext uri="{FF2B5EF4-FFF2-40B4-BE49-F238E27FC236}">
                  <a16:creationId xmlns:a16="http://schemas.microsoft.com/office/drawing/2014/main" id="{E83D8126-273F-4DEA-82C4-99C96B6F12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736"/>
              <a:ext cx="336" cy="24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" name="Group 26">
            <a:extLst>
              <a:ext uri="{FF2B5EF4-FFF2-40B4-BE49-F238E27FC236}">
                <a16:creationId xmlns:a16="http://schemas.microsoft.com/office/drawing/2014/main" id="{730BC3CD-4BD8-44F0-B015-736C9C015956}"/>
              </a:ext>
            </a:extLst>
          </p:cNvPr>
          <p:cNvGrpSpPr>
            <a:grpSpLocks/>
          </p:cNvGrpSpPr>
          <p:nvPr/>
        </p:nvGrpSpPr>
        <p:grpSpPr bwMode="auto">
          <a:xfrm>
            <a:off x="6613775" y="3599646"/>
            <a:ext cx="3978275" cy="1295400"/>
            <a:chOff x="2592" y="2064"/>
            <a:chExt cx="2506" cy="816"/>
          </a:xfrm>
        </p:grpSpPr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66B43063-4583-4F07-ADB7-59FB9CDEB4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064"/>
              <a:ext cx="221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Verdana" pitchFamily="34" charset="0"/>
                </a:rPr>
                <a:t>Rate of interest</a:t>
              </a:r>
              <a:endParaRPr lang="en-US" sz="2400" dirty="0">
                <a:latin typeface="Verdana" pitchFamily="34" charset="0"/>
              </a:endParaRPr>
            </a:p>
          </p:txBody>
        </p:sp>
        <p:sp>
          <p:nvSpPr>
            <p:cNvPr id="19" name="Line 22">
              <a:extLst>
                <a:ext uri="{FF2B5EF4-FFF2-40B4-BE49-F238E27FC236}">
                  <a16:creationId xmlns:a16="http://schemas.microsoft.com/office/drawing/2014/main" id="{59D66F52-09AF-4320-A22C-CDB6120F77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2" y="2256"/>
              <a:ext cx="336" cy="62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1" name="Group 25">
            <a:extLst>
              <a:ext uri="{FF2B5EF4-FFF2-40B4-BE49-F238E27FC236}">
                <a16:creationId xmlns:a16="http://schemas.microsoft.com/office/drawing/2014/main" id="{CC1F6892-CB8C-41F8-9C3E-83533633297F}"/>
              </a:ext>
            </a:extLst>
          </p:cNvPr>
          <p:cNvGrpSpPr>
            <a:grpSpLocks/>
          </p:cNvGrpSpPr>
          <p:nvPr/>
        </p:nvGrpSpPr>
        <p:grpSpPr bwMode="auto">
          <a:xfrm>
            <a:off x="2823841" y="5241142"/>
            <a:ext cx="4724400" cy="1287463"/>
            <a:chOff x="288" y="3120"/>
            <a:chExt cx="2544" cy="811"/>
          </a:xfrm>
        </p:grpSpPr>
        <p:sp>
          <p:nvSpPr>
            <p:cNvPr id="22" name="Text Box 16">
              <a:extLst>
                <a:ext uri="{FF2B5EF4-FFF2-40B4-BE49-F238E27FC236}">
                  <a16:creationId xmlns:a16="http://schemas.microsoft.com/office/drawing/2014/main" id="{0F79B3D3-A464-4F5C-9FD5-6984321A38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408"/>
              <a:ext cx="2544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6699"/>
                  </a:solidFill>
                  <a:latin typeface="Verdana" pitchFamily="34" charset="0"/>
                </a:rPr>
                <a:t>Principal</a:t>
              </a:r>
              <a:r>
                <a:rPr lang="en-US" sz="2400" dirty="0">
                  <a:latin typeface="Verdana" pitchFamily="34" charset="0"/>
                </a:rPr>
                <a:t> is the amount of money.</a:t>
              </a:r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0D955127-211A-4BC4-94DC-90237B2079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2" y="3120"/>
              <a:ext cx="1008" cy="336"/>
            </a:xfrm>
            <a:prstGeom prst="line">
              <a:avLst/>
            </a:prstGeom>
            <a:noFill/>
            <a:ln w="12700">
              <a:solidFill>
                <a:srgbClr val="33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4" name="Group 27">
            <a:extLst>
              <a:ext uri="{FF2B5EF4-FFF2-40B4-BE49-F238E27FC236}">
                <a16:creationId xmlns:a16="http://schemas.microsoft.com/office/drawing/2014/main" id="{001B50C2-ACED-4424-BE37-82D11DCD8E17}"/>
              </a:ext>
            </a:extLst>
          </p:cNvPr>
          <p:cNvGrpSpPr>
            <a:grpSpLocks/>
          </p:cNvGrpSpPr>
          <p:nvPr/>
        </p:nvGrpSpPr>
        <p:grpSpPr bwMode="auto">
          <a:xfrm>
            <a:off x="7285048" y="5152887"/>
            <a:ext cx="4038600" cy="614363"/>
            <a:chOff x="3216" y="3120"/>
            <a:chExt cx="2352" cy="387"/>
          </a:xfrm>
        </p:grpSpPr>
        <p:sp>
          <p:nvSpPr>
            <p:cNvPr id="25" name="Text Box 18">
              <a:extLst>
                <a:ext uri="{FF2B5EF4-FFF2-40B4-BE49-F238E27FC236}">
                  <a16:creationId xmlns:a16="http://schemas.microsoft.com/office/drawing/2014/main" id="{B452A155-01D6-44D7-9E39-1F2BF0ADC3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3216"/>
              <a:ext cx="20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660066"/>
                  </a:solidFill>
                  <a:latin typeface="Verdana" pitchFamily="34" charset="0"/>
                </a:rPr>
                <a:t>Time</a:t>
              </a:r>
              <a:r>
                <a:rPr lang="en-US" sz="2400" dirty="0">
                  <a:latin typeface="Verdana" pitchFamily="34" charset="0"/>
                </a:rPr>
                <a:t> (in years).</a:t>
              </a:r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D522D189-4039-4FB3-AA32-357DAE24DC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16" y="3120"/>
              <a:ext cx="288" cy="192"/>
            </a:xfrm>
            <a:prstGeom prst="line">
              <a:avLst/>
            </a:prstGeom>
            <a:noFill/>
            <a:ln w="12700">
              <a:solidFill>
                <a:srgbClr val="80008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3E854-995C-4188-A9B6-0EA129F09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Let’s Try It Out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BB99EA-2F34-42B5-B2A5-7292458D11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P = $1000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T = 2 years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R = 20% pa</a:t>
                </a:r>
                <a:endParaRPr lang="en-AU" sz="2400" b="1" dirty="0">
                  <a:solidFill>
                    <a:srgbClr val="FFFF00"/>
                  </a:solidFill>
                </a:endParaRPr>
              </a:p>
              <a:p>
                <a:pPr>
                  <a:buFont typeface="Wingdings" pitchFamily="2" charset="2"/>
                  <a:buNone/>
                </a:pPr>
                <a:r>
                  <a:rPr lang="en-AU" sz="2400" b="1" dirty="0"/>
                  <a:t>Calculate simple interest</a:t>
                </a:r>
              </a:p>
              <a:p>
                <a:pPr>
                  <a:buNone/>
                </a:pPr>
                <a:r>
                  <a:rPr lang="en-AU" sz="2400" dirty="0"/>
                  <a:t>R = 20% convert to decimal </a:t>
                </a:r>
                <a:r>
                  <a:rPr lang="en-AU" sz="2400" dirty="0">
                    <a:latin typeface="Century Gothic" panose="020B0502020202020204" pitchFamily="34" charset="0"/>
                  </a:rPr>
                  <a:t>→ 0.2</a:t>
                </a:r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=1000×0.2×2</m:t>
                    </m:r>
                  </m:oMath>
                </a14:m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=400</m:t>
                    </m:r>
                  </m:oMath>
                </a14:m>
                <a:endParaRPr lang="en-AU" sz="2400" b="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marL="0" indent="0" algn="ctr"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Simple interest earned is </a:t>
                </a:r>
                <a:r>
                  <a:rPr lang="en-AU" sz="2400" b="1" dirty="0">
                    <a:solidFill>
                      <a:schemeClr val="accent5">
                        <a:lumMod val="75000"/>
                      </a:schemeClr>
                    </a:solidFill>
                  </a:rPr>
                  <a:t>$</a:t>
                </a: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400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BB99EA-2F34-42B5-B2A5-7292458D11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89" t="-290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85D9AF1-3B4B-4244-864C-4E0FC04EE346}"/>
              </a:ext>
            </a:extLst>
          </p:cNvPr>
          <p:cNvSpPr txBox="1"/>
          <p:nvPr/>
        </p:nvSpPr>
        <p:spPr>
          <a:xfrm>
            <a:off x="8275414" y="2194560"/>
            <a:ext cx="2726370" cy="2308324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/>
              <a:t>Now you try with a partner : </a:t>
            </a:r>
          </a:p>
          <a:p>
            <a:endParaRPr lang="en-AU" sz="2400" dirty="0"/>
          </a:p>
          <a:p>
            <a:r>
              <a:rPr lang="en-AU" sz="2400" dirty="0"/>
              <a:t>P = $1,500</a:t>
            </a:r>
          </a:p>
          <a:p>
            <a:r>
              <a:rPr lang="en-AU" sz="2400" dirty="0"/>
              <a:t>T = 3 years</a:t>
            </a:r>
          </a:p>
          <a:p>
            <a:r>
              <a:rPr lang="en-AU" sz="2400" dirty="0"/>
              <a:t>R= 15% p/a</a:t>
            </a:r>
          </a:p>
        </p:txBody>
      </p:sp>
    </p:spTree>
    <p:extLst>
      <p:ext uri="{BB962C8B-B14F-4D97-AF65-F5344CB8AC3E}">
        <p14:creationId xmlns:p14="http://schemas.microsoft.com/office/powerpoint/2010/main" val="3992399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3E854-995C-4188-A9B6-0EA129F09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Let’s Try It Out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BB99EA-2F34-42B5-B2A5-7292458D11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133599"/>
                <a:ext cx="8915400" cy="4029075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George invests $2700 at 5% p.a. simple interest. Find the total value of the investment after 8 years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P = $2700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T = 8 years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R = 0.05</a:t>
                </a:r>
                <a:endParaRPr lang="en-AU" sz="2400" b="1" dirty="0">
                  <a:solidFill>
                    <a:srgbClr val="FFFF00"/>
                  </a:solidFill>
                </a:endParaRPr>
              </a:p>
              <a:p>
                <a:pPr>
                  <a:buFont typeface="Wingdings" pitchFamily="2" charset="2"/>
                  <a:buNone/>
                </a:pPr>
                <a:r>
                  <a:rPr lang="en-AU" sz="2400" b="1" dirty="0"/>
                  <a:t>Calculate simple interest</a:t>
                </a: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=2700×0.05×8=108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 (The interest earned is $1080)</a:t>
                </a:r>
              </a:p>
              <a:p>
                <a:pPr>
                  <a:buNone/>
                </a:pPr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The total value = principal + interest = 2700 + 1080 = $3780</a:t>
                </a:r>
                <a:endParaRPr lang="en-AU" sz="2400" b="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BB99EA-2F34-42B5-B2A5-7292458D11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133599"/>
                <a:ext cx="8915400" cy="4029075"/>
              </a:xfrm>
              <a:blipFill>
                <a:blip r:embed="rId2"/>
                <a:stretch>
                  <a:fillRect l="-889" t="-272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786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9ECEF-097C-4377-848C-6C8618887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0" y="764373"/>
            <a:ext cx="9189720" cy="1293028"/>
          </a:xfrm>
        </p:spPr>
        <p:txBody>
          <a:bodyPr>
            <a:no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Check our understanding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B97D4CF-1FF6-4473-A6E6-82FFE544DB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279" y="2700131"/>
            <a:ext cx="11608279" cy="197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984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C9793-400C-4656-B8E6-0FD003477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One More To Be Sure</a:t>
            </a:r>
            <a:endParaRPr lang="en-GB" sz="5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2CB56-690D-40F0-B2B8-AB21F6820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Ray has $750 in a savings account that pays 3% pa simple interest. How much interest will he earn in 4 years?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9915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A4A0D-DCEB-46C8-ADB3-BE6D3DA33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753" y="897376"/>
            <a:ext cx="9882447" cy="1293028"/>
          </a:xfrm>
        </p:spPr>
        <p:txBody>
          <a:bodyPr>
            <a:no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Calculate the Simple Interest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 panose="0000050000000000000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A264FCD-6F1D-4C12-A6AE-6BB028CCA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2" b="58741"/>
          <a:stretch/>
        </p:blipFill>
        <p:spPr>
          <a:xfrm>
            <a:off x="740535" y="1979408"/>
            <a:ext cx="11241257" cy="117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19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84BA7-F128-4FEB-BB52-745F6126E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 err="1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HomeWORK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758BA-5F8E-4162-8652-790DEC158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Complete your summaries</a:t>
            </a:r>
          </a:p>
          <a:p>
            <a:r>
              <a:rPr lang="en-AU" dirty="0"/>
              <a:t>Add new terms to your glossaries</a:t>
            </a:r>
          </a:p>
          <a:p>
            <a:r>
              <a:rPr lang="en-AU" dirty="0"/>
              <a:t>Write your questions</a:t>
            </a:r>
          </a:p>
          <a:p>
            <a:r>
              <a:rPr lang="en-AU" dirty="0"/>
              <a:t>24, 7, 30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819868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2723</TotalTime>
  <Words>266</Words>
  <Application>Microsoft Office PowerPoint</Application>
  <PresentationFormat>Widescreen</PresentationFormat>
  <Paragraphs>57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</vt:lpstr>
      <vt:lpstr>Calibri</vt:lpstr>
      <vt:lpstr>Cambria Math</vt:lpstr>
      <vt:lpstr>Century Gothic</vt:lpstr>
      <vt:lpstr>Kiwi School Handwriting</vt:lpstr>
      <vt:lpstr>Verdana</vt:lpstr>
      <vt:lpstr>Webdings</vt:lpstr>
      <vt:lpstr>Wingdings</vt:lpstr>
      <vt:lpstr>Wingdings 3</vt:lpstr>
      <vt:lpstr>Wisp</vt:lpstr>
      <vt:lpstr>Simple Interest </vt:lpstr>
      <vt:lpstr>Up – Talk – Down</vt:lpstr>
      <vt:lpstr>PowerPoint Presentation</vt:lpstr>
      <vt:lpstr>Let’s Try It Out</vt:lpstr>
      <vt:lpstr>Let’s Try It Out</vt:lpstr>
      <vt:lpstr>Check our understanding</vt:lpstr>
      <vt:lpstr>One More To Be Sure</vt:lpstr>
      <vt:lpstr>Calculate the Simple Interest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Rates Continued</dc:title>
  <dc:creator>Travis Power</dc:creator>
  <cp:lastModifiedBy>Hamilton Stott</cp:lastModifiedBy>
  <cp:revision>39</cp:revision>
  <dcterms:created xsi:type="dcterms:W3CDTF">2018-02-13T05:48:53Z</dcterms:created>
  <dcterms:modified xsi:type="dcterms:W3CDTF">2018-11-15T09:18:27Z</dcterms:modified>
</cp:coreProperties>
</file>
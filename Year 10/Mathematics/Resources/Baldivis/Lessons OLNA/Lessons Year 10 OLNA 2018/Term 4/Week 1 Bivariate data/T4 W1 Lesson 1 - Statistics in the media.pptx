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webextensions/webextension1.xml" ContentType="application/vnd.ms-office.webextension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57" r:id="rId2"/>
    <p:sldId id="345" r:id="rId3"/>
    <p:sldId id="357" r:id="rId4"/>
    <p:sldId id="343" r:id="rId5"/>
    <p:sldId id="333" r:id="rId6"/>
    <p:sldId id="344" r:id="rId7"/>
    <p:sldId id="348" r:id="rId8"/>
    <p:sldId id="346" r:id="rId9"/>
    <p:sldId id="347" r:id="rId10"/>
    <p:sldId id="349" r:id="rId11"/>
    <p:sldId id="351" r:id="rId12"/>
    <p:sldId id="350" r:id="rId13"/>
    <p:sldId id="352" r:id="rId14"/>
    <p:sldId id="353" r:id="rId15"/>
    <p:sldId id="354" r:id="rId16"/>
    <p:sldId id="355" r:id="rId17"/>
    <p:sldId id="356" r:id="rId18"/>
    <p:sldId id="35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257"/>
            <p14:sldId id="345"/>
            <p14:sldId id="357"/>
            <p14:sldId id="343"/>
            <p14:sldId id="333"/>
            <p14:sldId id="344"/>
            <p14:sldId id="348"/>
            <p14:sldId id="346"/>
            <p14:sldId id="347"/>
            <p14:sldId id="349"/>
            <p14:sldId id="351"/>
            <p14:sldId id="350"/>
            <p14:sldId id="352"/>
            <p14:sldId id="353"/>
            <p14:sldId id="354"/>
            <p14:sldId id="355"/>
            <p14:sldId id="356"/>
            <p14:sldId id="3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gdeline Lum" initials="ML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50" autoAdjust="0"/>
    <p:restoredTop sz="83922" autoAdjust="0"/>
  </p:normalViewPr>
  <p:slideViewPr>
    <p:cSldViewPr snapToGrid="0">
      <p:cViewPr varScale="1">
        <p:scale>
          <a:sx n="88" d="100"/>
          <a:sy n="88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55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451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4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21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172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2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84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702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68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26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13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960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35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628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5968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609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374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0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128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68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94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56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9283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771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1598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5715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116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7044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154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38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56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988820"/>
            <a:ext cx="4476750" cy="1639681"/>
          </a:xfrm>
        </p:spPr>
        <p:txBody>
          <a:bodyPr>
            <a:normAutofit fontScale="90000"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Statistics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Statistics in the media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e.lvme.me/nzu2igx.jpg">
            <a:extLst>
              <a:ext uri="{FF2B5EF4-FFF2-40B4-BE49-F238E27FC236}">
                <a16:creationId xmlns:a16="http://schemas.microsoft.com/office/drawing/2014/main" id="{0BE3BD08-55FC-4F8A-A013-7ADB0AE62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751" y="435206"/>
            <a:ext cx="634365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313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 5" title="Web Video Player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7381481"/>
                  </p:ext>
                </p:extLst>
              </p:nvPr>
            </p:nvGraphicFramePr>
            <p:xfrm>
              <a:off x="2412043" y="1168476"/>
              <a:ext cx="6953250" cy="391477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6" name="Add-in 5" title="Web Video Player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2043" y="1168476"/>
                <a:ext cx="6953250" cy="3914775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/>
          <p:cNvSpPr/>
          <p:nvPr/>
        </p:nvSpPr>
        <p:spPr>
          <a:xfrm>
            <a:off x="2108550" y="5897899"/>
            <a:ext cx="83506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If the embedded video doesn’t work:</a:t>
            </a:r>
          </a:p>
          <a:p>
            <a:pPr algn="ctr"/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watch?time_continue</a:t>
            </a:r>
            <a:r>
              <a:rPr lang="en-US" dirty="0"/>
              <a:t>=67&amp;v=E91bGT9BjYk</a:t>
            </a:r>
          </a:p>
        </p:txBody>
      </p:sp>
    </p:spTree>
    <p:extLst>
      <p:ext uri="{BB962C8B-B14F-4D97-AF65-F5344CB8AC3E}">
        <p14:creationId xmlns:p14="http://schemas.microsoft.com/office/powerpoint/2010/main" val="1865572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75F7A3F-5FE9-42C0-8413-D3D6815AE3BC}"/>
              </a:ext>
            </a:extLst>
          </p:cNvPr>
          <p:cNvSpPr txBox="1"/>
          <p:nvPr/>
        </p:nvSpPr>
        <p:spPr>
          <a:xfrm>
            <a:off x="2100883" y="1350330"/>
            <a:ext cx="9083038" cy="4610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There are 5 types of misuse of statistics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u="sng" dirty="0"/>
              <a:t>Faulty Polling </a:t>
            </a:r>
            <a:r>
              <a:rPr lang="en-AU" dirty="0"/>
              <a:t>- </a:t>
            </a:r>
            <a:r>
              <a:rPr lang="en-GB" dirty="0"/>
              <a:t>Specific wording patterns have a persuasive effect and induce respondents to answer in a predictable manner.</a:t>
            </a:r>
            <a:endParaRPr lang="en-A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u="sng" dirty="0"/>
              <a:t>Flawed Correlation </a:t>
            </a:r>
            <a:r>
              <a:rPr lang="en-AU" dirty="0"/>
              <a:t>- </a:t>
            </a:r>
            <a:r>
              <a:rPr lang="en-GB" dirty="0"/>
              <a:t>studies can be manipulated (with enough data) to prove a correlation that does not exist</a:t>
            </a:r>
            <a:endParaRPr lang="en-A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u="sng" dirty="0"/>
              <a:t>Data Fishing </a:t>
            </a:r>
            <a:r>
              <a:rPr lang="en-AU" dirty="0"/>
              <a:t>- </a:t>
            </a:r>
            <a:r>
              <a:rPr lang="en-GB" dirty="0"/>
              <a:t>extremely large volumes of data are analysed for the purposes of discovering relationships between data points that have no </a:t>
            </a:r>
            <a:endParaRPr lang="en-A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u="sng" dirty="0"/>
              <a:t>Misleading Data Visualisation </a:t>
            </a:r>
            <a:r>
              <a:rPr lang="en-AU" dirty="0"/>
              <a:t>– If a graph doesn’t show the scale used, the starting value and the method of calculation you should not trust 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u="sng" dirty="0"/>
              <a:t>Purposeful Bias </a:t>
            </a:r>
            <a:r>
              <a:rPr lang="en-AU" dirty="0"/>
              <a:t>- </a:t>
            </a:r>
            <a:r>
              <a:rPr lang="en-GB" dirty="0"/>
              <a:t>the deliberate attempt to influence data findings without even feigning professional accountability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663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So, about half of the time?">
            <a:extLst>
              <a:ext uri="{FF2B5EF4-FFF2-40B4-BE49-F238E27FC236}">
                <a16:creationId xmlns:a16="http://schemas.microsoft.com/office/drawing/2014/main" id="{0D7280DA-EBFA-4541-8D66-469B6BCB3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751" y="1461801"/>
            <a:ext cx="5276833" cy="527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9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2AEE5D6-510E-421B-BCFB-4BA28F09F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028" y="1376131"/>
            <a:ext cx="5791943" cy="544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4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791BAC5-6B68-4984-92C0-A330A254D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885" y="1387755"/>
            <a:ext cx="6096000" cy="3429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F54DE5-DB09-4CC4-9C8B-EF8920F832C5}"/>
              </a:ext>
            </a:extLst>
          </p:cNvPr>
          <p:cNvSpPr txBox="1"/>
          <p:nvPr/>
        </p:nvSpPr>
        <p:spPr>
          <a:xfrm>
            <a:off x="8481060" y="1628165"/>
            <a:ext cx="3484744" cy="4610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This graph shows the exact same data, but tells a very different story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The scale is shown</a:t>
            </a:r>
          </a:p>
          <a:p>
            <a:pPr>
              <a:lnSpc>
                <a:spcPct val="150000"/>
              </a:lnSpc>
            </a:pPr>
            <a:r>
              <a:rPr lang="en-AU" dirty="0"/>
              <a:t>The starting value is used (and it starts at zero)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900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1213A08-57C3-4729-A2F3-EDC657290F33}"/>
              </a:ext>
            </a:extLst>
          </p:cNvPr>
          <p:cNvSpPr txBox="1"/>
          <p:nvPr/>
        </p:nvSpPr>
        <p:spPr>
          <a:xfrm>
            <a:off x="191345" y="5098093"/>
            <a:ext cx="1191138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A" dirty="0"/>
              <a:t>The courts ruled that this claim would be understood by readers to mean that 80% of dentists recommend Colgate </a:t>
            </a:r>
            <a:r>
              <a:rPr lang="en-CA" b="1" i="1" dirty="0"/>
              <a:t>over and above</a:t>
            </a:r>
            <a:r>
              <a:rPr lang="en-CA" dirty="0"/>
              <a:t> other brands, and the other 20% would recommend other brands. What the actual survey showed was that </a:t>
            </a:r>
            <a:r>
              <a:rPr lang="en-CA" dirty="0" err="1"/>
              <a:t>competitior’s</a:t>
            </a:r>
            <a:r>
              <a:rPr lang="en-CA" dirty="0"/>
              <a:t> brands were recommended just as must as Colgate, so the implied meaning in Colgate’s ad (that it was the preferred choice) was misleading.</a:t>
            </a: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04CA6D-E601-4533-A501-CD70BE89A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73" y="1437360"/>
            <a:ext cx="4806480" cy="32043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213A08-57C3-4729-A2F3-EDC657290F33}"/>
              </a:ext>
            </a:extLst>
          </p:cNvPr>
          <p:cNvSpPr txBox="1"/>
          <p:nvPr/>
        </p:nvSpPr>
        <p:spPr>
          <a:xfrm>
            <a:off x="5298509" y="1387755"/>
            <a:ext cx="68042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Colgate toothpaste had a famous slogan: “</a:t>
            </a:r>
            <a:r>
              <a:rPr lang="en-GB" dirty="0"/>
              <a:t>More than 80% of Dentists recommend Colgate”. In 2007, this slogan was deemed in court to be misleading. 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213A08-57C3-4729-A2F3-EDC657290F33}"/>
              </a:ext>
            </a:extLst>
          </p:cNvPr>
          <p:cNvSpPr txBox="1"/>
          <p:nvPr/>
        </p:nvSpPr>
        <p:spPr>
          <a:xfrm>
            <a:off x="5298509" y="2867449"/>
            <a:ext cx="69608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A" dirty="0"/>
              <a:t>In pairs, discuss: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CA" dirty="0"/>
              <a:t>What comes to mind when you read that slogan?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CA" dirty="0"/>
              <a:t>What limitations are there if you take this to mean Colgate is the best brand?</a:t>
            </a:r>
          </a:p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lang="en-CA" dirty="0"/>
              <a:t>Why might the court have ruled it to be misleading?</a:t>
            </a:r>
            <a:endParaRPr lang="en-GB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7200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7AACD9B-4205-48E0-AD30-A6B383BDD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949" y="1603057"/>
            <a:ext cx="4316713" cy="35757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0536F9-10A6-4E17-BB4A-9BDB38F04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9484" y="1603057"/>
            <a:ext cx="4316707" cy="519057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92472" y="5749447"/>
            <a:ext cx="3795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Notice how the scale of the x-axis leads to two very different stories.</a:t>
            </a:r>
          </a:p>
        </p:txBody>
      </p:sp>
    </p:spTree>
    <p:extLst>
      <p:ext uri="{BB962C8B-B14F-4D97-AF65-F5344CB8AC3E}">
        <p14:creationId xmlns:p14="http://schemas.microsoft.com/office/powerpoint/2010/main" val="126528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20EC5CF-802B-40ED-8F10-7320A4736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770" y="1573529"/>
            <a:ext cx="7641130" cy="38205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405ADF-F6E6-4266-B1DF-4FADBF368D64}"/>
              </a:ext>
            </a:extLst>
          </p:cNvPr>
          <p:cNvSpPr txBox="1"/>
          <p:nvPr/>
        </p:nvSpPr>
        <p:spPr>
          <a:xfrm>
            <a:off x="2200100" y="5377910"/>
            <a:ext cx="9538506" cy="1286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The truncated y axis is a warning sign. The scale is another warning sign – 5 books is 75%, 16 books is 82%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1347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C9F09E5-74CA-4A06-91D3-F3749508A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902" y="1471871"/>
            <a:ext cx="6406510" cy="44235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FB7494-A161-4271-9F70-FD001C8A4B7F}"/>
              </a:ext>
            </a:extLst>
          </p:cNvPr>
          <p:cNvSpPr txBox="1"/>
          <p:nvPr/>
        </p:nvSpPr>
        <p:spPr>
          <a:xfrm>
            <a:off x="2291902" y="5802720"/>
            <a:ext cx="9538506" cy="455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Shown this way it shows only a very slight increase</a:t>
            </a:r>
          </a:p>
        </p:txBody>
      </p:sp>
    </p:spTree>
    <p:extLst>
      <p:ext uri="{BB962C8B-B14F-4D97-AF65-F5344CB8AC3E}">
        <p14:creationId xmlns:p14="http://schemas.microsoft.com/office/powerpoint/2010/main" val="95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B37108E-C667-4C46-B7A0-96A330A6C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139" y="1427396"/>
            <a:ext cx="6416035" cy="41202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B5B8D1-B464-4C3D-8FDA-D2D8A2BCB352}"/>
              </a:ext>
            </a:extLst>
          </p:cNvPr>
          <p:cNvSpPr txBox="1"/>
          <p:nvPr/>
        </p:nvSpPr>
        <p:spPr>
          <a:xfrm>
            <a:off x="2250869" y="5559338"/>
            <a:ext cx="9538506" cy="1286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If we look at the same data over a longer timeframe that there is a general increase that started in 2000 and continued in 2008 – 2012.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63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B5B8D1-B464-4C3D-8FDA-D2D8A2BCB352}"/>
              </a:ext>
            </a:extLst>
          </p:cNvPr>
          <p:cNvSpPr txBox="1"/>
          <p:nvPr/>
        </p:nvSpPr>
        <p:spPr>
          <a:xfrm>
            <a:off x="2250869" y="5559338"/>
            <a:ext cx="9538506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Terrible…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8453F3-6315-41D0-9EED-E1F43EECA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0" y="1471612"/>
            <a:ext cx="5219700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7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B37108E-C667-4C46-B7A0-96A330A6C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139" y="1427396"/>
            <a:ext cx="6416035" cy="41202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B5B8D1-B464-4C3D-8FDA-D2D8A2BCB352}"/>
              </a:ext>
            </a:extLst>
          </p:cNvPr>
          <p:cNvSpPr txBox="1"/>
          <p:nvPr/>
        </p:nvSpPr>
        <p:spPr>
          <a:xfrm>
            <a:off x="2250869" y="5559338"/>
            <a:ext cx="9538506" cy="1286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If we look at the same data over a longer timeframe that there is a general increase that started in 2000 and continued in 2008 – 2012.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5175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B5B8D1-B464-4C3D-8FDA-D2D8A2BCB352}"/>
              </a:ext>
            </a:extLst>
          </p:cNvPr>
          <p:cNvSpPr txBox="1"/>
          <p:nvPr/>
        </p:nvSpPr>
        <p:spPr>
          <a:xfrm>
            <a:off x="2193719" y="1387755"/>
            <a:ext cx="9538506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Correct use of statistics is essential when making government policies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900C81-352B-40DD-A56C-7B754ACBA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507" y="1831856"/>
            <a:ext cx="7508985" cy="37274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B6B407-E92F-4648-AB35-EA62E1393B36}"/>
              </a:ext>
            </a:extLst>
          </p:cNvPr>
          <p:cNvSpPr txBox="1"/>
          <p:nvPr/>
        </p:nvSpPr>
        <p:spPr>
          <a:xfrm>
            <a:off x="2193719" y="5987312"/>
            <a:ext cx="9538506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Solution: Kill Nicolas Cage and stop all pool drownings.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772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B5B8D1-B464-4C3D-8FDA-D2D8A2BCB352}"/>
              </a:ext>
            </a:extLst>
          </p:cNvPr>
          <p:cNvSpPr txBox="1"/>
          <p:nvPr/>
        </p:nvSpPr>
        <p:spPr>
          <a:xfrm>
            <a:off x="2193719" y="1387755"/>
            <a:ext cx="9538506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Correct use of statistics is essential when making government policies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B6B407-E92F-4648-AB35-EA62E1393B36}"/>
              </a:ext>
            </a:extLst>
          </p:cNvPr>
          <p:cNvSpPr txBox="1"/>
          <p:nvPr/>
        </p:nvSpPr>
        <p:spPr>
          <a:xfrm>
            <a:off x="2193719" y="5987312"/>
            <a:ext cx="9538506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Solution: Ban ice cream and prevent all shark attacks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68E5EE-FB2F-426A-9B9D-E71D1767C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392" y="1904536"/>
            <a:ext cx="711517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2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/06/2018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Can statistics tell lies?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B5B8D1-B464-4C3D-8FDA-D2D8A2BCB352}"/>
              </a:ext>
            </a:extLst>
          </p:cNvPr>
          <p:cNvSpPr txBox="1"/>
          <p:nvPr/>
        </p:nvSpPr>
        <p:spPr>
          <a:xfrm>
            <a:off x="2193719" y="1387755"/>
            <a:ext cx="9538506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Correct use of statistics is essential when making government policies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B6B407-E92F-4648-AB35-EA62E1393B36}"/>
              </a:ext>
            </a:extLst>
          </p:cNvPr>
          <p:cNvSpPr txBox="1"/>
          <p:nvPr/>
        </p:nvSpPr>
        <p:spPr>
          <a:xfrm>
            <a:off x="2193719" y="5987312"/>
            <a:ext cx="9538506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Solution: Ban organic food and cure Autism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956C3E-38F1-4B1E-837F-D6B4C2C77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719" y="1891679"/>
            <a:ext cx="6390872" cy="409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9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378" y="1618362"/>
            <a:ext cx="10820400" cy="4024125"/>
          </a:xfrm>
        </p:spPr>
        <p:txBody>
          <a:bodyPr/>
          <a:lstStyle/>
          <a:p>
            <a:r>
              <a:rPr lang="en-US" dirty="0"/>
              <a:t>Misleading Statistics Worksheet</a:t>
            </a:r>
          </a:p>
        </p:txBody>
      </p:sp>
    </p:spTree>
    <p:extLst>
      <p:ext uri="{BB962C8B-B14F-4D97-AF65-F5344CB8AC3E}">
        <p14:creationId xmlns:p14="http://schemas.microsoft.com/office/powerpoint/2010/main" val="1522033023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webextensions/webextension1.xml><?xml version="1.0" encoding="utf-8"?>
<we:webextension xmlns:we="http://schemas.microsoft.com/office/webextensions/webextension/2010/11" id="{BB25FA18-70C9-B041-B767-1530CDE9DD92}">
  <we:reference id="wa104221182" version="3.3.0.0" store="en-US" storeType="OMEX"/>
  <we:alternateReferences>
    <we:reference id="WA104221182" version="3.3.0.0" store="WA104221182" storeType="OMEX"/>
  </we:alternateReferences>
  <we:properties>
    <we:property name="vid" value="&quot;https://www.youtube.com/watch?time_continue=67&amp;v=E91bGT9BjYk&quot;"/>
    <we:property name="starttime" value="0"/>
    <we:property name="slideId" value="357"/>
    <we:property name="endtime" value="0"/>
    <we:property name="autoplay" value="0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7306</TotalTime>
  <Words>736</Words>
  <Application>Microsoft Office PowerPoint</Application>
  <PresentationFormat>Widescreen</PresentationFormat>
  <Paragraphs>134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DJB Fancy Nancy</vt:lpstr>
      <vt:lpstr>Kiwi School Handwriting</vt:lpstr>
      <vt:lpstr>BSC Theme</vt:lpstr>
      <vt:lpstr>Statistics Statistics in the media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in the media</dc:title>
  <dc:creator>Hamilton Stott</dc:creator>
  <cp:lastModifiedBy>Hamilton Stott</cp:lastModifiedBy>
  <cp:revision>64</cp:revision>
  <dcterms:created xsi:type="dcterms:W3CDTF">2017-10-15T23:31:24Z</dcterms:created>
  <dcterms:modified xsi:type="dcterms:W3CDTF">2018-10-07T13:11:25Z</dcterms:modified>
</cp:coreProperties>
</file>
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1"/>
  </p:sldMasterIdLst>
  <p:notesMasterIdLst>
    <p:notesMasterId r:id="rId9"/>
  </p:notesMasterIdLst>
  <p:sldIdLst>
    <p:sldId id="256" r:id="rId2"/>
    <p:sldId id="262" r:id="rId3"/>
    <p:sldId id="258" r:id="rId4"/>
    <p:sldId id="266" r:id="rId5"/>
    <p:sldId id="265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DBF78-F860-4BCD-A8F8-79912336F401}" v="385" dt="2018-10-10T14:18:48.7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04"/>
    <p:restoredTop sz="91401"/>
  </p:normalViewPr>
  <p:slideViewPr>
    <p:cSldViewPr snapToGrid="0" snapToObjects="1">
      <p:cViewPr varScale="1">
        <p:scale>
          <a:sx n="91" d="100"/>
          <a:sy n="91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5A3DBF78-F860-4BCD-A8F8-79912336F401}"/>
    <pc:docChg chg="custSel addSld delSld modSld">
      <pc:chgData name="Hamilton Stott" userId="e28223afab1f786a" providerId="LiveId" clId="{5A3DBF78-F860-4BCD-A8F8-79912336F401}" dt="2018-10-10T14:20:11.588" v="781" actId="20577"/>
      <pc:docMkLst>
        <pc:docMk/>
      </pc:docMkLst>
      <pc:sldChg chg="modSp setBg">
        <pc:chgData name="Hamilton Stott" userId="e28223afab1f786a" providerId="LiveId" clId="{5A3DBF78-F860-4BCD-A8F8-79912336F401}" dt="2018-10-10T14:18:48.778" v="692"/>
        <pc:sldMkLst>
          <pc:docMk/>
          <pc:sldMk cId="1465342149" sldId="256"/>
        </pc:sldMkLst>
        <pc:spChg chg="mod">
          <ac:chgData name="Hamilton Stott" userId="e28223afab1f786a" providerId="LiveId" clId="{5A3DBF78-F860-4BCD-A8F8-79912336F401}" dt="2018-10-10T14:17:49.275" v="320" actId="27636"/>
          <ac:spMkLst>
            <pc:docMk/>
            <pc:sldMk cId="1465342149" sldId="256"/>
            <ac:spMk id="3" creationId="{00000000-0000-0000-0000-000000000000}"/>
          </ac:spMkLst>
        </pc:spChg>
      </pc:sldChg>
      <pc:sldChg chg="modSp">
        <pc:chgData name="Hamilton Stott" userId="e28223afab1f786a" providerId="LiveId" clId="{5A3DBF78-F860-4BCD-A8F8-79912336F401}" dt="2018-10-10T14:18:59.408" v="693" actId="1076"/>
        <pc:sldMkLst>
          <pc:docMk/>
          <pc:sldMk cId="982595445" sldId="258"/>
        </pc:sldMkLst>
        <pc:spChg chg="mod">
          <ac:chgData name="Hamilton Stott" userId="e28223afab1f786a" providerId="LiveId" clId="{5A3DBF78-F860-4BCD-A8F8-79912336F401}" dt="2018-10-10T14:18:59.408" v="693" actId="1076"/>
          <ac:spMkLst>
            <pc:docMk/>
            <pc:sldMk cId="982595445" sldId="258"/>
            <ac:spMk id="2" creationId="{00000000-0000-0000-0000-000000000000}"/>
          </ac:spMkLst>
        </pc:spChg>
        <pc:spChg chg="mod">
          <ac:chgData name="Hamilton Stott" userId="e28223afab1f786a" providerId="LiveId" clId="{5A3DBF78-F860-4BCD-A8F8-79912336F401}" dt="2018-10-10T14:16:44.218" v="311" actId="27636"/>
          <ac:spMkLst>
            <pc:docMk/>
            <pc:sldMk cId="982595445" sldId="258"/>
            <ac:spMk id="4" creationId="{00000000-0000-0000-0000-000000000000}"/>
          </ac:spMkLst>
        </pc:spChg>
        <pc:spChg chg="mod">
          <ac:chgData name="Hamilton Stott" userId="e28223afab1f786a" providerId="LiveId" clId="{5A3DBF78-F860-4BCD-A8F8-79912336F401}" dt="2018-10-10T14:11:57.132" v="30" actId="20577"/>
          <ac:spMkLst>
            <pc:docMk/>
            <pc:sldMk cId="982595445" sldId="258"/>
            <ac:spMk id="7" creationId="{05EC1859-5E57-43E0-BD12-959F4269A5E2}"/>
          </ac:spMkLst>
        </pc:spChg>
      </pc:sldChg>
      <pc:sldChg chg="modSp">
        <pc:chgData name="Hamilton Stott" userId="e28223afab1f786a" providerId="LiveId" clId="{5A3DBF78-F860-4BCD-A8F8-79912336F401}" dt="2018-10-10T14:19:21.059" v="697" actId="20577"/>
        <pc:sldMkLst>
          <pc:docMk/>
          <pc:sldMk cId="386389297" sldId="259"/>
        </pc:sldMkLst>
        <pc:spChg chg="mod">
          <ac:chgData name="Hamilton Stott" userId="e28223afab1f786a" providerId="LiveId" clId="{5A3DBF78-F860-4BCD-A8F8-79912336F401}" dt="2018-10-10T14:19:17.474" v="695" actId="122"/>
          <ac:spMkLst>
            <pc:docMk/>
            <pc:sldMk cId="386389297" sldId="259"/>
            <ac:spMk id="10" creationId="{00000000-0000-0000-0000-000000000000}"/>
          </ac:spMkLst>
        </pc:spChg>
        <pc:spChg chg="mod">
          <ac:chgData name="Hamilton Stott" userId="e28223afab1f786a" providerId="LiveId" clId="{5A3DBF78-F860-4BCD-A8F8-79912336F401}" dt="2018-10-10T14:19:21.059" v="697" actId="20577"/>
          <ac:spMkLst>
            <pc:docMk/>
            <pc:sldMk cId="386389297" sldId="259"/>
            <ac:spMk id="13" creationId="{00000000-0000-0000-0000-000000000000}"/>
          </ac:spMkLst>
        </pc:spChg>
      </pc:sldChg>
      <pc:sldChg chg="del">
        <pc:chgData name="Hamilton Stott" userId="e28223afab1f786a" providerId="LiveId" clId="{5A3DBF78-F860-4BCD-A8F8-79912336F401}" dt="2018-10-10T14:13:32.729" v="45" actId="2696"/>
        <pc:sldMkLst>
          <pc:docMk/>
          <pc:sldMk cId="1041102759" sldId="260"/>
        </pc:sldMkLst>
      </pc:sldChg>
      <pc:sldChg chg="delSp modSp del delAnim modAnim">
        <pc:chgData name="Hamilton Stott" userId="e28223afab1f786a" providerId="LiveId" clId="{5A3DBF78-F860-4BCD-A8F8-79912336F401}" dt="2018-10-10T14:16:07.546" v="307" actId="2696"/>
        <pc:sldMkLst>
          <pc:docMk/>
          <pc:sldMk cId="319132953" sldId="261"/>
        </pc:sldMkLst>
        <pc:spChg chg="mod">
          <ac:chgData name="Hamilton Stott" userId="e28223afab1f786a" providerId="LiveId" clId="{5A3DBF78-F860-4BCD-A8F8-79912336F401}" dt="2018-10-10T14:15:59.699" v="305" actId="20577"/>
          <ac:spMkLst>
            <pc:docMk/>
            <pc:sldMk cId="319132953" sldId="261"/>
            <ac:spMk id="2" creationId="{00000000-0000-0000-0000-000000000000}"/>
          </ac:spMkLst>
        </pc:spChg>
        <pc:spChg chg="del">
          <ac:chgData name="Hamilton Stott" userId="e28223afab1f786a" providerId="LiveId" clId="{5A3DBF78-F860-4BCD-A8F8-79912336F401}" dt="2018-10-10T14:16:01.178" v="306" actId="478"/>
          <ac:spMkLst>
            <pc:docMk/>
            <pc:sldMk cId="319132953" sldId="261"/>
            <ac:spMk id="3" creationId="{00000000-0000-0000-0000-000000000000}"/>
          </ac:spMkLst>
        </pc:spChg>
      </pc:sldChg>
      <pc:sldChg chg="modSp">
        <pc:chgData name="Hamilton Stott" userId="e28223afab1f786a" providerId="LiveId" clId="{5A3DBF78-F860-4BCD-A8F8-79912336F401}" dt="2018-10-10T14:18:00.265" v="321" actId="27636"/>
        <pc:sldMkLst>
          <pc:docMk/>
          <pc:sldMk cId="1571498737" sldId="262"/>
        </pc:sldMkLst>
        <pc:spChg chg="mod">
          <ac:chgData name="Hamilton Stott" userId="e28223afab1f786a" providerId="LiveId" clId="{5A3DBF78-F860-4BCD-A8F8-79912336F401}" dt="2018-10-10T14:18:00.265" v="321" actId="27636"/>
          <ac:spMkLst>
            <pc:docMk/>
            <pc:sldMk cId="1571498737" sldId="262"/>
            <ac:spMk id="3" creationId="{00000000-0000-0000-0000-000000000000}"/>
          </ac:spMkLst>
        </pc:spChg>
      </pc:sldChg>
      <pc:sldChg chg="delSp modSp delAnim modNotesTx">
        <pc:chgData name="Hamilton Stott" userId="e28223afab1f786a" providerId="LiveId" clId="{5A3DBF78-F860-4BCD-A8F8-79912336F401}" dt="2018-10-10T14:20:11.588" v="781" actId="20577"/>
        <pc:sldMkLst>
          <pc:docMk/>
          <pc:sldMk cId="930258826" sldId="263"/>
        </pc:sldMkLst>
        <pc:spChg chg="mod">
          <ac:chgData name="Hamilton Stott" userId="e28223afab1f786a" providerId="LiveId" clId="{5A3DBF78-F860-4BCD-A8F8-79912336F401}" dt="2018-10-10T14:20:11.588" v="781" actId="20577"/>
          <ac:spMkLst>
            <pc:docMk/>
            <pc:sldMk cId="930258826" sldId="263"/>
            <ac:spMk id="3" creationId="{00000000-0000-0000-0000-000000000000}"/>
          </ac:spMkLst>
        </pc:spChg>
        <pc:spChg chg="del">
          <ac:chgData name="Hamilton Stott" userId="e28223afab1f786a" providerId="LiveId" clId="{5A3DBF78-F860-4BCD-A8F8-79912336F401}" dt="2018-10-10T14:13:47.401" v="48" actId="478"/>
          <ac:spMkLst>
            <pc:docMk/>
            <pc:sldMk cId="930258826" sldId="263"/>
            <ac:spMk id="5" creationId="{00000000-0000-0000-0000-000000000000}"/>
          </ac:spMkLst>
        </pc:spChg>
        <pc:spChg chg="del">
          <ac:chgData name="Hamilton Stott" userId="e28223afab1f786a" providerId="LiveId" clId="{5A3DBF78-F860-4BCD-A8F8-79912336F401}" dt="2018-10-10T14:13:49.303" v="49" actId="478"/>
          <ac:spMkLst>
            <pc:docMk/>
            <pc:sldMk cId="930258826" sldId="263"/>
            <ac:spMk id="6" creationId="{00000000-0000-0000-0000-000000000000}"/>
          </ac:spMkLst>
        </pc:spChg>
        <pc:graphicFrameChg chg="del">
          <ac:chgData name="Hamilton Stott" userId="e28223afab1f786a" providerId="LiveId" clId="{5A3DBF78-F860-4BCD-A8F8-79912336F401}" dt="2018-10-10T14:13:44.529" v="47" actId="478"/>
          <ac:graphicFrameMkLst>
            <pc:docMk/>
            <pc:sldMk cId="930258826" sldId="263"/>
            <ac:graphicFrameMk id="4" creationId="{00000000-0000-0000-0000-000000000000}"/>
          </ac:graphicFrameMkLst>
        </pc:graphicFrameChg>
      </pc:sldChg>
      <pc:sldChg chg="del">
        <pc:chgData name="Hamilton Stott" userId="e28223afab1f786a" providerId="LiveId" clId="{5A3DBF78-F860-4BCD-A8F8-79912336F401}" dt="2018-10-10T14:13:39.148" v="46" actId="2696"/>
        <pc:sldMkLst>
          <pc:docMk/>
          <pc:sldMk cId="1106394375" sldId="264"/>
        </pc:sldMkLst>
      </pc:sldChg>
      <pc:sldChg chg="modSp">
        <pc:chgData name="Hamilton Stott" userId="e28223afab1f786a" providerId="LiveId" clId="{5A3DBF78-F860-4BCD-A8F8-79912336F401}" dt="2018-10-10T14:16:44.224" v="313" actId="27636"/>
        <pc:sldMkLst>
          <pc:docMk/>
          <pc:sldMk cId="3301575493" sldId="265"/>
        </pc:sldMkLst>
        <pc:spChg chg="mod">
          <ac:chgData name="Hamilton Stott" userId="e28223afab1f786a" providerId="LiveId" clId="{5A3DBF78-F860-4BCD-A8F8-79912336F401}" dt="2018-10-10T14:16:44.224" v="313" actId="27636"/>
          <ac:spMkLst>
            <pc:docMk/>
            <pc:sldMk cId="3301575493" sldId="265"/>
            <ac:spMk id="4" creationId="{00000000-0000-0000-0000-000000000000}"/>
          </ac:spMkLst>
        </pc:spChg>
      </pc:sldChg>
      <pc:sldChg chg="modSp add">
        <pc:chgData name="Hamilton Stott" userId="e28223afab1f786a" providerId="LiveId" clId="{5A3DBF78-F860-4BCD-A8F8-79912336F401}" dt="2018-10-10T14:19:04.877" v="694" actId="1076"/>
        <pc:sldMkLst>
          <pc:docMk/>
          <pc:sldMk cId="3531859365" sldId="266"/>
        </pc:sldMkLst>
        <pc:spChg chg="mod">
          <ac:chgData name="Hamilton Stott" userId="e28223afab1f786a" providerId="LiveId" clId="{5A3DBF78-F860-4BCD-A8F8-79912336F401}" dt="2018-10-10T14:19:04.877" v="694" actId="1076"/>
          <ac:spMkLst>
            <pc:docMk/>
            <pc:sldMk cId="3531859365" sldId="266"/>
            <ac:spMk id="2" creationId="{00000000-0000-0000-0000-000000000000}"/>
          </ac:spMkLst>
        </pc:spChg>
        <pc:spChg chg="mod">
          <ac:chgData name="Hamilton Stott" userId="e28223afab1f786a" providerId="LiveId" clId="{5A3DBF78-F860-4BCD-A8F8-79912336F401}" dt="2018-10-10T14:16:44.221" v="312" actId="27636"/>
          <ac:spMkLst>
            <pc:docMk/>
            <pc:sldMk cId="3531859365" sldId="266"/>
            <ac:spMk id="4" creationId="{00000000-0000-0000-0000-000000000000}"/>
          </ac:spMkLst>
        </pc:spChg>
        <pc:spChg chg="mod">
          <ac:chgData name="Hamilton Stott" userId="e28223afab1f786a" providerId="LiveId" clId="{5A3DBF78-F860-4BCD-A8F8-79912336F401}" dt="2018-10-10T14:12:31.796" v="44" actId="20577"/>
          <ac:spMkLst>
            <pc:docMk/>
            <pc:sldMk cId="3531859365" sldId="266"/>
            <ac:spMk id="7" creationId="{05EC1859-5E57-43E0-BD12-959F4269A5E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Workbook5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 temperature</a:t>
            </a:r>
            <a:r>
              <a:rPr lang="en-US" baseline="0"/>
              <a:t> and Drinks sold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Drinks sold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22</c:v>
                </c:pt>
                <c:pt idx="2">
                  <c:v>24</c:v>
                </c:pt>
                <c:pt idx="3">
                  <c:v>33</c:v>
                </c:pt>
                <c:pt idx="4">
                  <c:v>30</c:v>
                </c:pt>
                <c:pt idx="5">
                  <c:v>28</c:v>
                </c:pt>
                <c:pt idx="6">
                  <c:v>29</c:v>
                </c:pt>
                <c:pt idx="7">
                  <c:v>17</c:v>
                </c:pt>
                <c:pt idx="8">
                  <c:v>23</c:v>
                </c:pt>
                <c:pt idx="9">
                  <c:v>27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160</c:v>
                </c:pt>
                <c:pt idx="1">
                  <c:v>200</c:v>
                </c:pt>
                <c:pt idx="2">
                  <c:v>250</c:v>
                </c:pt>
                <c:pt idx="3">
                  <c:v>450</c:v>
                </c:pt>
                <c:pt idx="4">
                  <c:v>430</c:v>
                </c:pt>
                <c:pt idx="5">
                  <c:v>300</c:v>
                </c:pt>
                <c:pt idx="6">
                  <c:v>360</c:v>
                </c:pt>
                <c:pt idx="7">
                  <c:v>150</c:v>
                </c:pt>
                <c:pt idx="8">
                  <c:v>230</c:v>
                </c:pt>
                <c:pt idx="9">
                  <c:v>250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82B-45EE-A53A-385F52B5D9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958231872"/>
        <c:axId val="-1995757200"/>
      </c:scatterChart>
      <c:valAx>
        <c:axId val="-1958231872"/>
        <c:scaling>
          <c:orientation val="minMax"/>
          <c:min val="15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65000"/>
                  <a:lumOff val="35000"/>
                  <a:alpha val="2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Daily Temperature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995757200"/>
        <c:crosses val="autoZero"/>
        <c:crossBetween val="midCat"/>
      </c:valAx>
      <c:valAx>
        <c:axId val="-1995757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Drink</a:t>
                </a:r>
                <a:r>
                  <a:rPr lang="en-US" baseline="0"/>
                  <a:t>s sold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958231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89904-F5CA-4BE6-AE1E-24BB6FD28B92}" type="datetimeFigureOut">
              <a:rPr lang="en-AU" smtClean="0"/>
              <a:t>10/10/2018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C4FB6-01E2-4662-B7BE-3E406D386F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1383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class can also complete other comparisons if they finish fast, set the whiteboard to graph paper and compare </a:t>
            </a:r>
            <a:r>
              <a:rPr lang="en-AU" dirty="0" err="1"/>
              <a:t>eg</a:t>
            </a:r>
            <a:endParaRPr lang="en-AU" dirty="0"/>
          </a:p>
          <a:p>
            <a:r>
              <a:rPr lang="en-AU" dirty="0"/>
              <a:t>Month of birth to height, shoe size to height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C4FB6-01E2-4662-B7BE-3E406D386FD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077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75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879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559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527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2738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06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62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974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43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66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663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866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627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092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783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357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47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10/10/2018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37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  <p:sldLayoutId id="2147483920" r:id="rId12"/>
    <p:sldLayoutId id="2147483921" r:id="rId13"/>
    <p:sldLayoutId id="2147483922" r:id="rId14"/>
    <p:sldLayoutId id="2147483923" r:id="rId15"/>
    <p:sldLayoutId id="2147483924" r:id="rId16"/>
    <p:sldLayoutId id="21474839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0"/>
                <a:lumOff val="100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Bivariate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EQ: what is Bivariate data, and how can it be useful for statistical analysis?</a:t>
            </a:r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 of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There are 2 sub-categories of data- Numerical and Categorical</a:t>
            </a:r>
          </a:p>
          <a:p>
            <a:r>
              <a:rPr lang="en-AU" dirty="0"/>
              <a:t>Numerical data is data relating to numbers</a:t>
            </a:r>
          </a:p>
          <a:p>
            <a:r>
              <a:rPr lang="en-AU" dirty="0"/>
              <a:t>Categorical is data based on observable characteristics. </a:t>
            </a:r>
          </a:p>
          <a:p>
            <a:r>
              <a:rPr lang="en-AU" dirty="0"/>
              <a:t>Univariate data is single piece data – height, weight, shoe size</a:t>
            </a:r>
          </a:p>
          <a:p>
            <a:r>
              <a:rPr lang="en-AU" dirty="0"/>
              <a:t>Bivariate data is two-piece data – height and weight, Heartbeat and exercise amount, Reaction times and Sleep amount etc. </a:t>
            </a:r>
          </a:p>
          <a:p>
            <a:r>
              <a:rPr lang="en-AU" dirty="0"/>
              <a:t>Bivariate data is often represented in a table</a:t>
            </a:r>
          </a:p>
        </p:txBody>
      </p:sp>
    </p:spTree>
    <p:extLst>
      <p:ext uri="{BB962C8B-B14F-4D97-AF65-F5344CB8AC3E}">
        <p14:creationId xmlns:p14="http://schemas.microsoft.com/office/powerpoint/2010/main" val="1571498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57666" y="166474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/>
              <a:t>Bivariate data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734321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402909" y="734321"/>
            <a:ext cx="9580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EQ: What is bivariate data, and how can it be useful for statistical analysis?</a:t>
            </a:r>
          </a:p>
          <a:p>
            <a:r>
              <a:rPr lang="en-AU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C1859-5E57-43E0-BD12-959F4269A5E2}"/>
              </a:ext>
            </a:extLst>
          </p:cNvPr>
          <p:cNvSpPr/>
          <p:nvPr/>
        </p:nvSpPr>
        <p:spPr>
          <a:xfrm>
            <a:off x="2203939" y="1305342"/>
            <a:ext cx="8679958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dirty="0"/>
              <a:t>Dependent and independent variables</a:t>
            </a:r>
          </a:p>
          <a:p>
            <a:endParaRPr lang="en-GB" sz="3200" dirty="0"/>
          </a:p>
          <a:p>
            <a:r>
              <a:rPr lang="en-GB" sz="3200" dirty="0"/>
              <a:t>• One variable is generally the dependent variable , and the other the independent variable </a:t>
            </a:r>
          </a:p>
          <a:p>
            <a:endParaRPr lang="en-GB" sz="3200" dirty="0"/>
          </a:p>
          <a:p>
            <a:r>
              <a:rPr lang="en-GB" sz="3200" dirty="0"/>
              <a:t>• The </a:t>
            </a:r>
            <a:r>
              <a:rPr lang="en-GB" sz="3200" b="1" dirty="0"/>
              <a:t>dependent variable</a:t>
            </a:r>
            <a:r>
              <a:rPr lang="en-GB" sz="3200" dirty="0"/>
              <a:t>, as the name suggests, is the one whose value depends on the other variable. The </a:t>
            </a:r>
            <a:r>
              <a:rPr lang="en-GB" sz="3200" b="1" dirty="0"/>
              <a:t>independent variable</a:t>
            </a:r>
            <a:r>
              <a:rPr lang="en-GB" sz="3200" dirty="0"/>
              <a:t> takes on values that do not depend on the value of the other variable.</a:t>
            </a:r>
          </a:p>
        </p:txBody>
      </p:sp>
    </p:spTree>
    <p:extLst>
      <p:ext uri="{BB962C8B-B14F-4D97-AF65-F5344CB8AC3E}">
        <p14:creationId xmlns:p14="http://schemas.microsoft.com/office/powerpoint/2010/main" val="982595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57666" y="166474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/>
              <a:t>Bivariate data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734321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550963" y="752751"/>
            <a:ext cx="9580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EQ: What is bivariate data, and how can it be useful for statistical analysis?</a:t>
            </a:r>
          </a:p>
          <a:p>
            <a:r>
              <a:rPr lang="en-AU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C1859-5E57-43E0-BD12-959F4269A5E2}"/>
              </a:ext>
            </a:extLst>
          </p:cNvPr>
          <p:cNvSpPr/>
          <p:nvPr/>
        </p:nvSpPr>
        <p:spPr>
          <a:xfrm>
            <a:off x="2203938" y="1305342"/>
            <a:ext cx="9187955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Dependent and independent variables</a:t>
            </a:r>
          </a:p>
          <a:p>
            <a:r>
              <a:rPr lang="en-GB" sz="2400" dirty="0"/>
              <a:t>• One variable is generally the dependent variable , and the other the independent variable </a:t>
            </a:r>
          </a:p>
          <a:p>
            <a:r>
              <a:rPr lang="en-GB" sz="2400" dirty="0"/>
              <a:t>• The </a:t>
            </a:r>
            <a:r>
              <a:rPr lang="en-GB" sz="2400" b="1" dirty="0"/>
              <a:t>dependent variable</a:t>
            </a:r>
            <a:r>
              <a:rPr lang="en-GB" sz="2400" dirty="0"/>
              <a:t>, as the name suggests, is the one whose value depends on the other variable. The </a:t>
            </a:r>
            <a:r>
              <a:rPr lang="en-GB" sz="2400" b="1" dirty="0"/>
              <a:t>independent variable</a:t>
            </a:r>
            <a:r>
              <a:rPr lang="en-GB" sz="2400" dirty="0"/>
              <a:t> takes on values that do not depend on the value of the other variable.</a:t>
            </a:r>
          </a:p>
          <a:p>
            <a:endParaRPr lang="en-GB" sz="2400" dirty="0"/>
          </a:p>
          <a:p>
            <a:r>
              <a:rPr lang="en-GB" sz="2800" dirty="0"/>
              <a:t>• When data are expressed in the form of a table, generally the independent variable is written in the first row or the first column.</a:t>
            </a:r>
          </a:p>
          <a:p>
            <a:r>
              <a:rPr lang="en-GB" sz="2800" dirty="0"/>
              <a:t>• The independent variable is placed on the x -axis and the dependent variable on the y-axis.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531859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57666" y="166474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/>
              <a:t>Bivariate data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16899" y="1375961"/>
            <a:ext cx="10075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 example of bivariate data that you may encounter is the “value of drinks sold at the school canteen” and the “daily temperature”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4990" y="5760720"/>
            <a:ext cx="7142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Does it look like the number of drinks sold is affected by the temperature?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4842960" y="2022292"/>
          <a:ext cx="3752400" cy="342002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85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8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700" u="none" strike="noStrike" dirty="0">
                          <a:effectLst/>
                        </a:rPr>
                        <a:t>Daily Temperature (C</a:t>
                      </a:r>
                      <a:r>
                        <a:rPr lang="en-US" sz="1700" u="none" strike="noStrike" baseline="30000" dirty="0">
                          <a:effectLst/>
                        </a:rPr>
                        <a:t>o</a:t>
                      </a:r>
                      <a:r>
                        <a:rPr lang="en-US" sz="1700" u="none" strike="noStrike" dirty="0">
                          <a:effectLst/>
                        </a:rPr>
                        <a:t>)</a:t>
                      </a:r>
                      <a:endParaRPr lang="en-US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Drinks sold</a:t>
                      </a:r>
                      <a:endParaRPr lang="en-US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172">
                <a:tc>
                  <a:txBody>
                    <a:bodyPr/>
                    <a:lstStyle/>
                    <a:p>
                      <a:pPr algn="ctr" rtl="0" fontAlgn="ctr"/>
                      <a:r>
                        <a:rPr lang="fi-FI" sz="1700" u="none" strike="noStrike" dirty="0">
                          <a:effectLst/>
                        </a:rPr>
                        <a:t>18</a:t>
                      </a:r>
                      <a:endParaRPr lang="fi-FI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160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22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200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24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250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33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450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30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430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28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300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29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cs-CZ" sz="1700" u="none" strike="noStrike" dirty="0">
                          <a:effectLst/>
                        </a:rPr>
                        <a:t>360</a:t>
                      </a:r>
                      <a:endParaRPr lang="cs-CZ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17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150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23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230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27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250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0" y="734321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07963" y="729630"/>
            <a:ext cx="9580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EQ: What is bivariate data, and how can it be useful for statistical analysis?</a:t>
            </a:r>
          </a:p>
          <a:p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157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16899" y="1319935"/>
            <a:ext cx="9900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chart is called a scatterplot. It is used with bivariate data to determine if there is a trend in out data or not.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8587" y="6133445"/>
            <a:ext cx="9362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As the daily temperature (x-axis) increases, does the amount of drinks sold increase (y-axis)?</a:t>
            </a: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9333208"/>
              </p:ext>
            </p:extLst>
          </p:nvPr>
        </p:nvGraphicFramePr>
        <p:xfrm>
          <a:off x="3403600" y="2042873"/>
          <a:ext cx="5384800" cy="394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657666" y="166474"/>
            <a:ext cx="10131425" cy="567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AU" dirty="0"/>
              <a:t>Bivariate data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734321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7963" y="729630"/>
            <a:ext cx="9580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	EQ: What is bivariate data, and how can it be useful for statistical analysis?</a:t>
            </a:r>
          </a:p>
          <a:p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38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038" y="1801438"/>
            <a:ext cx="10131425" cy="3255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		The class will now complete the hand size vs shoe size worksheet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sz="2400" dirty="0"/>
              <a:t>		Do you think people with large hands </a:t>
            </a:r>
            <a:r>
              <a:rPr lang="en-AU" sz="2400"/>
              <a:t>will have large feet?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30258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889</TotalTime>
  <Words>473</Words>
  <Application>Microsoft Office PowerPoint</Application>
  <PresentationFormat>Widescreen</PresentationFormat>
  <Paragraphs>68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Corbel</vt:lpstr>
      <vt:lpstr>Parallax</vt:lpstr>
      <vt:lpstr>Topic: Bivariate data</vt:lpstr>
      <vt:lpstr>Review of Data types</vt:lpstr>
      <vt:lpstr>Bivariate data</vt:lpstr>
      <vt:lpstr>Bivariate data</vt:lpstr>
      <vt:lpstr>Bivariate data</vt:lpstr>
      <vt:lpstr>PowerPoint Presentation</vt:lpstr>
      <vt:lpstr>Your turn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Bivariate data</dc:title>
  <dc:creator>POWER Travis [Baldivis Secondary College]</dc:creator>
  <cp:lastModifiedBy>Hamilton Stott</cp:lastModifiedBy>
  <cp:revision>10</cp:revision>
  <dcterms:created xsi:type="dcterms:W3CDTF">2018-07-24T09:14:17Z</dcterms:created>
  <dcterms:modified xsi:type="dcterms:W3CDTF">2018-10-10T14:20:12Z</dcterms:modified>
</cp:coreProperties>
</file>
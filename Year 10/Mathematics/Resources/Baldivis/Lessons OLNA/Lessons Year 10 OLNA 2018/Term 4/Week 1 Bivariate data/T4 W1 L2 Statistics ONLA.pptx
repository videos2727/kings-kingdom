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9"/>
  </p:notesMasterIdLst>
  <p:sldIdLst>
    <p:sldId id="257" r:id="rId2"/>
    <p:sldId id="343" r:id="rId3"/>
    <p:sldId id="344" r:id="rId4"/>
    <p:sldId id="345" r:id="rId5"/>
    <p:sldId id="349" r:id="rId6"/>
    <p:sldId id="346" r:id="rId7"/>
    <p:sldId id="34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81FAE2-396C-4EDD-AC27-FC71003682D8}">
          <p14:sldIdLst>
            <p14:sldId id="257"/>
            <p14:sldId id="343"/>
            <p14:sldId id="344"/>
            <p14:sldId id="345"/>
            <p14:sldId id="349"/>
            <p14:sldId id="346"/>
            <p14:sldId id="34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gdeline Lum" initials="ML" lastIdx="1" clrIdx="0">
    <p:extLst>
      <p:ext uri="{19B8F6BF-5375-455C-9EA6-DF929625EA0E}">
        <p15:presenceInfo xmlns:p15="http://schemas.microsoft.com/office/powerpoint/2012/main" userId="84ffe2a5011a3e7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5505" autoAdjust="0"/>
  </p:normalViewPr>
  <p:slideViewPr>
    <p:cSldViewPr snapToGrid="0">
      <p:cViewPr varScale="1">
        <p:scale>
          <a:sx n="90" d="100"/>
          <a:sy n="90"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2282E-A42A-413E-AE2C-48286DBF7EC2}" type="datetimeFigureOut">
              <a:rPr lang="en-AU" smtClean="0"/>
              <a:t>7/10/2018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425140-7458-4828-80E5-6CAE1A8C668C}" type="slidenum">
              <a:rPr lang="en-AU" smtClean="0"/>
              <a:t>‹#›</a:t>
            </a:fld>
            <a:endParaRPr lang="en-AU"/>
          </a:p>
        </p:txBody>
      </p:sp>
    </p:spTree>
    <p:extLst>
      <p:ext uri="{BB962C8B-B14F-4D97-AF65-F5344CB8AC3E}">
        <p14:creationId xmlns:p14="http://schemas.microsoft.com/office/powerpoint/2010/main" val="244425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282159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2</a:t>
            </a:fld>
            <a:endParaRPr lang="en-US"/>
          </a:p>
        </p:txBody>
      </p:sp>
    </p:spTree>
    <p:extLst>
      <p:ext uri="{BB962C8B-B14F-4D97-AF65-F5344CB8AC3E}">
        <p14:creationId xmlns:p14="http://schemas.microsoft.com/office/powerpoint/2010/main" val="3943355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2811075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59342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DE425140-7458-4828-80E5-6CAE1A8C668C}" type="slidenum">
              <a:rPr lang="en-AU" smtClean="0"/>
              <a:t>5</a:t>
            </a:fld>
            <a:endParaRPr lang="en-AU"/>
          </a:p>
        </p:txBody>
      </p:sp>
    </p:spTree>
    <p:extLst>
      <p:ext uri="{BB962C8B-B14F-4D97-AF65-F5344CB8AC3E}">
        <p14:creationId xmlns:p14="http://schemas.microsoft.com/office/powerpoint/2010/main" val="3820982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997395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Only do this activity </a:t>
            </a:r>
            <a:r>
              <a:rPr lang="en-AU"/>
              <a:t>if there is time</a:t>
            </a:r>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1804412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3E78394-75B3-4DDA-93C4-891EE6443567}" type="datetimeFigureOut">
              <a:rPr lang="en-AU" smtClean="0"/>
              <a:t>7/10/2018</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26286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7/10/2018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71596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7/10/2018</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272609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40037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E78394-75B3-4DDA-93C4-891EE6443567}" type="datetimeFigureOut">
              <a:rPr lang="en-AU" smtClean="0"/>
              <a:t>7/10/2018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0550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E78394-75B3-4DDA-93C4-891EE6443567}" type="datetimeFigureOut">
              <a:rPr lang="en-AU" smtClean="0"/>
              <a:t>7/10/2018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2128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78394-75B3-4DDA-93C4-891EE6443567}" type="datetimeFigureOut">
              <a:rPr lang="en-AU" smtClean="0"/>
              <a:t>7/10/2018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776768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44394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1212056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05928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093771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1598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3E78394-75B3-4DDA-93C4-891EE6443567}" type="datetimeFigureOut">
              <a:rPr lang="en-AU" smtClean="0"/>
              <a:t>7/10/2018</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21571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7/10/2018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3559116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3E78394-75B3-4DDA-93C4-891EE6443567}" type="datetimeFigureOut">
              <a:rPr lang="en-AU" smtClean="0"/>
              <a:t>7/10/2018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127044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E78394-75B3-4DDA-93C4-891EE6443567}" type="datetimeFigureOut">
              <a:rPr lang="en-AU" smtClean="0"/>
              <a:t>7/10/2018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636154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3E78394-75B3-4DDA-93C4-891EE6443567}" type="datetimeFigureOut">
              <a:rPr lang="en-AU" smtClean="0"/>
              <a:t>7/10/2018</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D9ADFE24-42A0-4DE0-9667-D0ACECBB6A47}" type="slidenum">
              <a:rPr lang="en-AU" smtClean="0"/>
              <a:t>‹#›</a:t>
            </a:fld>
            <a:endParaRPr lang="en-AU"/>
          </a:p>
        </p:txBody>
      </p:sp>
    </p:spTree>
    <p:extLst>
      <p:ext uri="{BB962C8B-B14F-4D97-AF65-F5344CB8AC3E}">
        <p14:creationId xmlns:p14="http://schemas.microsoft.com/office/powerpoint/2010/main" val="298383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3E78394-75B3-4DDA-93C4-891EE6443567}" type="datetimeFigureOut">
              <a:rPr lang="en-AU" smtClean="0"/>
              <a:t>7/10/2018</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ADFE24-42A0-4DE0-9667-D0ACECBB6A47}" type="slidenum">
              <a:rPr lang="en-AU" smtClean="0"/>
              <a:t>‹#›</a:t>
            </a:fld>
            <a:endParaRPr lang="en-AU"/>
          </a:p>
        </p:txBody>
      </p:sp>
    </p:spTree>
    <p:extLst>
      <p:ext uri="{BB962C8B-B14F-4D97-AF65-F5344CB8AC3E}">
        <p14:creationId xmlns:p14="http://schemas.microsoft.com/office/powerpoint/2010/main" val="24355618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ideo" Target="https://www.youtube.com/embed/G0ZZJXw4MTA" TargetMode="Externa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988820"/>
            <a:ext cx="4476750" cy="1639681"/>
          </a:xfrm>
        </p:spPr>
        <p:txBody>
          <a:bodyPr>
            <a:normAutofit/>
          </a:bodyPr>
          <a:lstStyle/>
          <a:p>
            <a:r>
              <a:rPr lang="en-US" sz="6600" b="1" cap="none" dirty="0">
                <a:solidFill>
                  <a:srgbClr val="0070C0"/>
                </a:solidFill>
                <a:latin typeface="DJB Fancy Nancy" panose="02000500000000000000" pitchFamily="2" charset="0"/>
              </a:rPr>
              <a:t>Statistics</a:t>
            </a:r>
            <a:br>
              <a:rPr lang="en-US" sz="6600" b="1" cap="none" dirty="0">
                <a:solidFill>
                  <a:srgbClr val="0070C0"/>
                </a:solidFill>
                <a:latin typeface="DJB Fancy Nancy" panose="02000500000000000000" pitchFamily="2" charset="0"/>
              </a:rPr>
            </a:br>
            <a:r>
              <a:rPr lang="en-US" sz="4000" b="1" cap="none" dirty="0">
                <a:solidFill>
                  <a:srgbClr val="0070C0"/>
                </a:solidFill>
                <a:latin typeface="DJB Fancy Nancy" panose="02000500000000000000" pitchFamily="2" charset="0"/>
              </a:rPr>
              <a:t>Analysing Data</a:t>
            </a:r>
            <a:endParaRPr lang="en-US" sz="6600" b="1" cap="none" dirty="0">
              <a:solidFill>
                <a:srgbClr val="0070C0"/>
              </a:solidFill>
              <a:latin typeface="DJB Fancy Nancy" panose="02000500000000000000" pitchFamily="2" charset="0"/>
            </a:endParaRPr>
          </a:p>
        </p:txBody>
      </p:sp>
      <p:sp>
        <p:nvSpPr>
          <p:cNvPr id="3" name="Subtitle 2"/>
          <p:cNvSpPr>
            <a:spLocks noGrp="1"/>
          </p:cNvSpPr>
          <p:nvPr>
            <p:ph type="subTitle" idx="1"/>
          </p:nvPr>
        </p:nvSpPr>
        <p:spPr>
          <a:xfrm>
            <a:off x="1367875" y="3628501"/>
            <a:ext cx="9446339" cy="1384675"/>
          </a:xfrm>
        </p:spPr>
        <p:txBody>
          <a:bodyPr>
            <a:normAutofit/>
          </a:bodyPr>
          <a:lstStyle/>
          <a:p>
            <a:r>
              <a:rPr lang="en-US" sz="3200" b="1" dirty="0">
                <a:solidFill>
                  <a:schemeClr val="accent2">
                    <a:lumMod val="75000"/>
                  </a:schemeClr>
                </a:solidFill>
                <a:latin typeface="Kiwi School Handwriting" panose="00000500000000000000" pitchFamily="2" charset="0"/>
              </a:rPr>
              <a:t>Year 10 Mathematics</a:t>
            </a:r>
          </a:p>
        </p:txBody>
      </p:sp>
      <p:pic>
        <p:nvPicPr>
          <p:cNvPr id="4" name="Picture 3">
            <a:extLst>
              <a:ext uri="{FF2B5EF4-FFF2-40B4-BE49-F238E27FC236}">
                <a16:creationId xmlns:a16="http://schemas.microsoft.com/office/drawing/2014/main" id="{23A724D7-CC16-45EA-8608-B8636E885673}"/>
              </a:ext>
            </a:extLst>
          </p:cNvPr>
          <p:cNvPicPr>
            <a:picLocks noChangeAspect="1"/>
          </p:cNvPicPr>
          <p:nvPr/>
        </p:nvPicPr>
        <p:blipFill>
          <a:blip r:embed="rId3"/>
          <a:stretch>
            <a:fillRect/>
          </a:stretch>
        </p:blipFill>
        <p:spPr>
          <a:xfrm>
            <a:off x="6010275" y="414337"/>
            <a:ext cx="5467350" cy="5400675"/>
          </a:xfrm>
          <a:prstGeom prst="rect">
            <a:avLst/>
          </a:prstGeom>
        </p:spPr>
      </p:pic>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/10/2018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3" y="1350330"/>
            <a:ext cx="9083038" cy="2792111"/>
          </a:xfrm>
          <a:prstGeom prst="rect">
            <a:avLst/>
          </a:prstGeom>
          <a:noFill/>
        </p:spPr>
        <p:txBody>
          <a:bodyPr wrap="square" rtlCol="0">
            <a:spAutoFit/>
          </a:bodyPr>
          <a:lstStyle/>
          <a:p>
            <a:pPr>
              <a:lnSpc>
                <a:spcPct val="150000"/>
              </a:lnSpc>
            </a:pPr>
            <a:r>
              <a:rPr lang="en-AU" sz="2400" dirty="0"/>
              <a:t>There are 2 types of data collected</a:t>
            </a:r>
          </a:p>
          <a:p>
            <a:pPr marL="285750" indent="-285750">
              <a:lnSpc>
                <a:spcPct val="150000"/>
              </a:lnSpc>
              <a:buFont typeface="Arial" panose="020B0604020202020204" pitchFamily="34" charset="0"/>
              <a:buChar char="•"/>
            </a:pPr>
            <a:r>
              <a:rPr lang="en-AU" sz="2400" u="sng" dirty="0"/>
              <a:t>Primary Data </a:t>
            </a:r>
            <a:r>
              <a:rPr lang="en-AU" sz="2400" dirty="0"/>
              <a:t>– Collected by the investigator for a specific purpose</a:t>
            </a:r>
          </a:p>
          <a:p>
            <a:pPr marL="285750" indent="-285750">
              <a:lnSpc>
                <a:spcPct val="150000"/>
              </a:lnSpc>
              <a:buFont typeface="Arial" panose="020B0604020202020204" pitchFamily="34" charset="0"/>
              <a:buChar char="•"/>
            </a:pPr>
            <a:r>
              <a:rPr lang="en-AU" sz="2400" u="sng" dirty="0"/>
              <a:t>Secondary Data </a:t>
            </a:r>
            <a:r>
              <a:rPr lang="en-AU" sz="2400" dirty="0"/>
              <a:t>– </a:t>
            </a:r>
            <a:r>
              <a:rPr lang="en-GB" sz="2400" dirty="0"/>
              <a:t>Collected by someone else or for some other purpose</a:t>
            </a:r>
            <a:endParaRPr lang="en-AU" sz="2400" dirty="0"/>
          </a:p>
        </p:txBody>
      </p:sp>
      <p:sp>
        <p:nvSpPr>
          <p:cNvPr id="12" name="TextBox 11">
            <a:extLst>
              <a:ext uri="{FF2B5EF4-FFF2-40B4-BE49-F238E27FC236}">
                <a16:creationId xmlns:a16="http://schemas.microsoft.com/office/drawing/2014/main" id="{59F1ED9E-CE15-4A46-AEEC-3BFDCF31D8DF}"/>
              </a:ext>
            </a:extLst>
          </p:cNvPr>
          <p:cNvSpPr txBox="1"/>
          <p:nvPr/>
        </p:nvSpPr>
        <p:spPr>
          <a:xfrm>
            <a:off x="2199891" y="4142441"/>
            <a:ext cx="9083038" cy="1130118"/>
          </a:xfrm>
          <a:prstGeom prst="rect">
            <a:avLst/>
          </a:prstGeom>
          <a:noFill/>
        </p:spPr>
        <p:txBody>
          <a:bodyPr wrap="square" rtlCol="0">
            <a:spAutoFit/>
          </a:bodyPr>
          <a:lstStyle/>
          <a:p>
            <a:pPr>
              <a:lnSpc>
                <a:spcPct val="150000"/>
              </a:lnSpc>
            </a:pPr>
            <a:r>
              <a:rPr lang="en-AU" sz="2400" dirty="0"/>
              <a:t>When collecting data it is essential to state the source of the data</a:t>
            </a:r>
          </a:p>
        </p:txBody>
      </p:sp>
    </p:spTree>
    <p:extLst>
      <p:ext uri="{BB962C8B-B14F-4D97-AF65-F5344CB8AC3E}">
        <p14:creationId xmlns:p14="http://schemas.microsoft.com/office/powerpoint/2010/main" val="12663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/10/2018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3" y="1350330"/>
            <a:ext cx="9083038" cy="984885"/>
          </a:xfrm>
          <a:prstGeom prst="rect">
            <a:avLst/>
          </a:prstGeom>
          <a:noFill/>
        </p:spPr>
        <p:txBody>
          <a:bodyPr wrap="square" rtlCol="0">
            <a:spAutoFit/>
          </a:bodyPr>
          <a:lstStyle/>
          <a:p>
            <a:r>
              <a:rPr lang="en-GB" sz="2000" u="sng" dirty="0"/>
              <a:t>A fair sample</a:t>
            </a:r>
            <a:r>
              <a:rPr lang="en-GB" sz="2000" dirty="0"/>
              <a:t> is collected from a sample that is like the rest of the population. </a:t>
            </a:r>
            <a:r>
              <a:rPr lang="en-GB" sz="2000" u="sng" dirty="0"/>
              <a:t>A biased sample </a:t>
            </a:r>
            <a:r>
              <a:rPr lang="en-GB" sz="2000" dirty="0"/>
              <a:t>is not typical of the population.</a:t>
            </a:r>
          </a:p>
          <a:p>
            <a:endParaRPr lang="en-GB" dirty="0"/>
          </a:p>
        </p:txBody>
      </p:sp>
      <p:sp>
        <p:nvSpPr>
          <p:cNvPr id="2" name="Rectangle 1">
            <a:extLst>
              <a:ext uri="{FF2B5EF4-FFF2-40B4-BE49-F238E27FC236}">
                <a16:creationId xmlns:a16="http://schemas.microsoft.com/office/drawing/2014/main" id="{A0F5FB79-7F3A-4E18-A7F7-F8AEA8CE53DA}"/>
              </a:ext>
            </a:extLst>
          </p:cNvPr>
          <p:cNvSpPr/>
          <p:nvPr/>
        </p:nvSpPr>
        <p:spPr>
          <a:xfrm>
            <a:off x="2100882" y="2335215"/>
            <a:ext cx="8252787" cy="1292662"/>
          </a:xfrm>
          <a:prstGeom prst="rect">
            <a:avLst/>
          </a:prstGeom>
        </p:spPr>
        <p:txBody>
          <a:bodyPr wrap="square">
            <a:spAutoFit/>
          </a:bodyPr>
          <a:lstStyle/>
          <a:p>
            <a:r>
              <a:rPr lang="en-GB" sz="2000" u="sng" dirty="0"/>
              <a:t>Biased methods</a:t>
            </a:r>
            <a:r>
              <a:rPr lang="en-GB" sz="2000" dirty="0"/>
              <a:t> and </a:t>
            </a:r>
            <a:r>
              <a:rPr lang="en-GB" sz="2000" u="sng" dirty="0"/>
              <a:t>biased questions</a:t>
            </a:r>
            <a:r>
              <a:rPr lang="en-GB" sz="2000" dirty="0"/>
              <a:t> are likely to influence results in a particular direction. Fair ones are not likely to influence results in a particular way. </a:t>
            </a:r>
          </a:p>
          <a:p>
            <a:endParaRPr lang="en-GB" dirty="0"/>
          </a:p>
        </p:txBody>
      </p:sp>
      <p:sp>
        <p:nvSpPr>
          <p:cNvPr id="3" name="Rectangle 2">
            <a:extLst>
              <a:ext uri="{FF2B5EF4-FFF2-40B4-BE49-F238E27FC236}">
                <a16:creationId xmlns:a16="http://schemas.microsoft.com/office/drawing/2014/main" id="{4CA39538-D097-4AF4-8C66-9B798516FE2C}"/>
              </a:ext>
            </a:extLst>
          </p:cNvPr>
          <p:cNvSpPr/>
          <p:nvPr/>
        </p:nvSpPr>
        <p:spPr>
          <a:xfrm>
            <a:off x="2100881" y="3547867"/>
            <a:ext cx="8584019" cy="1631216"/>
          </a:xfrm>
          <a:prstGeom prst="rect">
            <a:avLst/>
          </a:prstGeom>
        </p:spPr>
        <p:txBody>
          <a:bodyPr wrap="square">
            <a:spAutoFit/>
          </a:bodyPr>
          <a:lstStyle/>
          <a:p>
            <a:r>
              <a:rPr lang="en-GB" sz="2000" dirty="0"/>
              <a:t>Fair questions with fair samples will not give reliable results if the sample is too small. A clear pattern in results of a good survey does suggest that a sample is sufficient. However, conclusions drawn from surveys where frequencies are less than 5 should be regarded with </a:t>
            </a:r>
            <a:r>
              <a:rPr lang="en-AU" sz="2000" dirty="0"/>
              <a:t>suspicion.</a:t>
            </a:r>
            <a:endParaRPr lang="en-AU" sz="2800" dirty="0"/>
          </a:p>
        </p:txBody>
      </p:sp>
    </p:spTree>
    <p:extLst>
      <p:ext uri="{BB962C8B-B14F-4D97-AF65-F5344CB8AC3E}">
        <p14:creationId xmlns:p14="http://schemas.microsoft.com/office/powerpoint/2010/main" val="2345478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/10/2018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00882" y="1387755"/>
            <a:ext cx="9083038" cy="923330"/>
          </a:xfrm>
          <a:prstGeom prst="rect">
            <a:avLst/>
          </a:prstGeom>
          <a:noFill/>
        </p:spPr>
        <p:txBody>
          <a:bodyPr wrap="square" rtlCol="0">
            <a:spAutoFit/>
          </a:bodyPr>
          <a:lstStyle/>
          <a:p>
            <a:r>
              <a:rPr lang="en-GB" u="sng" dirty="0"/>
              <a:t>A fair sample</a:t>
            </a:r>
            <a:r>
              <a:rPr lang="en-GB" dirty="0"/>
              <a:t> is collected from a sample that is like the rest of the population. </a:t>
            </a:r>
            <a:r>
              <a:rPr lang="en-GB" u="sng" dirty="0"/>
              <a:t>A biased sample </a:t>
            </a:r>
            <a:r>
              <a:rPr lang="en-GB" dirty="0"/>
              <a:t>is not typical of the population.</a:t>
            </a:r>
          </a:p>
          <a:p>
            <a:endParaRPr lang="en-GB" dirty="0"/>
          </a:p>
        </p:txBody>
      </p:sp>
      <p:sp>
        <p:nvSpPr>
          <p:cNvPr id="2" name="Rectangle 1">
            <a:extLst>
              <a:ext uri="{FF2B5EF4-FFF2-40B4-BE49-F238E27FC236}">
                <a16:creationId xmlns:a16="http://schemas.microsoft.com/office/drawing/2014/main" id="{A0F5FB79-7F3A-4E18-A7F7-F8AEA8CE53DA}"/>
              </a:ext>
            </a:extLst>
          </p:cNvPr>
          <p:cNvSpPr/>
          <p:nvPr/>
        </p:nvSpPr>
        <p:spPr>
          <a:xfrm>
            <a:off x="2100882" y="2152918"/>
            <a:ext cx="8252787" cy="1200329"/>
          </a:xfrm>
          <a:prstGeom prst="rect">
            <a:avLst/>
          </a:prstGeom>
        </p:spPr>
        <p:txBody>
          <a:bodyPr wrap="square">
            <a:spAutoFit/>
          </a:bodyPr>
          <a:lstStyle/>
          <a:p>
            <a:r>
              <a:rPr lang="en-GB" u="sng" dirty="0"/>
              <a:t>Biased methods</a:t>
            </a:r>
            <a:r>
              <a:rPr lang="en-GB" dirty="0"/>
              <a:t> and </a:t>
            </a:r>
            <a:r>
              <a:rPr lang="en-GB" u="sng" dirty="0"/>
              <a:t>biased questions</a:t>
            </a:r>
            <a:r>
              <a:rPr lang="en-GB" dirty="0"/>
              <a:t> are likely to influence results in a particular direction. Fair ones are not likely to influence results in a particular way. </a:t>
            </a:r>
          </a:p>
          <a:p>
            <a:endParaRPr lang="en-GB" dirty="0"/>
          </a:p>
        </p:txBody>
      </p:sp>
      <p:sp>
        <p:nvSpPr>
          <p:cNvPr id="3" name="Rectangle 2">
            <a:extLst>
              <a:ext uri="{FF2B5EF4-FFF2-40B4-BE49-F238E27FC236}">
                <a16:creationId xmlns:a16="http://schemas.microsoft.com/office/drawing/2014/main" id="{4CA39538-D097-4AF4-8C66-9B798516FE2C}"/>
              </a:ext>
            </a:extLst>
          </p:cNvPr>
          <p:cNvSpPr/>
          <p:nvPr/>
        </p:nvSpPr>
        <p:spPr>
          <a:xfrm>
            <a:off x="2100882" y="3105047"/>
            <a:ext cx="8584019" cy="1200329"/>
          </a:xfrm>
          <a:prstGeom prst="rect">
            <a:avLst/>
          </a:prstGeom>
        </p:spPr>
        <p:txBody>
          <a:bodyPr wrap="square">
            <a:spAutoFit/>
          </a:bodyPr>
          <a:lstStyle/>
          <a:p>
            <a:r>
              <a:rPr lang="en-GB" dirty="0"/>
              <a:t>Fair questions with fair samples will not give reliable results if the sample is too small. A clear pattern in results of a good survey does suggest that a sample is sufficient. However, conclusions drawn from surveys where frequencies are less than 5 should be regarded with </a:t>
            </a:r>
            <a:r>
              <a:rPr lang="en-AU" dirty="0"/>
              <a:t>suspicion.</a:t>
            </a:r>
            <a:endParaRPr lang="en-AU" sz="2400" dirty="0"/>
          </a:p>
        </p:txBody>
      </p:sp>
      <p:sp>
        <p:nvSpPr>
          <p:cNvPr id="14" name="Rectangle 13">
            <a:extLst>
              <a:ext uri="{FF2B5EF4-FFF2-40B4-BE49-F238E27FC236}">
                <a16:creationId xmlns:a16="http://schemas.microsoft.com/office/drawing/2014/main" id="{E6A6F01D-6112-451B-8162-D0FB5EC7C7F3}"/>
              </a:ext>
            </a:extLst>
          </p:cNvPr>
          <p:cNvSpPr/>
          <p:nvPr/>
        </p:nvSpPr>
        <p:spPr>
          <a:xfrm>
            <a:off x="2100882" y="4528286"/>
            <a:ext cx="9083038" cy="707886"/>
          </a:xfrm>
          <a:prstGeom prst="rect">
            <a:avLst/>
          </a:prstGeom>
        </p:spPr>
        <p:txBody>
          <a:bodyPr wrap="square">
            <a:spAutoFit/>
          </a:bodyPr>
          <a:lstStyle/>
          <a:p>
            <a:r>
              <a:rPr lang="en-GB" sz="2000" u="sng" dirty="0"/>
              <a:t>Non-compliant data</a:t>
            </a:r>
            <a:r>
              <a:rPr lang="en-GB" sz="2000" dirty="0"/>
              <a:t> is obviously wrong, like someone’s age being 164.</a:t>
            </a:r>
          </a:p>
          <a:p>
            <a:endParaRPr lang="en-GB" sz="2000" dirty="0"/>
          </a:p>
        </p:txBody>
      </p:sp>
      <p:sp>
        <p:nvSpPr>
          <p:cNvPr id="8" name="Rectangle 7">
            <a:extLst>
              <a:ext uri="{FF2B5EF4-FFF2-40B4-BE49-F238E27FC236}">
                <a16:creationId xmlns:a16="http://schemas.microsoft.com/office/drawing/2014/main" id="{CEAD6EB3-84ED-4411-B91C-C33230567F4E}"/>
              </a:ext>
            </a:extLst>
          </p:cNvPr>
          <p:cNvSpPr/>
          <p:nvPr/>
        </p:nvSpPr>
        <p:spPr>
          <a:xfrm>
            <a:off x="2100882" y="5236172"/>
            <a:ext cx="8871918" cy="707886"/>
          </a:xfrm>
          <a:prstGeom prst="rect">
            <a:avLst/>
          </a:prstGeom>
        </p:spPr>
        <p:txBody>
          <a:bodyPr wrap="square">
            <a:spAutoFit/>
          </a:bodyPr>
          <a:lstStyle/>
          <a:p>
            <a:r>
              <a:rPr lang="en-GB" sz="2000" u="sng" dirty="0"/>
              <a:t>Outliers</a:t>
            </a:r>
            <a:r>
              <a:rPr lang="en-GB" sz="2000" dirty="0"/>
              <a:t> are data items that are a long way from the rest of the data, but that could be </a:t>
            </a:r>
            <a:r>
              <a:rPr lang="en-AU" sz="2000" dirty="0"/>
              <a:t>correct.</a:t>
            </a:r>
            <a:endParaRPr lang="en-AU" sz="2800" dirty="0"/>
          </a:p>
        </p:txBody>
      </p:sp>
    </p:spTree>
    <p:extLst>
      <p:ext uri="{BB962C8B-B14F-4D97-AF65-F5344CB8AC3E}">
        <p14:creationId xmlns:p14="http://schemas.microsoft.com/office/powerpoint/2010/main" val="253933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Leading Questions - Yes Prime Minister">
            <a:hlinkClick r:id="" action="ppaction://media"/>
            <a:extLst>
              <a:ext uri="{FF2B5EF4-FFF2-40B4-BE49-F238E27FC236}">
                <a16:creationId xmlns:a16="http://schemas.microsoft.com/office/drawing/2014/main" id="{2BAFE6A5-3FF4-436F-B929-3A6F04196145}"/>
              </a:ext>
            </a:extLst>
          </p:cNvPr>
          <p:cNvPicPr>
            <a:picLocks noRot="1" noChangeAspect="1"/>
          </p:cNvPicPr>
          <p:nvPr>
            <a:videoFile r:link="rId1"/>
          </p:nvPr>
        </p:nvPicPr>
        <p:blipFill>
          <a:blip r:embed="rId4"/>
          <a:stretch>
            <a:fillRect/>
          </a:stretch>
        </p:blipFill>
        <p:spPr>
          <a:xfrm>
            <a:off x="846667" y="476250"/>
            <a:ext cx="10783358" cy="6065639"/>
          </a:xfrm>
          <a:prstGeom prst="rect">
            <a:avLst/>
          </a:prstGeom>
        </p:spPr>
      </p:pic>
      <p:sp>
        <p:nvSpPr>
          <p:cNvPr id="3" name="TextBox 2">
            <a:extLst>
              <a:ext uri="{FF2B5EF4-FFF2-40B4-BE49-F238E27FC236}">
                <a16:creationId xmlns:a16="http://schemas.microsoft.com/office/drawing/2014/main" id="{0023F8C8-6B15-4B6A-8D2F-88E53A5574E9}"/>
              </a:ext>
            </a:extLst>
          </p:cNvPr>
          <p:cNvSpPr txBox="1"/>
          <p:nvPr/>
        </p:nvSpPr>
        <p:spPr>
          <a:xfrm>
            <a:off x="2806995" y="6541889"/>
            <a:ext cx="7581014" cy="369332"/>
          </a:xfrm>
          <a:prstGeom prst="rect">
            <a:avLst/>
          </a:prstGeom>
          <a:noFill/>
        </p:spPr>
        <p:txBody>
          <a:bodyPr wrap="square" rtlCol="0">
            <a:spAutoFit/>
          </a:bodyPr>
          <a:lstStyle/>
          <a:p>
            <a:r>
              <a:rPr lang="en-AU"/>
              <a:t>https://youtu.be/G0ZZJXw4MTA</a:t>
            </a:r>
            <a:endParaRPr lang="en-AU" dirty="0"/>
          </a:p>
        </p:txBody>
      </p:sp>
    </p:spTree>
    <p:extLst>
      <p:ext uri="{BB962C8B-B14F-4D97-AF65-F5344CB8AC3E}">
        <p14:creationId xmlns:p14="http://schemas.microsoft.com/office/powerpoint/2010/main" val="372196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/10/2018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975F7A3F-5FE9-42C0-8413-D3D6815AE3BC}"/>
              </a:ext>
            </a:extLst>
          </p:cNvPr>
          <p:cNvSpPr txBox="1"/>
          <p:nvPr/>
        </p:nvSpPr>
        <p:spPr>
          <a:xfrm>
            <a:off x="2192320" y="1487953"/>
            <a:ext cx="9694875" cy="5262979"/>
          </a:xfrm>
          <a:prstGeom prst="rect">
            <a:avLst/>
          </a:prstGeom>
          <a:noFill/>
        </p:spPr>
        <p:txBody>
          <a:bodyPr wrap="square" rtlCol="0">
            <a:spAutoFit/>
          </a:bodyPr>
          <a:lstStyle/>
          <a:p>
            <a:r>
              <a:rPr lang="en-GB" sz="2400" dirty="0"/>
              <a:t>You will now be assigned a  number of 1-4. Each person will have to go and take the notes for a common survey error. In your expert groups you will read the notes, underline the important parts and summarise it. You will then come back to your group as the expert on your type of error, and explain it to the rest of your group. By the end of this you should have notes for the following errors:</a:t>
            </a:r>
          </a:p>
          <a:p>
            <a:endParaRPr lang="en-GB" sz="2400" dirty="0"/>
          </a:p>
          <a:p>
            <a:pPr marL="342900" indent="-342900">
              <a:buFont typeface="Arial" panose="020B0604020202020204" pitchFamily="34" charset="0"/>
              <a:buChar char="•"/>
            </a:pPr>
            <a:r>
              <a:rPr lang="en-GB" sz="2400" dirty="0"/>
              <a:t>The “Leading question”</a:t>
            </a:r>
          </a:p>
          <a:p>
            <a:pPr marL="342900" indent="-342900">
              <a:buFont typeface="Arial" panose="020B0604020202020204" pitchFamily="34" charset="0"/>
              <a:buChar char="•"/>
            </a:pPr>
            <a:r>
              <a:rPr lang="en-GB" sz="2400" dirty="0"/>
              <a:t>The “Loaded question”</a:t>
            </a:r>
          </a:p>
          <a:p>
            <a:pPr marL="342900" indent="-342900">
              <a:buFont typeface="Arial" panose="020B0604020202020204" pitchFamily="34" charset="0"/>
              <a:buChar char="•"/>
            </a:pPr>
            <a:r>
              <a:rPr lang="en-GB" sz="2400" dirty="0"/>
              <a:t>The “Absolute question”</a:t>
            </a:r>
          </a:p>
          <a:p>
            <a:pPr marL="342900" indent="-342900">
              <a:buFont typeface="Arial" panose="020B0604020202020204" pitchFamily="34" charset="0"/>
              <a:buChar char="•"/>
            </a:pPr>
            <a:r>
              <a:rPr lang="en-GB" sz="2400" dirty="0"/>
              <a:t>The “Inaccurate scales”</a:t>
            </a:r>
          </a:p>
          <a:p>
            <a:pPr marL="342900" indent="-342900">
              <a:buFont typeface="Arial" panose="020B0604020202020204" pitchFamily="34" charset="0"/>
              <a:buChar char="•"/>
            </a:pPr>
            <a:endParaRPr lang="en-GB" sz="2400" dirty="0"/>
          </a:p>
          <a:p>
            <a:r>
              <a:rPr lang="en-GB" sz="2400" dirty="0"/>
              <a:t>Once finished you can stick these in your notebooks</a:t>
            </a:r>
          </a:p>
        </p:txBody>
      </p:sp>
    </p:spTree>
    <p:extLst>
      <p:ext uri="{BB962C8B-B14F-4D97-AF65-F5344CB8AC3E}">
        <p14:creationId xmlns:p14="http://schemas.microsoft.com/office/powerpoint/2010/main" val="108997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2784930"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Statistics</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/10/2018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assess data quality</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C960E299-1C81-4FE9-BF5D-392B0F7F651E}"/>
              </a:ext>
            </a:extLst>
          </p:cNvPr>
          <p:cNvSpPr txBox="1"/>
          <p:nvPr/>
        </p:nvSpPr>
        <p:spPr>
          <a:xfrm>
            <a:off x="2135171" y="1387755"/>
            <a:ext cx="9694875" cy="1938992"/>
          </a:xfrm>
          <a:prstGeom prst="rect">
            <a:avLst/>
          </a:prstGeom>
          <a:noFill/>
        </p:spPr>
        <p:txBody>
          <a:bodyPr wrap="square" rtlCol="0">
            <a:spAutoFit/>
          </a:bodyPr>
          <a:lstStyle/>
          <a:p>
            <a:r>
              <a:rPr lang="en-GB" sz="2000" dirty="0"/>
              <a:t>In the last lesson we saw that misunderstood statistics could lead to unintended consequences, e.g. prevent shark attacks by banning ice cream sales.</a:t>
            </a:r>
          </a:p>
          <a:p>
            <a:endParaRPr lang="en-GB" sz="2000" dirty="0"/>
          </a:p>
          <a:p>
            <a:r>
              <a:rPr lang="en-GB" sz="2000" dirty="0"/>
              <a:t>Working in groups of 3-4 consider what the unintended consequences for these actions could be / have been</a:t>
            </a:r>
          </a:p>
        </p:txBody>
      </p:sp>
      <p:pic>
        <p:nvPicPr>
          <p:cNvPr id="2" name="Picture 1">
            <a:extLst>
              <a:ext uri="{FF2B5EF4-FFF2-40B4-BE49-F238E27FC236}">
                <a16:creationId xmlns:a16="http://schemas.microsoft.com/office/drawing/2014/main" id="{3912EB0F-AD01-44E3-9DA2-214C41EF003C}"/>
              </a:ext>
            </a:extLst>
          </p:cNvPr>
          <p:cNvPicPr>
            <a:picLocks noChangeAspect="1"/>
          </p:cNvPicPr>
          <p:nvPr/>
        </p:nvPicPr>
        <p:blipFill>
          <a:blip r:embed="rId3"/>
          <a:stretch>
            <a:fillRect/>
          </a:stretch>
        </p:blipFill>
        <p:spPr>
          <a:xfrm>
            <a:off x="2401212" y="3531254"/>
            <a:ext cx="9428834" cy="2920335"/>
          </a:xfrm>
          <a:prstGeom prst="rect">
            <a:avLst/>
          </a:prstGeom>
        </p:spPr>
      </p:pic>
    </p:spTree>
    <p:extLst>
      <p:ext uri="{BB962C8B-B14F-4D97-AF65-F5344CB8AC3E}">
        <p14:creationId xmlns:p14="http://schemas.microsoft.com/office/powerpoint/2010/main" val="7465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SC Theme">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SC Theme" id="{C1CBADD6-BB5F-440A-B968-1DF8E3AA1E88}" vid="{968D037D-C1E6-4504-B0AA-F343FEB667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BSC Theme</Template>
  <TotalTime>7234</TotalTime>
  <Words>567</Words>
  <Application>Microsoft Office PowerPoint</Application>
  <PresentationFormat>Widescreen</PresentationFormat>
  <Paragraphs>64</Paragraphs>
  <Slides>7</Slides>
  <Notes>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Century Gothic</vt:lpstr>
      <vt:lpstr>DJB Fancy Nancy</vt:lpstr>
      <vt:lpstr>Kiwi School Handwriting</vt:lpstr>
      <vt:lpstr>BSC Theme</vt:lpstr>
      <vt:lpstr>Statistics Analysing Data</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 the media</dc:title>
  <dc:creator>Hamilton Stott</dc:creator>
  <cp:lastModifiedBy>Hamilton Stott</cp:lastModifiedBy>
  <cp:revision>58</cp:revision>
  <dcterms:created xsi:type="dcterms:W3CDTF">2017-10-15T23:31:24Z</dcterms:created>
  <dcterms:modified xsi:type="dcterms:W3CDTF">2018-10-07T13:12:41Z</dcterms:modified>
</cp:coreProperties>
</file>
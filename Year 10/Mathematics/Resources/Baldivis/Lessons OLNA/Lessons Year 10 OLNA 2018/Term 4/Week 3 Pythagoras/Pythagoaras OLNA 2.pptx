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66"/>
  </p:normalViewPr>
  <p:slideViewPr>
    <p:cSldViewPr snapToGrid="0" snapToObjects="1">
      <p:cViewPr varScale="1">
        <p:scale>
          <a:sx n="105" d="100"/>
          <a:sy n="105" d="100"/>
        </p:scale>
        <p:origin x="20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3014C-C42C-C941-8F0E-5549A628B33F}" type="datetimeFigureOut">
              <a:rPr lang="en-AU" smtClean="0"/>
              <a:t>22/10/2018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8800FB-29B9-2546-87A3-7CE3AB9791E4}" type="slidenum">
              <a:rPr lang="en-AU" smtClean="0"/>
              <a:t>‹#›</a:t>
            </a:fld>
            <a:endParaRPr lang="en-AU"/>
          </a:p>
        </p:txBody>
      </p:sp>
    </p:spTree>
    <p:extLst>
      <p:ext uri="{BB962C8B-B14F-4D97-AF65-F5344CB8AC3E}">
        <p14:creationId xmlns:p14="http://schemas.microsoft.com/office/powerpoint/2010/main" val="1373254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1568506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1033754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8A085CB-EE9A-6E42-919C-1825671C90F5}" type="datetimeFigureOut">
              <a:rPr lang="en-AU" smtClean="0"/>
              <a:t>22/10/2018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42015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A085CB-EE9A-6E42-919C-1825671C90F5}" type="datetimeFigureOut">
              <a:rPr lang="en-AU" smtClean="0"/>
              <a:t>22/10/2018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617525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A085CB-EE9A-6E42-919C-1825671C90F5}" type="datetimeFigureOut">
              <a:rPr lang="en-AU" smtClean="0"/>
              <a:t>22/10/2018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2117003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975030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8A085CB-EE9A-6E42-919C-1825671C90F5}" type="datetimeFigureOut">
              <a:rPr lang="en-AU" smtClean="0"/>
              <a:t>22/10/2018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202923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A085CB-EE9A-6E42-919C-1825671C90F5}" type="datetimeFigureOut">
              <a:rPr lang="en-AU" smtClean="0"/>
              <a:t>22/10/2018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173166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8A085CB-EE9A-6E42-919C-1825671C90F5}" type="datetimeFigureOut">
              <a:rPr lang="en-AU" smtClean="0"/>
              <a:t>22/10/2018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36129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9483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042594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567374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832404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2659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A085CB-EE9A-6E42-919C-1825671C90F5}" type="datetimeFigureOut">
              <a:rPr lang="en-AU" smtClean="0"/>
              <a:t>22/10/2018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658540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8A085CB-EE9A-6E42-919C-1825671C90F5}" type="datetimeFigureOut">
              <a:rPr lang="en-AU" smtClean="0"/>
              <a:t>22/10/2018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750714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Drag picture to placeholder or click icon to add</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8A085CB-EE9A-6E42-919C-1825671C90F5}" type="datetimeFigureOut">
              <a:rPr lang="en-AU" smtClean="0"/>
              <a:t>22/10/2018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789133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A085CB-EE9A-6E42-919C-1825671C90F5}" type="datetimeFigureOut">
              <a:rPr lang="en-AU" smtClean="0"/>
              <a:t>22/10/2018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04503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8A085CB-EE9A-6E42-919C-1825671C90F5}" type="datetimeFigureOut">
              <a:rPr lang="en-AU" smtClean="0"/>
              <a:t>22/10/2018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92A5A0-9FEA-EF41-837D-7AEBA6C68A10}" type="slidenum">
              <a:rPr lang="en-AU" smtClean="0"/>
              <a:t>‹#›</a:t>
            </a:fld>
            <a:endParaRPr lang="en-AU"/>
          </a:p>
        </p:txBody>
      </p:sp>
    </p:spTree>
    <p:extLst>
      <p:ext uri="{BB962C8B-B14F-4D97-AF65-F5344CB8AC3E}">
        <p14:creationId xmlns:p14="http://schemas.microsoft.com/office/powerpoint/2010/main" val="189927738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8A085CB-EE9A-6E42-919C-1825671C90F5}" type="datetimeFigureOut">
              <a:rPr lang="en-AU" smtClean="0"/>
              <a:t>22/10/2018</a:t>
            </a:fld>
            <a:endParaRPr lang="en-AU"/>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AU"/>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9D92A5A0-9FEA-EF41-837D-7AEBA6C68A10}" type="slidenum">
              <a:rPr lang="en-AU" smtClean="0"/>
              <a:t>‹#›</a:t>
            </a:fld>
            <a:endParaRPr lang="en-AU"/>
          </a:p>
        </p:txBody>
      </p:sp>
    </p:spTree>
    <p:extLst>
      <p:ext uri="{BB962C8B-B14F-4D97-AF65-F5344CB8AC3E}">
        <p14:creationId xmlns:p14="http://schemas.microsoft.com/office/powerpoint/2010/main" val="433303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13.png"/><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Pythagoras </a:t>
            </a:r>
            <a:endParaRPr lang="en-AU" dirty="0"/>
          </a:p>
        </p:txBody>
      </p:sp>
      <p:sp>
        <p:nvSpPr>
          <p:cNvPr id="3" name="Subtitle 2"/>
          <p:cNvSpPr>
            <a:spLocks noGrp="1"/>
          </p:cNvSpPr>
          <p:nvPr>
            <p:ph type="subTitle" idx="1"/>
          </p:nvPr>
        </p:nvSpPr>
        <p:spPr/>
        <p:txBody>
          <a:bodyPr/>
          <a:lstStyle/>
          <a:p>
            <a:r>
              <a:rPr lang="en-AU" dirty="0" smtClean="0"/>
              <a:t>EQ: How do we find the short side</a:t>
            </a:r>
            <a:endParaRPr lang="en-AU" dirty="0"/>
          </a:p>
        </p:txBody>
      </p:sp>
    </p:spTree>
    <p:extLst>
      <p:ext uri="{BB962C8B-B14F-4D97-AF65-F5344CB8AC3E}">
        <p14:creationId xmlns:p14="http://schemas.microsoft.com/office/powerpoint/2010/main" val="864699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479323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Pythagoras Theorem</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calculate the shorter side of a right-angled triangle? </a:t>
            </a: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12">
            <a:extLst>
              <a:ext uri="{FF2B5EF4-FFF2-40B4-BE49-F238E27FC236}">
                <a16:creationId xmlns="" xmlns:a16="http://schemas.microsoft.com/office/drawing/2014/main" id="{D5D54291-4381-4F4E-9123-67B1D03ACCFD}"/>
              </a:ext>
            </a:extLst>
          </p:cNvPr>
          <p:cNvSpPr txBox="1">
            <a:spLocks/>
          </p:cNvSpPr>
          <p:nvPr/>
        </p:nvSpPr>
        <p:spPr>
          <a:xfrm>
            <a:off x="2074821" y="1577012"/>
            <a:ext cx="9570332" cy="2209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defRPr/>
            </a:pPr>
            <a:endParaRPr lang="en-US" sz="3200" dirty="0"/>
          </a:p>
          <a:p>
            <a:pPr>
              <a:defRPr/>
            </a:pPr>
            <a:endParaRPr lang="en-US" dirty="0"/>
          </a:p>
        </p:txBody>
      </p:sp>
      <mc:AlternateContent xmlns:mc="http://schemas.openxmlformats.org/markup-compatibility/2006">
        <mc:Choice xmlns:a14="http://schemas.microsoft.com/office/drawing/2010/main" Requires="a14">
          <p:sp>
            <p:nvSpPr>
              <p:cNvPr id="23" name="TextBox 22">
                <a:extLst>
                  <a:ext uri="{FF2B5EF4-FFF2-40B4-BE49-F238E27FC236}">
                    <a16:creationId xmlns="" xmlns:a16="http://schemas.microsoft.com/office/drawing/2014/main" id="{AFBFE7D7-8A50-4A05-8C38-FF705CA38858}"/>
                  </a:ext>
                </a:extLst>
              </p:cNvPr>
              <p:cNvSpPr txBox="1"/>
              <p:nvPr/>
            </p:nvSpPr>
            <p:spPr>
              <a:xfrm>
                <a:off x="2107475" y="1314907"/>
                <a:ext cx="8691495" cy="2616101"/>
              </a:xfrm>
              <a:prstGeom prst="rect">
                <a:avLst/>
              </a:prstGeom>
              <a:noFill/>
            </p:spPr>
            <p:txBody>
              <a:bodyPr wrap="square" rtlCol="0">
                <a:spAutoFit/>
              </a:bodyPr>
              <a:lstStyle/>
              <a:p>
                <a:r>
                  <a:rPr lang="en-AU" sz="2000" dirty="0"/>
                  <a:t>Pythagoras Theorem is about right </a:t>
                </a:r>
                <a:r>
                  <a:rPr lang="en-AU" sz="2000" dirty="0" smtClean="0"/>
                  <a:t>angle </a:t>
                </a:r>
                <a:r>
                  <a:rPr lang="en-AU" sz="2000" dirty="0"/>
                  <a:t>triangles</a:t>
                </a:r>
                <a:r>
                  <a:rPr lang="en-AU" dirty="0"/>
                  <a:t>.</a:t>
                </a:r>
              </a:p>
              <a:p>
                <a:endParaRPr lang="en-AU" dirty="0"/>
              </a:p>
              <a:p>
                <a:endParaRPr lang="en-AU" dirty="0"/>
              </a:p>
              <a:p>
                <a:r>
                  <a:rPr lang="en-AU" dirty="0"/>
                  <a:t>                                                 </a:t>
                </a:r>
              </a:p>
              <a:p>
                <a:r>
                  <a:rPr lang="en-AU" dirty="0"/>
                  <a:t>                                 </a:t>
                </a:r>
              </a:p>
              <a:p>
                <a:endParaRPr lang="en-AU" dirty="0"/>
              </a:p>
              <a:p>
                <a:endParaRPr lang="en-AU"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AU" i="1" smtClean="0">
                              <a:latin typeface="Cambria Math"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2</m:t>
                          </m:r>
                        </m:sup>
                      </m:sSup>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2</m:t>
                          </m:r>
                        </m:sup>
                      </m:sSup>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2</m:t>
                          </m:r>
                        </m:sup>
                      </m:sSup>
                    </m:oMath>
                  </m:oMathPara>
                </a14:m>
                <a:endParaRPr lang="en-AU" dirty="0"/>
              </a:p>
              <a:p>
                <a:endParaRPr lang="en-AU" dirty="0"/>
              </a:p>
            </p:txBody>
          </p:sp>
        </mc:Choice>
        <mc:Fallback>
          <p:sp>
            <p:nvSpPr>
              <p:cNvPr id="23" name="TextBox 22">
                <a:extLst>
                  <a:ext uri="{FF2B5EF4-FFF2-40B4-BE49-F238E27FC236}">
                    <a16:creationId xmlns="" xmlns:a16="http://schemas.microsoft.com/office/drawing/2014/main" xmlns:a14="http://schemas.microsoft.com/office/drawing/2010/main" id="{AFBFE7D7-8A50-4A05-8C38-FF705CA38858}"/>
                  </a:ext>
                </a:extLst>
              </p:cNvPr>
              <p:cNvSpPr txBox="1">
                <a:spLocks noRot="1" noChangeAspect="1" noMove="1" noResize="1" noEditPoints="1" noAdjustHandles="1" noChangeArrowheads="1" noChangeShapeType="1" noTextEdit="1"/>
              </p:cNvSpPr>
              <p:nvPr/>
            </p:nvSpPr>
            <p:spPr>
              <a:xfrm>
                <a:off x="2107475" y="1314907"/>
                <a:ext cx="8691495" cy="2616101"/>
              </a:xfrm>
              <a:prstGeom prst="rect">
                <a:avLst/>
              </a:prstGeom>
              <a:blipFill rotWithShape="0">
                <a:blip r:embed="rId3"/>
                <a:stretch>
                  <a:fillRect l="-772" t="-1399" b="-6061"/>
                </a:stretch>
              </a:blipFill>
            </p:spPr>
            <p:txBody>
              <a:bodyPr/>
              <a:lstStyle/>
              <a:p>
                <a:r>
                  <a:rPr lang="en-AU">
                    <a:noFill/>
                  </a:rPr>
                  <a:t> </a:t>
                </a:r>
              </a:p>
            </p:txBody>
          </p:sp>
        </mc:Fallback>
      </mc:AlternateContent>
      <p:sp>
        <p:nvSpPr>
          <p:cNvPr id="24" name="Right Triangle 23">
            <a:extLst>
              <a:ext uri="{FF2B5EF4-FFF2-40B4-BE49-F238E27FC236}">
                <a16:creationId xmlns="" xmlns:a16="http://schemas.microsoft.com/office/drawing/2014/main" id="{FCC68339-3BFF-4BE6-A9A2-3788DD076167}"/>
              </a:ext>
            </a:extLst>
          </p:cNvPr>
          <p:cNvSpPr/>
          <p:nvPr/>
        </p:nvSpPr>
        <p:spPr>
          <a:xfrm>
            <a:off x="4710953" y="1866168"/>
            <a:ext cx="2938534" cy="1123674"/>
          </a:xfrm>
          <a:prstGeom prst="rtTriangle">
            <a:avLst/>
          </a:prstGeom>
          <a:solidFill>
            <a:schemeClr val="accent6">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5" name="Group 4">
            <a:extLst>
              <a:ext uri="{FF2B5EF4-FFF2-40B4-BE49-F238E27FC236}">
                <a16:creationId xmlns="" xmlns:a16="http://schemas.microsoft.com/office/drawing/2014/main" id="{6EF103EF-61FA-409D-911E-4D1B509315C4}"/>
              </a:ext>
            </a:extLst>
          </p:cNvPr>
          <p:cNvGrpSpPr>
            <a:grpSpLocks/>
          </p:cNvGrpSpPr>
          <p:nvPr/>
        </p:nvGrpSpPr>
        <p:grpSpPr bwMode="auto">
          <a:xfrm>
            <a:off x="4710953" y="2767535"/>
            <a:ext cx="324000" cy="222307"/>
            <a:chOff x="1680" y="3120"/>
            <a:chExt cx="240" cy="240"/>
          </a:xfrm>
        </p:grpSpPr>
        <p:sp>
          <p:nvSpPr>
            <p:cNvPr id="26" name="Line 5">
              <a:extLst>
                <a:ext uri="{FF2B5EF4-FFF2-40B4-BE49-F238E27FC236}">
                  <a16:creationId xmlns="" xmlns:a16="http://schemas.microsoft.com/office/drawing/2014/main" id="{45050F84-951C-4B1D-BDAD-9B1C1D77B882}"/>
                </a:ext>
              </a:extLst>
            </p:cNvPr>
            <p:cNvSpPr>
              <a:spLocks noChangeShapeType="1"/>
            </p:cNvSpPr>
            <p:nvPr/>
          </p:nvSpPr>
          <p:spPr bwMode="auto">
            <a:xfrm>
              <a:off x="1920" y="3120"/>
              <a:ext cx="0" cy="240"/>
            </a:xfrm>
            <a:prstGeom prst="line">
              <a:avLst/>
            </a:prstGeom>
            <a:ln>
              <a:headEnd/>
              <a:tailEnd/>
            </a:ln>
            <a:extLst/>
          </p:spPr>
          <p:style>
            <a:lnRef idx="1">
              <a:schemeClr val="accent2"/>
            </a:lnRef>
            <a:fillRef idx="0">
              <a:schemeClr val="accent2"/>
            </a:fillRef>
            <a:effectRef idx="0">
              <a:schemeClr val="accent2"/>
            </a:effectRef>
            <a:fontRef idx="minor">
              <a:schemeClr val="tx1"/>
            </a:fontRef>
          </p:style>
          <p:txBody>
            <a:bodyPr/>
            <a:lstStyle/>
            <a:p>
              <a:endParaRPr lang="en-AU" b="1"/>
            </a:p>
          </p:txBody>
        </p:sp>
        <p:sp>
          <p:nvSpPr>
            <p:cNvPr id="27" name="Line 6">
              <a:extLst>
                <a:ext uri="{FF2B5EF4-FFF2-40B4-BE49-F238E27FC236}">
                  <a16:creationId xmlns="" xmlns:a16="http://schemas.microsoft.com/office/drawing/2014/main" id="{6500B82F-E5E5-4A23-A918-D02A389B1F17}"/>
                </a:ext>
              </a:extLst>
            </p:cNvPr>
            <p:cNvSpPr>
              <a:spLocks noChangeShapeType="1"/>
            </p:cNvSpPr>
            <p:nvPr/>
          </p:nvSpPr>
          <p:spPr bwMode="auto">
            <a:xfrm>
              <a:off x="1680" y="3120"/>
              <a:ext cx="240" cy="0"/>
            </a:xfrm>
            <a:prstGeom prst="line">
              <a:avLst/>
            </a:prstGeom>
            <a:ln>
              <a:headEnd/>
              <a:tailEnd/>
            </a:ln>
            <a:extLst/>
          </p:spPr>
          <p:style>
            <a:lnRef idx="1">
              <a:schemeClr val="accent2"/>
            </a:lnRef>
            <a:fillRef idx="0">
              <a:schemeClr val="accent2"/>
            </a:fillRef>
            <a:effectRef idx="0">
              <a:schemeClr val="accent2"/>
            </a:effectRef>
            <a:fontRef idx="minor">
              <a:schemeClr val="tx1"/>
            </a:fontRef>
          </p:style>
          <p:txBody>
            <a:bodyPr/>
            <a:lstStyle/>
            <a:p>
              <a:endParaRPr lang="en-AU" b="1"/>
            </a:p>
          </p:txBody>
        </p:sp>
      </p:grpSp>
      <p:sp>
        <p:nvSpPr>
          <p:cNvPr id="13" name="TextBox 12">
            <a:extLst>
              <a:ext uri="{FF2B5EF4-FFF2-40B4-BE49-F238E27FC236}">
                <a16:creationId xmlns="" xmlns:a16="http://schemas.microsoft.com/office/drawing/2014/main" id="{940F2956-21F7-4187-920D-0667F34C6028}"/>
              </a:ext>
            </a:extLst>
          </p:cNvPr>
          <p:cNvSpPr txBox="1"/>
          <p:nvPr/>
        </p:nvSpPr>
        <p:spPr>
          <a:xfrm flipH="1">
            <a:off x="5753790" y="2989842"/>
            <a:ext cx="358252" cy="369332"/>
          </a:xfrm>
          <a:prstGeom prst="rect">
            <a:avLst/>
          </a:prstGeom>
          <a:noFill/>
        </p:spPr>
        <p:txBody>
          <a:bodyPr wrap="square" rtlCol="0">
            <a:spAutoFit/>
          </a:bodyPr>
          <a:lstStyle/>
          <a:p>
            <a:r>
              <a:rPr lang="en-AU" dirty="0" smtClean="0"/>
              <a:t>B </a:t>
            </a:r>
            <a:endParaRPr lang="en-AU" dirty="0"/>
          </a:p>
        </p:txBody>
      </p:sp>
      <p:sp>
        <p:nvSpPr>
          <p:cNvPr id="28" name="TextBox 27">
            <a:extLst>
              <a:ext uri="{FF2B5EF4-FFF2-40B4-BE49-F238E27FC236}">
                <a16:creationId xmlns="" xmlns:a16="http://schemas.microsoft.com/office/drawing/2014/main" id="{B9E3E46F-5C4A-4B56-8886-CF1DB4F85FE0}"/>
              </a:ext>
            </a:extLst>
          </p:cNvPr>
          <p:cNvSpPr txBox="1"/>
          <p:nvPr/>
        </p:nvSpPr>
        <p:spPr>
          <a:xfrm flipH="1">
            <a:off x="4152111" y="2243339"/>
            <a:ext cx="465226" cy="369332"/>
          </a:xfrm>
          <a:prstGeom prst="rect">
            <a:avLst/>
          </a:prstGeom>
          <a:noFill/>
        </p:spPr>
        <p:txBody>
          <a:bodyPr wrap="square" rtlCol="0">
            <a:spAutoFit/>
          </a:bodyPr>
          <a:lstStyle/>
          <a:p>
            <a:r>
              <a:rPr lang="en-AU" smtClean="0"/>
              <a:t> </a:t>
            </a:r>
            <a:r>
              <a:rPr lang="en-AU" dirty="0" smtClean="0"/>
              <a:t>A</a:t>
            </a:r>
            <a:endParaRPr lang="en-AU" dirty="0"/>
          </a:p>
        </p:txBody>
      </p:sp>
      <p:sp>
        <p:nvSpPr>
          <p:cNvPr id="29" name="TextBox 28">
            <a:extLst>
              <a:ext uri="{FF2B5EF4-FFF2-40B4-BE49-F238E27FC236}">
                <a16:creationId xmlns="" xmlns:a16="http://schemas.microsoft.com/office/drawing/2014/main" id="{F373ADDE-4AC2-4835-A6EA-94824C86A17D}"/>
              </a:ext>
            </a:extLst>
          </p:cNvPr>
          <p:cNvSpPr txBox="1"/>
          <p:nvPr/>
        </p:nvSpPr>
        <p:spPr>
          <a:xfrm flipH="1">
            <a:off x="5826926" y="1956293"/>
            <a:ext cx="2222199" cy="369332"/>
          </a:xfrm>
          <a:prstGeom prst="rect">
            <a:avLst/>
          </a:prstGeom>
          <a:noFill/>
        </p:spPr>
        <p:txBody>
          <a:bodyPr wrap="square" rtlCol="0">
            <a:spAutoFit/>
          </a:bodyPr>
          <a:lstStyle/>
          <a:p>
            <a:r>
              <a:rPr lang="en-AU" dirty="0" smtClean="0"/>
              <a:t>C - Hypotenuse </a:t>
            </a:r>
            <a:endParaRPr lang="en-AU"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 xmlns:a16="http://schemas.microsoft.com/office/drawing/2014/main" id="{36CE336C-6C5A-4563-B7DA-C9DDEBE6AC98}"/>
                  </a:ext>
                </a:extLst>
              </p:cNvPr>
              <p:cNvSpPr txBox="1"/>
              <p:nvPr/>
            </p:nvSpPr>
            <p:spPr>
              <a:xfrm>
                <a:off x="2074821" y="3668903"/>
                <a:ext cx="9282990" cy="2031325"/>
              </a:xfrm>
              <a:prstGeom prst="rect">
                <a:avLst/>
              </a:prstGeom>
              <a:noFill/>
            </p:spPr>
            <p:txBody>
              <a:bodyPr wrap="square" rtlCol="0">
                <a:spAutoFit/>
              </a:bodyPr>
              <a:lstStyle/>
              <a:p>
                <a:r>
                  <a:rPr lang="en-AU" dirty="0" smtClean="0"/>
                  <a:t>When we want to find the shorter side, we need to take the area of the known side square away from the Hypotenuse square side. From there, we can use the square root to find the side length of the unknown shorter side. </a:t>
                </a:r>
              </a:p>
              <a:p>
                <a:r>
                  <a:rPr lang="en-AU" dirty="0" smtClean="0"/>
                  <a:t> </a:t>
                </a:r>
              </a:p>
              <a:p>
                <a:r>
                  <a:rPr lang="en-AU" dirty="0" smtClean="0"/>
                  <a:t>Therefore </a:t>
                </a:r>
                <a:r>
                  <a:rPr lang="en-AU" dirty="0"/>
                  <a:t>to find the shorter </a:t>
                </a:r>
                <a:r>
                  <a:rPr lang="en-AU" dirty="0" smtClean="0"/>
                  <a:t>sides, we take the known side from the the hypotenuse.</a:t>
                </a:r>
                <a:endParaRPr lang="en-AU" dirty="0"/>
              </a:p>
              <a:p>
                <a:endParaRPr lang="en-AU" dirty="0"/>
              </a:p>
              <a:p>
                <a:pPr/>
                <a14:m>
                  <m:oMathPara xmlns:m="http://schemas.openxmlformats.org/officeDocument/2006/math">
                    <m:oMathParaPr>
                      <m:jc m:val="left"/>
                    </m:oMathParaPr>
                    <m:oMath xmlns:m="http://schemas.openxmlformats.org/officeDocument/2006/math">
                      <m:sSup>
                        <m:sSupPr>
                          <m:ctrlPr>
                            <a:rPr lang="en-AU" i="1" smtClean="0">
                              <a:latin typeface="Cambria Math" charset="0"/>
                            </a:rPr>
                          </m:ctrlPr>
                        </m:sSupPr>
                        <m:e>
                          <m:r>
                            <a:rPr lang="en-AU" b="0" i="1" smtClean="0">
                              <a:latin typeface="Cambria Math" panose="02040503050406030204" pitchFamily="18" charset="0"/>
                            </a:rPr>
                            <m:t>                    </m:t>
                          </m:r>
                          <m:r>
                            <a:rPr lang="en-AU" b="0" i="1" smtClean="0">
                              <a:latin typeface="Cambria Math" panose="02040503050406030204" pitchFamily="18" charset="0"/>
                            </a:rPr>
                            <m:t>𝑎</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b="0" i="1" smtClean="0">
                              <a:latin typeface="Cambria Math"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b="0" i="1" smtClean="0">
                              <a:latin typeface="Cambria Math"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2</m:t>
                          </m:r>
                        </m:sup>
                      </m:sSup>
                      <m:r>
                        <a:rPr lang="en-AU" b="0" i="1" smtClean="0">
                          <a:latin typeface="Cambria Math" panose="02040503050406030204" pitchFamily="18" charset="0"/>
                        </a:rPr>
                        <m:t>         </m:t>
                      </m:r>
                      <m:r>
                        <a:rPr lang="en-AU" b="0" i="1" smtClean="0">
                          <a:latin typeface="Cambria Math" panose="02040503050406030204" pitchFamily="18" charset="0"/>
                        </a:rPr>
                        <m:t>𝑎𝑛𝑑</m:t>
                      </m:r>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b="0" i="1" smtClean="0">
                              <a:latin typeface="Cambria Math"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b="0" i="1" smtClean="0">
                              <a:latin typeface="Cambria Math"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2</m:t>
                          </m:r>
                        </m:sup>
                      </m:sSup>
                      <m:r>
                        <a:rPr lang="en-AU" b="0" i="1" smtClean="0">
                          <a:latin typeface="Cambria Math" panose="02040503050406030204" pitchFamily="18" charset="0"/>
                        </a:rPr>
                        <m:t>     </m:t>
                      </m:r>
                    </m:oMath>
                  </m:oMathPara>
                </a14:m>
                <a:endParaRPr lang="en-AU" dirty="0"/>
              </a:p>
            </p:txBody>
          </p:sp>
        </mc:Choice>
        <mc:Fallback>
          <p:sp>
            <p:nvSpPr>
              <p:cNvPr id="30" name="TextBox 29">
                <a:extLst>
                  <a:ext uri="{FF2B5EF4-FFF2-40B4-BE49-F238E27FC236}">
                    <a16:creationId xmlns="" xmlns:a16="http://schemas.microsoft.com/office/drawing/2014/main" xmlns:a14="http://schemas.microsoft.com/office/drawing/2010/main" id="{36CE336C-6C5A-4563-B7DA-C9DDEBE6AC98}"/>
                  </a:ext>
                </a:extLst>
              </p:cNvPr>
              <p:cNvSpPr txBox="1">
                <a:spLocks noRot="1" noChangeAspect="1" noMove="1" noResize="1" noEditPoints="1" noAdjustHandles="1" noChangeArrowheads="1" noChangeShapeType="1" noTextEdit="1"/>
              </p:cNvSpPr>
              <p:nvPr/>
            </p:nvSpPr>
            <p:spPr>
              <a:xfrm>
                <a:off x="2074821" y="3668903"/>
                <a:ext cx="9282990" cy="2031325"/>
              </a:xfrm>
              <a:prstGeom prst="rect">
                <a:avLst/>
              </a:prstGeom>
              <a:blipFill rotWithShape="0">
                <a:blip r:embed="rId4"/>
                <a:stretch>
                  <a:fillRect l="-525" t="-1802" b="-21622"/>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 xmlns:a16="http://schemas.microsoft.com/office/drawing/2014/main" id="{7AF369D4-DCF8-46B9-B684-F7E01EF26755}"/>
                  </a:ext>
                </a:extLst>
              </p:cNvPr>
              <p:cNvSpPr txBox="1"/>
              <p:nvPr/>
            </p:nvSpPr>
            <p:spPr>
              <a:xfrm>
                <a:off x="2803263" y="6145346"/>
                <a:ext cx="2768380" cy="405496"/>
              </a:xfrm>
              <a:prstGeom prst="rect">
                <a:avLst/>
              </a:prstGeom>
              <a:noFill/>
            </p:spPr>
            <p:txBody>
              <a:bodyPr wrap="square" rtlCol="0">
                <a:spAutoFit/>
              </a:bodyPr>
              <a:lstStyle/>
              <a:p>
                <a:r>
                  <a:rPr lang="en-AU" dirty="0"/>
                  <a:t>	</a:t>
                </a:r>
                <a14:m>
                  <m:oMath xmlns:m="http://schemas.openxmlformats.org/officeDocument/2006/math">
                    <m:r>
                      <a:rPr lang="en-AU" b="0" i="1" smtClean="0">
                        <a:latin typeface="Cambria Math" panose="02040503050406030204" pitchFamily="18" charset="0"/>
                      </a:rPr>
                      <m:t>𝑎</m:t>
                    </m:r>
                    <m:r>
                      <a:rPr lang="en-AU" b="0" i="1" smtClean="0">
                        <a:latin typeface="Cambria Math" panose="02040503050406030204" pitchFamily="18" charset="0"/>
                      </a:rPr>
                      <m:t>= </m:t>
                    </m:r>
                    <m:rad>
                      <m:radPr>
                        <m:degHide m:val="on"/>
                        <m:ctrlPr>
                          <a:rPr lang="en-AU" b="0" i="1" smtClean="0">
                            <a:latin typeface="Cambria Math" charset="0"/>
                          </a:rPr>
                        </m:ctrlPr>
                      </m:radPr>
                      <m:deg/>
                      <m:e>
                        <m:sSup>
                          <m:sSupPr>
                            <m:ctrlPr>
                              <a:rPr lang="en-AU" b="0" i="1" smtClean="0">
                                <a:latin typeface="Cambria Math"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2</m:t>
                            </m:r>
                          </m:sup>
                        </m:sSup>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2</m:t>
                            </m:r>
                          </m:sup>
                        </m:sSup>
                        <m:r>
                          <a:rPr lang="en-AU" b="0" i="1" smtClean="0">
                            <a:latin typeface="Cambria Math" panose="02040503050406030204" pitchFamily="18" charset="0"/>
                          </a:rPr>
                          <m:t> </m:t>
                        </m:r>
                      </m:e>
                    </m:rad>
                  </m:oMath>
                </a14:m>
                <a:endParaRPr lang="en-AU" dirty="0"/>
              </a:p>
            </p:txBody>
          </p:sp>
        </mc:Choice>
        <mc:Fallback>
          <p:sp>
            <p:nvSpPr>
              <p:cNvPr id="31" name="TextBox 30">
                <a:extLst>
                  <a:ext uri="{FF2B5EF4-FFF2-40B4-BE49-F238E27FC236}">
                    <a16:creationId xmlns="" xmlns:a16="http://schemas.microsoft.com/office/drawing/2014/main" xmlns:a14="http://schemas.microsoft.com/office/drawing/2010/main" id="{7AF369D4-DCF8-46B9-B684-F7E01EF26755}"/>
                  </a:ext>
                </a:extLst>
              </p:cNvPr>
              <p:cNvSpPr txBox="1">
                <a:spLocks noRot="1" noChangeAspect="1" noMove="1" noResize="1" noEditPoints="1" noAdjustHandles="1" noChangeArrowheads="1" noChangeShapeType="1" noTextEdit="1"/>
              </p:cNvSpPr>
              <p:nvPr/>
            </p:nvSpPr>
            <p:spPr>
              <a:xfrm>
                <a:off x="2803263" y="6145346"/>
                <a:ext cx="2768380" cy="405496"/>
              </a:xfrm>
              <a:prstGeom prst="rect">
                <a:avLst/>
              </a:prstGeom>
              <a:blipFill rotWithShape="0">
                <a:blip r:embed="rId5"/>
                <a:stretch>
                  <a:fillRect t="-79104" b="-108955"/>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 xmlns:a16="http://schemas.microsoft.com/office/drawing/2014/main" id="{AC10B2D7-C3B5-4700-8ABA-F0C87926ADA3}"/>
                  </a:ext>
                </a:extLst>
              </p:cNvPr>
              <p:cNvSpPr txBox="1"/>
              <p:nvPr/>
            </p:nvSpPr>
            <p:spPr>
              <a:xfrm>
                <a:off x="5457714" y="6145346"/>
                <a:ext cx="1445011" cy="3454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b</m:t>
                      </m:r>
                      <m:r>
                        <a:rPr lang="en-AU" b="0" i="0" smtClean="0">
                          <a:latin typeface="Cambria Math" panose="02040503050406030204" pitchFamily="18" charset="0"/>
                        </a:rPr>
                        <m:t>=</m:t>
                      </m:r>
                      <m:rad>
                        <m:radPr>
                          <m:degHide m:val="on"/>
                          <m:ctrlPr>
                            <a:rPr lang="en-AU" b="0" i="1" smtClean="0">
                              <a:latin typeface="Cambria Math" charset="0"/>
                            </a:rPr>
                          </m:ctrlPr>
                        </m:radPr>
                        <m:deg/>
                        <m:e>
                          <m:sSup>
                            <m:sSupPr>
                              <m:ctrlPr>
                                <a:rPr lang="en-AU" b="0" i="1" smtClean="0">
                                  <a:latin typeface="Cambria Math" charset="0"/>
                                </a:rPr>
                              </m:ctrlPr>
                            </m:sSupPr>
                            <m:e>
                              <m:r>
                                <a:rPr lang="en-AU" b="0" i="1" smtClean="0">
                                  <a:latin typeface="Cambria Math" panose="02040503050406030204" pitchFamily="18" charset="0"/>
                                </a:rPr>
                                <m:t>𝑐</m:t>
                              </m:r>
                            </m:e>
                            <m:sup>
                              <m:r>
                                <a:rPr lang="en-AU" b="0" i="1" smtClean="0">
                                  <a:latin typeface="Cambria Math" panose="02040503050406030204" pitchFamily="18" charset="0"/>
                                </a:rPr>
                                <m:t>2</m:t>
                              </m:r>
                            </m:sup>
                          </m:sSup>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2</m:t>
                              </m:r>
                            </m:sup>
                          </m:sSup>
                        </m:e>
                      </m:rad>
                    </m:oMath>
                  </m:oMathPara>
                </a14:m>
                <a:endParaRPr lang="en-AU" dirty="0"/>
              </a:p>
            </p:txBody>
          </p:sp>
        </mc:Choice>
        <mc:Fallback>
          <p:sp>
            <p:nvSpPr>
              <p:cNvPr id="32" name="TextBox 31">
                <a:extLst>
                  <a:ext uri="{FF2B5EF4-FFF2-40B4-BE49-F238E27FC236}">
                    <a16:creationId xmlns="" xmlns:a16="http://schemas.microsoft.com/office/drawing/2014/main" xmlns:a14="http://schemas.microsoft.com/office/drawing/2010/main" id="{AC10B2D7-C3B5-4700-8ABA-F0C87926ADA3}"/>
                  </a:ext>
                </a:extLst>
              </p:cNvPr>
              <p:cNvSpPr txBox="1">
                <a:spLocks noRot="1" noChangeAspect="1" noMove="1" noResize="1" noEditPoints="1" noAdjustHandles="1" noChangeArrowheads="1" noChangeShapeType="1" noTextEdit="1"/>
              </p:cNvSpPr>
              <p:nvPr/>
            </p:nvSpPr>
            <p:spPr>
              <a:xfrm>
                <a:off x="5457714" y="6145346"/>
                <a:ext cx="1445011" cy="345416"/>
              </a:xfrm>
              <a:prstGeom prst="rect">
                <a:avLst/>
              </a:prstGeom>
              <a:blipFill rotWithShape="0">
                <a:blip r:embed="rId6"/>
                <a:stretch>
                  <a:fillRect l="-3797" t="-94737" r="-1266" b="-143860"/>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 xmlns:a16="http://schemas.microsoft.com/office/drawing/2014/main" id="{7C01326C-33D6-4A2A-A376-DE6C17D02383}"/>
                  </a:ext>
                </a:extLst>
              </p:cNvPr>
              <p:cNvSpPr txBox="1"/>
              <p:nvPr/>
            </p:nvSpPr>
            <p:spPr>
              <a:xfrm>
                <a:off x="7543799" y="6138041"/>
                <a:ext cx="1446743" cy="3431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𝑐</m:t>
                      </m:r>
                      <m:r>
                        <a:rPr lang="en-AU" b="0" i="1" smtClean="0">
                          <a:latin typeface="Cambria Math" panose="02040503050406030204" pitchFamily="18" charset="0"/>
                        </a:rPr>
                        <m:t>=</m:t>
                      </m:r>
                      <m:rad>
                        <m:radPr>
                          <m:degHide m:val="on"/>
                          <m:ctrlPr>
                            <a:rPr lang="en-AU" b="0" i="1" smtClean="0">
                              <a:latin typeface="Cambria Math" charset="0"/>
                            </a:rPr>
                          </m:ctrlPr>
                        </m:radPr>
                        <m:deg/>
                        <m:e>
                          <m:sSup>
                            <m:sSupPr>
                              <m:ctrlPr>
                                <a:rPr lang="en-AU" b="0" i="1" smtClean="0">
                                  <a:latin typeface="Cambria Math" charset="0"/>
                                </a:rPr>
                              </m:ctrlPr>
                            </m:sSupPr>
                            <m:e>
                              <m:r>
                                <a:rPr lang="en-AU" b="0" i="1" smtClean="0">
                                  <a:latin typeface="Cambria Math" panose="02040503050406030204" pitchFamily="18" charset="0"/>
                                </a:rPr>
                                <m:t>𝑎</m:t>
                              </m:r>
                            </m:e>
                            <m:sup>
                              <m:r>
                                <a:rPr lang="en-AU" b="0" i="1" smtClean="0">
                                  <a:latin typeface="Cambria Math" panose="02040503050406030204" pitchFamily="18" charset="0"/>
                                </a:rPr>
                                <m:t>2</m:t>
                              </m:r>
                            </m:sup>
                          </m:sSup>
                          <m:r>
                            <a:rPr lang="en-AU" b="0" i="1" smtClean="0">
                              <a:latin typeface="Cambria Math" panose="02040503050406030204" pitchFamily="18" charset="0"/>
                            </a:rPr>
                            <m:t>+ </m:t>
                          </m:r>
                          <m:sSup>
                            <m:sSupPr>
                              <m:ctrlPr>
                                <a:rPr lang="en-AU" b="0" i="1" smtClean="0">
                                  <a:latin typeface="Cambria Math" charset="0"/>
                                </a:rPr>
                              </m:ctrlPr>
                            </m:sSupPr>
                            <m:e>
                              <m:r>
                                <a:rPr lang="en-AU" b="0" i="1" smtClean="0">
                                  <a:latin typeface="Cambria Math" panose="02040503050406030204" pitchFamily="18" charset="0"/>
                                </a:rPr>
                                <m:t>𝑏</m:t>
                              </m:r>
                            </m:e>
                            <m:sup>
                              <m:r>
                                <a:rPr lang="en-AU" b="0" i="1" smtClean="0">
                                  <a:latin typeface="Cambria Math" panose="02040503050406030204" pitchFamily="18" charset="0"/>
                                </a:rPr>
                                <m:t>2</m:t>
                              </m:r>
                            </m:sup>
                          </m:sSup>
                        </m:e>
                      </m:rad>
                    </m:oMath>
                  </m:oMathPara>
                </a14:m>
                <a:endParaRPr lang="en-AU" dirty="0"/>
              </a:p>
            </p:txBody>
          </p:sp>
        </mc:Choice>
        <mc:Fallback>
          <p:sp>
            <p:nvSpPr>
              <p:cNvPr id="34" name="TextBox 33">
                <a:extLst>
                  <a:ext uri="{FF2B5EF4-FFF2-40B4-BE49-F238E27FC236}">
                    <a16:creationId xmlns="" xmlns:a16="http://schemas.microsoft.com/office/drawing/2014/main" xmlns:a14="http://schemas.microsoft.com/office/drawing/2010/main" id="{7C01326C-33D6-4A2A-A376-DE6C17D02383}"/>
                  </a:ext>
                </a:extLst>
              </p:cNvPr>
              <p:cNvSpPr txBox="1">
                <a:spLocks noRot="1" noChangeAspect="1" noMove="1" noResize="1" noEditPoints="1" noAdjustHandles="1" noChangeArrowheads="1" noChangeShapeType="1" noTextEdit="1"/>
              </p:cNvSpPr>
              <p:nvPr/>
            </p:nvSpPr>
            <p:spPr>
              <a:xfrm>
                <a:off x="7543799" y="6138041"/>
                <a:ext cx="1446743" cy="343107"/>
              </a:xfrm>
              <a:prstGeom prst="rect">
                <a:avLst/>
              </a:prstGeom>
              <a:blipFill rotWithShape="0">
                <a:blip r:embed="rId7"/>
                <a:stretch>
                  <a:fillRect l="-1681" t="-98214" r="-840" b="-146429"/>
                </a:stretch>
              </a:blipFill>
            </p:spPr>
            <p:txBody>
              <a:bodyPr/>
              <a:lstStyle/>
              <a:p>
                <a:r>
                  <a:rPr lang="en-AU">
                    <a:noFill/>
                  </a:rPr>
                  <a:t> </a:t>
                </a:r>
              </a:p>
            </p:txBody>
          </p:sp>
        </mc:Fallback>
      </mc:AlternateContent>
      <p:sp>
        <p:nvSpPr>
          <p:cNvPr id="2" name="TextBox 1"/>
          <p:cNvSpPr txBox="1"/>
          <p:nvPr/>
        </p:nvSpPr>
        <p:spPr>
          <a:xfrm>
            <a:off x="2074821" y="5555018"/>
            <a:ext cx="7880685" cy="647370"/>
          </a:xfrm>
          <a:prstGeom prst="rect">
            <a:avLst/>
          </a:prstGeom>
          <a:noFill/>
        </p:spPr>
        <p:txBody>
          <a:bodyPr wrap="square" rtlCol="0">
            <a:spAutoFit/>
          </a:bodyPr>
          <a:lstStyle/>
          <a:p>
            <a:r>
              <a:rPr lang="en-AU" dirty="0" smtClean="0"/>
              <a:t>Remembering our algebra skills, to remove the square on the left, we square root the right hand side</a:t>
            </a:r>
            <a:endParaRPr lang="en-AU" dirty="0"/>
          </a:p>
        </p:txBody>
      </p:sp>
    </p:spTree>
    <p:extLst>
      <p:ext uri="{BB962C8B-B14F-4D97-AF65-F5344CB8AC3E}">
        <p14:creationId xmlns:p14="http://schemas.microsoft.com/office/powerpoint/2010/main" val="128996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cxnSp>
        <p:nvCxnSpPr>
          <p:cNvPr id="3" name="Straight Connector 2"/>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4" name="TextBox 3"/>
          <p:cNvSpPr txBox="1"/>
          <p:nvPr/>
        </p:nvSpPr>
        <p:spPr>
          <a:xfrm>
            <a:off x="592821" y="123165"/>
            <a:ext cx="479323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Pythagoras Theorem</a:t>
            </a:r>
          </a:p>
        </p:txBody>
      </p:sp>
      <p:cxnSp>
        <p:nvCxnSpPr>
          <p:cNvPr id="5" name="Straight Connector 4">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calculate the shorter side of a right-angled triangle? </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1874" y="1454897"/>
            <a:ext cx="4775200" cy="3214677"/>
          </a:xfrm>
          <a:prstGeom prst="rect">
            <a:avLst/>
          </a:prstGeom>
        </p:spPr>
      </p:pic>
      <p:sp>
        <p:nvSpPr>
          <p:cNvPr id="13" name="TextBox 12"/>
          <p:cNvSpPr txBox="1"/>
          <p:nvPr/>
        </p:nvSpPr>
        <p:spPr>
          <a:xfrm>
            <a:off x="6777075" y="1642802"/>
            <a:ext cx="5414926" cy="2308324"/>
          </a:xfrm>
          <a:prstGeom prst="rect">
            <a:avLst/>
          </a:prstGeom>
          <a:noFill/>
        </p:spPr>
        <p:txBody>
          <a:bodyPr wrap="square" rtlCol="0">
            <a:spAutoFit/>
          </a:bodyPr>
          <a:lstStyle/>
          <a:p>
            <a:r>
              <a:rPr lang="en-AU" dirty="0" smtClean="0"/>
              <a:t>Looking at this example, see that the hypotenuse square is 25 units. The square root of 25 is 5, so this length is 5 units long. </a:t>
            </a:r>
          </a:p>
          <a:p>
            <a:endParaRPr lang="en-AU" dirty="0"/>
          </a:p>
          <a:p>
            <a:r>
              <a:rPr lang="en-AU" dirty="0" smtClean="0"/>
              <a:t>We also know that the blue side is a square of 16 units. The square root of 16 is 4, so if we remove 16 units from our long side of 25 units, we are left with 9 units.</a:t>
            </a:r>
          </a:p>
          <a:p>
            <a:r>
              <a:rPr lang="en-AU" dirty="0" smtClean="0"/>
              <a:t> </a:t>
            </a:r>
            <a:endParaRPr lang="en-AU" dirty="0"/>
          </a:p>
        </p:txBody>
      </p:sp>
      <p:sp>
        <p:nvSpPr>
          <p:cNvPr id="14" name="Rectangle 13"/>
          <p:cNvSpPr/>
          <p:nvPr/>
        </p:nvSpPr>
        <p:spPr>
          <a:xfrm>
            <a:off x="3561347" y="3526574"/>
            <a:ext cx="2502569"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p:cNvSpPr/>
          <p:nvPr/>
        </p:nvSpPr>
        <p:spPr>
          <a:xfrm>
            <a:off x="4200051" y="3319103"/>
            <a:ext cx="264694" cy="1684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p:cNvSpPr txBox="1"/>
          <p:nvPr/>
        </p:nvSpPr>
        <p:spPr>
          <a:xfrm>
            <a:off x="6777074" y="3868425"/>
            <a:ext cx="4980214" cy="923330"/>
          </a:xfrm>
          <a:prstGeom prst="rect">
            <a:avLst/>
          </a:prstGeom>
          <a:noFill/>
        </p:spPr>
        <p:txBody>
          <a:bodyPr wrap="square" rtlCol="0">
            <a:spAutoFit/>
          </a:bodyPr>
          <a:lstStyle/>
          <a:p>
            <a:r>
              <a:rPr lang="en-AU" dirty="0" smtClean="0"/>
              <a:t>9 units, means that the square root of 9 will be our last side length. The square root of 9 is 3.  So the missing short side is 9. </a:t>
            </a:r>
            <a:endParaRPr lang="en-AU" dirty="0"/>
          </a:p>
        </p:txBody>
      </p:sp>
    </p:spTree>
    <p:extLst>
      <p:ext uri="{BB962C8B-B14F-4D97-AF65-F5344CB8AC3E}">
        <p14:creationId xmlns:p14="http://schemas.microsoft.com/office/powerpoint/2010/main" val="152153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2001874" y="1320485"/>
            <a:ext cx="0" cy="5559338"/>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92821" y="123165"/>
            <a:ext cx="4793235" cy="584775"/>
          </a:xfrm>
          <a:prstGeom prst="rect">
            <a:avLst/>
          </a:prstGeom>
          <a:noFill/>
        </p:spPr>
        <p:txBody>
          <a:bodyPr wrap="none" rtlCol="0">
            <a:spAutoFit/>
          </a:bodyPr>
          <a:lstStyle/>
          <a:p>
            <a:pPr defTabSz="914126"/>
            <a:r>
              <a:rPr lang="en-AU" sz="3200" b="1" dirty="0">
                <a:solidFill>
                  <a:prstClr val="black"/>
                </a:solidFill>
                <a:latin typeface="Kiwi School Handwriting" panose="00000500000000000000" pitchFamily="2" charset="0"/>
              </a:rPr>
              <a:t>Topic: Pythagoras Theorem</a:t>
            </a:r>
          </a:p>
        </p:txBody>
      </p:sp>
      <p:sp>
        <p:nvSpPr>
          <p:cNvPr id="11" name="TextBox 10"/>
          <p:cNvSpPr txBox="1"/>
          <p:nvPr/>
        </p:nvSpPr>
        <p:spPr>
          <a:xfrm>
            <a:off x="8855825" y="204438"/>
            <a:ext cx="2640775"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Date: /06/2018</a:t>
            </a:r>
          </a:p>
        </p:txBody>
      </p:sp>
      <p:sp>
        <p:nvSpPr>
          <p:cNvPr id="33" name="TextBox 32"/>
          <p:cNvSpPr txBox="1"/>
          <p:nvPr/>
        </p:nvSpPr>
        <p:spPr>
          <a:xfrm>
            <a:off x="191345" y="858948"/>
            <a:ext cx="10607625" cy="461665"/>
          </a:xfrm>
          <a:prstGeom prst="rect">
            <a:avLst/>
          </a:prstGeom>
          <a:noFill/>
        </p:spPr>
        <p:txBody>
          <a:bodyPr wrap="square" rtlCol="0">
            <a:spAutoFit/>
          </a:bodyPr>
          <a:lstStyle/>
          <a:p>
            <a:pPr defTabSz="914126"/>
            <a:r>
              <a:rPr lang="en-AU" sz="2399" b="1" dirty="0">
                <a:solidFill>
                  <a:prstClr val="black"/>
                </a:solidFill>
                <a:latin typeface="Kiwi School Handwriting" panose="00000500000000000000" pitchFamily="2" charset="0"/>
              </a:rPr>
              <a:t>EQ – How do I calculate the shorter side of a right-angled triangle? </a:t>
            </a: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030A0"/>
            </a:solidFill>
          </a:ln>
        </p:spPr>
        <p:style>
          <a:lnRef idx="1">
            <a:schemeClr val="accent2"/>
          </a:lnRef>
          <a:fillRef idx="0">
            <a:schemeClr val="accent2"/>
          </a:fillRef>
          <a:effectRef idx="0">
            <a:schemeClr val="accent2"/>
          </a:effectRef>
          <a:fontRef idx="minor">
            <a:schemeClr val="tx1"/>
          </a:fontRef>
        </p:style>
      </p:cxnSp>
      <p:sp>
        <p:nvSpPr>
          <p:cNvPr id="12" name="Content Placeholder 12">
            <a:extLst>
              <a:ext uri="{FF2B5EF4-FFF2-40B4-BE49-F238E27FC236}">
                <a16:creationId xmlns="" xmlns:a16="http://schemas.microsoft.com/office/drawing/2014/main" id="{D5D54291-4381-4F4E-9123-67B1D03ACCFD}"/>
              </a:ext>
            </a:extLst>
          </p:cNvPr>
          <p:cNvSpPr txBox="1">
            <a:spLocks/>
          </p:cNvSpPr>
          <p:nvPr/>
        </p:nvSpPr>
        <p:spPr>
          <a:xfrm>
            <a:off x="2074821" y="1577012"/>
            <a:ext cx="9570332" cy="2209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defRPr/>
            </a:pPr>
            <a:endParaRPr lang="en-US" sz="3200" dirty="0"/>
          </a:p>
          <a:p>
            <a:pPr>
              <a:defRPr/>
            </a:pPr>
            <a:endParaRPr lang="en-US" dirty="0"/>
          </a:p>
        </p:txBody>
      </p:sp>
      <p:sp>
        <p:nvSpPr>
          <p:cNvPr id="22" name="Right Triangle 21">
            <a:extLst>
              <a:ext uri="{FF2B5EF4-FFF2-40B4-BE49-F238E27FC236}">
                <a16:creationId xmlns="" xmlns:a16="http://schemas.microsoft.com/office/drawing/2014/main" id="{EC0149A5-3E55-4EF3-8BDD-49D6987110FB}"/>
              </a:ext>
            </a:extLst>
          </p:cNvPr>
          <p:cNvSpPr/>
          <p:nvPr/>
        </p:nvSpPr>
        <p:spPr>
          <a:xfrm rot="7484576">
            <a:off x="2794480" y="2695455"/>
            <a:ext cx="2664296" cy="1584176"/>
          </a:xfrm>
          <a:prstGeom prst="rtTriangle">
            <a:avLst/>
          </a:prstGeom>
          <a:solidFill>
            <a:schemeClr val="accent4">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mc:Choice xmlns:a14="http://schemas.microsoft.com/office/drawing/2010/main" Requires="a14">
          <p:sp>
            <p:nvSpPr>
              <p:cNvPr id="35" name="TextBox 34">
                <a:extLst>
                  <a:ext uri="{FF2B5EF4-FFF2-40B4-BE49-F238E27FC236}">
                    <a16:creationId xmlns="" xmlns:a16="http://schemas.microsoft.com/office/drawing/2014/main" id="{6B4415F8-031B-4491-ADCE-74A7E874AD14}"/>
                  </a:ext>
                </a:extLst>
              </p:cNvPr>
              <p:cNvSpPr txBox="1"/>
              <p:nvPr/>
            </p:nvSpPr>
            <p:spPr>
              <a:xfrm>
                <a:off x="4234912" y="3512923"/>
                <a:ext cx="6644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2</m:t>
                      </m:r>
                      <m:r>
                        <a:rPr lang="en-AU" b="0" i="1" smtClean="0">
                          <a:latin typeface="Cambria Math" panose="02040503050406030204" pitchFamily="18" charset="0"/>
                        </a:rPr>
                        <m:t>0</m:t>
                      </m:r>
                      <m:r>
                        <a:rPr lang="en-AU" b="0" i="1" smtClean="0">
                          <a:latin typeface="Cambria Math" charset="0"/>
                        </a:rPr>
                        <m:t> </m:t>
                      </m:r>
                      <m:r>
                        <a:rPr lang="en-AU" b="0" i="1" smtClean="0">
                          <a:latin typeface="Cambria Math" panose="02040503050406030204" pitchFamily="18" charset="0"/>
                        </a:rPr>
                        <m:t>𝑐𝑚</m:t>
                      </m:r>
                    </m:oMath>
                  </m:oMathPara>
                </a14:m>
                <a:endParaRPr lang="en-AU" dirty="0"/>
              </a:p>
            </p:txBody>
          </p:sp>
        </mc:Choice>
        <mc:Fallback>
          <p:sp>
            <p:nvSpPr>
              <p:cNvPr id="35" name="TextBox 34">
                <a:extLst>
                  <a:ext uri="{FF2B5EF4-FFF2-40B4-BE49-F238E27FC236}">
                    <a16:creationId xmlns="" xmlns:a16="http://schemas.microsoft.com/office/drawing/2014/main" xmlns:a14="http://schemas.microsoft.com/office/drawing/2010/main" id="{6B4415F8-031B-4491-ADCE-74A7E874AD14}"/>
                  </a:ext>
                </a:extLst>
              </p:cNvPr>
              <p:cNvSpPr txBox="1">
                <a:spLocks noRot="1" noChangeAspect="1" noMove="1" noResize="1" noEditPoints="1" noAdjustHandles="1" noChangeArrowheads="1" noChangeShapeType="1" noTextEdit="1"/>
              </p:cNvSpPr>
              <p:nvPr/>
            </p:nvSpPr>
            <p:spPr>
              <a:xfrm>
                <a:off x="4234912" y="3512923"/>
                <a:ext cx="664413" cy="276999"/>
              </a:xfrm>
              <a:prstGeom prst="rect">
                <a:avLst/>
              </a:prstGeom>
              <a:blipFill rotWithShape="0">
                <a:blip r:embed="rId3"/>
                <a:stretch>
                  <a:fillRect l="-8257" t="-143478" r="-3670" b="-17608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 xmlns:a16="http://schemas.microsoft.com/office/drawing/2014/main" id="{849CF766-0F5B-4067-A0F3-47B84AAEC18F}"/>
                  </a:ext>
                </a:extLst>
              </p:cNvPr>
              <p:cNvSpPr txBox="1"/>
              <p:nvPr/>
            </p:nvSpPr>
            <p:spPr>
              <a:xfrm>
                <a:off x="4883199" y="2062980"/>
                <a:ext cx="5361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rPr>
                        <m:t>9</m:t>
                      </m:r>
                      <m:r>
                        <a:rPr lang="en-AU" b="0" i="1" smtClean="0">
                          <a:latin typeface="Cambria Math" panose="02040503050406030204" pitchFamily="18" charset="0"/>
                        </a:rPr>
                        <m:t> </m:t>
                      </m:r>
                      <m:r>
                        <a:rPr lang="en-AU" b="0" i="1" smtClean="0">
                          <a:latin typeface="Cambria Math" panose="02040503050406030204" pitchFamily="18" charset="0"/>
                        </a:rPr>
                        <m:t>𝑐𝑚</m:t>
                      </m:r>
                    </m:oMath>
                  </m:oMathPara>
                </a14:m>
                <a:endParaRPr lang="en-AU" dirty="0"/>
              </a:p>
            </p:txBody>
          </p:sp>
        </mc:Choice>
        <mc:Fallback>
          <p:sp>
            <p:nvSpPr>
              <p:cNvPr id="36" name="TextBox 35">
                <a:extLst>
                  <a:ext uri="{FF2B5EF4-FFF2-40B4-BE49-F238E27FC236}">
                    <a16:creationId xmlns="" xmlns:a16="http://schemas.microsoft.com/office/drawing/2014/main" xmlns:a14="http://schemas.microsoft.com/office/drawing/2010/main" id="{849CF766-0F5B-4067-A0F3-47B84AAEC18F}"/>
                  </a:ext>
                </a:extLst>
              </p:cNvPr>
              <p:cNvSpPr txBox="1">
                <a:spLocks noRot="1" noChangeAspect="1" noMove="1" noResize="1" noEditPoints="1" noAdjustHandles="1" noChangeArrowheads="1" noChangeShapeType="1" noTextEdit="1"/>
              </p:cNvSpPr>
              <p:nvPr/>
            </p:nvSpPr>
            <p:spPr>
              <a:xfrm>
                <a:off x="4883199" y="2062980"/>
                <a:ext cx="536172" cy="276999"/>
              </a:xfrm>
              <a:prstGeom prst="rect">
                <a:avLst/>
              </a:prstGeom>
              <a:blipFill rotWithShape="0">
                <a:blip r:embed="rId4"/>
                <a:stretch>
                  <a:fillRect l="-9091" t="-143478" r="-5682" b="-17608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 xmlns:a16="http://schemas.microsoft.com/office/drawing/2014/main" id="{7A76E6A3-1F19-4A8B-BB28-CAAAC98166E6}"/>
                  </a:ext>
                </a:extLst>
              </p:cNvPr>
              <p:cNvSpPr txBox="1"/>
              <p:nvPr/>
            </p:nvSpPr>
            <p:spPr>
              <a:xfrm>
                <a:off x="3354487" y="2523068"/>
                <a:ext cx="1833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𝑥</m:t>
                      </m:r>
                    </m:oMath>
                  </m:oMathPara>
                </a14:m>
                <a:endParaRPr lang="en-AU" dirty="0"/>
              </a:p>
            </p:txBody>
          </p:sp>
        </mc:Choice>
        <mc:Fallback xmlns="">
          <p:sp>
            <p:nvSpPr>
              <p:cNvPr id="37" name="TextBox 36">
                <a:extLst>
                  <a:ext uri="{FF2B5EF4-FFF2-40B4-BE49-F238E27FC236}">
                    <a16:creationId xmlns:a16="http://schemas.microsoft.com/office/drawing/2014/main" id="{7A76E6A3-1F19-4A8B-BB28-CAAAC98166E6}"/>
                  </a:ext>
                </a:extLst>
              </p:cNvPr>
              <p:cNvSpPr txBox="1">
                <a:spLocks noRot="1" noChangeAspect="1" noMove="1" noResize="1" noEditPoints="1" noAdjustHandles="1" noChangeArrowheads="1" noChangeShapeType="1" noTextEdit="1"/>
              </p:cNvSpPr>
              <p:nvPr/>
            </p:nvSpPr>
            <p:spPr>
              <a:xfrm>
                <a:off x="3354487" y="2523068"/>
                <a:ext cx="183320" cy="276999"/>
              </a:xfrm>
              <a:prstGeom prst="rect">
                <a:avLst/>
              </a:prstGeom>
              <a:blipFill>
                <a:blip r:embed="rId5"/>
                <a:stretch>
                  <a:fillRect l="-20000" r="-13333" b="-4444"/>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 xmlns:a16="http://schemas.microsoft.com/office/drawing/2014/main" id="{722973AB-6E59-4399-A5EF-8FD99F3DD2BA}"/>
                  </a:ext>
                </a:extLst>
              </p:cNvPr>
              <p:cNvSpPr txBox="1"/>
              <p:nvPr/>
            </p:nvSpPr>
            <p:spPr>
              <a:xfrm>
                <a:off x="6876606" y="1775118"/>
                <a:ext cx="1968809"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AU" b="0" i="1" smtClean="0">
                              <a:latin typeface="Cambria Math" charset="0"/>
                            </a:rPr>
                          </m:ctrlPr>
                        </m:sSupPr>
                        <m:e>
                          <m:r>
                            <a:rPr lang="en-AU" b="0" i="1" smtClean="0">
                              <a:latin typeface="Cambria Math"/>
                            </a:rPr>
                            <m:t>𝑥</m:t>
                          </m:r>
                        </m:e>
                        <m:sup>
                          <m:r>
                            <a:rPr lang="en-AU" b="0" i="1" smtClean="0">
                              <a:latin typeface="Cambria Math"/>
                            </a:rPr>
                            <m:t>2</m:t>
                          </m:r>
                        </m:sup>
                      </m:sSup>
                      <m:r>
                        <a:rPr lang="en-AU" b="0" i="1" smtClean="0">
                          <a:latin typeface="Cambria Math"/>
                        </a:rPr>
                        <m:t>= </m:t>
                      </m:r>
                      <m:sSup>
                        <m:sSupPr>
                          <m:ctrlPr>
                            <a:rPr lang="en-AU" b="0" i="1" smtClean="0">
                              <a:latin typeface="Cambria Math" charset="0"/>
                            </a:rPr>
                          </m:ctrlPr>
                        </m:sSupPr>
                        <m:e>
                          <m:r>
                            <a:rPr lang="en-AU" b="0" i="1" smtClean="0">
                              <a:latin typeface="Cambria Math"/>
                            </a:rPr>
                            <m:t>2</m:t>
                          </m:r>
                          <m:r>
                            <a:rPr lang="en-AU" b="0" i="1" smtClean="0">
                              <a:latin typeface="Cambria Math" charset="0"/>
                            </a:rPr>
                            <m:t>0</m:t>
                          </m:r>
                        </m:e>
                        <m:sup>
                          <m:r>
                            <a:rPr lang="en-AU" b="0" i="1" smtClean="0">
                              <a:latin typeface="Cambria Math"/>
                            </a:rPr>
                            <m:t>2</m:t>
                          </m:r>
                        </m:sup>
                      </m:sSup>
                      <m:r>
                        <a:rPr lang="en-AU" b="0" i="1" smtClean="0">
                          <a:latin typeface="Cambria Math"/>
                        </a:rPr>
                        <m:t>− </m:t>
                      </m:r>
                      <m:sSup>
                        <m:sSupPr>
                          <m:ctrlPr>
                            <a:rPr lang="en-AU" b="0" i="1" smtClean="0">
                              <a:latin typeface="Cambria Math" charset="0"/>
                            </a:rPr>
                          </m:ctrlPr>
                        </m:sSupPr>
                        <m:e>
                          <m:r>
                            <a:rPr lang="en-AU" b="0" i="1" smtClean="0">
                              <a:latin typeface="Cambria Math"/>
                            </a:rPr>
                            <m:t>9</m:t>
                          </m:r>
                        </m:e>
                        <m:sup>
                          <m:r>
                            <a:rPr lang="en-AU" b="0" i="1" smtClean="0">
                              <a:latin typeface="Cambria Math"/>
                            </a:rPr>
                            <m:t>2</m:t>
                          </m:r>
                        </m:sup>
                      </m:sSup>
                    </m:oMath>
                  </m:oMathPara>
                </a14:m>
                <a:endParaRPr lang="en-AU" b="0" dirty="0"/>
              </a:p>
              <a:p>
                <a:r>
                  <a:rPr lang="en-AU" dirty="0"/>
                  <a:t>         </a:t>
                </a:r>
                <a14:m>
                  <m:oMath xmlns:m="http://schemas.openxmlformats.org/officeDocument/2006/math">
                    <m:r>
                      <a:rPr lang="en-AU" b="0" i="0" smtClean="0">
                        <a:latin typeface="Cambria Math"/>
                      </a:rPr>
                      <m:t>  </m:t>
                    </m:r>
                    <m:r>
                      <a:rPr lang="en-AU" b="0" i="1" smtClean="0">
                        <a:latin typeface="Cambria Math"/>
                      </a:rPr>
                      <m:t>=4</m:t>
                    </m:r>
                    <m:r>
                      <a:rPr lang="en-AU" b="0" i="1" smtClean="0">
                        <a:latin typeface="Cambria Math" charset="0"/>
                      </a:rPr>
                      <m:t>00</m:t>
                    </m:r>
                    <m:r>
                      <a:rPr lang="en-AU" b="0" i="1" smtClean="0">
                        <a:latin typeface="Cambria Math"/>
                      </a:rPr>
                      <m:t>−</m:t>
                    </m:r>
                    <m:r>
                      <a:rPr lang="en-AU" b="0" i="1" smtClean="0">
                        <a:latin typeface="Cambria Math" charset="0"/>
                      </a:rPr>
                      <m:t>81</m:t>
                    </m:r>
                    <m:r>
                      <a:rPr lang="en-AU" b="0" i="1" smtClean="0">
                        <a:latin typeface="Cambria Math"/>
                      </a:rPr>
                      <m:t> </m:t>
                    </m:r>
                  </m:oMath>
                </a14:m>
                <a:endParaRPr lang="en-AU" b="0" i="1" dirty="0">
                  <a:latin typeface="Cambria Math"/>
                </a:endParaRPr>
              </a:p>
              <a:p>
                <a:pPr/>
                <a14:m>
                  <m:oMathPara xmlns:m="http://schemas.openxmlformats.org/officeDocument/2006/math">
                    <m:oMathParaPr>
                      <m:jc m:val="centerGroup"/>
                    </m:oMathParaPr>
                    <m:oMath xmlns:m="http://schemas.openxmlformats.org/officeDocument/2006/math">
                      <m:r>
                        <a:rPr lang="en-AU" b="0" i="1" smtClean="0">
                          <a:latin typeface="Cambria Math"/>
                        </a:rPr>
                        <m:t>=3</m:t>
                      </m:r>
                      <m:r>
                        <a:rPr lang="en-AU" b="0" i="1" smtClean="0">
                          <a:latin typeface="Cambria Math" charset="0"/>
                        </a:rPr>
                        <m:t>19</m:t>
                      </m:r>
                      <m:r>
                        <a:rPr lang="en-AU" b="0" i="1" smtClean="0">
                          <a:latin typeface="Cambria Math"/>
                        </a:rPr>
                        <m:t>             </m:t>
                      </m:r>
                    </m:oMath>
                  </m:oMathPara>
                </a14:m>
                <a:endParaRPr lang="en-AU" dirty="0"/>
              </a:p>
              <a:p>
                <a:endParaRPr lang="en-AU" dirty="0"/>
              </a:p>
            </p:txBody>
          </p:sp>
        </mc:Choice>
        <mc:Fallback>
          <p:sp>
            <p:nvSpPr>
              <p:cNvPr id="38" name="TextBox 37">
                <a:extLst>
                  <a:ext uri="{FF2B5EF4-FFF2-40B4-BE49-F238E27FC236}">
                    <a16:creationId xmlns="" xmlns:a16="http://schemas.microsoft.com/office/drawing/2014/main" xmlns:a14="http://schemas.microsoft.com/office/drawing/2010/main" id="{722973AB-6E59-4399-A5EF-8FD99F3DD2BA}"/>
                  </a:ext>
                </a:extLst>
              </p:cNvPr>
              <p:cNvSpPr txBox="1">
                <a:spLocks noRot="1" noChangeAspect="1" noMove="1" noResize="1" noEditPoints="1" noAdjustHandles="1" noChangeArrowheads="1" noChangeShapeType="1" noTextEdit="1"/>
              </p:cNvSpPr>
              <p:nvPr/>
            </p:nvSpPr>
            <p:spPr>
              <a:xfrm>
                <a:off x="6876606" y="1775118"/>
                <a:ext cx="1968809" cy="1200329"/>
              </a:xfrm>
              <a:prstGeom prst="rect">
                <a:avLst/>
              </a:prstGeom>
              <a:blipFill rotWithShape="0">
                <a:blip r:embed="rId6"/>
                <a:stretch>
                  <a:fillRect t="-29442" r="-5573" b="-13706"/>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 xmlns:a16="http://schemas.microsoft.com/office/drawing/2014/main" id="{F76F8A32-6DE8-4539-9A8A-B30C1245D17A}"/>
                  </a:ext>
                </a:extLst>
              </p:cNvPr>
              <p:cNvSpPr txBox="1"/>
              <p:nvPr/>
            </p:nvSpPr>
            <p:spPr>
              <a:xfrm>
                <a:off x="7117604" y="2975447"/>
                <a:ext cx="1823641" cy="6789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a:rPr>
                        <m:t>𝑥</m:t>
                      </m:r>
                      <m:r>
                        <a:rPr lang="en-AU" b="0" i="1" smtClean="0">
                          <a:latin typeface="Cambria Math"/>
                        </a:rPr>
                        <m:t>= </m:t>
                      </m:r>
                      <m:rad>
                        <m:radPr>
                          <m:degHide m:val="on"/>
                          <m:ctrlPr>
                            <a:rPr lang="en-AU" b="0" i="1" smtClean="0">
                              <a:latin typeface="Cambria Math" charset="0"/>
                            </a:rPr>
                          </m:ctrlPr>
                        </m:radPr>
                        <m:deg/>
                        <m:e>
                          <m:r>
                            <a:rPr lang="en-AU" b="0" i="1" smtClean="0">
                              <a:latin typeface="Cambria Math" charset="0"/>
                            </a:rPr>
                            <m:t>400−81</m:t>
                          </m:r>
                        </m:e>
                      </m:rad>
                    </m:oMath>
                  </m:oMathPara>
                </a14:m>
                <a:endParaRPr lang="en-AU" dirty="0"/>
              </a:p>
              <a:p>
                <a:r>
                  <a:rPr lang="en-AU" b="0" dirty="0"/>
                  <a:t>     </a:t>
                </a:r>
                <a14:m>
                  <m:oMath xmlns:m="http://schemas.openxmlformats.org/officeDocument/2006/math">
                    <m:r>
                      <a:rPr lang="en-AU" b="0" i="1" smtClean="0">
                        <a:latin typeface="Cambria Math"/>
                      </a:rPr>
                      <m:t>=</m:t>
                    </m:r>
                    <m:r>
                      <a:rPr lang="en-AU" b="0" i="1" smtClean="0">
                        <a:latin typeface="Cambria Math" charset="0"/>
                      </a:rPr>
                      <m:t>17.86</m:t>
                    </m:r>
                    <m:r>
                      <a:rPr lang="en-AU" b="0" i="1" smtClean="0">
                        <a:latin typeface="Cambria Math"/>
                      </a:rPr>
                      <m:t> </m:t>
                    </m:r>
                    <m:r>
                      <a:rPr lang="en-AU" b="0" i="1" smtClean="0">
                        <a:latin typeface="Cambria Math"/>
                      </a:rPr>
                      <m:t>𝑐𝑚</m:t>
                    </m:r>
                  </m:oMath>
                </a14:m>
                <a:endParaRPr lang="en-AU" dirty="0"/>
              </a:p>
            </p:txBody>
          </p:sp>
        </mc:Choice>
        <mc:Fallback>
          <p:sp>
            <p:nvSpPr>
              <p:cNvPr id="39" name="TextBox 38">
                <a:extLst>
                  <a:ext uri="{FF2B5EF4-FFF2-40B4-BE49-F238E27FC236}">
                    <a16:creationId xmlns="" xmlns:a16="http://schemas.microsoft.com/office/drawing/2014/main" xmlns:a14="http://schemas.microsoft.com/office/drawing/2010/main" id="{F76F8A32-6DE8-4539-9A8A-B30C1245D17A}"/>
                  </a:ext>
                </a:extLst>
              </p:cNvPr>
              <p:cNvSpPr txBox="1">
                <a:spLocks noRot="1" noChangeAspect="1" noMove="1" noResize="1" noEditPoints="1" noAdjustHandles="1" noChangeArrowheads="1" noChangeShapeType="1" noTextEdit="1"/>
              </p:cNvSpPr>
              <p:nvPr/>
            </p:nvSpPr>
            <p:spPr>
              <a:xfrm>
                <a:off x="7117604" y="2975447"/>
                <a:ext cx="1823641" cy="678968"/>
              </a:xfrm>
              <a:prstGeom prst="rect">
                <a:avLst/>
              </a:prstGeom>
              <a:blipFill rotWithShape="0">
                <a:blip r:embed="rId7"/>
                <a:stretch>
                  <a:fillRect t="-47748" b="-66667"/>
                </a:stretch>
              </a:blipFill>
            </p:spPr>
            <p:txBody>
              <a:bodyPr/>
              <a:lstStyle/>
              <a:p>
                <a:r>
                  <a:rPr lang="en-AU">
                    <a:noFill/>
                  </a:rPr>
                  <a:t> </a:t>
                </a:r>
              </a:p>
            </p:txBody>
          </p:sp>
        </mc:Fallback>
      </mc:AlternateContent>
      <p:grpSp>
        <p:nvGrpSpPr>
          <p:cNvPr id="40" name="Group 4">
            <a:extLst>
              <a:ext uri="{FF2B5EF4-FFF2-40B4-BE49-F238E27FC236}">
                <a16:creationId xmlns="" xmlns:a16="http://schemas.microsoft.com/office/drawing/2014/main" id="{662CB7C9-AF15-4287-8BEA-478DD6E252B3}"/>
              </a:ext>
            </a:extLst>
          </p:cNvPr>
          <p:cNvGrpSpPr>
            <a:grpSpLocks/>
          </p:cNvGrpSpPr>
          <p:nvPr/>
        </p:nvGrpSpPr>
        <p:grpSpPr bwMode="auto">
          <a:xfrm rot="2013339" flipV="1">
            <a:off x="4110639" y="2017256"/>
            <a:ext cx="322796" cy="293250"/>
            <a:chOff x="1680" y="3120"/>
            <a:chExt cx="240" cy="240"/>
          </a:xfrm>
        </p:grpSpPr>
        <p:sp>
          <p:nvSpPr>
            <p:cNvPr id="41" name="Line 5">
              <a:extLst>
                <a:ext uri="{FF2B5EF4-FFF2-40B4-BE49-F238E27FC236}">
                  <a16:creationId xmlns="" xmlns:a16="http://schemas.microsoft.com/office/drawing/2014/main" id="{B04EA6FC-48EE-4958-8528-FE1E32618DF9}"/>
                </a:ext>
              </a:extLst>
            </p:cNvPr>
            <p:cNvSpPr>
              <a:spLocks noChangeShapeType="1"/>
            </p:cNvSpPr>
            <p:nvPr/>
          </p:nvSpPr>
          <p:spPr bwMode="auto">
            <a:xfrm>
              <a:off x="1920" y="3120"/>
              <a:ext cx="0" cy="240"/>
            </a:xfrm>
            <a:prstGeom prst="line">
              <a:avLst/>
            </a:prstGeom>
            <a:ln>
              <a:headEnd/>
              <a:tailEnd/>
            </a:ln>
            <a:extLst/>
          </p:spPr>
          <p:style>
            <a:lnRef idx="1">
              <a:schemeClr val="dk1"/>
            </a:lnRef>
            <a:fillRef idx="0">
              <a:schemeClr val="dk1"/>
            </a:fillRef>
            <a:effectRef idx="0">
              <a:schemeClr val="dk1"/>
            </a:effectRef>
            <a:fontRef idx="minor">
              <a:schemeClr val="tx1"/>
            </a:fontRef>
          </p:style>
          <p:txBody>
            <a:bodyPr/>
            <a:lstStyle/>
            <a:p>
              <a:endParaRPr lang="en-AU" b="1"/>
            </a:p>
          </p:txBody>
        </p:sp>
        <p:sp>
          <p:nvSpPr>
            <p:cNvPr id="42" name="Line 6">
              <a:extLst>
                <a:ext uri="{FF2B5EF4-FFF2-40B4-BE49-F238E27FC236}">
                  <a16:creationId xmlns="" xmlns:a16="http://schemas.microsoft.com/office/drawing/2014/main" id="{F62D536F-AC6C-4F67-82F6-5EF4835E7B77}"/>
                </a:ext>
              </a:extLst>
            </p:cNvPr>
            <p:cNvSpPr>
              <a:spLocks noChangeShapeType="1"/>
            </p:cNvSpPr>
            <p:nvPr/>
          </p:nvSpPr>
          <p:spPr bwMode="auto">
            <a:xfrm>
              <a:off x="1680" y="3120"/>
              <a:ext cx="240" cy="0"/>
            </a:xfrm>
            <a:prstGeom prst="line">
              <a:avLst/>
            </a:prstGeom>
            <a:ln>
              <a:headEnd/>
              <a:tailEnd/>
            </a:ln>
            <a:extLst/>
          </p:spPr>
          <p:style>
            <a:lnRef idx="1">
              <a:schemeClr val="dk1"/>
            </a:lnRef>
            <a:fillRef idx="0">
              <a:schemeClr val="dk1"/>
            </a:fillRef>
            <a:effectRef idx="0">
              <a:schemeClr val="dk1"/>
            </a:effectRef>
            <a:fontRef idx="minor">
              <a:schemeClr val="tx1"/>
            </a:fontRef>
          </p:style>
          <p:txBody>
            <a:bodyPr/>
            <a:lstStyle/>
            <a:p>
              <a:endParaRPr lang="en-AU" b="1"/>
            </a:p>
          </p:txBody>
        </p:sp>
      </p:grpSp>
      <p:sp>
        <p:nvSpPr>
          <p:cNvPr id="2" name="TextBox 1">
            <a:extLst>
              <a:ext uri="{FF2B5EF4-FFF2-40B4-BE49-F238E27FC236}">
                <a16:creationId xmlns="" xmlns:a16="http://schemas.microsoft.com/office/drawing/2014/main" id="{D7E23117-3407-4DE4-83E3-E3F4946156E0}"/>
              </a:ext>
            </a:extLst>
          </p:cNvPr>
          <p:cNvSpPr txBox="1"/>
          <p:nvPr/>
        </p:nvSpPr>
        <p:spPr>
          <a:xfrm>
            <a:off x="3359382" y="4088114"/>
            <a:ext cx="1534492" cy="369332"/>
          </a:xfrm>
          <a:prstGeom prst="rect">
            <a:avLst/>
          </a:prstGeom>
          <a:noFill/>
        </p:spPr>
        <p:txBody>
          <a:bodyPr wrap="square" rtlCol="0">
            <a:spAutoFit/>
          </a:bodyPr>
          <a:lstStyle/>
          <a:p>
            <a:r>
              <a:rPr lang="en-AU" dirty="0"/>
              <a:t>hypotenuse</a:t>
            </a:r>
            <a:endParaRPr lang="en-GB" dirty="0"/>
          </a:p>
        </p:txBody>
      </p:sp>
      <p:cxnSp>
        <p:nvCxnSpPr>
          <p:cNvPr id="5" name="Straight Arrow Connector 4">
            <a:extLst>
              <a:ext uri="{FF2B5EF4-FFF2-40B4-BE49-F238E27FC236}">
                <a16:creationId xmlns="" xmlns:a16="http://schemas.microsoft.com/office/drawing/2014/main" id="{932250D0-D888-4458-8971-7636360FE05A}"/>
              </a:ext>
            </a:extLst>
          </p:cNvPr>
          <p:cNvCxnSpPr>
            <a:cxnSpLocks/>
            <a:endCxn id="22" idx="5"/>
          </p:cNvCxnSpPr>
          <p:nvPr/>
        </p:nvCxnSpPr>
        <p:spPr>
          <a:xfrm flipH="1" flipV="1">
            <a:off x="4126628" y="3487543"/>
            <a:ext cx="64363" cy="7076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3" name="TextBox 42">
            <a:extLst>
              <a:ext uri="{FF2B5EF4-FFF2-40B4-BE49-F238E27FC236}">
                <a16:creationId xmlns="" xmlns:a16="http://schemas.microsoft.com/office/drawing/2014/main" id="{95141AC1-56F8-483E-8D6A-0AE371647AE8}"/>
              </a:ext>
            </a:extLst>
          </p:cNvPr>
          <p:cNvSpPr txBox="1"/>
          <p:nvPr/>
        </p:nvSpPr>
        <p:spPr>
          <a:xfrm>
            <a:off x="2324191" y="1902195"/>
            <a:ext cx="1534492" cy="369332"/>
          </a:xfrm>
          <a:prstGeom prst="rect">
            <a:avLst/>
          </a:prstGeom>
          <a:noFill/>
        </p:spPr>
        <p:txBody>
          <a:bodyPr wrap="square" rtlCol="0">
            <a:spAutoFit/>
          </a:bodyPr>
          <a:lstStyle/>
          <a:p>
            <a:r>
              <a:rPr lang="en-AU" dirty="0"/>
              <a:t>shorter side</a:t>
            </a:r>
            <a:endParaRPr lang="en-GB" dirty="0"/>
          </a:p>
        </p:txBody>
      </p:sp>
      <p:cxnSp>
        <p:nvCxnSpPr>
          <p:cNvPr id="14" name="Straight Arrow Connector 13">
            <a:extLst>
              <a:ext uri="{FF2B5EF4-FFF2-40B4-BE49-F238E27FC236}">
                <a16:creationId xmlns="" xmlns:a16="http://schemas.microsoft.com/office/drawing/2014/main" id="{97DEC7D5-2C9C-4506-A66A-F416014D6AB6}"/>
              </a:ext>
            </a:extLst>
          </p:cNvPr>
          <p:cNvCxnSpPr>
            <a:endCxn id="22" idx="3"/>
          </p:cNvCxnSpPr>
          <p:nvPr/>
        </p:nvCxnSpPr>
        <p:spPr>
          <a:xfrm>
            <a:off x="2859578" y="2253093"/>
            <a:ext cx="616178" cy="7830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66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par>
                                <p:cTn id="16" presetID="16" presetClass="entr" presetSubtype="2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arn(inVertical)">
                                      <p:cBhvr>
                                        <p:cTn id="18" dur="500"/>
                                        <p:tgtEl>
                                          <p:spTgt spid="14"/>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barn(inVertical)">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715955-A969-4757-9D5D-15C872D23B6E}"/>
              </a:ext>
            </a:extLst>
          </p:cNvPr>
          <p:cNvSpPr>
            <a:spLocks noGrp="1"/>
          </p:cNvSpPr>
          <p:nvPr>
            <p:ph type="title"/>
          </p:nvPr>
        </p:nvSpPr>
        <p:spPr/>
        <p:txBody>
          <a:bodyPr/>
          <a:lstStyle/>
          <a:p>
            <a:r>
              <a:rPr lang="en-AU" b="1" dirty="0">
                <a:solidFill>
                  <a:srgbClr val="C00000"/>
                </a:solidFill>
              </a:rPr>
              <a:t>We Do</a:t>
            </a:r>
            <a:endParaRPr lang="en-GB" b="1" dirty="0">
              <a:solidFill>
                <a:srgbClr val="C00000"/>
              </a:solidFill>
            </a:endParaRPr>
          </a:p>
        </p:txBody>
      </p:sp>
      <p:sp>
        <p:nvSpPr>
          <p:cNvPr id="3" name="Content Placeholder 2">
            <a:extLst>
              <a:ext uri="{FF2B5EF4-FFF2-40B4-BE49-F238E27FC236}">
                <a16:creationId xmlns="" xmlns:a16="http://schemas.microsoft.com/office/drawing/2014/main" id="{37F5A147-F502-4888-AB78-93CDB093CFFC}"/>
              </a:ext>
            </a:extLst>
          </p:cNvPr>
          <p:cNvSpPr>
            <a:spLocks noGrp="1"/>
          </p:cNvSpPr>
          <p:nvPr>
            <p:ph sz="quarter" idx="13"/>
          </p:nvPr>
        </p:nvSpPr>
        <p:spPr/>
        <p:txBody>
          <a:bodyPr/>
          <a:lstStyle/>
          <a:p>
            <a:pPr marL="0" indent="0">
              <a:buNone/>
            </a:pPr>
            <a:r>
              <a:rPr lang="en-AU" dirty="0"/>
              <a:t>Determine the length of the unknown side of this right-angled triangle.</a:t>
            </a:r>
            <a:endParaRPr lang="en-GB" dirty="0"/>
          </a:p>
        </p:txBody>
      </p:sp>
      <p:sp>
        <p:nvSpPr>
          <p:cNvPr id="4" name="Right Triangle 3">
            <a:extLst>
              <a:ext uri="{FF2B5EF4-FFF2-40B4-BE49-F238E27FC236}">
                <a16:creationId xmlns="" xmlns:a16="http://schemas.microsoft.com/office/drawing/2014/main" id="{220A2D32-70E8-48DB-BAE5-983F2D5F293A}"/>
              </a:ext>
            </a:extLst>
          </p:cNvPr>
          <p:cNvSpPr/>
          <p:nvPr/>
        </p:nvSpPr>
        <p:spPr>
          <a:xfrm rot="9517399">
            <a:off x="999807" y="4282763"/>
            <a:ext cx="5194852" cy="2703444"/>
          </a:xfrm>
          <a:prstGeom prst="rtTriangl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 xmlns:a16="http://schemas.microsoft.com/office/drawing/2014/main" id="{A2D0148A-6AF7-482F-86FF-0952D2C96725}"/>
              </a:ext>
            </a:extLst>
          </p:cNvPr>
          <p:cNvSpPr/>
          <p:nvPr/>
        </p:nvSpPr>
        <p:spPr>
          <a:xfrm rot="20356816">
            <a:off x="5095460" y="3507356"/>
            <a:ext cx="516835" cy="40419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 xmlns:a16="http://schemas.microsoft.com/office/drawing/2014/main" id="{CD513036-2295-4CBD-B9C2-51761330097E}"/>
              </a:ext>
            </a:extLst>
          </p:cNvPr>
          <p:cNvSpPr txBox="1"/>
          <p:nvPr/>
        </p:nvSpPr>
        <p:spPr>
          <a:xfrm>
            <a:off x="2266121" y="3837290"/>
            <a:ext cx="1477618" cy="369332"/>
          </a:xfrm>
          <a:prstGeom prst="rect">
            <a:avLst/>
          </a:prstGeom>
          <a:noFill/>
        </p:spPr>
        <p:txBody>
          <a:bodyPr wrap="square" rtlCol="0">
            <a:spAutoFit/>
          </a:bodyPr>
          <a:lstStyle/>
          <a:p>
            <a:r>
              <a:rPr lang="en-AU" dirty="0"/>
              <a:t>d = 8 m</a:t>
            </a:r>
            <a:endParaRPr lang="en-GB" dirty="0"/>
          </a:p>
        </p:txBody>
      </p:sp>
      <p:sp>
        <p:nvSpPr>
          <p:cNvPr id="7" name="TextBox 6">
            <a:extLst>
              <a:ext uri="{FF2B5EF4-FFF2-40B4-BE49-F238E27FC236}">
                <a16:creationId xmlns="" xmlns:a16="http://schemas.microsoft.com/office/drawing/2014/main" id="{BC02EC5E-BC19-4D88-8CFD-E014CB73F749}"/>
              </a:ext>
            </a:extLst>
          </p:cNvPr>
          <p:cNvSpPr txBox="1"/>
          <p:nvPr/>
        </p:nvSpPr>
        <p:spPr>
          <a:xfrm>
            <a:off x="6029739" y="4258845"/>
            <a:ext cx="1106557" cy="369332"/>
          </a:xfrm>
          <a:prstGeom prst="rect">
            <a:avLst/>
          </a:prstGeom>
          <a:noFill/>
        </p:spPr>
        <p:txBody>
          <a:bodyPr wrap="square" rtlCol="0">
            <a:spAutoFit/>
          </a:bodyPr>
          <a:lstStyle/>
          <a:p>
            <a:r>
              <a:rPr lang="en-AU" dirty="0"/>
              <a:t>e </a:t>
            </a:r>
            <a:endParaRPr lang="en-GB" dirty="0"/>
          </a:p>
        </p:txBody>
      </p:sp>
      <p:sp>
        <p:nvSpPr>
          <p:cNvPr id="8" name="TextBox 7">
            <a:extLst>
              <a:ext uri="{FF2B5EF4-FFF2-40B4-BE49-F238E27FC236}">
                <a16:creationId xmlns="" xmlns:a16="http://schemas.microsoft.com/office/drawing/2014/main" id="{FF00282A-1D36-4E71-859B-8AEFE4AFD4B2}"/>
              </a:ext>
            </a:extLst>
          </p:cNvPr>
          <p:cNvSpPr txBox="1"/>
          <p:nvPr/>
        </p:nvSpPr>
        <p:spPr>
          <a:xfrm>
            <a:off x="3165092" y="5724295"/>
            <a:ext cx="1429076" cy="369332"/>
          </a:xfrm>
          <a:prstGeom prst="rect">
            <a:avLst/>
          </a:prstGeom>
          <a:noFill/>
        </p:spPr>
        <p:txBody>
          <a:bodyPr wrap="square" rtlCol="0">
            <a:spAutoFit/>
          </a:bodyPr>
          <a:lstStyle/>
          <a:p>
            <a:r>
              <a:rPr lang="en-AU" dirty="0"/>
              <a:t>f = 10 m</a:t>
            </a:r>
            <a:endParaRPr lang="en-GB"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C76E78AB-77CE-4D27-A91B-61665709FED9}"/>
                  </a:ext>
                </a:extLst>
              </p:cNvPr>
              <p:cNvSpPr txBox="1"/>
              <p:nvPr/>
            </p:nvSpPr>
            <p:spPr>
              <a:xfrm>
                <a:off x="7070937" y="2788819"/>
                <a:ext cx="4604331" cy="2777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pt-BR" sz="2400" b="0" i="1" smtClean="0">
                              <a:latin typeface="Cambria Math" charset="0"/>
                            </a:rPr>
                          </m:ctrlPr>
                        </m:sSupPr>
                        <m:e>
                          <m:r>
                            <a:rPr lang="en-AU" sz="2400" b="0" i="1" smtClean="0">
                              <a:latin typeface="Cambria Math" panose="02040503050406030204" pitchFamily="18" charset="0"/>
                            </a:rPr>
                            <m:t>𝑒</m:t>
                          </m:r>
                        </m:e>
                        <m:sup>
                          <m:r>
                            <a:rPr lang="pt-BR"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pt-BR" sz="2400" b="0" i="1" smtClean="0">
                              <a:latin typeface="Cambria Math" charset="0"/>
                            </a:rPr>
                          </m:ctrlPr>
                        </m:sSupPr>
                        <m:e>
                          <m:r>
                            <a:rPr lang="en-AU" sz="2400" b="0" i="1" smtClean="0">
                              <a:latin typeface="Cambria Math" panose="02040503050406030204" pitchFamily="18" charset="0"/>
                            </a:rPr>
                            <m:t>𝑓</m:t>
                          </m:r>
                        </m:e>
                        <m:sup>
                          <m:r>
                            <a:rPr lang="pt-BR"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pt-BR" sz="2400" b="0" i="1" smtClean="0">
                              <a:latin typeface="Cambria Math" charset="0"/>
                            </a:rPr>
                          </m:ctrlPr>
                        </m:sSupPr>
                        <m:e>
                          <m:r>
                            <a:rPr lang="en-AU" sz="2400" b="0" i="1" smtClean="0">
                              <a:latin typeface="Cambria Math" panose="02040503050406030204" pitchFamily="18" charset="0"/>
                            </a:rPr>
                            <m:t>𝑑</m:t>
                          </m:r>
                        </m:e>
                        <m:sup>
                          <m:r>
                            <a:rPr lang="pt-BR" sz="2400" b="0" i="1" smtClean="0">
                              <a:latin typeface="Cambria Math" panose="02040503050406030204" pitchFamily="18" charset="0"/>
                            </a:rPr>
                            <m:t>2</m:t>
                          </m:r>
                        </m:sup>
                      </m:sSup>
                      <m:r>
                        <a:rPr lang="en-AU" sz="2400" b="0" i="1" smtClean="0">
                          <a:latin typeface="Cambria Math" panose="02040503050406030204" pitchFamily="18" charset="0"/>
                        </a:rPr>
                        <m:t> </m:t>
                      </m:r>
                    </m:oMath>
                  </m:oMathPara>
                </a14:m>
                <a:endParaRPr lang="en-AU"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pt-BR" sz="2400" i="1">
                              <a:latin typeface="Cambria Math" charset="0"/>
                            </a:rPr>
                          </m:ctrlPr>
                        </m:sSupPr>
                        <m:e>
                          <m:r>
                            <a:rPr lang="en-AU" sz="2400" b="0" i="1" smtClean="0">
                              <a:latin typeface="Cambria Math" panose="02040503050406030204" pitchFamily="18" charset="0"/>
                            </a:rPr>
                            <m:t>𝑒</m:t>
                          </m:r>
                        </m:e>
                        <m:sup>
                          <m:r>
                            <a:rPr lang="pt-BR" sz="2400" i="1">
                              <a:latin typeface="Cambria Math" panose="02040503050406030204" pitchFamily="18" charset="0"/>
                            </a:rPr>
                            <m:t>2</m:t>
                          </m:r>
                        </m:sup>
                      </m:sSup>
                      <m:r>
                        <a:rPr lang="en-AU" sz="2400" b="0" i="1" smtClean="0">
                          <a:latin typeface="Cambria Math" panose="02040503050406030204" pitchFamily="18" charset="0"/>
                        </a:rPr>
                        <m:t>=</m:t>
                      </m:r>
                      <m:sSup>
                        <m:sSupPr>
                          <m:ctrlPr>
                            <a:rPr lang="pt-BR" sz="2400" i="1">
                              <a:latin typeface="Cambria Math" charset="0"/>
                            </a:rPr>
                          </m:ctrlPr>
                        </m:sSupPr>
                        <m:e>
                          <m:r>
                            <a:rPr lang="en-AU" sz="2400" b="0" i="1" smtClean="0">
                              <a:latin typeface="Cambria Math" panose="02040503050406030204" pitchFamily="18" charset="0"/>
                            </a:rPr>
                            <m:t>10</m:t>
                          </m:r>
                        </m:e>
                        <m:sup>
                          <m:r>
                            <a:rPr lang="pt-BR" sz="2400" i="1">
                              <a:latin typeface="Cambria Math" panose="02040503050406030204" pitchFamily="18" charset="0"/>
                            </a:rPr>
                            <m:t>2</m:t>
                          </m:r>
                        </m:sup>
                      </m:sSup>
                      <m:r>
                        <a:rPr lang="en-AU" sz="2400" b="0" i="1" smtClean="0">
                          <a:latin typeface="Cambria Math" panose="02040503050406030204" pitchFamily="18" charset="0"/>
                        </a:rPr>
                        <m:t>−</m:t>
                      </m:r>
                      <m:sSup>
                        <m:sSupPr>
                          <m:ctrlPr>
                            <a:rPr lang="pt-BR" sz="2400" i="1">
                              <a:latin typeface="Cambria Math" charset="0"/>
                            </a:rPr>
                          </m:ctrlPr>
                        </m:sSupPr>
                        <m:e>
                          <m:r>
                            <a:rPr lang="en-AU" sz="2400" b="0" i="1" smtClean="0">
                              <a:latin typeface="Cambria Math" panose="02040503050406030204" pitchFamily="18" charset="0"/>
                            </a:rPr>
                            <m:t>8</m:t>
                          </m:r>
                        </m:e>
                        <m:sup>
                          <m:r>
                            <a:rPr lang="pt-BR" sz="2400" i="1">
                              <a:latin typeface="Cambria Math" panose="02040503050406030204" pitchFamily="18" charset="0"/>
                            </a:rPr>
                            <m:t>2</m:t>
                          </m:r>
                        </m:sup>
                      </m:sSup>
                    </m:oMath>
                  </m:oMathPara>
                </a14:m>
                <a:endParaRPr lang="en-AU" sz="2400" dirty="0"/>
              </a:p>
              <a:p>
                <a:pPr/>
                <a14:m>
                  <m:oMathPara xmlns:m="http://schemas.openxmlformats.org/officeDocument/2006/math">
                    <m:oMathParaPr>
                      <m:jc m:val="centerGroup"/>
                    </m:oMathParaPr>
                    <m:oMath xmlns:m="http://schemas.openxmlformats.org/officeDocument/2006/math">
                      <m:sSup>
                        <m:sSupPr>
                          <m:ctrlPr>
                            <a:rPr lang="pt-BR" sz="2400" i="1">
                              <a:latin typeface="Cambria Math" charset="0"/>
                            </a:rPr>
                          </m:ctrlPr>
                        </m:sSupPr>
                        <m:e>
                          <m:r>
                            <a:rPr lang="en-AU" sz="2400" i="1">
                              <a:latin typeface="Cambria Math" panose="02040503050406030204" pitchFamily="18" charset="0"/>
                            </a:rPr>
                            <m:t>𝑓</m:t>
                          </m:r>
                        </m:e>
                        <m:sup>
                          <m:r>
                            <a:rPr lang="pt-BR" sz="2400" i="1">
                              <a:latin typeface="Cambria Math" panose="02040503050406030204" pitchFamily="18" charset="0"/>
                            </a:rPr>
                            <m:t>2</m:t>
                          </m:r>
                        </m:sup>
                      </m:sSup>
                      <m:r>
                        <a:rPr lang="en-AU" sz="2400" b="0" i="1" smtClean="0">
                          <a:latin typeface="Cambria Math" panose="02040503050406030204" pitchFamily="18" charset="0"/>
                        </a:rPr>
                        <m:t>=100−64</m:t>
                      </m:r>
                    </m:oMath>
                  </m:oMathPara>
                </a14:m>
                <a:endParaRPr lang="en-AU" sz="2400" b="0" dirty="0"/>
              </a:p>
              <a:p>
                <a:pPr/>
                <a14:m>
                  <m:oMathPara xmlns:m="http://schemas.openxmlformats.org/officeDocument/2006/math">
                    <m:oMathParaPr>
                      <m:jc m:val="centerGroup"/>
                    </m:oMathParaPr>
                    <m:oMath xmlns:m="http://schemas.openxmlformats.org/officeDocument/2006/math">
                      <m:sSup>
                        <m:sSupPr>
                          <m:ctrlPr>
                            <a:rPr lang="pt-BR" sz="2400" i="1">
                              <a:latin typeface="Cambria Math" charset="0"/>
                            </a:rPr>
                          </m:ctrlPr>
                        </m:sSupPr>
                        <m:e>
                          <m:r>
                            <a:rPr lang="en-AU" sz="2400" i="1">
                              <a:latin typeface="Cambria Math" panose="02040503050406030204" pitchFamily="18" charset="0"/>
                            </a:rPr>
                            <m:t>𝑓</m:t>
                          </m:r>
                        </m:e>
                        <m:sup>
                          <m:r>
                            <a:rPr lang="pt-BR" sz="2400" i="1">
                              <a:latin typeface="Cambria Math" panose="02040503050406030204" pitchFamily="18" charset="0"/>
                            </a:rPr>
                            <m:t>2</m:t>
                          </m:r>
                        </m:sup>
                      </m:sSup>
                      <m:r>
                        <a:rPr lang="en-AU" sz="2400" i="1">
                          <a:latin typeface="Cambria Math" panose="02040503050406030204" pitchFamily="18" charset="0"/>
                        </a:rPr>
                        <m:t>=</m:t>
                      </m:r>
                      <m:r>
                        <a:rPr lang="en-AU" sz="2400" b="0" i="1" smtClean="0">
                          <a:latin typeface="Cambria Math" panose="02040503050406030204" pitchFamily="18" charset="0"/>
                        </a:rPr>
                        <m:t>36</m:t>
                      </m:r>
                    </m:oMath>
                  </m:oMathPara>
                </a14:m>
                <a:endParaRPr lang="en-AU" sz="2400" dirty="0"/>
              </a:p>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𝑓</m:t>
                      </m:r>
                      <m:r>
                        <a:rPr lang="en-AU" sz="2400" i="1" smtClean="0">
                          <a:latin typeface="Cambria Math" panose="02040503050406030204" pitchFamily="18" charset="0"/>
                        </a:rPr>
                        <m:t>=</m:t>
                      </m:r>
                      <m:rad>
                        <m:radPr>
                          <m:degHide m:val="on"/>
                          <m:ctrlPr>
                            <a:rPr lang="en-AU" sz="2400" i="1">
                              <a:latin typeface="Cambria Math" charset="0"/>
                            </a:rPr>
                          </m:ctrlPr>
                        </m:radPr>
                        <m:deg/>
                        <m:e>
                          <m:r>
                            <a:rPr lang="en-AU" sz="2400" b="0" i="1" smtClean="0">
                              <a:latin typeface="Cambria Math" panose="02040503050406030204" pitchFamily="18" charset="0"/>
                            </a:rPr>
                            <m:t>36</m:t>
                          </m:r>
                        </m:e>
                      </m:rad>
                    </m:oMath>
                  </m:oMathPara>
                </a14:m>
                <a:endParaRPr lang="en-AU" sz="2400" dirty="0"/>
              </a:p>
              <a:p>
                <a:pPr algn="ctr"/>
                <a14:m>
                  <m:oMath xmlns:m="http://schemas.openxmlformats.org/officeDocument/2006/math">
                    <m:r>
                      <a:rPr lang="en-AU" sz="2400" b="0" i="1" smtClean="0">
                        <a:latin typeface="Cambria Math" panose="02040503050406030204" pitchFamily="18" charset="0"/>
                      </a:rPr>
                      <m:t>𝑓</m:t>
                    </m:r>
                    <m:r>
                      <a:rPr lang="en-AU" sz="2400" i="1">
                        <a:latin typeface="Cambria Math" panose="02040503050406030204" pitchFamily="18" charset="0"/>
                      </a:rPr>
                      <m:t>=</m:t>
                    </m:r>
                    <m:r>
                      <a:rPr lang="en-AU" sz="2400" b="0" i="1" smtClean="0">
                        <a:latin typeface="Cambria Math" panose="02040503050406030204" pitchFamily="18" charset="0"/>
                      </a:rPr>
                      <m:t>6</m:t>
                    </m:r>
                  </m:oMath>
                </a14:m>
                <a:r>
                  <a:rPr lang="en-AU" sz="2400" dirty="0"/>
                  <a:t> cm</a:t>
                </a:r>
                <a:endParaRPr lang="en-AU" sz="2400" b="0" dirty="0"/>
              </a:p>
              <a:p>
                <a:endParaRPr lang="en-GB" sz="2400" dirty="0"/>
              </a:p>
            </p:txBody>
          </p:sp>
        </mc:Choice>
        <mc:Fallback xmlns="">
          <p:sp>
            <p:nvSpPr>
              <p:cNvPr id="10" name="TextBox 9">
                <a:extLst>
                  <a:ext uri="{FF2B5EF4-FFF2-40B4-BE49-F238E27FC236}">
                    <a16:creationId xmlns:a16="http://schemas.microsoft.com/office/drawing/2014/main" id="{C76E78AB-77CE-4D27-A91B-61665709FED9}"/>
                  </a:ext>
                </a:extLst>
              </p:cNvPr>
              <p:cNvSpPr txBox="1">
                <a:spLocks noRot="1" noChangeAspect="1" noMove="1" noResize="1" noEditPoints="1" noAdjustHandles="1" noChangeArrowheads="1" noChangeShapeType="1" noTextEdit="1"/>
              </p:cNvSpPr>
              <p:nvPr/>
            </p:nvSpPr>
            <p:spPr>
              <a:xfrm>
                <a:off x="7070937" y="2788819"/>
                <a:ext cx="4604331" cy="2777683"/>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17068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arn(inVertic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barn(inVertical)">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barn(inVertical)">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barn(inVertical)">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barn(inVertical)">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469074D7-7189-401B-B22C-96E7385E1649}"/>
              </a:ext>
            </a:extLst>
          </p:cNvPr>
          <p:cNvPicPr>
            <a:picLocks noChangeAspect="1"/>
          </p:cNvPicPr>
          <p:nvPr/>
        </p:nvPicPr>
        <p:blipFill>
          <a:blip r:embed="rId2"/>
          <a:stretch>
            <a:fillRect/>
          </a:stretch>
        </p:blipFill>
        <p:spPr>
          <a:xfrm>
            <a:off x="3203671" y="0"/>
            <a:ext cx="5298884" cy="6850012"/>
          </a:xfrm>
          <a:prstGeom prst="rect">
            <a:avLst/>
          </a:prstGeom>
        </p:spPr>
      </p:pic>
    </p:spTree>
    <p:extLst>
      <p:ext uri="{BB962C8B-B14F-4D97-AF65-F5344CB8AC3E}">
        <p14:creationId xmlns:p14="http://schemas.microsoft.com/office/powerpoint/2010/main" val="539975486"/>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1</TotalTime>
  <Words>327</Words>
  <Application>Microsoft Macintosh PowerPoint</Application>
  <PresentationFormat>Widescreen</PresentationFormat>
  <Paragraphs>64</Paragraphs>
  <Slides>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Calibri</vt:lpstr>
      <vt:lpstr>Cambria Math</vt:lpstr>
      <vt:lpstr>Kiwi School Handwriting</vt:lpstr>
      <vt:lpstr>Tw Cen MT</vt:lpstr>
      <vt:lpstr>Arial</vt:lpstr>
      <vt:lpstr>Droplet</vt:lpstr>
      <vt:lpstr>Pythagoras </vt:lpstr>
      <vt:lpstr>PowerPoint Presentation</vt:lpstr>
      <vt:lpstr>PowerPoint Presentation</vt:lpstr>
      <vt:lpstr>PowerPoint Presentation</vt:lpstr>
      <vt:lpstr>We Do</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Pythagoras </dc:title>
  <dc:creator>POWER Travis [Baldivis Secondary College]</dc:creator>
  <cp:lastModifiedBy>POWER Travis [Baldivis Secondary College]</cp:lastModifiedBy>
  <cp:revision>1</cp:revision>
  <dcterms:created xsi:type="dcterms:W3CDTF">2018-10-22T01:15:55Z</dcterms:created>
  <dcterms:modified xsi:type="dcterms:W3CDTF">2018-10-22T01:17:39Z</dcterms:modified>
</cp:coreProperties>
</file>
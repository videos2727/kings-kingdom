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315" r:id="rId2"/>
    <p:sldId id="259" r:id="rId3"/>
    <p:sldId id="258" r:id="rId4"/>
    <p:sldId id="303" r:id="rId5"/>
    <p:sldId id="323" r:id="rId6"/>
    <p:sldId id="336" r:id="rId7"/>
    <p:sldId id="330" r:id="rId8"/>
    <p:sldId id="337" r:id="rId9"/>
    <p:sldId id="338" r:id="rId10"/>
    <p:sldId id="339" r:id="rId11"/>
    <p:sldId id="340" r:id="rId12"/>
    <p:sldId id="333" r:id="rId13"/>
    <p:sldId id="292" r:id="rId14"/>
    <p:sldId id="291"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84" autoAdjust="0"/>
    <p:restoredTop sz="92883" autoAdjust="0"/>
  </p:normalViewPr>
  <p:slideViewPr>
    <p:cSldViewPr>
      <p:cViewPr varScale="1">
        <p:scale>
          <a:sx n="98" d="100"/>
          <a:sy n="98" d="100"/>
        </p:scale>
        <p:origin x="137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t>10/10/2018</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Add the points in, moving through the x axis, then y axis for each point, modelling the process of creating the scatter plot</a:t>
            </a:r>
          </a:p>
        </p:txBody>
      </p:sp>
      <p:sp>
        <p:nvSpPr>
          <p:cNvPr id="4" name="Slide Number Placeholder 3"/>
          <p:cNvSpPr>
            <a:spLocks noGrp="1"/>
          </p:cNvSpPr>
          <p:nvPr>
            <p:ph type="sldNum" sz="quarter" idx="5"/>
          </p:nvPr>
        </p:nvSpPr>
        <p:spPr/>
        <p:txBody>
          <a:bodyPr/>
          <a:lstStyle/>
          <a:p>
            <a:fld id="{9516DE00-3598-450D-9FD4-B3F4D33F029B}" type="slidenum">
              <a:rPr lang="en-AU" smtClean="0"/>
              <a:t>8</a:t>
            </a:fld>
            <a:endParaRPr lang="en-AU"/>
          </a:p>
        </p:txBody>
      </p:sp>
    </p:spTree>
    <p:extLst>
      <p:ext uri="{BB962C8B-B14F-4D97-AF65-F5344CB8AC3E}">
        <p14:creationId xmlns:p14="http://schemas.microsoft.com/office/powerpoint/2010/main" val="288679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charset="0"/>
              </a:rPr>
              <a:t>In each of the above, two pieces of information are to be collected from each person in the investigation and then the two data sets are to be compared. When two pieces of information are collected from each subject in an investigation, we are then concerned with </a:t>
            </a:r>
            <a:r>
              <a:rPr lang="en-US" sz="1200" b="1" dirty="0">
                <a:solidFill>
                  <a:srgbClr val="D80000"/>
                </a:solidFill>
                <a:latin typeface="Times" charset="0"/>
              </a:rPr>
              <a:t>bivariate data</a:t>
            </a:r>
            <a:r>
              <a:rPr lang="en-US" sz="1200" dirty="0">
                <a:latin typeface="Times" charset="0"/>
              </a:rPr>
              <a:t>. </a:t>
            </a:r>
          </a:p>
          <a:p>
            <a:endParaRPr lang="en-AU" dirty="0"/>
          </a:p>
        </p:txBody>
      </p:sp>
      <p:sp>
        <p:nvSpPr>
          <p:cNvPr id="4" name="Slide Number Placeholder 3"/>
          <p:cNvSpPr>
            <a:spLocks noGrp="1"/>
          </p:cNvSpPr>
          <p:nvPr>
            <p:ph type="sldNum" sz="quarter" idx="5"/>
          </p:nvPr>
        </p:nvSpPr>
        <p:spPr/>
        <p:txBody>
          <a:bodyPr/>
          <a:lstStyle/>
          <a:p>
            <a:fld id="{9516DE00-3598-450D-9FD4-B3F4D33F029B}" type="slidenum">
              <a:rPr lang="en-AU" smtClean="0"/>
              <a:t>12</a:t>
            </a:fld>
            <a:endParaRPr lang="en-AU"/>
          </a:p>
        </p:txBody>
      </p:sp>
    </p:spTree>
    <p:extLst>
      <p:ext uri="{BB962C8B-B14F-4D97-AF65-F5344CB8AC3E}">
        <p14:creationId xmlns:p14="http://schemas.microsoft.com/office/powerpoint/2010/main" val="3911221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3B91B3-E50F-4EFF-8D5F-21DA810ECD9F}" type="datetimeFigureOut">
              <a:rPr lang="en-AU" smtClean="0"/>
              <a:t>10/10/2018</a:t>
            </a:fld>
            <a:endParaRPr lang="en-AU" dirty="0"/>
          </a:p>
        </p:txBody>
      </p:sp>
      <p:sp>
        <p:nvSpPr>
          <p:cNvPr id="5" name="Footer Placeholder 4"/>
          <p:cNvSpPr>
            <a:spLocks noGrp="1"/>
          </p:cNvSpPr>
          <p:nvPr>
            <p:ph type="ftr" sz="quarter" idx="11"/>
          </p:nvPr>
        </p:nvSpPr>
        <p:spPr>
          <a:xfrm>
            <a:off x="2396319" y="329308"/>
            <a:ext cx="3086292" cy="309201"/>
          </a:xfrm>
        </p:spPr>
        <p:txBody>
          <a:bodyPr/>
          <a:lstStyle/>
          <a:p>
            <a:endParaRPr lang="en-AU" dirty="0"/>
          </a:p>
        </p:txBody>
      </p:sp>
      <p:sp>
        <p:nvSpPr>
          <p:cNvPr id="6" name="Slide Number Placeholder 5"/>
          <p:cNvSpPr>
            <a:spLocks noGrp="1"/>
          </p:cNvSpPr>
          <p:nvPr>
            <p:ph type="sldNum" sz="quarter" idx="12"/>
          </p:nvPr>
        </p:nvSpPr>
        <p:spPr>
          <a:xfrm>
            <a:off x="1434703" y="798973"/>
            <a:ext cx="802005" cy="503578"/>
          </a:xfrm>
        </p:spPr>
        <p:txBody>
          <a:bodyPr/>
          <a:lstStyle/>
          <a:p>
            <a:fld id="{FD937BE4-3242-4672-8D3A-460DCD9877AE}" type="slidenum">
              <a:rPr lang="en-AU" smtClean="0"/>
              <a:t>‹#›</a:t>
            </a:fld>
            <a:endParaRPr lang="en-AU" dirty="0"/>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58632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3B91B3-E50F-4EFF-8D5F-21DA810ECD9F}" type="datetimeFigureOut">
              <a:rPr lang="en-AU" smtClean="0"/>
              <a:t>10/10/2018</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0141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t>10/10/2018</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5903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3B91B3-E50F-4EFF-8D5F-21DA810ECD9F}" type="datetimeFigureOut">
              <a:rPr lang="en-AU" smtClean="0"/>
              <a:t>10/10/2018</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04031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3B91B3-E50F-4EFF-8D5F-21DA810ECD9F}" type="datetimeFigureOut">
              <a:rPr lang="en-AU" smtClean="0"/>
              <a:t>10/10/2018</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175682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3B91B3-E50F-4EFF-8D5F-21DA810ECD9F}" type="datetimeFigureOut">
              <a:rPr lang="en-AU" smtClean="0"/>
              <a:t>10/10/2018</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1774261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t>10/10/2018</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361437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t>10/10/2018</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720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303B91B3-E50F-4EFF-8D5F-21DA810ECD9F}" type="datetimeFigureOut">
              <a:rPr lang="en-AU" smtClean="0"/>
              <a:t>10/10/2018</a:t>
            </a:fld>
            <a:endParaRPr lang="en-AU" dirty="0"/>
          </a:p>
        </p:txBody>
      </p:sp>
      <p:sp>
        <p:nvSpPr>
          <p:cNvPr id="6" name="Footer Placeholder 5"/>
          <p:cNvSpPr>
            <a:spLocks noGrp="1"/>
          </p:cNvSpPr>
          <p:nvPr>
            <p:ph type="ftr" sz="quarter" idx="11"/>
          </p:nvPr>
        </p:nvSpPr>
        <p:spPr>
          <a:xfrm>
            <a:off x="1437530" y="318641"/>
            <a:ext cx="3251553" cy="320931"/>
          </a:xfrm>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t>‹#›</a:t>
            </a:fld>
            <a:endParaRPr lang="en-AU" dirty="0"/>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7693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3B91B3-E50F-4EFF-8D5F-21DA810ECD9F}" type="datetimeFigureOut">
              <a:rPr lang="en-AU" smtClean="0"/>
              <a:t>10/10/2018</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spTree>
    <p:extLst>
      <p:ext uri="{BB962C8B-B14F-4D97-AF65-F5344CB8AC3E}">
        <p14:creationId xmlns:p14="http://schemas.microsoft.com/office/powerpoint/2010/main" val="449326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3B91B3-E50F-4EFF-8D5F-21DA810ECD9F}" type="datetimeFigureOut">
              <a:rPr lang="en-AU" smtClean="0"/>
              <a:t>10/10/2018</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t>‹#›</a:t>
            </a:fld>
            <a:endParaRPr lang="en-AU" dirty="0"/>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9326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03B91B3-E50F-4EFF-8D5F-21DA810ECD9F}" type="datetimeFigureOut">
              <a:rPr lang="en-AU" smtClean="0"/>
              <a:t>10/10/2018</a:t>
            </a:fld>
            <a:endParaRPr lang="en-AU" dirty="0"/>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FD937BE4-3242-4672-8D3A-460DCD9877AE}" type="slidenum">
              <a:rPr lang="en-AU" smtClean="0"/>
              <a:t>‹#›</a:t>
            </a:fld>
            <a:endParaRPr lang="en-AU" dirty="0"/>
          </a:p>
        </p:txBody>
      </p:sp>
    </p:spTree>
    <p:extLst>
      <p:ext uri="{BB962C8B-B14F-4D97-AF65-F5344CB8AC3E}">
        <p14:creationId xmlns:p14="http://schemas.microsoft.com/office/powerpoint/2010/main" val="15576083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84371" y="2771046"/>
            <a:ext cx="8229600" cy="1143000"/>
          </a:xfrm>
        </p:spPr>
        <p:txBody>
          <a:bodyPr>
            <a:normAutofit fontScale="90000"/>
          </a:bodyPr>
          <a:lstStyle/>
          <a:p>
            <a:r>
              <a:rPr lang="en-GB" b="1" dirty="0"/>
              <a:t>Topic: Bivariate Data</a:t>
            </a:r>
            <a:br>
              <a:rPr lang="en-GB" b="1" dirty="0"/>
            </a:br>
            <a:br>
              <a:rPr lang="en-GB" b="1" dirty="0"/>
            </a:br>
            <a:r>
              <a:rPr lang="en-GB" b="1" dirty="0"/>
              <a:t>EQ: How do I compare bivariate Data?</a:t>
            </a:r>
          </a:p>
        </p:txBody>
      </p:sp>
    </p:spTree>
    <p:extLst>
      <p:ext uri="{BB962C8B-B14F-4D97-AF65-F5344CB8AC3E}">
        <p14:creationId xmlns:p14="http://schemas.microsoft.com/office/powerpoint/2010/main" val="1391327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2</a:t>
            </a:r>
          </a:p>
        </p:txBody>
      </p:sp>
      <p:sp>
        <p:nvSpPr>
          <p:cNvPr id="7" name="TextBox 6"/>
          <p:cNvSpPr txBox="1"/>
          <p:nvPr/>
        </p:nvSpPr>
        <p:spPr>
          <a:xfrm>
            <a:off x="8748464" y="6488668"/>
            <a:ext cx="549775" cy="369332"/>
          </a:xfrm>
          <a:prstGeom prst="rect">
            <a:avLst/>
          </a:prstGeom>
          <a:noFill/>
        </p:spPr>
        <p:txBody>
          <a:bodyPr wrap="square" rtlCol="0">
            <a:spAutoFit/>
          </a:bodyPr>
          <a:lstStyle/>
          <a:p>
            <a:r>
              <a:rPr lang="en-AU" dirty="0"/>
              <a:t>3</a:t>
            </a:r>
          </a:p>
        </p:txBody>
      </p:sp>
      <p:cxnSp>
        <p:nvCxnSpPr>
          <p:cNvPr id="9" name="Straight Connector 8"/>
          <p:cNvCxnSpPr/>
          <p:nvPr/>
        </p:nvCxnSpPr>
        <p:spPr>
          <a:xfrm>
            <a:off x="-143838"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1115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577648" y="5803"/>
            <a:ext cx="932050" cy="338554"/>
          </a:xfrm>
          <a:prstGeom prst="rect">
            <a:avLst/>
          </a:prstGeom>
          <a:noFill/>
        </p:spPr>
        <p:txBody>
          <a:bodyPr wrap="none" rtlCol="0">
            <a:spAutoFit/>
          </a:bodyPr>
          <a:lstStyle/>
          <a:p>
            <a:r>
              <a:rPr lang="en-AU" sz="1600" dirty="0"/>
              <a:t>Contents</a:t>
            </a:r>
          </a:p>
        </p:txBody>
      </p:sp>
      <p:sp>
        <p:nvSpPr>
          <p:cNvPr id="23" name="TextBox 22"/>
          <p:cNvSpPr txBox="1"/>
          <p:nvPr/>
        </p:nvSpPr>
        <p:spPr>
          <a:xfrm>
            <a:off x="223224" y="374467"/>
            <a:ext cx="580865" cy="338554"/>
          </a:xfrm>
          <a:prstGeom prst="rect">
            <a:avLst/>
          </a:prstGeom>
          <a:noFill/>
        </p:spPr>
        <p:txBody>
          <a:bodyPr wrap="none" rtlCol="0">
            <a:spAutoFit/>
          </a:bodyPr>
          <a:lstStyle/>
          <a:p>
            <a:r>
              <a:rPr lang="en-AU" sz="1600" dirty="0"/>
              <a:t>Page</a:t>
            </a:r>
          </a:p>
        </p:txBody>
      </p:sp>
      <p:cxnSp>
        <p:nvCxnSpPr>
          <p:cNvPr id="16" name="Straight Connector 15"/>
          <p:cNvCxnSpPr/>
          <p:nvPr/>
        </p:nvCxnSpPr>
        <p:spPr>
          <a:xfrm>
            <a:off x="2143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1403646" y="344357"/>
            <a:ext cx="576504" cy="338554"/>
          </a:xfrm>
          <a:prstGeom prst="rect">
            <a:avLst/>
          </a:prstGeom>
          <a:noFill/>
        </p:spPr>
        <p:txBody>
          <a:bodyPr wrap="none" rtlCol="0">
            <a:spAutoFit/>
          </a:bodyPr>
          <a:lstStyle/>
          <a:p>
            <a:r>
              <a:rPr lang="en-AU" sz="1600" dirty="0"/>
              <a:t>Date</a:t>
            </a:r>
          </a:p>
        </p:txBody>
      </p:sp>
      <p:sp>
        <p:nvSpPr>
          <p:cNvPr id="18" name="TextBox 17"/>
          <p:cNvSpPr txBox="1"/>
          <p:nvPr/>
        </p:nvSpPr>
        <p:spPr>
          <a:xfrm>
            <a:off x="2555776" y="344357"/>
            <a:ext cx="1398888" cy="338554"/>
          </a:xfrm>
          <a:prstGeom prst="rect">
            <a:avLst/>
          </a:prstGeom>
          <a:noFill/>
        </p:spPr>
        <p:txBody>
          <a:bodyPr wrap="square" rtlCol="0">
            <a:spAutoFit/>
          </a:bodyPr>
          <a:lstStyle/>
          <a:p>
            <a:r>
              <a:rPr lang="en-AU" sz="1600" dirty="0"/>
              <a:t>Description</a:t>
            </a:r>
          </a:p>
        </p:txBody>
      </p:sp>
      <p:sp>
        <p:nvSpPr>
          <p:cNvPr id="21" name="TextBox 20"/>
          <p:cNvSpPr txBox="1"/>
          <p:nvPr/>
        </p:nvSpPr>
        <p:spPr>
          <a:xfrm>
            <a:off x="5796136" y="66504"/>
            <a:ext cx="2592288" cy="338554"/>
          </a:xfrm>
          <a:prstGeom prst="rect">
            <a:avLst/>
          </a:prstGeom>
          <a:noFill/>
        </p:spPr>
        <p:txBody>
          <a:bodyPr wrap="square" rtlCol="0">
            <a:spAutoFit/>
          </a:bodyPr>
          <a:lstStyle/>
          <a:p>
            <a:r>
              <a:rPr lang="en-AU" sz="1600" dirty="0"/>
              <a:t>Glossary or Formula Page</a:t>
            </a:r>
          </a:p>
        </p:txBody>
      </p:sp>
    </p:spTree>
    <p:extLst>
      <p:ext uri="{BB962C8B-B14F-4D97-AF65-F5344CB8AC3E}">
        <p14:creationId xmlns:p14="http://schemas.microsoft.com/office/powerpoint/2010/main" val="1515457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4500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03" y="6474667"/>
            <a:ext cx="301686" cy="369332"/>
          </a:xfrm>
          <a:prstGeom prst="rect">
            <a:avLst/>
          </a:prstGeom>
          <a:noFill/>
        </p:spPr>
        <p:txBody>
          <a:bodyPr wrap="none" rtlCol="0">
            <a:spAutoFit/>
          </a:bodyPr>
          <a:lstStyle/>
          <a:p>
            <a:r>
              <a:rPr lang="en-AU" dirty="0"/>
              <a:t>4</a:t>
            </a:r>
          </a:p>
        </p:txBody>
      </p:sp>
      <p:sp>
        <p:nvSpPr>
          <p:cNvPr id="7" name="TextBox 6"/>
          <p:cNvSpPr txBox="1"/>
          <p:nvPr/>
        </p:nvSpPr>
        <p:spPr>
          <a:xfrm>
            <a:off x="8748463" y="6525528"/>
            <a:ext cx="549775" cy="369332"/>
          </a:xfrm>
          <a:prstGeom prst="rect">
            <a:avLst/>
          </a:prstGeom>
          <a:noFill/>
        </p:spPr>
        <p:txBody>
          <a:bodyPr wrap="square" rtlCol="0">
            <a:spAutoFit/>
          </a:bodyPr>
          <a:lstStyle/>
          <a:p>
            <a:r>
              <a:rPr lang="en-AU" dirty="0"/>
              <a:t>5</a:t>
            </a:r>
          </a:p>
        </p:txBody>
      </p:sp>
      <p:cxnSp>
        <p:nvCxnSpPr>
          <p:cNvPr id="9" name="Straight Connector 8"/>
          <p:cNvCxnSpPr/>
          <p:nvPr/>
        </p:nvCxnSpPr>
        <p:spPr>
          <a:xfrm>
            <a:off x="4500081"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4500081"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4572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5868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4533261" y="66690"/>
            <a:ext cx="431959" cy="553998"/>
          </a:xfrm>
          <a:prstGeom prst="rect">
            <a:avLst/>
          </a:prstGeom>
          <a:noFill/>
        </p:spPr>
        <p:txBody>
          <a:bodyPr wrap="square" rtlCol="0">
            <a:spAutoFit/>
          </a:bodyPr>
          <a:lstStyle/>
          <a:p>
            <a:r>
              <a:rPr lang="en-AU" sz="1000" dirty="0"/>
              <a:t>24</a:t>
            </a:r>
          </a:p>
          <a:p>
            <a:r>
              <a:rPr lang="en-AU" sz="1000" dirty="0"/>
              <a:t>7</a:t>
            </a:r>
          </a:p>
          <a:p>
            <a:r>
              <a:rPr lang="en-AU" sz="1000" dirty="0"/>
              <a:t>30</a:t>
            </a:r>
          </a:p>
        </p:txBody>
      </p:sp>
      <p:sp>
        <p:nvSpPr>
          <p:cNvPr id="20" name="TextBox 19"/>
          <p:cNvSpPr txBox="1"/>
          <p:nvPr/>
        </p:nvSpPr>
        <p:spPr>
          <a:xfrm>
            <a:off x="4572089" y="601548"/>
            <a:ext cx="1143262" cy="246221"/>
          </a:xfrm>
          <a:prstGeom prst="rect">
            <a:avLst/>
          </a:prstGeom>
          <a:noFill/>
        </p:spPr>
        <p:txBody>
          <a:bodyPr wrap="none" rtlCol="0">
            <a:spAutoFit/>
          </a:bodyPr>
          <a:lstStyle/>
          <a:p>
            <a:r>
              <a:rPr lang="en-AU" sz="1000" dirty="0"/>
              <a:t>Essential Question</a:t>
            </a:r>
          </a:p>
        </p:txBody>
      </p:sp>
      <p:sp>
        <p:nvSpPr>
          <p:cNvPr id="22" name="TextBox 21"/>
          <p:cNvSpPr txBox="1"/>
          <p:nvPr/>
        </p:nvSpPr>
        <p:spPr>
          <a:xfrm>
            <a:off x="5867750" y="1196751"/>
            <a:ext cx="492443" cy="246221"/>
          </a:xfrm>
          <a:prstGeom prst="rect">
            <a:avLst/>
          </a:prstGeom>
          <a:noFill/>
        </p:spPr>
        <p:txBody>
          <a:bodyPr wrap="none" rtlCol="0">
            <a:spAutoFit/>
          </a:bodyPr>
          <a:lstStyle/>
          <a:p>
            <a:r>
              <a:rPr lang="en-AU" sz="1000" dirty="0"/>
              <a:t>Notes</a:t>
            </a:r>
          </a:p>
        </p:txBody>
      </p:sp>
      <p:sp>
        <p:nvSpPr>
          <p:cNvPr id="23" name="TextBox 22"/>
          <p:cNvSpPr txBox="1"/>
          <p:nvPr/>
        </p:nvSpPr>
        <p:spPr>
          <a:xfrm>
            <a:off x="4521850" y="1196752"/>
            <a:ext cx="708848" cy="246221"/>
          </a:xfrm>
          <a:prstGeom prst="rect">
            <a:avLst/>
          </a:prstGeom>
          <a:noFill/>
        </p:spPr>
        <p:txBody>
          <a:bodyPr wrap="none" rtlCol="0">
            <a:spAutoFit/>
          </a:bodyPr>
          <a:lstStyle/>
          <a:p>
            <a:r>
              <a:rPr lang="en-AU" sz="1000" dirty="0"/>
              <a:t>Questions</a:t>
            </a:r>
          </a:p>
        </p:txBody>
      </p:sp>
      <p:sp>
        <p:nvSpPr>
          <p:cNvPr id="24" name="TextBox 23"/>
          <p:cNvSpPr txBox="1"/>
          <p:nvPr/>
        </p:nvSpPr>
        <p:spPr>
          <a:xfrm>
            <a:off x="4572089" y="5373216"/>
            <a:ext cx="679994" cy="246221"/>
          </a:xfrm>
          <a:prstGeom prst="rect">
            <a:avLst/>
          </a:prstGeom>
          <a:noFill/>
        </p:spPr>
        <p:txBody>
          <a:bodyPr wrap="none" rtlCol="0">
            <a:spAutoFit/>
          </a:bodyPr>
          <a:lstStyle/>
          <a:p>
            <a:r>
              <a:rPr lang="en-AU" sz="1000" dirty="0"/>
              <a:t>Summary</a:t>
            </a:r>
          </a:p>
        </p:txBody>
      </p:sp>
      <p:sp>
        <p:nvSpPr>
          <p:cNvPr id="25" name="TextBox 24"/>
          <p:cNvSpPr txBox="1"/>
          <p:nvPr/>
        </p:nvSpPr>
        <p:spPr>
          <a:xfrm>
            <a:off x="151246" y="142494"/>
            <a:ext cx="671081" cy="369332"/>
          </a:xfrm>
          <a:prstGeom prst="rect">
            <a:avLst/>
          </a:prstGeom>
          <a:noFill/>
        </p:spPr>
        <p:txBody>
          <a:bodyPr wrap="none" rtlCol="0">
            <a:spAutoFit/>
          </a:bodyPr>
          <a:lstStyle/>
          <a:p>
            <a:r>
              <a:rPr lang="en-AU" dirty="0"/>
              <a:t>Tasks</a:t>
            </a:r>
          </a:p>
        </p:txBody>
      </p:sp>
    </p:spTree>
    <p:extLst>
      <p:ext uri="{BB962C8B-B14F-4D97-AF65-F5344CB8AC3E}">
        <p14:creationId xmlns:p14="http://schemas.microsoft.com/office/powerpoint/2010/main" val="2216532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 </a:t>
            </a:r>
            <a:r>
              <a:rPr lang="en-GB" sz="2400" b="1" dirty="0"/>
              <a:t>EQ: How do I compare bivariate Data?</a:t>
            </a:r>
            <a:endParaRPr lang="en-AU" sz="2400" dirty="0"/>
          </a:p>
        </p:txBody>
      </p:sp>
      <p:sp>
        <p:nvSpPr>
          <p:cNvPr id="8" name="TextBox 7"/>
          <p:cNvSpPr txBox="1"/>
          <p:nvPr/>
        </p:nvSpPr>
        <p:spPr>
          <a:xfrm>
            <a:off x="93471" y="2828835"/>
            <a:ext cx="2652287"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What is the relationship between the two variables? </a:t>
            </a:r>
          </a:p>
          <a:p>
            <a:endParaRPr lang="en-AU" dirty="0">
              <a:latin typeface="Arial" panose="020B0604020202020204" pitchFamily="34" charset="0"/>
              <a:cs typeface="Arial" panose="020B0604020202020204" pitchFamily="34" charset="0"/>
            </a:endParaRPr>
          </a:p>
        </p:txBody>
      </p:sp>
      <p:sp>
        <p:nvSpPr>
          <p:cNvPr id="14" name="Rectangle 13"/>
          <p:cNvSpPr/>
          <p:nvPr/>
        </p:nvSpPr>
        <p:spPr>
          <a:xfrm>
            <a:off x="125601" y="2086157"/>
            <a:ext cx="2358167"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What is Bivariate data  </a:t>
            </a:r>
          </a:p>
        </p:txBody>
      </p:sp>
      <p:sp>
        <p:nvSpPr>
          <p:cNvPr id="15" name="TextBox 14"/>
          <p:cNvSpPr txBox="1"/>
          <p:nvPr/>
        </p:nvSpPr>
        <p:spPr>
          <a:xfrm>
            <a:off x="3056390" y="2086157"/>
            <a:ext cx="5480988" cy="646331"/>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Bivariate data is data represented by two variables. </a:t>
            </a:r>
          </a:p>
          <a:p>
            <a:endParaRPr lang="en-US" dirty="0">
              <a:latin typeface="Arial" panose="020B0604020202020204" pitchFamily="34" charset="0"/>
              <a:cs typeface="Arial" panose="020B0604020202020204" pitchFamily="34" charset="0"/>
            </a:endParaRPr>
          </a:p>
        </p:txBody>
      </p:sp>
      <p:sp>
        <p:nvSpPr>
          <p:cNvPr id="16" name="TextBox 15"/>
          <p:cNvSpPr txBox="1"/>
          <p:nvPr/>
        </p:nvSpPr>
        <p:spPr>
          <a:xfrm>
            <a:off x="3056390" y="2737881"/>
            <a:ext cx="5564997"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1.   Are the values of one variable related to the values of another variable? </a:t>
            </a:r>
          </a:p>
          <a:p>
            <a:endParaRPr lang="en-US" dirty="0">
              <a:latin typeface="Arial" panose="020B0604020202020204" pitchFamily="34" charset="0"/>
              <a:cs typeface="Arial" panose="020B0604020202020204" pitchFamily="34" charset="0"/>
            </a:endParaRPr>
          </a:p>
        </p:txBody>
      </p:sp>
      <p:sp>
        <p:nvSpPr>
          <p:cNvPr id="18" name="TextBox 17"/>
          <p:cNvSpPr txBox="1"/>
          <p:nvPr/>
        </p:nvSpPr>
        <p:spPr>
          <a:xfrm>
            <a:off x="3051175" y="3663848"/>
            <a:ext cx="5617348"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2.    Can the values of one variable be used to predict the values of another variable? </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09025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down)">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heel(1)">
                                      <p:cBhvr>
                                        <p:cTn id="18"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 </a:t>
            </a:r>
            <a:r>
              <a:rPr lang="en-GB" sz="2400" b="1" dirty="0"/>
              <a:t>EQ: How do I compare bivariate Data?</a:t>
            </a:r>
            <a:endParaRPr lang="en-AU" sz="2400" dirty="0"/>
          </a:p>
        </p:txBody>
      </p:sp>
      <p:sp>
        <p:nvSpPr>
          <p:cNvPr id="14" name="Rectangle 13"/>
          <p:cNvSpPr/>
          <p:nvPr/>
        </p:nvSpPr>
        <p:spPr>
          <a:xfrm>
            <a:off x="125601" y="2086157"/>
            <a:ext cx="2358167" cy="1477328"/>
          </a:xfrm>
          <a:prstGeom prst="rect">
            <a:avLst/>
          </a:prstGeom>
        </p:spPr>
        <p:txBody>
          <a:bodyPr wrap="square">
            <a:spAutoFit/>
          </a:bodyPr>
          <a:lstStyle/>
          <a:p>
            <a:r>
              <a:rPr lang="en-US" dirty="0"/>
              <a:t>This is an example of bivariate data.</a:t>
            </a:r>
            <a:br>
              <a:rPr lang="en-US" dirty="0"/>
            </a:br>
            <a:r>
              <a:rPr lang="en-US" dirty="0"/>
              <a:t>The two variables are </a:t>
            </a:r>
            <a:r>
              <a:rPr lang="en-US" b="1" dirty="0"/>
              <a:t>Year </a:t>
            </a:r>
            <a:r>
              <a:rPr lang="en-US" dirty="0"/>
              <a:t>and </a:t>
            </a:r>
            <a:r>
              <a:rPr lang="en-US" b="1" dirty="0"/>
              <a:t>$</a:t>
            </a:r>
            <a:r>
              <a:rPr lang="en-US" b="1" dirty="0" err="1"/>
              <a:t>Abillion</a:t>
            </a:r>
            <a:r>
              <a:rPr lang="en-US" dirty="0"/>
              <a:t>. </a:t>
            </a:r>
          </a:p>
          <a:p>
            <a:endParaRPr lang="en-US" dirty="0"/>
          </a:p>
        </p:txBody>
      </p:sp>
      <p:pic>
        <p:nvPicPr>
          <p:cNvPr id="3" name="Picture 2">
            <a:extLst>
              <a:ext uri="{FF2B5EF4-FFF2-40B4-BE49-F238E27FC236}">
                <a16:creationId xmlns:a16="http://schemas.microsoft.com/office/drawing/2014/main" id="{00DC73D4-B0C4-4EA9-83F6-6E7D6F16264E}"/>
              </a:ext>
            </a:extLst>
          </p:cNvPr>
          <p:cNvPicPr>
            <a:picLocks noChangeAspect="1"/>
          </p:cNvPicPr>
          <p:nvPr/>
        </p:nvPicPr>
        <p:blipFill>
          <a:blip r:embed="rId2"/>
          <a:stretch>
            <a:fillRect/>
          </a:stretch>
        </p:blipFill>
        <p:spPr>
          <a:xfrm>
            <a:off x="3031257" y="1967181"/>
            <a:ext cx="3196928" cy="4126116"/>
          </a:xfrm>
          <a:prstGeom prst="rect">
            <a:avLst/>
          </a:prstGeom>
        </p:spPr>
      </p:pic>
      <p:sp>
        <p:nvSpPr>
          <p:cNvPr id="13" name="Rectangle 12">
            <a:extLst>
              <a:ext uri="{FF2B5EF4-FFF2-40B4-BE49-F238E27FC236}">
                <a16:creationId xmlns:a16="http://schemas.microsoft.com/office/drawing/2014/main" id="{600016F6-09AA-4A5B-B48D-08E056B83317}"/>
              </a:ext>
            </a:extLst>
          </p:cNvPr>
          <p:cNvSpPr/>
          <p:nvPr/>
        </p:nvSpPr>
        <p:spPr>
          <a:xfrm>
            <a:off x="6390297" y="2285794"/>
            <a:ext cx="2358167" cy="2585323"/>
          </a:xfrm>
          <a:prstGeom prst="rect">
            <a:avLst/>
          </a:prstGeom>
        </p:spPr>
        <p:txBody>
          <a:bodyPr wrap="square">
            <a:spAutoFit/>
          </a:bodyPr>
          <a:lstStyle/>
          <a:p>
            <a:r>
              <a:rPr lang="en-US" dirty="0"/>
              <a:t>The first column is the </a:t>
            </a:r>
            <a:r>
              <a:rPr lang="en-US" b="1" dirty="0"/>
              <a:t>independent</a:t>
            </a:r>
            <a:r>
              <a:rPr lang="en-US" dirty="0"/>
              <a:t> variable (x axis)</a:t>
            </a:r>
          </a:p>
          <a:p>
            <a:endParaRPr lang="en-US" dirty="0"/>
          </a:p>
          <a:p>
            <a:r>
              <a:rPr lang="en-US" dirty="0"/>
              <a:t>The second column is the </a:t>
            </a:r>
            <a:r>
              <a:rPr lang="en-US" b="1" dirty="0"/>
              <a:t>dependent</a:t>
            </a:r>
            <a:r>
              <a:rPr lang="en-US" dirty="0"/>
              <a:t> variable</a:t>
            </a:r>
          </a:p>
          <a:p>
            <a:r>
              <a:rPr lang="en-US" dirty="0"/>
              <a:t>(y axis)</a:t>
            </a:r>
          </a:p>
          <a:p>
            <a:endParaRPr lang="en-US" dirty="0"/>
          </a:p>
        </p:txBody>
      </p:sp>
    </p:spTree>
    <p:extLst>
      <p:ext uri="{BB962C8B-B14F-4D97-AF65-F5344CB8AC3E}">
        <p14:creationId xmlns:p14="http://schemas.microsoft.com/office/powerpoint/2010/main" val="646579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 </a:t>
            </a:r>
            <a:r>
              <a:rPr lang="en-GB" sz="2400" b="1" dirty="0"/>
              <a:t>EQ: How do I compare bivariate Data?</a:t>
            </a:r>
            <a:endParaRPr lang="en-AU" sz="2400" dirty="0"/>
          </a:p>
        </p:txBody>
      </p:sp>
      <p:sp>
        <p:nvSpPr>
          <p:cNvPr id="14" name="Rectangle 13"/>
          <p:cNvSpPr/>
          <p:nvPr/>
        </p:nvSpPr>
        <p:spPr>
          <a:xfrm>
            <a:off x="125601" y="2086157"/>
            <a:ext cx="2358167" cy="1477328"/>
          </a:xfrm>
          <a:prstGeom prst="rect">
            <a:avLst/>
          </a:prstGeom>
        </p:spPr>
        <p:txBody>
          <a:bodyPr wrap="square">
            <a:spAutoFit/>
          </a:bodyPr>
          <a:lstStyle/>
          <a:p>
            <a:r>
              <a:rPr lang="en-US" dirty="0"/>
              <a:t>This is an example of bivariate data.</a:t>
            </a:r>
            <a:br>
              <a:rPr lang="en-US" dirty="0"/>
            </a:br>
            <a:r>
              <a:rPr lang="en-US" dirty="0"/>
              <a:t>The two variables are </a:t>
            </a:r>
            <a:r>
              <a:rPr lang="en-US" b="1" dirty="0"/>
              <a:t>Year </a:t>
            </a:r>
            <a:r>
              <a:rPr lang="en-US" dirty="0"/>
              <a:t>and </a:t>
            </a:r>
            <a:r>
              <a:rPr lang="en-US" b="1" dirty="0"/>
              <a:t>$</a:t>
            </a:r>
            <a:r>
              <a:rPr lang="en-US" b="1" dirty="0" err="1"/>
              <a:t>Abillion</a:t>
            </a:r>
            <a:r>
              <a:rPr lang="en-US" dirty="0"/>
              <a:t>. </a:t>
            </a:r>
          </a:p>
          <a:p>
            <a:endParaRPr lang="en-US" dirty="0"/>
          </a:p>
        </p:txBody>
      </p:sp>
      <p:pic>
        <p:nvPicPr>
          <p:cNvPr id="3" name="Picture 2">
            <a:extLst>
              <a:ext uri="{FF2B5EF4-FFF2-40B4-BE49-F238E27FC236}">
                <a16:creationId xmlns:a16="http://schemas.microsoft.com/office/drawing/2014/main" id="{00DC73D4-B0C4-4EA9-83F6-6E7D6F16264E}"/>
              </a:ext>
            </a:extLst>
          </p:cNvPr>
          <p:cNvPicPr>
            <a:picLocks noChangeAspect="1"/>
          </p:cNvPicPr>
          <p:nvPr/>
        </p:nvPicPr>
        <p:blipFill>
          <a:blip r:embed="rId2"/>
          <a:stretch>
            <a:fillRect/>
          </a:stretch>
        </p:blipFill>
        <p:spPr>
          <a:xfrm>
            <a:off x="3031257" y="1967181"/>
            <a:ext cx="3196928" cy="4126116"/>
          </a:xfrm>
          <a:prstGeom prst="rect">
            <a:avLst/>
          </a:prstGeom>
        </p:spPr>
      </p:pic>
      <p:sp>
        <p:nvSpPr>
          <p:cNvPr id="13" name="Rectangle 12">
            <a:extLst>
              <a:ext uri="{FF2B5EF4-FFF2-40B4-BE49-F238E27FC236}">
                <a16:creationId xmlns:a16="http://schemas.microsoft.com/office/drawing/2014/main" id="{600016F6-09AA-4A5B-B48D-08E056B83317}"/>
              </a:ext>
            </a:extLst>
          </p:cNvPr>
          <p:cNvSpPr/>
          <p:nvPr/>
        </p:nvSpPr>
        <p:spPr>
          <a:xfrm>
            <a:off x="6390297" y="2285794"/>
            <a:ext cx="2358167" cy="2585323"/>
          </a:xfrm>
          <a:prstGeom prst="rect">
            <a:avLst/>
          </a:prstGeom>
        </p:spPr>
        <p:txBody>
          <a:bodyPr wrap="square">
            <a:spAutoFit/>
          </a:bodyPr>
          <a:lstStyle/>
          <a:p>
            <a:r>
              <a:rPr lang="en-US" dirty="0"/>
              <a:t>The first column is the </a:t>
            </a:r>
            <a:r>
              <a:rPr lang="en-US" b="1" dirty="0"/>
              <a:t>independent</a:t>
            </a:r>
            <a:r>
              <a:rPr lang="en-US" dirty="0"/>
              <a:t> variable (x axis)</a:t>
            </a:r>
          </a:p>
          <a:p>
            <a:endParaRPr lang="en-US" dirty="0"/>
          </a:p>
          <a:p>
            <a:r>
              <a:rPr lang="en-US" dirty="0"/>
              <a:t>The second column is the </a:t>
            </a:r>
            <a:r>
              <a:rPr lang="en-US" b="1" dirty="0"/>
              <a:t>dependent</a:t>
            </a:r>
            <a:r>
              <a:rPr lang="en-US" dirty="0"/>
              <a:t> variable</a:t>
            </a:r>
          </a:p>
          <a:p>
            <a:r>
              <a:rPr lang="en-US" dirty="0"/>
              <a:t>(y axis)</a:t>
            </a:r>
          </a:p>
          <a:p>
            <a:endParaRPr lang="en-US" dirty="0"/>
          </a:p>
        </p:txBody>
      </p:sp>
      <p:sp>
        <p:nvSpPr>
          <p:cNvPr id="15" name="TextBox 14">
            <a:extLst>
              <a:ext uri="{FF2B5EF4-FFF2-40B4-BE49-F238E27FC236}">
                <a16:creationId xmlns:a16="http://schemas.microsoft.com/office/drawing/2014/main" id="{A52467AA-ADFE-47F6-B123-2365ACB8F573}"/>
              </a:ext>
            </a:extLst>
          </p:cNvPr>
          <p:cNvSpPr txBox="1"/>
          <p:nvPr/>
        </p:nvSpPr>
        <p:spPr>
          <a:xfrm>
            <a:off x="93471" y="3670788"/>
            <a:ext cx="2660231" cy="1200329"/>
          </a:xfrm>
          <a:prstGeom prst="rect">
            <a:avLst/>
          </a:prstGeom>
          <a:noFill/>
        </p:spPr>
        <p:txBody>
          <a:bodyPr wrap="square" rtlCol="0">
            <a:spAutoFit/>
          </a:bodyPr>
          <a:lstStyle/>
          <a:p>
            <a:r>
              <a:rPr lang="en-US" dirty="0"/>
              <a:t>Is there a relationship between Year and the value of exports to China? </a:t>
            </a:r>
          </a:p>
          <a:p>
            <a:endParaRPr lang="en-US" dirty="0"/>
          </a:p>
        </p:txBody>
      </p:sp>
      <p:sp>
        <p:nvSpPr>
          <p:cNvPr id="16" name="TextBox 15">
            <a:extLst>
              <a:ext uri="{FF2B5EF4-FFF2-40B4-BE49-F238E27FC236}">
                <a16:creationId xmlns:a16="http://schemas.microsoft.com/office/drawing/2014/main" id="{1CAC5758-C984-4F22-8A27-EEE9F7C1C1C6}"/>
              </a:ext>
            </a:extLst>
          </p:cNvPr>
          <p:cNvSpPr txBox="1"/>
          <p:nvPr/>
        </p:nvSpPr>
        <p:spPr>
          <a:xfrm>
            <a:off x="93472" y="4928927"/>
            <a:ext cx="2660230" cy="1200329"/>
          </a:xfrm>
          <a:prstGeom prst="rect">
            <a:avLst/>
          </a:prstGeom>
          <a:noFill/>
        </p:spPr>
        <p:txBody>
          <a:bodyPr wrap="square" rtlCol="0">
            <a:spAutoFit/>
          </a:bodyPr>
          <a:lstStyle/>
          <a:p>
            <a:r>
              <a:rPr lang="en-US" dirty="0"/>
              <a:t>Can a prediction be made about the value of exports to China in 2012? </a:t>
            </a:r>
          </a:p>
          <a:p>
            <a:endParaRPr lang="en-US" dirty="0"/>
          </a:p>
        </p:txBody>
      </p:sp>
    </p:spTree>
    <p:extLst>
      <p:ext uri="{BB962C8B-B14F-4D97-AF65-F5344CB8AC3E}">
        <p14:creationId xmlns:p14="http://schemas.microsoft.com/office/powerpoint/2010/main" val="3895806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 </a:t>
            </a:r>
            <a:r>
              <a:rPr lang="en-GB" sz="2400" b="1" dirty="0"/>
              <a:t>EQ: How do I compare bivariate Data?</a:t>
            </a:r>
            <a:endParaRPr lang="en-AU" sz="2400" dirty="0"/>
          </a:p>
        </p:txBody>
      </p:sp>
      <p:sp>
        <p:nvSpPr>
          <p:cNvPr id="3" name="TextBox 2"/>
          <p:cNvSpPr txBox="1"/>
          <p:nvPr/>
        </p:nvSpPr>
        <p:spPr>
          <a:xfrm>
            <a:off x="93471" y="2091872"/>
            <a:ext cx="2244269" cy="369332"/>
          </a:xfrm>
          <a:prstGeom prst="rect">
            <a:avLst/>
          </a:prstGeom>
          <a:noFill/>
        </p:spPr>
        <p:txBody>
          <a:bodyPr wrap="none" rtlCol="0">
            <a:spAutoFit/>
          </a:bodyPr>
          <a:lstStyle/>
          <a:p>
            <a:r>
              <a:rPr lang="en-US" dirty="0"/>
              <a:t>What is </a:t>
            </a:r>
            <a:r>
              <a:rPr lang="en-US"/>
              <a:t>a Scatterplot?</a:t>
            </a:r>
          </a:p>
        </p:txBody>
      </p:sp>
      <p:sp>
        <p:nvSpPr>
          <p:cNvPr id="5" name="TextBox 4"/>
          <p:cNvSpPr txBox="1"/>
          <p:nvPr/>
        </p:nvSpPr>
        <p:spPr>
          <a:xfrm>
            <a:off x="3053957" y="2133210"/>
            <a:ext cx="5694508" cy="1200329"/>
          </a:xfrm>
          <a:prstGeom prst="rect">
            <a:avLst/>
          </a:prstGeom>
          <a:noFill/>
        </p:spPr>
        <p:txBody>
          <a:bodyPr wrap="square" rtlCol="0">
            <a:spAutoFit/>
          </a:bodyPr>
          <a:lstStyle/>
          <a:p>
            <a:r>
              <a:rPr lang="en-US"/>
              <a:t>Scatterplots give a visual representation of how the values of one variable are related to the values of another variable. </a:t>
            </a:r>
          </a:p>
          <a:p>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34150417"/>
              </p:ext>
            </p:extLst>
          </p:nvPr>
        </p:nvGraphicFramePr>
        <p:xfrm>
          <a:off x="360039" y="3227390"/>
          <a:ext cx="2195738" cy="1950720"/>
        </p:xfrm>
        <a:graphic>
          <a:graphicData uri="http://schemas.openxmlformats.org/drawingml/2006/table">
            <a:tbl>
              <a:tblPr/>
              <a:tblGrid>
                <a:gridCol w="1097869">
                  <a:extLst>
                    <a:ext uri="{9D8B030D-6E8A-4147-A177-3AD203B41FA5}">
                      <a16:colId xmlns:a16="http://schemas.microsoft.com/office/drawing/2014/main" val="20000"/>
                    </a:ext>
                  </a:extLst>
                </a:gridCol>
                <a:gridCol w="1097869">
                  <a:extLst>
                    <a:ext uri="{9D8B030D-6E8A-4147-A177-3AD203B41FA5}">
                      <a16:colId xmlns:a16="http://schemas.microsoft.com/office/drawing/2014/main" val="20001"/>
                    </a:ext>
                  </a:extLst>
                </a:gridCol>
              </a:tblGrid>
              <a:tr h="0">
                <a:tc gridSpan="2">
                  <a:txBody>
                    <a:bodyPr/>
                    <a:lstStyle/>
                    <a:p>
                      <a:r>
                        <a:rPr lang="en-US" sz="1000">
                          <a:effectLst/>
                          <a:latin typeface="TimesNewRomanPSMT" charset="0"/>
                        </a:rPr>
                        <a:t>Value of Australian exports to China </a:t>
                      </a:r>
                      <a:endParaRPr lang="en-US">
                        <a:effectLst/>
                      </a:endParaRPr>
                    </a:p>
                  </a:txBody>
                  <a:tcPr anchor="ctr">
                    <a:lnL w="12700" cap="flat" cmpd="sng" algn="ctr">
                      <a:solidFill>
                        <a:srgbClr val="70707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A8D39B"/>
                    </a:solidFill>
                  </a:tcPr>
                </a:tc>
                <a:tc hMerge="1">
                  <a:txBody>
                    <a:bodyPr/>
                    <a:lstStyle/>
                    <a:p>
                      <a:endParaRPr lang="en-US"/>
                    </a:p>
                  </a:txBody>
                  <a:tcPr/>
                </a:tc>
                <a:extLst>
                  <a:ext uri="{0D108BD9-81ED-4DB2-BD59-A6C34878D82A}">
                    <a16:rowId xmlns:a16="http://schemas.microsoft.com/office/drawing/2014/main" val="10000"/>
                  </a:ext>
                </a:extLst>
              </a:tr>
              <a:tr h="0">
                <a:tc>
                  <a:txBody>
                    <a:bodyPr/>
                    <a:lstStyle/>
                    <a:p>
                      <a:r>
                        <a:rPr lang="en-US" sz="1000">
                          <a:effectLst/>
                          <a:latin typeface="TimesNewRomanPSMT" charset="0"/>
                        </a:rPr>
                        <a:t>Year </a:t>
                      </a:r>
                      <a:endParaRPr lang="en-US">
                        <a:effectLst/>
                      </a:endParaRPr>
                    </a:p>
                  </a:txBody>
                  <a:tcPr anchor="ctr">
                    <a:lnL w="12700" cap="flat" cmpd="sng" algn="ctr">
                      <a:solidFill>
                        <a:srgbClr val="6D6D6D"/>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tc>
                  <a:txBody>
                    <a:bodyPr/>
                    <a:lstStyle/>
                    <a:p>
                      <a:r>
                        <a:rPr lang="en-US" sz="1000">
                          <a:effectLst/>
                          <a:latin typeface="TimesNewRomanPSMT" charset="0"/>
                        </a:rPr>
                        <a:t>$Abillion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6D6D6D"/>
                      </a:solidFill>
                      <a:prstDash val="solid"/>
                      <a:round/>
                      <a:headEnd type="none" w="med" len="med"/>
                      <a:tailEnd type="none" w="med" len="med"/>
                    </a:lnR>
                    <a:lnT w="12700" cap="flat" cmpd="sng" algn="ctr">
                      <a:solidFill>
                        <a:srgbClr val="70707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CCE5BF"/>
                    </a:solidFill>
                  </a:tcPr>
                </a:tc>
                <a:extLst>
                  <a:ext uri="{0D108BD9-81ED-4DB2-BD59-A6C34878D82A}">
                    <a16:rowId xmlns:a16="http://schemas.microsoft.com/office/drawing/2014/main" val="10001"/>
                  </a:ext>
                </a:extLst>
              </a:tr>
              <a:tr h="0">
                <a:tc>
                  <a:txBody>
                    <a:bodyPr/>
                    <a:lstStyle/>
                    <a:p>
                      <a:r>
                        <a:rPr lang="is-IS" sz="1000">
                          <a:effectLst/>
                          <a:latin typeface="TimesNewRomanPSMT" charset="0"/>
                        </a:rPr>
                        <a:t>2006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20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extLst>
                  <a:ext uri="{0D108BD9-81ED-4DB2-BD59-A6C34878D82A}">
                    <a16:rowId xmlns:a16="http://schemas.microsoft.com/office/drawing/2014/main" val="10002"/>
                  </a:ext>
                </a:extLst>
              </a:tr>
              <a:tr h="0">
                <a:tc>
                  <a:txBody>
                    <a:bodyPr/>
                    <a:lstStyle/>
                    <a:p>
                      <a:r>
                        <a:rPr lang="is-IS" sz="1000">
                          <a:effectLst/>
                          <a:latin typeface="TimesNewRomanPSMT" charset="0"/>
                        </a:rPr>
                        <a:t>2007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is-IS" sz="1000">
                          <a:effectLst/>
                          <a:latin typeface="TimesNewRomanPSMT" charset="0"/>
                        </a:rPr>
                        <a:t>25 </a:t>
                      </a:r>
                      <a:endParaRPr lang="is-I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extLst>
                  <a:ext uri="{0D108BD9-81ED-4DB2-BD59-A6C34878D82A}">
                    <a16:rowId xmlns:a16="http://schemas.microsoft.com/office/drawing/2014/main" val="10003"/>
                  </a:ext>
                </a:extLst>
              </a:tr>
              <a:tr h="0">
                <a:tc>
                  <a:txBody>
                    <a:bodyPr/>
                    <a:lstStyle/>
                    <a:p>
                      <a:r>
                        <a:rPr lang="is-IS" sz="1000">
                          <a:effectLst/>
                          <a:latin typeface="TimesNewRomanPSMT" charset="0"/>
                        </a:rPr>
                        <a:t>2008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30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extLst>
                  <a:ext uri="{0D108BD9-81ED-4DB2-BD59-A6C34878D82A}">
                    <a16:rowId xmlns:a16="http://schemas.microsoft.com/office/drawing/2014/main" val="10004"/>
                  </a:ext>
                </a:extLst>
              </a:tr>
              <a:tr h="0">
                <a:tc>
                  <a:txBody>
                    <a:bodyPr/>
                    <a:lstStyle/>
                    <a:p>
                      <a:r>
                        <a:rPr lang="is-IS" sz="1000">
                          <a:effectLst/>
                          <a:latin typeface="TimesNewRomanPSMT" charset="0"/>
                        </a:rPr>
                        <a:t>2009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45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3" cap="flat" cmpd="sng" algn="ctr">
                      <a:solidFill>
                        <a:srgbClr val="000000"/>
                      </a:solidFill>
                      <a:prstDash val="solid"/>
                      <a:round/>
                      <a:headEnd type="none" w="med" len="med"/>
                      <a:tailEnd type="none" w="med" len="med"/>
                    </a:lnB>
                    <a:solidFill>
                      <a:srgbClr val="F4F9F4"/>
                    </a:solidFill>
                  </a:tcPr>
                </a:tc>
                <a:extLst>
                  <a:ext uri="{0D108BD9-81ED-4DB2-BD59-A6C34878D82A}">
                    <a16:rowId xmlns:a16="http://schemas.microsoft.com/office/drawing/2014/main" val="10005"/>
                  </a:ext>
                </a:extLst>
              </a:tr>
              <a:tr h="0">
                <a:tc>
                  <a:txBody>
                    <a:bodyPr/>
                    <a:lstStyle/>
                    <a:p>
                      <a:r>
                        <a:rPr lang="is-IS" sz="1000">
                          <a:effectLst/>
                          <a:latin typeface="TimesNewRomanPSMT" charset="0"/>
                        </a:rPr>
                        <a:t>2010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tc>
                  <a:txBody>
                    <a:bodyPr/>
                    <a:lstStyle/>
                    <a:p>
                      <a:r>
                        <a:rPr lang="en-US" sz="1000">
                          <a:effectLst/>
                          <a:latin typeface="TimesNewRomanPSMT" charset="0"/>
                        </a:rPr>
                        <a:t>60 </a:t>
                      </a:r>
                      <a:endParaRPr lang="en-US">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3"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4F9F4"/>
                    </a:solidFill>
                  </a:tcPr>
                </a:tc>
                <a:extLst>
                  <a:ext uri="{0D108BD9-81ED-4DB2-BD59-A6C34878D82A}">
                    <a16:rowId xmlns:a16="http://schemas.microsoft.com/office/drawing/2014/main" val="10006"/>
                  </a:ext>
                </a:extLst>
              </a:tr>
              <a:tr h="0">
                <a:tc>
                  <a:txBody>
                    <a:bodyPr/>
                    <a:lstStyle/>
                    <a:p>
                      <a:r>
                        <a:rPr lang="is-IS" sz="1000">
                          <a:effectLst/>
                          <a:latin typeface="TimesNewRomanPSMT" charset="0"/>
                        </a:rPr>
                        <a:t>2011 </a:t>
                      </a:r>
                      <a:endParaRPr lang="is-IS">
                        <a:effectLst/>
                      </a:endParaRPr>
                    </a:p>
                  </a:txBody>
                  <a:tcPr anchor="ctr">
                    <a:lnL w="12700" cap="flat" cmpd="sng" algn="ctr">
                      <a:solidFill>
                        <a:srgbClr val="70707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tc>
                  <a:txBody>
                    <a:bodyPr/>
                    <a:lstStyle/>
                    <a:p>
                      <a:r>
                        <a:rPr lang="en-US" sz="1000" dirty="0">
                          <a:effectLst/>
                          <a:latin typeface="TimesNewRomanPSMT" charset="0"/>
                        </a:rPr>
                        <a:t>75 </a:t>
                      </a:r>
                      <a:endParaRPr lang="en-US" dirty="0">
                        <a:effectLst/>
                      </a:endParaRPr>
                    </a:p>
                  </a:txBody>
                  <a:tcPr anchor="ctr">
                    <a:lnL w="12700" cap="flat" cmpd="sng" algn="ctr">
                      <a:solidFill>
                        <a:srgbClr val="000000"/>
                      </a:solidFill>
                      <a:prstDash val="solid"/>
                      <a:round/>
                      <a:headEnd type="none" w="med" len="med"/>
                      <a:tailEnd type="none" w="med" len="med"/>
                    </a:lnL>
                    <a:lnR w="12700" cap="flat" cmpd="sng" algn="ctr">
                      <a:solidFill>
                        <a:srgbClr val="70707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707070"/>
                      </a:solidFill>
                      <a:prstDash val="solid"/>
                      <a:round/>
                      <a:headEnd type="none" w="med" len="med"/>
                      <a:tailEnd type="none" w="med" len="med"/>
                    </a:lnB>
                    <a:solidFill>
                      <a:srgbClr val="F4F9F4"/>
                    </a:solidFill>
                  </a:tcPr>
                </a:tc>
                <a:extLst>
                  <a:ext uri="{0D108BD9-81ED-4DB2-BD59-A6C34878D82A}">
                    <a16:rowId xmlns:a16="http://schemas.microsoft.com/office/drawing/2014/main" val="10007"/>
                  </a:ext>
                </a:extLst>
              </a:tr>
            </a:tbl>
          </a:graphicData>
        </a:graphic>
      </p:graphicFrame>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8619" y="3182461"/>
            <a:ext cx="2857500" cy="1790700"/>
          </a:xfrm>
          <a:prstGeom prst="rect">
            <a:avLst/>
          </a:prstGeom>
        </p:spPr>
      </p:pic>
      <p:sp>
        <p:nvSpPr>
          <p:cNvPr id="17" name="TextBox 16"/>
          <p:cNvSpPr txBox="1"/>
          <p:nvPr/>
        </p:nvSpPr>
        <p:spPr>
          <a:xfrm>
            <a:off x="3275856" y="5178110"/>
            <a:ext cx="5350567" cy="369332"/>
          </a:xfrm>
          <a:prstGeom prst="rect">
            <a:avLst/>
          </a:prstGeom>
          <a:noFill/>
        </p:spPr>
        <p:txBody>
          <a:bodyPr wrap="none" rtlCol="0">
            <a:spAutoFit/>
          </a:bodyPr>
          <a:lstStyle/>
          <a:p>
            <a:r>
              <a:rPr lang="en-US" dirty="0"/>
              <a:t>The independent variable, Year, is placed on the x-axis. </a:t>
            </a:r>
          </a:p>
        </p:txBody>
      </p:sp>
      <p:sp>
        <p:nvSpPr>
          <p:cNvPr id="15" name="TextBox 14"/>
          <p:cNvSpPr txBox="1"/>
          <p:nvPr/>
        </p:nvSpPr>
        <p:spPr>
          <a:xfrm>
            <a:off x="3275856" y="5653080"/>
            <a:ext cx="4818820" cy="369332"/>
          </a:xfrm>
          <a:prstGeom prst="rect">
            <a:avLst/>
          </a:prstGeom>
          <a:noFill/>
        </p:spPr>
        <p:txBody>
          <a:bodyPr wrap="none" rtlCol="0">
            <a:spAutoFit/>
          </a:bodyPr>
          <a:lstStyle/>
          <a:p>
            <a:r>
              <a:rPr lang="en-US" dirty="0"/>
              <a:t>The dependent ($) , Year, is placed on the y-axis. </a:t>
            </a:r>
          </a:p>
        </p:txBody>
      </p:sp>
    </p:spTree>
    <p:extLst>
      <p:ext uri="{BB962C8B-B14F-4D97-AF65-F5344CB8AC3E}">
        <p14:creationId xmlns:p14="http://schemas.microsoft.com/office/powerpoint/2010/main" val="46181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 </a:t>
            </a:r>
            <a:r>
              <a:rPr lang="en-GB" sz="2400" b="1" dirty="0"/>
              <a:t>EQ: How do I compare bivariate Data?</a:t>
            </a:r>
            <a:endParaRPr lang="en-AU" sz="2400" dirty="0"/>
          </a:p>
        </p:txBody>
      </p:sp>
      <p:pic>
        <p:nvPicPr>
          <p:cNvPr id="3" name="Picture 2">
            <a:extLst>
              <a:ext uri="{FF2B5EF4-FFF2-40B4-BE49-F238E27FC236}">
                <a16:creationId xmlns:a16="http://schemas.microsoft.com/office/drawing/2014/main" id="{00DC73D4-B0C4-4EA9-83F6-6E7D6F16264E}"/>
              </a:ext>
            </a:extLst>
          </p:cNvPr>
          <p:cNvPicPr>
            <a:picLocks noChangeAspect="1"/>
          </p:cNvPicPr>
          <p:nvPr/>
        </p:nvPicPr>
        <p:blipFill>
          <a:blip r:embed="rId3"/>
          <a:stretch>
            <a:fillRect/>
          </a:stretch>
        </p:blipFill>
        <p:spPr>
          <a:xfrm>
            <a:off x="89078" y="1943147"/>
            <a:ext cx="3196928" cy="4126116"/>
          </a:xfrm>
          <a:prstGeom prst="rect">
            <a:avLst/>
          </a:prstGeom>
        </p:spPr>
      </p:pic>
      <p:pic>
        <p:nvPicPr>
          <p:cNvPr id="5" name="Picture 4">
            <a:extLst>
              <a:ext uri="{FF2B5EF4-FFF2-40B4-BE49-F238E27FC236}">
                <a16:creationId xmlns:a16="http://schemas.microsoft.com/office/drawing/2014/main" id="{EC601CE7-34FA-4BCA-A41E-603809844764}"/>
              </a:ext>
            </a:extLst>
          </p:cNvPr>
          <p:cNvPicPr>
            <a:picLocks noChangeAspect="1"/>
          </p:cNvPicPr>
          <p:nvPr/>
        </p:nvPicPr>
        <p:blipFill>
          <a:blip r:embed="rId4"/>
          <a:stretch>
            <a:fillRect/>
          </a:stretch>
        </p:blipFill>
        <p:spPr>
          <a:xfrm>
            <a:off x="3321815" y="1916832"/>
            <a:ext cx="5822185" cy="4499238"/>
          </a:xfrm>
          <a:prstGeom prst="rect">
            <a:avLst/>
          </a:prstGeom>
        </p:spPr>
      </p:pic>
    </p:spTree>
    <p:extLst>
      <p:ext uri="{BB962C8B-B14F-4D97-AF65-F5344CB8AC3E}">
        <p14:creationId xmlns:p14="http://schemas.microsoft.com/office/powerpoint/2010/main" val="3103614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 </a:t>
            </a:r>
            <a:r>
              <a:rPr lang="en-GB" sz="2400" b="1" dirty="0"/>
              <a:t>EQ: How do I compare bivariate Data?</a:t>
            </a:r>
            <a:endParaRPr lang="en-AU" sz="2400" dirty="0"/>
          </a:p>
        </p:txBody>
      </p:sp>
      <p:pic>
        <p:nvPicPr>
          <p:cNvPr id="3" name="Picture 2">
            <a:extLst>
              <a:ext uri="{FF2B5EF4-FFF2-40B4-BE49-F238E27FC236}">
                <a16:creationId xmlns:a16="http://schemas.microsoft.com/office/drawing/2014/main" id="{00DC73D4-B0C4-4EA9-83F6-6E7D6F16264E}"/>
              </a:ext>
            </a:extLst>
          </p:cNvPr>
          <p:cNvPicPr>
            <a:picLocks noChangeAspect="1"/>
          </p:cNvPicPr>
          <p:nvPr/>
        </p:nvPicPr>
        <p:blipFill>
          <a:blip r:embed="rId2"/>
          <a:stretch>
            <a:fillRect/>
          </a:stretch>
        </p:blipFill>
        <p:spPr>
          <a:xfrm>
            <a:off x="89078" y="1943147"/>
            <a:ext cx="3196928" cy="4126116"/>
          </a:xfrm>
          <a:prstGeom prst="rect">
            <a:avLst/>
          </a:prstGeom>
        </p:spPr>
      </p:pic>
      <p:pic>
        <p:nvPicPr>
          <p:cNvPr id="8" name="Picture 7">
            <a:extLst>
              <a:ext uri="{FF2B5EF4-FFF2-40B4-BE49-F238E27FC236}">
                <a16:creationId xmlns:a16="http://schemas.microsoft.com/office/drawing/2014/main" id="{9E1101B0-D5DC-4BB1-A9AB-106805B5201F}"/>
              </a:ext>
            </a:extLst>
          </p:cNvPr>
          <p:cNvPicPr>
            <a:picLocks noChangeAspect="1"/>
          </p:cNvPicPr>
          <p:nvPr/>
        </p:nvPicPr>
        <p:blipFill>
          <a:blip r:embed="rId3"/>
          <a:stretch>
            <a:fillRect/>
          </a:stretch>
        </p:blipFill>
        <p:spPr>
          <a:xfrm>
            <a:off x="3325263" y="1934835"/>
            <a:ext cx="5822185" cy="4499238"/>
          </a:xfrm>
          <a:prstGeom prst="rect">
            <a:avLst/>
          </a:prstGeom>
        </p:spPr>
      </p:pic>
    </p:spTree>
    <p:extLst>
      <p:ext uri="{BB962C8B-B14F-4D97-AF65-F5344CB8AC3E}">
        <p14:creationId xmlns:p14="http://schemas.microsoft.com/office/powerpoint/2010/main" val="1251083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 </a:t>
            </a:r>
            <a:r>
              <a:rPr lang="en-GB" sz="2400" b="1" dirty="0"/>
              <a:t>EQ: How do I compare bivariate Data?</a:t>
            </a:r>
            <a:endParaRPr lang="en-AU" sz="2400" dirty="0"/>
          </a:p>
        </p:txBody>
      </p:sp>
      <p:pic>
        <p:nvPicPr>
          <p:cNvPr id="8" name="Picture 7">
            <a:extLst>
              <a:ext uri="{FF2B5EF4-FFF2-40B4-BE49-F238E27FC236}">
                <a16:creationId xmlns:a16="http://schemas.microsoft.com/office/drawing/2014/main" id="{9E1101B0-D5DC-4BB1-A9AB-106805B5201F}"/>
              </a:ext>
            </a:extLst>
          </p:cNvPr>
          <p:cNvPicPr>
            <a:picLocks noChangeAspect="1"/>
          </p:cNvPicPr>
          <p:nvPr/>
        </p:nvPicPr>
        <p:blipFill>
          <a:blip r:embed="rId2"/>
          <a:stretch>
            <a:fillRect/>
          </a:stretch>
        </p:blipFill>
        <p:spPr>
          <a:xfrm>
            <a:off x="3325263" y="1934835"/>
            <a:ext cx="5822185" cy="4499238"/>
          </a:xfrm>
          <a:prstGeom prst="rect">
            <a:avLst/>
          </a:prstGeom>
        </p:spPr>
      </p:pic>
      <p:sp>
        <p:nvSpPr>
          <p:cNvPr id="13" name="Rectangle 12">
            <a:extLst>
              <a:ext uri="{FF2B5EF4-FFF2-40B4-BE49-F238E27FC236}">
                <a16:creationId xmlns:a16="http://schemas.microsoft.com/office/drawing/2014/main" id="{8E9A2785-A784-4A8B-89ED-2FCDF02FC7AC}"/>
              </a:ext>
            </a:extLst>
          </p:cNvPr>
          <p:cNvSpPr/>
          <p:nvPr/>
        </p:nvSpPr>
        <p:spPr>
          <a:xfrm>
            <a:off x="125601" y="2086157"/>
            <a:ext cx="2358167" cy="1754326"/>
          </a:xfrm>
          <a:prstGeom prst="rect">
            <a:avLst/>
          </a:prstGeom>
        </p:spPr>
        <p:txBody>
          <a:bodyPr wrap="square">
            <a:spAutoFit/>
          </a:bodyPr>
          <a:lstStyle/>
          <a:p>
            <a:r>
              <a:rPr lang="en-US" dirty="0"/>
              <a:t>Title</a:t>
            </a:r>
          </a:p>
          <a:p>
            <a:endParaRPr lang="en-US" dirty="0"/>
          </a:p>
          <a:p>
            <a:r>
              <a:rPr lang="en-US" dirty="0"/>
              <a:t>Y axis labelled</a:t>
            </a:r>
          </a:p>
          <a:p>
            <a:endParaRPr lang="en-US" dirty="0"/>
          </a:p>
          <a:p>
            <a:r>
              <a:rPr lang="en-US" dirty="0"/>
              <a:t>X axis labelled</a:t>
            </a:r>
          </a:p>
          <a:p>
            <a:endParaRPr lang="en-US" dirty="0"/>
          </a:p>
        </p:txBody>
      </p:sp>
      <p:sp>
        <p:nvSpPr>
          <p:cNvPr id="14" name="Rectangle 13">
            <a:extLst>
              <a:ext uri="{FF2B5EF4-FFF2-40B4-BE49-F238E27FC236}">
                <a16:creationId xmlns:a16="http://schemas.microsoft.com/office/drawing/2014/main" id="{28024708-9B82-4A4E-9F28-7C936EED81B3}"/>
              </a:ext>
            </a:extLst>
          </p:cNvPr>
          <p:cNvSpPr/>
          <p:nvPr/>
        </p:nvSpPr>
        <p:spPr>
          <a:xfrm>
            <a:off x="93471" y="3840483"/>
            <a:ext cx="2358167" cy="1754326"/>
          </a:xfrm>
          <a:prstGeom prst="rect">
            <a:avLst/>
          </a:prstGeom>
        </p:spPr>
        <p:txBody>
          <a:bodyPr wrap="square">
            <a:spAutoFit/>
          </a:bodyPr>
          <a:lstStyle/>
          <a:p>
            <a:r>
              <a:rPr lang="en-US" dirty="0"/>
              <a:t>Scale on the x axis appropriate</a:t>
            </a:r>
          </a:p>
          <a:p>
            <a:endParaRPr lang="en-US" dirty="0"/>
          </a:p>
          <a:p>
            <a:r>
              <a:rPr lang="en-US" dirty="0"/>
              <a:t>Scale on the y axis appropriate</a:t>
            </a:r>
          </a:p>
          <a:p>
            <a:endParaRPr lang="en-US" dirty="0"/>
          </a:p>
        </p:txBody>
      </p:sp>
    </p:spTree>
    <p:extLst>
      <p:ext uri="{BB962C8B-B14F-4D97-AF65-F5344CB8AC3E}">
        <p14:creationId xmlns:p14="http://schemas.microsoft.com/office/powerpoint/2010/main" val="945539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randombar(horizont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sp>
        <p:nvSpPr>
          <p:cNvPr id="10" name="TextBox 9"/>
          <p:cNvSpPr txBox="1"/>
          <p:nvPr/>
        </p:nvSpPr>
        <p:spPr>
          <a:xfrm>
            <a:off x="1115616" y="404664"/>
            <a:ext cx="2292935" cy="954107"/>
          </a:xfrm>
          <a:prstGeom prst="rect">
            <a:avLst/>
          </a:prstGeom>
          <a:noFill/>
        </p:spPr>
        <p:txBody>
          <a:bodyPr wrap="none" rtlCol="0">
            <a:spAutoFit/>
          </a:bodyPr>
          <a:lstStyle/>
          <a:p>
            <a:r>
              <a:rPr lang="en-GB" sz="2800" b="1" dirty="0"/>
              <a:t>Bivariate Data</a:t>
            </a:r>
            <a:br>
              <a:rPr lang="en-GB" sz="2800" b="1" dirty="0"/>
            </a:br>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 </a:t>
            </a:r>
            <a:r>
              <a:rPr lang="en-GB" sz="2400" b="1" dirty="0"/>
              <a:t>EQ: How do I compare bivariate Data?</a:t>
            </a:r>
            <a:endParaRPr lang="en-AU" sz="2400" dirty="0"/>
          </a:p>
        </p:txBody>
      </p:sp>
      <p:pic>
        <p:nvPicPr>
          <p:cNvPr id="8" name="Picture 7">
            <a:extLst>
              <a:ext uri="{FF2B5EF4-FFF2-40B4-BE49-F238E27FC236}">
                <a16:creationId xmlns:a16="http://schemas.microsoft.com/office/drawing/2014/main" id="{9E1101B0-D5DC-4BB1-A9AB-106805B5201F}"/>
              </a:ext>
            </a:extLst>
          </p:cNvPr>
          <p:cNvPicPr>
            <a:picLocks noChangeAspect="1"/>
          </p:cNvPicPr>
          <p:nvPr/>
        </p:nvPicPr>
        <p:blipFill>
          <a:blip r:embed="rId2"/>
          <a:stretch>
            <a:fillRect/>
          </a:stretch>
        </p:blipFill>
        <p:spPr>
          <a:xfrm>
            <a:off x="1" y="1916831"/>
            <a:ext cx="4565870" cy="3528390"/>
          </a:xfrm>
          <a:prstGeom prst="rect">
            <a:avLst/>
          </a:prstGeom>
        </p:spPr>
      </p:pic>
      <p:pic>
        <p:nvPicPr>
          <p:cNvPr id="3" name="Picture 2">
            <a:extLst>
              <a:ext uri="{FF2B5EF4-FFF2-40B4-BE49-F238E27FC236}">
                <a16:creationId xmlns:a16="http://schemas.microsoft.com/office/drawing/2014/main" id="{36D1DF33-8B2D-41C4-83C5-33DC71272726}"/>
              </a:ext>
            </a:extLst>
          </p:cNvPr>
          <p:cNvPicPr>
            <a:picLocks noChangeAspect="1"/>
          </p:cNvPicPr>
          <p:nvPr/>
        </p:nvPicPr>
        <p:blipFill>
          <a:blip r:embed="rId3"/>
          <a:stretch>
            <a:fillRect/>
          </a:stretch>
        </p:blipFill>
        <p:spPr>
          <a:xfrm>
            <a:off x="4582628" y="1916831"/>
            <a:ext cx="4565870" cy="3532088"/>
          </a:xfrm>
          <a:prstGeom prst="rect">
            <a:avLst/>
          </a:prstGeom>
        </p:spPr>
      </p:pic>
      <p:sp>
        <p:nvSpPr>
          <p:cNvPr id="15" name="Rectangle 14">
            <a:extLst>
              <a:ext uri="{FF2B5EF4-FFF2-40B4-BE49-F238E27FC236}">
                <a16:creationId xmlns:a16="http://schemas.microsoft.com/office/drawing/2014/main" id="{7AB1BBF9-65C6-4EA4-BC75-645E5024393F}"/>
              </a:ext>
            </a:extLst>
          </p:cNvPr>
          <p:cNvSpPr/>
          <p:nvPr/>
        </p:nvSpPr>
        <p:spPr>
          <a:xfrm>
            <a:off x="1338525" y="5513786"/>
            <a:ext cx="6892738" cy="646331"/>
          </a:xfrm>
          <a:prstGeom prst="rect">
            <a:avLst/>
          </a:prstGeom>
        </p:spPr>
        <p:txBody>
          <a:bodyPr wrap="square">
            <a:spAutoFit/>
          </a:bodyPr>
          <a:lstStyle/>
          <a:p>
            <a:r>
              <a:rPr lang="en-US" dirty="0"/>
              <a:t>Exact same data, but impossible to understand what is going on.</a:t>
            </a:r>
          </a:p>
          <a:p>
            <a:endParaRPr lang="en-US" dirty="0"/>
          </a:p>
        </p:txBody>
      </p:sp>
    </p:spTree>
    <p:extLst>
      <p:ext uri="{BB962C8B-B14F-4D97-AF65-F5344CB8AC3E}">
        <p14:creationId xmlns:p14="http://schemas.microsoft.com/office/powerpoint/2010/main" val="3637719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548680"/>
            <a:ext cx="8352928" cy="4555093"/>
          </a:xfrm>
          <a:prstGeom prst="rect">
            <a:avLst/>
          </a:prstGeom>
        </p:spPr>
        <p:txBody>
          <a:bodyPr wrap="square">
            <a:spAutoFit/>
          </a:bodyPr>
          <a:lstStyle/>
          <a:p>
            <a:pPr algn="ctr"/>
            <a:r>
              <a:rPr lang="en-US" sz="3600" dirty="0">
                <a:latin typeface="Times" charset="0"/>
              </a:rPr>
              <a:t>In summary</a:t>
            </a:r>
          </a:p>
          <a:p>
            <a:pPr algn="ctr"/>
            <a:endParaRPr lang="en-US" sz="2800" dirty="0">
              <a:latin typeface="Times" charset="0"/>
            </a:endParaRPr>
          </a:p>
          <a:p>
            <a:r>
              <a:rPr lang="en-US" sz="2800" dirty="0">
                <a:latin typeface="Times" charset="0"/>
              </a:rPr>
              <a:t>We often want to know if there is a relationship between the items in two different data sets. Examples of this are: </a:t>
            </a:r>
            <a:endParaRPr lang="en-US" sz="2800" dirty="0"/>
          </a:p>
          <a:p>
            <a:pPr marL="342900" indent="-342900">
              <a:lnSpc>
                <a:spcPct val="150000"/>
              </a:lnSpc>
              <a:buFont typeface="Arial" panose="020B0604020202020204" pitchFamily="34" charset="0"/>
              <a:buChar char="•"/>
            </a:pPr>
            <a:endParaRPr lang="en-US" sz="2000" dirty="0">
              <a:latin typeface="Times" charset="0"/>
            </a:endParaRPr>
          </a:p>
          <a:p>
            <a:pPr marL="342900" indent="-342900">
              <a:lnSpc>
                <a:spcPct val="150000"/>
              </a:lnSpc>
              <a:buFont typeface="Arial" panose="020B0604020202020204" pitchFamily="34" charset="0"/>
              <a:buChar char="•"/>
            </a:pPr>
            <a:r>
              <a:rPr lang="en-US" sz="2000" dirty="0">
                <a:latin typeface="Times" charset="0"/>
              </a:rPr>
              <a:t>Is there a relationship between children’s ages and their heights? </a:t>
            </a:r>
          </a:p>
          <a:p>
            <a:pPr marL="342900" indent="-342900">
              <a:lnSpc>
                <a:spcPct val="150000"/>
              </a:lnSpc>
              <a:buFont typeface="Arial" panose="020B0604020202020204" pitchFamily="34" charset="0"/>
              <a:buChar char="•"/>
            </a:pPr>
            <a:r>
              <a:rPr lang="en-US" sz="2000" dirty="0">
                <a:latin typeface="Times" charset="0"/>
              </a:rPr>
              <a:t>Is there a relationship between people’s heights and weights? </a:t>
            </a:r>
          </a:p>
          <a:p>
            <a:pPr marL="342900" indent="-342900">
              <a:lnSpc>
                <a:spcPct val="150000"/>
              </a:lnSpc>
              <a:buFont typeface="Arial" panose="020B0604020202020204" pitchFamily="34" charset="0"/>
              <a:buChar char="•"/>
            </a:pPr>
            <a:r>
              <a:rPr lang="en-US" sz="2000" dirty="0">
                <a:latin typeface="Times" charset="0"/>
              </a:rPr>
              <a:t>Is there a relationship between students’ marks in an English examination and their marks in a mathematics examination? </a:t>
            </a:r>
          </a:p>
          <a:p>
            <a:pPr>
              <a:buFont typeface="Arial" charset="0"/>
              <a:buChar char="•"/>
            </a:pPr>
            <a:endParaRPr lang="en-US" sz="2000" dirty="0">
              <a:latin typeface="Times" charset="0"/>
            </a:endParaRPr>
          </a:p>
        </p:txBody>
      </p:sp>
      <p:sp>
        <p:nvSpPr>
          <p:cNvPr id="3" name="Rectangle 2">
            <a:extLst>
              <a:ext uri="{FF2B5EF4-FFF2-40B4-BE49-F238E27FC236}">
                <a16:creationId xmlns:a16="http://schemas.microsoft.com/office/drawing/2014/main" id="{533A798A-2101-47E4-A7EE-638A146BCC4C}"/>
              </a:ext>
            </a:extLst>
          </p:cNvPr>
          <p:cNvSpPr/>
          <p:nvPr/>
        </p:nvSpPr>
        <p:spPr>
          <a:xfrm>
            <a:off x="3046354" y="5301208"/>
            <a:ext cx="3051292" cy="738664"/>
          </a:xfrm>
          <a:prstGeom prst="rect">
            <a:avLst/>
          </a:prstGeom>
        </p:spPr>
        <p:txBody>
          <a:bodyPr wrap="square">
            <a:spAutoFit/>
          </a:bodyPr>
          <a:lstStyle/>
          <a:p>
            <a:pPr algn="ctr"/>
            <a:r>
              <a:rPr lang="en-US" sz="2400" dirty="0">
                <a:latin typeface="Arial" panose="020B0604020202020204" pitchFamily="34" charset="0"/>
                <a:cs typeface="Arial" panose="020B0604020202020204" pitchFamily="34" charset="0"/>
              </a:rPr>
              <a:t>What do you think?</a:t>
            </a:r>
          </a:p>
          <a:p>
            <a:endParaRPr lang="en-US" dirty="0"/>
          </a:p>
        </p:txBody>
      </p:sp>
    </p:spTree>
    <p:extLst>
      <p:ext uri="{BB962C8B-B14F-4D97-AF65-F5344CB8AC3E}">
        <p14:creationId xmlns:p14="http://schemas.microsoft.com/office/powerpoint/2010/main" val="19363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Notes Review</a:t>
            </a:r>
          </a:p>
        </p:txBody>
      </p:sp>
      <p:sp>
        <p:nvSpPr>
          <p:cNvPr id="3" name="Content Placeholder 2"/>
          <p:cNvSpPr>
            <a:spLocks noGrp="1"/>
          </p:cNvSpPr>
          <p:nvPr>
            <p:ph idx="1"/>
          </p:nvPr>
        </p:nvSpPr>
        <p:spPr/>
        <p:txBody>
          <a:bodyPr>
            <a:normAutofit fontScale="85000" lnSpcReduction="20000"/>
          </a:bodyPr>
          <a:lstStyle/>
          <a:p>
            <a:r>
              <a:rPr lang="en-AU" dirty="0"/>
              <a:t>24, 7 ,30</a:t>
            </a:r>
          </a:p>
          <a:p>
            <a:r>
              <a:rPr lang="en-AU" dirty="0"/>
              <a:t>Date</a:t>
            </a:r>
          </a:p>
          <a:p>
            <a:r>
              <a:rPr lang="en-AU" dirty="0"/>
              <a:t>Title</a:t>
            </a:r>
          </a:p>
          <a:p>
            <a:r>
              <a:rPr lang="en-AU" dirty="0"/>
              <a:t>Essential question</a:t>
            </a:r>
          </a:p>
          <a:p>
            <a:r>
              <a:rPr lang="en-AU" dirty="0"/>
              <a:t>Notes complete </a:t>
            </a:r>
          </a:p>
          <a:p>
            <a:r>
              <a:rPr lang="en-AU" dirty="0"/>
              <a:t>Notes complete with colour and diagrams</a:t>
            </a:r>
          </a:p>
          <a:p>
            <a:r>
              <a:rPr lang="en-AU" dirty="0"/>
              <a:t>Questions completed</a:t>
            </a:r>
          </a:p>
          <a:p>
            <a:r>
              <a:rPr lang="en-AU" dirty="0"/>
              <a:t>Contents page filed in</a:t>
            </a:r>
          </a:p>
          <a:p>
            <a:r>
              <a:rPr lang="en-AU" dirty="0"/>
              <a:t>Formula page filled in</a:t>
            </a:r>
          </a:p>
          <a:p>
            <a:pPr marL="0" indent="0">
              <a:buNone/>
            </a:pPr>
            <a:endParaRPr lang="en-AU" dirty="0"/>
          </a:p>
          <a:p>
            <a:endParaRPr lang="en-AU" dirty="0"/>
          </a:p>
        </p:txBody>
      </p:sp>
    </p:spTree>
    <p:extLst>
      <p:ext uri="{BB962C8B-B14F-4D97-AF65-F5344CB8AC3E}">
        <p14:creationId xmlns:p14="http://schemas.microsoft.com/office/powerpoint/2010/main" val="3069921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Homework</a:t>
            </a:r>
          </a:p>
        </p:txBody>
      </p:sp>
      <p:sp>
        <p:nvSpPr>
          <p:cNvPr id="3" name="Content Placeholder 2"/>
          <p:cNvSpPr>
            <a:spLocks noGrp="1"/>
          </p:cNvSpPr>
          <p:nvPr>
            <p:ph idx="1"/>
          </p:nvPr>
        </p:nvSpPr>
        <p:spPr/>
        <p:txBody>
          <a:bodyPr/>
          <a:lstStyle/>
          <a:p>
            <a:r>
              <a:rPr lang="en-AU" dirty="0"/>
              <a:t>Review your notes and write a summary answering the essential question. </a:t>
            </a:r>
          </a:p>
        </p:txBody>
      </p:sp>
    </p:spTree>
    <p:extLst>
      <p:ext uri="{BB962C8B-B14F-4D97-AF65-F5344CB8AC3E}">
        <p14:creationId xmlns:p14="http://schemas.microsoft.com/office/powerpoint/2010/main" val="7634225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6702</TotalTime>
  <Words>612</Words>
  <Application>Microsoft Office PowerPoint</Application>
  <PresentationFormat>On-screen Show (4:3)</PresentationFormat>
  <Paragraphs>143</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Gill Sans MT</vt:lpstr>
      <vt:lpstr>Times</vt:lpstr>
      <vt:lpstr>TimesNewRomanPSMT</vt:lpstr>
      <vt:lpstr>Gallery</vt:lpstr>
      <vt:lpstr>Topic: Bivariate Data  EQ: How do I compare bivariate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Notes Review</vt:lpstr>
      <vt:lpstr>Homework</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Hamilton Stott</cp:lastModifiedBy>
  <cp:revision>83</cp:revision>
  <dcterms:created xsi:type="dcterms:W3CDTF">2014-05-14T02:58:57Z</dcterms:created>
  <dcterms:modified xsi:type="dcterms:W3CDTF">2018-10-14T12:36:34Z</dcterms:modified>
</cp:coreProperties>
</file>
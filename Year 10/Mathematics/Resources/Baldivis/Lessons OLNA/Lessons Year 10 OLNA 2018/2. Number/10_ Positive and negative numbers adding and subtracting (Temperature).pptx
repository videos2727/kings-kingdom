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56" r:id="rId2"/>
    <p:sldId id="387" r:id="rId3"/>
    <p:sldId id="401" r:id="rId4"/>
    <p:sldId id="424" r:id="rId5"/>
    <p:sldId id="415" r:id="rId6"/>
    <p:sldId id="425" r:id="rId7"/>
    <p:sldId id="416" r:id="rId8"/>
    <p:sldId id="285" r:id="rId9"/>
    <p:sldId id="420" r:id="rId10"/>
    <p:sldId id="422" r:id="rId11"/>
    <p:sldId id="423" r:id="rId12"/>
    <p:sldId id="258" r:id="rId13"/>
    <p:sldId id="259" r:id="rId14"/>
    <p:sldId id="260" r:id="rId15"/>
    <p:sldId id="262" r:id="rId16"/>
    <p:sldId id="263" r:id="rId17"/>
    <p:sldId id="427" r:id="rId18"/>
    <p:sldId id="42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7" autoAdjust="0"/>
    <p:restoredTop sz="75497" autoAdjust="0"/>
  </p:normalViewPr>
  <p:slideViewPr>
    <p:cSldViewPr snapToGrid="0">
      <p:cViewPr varScale="1">
        <p:scale>
          <a:sx n="51" d="100"/>
          <a:sy n="51" d="100"/>
        </p:scale>
        <p:origin x="1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these off for students to fill in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15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4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off for students to add in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90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47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68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928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first operation tells us what end of the number line to face ( + face the positive end of number line) ( - face the negative end of number line)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AU" dirty="0"/>
              <a:t>he second operation and number tells us how far to move and in what direction (forward if it is positive and backwards if it is negative)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77AA-7CC8-43C9-8713-D5D8B1C37AB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6676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first operation tells us what end of the number line to face ( + face the positive end of number line) ( - face the negative end of number line)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AU" dirty="0"/>
              <a:t>he second operation and number tells us how far to move and in what direction (forward if it is positive and backwards if it is negative)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0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first operation tells us what end of the number line to face ( + face the positive end of number line) ( - face the negative end of number line)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AU" dirty="0"/>
              <a:t>he second operation and number tells us how far to move and in what direction (forward if it is positive and backwards if it is negative)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75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first operation tells us what end of the number line to face ( + face the positive end of number line) ( - face the negative end of number line)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AU" dirty="0"/>
              <a:t>he second operation and number tells us how far to move and in what direction (forward if it is positive and backwards if it is negative)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91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40B6-225B-49BB-8988-BAB44A03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89C88-1697-4DDC-A559-7208A6C27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CF110-B2A4-483A-ADA0-2141C99C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8F45-1C76-435C-B753-7CA166E3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6ABF9-0EE7-441D-AD83-19C48B97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5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B018-4B84-4718-9142-DABDFE22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69AE-B3C5-4BB2-9AA4-03357A19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2225-FB2C-4C40-8F62-48D7FE59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20E53-56EE-48EF-ABF0-59F5AEB7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BC6BC-CAA6-4FD9-928F-04D2DCB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2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749B-81AF-476E-8EEF-FE77A675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B3446-944A-448E-BCB8-4B747FF0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EE5F3-D0AC-40B7-8786-16D46087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122D2-1BA7-4131-A86D-B1A8BAF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BF178-CDE9-450D-8852-2511C3E5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68BA-1A45-48DE-A696-66D3CB8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E659-E10D-48C1-B0C3-08FE9D4A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FBCD3-398D-4588-8CC0-C2B429CD5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1EFCE-7663-4CA3-88EB-786802A7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D65C5-0BED-470C-AA0D-6AE6373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53F79-B6C7-40B6-9E04-29A6C35F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5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CC35-708F-48A7-AC2B-D346EDD5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8C90A-72C2-4AAA-AD90-9AE3EC08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7D173-ECD3-4DBB-8D7B-38F22B05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0CA80-B5B3-4F7A-B3D9-07F3C8388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E796C-57B7-45D1-AE36-E182E2AD2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177FB-FF08-418F-9217-EA3F6C73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61780-D977-4531-91F7-9B8DB63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2436E-E0F0-450D-9191-594FF163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42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83D4-2F53-4730-B63B-8C2E2E66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E1F5F-59DF-4792-874D-A7B28CE7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4AF79-AF61-4264-848D-EEE3C0A0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EF858-59AB-4742-BD96-AF33F5C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1E2E6-BC2C-4957-AB1D-9B08278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BF7F9-0E55-46E1-94EA-34999953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4FAB8-48BF-4C89-A71A-2048D0B3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66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48BA-C20E-4F92-8CC2-2E8CE2F7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CCC6-F73C-48A2-9432-16E9D7E3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D8BD0-A270-4EF5-9B04-2304872E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8046E-4A60-48C3-AC6F-E511609B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38C3-5B19-4598-BFF7-AB7A9E9A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049C1-16E6-44A9-8838-EF4C500A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50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12B8-770C-4768-8AA8-9D74B6A6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F4F4D2-6377-4EC6-BD22-E52F6C88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57770-25F4-457E-B556-4CE6A64E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A36EA-DD80-4279-85D1-C40D129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B5086-F432-4B9A-8187-799F3547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FFCB0-54BE-41DF-93BB-17ECB4E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5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31A7-17DD-41D2-87DC-65449493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E4FA2-E59C-4308-96D1-AC91844D7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F240-EF90-4D4A-9CE8-F5C42210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A025-0C68-42FF-B9EA-F7F77163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5D0BB-E363-4F66-8543-8E3EE833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71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41EB6-B3C3-4059-9E19-8956A74BF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E6F54-857C-4234-ABA5-0A3C0472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2E581-0726-48E2-8477-37301DA7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E622A-3BA9-4606-BD67-CD715A10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6DE7C-67AA-4711-86D5-3D7FCF37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19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D936E8-ABBC-4DA3-AB30-F850AFE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03025-19B6-4842-8DB1-6A818347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802F2-F5D8-4B94-93DB-380A1AC06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83A1D-E167-43BA-BBCD-2A3015D32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9E973-8FEE-46B5-BA55-3836D2C8E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8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http://www.mathgoodies.com/lessons/vol5/images/no_line10.gi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http://www.mathgoodies.com/lessons/vol5/images/no_line10.gi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http://www.mathgoodies.com/lessons/vol5/images/no_line10.gi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http://www.mathgoodies.com/lessons/vol5/images/no_line10.gif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http://www.mathgoodies.com/lessons/vol5/images/no_line10.gi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http://www.mathgoodies.com/lessons/vol5/images/no_line10.gi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618509" y="142587"/>
            <a:ext cx="5472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halkduster" charset="0"/>
                <a:ea typeface="Chalkduster" charset="0"/>
                <a:cs typeface="Chalkduster" charset="0"/>
              </a:rPr>
              <a:t>Mental </a:t>
            </a:r>
            <a:r>
              <a:rPr lang="en-US" sz="3600" dirty="0" err="1">
                <a:latin typeface="Chalkduster" charset="0"/>
                <a:ea typeface="Chalkduster" charset="0"/>
                <a:cs typeface="Chalkduster" charset="0"/>
              </a:rPr>
              <a:t>Maths</a:t>
            </a:r>
            <a:r>
              <a:rPr lang="en-US" sz="3600" dirty="0">
                <a:latin typeface="Chalkduster" charset="0"/>
                <a:ea typeface="Chalkduster" charset="0"/>
                <a:cs typeface="Chalkduster" charset="0"/>
              </a:rPr>
              <a:t> Questions</a:t>
            </a:r>
          </a:p>
        </p:txBody>
      </p:sp>
    </p:spTree>
    <p:extLst>
      <p:ext uri="{BB962C8B-B14F-4D97-AF65-F5344CB8AC3E}">
        <p14:creationId xmlns:p14="http://schemas.microsoft.com/office/powerpoint/2010/main" val="1650794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25" y="189365"/>
            <a:ext cx="10830194" cy="640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54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25236" y="1451149"/>
            <a:ext cx="14155" cy="4585855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5546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US" sz="3200" b="1" dirty="0">
                <a:latin typeface="Kiwi School Handwriting" panose="00000500000000000000" pitchFamily="2" charset="0"/>
              </a:rPr>
              <a:t>I</a:t>
            </a:r>
            <a:r>
              <a:rPr lang="en-AU" sz="3200" b="1" dirty="0" err="1">
                <a:latin typeface="Kiwi School Handwriting" panose="00000500000000000000" pitchFamily="2" charset="0"/>
              </a:rPr>
              <a:t>ntegers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I perform calculations with them?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6037004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1345" y="6083399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>
                <a:solidFill>
                  <a:srgbClr val="FF5050"/>
                </a:solidFill>
                <a:latin typeface="Kiwi School Handwriting" panose="00000500000000000000" pitchFamily="2" charset="0"/>
              </a:rPr>
              <a:t>Summary: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2727" y="1648956"/>
            <a:ext cx="10779092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i="1" dirty="0">
                <a:latin typeface="Kiwi School Handwriting" panose="00000500000000000000" pitchFamily="2" charset="0"/>
              </a:rPr>
              <a:t>Integers</a:t>
            </a:r>
            <a:r>
              <a:rPr lang="en-AU" sz="2399" b="1" dirty="0">
                <a:latin typeface="Kiwi School Handwriting" panose="00000500000000000000" pitchFamily="2" charset="0"/>
              </a:rPr>
              <a:t> as _______and _______whole numbers, including 0. </a:t>
            </a:r>
          </a:p>
        </p:txBody>
      </p:sp>
      <p:sp>
        <p:nvSpPr>
          <p:cNvPr id="2" name="Rectangle 1"/>
          <p:cNvSpPr/>
          <p:nvPr/>
        </p:nvSpPr>
        <p:spPr>
          <a:xfrm>
            <a:off x="1202727" y="2626777"/>
            <a:ext cx="103658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i="1" dirty="0">
                <a:latin typeface="Kiwi School Handwriting" panose="00000500000000000000" pitchFamily="2" charset="0"/>
              </a:rPr>
              <a:t>Positive integers</a:t>
            </a:r>
            <a:r>
              <a:rPr lang="en-AU" sz="2400" b="1" dirty="0">
                <a:latin typeface="Kiwi School Handwriting" panose="00000500000000000000" pitchFamily="2" charset="0"/>
              </a:rPr>
              <a:t> are all the whole numbers ________ than zero {1,2,3,4,5,...}</a:t>
            </a:r>
            <a:endParaRPr lang="en-AU" sz="2400" b="1" i="1" dirty="0">
              <a:latin typeface="Kiwi School Handwriting" panose="00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02727" y="3207454"/>
            <a:ext cx="11166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i="1" dirty="0">
                <a:latin typeface="Kiwi School Handwriting" panose="00000500000000000000" pitchFamily="2" charset="0"/>
              </a:rPr>
              <a:t>Negative integers</a:t>
            </a:r>
            <a:r>
              <a:rPr lang="en-AU" sz="2400" b="1" dirty="0">
                <a:latin typeface="Kiwi School Handwriting" panose="00000500000000000000" pitchFamily="2" charset="0"/>
              </a:rPr>
              <a:t> are all the ________ of those whole numbers {-1,-2,-3,-4,-5,...}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2727" y="3803583"/>
            <a:ext cx="55478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Zero is neither _______ or __________.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2727" y="4399712"/>
            <a:ext cx="112789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-5 is the opposite of __ and -243 is the opposite of ___. If an integers is greater than zero (&gt; 0), we say it’s sign is _________ (__). If it’s less than zero (__ 0), we say it’s sign is _________ (___)</a:t>
            </a:r>
          </a:p>
        </p:txBody>
      </p:sp>
    </p:spTree>
    <p:extLst>
      <p:ext uri="{BB962C8B-B14F-4D97-AF65-F5344CB8AC3E}">
        <p14:creationId xmlns:p14="http://schemas.microsoft.com/office/powerpoint/2010/main" val="42388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25236" y="1451149"/>
            <a:ext cx="14155" cy="4585855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5546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US" sz="3200" b="1" dirty="0">
                <a:latin typeface="Kiwi School Handwriting" panose="00000500000000000000" pitchFamily="2" charset="0"/>
              </a:rPr>
              <a:t>I</a:t>
            </a:r>
            <a:r>
              <a:rPr lang="en-AU" sz="3200" b="1" dirty="0" err="1">
                <a:latin typeface="Kiwi School Handwriting" panose="00000500000000000000" pitchFamily="2" charset="0"/>
              </a:rPr>
              <a:t>ntegers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I perform calculations with them?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6037004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1345" y="6083399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>
                <a:solidFill>
                  <a:srgbClr val="FF5050"/>
                </a:solidFill>
                <a:latin typeface="Kiwi School Handwriting" panose="00000500000000000000" pitchFamily="2" charset="0"/>
              </a:rPr>
              <a:t>Summary: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2727" y="1648956"/>
            <a:ext cx="10779092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i="1" dirty="0">
                <a:latin typeface="Kiwi School Handwriting" panose="00000500000000000000" pitchFamily="2" charset="0"/>
              </a:rPr>
              <a:t>Integers</a:t>
            </a:r>
            <a:r>
              <a:rPr lang="en-AU" sz="2399" b="1" dirty="0">
                <a:latin typeface="Kiwi School Handwriting" panose="00000500000000000000" pitchFamily="2" charset="0"/>
              </a:rPr>
              <a:t> as positive and negative whole numbers, including 0. </a:t>
            </a:r>
          </a:p>
        </p:txBody>
      </p:sp>
      <p:sp>
        <p:nvSpPr>
          <p:cNvPr id="2" name="Rectangle 1"/>
          <p:cNvSpPr/>
          <p:nvPr/>
        </p:nvSpPr>
        <p:spPr>
          <a:xfrm>
            <a:off x="1202727" y="2626777"/>
            <a:ext cx="103658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i="1" dirty="0">
                <a:latin typeface="Kiwi School Handwriting" panose="00000500000000000000" pitchFamily="2" charset="0"/>
              </a:rPr>
              <a:t>Positive integers</a:t>
            </a:r>
            <a:r>
              <a:rPr lang="en-AU" sz="2400" b="1" dirty="0">
                <a:latin typeface="Kiwi School Handwriting" panose="00000500000000000000" pitchFamily="2" charset="0"/>
              </a:rPr>
              <a:t> are all the whole numbers greater than zero {1,2,3,4,5,...}</a:t>
            </a:r>
            <a:endParaRPr lang="en-AU" sz="2400" b="1" i="1" dirty="0">
              <a:latin typeface="Kiwi School Handwriting" panose="00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02727" y="3207454"/>
            <a:ext cx="11166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i="1" dirty="0">
                <a:latin typeface="Kiwi School Handwriting" panose="00000500000000000000" pitchFamily="2" charset="0"/>
              </a:rPr>
              <a:t>Negative integers</a:t>
            </a:r>
            <a:r>
              <a:rPr lang="en-AU" sz="2400" b="1" dirty="0">
                <a:latin typeface="Kiwi School Handwriting" panose="00000500000000000000" pitchFamily="2" charset="0"/>
              </a:rPr>
              <a:t> are all the opposites of those whole numbers {-1,-2,-3,-4,-5,...}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2727" y="3803583"/>
            <a:ext cx="5143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Zero is neither positive or negative.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2727" y="4399712"/>
            <a:ext cx="112789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-5 is the opposite of 5 and -243 is the opposite of 243. If an integers is greater than zero (&gt; 0), we say it’s sign is positive (+). If it’s less than zero (&lt; 0), we say it’s sign is negative (-)</a:t>
            </a:r>
          </a:p>
        </p:txBody>
      </p:sp>
    </p:spTree>
    <p:extLst>
      <p:ext uri="{BB962C8B-B14F-4D97-AF65-F5344CB8AC3E}">
        <p14:creationId xmlns:p14="http://schemas.microsoft.com/office/powerpoint/2010/main" val="332396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11382" y="1451149"/>
            <a:ext cx="28010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695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err="1">
                <a:latin typeface="Kiwi School Handwriting" panose="00000500000000000000" pitchFamily="2" charset="0"/>
              </a:rPr>
              <a:t>Intergers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I perform calculations with them?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02727" y="1648956"/>
            <a:ext cx="10779092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i="1" dirty="0">
                <a:latin typeface="Kiwi School Handwriting" panose="00000500000000000000" pitchFamily="2" charset="0"/>
              </a:rPr>
              <a:t>Integers</a:t>
            </a:r>
            <a:r>
              <a:rPr lang="en-AU" sz="2399" b="1" dirty="0">
                <a:latin typeface="Kiwi School Handwriting" panose="00000500000000000000" pitchFamily="2" charset="0"/>
              </a:rPr>
              <a:t> as positive and negative whole numbers, including 0</a:t>
            </a:r>
          </a:p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Positive and negative integers together are called </a:t>
            </a:r>
            <a:r>
              <a:rPr lang="en-AU" sz="2399" b="1" i="1" dirty="0">
                <a:latin typeface="Kiwi School Handwriting" panose="00000500000000000000" pitchFamily="2" charset="0"/>
              </a:rPr>
              <a:t>directed numbers</a:t>
            </a:r>
            <a:r>
              <a:rPr lang="en-AU" sz="2399" b="1" dirty="0">
                <a:latin typeface="Kiwi School Handwriting" panose="00000500000000000000" pitchFamily="2" charset="0"/>
              </a:rPr>
              <a:t>. Directed numbers show both </a:t>
            </a:r>
            <a:r>
              <a:rPr lang="en-AU" sz="2399" b="1" u="sng" dirty="0">
                <a:latin typeface="Kiwi School Handwriting" panose="00000500000000000000" pitchFamily="2" charset="0"/>
              </a:rPr>
              <a:t>____________</a:t>
            </a:r>
            <a:r>
              <a:rPr lang="en-AU" sz="2399" b="1" dirty="0">
                <a:latin typeface="Kiwi School Handwriting" panose="00000500000000000000" pitchFamily="2" charset="0"/>
              </a:rPr>
              <a:t> and </a:t>
            </a:r>
            <a:r>
              <a:rPr lang="en-AU" sz="2399" b="1" u="sng" dirty="0">
                <a:latin typeface="Kiwi School Handwriting" panose="00000500000000000000" pitchFamily="2" charset="0"/>
              </a:rPr>
              <a:t>___________</a:t>
            </a:r>
            <a:r>
              <a:rPr lang="en-AU" sz="2399" b="1" dirty="0">
                <a:latin typeface="Kiwi School Handwriting" panose="00000500000000000000" pitchFamily="2" charset="0"/>
              </a:rPr>
              <a:t> (size).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2169" y="2931003"/>
            <a:ext cx="106996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Ex: +7 or 7 means 7 units in the positive direction, while -3 means 3 units in the negative direction.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2727" y="3868005"/>
            <a:ext cx="10268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>
                <a:latin typeface="Kiwi School Handwriting" panose="00000500000000000000" pitchFamily="2" charset="0"/>
              </a:rPr>
              <a:t>**Can you think of some everyday examples of negative integers?**</a:t>
            </a:r>
          </a:p>
        </p:txBody>
      </p:sp>
      <p:pic>
        <p:nvPicPr>
          <p:cNvPr id="17" name="Picture 4" descr="[IMAGE]">
            <a:extLst>
              <a:ext uri="{FF2B5EF4-FFF2-40B4-BE49-F238E27FC236}">
                <a16:creationId xmlns:a16="http://schemas.microsoft.com/office/drawing/2014/main" id="{DBEB4237-A68E-4572-B897-6AE2A30E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696" y="4799475"/>
            <a:ext cx="9746592" cy="1162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587FB02-F7F9-4FA9-8511-BE11E6591130}"/>
              </a:ext>
            </a:extLst>
          </p:cNvPr>
          <p:cNvGrpSpPr/>
          <p:nvPr/>
        </p:nvGrpSpPr>
        <p:grpSpPr>
          <a:xfrm>
            <a:off x="2857974" y="5887549"/>
            <a:ext cx="7467600" cy="838200"/>
            <a:chOff x="4099618" y="3804560"/>
            <a:chExt cx="7467600" cy="838200"/>
          </a:xfrm>
        </p:grpSpPr>
        <p:sp>
          <p:nvSpPr>
            <p:cNvPr id="19" name="AutoShape 5">
              <a:extLst>
                <a:ext uri="{FF2B5EF4-FFF2-40B4-BE49-F238E27FC236}">
                  <a16:creationId xmlns:a16="http://schemas.microsoft.com/office/drawing/2014/main" id="{5CD95F65-7948-45BE-9035-354719C8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3DCF13-F1B9-4FED-9287-9D073F52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22" name="AutoShape 7">
              <a:extLst>
                <a:ext uri="{FF2B5EF4-FFF2-40B4-BE49-F238E27FC236}">
                  <a16:creationId xmlns:a16="http://schemas.microsoft.com/office/drawing/2014/main" id="{FAD68E2A-B69E-4B70-B96B-D561B11C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A82BA4-EED6-4426-BA85-81C99BE7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1226150" y="4329110"/>
            <a:ext cx="10779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>
                <a:latin typeface="Kiwi School Handwriting" panose="00000500000000000000" pitchFamily="2" charset="0"/>
              </a:rPr>
              <a:t>Integers are represented by the </a:t>
            </a:r>
            <a:r>
              <a:rPr lang="en-AU" sz="2800" b="1" i="1" dirty="0">
                <a:latin typeface="Kiwi School Handwriting" panose="00000500000000000000" pitchFamily="2" charset="0"/>
              </a:rPr>
              <a:t>number line</a:t>
            </a:r>
            <a:endParaRPr lang="en-AU" sz="2800" b="1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962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11382" y="1451149"/>
            <a:ext cx="28010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695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err="1">
                <a:latin typeface="Kiwi School Handwriting" panose="00000500000000000000" pitchFamily="2" charset="0"/>
              </a:rPr>
              <a:t>Intergers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I perform calculations with them?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02727" y="1648956"/>
            <a:ext cx="10779092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i="1" dirty="0">
                <a:latin typeface="Kiwi School Handwriting" panose="00000500000000000000" pitchFamily="2" charset="0"/>
              </a:rPr>
              <a:t>Integers</a:t>
            </a:r>
            <a:r>
              <a:rPr lang="en-AU" sz="2399" b="1" dirty="0">
                <a:latin typeface="Kiwi School Handwriting" panose="00000500000000000000" pitchFamily="2" charset="0"/>
              </a:rPr>
              <a:t> as positive and negative whole numbers, including 0</a:t>
            </a:r>
          </a:p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Positive and negative integers together are called </a:t>
            </a:r>
            <a:r>
              <a:rPr lang="en-AU" sz="2399" b="1" i="1" dirty="0">
                <a:latin typeface="Kiwi School Handwriting" panose="00000500000000000000" pitchFamily="2" charset="0"/>
              </a:rPr>
              <a:t>directed numbers</a:t>
            </a:r>
            <a:r>
              <a:rPr lang="en-AU" sz="2399" b="1" dirty="0">
                <a:latin typeface="Kiwi School Handwriting" panose="00000500000000000000" pitchFamily="2" charset="0"/>
              </a:rPr>
              <a:t>. Directed numbers show both </a:t>
            </a:r>
            <a:r>
              <a:rPr lang="en-AU" sz="2399" b="1" u="sng" dirty="0">
                <a:latin typeface="Kiwi School Handwriting" panose="00000500000000000000" pitchFamily="2" charset="0"/>
              </a:rPr>
              <a:t>direction</a:t>
            </a:r>
            <a:r>
              <a:rPr lang="en-AU" sz="2399" b="1" dirty="0">
                <a:latin typeface="Kiwi School Handwriting" panose="00000500000000000000" pitchFamily="2" charset="0"/>
              </a:rPr>
              <a:t> and </a:t>
            </a:r>
            <a:r>
              <a:rPr lang="en-AU" sz="2399" b="1" u="sng" dirty="0">
                <a:latin typeface="Kiwi School Handwriting" panose="00000500000000000000" pitchFamily="2" charset="0"/>
              </a:rPr>
              <a:t>magnitude</a:t>
            </a:r>
            <a:r>
              <a:rPr lang="en-AU" sz="2399" b="1" dirty="0">
                <a:latin typeface="Kiwi School Handwriting" panose="00000500000000000000" pitchFamily="2" charset="0"/>
              </a:rPr>
              <a:t> (size).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2169" y="2931003"/>
            <a:ext cx="106996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Ex: +7 or 7 means 7 units in the positive direction, while -3 means 3 units in the negative direction.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2727" y="3868005"/>
            <a:ext cx="10268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>
                <a:latin typeface="Kiwi School Handwriting" panose="00000500000000000000" pitchFamily="2" charset="0"/>
              </a:rPr>
              <a:t>**Can you think of some everyday examples of negative integers?**</a:t>
            </a:r>
          </a:p>
        </p:txBody>
      </p:sp>
      <p:pic>
        <p:nvPicPr>
          <p:cNvPr id="17" name="Picture 4" descr="[IMAGE]">
            <a:extLst>
              <a:ext uri="{FF2B5EF4-FFF2-40B4-BE49-F238E27FC236}">
                <a16:creationId xmlns:a16="http://schemas.microsoft.com/office/drawing/2014/main" id="{DBEB4237-A68E-4572-B897-6AE2A30E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696" y="4799475"/>
            <a:ext cx="9746592" cy="1162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587FB02-F7F9-4FA9-8511-BE11E6591130}"/>
              </a:ext>
            </a:extLst>
          </p:cNvPr>
          <p:cNvGrpSpPr/>
          <p:nvPr/>
        </p:nvGrpSpPr>
        <p:grpSpPr>
          <a:xfrm>
            <a:off x="2857974" y="5887549"/>
            <a:ext cx="7467600" cy="838200"/>
            <a:chOff x="4099618" y="3804560"/>
            <a:chExt cx="7467600" cy="838200"/>
          </a:xfrm>
        </p:grpSpPr>
        <p:sp>
          <p:nvSpPr>
            <p:cNvPr id="19" name="AutoShape 5">
              <a:extLst>
                <a:ext uri="{FF2B5EF4-FFF2-40B4-BE49-F238E27FC236}">
                  <a16:creationId xmlns:a16="http://schemas.microsoft.com/office/drawing/2014/main" id="{5CD95F65-7948-45BE-9035-354719C8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3DCF13-F1B9-4FED-9287-9D073F52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22" name="AutoShape 7">
              <a:extLst>
                <a:ext uri="{FF2B5EF4-FFF2-40B4-BE49-F238E27FC236}">
                  <a16:creationId xmlns:a16="http://schemas.microsoft.com/office/drawing/2014/main" id="{FAD68E2A-B69E-4B70-B96B-D561B11C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A82BA4-EED6-4426-BA85-81C99BE7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1226150" y="4329110"/>
            <a:ext cx="10779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>
                <a:latin typeface="Kiwi School Handwriting" panose="00000500000000000000" pitchFamily="2" charset="0"/>
              </a:rPr>
              <a:t>Integers are represented by the </a:t>
            </a:r>
            <a:r>
              <a:rPr lang="en-AU" sz="2800" b="1" i="1" dirty="0">
                <a:latin typeface="Kiwi School Handwriting" panose="00000500000000000000" pitchFamily="2" charset="0"/>
              </a:rPr>
              <a:t>number line</a:t>
            </a:r>
            <a:endParaRPr lang="en-AU" sz="2800" b="1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48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11382" y="1451149"/>
            <a:ext cx="28010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695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err="1">
                <a:latin typeface="Kiwi School Handwriting" panose="00000500000000000000" pitchFamily="2" charset="0"/>
              </a:rPr>
              <a:t>Intergers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I perform calculations with them?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4" descr="[IMAGE]">
            <a:extLst>
              <a:ext uri="{FF2B5EF4-FFF2-40B4-BE49-F238E27FC236}">
                <a16:creationId xmlns:a16="http://schemas.microsoft.com/office/drawing/2014/main" id="{DBEB4237-A68E-4572-B897-6AE2A30E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213" y="1670827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226150" y="2777800"/>
            <a:ext cx="1077909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For any two different places on the number line, the integer on the right is greater than the integer on the left.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6150" y="3859483"/>
            <a:ext cx="7045014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Ex: 8 is greater (or more) than 3.</a:t>
            </a:r>
          </a:p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This can be written as 8 &gt; 1</a:t>
            </a:r>
          </a:p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Think of the &gt; and the &lt; signs as the jaws of a crocodile. </a:t>
            </a:r>
          </a:p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They always open towards the </a:t>
            </a:r>
            <a:r>
              <a:rPr lang="en-AU" sz="2399" b="1" i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bigger</a:t>
            </a:r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number and point to the </a:t>
            </a:r>
            <a:r>
              <a:rPr lang="en-AU" sz="2399" b="1" i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smaller</a:t>
            </a:r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number (the </a:t>
            </a:r>
            <a:r>
              <a:rPr lang="en-AU" sz="2399" b="1" i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smaller</a:t>
            </a:r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number eats the </a:t>
            </a:r>
            <a:r>
              <a:rPr lang="en-AU" sz="2399" b="1" i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bigger</a:t>
            </a:r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number).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674" y="3859483"/>
            <a:ext cx="3542145" cy="263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93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287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" y="4845580"/>
            <a:ext cx="7264400" cy="546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" y="5588530"/>
            <a:ext cx="10058400" cy="7140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37" y="530112"/>
            <a:ext cx="10058400" cy="13500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37" y="2286836"/>
            <a:ext cx="10058400" cy="12600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" y="4015448"/>
            <a:ext cx="70612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9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308153"/>
            <a:ext cx="9144000" cy="1092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2689361"/>
            <a:ext cx="8547100" cy="749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1660984"/>
            <a:ext cx="8750300" cy="7239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3612821"/>
            <a:ext cx="9626600" cy="2133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5951505"/>
            <a:ext cx="89154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49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48F2B-DE2D-4F37-9A44-F37C59BDE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Little chicken:</a:t>
            </a:r>
          </a:p>
          <a:p>
            <a:endParaRPr lang="en-US" dirty="0"/>
          </a:p>
          <a:p>
            <a:r>
              <a:rPr lang="en-AU" dirty="0"/>
              <a:t>https://www.youtube.com/watch?v=DBSviXhkubg</a:t>
            </a:r>
          </a:p>
        </p:txBody>
      </p:sp>
    </p:spTree>
    <p:extLst>
      <p:ext uri="{BB962C8B-B14F-4D97-AF65-F5344CB8AC3E}">
        <p14:creationId xmlns:p14="http://schemas.microsoft.com/office/powerpoint/2010/main" val="384688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48939" y="2800268"/>
            <a:ext cx="2106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Which direction do we go?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03E1F7-8286-4A96-A897-6F1E608E11DF}"/>
              </a:ext>
            </a:extLst>
          </p:cNvPr>
          <p:cNvSpPr txBox="1"/>
          <p:nvPr/>
        </p:nvSpPr>
        <p:spPr>
          <a:xfrm>
            <a:off x="3753684" y="3328416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Subtraction we go left!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83A902-E211-492E-A6F3-961C3AA60955}"/>
              </a:ext>
            </a:extLst>
          </p:cNvPr>
          <p:cNvSpPr txBox="1"/>
          <p:nvPr/>
        </p:nvSpPr>
        <p:spPr>
          <a:xfrm>
            <a:off x="8020884" y="3308099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Addition we go right!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FB2AC7-0C68-4BAB-9386-82800B464A43}"/>
              </a:ext>
            </a:extLst>
          </p:cNvPr>
          <p:cNvSpPr txBox="1"/>
          <p:nvPr/>
        </p:nvSpPr>
        <p:spPr>
          <a:xfrm>
            <a:off x="269839" y="4672584"/>
            <a:ext cx="238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Positive integers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B7353-2452-432D-BE9B-BD65B6502754}"/>
              </a:ext>
            </a:extLst>
          </p:cNvPr>
          <p:cNvSpPr txBox="1"/>
          <p:nvPr/>
        </p:nvSpPr>
        <p:spPr>
          <a:xfrm>
            <a:off x="3909563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+ 2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1C2125-8363-4321-AA3C-B9D1E07539DF}"/>
              </a:ext>
            </a:extLst>
          </p:cNvPr>
          <p:cNvSpPr txBox="1"/>
          <p:nvPr/>
        </p:nvSpPr>
        <p:spPr>
          <a:xfrm>
            <a:off x="8509630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5 - 2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86D866-A1B7-497F-80A3-E3F8A1A55371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right 2 </a:t>
            </a:r>
          </a:p>
          <a:p>
            <a:endParaRPr lang="en-AU" dirty="0"/>
          </a:p>
          <a:p>
            <a:r>
              <a:rPr lang="en-AU" dirty="0"/>
              <a:t>Get to 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ACBF6AC-3D53-48BA-8AF4-90AE4CFF67F7}"/>
              </a:ext>
            </a:extLst>
          </p:cNvPr>
          <p:cNvSpPr/>
          <p:nvPr/>
        </p:nvSpPr>
        <p:spPr>
          <a:xfrm>
            <a:off x="9362257" y="2942179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66C8375-9B39-4D8C-9595-97C5F369B2F0}"/>
              </a:ext>
            </a:extLst>
          </p:cNvPr>
          <p:cNvSpPr/>
          <p:nvPr/>
        </p:nvSpPr>
        <p:spPr>
          <a:xfrm>
            <a:off x="10149298" y="2949365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5B148-D9AC-4636-8FD1-CF30CFA061E7}"/>
              </a:ext>
            </a:extLst>
          </p:cNvPr>
          <p:cNvSpPr txBox="1"/>
          <p:nvPr/>
        </p:nvSpPr>
        <p:spPr>
          <a:xfrm>
            <a:off x="8357160" y="5041916"/>
            <a:ext cx="2162484" cy="12003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left 2 </a:t>
            </a:r>
          </a:p>
          <a:p>
            <a:endParaRPr lang="en-AU" dirty="0"/>
          </a:p>
          <a:p>
            <a:r>
              <a:rPr lang="en-AU" dirty="0"/>
              <a:t>Get to 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EB0549-1988-45D6-9E38-C3E418678230}"/>
              </a:ext>
            </a:extLst>
          </p:cNvPr>
          <p:cNvSpPr/>
          <p:nvPr/>
        </p:nvSpPr>
        <p:spPr>
          <a:xfrm>
            <a:off x="9362257" y="3156224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889AD68-3B84-443A-B67C-8BF7E4945D5D}"/>
              </a:ext>
            </a:extLst>
          </p:cNvPr>
          <p:cNvSpPr/>
          <p:nvPr/>
        </p:nvSpPr>
        <p:spPr>
          <a:xfrm>
            <a:off x="8748212" y="3170556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EF546-3282-408C-86D1-B474B27E9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151" y="3554825"/>
            <a:ext cx="2185508" cy="250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14" grpId="0"/>
      <p:bldP spid="15" grpId="0"/>
      <p:bldP spid="35" grpId="0"/>
      <p:bldP spid="16" grpId="0"/>
      <p:bldP spid="17" grpId="0"/>
      <p:bldP spid="36" grpId="0"/>
      <p:bldP spid="18" grpId="0" animBg="1"/>
      <p:bldP spid="19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adding negative numbers?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B5F35-59DC-4F52-97C3-8D55EC4910B8}"/>
              </a:ext>
            </a:extLst>
          </p:cNvPr>
          <p:cNvSpPr txBox="1"/>
          <p:nvPr/>
        </p:nvSpPr>
        <p:spPr>
          <a:xfrm>
            <a:off x="3587262" y="3385038"/>
            <a:ext cx="752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 of negative numbers as the same as subtracting the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F5B8E-11FC-4722-8A39-DCC5FD9636D4}"/>
              </a:ext>
            </a:extLst>
          </p:cNvPr>
          <p:cNvSpPr txBox="1"/>
          <p:nvPr/>
        </p:nvSpPr>
        <p:spPr>
          <a:xfrm>
            <a:off x="3859823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DDE0A-3670-45F1-9492-77BD36106644}"/>
              </a:ext>
            </a:extLst>
          </p:cNvPr>
          <p:cNvSpPr txBox="1"/>
          <p:nvPr/>
        </p:nvSpPr>
        <p:spPr>
          <a:xfrm>
            <a:off x="2454025" y="4623600"/>
            <a:ext cx="3715547" cy="14773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</a:t>
            </a:r>
          </a:p>
          <a:p>
            <a:r>
              <a:rPr lang="en-AU" dirty="0"/>
              <a:t>+ means we are heading </a:t>
            </a:r>
          </a:p>
          <a:p>
            <a:r>
              <a:rPr lang="en-AU" b="1" dirty="0"/>
              <a:t>But we are not adding a normal positive number. It is -2 so we turn around and go the opposite way.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0C039-396D-49B6-B788-968373EB8E12}"/>
              </a:ext>
            </a:extLst>
          </p:cNvPr>
          <p:cNvSpPr txBox="1"/>
          <p:nvPr/>
        </p:nvSpPr>
        <p:spPr>
          <a:xfrm>
            <a:off x="8982071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-2 + 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64633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What do we do for this one??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5035443" y="4891017"/>
            <a:ext cx="540220" cy="36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8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" grpId="0"/>
      <p:bldP spid="8" grpId="0"/>
      <p:bldP spid="18" grpId="0" animBg="1"/>
      <p:bldP spid="21" grpId="0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subtracting with negative numbers?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DDE0A-3670-45F1-9492-77BD36106644}"/>
              </a:ext>
            </a:extLst>
          </p:cNvPr>
          <p:cNvSpPr txBox="1"/>
          <p:nvPr/>
        </p:nvSpPr>
        <p:spPr>
          <a:xfrm>
            <a:off x="3762610" y="4013970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-3 -  -2=</a:t>
            </a:r>
          </a:p>
          <a:p>
            <a:r>
              <a:rPr lang="en-AU" dirty="0"/>
              <a:t>Start at -3 and……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369332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  4 - -3=</a:t>
            </a:r>
          </a:p>
        </p:txBody>
      </p:sp>
    </p:spTree>
    <p:extLst>
      <p:ext uri="{BB962C8B-B14F-4D97-AF65-F5344CB8AC3E}">
        <p14:creationId xmlns:p14="http://schemas.microsoft.com/office/powerpoint/2010/main" val="104047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18" grpId="0" animBg="1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CA0BF2-433A-474B-9714-52834114C68D}"/>
              </a:ext>
            </a:extLst>
          </p:cNvPr>
          <p:cNvSpPr txBox="1"/>
          <p:nvPr/>
        </p:nvSpPr>
        <p:spPr>
          <a:xfrm>
            <a:off x="228599" y="316523"/>
            <a:ext cx="7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Task Side Practice (use your number line!)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B7C796-89E6-47C8-8F24-3FE444C2A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01" t="58860" r="25638" b="19875"/>
          <a:stretch/>
        </p:blipFill>
        <p:spPr>
          <a:xfrm>
            <a:off x="228599" y="1346244"/>
            <a:ext cx="11074802" cy="2305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4B546-7867-4F2D-8157-EB1B2822F5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3" t="29220" r="26197" b="51348"/>
          <a:stretch/>
        </p:blipFill>
        <p:spPr>
          <a:xfrm>
            <a:off x="228599" y="4163438"/>
            <a:ext cx="10962791" cy="21303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805149-B95E-4BBF-9456-59914B2F3BAF}"/>
              </a:ext>
            </a:extLst>
          </p:cNvPr>
          <p:cNvSpPr txBox="1"/>
          <p:nvPr/>
        </p:nvSpPr>
        <p:spPr>
          <a:xfrm>
            <a:off x="7499838" y="145915"/>
            <a:ext cx="4237893" cy="923330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Beginner</a:t>
            </a:r>
            <a:r>
              <a:rPr lang="en-AU" dirty="0"/>
              <a:t> – pick 4 from each section </a:t>
            </a:r>
          </a:p>
          <a:p>
            <a:r>
              <a:rPr lang="en-AU" b="1" dirty="0"/>
              <a:t>Intermediate</a:t>
            </a:r>
            <a:r>
              <a:rPr lang="en-AU" dirty="0"/>
              <a:t> – pick 8 from each</a:t>
            </a:r>
          </a:p>
          <a:p>
            <a:r>
              <a:rPr lang="en-AU" b="1" dirty="0"/>
              <a:t>Advanced</a:t>
            </a:r>
            <a:r>
              <a:rPr lang="en-AU" dirty="0"/>
              <a:t> – do all of them!</a:t>
            </a:r>
          </a:p>
        </p:txBody>
      </p:sp>
    </p:spTree>
    <p:extLst>
      <p:ext uri="{BB962C8B-B14F-4D97-AF65-F5344CB8AC3E}">
        <p14:creationId xmlns:p14="http://schemas.microsoft.com/office/powerpoint/2010/main" val="4190851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4" t="24568" r="26388" b="21975"/>
          <a:stretch/>
        </p:blipFill>
        <p:spPr bwMode="auto">
          <a:xfrm>
            <a:off x="533400" y="762000"/>
            <a:ext cx="10371667" cy="5427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8760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1DF8-08FD-4811-87EC-CF42E9DA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9852-E5DD-44E0-A46C-6C4107759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Directed numbers worksheet x3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5989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86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9384</TotalTime>
  <Words>1074</Words>
  <Application>Microsoft Office PowerPoint</Application>
  <PresentationFormat>Widescreen</PresentationFormat>
  <Paragraphs>147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Chalkduster</vt:lpstr>
      <vt:lpstr>Kiwi School Handwriting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JAMES Sarah [Baldivis Secondary College]</cp:lastModifiedBy>
  <cp:revision>185</cp:revision>
  <dcterms:created xsi:type="dcterms:W3CDTF">2018-02-06T06:15:13Z</dcterms:created>
  <dcterms:modified xsi:type="dcterms:W3CDTF">2018-08-09T11:16:21Z</dcterms:modified>
</cp:coreProperties>
</file>
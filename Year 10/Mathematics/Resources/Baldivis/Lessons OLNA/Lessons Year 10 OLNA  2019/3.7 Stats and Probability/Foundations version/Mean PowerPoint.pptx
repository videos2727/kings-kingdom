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2" r:id="rId1"/>
  </p:sldMasterIdLst>
  <p:notesMasterIdLst>
    <p:notesMasterId r:id="rId7"/>
  </p:notesMasterIdLst>
  <p:handoutMasterIdLst>
    <p:handoutMasterId r:id="rId8"/>
  </p:handoutMasterIdLst>
  <p:sldIdLst>
    <p:sldId id="258" r:id="rId2"/>
    <p:sldId id="286" r:id="rId3"/>
    <p:sldId id="287" r:id="rId4"/>
    <p:sldId id="285" r:id="rId5"/>
    <p:sldId id="288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FF"/>
    <a:srgbClr val="66FF33"/>
    <a:srgbClr val="3333FF"/>
    <a:srgbClr val="FF0066"/>
    <a:srgbClr val="FCFCFC"/>
    <a:srgbClr val="1F7B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E58C2F-5F11-4751-B733-CF658D0E544E}" v="3" dt="2019-08-06T09:02:29.414"/>
  </p1510:revLst>
</p1510:revInfo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3" autoAdjust="0"/>
    <p:restoredTop sz="94660"/>
  </p:normalViewPr>
  <p:slideViewPr>
    <p:cSldViewPr snapToGrid="0">
      <p:cViewPr varScale="1">
        <p:scale>
          <a:sx n="77" d="100"/>
          <a:sy n="77" d="100"/>
        </p:scale>
        <p:origin x="76" y="-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78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UMMING Mitchell [Baldivis Secondary College]" userId="6a5f9c56-f125-4db9-9fa6-885c27b61951" providerId="ADAL" clId="{B7E58C2F-5F11-4751-B733-CF658D0E544E}"/>
    <pc:docChg chg="custSel addSld modSld">
      <pc:chgData name="CUMMING Mitchell [Baldivis Secondary College]" userId="6a5f9c56-f125-4db9-9fa6-885c27b61951" providerId="ADAL" clId="{B7E58C2F-5F11-4751-B733-CF658D0E544E}" dt="2019-08-06T09:02:40.546" v="10" actId="478"/>
      <pc:docMkLst>
        <pc:docMk/>
      </pc:docMkLst>
      <pc:sldChg chg="addSp delSp modSp add">
        <pc:chgData name="CUMMING Mitchell [Baldivis Secondary College]" userId="6a5f9c56-f125-4db9-9fa6-885c27b61951" providerId="ADAL" clId="{B7E58C2F-5F11-4751-B733-CF658D0E544E}" dt="2019-08-06T09:02:40.546" v="10" actId="478"/>
        <pc:sldMkLst>
          <pc:docMk/>
          <pc:sldMk cId="2276232641" sldId="288"/>
        </pc:sldMkLst>
        <pc:spChg chg="add mod">
          <ac:chgData name="CUMMING Mitchell [Baldivis Secondary College]" userId="6a5f9c56-f125-4db9-9fa6-885c27b61951" providerId="ADAL" clId="{B7E58C2F-5F11-4751-B733-CF658D0E544E}" dt="2019-08-06T09:02:27.649" v="5" actId="14100"/>
          <ac:spMkLst>
            <pc:docMk/>
            <pc:sldMk cId="2276232641" sldId="288"/>
            <ac:spMk id="8" creationId="{5D1E20A9-8561-4195-BAED-F6A8715A131F}"/>
          </ac:spMkLst>
        </pc:spChg>
        <pc:spChg chg="add del mod">
          <ac:chgData name="CUMMING Mitchell [Baldivis Secondary College]" userId="6a5f9c56-f125-4db9-9fa6-885c27b61951" providerId="ADAL" clId="{B7E58C2F-5F11-4751-B733-CF658D0E544E}" dt="2019-08-06T09:02:40.546" v="10" actId="478"/>
          <ac:spMkLst>
            <pc:docMk/>
            <pc:sldMk cId="2276232641" sldId="288"/>
            <ac:spMk id="10" creationId="{3629FC01-A6BC-4285-BACA-943054C8EEF4}"/>
          </ac:spMkLst>
        </pc:spChg>
        <pc:graphicFrameChg chg="del">
          <ac:chgData name="CUMMING Mitchell [Baldivis Secondary College]" userId="6a5f9c56-f125-4db9-9fa6-885c27b61951" providerId="ADAL" clId="{B7E58C2F-5F11-4751-B733-CF658D0E544E}" dt="2019-08-06T09:01:54.160" v="1" actId="478"/>
          <ac:graphicFrameMkLst>
            <pc:docMk/>
            <pc:sldMk cId="2276232641" sldId="288"/>
            <ac:graphicFrameMk id="14" creationId="{00E38D40-52AE-4303-8DF2-2544D440755C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BDA6D-DC69-4DCE-BAF7-6763517D3376}" type="datetimeFigureOut">
              <a:rPr lang="en-US"/>
              <a:t>8/6/2019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77E94-A6AB-4E02-8E43-E89F9CF4757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F6C43-988E-4257-9A1C-C162EF036D58}" type="datetimeFigureOut">
              <a:rPr lang="en-US"/>
              <a:t>8/6/2019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491D0-8E1B-49C7-849B-A28568D9449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8/6/2019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813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8/6/2019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0284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8/6/2019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772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8/6/2019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2614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8/6/2019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689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8/6/2019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1981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8/6/2019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6038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8/6/2019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1258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8/6/2019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8030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8/6/2019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861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8/6/2019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3193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8/6/2019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345344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8/6/2019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2892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8/6/2019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3773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8/6/2019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8500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8/6/2019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9444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2CCFE9AC-F15C-4FA0-A6F1-298829FA691D}" type="datetimeFigureOut">
              <a:rPr lang="en-US" smtClean="0"/>
              <a:t>8/6/2019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0987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FE9AC-F15C-4FA0-A6F1-298829FA691D}" type="datetimeFigureOut">
              <a:rPr lang="en-US" smtClean="0"/>
              <a:pPr/>
              <a:t>8/6/2019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4124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  <p:sldLayoutId id="2147483834" r:id="rId12"/>
    <p:sldLayoutId id="2147483835" r:id="rId13"/>
    <p:sldLayoutId id="2147483836" r:id="rId14"/>
    <p:sldLayoutId id="2147483837" r:id="rId15"/>
    <p:sldLayoutId id="2147483838" r:id="rId16"/>
    <p:sldLayoutId id="2147483839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/>
              <a:t>Measures of Centre and Spread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211" y="4394039"/>
            <a:ext cx="11930743" cy="1117687"/>
          </a:xfrm>
        </p:spPr>
        <p:txBody>
          <a:bodyPr/>
          <a:lstStyle/>
          <a:p>
            <a:pPr algn="l"/>
            <a:r>
              <a:rPr lang="en-US" dirty="0"/>
              <a:t>EQ – How can we determine the mean of a data set? </a:t>
            </a:r>
          </a:p>
        </p:txBody>
      </p:sp>
    </p:spTree>
    <p:extLst>
      <p:ext uri="{BB962C8B-B14F-4D97-AF65-F5344CB8AC3E}">
        <p14:creationId xmlns:p14="http://schemas.microsoft.com/office/powerpoint/2010/main" val="173269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>
          <a:xfrm>
            <a:off x="60960" y="1950720"/>
            <a:ext cx="2577737" cy="398546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What are the measures of </a:t>
            </a:r>
            <a:r>
              <a:rPr lang="en-US" sz="1800" dirty="0" err="1"/>
              <a:t>centre</a:t>
            </a:r>
            <a:r>
              <a:rPr lang="en-US" sz="1800" dirty="0"/>
              <a:t>?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What is the measure for spread?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2638697" y="1982834"/>
            <a:ext cx="26126" cy="4933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267131" y="121921"/>
            <a:ext cx="924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Writing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643154" y="3008811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2638698" y="2073199"/>
            <a:ext cx="95533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  <a:p>
            <a:endParaRPr lang="en-AU" dirty="0"/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65463" y="970669"/>
            <a:ext cx="9628632" cy="1362113"/>
          </a:xfrm>
        </p:spPr>
        <p:txBody>
          <a:bodyPr>
            <a:noAutofit/>
          </a:bodyPr>
          <a:lstStyle/>
          <a:p>
            <a:br>
              <a:rPr lang="en-US" sz="2800" dirty="0"/>
            </a:br>
            <a:br>
              <a:rPr lang="en-US" sz="2800" dirty="0"/>
            </a:b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5659966" y="3005666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AU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317863" y="1123069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2800" dirty="0"/>
              <a:t>Measures of Centre and Spread</a:t>
            </a:r>
            <a:br>
              <a:rPr lang="en-AU" sz="2800" dirty="0"/>
            </a:br>
            <a:r>
              <a:rPr lang="en-US" sz="2800" dirty="0"/>
              <a:t>EQ – How can we determine the mean of a data set? </a:t>
            </a:r>
          </a:p>
          <a:p>
            <a:br>
              <a:rPr lang="en-US" sz="2800" dirty="0"/>
            </a:br>
            <a:br>
              <a:rPr lang="en-US" sz="2800" dirty="0"/>
            </a:br>
            <a:endParaRPr lang="en-AU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2664824" y="1950720"/>
            <a:ext cx="4786324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Mean, median and mode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Range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sz="2400" dirty="0"/>
          </a:p>
          <a:p>
            <a:endParaRPr lang="en-AU" dirty="0"/>
          </a:p>
        </p:txBody>
      </p:sp>
      <p:cxnSp>
        <p:nvCxnSpPr>
          <p:cNvPr id="7" name="Straight Connector 6"/>
          <p:cNvCxnSpPr/>
          <p:nvPr/>
        </p:nvCxnSpPr>
        <p:spPr>
          <a:xfrm flipH="1">
            <a:off x="7524206" y="1950720"/>
            <a:ext cx="26125" cy="49072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385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>
          <a:xfrm>
            <a:off x="60960" y="1950720"/>
            <a:ext cx="2577737" cy="398546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dirty="0"/>
              <a:t>How do you find the mean?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2638697" y="1982834"/>
            <a:ext cx="26126" cy="4933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267131" y="121921"/>
            <a:ext cx="924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Writing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643154" y="3008811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2638698" y="2073199"/>
            <a:ext cx="95533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  <a:p>
            <a:endParaRPr lang="en-AU" dirty="0"/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65463" y="970669"/>
            <a:ext cx="9628632" cy="1362113"/>
          </a:xfrm>
        </p:spPr>
        <p:txBody>
          <a:bodyPr>
            <a:noAutofit/>
          </a:bodyPr>
          <a:lstStyle/>
          <a:p>
            <a:br>
              <a:rPr lang="en-US" sz="2800" dirty="0"/>
            </a:br>
            <a:br>
              <a:rPr lang="en-US" sz="2800" dirty="0"/>
            </a:b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5659966" y="3005666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AU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317863" y="1123069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2800" dirty="0"/>
              <a:t>Measures of Centre and Spread</a:t>
            </a:r>
            <a:br>
              <a:rPr lang="en-AU" sz="2800" dirty="0"/>
            </a:br>
            <a:r>
              <a:rPr lang="en-US" sz="2800" dirty="0"/>
              <a:t>EQ – How can we determine the mean of a data set? </a:t>
            </a:r>
          </a:p>
          <a:p>
            <a:br>
              <a:rPr lang="en-US" sz="2800" dirty="0"/>
            </a:br>
            <a:br>
              <a:rPr lang="en-US" sz="2800" dirty="0"/>
            </a:br>
            <a:endParaRPr lang="en-AU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2664824" y="1950720"/>
            <a:ext cx="6499544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2800" dirty="0"/>
          </a:p>
          <a:p>
            <a:pPr marL="514350" indent="-514350">
              <a:buFont typeface="+mj-lt"/>
              <a:buAutoNum type="arabicPeriod"/>
            </a:pPr>
            <a:r>
              <a:rPr lang="en-AU" sz="2800" dirty="0"/>
              <a:t>Add all of the numbers together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2800" dirty="0"/>
              <a:t>Press equals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2800" dirty="0"/>
              <a:t>Count how many you added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2800" dirty="0"/>
              <a:t>Press divide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2800" dirty="0"/>
              <a:t>Put in number from step 3.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2800" dirty="0"/>
              <a:t>Press equals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2800" dirty="0"/>
              <a:t>Write down your mean</a:t>
            </a:r>
          </a:p>
          <a:p>
            <a:endParaRPr lang="en-AU" sz="2800" dirty="0"/>
          </a:p>
          <a:p>
            <a:endParaRPr lang="en-AU" sz="2800" dirty="0"/>
          </a:p>
          <a:p>
            <a:endParaRPr lang="en-AU" sz="2800" dirty="0"/>
          </a:p>
          <a:p>
            <a:endParaRPr lang="en-AU" sz="2800" dirty="0"/>
          </a:p>
          <a:p>
            <a:endParaRPr lang="en-AU" sz="2800" dirty="0"/>
          </a:p>
          <a:p>
            <a:endParaRPr lang="en-AU" sz="2800" dirty="0"/>
          </a:p>
          <a:p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398706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43154" y="3008811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2638698" y="2073199"/>
            <a:ext cx="95533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  <a:p>
            <a:endParaRPr lang="en-AU" dirty="0"/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65463" y="970669"/>
            <a:ext cx="9628632" cy="1362113"/>
          </a:xfrm>
        </p:spPr>
        <p:txBody>
          <a:bodyPr>
            <a:noAutofit/>
          </a:bodyPr>
          <a:lstStyle/>
          <a:p>
            <a:br>
              <a:rPr lang="en-US" sz="2800" dirty="0"/>
            </a:br>
            <a:br>
              <a:rPr lang="en-US" sz="2800" dirty="0"/>
            </a:b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5659966" y="3005666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AU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317863" y="1123069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2800" dirty="0"/>
              <a:t>Measures of Centre and Spread</a:t>
            </a:r>
            <a:br>
              <a:rPr lang="en-AU" sz="2800" dirty="0"/>
            </a:br>
            <a:r>
              <a:rPr lang="en-US" sz="2800" dirty="0"/>
              <a:t>EQ – How can we determine the mean of a data set? </a:t>
            </a:r>
          </a:p>
          <a:p>
            <a:br>
              <a:rPr lang="en-US" sz="2800" dirty="0"/>
            </a:br>
            <a:br>
              <a:rPr lang="en-US" sz="2800" dirty="0"/>
            </a:br>
            <a:endParaRPr lang="en-AU" sz="2800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0E38D40-52AE-4303-8DF2-2544D44075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9395143"/>
              </p:ext>
            </p:extLst>
          </p:nvPr>
        </p:nvGraphicFramePr>
        <p:xfrm>
          <a:off x="409306" y="2184408"/>
          <a:ext cx="11313617" cy="432488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16231">
                  <a:extLst>
                    <a:ext uri="{9D8B030D-6E8A-4147-A177-3AD203B41FA5}">
                      <a16:colId xmlns:a16="http://schemas.microsoft.com/office/drawing/2014/main" val="398387405"/>
                    </a:ext>
                  </a:extLst>
                </a:gridCol>
                <a:gridCol w="1616231">
                  <a:extLst>
                    <a:ext uri="{9D8B030D-6E8A-4147-A177-3AD203B41FA5}">
                      <a16:colId xmlns:a16="http://schemas.microsoft.com/office/drawing/2014/main" val="742775361"/>
                    </a:ext>
                  </a:extLst>
                </a:gridCol>
                <a:gridCol w="1616231">
                  <a:extLst>
                    <a:ext uri="{9D8B030D-6E8A-4147-A177-3AD203B41FA5}">
                      <a16:colId xmlns:a16="http://schemas.microsoft.com/office/drawing/2014/main" val="2525855981"/>
                    </a:ext>
                  </a:extLst>
                </a:gridCol>
                <a:gridCol w="1616231">
                  <a:extLst>
                    <a:ext uri="{9D8B030D-6E8A-4147-A177-3AD203B41FA5}">
                      <a16:colId xmlns:a16="http://schemas.microsoft.com/office/drawing/2014/main" val="3564200701"/>
                    </a:ext>
                  </a:extLst>
                </a:gridCol>
                <a:gridCol w="1616231">
                  <a:extLst>
                    <a:ext uri="{9D8B030D-6E8A-4147-A177-3AD203B41FA5}">
                      <a16:colId xmlns:a16="http://schemas.microsoft.com/office/drawing/2014/main" val="1519338993"/>
                    </a:ext>
                  </a:extLst>
                </a:gridCol>
                <a:gridCol w="1616231">
                  <a:extLst>
                    <a:ext uri="{9D8B030D-6E8A-4147-A177-3AD203B41FA5}">
                      <a16:colId xmlns:a16="http://schemas.microsoft.com/office/drawing/2014/main" val="1026435217"/>
                    </a:ext>
                  </a:extLst>
                </a:gridCol>
                <a:gridCol w="1616231">
                  <a:extLst>
                    <a:ext uri="{9D8B030D-6E8A-4147-A177-3AD203B41FA5}">
                      <a16:colId xmlns:a16="http://schemas.microsoft.com/office/drawing/2014/main" val="2903384396"/>
                    </a:ext>
                  </a:extLst>
                </a:gridCol>
              </a:tblGrid>
              <a:tr h="1198638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Person 1</a:t>
                      </a:r>
                    </a:p>
                    <a:p>
                      <a:r>
                        <a:rPr lang="en-AU" dirty="0"/>
                        <a:t>height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Person 2 height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Person 3 height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Total</a:t>
                      </a:r>
                    </a:p>
                    <a:p>
                      <a:r>
                        <a:rPr lang="en-AU" dirty="0"/>
                        <a:t>(height added together)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Number of people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Mean</a:t>
                      </a:r>
                    </a:p>
                    <a:p>
                      <a:r>
                        <a:rPr lang="en-AU" dirty="0"/>
                        <a:t>(total </a:t>
                      </a:r>
                      <a:r>
                        <a:rPr lang="en-A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÷ number of people)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3713040"/>
                  </a:ext>
                </a:extLst>
              </a:tr>
              <a:tr h="1042081">
                <a:tc>
                  <a:txBody>
                    <a:bodyPr/>
                    <a:lstStyle/>
                    <a:p>
                      <a:r>
                        <a:rPr lang="en-AU" dirty="0"/>
                        <a:t>Test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5242734"/>
                  </a:ext>
                </a:extLst>
              </a:tr>
              <a:tr h="1042081">
                <a:tc>
                  <a:txBody>
                    <a:bodyPr/>
                    <a:lstStyle/>
                    <a:p>
                      <a:r>
                        <a:rPr lang="en-AU" dirty="0"/>
                        <a:t>Test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8348851"/>
                  </a:ext>
                </a:extLst>
              </a:tr>
              <a:tr h="1042081">
                <a:tc>
                  <a:txBody>
                    <a:bodyPr/>
                    <a:lstStyle/>
                    <a:p>
                      <a:r>
                        <a:rPr lang="en-AU" dirty="0"/>
                        <a:t>Test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9365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8531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43154" y="3008811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2638698" y="2073199"/>
            <a:ext cx="95533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  <a:p>
            <a:endParaRPr lang="en-AU" dirty="0"/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65463" y="970669"/>
            <a:ext cx="9628632" cy="1362113"/>
          </a:xfrm>
        </p:spPr>
        <p:txBody>
          <a:bodyPr>
            <a:noAutofit/>
          </a:bodyPr>
          <a:lstStyle/>
          <a:p>
            <a:br>
              <a:rPr lang="en-US" sz="2800" dirty="0"/>
            </a:br>
            <a:br>
              <a:rPr lang="en-US" sz="2800" dirty="0"/>
            </a:b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5659966" y="3005666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AU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317863" y="1123069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2800" dirty="0"/>
              <a:t>Measures of Centre and Spread</a:t>
            </a:r>
            <a:br>
              <a:rPr lang="en-AU" sz="2800" dirty="0"/>
            </a:br>
            <a:r>
              <a:rPr lang="en-US" sz="2800" dirty="0"/>
              <a:t>EQ – How can we determine the mean of a data set? </a:t>
            </a:r>
          </a:p>
          <a:p>
            <a:br>
              <a:rPr lang="en-US" sz="2800" dirty="0"/>
            </a:br>
            <a:br>
              <a:rPr lang="en-US" sz="2800" dirty="0"/>
            </a:br>
            <a:endParaRPr lang="en-AU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1E20A9-8561-4195-BAED-F6A8715A131F}"/>
              </a:ext>
            </a:extLst>
          </p:cNvPr>
          <p:cNvSpPr txBox="1"/>
          <p:nvPr/>
        </p:nvSpPr>
        <p:spPr>
          <a:xfrm>
            <a:off x="528452" y="2073199"/>
            <a:ext cx="5988725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2800" dirty="0"/>
          </a:p>
          <a:p>
            <a:pPr marL="514350" indent="-514350">
              <a:buFont typeface="+mj-lt"/>
              <a:buAutoNum type="arabicPeriod"/>
            </a:pPr>
            <a:r>
              <a:rPr lang="en-AU" sz="2800" dirty="0"/>
              <a:t>Add all of the numbers together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2800" dirty="0"/>
              <a:t>Press equals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2800" dirty="0"/>
              <a:t>Count how many you added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2800" dirty="0"/>
              <a:t>Press divide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2800" dirty="0"/>
              <a:t>Put in number from step 3.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2800" dirty="0"/>
              <a:t>Press equals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2800" dirty="0"/>
              <a:t>Write down your mean</a:t>
            </a:r>
          </a:p>
          <a:p>
            <a:endParaRPr lang="en-AU" sz="2800" dirty="0"/>
          </a:p>
          <a:p>
            <a:endParaRPr lang="en-AU" sz="2800" dirty="0"/>
          </a:p>
          <a:p>
            <a:endParaRPr lang="en-AU" sz="2800" dirty="0"/>
          </a:p>
          <a:p>
            <a:endParaRPr lang="en-AU" sz="2800" dirty="0"/>
          </a:p>
          <a:p>
            <a:endParaRPr lang="en-AU" sz="2800" dirty="0"/>
          </a:p>
          <a:p>
            <a:endParaRPr lang="en-AU" sz="2800" dirty="0"/>
          </a:p>
          <a:p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276232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erlin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1406</TotalTime>
  <Words>155</Words>
  <Application>Microsoft Office PowerPoint</Application>
  <PresentationFormat>Widescreen</PresentationFormat>
  <Paragraphs>79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Trebuchet MS</vt:lpstr>
      <vt:lpstr>Berlin</vt:lpstr>
      <vt:lpstr>Measures of Centre and Spread</vt:lpstr>
      <vt:lpstr>  </vt:lpstr>
      <vt:lpstr>  </vt:lpstr>
      <vt:lpstr>  </vt:lpstr>
      <vt:lpstr>  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Revision of Area</dc:title>
  <dc:creator>RUST Joanne [Baldivis Secondary College]</dc:creator>
  <cp:lastModifiedBy>CUMMING Mitchell [Baldivis Secondary College]</cp:lastModifiedBy>
  <cp:revision>67</cp:revision>
  <dcterms:created xsi:type="dcterms:W3CDTF">2019-03-18T23:45:29Z</dcterms:created>
  <dcterms:modified xsi:type="dcterms:W3CDTF">2019-08-06T09:02:44Z</dcterms:modified>
</cp:coreProperties>
</file>
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7" r:id="rId2"/>
    <p:sldId id="387" r:id="rId3"/>
    <p:sldId id="401" r:id="rId4"/>
    <p:sldId id="424" r:id="rId5"/>
    <p:sldId id="415" r:id="rId6"/>
    <p:sldId id="425" r:id="rId7"/>
    <p:sldId id="428" r:id="rId8"/>
    <p:sldId id="416" r:id="rId9"/>
    <p:sldId id="285" r:id="rId10"/>
    <p:sldId id="420" r:id="rId11"/>
    <p:sldId id="422" r:id="rId12"/>
    <p:sldId id="423" r:id="rId13"/>
    <p:sldId id="258" r:id="rId14"/>
    <p:sldId id="259" r:id="rId15"/>
    <p:sldId id="260" r:id="rId16"/>
    <p:sldId id="262" r:id="rId17"/>
    <p:sldId id="263" r:id="rId18"/>
    <p:sldId id="42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8" y="62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2A008-E2C0-4261-B55F-1ABE4AE37BAD}" type="datetimeFigureOut">
              <a:rPr lang="en-GB" smtClean="0"/>
              <a:t>04/02/2019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23718-C5DB-4AA4-91F1-9FD28DBADFD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807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these off for students to fill in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15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42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off for students to add in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902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647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68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192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operation tells us what end of the number line to face ( + face the positive end of number line) ( - face the negative end of number line)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AU" dirty="0"/>
              <a:t>he second operation and number tells us how far to move and in what direction (forward if it is positive and backwards if it is negative)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3277AA-7CC8-43C9-8713-D5D8B1C37ABE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66768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operation tells us what end of the number line to face ( + face the positive end of number line) ( - face the negative end of number line)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AU" dirty="0"/>
              <a:t>he second operation and number tells us how far to move and in what direction (forward if it is positive and backwards if it is negative)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0700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operation tells us what end of the number line to face ( + face the positive end of number line) ( - face the negative end of number line)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AU" dirty="0"/>
              <a:t>he second operation and number tells us how far to move and in what direction (forward if it is positive and backwards if it is negative)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7757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The first operation tells us what end of the number line to face ( + face the positive end of number line) ( - face the negative end of number line)</a:t>
            </a:r>
          </a:p>
          <a:p>
            <a:endParaRPr lang="en-US" dirty="0"/>
          </a:p>
          <a:p>
            <a:r>
              <a:rPr lang="en-US" dirty="0"/>
              <a:t>T</a:t>
            </a:r>
            <a:r>
              <a:rPr lang="en-AU" dirty="0"/>
              <a:t>he second operation and number tells us how far to move and in what direction (forward if it is positive and backwards if it is negative)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491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41400"/>
            <a:ext cx="9144000" cy="2387600"/>
          </a:xfrm>
        </p:spPr>
        <p:txBody>
          <a:bodyPr anchor="b"/>
          <a:lstStyle>
            <a:lvl1pPr algn="l"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2611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466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6226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61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72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74638"/>
            <a:ext cx="10515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0" y="2193925"/>
            <a:ext cx="5156200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3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3" y="2193925"/>
            <a:ext cx="5157787" cy="3978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2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06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62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59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2901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9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65E195-C89C-4871-8AE9-903FDB8B6D9D}" type="datetimeFigureOut">
              <a:rPr lang="en-US" smtClean="0"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D6987-FB6D-4DB8-81B8-AD0F35E3B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35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665E195-C89C-4871-8AE9-903FDB8B6D9D}" type="datetimeFigureOut">
              <a:rPr lang="en-US" smtClean="0"/>
              <a:pPr/>
              <a:t>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062D6987-FB6D-4DB8-81B8-AD0F35E3BB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http://www.mathgoodies.com/lessons/vol5/images/no_line10.gi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http://www.mathgoodies.com/lessons/vol5/images/no_line10.gi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0DKaD_htPPk&amp;t=138s" TargetMode="External"/><Relationship Id="rId2" Type="http://schemas.openxmlformats.org/officeDocument/2006/relationships/hyperlink" Target="https://baldivissc.functionalsolutions.com.au/SmartLibraryWeb/SmartLibraryPageLoader.aspx?PageName=TITLE_DETAIL&amp;BookID=%2f2vph4WGeMWo%2bOhFXQXkEEHRJTIUspuAbAkVpVSE%2fWc%3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http://www.mathgoodies.com/lessons/vol5/images/no_line10.gif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http://www.mathgoodies.com/lessons/vol5/images/no_line10.gi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http://www.mathgoodies.com/lessons/vol5/images/no_line10.gi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http://www.mathgoodies.com/lessons/vol5/images/no_line10.gi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Adding and Subtracting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Directed Numbers</a:t>
            </a:r>
          </a:p>
          <a:p>
            <a:r>
              <a:rPr lang="en-US" dirty="0"/>
              <a:t>Year 10 OLNA Mathematics</a:t>
            </a:r>
          </a:p>
        </p:txBody>
      </p:sp>
    </p:spTree>
    <p:extLst>
      <p:ext uri="{BB962C8B-B14F-4D97-AF65-F5344CB8AC3E}">
        <p14:creationId xmlns:p14="http://schemas.microsoft.com/office/powerpoint/2010/main" val="1756136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80086BB-8776-4C53-95F6-63C3B738B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497" y="0"/>
            <a:ext cx="68350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354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554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latin typeface="Kiwi School Handwriting" panose="00000500000000000000" pitchFamily="2" charset="0"/>
              </a:rPr>
              <a:t>I</a:t>
            </a:r>
            <a:r>
              <a:rPr lang="en-AU" sz="3200" b="1" dirty="0" err="1">
                <a:latin typeface="Kiwi School Handwriting" panose="00000500000000000000" pitchFamily="2" charset="0"/>
              </a:rPr>
              <a:t>ntegers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>
                <a:solidFill>
                  <a:srgbClr val="FF5050"/>
                </a:solidFill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2727" y="1648956"/>
            <a:ext cx="1077909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as _______and _______whole numbers, including 0. </a:t>
            </a:r>
          </a:p>
        </p:txBody>
      </p:sp>
      <p:sp>
        <p:nvSpPr>
          <p:cNvPr id="2" name="Rectangle 1"/>
          <p:cNvSpPr/>
          <p:nvPr/>
        </p:nvSpPr>
        <p:spPr>
          <a:xfrm>
            <a:off x="1202727" y="2626777"/>
            <a:ext cx="10365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Positive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whole numbers ________ than zero {1,2,3,4,5,...}</a:t>
            </a:r>
            <a:endParaRPr lang="en-AU" sz="2400" b="1" i="1" dirty="0">
              <a:latin typeface="Kiwi School Handwriting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2727" y="3207454"/>
            <a:ext cx="1116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Negative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________ of those whole numbers {-1,-2,-3,-4,-5,...}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03583"/>
            <a:ext cx="55478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Zero is neither _______ or __________.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2727" y="4399712"/>
            <a:ext cx="112789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-5 is the opposite of __ and -243 is the opposite of ___. If an integers is greater than zero (&gt; 0), we say it’s sign is _________ (__). If it’s less than zero (__ 0), we say it’s sign is _________ (___)</a:t>
            </a:r>
          </a:p>
        </p:txBody>
      </p:sp>
    </p:spTree>
    <p:extLst>
      <p:ext uri="{BB962C8B-B14F-4D97-AF65-F5344CB8AC3E}">
        <p14:creationId xmlns:p14="http://schemas.microsoft.com/office/powerpoint/2010/main" val="42388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25236" y="1451149"/>
            <a:ext cx="14155" cy="4585855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5546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US" sz="3200" b="1" dirty="0">
                <a:latin typeface="Kiwi School Handwriting" panose="00000500000000000000" pitchFamily="2" charset="0"/>
              </a:rPr>
              <a:t>I</a:t>
            </a:r>
            <a:r>
              <a:rPr lang="en-AU" sz="3200" b="1" dirty="0" err="1">
                <a:latin typeface="Kiwi School Handwriting" panose="00000500000000000000" pitchFamily="2" charset="0"/>
              </a:rPr>
              <a:t>ntegers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0" y="6037004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91345" y="6083399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>
                <a:solidFill>
                  <a:srgbClr val="FF5050"/>
                </a:solidFill>
                <a:latin typeface="Kiwi School Handwriting" panose="00000500000000000000" pitchFamily="2" charset="0"/>
              </a:rPr>
              <a:t>Summary:</a:t>
            </a:r>
            <a:endParaRPr lang="en-AU" sz="2399" b="1" dirty="0">
              <a:solidFill>
                <a:srgbClr val="FF5050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02727" y="1648956"/>
            <a:ext cx="10779092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as positive and negative whole numbers, including 0. </a:t>
            </a:r>
          </a:p>
        </p:txBody>
      </p:sp>
      <p:sp>
        <p:nvSpPr>
          <p:cNvPr id="2" name="Rectangle 1"/>
          <p:cNvSpPr/>
          <p:nvPr/>
        </p:nvSpPr>
        <p:spPr>
          <a:xfrm>
            <a:off x="1202727" y="2626777"/>
            <a:ext cx="103658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Positive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whole numbers greater than zero {1,2,3,4,5,...}</a:t>
            </a:r>
            <a:endParaRPr lang="en-AU" sz="2400" b="1" i="1" dirty="0">
              <a:latin typeface="Kiwi School Handwriting" panose="00000500000000000000" pitchFamily="2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202727" y="3207454"/>
            <a:ext cx="111667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i="1" dirty="0">
                <a:latin typeface="Kiwi School Handwriting" panose="00000500000000000000" pitchFamily="2" charset="0"/>
              </a:rPr>
              <a:t>Negative integers</a:t>
            </a:r>
            <a:r>
              <a:rPr lang="en-AU" sz="2400" b="1" dirty="0">
                <a:latin typeface="Kiwi School Handwriting" panose="00000500000000000000" pitchFamily="2" charset="0"/>
              </a:rPr>
              <a:t> are all the opposites of those whole numbers {-1,-2,-3,-4,-5,...}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03583"/>
            <a:ext cx="51438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Zero is neither positive or negative.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202727" y="4399712"/>
            <a:ext cx="112789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-5 is the opposite of 5 and -243 is the opposite of 243. If an integers is greater than zero (&gt; 0), we say it’s sign is positive (+). If it’s less than zero (&lt; 0), we say it’s sign is negative (-)</a:t>
            </a:r>
          </a:p>
        </p:txBody>
      </p:sp>
    </p:spTree>
    <p:extLst>
      <p:ext uri="{BB962C8B-B14F-4D97-AF65-F5344CB8AC3E}">
        <p14:creationId xmlns:p14="http://schemas.microsoft.com/office/powerpoint/2010/main" val="332396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695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err="1">
                <a:latin typeface="Kiwi School Handwriting" panose="00000500000000000000" pitchFamily="2" charset="0"/>
              </a:rPr>
              <a:t>Intergers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02727" y="1648956"/>
            <a:ext cx="10779092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as positive and negative whole numbers, including 0</a:t>
            </a:r>
          </a:p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Positive and negative integers together are called </a:t>
            </a:r>
            <a:r>
              <a:rPr lang="en-AU" sz="2399" b="1" i="1" dirty="0">
                <a:latin typeface="Kiwi School Handwriting" panose="00000500000000000000" pitchFamily="2" charset="0"/>
              </a:rPr>
              <a:t>directed numbers</a:t>
            </a:r>
            <a:r>
              <a:rPr lang="en-AU" sz="2399" b="1" dirty="0">
                <a:latin typeface="Kiwi School Handwriting" panose="00000500000000000000" pitchFamily="2" charset="0"/>
              </a:rPr>
              <a:t>. Directed numbers show both </a:t>
            </a:r>
            <a:r>
              <a:rPr lang="en-AU" sz="2399" b="1" u="sng" dirty="0">
                <a:latin typeface="Kiwi School Handwriting" panose="00000500000000000000" pitchFamily="2" charset="0"/>
              </a:rPr>
              <a:t>____________</a:t>
            </a:r>
            <a:r>
              <a:rPr lang="en-AU" sz="2399" b="1" dirty="0">
                <a:latin typeface="Kiwi School Handwriting" panose="00000500000000000000" pitchFamily="2" charset="0"/>
              </a:rPr>
              <a:t> and </a:t>
            </a:r>
            <a:r>
              <a:rPr lang="en-AU" sz="2399" b="1" u="sng" dirty="0">
                <a:latin typeface="Kiwi School Handwriting" panose="00000500000000000000" pitchFamily="2" charset="0"/>
              </a:rPr>
              <a:t>___________</a:t>
            </a:r>
            <a:r>
              <a:rPr lang="en-AU" sz="2399" b="1" dirty="0">
                <a:latin typeface="Kiwi School Handwriting" panose="00000500000000000000" pitchFamily="2" charset="0"/>
              </a:rPr>
              <a:t> (size).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2169" y="2931003"/>
            <a:ext cx="106996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Ex: +7 or 7 means 7 units in the positive direction, while -3 means 3 units in the negative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68005"/>
            <a:ext cx="10268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**Can you think of some everyday examples of negative integers?**</a:t>
            </a:r>
          </a:p>
        </p:txBody>
      </p:sp>
      <p:pic>
        <p:nvPicPr>
          <p:cNvPr id="17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696" y="4799475"/>
            <a:ext cx="9746592" cy="116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587FB02-F7F9-4FA9-8511-BE11E6591130}"/>
              </a:ext>
            </a:extLst>
          </p:cNvPr>
          <p:cNvGrpSpPr/>
          <p:nvPr/>
        </p:nvGrpSpPr>
        <p:grpSpPr>
          <a:xfrm>
            <a:off x="2857974" y="5887549"/>
            <a:ext cx="7467600" cy="838200"/>
            <a:chOff x="4099618" y="3804560"/>
            <a:chExt cx="7467600" cy="838200"/>
          </a:xfrm>
        </p:grpSpPr>
        <p:sp>
          <p:nvSpPr>
            <p:cNvPr id="19" name="AutoShape 5">
              <a:extLst>
                <a:ext uri="{FF2B5EF4-FFF2-40B4-BE49-F238E27FC236}">
                  <a16:creationId xmlns:a16="http://schemas.microsoft.com/office/drawing/2014/main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22" name="AutoShape 7">
              <a:extLst>
                <a:ext uri="{FF2B5EF4-FFF2-40B4-BE49-F238E27FC236}">
                  <a16:creationId xmlns:a16="http://schemas.microsoft.com/office/drawing/2014/main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226150" y="4329110"/>
            <a:ext cx="1077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Integers are represented by the </a:t>
            </a:r>
            <a:r>
              <a:rPr lang="en-AU" sz="2800" b="1" i="1" dirty="0">
                <a:latin typeface="Kiwi School Handwriting" panose="00000500000000000000" pitchFamily="2" charset="0"/>
              </a:rPr>
              <a:t>number line</a:t>
            </a:r>
            <a:endParaRPr lang="en-AU" sz="2800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962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695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err="1">
                <a:latin typeface="Kiwi School Handwriting" panose="00000500000000000000" pitchFamily="2" charset="0"/>
              </a:rPr>
              <a:t>Intergers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02727" y="1648956"/>
            <a:ext cx="10779092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i="1" dirty="0">
                <a:latin typeface="Kiwi School Handwriting" panose="00000500000000000000" pitchFamily="2" charset="0"/>
              </a:rPr>
              <a:t>Integers</a:t>
            </a:r>
            <a:r>
              <a:rPr lang="en-AU" sz="2399" b="1" dirty="0">
                <a:latin typeface="Kiwi School Handwriting" panose="00000500000000000000" pitchFamily="2" charset="0"/>
              </a:rPr>
              <a:t> as positive and negative whole numbers, including 0</a:t>
            </a:r>
          </a:p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Positive and negative integers together are called </a:t>
            </a:r>
            <a:r>
              <a:rPr lang="en-AU" sz="2399" b="1" i="1" dirty="0">
                <a:latin typeface="Kiwi School Handwriting" panose="00000500000000000000" pitchFamily="2" charset="0"/>
              </a:rPr>
              <a:t>directed numbers</a:t>
            </a:r>
            <a:r>
              <a:rPr lang="en-AU" sz="2399" b="1" dirty="0">
                <a:latin typeface="Kiwi School Handwriting" panose="00000500000000000000" pitchFamily="2" charset="0"/>
              </a:rPr>
              <a:t>. Directed numbers show both </a:t>
            </a:r>
            <a:r>
              <a:rPr lang="en-AU" sz="2399" b="1" u="sng" dirty="0">
                <a:latin typeface="Kiwi School Handwriting" panose="00000500000000000000" pitchFamily="2" charset="0"/>
              </a:rPr>
              <a:t>direction</a:t>
            </a:r>
            <a:r>
              <a:rPr lang="en-AU" sz="2399" b="1" dirty="0">
                <a:latin typeface="Kiwi School Handwriting" panose="00000500000000000000" pitchFamily="2" charset="0"/>
              </a:rPr>
              <a:t> and </a:t>
            </a:r>
            <a:r>
              <a:rPr lang="en-AU" sz="2399" b="1" u="sng" dirty="0">
                <a:latin typeface="Kiwi School Handwriting" panose="00000500000000000000" pitchFamily="2" charset="0"/>
              </a:rPr>
              <a:t>magnitude</a:t>
            </a:r>
            <a:r>
              <a:rPr lang="en-AU" sz="2399" b="1" dirty="0">
                <a:latin typeface="Kiwi School Handwriting" panose="00000500000000000000" pitchFamily="2" charset="0"/>
              </a:rPr>
              <a:t> (size).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282169" y="2931003"/>
            <a:ext cx="106996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defTabSz="914126">
              <a:buFont typeface="Arial" charset="0"/>
              <a:buChar char="•"/>
            </a:pPr>
            <a:r>
              <a:rPr lang="en-AU" sz="2400" b="1" dirty="0">
                <a:latin typeface="Kiwi School Handwriting" panose="00000500000000000000" pitchFamily="2" charset="0"/>
              </a:rPr>
              <a:t>Ex: +7 or 7 means 7 units in the positive direction, while -3 means 3 units in the negative direction.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2727" y="3868005"/>
            <a:ext cx="1026869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**Can you think of some everyday examples of negative integers?**</a:t>
            </a:r>
          </a:p>
        </p:txBody>
      </p:sp>
      <p:pic>
        <p:nvPicPr>
          <p:cNvPr id="17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696" y="4799475"/>
            <a:ext cx="9746592" cy="116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8587FB02-F7F9-4FA9-8511-BE11E6591130}"/>
              </a:ext>
            </a:extLst>
          </p:cNvPr>
          <p:cNvGrpSpPr/>
          <p:nvPr/>
        </p:nvGrpSpPr>
        <p:grpSpPr>
          <a:xfrm>
            <a:off x="2857974" y="5887549"/>
            <a:ext cx="7467600" cy="838200"/>
            <a:chOff x="4099618" y="3804560"/>
            <a:chExt cx="7467600" cy="838200"/>
          </a:xfrm>
        </p:grpSpPr>
        <p:sp>
          <p:nvSpPr>
            <p:cNvPr id="19" name="AutoShape 5">
              <a:extLst>
                <a:ext uri="{FF2B5EF4-FFF2-40B4-BE49-F238E27FC236}">
                  <a16:creationId xmlns:a16="http://schemas.microsoft.com/office/drawing/2014/main" id="{5CD95F65-7948-45BE-9035-354719C80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7218" y="3804560"/>
              <a:ext cx="3810000" cy="838200"/>
            </a:xfrm>
            <a:prstGeom prst="rightArrow">
              <a:avLst>
                <a:gd name="adj1" fmla="val 50000"/>
                <a:gd name="adj2" fmla="val 113636"/>
              </a:avLst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B3DCF13-F1B9-4FED-9287-9D073F52A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19219" y="4033160"/>
              <a:ext cx="9103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Positive</a:t>
              </a:r>
            </a:p>
          </p:txBody>
        </p:sp>
        <p:sp>
          <p:nvSpPr>
            <p:cNvPr id="22" name="AutoShape 7">
              <a:extLst>
                <a:ext uri="{FF2B5EF4-FFF2-40B4-BE49-F238E27FC236}">
                  <a16:creationId xmlns:a16="http://schemas.microsoft.com/office/drawing/2014/main" id="{FAD68E2A-B69E-4B70-B96B-D561B11C6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618" y="3804560"/>
              <a:ext cx="3657600" cy="838200"/>
            </a:xfrm>
            <a:prstGeom prst="leftArrow">
              <a:avLst>
                <a:gd name="adj1" fmla="val 50000"/>
                <a:gd name="adj2" fmla="val 109091"/>
              </a:avLst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7A82BA4-EED6-4426-BA85-81C99BE7A3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6018" y="4033160"/>
              <a:ext cx="100957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Negative</a:t>
              </a:r>
            </a:p>
          </p:txBody>
        </p:sp>
      </p:grpSp>
      <p:sp>
        <p:nvSpPr>
          <p:cNvPr id="24" name="Rectangle 23"/>
          <p:cNvSpPr/>
          <p:nvPr/>
        </p:nvSpPr>
        <p:spPr>
          <a:xfrm>
            <a:off x="1226150" y="4329110"/>
            <a:ext cx="10779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91412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AU" sz="2800" b="1" dirty="0">
                <a:latin typeface="Kiwi School Handwriting" panose="00000500000000000000" pitchFamily="2" charset="0"/>
              </a:rPr>
              <a:t>Integers are represented by the </a:t>
            </a:r>
            <a:r>
              <a:rPr lang="en-AU" sz="2800" b="1" i="1" dirty="0">
                <a:latin typeface="Kiwi School Handwriting" panose="00000500000000000000" pitchFamily="2" charset="0"/>
              </a:rPr>
              <a:t>number line</a:t>
            </a:r>
            <a:endParaRPr lang="en-AU" sz="2800" b="1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48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03057-0757-43B5-88CD-94DF02C5A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 10 Coldest Recorded Temperatures on Earth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56946-1AE0-4658-A701-955A1C390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TV4Education link: </a:t>
            </a:r>
            <a:r>
              <a:rPr lang="en-GB" dirty="0">
                <a:hlinkClick r:id="rId2"/>
              </a:rPr>
              <a:t>https://baldivissc.functionalsolutions.com.au/SmartLibraryWeb/SmartLibraryPageLoader.aspx?PageName=TITLE_DETAIL&amp;BookID=%2f2vph4WGeMWo%2bOhFXQXkEEHRJTIUspuAbAkVpVSE%2fWc%3d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 err="1"/>
              <a:t>Youtube</a:t>
            </a:r>
            <a:r>
              <a:rPr lang="en-GB" dirty="0"/>
              <a:t> link: </a:t>
            </a:r>
            <a:r>
              <a:rPr lang="en-GB" dirty="0">
                <a:hlinkClick r:id="rId3"/>
              </a:rPr>
              <a:t>https://www.youtube.com/watch?v=0DKaD_htPPk&amp;t=138s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34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1011382" y="1451149"/>
            <a:ext cx="28010" cy="5406851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16957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 err="1">
                <a:latin typeface="Kiwi School Handwriting" panose="00000500000000000000" pitchFamily="2" charset="0"/>
              </a:rPr>
              <a:t>Intergers</a:t>
            </a:r>
            <a:endParaRPr lang="en-AU" sz="3200" b="1" dirty="0">
              <a:latin typeface="Kiwi School Handwriting" panose="00000500000000000000" pitchFamily="2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1790474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EQ – What are directed numbers and how do I perform calculations with them?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3175" y="1451149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4" descr="[IMAGE]">
            <a:extLst>
              <a:ext uri="{FF2B5EF4-FFF2-40B4-BE49-F238E27FC236}">
                <a16:creationId xmlns:a16="http://schemas.microsoft.com/office/drawing/2014/main" id="{DBEB4237-A68E-4572-B897-6AE2A30E2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5213" y="1670827"/>
            <a:ext cx="10200966" cy="1216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226150" y="2777800"/>
            <a:ext cx="10779092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Kiwi School Handwriting" panose="00000500000000000000" pitchFamily="2" charset="0"/>
              </a:rPr>
              <a:t>For any two different places on the number line, the integer on the right is greater than the integer on the left.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6150" y="3859483"/>
            <a:ext cx="7045014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Ex: 8 is greater (or more) than 3.</a:t>
            </a:r>
          </a:p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This can be written as 8 &gt; 1</a:t>
            </a:r>
          </a:p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Think of the &gt; and the &lt; signs as the jaws of a crocodile. </a:t>
            </a:r>
          </a:p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They always open towards the </a:t>
            </a:r>
            <a:r>
              <a:rPr lang="en-AU" sz="2399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bigger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and point to the </a:t>
            </a:r>
            <a:r>
              <a:rPr lang="en-AU" sz="2399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smaller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(the </a:t>
            </a:r>
            <a:r>
              <a:rPr lang="en-AU" sz="2399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smaller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 eats the </a:t>
            </a:r>
            <a:r>
              <a:rPr lang="en-AU" sz="2399" b="1" i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bigger</a:t>
            </a:r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 number).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9674" y="3859483"/>
            <a:ext cx="3542145" cy="263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93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you understand? Fists of Five</a:t>
            </a:r>
            <a:endParaRPr lang="en-AU" dirty="0"/>
          </a:p>
        </p:txBody>
      </p:sp>
      <p:pic>
        <p:nvPicPr>
          <p:cNvPr id="1028" name="Picture 4" descr="Image result for cartoon hand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4935" y="1690688"/>
            <a:ext cx="4647472" cy="4773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287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4845580"/>
            <a:ext cx="7264400" cy="5461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5588530"/>
            <a:ext cx="10058400" cy="7140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7" y="530112"/>
            <a:ext cx="10058400" cy="135003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437" y="2286836"/>
            <a:ext cx="10058400" cy="12600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54" y="4015448"/>
            <a:ext cx="70612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79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308153"/>
            <a:ext cx="9144000" cy="10922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2689361"/>
            <a:ext cx="8547100" cy="749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1660984"/>
            <a:ext cx="8750300" cy="7239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3612821"/>
            <a:ext cx="9626600" cy="21336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68" y="5951505"/>
            <a:ext cx="89154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949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422E-FE3C-4C7F-AAA5-9D496B33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Adding and Subtracting Integers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48F2B-DE2D-4F37-9A44-F37C59BDE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AU" dirty="0"/>
              <a:t>https://www.youtube.com/watch?v=DBSviXhkubg</a:t>
            </a:r>
          </a:p>
        </p:txBody>
      </p:sp>
    </p:spTree>
    <p:extLst>
      <p:ext uri="{BB962C8B-B14F-4D97-AF65-F5344CB8AC3E}">
        <p14:creationId xmlns:p14="http://schemas.microsoft.com/office/powerpoint/2010/main" val="384688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48939" y="2800268"/>
            <a:ext cx="210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Which direction do we go?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03E1F7-8286-4A96-A897-6F1E608E11DF}"/>
              </a:ext>
            </a:extLst>
          </p:cNvPr>
          <p:cNvSpPr txBox="1"/>
          <p:nvPr/>
        </p:nvSpPr>
        <p:spPr>
          <a:xfrm>
            <a:off x="3753684" y="3328416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Subtraction we go left!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83A902-E211-492E-A6F3-961C3AA60955}"/>
              </a:ext>
            </a:extLst>
          </p:cNvPr>
          <p:cNvSpPr txBox="1"/>
          <p:nvPr/>
        </p:nvSpPr>
        <p:spPr>
          <a:xfrm>
            <a:off x="8020884" y="3308099"/>
            <a:ext cx="3214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Addition we go right!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FB2AC7-0C68-4BAB-9386-82800B464A43}"/>
              </a:ext>
            </a:extLst>
          </p:cNvPr>
          <p:cNvSpPr txBox="1"/>
          <p:nvPr/>
        </p:nvSpPr>
        <p:spPr>
          <a:xfrm>
            <a:off x="269839" y="4672584"/>
            <a:ext cx="2381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Positive integers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DB7353-2452-432D-BE9B-BD65B6502754}"/>
              </a:ext>
            </a:extLst>
          </p:cNvPr>
          <p:cNvSpPr txBox="1"/>
          <p:nvPr/>
        </p:nvSpPr>
        <p:spPr>
          <a:xfrm>
            <a:off x="3909563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+ 2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1C2125-8363-4321-AA3C-B9D1E07539DF}"/>
              </a:ext>
            </a:extLst>
          </p:cNvPr>
          <p:cNvSpPr txBox="1"/>
          <p:nvPr/>
        </p:nvSpPr>
        <p:spPr>
          <a:xfrm>
            <a:off x="8509630" y="4549373"/>
            <a:ext cx="2338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5 - 2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86D866-A1B7-497F-80A3-E3F8A1A55371}"/>
              </a:ext>
            </a:extLst>
          </p:cNvPr>
          <p:cNvSpPr txBox="1"/>
          <p:nvPr/>
        </p:nvSpPr>
        <p:spPr>
          <a:xfrm>
            <a:off x="3753684" y="5040777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right 2 </a:t>
            </a:r>
          </a:p>
          <a:p>
            <a:endParaRPr lang="en-AU" dirty="0"/>
          </a:p>
          <a:p>
            <a:r>
              <a:rPr lang="en-AU" dirty="0"/>
              <a:t>Get to 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ACBF6AC-3D53-48BA-8AF4-90AE4CFF67F7}"/>
              </a:ext>
            </a:extLst>
          </p:cNvPr>
          <p:cNvSpPr/>
          <p:nvPr/>
        </p:nvSpPr>
        <p:spPr>
          <a:xfrm>
            <a:off x="9362257" y="2942179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66C8375-9B39-4D8C-9595-97C5F369B2F0}"/>
              </a:ext>
            </a:extLst>
          </p:cNvPr>
          <p:cNvSpPr/>
          <p:nvPr/>
        </p:nvSpPr>
        <p:spPr>
          <a:xfrm>
            <a:off x="10149298" y="2949365"/>
            <a:ext cx="174935" cy="151875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A5B148-D9AC-4636-8FD1-CF30CFA061E7}"/>
              </a:ext>
            </a:extLst>
          </p:cNvPr>
          <p:cNvSpPr txBox="1"/>
          <p:nvPr/>
        </p:nvSpPr>
        <p:spPr>
          <a:xfrm>
            <a:off x="8357160" y="5041916"/>
            <a:ext cx="2162484" cy="1200329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and go to the left 2 </a:t>
            </a:r>
          </a:p>
          <a:p>
            <a:endParaRPr lang="en-AU" dirty="0"/>
          </a:p>
          <a:p>
            <a:r>
              <a:rPr lang="en-AU" dirty="0"/>
              <a:t>Get to 3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3EB0549-1988-45D6-9E38-C3E418678230}"/>
              </a:ext>
            </a:extLst>
          </p:cNvPr>
          <p:cNvSpPr/>
          <p:nvPr/>
        </p:nvSpPr>
        <p:spPr>
          <a:xfrm>
            <a:off x="9362257" y="3156224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889AD68-3B84-443A-B67C-8BF7E4945D5D}"/>
              </a:ext>
            </a:extLst>
          </p:cNvPr>
          <p:cNvSpPr/>
          <p:nvPr/>
        </p:nvSpPr>
        <p:spPr>
          <a:xfrm>
            <a:off x="8748212" y="3170556"/>
            <a:ext cx="174935" cy="151875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CDEF546-3282-408C-86D1-B474B27E95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151" y="3554825"/>
            <a:ext cx="2185508" cy="250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9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4" grpId="0"/>
      <p:bldP spid="15" grpId="0"/>
      <p:bldP spid="35" grpId="0"/>
      <p:bldP spid="16" grpId="0"/>
      <p:bldP spid="17" grpId="0"/>
      <p:bldP spid="36" grpId="0"/>
      <p:bldP spid="18" grpId="0" animBg="1"/>
      <p:bldP spid="19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adding negative numbers?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B5F35-59DC-4F52-97C3-8D55EC4910B8}"/>
              </a:ext>
            </a:extLst>
          </p:cNvPr>
          <p:cNvSpPr txBox="1"/>
          <p:nvPr/>
        </p:nvSpPr>
        <p:spPr>
          <a:xfrm>
            <a:off x="3587262" y="3385038"/>
            <a:ext cx="7526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Think of negative numbers as the same as subtracting the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DF5B8E-11FC-4722-8A39-DCC5FD9636D4}"/>
              </a:ext>
            </a:extLst>
          </p:cNvPr>
          <p:cNvSpPr txBox="1"/>
          <p:nvPr/>
        </p:nvSpPr>
        <p:spPr>
          <a:xfrm>
            <a:off x="3859823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 + -2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2454025" y="4623600"/>
            <a:ext cx="3715547" cy="14773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Start at 5 </a:t>
            </a:r>
          </a:p>
          <a:p>
            <a:r>
              <a:rPr lang="en-AU" dirty="0"/>
              <a:t>+ means we are heading </a:t>
            </a:r>
          </a:p>
          <a:p>
            <a:r>
              <a:rPr lang="en-AU" b="1" dirty="0"/>
              <a:t>But we are not adding a normal positive number. It is -2 so we turn around and go the opposite way.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0C039-396D-49B6-B788-968373EB8E12}"/>
              </a:ext>
            </a:extLst>
          </p:cNvPr>
          <p:cNvSpPr txBox="1"/>
          <p:nvPr/>
        </p:nvSpPr>
        <p:spPr>
          <a:xfrm>
            <a:off x="8982071" y="4152470"/>
            <a:ext cx="1802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-2 + -2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646331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What do we do for this one??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5035443" y="4891017"/>
            <a:ext cx="540220" cy="36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8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" grpId="0"/>
      <p:bldP spid="8" grpId="0"/>
      <p:bldP spid="18" grpId="0" animBg="1"/>
      <p:bldP spid="21" grpId="0"/>
      <p:bldP spid="2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  <a:latin typeface="Calibri"/>
              </a:rPr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89" y="822594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18193" y="1500143"/>
            <a:ext cx="1218882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-18193" y="-33167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Calibri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3359696" y="1500144"/>
            <a:ext cx="0" cy="552925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57871" y="118992"/>
            <a:ext cx="48417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Calibri"/>
              </a:rPr>
              <a:t>Adding and Subtracting Integers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5264" y="-9068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8" y="92617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Calibri"/>
              </a:rPr>
              <a:t>EQ – How do we add and subtract integers?</a:t>
            </a:r>
          </a:p>
        </p:txBody>
      </p:sp>
      <p:pic>
        <p:nvPicPr>
          <p:cNvPr id="27" name="Picture 4" descr="[IMAGE]"/>
          <p:cNvPicPr>
            <a:picLocks noChangeAspect="1" noChangeArrowheads="1"/>
          </p:cNvPicPr>
          <p:nvPr/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684" y="2204541"/>
            <a:ext cx="7924800" cy="911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Rectangle 6"/>
          <p:cNvSpPr>
            <a:spLocks noChangeArrowheads="1"/>
          </p:cNvSpPr>
          <p:nvPr/>
        </p:nvSpPr>
        <p:spPr bwMode="auto">
          <a:xfrm>
            <a:off x="7683154" y="1753078"/>
            <a:ext cx="165295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Addition</a:t>
            </a:r>
          </a:p>
        </p:txBody>
      </p: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5331704" y="1762673"/>
            <a:ext cx="190981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b="1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</a:rPr>
              <a:t>Subtraction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1BCBA-28E3-44A2-8A1D-48FFAE2E5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091" y="1584653"/>
            <a:ext cx="1357463" cy="90497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F89032E-E835-4954-BE49-E852724574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9611" flipH="1">
            <a:off x="9390685" y="1511462"/>
            <a:ext cx="1403130" cy="93542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A844AA-21C9-4F41-AEBD-6AE892E3061A}"/>
              </a:ext>
            </a:extLst>
          </p:cNvPr>
          <p:cNvSpPr txBox="1"/>
          <p:nvPr/>
        </p:nvSpPr>
        <p:spPr>
          <a:xfrm>
            <a:off x="450463" y="3690805"/>
            <a:ext cx="2106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about subtracting with negative numbers?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ADDE0A-3670-45F1-9492-77BD36106644}"/>
              </a:ext>
            </a:extLst>
          </p:cNvPr>
          <p:cNvSpPr txBox="1"/>
          <p:nvPr/>
        </p:nvSpPr>
        <p:spPr>
          <a:xfrm>
            <a:off x="3762610" y="4013970"/>
            <a:ext cx="2162484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-3 -  -2=</a:t>
            </a:r>
          </a:p>
          <a:p>
            <a:r>
              <a:rPr lang="en-AU" dirty="0"/>
              <a:t>Start at -3 and……</a:t>
            </a:r>
          </a:p>
          <a:p>
            <a:endParaRPr lang="en-AU" dirty="0"/>
          </a:p>
          <a:p>
            <a:endParaRPr lang="en-A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731936-158C-4BEE-9A88-94E367074959}"/>
              </a:ext>
            </a:extLst>
          </p:cNvPr>
          <p:cNvSpPr txBox="1"/>
          <p:nvPr/>
        </p:nvSpPr>
        <p:spPr>
          <a:xfrm>
            <a:off x="8622010" y="5039099"/>
            <a:ext cx="2162484" cy="369332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/>
              <a:t>  4 - -3=</a:t>
            </a:r>
          </a:p>
        </p:txBody>
      </p:sp>
    </p:spTree>
    <p:extLst>
      <p:ext uri="{BB962C8B-B14F-4D97-AF65-F5344CB8AC3E}">
        <p14:creationId xmlns:p14="http://schemas.microsoft.com/office/powerpoint/2010/main" val="104047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18" grpId="0" animBg="1"/>
      <p:bldP spid="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CA0BF2-433A-474B-9714-52834114C68D}"/>
              </a:ext>
            </a:extLst>
          </p:cNvPr>
          <p:cNvSpPr txBox="1"/>
          <p:nvPr/>
        </p:nvSpPr>
        <p:spPr>
          <a:xfrm>
            <a:off x="228599" y="316523"/>
            <a:ext cx="7511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Task Side Practice (use your number line!)</a:t>
            </a:r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B7C796-89E6-47C8-8F24-3FE444C2A54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01" t="58860" r="25638" b="19875"/>
          <a:stretch/>
        </p:blipFill>
        <p:spPr>
          <a:xfrm>
            <a:off x="228599" y="1346244"/>
            <a:ext cx="11074802" cy="230545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74B546-7867-4F2D-8157-EB1B2822F5D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53" t="29220" r="26197" b="51348"/>
          <a:stretch/>
        </p:blipFill>
        <p:spPr>
          <a:xfrm>
            <a:off x="228599" y="4163438"/>
            <a:ext cx="10962791" cy="213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851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4" t="24568" r="26388" b="21975"/>
          <a:stretch/>
        </p:blipFill>
        <p:spPr bwMode="auto">
          <a:xfrm>
            <a:off x="533400" y="762000"/>
            <a:ext cx="10371667" cy="5427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87604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C1DF8-08FD-4811-87EC-CF42E9DA2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19852-E5DD-44E0-A46C-6C410775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Directed numbers worksheet x3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25989738"/>
      </p:ext>
    </p:extLst>
  </p:cSld>
  <p:clrMapOvr>
    <a:masterClrMapping/>
  </p:clrMapOvr>
</p:sld>
</file>

<file path=ppt/theme/theme1.xml><?xml version="1.0" encoding="utf-8"?>
<a:theme xmlns:a="http://schemas.openxmlformats.org/drawingml/2006/main" name="Melancholy abstract design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lancholy abstract design slides.potx" id="{0C631111-0761-4095-80FF-907E1270642A}" vid="{4C722CC6-EA24-4B9B-A48E-3EC5DC6964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1126</Words>
  <Application>Microsoft Office PowerPoint</Application>
  <PresentationFormat>Widescreen</PresentationFormat>
  <Paragraphs>152</Paragraphs>
  <Slides>18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Kiwi School Handwriting</vt:lpstr>
      <vt:lpstr>Melancholy abstract design template</vt:lpstr>
      <vt:lpstr>Adding and Subtracting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 10 Coldest Recorded Temperatures on Earth</vt:lpstr>
      <vt:lpstr>PowerPoint Presentation</vt:lpstr>
      <vt:lpstr>Do you understand? Fists of Five</vt:lpstr>
      <vt:lpstr>PowerPoint Presentation</vt:lpstr>
      <vt:lpstr>PowerPoint Presentation</vt:lpstr>
      <vt:lpstr>Adding and Subtracting Integers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Adding and Subtracting</dc:title>
  <dc:creator>Magdeline Lum</dc:creator>
  <cp:lastModifiedBy>Magdeline Lum</cp:lastModifiedBy>
  <cp:revision>3</cp:revision>
  <dcterms:created xsi:type="dcterms:W3CDTF">2019-02-04T15:16:52Z</dcterms:created>
  <dcterms:modified xsi:type="dcterms:W3CDTF">2019-02-04T15:41:38Z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74064600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</Properties>
</file>
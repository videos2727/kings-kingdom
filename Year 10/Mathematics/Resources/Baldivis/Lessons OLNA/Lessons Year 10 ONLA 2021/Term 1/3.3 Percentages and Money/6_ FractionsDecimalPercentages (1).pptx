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990CE-77EA-4F7D-82B9-70844DFB38DD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A3A3-C796-47FD-A416-9BD10D972E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824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2513C83-484A-471A-BCE2-6899EFF1D1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A903EF7-EC6B-4248-BF7E-88510BDF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/>
              <a:t>Ask pupils what equivalent means.</a:t>
            </a:r>
          </a:p>
          <a:p>
            <a:pPr eaLnBrk="1" hangingPunct="1"/>
            <a:r>
              <a:rPr lang="en-GB" altLang="en-US" b="1" i="1" dirty="0"/>
              <a:t>Equal to</a:t>
            </a:r>
            <a:r>
              <a:rPr lang="en-GB" altLang="en-US" dirty="0"/>
              <a:t> or </a:t>
            </a:r>
            <a:r>
              <a:rPr lang="en-GB" altLang="en-US" b="1" i="1" dirty="0"/>
              <a:t>the same as.</a:t>
            </a:r>
          </a:p>
          <a:p>
            <a:pPr eaLnBrk="1" hangingPunct="1"/>
            <a:r>
              <a:rPr lang="en-GB" altLang="en-US" b="1" i="1" dirty="0"/>
              <a:t>Many words that start with equ- have something to do with things being equal. Can you think of any?</a:t>
            </a:r>
          </a:p>
          <a:p>
            <a:pPr eaLnBrk="1" hangingPunct="1"/>
            <a:r>
              <a:rPr lang="en-GB" altLang="en-US" dirty="0"/>
              <a:t>Some examples include equilateral, equation, equidistant.</a:t>
            </a:r>
          </a:p>
          <a:p>
            <a:pPr eaLnBrk="1" hangingPunct="1"/>
            <a:r>
              <a:rPr lang="en-AU" altLang="en-US" dirty="0"/>
              <a:t>Equivalent= equal in value</a:t>
            </a:r>
          </a:p>
          <a:p>
            <a:pPr eaLnBrk="1" hangingPunct="1"/>
            <a:r>
              <a:rPr lang="en-AU" altLang="en-US" dirty="0"/>
              <a:t>Equivalent fractions: what is an example</a:t>
            </a:r>
          </a:p>
          <a:p>
            <a:pPr eaLnBrk="1" hangingPunct="1"/>
            <a:r>
              <a:rPr lang="en-AU" altLang="en-US" dirty="0"/>
              <a:t>There are some common percentages and their </a:t>
            </a:r>
            <a:r>
              <a:rPr lang="en-AU" altLang="en-US" dirty="0" err="1"/>
              <a:t>equaivalent</a:t>
            </a:r>
            <a:r>
              <a:rPr lang="en-AU" altLang="en-US" dirty="0"/>
              <a:t> decimal and fractions you should be familiar with: </a:t>
            </a:r>
          </a:p>
          <a:p>
            <a:pPr eaLnBrk="1" hangingPunct="1"/>
            <a:endParaRPr lang="en-AU" altLang="en-US" dirty="0"/>
          </a:p>
          <a:p>
            <a:pPr eaLnBrk="1" hangingPunct="1"/>
            <a:endParaRPr lang="en-AU" altLang="en-US" dirty="0"/>
          </a:p>
          <a:p>
            <a:pPr eaLnBrk="1" hangingPunct="1"/>
            <a:endParaRPr lang="en-AU" altLang="en-US" dirty="0"/>
          </a:p>
          <a:p>
            <a:pPr eaLnBrk="1" hangingPunct="1"/>
            <a:endParaRPr lang="en-AU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5FB70CF-C4F4-4C14-BA94-25F0CDAE5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6D2F52-8230-467A-AC11-BA5076737112}" type="slidenum">
              <a:rPr lang="en-GB" altLang="en-US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3A9AB68E-3132-4831-8A63-B7D2186303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3FA95F-0C9A-4337-9E4B-6869EA3A19CD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9C13447-CA47-44E6-978B-DC725CDC04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DDED7AB-2386-4E43-B8AA-67CB939F2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F48C0B3-9F8A-4559-BBE5-9A523025EF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21EE0F-CB6F-43B9-B647-E9F76248260F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3665CCD-3481-4F20-B555-54B26286AD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852942A-8339-4A26-AF12-416AB9823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4343400"/>
            <a:ext cx="6248400" cy="4114800"/>
          </a:xfrm>
          <a:noFill/>
        </p:spPr>
        <p:txBody>
          <a:bodyPr/>
          <a:lstStyle/>
          <a:p>
            <a:pPr eaLnBrk="1" hangingPunct="1"/>
            <a:r>
              <a:rPr lang="en-GB" altLang="en-US"/>
              <a:t>Explain this set of equivalent fractions as in the previous slide.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2/3 = 4/6 = 6/9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DB04-7CF2-4336-BDE6-2F16931B2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E21C6-71E1-4C79-AA21-19DF19975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CD890-205F-4269-9EAD-FE0134BF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EE29-F47C-4441-9093-0719FA0E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C188E-AC35-4882-8467-9847CEDC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58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2551-7FBD-4BF0-8A63-5C3FA1CF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4162-B772-4E5B-8F69-1BA6080D7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115A4-F7A8-487F-843F-62EA8251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D4EA1-CF72-4994-A06C-CBD997BF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2B3DD-353D-4A73-B92C-2773282B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7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7D4E-A44D-4394-B4C7-D248BBD6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1753D-E08D-4B74-81EC-9D8156869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B7334-ACB0-4060-9B10-E84D5B91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BD764-22F8-4378-9B32-B61D73A4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A85D-4FBA-4798-8016-3906ACB2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02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2845-5D38-4DBD-8AA2-4F7292F6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D941-2D19-49EC-B2D1-C8C238D5E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0E-6958-4FAC-98DD-921FBD76D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C139A-B0A2-4F39-96A8-673DCA71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D7A42-2E26-4461-8419-76641BEE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93B95-D7CB-47AE-A28D-5A9152B3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05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9701-6666-4EC2-9930-CA05C441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CBD6-6EDB-4106-8087-1BAC914A9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DD901-6CED-4EEB-9205-370F67375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17496-C328-457F-929B-4D21F6FEF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9352A-C3BE-4E05-9858-0A65250DD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C5E4E-03A8-4A8C-B49D-F06FF436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A6C55-2853-4225-B46B-1577B23C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416A3-E97C-47F6-8C2D-A4B1B39A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099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FE67-6898-4FB2-B944-84B2E213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7E07E-10D3-4CB2-83BE-15FB2A34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8C73E-D005-4B80-AFA6-0A2BE3EA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F1177-1241-459C-B866-3B5F0C7B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27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EDEEB-5D27-4744-9447-A83032A9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6121F-63D9-4336-963D-DEE775A3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99DEB-3B94-4FC9-B2E8-B8A89B33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25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AEFB-61B1-4443-8EC2-4E9D7C86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C7D5-3EF9-4DC9-A1EA-7309308DF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2D667-6B2A-4632-A275-36567077B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6F8F3-B778-417A-BE71-B496A584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A7513-3463-42E7-B4A3-1039911D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ED344-23E9-40D0-B2A7-E0281DCE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022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F5D2-A4BF-4571-840E-CFBD30A7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5D4B2-0865-4E82-A491-F9F71A3E7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53E9D-338F-4F38-A11B-545D54AEC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1D567-898B-4BB4-AB46-532436A68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C58CE-0B89-4B95-BD70-4698EC3E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8B256-D1D2-4DC0-BA24-91412C42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27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E545-97C2-4CD0-B2BC-3DACB9AD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A1A28-744F-4994-B6B9-E07D8BD97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1913A-E52D-4BD1-94EB-7EFBEA8F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32BF4-84E7-4797-BA12-E7A89ED0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C7D0E-4459-4E2A-9254-A14473D9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780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4A65D-42F3-424B-A741-E8C41D329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1325A-F353-40C7-A451-FD4255F58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7B8BE-867E-4EED-82FB-E7D2A665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7C0AF-B9EE-4F7D-B584-98E6C039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AF8C7-B582-4CBA-8542-EFCDC86E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4757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BDFFD3-B7DB-4CD2-94C8-D8EF62FFDB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AEFAA2-CA20-4365-84C6-C3DD1231B8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42C75B-926A-44EF-A1C1-65967E743D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3A897-F228-45F9-8C80-55B51CA9F9B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11675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372EA0-5516-4AFF-8CA5-74849C20F8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1880C30-2425-4460-902D-616225E0AC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B4333B-2461-4A97-9EED-5C3F2B6D25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A4DAA-984E-493C-85A5-AF79922792D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98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FBAA3-8693-48AB-98CF-F824510D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8A0DB-5F47-4F88-B4AF-C8D548D2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0FE38-2B70-47DD-87CF-DC28764E2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B49F6-9937-461B-A55A-EE12A0DBCE72}" type="datetimeFigureOut">
              <a:rPr lang="en-AU" smtClean="0"/>
              <a:t>29/07/2018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2C177-0DC5-4517-970F-9ED86B138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E838-B48A-4215-A271-5DA818FB6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F6645-5B72-42DE-9702-C48D76C032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91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mathsisfun.com/decimal-fraction-percentage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BB62-E90A-4A6B-BEAE-BE84708D8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	Topic: Percentages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3AEB3-465F-4565-9B31-244EA5834B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convert between fractions, decimals and percentages?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762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AAB762DA-5F2E-4A0C-B73C-8B09712A3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z="4000" dirty="0"/>
              <a:t>Mental Arithmetic</a:t>
            </a:r>
            <a:br>
              <a:rPr lang="en-GB" altLang="en-US" sz="4000" dirty="0"/>
            </a:br>
            <a:r>
              <a:rPr lang="en-GB" altLang="en-US" sz="2000" dirty="0"/>
              <a:t>Divide and multiply the following by 10.</a:t>
            </a:r>
            <a:r>
              <a:rPr lang="en-GB" altLang="en-US" sz="2400" dirty="0"/>
              <a:t> </a:t>
            </a:r>
            <a:r>
              <a:rPr lang="en-GB" altLang="en-US" sz="4000" dirty="0"/>
              <a:t> </a:t>
            </a:r>
          </a:p>
        </p:txBody>
      </p:sp>
      <p:graphicFrame>
        <p:nvGraphicFramePr>
          <p:cNvPr id="3101" name="Group 29">
            <a:extLst>
              <a:ext uri="{FF2B5EF4-FFF2-40B4-BE49-F238E27FC236}">
                <a16:creationId xmlns:a16="http://schemas.microsoft.com/office/drawing/2014/main" id="{3B697511-3F0A-4F55-89D7-096AE11BC8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421481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0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    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÷   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34.1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00EC09A-2A7B-4299-B767-E46E0F60E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Answers </a:t>
            </a:r>
            <a:br>
              <a:rPr lang="en-GB" altLang="en-US"/>
            </a:br>
            <a:r>
              <a:rPr lang="en-GB" altLang="en-US" sz="2000"/>
              <a:t>Mark your work</a:t>
            </a:r>
          </a:p>
        </p:txBody>
      </p:sp>
      <p:graphicFrame>
        <p:nvGraphicFramePr>
          <p:cNvPr id="7171" name="Group 3">
            <a:extLst>
              <a:ext uri="{FF2B5EF4-FFF2-40B4-BE49-F238E27FC236}">
                <a16:creationId xmlns:a16="http://schemas.microsoft.com/office/drawing/2014/main" id="{7E42DC99-850A-444B-AEC0-5230B01CE5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421481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0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    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÷   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</a:rPr>
                        <a:t>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</a:rPr>
                        <a:t>1200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34.1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</a:rPr>
                        <a:t>341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</a:rPr>
                        <a:t>3.41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E85512D-61A0-4878-8843-842D8E4D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 b="1" u="sng"/>
              <a:t>Fractions, Percentages and Decimals</a:t>
            </a:r>
            <a:r>
              <a:rPr lang="en-GB" altLang="en-US"/>
              <a:t> 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F66FC5F6-28A0-43FA-B775-6E4076E4A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417638"/>
            <a:ext cx="822960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E0750A"/>
                </a:solidFill>
              </a:rPr>
              <a:t>Equivalent fractions</a:t>
            </a:r>
            <a:endParaRPr lang="en-GB" altLang="en-US" sz="4400">
              <a:solidFill>
                <a:srgbClr val="E0750A"/>
              </a:solidFill>
            </a:endParaRPr>
          </a:p>
        </p:txBody>
      </p:sp>
      <p:sp>
        <p:nvSpPr>
          <p:cNvPr id="5124" name="AutoShape 4">
            <a:extLst>
              <a:ext uri="{FF2B5EF4-FFF2-40B4-BE49-F238E27FC236}">
                <a16:creationId xmlns:a16="http://schemas.microsoft.com/office/drawing/2014/main" id="{583D5F5A-A623-4064-834C-C94CD29A1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2420938"/>
            <a:ext cx="6858000" cy="3200400"/>
          </a:xfrm>
          <a:prstGeom prst="cloudCallout">
            <a:avLst>
              <a:gd name="adj1" fmla="val -50972"/>
              <a:gd name="adj2" fmla="val 71431"/>
            </a:avLst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4400">
                <a:cs typeface="Arial" panose="020B0604020202020204" pitchFamily="34" charset="0"/>
              </a:rPr>
              <a:t>What does</a:t>
            </a:r>
            <a:r>
              <a:rPr lang="en-GB" altLang="en-US" sz="4400" b="1">
                <a:cs typeface="Arial" panose="020B0604020202020204" pitchFamily="34" charset="0"/>
              </a:rPr>
              <a:t> </a:t>
            </a:r>
            <a:r>
              <a:rPr lang="en-GB" altLang="en-US" sz="4400" b="1">
                <a:solidFill>
                  <a:srgbClr val="FF6600"/>
                </a:solidFill>
                <a:cs typeface="Arial" panose="020B0604020202020204" pitchFamily="34" charset="0"/>
              </a:rPr>
              <a:t>equivalent</a:t>
            </a:r>
            <a:r>
              <a:rPr lang="en-GB" altLang="en-US" sz="4400" b="1">
                <a:cs typeface="Arial" panose="020B0604020202020204" pitchFamily="34" charset="0"/>
              </a:rPr>
              <a:t> </a:t>
            </a:r>
            <a:r>
              <a:rPr lang="en-GB" altLang="en-US" sz="4400">
                <a:cs typeface="Arial" panose="020B0604020202020204" pitchFamily="34" charset="0"/>
              </a:rPr>
              <a:t>mean?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">
            <a:extLst>
              <a:ext uri="{FF2B5EF4-FFF2-40B4-BE49-F238E27FC236}">
                <a16:creationId xmlns:a16="http://schemas.microsoft.com/office/drawing/2014/main" id="{361C37A6-ECB9-495E-B413-0E2F285E3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844675"/>
            <a:ext cx="8640762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Box 2">
            <a:extLst>
              <a:ext uri="{FF2B5EF4-FFF2-40B4-BE49-F238E27FC236}">
                <a16:creationId xmlns:a16="http://schemas.microsoft.com/office/drawing/2014/main" id="{8794EE72-36B0-41B1-BA72-71E2FCF7C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1125538"/>
            <a:ext cx="669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Common percentages and their equivalent fraction and decimal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Text Box 5">
            <a:extLst>
              <a:ext uri="{FF2B5EF4-FFF2-40B4-BE49-F238E27FC236}">
                <a16:creationId xmlns:a16="http://schemas.microsoft.com/office/drawing/2014/main" id="{A93DCBD7-0B64-4620-9215-2050EF94D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1773238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3600" b="1">
                <a:solidFill>
                  <a:srgbClr val="010066"/>
                </a:solidFill>
                <a:cs typeface="Arial" panose="020B0604020202020204" pitchFamily="34" charset="0"/>
              </a:rPr>
              <a:t>2</a:t>
            </a:r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FEA7B989-C6AB-4BF6-8B31-4110FC8C7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3975" y="2492375"/>
            <a:ext cx="609600" cy="0"/>
          </a:xfrm>
          <a:prstGeom prst="line">
            <a:avLst/>
          </a:prstGeom>
          <a:noFill/>
          <a:ln w="57150">
            <a:solidFill>
              <a:srgbClr val="01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4343" name="Text Box 7">
            <a:extLst>
              <a:ext uri="{FF2B5EF4-FFF2-40B4-BE49-F238E27FC236}">
                <a16:creationId xmlns:a16="http://schemas.microsoft.com/office/drawing/2014/main" id="{6A476C7C-EB08-44DE-8949-CCD612B87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2565400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3600" b="1">
                <a:solidFill>
                  <a:srgbClr val="010066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9221" name="Rectangle 131">
            <a:extLst>
              <a:ext uri="{FF2B5EF4-FFF2-40B4-BE49-F238E27FC236}">
                <a16:creationId xmlns:a16="http://schemas.microsoft.com/office/drawing/2014/main" id="{E238BBD8-9D0D-481B-814A-9F4C65CAFC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03388" y="333376"/>
            <a:ext cx="8507412" cy="1223963"/>
          </a:xfrm>
        </p:spPr>
        <p:txBody>
          <a:bodyPr>
            <a:normAutofit fontScale="90000"/>
          </a:bodyPr>
          <a:lstStyle/>
          <a:p>
            <a:pPr algn="l" eaLnBrk="1" hangingPunct="1"/>
            <a:br>
              <a:rPr lang="en-GB" altLang="en-US" sz="1400" b="1"/>
            </a:br>
            <a:br>
              <a:rPr lang="en-GB" altLang="en-US" sz="1400" b="1"/>
            </a:br>
            <a:br>
              <a:rPr lang="en-GB" altLang="en-US" sz="1400" b="1"/>
            </a:br>
            <a:br>
              <a:rPr lang="en-GB" altLang="en-US" sz="1400" b="1"/>
            </a:br>
            <a:br>
              <a:rPr lang="en-GB" altLang="en-US" sz="2800" b="1">
                <a:solidFill>
                  <a:srgbClr val="5B0091"/>
                </a:solidFill>
              </a:rPr>
            </a:br>
            <a:r>
              <a:rPr lang="en-GB" altLang="en-US" sz="2800" b="1">
                <a:solidFill>
                  <a:srgbClr val="5B0091"/>
                </a:solidFill>
              </a:rPr>
              <a:t> </a:t>
            </a:r>
            <a:br>
              <a:rPr lang="en-GB" altLang="en-US" sz="1400" b="1"/>
            </a:br>
            <a:br>
              <a:rPr lang="en-GB" altLang="en-US" sz="1400" b="1"/>
            </a:br>
            <a:r>
              <a:rPr lang="en-GB" altLang="en-US" sz="2800" b="1">
                <a:solidFill>
                  <a:srgbClr val="5B0091"/>
                </a:solidFill>
              </a:rPr>
              <a:t> Equivalent fractions </a:t>
            </a:r>
            <a:br>
              <a:rPr lang="en-GB" altLang="en-US" sz="1400" b="1"/>
            </a:br>
            <a:br>
              <a:rPr lang="en-GB" altLang="en-US" sz="1400" b="1"/>
            </a:br>
            <a:br>
              <a:rPr lang="en-GB" altLang="en-US" sz="1400" b="1"/>
            </a:br>
            <a:br>
              <a:rPr lang="en-GB" altLang="en-US" sz="2800" b="1">
                <a:solidFill>
                  <a:srgbClr val="5B0091"/>
                </a:solidFill>
              </a:rPr>
            </a:br>
            <a:endParaRPr lang="en-GB" altLang="en-US" sz="2800" b="1">
              <a:solidFill>
                <a:srgbClr val="5B009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utoUpdateAnimBg="0"/>
      <p:bldP spid="1434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82C04C1-B1A1-4BDF-8A13-8D7937357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GB" altLang="en-US" sz="1400" b="1"/>
            </a:br>
            <a:r>
              <a:rPr lang="en-GB" altLang="en-US" sz="3200"/>
              <a:t>Write down Three equivalent fractions of</a:t>
            </a:r>
            <a:r>
              <a:rPr lang="en-GB" altLang="en-US" sz="4000"/>
              <a:t> 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20CEF5BF-1C46-4EB7-A134-4045D49FB52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endParaRPr lang="en-GB" altLang="en-US" b="1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00FF"/>
                </a:solidFill>
              </a:rPr>
              <a:t>                      4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00FF"/>
                </a:solidFill>
              </a:rPr>
              <a:t>                      5</a:t>
            </a:r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E3757C48-7E34-492E-B6DA-AF18F1AFD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636838"/>
            <a:ext cx="609600" cy="0"/>
          </a:xfrm>
          <a:prstGeom prst="line">
            <a:avLst/>
          </a:prstGeom>
          <a:noFill/>
          <a:ln w="57150">
            <a:solidFill>
              <a:srgbClr val="01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6AF783E-181B-4576-ACD7-D3D0DCBFD5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GB" altLang="en-US" sz="1800"/>
            </a:br>
            <a:r>
              <a:rPr lang="en-GB" altLang="en-US" sz="3200">
                <a:solidFill>
                  <a:srgbClr val="0000FF"/>
                </a:solidFill>
              </a:rPr>
              <a:t>Find 10 % of a quantity</a:t>
            </a:r>
            <a:r>
              <a:rPr lang="en-GB" altLang="en-US"/>
              <a:t>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E2AF165-10B5-4A6E-9C2B-E48EB966F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10 % of $40 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10 % of $208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10 % of $67.4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Group 2">
            <a:extLst>
              <a:ext uri="{FF2B5EF4-FFF2-40B4-BE49-F238E27FC236}">
                <a16:creationId xmlns:a16="http://schemas.microsoft.com/office/drawing/2014/main" id="{B2671990-A915-47CE-89D4-7494B63A565E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981200" y="274638"/>
          <a:ext cx="8229600" cy="5851528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629" name="Text Box 125">
            <a:extLst>
              <a:ext uri="{FF2B5EF4-FFF2-40B4-BE49-F238E27FC236}">
                <a16:creationId xmlns:a16="http://schemas.microsoft.com/office/drawing/2014/main" id="{A4224323-3EC6-4782-A027-FAE141A00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124201"/>
            <a:ext cx="2438400" cy="192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 baseline="30000"/>
              <a:t>50</a:t>
            </a:r>
            <a:r>
              <a:rPr lang="en-GB" altLang="en-US" sz="4800"/>
              <a:t>/</a:t>
            </a:r>
            <a:r>
              <a:rPr lang="en-GB" altLang="en-US" sz="4800" baseline="-25000"/>
              <a:t>100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50%</a:t>
            </a:r>
            <a:endParaRPr lang="en-US" altLang="en-US" sz="4800"/>
          </a:p>
        </p:txBody>
      </p:sp>
      <p:sp>
        <p:nvSpPr>
          <p:cNvPr id="21630" name="Text Box 126">
            <a:extLst>
              <a:ext uri="{FF2B5EF4-FFF2-40B4-BE49-F238E27FC236}">
                <a16:creationId xmlns:a16="http://schemas.microsoft.com/office/drawing/2014/main" id="{253FF122-F360-44B1-A623-9F36D9C6C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133601"/>
            <a:ext cx="20574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/>
              <a:t>0.50</a:t>
            </a:r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Group 2">
            <a:extLst>
              <a:ext uri="{FF2B5EF4-FFF2-40B4-BE49-F238E27FC236}">
                <a16:creationId xmlns:a16="http://schemas.microsoft.com/office/drawing/2014/main" id="{12056042-C84C-4667-A578-0ED8C4E13E22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981200" y="274639"/>
          <a:ext cx="8229600" cy="5851525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653" name="Text Box 125">
            <a:extLst>
              <a:ext uri="{FF2B5EF4-FFF2-40B4-BE49-F238E27FC236}">
                <a16:creationId xmlns:a16="http://schemas.microsoft.com/office/drawing/2014/main" id="{F1FB0356-3037-4608-B342-4FF80017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124201"/>
            <a:ext cx="3048000" cy="302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 baseline="30000"/>
              <a:t>25</a:t>
            </a:r>
            <a:r>
              <a:rPr lang="en-GB" altLang="en-US" sz="4800"/>
              <a:t>/</a:t>
            </a:r>
            <a:r>
              <a:rPr lang="en-GB" altLang="en-US" sz="4800" baseline="-25000"/>
              <a:t>100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¼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25%</a:t>
            </a:r>
            <a:endParaRPr lang="en-US" altLang="en-US" sz="4800"/>
          </a:p>
        </p:txBody>
      </p:sp>
      <p:sp>
        <p:nvSpPr>
          <p:cNvPr id="22654" name="Text Box 126">
            <a:extLst>
              <a:ext uri="{FF2B5EF4-FFF2-40B4-BE49-F238E27FC236}">
                <a16:creationId xmlns:a16="http://schemas.microsoft.com/office/drawing/2014/main" id="{822BF3A5-1CE2-444D-BA27-2B2F1EEEC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905001"/>
            <a:ext cx="22098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/>
              <a:t>0.25</a:t>
            </a:r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Group 2">
            <a:extLst>
              <a:ext uri="{FF2B5EF4-FFF2-40B4-BE49-F238E27FC236}">
                <a16:creationId xmlns:a16="http://schemas.microsoft.com/office/drawing/2014/main" id="{911C209F-D580-488D-8CDE-69CFE7132A9A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981200" y="274638"/>
          <a:ext cx="8229600" cy="5851528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677" name="Text Box 125">
            <a:extLst>
              <a:ext uri="{FF2B5EF4-FFF2-40B4-BE49-F238E27FC236}">
                <a16:creationId xmlns:a16="http://schemas.microsoft.com/office/drawing/2014/main" id="{EAB21591-4E9E-4516-A6AE-5BBB05E5F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200401"/>
            <a:ext cx="2133600" cy="302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 baseline="30000"/>
              <a:t>75</a:t>
            </a:r>
            <a:r>
              <a:rPr lang="en-GB" altLang="en-US" sz="4800"/>
              <a:t>/</a:t>
            </a:r>
            <a:r>
              <a:rPr lang="en-GB" altLang="en-US" sz="4800" baseline="-25000"/>
              <a:t>100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¾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75%</a:t>
            </a:r>
            <a:endParaRPr lang="en-US" altLang="en-US" sz="4800"/>
          </a:p>
        </p:txBody>
      </p:sp>
      <p:sp>
        <p:nvSpPr>
          <p:cNvPr id="23678" name="Text Box 126">
            <a:extLst>
              <a:ext uri="{FF2B5EF4-FFF2-40B4-BE49-F238E27FC236}">
                <a16:creationId xmlns:a16="http://schemas.microsoft.com/office/drawing/2014/main" id="{D5E65266-8C6D-4B49-A931-517D7CBA0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981201"/>
            <a:ext cx="17526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/>
              <a:t>0.75</a:t>
            </a:r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Group 2">
            <a:extLst>
              <a:ext uri="{FF2B5EF4-FFF2-40B4-BE49-F238E27FC236}">
                <a16:creationId xmlns:a16="http://schemas.microsoft.com/office/drawing/2014/main" id="{55CFB1C0-090D-4521-B470-87EDBC90A281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981200" y="274639"/>
          <a:ext cx="8229600" cy="5851525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701" name="Text Box 125">
            <a:extLst>
              <a:ext uri="{FF2B5EF4-FFF2-40B4-BE49-F238E27FC236}">
                <a16:creationId xmlns:a16="http://schemas.microsoft.com/office/drawing/2014/main" id="{92C121FB-6471-42F3-9FF2-3C5730B90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286001"/>
            <a:ext cx="3048000" cy="302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/>
              <a:t>0.18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 baseline="30000"/>
              <a:t>18</a:t>
            </a:r>
            <a:r>
              <a:rPr lang="en-GB" altLang="en-US" sz="4800"/>
              <a:t>/</a:t>
            </a:r>
            <a:r>
              <a:rPr lang="en-GB" altLang="en-US" sz="4800" baseline="-25000"/>
              <a:t>100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18%</a:t>
            </a:r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Group 2">
            <a:extLst>
              <a:ext uri="{FF2B5EF4-FFF2-40B4-BE49-F238E27FC236}">
                <a16:creationId xmlns:a16="http://schemas.microsoft.com/office/drawing/2014/main" id="{9C89543E-7D54-4C3D-A720-5CE2B4B6FA50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981200" y="274639"/>
          <a:ext cx="8229600" cy="5851525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725" name="Text Box 125">
            <a:extLst>
              <a:ext uri="{FF2B5EF4-FFF2-40B4-BE49-F238E27FC236}">
                <a16:creationId xmlns:a16="http://schemas.microsoft.com/office/drawing/2014/main" id="{EEC8F6C6-C269-49DA-A774-453A2727E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057401"/>
            <a:ext cx="2819400" cy="302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800"/>
              <a:t>0.04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 baseline="30000"/>
              <a:t>4</a:t>
            </a:r>
            <a:r>
              <a:rPr lang="en-GB" altLang="en-US" sz="4800"/>
              <a:t>/</a:t>
            </a:r>
            <a:r>
              <a:rPr lang="en-GB" altLang="en-US" sz="4800" baseline="-25000"/>
              <a:t>100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4800"/>
              <a:t>4%</a:t>
            </a:r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>
            <a:extLst>
              <a:ext uri="{FF2B5EF4-FFF2-40B4-BE49-F238E27FC236}">
                <a16:creationId xmlns:a16="http://schemas.microsoft.com/office/drawing/2014/main" id="{33151138-048B-4018-AA50-4AA1BA3FB436}"/>
              </a:ext>
            </a:extLst>
          </p:cNvPr>
          <p:cNvGrpSpPr>
            <a:grpSpLocks/>
          </p:cNvGrpSpPr>
          <p:nvPr/>
        </p:nvGrpSpPr>
        <p:grpSpPr bwMode="auto">
          <a:xfrm>
            <a:off x="2501901" y="3211514"/>
            <a:ext cx="7508875" cy="255587"/>
            <a:chOff x="456" y="1496"/>
            <a:chExt cx="4730" cy="161"/>
          </a:xfrm>
        </p:grpSpPr>
        <p:sp>
          <p:nvSpPr>
            <p:cNvPr id="18501" name="Rectangle 3">
              <a:extLst>
                <a:ext uri="{FF2B5EF4-FFF2-40B4-BE49-F238E27FC236}">
                  <a16:creationId xmlns:a16="http://schemas.microsoft.com/office/drawing/2014/main" id="{D0F1D6BB-AF6B-4F07-92EF-E75F3A24E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" y="1496"/>
              <a:ext cx="473" cy="161"/>
            </a:xfrm>
            <a:prstGeom prst="rect">
              <a:avLst/>
            </a:prstGeom>
            <a:gradFill rotWithShape="0">
              <a:gsLst>
                <a:gs pos="0">
                  <a:srgbClr val="C2C274"/>
                </a:gs>
                <a:gs pos="50000">
                  <a:srgbClr val="FFFF99"/>
                </a:gs>
                <a:gs pos="100000">
                  <a:srgbClr val="C2C274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2" name="Rectangle 4">
              <a:extLst>
                <a:ext uri="{FF2B5EF4-FFF2-40B4-BE49-F238E27FC236}">
                  <a16:creationId xmlns:a16="http://schemas.microsoft.com/office/drawing/2014/main" id="{BE821B45-7D6E-49F7-9A8A-7BBBBDF31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496"/>
              <a:ext cx="474" cy="161"/>
            </a:xfrm>
            <a:prstGeom prst="rect">
              <a:avLst/>
            </a:prstGeom>
            <a:gradFill rotWithShape="0">
              <a:gsLst>
                <a:gs pos="0">
                  <a:srgbClr val="B2B2B2"/>
                </a:gs>
                <a:gs pos="50000">
                  <a:srgbClr val="EAEAEA"/>
                </a:gs>
                <a:gs pos="100000">
                  <a:srgbClr val="B2B2B2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3" name="Rectangle 5">
              <a:extLst>
                <a:ext uri="{FF2B5EF4-FFF2-40B4-BE49-F238E27FC236}">
                  <a16:creationId xmlns:a16="http://schemas.microsoft.com/office/drawing/2014/main" id="{3E096048-A689-4154-AB2B-D77BC9982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" y="1496"/>
              <a:ext cx="471" cy="161"/>
            </a:xfrm>
            <a:prstGeom prst="rect">
              <a:avLst/>
            </a:prstGeom>
            <a:gradFill rotWithShape="0">
              <a:gsLst>
                <a:gs pos="0">
                  <a:srgbClr val="C2C274"/>
                </a:gs>
                <a:gs pos="50000">
                  <a:srgbClr val="FFFF99"/>
                </a:gs>
                <a:gs pos="100000">
                  <a:srgbClr val="C2C274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4" name="Rectangle 6">
              <a:extLst>
                <a:ext uri="{FF2B5EF4-FFF2-40B4-BE49-F238E27FC236}">
                  <a16:creationId xmlns:a16="http://schemas.microsoft.com/office/drawing/2014/main" id="{9E747876-373E-462B-A976-1925A9ABA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1496"/>
              <a:ext cx="474" cy="161"/>
            </a:xfrm>
            <a:prstGeom prst="rect">
              <a:avLst/>
            </a:prstGeom>
            <a:gradFill rotWithShape="0">
              <a:gsLst>
                <a:gs pos="0">
                  <a:srgbClr val="B2B2B2"/>
                </a:gs>
                <a:gs pos="50000">
                  <a:srgbClr val="EAEAEA"/>
                </a:gs>
                <a:gs pos="100000">
                  <a:srgbClr val="B2B2B2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5" name="Rectangle 7">
              <a:extLst>
                <a:ext uri="{FF2B5EF4-FFF2-40B4-BE49-F238E27FC236}">
                  <a16:creationId xmlns:a16="http://schemas.microsoft.com/office/drawing/2014/main" id="{818AC1C1-A348-48CD-ADDA-30512B875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1496"/>
              <a:ext cx="473" cy="161"/>
            </a:xfrm>
            <a:prstGeom prst="rect">
              <a:avLst/>
            </a:prstGeom>
            <a:gradFill rotWithShape="0">
              <a:gsLst>
                <a:gs pos="0">
                  <a:srgbClr val="C2C274"/>
                </a:gs>
                <a:gs pos="50000">
                  <a:srgbClr val="FFFF99"/>
                </a:gs>
                <a:gs pos="100000">
                  <a:srgbClr val="C2C274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6" name="Rectangle 8">
              <a:extLst>
                <a:ext uri="{FF2B5EF4-FFF2-40B4-BE49-F238E27FC236}">
                  <a16:creationId xmlns:a16="http://schemas.microsoft.com/office/drawing/2014/main" id="{7741507E-4808-493F-B28B-229A709E4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1496"/>
              <a:ext cx="473" cy="161"/>
            </a:xfrm>
            <a:prstGeom prst="rect">
              <a:avLst/>
            </a:prstGeom>
            <a:gradFill rotWithShape="0">
              <a:gsLst>
                <a:gs pos="0">
                  <a:srgbClr val="B2B2B2"/>
                </a:gs>
                <a:gs pos="50000">
                  <a:srgbClr val="EAEAEA"/>
                </a:gs>
                <a:gs pos="100000">
                  <a:srgbClr val="B2B2B2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7" name="Rectangle 9">
              <a:extLst>
                <a:ext uri="{FF2B5EF4-FFF2-40B4-BE49-F238E27FC236}">
                  <a16:creationId xmlns:a16="http://schemas.microsoft.com/office/drawing/2014/main" id="{AA149CF3-4BA7-452B-B356-4E9A4182C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1496"/>
              <a:ext cx="474" cy="161"/>
            </a:xfrm>
            <a:prstGeom prst="rect">
              <a:avLst/>
            </a:prstGeom>
            <a:gradFill rotWithShape="0">
              <a:gsLst>
                <a:gs pos="0">
                  <a:srgbClr val="C2C274"/>
                </a:gs>
                <a:gs pos="50000">
                  <a:srgbClr val="FFFF99"/>
                </a:gs>
                <a:gs pos="100000">
                  <a:srgbClr val="C2C274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8" name="Rectangle 10">
              <a:extLst>
                <a:ext uri="{FF2B5EF4-FFF2-40B4-BE49-F238E27FC236}">
                  <a16:creationId xmlns:a16="http://schemas.microsoft.com/office/drawing/2014/main" id="{BA07835D-4560-47D0-BBC1-263DCD383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496"/>
              <a:ext cx="471" cy="161"/>
            </a:xfrm>
            <a:prstGeom prst="rect">
              <a:avLst/>
            </a:prstGeom>
            <a:gradFill rotWithShape="0">
              <a:gsLst>
                <a:gs pos="0">
                  <a:srgbClr val="B2B2B2"/>
                </a:gs>
                <a:gs pos="50000">
                  <a:srgbClr val="EAEAEA"/>
                </a:gs>
                <a:gs pos="100000">
                  <a:srgbClr val="B2B2B2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09" name="Rectangle 11">
              <a:extLst>
                <a:ext uri="{FF2B5EF4-FFF2-40B4-BE49-F238E27FC236}">
                  <a16:creationId xmlns:a16="http://schemas.microsoft.com/office/drawing/2014/main" id="{F6E147C8-2025-4BD0-9F53-1B968CD42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1496"/>
              <a:ext cx="474" cy="161"/>
            </a:xfrm>
            <a:prstGeom prst="rect">
              <a:avLst/>
            </a:prstGeom>
            <a:gradFill rotWithShape="0">
              <a:gsLst>
                <a:gs pos="0">
                  <a:srgbClr val="C2C274"/>
                </a:gs>
                <a:gs pos="50000">
                  <a:srgbClr val="FFFF99"/>
                </a:gs>
                <a:gs pos="100000">
                  <a:srgbClr val="C2C274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510" name="Rectangle 12">
              <a:extLst>
                <a:ext uri="{FF2B5EF4-FFF2-40B4-BE49-F238E27FC236}">
                  <a16:creationId xmlns:a16="http://schemas.microsoft.com/office/drawing/2014/main" id="{D33219A9-5FEF-45F3-8287-D4F9DD6B4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496"/>
              <a:ext cx="473" cy="161"/>
            </a:xfrm>
            <a:prstGeom prst="rect">
              <a:avLst/>
            </a:prstGeom>
            <a:gradFill rotWithShape="0">
              <a:gsLst>
                <a:gs pos="0">
                  <a:srgbClr val="B2B2B2"/>
                </a:gs>
                <a:gs pos="50000">
                  <a:srgbClr val="EAEAEA"/>
                </a:gs>
                <a:gs pos="100000">
                  <a:srgbClr val="B2B2B2"/>
                </a:gs>
              </a:gsLst>
              <a:lin ang="540000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</p:grpSp>
      <p:sp>
        <p:nvSpPr>
          <p:cNvPr id="26637" name="Text Box 13">
            <a:extLst>
              <a:ext uri="{FF2B5EF4-FFF2-40B4-BE49-F238E27FC236}">
                <a16:creationId xmlns:a16="http://schemas.microsoft.com/office/drawing/2014/main" id="{4570B3F3-DD17-4B7B-9B9B-17B023359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347821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0.1</a:t>
            </a:r>
          </a:p>
        </p:txBody>
      </p:sp>
      <p:sp>
        <p:nvSpPr>
          <p:cNvPr id="26638" name="Text Box 14">
            <a:extLst>
              <a:ext uri="{FF2B5EF4-FFF2-40B4-BE49-F238E27FC236}">
                <a16:creationId xmlns:a16="http://schemas.microsoft.com/office/drawing/2014/main" id="{C3B9F4DB-6E96-4359-983B-949F83515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347186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0.2</a:t>
            </a:r>
          </a:p>
        </p:txBody>
      </p:sp>
      <p:sp>
        <p:nvSpPr>
          <p:cNvPr id="26639" name="Text Box 15">
            <a:extLst>
              <a:ext uri="{FF2B5EF4-FFF2-40B4-BE49-F238E27FC236}">
                <a16:creationId xmlns:a16="http://schemas.microsoft.com/office/drawing/2014/main" id="{EA0D9336-70C8-4B42-AA7D-B7340870F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347821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0.3</a:t>
            </a:r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7665DA7F-C35A-4FFA-AB1B-20BB937BC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950" y="347821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0.4</a:t>
            </a:r>
          </a:p>
        </p:txBody>
      </p:sp>
      <p:sp>
        <p:nvSpPr>
          <p:cNvPr id="26641" name="Text Box 17">
            <a:extLst>
              <a:ext uri="{FF2B5EF4-FFF2-40B4-BE49-F238E27FC236}">
                <a16:creationId xmlns:a16="http://schemas.microsoft.com/office/drawing/2014/main" id="{EB3149E1-D9D7-4ECD-AE75-30A405E6A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5916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FF3399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26642" name="Text Box 18">
            <a:extLst>
              <a:ext uri="{FF2B5EF4-FFF2-40B4-BE49-F238E27FC236}">
                <a16:creationId xmlns:a16="http://schemas.microsoft.com/office/drawing/2014/main" id="{CECF8C54-C668-4E34-B4BF-DFA0B22AD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347186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0.6</a:t>
            </a:r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61205484-851B-4B94-93AC-2D183A153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0" y="346551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0.7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73A996FD-0B7C-4495-8ED8-D61E76716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2300" y="346551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0.8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C0876EFB-D531-42CD-AAFF-7532DF30A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4450" y="3471863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0.9</a:t>
            </a:r>
          </a:p>
        </p:txBody>
      </p:sp>
      <p:grpSp>
        <p:nvGrpSpPr>
          <p:cNvPr id="26646" name="Group 22">
            <a:extLst>
              <a:ext uri="{FF2B5EF4-FFF2-40B4-BE49-F238E27FC236}">
                <a16:creationId xmlns:a16="http://schemas.microsoft.com/office/drawing/2014/main" id="{C6C39CF6-1D96-43C7-85A8-03678787679F}"/>
              </a:ext>
            </a:extLst>
          </p:cNvPr>
          <p:cNvGrpSpPr>
            <a:grpSpLocks/>
          </p:cNvGrpSpPr>
          <p:nvPr/>
        </p:nvGrpSpPr>
        <p:grpSpPr bwMode="auto">
          <a:xfrm>
            <a:off x="2305050" y="3452813"/>
            <a:ext cx="8096250" cy="379412"/>
            <a:chOff x="332" y="1648"/>
            <a:chExt cx="5100" cy="239"/>
          </a:xfrm>
        </p:grpSpPr>
        <p:sp>
          <p:nvSpPr>
            <p:cNvPr id="18499" name="Text Box 23">
              <a:extLst>
                <a:ext uri="{FF2B5EF4-FFF2-40B4-BE49-F238E27FC236}">
                  <a16:creationId xmlns:a16="http://schemas.microsoft.com/office/drawing/2014/main" id="{A679296A-3FE1-4F7A-9F20-459963D96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" y="1656"/>
              <a:ext cx="3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8500" name="Text Box 24">
              <a:extLst>
                <a:ext uri="{FF2B5EF4-FFF2-40B4-BE49-F238E27FC236}">
                  <a16:creationId xmlns:a16="http://schemas.microsoft.com/office/drawing/2014/main" id="{69D95D4F-0892-4EFE-AA88-B9C4C1BA6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" y="1648"/>
              <a:ext cx="3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26649" name="Group 25">
            <a:extLst>
              <a:ext uri="{FF2B5EF4-FFF2-40B4-BE49-F238E27FC236}">
                <a16:creationId xmlns:a16="http://schemas.microsoft.com/office/drawing/2014/main" id="{96C081B4-5D41-49F0-9BEB-E5EABB428266}"/>
              </a:ext>
            </a:extLst>
          </p:cNvPr>
          <p:cNvGrpSpPr>
            <a:grpSpLocks/>
          </p:cNvGrpSpPr>
          <p:nvPr/>
        </p:nvGrpSpPr>
        <p:grpSpPr bwMode="auto">
          <a:xfrm>
            <a:off x="2266950" y="5097463"/>
            <a:ext cx="8204200" cy="620712"/>
            <a:chOff x="368" y="2492"/>
            <a:chExt cx="5168" cy="391"/>
          </a:xfrm>
        </p:grpSpPr>
        <p:grpSp>
          <p:nvGrpSpPr>
            <p:cNvPr id="18486" name="Group 26">
              <a:extLst>
                <a:ext uri="{FF2B5EF4-FFF2-40B4-BE49-F238E27FC236}">
                  <a16:creationId xmlns:a16="http://schemas.microsoft.com/office/drawing/2014/main" id="{D0BA4508-7F5C-4544-B4D5-C8E89EB66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" y="2492"/>
              <a:ext cx="4730" cy="161"/>
              <a:chOff x="456" y="1496"/>
              <a:chExt cx="4730" cy="161"/>
            </a:xfrm>
          </p:grpSpPr>
          <p:sp>
            <p:nvSpPr>
              <p:cNvPr id="18489" name="Rectangle 27">
                <a:extLst>
                  <a:ext uri="{FF2B5EF4-FFF2-40B4-BE49-F238E27FC236}">
                    <a16:creationId xmlns:a16="http://schemas.microsoft.com/office/drawing/2014/main" id="{087B7B6D-4095-46EF-933F-5DF302752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496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0" name="Rectangle 28">
                <a:extLst>
                  <a:ext uri="{FF2B5EF4-FFF2-40B4-BE49-F238E27FC236}">
                    <a16:creationId xmlns:a16="http://schemas.microsoft.com/office/drawing/2014/main" id="{56B0B375-3DAA-4A1E-AC56-E0437F50F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496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1" name="Rectangle 29">
                <a:extLst>
                  <a:ext uri="{FF2B5EF4-FFF2-40B4-BE49-F238E27FC236}">
                    <a16:creationId xmlns:a16="http://schemas.microsoft.com/office/drawing/2014/main" id="{D96C207E-F1F9-4A0A-A105-7A9E692C2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" y="1496"/>
                <a:ext cx="471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2" name="Rectangle 30">
                <a:extLst>
                  <a:ext uri="{FF2B5EF4-FFF2-40B4-BE49-F238E27FC236}">
                    <a16:creationId xmlns:a16="http://schemas.microsoft.com/office/drawing/2014/main" id="{12052B31-03EA-47F0-B7A6-59370DE85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" y="1496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3" name="Rectangle 31">
                <a:extLst>
                  <a:ext uri="{FF2B5EF4-FFF2-40B4-BE49-F238E27FC236}">
                    <a16:creationId xmlns:a16="http://schemas.microsoft.com/office/drawing/2014/main" id="{BB4E52C6-0B30-48CE-80E0-04B07BCAF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8" y="1496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4" name="Rectangle 32">
                <a:extLst>
                  <a:ext uri="{FF2B5EF4-FFF2-40B4-BE49-F238E27FC236}">
                    <a16:creationId xmlns:a16="http://schemas.microsoft.com/office/drawing/2014/main" id="{2813ED8A-E473-457A-B79A-BACC04E61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1" y="1496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5" name="Rectangle 33">
                <a:extLst>
                  <a:ext uri="{FF2B5EF4-FFF2-40B4-BE49-F238E27FC236}">
                    <a16:creationId xmlns:a16="http://schemas.microsoft.com/office/drawing/2014/main" id="{C853A4AE-5C8C-4AC6-8B94-F9FDF46F8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4" y="1496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6" name="Rectangle 34">
                <a:extLst>
                  <a:ext uri="{FF2B5EF4-FFF2-40B4-BE49-F238E27FC236}">
                    <a16:creationId xmlns:a16="http://schemas.microsoft.com/office/drawing/2014/main" id="{488F8A7E-9467-4FF9-8A7E-7E050EF5B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8" y="1496"/>
                <a:ext cx="471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7" name="Rectangle 35">
                <a:extLst>
                  <a:ext uri="{FF2B5EF4-FFF2-40B4-BE49-F238E27FC236}">
                    <a16:creationId xmlns:a16="http://schemas.microsoft.com/office/drawing/2014/main" id="{3A60175D-D23A-4FF5-976F-AF65E7675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9" y="1496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98" name="Rectangle 36">
                <a:extLst>
                  <a:ext uri="{FF2B5EF4-FFF2-40B4-BE49-F238E27FC236}">
                    <a16:creationId xmlns:a16="http://schemas.microsoft.com/office/drawing/2014/main" id="{4D6A256E-600F-4674-830E-DA8C3ED0E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1496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</p:grpSp>
        <p:sp>
          <p:nvSpPr>
            <p:cNvPr id="18487" name="Text Box 37">
              <a:extLst>
                <a:ext uri="{FF2B5EF4-FFF2-40B4-BE49-F238E27FC236}">
                  <a16:creationId xmlns:a16="http://schemas.microsoft.com/office/drawing/2014/main" id="{498AF31D-1852-4848-B712-9951D1BC3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" y="2652"/>
              <a:ext cx="3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18488" name="Text Box 38">
              <a:extLst>
                <a:ext uri="{FF2B5EF4-FFF2-40B4-BE49-F238E27FC236}">
                  <a16:creationId xmlns:a16="http://schemas.microsoft.com/office/drawing/2014/main" id="{1058CF53-0BA6-4E68-BD5E-44CDD7E39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2" y="2644"/>
              <a:ext cx="4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6663" name="Text Box 39">
            <a:extLst>
              <a:ext uri="{FF2B5EF4-FFF2-40B4-BE49-F238E27FC236}">
                <a16:creationId xmlns:a16="http://schemas.microsoft.com/office/drawing/2014/main" id="{1FCF9BAD-90B5-41D6-B37A-37FC399FF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53832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10%</a:t>
            </a:r>
          </a:p>
        </p:txBody>
      </p:sp>
      <p:sp>
        <p:nvSpPr>
          <p:cNvPr id="26664" name="Text Box 40">
            <a:extLst>
              <a:ext uri="{FF2B5EF4-FFF2-40B4-BE49-F238E27FC236}">
                <a16:creationId xmlns:a16="http://schemas.microsoft.com/office/drawing/2014/main" id="{D09FA30F-5BCD-4E20-A62F-765889369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0" y="536416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20%</a:t>
            </a:r>
          </a:p>
        </p:txBody>
      </p:sp>
      <p:sp>
        <p:nvSpPr>
          <p:cNvPr id="26665" name="Text Box 41">
            <a:extLst>
              <a:ext uri="{FF2B5EF4-FFF2-40B4-BE49-F238E27FC236}">
                <a16:creationId xmlns:a16="http://schemas.microsoft.com/office/drawing/2014/main" id="{EF1C131D-17E4-4CBC-8604-BDADDD526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53705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30%</a:t>
            </a:r>
          </a:p>
        </p:txBody>
      </p:sp>
      <p:sp>
        <p:nvSpPr>
          <p:cNvPr id="26666" name="Text Box 42">
            <a:extLst>
              <a:ext uri="{FF2B5EF4-FFF2-40B4-BE49-F238E27FC236}">
                <a16:creationId xmlns:a16="http://schemas.microsoft.com/office/drawing/2014/main" id="{450BF1EE-825A-4135-B3CF-13CFCBF15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6050" y="53705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40%</a:t>
            </a:r>
          </a:p>
        </p:txBody>
      </p:sp>
      <p:sp>
        <p:nvSpPr>
          <p:cNvPr id="26667" name="Text Box 43">
            <a:extLst>
              <a:ext uri="{FF2B5EF4-FFF2-40B4-BE49-F238E27FC236}">
                <a16:creationId xmlns:a16="http://schemas.microsoft.com/office/drawing/2014/main" id="{B164B206-C405-46E9-A2C2-A6AC0759F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950" y="53705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FF3399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50%</a:t>
            </a:r>
          </a:p>
        </p:txBody>
      </p:sp>
      <p:sp>
        <p:nvSpPr>
          <p:cNvPr id="26668" name="Text Box 44">
            <a:extLst>
              <a:ext uri="{FF2B5EF4-FFF2-40B4-BE49-F238E27FC236}">
                <a16:creationId xmlns:a16="http://schemas.microsoft.com/office/drawing/2014/main" id="{C3D19FAA-C769-4838-8DC1-51835EE25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537686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26669" name="Text Box 45">
            <a:extLst>
              <a:ext uri="{FF2B5EF4-FFF2-40B4-BE49-F238E27FC236}">
                <a16:creationId xmlns:a16="http://schemas.microsoft.com/office/drawing/2014/main" id="{00FE4944-CEEB-4AB5-8D0F-AE9231D70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0" y="53578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70%</a:t>
            </a:r>
          </a:p>
        </p:txBody>
      </p:sp>
      <p:sp>
        <p:nvSpPr>
          <p:cNvPr id="26670" name="Text Box 46">
            <a:extLst>
              <a:ext uri="{FF2B5EF4-FFF2-40B4-BE49-F238E27FC236}">
                <a16:creationId xmlns:a16="http://schemas.microsoft.com/office/drawing/2014/main" id="{2E06169B-3F3E-410F-BAED-61B2B1C64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7850" y="53705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80%</a:t>
            </a:r>
          </a:p>
        </p:txBody>
      </p:sp>
      <p:sp>
        <p:nvSpPr>
          <p:cNvPr id="26671" name="Text Box 47">
            <a:extLst>
              <a:ext uri="{FF2B5EF4-FFF2-40B4-BE49-F238E27FC236}">
                <a16:creationId xmlns:a16="http://schemas.microsoft.com/office/drawing/2014/main" id="{91E47130-3FC7-4F70-B393-C8239ABE6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8900" y="5357813"/>
            <a:ext cx="72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anose="030F0702030302020204" pitchFamily="66" charset="0"/>
                <a:cs typeface="Arial" panose="020B0604020202020204" pitchFamily="34" charset="0"/>
              </a:rPr>
              <a:t>90%</a:t>
            </a:r>
          </a:p>
        </p:txBody>
      </p:sp>
      <p:graphicFrame>
        <p:nvGraphicFramePr>
          <p:cNvPr id="26672" name="Object 48">
            <a:extLst>
              <a:ext uri="{FF2B5EF4-FFF2-40B4-BE49-F238E27FC236}">
                <a16:creationId xmlns:a16="http://schemas.microsoft.com/office/drawing/2014/main" id="{34F3F85B-5BA7-4639-A143-EA52451C30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9425" y="1385888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228501" imgH="406224" progId="Equation.DSMT4">
                  <p:embed/>
                </p:oleObj>
              </mc:Choice>
              <mc:Fallback>
                <p:oleObj name="Equation" r:id="rId3" imgW="228501" imgH="406224" progId="Equation.DSMT4">
                  <p:embed/>
                  <p:pic>
                    <p:nvPicPr>
                      <p:cNvPr id="26672" name="Object 48">
                        <a:extLst>
                          <a:ext uri="{FF2B5EF4-FFF2-40B4-BE49-F238E27FC236}">
                            <a16:creationId xmlns:a16="http://schemas.microsoft.com/office/drawing/2014/main" id="{34F3F85B-5BA7-4639-A143-EA52451C3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1385888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3" name="Object 49">
            <a:extLst>
              <a:ext uri="{FF2B5EF4-FFF2-40B4-BE49-F238E27FC236}">
                <a16:creationId xmlns:a16="http://schemas.microsoft.com/office/drawing/2014/main" id="{49E89DBC-58C0-42C0-B569-C0D28FCC3F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2375" y="1395413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228501" imgH="406224" progId="Equation.DSMT4">
                  <p:embed/>
                </p:oleObj>
              </mc:Choice>
              <mc:Fallback>
                <p:oleObj name="Equation" r:id="rId5" imgW="228501" imgH="406224" progId="Equation.DSMT4">
                  <p:embed/>
                  <p:pic>
                    <p:nvPicPr>
                      <p:cNvPr id="26673" name="Object 49">
                        <a:extLst>
                          <a:ext uri="{FF2B5EF4-FFF2-40B4-BE49-F238E27FC236}">
                            <a16:creationId xmlns:a16="http://schemas.microsoft.com/office/drawing/2014/main" id="{49E89DBC-58C0-42C0-B569-C0D28FCC3F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1395413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4" name="Object 50">
            <a:extLst>
              <a:ext uri="{FF2B5EF4-FFF2-40B4-BE49-F238E27FC236}">
                <a16:creationId xmlns:a16="http://schemas.microsoft.com/office/drawing/2014/main" id="{D591CA81-486B-496A-84F9-05BAA8F9F4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4375" y="1385888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228501" imgH="406224" progId="Equation.DSMT4">
                  <p:embed/>
                </p:oleObj>
              </mc:Choice>
              <mc:Fallback>
                <p:oleObj name="Equation" r:id="rId7" imgW="228501" imgH="406224" progId="Equation.DSMT4">
                  <p:embed/>
                  <p:pic>
                    <p:nvPicPr>
                      <p:cNvPr id="26674" name="Object 50">
                        <a:extLst>
                          <a:ext uri="{FF2B5EF4-FFF2-40B4-BE49-F238E27FC236}">
                            <a16:creationId xmlns:a16="http://schemas.microsoft.com/office/drawing/2014/main" id="{D591CA81-486B-496A-84F9-05BAA8F9F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1385888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5" name="Object 51">
            <a:extLst>
              <a:ext uri="{FF2B5EF4-FFF2-40B4-BE49-F238E27FC236}">
                <a16:creationId xmlns:a16="http://schemas.microsoft.com/office/drawing/2014/main" id="{4C9F52EB-5009-4ADE-B175-869089EE2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6850" y="1385888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228501" imgH="406224" progId="Equation.DSMT4">
                  <p:embed/>
                </p:oleObj>
              </mc:Choice>
              <mc:Fallback>
                <p:oleObj name="Equation" r:id="rId9" imgW="228501" imgH="406224" progId="Equation.DSMT4">
                  <p:embed/>
                  <p:pic>
                    <p:nvPicPr>
                      <p:cNvPr id="26675" name="Object 51">
                        <a:extLst>
                          <a:ext uri="{FF2B5EF4-FFF2-40B4-BE49-F238E27FC236}">
                            <a16:creationId xmlns:a16="http://schemas.microsoft.com/office/drawing/2014/main" id="{4C9F52EB-5009-4ADE-B175-869089EE2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850" y="1385888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6" name="Object 52">
            <a:extLst>
              <a:ext uri="{FF2B5EF4-FFF2-40B4-BE49-F238E27FC236}">
                <a16:creationId xmlns:a16="http://schemas.microsoft.com/office/drawing/2014/main" id="{09866AA2-F899-4B01-BAD6-05D317584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385888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1" imgW="228501" imgH="406224" progId="Equation.DSMT4">
                  <p:embed/>
                </p:oleObj>
              </mc:Choice>
              <mc:Fallback>
                <p:oleObj name="Equation" r:id="rId11" imgW="228501" imgH="406224" progId="Equation.DSMT4">
                  <p:embed/>
                  <p:pic>
                    <p:nvPicPr>
                      <p:cNvPr id="26676" name="Object 52">
                        <a:extLst>
                          <a:ext uri="{FF2B5EF4-FFF2-40B4-BE49-F238E27FC236}">
                            <a16:creationId xmlns:a16="http://schemas.microsoft.com/office/drawing/2014/main" id="{09866AA2-F899-4B01-BAD6-05D317584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385888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7" name="Object 53">
            <a:extLst>
              <a:ext uri="{FF2B5EF4-FFF2-40B4-BE49-F238E27FC236}">
                <a16:creationId xmlns:a16="http://schemas.microsoft.com/office/drawing/2014/main" id="{6AC4459E-E1B8-4ADA-8BBB-46291C37A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0850" y="1395413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3" imgW="228501" imgH="406224" progId="Equation.DSMT4">
                  <p:embed/>
                </p:oleObj>
              </mc:Choice>
              <mc:Fallback>
                <p:oleObj name="Equation" r:id="rId13" imgW="228501" imgH="406224" progId="Equation.DSMT4">
                  <p:embed/>
                  <p:pic>
                    <p:nvPicPr>
                      <p:cNvPr id="26677" name="Object 53">
                        <a:extLst>
                          <a:ext uri="{FF2B5EF4-FFF2-40B4-BE49-F238E27FC236}">
                            <a16:creationId xmlns:a16="http://schemas.microsoft.com/office/drawing/2014/main" id="{6AC4459E-E1B8-4ADA-8BBB-46291C37A3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1395413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8" name="Object 54">
            <a:extLst>
              <a:ext uri="{FF2B5EF4-FFF2-40B4-BE49-F238E27FC236}">
                <a16:creationId xmlns:a16="http://schemas.microsoft.com/office/drawing/2014/main" id="{932F08DB-06FC-4EE4-BE9B-A73068DD1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3325" y="1395413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5" imgW="228501" imgH="406224" progId="Equation.DSMT4">
                  <p:embed/>
                </p:oleObj>
              </mc:Choice>
              <mc:Fallback>
                <p:oleObj name="Equation" r:id="rId15" imgW="228501" imgH="406224" progId="Equation.DSMT4">
                  <p:embed/>
                  <p:pic>
                    <p:nvPicPr>
                      <p:cNvPr id="26678" name="Object 54">
                        <a:extLst>
                          <a:ext uri="{FF2B5EF4-FFF2-40B4-BE49-F238E27FC236}">
                            <a16:creationId xmlns:a16="http://schemas.microsoft.com/office/drawing/2014/main" id="{932F08DB-06FC-4EE4-BE9B-A73068DD1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3325" y="1395413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9" name="Object 55">
            <a:extLst>
              <a:ext uri="{FF2B5EF4-FFF2-40B4-BE49-F238E27FC236}">
                <a16:creationId xmlns:a16="http://schemas.microsoft.com/office/drawing/2014/main" id="{FFA02E17-0E27-4612-9909-F4F4962A39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0" y="1404938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7" imgW="228501" imgH="406224" progId="Equation.DSMT4">
                  <p:embed/>
                </p:oleObj>
              </mc:Choice>
              <mc:Fallback>
                <p:oleObj name="Equation" r:id="rId17" imgW="228501" imgH="406224" progId="Equation.DSMT4">
                  <p:embed/>
                  <p:pic>
                    <p:nvPicPr>
                      <p:cNvPr id="26679" name="Object 55">
                        <a:extLst>
                          <a:ext uri="{FF2B5EF4-FFF2-40B4-BE49-F238E27FC236}">
                            <a16:creationId xmlns:a16="http://schemas.microsoft.com/office/drawing/2014/main" id="{FFA02E17-0E27-4612-9909-F4F4962A39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1404938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80" name="Object 56">
            <a:extLst>
              <a:ext uri="{FF2B5EF4-FFF2-40B4-BE49-F238E27FC236}">
                <a16:creationId xmlns:a16="http://schemas.microsoft.com/office/drawing/2014/main" id="{E2D163D8-7DAD-46DD-9A88-C2AF0B697D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25" y="1404938"/>
          <a:ext cx="323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9" imgW="228501" imgH="406224" progId="Equation.DSMT4">
                  <p:embed/>
                </p:oleObj>
              </mc:Choice>
              <mc:Fallback>
                <p:oleObj name="Equation" r:id="rId19" imgW="228501" imgH="406224" progId="Equation.DSMT4">
                  <p:embed/>
                  <p:pic>
                    <p:nvPicPr>
                      <p:cNvPr id="26680" name="Object 56">
                        <a:extLst>
                          <a:ext uri="{FF2B5EF4-FFF2-40B4-BE49-F238E27FC236}">
                            <a16:creationId xmlns:a16="http://schemas.microsoft.com/office/drawing/2014/main" id="{E2D163D8-7DAD-46DD-9A88-C2AF0B697D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25" y="1404938"/>
                        <a:ext cx="323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81" name="Group 57">
            <a:extLst>
              <a:ext uri="{FF2B5EF4-FFF2-40B4-BE49-F238E27FC236}">
                <a16:creationId xmlns:a16="http://schemas.microsoft.com/office/drawing/2014/main" id="{5A9F6875-4C2C-485F-9EB8-911A15E04361}"/>
              </a:ext>
            </a:extLst>
          </p:cNvPr>
          <p:cNvGrpSpPr>
            <a:grpSpLocks/>
          </p:cNvGrpSpPr>
          <p:nvPr/>
        </p:nvGrpSpPr>
        <p:grpSpPr bwMode="auto">
          <a:xfrm>
            <a:off x="2305051" y="1116014"/>
            <a:ext cx="7800975" cy="725487"/>
            <a:chOff x="492" y="464"/>
            <a:chExt cx="4914" cy="457"/>
          </a:xfrm>
        </p:grpSpPr>
        <p:grpSp>
          <p:nvGrpSpPr>
            <p:cNvPr id="18473" name="Group 58">
              <a:extLst>
                <a:ext uri="{FF2B5EF4-FFF2-40B4-BE49-F238E27FC236}">
                  <a16:creationId xmlns:a16="http://schemas.microsoft.com/office/drawing/2014/main" id="{DE76D5BE-90AC-4AE1-B071-AD32171C7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464"/>
              <a:ext cx="4730" cy="161"/>
              <a:chOff x="576" y="464"/>
              <a:chExt cx="4730" cy="161"/>
            </a:xfrm>
          </p:grpSpPr>
          <p:sp>
            <p:nvSpPr>
              <p:cNvPr id="18476" name="Rectangle 59">
                <a:extLst>
                  <a:ext uri="{FF2B5EF4-FFF2-40B4-BE49-F238E27FC236}">
                    <a16:creationId xmlns:a16="http://schemas.microsoft.com/office/drawing/2014/main" id="{81003F0F-4947-40A2-9E60-D1DFF2155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464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77" name="Rectangle 60">
                <a:extLst>
                  <a:ext uri="{FF2B5EF4-FFF2-40B4-BE49-F238E27FC236}">
                    <a16:creationId xmlns:a16="http://schemas.microsoft.com/office/drawing/2014/main" id="{B29428FD-B54C-4F48-90DD-9C5CA6EF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9" y="464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78" name="Rectangle 61">
                <a:extLst>
                  <a:ext uri="{FF2B5EF4-FFF2-40B4-BE49-F238E27FC236}">
                    <a16:creationId xmlns:a16="http://schemas.microsoft.com/office/drawing/2014/main" id="{E5B392C0-A5A2-4AD2-B292-2344B8A33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464"/>
                <a:ext cx="471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79" name="Rectangle 62">
                <a:extLst>
                  <a:ext uri="{FF2B5EF4-FFF2-40B4-BE49-F238E27FC236}">
                    <a16:creationId xmlns:a16="http://schemas.microsoft.com/office/drawing/2014/main" id="{4D188D76-371D-418F-8CD6-A21F299DE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464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80" name="Rectangle 63">
                <a:extLst>
                  <a:ext uri="{FF2B5EF4-FFF2-40B4-BE49-F238E27FC236}">
                    <a16:creationId xmlns:a16="http://schemas.microsoft.com/office/drawing/2014/main" id="{6132FADF-2B2D-4B14-937E-93579B02C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8" y="464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81" name="Rectangle 64">
                <a:extLst>
                  <a:ext uri="{FF2B5EF4-FFF2-40B4-BE49-F238E27FC236}">
                    <a16:creationId xmlns:a16="http://schemas.microsoft.com/office/drawing/2014/main" id="{2531F82C-300A-4F0B-9C8B-FE5146360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1" y="464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82" name="Rectangle 65">
                <a:extLst>
                  <a:ext uri="{FF2B5EF4-FFF2-40B4-BE49-F238E27FC236}">
                    <a16:creationId xmlns:a16="http://schemas.microsoft.com/office/drawing/2014/main" id="{789CCA61-AE14-4AFD-929C-1E129C6C7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" y="464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83" name="Rectangle 66">
                <a:extLst>
                  <a:ext uri="{FF2B5EF4-FFF2-40B4-BE49-F238E27FC236}">
                    <a16:creationId xmlns:a16="http://schemas.microsoft.com/office/drawing/2014/main" id="{ADF1BEFE-BCD2-4483-9C23-EB546CA76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464"/>
                <a:ext cx="471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84" name="Rectangle 67">
                <a:extLst>
                  <a:ext uri="{FF2B5EF4-FFF2-40B4-BE49-F238E27FC236}">
                    <a16:creationId xmlns:a16="http://schemas.microsoft.com/office/drawing/2014/main" id="{CED24095-86E6-424B-9A3A-AADBB8A1A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9" y="464"/>
                <a:ext cx="474" cy="161"/>
              </a:xfrm>
              <a:prstGeom prst="rect">
                <a:avLst/>
              </a:prstGeom>
              <a:gradFill rotWithShape="0">
                <a:gsLst>
                  <a:gs pos="0">
                    <a:srgbClr val="C2C274"/>
                  </a:gs>
                  <a:gs pos="50000">
                    <a:srgbClr val="FFFF99"/>
                  </a:gs>
                  <a:gs pos="100000">
                    <a:srgbClr val="C2C274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  <p:sp>
            <p:nvSpPr>
              <p:cNvPr id="18485" name="Rectangle 68">
                <a:extLst>
                  <a:ext uri="{FF2B5EF4-FFF2-40B4-BE49-F238E27FC236}">
                    <a16:creationId xmlns:a16="http://schemas.microsoft.com/office/drawing/2014/main" id="{D987B65A-3241-4141-B146-5648AB136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3" y="464"/>
                <a:ext cx="473" cy="161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rgbClr val="EAEAEA"/>
                  </a:gs>
                  <a:gs pos="100000">
                    <a:srgbClr val="B2B2B2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/>
              </a:p>
            </p:txBody>
          </p:sp>
        </p:grpSp>
        <p:sp>
          <p:nvSpPr>
            <p:cNvPr id="18474" name="Text Box 69">
              <a:extLst>
                <a:ext uri="{FF2B5EF4-FFF2-40B4-BE49-F238E27FC236}">
                  <a16:creationId xmlns:a16="http://schemas.microsoft.com/office/drawing/2014/main" id="{030CC01C-1C48-43D7-B459-FF5D8063F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" y="690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b="1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8475" name="Text Box 70">
              <a:extLst>
                <a:ext uri="{FF2B5EF4-FFF2-40B4-BE49-F238E27FC236}">
                  <a16:creationId xmlns:a16="http://schemas.microsoft.com/office/drawing/2014/main" id="{6725BB89-0C51-43DB-86C0-DF3C9EEA8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666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b="1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26695" name="Text Box 71">
            <a:extLst>
              <a:ext uri="{FF2B5EF4-FFF2-40B4-BE49-F238E27FC236}">
                <a16:creationId xmlns:a16="http://schemas.microsoft.com/office/drawing/2014/main" id="{561B46AA-EA66-485C-8254-95170FFA6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188913"/>
            <a:ext cx="6480175" cy="457200"/>
          </a:xfrm>
          <a:prstGeom prst="rect">
            <a:avLst/>
          </a:prstGeom>
          <a:gradFill rotWithShape="0">
            <a:gsLst>
              <a:gs pos="0">
                <a:srgbClr val="9B9B9B"/>
              </a:gs>
              <a:gs pos="50000">
                <a:srgbClr val="EAEAEA"/>
              </a:gs>
              <a:gs pos="100000">
                <a:srgbClr val="9B9B9B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Fractions, Decimals and Percentages</a:t>
            </a:r>
          </a:p>
        </p:txBody>
      </p:sp>
      <p:sp>
        <p:nvSpPr>
          <p:cNvPr id="26696" name="Text Box 72">
            <a:extLst>
              <a:ext uri="{FF2B5EF4-FFF2-40B4-BE49-F238E27FC236}">
                <a16:creationId xmlns:a16="http://schemas.microsoft.com/office/drawing/2014/main" id="{663CAC7F-B4F9-4810-870C-8D9DFCD2C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913" y="6076950"/>
            <a:ext cx="7231062" cy="457200"/>
          </a:xfrm>
          <a:prstGeom prst="rect">
            <a:avLst/>
          </a:prstGeom>
          <a:gradFill rotWithShape="0">
            <a:gsLst>
              <a:gs pos="0">
                <a:srgbClr val="9B9B9B"/>
              </a:gs>
              <a:gs pos="50000">
                <a:srgbClr val="EAEAEA"/>
              </a:gs>
              <a:gs pos="100000">
                <a:srgbClr val="9B9B9B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Just different ways of saying the same thing.</a:t>
            </a:r>
          </a:p>
        </p:txBody>
      </p:sp>
      <p:grpSp>
        <p:nvGrpSpPr>
          <p:cNvPr id="26697" name="Group 73">
            <a:extLst>
              <a:ext uri="{FF2B5EF4-FFF2-40B4-BE49-F238E27FC236}">
                <a16:creationId xmlns:a16="http://schemas.microsoft.com/office/drawing/2014/main" id="{47C1A0BA-8FA9-49F5-BD51-C69CDCB42AF9}"/>
              </a:ext>
            </a:extLst>
          </p:cNvPr>
          <p:cNvGrpSpPr>
            <a:grpSpLocks/>
          </p:cNvGrpSpPr>
          <p:nvPr/>
        </p:nvGrpSpPr>
        <p:grpSpPr bwMode="auto">
          <a:xfrm>
            <a:off x="6073775" y="2185988"/>
            <a:ext cx="254000" cy="2614612"/>
            <a:chOff x="2866" y="1377"/>
            <a:chExt cx="160" cy="1647"/>
          </a:xfrm>
        </p:grpSpPr>
        <p:graphicFrame>
          <p:nvGraphicFramePr>
            <p:cNvPr id="18471" name="Object 74">
              <a:extLst>
                <a:ext uri="{FF2B5EF4-FFF2-40B4-BE49-F238E27FC236}">
                  <a16:creationId xmlns:a16="http://schemas.microsoft.com/office/drawing/2014/main" id="{C9CF803C-5A53-4365-9108-2D2B6C3E45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66" y="1377"/>
            <a:ext cx="13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Equation" r:id="rId21" imgW="152268" imgH="406048" progId="Equation.DSMT4">
                    <p:embed/>
                  </p:oleObj>
                </mc:Choice>
                <mc:Fallback>
                  <p:oleObj name="Equation" r:id="rId21" imgW="152268" imgH="406048" progId="Equation.DSMT4">
                    <p:embed/>
                    <p:pic>
                      <p:nvPicPr>
                        <p:cNvPr id="18471" name="Object 74">
                          <a:extLst>
                            <a:ext uri="{FF2B5EF4-FFF2-40B4-BE49-F238E27FC236}">
                              <a16:creationId xmlns:a16="http://schemas.microsoft.com/office/drawing/2014/main" id="{C9CF803C-5A53-4365-9108-2D2B6C3E45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6" y="1377"/>
                          <a:ext cx="136" cy="36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3399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2" name="Object 75">
              <a:extLst>
                <a:ext uri="{FF2B5EF4-FFF2-40B4-BE49-F238E27FC236}">
                  <a16:creationId xmlns:a16="http://schemas.microsoft.com/office/drawing/2014/main" id="{BDF038FE-E1E0-47BA-AB5F-895F7705D5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90" y="2661"/>
            <a:ext cx="13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Equation" r:id="rId23" imgW="152268" imgH="406048" progId="Equation.DSMT4">
                    <p:embed/>
                  </p:oleObj>
                </mc:Choice>
                <mc:Fallback>
                  <p:oleObj name="Equation" r:id="rId23" imgW="152268" imgH="406048" progId="Equation.DSMT4">
                    <p:embed/>
                    <p:pic>
                      <p:nvPicPr>
                        <p:cNvPr id="18472" name="Object 75">
                          <a:extLst>
                            <a:ext uri="{FF2B5EF4-FFF2-40B4-BE49-F238E27FC236}">
                              <a16:creationId xmlns:a16="http://schemas.microsoft.com/office/drawing/2014/main" id="{BDF038FE-E1E0-47BA-AB5F-895F7705D5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" y="2661"/>
                          <a:ext cx="136" cy="36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3399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700" name="Text Box 76">
            <a:extLst>
              <a:ext uri="{FF2B5EF4-FFF2-40B4-BE49-F238E27FC236}">
                <a16:creationId xmlns:a16="http://schemas.microsoft.com/office/drawing/2014/main" id="{09B094CD-811A-449D-BBDE-67C7AC628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20714"/>
            <a:ext cx="1465263" cy="427037"/>
          </a:xfrm>
          <a:prstGeom prst="rect">
            <a:avLst/>
          </a:prstGeom>
          <a:gradFill rotWithShape="0">
            <a:gsLst>
              <a:gs pos="0">
                <a:srgbClr val="A9A965"/>
              </a:gs>
              <a:gs pos="50000">
                <a:srgbClr val="FFFF99"/>
              </a:gs>
              <a:gs pos="100000">
                <a:srgbClr val="A9A965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200" b="1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Fraction</a:t>
            </a:r>
          </a:p>
        </p:txBody>
      </p:sp>
      <p:sp>
        <p:nvSpPr>
          <p:cNvPr id="26701" name="Text Box 77">
            <a:extLst>
              <a:ext uri="{FF2B5EF4-FFF2-40B4-BE49-F238E27FC236}">
                <a16:creationId xmlns:a16="http://schemas.microsoft.com/office/drawing/2014/main" id="{97CE0D76-7E51-4DFA-9B42-B83C6379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636839"/>
            <a:ext cx="1370013" cy="427037"/>
          </a:xfrm>
          <a:prstGeom prst="rect">
            <a:avLst/>
          </a:prstGeom>
          <a:gradFill rotWithShape="0">
            <a:gsLst>
              <a:gs pos="0">
                <a:srgbClr val="A9A965"/>
              </a:gs>
              <a:gs pos="50000">
                <a:srgbClr val="FFFF99"/>
              </a:gs>
              <a:gs pos="100000">
                <a:srgbClr val="A9A965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200" b="1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Decimal</a:t>
            </a:r>
          </a:p>
        </p:txBody>
      </p:sp>
      <p:sp>
        <p:nvSpPr>
          <p:cNvPr id="26702" name="Text Box 78">
            <a:extLst>
              <a:ext uri="{FF2B5EF4-FFF2-40B4-BE49-F238E27FC236}">
                <a16:creationId xmlns:a16="http://schemas.microsoft.com/office/drawing/2014/main" id="{166DE810-BBEC-41CB-90F9-19FDE2551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4581525"/>
            <a:ext cx="1674812" cy="427038"/>
          </a:xfrm>
          <a:prstGeom prst="rect">
            <a:avLst/>
          </a:prstGeom>
          <a:gradFill rotWithShape="0">
            <a:gsLst>
              <a:gs pos="0">
                <a:srgbClr val="A9A965"/>
              </a:gs>
              <a:gs pos="50000">
                <a:srgbClr val="FFFF99"/>
              </a:gs>
              <a:gs pos="100000">
                <a:srgbClr val="A9A965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200" b="1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Percentage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2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7" grpId="0" autoUpdateAnimBg="0"/>
      <p:bldP spid="26638" grpId="0" autoUpdateAnimBg="0"/>
      <p:bldP spid="26639" grpId="0" autoUpdateAnimBg="0"/>
      <p:bldP spid="26640" grpId="0" autoUpdateAnimBg="0"/>
      <p:bldP spid="26641" grpId="0" autoUpdateAnimBg="0"/>
      <p:bldP spid="26642" grpId="0" autoUpdateAnimBg="0"/>
      <p:bldP spid="26643" grpId="0" autoUpdateAnimBg="0"/>
      <p:bldP spid="26644" grpId="0" autoUpdateAnimBg="0"/>
      <p:bldP spid="26645" grpId="0" autoUpdateAnimBg="0"/>
      <p:bldP spid="26663" grpId="0" autoUpdateAnimBg="0"/>
      <p:bldP spid="26664" grpId="0" autoUpdateAnimBg="0"/>
      <p:bldP spid="26665" grpId="0" autoUpdateAnimBg="0"/>
      <p:bldP spid="26666" grpId="0" autoUpdateAnimBg="0"/>
      <p:bldP spid="26667" grpId="0" autoUpdateAnimBg="0"/>
      <p:bldP spid="26668" grpId="0" autoUpdateAnimBg="0"/>
      <p:bldP spid="26669" grpId="0" autoUpdateAnimBg="0"/>
      <p:bldP spid="26670" grpId="0" autoUpdateAnimBg="0"/>
      <p:bldP spid="26671" grpId="0" autoUpdateAnimBg="0"/>
      <p:bldP spid="26695" grpId="0" animBg="1" autoUpdateAnimBg="0"/>
      <p:bldP spid="26696" grpId="0" animBg="1" autoUpdateAnimBg="0"/>
      <p:bldP spid="26700" grpId="0" animBg="1" autoUpdateAnimBg="0"/>
      <p:bldP spid="26701" grpId="0" animBg="1" autoUpdateAnimBg="0"/>
      <p:bldP spid="26702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3">
            <a:extLst>
              <a:ext uri="{FF2B5EF4-FFF2-40B4-BE49-F238E27FC236}">
                <a16:creationId xmlns:a16="http://schemas.microsoft.com/office/drawing/2014/main" id="{9ECE11FD-94CF-4032-B536-DD99CF0E5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922337"/>
          </a:xfrm>
        </p:spPr>
        <p:txBody>
          <a:bodyPr/>
          <a:lstStyle/>
          <a:p>
            <a:pPr eaLnBrk="1" hangingPunct="1"/>
            <a:r>
              <a:rPr lang="en-GB" altLang="en-US" sz="3200"/>
              <a:t>Answers to the matching activity</a:t>
            </a:r>
          </a:p>
        </p:txBody>
      </p:sp>
      <p:graphicFrame>
        <p:nvGraphicFramePr>
          <p:cNvPr id="27725" name="Group 77">
            <a:extLst>
              <a:ext uri="{FF2B5EF4-FFF2-40B4-BE49-F238E27FC236}">
                <a16:creationId xmlns:a16="http://schemas.microsoft.com/office/drawing/2014/main" id="{9AD04A9C-73CC-4772-B739-96D33BA28D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1" y="1412876"/>
          <a:ext cx="8435975" cy="5040315"/>
        </p:xfrm>
        <a:graphic>
          <a:graphicData uri="http://schemas.openxmlformats.org/drawingml/2006/table">
            <a:tbl>
              <a:tblPr/>
              <a:tblGrid>
                <a:gridCol w="281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8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10%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10/100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40%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40/100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70%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0.7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70/100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100%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100/100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33 %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33/100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67%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0.67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67/100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489" name="Rectangle 76">
            <a:extLst>
              <a:ext uri="{FF2B5EF4-FFF2-40B4-BE49-F238E27FC236}">
                <a16:creationId xmlns:a16="http://schemas.microsoft.com/office/drawing/2014/main" id="{DE5D8170-5197-42B8-8CA6-DE0EEFEE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91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>
            <a:extLst>
              <a:ext uri="{FF2B5EF4-FFF2-40B4-BE49-F238E27FC236}">
                <a16:creationId xmlns:a16="http://schemas.microsoft.com/office/drawing/2014/main" id="{684C4FB9-C5CF-417B-B3A3-68B5425BB0FE}"/>
              </a:ext>
            </a:extLst>
          </p:cNvPr>
          <p:cNvGrpSpPr>
            <a:grpSpLocks/>
          </p:cNvGrpSpPr>
          <p:nvPr/>
        </p:nvGrpSpPr>
        <p:grpSpPr bwMode="auto">
          <a:xfrm>
            <a:off x="6777038" y="958850"/>
            <a:ext cx="1077912" cy="1460500"/>
            <a:chOff x="4702" y="826"/>
            <a:chExt cx="679" cy="920"/>
          </a:xfrm>
        </p:grpSpPr>
        <p:sp>
          <p:nvSpPr>
            <p:cNvPr id="20498" name="Rectangle 3">
              <a:extLst>
                <a:ext uri="{FF2B5EF4-FFF2-40B4-BE49-F238E27FC236}">
                  <a16:creationId xmlns:a16="http://schemas.microsoft.com/office/drawing/2014/main" id="{1B3DDAF8-0618-4788-BB1A-D753614A8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826"/>
              <a:ext cx="679" cy="9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0499" name="Text Box 4">
              <a:extLst>
                <a:ext uri="{FF2B5EF4-FFF2-40B4-BE49-F238E27FC236}">
                  <a16:creationId xmlns:a16="http://schemas.microsoft.com/office/drawing/2014/main" id="{E0018B44-34E3-4E7A-B77A-D8C94F040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843"/>
              <a:ext cx="37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500" name="Text Box 5">
              <a:extLst>
                <a:ext uri="{FF2B5EF4-FFF2-40B4-BE49-F238E27FC236}">
                  <a16:creationId xmlns:a16="http://schemas.microsoft.com/office/drawing/2014/main" id="{0ED477BD-897F-4784-95BF-154C9AD0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0"/>
              <a:ext cx="47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501" name="Line 6">
              <a:extLst>
                <a:ext uri="{FF2B5EF4-FFF2-40B4-BE49-F238E27FC236}">
                  <a16:creationId xmlns:a16="http://schemas.microsoft.com/office/drawing/2014/main" id="{034B438D-F801-43C1-907C-C77F82BA2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257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799" name="Group 7">
            <a:extLst>
              <a:ext uri="{FF2B5EF4-FFF2-40B4-BE49-F238E27FC236}">
                <a16:creationId xmlns:a16="http://schemas.microsoft.com/office/drawing/2014/main" id="{A0981797-0908-4EA7-9131-0B99395B6B63}"/>
              </a:ext>
            </a:extLst>
          </p:cNvPr>
          <p:cNvGrpSpPr>
            <a:grpSpLocks/>
          </p:cNvGrpSpPr>
          <p:nvPr/>
        </p:nvGrpSpPr>
        <p:grpSpPr bwMode="auto">
          <a:xfrm>
            <a:off x="4591050" y="3756025"/>
            <a:ext cx="1460500" cy="1092200"/>
            <a:chOff x="4492" y="2455"/>
            <a:chExt cx="920" cy="688"/>
          </a:xfrm>
        </p:grpSpPr>
        <p:sp>
          <p:nvSpPr>
            <p:cNvPr id="20496" name="Rectangle 8">
              <a:extLst>
                <a:ext uri="{FF2B5EF4-FFF2-40B4-BE49-F238E27FC236}">
                  <a16:creationId xmlns:a16="http://schemas.microsoft.com/office/drawing/2014/main" id="{EED99C8A-69E2-4E98-938A-59852E836A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0497" name="Text Box 9">
              <a:extLst>
                <a:ext uri="{FF2B5EF4-FFF2-40B4-BE49-F238E27FC236}">
                  <a16:creationId xmlns:a16="http://schemas.microsoft.com/office/drawing/2014/main" id="{7D6EDBE6-432B-4D49-83D3-A91831297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50%</a:t>
              </a:r>
            </a:p>
          </p:txBody>
        </p:sp>
      </p:grpSp>
      <p:sp>
        <p:nvSpPr>
          <p:cNvPr id="33802" name="Text Box 10">
            <a:extLst>
              <a:ext uri="{FF2B5EF4-FFF2-40B4-BE49-F238E27FC236}">
                <a16:creationId xmlns:a16="http://schemas.microsoft.com/office/drawing/2014/main" id="{D7FDE744-453F-4FB7-ADF1-DD23BCEF6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901701"/>
            <a:ext cx="4749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000">
                <a:latin typeface="Comic Sans MS" panose="030F0702030302020204" pitchFamily="66" charset="0"/>
              </a:rPr>
              <a:t>1.	What is </a:t>
            </a:r>
            <a:r>
              <a:rPr lang="en-GB" altLang="en-US" sz="3000">
                <a:solidFill>
                  <a:srgbClr val="CC3300"/>
                </a:solidFill>
                <a:latin typeface="Comic Sans MS" panose="030F0702030302020204" pitchFamily="66" charset="0"/>
              </a:rPr>
              <a:t>equivalent</a:t>
            </a:r>
            <a:r>
              <a:rPr lang="en-GB" altLang="en-US" sz="3000">
                <a:latin typeface="Comic Sans MS" panose="030F0702030302020204" pitchFamily="66" charset="0"/>
              </a:rPr>
              <a:t> to:</a:t>
            </a:r>
          </a:p>
        </p:txBody>
      </p:sp>
      <p:grpSp>
        <p:nvGrpSpPr>
          <p:cNvPr id="33803" name="Group 11">
            <a:extLst>
              <a:ext uri="{FF2B5EF4-FFF2-40B4-BE49-F238E27FC236}">
                <a16:creationId xmlns:a16="http://schemas.microsoft.com/office/drawing/2014/main" id="{7C80772D-35DB-40FB-BB97-28B879D497EC}"/>
              </a:ext>
            </a:extLst>
          </p:cNvPr>
          <p:cNvGrpSpPr>
            <a:grpSpLocks/>
          </p:cNvGrpSpPr>
          <p:nvPr/>
        </p:nvGrpSpPr>
        <p:grpSpPr bwMode="auto">
          <a:xfrm>
            <a:off x="6769101" y="976313"/>
            <a:ext cx="1077913" cy="1460500"/>
            <a:chOff x="4702" y="826"/>
            <a:chExt cx="679" cy="920"/>
          </a:xfrm>
        </p:grpSpPr>
        <p:sp>
          <p:nvSpPr>
            <p:cNvPr id="20492" name="Rectangle 12">
              <a:extLst>
                <a:ext uri="{FF2B5EF4-FFF2-40B4-BE49-F238E27FC236}">
                  <a16:creationId xmlns:a16="http://schemas.microsoft.com/office/drawing/2014/main" id="{BE8B3049-E1D0-496B-955B-C6EC5185B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826"/>
              <a:ext cx="679" cy="92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0493" name="Text Box 13">
              <a:extLst>
                <a:ext uri="{FF2B5EF4-FFF2-40B4-BE49-F238E27FC236}">
                  <a16:creationId xmlns:a16="http://schemas.microsoft.com/office/drawing/2014/main" id="{ABF18A98-D5F1-433E-84DE-C3D28FF4E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843"/>
              <a:ext cx="378" cy="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494" name="Text Box 14">
              <a:extLst>
                <a:ext uri="{FF2B5EF4-FFF2-40B4-BE49-F238E27FC236}">
                  <a16:creationId xmlns:a16="http://schemas.microsoft.com/office/drawing/2014/main" id="{2E0E59EE-DEAD-4F35-A94E-5957BDFC8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0"/>
              <a:ext cx="473" cy="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495" name="Line 15">
              <a:extLst>
                <a:ext uri="{FF2B5EF4-FFF2-40B4-BE49-F238E27FC236}">
                  <a16:creationId xmlns:a16="http://schemas.microsoft.com/office/drawing/2014/main" id="{61997641-E21E-4372-AD76-DFEEA3251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257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808" name="Group 16">
            <a:extLst>
              <a:ext uri="{FF2B5EF4-FFF2-40B4-BE49-F238E27FC236}">
                <a16:creationId xmlns:a16="http://schemas.microsoft.com/office/drawing/2014/main" id="{85B8BE3A-875B-4E81-B96C-C78877CE9A10}"/>
              </a:ext>
            </a:extLst>
          </p:cNvPr>
          <p:cNvGrpSpPr>
            <a:grpSpLocks/>
          </p:cNvGrpSpPr>
          <p:nvPr/>
        </p:nvGrpSpPr>
        <p:grpSpPr bwMode="auto">
          <a:xfrm>
            <a:off x="2565400" y="3762375"/>
            <a:ext cx="1460500" cy="1092200"/>
            <a:chOff x="4492" y="2455"/>
            <a:chExt cx="920" cy="688"/>
          </a:xfrm>
        </p:grpSpPr>
        <p:sp>
          <p:nvSpPr>
            <p:cNvPr id="20490" name="Rectangle 17">
              <a:extLst>
                <a:ext uri="{FF2B5EF4-FFF2-40B4-BE49-F238E27FC236}">
                  <a16:creationId xmlns:a16="http://schemas.microsoft.com/office/drawing/2014/main" id="{AA23448B-FF2B-478D-932D-6B66BF12A5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0491" name="Text Box 18">
              <a:extLst>
                <a:ext uri="{FF2B5EF4-FFF2-40B4-BE49-F238E27FC236}">
                  <a16:creationId xmlns:a16="http://schemas.microsoft.com/office/drawing/2014/main" id="{2B29A638-A7D0-4B3E-B965-620A1EAB7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1.2</a:t>
              </a:r>
            </a:p>
          </p:txBody>
        </p:sp>
      </p:grpSp>
      <p:grpSp>
        <p:nvGrpSpPr>
          <p:cNvPr id="33811" name="Group 19">
            <a:extLst>
              <a:ext uri="{FF2B5EF4-FFF2-40B4-BE49-F238E27FC236}">
                <a16:creationId xmlns:a16="http://schemas.microsoft.com/office/drawing/2014/main" id="{A5083400-215E-4BCF-BBD7-A500F3628CCF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3727450"/>
            <a:ext cx="1460500" cy="1092200"/>
            <a:chOff x="4492" y="2455"/>
            <a:chExt cx="920" cy="688"/>
          </a:xfrm>
        </p:grpSpPr>
        <p:sp>
          <p:nvSpPr>
            <p:cNvPr id="20488" name="Rectangle 20">
              <a:extLst>
                <a:ext uri="{FF2B5EF4-FFF2-40B4-BE49-F238E27FC236}">
                  <a16:creationId xmlns:a16="http://schemas.microsoft.com/office/drawing/2014/main" id="{C1F32C48-0BE8-4D36-816B-575F560BA8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0489" name="Text Box 21">
              <a:extLst>
                <a:ext uri="{FF2B5EF4-FFF2-40B4-BE49-F238E27FC236}">
                  <a16:creationId xmlns:a16="http://schemas.microsoft.com/office/drawing/2014/main" id="{9AE2F44B-6193-43E4-AF51-6FECEEE60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20%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repeatCount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38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20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>
            <a:extLst>
              <a:ext uri="{FF2B5EF4-FFF2-40B4-BE49-F238E27FC236}">
                <a16:creationId xmlns:a16="http://schemas.microsoft.com/office/drawing/2014/main" id="{3469C65B-2FEF-4CE5-A90A-626628A29638}"/>
              </a:ext>
            </a:extLst>
          </p:cNvPr>
          <p:cNvGrpSpPr>
            <a:grpSpLocks/>
          </p:cNvGrpSpPr>
          <p:nvPr/>
        </p:nvGrpSpPr>
        <p:grpSpPr bwMode="auto">
          <a:xfrm>
            <a:off x="6777038" y="958850"/>
            <a:ext cx="1077912" cy="1460500"/>
            <a:chOff x="4702" y="826"/>
            <a:chExt cx="679" cy="920"/>
          </a:xfrm>
        </p:grpSpPr>
        <p:sp>
          <p:nvSpPr>
            <p:cNvPr id="21524" name="Rectangle 3">
              <a:extLst>
                <a:ext uri="{FF2B5EF4-FFF2-40B4-BE49-F238E27FC236}">
                  <a16:creationId xmlns:a16="http://schemas.microsoft.com/office/drawing/2014/main" id="{D4C36E4C-78DD-45A0-B9C0-06FCD8715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826"/>
              <a:ext cx="679" cy="9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1525" name="Text Box 4">
              <a:extLst>
                <a:ext uri="{FF2B5EF4-FFF2-40B4-BE49-F238E27FC236}">
                  <a16:creationId xmlns:a16="http://schemas.microsoft.com/office/drawing/2014/main" id="{E1E45467-A942-4154-B85E-11D0E0021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843"/>
              <a:ext cx="37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1526" name="Text Box 5">
              <a:extLst>
                <a:ext uri="{FF2B5EF4-FFF2-40B4-BE49-F238E27FC236}">
                  <a16:creationId xmlns:a16="http://schemas.microsoft.com/office/drawing/2014/main" id="{F2488A2C-74A5-4646-9523-1514A93C4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0"/>
              <a:ext cx="47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10</a:t>
              </a:r>
            </a:p>
          </p:txBody>
        </p:sp>
        <p:sp>
          <p:nvSpPr>
            <p:cNvPr id="21527" name="Line 6">
              <a:extLst>
                <a:ext uri="{FF2B5EF4-FFF2-40B4-BE49-F238E27FC236}">
                  <a16:creationId xmlns:a16="http://schemas.microsoft.com/office/drawing/2014/main" id="{B93F909E-EBDE-4AF2-A0A6-A80B669A9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257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823" name="Group 7">
            <a:extLst>
              <a:ext uri="{FF2B5EF4-FFF2-40B4-BE49-F238E27FC236}">
                <a16:creationId xmlns:a16="http://schemas.microsoft.com/office/drawing/2014/main" id="{AB56F869-44BA-4376-97A6-F502A2920847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756025"/>
            <a:ext cx="1460500" cy="1092200"/>
            <a:chOff x="4492" y="2455"/>
            <a:chExt cx="920" cy="688"/>
          </a:xfrm>
        </p:grpSpPr>
        <p:sp>
          <p:nvSpPr>
            <p:cNvPr id="21522" name="Rectangle 8">
              <a:extLst>
                <a:ext uri="{FF2B5EF4-FFF2-40B4-BE49-F238E27FC236}">
                  <a16:creationId xmlns:a16="http://schemas.microsoft.com/office/drawing/2014/main" id="{E29A4F9D-AE53-4C05-8E0A-1EDFFA3FCD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1523" name="Text Box 9">
              <a:extLst>
                <a:ext uri="{FF2B5EF4-FFF2-40B4-BE49-F238E27FC236}">
                  <a16:creationId xmlns:a16="http://schemas.microsoft.com/office/drawing/2014/main" id="{F078BF94-1A0F-41EF-A729-6D071031E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0.01</a:t>
              </a:r>
            </a:p>
          </p:txBody>
        </p:sp>
      </p:grpSp>
      <p:sp>
        <p:nvSpPr>
          <p:cNvPr id="34826" name="Text Box 10">
            <a:extLst>
              <a:ext uri="{FF2B5EF4-FFF2-40B4-BE49-F238E27FC236}">
                <a16:creationId xmlns:a16="http://schemas.microsoft.com/office/drawing/2014/main" id="{5B7DE36C-2FEE-4277-AFFF-7E977BBFA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901701"/>
            <a:ext cx="4749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000">
                <a:latin typeface="Comic Sans MS" panose="030F0702030302020204" pitchFamily="66" charset="0"/>
              </a:rPr>
              <a:t>2.	What is </a:t>
            </a:r>
            <a:r>
              <a:rPr lang="en-GB" altLang="en-US" sz="3000">
                <a:solidFill>
                  <a:srgbClr val="CC3300"/>
                </a:solidFill>
                <a:latin typeface="Comic Sans MS" panose="030F0702030302020204" pitchFamily="66" charset="0"/>
              </a:rPr>
              <a:t>equivalent</a:t>
            </a:r>
            <a:r>
              <a:rPr lang="en-GB" altLang="en-US" sz="3000">
                <a:latin typeface="Comic Sans MS" panose="030F0702030302020204" pitchFamily="66" charset="0"/>
              </a:rPr>
              <a:t> to:</a:t>
            </a:r>
          </a:p>
        </p:txBody>
      </p:sp>
      <p:grpSp>
        <p:nvGrpSpPr>
          <p:cNvPr id="34827" name="Group 11">
            <a:extLst>
              <a:ext uri="{FF2B5EF4-FFF2-40B4-BE49-F238E27FC236}">
                <a16:creationId xmlns:a16="http://schemas.microsoft.com/office/drawing/2014/main" id="{C2CE2452-1EF2-4C36-AB37-3446FE2EE11E}"/>
              </a:ext>
            </a:extLst>
          </p:cNvPr>
          <p:cNvGrpSpPr>
            <a:grpSpLocks/>
          </p:cNvGrpSpPr>
          <p:nvPr/>
        </p:nvGrpSpPr>
        <p:grpSpPr bwMode="auto">
          <a:xfrm>
            <a:off x="2755901" y="3573463"/>
            <a:ext cx="1077913" cy="1460500"/>
            <a:chOff x="4702" y="826"/>
            <a:chExt cx="679" cy="920"/>
          </a:xfrm>
        </p:grpSpPr>
        <p:sp>
          <p:nvSpPr>
            <p:cNvPr id="21518" name="Rectangle 12">
              <a:extLst>
                <a:ext uri="{FF2B5EF4-FFF2-40B4-BE49-F238E27FC236}">
                  <a16:creationId xmlns:a16="http://schemas.microsoft.com/office/drawing/2014/main" id="{DFA0614F-BA8F-4A2F-9DA8-8DC210D1B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826"/>
              <a:ext cx="679" cy="920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1519" name="Text Box 13">
              <a:extLst>
                <a:ext uri="{FF2B5EF4-FFF2-40B4-BE49-F238E27FC236}">
                  <a16:creationId xmlns:a16="http://schemas.microsoft.com/office/drawing/2014/main" id="{75515692-855A-4CC7-BBE4-9ECB52BE3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843"/>
              <a:ext cx="378" cy="44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1520" name="Text Box 14">
              <a:extLst>
                <a:ext uri="{FF2B5EF4-FFF2-40B4-BE49-F238E27FC236}">
                  <a16:creationId xmlns:a16="http://schemas.microsoft.com/office/drawing/2014/main" id="{818319EB-C49F-4433-9CA5-5D9A6EC75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0"/>
              <a:ext cx="473" cy="44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5</a:t>
              </a:r>
            </a:p>
          </p:txBody>
        </p:sp>
        <p:sp>
          <p:nvSpPr>
            <p:cNvPr id="21521" name="Line 15">
              <a:extLst>
                <a:ext uri="{FF2B5EF4-FFF2-40B4-BE49-F238E27FC236}">
                  <a16:creationId xmlns:a16="http://schemas.microsoft.com/office/drawing/2014/main" id="{8F1D6CBE-C479-49C6-9B7C-41D4760D6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257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832" name="Group 16">
            <a:extLst>
              <a:ext uri="{FF2B5EF4-FFF2-40B4-BE49-F238E27FC236}">
                <a16:creationId xmlns:a16="http://schemas.microsoft.com/office/drawing/2014/main" id="{CFF8A585-66CE-454D-98F4-32D37BC7D8FF}"/>
              </a:ext>
            </a:extLst>
          </p:cNvPr>
          <p:cNvGrpSpPr>
            <a:grpSpLocks/>
          </p:cNvGrpSpPr>
          <p:nvPr/>
        </p:nvGrpSpPr>
        <p:grpSpPr bwMode="auto">
          <a:xfrm>
            <a:off x="6781801" y="950913"/>
            <a:ext cx="1077913" cy="1460500"/>
            <a:chOff x="4702" y="826"/>
            <a:chExt cx="679" cy="920"/>
          </a:xfrm>
        </p:grpSpPr>
        <p:sp>
          <p:nvSpPr>
            <p:cNvPr id="21514" name="Rectangle 17">
              <a:extLst>
                <a:ext uri="{FF2B5EF4-FFF2-40B4-BE49-F238E27FC236}">
                  <a16:creationId xmlns:a16="http://schemas.microsoft.com/office/drawing/2014/main" id="{7BEB8F39-E366-4389-AC94-2186DEB07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826"/>
              <a:ext cx="679" cy="92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1515" name="Text Box 18">
              <a:extLst>
                <a:ext uri="{FF2B5EF4-FFF2-40B4-BE49-F238E27FC236}">
                  <a16:creationId xmlns:a16="http://schemas.microsoft.com/office/drawing/2014/main" id="{A02A387D-5F04-4EA0-8786-B0CCA7EAC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843"/>
              <a:ext cx="378" cy="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1516" name="Text Box 19">
              <a:extLst>
                <a:ext uri="{FF2B5EF4-FFF2-40B4-BE49-F238E27FC236}">
                  <a16:creationId xmlns:a16="http://schemas.microsoft.com/office/drawing/2014/main" id="{A7D90ABA-C270-4A7F-AB2D-576621780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0"/>
              <a:ext cx="473" cy="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10</a:t>
              </a:r>
            </a:p>
          </p:txBody>
        </p:sp>
        <p:sp>
          <p:nvSpPr>
            <p:cNvPr id="21517" name="Line 20">
              <a:extLst>
                <a:ext uri="{FF2B5EF4-FFF2-40B4-BE49-F238E27FC236}">
                  <a16:creationId xmlns:a16="http://schemas.microsoft.com/office/drawing/2014/main" id="{150C7141-D345-47AD-B80C-3F6B19A5F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257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837" name="Group 21">
            <a:extLst>
              <a:ext uri="{FF2B5EF4-FFF2-40B4-BE49-F238E27FC236}">
                <a16:creationId xmlns:a16="http://schemas.microsoft.com/office/drawing/2014/main" id="{DBAF1DAB-B6A3-4742-8143-F35E6C78D2EE}"/>
              </a:ext>
            </a:extLst>
          </p:cNvPr>
          <p:cNvGrpSpPr>
            <a:grpSpLocks/>
          </p:cNvGrpSpPr>
          <p:nvPr/>
        </p:nvGrpSpPr>
        <p:grpSpPr bwMode="auto">
          <a:xfrm>
            <a:off x="6784975" y="3762375"/>
            <a:ext cx="1460500" cy="1092200"/>
            <a:chOff x="4492" y="2455"/>
            <a:chExt cx="920" cy="688"/>
          </a:xfrm>
        </p:grpSpPr>
        <p:sp>
          <p:nvSpPr>
            <p:cNvPr id="21512" name="Rectangle 22">
              <a:extLst>
                <a:ext uri="{FF2B5EF4-FFF2-40B4-BE49-F238E27FC236}">
                  <a16:creationId xmlns:a16="http://schemas.microsoft.com/office/drawing/2014/main" id="{84DEFB05-2053-443B-8DB2-B1DDF0A1AB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1513" name="Text Box 23">
              <a:extLst>
                <a:ext uri="{FF2B5EF4-FFF2-40B4-BE49-F238E27FC236}">
                  <a16:creationId xmlns:a16="http://schemas.microsoft.com/office/drawing/2014/main" id="{ECDAB8ED-8372-4289-9CEA-65084753B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10%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repeatCount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48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20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>
            <a:extLst>
              <a:ext uri="{FF2B5EF4-FFF2-40B4-BE49-F238E27FC236}">
                <a16:creationId xmlns:a16="http://schemas.microsoft.com/office/drawing/2014/main" id="{07CB340D-3F0C-4F74-BCE0-BFEDBE5538F9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1025525"/>
            <a:ext cx="1460500" cy="1092200"/>
            <a:chOff x="4492" y="2455"/>
            <a:chExt cx="920" cy="688"/>
          </a:xfrm>
        </p:grpSpPr>
        <p:sp>
          <p:nvSpPr>
            <p:cNvPr id="22548" name="Rectangle 3">
              <a:extLst>
                <a:ext uri="{FF2B5EF4-FFF2-40B4-BE49-F238E27FC236}">
                  <a16:creationId xmlns:a16="http://schemas.microsoft.com/office/drawing/2014/main" id="{E2412459-291D-4B00-81B3-32F41508C7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49" name="Text Box 4">
              <a:extLst>
                <a:ext uri="{FF2B5EF4-FFF2-40B4-BE49-F238E27FC236}">
                  <a16:creationId xmlns:a16="http://schemas.microsoft.com/office/drawing/2014/main" id="{0F38C176-A97C-4974-9D71-BC7FAD7F5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0.2</a:t>
              </a:r>
            </a:p>
          </p:txBody>
        </p:sp>
      </p:grpSp>
      <p:sp>
        <p:nvSpPr>
          <p:cNvPr id="35845" name="Text Box 5">
            <a:extLst>
              <a:ext uri="{FF2B5EF4-FFF2-40B4-BE49-F238E27FC236}">
                <a16:creationId xmlns:a16="http://schemas.microsoft.com/office/drawing/2014/main" id="{D4AD0775-3642-4A14-8F20-F2A7DF026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901701"/>
            <a:ext cx="4749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000">
                <a:latin typeface="Comic Sans MS" panose="030F0702030302020204" pitchFamily="66" charset="0"/>
              </a:rPr>
              <a:t>3.	What is </a:t>
            </a:r>
            <a:r>
              <a:rPr lang="en-GB" altLang="en-US" sz="3000">
                <a:solidFill>
                  <a:srgbClr val="CC3300"/>
                </a:solidFill>
                <a:latin typeface="Comic Sans MS" panose="030F0702030302020204" pitchFamily="66" charset="0"/>
              </a:rPr>
              <a:t>equivalent</a:t>
            </a:r>
            <a:r>
              <a:rPr lang="en-GB" altLang="en-US" sz="3000">
                <a:latin typeface="Comic Sans MS" panose="030F0702030302020204" pitchFamily="66" charset="0"/>
              </a:rPr>
              <a:t> to:</a:t>
            </a:r>
          </a:p>
        </p:txBody>
      </p:sp>
      <p:grpSp>
        <p:nvGrpSpPr>
          <p:cNvPr id="35846" name="Group 6">
            <a:extLst>
              <a:ext uri="{FF2B5EF4-FFF2-40B4-BE49-F238E27FC236}">
                <a16:creationId xmlns:a16="http://schemas.microsoft.com/office/drawing/2014/main" id="{735A970A-82F9-4A43-BF68-41A0658981EF}"/>
              </a:ext>
            </a:extLst>
          </p:cNvPr>
          <p:cNvGrpSpPr>
            <a:grpSpLocks/>
          </p:cNvGrpSpPr>
          <p:nvPr/>
        </p:nvGrpSpPr>
        <p:grpSpPr bwMode="auto">
          <a:xfrm>
            <a:off x="6665914" y="3532188"/>
            <a:ext cx="1336675" cy="1460500"/>
            <a:chOff x="3351" y="2251"/>
            <a:chExt cx="842" cy="920"/>
          </a:xfrm>
        </p:grpSpPr>
        <p:sp>
          <p:nvSpPr>
            <p:cNvPr id="22544" name="Rectangle 7">
              <a:extLst>
                <a:ext uri="{FF2B5EF4-FFF2-40B4-BE49-F238E27FC236}">
                  <a16:creationId xmlns:a16="http://schemas.microsoft.com/office/drawing/2014/main" id="{71E9A208-7D03-454E-960F-9B5265EDF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2251"/>
              <a:ext cx="842" cy="92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45" name="Text Box 8">
              <a:extLst>
                <a:ext uri="{FF2B5EF4-FFF2-40B4-BE49-F238E27FC236}">
                  <a16:creationId xmlns:a16="http://schemas.microsoft.com/office/drawing/2014/main" id="{541249EA-26C1-419D-BB8D-E397BD832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" y="2267"/>
              <a:ext cx="41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2546" name="Text Box 9">
              <a:extLst>
                <a:ext uri="{FF2B5EF4-FFF2-40B4-BE49-F238E27FC236}">
                  <a16:creationId xmlns:a16="http://schemas.microsoft.com/office/drawing/2014/main" id="{2CC774C0-50E5-4937-BA75-67E829464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" y="2682"/>
              <a:ext cx="780" cy="4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100</a:t>
              </a:r>
            </a:p>
          </p:txBody>
        </p:sp>
        <p:sp>
          <p:nvSpPr>
            <p:cNvPr id="22547" name="Line 10">
              <a:extLst>
                <a:ext uri="{FF2B5EF4-FFF2-40B4-BE49-F238E27FC236}">
                  <a16:creationId xmlns:a16="http://schemas.microsoft.com/office/drawing/2014/main" id="{264A874C-4BBB-4D2C-94D4-EC9DB538C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" y="2681"/>
              <a:ext cx="4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851" name="Group 11">
            <a:extLst>
              <a:ext uri="{FF2B5EF4-FFF2-40B4-BE49-F238E27FC236}">
                <a16:creationId xmlns:a16="http://schemas.microsoft.com/office/drawing/2014/main" id="{C061B6A7-8C47-4199-B913-CC62D390023D}"/>
              </a:ext>
            </a:extLst>
          </p:cNvPr>
          <p:cNvGrpSpPr>
            <a:grpSpLocks/>
          </p:cNvGrpSpPr>
          <p:nvPr/>
        </p:nvGrpSpPr>
        <p:grpSpPr bwMode="auto">
          <a:xfrm>
            <a:off x="4857751" y="3543300"/>
            <a:ext cx="1077913" cy="1460500"/>
            <a:chOff x="2100" y="2232"/>
            <a:chExt cx="679" cy="920"/>
          </a:xfrm>
        </p:grpSpPr>
        <p:sp>
          <p:nvSpPr>
            <p:cNvPr id="22540" name="Rectangle 12">
              <a:extLst>
                <a:ext uri="{FF2B5EF4-FFF2-40B4-BE49-F238E27FC236}">
                  <a16:creationId xmlns:a16="http://schemas.microsoft.com/office/drawing/2014/main" id="{0C362729-187B-40A8-8F97-2FDFCE478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2232"/>
              <a:ext cx="679" cy="920"/>
            </a:xfrm>
            <a:prstGeom prst="rect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41" name="Text Box 13">
              <a:extLst>
                <a:ext uri="{FF2B5EF4-FFF2-40B4-BE49-F238E27FC236}">
                  <a16:creationId xmlns:a16="http://schemas.microsoft.com/office/drawing/2014/main" id="{C3FF954E-7AD1-4EB2-A94A-918360C71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" y="2257"/>
              <a:ext cx="533" cy="442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2542" name="Text Box 14">
              <a:extLst>
                <a:ext uri="{FF2B5EF4-FFF2-40B4-BE49-F238E27FC236}">
                  <a16:creationId xmlns:a16="http://schemas.microsoft.com/office/drawing/2014/main" id="{7B56E8DD-59CA-46CB-A182-0E1BD437C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646"/>
              <a:ext cx="473" cy="442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10</a:t>
              </a:r>
            </a:p>
          </p:txBody>
        </p:sp>
        <p:sp>
          <p:nvSpPr>
            <p:cNvPr id="22543" name="Line 15">
              <a:extLst>
                <a:ext uri="{FF2B5EF4-FFF2-40B4-BE49-F238E27FC236}">
                  <a16:creationId xmlns:a16="http://schemas.microsoft.com/office/drawing/2014/main" id="{136B88A7-B4CA-42E7-89D2-0F35DAD55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6" y="2663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856" name="Group 16">
            <a:extLst>
              <a:ext uri="{FF2B5EF4-FFF2-40B4-BE49-F238E27FC236}">
                <a16:creationId xmlns:a16="http://schemas.microsoft.com/office/drawing/2014/main" id="{51289A24-484E-483C-B7AF-862C947A7AA5}"/>
              </a:ext>
            </a:extLst>
          </p:cNvPr>
          <p:cNvGrpSpPr>
            <a:grpSpLocks/>
          </p:cNvGrpSpPr>
          <p:nvPr/>
        </p:nvGrpSpPr>
        <p:grpSpPr bwMode="auto">
          <a:xfrm>
            <a:off x="6550025" y="1019175"/>
            <a:ext cx="1460500" cy="1092200"/>
            <a:chOff x="4492" y="2455"/>
            <a:chExt cx="920" cy="688"/>
          </a:xfrm>
        </p:grpSpPr>
        <p:sp>
          <p:nvSpPr>
            <p:cNvPr id="22538" name="Rectangle 17">
              <a:extLst>
                <a:ext uri="{FF2B5EF4-FFF2-40B4-BE49-F238E27FC236}">
                  <a16:creationId xmlns:a16="http://schemas.microsoft.com/office/drawing/2014/main" id="{49278747-7ECD-43A9-B68A-58D7E36851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39" name="Text Box 18">
              <a:extLst>
                <a:ext uri="{FF2B5EF4-FFF2-40B4-BE49-F238E27FC236}">
                  <a16:creationId xmlns:a16="http://schemas.microsoft.com/office/drawing/2014/main" id="{585EB471-C557-4265-AA3E-841BC9055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0.2</a:t>
              </a:r>
            </a:p>
          </p:txBody>
        </p:sp>
      </p:grpSp>
      <p:grpSp>
        <p:nvGrpSpPr>
          <p:cNvPr id="35859" name="Group 19">
            <a:extLst>
              <a:ext uri="{FF2B5EF4-FFF2-40B4-BE49-F238E27FC236}">
                <a16:creationId xmlns:a16="http://schemas.microsoft.com/office/drawing/2014/main" id="{67DE44AD-953D-4F39-BE9A-5D6091999B8C}"/>
              </a:ext>
            </a:extLst>
          </p:cNvPr>
          <p:cNvGrpSpPr>
            <a:grpSpLocks/>
          </p:cNvGrpSpPr>
          <p:nvPr/>
        </p:nvGrpSpPr>
        <p:grpSpPr bwMode="auto">
          <a:xfrm>
            <a:off x="2565400" y="3762375"/>
            <a:ext cx="1460500" cy="1092200"/>
            <a:chOff x="4492" y="2455"/>
            <a:chExt cx="920" cy="688"/>
          </a:xfrm>
        </p:grpSpPr>
        <p:sp>
          <p:nvSpPr>
            <p:cNvPr id="22536" name="Rectangle 20">
              <a:extLst>
                <a:ext uri="{FF2B5EF4-FFF2-40B4-BE49-F238E27FC236}">
                  <a16:creationId xmlns:a16="http://schemas.microsoft.com/office/drawing/2014/main" id="{EE1249E6-DFDA-4326-9270-0F363BC1E5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37" name="Text Box 21">
              <a:extLst>
                <a:ext uri="{FF2B5EF4-FFF2-40B4-BE49-F238E27FC236}">
                  <a16:creationId xmlns:a16="http://schemas.microsoft.com/office/drawing/2014/main" id="{2E766ACF-C3E5-4829-8868-B004734E4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repeatCount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58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2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7CB541AC-4A67-49C8-B703-FFCD7893C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901701"/>
            <a:ext cx="4749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000">
                <a:latin typeface="Comic Sans MS" panose="030F0702030302020204" pitchFamily="66" charset="0"/>
              </a:rPr>
              <a:t>8.	What is </a:t>
            </a:r>
            <a:r>
              <a:rPr lang="en-GB" altLang="en-US" sz="3000">
                <a:solidFill>
                  <a:srgbClr val="CC3300"/>
                </a:solidFill>
                <a:latin typeface="Comic Sans MS" panose="030F0702030302020204" pitchFamily="66" charset="0"/>
              </a:rPr>
              <a:t>equivalent</a:t>
            </a:r>
            <a:r>
              <a:rPr lang="en-GB" altLang="en-US" sz="3000">
                <a:latin typeface="Comic Sans MS" panose="030F0702030302020204" pitchFamily="66" charset="0"/>
              </a:rPr>
              <a:t> to:</a:t>
            </a:r>
          </a:p>
        </p:txBody>
      </p:sp>
      <p:grpSp>
        <p:nvGrpSpPr>
          <p:cNvPr id="36867" name="Group 3">
            <a:extLst>
              <a:ext uri="{FF2B5EF4-FFF2-40B4-BE49-F238E27FC236}">
                <a16:creationId xmlns:a16="http://schemas.microsoft.com/office/drawing/2014/main" id="{26105678-B819-46A2-B4FE-D129F4500198}"/>
              </a:ext>
            </a:extLst>
          </p:cNvPr>
          <p:cNvGrpSpPr>
            <a:grpSpLocks/>
          </p:cNvGrpSpPr>
          <p:nvPr/>
        </p:nvGrpSpPr>
        <p:grpSpPr bwMode="auto">
          <a:xfrm>
            <a:off x="6632576" y="1006475"/>
            <a:ext cx="1077913" cy="1460500"/>
            <a:chOff x="4327" y="641"/>
            <a:chExt cx="679" cy="920"/>
          </a:xfrm>
        </p:grpSpPr>
        <p:sp>
          <p:nvSpPr>
            <p:cNvPr id="23570" name="Rectangle 4">
              <a:extLst>
                <a:ext uri="{FF2B5EF4-FFF2-40B4-BE49-F238E27FC236}">
                  <a16:creationId xmlns:a16="http://schemas.microsoft.com/office/drawing/2014/main" id="{A4242AFB-190A-470E-A45A-4CDE2C4A6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641"/>
              <a:ext cx="679" cy="92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71" name="Text Box 5">
              <a:extLst>
                <a:ext uri="{FF2B5EF4-FFF2-40B4-BE49-F238E27FC236}">
                  <a16:creationId xmlns:a16="http://schemas.microsoft.com/office/drawing/2014/main" id="{A7136582-D205-4723-8165-073AC2A5A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1" y="658"/>
              <a:ext cx="585" cy="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3572" name="Text Box 6">
              <a:extLst>
                <a:ext uri="{FF2B5EF4-FFF2-40B4-BE49-F238E27FC236}">
                  <a16:creationId xmlns:a16="http://schemas.microsoft.com/office/drawing/2014/main" id="{B837D7A8-11D4-41AD-828B-929E09463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" y="1055"/>
              <a:ext cx="473" cy="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5</a:t>
              </a:r>
            </a:p>
          </p:txBody>
        </p:sp>
        <p:sp>
          <p:nvSpPr>
            <p:cNvPr id="23573" name="Line 7">
              <a:extLst>
                <a:ext uri="{FF2B5EF4-FFF2-40B4-BE49-F238E27FC236}">
                  <a16:creationId xmlns:a16="http://schemas.microsoft.com/office/drawing/2014/main" id="{E3BEE288-1639-4586-8274-5A4A419BF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3" y="1072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872" name="Group 8">
            <a:extLst>
              <a:ext uri="{FF2B5EF4-FFF2-40B4-BE49-F238E27FC236}">
                <a16:creationId xmlns:a16="http://schemas.microsoft.com/office/drawing/2014/main" id="{47086D4C-F749-42EC-86B3-BDCC4BAC4AC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687763"/>
            <a:ext cx="1460500" cy="1092200"/>
            <a:chOff x="4492" y="2455"/>
            <a:chExt cx="920" cy="688"/>
          </a:xfrm>
        </p:grpSpPr>
        <p:sp>
          <p:nvSpPr>
            <p:cNvPr id="23568" name="Rectangle 9">
              <a:extLst>
                <a:ext uri="{FF2B5EF4-FFF2-40B4-BE49-F238E27FC236}">
                  <a16:creationId xmlns:a16="http://schemas.microsoft.com/office/drawing/2014/main" id="{3F706764-11B8-4B4B-B937-C89315CF1E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69" name="Text Box 10">
              <a:extLst>
                <a:ext uri="{FF2B5EF4-FFF2-40B4-BE49-F238E27FC236}">
                  <a16:creationId xmlns:a16="http://schemas.microsoft.com/office/drawing/2014/main" id="{98E026EF-6795-42AC-A394-F5F92C9C6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0.5</a:t>
              </a:r>
            </a:p>
          </p:txBody>
        </p:sp>
      </p:grpSp>
      <p:grpSp>
        <p:nvGrpSpPr>
          <p:cNvPr id="36875" name="Group 11">
            <a:extLst>
              <a:ext uri="{FF2B5EF4-FFF2-40B4-BE49-F238E27FC236}">
                <a16:creationId xmlns:a16="http://schemas.microsoft.com/office/drawing/2014/main" id="{0F6CBD53-0157-410F-B400-2135216E4650}"/>
              </a:ext>
            </a:extLst>
          </p:cNvPr>
          <p:cNvGrpSpPr>
            <a:grpSpLocks/>
          </p:cNvGrpSpPr>
          <p:nvPr/>
        </p:nvGrpSpPr>
        <p:grpSpPr bwMode="auto">
          <a:xfrm>
            <a:off x="6637338" y="995363"/>
            <a:ext cx="1077912" cy="1460500"/>
            <a:chOff x="4327" y="641"/>
            <a:chExt cx="679" cy="920"/>
          </a:xfrm>
        </p:grpSpPr>
        <p:sp>
          <p:nvSpPr>
            <p:cNvPr id="23564" name="Rectangle 12">
              <a:extLst>
                <a:ext uri="{FF2B5EF4-FFF2-40B4-BE49-F238E27FC236}">
                  <a16:creationId xmlns:a16="http://schemas.microsoft.com/office/drawing/2014/main" id="{CAA88240-4781-428E-8FFA-8715B20C7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641"/>
              <a:ext cx="679" cy="9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65" name="Text Box 13">
              <a:extLst>
                <a:ext uri="{FF2B5EF4-FFF2-40B4-BE49-F238E27FC236}">
                  <a16:creationId xmlns:a16="http://schemas.microsoft.com/office/drawing/2014/main" id="{23FCBE3F-BF40-4291-A0C9-C468289BF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1" y="658"/>
              <a:ext cx="58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3566" name="Text Box 14">
              <a:extLst>
                <a:ext uri="{FF2B5EF4-FFF2-40B4-BE49-F238E27FC236}">
                  <a16:creationId xmlns:a16="http://schemas.microsoft.com/office/drawing/2014/main" id="{4D9D9BF0-5C68-4383-BAB6-7DB80BCC5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" y="1055"/>
              <a:ext cx="47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5</a:t>
              </a:r>
            </a:p>
          </p:txBody>
        </p:sp>
        <p:sp>
          <p:nvSpPr>
            <p:cNvPr id="23567" name="Line 15">
              <a:extLst>
                <a:ext uri="{FF2B5EF4-FFF2-40B4-BE49-F238E27FC236}">
                  <a16:creationId xmlns:a16="http://schemas.microsoft.com/office/drawing/2014/main" id="{30FFF2CD-EA6B-4997-BF22-E3A30897F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3" y="1072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880" name="Group 16">
            <a:extLst>
              <a:ext uri="{FF2B5EF4-FFF2-40B4-BE49-F238E27FC236}">
                <a16:creationId xmlns:a16="http://schemas.microsoft.com/office/drawing/2014/main" id="{94F1D4BE-1C0D-47E7-BE02-D638570B1FD8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3687763"/>
            <a:ext cx="1460500" cy="1092200"/>
            <a:chOff x="4492" y="2455"/>
            <a:chExt cx="920" cy="688"/>
          </a:xfrm>
        </p:grpSpPr>
        <p:sp>
          <p:nvSpPr>
            <p:cNvPr id="23562" name="Rectangle 17">
              <a:extLst>
                <a:ext uri="{FF2B5EF4-FFF2-40B4-BE49-F238E27FC236}">
                  <a16:creationId xmlns:a16="http://schemas.microsoft.com/office/drawing/2014/main" id="{74AE0E78-76C3-44C0-9A51-EF686A0978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63" name="Text Box 18">
              <a:extLst>
                <a:ext uri="{FF2B5EF4-FFF2-40B4-BE49-F238E27FC236}">
                  <a16:creationId xmlns:a16="http://schemas.microsoft.com/office/drawing/2014/main" id="{ADACEBE8-F264-4B89-96A5-EF5FB5FAE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20%</a:t>
              </a:r>
            </a:p>
          </p:txBody>
        </p:sp>
      </p:grpSp>
      <p:grpSp>
        <p:nvGrpSpPr>
          <p:cNvPr id="36883" name="Group 19">
            <a:extLst>
              <a:ext uri="{FF2B5EF4-FFF2-40B4-BE49-F238E27FC236}">
                <a16:creationId xmlns:a16="http://schemas.microsoft.com/office/drawing/2014/main" id="{24813367-EF76-4206-A282-569F0AA2E31E}"/>
              </a:ext>
            </a:extLst>
          </p:cNvPr>
          <p:cNvGrpSpPr>
            <a:grpSpLocks/>
          </p:cNvGrpSpPr>
          <p:nvPr/>
        </p:nvGrpSpPr>
        <p:grpSpPr bwMode="auto">
          <a:xfrm>
            <a:off x="6784975" y="3690938"/>
            <a:ext cx="1460500" cy="1092200"/>
            <a:chOff x="4492" y="2455"/>
            <a:chExt cx="920" cy="688"/>
          </a:xfrm>
        </p:grpSpPr>
        <p:sp>
          <p:nvSpPr>
            <p:cNvPr id="23560" name="Rectangle 20">
              <a:extLst>
                <a:ext uri="{FF2B5EF4-FFF2-40B4-BE49-F238E27FC236}">
                  <a16:creationId xmlns:a16="http://schemas.microsoft.com/office/drawing/2014/main" id="{C00B4856-2CD0-4D65-A671-4092207AD5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61" name="Text Box 21">
              <a:extLst>
                <a:ext uri="{FF2B5EF4-FFF2-40B4-BE49-F238E27FC236}">
                  <a16:creationId xmlns:a16="http://schemas.microsoft.com/office/drawing/2014/main" id="{857F571B-924B-440B-AAB4-6C5A5054F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5%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repeatCount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68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20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5DF31AA-047D-44EB-BE26-44D7D9F6F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901701"/>
            <a:ext cx="4749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000">
                <a:latin typeface="Comic Sans MS" panose="030F0702030302020204" pitchFamily="66" charset="0"/>
              </a:rPr>
              <a:t>9.	What is </a:t>
            </a:r>
            <a:r>
              <a:rPr lang="en-GB" altLang="en-US" sz="3000">
                <a:solidFill>
                  <a:srgbClr val="CC3300"/>
                </a:solidFill>
                <a:latin typeface="Comic Sans MS" panose="030F0702030302020204" pitchFamily="66" charset="0"/>
              </a:rPr>
              <a:t>equivalent</a:t>
            </a:r>
            <a:r>
              <a:rPr lang="en-GB" altLang="en-US" sz="3000">
                <a:latin typeface="Comic Sans MS" panose="030F0702030302020204" pitchFamily="66" charset="0"/>
              </a:rPr>
              <a:t> to:</a:t>
            </a:r>
          </a:p>
        </p:txBody>
      </p:sp>
      <p:grpSp>
        <p:nvGrpSpPr>
          <p:cNvPr id="37891" name="Group 3">
            <a:extLst>
              <a:ext uri="{FF2B5EF4-FFF2-40B4-BE49-F238E27FC236}">
                <a16:creationId xmlns:a16="http://schemas.microsoft.com/office/drawing/2014/main" id="{40AB65D0-0AB3-4D2B-BFFC-417172CE5342}"/>
              </a:ext>
            </a:extLst>
          </p:cNvPr>
          <p:cNvGrpSpPr>
            <a:grpSpLocks/>
          </p:cNvGrpSpPr>
          <p:nvPr/>
        </p:nvGrpSpPr>
        <p:grpSpPr bwMode="auto">
          <a:xfrm>
            <a:off x="6556375" y="1023938"/>
            <a:ext cx="1460500" cy="1092200"/>
            <a:chOff x="4492" y="2455"/>
            <a:chExt cx="920" cy="688"/>
          </a:xfrm>
        </p:grpSpPr>
        <p:sp>
          <p:nvSpPr>
            <p:cNvPr id="24594" name="Rectangle 4">
              <a:extLst>
                <a:ext uri="{FF2B5EF4-FFF2-40B4-BE49-F238E27FC236}">
                  <a16:creationId xmlns:a16="http://schemas.microsoft.com/office/drawing/2014/main" id="{8032CD1A-044E-4FE2-8EB0-BD53271399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595" name="Text Box 5">
              <a:extLst>
                <a:ext uri="{FF2B5EF4-FFF2-40B4-BE49-F238E27FC236}">
                  <a16:creationId xmlns:a16="http://schemas.microsoft.com/office/drawing/2014/main" id="{C6F1B91A-7DCA-4B9F-B376-5BCB50C4F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0.06</a:t>
              </a:r>
            </a:p>
          </p:txBody>
        </p:sp>
      </p:grpSp>
      <p:grpSp>
        <p:nvGrpSpPr>
          <p:cNvPr id="37894" name="Group 6">
            <a:extLst>
              <a:ext uri="{FF2B5EF4-FFF2-40B4-BE49-F238E27FC236}">
                <a16:creationId xmlns:a16="http://schemas.microsoft.com/office/drawing/2014/main" id="{7297EE1A-F53C-4488-A4DD-480A37FE9984}"/>
              </a:ext>
            </a:extLst>
          </p:cNvPr>
          <p:cNvGrpSpPr>
            <a:grpSpLocks/>
          </p:cNvGrpSpPr>
          <p:nvPr/>
        </p:nvGrpSpPr>
        <p:grpSpPr bwMode="auto">
          <a:xfrm>
            <a:off x="6550025" y="1019175"/>
            <a:ext cx="1460500" cy="1092200"/>
            <a:chOff x="4492" y="2455"/>
            <a:chExt cx="920" cy="688"/>
          </a:xfrm>
        </p:grpSpPr>
        <p:sp>
          <p:nvSpPr>
            <p:cNvPr id="24592" name="Rectangle 7">
              <a:extLst>
                <a:ext uri="{FF2B5EF4-FFF2-40B4-BE49-F238E27FC236}">
                  <a16:creationId xmlns:a16="http://schemas.microsoft.com/office/drawing/2014/main" id="{8019ECF7-F32B-47F2-9E8C-FBA62283FF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593" name="Text Box 8">
              <a:extLst>
                <a:ext uri="{FF2B5EF4-FFF2-40B4-BE49-F238E27FC236}">
                  <a16:creationId xmlns:a16="http://schemas.microsoft.com/office/drawing/2014/main" id="{0F1F927D-7D30-4E75-9C2B-A29265F72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0.06</a:t>
              </a:r>
            </a:p>
          </p:txBody>
        </p:sp>
      </p:grpSp>
      <p:grpSp>
        <p:nvGrpSpPr>
          <p:cNvPr id="37897" name="Group 9">
            <a:extLst>
              <a:ext uri="{FF2B5EF4-FFF2-40B4-BE49-F238E27FC236}">
                <a16:creationId xmlns:a16="http://schemas.microsoft.com/office/drawing/2014/main" id="{C2377B21-C50A-4164-AC10-93E0C09B11F9}"/>
              </a:ext>
            </a:extLst>
          </p:cNvPr>
          <p:cNvGrpSpPr>
            <a:grpSpLocks/>
          </p:cNvGrpSpPr>
          <p:nvPr/>
        </p:nvGrpSpPr>
        <p:grpSpPr bwMode="auto">
          <a:xfrm>
            <a:off x="2755901" y="3487738"/>
            <a:ext cx="1077913" cy="1460500"/>
            <a:chOff x="4702" y="826"/>
            <a:chExt cx="679" cy="920"/>
          </a:xfrm>
        </p:grpSpPr>
        <p:sp>
          <p:nvSpPr>
            <p:cNvPr id="24588" name="Rectangle 10">
              <a:extLst>
                <a:ext uri="{FF2B5EF4-FFF2-40B4-BE49-F238E27FC236}">
                  <a16:creationId xmlns:a16="http://schemas.microsoft.com/office/drawing/2014/main" id="{BE949DCD-0B25-4AB4-AA0E-C33E3669F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826"/>
              <a:ext cx="679" cy="920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589" name="Text Box 11">
              <a:extLst>
                <a:ext uri="{FF2B5EF4-FFF2-40B4-BE49-F238E27FC236}">
                  <a16:creationId xmlns:a16="http://schemas.microsoft.com/office/drawing/2014/main" id="{CA3D5DBE-5A9F-4EBD-B26F-69603FA7D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843"/>
              <a:ext cx="378" cy="44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6</a:t>
              </a:r>
            </a:p>
          </p:txBody>
        </p:sp>
        <p:sp>
          <p:nvSpPr>
            <p:cNvPr id="24590" name="Text Box 12">
              <a:extLst>
                <a:ext uri="{FF2B5EF4-FFF2-40B4-BE49-F238E27FC236}">
                  <a16:creationId xmlns:a16="http://schemas.microsoft.com/office/drawing/2014/main" id="{96629F53-64BB-404F-AA4D-28EEFC7DA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0"/>
              <a:ext cx="473" cy="44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10</a:t>
              </a:r>
            </a:p>
          </p:txBody>
        </p:sp>
        <p:sp>
          <p:nvSpPr>
            <p:cNvPr id="24591" name="Line 13">
              <a:extLst>
                <a:ext uri="{FF2B5EF4-FFF2-40B4-BE49-F238E27FC236}">
                  <a16:creationId xmlns:a16="http://schemas.microsoft.com/office/drawing/2014/main" id="{4D82AE94-17E1-4635-9DD2-034E0529B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257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902" name="Group 14">
            <a:extLst>
              <a:ext uri="{FF2B5EF4-FFF2-40B4-BE49-F238E27FC236}">
                <a16:creationId xmlns:a16="http://schemas.microsoft.com/office/drawing/2014/main" id="{7F08CFE1-7E7B-49B6-AC43-BB43ABD434AA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3687763"/>
            <a:ext cx="1460500" cy="1092200"/>
            <a:chOff x="4492" y="2455"/>
            <a:chExt cx="920" cy="688"/>
          </a:xfrm>
        </p:grpSpPr>
        <p:sp>
          <p:nvSpPr>
            <p:cNvPr id="24586" name="Rectangle 15">
              <a:extLst>
                <a:ext uri="{FF2B5EF4-FFF2-40B4-BE49-F238E27FC236}">
                  <a16:creationId xmlns:a16="http://schemas.microsoft.com/office/drawing/2014/main" id="{3B8373BD-F205-40E8-99AD-53549AD859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587" name="Text Box 16">
              <a:extLst>
                <a:ext uri="{FF2B5EF4-FFF2-40B4-BE49-F238E27FC236}">
                  <a16:creationId xmlns:a16="http://schemas.microsoft.com/office/drawing/2014/main" id="{BF664182-C1FD-4371-857D-BA72F0B53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6%</a:t>
              </a:r>
            </a:p>
          </p:txBody>
        </p:sp>
      </p:grpSp>
      <p:grpSp>
        <p:nvGrpSpPr>
          <p:cNvPr id="37905" name="Group 17">
            <a:extLst>
              <a:ext uri="{FF2B5EF4-FFF2-40B4-BE49-F238E27FC236}">
                <a16:creationId xmlns:a16="http://schemas.microsoft.com/office/drawing/2014/main" id="{73C0E534-4042-4A7A-B6D5-F83B442120BD}"/>
              </a:ext>
            </a:extLst>
          </p:cNvPr>
          <p:cNvGrpSpPr>
            <a:grpSpLocks/>
          </p:cNvGrpSpPr>
          <p:nvPr/>
        </p:nvGrpSpPr>
        <p:grpSpPr bwMode="auto">
          <a:xfrm>
            <a:off x="6784975" y="3690938"/>
            <a:ext cx="1460500" cy="1092200"/>
            <a:chOff x="4492" y="2455"/>
            <a:chExt cx="920" cy="688"/>
          </a:xfrm>
        </p:grpSpPr>
        <p:sp>
          <p:nvSpPr>
            <p:cNvPr id="24584" name="Rectangle 18">
              <a:extLst>
                <a:ext uri="{FF2B5EF4-FFF2-40B4-BE49-F238E27FC236}">
                  <a16:creationId xmlns:a16="http://schemas.microsoft.com/office/drawing/2014/main" id="{D6ED232C-3612-40E7-93C4-27A45EE7F7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08" y="2339"/>
              <a:ext cx="688" cy="92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585" name="Text Box 19">
              <a:extLst>
                <a:ext uri="{FF2B5EF4-FFF2-40B4-BE49-F238E27FC236}">
                  <a16:creationId xmlns:a16="http://schemas.microsoft.com/office/drawing/2014/main" id="{C6BBA0C0-FD2F-4575-9B71-62D0E4149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570"/>
              <a:ext cx="8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4000">
                  <a:latin typeface="Comic Sans MS" panose="030F0702030302020204" pitchFamily="66" charset="0"/>
                </a:rPr>
                <a:t>60%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repeatCount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78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2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>
            <a:extLst>
              <a:ext uri="{FF2B5EF4-FFF2-40B4-BE49-F238E27FC236}">
                <a16:creationId xmlns:a16="http://schemas.microsoft.com/office/drawing/2014/main" id="{81B45F68-F47E-4A44-A7D0-56190D11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836614"/>
            <a:ext cx="6913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Converting between percentages, decimals and fractions</a:t>
            </a:r>
          </a:p>
        </p:txBody>
      </p:sp>
      <p:sp>
        <p:nvSpPr>
          <p:cNvPr id="25603" name="TextBox 2">
            <a:extLst>
              <a:ext uri="{FF2B5EF4-FFF2-40B4-BE49-F238E27FC236}">
                <a16:creationId xmlns:a16="http://schemas.microsoft.com/office/drawing/2014/main" id="{D1A295CC-FDD3-46D3-A714-B7A3AC2AD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842000"/>
            <a:ext cx="73453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 sz="1400"/>
              <a:t>This is an overview! If you need more time and detail to revise this concept, this link may help you:</a:t>
            </a:r>
          </a:p>
          <a:p>
            <a:pPr eaLnBrk="1" hangingPunct="1"/>
            <a:r>
              <a:rPr lang="en-AU" altLang="en-US" sz="1400">
                <a:hlinkClick r:id="rId2"/>
              </a:rPr>
              <a:t>https://www.mathsisfun.com/decimal-fraction-percentage.html</a:t>
            </a:r>
            <a:endParaRPr lang="en-AU" altLang="en-US" sz="1400"/>
          </a:p>
          <a:p>
            <a:pPr eaLnBrk="1" hangingPunct="1"/>
            <a:endParaRPr lang="en-AU" altLang="en-US"/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B5527017-C430-45CC-A7BB-919C3E77F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3" y="2305050"/>
            <a:ext cx="7239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>
            <a:extLst>
              <a:ext uri="{FF2B5EF4-FFF2-40B4-BE49-F238E27FC236}">
                <a16:creationId xmlns:a16="http://schemas.microsoft.com/office/drawing/2014/main" id="{8DE46CB6-1F27-4673-AAFA-CA76180C0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63" y="4005264"/>
            <a:ext cx="726916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Box 6">
            <a:extLst>
              <a:ext uri="{FF2B5EF4-FFF2-40B4-BE49-F238E27FC236}">
                <a16:creationId xmlns:a16="http://schemas.microsoft.com/office/drawing/2014/main" id="{F67F6981-B519-4D74-B964-BB7BA18F7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4" y="1651000"/>
            <a:ext cx="630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Percent to decimal</a:t>
            </a:r>
          </a:p>
        </p:txBody>
      </p:sp>
      <p:sp>
        <p:nvSpPr>
          <p:cNvPr id="25607" name="TextBox 8">
            <a:extLst>
              <a:ext uri="{FF2B5EF4-FFF2-40B4-BE49-F238E27FC236}">
                <a16:creationId xmlns:a16="http://schemas.microsoft.com/office/drawing/2014/main" id="{FFD18235-90B7-461C-A11C-B7285E6F7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51" y="3557589"/>
            <a:ext cx="630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Decimal to percent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>
            <a:extLst>
              <a:ext uri="{FF2B5EF4-FFF2-40B4-BE49-F238E27FC236}">
                <a16:creationId xmlns:a16="http://schemas.microsoft.com/office/drawing/2014/main" id="{6C21532E-1270-418D-9814-24053585B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115889"/>
            <a:ext cx="630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Fraction to decimal</a:t>
            </a:r>
          </a:p>
        </p:txBody>
      </p:sp>
      <p:sp>
        <p:nvSpPr>
          <p:cNvPr id="26627" name="TextBox 2">
            <a:extLst>
              <a:ext uri="{FF2B5EF4-FFF2-40B4-BE49-F238E27FC236}">
                <a16:creationId xmlns:a16="http://schemas.microsoft.com/office/drawing/2014/main" id="{D4F47EBB-67FA-48B9-B6BE-63FF9698A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989" y="2249488"/>
            <a:ext cx="6308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Decimal to fraction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88A71334-EE7E-4210-9313-56E18A2BA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89" y="620713"/>
            <a:ext cx="66389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>
            <a:extLst>
              <a:ext uri="{FF2B5EF4-FFF2-40B4-BE49-F238E27FC236}">
                <a16:creationId xmlns:a16="http://schemas.microsoft.com/office/drawing/2014/main" id="{959BE23B-90C9-40F6-9210-C25534B14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88" y="2779713"/>
            <a:ext cx="6335712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>
            <a:extLst>
              <a:ext uri="{FF2B5EF4-FFF2-40B4-BE49-F238E27FC236}">
                <a16:creationId xmlns:a16="http://schemas.microsoft.com/office/drawing/2014/main" id="{7A874A74-A573-4892-841A-AE760C389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775" y="188913"/>
            <a:ext cx="6307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Fraction to percent</a:t>
            </a: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87EDCE62-AB98-456B-85D2-2C01A5D97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557213"/>
            <a:ext cx="3824288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3">
            <a:extLst>
              <a:ext uri="{FF2B5EF4-FFF2-40B4-BE49-F238E27FC236}">
                <a16:creationId xmlns:a16="http://schemas.microsoft.com/office/drawing/2014/main" id="{A324E5D6-3AD9-4F8A-8FAA-1665954C4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2641601"/>
            <a:ext cx="6038850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Box 4">
            <a:extLst>
              <a:ext uri="{FF2B5EF4-FFF2-40B4-BE49-F238E27FC236}">
                <a16:creationId xmlns:a16="http://schemas.microsoft.com/office/drawing/2014/main" id="{3768E08B-A425-43A1-BF60-1CCEEA724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7" y="2201864"/>
            <a:ext cx="6307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Percent to fraction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>
            <a:extLst>
              <a:ext uri="{FF2B5EF4-FFF2-40B4-BE49-F238E27FC236}">
                <a16:creationId xmlns:a16="http://schemas.microsoft.com/office/drawing/2014/main" id="{24CEDD42-098F-45E8-B511-29DD538D9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88913"/>
            <a:ext cx="6146800" cy="393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2">
            <a:extLst>
              <a:ext uri="{FF2B5EF4-FFF2-40B4-BE49-F238E27FC236}">
                <a16:creationId xmlns:a16="http://schemas.microsoft.com/office/drawing/2014/main" id="{98FFED3D-3CF2-479B-BB77-E92C1FBD6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1" y="4365625"/>
            <a:ext cx="2030413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3">
            <a:extLst>
              <a:ext uri="{FF2B5EF4-FFF2-40B4-BE49-F238E27FC236}">
                <a16:creationId xmlns:a16="http://schemas.microsoft.com/office/drawing/2014/main" id="{353CDC6D-147D-424A-BA2B-F35087AB5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4" y="4986338"/>
            <a:ext cx="20478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166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Comic Sans MS</vt:lpstr>
      <vt:lpstr>Office Theme</vt:lpstr>
      <vt:lpstr>MathType 4.0 Equation</vt:lpstr>
      <vt:lpstr>MathType 5.0 Equation</vt:lpstr>
      <vt:lpstr> Topic: Percentages</vt:lpstr>
      <vt:lpstr>Mental Arithmetic Divide and multiply the following by 10.  </vt:lpstr>
      <vt:lpstr>Answers  Mark your work</vt:lpstr>
      <vt:lpstr>Fractions, Percentages and Decimals </vt:lpstr>
      <vt:lpstr>PowerPoint Presentation</vt:lpstr>
      <vt:lpstr>         Equivalent fractions     </vt:lpstr>
      <vt:lpstr> Write down Three equivalent fractions of </vt:lpstr>
      <vt:lpstr> Find 10 % of a quantity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Answers to the matching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Topic: Percentages</dc:title>
  <dc:creator>JAMES Sarah [Baldivis Secondary College]</dc:creator>
  <cp:lastModifiedBy>JAMES Sarah [Baldivis Secondary College]</cp:lastModifiedBy>
  <cp:revision>1</cp:revision>
  <dcterms:created xsi:type="dcterms:W3CDTF">2018-07-29T12:03:20Z</dcterms:created>
  <dcterms:modified xsi:type="dcterms:W3CDTF">2018-07-29T12:04:08Z</dcterms:modified>
</cp:coreProperties>
</file>
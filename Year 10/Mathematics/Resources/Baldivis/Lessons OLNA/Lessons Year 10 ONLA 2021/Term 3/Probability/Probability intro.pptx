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338" r:id="rId4"/>
    <p:sldId id="346" r:id="rId5"/>
    <p:sldId id="317" r:id="rId6"/>
    <p:sldId id="341" r:id="rId7"/>
    <p:sldId id="342" r:id="rId8"/>
    <p:sldId id="334" r:id="rId9"/>
    <p:sldId id="344" r:id="rId10"/>
    <p:sldId id="345" r:id="rId11"/>
    <p:sldId id="323" r:id="rId12"/>
    <p:sldId id="324" r:id="rId13"/>
    <p:sldId id="330" r:id="rId14"/>
    <p:sldId id="355" r:id="rId15"/>
    <p:sldId id="358" r:id="rId16"/>
    <p:sldId id="356" r:id="rId17"/>
    <p:sldId id="1001" r:id="rId18"/>
    <p:sldId id="9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73EB-47B0-44F3-B010-B04789C77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7EDA7-99F8-4FC9-9E95-63EA0735E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28E98-9D45-43D8-A366-0DED2A3D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D28E-743F-4C42-9769-3BE649B1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AA415-6246-466E-8CC4-1A37B1D4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25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452D-D925-43F7-9DF0-98B6C757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B32C-8696-4BA9-BD64-B18BFC0A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AF80-20D2-4D74-99C6-C942AE19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BB5B-B266-4012-A273-BBB0A79D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65A8-CA67-4862-9B08-8AE78553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95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2BE5-A87A-4B66-ABFE-741F9A8B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12C5-88B0-4AC9-96B0-5A7A19101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26610-5FB2-4367-A9FF-278530ED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0C7-CE11-43E8-81E6-C1664182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0AF0-6669-4E1C-B311-AE999768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00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1AC6-A805-4879-82E1-3FA880E5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CAF26-4495-46C4-A07A-5B3DBAD2D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D3E33-A6F9-4774-B3B7-39490E5A2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A7479-F5A9-4410-88BB-DE50F984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3D017-7F88-43D2-88A7-7BF6BFA0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1249C-CDC3-4643-BDB0-D62AA8A8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916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25B-B338-4B9F-A10D-DA069594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A1010-B5E1-4FD4-A481-2164544BE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16F21-4EA0-4EEA-AD6A-B93B28E19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1E1B8-517A-404C-A559-BEF785C8F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AC7C5-4161-486F-839A-371FA98F0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708FE-EF0A-400A-9568-2841CDC4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115D6-7925-43BC-AFDB-B6BF5F36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1AD95-68DE-4D0D-8E4D-7D81F7DA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5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6192-1865-44F0-AECD-A937B6D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F56D9-77D9-4E90-BAF9-4809F773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76C67-7008-458E-A11A-D46878A8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6F6BB-249C-48CA-BB8A-D1EBA77E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47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EA19-E131-4C17-B1A8-1CD6EA74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C8A1F-5C5B-4BD4-8787-C5176BA3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82759-2CF7-45DF-9F13-8ACA1AA5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AF14-7569-42BA-A9C8-FED241AB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33E9-B773-47DC-8298-012E511CF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F4095-016F-484F-820C-C787EED3E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52DC4-31DF-4275-A60A-45AABD29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8C788-8F3C-46A6-9903-CF056A24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C70E7-6043-48A8-B5E9-0C000289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95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07AE-1B31-46DB-9C16-290FA9BF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37F89-A0A1-4529-AD73-DB42D3F70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6979A-3B61-427A-B4C7-270A6A5B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AB97B-1871-441B-9D52-6936FE33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F426B-76FE-410C-96E9-1478A2CF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46CE2-290C-4207-9201-11D85387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66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0A2C-14D0-41F3-BE01-053EA935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5BDA7-AFC8-43B1-BF57-EB9B75993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1489-DE3A-47CF-9082-CCEB7F80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9859-C10A-46D2-9E72-11E02C8D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D2CD-4DFB-4116-890B-C7C069C3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28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72919-E5F4-47D5-A568-9D0674A5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B60A6-CD0D-4389-B97B-8C06D669D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0DF29-11EB-4B75-AC1A-0CFF4841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0698-9C7A-4BB7-B534-369532DC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0CA7D-FAE9-4E40-8A83-AC050FA7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216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0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6B92C-D647-4482-A154-790DB37B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8A8C4-887D-4933-9C7A-3ABFD7CC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D74AC-ED8F-4D81-8018-513505BBE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94EF2-24B2-45E9-93D1-211953CC7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0053-AC17-4228-ACD5-00C41ACE1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365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732FD5-A90D-4BD6-A237-D073108F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55" y="1316256"/>
            <a:ext cx="8529043" cy="5541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4135C-A1A5-4F93-AEE1-CE9C50D8612A}"/>
              </a:ext>
            </a:extLst>
          </p:cNvPr>
          <p:cNvSpPr txBox="1"/>
          <p:nvPr/>
        </p:nvSpPr>
        <p:spPr>
          <a:xfrm>
            <a:off x="3221502" y="393895"/>
            <a:ext cx="8848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Topic: Probability</a:t>
            </a:r>
          </a:p>
          <a:p>
            <a:r>
              <a:rPr lang="en-GB" sz="2400" dirty="0"/>
              <a:t>EQ:  How do we find the probability of events?</a:t>
            </a:r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B7071-B129-4942-A8C8-1A358D75223C}"/>
              </a:ext>
            </a:extLst>
          </p:cNvPr>
          <p:cNvSpPr txBox="1"/>
          <p:nvPr/>
        </p:nvSpPr>
        <p:spPr>
          <a:xfrm>
            <a:off x="6096000" y="1913206"/>
            <a:ext cx="505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Start: Do times tables grid!</a:t>
            </a:r>
          </a:p>
        </p:txBody>
      </p:sp>
    </p:spTree>
    <p:extLst>
      <p:ext uri="{BB962C8B-B14F-4D97-AF65-F5344CB8AC3E}">
        <p14:creationId xmlns:p14="http://schemas.microsoft.com/office/powerpoint/2010/main" val="138393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071" y="58229"/>
            <a:ext cx="8229600" cy="1143000"/>
          </a:xfrm>
        </p:spPr>
        <p:txBody>
          <a:bodyPr/>
          <a:lstStyle/>
          <a:p>
            <a:r>
              <a:rPr lang="en-AU" dirty="0">
                <a:highlight>
                  <a:srgbClr val="FF00FF"/>
                </a:highlight>
              </a:rPr>
              <a:t>Warm Up - BINGO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83" y="980729"/>
            <a:ext cx="11198087" cy="5145435"/>
          </a:xfrm>
        </p:spPr>
        <p:txBody>
          <a:bodyPr>
            <a:normAutofit/>
          </a:bodyPr>
          <a:lstStyle/>
          <a:p>
            <a:endParaRPr lang="en-AU" sz="2400" dirty="0">
              <a:highlight>
                <a:srgbClr val="FFFF00"/>
              </a:highlight>
            </a:endParaRPr>
          </a:p>
          <a:p>
            <a:r>
              <a:rPr lang="en-AU" sz="2400" dirty="0"/>
              <a:t>Do a 3 x 3 grid </a:t>
            </a:r>
          </a:p>
          <a:p>
            <a:r>
              <a:rPr lang="en-AU" sz="2400" dirty="0"/>
              <a:t>Two dice will be rolled and values added – choose 9 numbers for your grid</a:t>
            </a:r>
          </a:p>
          <a:p>
            <a:r>
              <a:rPr lang="en-AU" sz="2400" dirty="0"/>
              <a:t>What is the lowest and the highest numbers possible? </a:t>
            </a:r>
          </a:p>
          <a:p>
            <a:r>
              <a:rPr lang="en-AU" sz="2400" dirty="0">
                <a:highlight>
                  <a:srgbClr val="00FF00"/>
                </a:highlight>
              </a:rPr>
              <a:t>You can have multiple of one number, you can only cross one off each time it is rolled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36516-2CA1-4451-A989-110E3E372B0D}"/>
              </a:ext>
            </a:extLst>
          </p:cNvPr>
          <p:cNvSpPr txBox="1"/>
          <p:nvPr/>
        </p:nvSpPr>
        <p:spPr>
          <a:xfrm>
            <a:off x="2425149" y="4361507"/>
            <a:ext cx="766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Did it take lots of rolls for someone to win?</a:t>
            </a:r>
          </a:p>
          <a:p>
            <a:r>
              <a:rPr lang="en-GB" sz="2400" dirty="0"/>
              <a:t>Were there some numbers that rolled more than others?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3303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071" y="58229"/>
            <a:ext cx="8229600" cy="1143000"/>
          </a:xfrm>
        </p:spPr>
        <p:txBody>
          <a:bodyPr/>
          <a:lstStyle/>
          <a:p>
            <a:r>
              <a:rPr lang="en-AU" dirty="0"/>
              <a:t>BINGO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17" y="980729"/>
            <a:ext cx="10104783" cy="5145435"/>
          </a:xfrm>
        </p:spPr>
        <p:txBody>
          <a:bodyPr>
            <a:normAutofit/>
          </a:bodyPr>
          <a:lstStyle/>
          <a:p>
            <a:r>
              <a:rPr lang="en-AU" sz="2400" dirty="0">
                <a:highlight>
                  <a:srgbClr val="FFFF00"/>
                </a:highlight>
              </a:rPr>
              <a:t>This is the outcome table for the experiment</a:t>
            </a:r>
          </a:p>
          <a:p>
            <a:r>
              <a:rPr lang="en-AU" sz="2400" dirty="0">
                <a:highlight>
                  <a:srgbClr val="FFFF00"/>
                </a:highlight>
              </a:rPr>
              <a:t>What numbers have a higher probability of being rolled?</a:t>
            </a:r>
          </a:p>
          <a:p>
            <a:r>
              <a:rPr lang="en-AU" sz="2400" dirty="0">
                <a:highlight>
                  <a:srgbClr val="FFFF00"/>
                </a:highlight>
              </a:rPr>
              <a:t>Let’s play another game – does this table change what numbers  you choose?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7337"/>
              </p:ext>
            </p:extLst>
          </p:nvPr>
        </p:nvGraphicFramePr>
        <p:xfrm>
          <a:off x="3000607" y="2678062"/>
          <a:ext cx="607233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4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7</a:t>
                      </a: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78069" y="226981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Dice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528" y="4261739"/>
            <a:ext cx="1033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Dice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2344" y="4446405"/>
            <a:ext cx="1254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36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3256482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DC5963-9E1C-4B0C-95A0-D3906112289D}"/>
              </a:ext>
            </a:extLst>
          </p:cNvPr>
          <p:cNvSpPr txBox="1"/>
          <p:nvPr/>
        </p:nvSpPr>
        <p:spPr>
          <a:xfrm>
            <a:off x="1752600" y="457200"/>
            <a:ext cx="8305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Topic: Probability</a:t>
            </a:r>
          </a:p>
          <a:p>
            <a:r>
              <a:rPr lang="en-GB" sz="3200" dirty="0"/>
              <a:t>EQ: How do we find probabilities of events?</a:t>
            </a:r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9C039F-4915-4524-8368-66ECC3FBB6BF}"/>
                  </a:ext>
                </a:extLst>
              </p:cNvPr>
              <p:cNvSpPr txBox="1"/>
              <p:nvPr/>
            </p:nvSpPr>
            <p:spPr>
              <a:xfrm>
                <a:off x="1745226" y="1676400"/>
                <a:ext cx="7315200" cy="4117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400" dirty="0"/>
              </a:p>
              <a:p>
                <a:r>
                  <a:rPr lang="en-GB" sz="2400" dirty="0"/>
                  <a:t>Write the following as decimals:</a:t>
                </a:r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30%          85%           22.5%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If you toss a 6 sided dice:</a:t>
                </a:r>
              </a:p>
              <a:p>
                <a:r>
                  <a:rPr lang="en-GB" sz="2400" dirty="0"/>
                  <a:t>	List the possible outcomes:</a:t>
                </a:r>
              </a:p>
              <a:p>
                <a:r>
                  <a:rPr lang="en-GB" sz="2400" dirty="0"/>
                  <a:t>	How many of the outcomes are:   </a:t>
                </a:r>
              </a:p>
              <a:p>
                <a:r>
                  <a:rPr lang="en-GB" sz="2400" dirty="0"/>
                  <a:t>			- even?     </a:t>
                </a:r>
              </a:p>
              <a:p>
                <a:r>
                  <a:rPr lang="en-GB" sz="2400" dirty="0"/>
                  <a:t>			- less than 3?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9C039F-4915-4524-8368-66ECC3FBB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226" y="1676400"/>
                <a:ext cx="7315200" cy="4117666"/>
              </a:xfrm>
              <a:prstGeom prst="rect">
                <a:avLst/>
              </a:prstGeom>
              <a:blipFill>
                <a:blip r:embed="rId2"/>
                <a:stretch>
                  <a:fillRect l="-1250" b="-25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16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152400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6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Probability</a:t>
            </a:r>
          </a:p>
          <a:p>
            <a:pPr algn="ctr">
              <a:defRPr/>
            </a:pPr>
            <a:r>
              <a:rPr lang="en-US" sz="6000" dirty="0">
                <a:latin typeface="Happy Sans" pitchFamily="2" charset="0"/>
              </a:rPr>
              <a:t>Tells the chance that something will happen.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21252690">
            <a:off x="2041062" y="645341"/>
            <a:ext cx="690063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We use the words probability and chance to mean the same thing.</a:t>
            </a:r>
          </a:p>
          <a:p>
            <a:endParaRPr lang="en-AU" sz="3200" dirty="0"/>
          </a:p>
          <a:p>
            <a:r>
              <a:rPr lang="en-AU" sz="3200" dirty="0"/>
              <a:t>We hear and make statements that involve probability all the time.</a:t>
            </a:r>
          </a:p>
          <a:p>
            <a:endParaRPr lang="en-AU" sz="3200" dirty="0"/>
          </a:p>
          <a:p>
            <a:r>
              <a:rPr lang="en-AU" sz="3200" dirty="0">
                <a:highlight>
                  <a:srgbClr val="FFFF00"/>
                </a:highlight>
              </a:rPr>
              <a:t>What are some of the words we use?</a:t>
            </a:r>
          </a:p>
        </p:txBody>
      </p:sp>
    </p:spTree>
    <p:extLst>
      <p:ext uri="{BB962C8B-B14F-4D97-AF65-F5344CB8AC3E}">
        <p14:creationId xmlns:p14="http://schemas.microsoft.com/office/powerpoint/2010/main" val="3746706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" b="11420"/>
          <a:stretch/>
        </p:blipFill>
        <p:spPr>
          <a:xfrm>
            <a:off x="2514600" y="0"/>
            <a:ext cx="7391400" cy="66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9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1524000"/>
            <a:ext cx="6705600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7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lang="en-US" sz="5400" dirty="0">
              <a:latin typeface="Happy Sans" panose="02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000"/>
              </a:lnSpc>
            </a:pPr>
            <a:endParaRPr lang="en-US" sz="5400" dirty="0">
              <a:latin typeface="Happy Sans" panose="020005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5000"/>
              </a:lnSpc>
            </a:pPr>
            <a:r>
              <a:rPr lang="en-US" sz="5400" dirty="0">
                <a:latin typeface="Happy Sans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Possible results of a probability experiment </a:t>
            </a:r>
            <a:endParaRPr lang="en-US" sz="2800" dirty="0">
              <a:latin typeface="Happy Sans" panose="02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4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1371601"/>
            <a:ext cx="7620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b="1" u="sng" dirty="0"/>
              <a:t>Sample Space</a:t>
            </a:r>
          </a:p>
          <a:p>
            <a:r>
              <a:rPr lang="en-AU" sz="3600" dirty="0"/>
              <a:t>A Sample Space is a complete list of all possible outcomes.</a:t>
            </a:r>
          </a:p>
          <a:p>
            <a:r>
              <a:rPr lang="en-AU" sz="3600" dirty="0"/>
              <a:t> </a:t>
            </a:r>
          </a:p>
          <a:p>
            <a:r>
              <a:rPr lang="en-AU" sz="2800" dirty="0"/>
              <a:t>For example: Tossing a coin:</a:t>
            </a:r>
            <a:br>
              <a:rPr lang="en-AU" sz="2800" dirty="0"/>
            </a:br>
            <a:r>
              <a:rPr lang="en-AU" sz="2800" dirty="0"/>
              <a:t>There are two possibilities: head or Tail. The Sample Space is: S = {H, T} </a:t>
            </a:r>
          </a:p>
          <a:p>
            <a:endParaRPr lang="en-AU" sz="3600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494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1278281">
            <a:off x="2942140" y="1507701"/>
            <a:ext cx="481564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400" baseline="30000" dirty="0"/>
              <a:t>The Sample Space for spinning the spinner.</a:t>
            </a:r>
          </a:p>
          <a:p>
            <a:r>
              <a:rPr lang="en-AU" sz="4400" baseline="30000" dirty="0"/>
              <a:t>S = {Green, Blue, Red, Yellow}</a:t>
            </a:r>
          </a:p>
          <a:p>
            <a:r>
              <a:rPr lang="en-AU" sz="2800" dirty="0"/>
              <a:t>The Sample Space for throwing a die. </a:t>
            </a:r>
          </a:p>
          <a:p>
            <a:r>
              <a:rPr lang="en-AU" sz="2800" dirty="0"/>
              <a:t>S = {1,2,3,4,5,6}</a:t>
            </a:r>
          </a:p>
          <a:p>
            <a:r>
              <a:rPr lang="en-AU" sz="2800" dirty="0"/>
              <a:t>The Sample Space for tossing a coin. </a:t>
            </a:r>
          </a:p>
          <a:p>
            <a:r>
              <a:rPr lang="en-AU" sz="2800" dirty="0"/>
              <a:t>S = {H,T}</a:t>
            </a:r>
          </a:p>
        </p:txBody>
      </p:sp>
      <p:pic>
        <p:nvPicPr>
          <p:cNvPr id="3" name="Picture 2" descr="Screen Shot 2016-02-02 at 8.11.48 pm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CBEBFB"/>
              </a:clrFrom>
              <a:clrTo>
                <a:srgbClr val="CBE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43151">
            <a:off x="7330522" y="956922"/>
            <a:ext cx="1574800" cy="1262812"/>
          </a:xfrm>
          <a:prstGeom prst="rect">
            <a:avLst/>
          </a:prstGeom>
        </p:spPr>
      </p:pic>
      <p:pic>
        <p:nvPicPr>
          <p:cNvPr id="4" name="Picture 3" descr="Screen Shot 2016-02-02 at 8.17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667000"/>
            <a:ext cx="1206500" cy="1143000"/>
          </a:xfrm>
          <a:prstGeom prst="rect">
            <a:avLst/>
          </a:prstGeom>
        </p:spPr>
      </p:pic>
      <p:pic>
        <p:nvPicPr>
          <p:cNvPr id="6" name="Picture 5" descr="Screen Shot 2016-02-02 at 8.21.47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267200"/>
            <a:ext cx="9906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6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1800" y="838200"/>
            <a:ext cx="6248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Event</a:t>
            </a:r>
          </a:p>
          <a:p>
            <a:pPr algn="ctr">
              <a:defRPr/>
            </a:pPr>
            <a:r>
              <a:rPr lang="en-US" sz="6000" dirty="0">
                <a:latin typeface="Happy Sans" pitchFamily="2" charset="0"/>
              </a:rPr>
              <a:t>Collection of outcomes from an experiment</a:t>
            </a:r>
            <a:endParaRPr lang="en-US" sz="8000" dirty="0">
              <a:latin typeface="Happy Sans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24200" y="1143001"/>
            <a:ext cx="60960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800"/>
              </a:lnSpc>
              <a:defRPr/>
            </a:pPr>
            <a:r>
              <a:rPr lang="en-US" sz="6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itchFamily="2" charset="0"/>
              </a:rPr>
              <a:t>Predictions</a:t>
            </a:r>
          </a:p>
          <a:p>
            <a:pPr algn="ctr">
              <a:lnSpc>
                <a:spcPts val="6800"/>
              </a:lnSpc>
              <a:defRPr/>
            </a:pPr>
            <a:r>
              <a:rPr lang="en-US" sz="5400" dirty="0">
                <a:latin typeface="Happy Sans" pitchFamily="2" charset="0"/>
              </a:rPr>
              <a:t>When you use the probability of an event to make an educated guess</a:t>
            </a:r>
            <a:r>
              <a:rPr lang="en-US" sz="6600" dirty="0">
                <a:latin typeface="Happy Sans" pitchFamily="2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100042"/>
            <a:ext cx="677102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Theoretical Probability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</a:t>
            </a:r>
          </a:p>
          <a:p>
            <a:pPr algn="ctr"/>
            <a:r>
              <a:rPr lang="en-US" sz="4000" dirty="0"/>
              <a:t>The probability of an event</a:t>
            </a:r>
            <a:br>
              <a:rPr lang="en-US" sz="4000" dirty="0"/>
            </a:br>
            <a:r>
              <a:rPr lang="en-US" sz="4000" dirty="0"/>
              <a:t>is the number of favorable outcomes divided by the number of possible outcomes. </a:t>
            </a:r>
          </a:p>
          <a:p>
            <a:pPr algn="ctr"/>
            <a:endParaRPr lang="en-US" sz="2400" dirty="0"/>
          </a:p>
          <a:p>
            <a:pPr algn="ctr"/>
            <a:endParaRPr lang="en-US" sz="2400" dirty="0">
              <a:latin typeface="Happy Sans" panose="02000500000000000000" pitchFamily="2" charset="0"/>
            </a:endParaRPr>
          </a:p>
        </p:txBody>
      </p:sp>
      <p:pic>
        <p:nvPicPr>
          <p:cNvPr id="3" name="Picture 2" descr="Screen Shot 2016-02-02 at 8.33.2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15814">
            <a:off x="1566930" y="3922445"/>
            <a:ext cx="8800896" cy="140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3FFFAB-FA10-4A53-8AF1-E5A46FB19A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28" r="2014"/>
          <a:stretch/>
        </p:blipFill>
        <p:spPr>
          <a:xfrm>
            <a:off x="1524001" y="1905000"/>
            <a:ext cx="9144000" cy="3536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3DC3BA-1D54-4052-AC57-FCB247E3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4893">
            <a:off x="1708487" y="-105592"/>
            <a:ext cx="8888738" cy="21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53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199" y="100042"/>
            <a:ext cx="8183217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Experimental Probability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ppy Sans" panose="02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—</a:t>
            </a:r>
          </a:p>
          <a:p>
            <a:pPr algn="ctr"/>
            <a:r>
              <a:rPr lang="en-US" sz="4000" dirty="0"/>
              <a:t>The probability of an event</a:t>
            </a:r>
            <a:br>
              <a:rPr lang="en-US" sz="4000" dirty="0"/>
            </a:br>
            <a:r>
              <a:rPr lang="en-US" sz="4000" dirty="0"/>
              <a:t>is the number of times an event occurs divided by the total number of trials. </a:t>
            </a:r>
          </a:p>
          <a:p>
            <a:pPr algn="ctr"/>
            <a:endParaRPr lang="en-US" sz="2400" dirty="0"/>
          </a:p>
          <a:p>
            <a:pPr algn="ctr"/>
            <a:endParaRPr lang="en-US" sz="2400" dirty="0">
              <a:latin typeface="Happy Sans" panose="02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2EFA1-F6BF-4BD3-8997-84C05D6D60A7}"/>
                  </a:ext>
                </a:extLst>
              </p:cNvPr>
              <p:cNvSpPr txBox="1"/>
              <p:nvPr/>
            </p:nvSpPr>
            <p:spPr>
              <a:xfrm>
                <a:off x="2305878" y="4008804"/>
                <a:ext cx="8335618" cy="767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Experimental 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72EFA1-F6BF-4BD3-8997-84C05D6D6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878" y="4008804"/>
                <a:ext cx="8335618" cy="767711"/>
              </a:xfrm>
              <a:prstGeom prst="rect">
                <a:avLst/>
              </a:prstGeom>
              <a:blipFill>
                <a:blip r:embed="rId2"/>
                <a:stretch>
                  <a:fillRect l="-10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7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456595-4692-489A-BC66-A001AB8AF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9144000" cy="328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7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C56C07C-8D85-4ED2-ABBC-427D1F54F8F5}"/>
              </a:ext>
            </a:extLst>
          </p:cNvPr>
          <p:cNvGrpSpPr/>
          <p:nvPr/>
        </p:nvGrpSpPr>
        <p:grpSpPr>
          <a:xfrm>
            <a:off x="1350748" y="135718"/>
            <a:ext cx="2078252" cy="1345136"/>
            <a:chOff x="522708" y="542118"/>
            <a:chExt cx="2631530" cy="170324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A83CFBA-E712-49DC-B6F0-8A5FC9CC8E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448" t="25471" r="12123" b="27141"/>
            <a:stretch/>
          </p:blipFill>
          <p:spPr>
            <a:xfrm>
              <a:off x="1749184" y="1178560"/>
              <a:ext cx="1405054" cy="1066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E5F98C8-6440-41EB-A703-DD6C209EA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708" y="542118"/>
              <a:ext cx="1342593" cy="1378122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35C16F-A057-42FB-9B3E-72BBECFE836A}"/>
              </a:ext>
            </a:extLst>
          </p:cNvPr>
          <p:cNvSpPr txBox="1"/>
          <p:nvPr/>
        </p:nvSpPr>
        <p:spPr>
          <a:xfrm>
            <a:off x="2457605" y="108515"/>
            <a:ext cx="7276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Ash flips a coin 100 times to test the probability of landing on tails.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33858-2E5C-4E7F-A6B4-AFF467E153AC}"/>
              </a:ext>
            </a:extLst>
          </p:cNvPr>
          <p:cNvSpPr txBox="1"/>
          <p:nvPr/>
        </p:nvSpPr>
        <p:spPr>
          <a:xfrm>
            <a:off x="1496655" y="1935213"/>
            <a:ext cx="291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Theoretical Probability </a:t>
            </a:r>
            <a:r>
              <a:rPr lang="en-GB" sz="2000" dirty="0"/>
              <a:t>= </a:t>
            </a:r>
            <a:endParaRPr lang="en-GB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9FB3B-0D79-4A36-8C00-56AFDD8A95FA}"/>
              </a:ext>
            </a:extLst>
          </p:cNvPr>
          <p:cNvSpPr txBox="1"/>
          <p:nvPr/>
        </p:nvSpPr>
        <p:spPr>
          <a:xfrm>
            <a:off x="4394587" y="1923747"/>
            <a:ext cx="513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4C9BC-0FEA-4CC7-9D68-6901B833FC8D}"/>
                  </a:ext>
                </a:extLst>
              </p:cNvPr>
              <p:cNvSpPr txBox="1"/>
              <p:nvPr/>
            </p:nvSpPr>
            <p:spPr>
              <a:xfrm>
                <a:off x="5098499" y="1789544"/>
                <a:ext cx="385041" cy="668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4C9BC-0FEA-4CC7-9D68-6901B833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99" y="1789544"/>
                <a:ext cx="385041" cy="6685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FB08C33-28F1-4F96-AB5B-31B42261D703}"/>
              </a:ext>
            </a:extLst>
          </p:cNvPr>
          <p:cNvSpPr txBox="1"/>
          <p:nvPr/>
        </p:nvSpPr>
        <p:spPr>
          <a:xfrm>
            <a:off x="5668642" y="1923747"/>
            <a:ext cx="627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69ABC-FA0D-46CE-8107-61E9B40379BA}"/>
              </a:ext>
            </a:extLst>
          </p:cNvPr>
          <p:cNvSpPr txBox="1"/>
          <p:nvPr/>
        </p:nvSpPr>
        <p:spPr>
          <a:xfrm>
            <a:off x="1531921" y="3711650"/>
            <a:ext cx="3062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Experimental Probability </a:t>
            </a:r>
            <a:r>
              <a:rPr lang="en-GB" sz="2000" dirty="0"/>
              <a:t>=</a:t>
            </a:r>
            <a:r>
              <a:rPr lang="en-GB" sz="2000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B5E54-6E3B-4627-ADAA-15BA932E46F9}"/>
              </a:ext>
            </a:extLst>
          </p:cNvPr>
          <p:cNvSpPr txBox="1"/>
          <p:nvPr/>
        </p:nvSpPr>
        <p:spPr>
          <a:xfrm>
            <a:off x="4633727" y="3501612"/>
            <a:ext cx="34808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number of successful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EBD14-35D7-4FB2-908A-474E0A56D65B}"/>
              </a:ext>
            </a:extLst>
          </p:cNvPr>
          <p:cNvSpPr txBox="1"/>
          <p:nvPr/>
        </p:nvSpPr>
        <p:spPr>
          <a:xfrm>
            <a:off x="5444236" y="3968972"/>
            <a:ext cx="1859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number of trials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FB5135-BBC2-43E0-8C23-34F8ABA7382F}"/>
              </a:ext>
            </a:extLst>
          </p:cNvPr>
          <p:cNvSpPr txBox="1"/>
          <p:nvPr/>
        </p:nvSpPr>
        <p:spPr>
          <a:xfrm>
            <a:off x="8330958" y="37556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C4A8EA-E0B7-4943-959A-3C938037861A}"/>
              </a:ext>
            </a:extLst>
          </p:cNvPr>
          <p:cNvCxnSpPr>
            <a:cxnSpLocks/>
          </p:cNvCxnSpPr>
          <p:nvPr/>
        </p:nvCxnSpPr>
        <p:spPr>
          <a:xfrm>
            <a:off x="4747553" y="3957809"/>
            <a:ext cx="324231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8E9FF7-7487-4E47-A940-DA0079CA098D}"/>
              </a:ext>
            </a:extLst>
          </p:cNvPr>
          <p:cNvSpPr txBox="1"/>
          <p:nvPr/>
        </p:nvSpPr>
        <p:spPr>
          <a:xfrm>
            <a:off x="8772070" y="3501612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6144FC-41E7-4292-BA19-F0ABF8CFF0D8}"/>
              </a:ext>
            </a:extLst>
          </p:cNvPr>
          <p:cNvSpPr txBox="1"/>
          <p:nvPr/>
        </p:nvSpPr>
        <p:spPr>
          <a:xfrm>
            <a:off x="8707148" y="3968972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57205F-F1A6-4830-A056-FA3CED707CC6}"/>
              </a:ext>
            </a:extLst>
          </p:cNvPr>
          <p:cNvCxnSpPr>
            <a:cxnSpLocks/>
          </p:cNvCxnSpPr>
          <p:nvPr/>
        </p:nvCxnSpPr>
        <p:spPr>
          <a:xfrm>
            <a:off x="8760851" y="3957809"/>
            <a:ext cx="49276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4452349B-60B1-4C2D-9AE9-417B5D97CD6B}"/>
              </a:ext>
            </a:extLst>
          </p:cNvPr>
          <p:cNvGraphicFramePr>
            <a:graphicFrameLocks noGrp="1"/>
          </p:cNvGraphicFramePr>
          <p:nvPr/>
        </p:nvGraphicFramePr>
        <p:xfrm>
          <a:off x="4274314" y="662803"/>
          <a:ext cx="3673252" cy="842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626">
                  <a:extLst>
                    <a:ext uri="{9D8B030D-6E8A-4147-A177-3AD203B41FA5}">
                      <a16:colId xmlns:a16="http://schemas.microsoft.com/office/drawing/2014/main" val="4083817809"/>
                    </a:ext>
                  </a:extLst>
                </a:gridCol>
                <a:gridCol w="1836626">
                  <a:extLst>
                    <a:ext uri="{9D8B030D-6E8A-4147-A177-3AD203B41FA5}">
                      <a16:colId xmlns:a16="http://schemas.microsoft.com/office/drawing/2014/main" val="2581564824"/>
                    </a:ext>
                  </a:extLst>
                </a:gridCol>
              </a:tblGrid>
              <a:tr h="421253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Number of Flips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Number of Tails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74451"/>
                  </a:ext>
                </a:extLst>
              </a:tr>
              <a:tr h="421253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0976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D23B83B-9F9C-4502-AF3B-9FF317D9E60E}"/>
              </a:ext>
            </a:extLst>
          </p:cNvPr>
          <p:cNvSpPr txBox="1"/>
          <p:nvPr/>
        </p:nvSpPr>
        <p:spPr>
          <a:xfrm>
            <a:off x="9456374" y="37556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754CBB-51A4-4E5F-9EE7-C59656BB047F}"/>
              </a:ext>
            </a:extLst>
          </p:cNvPr>
          <p:cNvSpPr txBox="1"/>
          <p:nvPr/>
        </p:nvSpPr>
        <p:spPr>
          <a:xfrm>
            <a:off x="9786039" y="375561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E08447-6EA0-4946-B5FF-BAE66C12727D}"/>
              </a:ext>
            </a:extLst>
          </p:cNvPr>
          <p:cNvSpPr txBox="1"/>
          <p:nvPr/>
        </p:nvSpPr>
        <p:spPr>
          <a:xfrm>
            <a:off x="1496654" y="5638728"/>
            <a:ext cx="252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Relative Frequency </a:t>
            </a:r>
            <a:r>
              <a:rPr lang="en-GB" sz="2000" dirty="0"/>
              <a:t>= </a:t>
            </a:r>
            <a:endParaRPr lang="en-GB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0DECDA-79C5-4500-9E58-8E38526B7B03}"/>
              </a:ext>
            </a:extLst>
          </p:cNvPr>
          <p:cNvSpPr txBox="1"/>
          <p:nvPr/>
        </p:nvSpPr>
        <p:spPr>
          <a:xfrm>
            <a:off x="3982515" y="5428689"/>
            <a:ext cx="4044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number of times the outcome occurs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36939C-1DA9-4D49-8A6B-D65A9AC63940}"/>
              </a:ext>
            </a:extLst>
          </p:cNvPr>
          <p:cNvSpPr txBox="1"/>
          <p:nvPr/>
        </p:nvSpPr>
        <p:spPr>
          <a:xfrm>
            <a:off x="4803667" y="5896049"/>
            <a:ext cx="2402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total number of trials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80D84C-8E40-4E51-8D31-1725685DDBA5}"/>
              </a:ext>
            </a:extLst>
          </p:cNvPr>
          <p:cNvSpPr txBox="1"/>
          <p:nvPr/>
        </p:nvSpPr>
        <p:spPr>
          <a:xfrm>
            <a:off x="7961681" y="56826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145052-7E55-494C-95A4-AD533ACC37DE}"/>
              </a:ext>
            </a:extLst>
          </p:cNvPr>
          <p:cNvCxnSpPr>
            <a:cxnSpLocks/>
          </p:cNvCxnSpPr>
          <p:nvPr/>
        </p:nvCxnSpPr>
        <p:spPr>
          <a:xfrm>
            <a:off x="4074746" y="5884886"/>
            <a:ext cx="3865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7CF8B9-081D-4F23-A946-CBA81736C301}"/>
              </a:ext>
            </a:extLst>
          </p:cNvPr>
          <p:cNvSpPr txBox="1"/>
          <p:nvPr/>
        </p:nvSpPr>
        <p:spPr>
          <a:xfrm>
            <a:off x="8402793" y="5428689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C262E-1319-4AE2-ADF2-026EFE5A94DC}"/>
              </a:ext>
            </a:extLst>
          </p:cNvPr>
          <p:cNvSpPr txBox="1"/>
          <p:nvPr/>
        </p:nvSpPr>
        <p:spPr>
          <a:xfrm>
            <a:off x="8337871" y="5896049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0DE2FF-C721-4A8D-8485-C9AD3A2897BC}"/>
              </a:ext>
            </a:extLst>
          </p:cNvPr>
          <p:cNvCxnSpPr>
            <a:cxnSpLocks/>
          </p:cNvCxnSpPr>
          <p:nvPr/>
        </p:nvCxnSpPr>
        <p:spPr>
          <a:xfrm>
            <a:off x="8391574" y="5884886"/>
            <a:ext cx="49276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D94F7AC-BACB-4937-99A0-02A7A718B447}"/>
              </a:ext>
            </a:extLst>
          </p:cNvPr>
          <p:cNvSpPr txBox="1"/>
          <p:nvPr/>
        </p:nvSpPr>
        <p:spPr>
          <a:xfrm>
            <a:off x="9087097" y="568268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EE0F56-7E78-44B1-8F0D-CE4748E13F3A}"/>
              </a:ext>
            </a:extLst>
          </p:cNvPr>
          <p:cNvSpPr txBox="1"/>
          <p:nvPr/>
        </p:nvSpPr>
        <p:spPr>
          <a:xfrm>
            <a:off x="9416762" y="56826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E48A04-E8F1-4BFD-9E46-96F1CD39AB47}"/>
              </a:ext>
            </a:extLst>
          </p:cNvPr>
          <p:cNvSpPr txBox="1"/>
          <p:nvPr/>
        </p:nvSpPr>
        <p:spPr>
          <a:xfrm>
            <a:off x="1290911" y="2994589"/>
            <a:ext cx="2310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An estimate of the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theoretical probability.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E03ED4-4CCE-4945-A3FC-6EF4BC9405C6}"/>
              </a:ext>
            </a:extLst>
          </p:cNvPr>
          <p:cNvSpPr txBox="1"/>
          <p:nvPr/>
        </p:nvSpPr>
        <p:spPr>
          <a:xfrm>
            <a:off x="6900021" y="1732014"/>
            <a:ext cx="2892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We know this because there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are equally likely outcomes.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9EFC7C-6E16-4D65-B98D-7F2DD1F4EA57}"/>
              </a:ext>
            </a:extLst>
          </p:cNvPr>
          <p:cNvSpPr txBox="1"/>
          <p:nvPr/>
        </p:nvSpPr>
        <p:spPr>
          <a:xfrm>
            <a:off x="1844216" y="4609395"/>
            <a:ext cx="1645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also known as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8B3934C-16D0-4D55-9A41-6C8A7EB398AD}"/>
              </a:ext>
            </a:extLst>
          </p:cNvPr>
          <p:cNvSpPr/>
          <p:nvPr/>
        </p:nvSpPr>
        <p:spPr>
          <a:xfrm rot="2493826" flipH="1">
            <a:off x="1662185" y="4352928"/>
            <a:ext cx="929585" cy="1061390"/>
          </a:xfrm>
          <a:custGeom>
            <a:avLst/>
            <a:gdLst>
              <a:gd name="connsiteX0" fmla="*/ 501162 w 501162"/>
              <a:gd name="connsiteY0" fmla="*/ 0 h 782515"/>
              <a:gd name="connsiteX1" fmla="*/ 501162 w 501162"/>
              <a:gd name="connsiteY1" fmla="*/ 0 h 782515"/>
              <a:gd name="connsiteX2" fmla="*/ 0 w 501162"/>
              <a:gd name="connsiteY2" fmla="*/ 782515 h 782515"/>
              <a:gd name="connsiteX0" fmla="*/ 501162 w 574822"/>
              <a:gd name="connsiteY0" fmla="*/ 0 h 782515"/>
              <a:gd name="connsiteX1" fmla="*/ 574822 w 574822"/>
              <a:gd name="connsiteY1" fmla="*/ 60960 h 782515"/>
              <a:gd name="connsiteX2" fmla="*/ 0 w 574822"/>
              <a:gd name="connsiteY2" fmla="*/ 782515 h 782515"/>
              <a:gd name="connsiteX0" fmla="*/ 501162 w 501162"/>
              <a:gd name="connsiteY0" fmla="*/ 0 h 782515"/>
              <a:gd name="connsiteX1" fmla="*/ 0 w 501162"/>
              <a:gd name="connsiteY1" fmla="*/ 782515 h 782515"/>
              <a:gd name="connsiteX0" fmla="*/ 501162 w 508562"/>
              <a:gd name="connsiteY0" fmla="*/ 0 h 782515"/>
              <a:gd name="connsiteX1" fmla="*/ 0 w 508562"/>
              <a:gd name="connsiteY1" fmla="*/ 782515 h 782515"/>
              <a:gd name="connsiteX0" fmla="*/ 501162 w 511797"/>
              <a:gd name="connsiteY0" fmla="*/ 0 h 782515"/>
              <a:gd name="connsiteX1" fmla="*/ 0 w 511797"/>
              <a:gd name="connsiteY1" fmla="*/ 782515 h 782515"/>
              <a:gd name="connsiteX0" fmla="*/ 422847 w 436769"/>
              <a:gd name="connsiteY0" fmla="*/ 0 h 1216479"/>
              <a:gd name="connsiteX1" fmla="*/ 0 w 436769"/>
              <a:gd name="connsiteY1" fmla="*/ 1216479 h 1216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6769" h="1216479">
                <a:moveTo>
                  <a:pt x="422847" y="0"/>
                </a:moveTo>
                <a:cubicBezTo>
                  <a:pt x="489473" y="743438"/>
                  <a:pt x="311834" y="1130901"/>
                  <a:pt x="0" y="1216479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46C81B-1DA8-4B69-A72E-CC744457911B}"/>
              </a:ext>
            </a:extLst>
          </p:cNvPr>
          <p:cNvSpPr txBox="1"/>
          <p:nvPr/>
        </p:nvSpPr>
        <p:spPr>
          <a:xfrm>
            <a:off x="1550864" y="5954618"/>
            <a:ext cx="121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‘compare’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393F03-51E1-4469-AB78-A196DA42AD55}"/>
              </a:ext>
            </a:extLst>
          </p:cNvPr>
          <p:cNvSpPr txBox="1"/>
          <p:nvPr/>
        </p:nvSpPr>
        <p:spPr>
          <a:xfrm>
            <a:off x="1496654" y="6480384"/>
            <a:ext cx="609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highlight>
                  <a:srgbClr val="FFFF00"/>
                </a:highlight>
              </a:rPr>
              <a:t>** relative frequency is written as a decimal or percentage</a:t>
            </a:r>
            <a:endParaRPr lang="en-AU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8390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5" grpId="0"/>
      <p:bldP spid="16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1" grpId="0"/>
      <p:bldP spid="32" grpId="0"/>
      <p:bldP spid="33" grpId="0"/>
      <p:bldP spid="35" grpId="0"/>
      <p:bldP spid="36" grpId="0"/>
      <p:bldP spid="37" grpId="0" animBg="1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B5FA46-BD2C-4557-AFAD-D71B7628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247" y="1849579"/>
            <a:ext cx="2260880" cy="20818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FF6EE2-78C6-4426-8204-18D28D9AEF87}"/>
              </a:ext>
            </a:extLst>
          </p:cNvPr>
          <p:cNvSpPr txBox="1"/>
          <p:nvPr/>
        </p:nvSpPr>
        <p:spPr>
          <a:xfrm>
            <a:off x="2330898" y="177533"/>
            <a:ext cx="727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Dave &amp; Mary run separate experiments to check if the spinner is fair.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113C0B08-CD2F-4381-9617-A1A6ACD11E6E}"/>
              </a:ext>
            </a:extLst>
          </p:cNvPr>
          <p:cNvGraphicFramePr>
            <a:graphicFrameLocks noGrp="1"/>
          </p:cNvGraphicFramePr>
          <p:nvPr/>
        </p:nvGraphicFramePr>
        <p:xfrm>
          <a:off x="5213231" y="921949"/>
          <a:ext cx="5166366" cy="1250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2">
                  <a:extLst>
                    <a:ext uri="{9D8B030D-6E8A-4147-A177-3AD203B41FA5}">
                      <a16:colId xmlns:a16="http://schemas.microsoft.com/office/drawing/2014/main" val="4083817809"/>
                    </a:ext>
                  </a:extLst>
                </a:gridCol>
                <a:gridCol w="1722122">
                  <a:extLst>
                    <a:ext uri="{9D8B030D-6E8A-4147-A177-3AD203B41FA5}">
                      <a16:colId xmlns:a16="http://schemas.microsoft.com/office/drawing/2014/main" val="2581564824"/>
                    </a:ext>
                  </a:extLst>
                </a:gridCol>
                <a:gridCol w="1722122">
                  <a:extLst>
                    <a:ext uri="{9D8B030D-6E8A-4147-A177-3AD203B41FA5}">
                      <a16:colId xmlns:a16="http://schemas.microsoft.com/office/drawing/2014/main" val="1233591837"/>
                    </a:ext>
                  </a:extLst>
                </a:gridCol>
              </a:tblGrid>
              <a:tr h="7468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Spins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5s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4s</a:t>
                      </a:r>
                    </a:p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Spins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74451"/>
                  </a:ext>
                </a:extLst>
              </a:tr>
              <a:tr h="50413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097627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393084A2-571B-44C5-BFF4-8C680814680F}"/>
              </a:ext>
            </a:extLst>
          </p:cNvPr>
          <p:cNvGraphicFramePr>
            <a:graphicFrameLocks noGrp="1"/>
          </p:cNvGraphicFramePr>
          <p:nvPr/>
        </p:nvGraphicFramePr>
        <p:xfrm>
          <a:off x="5213231" y="3096961"/>
          <a:ext cx="5166366" cy="1250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2">
                  <a:extLst>
                    <a:ext uri="{9D8B030D-6E8A-4147-A177-3AD203B41FA5}">
                      <a16:colId xmlns:a16="http://schemas.microsoft.com/office/drawing/2014/main" val="4083817809"/>
                    </a:ext>
                  </a:extLst>
                </a:gridCol>
                <a:gridCol w="1722122">
                  <a:extLst>
                    <a:ext uri="{9D8B030D-6E8A-4147-A177-3AD203B41FA5}">
                      <a16:colId xmlns:a16="http://schemas.microsoft.com/office/drawing/2014/main" val="2581564824"/>
                    </a:ext>
                  </a:extLst>
                </a:gridCol>
                <a:gridCol w="1722122">
                  <a:extLst>
                    <a:ext uri="{9D8B030D-6E8A-4147-A177-3AD203B41FA5}">
                      <a16:colId xmlns:a16="http://schemas.microsoft.com/office/drawing/2014/main" val="1233591837"/>
                    </a:ext>
                  </a:extLst>
                </a:gridCol>
              </a:tblGrid>
              <a:tr h="7468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Spins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5s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4s</a:t>
                      </a:r>
                    </a:p>
                    <a:p>
                      <a:pPr algn="ctr"/>
                      <a:r>
                        <a:rPr lang="en-GB" b="0" dirty="0">
                          <a:solidFill>
                            <a:sysClr val="windowText" lastClr="000000"/>
                          </a:solidFill>
                        </a:rPr>
                        <a:t>Number of Spins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674451"/>
                  </a:ext>
                </a:extLst>
              </a:tr>
              <a:tr h="50413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0.22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09762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EF64DB-CEA5-44A7-A7D7-07F26177808B}"/>
              </a:ext>
            </a:extLst>
          </p:cNvPr>
          <p:cNvCxnSpPr>
            <a:cxnSpLocks/>
          </p:cNvCxnSpPr>
          <p:nvPr/>
        </p:nvCxnSpPr>
        <p:spPr>
          <a:xfrm>
            <a:off x="8751570" y="1283970"/>
            <a:ext cx="154686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A22CFAA-4151-40CE-AD6E-A095DD27DCE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59" y="1060969"/>
            <a:ext cx="956167" cy="972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C2B539-EF2D-474C-B43A-9F34D2E32CA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330" y="3265591"/>
            <a:ext cx="1266827" cy="1004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21D098-940A-4903-9820-BD2DC6A4EAC1}"/>
              </a:ext>
            </a:extLst>
          </p:cNvPr>
          <p:cNvSpPr txBox="1"/>
          <p:nvPr/>
        </p:nvSpPr>
        <p:spPr>
          <a:xfrm>
            <a:off x="6775146" y="2189213"/>
            <a:ext cx="3446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Experimental probability = 0.16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B9732-3926-4236-8475-0641C6D18B4D}"/>
              </a:ext>
            </a:extLst>
          </p:cNvPr>
          <p:cNvSpPr txBox="1"/>
          <p:nvPr/>
        </p:nvSpPr>
        <p:spPr>
          <a:xfrm>
            <a:off x="6771184" y="4363453"/>
            <a:ext cx="3576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Experimental probability = 0.22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C9255-42F8-4A73-8BA5-81D7423829C6}"/>
              </a:ext>
            </a:extLst>
          </p:cNvPr>
          <p:cNvSpPr txBox="1"/>
          <p:nvPr/>
        </p:nvSpPr>
        <p:spPr>
          <a:xfrm>
            <a:off x="2039027" y="5217765"/>
            <a:ext cx="81139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What is the </a:t>
            </a:r>
            <a:r>
              <a:rPr lang="en-GB" sz="2000" b="1" dirty="0"/>
              <a:t>theoretical</a:t>
            </a:r>
            <a:r>
              <a:rPr lang="en-GB" sz="2000" dirty="0"/>
              <a:t> probability of landing on a 5?</a:t>
            </a:r>
          </a:p>
          <a:p>
            <a:pPr algn="ctr"/>
            <a:r>
              <a:rPr lang="en-GB" sz="2000" dirty="0"/>
              <a:t>Whose results give a more accurate estimate for the theoretical probability?</a:t>
            </a:r>
          </a:p>
          <a:p>
            <a:pPr algn="ctr"/>
            <a:r>
              <a:rPr lang="en-GB" sz="2000" dirty="0"/>
              <a:t>Is the spinner fair?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1267B6-4C95-41B0-8B50-517244A91601}"/>
              </a:ext>
            </a:extLst>
          </p:cNvPr>
          <p:cNvCxnSpPr>
            <a:cxnSpLocks/>
          </p:cNvCxnSpPr>
          <p:nvPr/>
        </p:nvCxnSpPr>
        <p:spPr>
          <a:xfrm>
            <a:off x="8795530" y="3473255"/>
            <a:ext cx="154686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63D862-14A4-45C2-86D7-4D1F02D151D1}"/>
              </a:ext>
            </a:extLst>
          </p:cNvPr>
          <p:cNvSpPr txBox="1"/>
          <p:nvPr/>
        </p:nvSpPr>
        <p:spPr>
          <a:xfrm>
            <a:off x="9968733" y="5805519"/>
            <a:ext cx="891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Mary’s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662A1C-5B43-40AB-AB41-02423E08A050}"/>
                  </a:ext>
                </a:extLst>
              </p:cNvPr>
              <p:cNvSpPr txBox="1"/>
              <p:nvPr/>
            </p:nvSpPr>
            <p:spPr>
              <a:xfrm>
                <a:off x="9415789" y="4888540"/>
                <a:ext cx="928459" cy="703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2800" dirty="0"/>
                  <a:t> </a:t>
                </a:r>
                <a:r>
                  <a:rPr lang="en-GB" sz="2000" dirty="0"/>
                  <a:t>= 0.2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662A1C-5B43-40AB-AB41-02423E08A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789" y="4888540"/>
                <a:ext cx="928459" cy="703398"/>
              </a:xfrm>
              <a:prstGeom prst="rect">
                <a:avLst/>
              </a:prstGeom>
              <a:blipFill>
                <a:blip r:embed="rId5"/>
                <a:stretch>
                  <a:fillRect r="-59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33EBB2D-CDA9-49EA-B3CD-56929CDA0914}"/>
              </a:ext>
            </a:extLst>
          </p:cNvPr>
          <p:cNvSpPr txBox="1"/>
          <p:nvPr/>
        </p:nvSpPr>
        <p:spPr>
          <a:xfrm>
            <a:off x="7207784" y="6071789"/>
            <a:ext cx="1152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Probably.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8C011-468B-4635-80CE-F8B850F7070E}"/>
              </a:ext>
            </a:extLst>
          </p:cNvPr>
          <p:cNvSpPr/>
          <p:nvPr/>
        </p:nvSpPr>
        <p:spPr>
          <a:xfrm>
            <a:off x="8990930" y="1787574"/>
            <a:ext cx="1197402" cy="298938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E10B6B-14E2-405C-932D-720FAD9D265C}"/>
              </a:ext>
            </a:extLst>
          </p:cNvPr>
          <p:cNvSpPr/>
          <p:nvPr/>
        </p:nvSpPr>
        <p:spPr>
          <a:xfrm>
            <a:off x="1183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461CC1-B6BE-4F26-8DCC-A086F411A143}"/>
              </a:ext>
            </a:extLst>
          </p:cNvPr>
          <p:cNvSpPr/>
          <p:nvPr/>
        </p:nvSpPr>
        <p:spPr>
          <a:xfrm>
            <a:off x="8940130" y="3947746"/>
            <a:ext cx="1197402" cy="298938"/>
          </a:xfrm>
          <a:prstGeom prst="rect">
            <a:avLst/>
          </a:prstGeom>
          <a:solidFill>
            <a:schemeClr val="bg1"/>
          </a:solidFill>
          <a:ln w="2857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36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5" grpId="0"/>
      <p:bldP spid="16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646</Words>
  <Application>Microsoft Office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Happy Sans</vt:lpstr>
      <vt:lpstr>Office Theme</vt:lpstr>
      <vt:lpstr>PowerPoint Presentation</vt:lpstr>
      <vt:lpstr>Warm Up - BINGO</vt:lpstr>
      <vt:lpstr>BINGO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jodi wilding</dc:creator>
  <cp:lastModifiedBy>jodi wilding</cp:lastModifiedBy>
  <cp:revision>7</cp:revision>
  <dcterms:created xsi:type="dcterms:W3CDTF">2021-08-17T11:50:48Z</dcterms:created>
  <dcterms:modified xsi:type="dcterms:W3CDTF">2021-08-17T13:02:43Z</dcterms:modified>
</cp:coreProperties>
</file>
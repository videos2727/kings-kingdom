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286" r:id="rId4"/>
    <p:sldId id="287" r:id="rId5"/>
    <p:sldId id="305" r:id="rId6"/>
    <p:sldId id="306" r:id="rId7"/>
    <p:sldId id="33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173EB-47B0-44F3-B010-B04789C77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7EDA7-99F8-4FC9-9E95-63EA0735E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28E98-9D45-43D8-A366-0DED2A3D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AD28E-743F-4C42-9769-3BE649B1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AA415-6246-466E-8CC4-1A37B1D49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6254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3452D-D925-43F7-9DF0-98B6C757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5B32C-8696-4BA9-BD64-B18BFC0A5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EAF80-20D2-4D74-99C6-C942AE19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4BB5B-B266-4012-A273-BBB0A79D9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A65A8-CA67-4862-9B08-8AE78553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952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2BE5-A87A-4B66-ABFE-741F9A8B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412C5-88B0-4AC9-96B0-5A7A19101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26610-5FB2-4367-A9FF-278530EDF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980C7-CE11-43E8-81E6-C1664182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B0AF0-6669-4E1C-B311-AE999768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007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1AC6-A805-4879-82E1-3FA880E5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CAF26-4495-46C4-A07A-5B3DBAD2D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D3E33-A6F9-4774-B3B7-39490E5A2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A7479-F5A9-4410-88BB-DE50F9841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3D017-7F88-43D2-88A7-7BF6BFA0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1249C-CDC3-4643-BDB0-D62AA8A8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916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625B-B338-4B9F-A10D-DA069594F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A1010-B5E1-4FD4-A481-2164544BE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16F21-4EA0-4EEA-AD6A-B93B28E19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1E1B8-517A-404C-A559-BEF785C8F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AC7C5-4161-486F-839A-371FA98F0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0708FE-EF0A-400A-9568-2841CDC4D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115D6-7925-43BC-AFDB-B6BF5F36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1AD95-68DE-4D0D-8E4D-7D81F7DA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35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6192-1865-44F0-AECD-A937B6DC3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7F56D9-77D9-4E90-BAF9-4809F773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76C67-7008-458E-A11A-D46878A85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6F6BB-249C-48CA-BB8A-D1EBA77E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6475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BEA19-E131-4C17-B1A8-1CD6EA74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6C8A1F-5C5B-4BD4-8787-C5176BA3D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82759-2CF7-45DF-9F13-8ACA1AA5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9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AF14-7569-42BA-A9C8-FED241AB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F33E9-B773-47DC-8298-012E511CF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F4095-016F-484F-820C-C787EED3E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52DC4-31DF-4275-A60A-45AABD29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8C788-8F3C-46A6-9903-CF056A247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C70E7-6043-48A8-B5E9-0C000289C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953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C07AE-1B31-46DB-9C16-290FA9BFC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C37F89-A0A1-4529-AD73-DB42D3F70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6979A-3B61-427A-B4C7-270A6A5B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AB97B-1871-441B-9D52-6936FE33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F426B-76FE-410C-96E9-1478A2CF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46CE2-290C-4207-9201-11D85387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866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B0A2C-14D0-41F3-BE01-053EA935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5BDA7-AFC8-43B1-BF57-EB9B75993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51489-DE3A-47CF-9082-CCEB7F80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9859-C10A-46D2-9E72-11E02C8DC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7D2CD-4DFB-4116-890B-C7C069C3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280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872919-E5F4-47D5-A568-9D0674A57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B60A6-CD0D-4389-B97B-8C06D669D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0DF29-11EB-4B75-AC1A-0CFF4841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10698-9C7A-4BB7-B534-369532DC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0CA7D-FAE9-4E40-8A83-AC050FA7D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21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6B92C-D647-4482-A154-790DB37B4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8A8C4-887D-4933-9C7A-3ABFD7CC3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D74AC-ED8F-4D81-8018-513505BBE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184C0-DF2C-4695-B576-470125BD538F}" type="datetimeFigureOut">
              <a:rPr lang="en-AU" smtClean="0"/>
              <a:t>17/08/2021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94EF2-24B2-45E9-93D1-211953CC7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60053-AC17-4228-ACD5-00C41ACE1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6839C-99CC-4A51-ACC1-A68AC65F15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365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732FD5-A90D-4BD6-A237-D073108F1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55" y="1316256"/>
            <a:ext cx="8529043" cy="55417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54135C-A1A5-4F93-AEE1-CE9C50D8612A}"/>
              </a:ext>
            </a:extLst>
          </p:cNvPr>
          <p:cNvSpPr txBox="1"/>
          <p:nvPr/>
        </p:nvSpPr>
        <p:spPr>
          <a:xfrm>
            <a:off x="3221502" y="393895"/>
            <a:ext cx="8848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Topic: Probability</a:t>
            </a:r>
          </a:p>
          <a:p>
            <a:r>
              <a:rPr lang="en-GB" sz="2400" dirty="0"/>
              <a:t>EQ:  How do we find probabilities from two way tables, </a:t>
            </a:r>
            <a:r>
              <a:rPr lang="en-GB" sz="2400" dirty="0" err="1"/>
              <a:t>venn</a:t>
            </a:r>
            <a:r>
              <a:rPr lang="en-GB" sz="2400" dirty="0"/>
              <a:t> diagrams and tree diagrams?</a:t>
            </a:r>
            <a:endParaRPr lang="en-A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AB7071-B129-4942-A8C8-1A358D75223C}"/>
              </a:ext>
            </a:extLst>
          </p:cNvPr>
          <p:cNvSpPr txBox="1"/>
          <p:nvPr/>
        </p:nvSpPr>
        <p:spPr>
          <a:xfrm>
            <a:off x="6096000" y="1913206"/>
            <a:ext cx="505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Start: Do times tables grid!</a:t>
            </a:r>
          </a:p>
        </p:txBody>
      </p:sp>
    </p:spTree>
    <p:extLst>
      <p:ext uri="{BB962C8B-B14F-4D97-AF65-F5344CB8AC3E}">
        <p14:creationId xmlns:p14="http://schemas.microsoft.com/office/powerpoint/2010/main" val="1383934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8495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47587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59351" y="1850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121531" y="1508657"/>
            <a:ext cx="24209" cy="534934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135415" y="185542"/>
            <a:ext cx="17562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784" y="948248"/>
            <a:ext cx="11661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GB" sz="2400" dirty="0"/>
              <a:t>How do we find probabilities from two way tables, </a:t>
            </a:r>
            <a:r>
              <a:rPr lang="en-GB" sz="2400" dirty="0" err="1"/>
              <a:t>venn</a:t>
            </a:r>
            <a:r>
              <a:rPr lang="en-GB" sz="2400" dirty="0"/>
              <a:t> diagrams and tree diagrams?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331301" y="1550116"/>
            <a:ext cx="7403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Two-way tables lists the number of outcomes in different categories, with totals at the bottom.</a:t>
            </a:r>
          </a:p>
          <a:p>
            <a:r>
              <a:rPr lang="en-US" sz="2400" dirty="0"/>
              <a:t>We display them like this.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559351" y="1541843"/>
            <a:ext cx="13969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What is a two-way table?</a:t>
            </a:r>
            <a:endParaRPr lang="en-AU" sz="22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529582" y="2799935"/>
          <a:ext cx="4942682" cy="2946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8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8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9314">
                <a:tc rowSpan="2" gridSpan="2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Event A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314">
                <a:tc gridSpan="2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A’</a:t>
                      </a:r>
                      <a:endParaRPr lang="en-A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Total</a:t>
                      </a:r>
                      <a:endParaRPr lang="en-AU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314">
                <a:tc rowSpan="3"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Event</a:t>
                      </a:r>
                    </a:p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314">
                <a:tc vMerge="1"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B’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314">
                <a:tc vMerge="1"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Total</a:t>
                      </a:r>
                      <a:endParaRPr lang="en-AU" sz="2400" b="1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08260" y="5960477"/>
                <a:ext cx="1900216" cy="6148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/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𝐻𝑜𝑤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𝑚𝑎𝑛𝑦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60" y="5960477"/>
                <a:ext cx="1900216" cy="614848"/>
              </a:xfrm>
              <a:prstGeom prst="rect">
                <a:avLst/>
              </a:prstGeom>
              <a:blipFill>
                <a:blip r:embed="rId2"/>
                <a:stretch>
                  <a:fillRect l="-2564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5676887" y="4059571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13</a:t>
            </a:r>
            <a:endParaRPr lang="en-AU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5676887" y="4619601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27</a:t>
            </a:r>
            <a:endParaRPr lang="en-A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6708802" y="4042388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17</a:t>
            </a:r>
            <a:endParaRPr lang="en-AU" sz="2400" dirty="0"/>
          </a:p>
        </p:txBody>
      </p:sp>
      <p:sp>
        <p:nvSpPr>
          <p:cNvPr id="25" name="TextBox 24"/>
          <p:cNvSpPr txBox="1"/>
          <p:nvPr/>
        </p:nvSpPr>
        <p:spPr>
          <a:xfrm>
            <a:off x="7690679" y="4586641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50</a:t>
            </a:r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 rot="2118287">
            <a:off x="8812003" y="2527884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 A</a:t>
            </a:r>
            <a:endParaRPr lang="en-AU" sz="2400" b="1" dirty="0"/>
          </a:p>
        </p:txBody>
      </p:sp>
      <p:sp>
        <p:nvSpPr>
          <p:cNvPr id="17" name="Left Arrow 16"/>
          <p:cNvSpPr/>
          <p:nvPr/>
        </p:nvSpPr>
        <p:spPr>
          <a:xfrm rot="20271546">
            <a:off x="7167173" y="2944687"/>
            <a:ext cx="1795968" cy="4793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1502591" y="5630563"/>
            <a:ext cx="19443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How do we find probabilities?</a:t>
            </a:r>
            <a:endParaRPr lang="en-AU" sz="2200" dirty="0"/>
          </a:p>
        </p:txBody>
      </p:sp>
      <p:sp>
        <p:nvSpPr>
          <p:cNvPr id="31" name="TextBox 30"/>
          <p:cNvSpPr txBox="1"/>
          <p:nvPr/>
        </p:nvSpPr>
        <p:spPr>
          <a:xfrm>
            <a:off x="5726427" y="5179631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40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902865" y="5903033"/>
                <a:ext cx="1818043" cy="617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P (A)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865" y="5903033"/>
                <a:ext cx="1818043" cy="617157"/>
              </a:xfrm>
              <a:prstGeom prst="rect">
                <a:avLst/>
              </a:prstGeom>
              <a:blipFill>
                <a:blip r:embed="rId3"/>
                <a:stretch>
                  <a:fillRect l="-4682" b="-88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7694035" y="4042388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30</a:t>
            </a:r>
            <a:endParaRPr lang="en-AU" sz="2400" dirty="0"/>
          </a:p>
        </p:txBody>
      </p:sp>
      <p:sp>
        <p:nvSpPr>
          <p:cNvPr id="34" name="TextBox 33"/>
          <p:cNvSpPr txBox="1"/>
          <p:nvPr/>
        </p:nvSpPr>
        <p:spPr>
          <a:xfrm>
            <a:off x="6720907" y="4619600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23</a:t>
            </a:r>
            <a:endParaRPr lang="en-AU" sz="2400" dirty="0"/>
          </a:p>
        </p:txBody>
      </p:sp>
      <p:sp>
        <p:nvSpPr>
          <p:cNvPr id="35" name="TextBox 34"/>
          <p:cNvSpPr txBox="1"/>
          <p:nvPr/>
        </p:nvSpPr>
        <p:spPr>
          <a:xfrm>
            <a:off x="6720907" y="5196812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40</a:t>
            </a:r>
            <a:endParaRPr lang="en-AU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7639880" y="5196811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80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559550" y="5904970"/>
                <a:ext cx="2472800" cy="616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P (A and B)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550" y="5904970"/>
                <a:ext cx="2472800" cy="616387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8594723" y="5871511"/>
                <a:ext cx="2321080" cy="622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P (B’)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723" y="5871511"/>
                <a:ext cx="2321080" cy="622414"/>
              </a:xfrm>
              <a:prstGeom prst="rect">
                <a:avLst/>
              </a:prstGeom>
              <a:blipFill>
                <a:blip r:embed="rId5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17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55203"/>
            <a:ext cx="12192000" cy="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8380"/>
            <a:ext cx="12256655" cy="9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5036" y="151261"/>
            <a:ext cx="1994905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755" marR="71755">
              <a:lnSpc>
                <a:spcPct val="107000"/>
              </a:lnSpc>
              <a:spcAft>
                <a:spcPts val="800"/>
              </a:spcAft>
            </a:pPr>
            <a:r>
              <a:rPr lang="en-A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Topic:  Probability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65126"/>
              </p:ext>
            </p:extLst>
          </p:nvPr>
        </p:nvGraphicFramePr>
        <p:xfrm>
          <a:off x="75334" y="664438"/>
          <a:ext cx="10177030" cy="11567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77030">
                  <a:extLst>
                    <a:ext uri="{9D8B030D-6E8A-4147-A177-3AD203B41FA5}">
                      <a16:colId xmlns:a16="http://schemas.microsoft.com/office/drawing/2014/main" val="2931469201"/>
                    </a:ext>
                  </a:extLst>
                </a:gridCol>
              </a:tblGrid>
              <a:tr h="3301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AU" sz="2400" b="0" dirty="0">
                          <a:solidFill>
                            <a:schemeClr val="tx1"/>
                          </a:solidFill>
                          <a:effectLst/>
                        </a:rPr>
                        <a:t>EQ: </a:t>
                      </a:r>
                      <a:r>
                        <a:rPr lang="en-GB" sz="2400" dirty="0" err="1"/>
                        <a:t>HHow</a:t>
                      </a:r>
                      <a:r>
                        <a:rPr lang="en-GB" sz="2400" dirty="0"/>
                        <a:t> do we find probabilities from two way tables, </a:t>
                      </a:r>
                      <a:r>
                        <a:rPr lang="en-GB" sz="2400" dirty="0" err="1"/>
                        <a:t>venn</a:t>
                      </a:r>
                      <a:r>
                        <a:rPr lang="en-GB" sz="2400" dirty="0"/>
                        <a:t> diagrams and tree </a:t>
                      </a:r>
                      <a:r>
                        <a:rPr lang="en-GB" sz="2400" dirty="0" err="1"/>
                        <a:t>diagrams?ow</a:t>
                      </a:r>
                      <a:r>
                        <a:rPr lang="en-GB" sz="2400" dirty="0"/>
                        <a:t> do we find probabilities from two way tables, </a:t>
                      </a:r>
                      <a:r>
                        <a:rPr lang="en-GB" sz="2400" dirty="0" err="1"/>
                        <a:t>venn</a:t>
                      </a:r>
                      <a:r>
                        <a:rPr lang="en-GB" sz="2400" dirty="0"/>
                        <a:t> diagrams and tree diagrams?</a:t>
                      </a:r>
                      <a:endParaRPr lang="en-AU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641878"/>
                  </a:ext>
                </a:extLst>
              </a:tr>
            </a:tbl>
          </a:graphicData>
        </a:graphic>
      </p:graphicFrame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E625565E-8FE5-47F7-B781-67751E2F86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9174" y="1987449"/>
          <a:ext cx="10515600" cy="2565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2027618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372761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799187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66030254"/>
                    </a:ext>
                  </a:extLst>
                </a:gridCol>
              </a:tblGrid>
              <a:tr h="13676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Likes pineapple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Doesn’t like pineapple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Total</a:t>
                      </a:r>
                      <a:endParaRPr lang="en-A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609548"/>
                  </a:ext>
                </a:extLst>
              </a:tr>
              <a:tr h="72303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Likes anchovy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860386"/>
                  </a:ext>
                </a:extLst>
              </a:tr>
              <a:tr h="723037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Doesn’t like anchovy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28959"/>
                  </a:ext>
                </a:extLst>
              </a:tr>
              <a:tr h="723037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Total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71594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49E989F-EAAB-4039-8AF6-D5FC73226A54}"/>
              </a:ext>
            </a:extLst>
          </p:cNvPr>
          <p:cNvSpPr txBox="1"/>
          <p:nvPr/>
        </p:nvSpPr>
        <p:spPr>
          <a:xfrm>
            <a:off x="901148" y="1351722"/>
            <a:ext cx="10452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Let’s make a two way table on how the class feels about pineapple and anchovy on pizzas!</a:t>
            </a:r>
            <a:endParaRPr lang="en-A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598DA-DEDE-44AE-AEE2-FFCFFE21C130}"/>
              </a:ext>
            </a:extLst>
          </p:cNvPr>
          <p:cNvSpPr txBox="1"/>
          <p:nvPr/>
        </p:nvSpPr>
        <p:spPr>
          <a:xfrm>
            <a:off x="675861" y="4810539"/>
            <a:ext cx="102174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Answer the probability questions:</a:t>
            </a:r>
          </a:p>
          <a:p>
            <a:r>
              <a:rPr lang="en-GB" dirty="0"/>
              <a:t>P(likes pineapple)=</a:t>
            </a:r>
          </a:p>
          <a:p>
            <a:r>
              <a:rPr lang="en-GB" dirty="0"/>
              <a:t>P(doesn’t like anchovy)=</a:t>
            </a:r>
          </a:p>
          <a:p>
            <a:r>
              <a:rPr lang="en-GB" dirty="0"/>
              <a:t>P(likes pineapple and anchovy)=</a:t>
            </a:r>
          </a:p>
          <a:p>
            <a:r>
              <a:rPr lang="en-AU" dirty="0"/>
              <a:t>P(doesn’t like anchovy and pineapple)=</a:t>
            </a:r>
          </a:p>
          <a:p>
            <a:r>
              <a:rPr lang="en-AU" dirty="0"/>
              <a:t>What is the  probability that someone doesn’t like pineapple, given that they like anchovy?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6BD73-FC08-4FDA-B5A1-64B31640D41F}"/>
              </a:ext>
            </a:extLst>
          </p:cNvPr>
          <p:cNvSpPr txBox="1"/>
          <p:nvPr/>
        </p:nvSpPr>
        <p:spPr>
          <a:xfrm>
            <a:off x="48830" y="603289"/>
            <a:ext cx="11661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GB" sz="2400" dirty="0"/>
              <a:t>How do we find probabilities from two way tables, </a:t>
            </a:r>
            <a:r>
              <a:rPr lang="en-GB" sz="2400" dirty="0" err="1"/>
              <a:t>venn</a:t>
            </a:r>
            <a:r>
              <a:rPr lang="en-GB" sz="2400" dirty="0"/>
              <a:t> diagrams and tree diagrams?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6968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58220" y="-73867"/>
            <a:ext cx="5760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         </a:t>
            </a:r>
            <a:r>
              <a:rPr lang="en-AU" sz="2400" b="1" dirty="0">
                <a:latin typeface="Arial" charset="0"/>
                <a:ea typeface="Arial" charset="0"/>
                <a:cs typeface="Arial" charset="0"/>
              </a:rPr>
              <a:t>Probability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67608" y="194848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68209" y="260650"/>
            <a:ext cx="2579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29610" y="5248894"/>
            <a:ext cx="181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7608" y="1848331"/>
            <a:ext cx="8100390" cy="2302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charset="0"/>
                <a:ea typeface="Arial" charset="0"/>
                <a:cs typeface="Arial" charset="0"/>
              </a:rPr>
              <a:t>A </a:t>
            </a:r>
            <a:r>
              <a:rPr lang="en-US" sz="2000" u="sng" dirty="0">
                <a:latin typeface="Arial" charset="0"/>
                <a:ea typeface="Arial" charset="0"/>
                <a:cs typeface="Arial" charset="0"/>
              </a:rPr>
              <a:t>Venn diagram </a:t>
            </a:r>
            <a:r>
              <a:rPr lang="en-US" sz="2000" dirty="0">
                <a:latin typeface="Arial" charset="0"/>
                <a:ea typeface="Arial" charset="0"/>
                <a:cs typeface="Arial" charset="0"/>
              </a:rPr>
              <a:t>is </a:t>
            </a:r>
          </a:p>
          <a:p>
            <a:r>
              <a:rPr lang="en-US" sz="2000" dirty="0">
                <a:latin typeface="Arial" charset="0"/>
                <a:ea typeface="Arial" charset="0"/>
                <a:cs typeface="Arial" charset="0"/>
              </a:rPr>
              <a:t>a pictorial representation using overlapping circles showing the number of objects in two or more categories.  </a:t>
            </a:r>
          </a:p>
          <a:p>
            <a:r>
              <a:rPr lang="en-US" sz="2000" dirty="0">
                <a:latin typeface="Arial" charset="0"/>
                <a:ea typeface="Arial" charset="0"/>
                <a:cs typeface="Arial" charset="0"/>
              </a:rPr>
              <a:t>We can use them to find probabilities.</a:t>
            </a:r>
          </a:p>
          <a:p>
            <a:r>
              <a:rPr lang="en-US" sz="2000" dirty="0">
                <a:latin typeface="Arial" charset="0"/>
                <a:ea typeface="Arial" charset="0"/>
                <a:cs typeface="Arial" charset="0"/>
              </a:rPr>
              <a:t> </a:t>
            </a:r>
          </a:p>
          <a:p>
            <a:r>
              <a:rPr lang="en-US" sz="2000" dirty="0">
                <a:latin typeface="Arial" charset="0"/>
                <a:ea typeface="Arial" charset="0"/>
                <a:cs typeface="Arial" charset="0"/>
              </a:rPr>
              <a:t>A two-way table can be written as a Venn diagram, without the row and column totals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4BF532-8160-48DA-A9A6-30873880F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890" y="3822944"/>
            <a:ext cx="5488541" cy="29996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AA715E-F8E4-4BD7-919F-EA6E480BE92E}"/>
              </a:ext>
            </a:extLst>
          </p:cNvPr>
          <p:cNvSpPr txBox="1"/>
          <p:nvPr/>
        </p:nvSpPr>
        <p:spPr>
          <a:xfrm>
            <a:off x="662609" y="2186609"/>
            <a:ext cx="169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is a Venn Diagram?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886BB-BB7E-4AD0-9527-39BD6872753D}"/>
              </a:ext>
            </a:extLst>
          </p:cNvPr>
          <p:cNvSpPr txBox="1"/>
          <p:nvPr/>
        </p:nvSpPr>
        <p:spPr>
          <a:xfrm>
            <a:off x="265044" y="1095072"/>
            <a:ext cx="11661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GB" sz="2400" dirty="0"/>
              <a:t>How do we find probabilities from two way tables, </a:t>
            </a:r>
            <a:r>
              <a:rPr lang="en-GB" sz="2400" dirty="0" err="1"/>
              <a:t>venn</a:t>
            </a:r>
            <a:r>
              <a:rPr lang="en-GB" sz="2400" dirty="0"/>
              <a:t> diagrams and tree diagrams?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3C617-49EA-42F0-9D5C-4FE723747E06}"/>
              </a:ext>
            </a:extLst>
          </p:cNvPr>
          <p:cNvSpPr txBox="1"/>
          <p:nvPr/>
        </p:nvSpPr>
        <p:spPr>
          <a:xfrm>
            <a:off x="2567608" y="4150898"/>
            <a:ext cx="3457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Let’s do one as a class and answer some probability questions!</a:t>
            </a:r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2ED52E-8A90-43DB-BA3B-0C7C47316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2" y="483051"/>
            <a:ext cx="11569148" cy="589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4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530" y="1078503"/>
            <a:ext cx="11449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GB" sz="2400" dirty="0"/>
              <a:t>How do we find probabilities from two way tables, </a:t>
            </a:r>
            <a:r>
              <a:rPr lang="en-GB" sz="2400" dirty="0" err="1"/>
              <a:t>venn</a:t>
            </a:r>
            <a:r>
              <a:rPr lang="en-GB" sz="2400" dirty="0"/>
              <a:t> diagrams and tree diagrams?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4492849" y="2060848"/>
            <a:ext cx="608140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Tree diagrams list the sample space for multistage experiments</a:t>
            </a:r>
          </a:p>
          <a:p>
            <a:pPr marL="285750" indent="-285750">
              <a:buFontTx/>
              <a:buChar char="-"/>
            </a:pPr>
            <a:r>
              <a:rPr lang="en-AU" dirty="0"/>
              <a:t>Outcomes for each stage are listed vertically</a:t>
            </a:r>
          </a:p>
          <a:p>
            <a:pPr marL="285750" indent="-285750">
              <a:buFontTx/>
              <a:buChar char="-"/>
            </a:pPr>
            <a:r>
              <a:rPr lang="en-AU" dirty="0"/>
              <a:t>Each stage connected with branches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832AE0-2ACA-48DB-905F-9827F438C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761" y="3486694"/>
            <a:ext cx="6163590" cy="7742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252076-2065-463D-B7CD-D0C5B8D731A8}"/>
              </a:ext>
            </a:extLst>
          </p:cNvPr>
          <p:cNvSpPr txBox="1"/>
          <p:nvPr/>
        </p:nvSpPr>
        <p:spPr>
          <a:xfrm>
            <a:off x="1617471" y="2060848"/>
            <a:ext cx="276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are tree diagrams?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700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63089" y="5869657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9934" y="1940023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7471" y="107850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I list the outcomes for multiple events? </a:t>
            </a:r>
          </a:p>
        </p:txBody>
      </p:sp>
      <p:sp>
        <p:nvSpPr>
          <p:cNvPr id="3" name="Rectangle 2"/>
          <p:cNvSpPr/>
          <p:nvPr/>
        </p:nvSpPr>
        <p:spPr>
          <a:xfrm>
            <a:off x="2972605" y="1959977"/>
            <a:ext cx="80532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Example : Two letters are chosen from the work MATH </a:t>
            </a:r>
            <a:r>
              <a:rPr lang="en-AU" dirty="0">
                <a:highlight>
                  <a:srgbClr val="FFFF00"/>
                </a:highlight>
              </a:rPr>
              <a:t>without replacement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3" t="11993" r="72692" b="18648"/>
          <a:stretch/>
        </p:blipFill>
        <p:spPr bwMode="auto">
          <a:xfrm>
            <a:off x="4844964" y="2681771"/>
            <a:ext cx="1241661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817886" y="2930837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9803" y="3669439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9803" y="4610189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 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7886" y="543072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889" y="2561505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1</a:t>
            </a:r>
            <a:r>
              <a:rPr lang="en-AU" baseline="30000" dirty="0">
                <a:solidFill>
                  <a:srgbClr val="FF0000"/>
                </a:solidFill>
              </a:rPr>
              <a:t>st</a:t>
            </a:r>
            <a:r>
              <a:rPr lang="en-AU" dirty="0">
                <a:solidFill>
                  <a:srgbClr val="FF0000"/>
                </a:solidFill>
              </a:rPr>
              <a:t> Letter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4" t="11993" r="64765" b="18648"/>
          <a:stretch/>
        </p:blipFill>
        <p:spPr bwMode="auto">
          <a:xfrm>
            <a:off x="6439925" y="2679575"/>
            <a:ext cx="1073343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7213402" y="2650739"/>
            <a:ext cx="387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  <a:p>
            <a:r>
              <a:rPr lang="en-AU" dirty="0"/>
              <a:t>T</a:t>
            </a:r>
          </a:p>
          <a:p>
            <a:r>
              <a:rPr lang="en-AU" dirty="0"/>
              <a:t>H</a:t>
            </a:r>
          </a:p>
          <a:p>
            <a:r>
              <a:rPr lang="en-AU" dirty="0"/>
              <a:t>M</a:t>
            </a:r>
          </a:p>
          <a:p>
            <a:r>
              <a:rPr lang="en-AU" dirty="0"/>
              <a:t>T</a:t>
            </a:r>
          </a:p>
          <a:p>
            <a:r>
              <a:rPr lang="en-AU" dirty="0"/>
              <a:t>H</a:t>
            </a:r>
          </a:p>
          <a:p>
            <a:r>
              <a:rPr lang="en-AU" dirty="0"/>
              <a:t>M</a:t>
            </a:r>
          </a:p>
          <a:p>
            <a:r>
              <a:rPr lang="en-AU" dirty="0"/>
              <a:t>A</a:t>
            </a:r>
          </a:p>
          <a:p>
            <a:r>
              <a:rPr lang="en-AU" dirty="0"/>
              <a:t>H</a:t>
            </a:r>
          </a:p>
          <a:p>
            <a:r>
              <a:rPr lang="en-AU" dirty="0"/>
              <a:t>MA</a:t>
            </a:r>
          </a:p>
          <a:p>
            <a:r>
              <a:rPr lang="en-AU" dirty="0"/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980" y="2312439"/>
            <a:ext cx="10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2</a:t>
            </a:r>
            <a:r>
              <a:rPr lang="en-AU" baseline="30000" dirty="0">
                <a:solidFill>
                  <a:srgbClr val="FF0000"/>
                </a:solidFill>
              </a:rPr>
              <a:t>nd</a:t>
            </a:r>
            <a:r>
              <a:rPr lang="en-AU" dirty="0">
                <a:solidFill>
                  <a:srgbClr val="FF0000"/>
                </a:solidFill>
              </a:rPr>
              <a:t>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3434" y="2263932"/>
            <a:ext cx="1140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4991" y="2681771"/>
            <a:ext cx="5519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</a:t>
            </a:r>
          </a:p>
          <a:p>
            <a:r>
              <a:rPr lang="en-AU" dirty="0"/>
              <a:t>MT</a:t>
            </a:r>
          </a:p>
          <a:p>
            <a:r>
              <a:rPr lang="en-AU" dirty="0"/>
              <a:t>MH</a:t>
            </a:r>
          </a:p>
          <a:p>
            <a:r>
              <a:rPr lang="en-AU" dirty="0"/>
              <a:t>AM</a:t>
            </a:r>
          </a:p>
          <a:p>
            <a:r>
              <a:rPr lang="en-AU" dirty="0"/>
              <a:t>AT</a:t>
            </a:r>
          </a:p>
          <a:p>
            <a:r>
              <a:rPr lang="en-AU" dirty="0"/>
              <a:t>AH</a:t>
            </a:r>
          </a:p>
          <a:p>
            <a:r>
              <a:rPr lang="en-AU" dirty="0"/>
              <a:t>TM</a:t>
            </a:r>
          </a:p>
          <a:p>
            <a:r>
              <a:rPr lang="en-AU" dirty="0"/>
              <a:t>TA</a:t>
            </a:r>
          </a:p>
          <a:p>
            <a:r>
              <a:rPr lang="en-AU" dirty="0"/>
              <a:t>TH</a:t>
            </a:r>
          </a:p>
          <a:p>
            <a:r>
              <a:rPr lang="en-AU" dirty="0"/>
              <a:t>HMHA</a:t>
            </a:r>
          </a:p>
          <a:p>
            <a:r>
              <a:rPr lang="en-AU" dirty="0"/>
              <a:t>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0655" y="3669440"/>
            <a:ext cx="1441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12 </a:t>
            </a:r>
          </a:p>
          <a:p>
            <a:r>
              <a:rPr lang="en-AU" dirty="0">
                <a:solidFill>
                  <a:srgbClr val="FF0000"/>
                </a:solidFill>
              </a:rPr>
              <a:t>Outcomes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47616" y="3370639"/>
                <a:ext cx="1737976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Find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i="1">
                                <a:latin typeface="Cambria Math"/>
                              </a:rPr>
                              <m:t>𝐴𝑇</m:t>
                            </m:r>
                          </m:e>
                        </m:d>
                      </m:e>
                    </m:func>
                    <m:r>
                      <a:rPr lang="en-AU" i="1">
                        <a:latin typeface="Cambria Math"/>
                      </a:rPr>
                      <m:t>=</m:t>
                    </m:r>
                  </m:oMath>
                </a14:m>
                <a:endParaRPr lang="en-AU" dirty="0"/>
              </a:p>
              <a:p>
                <a:r>
                  <a:rPr lang="en-AU" dirty="0" err="1"/>
                  <a:t>Pr</a:t>
                </a:r>
                <a:r>
                  <a:rPr lang="en-AU" dirty="0"/>
                  <a:t>(one M) = </a:t>
                </a:r>
              </a:p>
              <a:p>
                <a:r>
                  <a:rPr lang="en-AU" dirty="0" err="1"/>
                  <a:t>Pr</a:t>
                </a:r>
                <a:r>
                  <a:rPr lang="en-AU" dirty="0"/>
                  <a:t>(M and A) =</a:t>
                </a:r>
              </a:p>
              <a:p>
                <a:r>
                  <a:rPr lang="en-AU" dirty="0" err="1"/>
                  <a:t>Pr</a:t>
                </a:r>
                <a:r>
                  <a:rPr lang="en-AU" dirty="0"/>
                  <a:t> (AH) = </a:t>
                </a:r>
              </a:p>
              <a:p>
                <a:r>
                  <a:rPr lang="en-AU" dirty="0" err="1"/>
                  <a:t>Pr</a:t>
                </a:r>
                <a:r>
                  <a:rPr lang="en-AU" dirty="0"/>
                  <a:t> (A and or H) =</a:t>
                </a: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16" y="3370639"/>
                <a:ext cx="1737976" cy="1477328"/>
              </a:xfrm>
              <a:prstGeom prst="rect">
                <a:avLst/>
              </a:prstGeom>
              <a:blipFill>
                <a:blip r:embed="rId3"/>
                <a:stretch>
                  <a:fillRect l="-2797" t="-2479" r="-2098" b="-57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365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511</Words>
  <Application>Microsoft Office PowerPoint</Application>
  <PresentationFormat>Widescreen</PresentationFormat>
  <Paragraphs>123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jodi wilding</dc:creator>
  <cp:lastModifiedBy>jodi wilding</cp:lastModifiedBy>
  <cp:revision>3</cp:revision>
  <dcterms:created xsi:type="dcterms:W3CDTF">2021-08-17T11:50:48Z</dcterms:created>
  <dcterms:modified xsi:type="dcterms:W3CDTF">2021-08-17T12:35:01Z</dcterms:modified>
</cp:coreProperties>
</file>
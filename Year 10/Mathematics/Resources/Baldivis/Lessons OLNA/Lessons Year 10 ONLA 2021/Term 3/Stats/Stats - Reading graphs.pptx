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305" r:id="rId3"/>
    <p:sldId id="324" r:id="rId4"/>
    <p:sldId id="325" r:id="rId5"/>
    <p:sldId id="326" r:id="rId6"/>
    <p:sldId id="327" r:id="rId7"/>
    <p:sldId id="328" r:id="rId8"/>
    <p:sldId id="329" r:id="rId9"/>
    <p:sldId id="330" r:id="rId10"/>
    <p:sldId id="33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8401" autoAdjust="0"/>
  </p:normalViewPr>
  <p:slideViewPr>
    <p:cSldViewPr>
      <p:cViewPr varScale="1">
        <p:scale>
          <a:sx n="72" d="100"/>
          <a:sy n="72" d="100"/>
        </p:scale>
        <p:origin x="132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0B-422C-B8E7-BCFB72E52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049088"/>
        <c:axId val="41100032"/>
      </c:barChart>
      <c:catAx>
        <c:axId val="410490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41100032"/>
        <c:crosses val="autoZero"/>
        <c:auto val="1"/>
        <c:lblAlgn val="ctr"/>
        <c:lblOffset val="100"/>
        <c:noMultiLvlLbl val="0"/>
      </c:catAx>
      <c:valAx>
        <c:axId val="411000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104908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8A-4355-8B81-96490ABE15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8/08/2021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/>
              <a:t>My Statistics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80750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68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read different statistical graphs?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FDE5AD-6BB1-4557-87A6-D9593913FA8C}"/>
              </a:ext>
            </a:extLst>
          </p:cNvPr>
          <p:cNvSpPr txBox="1"/>
          <p:nvPr/>
        </p:nvSpPr>
        <p:spPr>
          <a:xfrm>
            <a:off x="2398614" y="2134867"/>
            <a:ext cx="58326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highlight>
                  <a:srgbClr val="FFFF00"/>
                </a:highlight>
              </a:rPr>
              <a:t>Finish mean/median/mode/range worksheet or do Times tables if finished</a:t>
            </a:r>
            <a:endParaRPr lang="en-AU" sz="28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EFB71-E26D-41A7-984C-8455197BFB70}"/>
              </a:ext>
            </a:extLst>
          </p:cNvPr>
          <p:cNvSpPr txBox="1"/>
          <p:nvPr/>
        </p:nvSpPr>
        <p:spPr>
          <a:xfrm>
            <a:off x="2483768" y="4077072"/>
            <a:ext cx="57606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highlight>
                  <a:srgbClr val="00FF00"/>
                </a:highlight>
              </a:rPr>
              <a:t>How do we calculate the mean?</a:t>
            </a:r>
          </a:p>
          <a:p>
            <a:r>
              <a:rPr lang="en-GB" sz="2000" b="1" dirty="0">
                <a:highlight>
                  <a:srgbClr val="00FF00"/>
                </a:highlight>
              </a:rPr>
              <a:t>How do we find the median?</a:t>
            </a:r>
          </a:p>
          <a:p>
            <a:r>
              <a:rPr lang="en-GB" sz="2000" b="1" dirty="0">
                <a:highlight>
                  <a:srgbClr val="00FF00"/>
                </a:highlight>
              </a:rPr>
              <a:t>How do we find the mode?</a:t>
            </a:r>
          </a:p>
          <a:p>
            <a:r>
              <a:rPr lang="en-GB" sz="2000" b="1" dirty="0">
                <a:highlight>
                  <a:srgbClr val="00FF00"/>
                </a:highlight>
              </a:rPr>
              <a:t>What is the range?</a:t>
            </a:r>
            <a:endParaRPr lang="en-AU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80750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68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read different statistical graphs? </a:t>
            </a:r>
          </a:p>
        </p:txBody>
      </p:sp>
      <p:pic>
        <p:nvPicPr>
          <p:cNvPr id="13" name="Picture 12" descr="Chart, scatter chart&#10;&#10;Description automatically generated">
            <a:extLst>
              <a:ext uri="{FF2B5EF4-FFF2-40B4-BE49-F238E27FC236}">
                <a16:creationId xmlns:a16="http://schemas.microsoft.com/office/drawing/2014/main" id="{747229AC-5E24-4894-8E47-D805A55B3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785" y="2023797"/>
            <a:ext cx="7092280" cy="22945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7FA4DF-5AB8-4519-BEEE-675914E2D70C}"/>
              </a:ext>
            </a:extLst>
          </p:cNvPr>
          <p:cNvSpPr txBox="1"/>
          <p:nvPr/>
        </p:nvSpPr>
        <p:spPr>
          <a:xfrm>
            <a:off x="93471" y="2061566"/>
            <a:ext cx="1670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I need to know about dot plots?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3FF88E-DA19-4021-AA2F-F8BC4A6AFBD9}"/>
              </a:ext>
            </a:extLst>
          </p:cNvPr>
          <p:cNvSpPr txBox="1"/>
          <p:nvPr/>
        </p:nvSpPr>
        <p:spPr>
          <a:xfrm>
            <a:off x="2111655" y="4725144"/>
            <a:ext cx="69116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It represents only one set of data</a:t>
            </a:r>
          </a:p>
          <a:p>
            <a:pPr marL="342900" indent="-342900">
              <a:buAutoNum type="arabicPeriod"/>
            </a:pPr>
            <a:r>
              <a:rPr lang="en-GB" dirty="0"/>
              <a:t>Each dot represents a value on the number line</a:t>
            </a:r>
          </a:p>
          <a:p>
            <a:pPr marL="342900" indent="-342900">
              <a:buAutoNum type="arabicPeriod"/>
            </a:pPr>
            <a:r>
              <a:rPr lang="en-GB" dirty="0"/>
              <a:t>If value occurs more than once, it goes on top of other dot</a:t>
            </a:r>
          </a:p>
          <a:p>
            <a:pPr marL="342900" indent="-342900">
              <a:buAutoNum type="arabicPeriod"/>
            </a:pPr>
            <a:r>
              <a:rPr lang="en-GB" dirty="0"/>
              <a:t>Number of dots = frequency</a:t>
            </a:r>
          </a:p>
          <a:p>
            <a:pPr marL="342900" indent="-342900">
              <a:buAutoNum type="arabicPeriod"/>
            </a:pPr>
            <a:r>
              <a:rPr lang="en-GB" dirty="0"/>
              <a:t>Examples:  5 people spent 1 hour on homework, 2 people spent 8 hours on homework</a:t>
            </a:r>
            <a:endParaRPr lang="en-AU" dirty="0"/>
          </a:p>
          <a:p>
            <a:r>
              <a:rPr lang="en-AU" dirty="0">
                <a:highlight>
                  <a:srgbClr val="00FF00"/>
                </a:highlight>
              </a:rPr>
              <a:t>How do we calculate the total number of people surveyed?</a:t>
            </a:r>
            <a:endParaRPr lang="en-GB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81864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80750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68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read different statistical graphs?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7FA4DF-5AB8-4519-BEEE-675914E2D70C}"/>
              </a:ext>
            </a:extLst>
          </p:cNvPr>
          <p:cNvSpPr txBox="1"/>
          <p:nvPr/>
        </p:nvSpPr>
        <p:spPr>
          <a:xfrm>
            <a:off x="93471" y="2061566"/>
            <a:ext cx="1670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I need to know about column graphs?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3FF88E-DA19-4021-AA2F-F8BC4A6AFBD9}"/>
              </a:ext>
            </a:extLst>
          </p:cNvPr>
          <p:cNvSpPr txBox="1"/>
          <p:nvPr/>
        </p:nvSpPr>
        <p:spPr>
          <a:xfrm>
            <a:off x="2134008" y="4826675"/>
            <a:ext cx="69116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It has frequency up the left side – which can also be called number of people/quantity or other similar </a:t>
            </a:r>
          </a:p>
          <a:p>
            <a:pPr marL="342900" indent="-342900">
              <a:buAutoNum type="arabicPeriod"/>
            </a:pPr>
            <a:r>
              <a:rPr lang="en-GB" dirty="0"/>
              <a:t>We can compare the relative size of different categories (bottom)</a:t>
            </a:r>
          </a:p>
          <a:p>
            <a:pPr marL="342900" indent="-342900">
              <a:buAutoNum type="arabicPeriod"/>
            </a:pPr>
            <a:r>
              <a:rPr lang="en-GB" dirty="0"/>
              <a:t>Examples from chart:  15 people like </a:t>
            </a:r>
            <a:r>
              <a:rPr lang="en-GB" dirty="0" err="1"/>
              <a:t>icecream</a:t>
            </a:r>
            <a:r>
              <a:rPr lang="en-GB" dirty="0"/>
              <a:t> best, 6 people cheese platter, 12 people mud cake</a:t>
            </a:r>
          </a:p>
          <a:p>
            <a:r>
              <a:rPr lang="en-GB" dirty="0">
                <a:highlight>
                  <a:srgbClr val="00FF00"/>
                </a:highlight>
              </a:rPr>
              <a:t>How do we find the total number of people surveyed?</a:t>
            </a:r>
          </a:p>
          <a:p>
            <a:r>
              <a:rPr lang="en-GB" dirty="0">
                <a:highlight>
                  <a:srgbClr val="00FF00"/>
                </a:highlight>
              </a:rPr>
              <a:t>Can you see the similarities to a dot plot?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765540-D4A0-4FFC-8738-7CA2E9B30B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04"/>
          <a:stretch/>
        </p:blipFill>
        <p:spPr>
          <a:xfrm>
            <a:off x="2583776" y="1513472"/>
            <a:ext cx="5876656" cy="323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43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80750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68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44524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read different statistical graphs?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7FA4DF-5AB8-4519-BEEE-675914E2D70C}"/>
              </a:ext>
            </a:extLst>
          </p:cNvPr>
          <p:cNvSpPr txBox="1"/>
          <p:nvPr/>
        </p:nvSpPr>
        <p:spPr>
          <a:xfrm>
            <a:off x="93471" y="2061566"/>
            <a:ext cx="1670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I need to know about pie charts?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3FF88E-DA19-4021-AA2F-F8BC4A6AFBD9}"/>
              </a:ext>
            </a:extLst>
          </p:cNvPr>
          <p:cNvSpPr txBox="1"/>
          <p:nvPr/>
        </p:nvSpPr>
        <p:spPr>
          <a:xfrm>
            <a:off x="2134009" y="4826675"/>
            <a:ext cx="68893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Each piece represents a category</a:t>
            </a:r>
          </a:p>
          <a:p>
            <a:pPr marL="342900" indent="-342900">
              <a:buAutoNum type="arabicPeriod"/>
            </a:pPr>
            <a:r>
              <a:rPr lang="en-GB" dirty="0"/>
              <a:t>It will usually  have a % or a quantity on each piece</a:t>
            </a:r>
          </a:p>
          <a:p>
            <a:pPr marL="342900" indent="-342900">
              <a:buAutoNum type="arabicPeriod"/>
            </a:pPr>
            <a:r>
              <a:rPr lang="en-GB" dirty="0"/>
              <a:t>The whole circle should add up to 100%</a:t>
            </a:r>
          </a:p>
          <a:p>
            <a:r>
              <a:rPr lang="en-GB" dirty="0">
                <a:highlight>
                  <a:srgbClr val="00FF00"/>
                </a:highlight>
              </a:rPr>
              <a:t>If 100 people were surveyed on transport to school, how many students rode a bike?</a:t>
            </a:r>
          </a:p>
          <a:p>
            <a:r>
              <a:rPr lang="en-GB" dirty="0">
                <a:highlight>
                  <a:srgbClr val="00FF00"/>
                </a:highlight>
              </a:rPr>
              <a:t>If 3000 students were surveyed, how many rode in a car?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  <p:pic>
        <p:nvPicPr>
          <p:cNvPr id="16" name="Picture 1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E4E94498-5FD6-4B22-98F3-4E0105F2C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321" y="688519"/>
            <a:ext cx="4266023" cy="419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80750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68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44524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read different statistical graphs?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7FA4DF-5AB8-4519-BEEE-675914E2D70C}"/>
              </a:ext>
            </a:extLst>
          </p:cNvPr>
          <p:cNvSpPr txBox="1"/>
          <p:nvPr/>
        </p:nvSpPr>
        <p:spPr>
          <a:xfrm>
            <a:off x="93471" y="2061566"/>
            <a:ext cx="1670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I need to know about stem and leaf plots?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3FF88E-DA19-4021-AA2F-F8BC4A6AFBD9}"/>
              </a:ext>
            </a:extLst>
          </p:cNvPr>
          <p:cNvSpPr txBox="1"/>
          <p:nvPr/>
        </p:nvSpPr>
        <p:spPr>
          <a:xfrm>
            <a:off x="2134009" y="4826675"/>
            <a:ext cx="6889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The leaf represents the last digit in the numbers</a:t>
            </a:r>
          </a:p>
          <a:p>
            <a:pPr marL="342900" indent="-342900">
              <a:buAutoNum type="arabicPeriod"/>
            </a:pPr>
            <a:r>
              <a:rPr lang="en-GB" dirty="0"/>
              <a:t>The smallest number goes closest to the stem</a:t>
            </a:r>
          </a:p>
          <a:p>
            <a:pPr marL="342900" indent="-342900">
              <a:buAutoNum type="arabicPeriod"/>
            </a:pPr>
            <a:r>
              <a:rPr lang="en-GB" dirty="0"/>
              <a:t>The stem represents the first digit/digits</a:t>
            </a:r>
          </a:p>
          <a:p>
            <a:endParaRPr lang="en-AU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F6C0786B-CD98-4761-AE7B-C689EC5E8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489" y="1497030"/>
            <a:ext cx="5817511" cy="323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190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80750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68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7980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read different statistical graphs?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7FA4DF-5AB8-4519-BEEE-675914E2D70C}"/>
              </a:ext>
            </a:extLst>
          </p:cNvPr>
          <p:cNvSpPr txBox="1"/>
          <p:nvPr/>
        </p:nvSpPr>
        <p:spPr>
          <a:xfrm>
            <a:off x="93471" y="2061566"/>
            <a:ext cx="1670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I need to know about stem and leaf plots?</a:t>
            </a:r>
            <a:endParaRPr lang="en-AU" dirty="0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ADAF878A-EDDB-4E28-AE7F-ABE77C6FB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4" y="2107976"/>
            <a:ext cx="5920621" cy="10034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61EA1ED-A59B-4032-91AA-3074F4DA8C50}"/>
              </a:ext>
            </a:extLst>
          </p:cNvPr>
          <p:cNvSpPr txBox="1"/>
          <p:nvPr/>
        </p:nvSpPr>
        <p:spPr>
          <a:xfrm>
            <a:off x="2439782" y="3284984"/>
            <a:ext cx="314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00FF00"/>
                </a:highlight>
              </a:rPr>
              <a:t>Do a stem and leaf for this data</a:t>
            </a:r>
            <a:endParaRPr lang="en-AU" dirty="0">
              <a:highlight>
                <a:srgbClr val="00FF00"/>
              </a:highlight>
            </a:endParaRPr>
          </a:p>
        </p:txBody>
      </p:sp>
      <p:pic>
        <p:nvPicPr>
          <p:cNvPr id="17" name="Picture 16" descr="Table&#10;&#10;Description automatically generated">
            <a:extLst>
              <a:ext uri="{FF2B5EF4-FFF2-40B4-BE49-F238E27FC236}">
                <a16:creationId xmlns:a16="http://schemas.microsoft.com/office/drawing/2014/main" id="{ECDF2FDE-7B21-40F5-8E52-A9C7A08B3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049" y="3678842"/>
            <a:ext cx="6232171" cy="315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05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80750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68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340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read different statistical graphs?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7FA4DF-5AB8-4519-BEEE-675914E2D70C}"/>
              </a:ext>
            </a:extLst>
          </p:cNvPr>
          <p:cNvSpPr txBox="1"/>
          <p:nvPr/>
        </p:nvSpPr>
        <p:spPr>
          <a:xfrm>
            <a:off x="100396" y="4957306"/>
            <a:ext cx="1951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I need to know about histograms?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038866-3055-4210-BE32-70AE2A803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6831"/>
            <a:ext cx="9144000" cy="28285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9CD718-8BE6-494A-8DEC-C6994BDA92EC}"/>
              </a:ext>
            </a:extLst>
          </p:cNvPr>
          <p:cNvSpPr txBox="1"/>
          <p:nvPr/>
        </p:nvSpPr>
        <p:spPr>
          <a:xfrm>
            <a:off x="2195736" y="4957306"/>
            <a:ext cx="684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00FF00"/>
                </a:highlight>
              </a:rPr>
              <a:t>Can you see the difference between a histogram and a column graph?</a:t>
            </a:r>
            <a:endParaRPr lang="en-AU" dirty="0">
              <a:highlight>
                <a:srgbClr val="00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FA6787-C48E-4752-AE3B-B7DEC6C7FB4C}"/>
              </a:ext>
            </a:extLst>
          </p:cNvPr>
          <p:cNvSpPr txBox="1"/>
          <p:nvPr/>
        </p:nvSpPr>
        <p:spPr>
          <a:xfrm>
            <a:off x="2200808" y="5471756"/>
            <a:ext cx="6480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A histogram represents grouped numerical data</a:t>
            </a:r>
          </a:p>
          <a:p>
            <a:pPr marL="342900" indent="-342900">
              <a:buAutoNum type="arabicPeriod"/>
            </a:pPr>
            <a:r>
              <a:rPr lang="en-GB" dirty="0"/>
              <a:t>Height of each column corresponds to a frequency/quantity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196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80750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68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3747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read different statistical graphs?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7FA4DF-5AB8-4519-BEEE-675914E2D70C}"/>
              </a:ext>
            </a:extLst>
          </p:cNvPr>
          <p:cNvSpPr txBox="1"/>
          <p:nvPr/>
        </p:nvSpPr>
        <p:spPr>
          <a:xfrm>
            <a:off x="50106" y="2057073"/>
            <a:ext cx="1951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I need to know about scatter plots?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FA6787-C48E-4752-AE3B-B7DEC6C7FB4C}"/>
              </a:ext>
            </a:extLst>
          </p:cNvPr>
          <p:cNvSpPr txBox="1"/>
          <p:nvPr/>
        </p:nvSpPr>
        <p:spPr>
          <a:xfrm>
            <a:off x="2159734" y="5685812"/>
            <a:ext cx="6480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Scatterplot allows us to see if there is a relationship between two variables and can be used to predict</a:t>
            </a:r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80AF2C-3D39-4AFC-8CA1-D26B69639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978" y="930002"/>
            <a:ext cx="5212532" cy="45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9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80750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68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3747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read different statistical graphs?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7FA4DF-5AB8-4519-BEEE-675914E2D70C}"/>
              </a:ext>
            </a:extLst>
          </p:cNvPr>
          <p:cNvSpPr txBox="1"/>
          <p:nvPr/>
        </p:nvSpPr>
        <p:spPr>
          <a:xfrm>
            <a:off x="50106" y="2057073"/>
            <a:ext cx="1951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I need to know about scatter plots?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FA6787-C48E-4752-AE3B-B7DEC6C7FB4C}"/>
              </a:ext>
            </a:extLst>
          </p:cNvPr>
          <p:cNvSpPr txBox="1"/>
          <p:nvPr/>
        </p:nvSpPr>
        <p:spPr>
          <a:xfrm>
            <a:off x="2159734" y="5685812"/>
            <a:ext cx="6480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00FF00"/>
                </a:highlight>
              </a:rPr>
              <a:t>How much would it cost to buy a 7 year old golf cart?</a:t>
            </a:r>
          </a:p>
          <a:p>
            <a:r>
              <a:rPr lang="en-GB" dirty="0">
                <a:highlight>
                  <a:srgbClr val="00FF00"/>
                </a:highlight>
              </a:rPr>
              <a:t>How much would it cost to buy a 1 year old golf cart?</a:t>
            </a:r>
          </a:p>
          <a:p>
            <a:r>
              <a:rPr lang="en-GB" dirty="0">
                <a:highlight>
                  <a:srgbClr val="00FF00"/>
                </a:highlight>
              </a:rPr>
              <a:t>If I had $15000, what is the lowest age golf car I could buy?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EF8B92-5A9D-4366-9A28-7C472DE63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636" y="1873421"/>
            <a:ext cx="6480716" cy="388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6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4546</TotalTime>
  <Words>609</Words>
  <Application>Microsoft Office PowerPoint</Application>
  <PresentationFormat>On-screen Show (4:3)</PresentationFormat>
  <Paragraphs>110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My Statistics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jodi wilding</cp:lastModifiedBy>
  <cp:revision>76</cp:revision>
  <dcterms:created xsi:type="dcterms:W3CDTF">2014-05-14T02:58:57Z</dcterms:created>
  <dcterms:modified xsi:type="dcterms:W3CDTF">2021-08-10T12:36:02Z</dcterms:modified>
</cp:coreProperties>
</file>
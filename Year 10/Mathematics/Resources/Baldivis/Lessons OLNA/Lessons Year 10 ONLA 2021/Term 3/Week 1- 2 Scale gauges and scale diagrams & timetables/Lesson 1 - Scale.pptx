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8" r:id="rId5"/>
    <p:sldId id="272" r:id="rId6"/>
    <p:sldId id="271" r:id="rId7"/>
    <p:sldId id="273" r:id="rId8"/>
    <p:sldId id="274" r:id="rId9"/>
    <p:sldId id="275" r:id="rId10"/>
    <p:sldId id="276" r:id="rId11"/>
    <p:sldId id="280" r:id="rId12"/>
    <p:sldId id="279" r:id="rId13"/>
    <p:sldId id="260" r:id="rId14"/>
    <p:sldId id="277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8" autoAdjust="0"/>
    <p:restoredTop sz="94715"/>
  </p:normalViewPr>
  <p:slideViewPr>
    <p:cSldViewPr snapToGrid="0">
      <p:cViewPr varScale="1">
        <p:scale>
          <a:sx n="68" d="100"/>
          <a:sy n="68" d="100"/>
        </p:scale>
        <p:origin x="10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7/28/2021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7/28/2021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7/28/2021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7/28/2021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7/28/2021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7/28/2021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7/28/2021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7/28/2021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7/28/2021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7/28/2021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7/28/2021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7/28/2021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7/28/2021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7/28/2021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5.jpeg"/><Relationship Id="rId7" Type="http://schemas.openxmlformats.org/officeDocument/2006/relationships/hyperlink" Target="http://www.geocities.com/firefly1002000/pz4e.jpg" TargetMode="External"/><Relationship Id="rId2" Type="http://schemas.openxmlformats.org/officeDocument/2006/relationships/hyperlink" Target="http://ritter.tea.state.tx.us/student.assessment/resources/online/2006/grade8/science/images/7graphicaa.gif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hyperlink" Target="http://home.comcast.net/~d_salyers/parker/Figure12.jpg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Distance and Length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1876" y="4508938"/>
            <a:ext cx="9270123" cy="94593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Topic: Distance and Length</a:t>
            </a:r>
          </a:p>
          <a:p>
            <a:r>
              <a:rPr lang="en-US" dirty="0"/>
              <a:t>EQ: How can we apply our knowledge of scale ratios to figure out real life distances?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6343"/>
            <a:ext cx="12055366" cy="1278374"/>
          </a:xfrm>
        </p:spPr>
        <p:txBody>
          <a:bodyPr>
            <a:normAutofit fontScale="90000"/>
          </a:bodyPr>
          <a:lstStyle/>
          <a:p>
            <a:r>
              <a:rPr lang="en-US"/>
              <a:t>Topic: Distance and Length</a:t>
            </a:r>
            <a:br>
              <a:rPr lang="en-US"/>
            </a:br>
            <a:r>
              <a:rPr lang="en-US"/>
              <a:t>EQ: How can we apply our knowledge of scale ratios to figure out real life distances?</a:t>
            </a:r>
            <a:br>
              <a:rPr lang="en-US"/>
            </a:br>
            <a:endParaRPr lang="en-GB" u="sng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698" y="2201259"/>
            <a:ext cx="9628632" cy="3986213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</a:rPr>
              <a:t>Learning Objectives:</a:t>
            </a:r>
          </a:p>
          <a:p>
            <a:pPr marL="0" indent="0">
              <a:buNone/>
            </a:pPr>
            <a:endParaRPr lang="en-GB" dirty="0">
              <a:solidFill>
                <a:schemeClr val="tx2"/>
              </a:solidFill>
            </a:endParaRPr>
          </a:p>
          <a:p>
            <a:r>
              <a:rPr lang="en-GB" dirty="0">
                <a:solidFill>
                  <a:schemeClr val="tx2"/>
                </a:solidFill>
              </a:rPr>
              <a:t>Understand what a scale tells you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dirty="0">
                <a:solidFill>
                  <a:schemeClr val="tx2"/>
                </a:solidFill>
              </a:rPr>
              <a:t>Able to produce a scale drawing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dirty="0">
                <a:solidFill>
                  <a:schemeClr val="tx2"/>
                </a:solidFill>
              </a:rPr>
              <a:t>Able to use a scale to read a map</a:t>
            </a:r>
          </a:p>
        </p:txBody>
      </p:sp>
    </p:spTree>
    <p:extLst>
      <p:ext uri="{BB962C8B-B14F-4D97-AF65-F5344CB8AC3E}">
        <p14:creationId xmlns:p14="http://schemas.microsoft.com/office/powerpoint/2010/main" val="158125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524000" y="0"/>
            <a:ext cx="82867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GB" sz="2800" u="sng">
                <a:solidFill>
                  <a:srgbClr val="7030A0"/>
                </a:solidFill>
                <a:latin typeface="Trebuchet MS" pitchFamily="34" charset="0"/>
              </a:rPr>
              <a:t>What are scale drawings?</a:t>
            </a:r>
          </a:p>
          <a:p>
            <a:pPr algn="ctr" eaLnBrk="1" hangingPunct="1"/>
            <a:r>
              <a:rPr lang="en-GB" sz="2800">
                <a:solidFill>
                  <a:srgbClr val="7030A0"/>
                </a:solidFill>
                <a:latin typeface="Trebuchet MS" pitchFamily="34" charset="0"/>
              </a:rPr>
              <a:t>Scale drawings are everywhere!</a:t>
            </a:r>
            <a:endParaRPr lang="en-US" sz="2800">
              <a:solidFill>
                <a:srgbClr val="7030A0"/>
              </a:solidFill>
              <a:latin typeface="Trebuchet MS" pitchFamily="34" charset="0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4953000" y="1000126"/>
            <a:ext cx="4286250" cy="1370013"/>
            <a:chOff x="3643306" y="1857364"/>
            <a:chExt cx="4286280" cy="1369464"/>
          </a:xfrm>
        </p:grpSpPr>
        <p:pic>
          <p:nvPicPr>
            <p:cNvPr id="7185" name="Picture 8" descr="See full size image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3306" y="1857364"/>
              <a:ext cx="2687704" cy="1214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6" name="TextBox 11"/>
            <p:cNvSpPr txBox="1">
              <a:spLocks noChangeArrowheads="1"/>
            </p:cNvSpPr>
            <p:nvPr/>
          </p:nvSpPr>
          <p:spPr bwMode="auto">
            <a:xfrm>
              <a:off x="6143636" y="2857496"/>
              <a:ext cx="17859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>
                  <a:latin typeface="Trebuchet MS" pitchFamily="34" charset="0"/>
                </a:rPr>
                <a:t>Scale Drawings</a:t>
              </a:r>
              <a:endParaRPr lang="en-US">
                <a:latin typeface="Trebuchet MS" pitchFamily="34" charset="0"/>
              </a:endParaRPr>
            </a:p>
          </p:txBody>
        </p:sp>
        <p:cxnSp>
          <p:nvCxnSpPr>
            <p:cNvPr id="14" name="Straight Arrow Connector 13"/>
            <p:cNvCxnSpPr>
              <a:stCxn id="7186" idx="1"/>
            </p:cNvCxnSpPr>
            <p:nvPr/>
          </p:nvCxnSpPr>
          <p:spPr>
            <a:xfrm rot="10800000">
              <a:off x="4214810" y="2928498"/>
              <a:ext cx="1928827" cy="1142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1524000" y="1000125"/>
            <a:ext cx="2857500" cy="2870200"/>
            <a:chOff x="0" y="1000108"/>
            <a:chExt cx="2857488" cy="2869662"/>
          </a:xfrm>
        </p:grpSpPr>
        <p:pic>
          <p:nvPicPr>
            <p:cNvPr id="718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786" y="1000108"/>
              <a:ext cx="2071702" cy="1789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Straight Arrow Connector 9"/>
            <p:cNvCxnSpPr/>
            <p:nvPr/>
          </p:nvCxnSpPr>
          <p:spPr>
            <a:xfrm rot="5400000" flipH="1" flipV="1">
              <a:off x="357265" y="2714221"/>
              <a:ext cx="857089" cy="71437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84" name="TextBox 10"/>
            <p:cNvSpPr txBox="1">
              <a:spLocks noChangeArrowheads="1"/>
            </p:cNvSpPr>
            <p:nvPr/>
          </p:nvSpPr>
          <p:spPr bwMode="auto">
            <a:xfrm>
              <a:off x="0" y="3500438"/>
              <a:ext cx="10715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>
                  <a:latin typeface="Trebuchet MS" pitchFamily="34" charset="0"/>
                </a:rPr>
                <a:t>On Maps</a:t>
              </a:r>
              <a:endParaRPr lang="en-US">
                <a:latin typeface="Trebuchet MS" pitchFamily="34" charset="0"/>
              </a:endParaRPr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1809750" y="3857626"/>
            <a:ext cx="4370388" cy="2282825"/>
            <a:chOff x="714348" y="4214818"/>
            <a:chExt cx="4370220" cy="2283553"/>
          </a:xfrm>
        </p:grpSpPr>
        <p:pic>
          <p:nvPicPr>
            <p:cNvPr id="7179" name="Picture 4" descr="See full size image">
              <a:hlinkClick r:id="rId5"/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348" y="4214818"/>
              <a:ext cx="1655576" cy="2283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0" name="TextBox 16"/>
            <p:cNvSpPr txBox="1">
              <a:spLocks noChangeArrowheads="1"/>
            </p:cNvSpPr>
            <p:nvPr/>
          </p:nvSpPr>
          <p:spPr bwMode="auto">
            <a:xfrm>
              <a:off x="2798552" y="5500702"/>
              <a:ext cx="22860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>
                  <a:latin typeface="Trebuchet MS" pitchFamily="34" charset="0"/>
                </a:rPr>
                <a:t>Footprints of houses</a:t>
              </a:r>
              <a:endParaRPr lang="en-US">
                <a:latin typeface="Trebuchet MS" pitchFamily="34" charset="0"/>
              </a:endParaRP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rot="10800000" flipV="1">
              <a:off x="2071609" y="5644024"/>
              <a:ext cx="714348" cy="24296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5238751" y="2928939"/>
            <a:ext cx="3929063" cy="2105025"/>
            <a:chOff x="3857620" y="4143380"/>
            <a:chExt cx="3929090" cy="2105605"/>
          </a:xfrm>
        </p:grpSpPr>
        <p:pic>
          <p:nvPicPr>
            <p:cNvPr id="7176" name="Picture 6" descr="See full size image">
              <a:hlinkClick r:id="rId7"/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6512" y="4214818"/>
              <a:ext cx="1500198" cy="2034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7" name="TextBox 21"/>
            <p:cNvSpPr txBox="1">
              <a:spLocks noChangeArrowheads="1"/>
            </p:cNvSpPr>
            <p:nvPr/>
          </p:nvSpPr>
          <p:spPr bwMode="auto">
            <a:xfrm>
              <a:off x="3857620" y="4143380"/>
              <a:ext cx="17859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>
                  <a:latin typeface="Trebuchet MS" pitchFamily="34" charset="0"/>
                </a:rPr>
                <a:t>Vehicle design</a:t>
              </a:r>
              <a:endParaRPr lang="en-US">
                <a:latin typeface="Trebuchet MS" pitchFamily="34" charset="0"/>
              </a:endParaRPr>
            </a:p>
          </p:txBody>
        </p:sp>
        <p:cxnSp>
          <p:nvCxnSpPr>
            <p:cNvPr id="24" name="Straight Arrow Connector 23"/>
            <p:cNvCxnSpPr>
              <a:stCxn id="7177" idx="2"/>
            </p:cNvCxnSpPr>
            <p:nvPr/>
          </p:nvCxnSpPr>
          <p:spPr>
            <a:xfrm rot="16200000" flipH="1">
              <a:off x="5381584" y="3881586"/>
              <a:ext cx="344583" cy="160814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945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GB" dirty="0"/>
              <a:t>Scale drawing allows us to draw large objects on a smaller scale while keeping them accurate.  We also do scale drawings of smaller objects and enlarge them in drawings.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All scale drawings  </a:t>
            </a:r>
            <a:r>
              <a:rPr lang="en-GB" u="sng" dirty="0"/>
              <a:t>must </a:t>
            </a:r>
            <a:r>
              <a:rPr lang="en-GB" dirty="0"/>
              <a:t> have a scale written on them.  Scales are usually expressed as ratios </a:t>
            </a:r>
          </a:p>
          <a:p>
            <a:endParaRPr lang="en-GB" dirty="0"/>
          </a:p>
          <a:p>
            <a:pPr>
              <a:defRPr/>
            </a:pPr>
            <a:r>
              <a:rPr lang="en-GB" u="sng" dirty="0"/>
              <a:t>Example: 1cm : 100cm    which can also be written as  1:100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The ratio 1cm:100cm means that for every 1cm on the scale drawing the length will be 100cm in real life</a:t>
            </a:r>
          </a:p>
          <a:p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466343"/>
            <a:ext cx="12055366" cy="1278374"/>
          </a:xfrm>
        </p:spPr>
        <p:txBody>
          <a:bodyPr>
            <a:normAutofit fontScale="90000"/>
          </a:bodyPr>
          <a:lstStyle/>
          <a:p>
            <a:r>
              <a:rPr lang="en-US"/>
              <a:t>Topic: Distance and Length</a:t>
            </a:r>
            <a:br>
              <a:rPr lang="en-US"/>
            </a:br>
            <a:r>
              <a:rPr lang="en-US"/>
              <a:t>EQ: How can we apply our knowledge of scale ratios to figure out real life distances?</a:t>
            </a:r>
            <a:br>
              <a:rPr lang="en-US"/>
            </a:br>
            <a:endParaRPr lang="en-GB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06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3" name="Picture 6" descr="Office Objects 05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478" y="2256762"/>
            <a:ext cx="1444625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4851102" y="2518372"/>
            <a:ext cx="1701107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 scale of </a:t>
            </a:r>
          </a:p>
          <a:p>
            <a:pPr algn="ctr">
              <a:defRPr/>
            </a:pPr>
            <a:endParaRPr lang="en-GB" sz="2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>
              <a:defRPr/>
            </a:pPr>
            <a:r>
              <a:rPr lang="en-GB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 cm = 2m</a:t>
            </a: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2832731" y="4431309"/>
            <a:ext cx="676178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algn="ctr" eaLnBrk="1" hangingPunct="1"/>
            <a:r>
              <a:rPr lang="en-GB" sz="2800" dirty="0"/>
              <a:t>…means for every 1cm measured on a</a:t>
            </a:r>
          </a:p>
          <a:p>
            <a:pPr algn="ctr" eaLnBrk="1" hangingPunct="1"/>
            <a:r>
              <a:rPr lang="en-GB" sz="2800" dirty="0"/>
              <a:t>drawing this represents 2m in real-life.</a:t>
            </a:r>
          </a:p>
        </p:txBody>
      </p:sp>
      <p:sp>
        <p:nvSpPr>
          <p:cNvPr id="22538" name="Text Box 12"/>
          <p:cNvSpPr txBox="1">
            <a:spLocks noChangeArrowheads="1"/>
          </p:cNvSpPr>
          <p:nvPr/>
        </p:nvSpPr>
        <p:spPr bwMode="auto">
          <a:xfrm>
            <a:off x="477260" y="1995152"/>
            <a:ext cx="16786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800" u="sng">
                <a:solidFill>
                  <a:srgbClr val="FF0000"/>
                </a:solidFill>
              </a:rPr>
              <a:t>Example:</a:t>
            </a:r>
            <a:endParaRPr lang="en-GB" sz="2800" u="sng" dirty="0">
              <a:solidFill>
                <a:srgbClr val="FF0000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454852"/>
            <a:ext cx="12034345" cy="1436029"/>
          </a:xfrm>
        </p:spPr>
        <p:txBody>
          <a:bodyPr>
            <a:normAutofit fontScale="90000"/>
          </a:bodyPr>
          <a:lstStyle/>
          <a:p>
            <a:r>
              <a:rPr lang="en-US"/>
              <a:t>Topic: Distance and Length</a:t>
            </a:r>
            <a:br>
              <a:rPr lang="en-US"/>
            </a:br>
            <a:r>
              <a:rPr lang="en-US"/>
              <a:t>EQ: How can we apply our knowledge of scale ratios to figure out real life distances?</a:t>
            </a:r>
            <a:br>
              <a:rPr lang="en-US"/>
            </a:br>
            <a:endParaRPr lang="en-GB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3934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 descr="Office Objects 05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76" y="1980406"/>
            <a:ext cx="1444625" cy="146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10" descr="PlasmaT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2714625"/>
            <a:ext cx="28892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Line 11"/>
          <p:cNvSpPr>
            <a:spLocks noChangeShapeType="1"/>
          </p:cNvSpPr>
          <p:nvPr/>
        </p:nvSpPr>
        <p:spPr bwMode="auto">
          <a:xfrm>
            <a:off x="3940176" y="2578100"/>
            <a:ext cx="28749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0" name="Text Box 12"/>
          <p:cNvSpPr txBox="1">
            <a:spLocks noChangeArrowheads="1"/>
          </p:cNvSpPr>
          <p:nvPr/>
        </p:nvSpPr>
        <p:spPr bwMode="auto">
          <a:xfrm>
            <a:off x="4991101" y="2032001"/>
            <a:ext cx="860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800"/>
              <a:t>4cm</a:t>
            </a:r>
          </a:p>
        </p:txBody>
      </p:sp>
      <p:sp>
        <p:nvSpPr>
          <p:cNvPr id="23561" name="Line 13"/>
          <p:cNvSpPr>
            <a:spLocks noChangeShapeType="1"/>
          </p:cNvSpPr>
          <p:nvPr/>
        </p:nvSpPr>
        <p:spPr bwMode="auto">
          <a:xfrm rot="5400000">
            <a:off x="6284913" y="3506788"/>
            <a:ext cx="1481138" cy="11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2" name="Text Box 14"/>
          <p:cNvSpPr txBox="1">
            <a:spLocks noChangeArrowheads="1"/>
          </p:cNvSpPr>
          <p:nvPr/>
        </p:nvSpPr>
        <p:spPr bwMode="auto">
          <a:xfrm>
            <a:off x="7145339" y="3379788"/>
            <a:ext cx="860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800"/>
              <a:t>2cm</a:t>
            </a: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2476501" y="4902201"/>
            <a:ext cx="50997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scale of this drawing is 1cm = 25cm</a:t>
            </a: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2617789" y="5532439"/>
            <a:ext cx="70871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omic Sans MS" pitchFamily="66" charset="0"/>
                <a:cs typeface="Arial" charset="0"/>
              </a:defRPr>
            </a:lvl9pPr>
          </a:lstStyle>
          <a:p>
            <a:pPr eaLnBrk="1" hangingPunct="1"/>
            <a:r>
              <a:rPr lang="en-GB" sz="2400" dirty="0"/>
              <a:t>What is the actual width and height of the TV ?</a:t>
            </a:r>
          </a:p>
        </p:txBody>
      </p:sp>
      <p:sp>
        <p:nvSpPr>
          <p:cNvPr id="13" name="AutoShape 17"/>
          <p:cNvSpPr>
            <a:spLocks noChangeArrowheads="1"/>
          </p:cNvSpPr>
          <p:nvPr/>
        </p:nvSpPr>
        <p:spPr bwMode="auto">
          <a:xfrm>
            <a:off x="7043739" y="1676400"/>
            <a:ext cx="3297237" cy="869950"/>
          </a:xfrm>
          <a:prstGeom prst="cloudCallout">
            <a:avLst>
              <a:gd name="adj1" fmla="val -81778"/>
              <a:gd name="adj2" fmla="val 2153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240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4x25= 100cm</a:t>
            </a:r>
          </a:p>
        </p:txBody>
      </p:sp>
      <p:sp>
        <p:nvSpPr>
          <p:cNvPr id="14" name="AutoShape 18"/>
          <p:cNvSpPr>
            <a:spLocks noChangeArrowheads="1"/>
          </p:cNvSpPr>
          <p:nvPr/>
        </p:nvSpPr>
        <p:spPr bwMode="auto">
          <a:xfrm>
            <a:off x="7053264" y="4078288"/>
            <a:ext cx="3614737" cy="881062"/>
          </a:xfrm>
          <a:prstGeom prst="cloudCallout">
            <a:avLst>
              <a:gd name="adj1" fmla="val -35903"/>
              <a:gd name="adj2" fmla="val -7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2800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2x25 = 50cm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77007" y="501353"/>
            <a:ext cx="11930910" cy="1299665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Distance and Length</a:t>
            </a:r>
            <a:br>
              <a:rPr lang="en-US" dirty="0"/>
            </a:br>
            <a:r>
              <a:rPr lang="en-US" dirty="0"/>
              <a:t>EQ: How can we apply our knowledge of scale ratios to figure out real life distances?</a:t>
            </a:r>
            <a:br>
              <a:rPr lang="en-US" dirty="0"/>
            </a:br>
            <a:endParaRPr lang="en-GB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8278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Scale Drawings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Scale of 1cm : 9m, what would the triangle in metres look like?</a:t>
            </a:r>
          </a:p>
        </p:txBody>
      </p:sp>
      <p:sp>
        <p:nvSpPr>
          <p:cNvPr id="6" name="Right Triangle 5"/>
          <p:cNvSpPr/>
          <p:nvPr/>
        </p:nvSpPr>
        <p:spPr>
          <a:xfrm>
            <a:off x="2567608" y="3140968"/>
            <a:ext cx="3528392" cy="2736304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4079776" y="403642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3752" y="587727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528" y="432445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3cm</a:t>
            </a:r>
          </a:p>
        </p:txBody>
      </p:sp>
      <p:sp>
        <p:nvSpPr>
          <p:cNvPr id="10" name="Right Triangle 9"/>
          <p:cNvSpPr/>
          <p:nvPr/>
        </p:nvSpPr>
        <p:spPr>
          <a:xfrm>
            <a:off x="6785457" y="3141356"/>
            <a:ext cx="3528392" cy="2736304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8297625" y="4036810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1601" y="5877660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0016" y="432484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27m</a:t>
            </a:r>
          </a:p>
        </p:txBody>
      </p:sp>
    </p:spTree>
    <p:extLst>
      <p:ext uri="{BB962C8B-B14F-4D97-AF65-F5344CB8AC3E}">
        <p14:creationId xmlns:p14="http://schemas.microsoft.com/office/powerpoint/2010/main" val="66530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77B445-6C6F-4E6C-92FC-C4EBDA288E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772"/>
          <a:stretch/>
        </p:blipFill>
        <p:spPr>
          <a:xfrm>
            <a:off x="1519142" y="529752"/>
            <a:ext cx="9153716" cy="604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4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466343"/>
            <a:ext cx="12055366" cy="1278374"/>
          </a:xfrm>
        </p:spPr>
        <p:txBody>
          <a:bodyPr>
            <a:normAutofit fontScale="90000"/>
          </a:bodyPr>
          <a:lstStyle/>
          <a:p>
            <a:r>
              <a:rPr lang="en-US"/>
              <a:t>Topic: Distance and Length</a:t>
            </a:r>
            <a:br>
              <a:rPr lang="en-US"/>
            </a:br>
            <a:r>
              <a:rPr lang="en-US"/>
              <a:t>EQ: How can we apply our knowledge of scale ratios to figure out real life distances?</a:t>
            </a:r>
            <a:br>
              <a:rPr lang="en-US"/>
            </a:br>
            <a:endParaRPr lang="en-GB" u="sng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5" y="2063531"/>
            <a:ext cx="10058400" cy="13380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5" y="3401575"/>
            <a:ext cx="10058400" cy="28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9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0" y="686103"/>
            <a:ext cx="12192000" cy="18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1175761"/>
            <a:ext cx="12192000" cy="18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861" y="159117"/>
            <a:ext cx="11224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TOPIC: CALCULATING DISTANCES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861" y="704765"/>
            <a:ext cx="10599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WE CALCULATE DISTANCES?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4FDA43-5EBA-4576-9DD5-966FADDD1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6232"/>
            <a:ext cx="12232113" cy="419219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4565C5-DB57-42F2-8B9E-87C61C6E3FB6}"/>
              </a:ext>
            </a:extLst>
          </p:cNvPr>
          <p:cNvCxnSpPr>
            <a:cxnSpLocks/>
          </p:cNvCxnSpPr>
          <p:nvPr/>
        </p:nvCxnSpPr>
        <p:spPr>
          <a:xfrm>
            <a:off x="1322363" y="1419572"/>
            <a:ext cx="6752492" cy="113806"/>
          </a:xfrm>
          <a:prstGeom prst="straightConnector1">
            <a:avLst/>
          </a:prstGeom>
          <a:ln w="222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9DADF5C-B7BB-4E70-8AAE-7163C2C1B917}"/>
              </a:ext>
            </a:extLst>
          </p:cNvPr>
          <p:cNvSpPr txBox="1"/>
          <p:nvPr/>
        </p:nvSpPr>
        <p:spPr>
          <a:xfrm>
            <a:off x="4768947" y="1155104"/>
            <a:ext cx="654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8cm</a:t>
            </a:r>
          </a:p>
        </p:txBody>
      </p:sp>
    </p:spTree>
    <p:extLst>
      <p:ext uri="{BB962C8B-B14F-4D97-AF65-F5344CB8AC3E}">
        <p14:creationId xmlns:p14="http://schemas.microsoft.com/office/powerpoint/2010/main" val="351189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3" t="5357" r="7077" b="6250"/>
          <a:stretch/>
        </p:blipFill>
        <p:spPr bwMode="auto">
          <a:xfrm>
            <a:off x="116897" y="66611"/>
            <a:ext cx="11875406" cy="679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585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n-GB" dirty="0"/>
              <a:t>How far is the Olympic Stadium from the Aquatics center?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/>
              <a:t>How far do you have to walk from Stratford International station to the Copper Box for the Handball event?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/>
              <a:t>What is the perimeter of the Water Polo arena?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/>
              <a:t>Which entrance is closer to the Olympic stadium; the Greenway gate of the Victoria gate and by how much?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6342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428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Comic Sans MS</vt:lpstr>
      <vt:lpstr>Trebuchet MS</vt:lpstr>
      <vt:lpstr>Wingdings</vt:lpstr>
      <vt:lpstr>Education 16x9</vt:lpstr>
      <vt:lpstr>Distance and Length</vt:lpstr>
      <vt:lpstr>Topic: Distance and Length EQ: How can we apply our knowledge of scale ratios to figure out real life distances? </vt:lpstr>
      <vt:lpstr>PowerPoint Presentation</vt:lpstr>
      <vt:lpstr>Topic: Distance and Length EQ: How can we apply our knowledge of scale ratios to figure out real life distances? </vt:lpstr>
      <vt:lpstr>Topic: Distance and Length EQ: How can we apply our knowledge of scale ratios to figure out real life distances? </vt:lpstr>
      <vt:lpstr>Topic: Distance and Length EQ: How can we apply our knowledge of scale ratios to figure out real life distances? </vt:lpstr>
      <vt:lpstr>Scale Drawings</vt:lpstr>
      <vt:lpstr>PowerPoint Presentation</vt:lpstr>
      <vt:lpstr>Topic: Distance and Length EQ: How can we apply our knowledge of scale ratios to figure out real life distances? </vt:lpstr>
      <vt:lpstr>PowerPoint Presentation</vt:lpstr>
      <vt:lpstr>PowerPoint Presentation</vt:lpstr>
      <vt:lpstr>Map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2021-07-28T12:23:40Z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
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30" r:id="rId1"/>
  </p:sldMasterIdLst>
  <p:notesMasterIdLst>
    <p:notesMasterId r:id="rId14"/>
  </p:notesMasterIdLst>
  <p:handoutMasterIdLst>
    <p:handoutMasterId r:id="rId15"/>
  </p:handoutMasterIdLst>
  <p:sldIdLst>
    <p:sldId id="266" r:id="rId2"/>
    <p:sldId id="267" r:id="rId3"/>
    <p:sldId id="283" r:id="rId4"/>
    <p:sldId id="277" r:id="rId5"/>
    <p:sldId id="280" r:id="rId6"/>
    <p:sldId id="284" r:id="rId7"/>
    <p:sldId id="281" r:id="rId8"/>
    <p:sldId id="275" r:id="rId9"/>
    <p:sldId id="282" r:id="rId10"/>
    <p:sldId id="286" r:id="rId11"/>
    <p:sldId id="285" r:id="rId12"/>
    <p:sldId id="276" r:id="rId13"/>
  </p:sldIdLst>
  <p:sldSz cx="12192000" cy="6858000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591188-AB50-4DA8-9700-D8F2E2E87015}" v="869" dt="2018-08-30T12:54:49.0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2"/>
    <p:restoredTop sz="78303" autoAdjust="0"/>
  </p:normalViewPr>
  <p:slideViewPr>
    <p:cSldViewPr snapToGrid="0" snapToObjects="1">
      <p:cViewPr varScale="1">
        <p:scale>
          <a:sx n="90" d="100"/>
          <a:sy n="90" d="100"/>
        </p:scale>
        <p:origin x="135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amilton Stott" userId="e28223afab1f786a" providerId="LiveId" clId="{F2591188-AB50-4DA8-9700-D8F2E2E87015}"/>
    <pc:docChg chg="custSel addSld delSld modSld sldOrd">
      <pc:chgData name="Hamilton Stott" userId="e28223afab1f786a" providerId="LiveId" clId="{F2591188-AB50-4DA8-9700-D8F2E2E87015}" dt="2018-08-30T12:54:49.093" v="867"/>
      <pc:docMkLst>
        <pc:docMk/>
      </pc:docMkLst>
      <pc:sldChg chg="modSp ord">
        <pc:chgData name="Hamilton Stott" userId="e28223afab1f786a" providerId="LiveId" clId="{F2591188-AB50-4DA8-9700-D8F2E2E87015}" dt="2018-08-30T12:45:05.094" v="850" actId="20577"/>
        <pc:sldMkLst>
          <pc:docMk/>
          <pc:sldMk cId="1119915101" sldId="281"/>
        </pc:sldMkLst>
        <pc:spChg chg="mod">
          <ac:chgData name="Hamilton Stott" userId="e28223afab1f786a" providerId="LiveId" clId="{F2591188-AB50-4DA8-9700-D8F2E2E87015}" dt="2018-08-30T12:45:05.094" v="850" actId="20577"/>
          <ac:spMkLst>
            <pc:docMk/>
            <pc:sldMk cId="1119915101" sldId="281"/>
            <ac:spMk id="3" creationId="{D632CB56-690D-40F0-B2B8-AB21F6820A29}"/>
          </ac:spMkLst>
        </pc:spChg>
      </pc:sldChg>
      <pc:sldChg chg="addSp delSp modSp">
        <pc:chgData name="Hamilton Stott" userId="e28223afab1f786a" providerId="LiveId" clId="{F2591188-AB50-4DA8-9700-D8F2E2E87015}" dt="2018-08-30T12:51:13.227" v="854" actId="478"/>
        <pc:sldMkLst>
          <pc:docMk/>
          <pc:sldMk cId="258419355" sldId="282"/>
        </pc:sldMkLst>
        <pc:spChg chg="add del mod">
          <ac:chgData name="Hamilton Stott" userId="e28223afab1f786a" providerId="LiveId" clId="{F2591188-AB50-4DA8-9700-D8F2E2E87015}" dt="2018-08-30T12:51:13.227" v="854" actId="478"/>
          <ac:spMkLst>
            <pc:docMk/>
            <pc:sldMk cId="258419355" sldId="282"/>
            <ac:spMk id="5" creationId="{15A58425-4A5F-4131-BAFA-C3F90F713125}"/>
          </ac:spMkLst>
        </pc:spChg>
        <pc:picChg chg="del">
          <ac:chgData name="Hamilton Stott" userId="e28223afab1f786a" providerId="LiveId" clId="{F2591188-AB50-4DA8-9700-D8F2E2E87015}" dt="2018-08-30T12:50:59.538" v="851" actId="478"/>
          <ac:picMkLst>
            <pc:docMk/>
            <pc:sldMk cId="258419355" sldId="282"/>
            <ac:picMk id="4" creationId="{EA264FCD-6F1D-4C12-A6AE-6BB028CCAEB8}"/>
          </ac:picMkLst>
        </pc:picChg>
        <pc:picChg chg="add mod">
          <ac:chgData name="Hamilton Stott" userId="e28223afab1f786a" providerId="LiveId" clId="{F2591188-AB50-4DA8-9700-D8F2E2E87015}" dt="2018-08-30T12:51:02.270" v="853" actId="1076"/>
          <ac:picMkLst>
            <pc:docMk/>
            <pc:sldMk cId="258419355" sldId="282"/>
            <ac:picMk id="6" creationId="{D305D4CC-1139-4B92-ABDE-285A4F265D56}"/>
          </ac:picMkLst>
        </pc:picChg>
      </pc:sldChg>
      <pc:sldChg chg="modSp modAnim">
        <pc:chgData name="Hamilton Stott" userId="e28223afab1f786a" providerId="LiveId" clId="{F2591188-AB50-4DA8-9700-D8F2E2E87015}" dt="2018-08-30T12:37:43.705" v="465" actId="20577"/>
        <pc:sldMkLst>
          <pc:docMk/>
          <pc:sldMk cId="1827861618" sldId="284"/>
        </pc:sldMkLst>
        <pc:spChg chg="mod">
          <ac:chgData name="Hamilton Stott" userId="e28223afab1f786a" providerId="LiveId" clId="{F2591188-AB50-4DA8-9700-D8F2E2E87015}" dt="2018-08-30T12:37:43.705" v="465" actId="20577"/>
          <ac:spMkLst>
            <pc:docMk/>
            <pc:sldMk cId="1827861618" sldId="284"/>
            <ac:spMk id="3" creationId="{49BB99EA-2F34-42B5-B2A5-7292458D1193}"/>
          </ac:spMkLst>
        </pc:spChg>
      </pc:sldChg>
      <pc:sldChg chg="addSp delSp modSp">
        <pc:chgData name="Hamilton Stott" userId="e28223afab1f786a" providerId="LiveId" clId="{F2591188-AB50-4DA8-9700-D8F2E2E87015}" dt="2018-08-30T12:53:00.887" v="859" actId="14100"/>
        <pc:sldMkLst>
          <pc:docMk/>
          <pc:sldMk cId="3910844235" sldId="285"/>
        </pc:sldMkLst>
        <pc:spChg chg="add mod">
          <ac:chgData name="Hamilton Stott" userId="e28223afab1f786a" providerId="LiveId" clId="{F2591188-AB50-4DA8-9700-D8F2E2E87015}" dt="2018-08-30T12:52:51.223" v="855" actId="478"/>
          <ac:spMkLst>
            <pc:docMk/>
            <pc:sldMk cId="3910844235" sldId="285"/>
            <ac:spMk id="5" creationId="{300B9B68-5EFE-4D3E-8579-373A67959332}"/>
          </ac:spMkLst>
        </pc:spChg>
        <pc:picChg chg="del">
          <ac:chgData name="Hamilton Stott" userId="e28223afab1f786a" providerId="LiveId" clId="{F2591188-AB50-4DA8-9700-D8F2E2E87015}" dt="2018-08-30T12:52:51.223" v="855" actId="478"/>
          <ac:picMkLst>
            <pc:docMk/>
            <pc:sldMk cId="3910844235" sldId="285"/>
            <ac:picMk id="4" creationId="{8E40DD64-7A53-445E-B8B8-76E35EABF361}"/>
          </ac:picMkLst>
        </pc:picChg>
        <pc:picChg chg="add mod">
          <ac:chgData name="Hamilton Stott" userId="e28223afab1f786a" providerId="LiveId" clId="{F2591188-AB50-4DA8-9700-D8F2E2E87015}" dt="2018-08-30T12:53:00.887" v="859" actId="14100"/>
          <ac:picMkLst>
            <pc:docMk/>
            <pc:sldMk cId="3910844235" sldId="285"/>
            <ac:picMk id="6" creationId="{891DB945-1459-4A10-B9C0-2A915D40260D}"/>
          </ac:picMkLst>
        </pc:picChg>
      </pc:sldChg>
      <pc:sldChg chg="addSp delSp modSp ord">
        <pc:chgData name="Hamilton Stott" userId="e28223afab1f786a" providerId="LiveId" clId="{F2591188-AB50-4DA8-9700-D8F2E2E87015}" dt="2018-08-30T12:54:49.093" v="867"/>
        <pc:sldMkLst>
          <pc:docMk/>
          <pc:sldMk cId="468542214" sldId="286"/>
        </pc:sldMkLst>
        <pc:spChg chg="add mod">
          <ac:chgData name="Hamilton Stott" userId="e28223afab1f786a" providerId="LiveId" clId="{F2591188-AB50-4DA8-9700-D8F2E2E87015}" dt="2018-08-30T12:53:43.960" v="860" actId="478"/>
          <ac:spMkLst>
            <pc:docMk/>
            <pc:sldMk cId="468542214" sldId="286"/>
            <ac:spMk id="4" creationId="{035E386A-FD4D-48EA-AA57-28686284C17B}"/>
          </ac:spMkLst>
        </pc:spChg>
        <pc:picChg chg="add mod">
          <ac:chgData name="Hamilton Stott" userId="e28223afab1f786a" providerId="LiveId" clId="{F2591188-AB50-4DA8-9700-D8F2E2E87015}" dt="2018-08-30T12:53:54.512" v="864" actId="1076"/>
          <ac:picMkLst>
            <pc:docMk/>
            <pc:sldMk cId="468542214" sldId="286"/>
            <ac:picMk id="5" creationId="{541995C2-578A-4925-B046-ECF96CCD2B33}"/>
          </ac:picMkLst>
        </pc:picChg>
        <pc:picChg chg="del">
          <ac:chgData name="Hamilton Stott" userId="e28223afab1f786a" providerId="LiveId" clId="{F2591188-AB50-4DA8-9700-D8F2E2E87015}" dt="2018-08-30T12:53:43.960" v="860" actId="478"/>
          <ac:picMkLst>
            <pc:docMk/>
            <pc:sldMk cId="468542214" sldId="286"/>
            <ac:picMk id="7" creationId="{F8CDC78F-B413-4943-BD32-23859C74FD41}"/>
          </ac:picMkLst>
        </pc:picChg>
      </pc:sldChg>
      <pc:sldChg chg="add del">
        <pc:chgData name="Hamilton Stott" userId="e28223afab1f786a" providerId="LiveId" clId="{F2591188-AB50-4DA8-9700-D8F2E2E87015}" dt="2018-08-30T12:54:38.125" v="866" actId="2696"/>
        <pc:sldMkLst>
          <pc:docMk/>
          <pc:sldMk cId="2986126602" sldId="287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20BBA0-19A2-4903-B8E2-BE4B96D7B492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A526747-71E3-40D8-A9C7-BCFA89696136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188506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DF2789E-5AC8-448E-8E6F-EC7423D7B148}" type="datetimeFigureOut">
              <a:rPr lang="en-GB" smtClean="0"/>
              <a:t>16/04/2021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85D6DF-A159-4F50-B9AF-8F30B100FF37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26226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AU" dirty="0"/>
              <a:t>Have a general discussion with the class about </a:t>
            </a:r>
            <a:r>
              <a:rPr lang="en-AU" dirty="0" err="1"/>
              <a:t>paypal</a:t>
            </a:r>
            <a:r>
              <a:rPr lang="en-AU" dirty="0"/>
              <a:t>, </a:t>
            </a:r>
            <a:r>
              <a:rPr lang="en-AU" dirty="0" err="1"/>
              <a:t>afterpay</a:t>
            </a:r>
            <a:r>
              <a:rPr lang="en-AU" dirty="0"/>
              <a:t>, credit cards, debit cards, google pay, apple pay etc.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C85D6DF-A159-4F50-B9AF-8F30B100FF37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42603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41221E5-7225-48EB-A4EE-420E7BFCF705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70747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accent1"/>
          </a:solidFill>
          <a:ln w="1270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09980" y="882376"/>
            <a:ext cx="9966960" cy="2926080"/>
          </a:xfrm>
        </p:spPr>
        <p:txBody>
          <a:bodyPr anchor="b">
            <a:normAutofit/>
          </a:bodyPr>
          <a:lstStyle>
            <a:lvl1pPr algn="ctr">
              <a:lnSpc>
                <a:spcPct val="85000"/>
              </a:lnSpc>
              <a:defRPr sz="7200" b="1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09530" y="3869634"/>
            <a:ext cx="8767860" cy="1388165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rgbClr val="FFFFFF"/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8" name="Straight Connector 7"/>
          <p:cNvCxnSpPr/>
          <p:nvPr/>
        </p:nvCxnSpPr>
        <p:spPr>
          <a:xfrm>
            <a:off x="1978660" y="3733800"/>
            <a:ext cx="8229601" cy="0"/>
          </a:xfrm>
          <a:prstGeom prst="line">
            <a:avLst/>
          </a:prstGeom>
          <a:ln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182895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866305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06424" y="1173575"/>
            <a:ext cx="9966960" cy="2926080"/>
          </a:xfrm>
        </p:spPr>
        <p:txBody>
          <a:bodyPr anchor="b">
            <a:noAutofit/>
          </a:bodyPr>
          <a:lstStyle>
            <a:lvl1pPr algn="ctr">
              <a:lnSpc>
                <a:spcPct val="85000"/>
              </a:lnSpc>
              <a:defRPr sz="7200" b="0" cap="all" baseline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09928" y="4154520"/>
            <a:ext cx="8769096" cy="1363806"/>
          </a:xfrm>
        </p:spPr>
        <p:txBody>
          <a:bodyPr anchor="t">
            <a:normAutofit/>
          </a:bodyPr>
          <a:lstStyle>
            <a:lvl1pPr marL="0" indent="0" algn="ctr">
              <a:buNone/>
              <a:defRPr sz="2200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  <p:cxnSp>
        <p:nvCxnSpPr>
          <p:cNvPr id="7" name="Straight Connector 6"/>
          <p:cNvCxnSpPr/>
          <p:nvPr/>
        </p:nvCxnSpPr>
        <p:spPr>
          <a:xfrm>
            <a:off x="1981200" y="4020408"/>
            <a:ext cx="8229601" cy="0"/>
          </a:xfrm>
          <a:prstGeom prst="line">
            <a:avLst/>
          </a:prstGeom>
          <a:ln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02961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3000" y="2057399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67612" y="2057400"/>
            <a:ext cx="4754880" cy="402336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5348844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01511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3000" y="2721483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69173" y="1999032"/>
            <a:ext cx="4754880" cy="777240"/>
          </a:xfrm>
        </p:spPr>
        <p:txBody>
          <a:bodyPr anchor="ctr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69173" y="2719322"/>
            <a:ext cx="4754880" cy="3383280"/>
          </a:xfrm>
        </p:spPr>
        <p:txBody>
          <a:bodyPr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2591780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029928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7146899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52159" y="1097280"/>
            <a:ext cx="5212080" cy="46634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301752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4913652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1097280"/>
            <a:ext cx="3931920" cy="1737360"/>
          </a:xfrm>
        </p:spPr>
        <p:txBody>
          <a:bodyPr anchor="b">
            <a:noAutofit/>
          </a:bodyPr>
          <a:lstStyle>
            <a:lvl1pPr>
              <a:lnSpc>
                <a:spcPct val="90000"/>
              </a:lnSpc>
              <a:defRPr sz="40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413248" y="1069847"/>
            <a:ext cx="6099048" cy="4800600"/>
          </a:xfrm>
        </p:spPr>
        <p:txBody>
          <a:bodyPr lIns="274320" tIns="182880" anchor="t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2834640"/>
            <a:ext cx="3931920" cy="288036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7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7997826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71092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762000"/>
            <a:ext cx="2324100" cy="5410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3000" y="762000"/>
            <a:ext cx="7429500" cy="5410200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625229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231140" y="243840"/>
            <a:ext cx="11724640" cy="6377939"/>
          </a:xfrm>
          <a:prstGeom prst="rect">
            <a:avLst/>
          </a:prstGeom>
          <a:solidFill>
            <a:schemeClr val="bg1"/>
          </a:solidFill>
          <a:ln w="127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3000" y="609600"/>
            <a:ext cx="9875520" cy="135636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3000" y="2057400"/>
            <a:ext cx="9872871" cy="4038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42996" y="6223828"/>
            <a:ext cx="23290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accent1"/>
                </a:solidFill>
              </a:defRPr>
            </a:lvl1pPr>
          </a:lstStyle>
          <a:p>
            <a:fld id="{EEBC23BB-2070-D146-BD10-A01B23AF686B}" type="datetimeFigureOut">
              <a:rPr lang="en-AU" smtClean="0"/>
              <a:t>16/04/2021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949148" y="6223828"/>
            <a:ext cx="471777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accent1"/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329530" y="6223828"/>
            <a:ext cx="17062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9D89D79F-077F-204B-9403-1DA3DE99CFD3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00067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1" r:id="rId1"/>
    <p:sldLayoutId id="2147483832" r:id="rId2"/>
    <p:sldLayoutId id="2147483833" r:id="rId3"/>
    <p:sldLayoutId id="2147483834" r:id="rId4"/>
    <p:sldLayoutId id="2147483835" r:id="rId5"/>
    <p:sldLayoutId id="2147483836" r:id="rId6"/>
    <p:sldLayoutId id="2147483837" r:id="rId7"/>
    <p:sldLayoutId id="2147483838" r:id="rId8"/>
    <p:sldLayoutId id="2147483839" r:id="rId9"/>
    <p:sldLayoutId id="2147483840" r:id="rId10"/>
    <p:sldLayoutId id="214748384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600" indent="-182880" algn="l" defTabSz="914400" rtl="0" eaLnBrk="1" latinLnBrk="0" hangingPunct="1">
        <a:lnSpc>
          <a:spcPct val="90000"/>
        </a:lnSpc>
        <a:spcBef>
          <a:spcPts val="1400"/>
        </a:spcBef>
        <a:buClr>
          <a:schemeClr val="accent1"/>
        </a:buClr>
        <a:buSzPct val="80000"/>
        <a:buFont typeface="Corbel" pitchFamily="34" charset="0"/>
        <a:buChar char="•"/>
        <a:defRPr sz="2200" kern="1200">
          <a:solidFill>
            <a:schemeClr val="accent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2000" kern="1200">
          <a:solidFill>
            <a:schemeClr val="accent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800" kern="1200">
          <a:solidFill>
            <a:schemeClr val="accent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SzPct val="80000"/>
        <a:buFont typeface="Corbel" pitchFamily="34" charset="0"/>
        <a:buChar char="•"/>
        <a:defRPr sz="1600" kern="1200">
          <a:solidFill>
            <a:schemeClr val="accent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D42744-6AE1-4460-BB81-220391B100E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  <a:t>Simple Interest</a:t>
            </a:r>
            <a:br>
              <a:rPr lang="en-US" sz="5400" b="1" dirty="0">
                <a:solidFill>
                  <a:srgbClr val="0070C0"/>
                </a:solidFill>
                <a:latin typeface="Kiwi School Handwriting" panose="00000500000000000000" pitchFamily="2" charset="0"/>
              </a:rPr>
            </a:br>
            <a:endParaRPr lang="en-GB" sz="54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1CE286F-EE8D-4E43-8AA7-04B4265BF31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AU" sz="2000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Year </a:t>
            </a:r>
            <a:r>
              <a:rPr lang="en-AU" b="1" dirty="0">
                <a:solidFill>
                  <a:schemeClr val="accent2">
                    <a:lumMod val="75000"/>
                  </a:schemeClr>
                </a:solidFill>
                <a:latin typeface="Kiwi School Handwriting" panose="00000500000000000000"/>
              </a:rPr>
              <a:t>11 Essentials</a:t>
            </a:r>
            <a:endParaRPr lang="en-GB" sz="2000" b="1" dirty="0">
              <a:solidFill>
                <a:schemeClr val="accent2">
                  <a:lumMod val="75000"/>
                </a:schemeClr>
              </a:solidFill>
              <a:latin typeface="Kiwi School Handwriting" panose="00000500000000000000"/>
            </a:endParaRP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92862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30000"/>
            <a:lum/>
          </a:blip>
          <a:srcRect/>
          <a:stretch>
            <a:fillRect t="-9000" b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96406D-1B0F-4A8E-9995-B02B2CB3C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2">
                    <a:lumMod val="75000"/>
                  </a:schemeClr>
                </a:solidFill>
                <a:latin typeface="Kiwi School Handwriting"/>
              </a:rPr>
              <a:t>Learning Outcomes</a:t>
            </a:r>
            <a:endParaRPr lang="en-GB" sz="5400" b="1" dirty="0">
              <a:solidFill>
                <a:schemeClr val="accent2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E691107-7794-4BDC-A667-DF76D18C93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AU" sz="3200" dirty="0"/>
              <a:t>Calculate Simple Interest (2.2.4)</a:t>
            </a:r>
          </a:p>
          <a:p>
            <a:pPr marL="0" indent="0">
              <a:buNone/>
            </a:pPr>
            <a:endParaRPr lang="en-AU" sz="3200" dirty="0"/>
          </a:p>
          <a:p>
            <a:pPr marL="0" indent="0">
              <a:buNone/>
            </a:pPr>
            <a:r>
              <a:rPr lang="en-AU" sz="3200" dirty="0"/>
              <a:t>(Application of percentages)</a:t>
            </a:r>
          </a:p>
          <a:p>
            <a:pPr marL="0" indent="0">
              <a:buNone/>
            </a:pPr>
            <a:endParaRPr lang="en-GB" sz="3200" b="1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188429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9B7BF1-B7FD-43B1-A6E5-0C01A1B9E0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Up – Talk – Down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76A1548-1149-47B2-B58F-5615F2A0BEEA}"/>
              </a:ext>
            </a:extLst>
          </p:cNvPr>
          <p:cNvSpPr txBox="1">
            <a:spLocks noChangeArrowheads="1"/>
          </p:cNvSpPr>
          <p:nvPr/>
        </p:nvSpPr>
        <p:spPr>
          <a:xfrm>
            <a:off x="1282780" y="1901728"/>
            <a:ext cx="9575720" cy="4406946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400" dirty="0"/>
              <a:t>			</a:t>
            </a:r>
          </a:p>
          <a:p>
            <a:pPr marL="533400" indent="-533400"/>
            <a:r>
              <a:rPr lang="en-US" sz="2400" dirty="0"/>
              <a:t>Spend 60 seconds writing down all of the ways you can pay for things (including all the electronic payment methods)</a:t>
            </a:r>
          </a:p>
          <a:p>
            <a:pPr marL="533400" indent="-533400"/>
            <a:r>
              <a:rPr lang="en-US" sz="2400" dirty="0"/>
              <a:t>When asked, everyone will stand up, take turns to say one of your items, and then sit down once you have had your turn to speak</a:t>
            </a:r>
          </a:p>
        </p:txBody>
      </p:sp>
    </p:spTree>
    <p:extLst>
      <p:ext uri="{BB962C8B-B14F-4D97-AF65-F5344CB8AC3E}">
        <p14:creationId xmlns:p14="http://schemas.microsoft.com/office/powerpoint/2010/main" val="3207765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/>
          <p:cNvCxnSpPr>
            <a:cxnSpLocks/>
          </p:cNvCxnSpPr>
          <p:nvPr/>
        </p:nvCxnSpPr>
        <p:spPr>
          <a:xfrm>
            <a:off x="1589" y="791805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588" y="-46627"/>
            <a:ext cx="575914" cy="830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24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7</a:t>
            </a:r>
          </a:p>
          <a:p>
            <a:pPr defTabSz="914126"/>
            <a:r>
              <a:rPr lang="en-AU" sz="1600" dirty="0">
                <a:solidFill>
                  <a:prstClr val="black"/>
                </a:solidFill>
                <a:latin typeface="Calibri" panose="020F0502020204030204"/>
              </a:rPr>
              <a:t>30</a:t>
            </a:r>
          </a:p>
        </p:txBody>
      </p:sp>
      <p:cxnSp>
        <p:nvCxnSpPr>
          <p:cNvPr id="9" name="Straight Connector 8"/>
          <p:cNvCxnSpPr>
            <a:cxnSpLocks/>
          </p:cNvCxnSpPr>
          <p:nvPr/>
        </p:nvCxnSpPr>
        <p:spPr>
          <a:xfrm>
            <a:off x="1847528" y="1298662"/>
            <a:ext cx="0" cy="5559338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89031" y="61709"/>
            <a:ext cx="27560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3200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Simple Interest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48633" y="204438"/>
            <a:ext cx="2447967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dirty="0">
                <a:solidFill>
                  <a:prstClr val="black"/>
                </a:solidFill>
                <a:latin typeface="Calibri" panose="020F0502020204030204"/>
              </a:rPr>
              <a:t>Date:   /   /2018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91345" y="858948"/>
            <a:ext cx="10607625" cy="4615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126"/>
            <a:r>
              <a:rPr lang="en-AU" sz="2399" b="1" dirty="0">
                <a:solidFill>
                  <a:prstClr val="black"/>
                </a:solidFill>
                <a:latin typeface="Kiwi School Handwriting" panose="00000500000000000000" pitchFamily="2" charset="0"/>
              </a:rPr>
              <a:t>EQ – How do I calculate Simple Interest if I don’t have a whole number of years?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7B753F7B-0DF6-4B46-B9CC-2218E2961FD5}"/>
              </a:ext>
            </a:extLst>
          </p:cNvPr>
          <p:cNvCxnSpPr>
            <a:cxnSpLocks/>
          </p:cNvCxnSpPr>
          <p:nvPr/>
        </p:nvCxnSpPr>
        <p:spPr>
          <a:xfrm>
            <a:off x="1589" y="1298662"/>
            <a:ext cx="12188825" cy="0"/>
          </a:xfrm>
          <a:prstGeom prst="line">
            <a:avLst/>
          </a:prstGeom>
          <a:ln w="28575">
            <a:solidFill>
              <a:srgbClr val="7030A0"/>
            </a:solidFill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296569" y="1524454"/>
                <a:ext cx="4869716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en-US" sz="2800" dirty="0">
                    <a:latin typeface="Verdana" pitchFamily="34" charset="0"/>
                  </a:rPr>
                  <a:t>		</a:t>
                </a:r>
                <a:r>
                  <a:rPr lang="en-US" sz="2800" i="1" dirty="0">
                    <a:solidFill>
                      <a:srgbClr val="006600"/>
                    </a:solidFill>
                    <a:latin typeface="Verdana" pitchFamily="34" charset="0"/>
                  </a:rPr>
                  <a:t>I</a:t>
                </a:r>
                <a:r>
                  <a:rPr lang="en-US" sz="2800" dirty="0">
                    <a:solidFill>
                      <a:srgbClr val="006600"/>
                    </a:solidFill>
                    <a:latin typeface="Verdana" pitchFamily="34" charset="0"/>
                  </a:rPr>
                  <a:t> </a:t>
                </a:r>
                <a:r>
                  <a:rPr lang="en-US" sz="2800" dirty="0">
                    <a:latin typeface="Verdana" pitchFamily="34" charset="0"/>
                  </a:rPr>
                  <a:t>= </a:t>
                </a:r>
                <a:r>
                  <a:rPr lang="en-US" sz="2800" i="1" dirty="0">
                    <a:solidFill>
                      <a:srgbClr val="006699"/>
                    </a:solidFill>
                    <a:latin typeface="Verdana" pitchFamily="34" charset="0"/>
                  </a:rPr>
                  <a:t>P</a:t>
                </a:r>
                <a:r>
                  <a:rPr lang="en-US" sz="2800" dirty="0">
                    <a:latin typeface="Verdana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AU" sz="24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4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r</a:t>
                </a:r>
                <a:r>
                  <a:rPr lang="en-US" sz="2800" dirty="0">
                    <a:solidFill>
                      <a:srgbClr val="FF0000"/>
                    </a:solidFill>
                    <a:latin typeface="Verdana" pitchFamily="34" charset="0"/>
                    <a:sym typeface="Webdings" charset="2"/>
                  </a:rPr>
                  <a:t> </a:t>
                </a:r>
                <a14:m>
                  <m:oMath xmlns:m="http://schemas.openxmlformats.org/officeDocument/2006/math">
                    <m:r>
                      <a:rPr lang="en-AU" sz="2800" i="1"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lang="en-US" sz="2800" dirty="0">
                    <a:latin typeface="Verdana" pitchFamily="34" charset="0"/>
                    <a:sym typeface="Webdings" charset="2"/>
                  </a:rPr>
                  <a:t> </a:t>
                </a:r>
                <a:r>
                  <a:rPr lang="en-US" sz="2800" i="1" dirty="0">
                    <a:solidFill>
                      <a:srgbClr val="660066"/>
                    </a:solidFill>
                    <a:latin typeface="Verdana" pitchFamily="34" charset="0"/>
                    <a:sym typeface="Webdings" charset="2"/>
                  </a:rPr>
                  <a:t>t</a:t>
                </a:r>
              </a:p>
            </p:txBody>
          </p:sp>
        </mc:Choice>
        <mc:Fallback xmlns="">
          <p:sp>
            <p:nvSpPr>
              <p:cNvPr id="12" name="Text Box 14">
                <a:extLst>
                  <a:ext uri="{FF2B5EF4-FFF2-40B4-BE49-F238E27FC236}">
                    <a16:creationId xmlns:a16="http://schemas.microsoft.com/office/drawing/2014/main" id="{1BFF3DF3-8952-41ED-BAAF-A426306F9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296569" y="1524454"/>
                <a:ext cx="4869716" cy="523220"/>
              </a:xfrm>
              <a:prstGeom prst="rect">
                <a:avLst/>
              </a:prstGeom>
              <a:blipFill>
                <a:blip r:embed="rId3"/>
                <a:stretch>
                  <a:fillRect t="-12791" b="-3023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D4DBC823-20A0-453A-AECD-D54BF369D217}"/>
              </a:ext>
            </a:extLst>
          </p:cNvPr>
          <p:cNvSpPr/>
          <p:nvPr/>
        </p:nvSpPr>
        <p:spPr>
          <a:xfrm>
            <a:off x="5576792" y="1524454"/>
            <a:ext cx="6096000" cy="406265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000" i="1" dirty="0">
                <a:solidFill>
                  <a:srgbClr val="006600"/>
                </a:solidFill>
                <a:latin typeface="Verdana" pitchFamily="34" charset="0"/>
              </a:rPr>
              <a:t>I</a:t>
            </a:r>
            <a:r>
              <a:rPr lang="en-US" sz="2000" dirty="0">
                <a:solidFill>
                  <a:srgbClr val="006600"/>
                </a:solidFill>
                <a:latin typeface="Verdana" pitchFamily="34" charset="0"/>
              </a:rPr>
              <a:t> </a:t>
            </a:r>
            <a:r>
              <a:rPr lang="en-US" sz="2000" dirty="0">
                <a:latin typeface="Verdana" pitchFamily="34" charset="0"/>
              </a:rPr>
              <a:t>= </a:t>
            </a:r>
            <a:r>
              <a:rPr lang="en-US" sz="2000" dirty="0">
                <a:solidFill>
                  <a:srgbClr val="006600"/>
                </a:solidFill>
                <a:latin typeface="Verdana" pitchFamily="34" charset="0"/>
              </a:rPr>
              <a:t>Simple interest </a:t>
            </a:r>
            <a:r>
              <a:rPr lang="en-US" sz="2000" dirty="0">
                <a:latin typeface="Verdana" pitchFamily="34" charset="0"/>
              </a:rPr>
              <a:t>is money paid only on the principal.</a:t>
            </a:r>
          </a:p>
          <a:p>
            <a:endParaRPr lang="en-US" sz="2000" i="1" dirty="0">
              <a:solidFill>
                <a:srgbClr val="006699"/>
              </a:solidFill>
              <a:latin typeface="Verdana" pitchFamily="34" charset="0"/>
            </a:endParaRPr>
          </a:p>
          <a:p>
            <a:r>
              <a:rPr lang="en-US" sz="2000" i="1" dirty="0">
                <a:solidFill>
                  <a:srgbClr val="006699"/>
                </a:solidFill>
                <a:latin typeface="Verdana" pitchFamily="34" charset="0"/>
              </a:rPr>
              <a:t>P</a:t>
            </a:r>
            <a:r>
              <a:rPr lang="en-US" sz="2000" dirty="0">
                <a:latin typeface="Verdana" pitchFamily="34" charset="0"/>
              </a:rPr>
              <a:t> = </a:t>
            </a:r>
            <a:r>
              <a:rPr lang="en-US" sz="2000" dirty="0">
                <a:solidFill>
                  <a:srgbClr val="006699"/>
                </a:solidFill>
                <a:latin typeface="Verdana" pitchFamily="34" charset="0"/>
              </a:rPr>
              <a:t>Principal</a:t>
            </a:r>
            <a:r>
              <a:rPr lang="en-US" sz="2000" dirty="0">
                <a:latin typeface="Verdana" pitchFamily="34" charset="0"/>
              </a:rPr>
              <a:t> is the amount of money borrowed or invested.</a:t>
            </a:r>
          </a:p>
          <a:p>
            <a:endParaRPr lang="en-US" sz="2000" dirty="0">
              <a:latin typeface="Verdana" pitchFamily="34" charset="0"/>
            </a:endParaRPr>
          </a:p>
          <a:p>
            <a:r>
              <a:rPr lang="en-US" sz="2000" i="1" dirty="0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r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  <a:sym typeface="Webdings" charset="2"/>
              </a:rPr>
              <a:t> = </a:t>
            </a:r>
            <a:r>
              <a:rPr lang="en-US" sz="2000" dirty="0">
                <a:solidFill>
                  <a:srgbClr val="FF0000"/>
                </a:solidFill>
                <a:latin typeface="Verdana" pitchFamily="34" charset="0"/>
              </a:rPr>
              <a:t>Rate of interest</a:t>
            </a:r>
            <a:r>
              <a:rPr lang="en-US" sz="2000" dirty="0">
                <a:latin typeface="Verdana" pitchFamily="34" charset="0"/>
              </a:rPr>
              <a:t> is the percent charged per year or earned as a decimal. This is sometimes called a flat rate</a:t>
            </a:r>
          </a:p>
          <a:p>
            <a:endParaRPr lang="en-US" sz="2000" dirty="0">
              <a:solidFill>
                <a:srgbClr val="FF0000"/>
              </a:solidFill>
              <a:latin typeface="Verdana" pitchFamily="34" charset="0"/>
              <a:sym typeface="Webdings" charset="2"/>
            </a:endParaRPr>
          </a:p>
          <a:p>
            <a:r>
              <a:rPr lang="en-US" sz="2000" i="1" dirty="0">
                <a:solidFill>
                  <a:srgbClr val="660066"/>
                </a:solidFill>
                <a:latin typeface="Verdana" pitchFamily="34" charset="0"/>
                <a:sym typeface="Webdings" charset="2"/>
              </a:rPr>
              <a:t>t =</a:t>
            </a:r>
            <a:r>
              <a:rPr lang="en-US" sz="2000" dirty="0">
                <a:solidFill>
                  <a:srgbClr val="660066"/>
                </a:solidFill>
                <a:latin typeface="Verdana" pitchFamily="34" charset="0"/>
              </a:rPr>
              <a:t>Time</a:t>
            </a:r>
            <a:r>
              <a:rPr lang="en-US" sz="2000" dirty="0">
                <a:latin typeface="Verdana" pitchFamily="34" charset="0"/>
              </a:rPr>
              <a:t> that the money is borrowed or invested (in years).</a:t>
            </a:r>
          </a:p>
          <a:p>
            <a:endParaRPr lang="en-US" i="1" dirty="0">
              <a:solidFill>
                <a:srgbClr val="660066"/>
              </a:solidFill>
              <a:latin typeface="Verdana" pitchFamily="34" charset="0"/>
              <a:sym typeface="Webdings" charset="2"/>
            </a:endParaRPr>
          </a:p>
        </p:txBody>
      </p:sp>
    </p:spTree>
    <p:extLst>
      <p:ext uri="{BB962C8B-B14F-4D97-AF65-F5344CB8AC3E}">
        <p14:creationId xmlns:p14="http://schemas.microsoft.com/office/powerpoint/2010/main" val="10133664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$2000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18 months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8% pa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/>
                  <a:t>R = 8% convert to decimal </a:t>
                </a:r>
                <a:r>
                  <a:rPr lang="en-AU" sz="2400" dirty="0">
                    <a:latin typeface="Century Gothic" panose="020B0502020202020204" pitchFamily="34" charset="0"/>
                  </a:rPr>
                  <a:t>→ 0.08</a:t>
                </a: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=2000×0.08×</m:t>
                    </m:r>
                    <m:f>
                      <m:fPr>
                        <m:ctrlPr>
                          <a:rPr lang="en-AU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=240</m:t>
                    </m:r>
                  </m:oMath>
                </a14:m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 marL="0" indent="0" algn="ctr"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Simple interest earned is </a:t>
                </a:r>
                <a:r>
                  <a:rPr lang="en-AU" sz="2400" b="1" dirty="0">
                    <a:solidFill>
                      <a:schemeClr val="accent5">
                        <a:lumMod val="75000"/>
                      </a:schemeClr>
                    </a:solidFill>
                  </a:rPr>
                  <a:t>$</a:t>
                </a: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240</a:t>
                </a:r>
              </a:p>
              <a:p>
                <a:pPr marL="0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889" t="-2903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923994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63E854-995C-4188-A9B6-0EA129F093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Let’s Try It Out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</p:spPr>
            <p:txBody>
              <a:bodyPr>
                <a:normAutofit fontScale="77500" lnSpcReduction="20000"/>
              </a:bodyPr>
              <a:lstStyle/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Tyler wants to buy a car in 2 years and 4 months time. He has $6500 saved at the moment and his bank pays a flat rate of 4% p.a. How much will Tyler be able to spend on his car? (Round to the nearest 1$)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P = $6500</a:t>
                </a:r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T = 2 years 4 months = 2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r>
                  <a:rPr lang="en-AU" sz="24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i="1"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</m:oMath>
                </a14:m>
                <a:endParaRPr lang="en-AU" sz="2400" dirty="0"/>
              </a:p>
              <a:p>
                <a:pPr>
                  <a:buFont typeface="Wingdings" pitchFamily="2" charset="2"/>
                  <a:buNone/>
                </a:pPr>
                <a:r>
                  <a:rPr lang="en-AU" sz="2400" dirty="0"/>
                  <a:t>R = 0.04</a:t>
                </a:r>
                <a:endParaRPr lang="en-AU" sz="2400" b="1" dirty="0">
                  <a:solidFill>
                    <a:srgbClr val="FFFF00"/>
                  </a:solidFill>
                </a:endParaRPr>
              </a:p>
              <a:p>
                <a:pPr>
                  <a:buFont typeface="Wingdings" pitchFamily="2" charset="2"/>
                  <a:buNone/>
                </a:pPr>
                <a:r>
                  <a:rPr lang="en-AU" sz="2400" b="1" dirty="0"/>
                  <a:t>Calculate simple interest</a:t>
                </a: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𝑅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	</a:t>
                </a:r>
                <a14:m>
                  <m:oMath xmlns:m="http://schemas.openxmlformats.org/officeDocument/2006/math"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=6500×0.04×</m:t>
                    </m:r>
                    <m:f>
                      <m:fPr>
                        <m:ctrlPr>
                          <a:rPr lang="en-AU" sz="240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28</m:t>
                        </m:r>
                      </m:num>
                      <m:den>
                        <m:r>
                          <a:rPr lang="en-AU" sz="2400" b="0" i="1" smtClean="0">
                            <a:solidFill>
                              <a:schemeClr val="accent1">
                                <a:lumMod val="75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den>
                    </m:f>
                    <m:r>
                      <a:rPr lang="en-AU" sz="2400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AU" sz="2400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606.67</m:t>
                    </m:r>
                  </m:oMath>
                </a14:m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 (The interest earned is $606.67)</a:t>
                </a:r>
              </a:p>
              <a:p>
                <a:pPr>
                  <a:buNone/>
                </a:pPr>
                <a:endParaRPr lang="en-AU" sz="2400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:r>
                  <a:rPr lang="en-AU" sz="2400" dirty="0">
                    <a:solidFill>
                      <a:schemeClr val="accent1">
                        <a:lumMod val="75000"/>
                      </a:schemeClr>
                    </a:solidFill>
                  </a:rPr>
                  <a:t>		The total value = principal + interest = 6500 + 606.67 = $7107</a:t>
                </a:r>
                <a:endParaRPr lang="en-AU" sz="2400" b="0" dirty="0">
                  <a:solidFill>
                    <a:schemeClr val="accent1">
                      <a:lumMod val="75000"/>
                    </a:schemeClr>
                  </a:solidFill>
                </a:endParaRP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49BB99EA-2F34-42B5-B2A5-7292458D1193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589212" y="2133599"/>
                <a:ext cx="8915400" cy="4029075"/>
              </a:xfrm>
              <a:blipFill>
                <a:blip r:embed="rId2"/>
                <a:stretch>
                  <a:fillRect l="-684" t="-2269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27861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42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7C9793-400C-4656-B8E6-0FD0034773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One More To Be Sure</a:t>
            </a:r>
            <a:endParaRPr lang="en-GB" sz="5400" dirty="0">
              <a:solidFill>
                <a:schemeClr val="accent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CB56-690D-40F0-B2B8-AB21F6820A29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92500" lnSpcReduction="10000"/>
              </a:bodyPr>
              <a:lstStyle/>
              <a:p>
                <a:pPr marL="0" indent="0">
                  <a:lnSpc>
                    <a:spcPct val="100000"/>
                  </a:lnSpc>
                  <a:buNone/>
                </a:pPr>
                <a:r>
                  <a:rPr lang="en-US" dirty="0"/>
                  <a:t>Janaya buys a scooter for $3000 on her credit card. It has a simple interest rate of 22% p.a. If she pays it off over 3.5 years</a:t>
                </a:r>
              </a:p>
              <a:p>
                <a:pPr>
                  <a:buAutoNum type="alphaLcParenR"/>
                </a:pPr>
                <a:r>
                  <a:rPr lang="en-US" dirty="0"/>
                  <a:t>How much interest will she pay?</a:t>
                </a:r>
              </a:p>
              <a:p>
                <a:pPr>
                  <a:buAutoNum type="alphaLcParenR"/>
                </a:pPr>
                <a:r>
                  <a:rPr lang="en-US" dirty="0"/>
                  <a:t>What will be her monthly payment?</a:t>
                </a:r>
              </a:p>
              <a:p>
                <a:pPr>
                  <a:buAutoNum type="alphaLcParenR"/>
                </a:pPr>
                <a:endParaRPr lang="en-US" i="1" dirty="0">
                  <a:solidFill>
                    <a:schemeClr val="accent1">
                      <a:lumMod val="75000"/>
                    </a:schemeClr>
                  </a:solidFill>
                  <a:latin typeface="Cambria Math" panose="02040503050406030204" pitchFamily="18" charset="0"/>
                </a:endParaRPr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𝐼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 ×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𝑅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a:rPr lang="en-AU" i="1">
                          <a:solidFill>
                            <a:schemeClr val="accent1">
                              <a:lumMod val="75000"/>
                            </a:schemeClr>
                          </a:solidFill>
                          <a:latin typeface="Cambria Math" panose="02040503050406030204" pitchFamily="18" charset="0"/>
                        </a:rPr>
                        <m:t>𝑇</m:t>
                      </m:r>
                    </m:oMath>
                  </m:oMathPara>
                </a14:m>
                <a:endParaRPr lang="en-AU" dirty="0">
                  <a:solidFill>
                    <a:schemeClr val="accent1">
                      <a:lumMod val="75000"/>
                    </a:schemeClr>
                  </a:solidFill>
                </a:endParaRPr>
              </a:p>
              <a:p>
                <a:pPr>
                  <a:buNone/>
                </a:pPr>
                <a14:m>
                  <m:oMath xmlns:m="http://schemas.openxmlformats.org/officeDocument/2006/math"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𝐼</m:t>
                    </m:r>
                    <m:r>
                      <a:rPr lang="en-AU" i="1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 =3000×0.22×3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.5=2</m:t>
                    </m:r>
                    <m:r>
                      <a:rPr lang="en-AU" b="0" i="1" smtClean="0">
                        <a:solidFill>
                          <a:schemeClr val="accent1">
                            <a:lumMod val="75000"/>
                          </a:schemeClr>
                        </a:solidFill>
                        <a:latin typeface="Cambria Math" panose="02040503050406030204" pitchFamily="18" charset="0"/>
                      </a:rPr>
                      <m:t>310</m:t>
                    </m:r>
                  </m:oMath>
                </a14:m>
                <a:r>
                  <a:rPr lang="en-AU" dirty="0">
                    <a:solidFill>
                      <a:schemeClr val="accent1">
                        <a:lumMod val="75000"/>
                      </a:schemeClr>
                    </a:solidFill>
                  </a:rPr>
                  <a:t> (The total interest paid will be $2310)</a:t>
                </a:r>
              </a:p>
              <a:p>
                <a:pPr marL="0" indent="0">
                  <a:buNone/>
                </a:pPr>
                <a:endParaRPr lang="en-GB" dirty="0"/>
              </a:p>
              <a:p>
                <a:pPr marL="0" indent="0">
                  <a:buNone/>
                </a:pPr>
                <a:r>
                  <a:rPr lang="en-GB" dirty="0"/>
                  <a:t>The total value = principal + interest = 3000 + 2310 = $5310</a:t>
                </a:r>
              </a:p>
              <a:p>
                <a:pPr marL="0" indent="0">
                  <a:buNone/>
                </a:pPr>
                <a:r>
                  <a:rPr lang="en-GB" dirty="0"/>
                  <a:t>The monthly payments will be 5310 ÷ 42 = $126.43</a:t>
                </a:r>
              </a:p>
            </p:txBody>
          </p:sp>
        </mc:Choice>
        <mc:Fallback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D632CB56-690D-40F0-B2B8-AB21F6820A29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79" t="-1662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199151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9ECEF-097C-4377-848C-6C8618887A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0" y="764373"/>
            <a:ext cx="9189720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Check our understanding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B97D4CF-1FF6-4473-A6E6-82FFE544DB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279" y="2700131"/>
            <a:ext cx="11608279" cy="1978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998440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BA4A0D-DCEB-46C8-ADB3-BE6D3DA33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3753" y="897376"/>
            <a:ext cx="9882447" cy="1293028"/>
          </a:xfrm>
        </p:spPr>
        <p:txBody>
          <a:bodyPr>
            <a:noAutofit/>
          </a:bodyPr>
          <a:lstStyle/>
          <a:p>
            <a:r>
              <a:rPr lang="en-AU" sz="5400" b="1" dirty="0">
                <a:solidFill>
                  <a:schemeClr val="accent1">
                    <a:lumMod val="75000"/>
                  </a:schemeClr>
                </a:solidFill>
                <a:latin typeface="Kiwi School Handwriting" panose="00000500000000000000"/>
              </a:rPr>
              <a:t>Calculate the Simple Interest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 panose="0000050000000000000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305D4CC-1139-4B92-ABDE-285A4F265D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462" y="1927245"/>
            <a:ext cx="11649075" cy="2447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193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5E386A-FD4D-48EA-AA57-28686284C1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41995C2-578A-4925-B046-ECF96CCD2B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88" y="1438274"/>
            <a:ext cx="11115338" cy="22887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854221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6C635-3E4F-466B-9CF6-F1B6042C97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Task</a:t>
            </a:r>
            <a:endParaRPr lang="en-GB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00B9B68-5EFE-4D3E-8579-373A6795933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AU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1DB945-1459-4A10-B9C0-2A915D4026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7485" y="1393175"/>
            <a:ext cx="11218524" cy="47529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08442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84BA7-F128-4FEB-BB52-745F6126EF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AU" sz="5400" b="1" dirty="0" err="1">
                <a:solidFill>
                  <a:schemeClr val="accent1">
                    <a:lumMod val="75000"/>
                  </a:schemeClr>
                </a:solidFill>
                <a:latin typeface="Kiwi School Handwriting"/>
              </a:rPr>
              <a:t>HomeWORK</a:t>
            </a:r>
            <a:endParaRPr lang="en-GB" sz="5400" b="1" dirty="0">
              <a:solidFill>
                <a:schemeClr val="accent1">
                  <a:lumMod val="75000"/>
                </a:schemeClr>
              </a:solidFill>
              <a:latin typeface="Kiwi School Handwriting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E758BA-5F8E-4162-8652-790DEC1588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Complete your summaries</a:t>
            </a:r>
          </a:p>
          <a:p>
            <a:r>
              <a:rPr lang="en-AU" dirty="0"/>
              <a:t>Add new terms to your glossaries</a:t>
            </a:r>
          </a:p>
          <a:p>
            <a:r>
              <a:rPr lang="en-AU" dirty="0"/>
              <a:t>Write your questions</a:t>
            </a:r>
          </a:p>
          <a:p>
            <a:r>
              <a:rPr lang="en-AU" dirty="0"/>
              <a:t>24, 7, 30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48198682"/>
      </p:ext>
    </p:extLst>
  </p:cSld>
  <p:clrMapOvr>
    <a:masterClrMapping/>
  </p:clrMapOvr>
</p:sld>
</file>

<file path=ppt/theme/theme1.xml><?xml version="1.0" encoding="utf-8"?>
<a:theme xmlns:a="http://schemas.openxmlformats.org/drawingml/2006/main" name="Basis">
  <a:themeElements>
    <a:clrScheme name="Basis">
      <a:dk1>
        <a:srgbClr val="000000"/>
      </a:dk1>
      <a:lt1>
        <a:srgbClr val="FFFFFF"/>
      </a:lt1>
      <a:dk2>
        <a:srgbClr val="565349"/>
      </a:dk2>
      <a:lt2>
        <a:srgbClr val="DDDDDD"/>
      </a:lt2>
      <a:accent1>
        <a:srgbClr val="A6B727"/>
      </a:accent1>
      <a:accent2>
        <a:srgbClr val="DF5327"/>
      </a:accent2>
      <a:accent3>
        <a:srgbClr val="FE9E00"/>
      </a:accent3>
      <a:accent4>
        <a:srgbClr val="418AB3"/>
      </a:accent4>
      <a:accent5>
        <a:srgbClr val="D7D447"/>
      </a:accent5>
      <a:accent6>
        <a:srgbClr val="818183"/>
      </a:accent6>
      <a:hlink>
        <a:srgbClr val="F59E00"/>
      </a:hlink>
      <a:folHlink>
        <a:srgbClr val="B2B2B2"/>
      </a:folHlink>
    </a:clrScheme>
    <a:fontScheme name="Basis">
      <a:maj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Basis">
      <a:fillStyleLst>
        <a:solidFill>
          <a:schemeClr val="phClr"/>
        </a:solidFill>
        <a:solidFill>
          <a:schemeClr val="phClr">
            <a:tint val="55000"/>
            <a:satMod val="130000"/>
          </a:schemeClr>
        </a:solidFill>
        <a:gradFill rotWithShape="1">
          <a:gsLst>
            <a:gs pos="0">
              <a:schemeClr val="phClr"/>
            </a:gs>
            <a:gs pos="90000">
              <a:schemeClr val="phClr">
                <a:shade val="100000"/>
                <a:satMod val="105000"/>
              </a:schemeClr>
            </a:gs>
            <a:gs pos="100000">
              <a:schemeClr val="phClr">
                <a:shade val="80000"/>
                <a:satMod val="12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00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53975" cap="flat" cmpd="dbl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"/>
          </a:scene3d>
          <a:sp3d extrusionH="12700" contourW="25400" prstMaterial="flat">
            <a:bevelT w="63500" h="152400" prst="angle"/>
            <a:contourClr>
              <a:schemeClr val="phClr">
                <a:shade val="27000"/>
                <a:satMod val="120000"/>
              </a:schemeClr>
            </a:contourClr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hade val="95000"/>
            <a:satMod val="140000"/>
          </a:schemeClr>
        </a:solidFill>
        <a:solidFill>
          <a:schemeClr val="phClr">
            <a:tint val="90000"/>
            <a:shade val="85000"/>
            <a:satMod val="160000"/>
            <a:lumMod val="110000"/>
          </a:schemeClr>
        </a:soli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sis" id="{5665723A-49BA-4B57-8411-A56F8F207965}" vid="{90E45F77-AEFC-46EF-A7C1-5B338C297B02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TM03457444[[fn=Basis]]</Template>
  <TotalTime>2734</TotalTime>
  <Words>530</Words>
  <Application>Microsoft Office PowerPoint</Application>
  <PresentationFormat>Widescreen</PresentationFormat>
  <Paragraphs>66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Calibri</vt:lpstr>
      <vt:lpstr>Cambria Math</vt:lpstr>
      <vt:lpstr>Century Gothic</vt:lpstr>
      <vt:lpstr>Corbel</vt:lpstr>
      <vt:lpstr>Kiwi School Handwriting</vt:lpstr>
      <vt:lpstr>Verdana</vt:lpstr>
      <vt:lpstr>Webdings</vt:lpstr>
      <vt:lpstr>Wingdings</vt:lpstr>
      <vt:lpstr>Basis</vt:lpstr>
      <vt:lpstr>Simple Interest </vt:lpstr>
      <vt:lpstr>Learning Outcomes</vt:lpstr>
      <vt:lpstr>Up – Talk – Down</vt:lpstr>
      <vt:lpstr>PowerPoint Presentation</vt:lpstr>
      <vt:lpstr>Let’s Try It Out</vt:lpstr>
      <vt:lpstr>Let’s Try It Out</vt:lpstr>
      <vt:lpstr>One More To Be Sure</vt:lpstr>
      <vt:lpstr>Check our understanding</vt:lpstr>
      <vt:lpstr>Calculate the Simple Interest</vt:lpstr>
      <vt:lpstr>Task</vt:lpstr>
      <vt:lpstr>Task</vt:lpstr>
      <vt:lpstr>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Rates Continued</dc:title>
  <dc:creator>Travis Power</dc:creator>
  <cp:lastModifiedBy>MILLER Belinda [Baldivis Secondary College]</cp:lastModifiedBy>
  <cp:revision>41</cp:revision>
  <cp:lastPrinted>2021-04-16T04:09:22Z</cp:lastPrinted>
  <dcterms:created xsi:type="dcterms:W3CDTF">2018-02-13T05:48:53Z</dcterms:created>
  <dcterms:modified xsi:type="dcterms:W3CDTF">2021-04-16T04:15:35Z</dcterms:modified>
</cp:coreProperties>
</file>
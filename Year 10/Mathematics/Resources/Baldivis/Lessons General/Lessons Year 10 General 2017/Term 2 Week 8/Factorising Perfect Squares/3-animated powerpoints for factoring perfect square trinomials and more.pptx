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media/audio1.bin" ContentType="audio/unknown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95" r:id="rId1"/>
  </p:sldMasterIdLst>
  <p:notesMasterIdLst>
    <p:notesMasterId r:id="rId26"/>
  </p:notesMasterIdLst>
  <p:sldIdLst>
    <p:sldId id="284" r:id="rId2"/>
    <p:sldId id="258" r:id="rId3"/>
    <p:sldId id="269" r:id="rId4"/>
    <p:sldId id="285" r:id="rId5"/>
    <p:sldId id="286" r:id="rId6"/>
    <p:sldId id="287" r:id="rId7"/>
    <p:sldId id="288" r:id="rId8"/>
    <p:sldId id="275" r:id="rId9"/>
    <p:sldId id="276" r:id="rId10"/>
    <p:sldId id="289" r:id="rId11"/>
    <p:sldId id="290" r:id="rId12"/>
    <p:sldId id="291" r:id="rId13"/>
    <p:sldId id="278" r:id="rId14"/>
    <p:sldId id="283" r:id="rId15"/>
    <p:sldId id="295" r:id="rId16"/>
    <p:sldId id="296" r:id="rId17"/>
    <p:sldId id="297" r:id="rId18"/>
    <p:sldId id="280" r:id="rId19"/>
    <p:sldId id="298" r:id="rId20"/>
    <p:sldId id="281" r:id="rId21"/>
    <p:sldId id="292" r:id="rId22"/>
    <p:sldId id="282" r:id="rId23"/>
    <p:sldId id="293" r:id="rId24"/>
    <p:sldId id="29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Full" cryptAlgorithmClass="hash" cryptAlgorithmType="typeAny" cryptAlgorithmSid="4" spinCount="100000" saltData="bsBvctwYd5NhzfmoHpmq4Q==" hashData="QvYJmyyaobqVNDFxSvYj+F2PhhY=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72" autoAdjust="0"/>
    <p:restoredTop sz="99239" autoAdjust="0"/>
  </p:normalViewPr>
  <p:slideViewPr>
    <p:cSldViewPr snapToObjects="1">
      <p:cViewPr>
        <p:scale>
          <a:sx n="125" d="100"/>
          <a:sy n="125" d="100"/>
        </p:scale>
        <p:origin x="-688" y="-1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interSettings" Target="printerSettings/printerSettings1.bin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D6413D-59CD-6B47-9A13-4F3010B48D8B}" type="datetimeFigureOut">
              <a:rPr lang="en-US" smtClean="0"/>
              <a:t>8/10/16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CFAC4-649E-6444-8D12-4648C1266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3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CFAC4-649E-6444-8D12-4648C12661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51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finish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CFAC4-649E-6444-8D12-4648C12661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02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CFAC4-649E-6444-8D12-4648C12661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02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CFAC4-649E-6444-8D12-4648C12661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02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987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01FC-1122-674B-9FEE-9B35DA0A48A1}" type="datetimeFigureOut">
              <a:rPr lang="en-US" smtClean="0"/>
              <a:t>8/10/16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C470-3A11-5D45-A444-C925E988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94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57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133601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1" y="2133601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01FC-1122-674B-9FEE-9B35DA0A48A1}" type="datetimeFigureOut">
              <a:rPr lang="en-US" smtClean="0"/>
              <a:t>8/10/16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C470-3A11-5D45-A444-C925E988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02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01FC-1122-674B-9FEE-9B35DA0A48A1}" type="datetimeFigureOut">
              <a:rPr lang="en-US" smtClean="0"/>
              <a:t>8/10/16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C470-3A11-5D45-A444-C925E988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00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01FC-1122-674B-9FEE-9B35DA0A48A1}" type="datetimeFigureOut">
              <a:rPr lang="en-US" smtClean="0"/>
              <a:t>8/10/16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C470-3A11-5D45-A444-C925E988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62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01FC-1122-674B-9FEE-9B35DA0A48A1}" type="datetimeFigureOut">
              <a:rPr lang="en-US" smtClean="0"/>
              <a:t>8/10/16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C470-3A11-5D45-A444-C925E988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09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01FC-1122-674B-9FEE-9B35DA0A48A1}" type="datetimeFigureOut">
              <a:rPr lang="en-US" smtClean="0"/>
              <a:t>8/10/16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6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01FC-1122-674B-9FEE-9B35DA0A48A1}" type="datetimeFigureOut">
              <a:rPr lang="en-US" smtClean="0"/>
              <a:t>8/10/16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C470-3A11-5D45-A444-C925E988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28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01FC-1122-674B-9FEE-9B35DA0A48A1}" type="datetimeFigureOut">
              <a:rPr lang="en-US" smtClean="0"/>
              <a:t>8/10/16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C470-3A11-5D45-A444-C925E988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49" y="366713"/>
            <a:ext cx="1543051" cy="7800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1" y="366713"/>
            <a:ext cx="4476751" cy="7800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01FC-1122-674B-9FEE-9B35DA0A48A1}" type="datetimeFigureOut">
              <a:rPr lang="en-US" smtClean="0"/>
              <a:t>8/10/16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C470-3A11-5D45-A444-C925E988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98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101FC-1122-674B-9FEE-9B35DA0A48A1}" type="datetimeFigureOut">
              <a:rPr lang="en-US" smtClean="0"/>
              <a:t>8/10/16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BC470-3A11-5D45-A444-C925E98890E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76200" cmpd="sng">
            <a:solidFill>
              <a:srgbClr val="000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cover logo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1588" y="6096000"/>
            <a:ext cx="985825" cy="61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92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6" r:id="rId1"/>
    <p:sldLayoutId id="2147484197" r:id="rId2"/>
    <p:sldLayoutId id="2147484198" r:id="rId3"/>
    <p:sldLayoutId id="2147484199" r:id="rId4"/>
    <p:sldLayoutId id="2147484200" r:id="rId5"/>
    <p:sldLayoutId id="2147484201" r:id="rId6"/>
    <p:sldLayoutId id="2147484202" r:id="rId7"/>
    <p:sldLayoutId id="2147484203" r:id="rId8"/>
    <p:sldLayoutId id="2147484204" r:id="rId9"/>
    <p:sldLayoutId id="2147484205" r:id="rId10"/>
    <p:sldLayoutId id="2147484206" r:id="rId11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4.emf"/><Relationship Id="rId7" Type="http://schemas.openxmlformats.org/officeDocument/2006/relationships/oleObject" Target="../embeddings/oleObject4.bin"/><Relationship Id="rId8" Type="http://schemas.openxmlformats.org/officeDocument/2006/relationships/image" Target="../media/image5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audio" Target="../media/audio1.bin"/><Relationship Id="rId3" Type="http://schemas.openxmlformats.org/officeDocument/2006/relationships/audio" Target="../media/audio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3522" y="182880"/>
            <a:ext cx="471695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Answers to problems #1–6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0059" y="914400"/>
            <a:ext cx="5022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427532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(3 + 2)</a:t>
            </a:r>
            <a:r>
              <a:rPr lang="en-US" sz="3200" b="1" baseline="50000" dirty="0" smtClean="0">
                <a:latin typeface="Calibri"/>
                <a:cs typeface="Calibri"/>
              </a:rPr>
              <a:t>2</a:t>
            </a:r>
            <a:r>
              <a:rPr lang="en-US" sz="3200" b="1" dirty="0" smtClean="0">
                <a:latin typeface="Calibri"/>
                <a:cs typeface="Calibri"/>
              </a:rPr>
              <a:t>, (9 – 4)</a:t>
            </a:r>
            <a:r>
              <a:rPr lang="en-US" sz="3200" b="1" baseline="50000" dirty="0" smtClean="0">
                <a:latin typeface="Calibri"/>
                <a:cs typeface="Calibri"/>
              </a:rPr>
              <a:t>2</a:t>
            </a:r>
            <a:r>
              <a:rPr lang="en-US" sz="3200" b="1" dirty="0" smtClean="0">
                <a:latin typeface="Calibri"/>
                <a:cs typeface="Calibri"/>
              </a:rPr>
              <a:t>, (1 + 4)</a:t>
            </a:r>
            <a:r>
              <a:rPr lang="en-US" sz="3200" b="1" baseline="50000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914400"/>
            <a:ext cx="310213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Answer can vary.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059" y="1770092"/>
            <a:ext cx="5022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6027"/>
            <a:ext cx="490911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(11 + </a:t>
            </a:r>
            <a:r>
              <a:rPr lang="en-US" sz="3200" b="1" dirty="0">
                <a:latin typeface="Calibri"/>
                <a:cs typeface="Calibri"/>
              </a:rPr>
              <a:t>1</a:t>
            </a:r>
            <a:r>
              <a:rPr lang="en-US" sz="3200" b="1" dirty="0" smtClean="0">
                <a:latin typeface="Calibri"/>
                <a:cs typeface="Calibri"/>
              </a:rPr>
              <a:t>)</a:t>
            </a:r>
            <a:r>
              <a:rPr lang="en-US" sz="3200" b="1" baseline="50000" dirty="0" smtClean="0">
                <a:latin typeface="Calibri"/>
                <a:cs typeface="Calibri"/>
              </a:rPr>
              <a:t>2</a:t>
            </a:r>
            <a:r>
              <a:rPr lang="en-US" sz="3200" b="1" dirty="0" smtClean="0">
                <a:latin typeface="Calibri"/>
                <a:cs typeface="Calibri"/>
              </a:rPr>
              <a:t>, </a:t>
            </a:r>
            <a:r>
              <a:rPr lang="en-US" sz="3200" b="1" dirty="0">
                <a:latin typeface="Calibri"/>
                <a:cs typeface="Calibri"/>
              </a:rPr>
              <a:t>(14 – 2)</a:t>
            </a:r>
            <a:r>
              <a:rPr lang="en-US" sz="3200" b="1" baseline="50000" dirty="0" smtClean="0">
                <a:latin typeface="Calibri"/>
                <a:cs typeface="Calibri"/>
              </a:rPr>
              <a:t>2</a:t>
            </a:r>
            <a:r>
              <a:rPr lang="en-US" sz="3200" b="1" dirty="0" smtClean="0">
                <a:latin typeface="Calibri"/>
                <a:cs typeface="Calibri"/>
              </a:rPr>
              <a:t>, </a:t>
            </a:r>
            <a:r>
              <a:rPr lang="en-US" sz="3200" b="1" dirty="0">
                <a:latin typeface="Calibri"/>
                <a:cs typeface="Calibri"/>
              </a:rPr>
              <a:t>(20 – 8)</a:t>
            </a:r>
            <a:r>
              <a:rPr lang="en-US" sz="3200" b="1" baseline="50000" dirty="0" smtClean="0">
                <a:latin typeface="Calibri"/>
                <a:cs typeface="Calibri"/>
              </a:rPr>
              <a:t>2</a:t>
            </a:r>
            <a:endParaRPr lang="en-US" sz="3200" b="1" baseline="50000" dirty="0">
              <a:latin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13269" y="1828800"/>
            <a:ext cx="310213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Answer can vary.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59" y="2519680"/>
            <a:ext cx="5022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1117" y="2524760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059" y="3276600"/>
            <a:ext cx="5022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4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1117" y="3276600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059" y="4006444"/>
            <a:ext cx="5022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5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1117" y="3986700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459" y="4733984"/>
            <a:ext cx="5022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6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117" y="4724400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65388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9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228600" y="203910"/>
            <a:ext cx="54293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279967"/>
              </p:ext>
            </p:extLst>
          </p:nvPr>
        </p:nvGraphicFramePr>
        <p:xfrm>
          <a:off x="1208646" y="1711644"/>
          <a:ext cx="2252715" cy="1751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854"/>
                <a:gridCol w="1336861"/>
              </a:tblGrid>
              <a:tr h="621345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3011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 smtClean="0"/>
                    </a:p>
                    <a:p>
                      <a:endParaRPr lang="en-US" sz="800" dirty="0" smtClean="0"/>
                    </a:p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497986" y="1698276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4491" y="1697131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6900" y="2568465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38400" y="2589621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18430" y="2132421"/>
            <a:ext cx="808635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1623" y="2128496"/>
            <a:ext cx="4185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+</a:t>
            </a:r>
            <a:endParaRPr lang="en-US" sz="3200" b="1" dirty="0" smtClean="0">
              <a:latin typeface="Times New Roman"/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70639" y="2132421"/>
            <a:ext cx="4185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/>
                <a:cs typeface="Times New Roman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99926" y="2132421"/>
            <a:ext cx="4185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/>
                <a:cs typeface="Times New Roman"/>
              </a:rPr>
              <a:t>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038" y="2132421"/>
            <a:ext cx="4185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+</a:t>
            </a:r>
            <a:endParaRPr lang="en-US" sz="3200" b="1" dirty="0" smtClean="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16164" y="202115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3005" y="210995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5083" y="177907"/>
            <a:ext cx="3213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0446" y="208540"/>
            <a:ext cx="321455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baseline="30000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199" y="216583"/>
            <a:ext cx="31250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5" y="229283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5" y="229283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199" y="210995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5" y="229283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199" y="210995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97018" y="1701907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44491" y="1701907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84437" y="2562972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50894" y="2590006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413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4100">
        <p:checker/>
      </p:transition>
    </mc:Choice>
    <mc:Fallback xmlns="">
      <p:transition xmlns:p14="http://schemas.microsoft.com/office/powerpoint/2010/main" spd="slow" advTm="24100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3.7037E-6 L 0.04445 0.13518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" y="6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2.77556E-17 L 0.10364 0.13796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4" y="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3.7037E-6 L -0.02205 0.21481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1" y="10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77556E-17 L -0.08628 0.34074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23" y="17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1.11111E-6 L 0.27326 0.05718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63" y="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1.11111E-6 L 0.24983 0.05741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83" y="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4.07407E-6 L 0.46719 -0.06875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16" y="-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1.48148E-6 L 0.44288 -0.07245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35" y="-3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1" grpId="0"/>
      <p:bldP spid="29" grpId="0"/>
      <p:bldP spid="42" grpId="0"/>
      <p:bldP spid="44" grpId="0"/>
      <p:bldP spid="88" grpId="0" animBg="1"/>
      <p:bldP spid="6" grpId="0"/>
      <p:bldP spid="10" grpId="0"/>
      <p:bldP spid="12" grpId="0"/>
      <p:bldP spid="13" grpId="0"/>
      <p:bldP spid="14" grpId="0"/>
      <p:bldP spid="14" grpId="1"/>
      <p:bldP spid="15" grpId="0"/>
      <p:bldP spid="17" grpId="0"/>
      <p:bldP spid="30" grpId="0"/>
      <p:bldP spid="31" grpId="0"/>
      <p:bldP spid="31" grpId="1"/>
      <p:bldP spid="34" grpId="0"/>
      <p:bldP spid="34" grpId="1"/>
      <p:bldP spid="36" grpId="0"/>
      <p:bldP spid="36" grpId="1"/>
      <p:bldP spid="37" grpId="0"/>
      <p:bldP spid="38" grpId="0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9118" y="221271"/>
            <a:ext cx="5030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00FF"/>
                </a:solidFill>
                <a:latin typeface="Calibri"/>
                <a:cs typeface="Calibri"/>
              </a:rPr>
              <a:t>B</a:t>
            </a:r>
            <a:r>
              <a:rPr lang="en-US" sz="3000" b="1" dirty="0" smtClean="0">
                <a:solidFill>
                  <a:srgbClr val="0000FF"/>
                </a:solidFill>
                <a:latin typeface="Calibri"/>
                <a:cs typeface="Calibri"/>
              </a:rPr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484504"/>
              </p:ext>
            </p:extLst>
          </p:nvPr>
        </p:nvGraphicFramePr>
        <p:xfrm>
          <a:off x="1070357" y="1481156"/>
          <a:ext cx="2434843" cy="1808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703"/>
                <a:gridCol w="959140"/>
              </a:tblGrid>
              <a:tr h="111597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21920" marR="12192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21920" marR="12192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2743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21920" marR="12192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21920" marR="12192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647487" y="2521534"/>
            <a:ext cx="600645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168717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10</a:t>
            </a:r>
            <a:endParaRPr lang="en-US" sz="3200" b="1" dirty="0">
              <a:latin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52728" y="168717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170471"/>
            <a:ext cx="31250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168717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2600" y="171048"/>
            <a:ext cx="68981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3705" y="143422"/>
            <a:ext cx="31250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8400" y="143422"/>
            <a:ext cx="323326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baseline="30000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5648" y="168717"/>
            <a:ext cx="68981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5648" y="168717"/>
            <a:ext cx="68981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15550" y="1795791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9481" y="1773760"/>
            <a:ext cx="10897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      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66281" y="1765869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3374" y="1795791"/>
            <a:ext cx="10897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      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5231" y="1795791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7681" y="1795791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90800" y="1689669"/>
            <a:ext cx="80502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87752" y="1686621"/>
            <a:ext cx="80502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2604069"/>
            <a:ext cx="80502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2601021"/>
            <a:ext cx="80502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9400" y="2604069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16352" y="2601021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3393" y="1613469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9888" y="1613469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3479117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2222E-6 L 0.03021 0.1125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0" y="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023 L 0.08785 0.11227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58" y="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2222E-6 L -0.08646 0.2125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23" y="10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22222E-6 L -0.14636 0.35486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326" y="17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4.07407E-6 L 0.2842 0.02407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01" y="1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4.07407E-6 L 0.27951 0.0132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76" y="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59259E-6 L 0.57275 -0.11991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28" y="-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59259E-6 L 0.55399 -0.11968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691" y="-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  <p:bldP spid="15" grpId="0"/>
      <p:bldP spid="15" grpId="1"/>
      <p:bldP spid="17" grpId="0"/>
      <p:bldP spid="18" grpId="0"/>
      <p:bldP spid="19" grpId="0"/>
      <p:bldP spid="19" grpId="1"/>
      <p:bldP spid="21" grpId="0"/>
      <p:bldP spid="21" grpId="1"/>
      <p:bldP spid="22" grpId="0"/>
      <p:bldP spid="23" grpId="0"/>
      <p:bldP spid="24" grpId="0"/>
      <p:bldP spid="25" grpId="0"/>
      <p:bldP spid="25" grpId="1"/>
      <p:bldP spid="5" grpId="0"/>
      <p:bldP spid="6" grpId="0"/>
      <p:bldP spid="7" grpId="0"/>
      <p:bldP spid="8" grpId="0"/>
      <p:bldP spid="13" grpId="0"/>
      <p:bldP spid="20" grpId="0"/>
      <p:bldP spid="30" grpId="0"/>
      <p:bldP spid="31" grpId="0"/>
      <p:bldP spid="31" grpId="1"/>
      <p:bldP spid="32" grpId="0"/>
      <p:bldP spid="33" grpId="0"/>
      <p:bldP spid="33" grpId="1"/>
      <p:bldP spid="34" grpId="0"/>
      <p:bldP spid="35" grpId="0"/>
      <p:bldP spid="35" grpId="1"/>
      <p:bldP spid="36" grpId="0"/>
      <p:bldP spid="37" grpId="0"/>
      <p:bldP spid="3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83415" y="101024"/>
            <a:ext cx="397717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Answer to problem #7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344826"/>
              </p:ext>
            </p:extLst>
          </p:nvPr>
        </p:nvGraphicFramePr>
        <p:xfrm>
          <a:off x="1774427" y="1438792"/>
          <a:ext cx="2072246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485"/>
                <a:gridCol w="1229761"/>
              </a:tblGrid>
              <a:tr h="726554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77435" marR="77435" marT="38719" marB="3871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77435" marR="77435" marT="38719" marB="3871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78446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77435" marR="77435" marT="38719" marB="3871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 smtClean="0"/>
                    </a:p>
                    <a:p>
                      <a:endParaRPr lang="en-US" sz="1000" dirty="0" smtClean="0"/>
                    </a:p>
                    <a:p>
                      <a:endParaRPr lang="en-US" sz="1000" dirty="0"/>
                    </a:p>
                  </a:txBody>
                  <a:tcPr marL="77435" marR="77435" marT="38719" marB="3871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059455" y="829192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endParaRPr lang="en-US" sz="3200" b="1" dirty="0" smtClean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75823" y="854016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4115" y="1498897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4115" y="2429392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9455" y="1498897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1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48000" y="1498897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3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70377" y="2429392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3</a:t>
            </a:r>
            <a:r>
              <a:rPr lang="en-US" sz="3200" b="1" dirty="0" smtClean="0">
                <a:latin typeface="Calibri"/>
                <a:cs typeface="Calibri"/>
              </a:rPr>
              <a:t>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8000" y="2429392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0680" y="3962400"/>
            <a:ext cx="266912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 + </a:t>
            </a:r>
            <a:r>
              <a:rPr lang="en-US" sz="3200" b="1" dirty="0">
                <a:latin typeface="Calibri"/>
                <a:cs typeface="Calibri"/>
              </a:rPr>
              <a:t>3</a:t>
            </a:r>
            <a:r>
              <a:rPr lang="en-US" sz="3200" b="1" dirty="0" smtClean="0">
                <a:latin typeface="Calibri"/>
                <a:cs typeface="Calibri"/>
              </a:rPr>
              <a:t>  + 3 + 9  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7555" y="3965525"/>
            <a:ext cx="600645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889576"/>
            <a:ext cx="5022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7.</a:t>
            </a:r>
          </a:p>
        </p:txBody>
      </p:sp>
    </p:spTree>
    <p:extLst>
      <p:ext uri="{BB962C8B-B14F-4D97-AF65-F5344CB8AC3E}">
        <p14:creationId xmlns:p14="http://schemas.microsoft.com/office/powerpoint/2010/main" val="167719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83415" y="101024"/>
            <a:ext cx="397717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Answer to problem #8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5909" y="867344"/>
            <a:ext cx="5022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alibri"/>
                <a:cs typeface="Calibri"/>
              </a:rPr>
              <a:t>8</a:t>
            </a:r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908984"/>
              </p:ext>
            </p:extLst>
          </p:nvPr>
        </p:nvGraphicFramePr>
        <p:xfrm>
          <a:off x="2008684" y="1447800"/>
          <a:ext cx="2401248" cy="214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342"/>
                <a:gridCol w="945906"/>
              </a:tblGrid>
              <a:tr h="13309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48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443297" y="863024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332" y="8382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lang="en-US" sz="3200" b="1" dirty="0" smtClean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86165" y="1792480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5150" y="28442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2532" y="1792480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2497" y="1767656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8732" y="2859280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4132" y="285928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566" y="4203412"/>
            <a:ext cx="331553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400 + 40 + 40 + 4 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8062" y="4194016"/>
            <a:ext cx="808635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484</a:t>
            </a:r>
          </a:p>
        </p:txBody>
      </p:sp>
    </p:spTree>
    <p:extLst>
      <p:ext uri="{BB962C8B-B14F-4D97-AF65-F5344CB8AC3E}">
        <p14:creationId xmlns:p14="http://schemas.microsoft.com/office/powerpoint/2010/main" val="1259120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83415" y="101024"/>
            <a:ext cx="397717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Answer to problem #</a:t>
            </a:r>
            <a:r>
              <a:rPr lang="en-US" sz="3200" b="1" dirty="0">
                <a:solidFill>
                  <a:srgbClr val="FF0000"/>
                </a:solidFill>
                <a:latin typeface="Calibri"/>
                <a:cs typeface="Calibri"/>
              </a:rPr>
              <a:t>9</a:t>
            </a:r>
            <a:endParaRPr lang="en-US" sz="3200" b="1" dirty="0" smtClean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939224"/>
            <a:ext cx="5022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9.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087180"/>
              </p:ext>
            </p:extLst>
          </p:nvPr>
        </p:nvGraphicFramePr>
        <p:xfrm>
          <a:off x="1526149" y="1612875"/>
          <a:ext cx="2513903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043"/>
                <a:gridCol w="1491860"/>
              </a:tblGrid>
              <a:tr h="84280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77435" marR="77435" marT="38719" marB="3871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77435" marR="77435" marT="38719" marB="3871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6998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77435" marR="77435" marT="38719" marB="3871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 smtClean="0"/>
                    </a:p>
                    <a:p>
                      <a:endParaRPr lang="en-US" sz="1000" dirty="0" smtClean="0"/>
                    </a:p>
                    <a:p>
                      <a:endParaRPr lang="en-US" sz="1000" dirty="0"/>
                    </a:p>
                  </a:txBody>
                  <a:tcPr marL="77435" marR="77435" marT="38719" marB="3871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51881" y="917107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7</a:t>
            </a:r>
            <a:endParaRPr lang="en-US" sz="3200" b="1" dirty="0" smtClean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73252" y="917107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342" y="1752600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7</a:t>
            </a:r>
            <a:endParaRPr lang="en-US" sz="3200" b="1" dirty="0" smtClean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2895600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4052" y="1765275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1963" y="2893035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6499" y="2893035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0939" y="1752600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0" y="4343400"/>
            <a:ext cx="393950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49 + 210 + 210 + 900 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4240" y="4380332"/>
            <a:ext cx="1122423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1,369</a:t>
            </a:r>
            <a:endParaRPr lang="en-US" sz="3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477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7566" y="101024"/>
            <a:ext cx="434886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Answer to problem #10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240" y="939224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10.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945275"/>
              </p:ext>
            </p:extLst>
          </p:nvPr>
        </p:nvGraphicFramePr>
        <p:xfrm>
          <a:off x="2064241" y="1510098"/>
          <a:ext cx="2503884" cy="2071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547"/>
                <a:gridCol w="986337"/>
              </a:tblGrid>
              <a:tr h="1284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865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86925" y="863024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8687" y="863024"/>
            <a:ext cx="59703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–1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287" y="2895600"/>
            <a:ext cx="59703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1580" y="1853624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6897" y="1828800"/>
            <a:ext cx="80502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8325" y="2895600"/>
            <a:ext cx="80502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895600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1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90600" y="4038600"/>
            <a:ext cx="423565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225 + (–15) + (–15) + 1 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9155" y="4054416"/>
            <a:ext cx="808635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196</a:t>
            </a:r>
          </a:p>
        </p:txBody>
      </p:sp>
    </p:spTree>
    <p:extLst>
      <p:ext uri="{BB962C8B-B14F-4D97-AF65-F5344CB8AC3E}">
        <p14:creationId xmlns:p14="http://schemas.microsoft.com/office/powerpoint/2010/main" val="287488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52400" y="198940"/>
            <a:ext cx="51147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790339"/>
              </p:ext>
            </p:extLst>
          </p:nvPr>
        </p:nvGraphicFramePr>
        <p:xfrm>
          <a:off x="1160462" y="1399556"/>
          <a:ext cx="2252715" cy="1800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854"/>
                <a:gridCol w="1336861"/>
              </a:tblGrid>
              <a:tr h="67073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3011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 smtClean="0"/>
                    </a:p>
                    <a:p>
                      <a:endParaRPr lang="en-US" sz="800" dirty="0" smtClean="0"/>
                    </a:p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10355" y="1481666"/>
            <a:ext cx="4185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+</a:t>
            </a:r>
            <a:endParaRPr lang="en-US" sz="3200" b="1" dirty="0" smtClean="0">
              <a:latin typeface="Times New Roman"/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55720" y="1478843"/>
            <a:ext cx="4185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/>
                <a:cs typeface="Times New Roman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234" y="1481666"/>
            <a:ext cx="4185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/>
                <a:cs typeface="Times New Roman"/>
              </a:rPr>
              <a:t>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94" y="1481666"/>
            <a:ext cx="4185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+</a:t>
            </a:r>
            <a:endParaRPr lang="en-US" sz="3200" b="1" dirty="0" smtClean="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47171" y="202048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4164" y="201608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4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5108" y="198940"/>
            <a:ext cx="31250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7508" y="201608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14460" y="201608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891116" y="201608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4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891116" y="201608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4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14460" y="201608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4203" y="199610"/>
            <a:ext cx="31250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1982" y="231212"/>
            <a:ext cx="323326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baseline="30000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7775" y="1439333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03054" y="1422975"/>
            <a:ext cx="58221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203" y="2298886"/>
            <a:ext cx="58221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7814" y="2298886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4892" y="2295584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0764" y="1436048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03180" y="1426904"/>
            <a:ext cx="58221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5044" y="2295584"/>
            <a:ext cx="58221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4x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203261" y="2298886"/>
            <a:ext cx="2073337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 </a:t>
            </a:r>
            <a:r>
              <a:rPr lang="en-US" sz="3200" b="1" dirty="0" smtClean="0">
                <a:latin typeface="Calibri"/>
                <a:cs typeface="Calibri"/>
              </a:rPr>
              <a:t>+ 8x + 16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672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4100">
        <p:checker/>
      </p:transition>
    </mc:Choice>
    <mc:Fallback xmlns="">
      <p:transition xmlns:p14="http://schemas.microsoft.com/office/powerpoint/2010/main" spd="slow" advTm="24100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07407E-6 L 0.0276 0.09351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2" y="4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07407E-6 L 0.06128 0.0912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56" y="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07407E-6 L -0.05365 0.1787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1" y="8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4.07407E-6 L -0.12847 0.3055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24" y="15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1.48148E-6 L 0.32309 0.00741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46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3.7037E-7 L 0.31354 0.0085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77" y="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0 L 0.54098 -0.11759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49" y="-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3958 -0.11782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979" y="-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" grpId="0"/>
      <p:bldP spid="6" grpId="0"/>
      <p:bldP spid="10" grpId="0"/>
      <p:bldP spid="12" grpId="0"/>
      <p:bldP spid="13" grpId="0"/>
      <p:bldP spid="14" grpId="0"/>
      <p:bldP spid="14" grpId="1"/>
      <p:bldP spid="30" grpId="0"/>
      <p:bldP spid="31" grpId="0"/>
      <p:bldP spid="31" grpId="1"/>
      <p:bldP spid="34" grpId="0"/>
      <p:bldP spid="36" grpId="0"/>
      <p:bldP spid="38" grpId="0"/>
      <p:bldP spid="38" grpId="1"/>
      <p:bldP spid="3" grpId="0"/>
      <p:bldP spid="3" grpId="1"/>
      <p:bldP spid="5" grpId="0"/>
      <p:bldP spid="7" grpId="0"/>
      <p:bldP spid="8" grpId="0"/>
      <p:bldP spid="9" grpId="0"/>
      <p:bldP spid="11" grpId="0"/>
      <p:bldP spid="16" grpId="0"/>
      <p:bldP spid="18" grpId="0"/>
      <p:bldP spid="18" grpId="1"/>
      <p:bldP spid="19" grpId="0"/>
      <p:bldP spid="19" grpId="1"/>
      <p:bldP spid="20" grpId="0"/>
      <p:bldP spid="20" grpId="1"/>
      <p:bldP spid="22" grpId="0"/>
      <p:bldP spid="22" grpId="1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358241" y="231212"/>
            <a:ext cx="5529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501537"/>
              </p:ext>
            </p:extLst>
          </p:nvPr>
        </p:nvGraphicFramePr>
        <p:xfrm>
          <a:off x="1162154" y="1431158"/>
          <a:ext cx="2252715" cy="1800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854"/>
                <a:gridCol w="1336861"/>
              </a:tblGrid>
              <a:tr h="67073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3011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 smtClean="0"/>
                    </a:p>
                    <a:p>
                      <a:endParaRPr lang="en-US" sz="800" dirty="0" smtClean="0"/>
                    </a:p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1500" y="1506918"/>
            <a:ext cx="4185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+</a:t>
            </a:r>
            <a:endParaRPr lang="en-US" sz="3200" b="1" dirty="0" smtClean="0">
              <a:latin typeface="Times New Roman"/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0" y="1514419"/>
            <a:ext cx="4185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/>
                <a:cs typeface="Times New Roman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696" y="1513268"/>
            <a:ext cx="4185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/>
                <a:cs typeface="Times New Roman"/>
              </a:rPr>
              <a:t>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2496" y="1513268"/>
            <a:ext cx="4185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/>
                <a:cs typeface="Times New Roman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51160"/>
            <a:ext cx="68981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230542"/>
            <a:ext cx="31250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5400" y="233210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33600" y="231212"/>
            <a:ext cx="31250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200" y="262814"/>
            <a:ext cx="323326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baseline="30000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9467" y="1470935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62200" y="1454577"/>
            <a:ext cx="78739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–7x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7355" y="2330488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1458506"/>
            <a:ext cx="78739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–7x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2456" y="1467650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19200" y="2327186"/>
            <a:ext cx="78739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–7x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33210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233210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51498"/>
            <a:ext cx="68981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251498"/>
            <a:ext cx="68981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327186"/>
            <a:ext cx="78739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–7x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4433" y="2327186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</a:t>
            </a:r>
            <a:r>
              <a:rPr lang="en-US" sz="3200" b="1" dirty="0">
                <a:latin typeface="Calibri"/>
                <a:cs typeface="Calibri"/>
              </a:rPr>
              <a:t>9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2936" y="1473611"/>
            <a:ext cx="11825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        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400" y="1471511"/>
            <a:ext cx="127530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 (        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2936" y="2494826"/>
            <a:ext cx="2281327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 </a:t>
            </a:r>
            <a:r>
              <a:rPr lang="en-US" sz="3200" b="1" dirty="0" smtClean="0">
                <a:latin typeface="Calibri"/>
                <a:cs typeface="Calibri"/>
              </a:rPr>
              <a:t>– 14x + 49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764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4100">
        <p:checker/>
      </p:transition>
    </mc:Choice>
    <mc:Fallback xmlns="">
      <p:transition xmlns:p14="http://schemas.microsoft.com/office/powerpoint/2010/main" spd="slow" advTm="24100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667 0.08889 " pathEditMode="relative" ptsTypes="AA">
                                      <p:cBhvr>
                                        <p:cTn id="4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7037E-6 L 0.079 0.09098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1" y="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4.07407E-6 L -0.05625 0.16944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12" y="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7037E-6 L -0.11753 0.29954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85" y="1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7899 0 " pathEditMode="relative" ptsTypes="AA">
                                      <p:cBhvr>
                                        <p:cTn id="9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3333E-6 L 0.29305 0.00926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53" y="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 L 0.58229 -0.11782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15" y="-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0 L 0.60348 -0.11782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174" y="-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" grpId="0"/>
      <p:bldP spid="6" grpId="0"/>
      <p:bldP spid="10" grpId="0"/>
      <p:bldP spid="12" grpId="0"/>
      <p:bldP spid="14" grpId="0"/>
      <p:bldP spid="30" grpId="0"/>
      <p:bldP spid="31" grpId="0"/>
      <p:bldP spid="5" grpId="0"/>
      <p:bldP spid="7" grpId="0"/>
      <p:bldP spid="8" grpId="0"/>
      <p:bldP spid="9" grpId="0"/>
      <p:bldP spid="9" grpId="1"/>
      <p:bldP spid="16" grpId="0"/>
      <p:bldP spid="20" grpId="0"/>
      <p:bldP spid="19" grpId="0"/>
      <p:bldP spid="19" grpId="1"/>
      <p:bldP spid="22" grpId="0"/>
      <p:bldP spid="17" grpId="0"/>
      <p:bldP spid="17" grpId="1"/>
      <p:bldP spid="21" grpId="0"/>
      <p:bldP spid="21" grpId="1"/>
      <p:bldP spid="32" grpId="0"/>
      <p:bldP spid="32" grpId="1"/>
      <p:bldP spid="33" grpId="0"/>
      <p:bldP spid="33" grpId="1"/>
      <p:bldP spid="15" grpId="0"/>
      <p:bldP spid="15" grpId="1"/>
      <p:bldP spid="24" grpId="0"/>
      <p:bldP spid="24" grpId="1"/>
      <p:bldP spid="26" grpId="0"/>
      <p:bldP spid="34" grpId="0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7567" y="101024"/>
            <a:ext cx="434886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Answer to problem #11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7040" y="1087120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11.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2003" y="914400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3544" y="921744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5</a:t>
            </a:r>
            <a:endParaRPr lang="en-US" sz="3200" b="1" dirty="0" smtClean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7746" y="1548824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2667000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5</a:t>
            </a:r>
            <a:endParaRPr lang="en-US" sz="3200" b="1" dirty="0" smtClean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4079479"/>
            <a:ext cx="330631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40000" dirty="0" smtClean="0">
                <a:latin typeface="Calibri"/>
                <a:cs typeface="Calibri"/>
              </a:rPr>
              <a:t>2</a:t>
            </a:r>
            <a:r>
              <a:rPr lang="en-US" sz="3200" b="1" dirty="0" smtClean="0">
                <a:latin typeface="Calibri"/>
                <a:cs typeface="Calibri"/>
              </a:rPr>
              <a:t> + 5x + 5x + 25  =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3632" y="1524000"/>
            <a:ext cx="2415967" cy="2057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2932510" y="1510632"/>
            <a:ext cx="0" cy="20707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2003632" y="2286000"/>
            <a:ext cx="24159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30527" y="1600200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37955" y="2615624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600200"/>
            <a:ext cx="58221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5x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9800" y="2590800"/>
            <a:ext cx="58221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5x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5301" y="4089976"/>
            <a:ext cx="2337899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r>
              <a:rPr lang="en-US" sz="3200" b="1" baseline="40000" dirty="0">
                <a:latin typeface="Calibri"/>
                <a:cs typeface="Calibri"/>
              </a:rPr>
              <a:t>2</a:t>
            </a:r>
            <a:r>
              <a:rPr lang="en-US" sz="3200" b="1" dirty="0">
                <a:latin typeface="Calibri"/>
                <a:cs typeface="Calibri"/>
              </a:rPr>
              <a:t> + 10x</a:t>
            </a:r>
            <a:r>
              <a:rPr lang="en-US" sz="3200" b="1" i="1" dirty="0">
                <a:latin typeface="Calibri"/>
                <a:cs typeface="Calibri"/>
              </a:rPr>
              <a:t> </a:t>
            </a:r>
            <a:r>
              <a:rPr lang="en-US" sz="3200" b="1" dirty="0">
                <a:latin typeface="Calibri"/>
                <a:cs typeface="Calibri"/>
              </a:rPr>
              <a:t>+ </a:t>
            </a:r>
            <a:r>
              <a:rPr lang="en-US" sz="3200" b="1" dirty="0" smtClean="0">
                <a:latin typeface="Calibri"/>
                <a:cs typeface="Calibri"/>
              </a:rPr>
              <a:t>25</a:t>
            </a:r>
            <a:endParaRPr lang="en-US" sz="3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611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9" grpId="0"/>
      <p:bldP spid="10" grpId="0" animBg="1"/>
      <p:bldP spid="13" grpId="0"/>
      <p:bldP spid="14" grpId="0"/>
      <p:bldP spid="15" grpId="0"/>
      <p:bldP spid="16" grpId="0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7567" y="101024"/>
            <a:ext cx="434886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Answer to problem #12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7040" y="1087120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12.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2003" y="914400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5362" y="921744"/>
            <a:ext cx="59703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–9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746" y="1548824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2667000"/>
            <a:ext cx="59703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–9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079479"/>
            <a:ext cx="430345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40000" dirty="0" smtClean="0">
                <a:latin typeface="Calibri"/>
                <a:cs typeface="Calibri"/>
              </a:rPr>
              <a:t>2</a:t>
            </a:r>
            <a:r>
              <a:rPr lang="en-US" sz="3200" b="1" dirty="0" smtClean="0">
                <a:latin typeface="Calibri"/>
                <a:cs typeface="Calibri"/>
              </a:rPr>
              <a:t> + (–9x) + (–9x) </a:t>
            </a:r>
            <a:r>
              <a:rPr lang="en-US" sz="3200" b="1" dirty="0">
                <a:latin typeface="Calibri"/>
                <a:cs typeface="Calibri"/>
              </a:rPr>
              <a:t>+</a:t>
            </a:r>
            <a:r>
              <a:rPr lang="en-US" sz="3200" b="1" dirty="0" smtClean="0">
                <a:latin typeface="Calibri"/>
                <a:cs typeface="Calibri"/>
              </a:rPr>
              <a:t> 81  =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3632" y="1524000"/>
            <a:ext cx="2415967" cy="2057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2932510" y="1510632"/>
            <a:ext cx="0" cy="20707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2003632" y="2286000"/>
            <a:ext cx="24159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30527" y="1600200"/>
            <a:ext cx="56322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>
                <a:latin typeface="Calibri"/>
                <a:cs typeface="Calibri"/>
              </a:rPr>
              <a:t>2</a:t>
            </a:r>
            <a:endParaRPr lang="en-US" sz="3200" b="1" i="1" dirty="0" smtClean="0"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52800" y="2668054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6600" y="1600200"/>
            <a:ext cx="80021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–9x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667000"/>
            <a:ext cx="80021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–9x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91" y="4079479"/>
            <a:ext cx="2312251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r>
              <a:rPr lang="en-US" sz="3200" b="1" baseline="40000" dirty="0" smtClean="0">
                <a:latin typeface="Calibri"/>
                <a:cs typeface="Calibri"/>
              </a:rPr>
              <a:t>2</a:t>
            </a:r>
            <a:r>
              <a:rPr lang="en-US" sz="3200" b="1" dirty="0" smtClean="0">
                <a:latin typeface="Calibri"/>
                <a:cs typeface="Calibri"/>
              </a:rPr>
              <a:t> – 18x </a:t>
            </a:r>
            <a:r>
              <a:rPr lang="en-US" sz="3200" b="1" dirty="0">
                <a:latin typeface="Calibri"/>
                <a:cs typeface="Calibri"/>
              </a:rPr>
              <a:t>+ </a:t>
            </a:r>
            <a:r>
              <a:rPr lang="en-US" sz="3200" b="1" dirty="0" smtClean="0">
                <a:latin typeface="Calibri"/>
                <a:cs typeface="Calibri"/>
              </a:rPr>
              <a:t>81</a:t>
            </a:r>
            <a:endParaRPr lang="en-US" sz="3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228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9" grpId="0"/>
      <p:bldP spid="10" grpId="0" animBg="1"/>
      <p:bldP spid="13" grpId="0"/>
      <p:bldP spid="14" grpId="0"/>
      <p:bldP spid="15" grpId="0"/>
      <p:bldP spid="16" grpId="0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05532" y="152400"/>
            <a:ext cx="513293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Answers to problems #13–16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3880" y="914400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13.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880" y="1905576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14.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3880" y="2908012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880" y="3954492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16.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800" y="914400"/>
            <a:ext cx="186534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r>
              <a:rPr lang="en-US" sz="3200" b="1" baseline="40000" dirty="0" smtClean="0">
                <a:latin typeface="Calibri"/>
                <a:cs typeface="Calibri"/>
              </a:rPr>
              <a:t>2</a:t>
            </a:r>
            <a:r>
              <a:rPr lang="en-US" sz="3200" b="1" baseline="30000" dirty="0" smtClean="0">
                <a:latin typeface="Calibri"/>
                <a:cs typeface="Calibri"/>
              </a:rPr>
              <a:t> </a:t>
            </a:r>
            <a:r>
              <a:rPr lang="en-US" sz="3200" b="1" dirty="0" smtClean="0">
                <a:latin typeface="Calibri"/>
                <a:cs typeface="Calibri"/>
              </a:rPr>
              <a:t>+ 6x + 9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1888084"/>
            <a:ext cx="248931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r>
              <a:rPr lang="en-US" sz="3200" b="1" baseline="40000" dirty="0" smtClean="0">
                <a:latin typeface="Calibri"/>
                <a:cs typeface="Calibri"/>
              </a:rPr>
              <a:t>2</a:t>
            </a:r>
            <a:r>
              <a:rPr lang="en-US" sz="3200" b="1" baseline="30000" dirty="0" smtClean="0">
                <a:latin typeface="Calibri"/>
                <a:cs typeface="Calibri"/>
              </a:rPr>
              <a:t> </a:t>
            </a:r>
            <a:r>
              <a:rPr lang="en-US" sz="3200" b="1" dirty="0" smtClean="0">
                <a:latin typeface="Calibri"/>
                <a:cs typeface="Calibri"/>
              </a:rPr>
              <a:t>– 30x + 225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8280" y="2923828"/>
            <a:ext cx="248931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r>
              <a:rPr lang="en-US" sz="3200" b="1" baseline="40000" dirty="0" smtClean="0">
                <a:latin typeface="Calibri"/>
                <a:cs typeface="Calibri"/>
              </a:rPr>
              <a:t>2</a:t>
            </a:r>
            <a:r>
              <a:rPr lang="en-US" sz="3200" b="1" baseline="30000" dirty="0" smtClean="0">
                <a:latin typeface="Calibri"/>
                <a:cs typeface="Calibri"/>
              </a:rPr>
              <a:t> </a:t>
            </a:r>
            <a:r>
              <a:rPr lang="en-US" sz="3200" b="1" dirty="0" smtClean="0">
                <a:latin typeface="Calibri"/>
                <a:cs typeface="Calibri"/>
              </a:rPr>
              <a:t>– 60x + 900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3680" y="3944908"/>
            <a:ext cx="248931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r>
              <a:rPr lang="en-US" sz="3200" b="1" baseline="40000" dirty="0" smtClean="0">
                <a:latin typeface="Calibri"/>
                <a:cs typeface="Calibri"/>
              </a:rPr>
              <a:t>2</a:t>
            </a:r>
            <a:r>
              <a:rPr lang="en-US" sz="3200" b="1" baseline="30000" dirty="0" smtClean="0">
                <a:latin typeface="Calibri"/>
                <a:cs typeface="Calibri"/>
              </a:rPr>
              <a:t> </a:t>
            </a:r>
            <a:r>
              <a:rPr lang="en-US" sz="3200" b="1" dirty="0">
                <a:latin typeface="Calibri"/>
                <a:cs typeface="Calibri"/>
              </a:rPr>
              <a:t>+</a:t>
            </a:r>
            <a:r>
              <a:rPr lang="en-US" sz="3200" b="1" dirty="0" smtClean="0">
                <a:latin typeface="Calibri"/>
                <a:cs typeface="Calibri"/>
              </a:rPr>
              <a:t> 32x + 256</a:t>
            </a:r>
          </a:p>
        </p:txBody>
      </p:sp>
    </p:spTree>
    <p:extLst>
      <p:ext uri="{BB962C8B-B14F-4D97-AF65-F5344CB8AC3E}">
        <p14:creationId xmlns:p14="http://schemas.microsoft.com/office/powerpoint/2010/main" val="248707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4354171" y="1228768"/>
            <a:ext cx="539646" cy="149169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948827" y="754635"/>
            <a:ext cx="1773706" cy="47470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45533" y="348842"/>
            <a:ext cx="49444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244141"/>
              </p:ext>
            </p:extLst>
          </p:nvPr>
        </p:nvGraphicFramePr>
        <p:xfrm>
          <a:off x="4948827" y="1271913"/>
          <a:ext cx="1773706" cy="1448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058"/>
                <a:gridCol w="1079648"/>
              </a:tblGrid>
              <a:tr h="582618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65931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 smtClean="0"/>
                    </a:p>
                    <a:p>
                      <a:endParaRPr lang="en-US" sz="800" dirty="0" smtClean="0"/>
                    </a:p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159933" y="348842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00008" y="361965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49365" y="357986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6333" y="357986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0378" y="36183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88373" y="359036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65207" y="1635639"/>
            <a:ext cx="389850" cy="58477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+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65207" y="1636215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6570" y="1228768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65372" y="687948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9365" y="357986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6333" y="357986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981" y="348842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36333" y="357986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5943" y="1619282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543" y="1619282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3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H="1" flipV="1">
            <a:off x="7357534" y="1018725"/>
            <a:ext cx="516466" cy="787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8000999" y="1010258"/>
            <a:ext cx="338667" cy="8128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83733" y="1033930"/>
            <a:ext cx="1226818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(x + 3)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31835" y="1972683"/>
            <a:ext cx="58221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3x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11722" y="1263682"/>
            <a:ext cx="58221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3x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7637" y="361965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0551" y="1033930"/>
            <a:ext cx="1226818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(x + 3)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8133" y="4834467"/>
            <a:ext cx="18466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b="1" dirty="0" smtClean="0">
              <a:latin typeface="Calibri"/>
              <a:cs typeface="Calibri"/>
            </a:endParaRPr>
          </a:p>
        </p:txBody>
      </p:sp>
      <p:cxnSp>
        <p:nvCxnSpPr>
          <p:cNvPr id="35" name="Straight Arrow Connector 34"/>
          <p:cNvCxnSpPr>
            <a:stCxn id="12" idx="1"/>
            <a:endCxn id="26" idx="3"/>
          </p:cNvCxnSpPr>
          <p:nvPr/>
        </p:nvCxnSpPr>
        <p:spPr>
          <a:xfrm flipH="1">
            <a:off x="2310551" y="991990"/>
            <a:ext cx="2638276" cy="3343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5" idx="1"/>
          </p:cNvCxnSpPr>
          <p:nvPr/>
        </p:nvCxnSpPr>
        <p:spPr>
          <a:xfrm flipH="1" flipV="1">
            <a:off x="3547533" y="1535191"/>
            <a:ext cx="806638" cy="4394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547533" y="1010258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97139" y="1682227"/>
            <a:ext cx="1365478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(x + 3)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4924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4100">
        <p:checker/>
      </p:transition>
    </mc:Choice>
    <mc:Fallback xmlns="">
      <p:transition xmlns:p14="http://schemas.microsoft.com/office/powerpoint/2010/main" spd="slow" advTm="24100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4.07407E-6 L 0.42413 0.13333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98" y="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81481E-6 L 0.34722 0.23936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61" y="11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8" presetID="28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2.5E-6 -4.81481E-6 L 0.69132 -0.00138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66" y="-69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2.5E-6 -4.81481E-6 L 0.46024 -0.00185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0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59259E-6 L -0.15539 -0.13634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78" y="-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59259E-6 L -0.39028 0.0507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14" y="2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23" grpId="0"/>
      <p:bldP spid="31" grpId="0"/>
      <p:bldP spid="2" grpId="0"/>
      <p:bldP spid="3" grpId="0"/>
      <p:bldP spid="11" grpId="0"/>
      <p:bldP spid="13" grpId="0"/>
      <p:bldP spid="38" grpId="0"/>
      <p:bldP spid="77" grpId="0"/>
      <p:bldP spid="77" grpId="1"/>
      <p:bldP spid="90" grpId="0"/>
      <p:bldP spid="90" grpId="1"/>
      <p:bldP spid="4" grpId="0"/>
      <p:bldP spid="6" grpId="0"/>
      <p:bldP spid="8" grpId="0"/>
      <p:bldP spid="8" grpId="1"/>
      <p:bldP spid="8" grpId="2"/>
      <p:bldP spid="9" grpId="0"/>
      <p:bldP spid="9" grpId="1"/>
      <p:bldP spid="9" grpId="2"/>
      <p:bldP spid="10" grpId="0"/>
      <p:bldP spid="10" grpId="1"/>
      <p:bldP spid="14" grpId="0"/>
      <p:bldP spid="14" grpId="1"/>
      <p:bldP spid="16" grpId="0"/>
      <p:bldP spid="16" grpId="1"/>
      <p:bldP spid="17" grpId="0"/>
      <p:bldP spid="17" grpId="1"/>
      <p:bldP spid="26" grpId="0" animBg="1"/>
      <p:bldP spid="27" grpId="0"/>
      <p:bldP spid="29" grpId="0"/>
      <p:bldP spid="18" grpId="0"/>
      <p:bldP spid="19" grpId="0" animBg="1"/>
      <p:bldP spid="44" grpId="0"/>
      <p:bldP spid="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2309" y="1095172"/>
            <a:ext cx="507472" cy="148619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403866" y="549368"/>
            <a:ext cx="1779111" cy="47091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72696" y="274028"/>
            <a:ext cx="48262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283188"/>
              </p:ext>
            </p:extLst>
          </p:nvPr>
        </p:nvGraphicFramePr>
        <p:xfrm>
          <a:off x="4383013" y="1097600"/>
          <a:ext cx="1799964" cy="1483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785"/>
                <a:gridCol w="1068179"/>
              </a:tblGrid>
              <a:tr h="55263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3113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 smtClean="0"/>
                    </a:p>
                    <a:p>
                      <a:endParaRPr lang="en-US" sz="800" dirty="0" smtClean="0"/>
                    </a:p>
                    <a:p>
                      <a:endParaRPr lang="en-US" sz="800" dirty="0"/>
                    </a:p>
                  </a:txBody>
                  <a:tcPr marL="103247" marR="103247" marT="29039" marB="29039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985366" y="254030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16085" y="263784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133" y="253590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98090" y="266578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1857" y="266578"/>
            <a:ext cx="68981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0309" y="254030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93613" y="262734"/>
            <a:ext cx="68981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09181" y="253590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09181" y="253590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4310" y="497991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9688" y="1039858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8133" y="1963257"/>
            <a:ext cx="59703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–</a:t>
            </a:r>
            <a:r>
              <a:rPr lang="en-US" sz="3200" b="1" dirty="0" smtClean="0">
                <a:latin typeface="Calibri"/>
                <a:cs typeface="Calibri"/>
              </a:rPr>
              <a:t>4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4095" y="1963257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4172" y="1963257"/>
            <a:ext cx="59703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–4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7211291" y="1039160"/>
            <a:ext cx="595232" cy="10926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24233" y="1963257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+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7832999" y="1039160"/>
            <a:ext cx="602110" cy="10609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268576" y="1057368"/>
            <a:ext cx="78739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–4x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94205" y="1777424"/>
            <a:ext cx="78739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–4x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9826" y="928518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4849" y="1648954"/>
            <a:ext cx="1365478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(x – 4)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cxnSp>
        <p:nvCxnSpPr>
          <p:cNvPr id="34" name="Straight Arrow Connector 33"/>
          <p:cNvCxnSpPr>
            <a:stCxn id="4" idx="1"/>
          </p:cNvCxnSpPr>
          <p:nvPr/>
        </p:nvCxnSpPr>
        <p:spPr>
          <a:xfrm flipH="1">
            <a:off x="2054321" y="784827"/>
            <a:ext cx="2349545" cy="5083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53533" y="976474"/>
            <a:ext cx="1226818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(x – 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88915" y="966095"/>
            <a:ext cx="1226818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(x – 4)</a:t>
            </a:r>
          </a:p>
        </p:txBody>
      </p:sp>
      <p:cxnSp>
        <p:nvCxnSpPr>
          <p:cNvPr id="46" name="Straight Arrow Connector 45"/>
          <p:cNvCxnSpPr>
            <a:stCxn id="5" idx="1"/>
          </p:cNvCxnSpPr>
          <p:nvPr/>
        </p:nvCxnSpPr>
        <p:spPr>
          <a:xfrm flipH="1" flipV="1">
            <a:off x="3116503" y="1477887"/>
            <a:ext cx="695806" cy="3603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069657" y="254030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1563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4100">
        <p:checker/>
      </p:transition>
    </mc:Choice>
    <mc:Fallback xmlns="">
      <p:transition xmlns:p14="http://schemas.microsoft.com/office/powerpoint/2010/main" spd="slow" advTm="24100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33333E-6 L 0.38039 0.11875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1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3.33333E-6 L 0.30017 0.21875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00" y="10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5" presetID="2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2.77778E-7 3.33333E-6 L 0.46684 0.01018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33" y="509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2.22222E-6 4.44444E-6 L 0.71962 0.0118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972" y="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2.22222E-6 L -0.18715 -0.21273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58" y="-1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22222E-6 L -0.45659 -0.02523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830" y="-1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23" grpId="0"/>
      <p:bldP spid="31" grpId="0"/>
      <p:bldP spid="38" grpId="0"/>
      <p:bldP spid="10" grpId="0"/>
      <p:bldP spid="10" grpId="1"/>
      <p:bldP spid="14" grpId="0"/>
      <p:bldP spid="24" grpId="0"/>
      <p:bldP spid="30" grpId="0"/>
      <p:bldP spid="33" grpId="0"/>
      <p:bldP spid="33" grpId="1"/>
      <p:bldP spid="33" grpId="2"/>
      <p:bldP spid="35" grpId="0"/>
      <p:bldP spid="35" grpId="1"/>
      <p:bldP spid="35" grpId="2"/>
      <p:bldP spid="36" grpId="0"/>
      <p:bldP spid="36" grpId="1"/>
      <p:bldP spid="37" grpId="0"/>
      <p:bldP spid="39" grpId="0"/>
      <p:bldP spid="18" grpId="0"/>
      <p:bldP spid="18" grpId="1"/>
      <p:bldP spid="19" grpId="0"/>
      <p:bldP spid="19" grpId="1"/>
      <p:bldP spid="20" grpId="0"/>
      <p:bldP spid="20" grpId="1"/>
      <p:bldP spid="26" grpId="0"/>
      <p:bldP spid="26" grpId="1"/>
      <p:bldP spid="2" grpId="0"/>
      <p:bldP spid="3" grpId="0"/>
      <p:bldP spid="8" grpId="0"/>
      <p:bldP spid="9" grpId="0" animBg="1"/>
      <p:bldP spid="40" grpId="0" animBg="1"/>
      <p:bldP spid="42" grpId="0" animBg="1"/>
      <p:bldP spid="6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91256" y="101024"/>
            <a:ext cx="596148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Answers to problems #17 and #18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838200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17.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5820" y="2913668"/>
            <a:ext cx="58221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>
                    <a:lumMod val="65000"/>
                  </a:schemeClr>
                </a:solidFill>
                <a:latin typeface="Calibri"/>
                <a:cs typeface="Calibri"/>
              </a:rPr>
              <a:t>5x</a:t>
            </a:r>
          </a:p>
        </p:txBody>
      </p:sp>
      <p:sp>
        <p:nvSpPr>
          <p:cNvPr id="7" name="Rectangle 6"/>
          <p:cNvSpPr/>
          <p:nvPr/>
        </p:nvSpPr>
        <p:spPr>
          <a:xfrm>
            <a:off x="1432169" y="1898244"/>
            <a:ext cx="2233982" cy="1905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398788" y="1898244"/>
            <a:ext cx="0" cy="1905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1436415" y="2687372"/>
            <a:ext cx="222973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36788" y="2001572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12543" y="2888844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6416" y="1282988"/>
            <a:ext cx="2229736" cy="58477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   x         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0977" y="2001572"/>
            <a:ext cx="58221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>
                    <a:lumMod val="65000"/>
                  </a:schemeClr>
                </a:solidFill>
                <a:latin typeface="Calibri"/>
                <a:cs typeface="Calibri"/>
              </a:rPr>
              <a:t>5x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3299" y="1887272"/>
            <a:ext cx="609215" cy="191597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939673" y="1999268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4043" y="2965044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636" y="4114800"/>
            <a:ext cx="256612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(x + 5)(x + 5) 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5292" y="4800600"/>
            <a:ext cx="1365478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cs typeface="Calibri"/>
              </a:rPr>
              <a:t>(x + 5)</a:t>
            </a:r>
            <a:r>
              <a:rPr lang="en-US" sz="3200" b="1" baseline="50000" dirty="0">
                <a:cs typeface="Calibri"/>
              </a:rPr>
              <a:t>2</a:t>
            </a:r>
            <a:r>
              <a:rPr lang="en-US" sz="3200" b="1" dirty="0">
                <a:cs typeface="Calibri"/>
              </a:rPr>
              <a:t> 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00600" y="838200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18.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1370" y="2750296"/>
            <a:ext cx="78919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65000"/>
                  </a:schemeClr>
                </a:solidFill>
                <a:latin typeface="Calibri"/>
                <a:cs typeface="Calibri"/>
              </a:rPr>
              <a:t>1</a:t>
            </a:r>
            <a:r>
              <a:rPr lang="en-US" sz="3200" b="1" dirty="0" smtClean="0">
                <a:solidFill>
                  <a:schemeClr val="bg1">
                    <a:lumMod val="65000"/>
                  </a:schemeClr>
                </a:solidFill>
                <a:latin typeface="Calibri"/>
                <a:cs typeface="Calibri"/>
              </a:rPr>
              <a:t>0x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7719" y="1734872"/>
            <a:ext cx="2233982" cy="1905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7214338" y="1734872"/>
            <a:ext cx="0" cy="1905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6251965" y="2524000"/>
            <a:ext cx="222973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52338" y="1838200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528093" y="2725472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1966" y="1119616"/>
            <a:ext cx="2229736" cy="58477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   x        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6527" y="1838200"/>
            <a:ext cx="78919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65000"/>
                  </a:schemeClr>
                </a:solidFill>
                <a:latin typeface="Calibri"/>
                <a:cs typeface="Calibri"/>
              </a:rPr>
              <a:t>1</a:t>
            </a:r>
            <a:r>
              <a:rPr lang="en-US" sz="3200" b="1" dirty="0" smtClean="0">
                <a:solidFill>
                  <a:schemeClr val="bg1">
                    <a:lumMod val="65000"/>
                  </a:schemeClr>
                </a:solidFill>
                <a:latin typeface="Calibri"/>
                <a:cs typeface="Calibri"/>
              </a:rPr>
              <a:t>0x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98849" y="1723900"/>
            <a:ext cx="609215" cy="191597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5755223" y="1835896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38800" y="2801672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4360" y="3995708"/>
            <a:ext cx="298210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(x + 10)(x + 10) =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1966" y="4800600"/>
            <a:ext cx="1573467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cs typeface="Calibri"/>
              </a:rPr>
              <a:t>(x + </a:t>
            </a:r>
            <a:r>
              <a:rPr lang="en-US" sz="3200" b="1" dirty="0" smtClean="0">
                <a:cs typeface="Calibri"/>
              </a:rPr>
              <a:t>10)</a:t>
            </a:r>
            <a:r>
              <a:rPr lang="en-US" sz="3200" b="1" baseline="50000" dirty="0">
                <a:cs typeface="Calibri"/>
              </a:rPr>
              <a:t>2</a:t>
            </a:r>
            <a:r>
              <a:rPr lang="en-US" sz="3200" b="1" dirty="0">
                <a:cs typeface="Calibri"/>
              </a:rPr>
              <a:t> </a:t>
            </a:r>
            <a:endParaRPr lang="en-US" sz="3200" b="1" dirty="0" smtClean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1878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 animBg="1"/>
      <p:bldP spid="10" grpId="0"/>
      <p:bldP spid="11" grpId="0"/>
      <p:bldP spid="12" grpId="0" animBg="1"/>
      <p:bldP spid="15" grpId="0"/>
      <p:bldP spid="32" grpId="0" animBg="1"/>
      <p:bldP spid="33" grpId="0"/>
      <p:bldP spid="34" grpId="0"/>
      <p:bldP spid="35" grpId="0"/>
      <p:bldP spid="37" grpId="0" animBg="1"/>
      <p:bldP spid="38" grpId="0"/>
      <p:bldP spid="39" grpId="0"/>
      <p:bldP spid="40" grpId="0" animBg="1"/>
      <p:bldP spid="43" grpId="0"/>
      <p:bldP spid="44" grpId="0"/>
      <p:bldP spid="45" grpId="0" animBg="1"/>
      <p:bldP spid="46" grpId="0"/>
      <p:bldP spid="47" grpId="0" animBg="1"/>
      <p:bldP spid="48" grpId="0"/>
      <p:bldP spid="49" grpId="0"/>
      <p:bldP spid="50" grpId="0"/>
      <p:bldP spid="5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248400" y="1066800"/>
            <a:ext cx="2229735" cy="609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91256" y="101024"/>
            <a:ext cx="596148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Answers to problems #19 and #20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838200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19.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2913668"/>
            <a:ext cx="78739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>
                    <a:lumMod val="65000"/>
                  </a:schemeClr>
                </a:solidFill>
                <a:latin typeface="Calibri"/>
                <a:cs typeface="Calibri"/>
              </a:rPr>
              <a:t>–7x</a:t>
            </a:r>
          </a:p>
        </p:txBody>
      </p:sp>
      <p:sp>
        <p:nvSpPr>
          <p:cNvPr id="7" name="Rectangle 6"/>
          <p:cNvSpPr/>
          <p:nvPr/>
        </p:nvSpPr>
        <p:spPr>
          <a:xfrm>
            <a:off x="1432169" y="1898244"/>
            <a:ext cx="2233982" cy="1905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398788" y="1898244"/>
            <a:ext cx="0" cy="1905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1436415" y="2687372"/>
            <a:ext cx="222973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36788" y="2001572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12543" y="2888844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6416" y="1282988"/>
            <a:ext cx="2229736" cy="58477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   x         –7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0800" y="2001572"/>
            <a:ext cx="78739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>
                    <a:lumMod val="65000"/>
                  </a:schemeClr>
                </a:solidFill>
                <a:latin typeface="Calibri"/>
                <a:cs typeface="Calibri"/>
              </a:rPr>
              <a:t>–7x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3299" y="1887272"/>
            <a:ext cx="609215" cy="191597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939673" y="1999268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8200" y="2965044"/>
            <a:ext cx="59703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–</a:t>
            </a:r>
            <a:r>
              <a:rPr lang="en-US" sz="3200" b="1" dirty="0" smtClean="0">
                <a:latin typeface="Calibri"/>
                <a:cs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636" y="4114800"/>
            <a:ext cx="256612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(x – </a:t>
            </a:r>
            <a:r>
              <a:rPr lang="en-US" sz="3200" b="1" dirty="0">
                <a:latin typeface="Calibri"/>
                <a:cs typeface="Calibri"/>
              </a:rPr>
              <a:t>7</a:t>
            </a:r>
            <a:r>
              <a:rPr lang="en-US" sz="3200" b="1" dirty="0" smtClean="0">
                <a:latin typeface="Calibri"/>
                <a:cs typeface="Calibri"/>
              </a:rPr>
              <a:t>)(x – </a:t>
            </a:r>
            <a:r>
              <a:rPr lang="en-US" sz="3200" b="1" dirty="0">
                <a:latin typeface="Calibri"/>
                <a:cs typeface="Calibri"/>
              </a:rPr>
              <a:t>7</a:t>
            </a:r>
            <a:r>
              <a:rPr lang="en-US" sz="3200" b="1" dirty="0" smtClean="0">
                <a:latin typeface="Calibri"/>
                <a:cs typeface="Calibri"/>
              </a:rPr>
              <a:t>) 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5292" y="4800600"/>
            <a:ext cx="1365478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cs typeface="Calibri"/>
              </a:rPr>
              <a:t>(x </a:t>
            </a:r>
            <a:r>
              <a:rPr lang="en-US" sz="3200" b="1" dirty="0" smtClean="0">
                <a:cs typeface="Calibri"/>
              </a:rPr>
              <a:t>– 7)</a:t>
            </a:r>
            <a:r>
              <a:rPr lang="en-US" sz="3200" b="1" baseline="50000" dirty="0">
                <a:cs typeface="Calibri"/>
              </a:rPr>
              <a:t>2</a:t>
            </a:r>
            <a:r>
              <a:rPr lang="en-US" sz="3200" b="1" dirty="0">
                <a:cs typeface="Calibri"/>
              </a:rPr>
              <a:t> 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55918" y="838200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400" y="2750296"/>
            <a:ext cx="99358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>
                    <a:lumMod val="65000"/>
                  </a:schemeClr>
                </a:solidFill>
                <a:latin typeface="Calibri"/>
                <a:cs typeface="Calibri"/>
              </a:rPr>
              <a:t>–13x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7719" y="1734872"/>
            <a:ext cx="2233982" cy="1905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7214338" y="1734872"/>
            <a:ext cx="0" cy="1905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6251965" y="2524000"/>
            <a:ext cx="222973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52338" y="1838200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67600" y="2725472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169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1966" y="1066800"/>
            <a:ext cx="2229736" cy="58477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   x        –13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91400" y="1838200"/>
            <a:ext cx="99358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>
                    <a:lumMod val="65000"/>
                  </a:schemeClr>
                </a:solidFill>
                <a:latin typeface="Calibri"/>
                <a:cs typeface="Calibri"/>
              </a:rPr>
              <a:t>–13x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10200" y="1723900"/>
            <a:ext cx="797865" cy="191597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5755223" y="1835896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10200" y="2801672"/>
            <a:ext cx="80502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4360" y="3995708"/>
            <a:ext cx="298210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(x – 13)(x – 13) =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1966" y="4800600"/>
            <a:ext cx="1573467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cs typeface="Calibri"/>
              </a:rPr>
              <a:t>(x </a:t>
            </a:r>
            <a:r>
              <a:rPr lang="en-US" sz="3200" b="1" dirty="0" smtClean="0">
                <a:cs typeface="Calibri"/>
              </a:rPr>
              <a:t>– 13)</a:t>
            </a:r>
            <a:r>
              <a:rPr lang="en-US" sz="3200" b="1" baseline="50000" dirty="0">
                <a:cs typeface="Calibri"/>
              </a:rPr>
              <a:t>2</a:t>
            </a:r>
            <a:r>
              <a:rPr lang="en-US" sz="3200" b="1" dirty="0">
                <a:cs typeface="Calibri"/>
              </a:rPr>
              <a:t> </a:t>
            </a:r>
            <a:endParaRPr lang="en-US" sz="3200" b="1" dirty="0" smtClean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096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  <p:bldP spid="4" grpId="0"/>
      <p:bldP spid="6" grpId="0"/>
      <p:bldP spid="7" grpId="0" animBg="1"/>
      <p:bldP spid="10" grpId="0"/>
      <p:bldP spid="11" grpId="0"/>
      <p:bldP spid="12" grpId="0" animBg="1"/>
      <p:bldP spid="15" grpId="0"/>
      <p:bldP spid="32" grpId="0" animBg="1"/>
      <p:bldP spid="33" grpId="0"/>
      <p:bldP spid="34" grpId="0"/>
      <p:bldP spid="35" grpId="0"/>
      <p:bldP spid="37" grpId="0" animBg="1"/>
      <p:bldP spid="38" grpId="0"/>
      <p:bldP spid="39" grpId="0"/>
      <p:bldP spid="40" grpId="0" animBg="1"/>
      <p:bldP spid="43" grpId="0"/>
      <p:bldP spid="44" grpId="0"/>
      <p:bldP spid="45" grpId="0"/>
      <p:bldP spid="46" grpId="0"/>
      <p:bldP spid="47" grpId="0" animBg="1"/>
      <p:bldP spid="48" grpId="0"/>
      <p:bldP spid="49" grpId="0"/>
      <p:bldP spid="50" grpId="0"/>
      <p:bldP spid="5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81000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21.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381000"/>
            <a:ext cx="69341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1200" dirty="0" smtClean="0">
                <a:latin typeface="Calibri"/>
                <a:cs typeface="Calibri"/>
              </a:rPr>
              <a:t>Write the relationship between the middle and last term in the box below!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200" y="1752600"/>
            <a:ext cx="6757349" cy="156966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1200" dirty="0" smtClean="0">
                <a:latin typeface="Calibri"/>
                <a:cs typeface="Calibri"/>
              </a:rPr>
              <a:t>If you </a:t>
            </a:r>
            <a:r>
              <a:rPr lang="en-US" sz="3200" b="1" dirty="0">
                <a:latin typeface="Calibri"/>
                <a:cs typeface="Calibri"/>
              </a:rPr>
              <a:t>d</a:t>
            </a:r>
            <a:r>
              <a:rPr lang="en-US" sz="3200" b="1" kern="1200" dirty="0" smtClean="0">
                <a:latin typeface="Calibri"/>
                <a:cs typeface="Calibri"/>
              </a:rPr>
              <a:t>ivide the coefficient of the middle term by 2, then square </a:t>
            </a:r>
            <a:r>
              <a:rPr lang="en-US" sz="3200" b="1" kern="1200" dirty="0" smtClean="0">
                <a:latin typeface="Calibri"/>
                <a:cs typeface="Calibri"/>
              </a:rPr>
              <a:t>it</a:t>
            </a:r>
            <a:r>
              <a:rPr lang="en-US" sz="3200" b="1" kern="1200" smtClean="0">
                <a:latin typeface="Calibri"/>
                <a:cs typeface="Calibri"/>
              </a:rPr>
              <a:t>, it </a:t>
            </a:r>
            <a:r>
              <a:rPr lang="en-US" sz="3200" b="1" kern="1200" dirty="0" smtClean="0">
                <a:latin typeface="Calibri"/>
                <a:cs typeface="Calibri"/>
              </a:rPr>
              <a:t>equals the last term! </a:t>
            </a:r>
            <a:endParaRPr lang="en-US" sz="3200" b="1" dirty="0">
              <a:latin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3647182"/>
            <a:ext cx="60246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FF"/>
                </a:solidFill>
                <a:cs typeface="Calibri"/>
              </a:rPr>
              <a:t>**Note the coefficient of </a:t>
            </a:r>
            <a:r>
              <a:rPr lang="en-US" sz="3200" b="1" i="1" dirty="0">
                <a:solidFill>
                  <a:srgbClr val="0000FF"/>
                </a:solidFill>
                <a:cs typeface="Calibri"/>
              </a:rPr>
              <a:t>x</a:t>
            </a:r>
            <a:r>
              <a:rPr lang="en-US" sz="3200" b="1" baseline="30000" dirty="0">
                <a:solidFill>
                  <a:srgbClr val="0000FF"/>
                </a:solidFill>
                <a:cs typeface="Calibri"/>
              </a:rPr>
              <a:t>2</a:t>
            </a:r>
            <a:r>
              <a:rPr lang="en-US" sz="3200" b="1" dirty="0">
                <a:solidFill>
                  <a:srgbClr val="0000FF"/>
                </a:solidFill>
                <a:cs typeface="Calibri"/>
              </a:rPr>
              <a:t> is 1 in these situations</a:t>
            </a:r>
            <a:r>
              <a:rPr lang="en-US" sz="3200" b="1" dirty="0" smtClean="0">
                <a:solidFill>
                  <a:srgbClr val="0000FF"/>
                </a:solidFill>
                <a:cs typeface="Calibri"/>
              </a:rPr>
              <a:t>!</a:t>
            </a:r>
            <a:endParaRPr lang="en-US" sz="3200" b="1" dirty="0">
              <a:solidFill>
                <a:srgbClr val="0000FF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679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/>
      <p:bldP spid="24" grpId="0" animBg="1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48256" y="225552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3850" y="228600"/>
            <a:ext cx="5557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305" y="228600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93084" y="2286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8256" y="228600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7605" y="228600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228600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5550" y="228600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5360672" y="1074985"/>
            <a:ext cx="8025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81201" y="228600"/>
            <a:ext cx="5579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>
                <a:latin typeface="Calibri"/>
                <a:cs typeface="Calibri"/>
              </a:rPr>
              <a:t>(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2518" y="228600"/>
            <a:ext cx="5579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>
                <a:latin typeface="Calibri"/>
                <a:cs typeface="Calibri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4022" y="1137344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321" y="375969"/>
            <a:ext cx="323326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baseline="-25000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1321" y="1023609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1321" y="756333"/>
            <a:ext cx="3748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9400" y="2413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1321" y="1898878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726" y="1657866"/>
            <a:ext cx="3748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1400" y="1853624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9086" y="1898878"/>
            <a:ext cx="78699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(6)</a:t>
            </a:r>
            <a:r>
              <a:rPr lang="en-US" sz="3200" b="1" baseline="45000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7755" y="2483654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1065" y="2483654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1400" y="2479766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36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5876" y="3715266"/>
            <a:ext cx="3870924" cy="2062103"/>
          </a:xfrm>
          <a:prstGeom prst="rect">
            <a:avLst/>
          </a:prstGeom>
          <a:noFill/>
          <a:ln>
            <a:solidFill>
              <a:srgbClr val="0000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alibri"/>
                <a:cs typeface="Calibri"/>
              </a:rPr>
              <a:t>This is a 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true</a:t>
            </a:r>
            <a:r>
              <a:rPr lang="en-US" sz="3200" b="1" dirty="0" smtClean="0">
                <a:latin typeface="Calibri"/>
                <a:cs typeface="Calibri"/>
              </a:rPr>
              <a:t> statement, so 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yes</a:t>
            </a:r>
            <a:r>
              <a:rPr lang="en-US" sz="3200" b="1" dirty="0" smtClean="0">
                <a:latin typeface="Calibri"/>
                <a:cs typeface="Calibri"/>
              </a:rPr>
              <a:t> it is a perfect square trinomial.  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6934200" y="2953266"/>
            <a:ext cx="0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528441" y="946488"/>
            <a:ext cx="1528583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(x  +    )</a:t>
            </a:r>
            <a:r>
              <a:rPr lang="en-US" sz="3200" b="1" baseline="50000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90616" y="1911290"/>
            <a:ext cx="35211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8250" y="211821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11873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5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8" presetClass="emph" presetSubtype="0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8.33333E-7 4.07407E-6 L 0.36094 0.01828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038" y="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8.33333E-7 4.07407E-6 L 0.45885 0.08703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4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3.05556E-6 3.7037E-6 L -0.36701 -0.14028 " pathEditMode="relative" rAng="0" ptsTypes="AA">
                                      <p:cBhvr>
                                        <p:cTn id="146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351" y="-7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2"/>
      <p:bldP spid="2" grpId="0"/>
      <p:bldP spid="3" grpId="0"/>
      <p:bldP spid="4" grpId="0"/>
      <p:bldP spid="5" grpId="2"/>
      <p:bldP spid="5" grpId="4"/>
      <p:bldP spid="5" grpId="5"/>
      <p:bldP spid="7" grpId="0"/>
      <p:bldP spid="9" grpId="1"/>
      <p:bldP spid="9" grpId="2"/>
      <p:bldP spid="9" grpId="3"/>
      <p:bldP spid="10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6" grpId="0"/>
      <p:bldP spid="28" grpId="0"/>
      <p:bldP spid="29" grpId="0"/>
      <p:bldP spid="30" grpId="0"/>
      <p:bldP spid="31" grpId="0"/>
      <p:bldP spid="36" grpId="0" animBg="1"/>
      <p:bldP spid="47" grpId="0" animBg="1"/>
      <p:bldP spid="48" grpId="0"/>
      <p:bldP spid="48" grpId="2"/>
      <p:bldP spid="48" grpId="4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48256" y="225552"/>
            <a:ext cx="6006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3</a:t>
            </a:r>
            <a:r>
              <a:rPr lang="en-US" sz="3200" b="1" dirty="0" smtClean="0">
                <a:latin typeface="Calibri"/>
                <a:cs typeface="Calibri"/>
              </a:rPr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3850" y="228600"/>
            <a:ext cx="5531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305" y="228600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93084" y="2286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28600"/>
            <a:ext cx="95097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7605" y="228600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4085" y="228600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5550" y="228600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5049384" y="1074985"/>
            <a:ext cx="16562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48200" y="228600"/>
            <a:ext cx="5579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>
                <a:latin typeface="Calibri"/>
                <a:cs typeface="Calibri"/>
              </a:rPr>
              <a:t>(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635" y="228600"/>
            <a:ext cx="5579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>
                <a:latin typeface="Calibri"/>
                <a:cs typeface="Calibri"/>
              </a:rPr>
              <a:t>)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3344" y="1137344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474" y="375969"/>
            <a:ext cx="323326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baseline="-25000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121" y="1023609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121" y="756333"/>
            <a:ext cx="3748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9400" y="2413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8086" y="1898878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3491" y="1657866"/>
            <a:ext cx="3748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78165" y="1853624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06233" y="1828800"/>
            <a:ext cx="119936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(–15)</a:t>
            </a:r>
            <a:r>
              <a:rPr lang="en-US" sz="3200" b="1" baseline="45000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3955" y="2483654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0951" y="2483654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8165" y="2479766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0" y="3715266"/>
            <a:ext cx="3581400" cy="2062103"/>
          </a:xfrm>
          <a:prstGeom prst="rect">
            <a:avLst/>
          </a:prstGeom>
          <a:noFill/>
          <a:ln>
            <a:solidFill>
              <a:srgbClr val="0000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alibri"/>
                <a:cs typeface="Calibri"/>
              </a:rPr>
              <a:t>This is a 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true</a:t>
            </a:r>
            <a:r>
              <a:rPr lang="en-US" sz="3200" b="1" dirty="0" smtClean="0">
                <a:latin typeface="Calibri"/>
                <a:cs typeface="Calibri"/>
              </a:rPr>
              <a:t> statement, so 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yes</a:t>
            </a:r>
            <a:r>
              <a:rPr lang="en-US" sz="3200" b="1" dirty="0" smtClean="0">
                <a:latin typeface="Calibri"/>
                <a:cs typeface="Calibri"/>
              </a:rPr>
              <a:t> it is a perfect square trinomial.  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7391400" y="2953266"/>
            <a:ext cx="0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555111" y="1066800"/>
            <a:ext cx="1509748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(x  </a:t>
            </a:r>
            <a:r>
              <a:rPr lang="en-US" sz="3200" b="1" dirty="0">
                <a:latin typeface="Calibri"/>
                <a:cs typeface="Calibri"/>
              </a:rPr>
              <a:t> </a:t>
            </a:r>
            <a:r>
              <a:rPr lang="en-US" sz="3200" b="1" dirty="0" smtClean="0">
                <a:latin typeface="Calibri"/>
                <a:cs typeface="Calibri"/>
              </a:rPr>
              <a:t>     )</a:t>
            </a:r>
            <a:r>
              <a:rPr lang="en-US" sz="3200" b="1" baseline="50000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8153" y="1834922"/>
            <a:ext cx="90525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0551" y="211821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660400" y="1097280"/>
            <a:ext cx="18466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b="1" dirty="0" smtClean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897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4.44444E-6 4.07407E-6 L 0.38455 0.01921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19" y="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5.55556E-7 4.07407E-6 L 0.49427 0.08564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05" y="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5.55556E-7 4.81481E-6 L -0.39809 -0.11366 " pathEditMode="relative" rAng="0" ptsTypes="AA">
                                      <p:cBhvr>
                                        <p:cTn id="146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13" y="-5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4" grpId="0"/>
      <p:bldP spid="5" grpId="0"/>
      <p:bldP spid="5" grpId="1"/>
      <p:bldP spid="5" grpId="2"/>
      <p:bldP spid="7" grpId="0"/>
      <p:bldP spid="9" grpId="0"/>
      <p:bldP spid="9" grpId="1"/>
      <p:bldP spid="9" grpId="2"/>
      <p:bldP spid="10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6" grpId="0"/>
      <p:bldP spid="28" grpId="0"/>
      <p:bldP spid="29" grpId="0"/>
      <p:bldP spid="30" grpId="0"/>
      <p:bldP spid="31" grpId="0"/>
      <p:bldP spid="36" grpId="0" animBg="1"/>
      <p:bldP spid="47" grpId="0" animBg="1"/>
      <p:bldP spid="48" grpId="0"/>
      <p:bldP spid="48" grpId="1"/>
      <p:bldP spid="48" grpId="2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699824" y="218372"/>
            <a:ext cx="68981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3850" y="205672"/>
            <a:ext cx="40367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6816" y="205672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8272" y="217085"/>
            <a:ext cx="68981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9325" y="221420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0144" y="220912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2795" y="221420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5181600" y="1223437"/>
            <a:ext cx="11022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24400" y="377052"/>
            <a:ext cx="5579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>
                <a:latin typeface="Calibri"/>
                <a:cs typeface="Calibri"/>
              </a:rPr>
              <a:t>(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126" y="377052"/>
            <a:ext cx="5579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>
                <a:latin typeface="Calibri"/>
                <a:cs typeface="Calibri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0944" y="1285796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400" y="524421"/>
            <a:ext cx="323326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baseline="-25000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1647" y="1172061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1647" y="904785"/>
            <a:ext cx="3748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1120" y="23412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6312" y="2047330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717" y="1806318"/>
            <a:ext cx="3748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944" y="2006024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27349" y="2047330"/>
            <a:ext cx="9913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(–2)</a:t>
            </a:r>
            <a:r>
              <a:rPr lang="en-US" sz="3200" b="1" baseline="50000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2632106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6056" y="2632106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≠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22127" y="2628218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87877" y="3962400"/>
            <a:ext cx="4003723" cy="2062103"/>
          </a:xfrm>
          <a:prstGeom prst="rect">
            <a:avLst/>
          </a:prstGeom>
          <a:noFill/>
          <a:ln>
            <a:solidFill>
              <a:srgbClr val="0000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alibri"/>
                <a:cs typeface="Calibri"/>
              </a:rPr>
              <a:t>This is an 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untrue</a:t>
            </a:r>
            <a:r>
              <a:rPr lang="en-US" sz="3200" b="1" dirty="0" smtClean="0">
                <a:latin typeface="Calibri"/>
                <a:cs typeface="Calibri"/>
              </a:rPr>
              <a:t> statement, so 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no</a:t>
            </a:r>
            <a:r>
              <a:rPr lang="en-US" sz="3200" b="1" dirty="0" smtClean="0">
                <a:latin typeface="Calibri"/>
                <a:cs typeface="Calibri"/>
              </a:rPr>
              <a:t> it is not a perfect square trinomial.  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7107750" y="3132852"/>
            <a:ext cx="0" cy="75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53216" y="945049"/>
            <a:ext cx="3672840" cy="2554545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alibri"/>
                <a:cs typeface="Calibri"/>
              </a:rPr>
              <a:t>Since this is not a perfect square trinomial it cannot be written in the form (x – h)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r>
              <a:rPr lang="en-US" sz="3200" b="1" dirty="0" smtClean="0">
                <a:latin typeface="Calibri"/>
                <a:cs typeface="Calibri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3104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2.5E-6 4.44444E-6 L 0.39323 0.04189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53" y="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1.11111E-6 1.48148E-6 L 0.52864 0.10741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424" y="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5" grpId="0"/>
      <p:bldP spid="5" grpId="1"/>
      <p:bldP spid="5" grpId="2"/>
      <p:bldP spid="7" grpId="0"/>
      <p:bldP spid="9" grpId="0"/>
      <p:bldP spid="9" grpId="1"/>
      <p:bldP spid="9" grpId="2"/>
      <p:bldP spid="10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6" grpId="0"/>
      <p:bldP spid="28" grpId="0"/>
      <p:bldP spid="29" grpId="0"/>
      <p:bldP spid="30" grpId="0"/>
      <p:bldP spid="31" grpId="0"/>
      <p:bldP spid="34" grpId="0" animBg="1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05532" y="101024"/>
            <a:ext cx="513293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Answers to problems #22–27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7520" y="876012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22.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520" y="1615440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7520" y="2286000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520" y="3048000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766" y="3741760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846" y="4520624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27.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1667" y="876012"/>
            <a:ext cx="22172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Yes: (x – 6)</a:t>
            </a:r>
            <a:r>
              <a:rPr lang="en-US" sz="3200" b="1" baseline="50000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147" y="1603028"/>
            <a:ext cx="216778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Yes: (x </a:t>
            </a:r>
            <a:r>
              <a:rPr lang="en-US" sz="3200" b="1" dirty="0">
                <a:latin typeface="Calibri"/>
                <a:cs typeface="Calibri"/>
              </a:rPr>
              <a:t>+</a:t>
            </a:r>
            <a:r>
              <a:rPr lang="en-US" sz="3200" b="1" dirty="0" smtClean="0">
                <a:latin typeface="Calibri"/>
                <a:cs typeface="Calibri"/>
              </a:rPr>
              <a:t> </a:t>
            </a:r>
            <a:r>
              <a:rPr lang="en-US" sz="3200" b="1" dirty="0">
                <a:latin typeface="Calibri"/>
                <a:cs typeface="Calibri"/>
              </a:rPr>
              <a:t>8</a:t>
            </a:r>
            <a:r>
              <a:rPr lang="en-US" sz="3200" b="1" dirty="0" smtClean="0">
                <a:latin typeface="Calibri"/>
                <a:cs typeface="Calibri"/>
              </a:rPr>
              <a:t>)</a:t>
            </a:r>
            <a:r>
              <a:rPr lang="en-US" sz="3200" b="1" baseline="50000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1354" y="2276992"/>
            <a:ext cx="67558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No</a:t>
            </a:r>
            <a:endParaRPr lang="en-US" sz="3200" b="1" baseline="50000" dirty="0" smtClean="0">
              <a:latin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51354" y="3048000"/>
            <a:ext cx="67558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1354" y="3733800"/>
            <a:ext cx="67558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1354" y="4520624"/>
            <a:ext cx="89419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Yes: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375936"/>
              </p:ext>
            </p:extLst>
          </p:nvPr>
        </p:nvGraphicFramePr>
        <p:xfrm>
          <a:off x="2455709" y="4114800"/>
          <a:ext cx="14605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3" imgW="1460500" imgH="1308100" progId="Equation.DSMT4">
                  <p:embed/>
                </p:oleObj>
              </mc:Choice>
              <mc:Fallback>
                <p:oleObj name="Equation" r:id="rId3" imgW="1460500" imgH="1308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5709" y="4114800"/>
                        <a:ext cx="1460500" cy="130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453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2" grpId="0"/>
      <p:bldP spid="15" grpId="0"/>
      <p:bldP spid="16" grpId="0"/>
      <p:bldP spid="17" grpId="0"/>
      <p:bldP spid="18" grpId="0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254496" y="1295400"/>
            <a:ext cx="68981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52400"/>
            <a:ext cx="4301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152400"/>
            <a:ext cx="5118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1079" y="152976"/>
            <a:ext cx="89780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0733" y="152976"/>
            <a:ext cx="3770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0133" y="152976"/>
            <a:ext cx="89780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+ 49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9551" y="152400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4733" y="162018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8216" y="152400"/>
            <a:ext cx="89780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14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5410200" y="690809"/>
            <a:ext cx="10287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714803" y="674452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362" y="344828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7344" y="398421"/>
            <a:ext cx="68981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3698" y="402740"/>
            <a:ext cx="68981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–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8878" y="1295400"/>
            <a:ext cx="150974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(x        )</a:t>
            </a:r>
            <a:r>
              <a:rPr lang="en-US" sz="3200" b="1" baseline="30000" dirty="0" smtClean="0">
                <a:latin typeface="Calibri"/>
                <a:cs typeface="Calibri"/>
              </a:rPr>
              <a:t>2</a:t>
            </a:r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935" y="844550"/>
            <a:ext cx="3890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3956" y="844550"/>
            <a:ext cx="39265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4</a:t>
            </a: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125879"/>
              </p:ext>
            </p:extLst>
          </p:nvPr>
        </p:nvGraphicFramePr>
        <p:xfrm>
          <a:off x="1960033" y="1429326"/>
          <a:ext cx="2844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4" name="Equation" r:id="rId3" imgW="2844800" imgH="901700" progId="Equation.DSMT4">
                  <p:embed/>
                </p:oleObj>
              </mc:Choice>
              <mc:Fallback>
                <p:oleObj name="Equation" r:id="rId3" imgW="2844800" imgH="901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033" y="1429326"/>
                        <a:ext cx="28448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964330"/>
              </p:ext>
            </p:extLst>
          </p:nvPr>
        </p:nvGraphicFramePr>
        <p:xfrm>
          <a:off x="2517789" y="2366433"/>
          <a:ext cx="1879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5" name="Equation" r:id="rId5" imgW="1879600" imgH="673100" progId="Equation.DSMT4">
                  <p:embed/>
                </p:oleObj>
              </mc:Choice>
              <mc:Fallback>
                <p:oleObj name="Equation" r:id="rId5" imgW="1879600" imgH="673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7789" y="2366433"/>
                        <a:ext cx="18796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804833" y="3505200"/>
            <a:ext cx="18466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b="1" dirty="0" smtClean="0">
              <a:latin typeface="Calibri"/>
              <a:cs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28724" y="3149600"/>
            <a:ext cx="156905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r>
              <a:rPr lang="en-US" sz="3200" b="1" dirty="0" smtClean="0">
                <a:latin typeface="Calibri"/>
                <a:cs typeface="Calibri"/>
              </a:rPr>
              <a:t> – 7 =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37688" y="3149600"/>
            <a:ext cx="55115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20738" y="3149600"/>
            <a:ext cx="177344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r>
              <a:rPr lang="en-US" sz="3200" b="1" dirty="0" smtClean="0">
                <a:latin typeface="Calibri"/>
                <a:cs typeface="Calibri"/>
              </a:rPr>
              <a:t> – 7 = –2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24000" y="3734376"/>
            <a:ext cx="175460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  =  2 + 7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67400" y="3734376"/>
            <a:ext cx="195899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  =  –2 + 7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84512" y="4398145"/>
            <a:ext cx="971139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 = 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37688" y="3743419"/>
            <a:ext cx="55115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6237" y="4411132"/>
            <a:ext cx="551152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0065" y="4398145"/>
            <a:ext cx="971139" cy="58477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x =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0733" y="2540000"/>
            <a:ext cx="18466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b="1" dirty="0" smtClean="0">
              <a:latin typeface="Calibri"/>
              <a:cs typeface="Calibri"/>
            </a:endParaRPr>
          </a:p>
        </p:txBody>
      </p:sp>
      <p:graphicFrame>
        <p:nvGraphicFramePr>
          <p:cNvPr id="52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68483"/>
              </p:ext>
            </p:extLst>
          </p:nvPr>
        </p:nvGraphicFramePr>
        <p:xfrm>
          <a:off x="5054600" y="2209800"/>
          <a:ext cx="3708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" name="Equation" r:id="rId7" imgW="3708400" imgH="749300" progId="Equation.DSMT4">
                  <p:embed/>
                </p:oleObj>
              </mc:Choice>
              <mc:Fallback>
                <p:oleObj name="Equation" r:id="rId7" imgW="3708400" imgH="749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54600" y="2209800"/>
                        <a:ext cx="37084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5996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8.33333E-7 -2.59259E-6 L 0.38698 -0.0092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340" y="-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5.55556E-7 3.33333E-6 L -0.08125 0.13055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62" y="65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25 -0.06527 " pathEditMode="relative" ptsTypes="AA">
                                      <p:cBhvr>
                                        <p:cTn id="8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25 -0.06527 " pathEditMode="relative" ptsTypes="AA">
                                      <p:cBhvr>
                                        <p:cTn id="8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0" grpId="1"/>
      <p:bldP spid="10" grpId="2"/>
      <p:bldP spid="15" grpId="0"/>
      <p:bldP spid="17" grpId="0"/>
      <p:bldP spid="18" grpId="0"/>
      <p:bldP spid="19" grpId="0"/>
      <p:bldP spid="19" grpId="1"/>
      <p:bldP spid="19" grpId="2"/>
      <p:bldP spid="19" grpId="3"/>
      <p:bldP spid="20" grpId="0"/>
      <p:bldP spid="20" grpId="1"/>
      <p:bldP spid="12" grpId="0"/>
      <p:bldP spid="13" grpId="0"/>
      <p:bldP spid="42" grpId="0"/>
      <p:bldP spid="43" grpId="0"/>
      <p:bldP spid="44" grpId="0"/>
      <p:bldP spid="45" grpId="0"/>
      <p:bldP spid="46" grpId="0"/>
      <p:bldP spid="47" grpId="0" animBg="1"/>
      <p:bldP spid="48" grpId="0"/>
      <p:bldP spid="49" grpId="0" animBg="1"/>
      <p:bldP spid="5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2758" y="101024"/>
            <a:ext cx="531848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Answers to problems #28 –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7520" y="876012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28.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520" y="1828800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29.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7520" y="2743200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30.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3632776"/>
            <a:ext cx="71025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alibri"/>
                <a:cs typeface="Calibri"/>
              </a:rPr>
              <a:t>31.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71600" y="873760"/>
            <a:ext cx="327866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r>
              <a:rPr lang="en-US" sz="3200" b="1" dirty="0" smtClean="0">
                <a:latin typeface="Calibri"/>
                <a:cs typeface="Calibri"/>
              </a:rPr>
              <a:t> = 1    </a:t>
            </a:r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or    </a:t>
            </a:r>
            <a:r>
              <a:rPr lang="en-US" sz="3200" b="1" dirty="0" smtClean="0">
                <a:latin typeface="Calibri"/>
                <a:cs typeface="Calibri"/>
              </a:rPr>
              <a:t>x = –13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2889" y="1828800"/>
            <a:ext cx="307067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r>
              <a:rPr lang="en-US" sz="3200" b="1" dirty="0" smtClean="0">
                <a:latin typeface="Calibri"/>
                <a:cs typeface="Calibri"/>
              </a:rPr>
              <a:t> = 1    </a:t>
            </a:r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lang="en-US" sz="3200" b="1" dirty="0">
                <a:latin typeface="Calibri"/>
                <a:cs typeface="Calibri"/>
              </a:rPr>
              <a:t> </a:t>
            </a:r>
            <a:r>
              <a:rPr lang="en-US" sz="3200" b="1" dirty="0" smtClean="0">
                <a:latin typeface="Calibri"/>
                <a:cs typeface="Calibri"/>
              </a:rPr>
              <a:t>   x = –5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840" y="2743200"/>
            <a:ext cx="328226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r>
              <a:rPr lang="en-US" sz="3200" b="1" dirty="0" smtClean="0">
                <a:latin typeface="Calibri"/>
                <a:cs typeface="Calibri"/>
              </a:rPr>
              <a:t> = 90    </a:t>
            </a:r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lang="en-US" sz="3200" b="1" dirty="0">
                <a:latin typeface="Calibri"/>
                <a:cs typeface="Calibri"/>
              </a:rPr>
              <a:t> </a:t>
            </a:r>
            <a:r>
              <a:rPr lang="en-US" sz="3200" b="1" dirty="0" smtClean="0">
                <a:latin typeface="Calibri"/>
                <a:cs typeface="Calibri"/>
              </a:rPr>
              <a:t>   x =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3632776"/>
            <a:ext cx="412184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x</a:t>
            </a:r>
            <a:r>
              <a:rPr lang="en-US" sz="3200" b="1" dirty="0" smtClean="0">
                <a:latin typeface="Calibri"/>
                <a:cs typeface="Calibri"/>
              </a:rPr>
              <a:t> = 17.5    </a:t>
            </a:r>
            <a:r>
              <a:rPr lang="en-US" sz="3200" b="1" dirty="0" smtClean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lang="en-US" sz="3200" b="1" dirty="0">
                <a:latin typeface="Calibri"/>
                <a:cs typeface="Calibri"/>
              </a:rPr>
              <a:t> </a:t>
            </a:r>
            <a:r>
              <a:rPr lang="en-US" sz="3200" b="1" dirty="0" smtClean="0">
                <a:latin typeface="Calibri"/>
                <a:cs typeface="Calibri"/>
              </a:rPr>
              <a:t>   x = –16.5</a:t>
            </a:r>
          </a:p>
        </p:txBody>
      </p:sp>
    </p:spTree>
    <p:extLst>
      <p:ext uri="{BB962C8B-B14F-4D97-AF65-F5344CB8AC3E}">
        <p14:creationId xmlns:p14="http://schemas.microsoft.com/office/powerpoint/2010/main" val="620012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2" grpId="0"/>
      <p:bldP spid="20" grpId="0"/>
      <p:bldP spid="21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95112" y="3136612"/>
            <a:ext cx="5153775" cy="584776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/>
                <a:cs typeface="Calibri"/>
              </a:rPr>
              <a:t>You’re done with this lesson!</a:t>
            </a:r>
          </a:p>
        </p:txBody>
      </p:sp>
    </p:spTree>
    <p:extLst>
      <p:ext uri="{BB962C8B-B14F-4D97-AF65-F5344CB8AC3E}">
        <p14:creationId xmlns:p14="http://schemas.microsoft.com/office/powerpoint/2010/main" val="347200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checker/>
        <p:sndAc>
          <p:stSnd>
            <p:snd r:embed="rId2" name="Applause"/>
          </p:stSnd>
        </p:sndAc>
      </p:transition>
    </mc:Choice>
    <mc:Fallback xmlns="">
      <p:transition xmlns:p14="http://schemas.microsoft.com/office/powerpoint/2010/main" spd="slow">
        <p:checker/>
        <p:sndAc>
          <p:stSnd>
            <p:snd r:embed="rId3" name="Applause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.9|3.6|0.9|1.1|0.9|1|0.8|0.7|0.7|0.8|0.6|1|0.8|1|0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.9|3.6|0.9|1.1|0.9|1|0.8|0.7|0.7|0.8|0.6|1|0.8|1|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.9|3.6|0.9|1.1|0.9|1|0.8|0.7|0.7|0.8|0.6|1|0.8|1|0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.9|3.6|0.9|1.1|0.9|1|0.8|0.7|0.7|0.8|0.6|1|0.8|1|0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.9|3.6|0.9|1.1|0.9|1|0.8|0.7|0.7|0.8|0.6|1|0.8|1|0.5"/>
</p:tagLst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3200" b="1" dirty="0" smtClean="0">
            <a:latin typeface="Calibri"/>
            <a:cs typeface="Calibri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1860</TotalTime>
  <Words>996</Words>
  <Application>Microsoft Macintosh PowerPoint</Application>
  <PresentationFormat>On-screen Show (4:3)</PresentationFormat>
  <Paragraphs>425</Paragraphs>
  <Slides>24</Slides>
  <Notes>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Default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Let's Algebra</dc:creator>
  <cp:keywords/>
  <dc:description/>
  <cp:lastModifiedBy>Stephen</cp:lastModifiedBy>
  <cp:revision>476</cp:revision>
  <cp:lastPrinted>2016-07-06T18:00:02Z</cp:lastPrinted>
  <dcterms:created xsi:type="dcterms:W3CDTF">2016-06-10T20:29:31Z</dcterms:created>
  <dcterms:modified xsi:type="dcterms:W3CDTF">2016-08-10T22:38:36Z</dcterms:modified>
  <cp:category/>
</cp:coreProperties>
</file>
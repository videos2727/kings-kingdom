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37" r:id="rId5"/>
    <p:sldId id="338" r:id="rId6"/>
    <p:sldId id="339" r:id="rId7"/>
    <p:sldId id="340" r:id="rId8"/>
    <p:sldId id="341" r:id="rId9"/>
    <p:sldId id="329" r:id="rId10"/>
    <p:sldId id="342" r:id="rId11"/>
    <p:sldId id="343" r:id="rId12"/>
    <p:sldId id="344" r:id="rId13"/>
    <p:sldId id="345" r:id="rId14"/>
    <p:sldId id="292" r:id="rId15"/>
    <p:sldId id="291" r:id="rId16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</a:t>
            </a:r>
            <a:r>
              <a:rPr lang="en-AU" dirty="0" smtClean="0"/>
              <a:t>– Solving Equations </a:t>
            </a:r>
            <a:r>
              <a:rPr lang="en-AU" dirty="0"/>
              <a:t>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90532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905325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90532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90532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Technique? </a:t>
            </a:r>
            <a:endParaRPr lang="en-AU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2" t="35573" r="36441" b="17300"/>
          <a:stretch/>
        </p:blipFill>
        <p:spPr bwMode="auto">
          <a:xfrm>
            <a:off x="1903268" y="1683450"/>
            <a:ext cx="7138215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</p:spTree>
    <p:extLst>
      <p:ext uri="{BB962C8B-B14F-4D97-AF65-F5344CB8AC3E}">
        <p14:creationId xmlns:p14="http://schemas.microsoft.com/office/powerpoint/2010/main" val="1115243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p:sp>
        <p:nvSpPr>
          <p:cNvPr id="3" name="Rectangle 2"/>
          <p:cNvSpPr/>
          <p:nvPr/>
        </p:nvSpPr>
        <p:spPr>
          <a:xfrm>
            <a:off x="1979712" y="1844824"/>
            <a:ext cx="66247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You can think of solving an equation as reversing a series of </a:t>
            </a:r>
            <a:r>
              <a:rPr lang="en-AU" dirty="0" smtClean="0"/>
              <a:t>operations </a:t>
            </a:r>
            <a:r>
              <a:rPr lang="en-AU" dirty="0"/>
              <a:t>to find the value of the unknown. In three step equations, these operations may involve a combination of addition, subtraction, multiplication and division to make the pronumeral the subject of the equation (in other words get it to one side of the equation by itself).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143725" y="3607385"/>
                <a:ext cx="6879626" cy="7855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Consider the equation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r>
                  <a:rPr lang="en-AU" dirty="0" smtClean="0"/>
                  <a:t>. </a:t>
                </a:r>
                <a:r>
                  <a:rPr lang="en-AU" dirty="0"/>
                  <a:t>In this equation, what are the operations to reverse?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3725" y="3607385"/>
                <a:ext cx="6879626" cy="785536"/>
              </a:xfrm>
              <a:prstGeom prst="rect">
                <a:avLst/>
              </a:prstGeom>
              <a:blipFill rotWithShape="1">
                <a:blip r:embed="rId2"/>
                <a:stretch>
                  <a:fillRect l="-798" b="-85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2143724" y="4392921"/>
            <a:ext cx="65962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Well, </a:t>
            </a:r>
            <a:r>
              <a:rPr lang="en-AU" i="1" dirty="0"/>
              <a:t>x</a:t>
            </a:r>
            <a:r>
              <a:rPr lang="en-AU" dirty="0"/>
              <a:t> has been:</a:t>
            </a:r>
          </a:p>
          <a:p>
            <a:r>
              <a:rPr lang="en-AU" dirty="0"/>
              <a:t>1.  Multiplied by 3</a:t>
            </a:r>
          </a:p>
          <a:p>
            <a:r>
              <a:rPr lang="en-AU" dirty="0"/>
              <a:t>2.  Then 1 has been subtracted</a:t>
            </a:r>
          </a:p>
          <a:p>
            <a:r>
              <a:rPr lang="en-AU" dirty="0"/>
              <a:t>3.  Then the result has been divided by 4</a:t>
            </a:r>
          </a:p>
          <a:p>
            <a:r>
              <a:rPr lang="en-AU" dirty="0"/>
              <a:t>We would need to reverse each of these three operations to solve for the value of </a:t>
            </a:r>
            <a:r>
              <a:rPr lang="en-AU" i="1" dirty="0"/>
              <a:t>x</a:t>
            </a:r>
            <a:r>
              <a:rPr lang="en-AU" dirty="0"/>
              <a:t>.</a:t>
            </a:r>
          </a:p>
          <a:p>
            <a:r>
              <a:rPr lang="en-AU" dirty="0"/>
              <a:t>Remember that whatever operation we do to one side we must do to the other.</a:t>
            </a:r>
          </a:p>
        </p:txBody>
      </p:sp>
    </p:spTree>
    <p:extLst>
      <p:ext uri="{BB962C8B-B14F-4D97-AF65-F5344CB8AC3E}">
        <p14:creationId xmlns:p14="http://schemas.microsoft.com/office/powerpoint/2010/main" val="97023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02374" y="1813351"/>
                <a:ext cx="4037778" cy="46051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−1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=2</m:t>
                    </m:r>
                  </m:oMath>
                </a14:m>
                <a:r>
                  <a:rPr lang="en-AU" dirty="0" smtClean="0"/>
                  <a:t>.</a:t>
                </a:r>
              </a:p>
              <a:p>
                <a:r>
                  <a:rPr lang="en-AU" dirty="0" smtClean="0"/>
                  <a:t>1.  </a:t>
                </a:r>
                <a:r>
                  <a:rPr lang="en-AU" dirty="0"/>
                  <a:t>Then the result has been divided by </a:t>
                </a:r>
                <a:r>
                  <a:rPr lang="en-AU" dirty="0" smtClean="0"/>
                  <a:t>4</a:t>
                </a:r>
                <a:br>
                  <a:rPr lang="en-AU" dirty="0" smtClean="0"/>
                </a:br>
                <a:r>
                  <a:rPr lang="en-AU" dirty="0" smtClean="0"/>
                  <a:t>	opposite is times by 4</a:t>
                </a:r>
                <a:endParaRPr lang="en-AU" dirty="0"/>
              </a:p>
              <a:p>
                <a:r>
                  <a:rPr lang="en-AU" dirty="0" smtClean="0"/>
                  <a:t>	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4(</m:t>
                        </m:r>
                        <m:r>
                          <a:rPr lang="en-AU" i="1">
                            <a:latin typeface="Cambria Math"/>
                          </a:rPr>
                          <m:t>3</m:t>
                        </m:r>
                        <m:r>
                          <a:rPr lang="en-AU" i="1">
                            <a:latin typeface="Cambria Math"/>
                          </a:rPr>
                          <m:t>𝑥</m:t>
                        </m:r>
                        <m:r>
                          <a:rPr lang="en-AU" i="1">
                            <a:latin typeface="Cambria Math"/>
                          </a:rPr>
                          <m:t>−1)</m:t>
                        </m:r>
                      </m:num>
                      <m:den>
                        <m:r>
                          <a:rPr lang="en-AU" i="1">
                            <a:latin typeface="Cambria Math"/>
                          </a:rPr>
                          <m:t>4</m:t>
                        </m:r>
                      </m:den>
                    </m:f>
                    <m:r>
                      <a:rPr lang="en-AU" i="1">
                        <a:latin typeface="Cambria Math"/>
                      </a:rPr>
                      <m:t>=</m:t>
                    </m:r>
                    <m:r>
                      <a:rPr lang="en-AU" b="0" i="1" smtClean="0">
                        <a:latin typeface="Cambria Math"/>
                      </a:rPr>
                      <m:t>4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i="1">
                        <a:latin typeface="Cambria Math"/>
                      </a:rPr>
                      <m:t>2</m:t>
                    </m:r>
                  </m:oMath>
                </a14:m>
                <a:r>
                  <a:rPr lang="en-AU" dirty="0" smtClean="0"/>
                  <a:t/>
                </a:r>
                <a:br>
                  <a:rPr lang="en-AU" dirty="0" smtClean="0"/>
                </a:br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−1=8</m:t>
                    </m:r>
                  </m:oMath>
                </a14:m>
                <a:endParaRPr lang="en-AU" dirty="0" smtClean="0"/>
              </a:p>
              <a:p>
                <a:endParaRPr lang="en-AU" dirty="0" smtClean="0"/>
              </a:p>
              <a:p>
                <a:pPr marL="342900" indent="-342900">
                  <a:buAutoNum type="arabicPeriod" startAt="2"/>
                </a:pPr>
                <a:r>
                  <a:rPr lang="en-AU" dirty="0" smtClean="0"/>
                  <a:t>Then </a:t>
                </a:r>
                <a:r>
                  <a:rPr lang="en-AU" dirty="0"/>
                  <a:t>1 has been </a:t>
                </a:r>
                <a:r>
                  <a:rPr lang="en-AU" dirty="0" smtClean="0"/>
                  <a:t>subtracted</a:t>
                </a:r>
                <a:br>
                  <a:rPr lang="en-AU" dirty="0" smtClean="0"/>
                </a:br>
                <a:r>
                  <a:rPr lang="en-AU" dirty="0" smtClean="0"/>
                  <a:t>	opposite is plus (+) 1</a:t>
                </a:r>
              </a:p>
              <a:p>
                <a:r>
                  <a:rPr lang="en-AU" dirty="0"/>
                  <a:t>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3</m:t>
                    </m:r>
                    <m:r>
                      <a:rPr lang="en-AU" i="1">
                        <a:latin typeface="Cambria Math"/>
                      </a:rPr>
                      <m:t>𝑥</m:t>
                    </m:r>
                    <m:r>
                      <a:rPr lang="en-AU" i="1">
                        <a:latin typeface="Cambria Math"/>
                      </a:rPr>
                      <m:t>−1+1=8+1</m:t>
                    </m:r>
                  </m:oMath>
                </a14:m>
                <a:endParaRPr lang="en-AU" dirty="0" smtClean="0"/>
              </a:p>
              <a:p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=9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pPr marL="342900" indent="-342900">
                  <a:buAutoNum type="arabicPeriod" startAt="3"/>
                </a:pPr>
                <a:r>
                  <a:rPr lang="en-AU" dirty="0" smtClean="0"/>
                  <a:t>Multiplied </a:t>
                </a:r>
                <a:r>
                  <a:rPr lang="en-AU" dirty="0"/>
                  <a:t>by </a:t>
                </a:r>
                <a:r>
                  <a:rPr lang="en-AU" dirty="0" smtClean="0"/>
                  <a:t>3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opposite is divide (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 smtClean="0"/>
                  <a:t>) by 3</a:t>
                </a:r>
              </a:p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9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AU" dirty="0"/>
              </a:p>
              <a:p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374" y="1813351"/>
                <a:ext cx="4037778" cy="4605171"/>
              </a:xfrm>
              <a:prstGeom prst="rect">
                <a:avLst/>
              </a:prstGeom>
              <a:blipFill rotWithShape="1">
                <a:blip r:embed="rId2"/>
                <a:stretch>
                  <a:fillRect l="-120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35639" y="2675820"/>
                <a:ext cx="2568809" cy="238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Or cross-multiply by 4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−1=4×2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b="1" dirty="0" smtClean="0">
                    <a:solidFill>
                      <a:schemeClr val="accent2"/>
                    </a:solidFill>
                  </a:rPr>
                  <a:t>              4</a:t>
                </a:r>
              </a:p>
              <a:p>
                <a:r>
                  <a:rPr lang="en-AU" dirty="0" smtClean="0"/>
                  <a:t>The 4 has cross-multiplied from the bottom on the left side to the top on the right </a:t>
                </a:r>
                <a:r>
                  <a:rPr lang="en-AU" dirty="0"/>
                  <a:t>s</a:t>
                </a:r>
                <a:r>
                  <a:rPr lang="en-AU" dirty="0" smtClean="0"/>
                  <a:t>ide</a:t>
                </a:r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639" y="2675820"/>
                <a:ext cx="2568809" cy="2385268"/>
              </a:xfrm>
              <a:prstGeom prst="rect">
                <a:avLst/>
              </a:prstGeom>
              <a:blipFill rotWithShape="1">
                <a:blip r:embed="rId3"/>
                <a:stretch>
                  <a:fillRect l="-1900" t="-1279" b="-33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7092280" y="3212976"/>
            <a:ext cx="432048" cy="25202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588224" y="3338990"/>
            <a:ext cx="6480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63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32856" y="1687354"/>
                <a:ext cx="684076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Eg: Solve the following equation: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d>
                      <m:dPr>
                        <m:ctrlPr>
                          <a:rPr lang="en-AU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  <m:r>
                          <a:rPr lang="en-AU" b="0" i="1" smtClean="0">
                            <a:latin typeface="Cambria Math"/>
                          </a:rPr>
                          <m:t>+5</m:t>
                        </m:r>
                      </m:e>
                    </m:d>
                    <m:r>
                      <a:rPr lang="en-AU" b="0" i="1" smtClean="0">
                        <a:latin typeface="Cambria Math"/>
                      </a:rPr>
                      <m:t>=3(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+5)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Think: In order to get x on its own, we need will to expand the brackets and collect the x terms on one side of the equation.</a:t>
                </a:r>
              </a:p>
              <a:p>
                <a:endParaRPr lang="en-AU" dirty="0"/>
              </a:p>
              <a:p>
                <a:r>
                  <a:rPr lang="en-AU" dirty="0" smtClean="0"/>
                  <a:t>Do: First we are going to expand the brackets.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+10=3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+15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Then we are going to move the algebraic terms (x’s) to one side and the numbers to the other side using subtraction.</a:t>
                </a:r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4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+10−3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+15−3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  (subtract 3x from both sides)</a:t>
                </a:r>
                <a:br>
                  <a:rPr lang="en-AU" dirty="0" smtClean="0"/>
                </a:br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+10−10=15−10</m:t>
                    </m:r>
                  </m:oMath>
                </a14:m>
                <a:r>
                  <a:rPr lang="en-AU" dirty="0" smtClean="0"/>
                  <a:t>                (subtract 10 from both sides)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856" y="1687354"/>
                <a:ext cx="6840760" cy="4801314"/>
              </a:xfrm>
              <a:prstGeom prst="rect">
                <a:avLst/>
              </a:prstGeom>
              <a:blipFill rotWithShape="1">
                <a:blip r:embed="rId2"/>
                <a:stretch>
                  <a:fillRect l="-713" t="-635" r="-1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9212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32856" y="1687354"/>
                <a:ext cx="6840760" cy="48817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Eg: Solve the following equation: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−2=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+4</m:t>
                    </m:r>
                  </m:oMath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 smtClean="0"/>
                  <a:t>Look for the common denominator/multiple of 2 and 3, which is 6.  Multiply both sides of the equation by 6.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−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</a:rPr>
                        <m:t>2=</m:t>
                      </m:r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6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</m:t>
                          </m:r>
                          <m:r>
                            <a:rPr lang="en-AU" i="1">
                              <a:latin typeface="Cambria Math"/>
                            </a:rPr>
                            <m:t>5</m:t>
                          </m:r>
                          <m:r>
                            <a:rPr lang="en-AU" i="1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+</m:t>
                      </m:r>
                      <m:r>
                        <a:rPr lang="en-AU" b="0" i="1" smtClean="0">
                          <a:latin typeface="Cambria Math"/>
                        </a:rPr>
                        <m:t>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i="1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−12=3×5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+24</m:t>
                      </m:r>
                    </m:oMath>
                  </m:oMathPara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−12=15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+24</m:t>
                      </m:r>
                    </m:oMath>
                  </m:oMathPara>
                </a14:m>
                <a:r>
                  <a:rPr lang="en-AU" dirty="0" smtClean="0"/>
                  <a:t/>
                </a:r>
                <a:br>
                  <a:rPr lang="en-AU" dirty="0" smtClean="0"/>
                </a:br>
                <a:r>
                  <a:rPr lang="en-AU" dirty="0" smtClean="0"/>
                  <a:t>Bring the x’s to the left side and the numbers to the right by adding and subtracting.</a:t>
                </a:r>
                <a:br>
                  <a:rPr lang="en-AU" dirty="0" smtClean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4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−12+12=15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+24+12</m:t>
                      </m:r>
                    </m:oMath>
                  </m:oMathPara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−11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=36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 smtClean="0"/>
                  <a:t>Divide both sides by -11 and cancel or cross-multiply by -11.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−11</m:t>
                        </m:r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−11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−11</m:t>
                        </m:r>
                      </m:den>
                    </m:f>
                  </m:oMath>
                </a14:m>
                <a:r>
                  <a:rPr lang="en-AU" dirty="0" smtClean="0"/>
                  <a:t>       gives       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/>
                      </a:rPr>
                      <m:t>𝑥</m:t>
                    </m:r>
                    <m:r>
                      <a:rPr lang="en-AU" b="0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36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−11</m:t>
                        </m:r>
                      </m:den>
                    </m:f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856" y="1687354"/>
                <a:ext cx="6840760" cy="4881786"/>
              </a:xfrm>
              <a:prstGeom prst="rect">
                <a:avLst/>
              </a:prstGeom>
              <a:blipFill rotWithShape="1">
                <a:blip r:embed="rId2"/>
                <a:stretch>
                  <a:fillRect l="-713" r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123728" y="3356992"/>
            <a:ext cx="108012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3 cancels with 6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7124875" y="2839278"/>
            <a:ext cx="1080120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2 cancels with 6</a:t>
            </a:r>
            <a:endParaRPr lang="en-AU" dirty="0"/>
          </a:p>
        </p:txBody>
      </p:sp>
      <p:cxnSp>
        <p:nvCxnSpPr>
          <p:cNvPr id="15" name="Straight Arrow Connector 14"/>
          <p:cNvCxnSpPr>
            <a:stCxn id="5" idx="3"/>
          </p:cNvCxnSpPr>
          <p:nvPr/>
        </p:nvCxnSpPr>
        <p:spPr>
          <a:xfrm flipV="1">
            <a:off x="3203848" y="3485610"/>
            <a:ext cx="504056" cy="1945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228184" y="2860486"/>
            <a:ext cx="896691" cy="4965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9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424936" cy="3888432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7.1 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Plus there is some work on </a:t>
            </a:r>
            <a:r>
              <a:rPr lang="en-AU" b="1" dirty="0" err="1" smtClean="0">
                <a:solidFill>
                  <a:schemeClr val="tx1"/>
                </a:solidFill>
              </a:rPr>
              <a:t>Mathspace</a:t>
            </a:r>
            <a:r>
              <a:rPr lang="en-AU" b="1" dirty="0" smtClean="0">
                <a:solidFill>
                  <a:schemeClr val="tx1"/>
                </a:solidFill>
              </a:rPr>
              <a:t> to do</a:t>
            </a:r>
          </a:p>
          <a:p>
            <a:r>
              <a:rPr lang="en-AU" b="1" u="sng" dirty="0" err="1" smtClean="0">
                <a:solidFill>
                  <a:schemeClr val="tx1"/>
                </a:solidFill>
              </a:rPr>
              <a:t>yr</a:t>
            </a:r>
            <a:r>
              <a:rPr lang="en-AU" b="1" u="sng" dirty="0" smtClean="0">
                <a:solidFill>
                  <a:schemeClr val="tx1"/>
                </a:solidFill>
              </a:rPr>
              <a:t> 10 Solving Linear Equations</a:t>
            </a:r>
            <a:endParaRPr lang="en-AU" b="1" dirty="0" smtClean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 for worded problems?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79711" y="1669593"/>
                <a:ext cx="7043639" cy="3878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Skye, a squash player has won 48</a:t>
                </a:r>
                <a:r>
                  <a:rPr lang="en-AU" dirty="0"/>
                  <a:t> out of </a:t>
                </a:r>
                <a:r>
                  <a:rPr lang="en-AU" dirty="0" smtClean="0"/>
                  <a:t>63</a:t>
                </a:r>
                <a:r>
                  <a:rPr lang="en-AU" dirty="0"/>
                  <a:t> matches in her career. Find </a:t>
                </a:r>
                <a:r>
                  <a:rPr lang="en-AU" i="1" dirty="0" smtClean="0"/>
                  <a:t>x</a:t>
                </a:r>
                <a:r>
                  <a:rPr lang="en-AU" dirty="0"/>
                  <a:t>, the number of matches she must win in a row to raise her win percentage to </a:t>
                </a:r>
                <a:r>
                  <a:rPr lang="en-AU" dirty="0" smtClean="0"/>
                  <a:t>80%.</a:t>
                </a:r>
              </a:p>
              <a:p>
                <a:r>
                  <a:rPr lang="en-AU" dirty="0"/>
                  <a:t>I wonder what percentage she has won so far? </a:t>
                </a:r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48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=76.19%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If she won the next game, what would the percentage change to</a:t>
                </a:r>
                <a:r>
                  <a:rPr lang="en-AU" dirty="0" smtClean="0"/>
                  <a:t>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48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63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49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64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i="1">
                          <a:latin typeface="Cambria Math"/>
                        </a:rPr>
                        <m:t>76.</m:t>
                      </m:r>
                      <m:r>
                        <a:rPr lang="en-AU" b="0" i="1" smtClean="0">
                          <a:latin typeface="Cambria Math"/>
                        </a:rPr>
                        <m:t>56</m:t>
                      </m:r>
                      <m:r>
                        <a:rPr lang="en-AU" i="1">
                          <a:latin typeface="Cambria Math"/>
                        </a:rPr>
                        <m:t>%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We want to add the number of </a:t>
                </a:r>
                <a:r>
                  <a:rPr lang="en-AU" dirty="0" smtClean="0"/>
                  <a:t>games </a:t>
                </a:r>
                <a:r>
                  <a:rPr lang="en-AU" i="1" dirty="0" smtClean="0"/>
                  <a:t>x</a:t>
                </a:r>
                <a:r>
                  <a:rPr lang="en-AU" dirty="0"/>
                  <a:t>, so that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i="1">
                              <a:latin typeface="Cambria Math"/>
                            </a:rPr>
                            <m:t>48+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num>
                        <m:den>
                          <m:r>
                            <a:rPr lang="en-AU" i="1">
                              <a:latin typeface="Cambria Math"/>
                            </a:rPr>
                            <m:t>63+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den>
                      </m:f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80</m:t>
                      </m:r>
                      <m:r>
                        <a:rPr lang="en-AU" i="1">
                          <a:latin typeface="Cambria Math"/>
                        </a:rPr>
                        <m:t>%</m:t>
                      </m:r>
                    </m:oMath>
                  </m:oMathPara>
                </a14:m>
                <a:endParaRPr lang="en-AU" dirty="0" smtClean="0"/>
              </a:p>
              <a:p>
                <a:r>
                  <a:rPr lang="en-AU" dirty="0"/>
                  <a:t>This is our equation.  Now we need to solve it.</a:t>
                </a: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1" y="1669593"/>
                <a:ext cx="7043639" cy="3878754"/>
              </a:xfrm>
              <a:prstGeom prst="rect">
                <a:avLst/>
              </a:prstGeom>
              <a:blipFill rotWithShape="1">
                <a:blip r:embed="rId2"/>
                <a:stretch>
                  <a:fillRect l="-779" t="-786" r="-12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07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 for worded problems?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77182" y="1828250"/>
                <a:ext cx="6743290" cy="30616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i="1">
                            <a:latin typeface="Cambria Math"/>
                          </a:rPr>
                          <m:t>48+</m:t>
                        </m:r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i="1">
                            <a:latin typeface="Cambria Math"/>
                          </a:rPr>
                          <m:t>63+</m:t>
                        </m:r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den>
                    </m:f>
                    <m:r>
                      <a:rPr lang="en-AU" i="1">
                        <a:latin typeface="Cambria Math"/>
                      </a:rPr>
                      <m:t>=80%</m:t>
                    </m:r>
                  </m:oMath>
                </a14:m>
                <a:r>
                  <a:rPr lang="en-AU" dirty="0" smtClean="0"/>
                  <a:t>	Multiply both sides by (63+x) or cross-multiply it.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48+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(63+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	Multiply the 80/100 in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48+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=50.4+0.8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	x’s one side numbers the other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−0.8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=50.4−48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0.2</m:t>
                    </m:r>
                    <m:r>
                      <a:rPr lang="en-AU" b="0" i="1" smtClean="0">
                        <a:latin typeface="Cambria Math"/>
                      </a:rPr>
                      <m:t>𝑥</m:t>
                    </m:r>
                    <m:r>
                      <a:rPr lang="en-AU" b="0" i="1" smtClean="0">
                        <a:latin typeface="Cambria Math"/>
                      </a:rPr>
                      <m:t>=2.4</m:t>
                    </m:r>
                  </m:oMath>
                </a14:m>
                <a:r>
                  <a:rPr lang="en-AU" dirty="0" smtClean="0"/>
                  <a:t>		cross-multiply 0.2 and solve for x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2.4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0.2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=12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r>
                  <a:rPr lang="en-AU" dirty="0"/>
                  <a:t>so she must win </a:t>
                </a:r>
                <a:r>
                  <a:rPr lang="en-AU" dirty="0" smtClean="0"/>
                  <a:t>12 </a:t>
                </a:r>
                <a:r>
                  <a:rPr lang="en-AU" dirty="0"/>
                  <a:t>more games in a row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7182" y="1828250"/>
                <a:ext cx="6743290" cy="3061607"/>
              </a:xfrm>
              <a:prstGeom prst="rect">
                <a:avLst/>
              </a:prstGeom>
              <a:blipFill rotWithShape="1">
                <a:blip r:embed="rId2"/>
                <a:stretch>
                  <a:fillRect l="-814" b="-21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2899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6288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35696" y="1628800"/>
            <a:ext cx="0" cy="5400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Linear Equations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Algebraic Technique for worded problems? 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0" y="1844824"/>
            <a:ext cx="18356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This means using the "do the same to both sides" method, to isolate </a:t>
            </a:r>
            <a:r>
              <a:rPr lang="en-AU" dirty="0" smtClean="0"/>
              <a:t>the </a:t>
            </a:r>
            <a:r>
              <a:rPr lang="en-AU" i="1" dirty="0" smtClean="0"/>
              <a:t>x</a:t>
            </a:r>
            <a:r>
              <a:rPr lang="en-AU" dirty="0" smtClean="0"/>
              <a:t>. That </a:t>
            </a:r>
            <a:r>
              <a:rPr lang="en-AU" dirty="0"/>
              <a:t>is, get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on its 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79712" y="1633324"/>
                <a:ext cx="6912768" cy="51902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 smtClean="0"/>
                  <a:t>Sisters Judy and Tara specialise in two different triathlon events. Judy finds that her average cycling speed is 8</a:t>
                </a:r>
                <a:r>
                  <a:rPr lang="en-AU" dirty="0"/>
                  <a:t> </a:t>
                </a:r>
                <a:r>
                  <a:rPr lang="en-AU" dirty="0" smtClean="0"/>
                  <a:t>km/h </a:t>
                </a:r>
                <a:r>
                  <a:rPr lang="en-AU" dirty="0"/>
                  <a:t>faster than Tara's average running speed. Judy can cycle </a:t>
                </a:r>
                <a:r>
                  <a:rPr lang="en-AU" dirty="0" smtClean="0"/>
                  <a:t>22 km </a:t>
                </a:r>
                <a:r>
                  <a:rPr lang="en-AU" dirty="0"/>
                  <a:t>in the same time that it takes Tara to run </a:t>
                </a:r>
                <a:r>
                  <a:rPr lang="en-AU" dirty="0" smtClean="0"/>
                  <a:t>11km.</a:t>
                </a:r>
                <a:endParaRPr lang="en-AU" dirty="0"/>
              </a:p>
              <a:p>
                <a:pPr marL="342900" indent="-342900">
                  <a:buAutoNum type="alphaLcParenR"/>
                </a:pPr>
                <a:r>
                  <a:rPr lang="en-AU" dirty="0" smtClean="0"/>
                  <a:t>If </a:t>
                </a:r>
                <a:r>
                  <a:rPr lang="en-AU" dirty="0"/>
                  <a:t>Tara's running speed is </a:t>
                </a:r>
                <a:r>
                  <a:rPr lang="en-AU" i="1" dirty="0" smtClean="0"/>
                  <a:t>n</a:t>
                </a:r>
                <a:r>
                  <a:rPr lang="en-AU" dirty="0" smtClean="0"/>
                  <a:t> km </a:t>
                </a:r>
                <a:r>
                  <a:rPr lang="en-AU" dirty="0"/>
                  <a:t>per hour, solve for </a:t>
                </a:r>
                <a:r>
                  <a:rPr lang="en-AU" i="1" dirty="0" smtClean="0"/>
                  <a:t>n</a:t>
                </a:r>
                <a:r>
                  <a:rPr lang="en-AU" dirty="0" smtClean="0"/>
                  <a:t>.</a:t>
                </a:r>
              </a:p>
              <a:p>
                <a:r>
                  <a:rPr lang="en-AU" i="1" dirty="0" smtClean="0">
                    <a:effectLst/>
                  </a:rPr>
                  <a:t>Judy will equal n+8 as she is 8km/h faster – we now have both sisters in terms of n</a:t>
                </a: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𝑟𝑎𝑡𝑖𝑜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𝑇𝑎𝑟𝑎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𝐽𝑢𝑑𝑦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   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→    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+8</m:t>
                        </m:r>
                      </m:den>
                    </m:f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22</m:t>
                        </m:r>
                      </m:den>
                    </m:f>
                  </m:oMath>
                </a14:m>
                <a:r>
                  <a:rPr lang="en-AU" dirty="0" smtClean="0"/>
                  <a:t>   </a:t>
                </a:r>
                <a:r>
                  <a:rPr lang="en-AU" i="1" dirty="0" smtClean="0"/>
                  <a:t>Cross-multiply the (n+8) and the 22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𝑛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=11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+8</m:t>
                          </m:r>
                        </m:e>
                      </m:d>
                    </m:oMath>
                  </m:oMathPara>
                </a14:m>
                <a:endParaRPr lang="en-AU" b="0" dirty="0" smtClean="0">
                  <a:ea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22</m:t>
                    </m:r>
                    <m:r>
                      <a:rPr lang="en-AU" b="0" i="1" smtClean="0">
                        <a:latin typeface="Cambria Math"/>
                      </a:rPr>
                      <m:t>𝑛</m:t>
                    </m:r>
                    <m:r>
                      <a:rPr lang="en-AU" b="0" i="1" smtClean="0">
                        <a:latin typeface="Cambria Math"/>
                      </a:rPr>
                      <m:t>=11</m:t>
                    </m:r>
                    <m:r>
                      <a:rPr lang="en-AU" b="0" i="1" smtClean="0">
                        <a:latin typeface="Cambria Math"/>
                      </a:rPr>
                      <m:t>𝑛</m:t>
                    </m:r>
                    <m:r>
                      <a:rPr lang="en-AU" b="0" i="1" smtClean="0">
                        <a:latin typeface="Cambria Math"/>
                      </a:rPr>
                      <m:t>+88</m:t>
                    </m:r>
                  </m:oMath>
                </a14:m>
                <a:r>
                  <a:rPr lang="en-AU" b="0" dirty="0" smtClean="0"/>
                  <a:t>		</a:t>
                </a:r>
                <a:r>
                  <a:rPr lang="en-AU" dirty="0"/>
                  <a:t> </a:t>
                </a:r>
                <a:r>
                  <a:rPr lang="en-AU" i="1" dirty="0" smtClean="0"/>
                  <a:t>n’s </a:t>
                </a:r>
                <a:r>
                  <a:rPr lang="en-AU" i="1" dirty="0"/>
                  <a:t>one side numbers the other</a:t>
                </a:r>
                <a:endParaRPr lang="en-AU" b="0" i="1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22</m:t>
                      </m:r>
                      <m:r>
                        <a:rPr lang="en-AU" b="0" i="1" smtClean="0"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latin typeface="Cambria Math"/>
                        </a:rPr>
                        <m:t>−11</m:t>
                      </m:r>
                      <m:r>
                        <a:rPr lang="en-AU" b="0" i="1" smtClean="0"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latin typeface="Cambria Math"/>
                        </a:rPr>
                        <m:t>=88</m:t>
                      </m:r>
                    </m:oMath>
                  </m:oMathPara>
                </a14:m>
                <a:endParaRPr lang="en-AU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11</m:t>
                      </m:r>
                      <m:r>
                        <a:rPr lang="en-AU" b="0" i="1" smtClean="0"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latin typeface="Cambria Math"/>
                        </a:rPr>
                        <m:t>=88</m:t>
                      </m:r>
                    </m:oMath>
                  </m:oMathPara>
                </a14:m>
                <a:endParaRPr lang="en-AU" b="0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𝑛</m:t>
                    </m:r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11</m:t>
                        </m:r>
                      </m:den>
                    </m:f>
                  </m:oMath>
                </a14:m>
                <a:r>
                  <a:rPr lang="en-AU" dirty="0" smtClean="0"/>
                  <a:t>			</a:t>
                </a:r>
                <a:r>
                  <a:rPr lang="en-AU" i="1" dirty="0"/>
                  <a:t> Cross-multiply the </a:t>
                </a:r>
                <a:r>
                  <a:rPr lang="en-AU" i="1" dirty="0" smtClean="0"/>
                  <a:t>11</a:t>
                </a:r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effectLst/>
                        <a:latin typeface="Cambria Math"/>
                      </a:rPr>
                      <m:t>𝑛</m:t>
                    </m:r>
                    <m:r>
                      <a:rPr lang="en-AU" b="0" i="1" smtClean="0">
                        <a:effectLst/>
                        <a:latin typeface="Cambria Math"/>
                      </a:rPr>
                      <m:t>=8</m:t>
                    </m:r>
                  </m:oMath>
                </a14:m>
                <a:r>
                  <a:rPr lang="en-AU" dirty="0" smtClean="0">
                    <a:effectLst/>
                  </a:rPr>
                  <a:t>     therefore Tara runs at 8km/h</a:t>
                </a:r>
                <a:endParaRPr lang="en-AU" dirty="0">
                  <a:effectLst/>
                </a:endParaRPr>
              </a:p>
              <a:p>
                <a:pPr marL="342900" indent="-342900">
                  <a:buAutoNum type="alphaLcParenR" startAt="2"/>
                </a:pPr>
                <a:r>
                  <a:rPr lang="en-AU" dirty="0" smtClean="0"/>
                  <a:t>Determine </a:t>
                </a:r>
                <a:r>
                  <a:rPr lang="en-AU" dirty="0"/>
                  <a:t>Judy's average cycling speed</a:t>
                </a:r>
                <a:r>
                  <a:rPr lang="en-AU" dirty="0" smtClean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effectLst/>
                          <a:latin typeface="Cambria Math"/>
                        </a:rPr>
                        <m:t>𝐽𝑢𝑑𝑦</m:t>
                      </m:r>
                      <m:r>
                        <a:rPr lang="en-AU" b="0" i="1" smtClean="0">
                          <a:effectLst/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effectLst/>
                          <a:latin typeface="Cambria Math"/>
                        </a:rPr>
                        <m:t>𝑛</m:t>
                      </m:r>
                      <m:r>
                        <a:rPr lang="en-AU" b="0" i="1" smtClean="0">
                          <a:effectLst/>
                          <a:latin typeface="Cambria Math"/>
                        </a:rPr>
                        <m:t>+8  →  8+8=16</m:t>
                      </m:r>
                    </m:oMath>
                  </m:oMathPara>
                </a14:m>
                <a:endParaRPr lang="en-AU" dirty="0" smtClean="0">
                  <a:effectLst/>
                </a:endParaRPr>
              </a:p>
              <a:p>
                <a:r>
                  <a:rPr lang="en-AU" dirty="0" smtClean="0"/>
                  <a:t>Judy rides at 16km/h</a:t>
                </a:r>
                <a:endParaRPr lang="en-AU" dirty="0">
                  <a:effectLst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633324"/>
                <a:ext cx="6912768" cy="5190203"/>
              </a:xfrm>
              <a:prstGeom prst="rect">
                <a:avLst/>
              </a:prstGeom>
              <a:blipFill rotWithShape="1">
                <a:blip r:embed="rId2"/>
                <a:stretch>
                  <a:fillRect l="-794" t="-588" r="-2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060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1340768"/>
            <a:ext cx="8424936" cy="3888432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7.2 &amp; 7.3 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Plus there is some work on </a:t>
            </a:r>
            <a:r>
              <a:rPr lang="en-AU" b="1" dirty="0" err="1" smtClean="0">
                <a:solidFill>
                  <a:schemeClr val="tx1"/>
                </a:solidFill>
              </a:rPr>
              <a:t>Mathspace</a:t>
            </a:r>
            <a:r>
              <a:rPr lang="en-AU" b="1" dirty="0" smtClean="0">
                <a:solidFill>
                  <a:schemeClr val="tx1"/>
                </a:solidFill>
              </a:rPr>
              <a:t> to do</a:t>
            </a:r>
          </a:p>
          <a:p>
            <a:r>
              <a:rPr lang="en-AU" b="1" u="sng" dirty="0" err="1">
                <a:solidFill>
                  <a:schemeClr val="tx1"/>
                </a:solidFill>
              </a:rPr>
              <a:t>yr</a:t>
            </a:r>
            <a:r>
              <a:rPr lang="en-AU" b="1" u="sng" dirty="0">
                <a:solidFill>
                  <a:schemeClr val="tx1"/>
                </a:solidFill>
              </a:rPr>
              <a:t> 10 Problem Solving with Linear Equations</a:t>
            </a:r>
            <a:endParaRPr lang="en-AU" b="1" dirty="0">
              <a:solidFill>
                <a:schemeClr val="tx1"/>
              </a:solidFill>
            </a:endParaRPr>
          </a:p>
          <a:p>
            <a:endParaRPr lang="en-AU" b="1" smtClean="0">
              <a:solidFill>
                <a:schemeClr val="tx2"/>
              </a:solidFill>
            </a:endParaRPr>
          </a:p>
          <a:p>
            <a:r>
              <a:rPr lang="en-AU" b="1" smtClean="0">
                <a:solidFill>
                  <a:schemeClr val="tx2"/>
                </a:solidFill>
              </a:rPr>
              <a:t>All </a:t>
            </a:r>
            <a:r>
              <a:rPr lang="en-AU" b="1" dirty="0" smtClean="0">
                <a:solidFill>
                  <a:schemeClr val="tx2"/>
                </a:solidFill>
              </a:rPr>
              <a:t>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8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1378</TotalTime>
  <Words>868</Words>
  <Application>Microsoft Office PowerPoint</Application>
  <PresentationFormat>On-screen Show (4:3)</PresentationFormat>
  <Paragraphs>200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Algebra – Solving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115</cp:revision>
  <dcterms:created xsi:type="dcterms:W3CDTF">2014-05-14T02:58:57Z</dcterms:created>
  <dcterms:modified xsi:type="dcterms:W3CDTF">2016-06-01T04:53:32Z</dcterms:modified>
</cp:coreProperties>
</file>
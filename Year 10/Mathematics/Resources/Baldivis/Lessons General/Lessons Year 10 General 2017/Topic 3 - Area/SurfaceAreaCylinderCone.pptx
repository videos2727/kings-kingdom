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57" r:id="rId4"/>
    <p:sldId id="258" r:id="rId5"/>
    <p:sldId id="270" r:id="rId6"/>
    <p:sldId id="267" r:id="rId7"/>
    <p:sldId id="260" r:id="rId8"/>
    <p:sldId id="272" r:id="rId9"/>
    <p:sldId id="274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458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7648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23/03/2017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Calculate the surface area of cylinders &amp; cones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34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 - Cylinders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surface area of a cylinder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132856"/>
            <a:ext cx="58326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Surface area – Cylinder</a:t>
            </a:r>
          </a:p>
          <a:p>
            <a:endParaRPr lang="en-AU" dirty="0"/>
          </a:p>
          <a:p>
            <a:r>
              <a:rPr lang="en-AU" dirty="0"/>
              <a:t>For the surface area of a cylinder use the shape net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214762"/>
            <a:ext cx="2106930" cy="28041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580112" y="3429000"/>
                <a:ext cx="31683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cylinder consists of 2 circles and a rectangle. The length of the of this rectangle is the circumference of the circle</a:t>
                </a:r>
              </a:p>
              <a:p>
                <a:endParaRPr lang="en-AU" dirty="0"/>
              </a:p>
              <a:p>
                <a:r>
                  <a:rPr lang="en-AU" dirty="0"/>
                  <a:t>SA = 2(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3429000"/>
                <a:ext cx="3168352" cy="2308324"/>
              </a:xfrm>
              <a:prstGeom prst="rect">
                <a:avLst/>
              </a:prstGeom>
              <a:blipFill>
                <a:blip r:embed="rId4"/>
                <a:stretch>
                  <a:fillRect l="-1538" t="-15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1600" y="1412776"/>
            <a:ext cx="7416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can 5cm high and a radius of 3cm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79" y="1916832"/>
            <a:ext cx="1966468" cy="26172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275856" y="2204864"/>
                <a:ext cx="475252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 = 3cm</a:t>
                </a:r>
              </a:p>
              <a:p>
                <a:r>
                  <a:rPr lang="en-AU" dirty="0"/>
                  <a:t>H = 5cm</a:t>
                </a:r>
              </a:p>
              <a:p>
                <a:endParaRPr lang="en-AU" dirty="0"/>
              </a:p>
              <a:p>
                <a:r>
                  <a:rPr lang="en-AU" dirty="0"/>
                  <a:t>SA =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+((2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SA 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+((2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3)×5)</m:t>
                    </m:r>
                  </m:oMath>
                </a14:m>
                <a:endParaRPr lang="en-AU" dirty="0"/>
              </a:p>
              <a:p>
                <a:r>
                  <a:rPr lang="en-AU" dirty="0"/>
                  <a:t>SA = 169.65+94.25</a:t>
                </a:r>
              </a:p>
              <a:p>
                <a:r>
                  <a:rPr lang="en-AU" dirty="0"/>
                  <a:t>SA = 264.2 cm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204864"/>
                <a:ext cx="4752528" cy="2308324"/>
              </a:xfrm>
              <a:prstGeom prst="rect">
                <a:avLst/>
              </a:prstGeom>
              <a:blipFill>
                <a:blip r:embed="rId4"/>
                <a:stretch>
                  <a:fillRect l="-1026" t="-15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 - Cone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surface area of a cone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8326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Surface Area – Cone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r = radius</a:t>
            </a:r>
          </a:p>
          <a:p>
            <a:r>
              <a:rPr lang="en-AU" dirty="0"/>
              <a:t>h = height</a:t>
            </a:r>
          </a:p>
          <a:p>
            <a:r>
              <a:rPr lang="en-AU" dirty="0"/>
              <a:t>l = slant height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0" t="11541" r="17301" b="7821"/>
          <a:stretch/>
        </p:blipFill>
        <p:spPr>
          <a:xfrm>
            <a:off x="3161432" y="2670427"/>
            <a:ext cx="1872209" cy="23042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364088" y="2852936"/>
                <a:ext cx="3528392" cy="4004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 need to find the area of the 2 parts of the cone. The circle = 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𝝅r</a:t>
                </a:r>
                <a:r>
                  <a:rPr lang="en-AU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>
                    <a:ea typeface="Cambria Math" panose="02040503050406030204" pitchFamily="18" charset="0"/>
                  </a:rPr>
                  <a:t>and the cone.</a:t>
                </a:r>
              </a:p>
              <a:p>
                <a:r>
                  <a:rPr lang="en-AU" dirty="0">
                    <a:ea typeface="Cambria Math" panose="02040503050406030204" pitchFamily="18" charset="0"/>
                  </a:rPr>
                  <a:t>There are 2 formulas for finding the area of the cone, if you have the slant height the area formula is 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𝝅</a:t>
                </a:r>
                <a:r>
                  <a:rPr lang="en-AU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rl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AU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en-AU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If you have the height then you use</a:t>
                </a:r>
              </a:p>
              <a:p>
                <a:r>
                  <a:rPr lang="en-AU" dirty="0">
                    <a:ea typeface="Cambria Math" panose="02040503050406030204" pitchFamily="18" charset="0"/>
                  </a:rPr>
                  <a:t> 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𝝅r(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r>
                  <a:rPr lang="en-AU" dirty="0"/>
                  <a:t>This give 2 formulas</a:t>
                </a:r>
              </a:p>
              <a:p>
                <a:endParaRPr lang="en-AU" dirty="0"/>
              </a:p>
              <a:p>
                <a:r>
                  <a:rPr lang="en-AU" dirty="0"/>
                  <a:t>SA</a:t>
                </a:r>
                <a:r>
                  <a:rPr lang="en-AU" baseline="-25000" dirty="0"/>
                  <a:t>1</a:t>
                </a:r>
                <a:r>
                  <a:rPr lang="en-AU" dirty="0"/>
                  <a:t> = 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𝝅r</a:t>
                </a:r>
                <a:r>
                  <a:rPr lang="en-AU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𝝅</a:t>
                </a:r>
                <a:r>
                  <a:rPr lang="en-AU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rl</a:t>
                </a:r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SA</a:t>
                </a:r>
                <a:r>
                  <a:rPr lang="en-AU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𝝅r</a:t>
                </a:r>
                <a:r>
                  <a:rPr lang="en-AU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𝝅r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852936"/>
                <a:ext cx="3528392" cy="4004238"/>
              </a:xfrm>
              <a:prstGeom prst="rect">
                <a:avLst/>
              </a:prstGeom>
              <a:blipFill>
                <a:blip r:embed="rId4"/>
                <a:stretch>
                  <a:fillRect l="-1554" t="-761" r="-17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8" y="1556792"/>
            <a:ext cx="77048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cone with a slant height of 8cm and a radius of 5cm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0" t="9681" r="17240" b="7160"/>
          <a:stretch/>
        </p:blipFill>
        <p:spPr>
          <a:xfrm>
            <a:off x="1115616" y="1988840"/>
            <a:ext cx="1872208" cy="23762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707904" y="2276872"/>
                <a:ext cx="475252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 = 5cm</a:t>
                </a:r>
              </a:p>
              <a:p>
                <a:r>
                  <a:rPr lang="en-AU" dirty="0"/>
                  <a:t>L = 8cm</a:t>
                </a:r>
              </a:p>
              <a:p>
                <a:endParaRPr lang="en-AU" dirty="0"/>
              </a:p>
              <a:p>
                <a:r>
                  <a:rPr lang="en-AU" dirty="0"/>
                  <a:t>SA = 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𝝅r</a:t>
                </a:r>
                <a:r>
                  <a:rPr lang="en-AU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𝝅</a:t>
                </a:r>
                <a:r>
                  <a:rPr lang="en-AU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rl</a:t>
                </a:r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SA =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×5×8</m:t>
                    </m:r>
                  </m:oMath>
                </a14:m>
                <a:endParaRPr lang="en-AU" dirty="0"/>
              </a:p>
              <a:p>
                <a:r>
                  <a:rPr lang="en-AU" dirty="0"/>
                  <a:t>SA = 78.54 + 125.66</a:t>
                </a:r>
              </a:p>
              <a:p>
                <a:r>
                  <a:rPr lang="en-AU" dirty="0"/>
                  <a:t>SA = 204.20 cm</a:t>
                </a:r>
                <a:r>
                  <a:rPr lang="en-AU" baseline="30000" dirty="0"/>
                  <a:t>2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2276872"/>
                <a:ext cx="4752528" cy="2308324"/>
              </a:xfrm>
              <a:prstGeom prst="rect">
                <a:avLst/>
              </a:prstGeom>
              <a:blipFill>
                <a:blip r:embed="rId4"/>
                <a:stretch>
                  <a:fillRect l="-1026" t="-15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84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8" y="1556792"/>
            <a:ext cx="77048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cone with a height of 7cm and a radius of 5cm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0" t="9681" r="17240" b="7160"/>
          <a:stretch/>
        </p:blipFill>
        <p:spPr>
          <a:xfrm>
            <a:off x="1115616" y="1988840"/>
            <a:ext cx="1872208" cy="23762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635896" y="2276872"/>
                <a:ext cx="4752528" cy="2679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 = 5cm</a:t>
                </a:r>
              </a:p>
              <a:p>
                <a:r>
                  <a:rPr lang="en-AU" dirty="0"/>
                  <a:t>h = 7cm</a:t>
                </a:r>
              </a:p>
              <a:p>
                <a:endParaRPr lang="en-AU" dirty="0"/>
              </a:p>
              <a:p>
                <a:r>
                  <a:rPr lang="en-AU" dirty="0"/>
                  <a:t>SA = 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𝝅r</a:t>
                </a:r>
                <a:r>
                  <a:rPr lang="en-AU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𝝅r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SA =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×5(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)</m:t>
                    </m:r>
                  </m:oMath>
                </a14:m>
                <a:endParaRPr lang="en-AU" dirty="0"/>
              </a:p>
              <a:p>
                <a:r>
                  <a:rPr lang="en-AU" dirty="0"/>
                  <a:t>SA = 78.54 +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×5×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74</m:t>
                        </m:r>
                      </m:e>
                    </m:rad>
                  </m:oMath>
                </a14:m>
                <a:endParaRPr lang="en-AU" dirty="0"/>
              </a:p>
              <a:p>
                <a:r>
                  <a:rPr lang="en-AU" dirty="0"/>
                  <a:t>SA = 78.54 + 135.09</a:t>
                </a:r>
              </a:p>
              <a:p>
                <a:r>
                  <a:rPr lang="en-AU" dirty="0"/>
                  <a:t>SA = 213.63 cm</a:t>
                </a:r>
                <a:r>
                  <a:rPr lang="en-AU" baseline="30000" dirty="0"/>
                  <a:t>2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276872"/>
                <a:ext cx="4752528" cy="2679260"/>
              </a:xfrm>
              <a:prstGeom prst="rect">
                <a:avLst/>
              </a:prstGeom>
              <a:blipFill>
                <a:blip r:embed="rId4"/>
                <a:stretch>
                  <a:fillRect l="-1026" t="-13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657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Nelson Page 172</a:t>
            </a:r>
          </a:p>
          <a:p>
            <a:r>
              <a:rPr lang="en-AU" dirty="0"/>
              <a:t>Q17</a:t>
            </a:r>
          </a:p>
          <a:p>
            <a:r>
              <a:rPr lang="en-AU" dirty="0"/>
              <a:t>Q19 a &amp; b – treat both cylinders as closed at both ends</a:t>
            </a:r>
          </a:p>
          <a:p>
            <a:r>
              <a:rPr lang="en-AU"/>
              <a:t>Page 173 Q26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Success Criteria</a:t>
            </a:r>
          </a:p>
          <a:p>
            <a:pPr marL="0" indent="0">
              <a:buNone/>
            </a:pPr>
            <a:r>
              <a:rPr lang="en-AU" dirty="0"/>
              <a:t>Thumbs up </a:t>
            </a:r>
            <a:r>
              <a:rPr lang="en-AU" dirty="0" err="1"/>
              <a:t>etc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506</Words>
  <Application>Microsoft Office PowerPoint</Application>
  <PresentationFormat>On-screen Show (4:3)</PresentationFormat>
  <Paragraphs>158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15</cp:revision>
  <dcterms:created xsi:type="dcterms:W3CDTF">2016-10-20T03:14:06Z</dcterms:created>
  <dcterms:modified xsi:type="dcterms:W3CDTF">2017-03-23T15:46:15Z</dcterms:modified>
</cp:coreProperties>
</file>
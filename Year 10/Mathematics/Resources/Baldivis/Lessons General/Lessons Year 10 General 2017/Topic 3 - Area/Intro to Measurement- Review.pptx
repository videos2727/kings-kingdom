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gif" ContentType="image/gif"/>
  <Default Extension="wdp" ContentType="image/vnd.ms-photo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4"/>
  </p:notesMasterIdLst>
  <p:sldIdLst>
    <p:sldId id="263" r:id="rId3"/>
    <p:sldId id="264" r:id="rId4"/>
    <p:sldId id="257" r:id="rId5"/>
    <p:sldId id="258" r:id="rId6"/>
    <p:sldId id="260" r:id="rId7"/>
    <p:sldId id="266" r:id="rId8"/>
    <p:sldId id="268" r:id="rId9"/>
    <p:sldId id="267" r:id="rId10"/>
    <p:sldId id="269" r:id="rId11"/>
    <p:sldId id="262" r:id="rId12"/>
    <p:sldId id="265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EF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2"/>
    <p:restoredTop sz="94617"/>
  </p:normalViewPr>
  <p:slideViewPr>
    <p:cSldViewPr>
      <p:cViewPr>
        <p:scale>
          <a:sx n="66" d="100"/>
          <a:sy n="66" d="100"/>
        </p:scale>
        <p:origin x="440" y="5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21/3/17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hook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3413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</a:t>
            </a:r>
            <a:r>
              <a:rPr lang="en-AU" baseline="0" dirty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34270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41963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Check</a:t>
            </a:r>
            <a:r>
              <a:rPr lang="en-AU" baseline="0" dirty="0"/>
              <a:t>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68848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1AD3D9-0B11-4189-8D45-47537C1CF889}" type="slidenum">
              <a:rPr kumimoji="0" lang="en-AU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AU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0515546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Guided practice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80438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Independent practice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66939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Closure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651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21/3/17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62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21/3/17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0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21/3/17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5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21/3/17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7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21/3/17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0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21/3/17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21/3/17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2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21/3/17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21/3/17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38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21/3/17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21/3/17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8357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21/3/17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227465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21/3/17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021948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4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21/3/17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279680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21/3/17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162869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21/3/17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830834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21/3/17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942949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21/3/17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452298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4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21/3/17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3985894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21/3/17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335466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21/3/17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8802833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2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21/3/17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28205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_rels/slideMaster2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21/3/17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4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21/3/17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80213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377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1" indent="-342891" algn="l" defTabSz="914377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defTabSz="914377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ww.youtube.com/watch?v=A7zPgMV4eTM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4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microsoft.com/office/2007/relationships/hdphoto" Target="../media/hdphoto1.wdp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Mental 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Introduction to area and unit squares</a:t>
            </a:r>
          </a:p>
          <a:p>
            <a:pPr marL="0" indent="0">
              <a:buNone/>
            </a:pPr>
            <a:r>
              <a:rPr lang="en-AU" sz="2800" dirty="0">
                <a:hlinkClick r:id="rId3"/>
              </a:rPr>
              <a:t>https://www.youtube.com/watch?v=A7zPgMV4eTM</a:t>
            </a:r>
            <a:endParaRPr lang="en-AU" sz="2800" dirty="0"/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00671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77281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772816"/>
            <a:ext cx="0" cy="525658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72374" y="303619"/>
            <a:ext cx="33378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Topic : Measurement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1145939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do I know about Measurement from previous years?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1600" y="306409"/>
            <a:ext cx="33378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Topic : Measurement </a:t>
            </a:r>
          </a:p>
        </p:txBody>
      </p:sp>
    </p:spTree>
    <p:extLst>
      <p:ext uri="{BB962C8B-B14F-4D97-AF65-F5344CB8AC3E}">
        <p14:creationId xmlns:p14="http://schemas.microsoft.com/office/powerpoint/2010/main" val="321455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Lesson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By the end of this lesson you will be able to;</a:t>
            </a:r>
          </a:p>
          <a:p>
            <a:pPr>
              <a:buFontTx/>
              <a:buChar char="-"/>
            </a:pPr>
            <a:r>
              <a:rPr lang="en-AU" dirty="0"/>
              <a:t>Convert between metric units of length</a:t>
            </a:r>
          </a:p>
          <a:p>
            <a:pPr>
              <a:buFontTx/>
              <a:buChar char="-"/>
            </a:pPr>
            <a:r>
              <a:rPr lang="en-AU" dirty="0"/>
              <a:t>Calculate areas of parallelogram (including rectangle and square), triangle and circle. </a:t>
            </a:r>
          </a:p>
          <a:p>
            <a:pPr>
              <a:buFontTx/>
              <a:buChar char="-"/>
            </a:pPr>
            <a:r>
              <a:rPr lang="en-AU" dirty="0"/>
              <a:t>Calculate areas of composite shapes. </a:t>
            </a:r>
          </a:p>
        </p:txBody>
      </p:sp>
      <p:pic>
        <p:nvPicPr>
          <p:cNvPr id="4" name="Picture 3" descr="Be sure to check out the Guide to Effective Instruction: &lt;strong&gt;Measurement&lt;/strong&gt; ...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962" y="4899932"/>
            <a:ext cx="5238750" cy="1447800"/>
          </a:xfrm>
          <a:prstGeom prst="rect">
            <a:avLst/>
          </a:prstGeom>
        </p:spPr>
      </p:pic>
      <p:pic>
        <p:nvPicPr>
          <p:cNvPr id="1026" name="Picture 2" descr="http://www.teachingideas.co.uk/sites/default/files/styles/380w/public/area_1.jpg?itok=PGvh5wMC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4927600"/>
            <a:ext cx="3619500" cy="1381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7979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Success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You will know you are successful in achieving the objective by…</a:t>
            </a:r>
          </a:p>
          <a:p>
            <a:r>
              <a:rPr lang="en-AU" dirty="0"/>
              <a:t>You will be able to convert between units of length in metric system.</a:t>
            </a:r>
          </a:p>
          <a:p>
            <a:r>
              <a:rPr lang="en-AU" dirty="0"/>
              <a:t>Calculate areas of simple shapes like, rectangle, square, triangle and circle</a:t>
            </a:r>
          </a:p>
          <a:p>
            <a:r>
              <a:rPr lang="en-AU" dirty="0"/>
              <a:t>Calculate areas of composite shapes by adding and subtracting simpler shapes. 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09397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70080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7454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9" y="2035393"/>
            <a:ext cx="29647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How do I convert between units of length?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471" y="113277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do I know about Measurement from previous years?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3417" y="293703"/>
            <a:ext cx="33378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Topic : Measurement </a:t>
            </a:r>
          </a:p>
        </p:txBody>
      </p:sp>
      <p:pic>
        <p:nvPicPr>
          <p:cNvPr id="5122" name="Picture 2" descr="http://www.open.edu/openlearn/ocw/pluginfile.php/423828/mod_oucontent/oucontent/14094/27e45b79/e1589a61/swim2_wk1_fig001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60" b="8150"/>
          <a:stretch/>
        </p:blipFill>
        <p:spPr bwMode="auto">
          <a:xfrm>
            <a:off x="3038304" y="1807175"/>
            <a:ext cx="5985047" cy="1872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300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19672" y="404664"/>
            <a:ext cx="57606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/>
              <a:t>Check for understanding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539552" y="1201680"/>
            <a:ext cx="3732691" cy="4525963"/>
          </a:xfrm>
        </p:spPr>
        <p:txBody>
          <a:bodyPr/>
          <a:lstStyle/>
          <a:p>
            <a:r>
              <a:rPr lang="en-AU" dirty="0"/>
              <a:t>30 mm = ______ cm</a:t>
            </a:r>
          </a:p>
          <a:p>
            <a:r>
              <a:rPr lang="en-AU" dirty="0"/>
              <a:t>120 cm = ______ m</a:t>
            </a:r>
          </a:p>
          <a:p>
            <a:r>
              <a:rPr lang="en-AU" dirty="0"/>
              <a:t>13 km = _______ m</a:t>
            </a:r>
          </a:p>
          <a:p>
            <a:r>
              <a:rPr lang="en-AU" dirty="0"/>
              <a:t>560 mm = ______m</a:t>
            </a:r>
          </a:p>
          <a:p>
            <a:r>
              <a:rPr lang="en-AU" dirty="0"/>
              <a:t>1200 m = ______ km</a:t>
            </a:r>
          </a:p>
          <a:p>
            <a:r>
              <a:rPr lang="en-AU" dirty="0"/>
              <a:t>3 km =_________m</a:t>
            </a:r>
          </a:p>
          <a:p>
            <a:r>
              <a:rPr lang="en-AU" dirty="0"/>
              <a:t>1.35 m = _______mm</a:t>
            </a:r>
          </a:p>
        </p:txBody>
      </p:sp>
      <p:pic>
        <p:nvPicPr>
          <p:cNvPr id="7" name="Picture 2" descr="http://www.open.edu/openlearn/ocw/pluginfile.php/423828/mod_oucontent/oucontent/14094/27e45b79/e1589a61/swim2_wk1_fig001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60" b="8150"/>
          <a:stretch/>
        </p:blipFill>
        <p:spPr bwMode="auto">
          <a:xfrm>
            <a:off x="3154874" y="5085184"/>
            <a:ext cx="5985047" cy="1872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9543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70080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24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7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690407" y="1723835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471" y="1815117"/>
            <a:ext cx="26783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How do I calculate area of</a:t>
            </a:r>
            <a:r>
              <a:rPr kumimoji="0" lang="en-AU" sz="2000" b="0" i="0" u="none" strike="noStrike" kern="0" cap="none" spc="0" normalizeH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a rectangle? </a:t>
            </a:r>
            <a:endParaRPr kumimoji="0" lang="en-AU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3471" y="113277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EQ – What do I know about Measurement from previous years?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3417" y="293703"/>
            <a:ext cx="33378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Topic : Measurement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914959" y="1848844"/>
                <a:ext cx="3554965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𝐴𝑟𝑒𝑎</m:t>
                      </m:r>
                      <m:r>
                        <a:rPr kumimoji="0" lang="en-AU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0" lang="en-AU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𝐿𝑒𝑛𝑔𝑡h</m:t>
                      </m:r>
                      <m:r>
                        <a:rPr kumimoji="0" lang="en-AU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kumimoji="0" lang="en-AU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𝑊𝑖𝑑𝑡h</m:t>
                      </m:r>
                    </m:oMath>
                  </m:oMathPara>
                </a14:m>
                <a:endParaRPr kumimoji="0" lang="en-AU" sz="20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2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kumimoji="0" lang="en-AU" sz="2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0" lang="en-AU" sz="2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kumimoji="0" lang="en-AU" sz="2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kumimoji="0" lang="en-AU" sz="2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kumimoji="0" lang="en-AU" sz="20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4959" y="1848844"/>
                <a:ext cx="3554965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16443" y="3218082"/>
            <a:ext cx="26783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How do I calculate area of</a:t>
            </a:r>
            <a:r>
              <a:rPr kumimoji="0" lang="en-AU" sz="2000" b="0" i="0" u="none" strike="noStrike" kern="0" cap="none" spc="0" normalizeH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a triangle? </a:t>
            </a:r>
            <a:endParaRPr kumimoji="0" lang="en-AU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3078" name="Picture 6" descr="Image result for area of triangl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0484" y="2972481"/>
            <a:ext cx="3052867" cy="1906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2556704" y="3308476"/>
                <a:ext cx="3554965" cy="12447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𝐴𝑟𝑒𝑎</m:t>
                      </m:r>
                      <m:r>
                        <a:rPr kumimoji="0" lang="en-AU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0" lang="en-AU" sz="2000" b="0" i="1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kumimoji="0" lang="en-AU" sz="2000" b="0" i="1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0" lang="en-AU" sz="2000" b="0" i="1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kumimoji="0" lang="en-AU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kumimoji="0" lang="en-AU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𝑏𝑎𝑠𝑒</m:t>
                      </m:r>
                      <m:r>
                        <a:rPr kumimoji="0" lang="en-AU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kumimoji="0" lang="en-AU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h𝑒𝑖𝑔h𝑡</m:t>
                      </m:r>
                    </m:oMath>
                  </m:oMathPara>
                </a14:m>
                <a:endParaRPr kumimoji="0" lang="en-AU" sz="20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2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kumimoji="0" lang="en-AU" sz="2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0" lang="en-AU" sz="2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kumimoji="0" lang="en-AU" sz="2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0" lang="en-AU" sz="2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kumimoji="0" lang="en-AU" sz="2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kumimoji="0" lang="en-AU" sz="2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kumimoji="0" lang="en-AU" sz="2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kumimoji="0" lang="en-AU" sz="2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kumimoji="0" lang="en-AU" sz="20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6704" y="3308476"/>
                <a:ext cx="3554965" cy="12447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16443" y="5179692"/>
            <a:ext cx="26783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How do I calculate area of</a:t>
            </a:r>
            <a:r>
              <a:rPr kumimoji="0" lang="en-AU" sz="2000" b="0" i="0" u="none" strike="noStrike" kern="0" cap="none" spc="0" normalizeH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a circle? </a:t>
            </a:r>
            <a:endParaRPr kumimoji="0" lang="en-AU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0" b="100000" l="0" r="89796"/>
                    </a14:imgEffect>
                  </a14:imgLayer>
                </a14:imgProps>
              </a:ext>
            </a:extLst>
          </a:blip>
          <a:srcRect r="16794" b="2837"/>
          <a:stretch/>
        </p:blipFill>
        <p:spPr>
          <a:xfrm>
            <a:off x="7032543" y="5013175"/>
            <a:ext cx="1804379" cy="1823227"/>
          </a:xfrm>
          <a:prstGeom prst="rect">
            <a:avLst/>
          </a:prstGeom>
        </p:spPr>
      </p:pic>
      <p:pic>
        <p:nvPicPr>
          <p:cNvPr id="3074" name="Picture 2" descr="http://images.tutorvista.com/cms/images/102/area-of-rectangle.pn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8776" y="1765613"/>
            <a:ext cx="2314575" cy="1362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3016261" y="5215449"/>
                <a:ext cx="3554965" cy="7342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𝐴𝑟𝑒𝑎</m:t>
                      </m:r>
                      <m:r>
                        <a:rPr kumimoji="0" lang="en-AU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0" lang="en-AU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kumimoji="0" lang="en-AU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kumimoji="0" lang="en-AU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𝑟𝑎𝑑𝑖𝑢𝑠</m:t>
                      </m:r>
                      <m:r>
                        <a:rPr kumimoji="0" lang="en-AU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kumimoji="0" lang="en-AU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𝑟𝑎𝑑𝑖𝑢𝑠</m:t>
                      </m:r>
                    </m:oMath>
                  </m:oMathPara>
                </a14:m>
                <a:endParaRPr kumimoji="0" lang="en-AU" sz="20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2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kumimoji="0" lang="en-AU" sz="2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0" lang="en-AU" sz="2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 kumimoji="0" lang="en-AU" sz="2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kumimoji="0" lang="en-AU" sz="2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kumimoji="0" lang="en-AU" sz="2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0" lang="en-AU" sz="20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6261" y="5215449"/>
                <a:ext cx="3554965" cy="73424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75521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0961" y="1187735"/>
            <a:ext cx="4326685" cy="162144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547664" y="211287"/>
            <a:ext cx="61206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400" dirty="0"/>
              <a:t>Guided Practice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411" y="4769768"/>
            <a:ext cx="2343150" cy="19335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9512" y="1093978"/>
            <a:ext cx="4675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9512" y="2967335"/>
            <a:ext cx="4675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9512" y="4755194"/>
            <a:ext cx="4675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C)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5521" y="3140968"/>
            <a:ext cx="3963606" cy="139976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5263" y="4814813"/>
            <a:ext cx="5229225" cy="18288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652120" y="2204864"/>
            <a:ext cx="3168352" cy="558402"/>
          </a:xfrm>
          <a:prstGeom prst="rect">
            <a:avLst/>
          </a:prstGeom>
          <a:solidFill>
            <a:srgbClr val="D4EF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Rectangle 14"/>
          <p:cNvSpPr/>
          <p:nvPr/>
        </p:nvSpPr>
        <p:spPr>
          <a:xfrm>
            <a:off x="6471621" y="4797152"/>
            <a:ext cx="1031405" cy="345866"/>
          </a:xfrm>
          <a:prstGeom prst="rect">
            <a:avLst/>
          </a:prstGeom>
          <a:solidFill>
            <a:srgbClr val="D4EF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ectangle 15"/>
          <p:cNvSpPr/>
          <p:nvPr/>
        </p:nvSpPr>
        <p:spPr>
          <a:xfrm>
            <a:off x="5652120" y="1703979"/>
            <a:ext cx="3168352" cy="1071367"/>
          </a:xfrm>
          <a:prstGeom prst="rect">
            <a:avLst/>
          </a:prstGeom>
          <a:solidFill>
            <a:srgbClr val="D4EF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Rectangle 16"/>
          <p:cNvSpPr/>
          <p:nvPr/>
        </p:nvSpPr>
        <p:spPr>
          <a:xfrm>
            <a:off x="5942593" y="3533436"/>
            <a:ext cx="3031095" cy="1024954"/>
          </a:xfrm>
          <a:prstGeom prst="rect">
            <a:avLst/>
          </a:prstGeom>
          <a:solidFill>
            <a:srgbClr val="D4EF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Rectangle 17"/>
          <p:cNvSpPr/>
          <p:nvPr/>
        </p:nvSpPr>
        <p:spPr>
          <a:xfrm>
            <a:off x="5935673" y="4005064"/>
            <a:ext cx="3031095" cy="553325"/>
          </a:xfrm>
          <a:prstGeom prst="rect">
            <a:avLst/>
          </a:prstGeom>
          <a:solidFill>
            <a:srgbClr val="D4EF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Rectangle 18"/>
          <p:cNvSpPr/>
          <p:nvPr/>
        </p:nvSpPr>
        <p:spPr>
          <a:xfrm>
            <a:off x="5005521" y="5271167"/>
            <a:ext cx="3958967" cy="1260685"/>
          </a:xfrm>
          <a:prstGeom prst="rect">
            <a:avLst/>
          </a:prstGeom>
          <a:solidFill>
            <a:srgbClr val="D4EF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" name="Rectangle 19"/>
          <p:cNvSpPr/>
          <p:nvPr/>
        </p:nvSpPr>
        <p:spPr>
          <a:xfrm>
            <a:off x="5005521" y="5877272"/>
            <a:ext cx="3958967" cy="681468"/>
          </a:xfrm>
          <a:prstGeom prst="rect">
            <a:avLst/>
          </a:prstGeom>
          <a:solidFill>
            <a:srgbClr val="D4EF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5078" y="1065319"/>
            <a:ext cx="3324225" cy="1857375"/>
          </a:xfrm>
          <a:prstGeom prst="rect">
            <a:avLst/>
          </a:prstGeom>
        </p:spPr>
      </p:pic>
      <p:grpSp>
        <p:nvGrpSpPr>
          <p:cNvPr id="25" name="Group 24"/>
          <p:cNvGrpSpPr/>
          <p:nvPr/>
        </p:nvGrpSpPr>
        <p:grpSpPr>
          <a:xfrm>
            <a:off x="625078" y="3037352"/>
            <a:ext cx="4238625" cy="1647825"/>
            <a:chOff x="625078" y="3037352"/>
            <a:chExt cx="4238625" cy="1647825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25078" y="3037352"/>
              <a:ext cx="4238625" cy="1647825"/>
            </a:xfrm>
            <a:prstGeom prst="rect">
              <a:avLst/>
            </a:prstGeom>
          </p:spPr>
        </p:pic>
        <p:cxnSp>
          <p:nvCxnSpPr>
            <p:cNvPr id="24" name="Straight Connector 23"/>
            <p:cNvCxnSpPr/>
            <p:nvPr/>
          </p:nvCxnSpPr>
          <p:spPr>
            <a:xfrm flipH="1">
              <a:off x="2051720" y="4149080"/>
              <a:ext cx="922841" cy="0"/>
            </a:xfrm>
            <a:prstGeom prst="line">
              <a:avLst/>
            </a:prstGeom>
            <a:ln w="28575"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26673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12" grpId="0" animBg="1"/>
      <p:bldP spid="12" grpId="1" animBg="1"/>
      <p:bldP spid="15" grpId="0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83553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369925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515" y="40436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24</a:t>
            </a:r>
          </a:p>
          <a:p>
            <a:pPr marL="0" marR="0" lvl="0" indent="0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7</a:t>
            </a:r>
          </a:p>
          <a:p>
            <a:pPr marL="0" marR="0" lvl="0" indent="0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372139" y="1346094"/>
            <a:ext cx="26842" cy="568330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63660" y="212517"/>
            <a:ext cx="32960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Topic : Measurement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5" y="859984"/>
            <a:ext cx="88175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kumimoji="0" lang="en-AU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EQ –</a:t>
            </a:r>
            <a:r>
              <a:rPr lang="en-AU" sz="2400" dirty="0"/>
              <a:t>What do I know about Measurement from previous years?</a:t>
            </a:r>
          </a:p>
          <a:p>
            <a:pPr marL="0" marR="0" lvl="0" indent="0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1612800"/>
            <a:ext cx="2907792" cy="287051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432180" y="1484784"/>
            <a:ext cx="37171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 Math" panose="02040503050406030204" pitchFamily="18" charset="0"/>
              </a:rPr>
              <a:t>Step 1 :  Break the composite shape into smaller Parts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0732" y="1551051"/>
            <a:ext cx="225165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How do you find the area of composite shape?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6664036" y="2934564"/>
            <a:ext cx="1567227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422525" y="2249697"/>
            <a:ext cx="3717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 Math" panose="02040503050406030204" pitchFamily="18" charset="0"/>
              </a:rPr>
              <a:t>Step 2 :  Find the area of each part</a:t>
            </a:r>
          </a:p>
        </p:txBody>
      </p:sp>
      <p:sp>
        <p:nvSpPr>
          <p:cNvPr id="25" name="Oval 24"/>
          <p:cNvSpPr/>
          <p:nvPr/>
        </p:nvSpPr>
        <p:spPr>
          <a:xfrm>
            <a:off x="7203232" y="3269127"/>
            <a:ext cx="471886" cy="4820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2224145" y="3062517"/>
                <a:ext cx="18765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just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kumimoji="0" lang="en-AU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2=</m:t>
                      </m:r>
                      <m:r>
                        <a:rPr kumimoji="0" lang="en-AU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kumimoji="0" lang="en-AU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kumimoji="0" lang="en-AU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kumimoji="0" lang="en-AU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4145" y="3062517"/>
                <a:ext cx="187658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/>
          <p:cNvSpPr txBox="1"/>
          <p:nvPr/>
        </p:nvSpPr>
        <p:spPr>
          <a:xfrm>
            <a:off x="2455885" y="2678724"/>
            <a:ext cx="3717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sng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 Math" panose="02040503050406030204" pitchFamily="18" charset="0"/>
              </a:rPr>
              <a:t>Rectangle – </a:t>
            </a:r>
            <a:r>
              <a:rPr kumimoji="0" lang="en-US" sz="1800" b="0" i="0" u="sng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 Math" panose="02040503050406030204" pitchFamily="18" charset="0"/>
              </a:rPr>
              <a:t>A2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2834601" y="3749445"/>
                <a:ext cx="1737399" cy="6109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just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18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kumimoji="0" lang="en-AU" sz="18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1=</m:t>
                      </m:r>
                      <m:f>
                        <m:fPr>
                          <m:ctrlPr>
                            <a:rPr kumimoji="0" lang="en-AU" sz="18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kumimoji="0" lang="en-AU" sz="18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0" lang="en-AU" sz="18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kumimoji="0" lang="en-AU" sz="18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kumimoji="0" lang="en-AU" sz="18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kumimoji="0" lang="en-AU" sz="18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kumimoji="0" lang="en-AU" sz="18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4601" y="3749445"/>
                <a:ext cx="1737399" cy="6109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2455611" y="3486165"/>
            <a:ext cx="3717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sng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 Math" panose="02040503050406030204" pitchFamily="18" charset="0"/>
              </a:rPr>
              <a:t>Triangle – </a:t>
            </a:r>
            <a:r>
              <a:rPr kumimoji="0" lang="en-US" sz="1800" b="0" i="0" u="sng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 Math" panose="02040503050406030204" pitchFamily="18" charset="0"/>
              </a:rPr>
              <a:t>A1</a:t>
            </a:r>
            <a:endParaRPr kumimoji="0" lang="en-US" sz="1800" b="0" i="0" u="sng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 Math" panose="020405030504060302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218218" y="3321786"/>
            <a:ext cx="734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A2</a:t>
            </a:r>
          </a:p>
        </p:txBody>
      </p:sp>
      <p:sp>
        <p:nvSpPr>
          <p:cNvPr id="26" name="Oval 25"/>
          <p:cNvSpPr/>
          <p:nvPr/>
        </p:nvSpPr>
        <p:spPr>
          <a:xfrm>
            <a:off x="7223599" y="2335312"/>
            <a:ext cx="471886" cy="4820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218219" y="2387043"/>
            <a:ext cx="734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55611" y="4253751"/>
            <a:ext cx="3717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 Math" panose="02040503050406030204" pitchFamily="18" charset="0"/>
              </a:rPr>
              <a:t>b = 47 cm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55885" y="4590701"/>
            <a:ext cx="3717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 Math" panose="02040503050406030204" pitchFamily="18" charset="0"/>
              </a:rPr>
              <a:t>h = 55 – 36 = 19 cm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2834601" y="5016151"/>
                <a:ext cx="1988044" cy="6109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just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18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kumimoji="0" lang="en-AU" sz="18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1=</m:t>
                      </m:r>
                      <m:f>
                        <m:fPr>
                          <m:ctrlPr>
                            <a:rPr kumimoji="0" lang="en-AU" sz="18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kumimoji="0" lang="en-AU" sz="18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0" lang="en-AU" sz="18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kumimoji="0" lang="en-AU" sz="18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kumimoji="0" lang="en-AU" sz="18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47</m:t>
                      </m:r>
                      <m:r>
                        <a:rPr kumimoji="0" lang="en-AU" sz="18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kumimoji="0" lang="en-AU" sz="18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19</m:t>
                      </m:r>
                    </m:oMath>
                  </m:oMathPara>
                </a14:m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4601" y="5016151"/>
                <a:ext cx="1988044" cy="61093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/>
              <p:cNvSpPr/>
              <p:nvPr/>
            </p:nvSpPr>
            <p:spPr>
              <a:xfrm>
                <a:off x="4689928" y="5173379"/>
                <a:ext cx="150554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18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=446.5 </m:t>
                      </m:r>
                      <m:r>
                        <a:rPr kumimoji="0" lang="en-AU" sz="18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𝑐</m:t>
                      </m:r>
                      <m:sSup>
                        <m:sSupPr>
                          <m:ctrlPr>
                            <a:rPr kumimoji="0" lang="en-AU" sz="18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kumimoji="0" lang="en-AU" sz="18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kumimoji="0" lang="en-AU" sz="18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0" lang="en-AU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mc:Choice>
        <mc:Fallback xmlns=""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9928" y="5173379"/>
                <a:ext cx="150554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/>
          <p:cNvSpPr txBox="1"/>
          <p:nvPr/>
        </p:nvSpPr>
        <p:spPr>
          <a:xfrm>
            <a:off x="2455611" y="5636504"/>
            <a:ext cx="3717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kern="0" dirty="0">
                <a:solidFill>
                  <a:sysClr val="windowText" lastClr="000000"/>
                </a:solidFill>
                <a:latin typeface="Cambria Math" panose="02040503050406030204" pitchFamily="18" charset="0"/>
              </a:rPr>
              <a:t>Step 3 :  Add the areas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 Math" panose="02040503050406030204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455611" y="6037318"/>
            <a:ext cx="1853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kern="0" noProof="0" dirty="0">
                <a:solidFill>
                  <a:sysClr val="windowText" lastClr="000000"/>
                </a:solidFill>
                <a:latin typeface="Cambria Math" panose="02040503050406030204" pitchFamily="18" charset="0"/>
              </a:rPr>
              <a:t>Total Area (A) = 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 Math" panose="02040503050406030204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371080" y="6036892"/>
            <a:ext cx="1880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 Math" panose="02040503050406030204" pitchFamily="18" charset="0"/>
              </a:rPr>
              <a:t>1692</a:t>
            </a:r>
            <a:r>
              <a:rPr kumimoji="0" lang="en-US" sz="1800" b="0" i="0" u="none" strike="noStrike" kern="0" cap="none" spc="0" normalizeH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 Math" panose="02040503050406030204" pitchFamily="18" charset="0"/>
              </a:rPr>
              <a:t> + 446.5 =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 Math" panose="02040503050406030204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072625" y="6034180"/>
            <a:ext cx="1531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 Math" panose="02040503050406030204" pitchFamily="18" charset="0"/>
              </a:rPr>
              <a:t>2138.5 cm</a:t>
            </a:r>
            <a:r>
              <a:rPr kumimoji="0" lang="en-US" sz="1800" b="0" i="0" u="none" strike="noStrike" kern="0" cap="none" spc="0" normalizeH="0" baseline="30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 Math" panose="02040503050406030204" pitchFamily="18" charset="0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22695" y="6034180"/>
            <a:ext cx="1880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 Math" panose="02040503050406030204" pitchFamily="18" charset="0"/>
              </a:rPr>
              <a:t>A1 + A2 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3707240" y="3055664"/>
                <a:ext cx="253947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kern="0" dirty="0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=47×36=</m:t>
                      </m:r>
                      <m:r>
                        <a:rPr lang="en-AU" i="1" kern="0" dirty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1692 </m:t>
                      </m:r>
                      <m:r>
                        <a:rPr lang="en-AU" i="1" kern="0" dirty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sSup>
                        <m:sSupPr>
                          <m:ctrlPr>
                            <a:rPr lang="en-AU" i="1" kern="0" dirty="0">
                              <a:solidFill>
                                <a:sysClr val="windowText" lastClr="000000"/>
                              </a:solidFill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AU" i="1" kern="0" dirty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AU" i="1" kern="0" dirty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7240" y="3055664"/>
                <a:ext cx="2539478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1632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3" grpId="0"/>
      <p:bldP spid="20" grpId="0"/>
      <p:bldP spid="25" grpId="0" animBg="1"/>
      <p:bldP spid="25" grpId="1" animBg="1"/>
      <p:bldP spid="25" grpId="2" animBg="1"/>
      <p:bldP spid="21" grpId="0"/>
      <p:bldP spid="22" grpId="0"/>
      <p:bldP spid="23" grpId="0"/>
      <p:bldP spid="24" grpId="0"/>
      <p:bldP spid="18" grpId="0"/>
      <p:bldP spid="26" grpId="0" animBg="1"/>
      <p:bldP spid="17" grpId="0"/>
      <p:bldP spid="27" grpId="0"/>
      <p:bldP spid="28" grpId="0"/>
      <p:bldP spid="29" grpId="0"/>
      <p:bldP spid="30" grpId="0"/>
      <p:bldP spid="32" grpId="0"/>
      <p:bldP spid="33" grpId="0"/>
      <p:bldP spid="34" grpId="0"/>
      <p:bldP spid="35" grpId="0"/>
      <p:bldP spid="36" grpId="0"/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Dr Dwyer Textbook, page 34, Exercise 3.1</a:t>
            </a:r>
          </a:p>
        </p:txBody>
      </p:sp>
    </p:spTree>
    <p:extLst>
      <p:ext uri="{BB962C8B-B14F-4D97-AF65-F5344CB8AC3E}">
        <p14:creationId xmlns:p14="http://schemas.microsoft.com/office/powerpoint/2010/main" val="404264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Closure 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Review Success Criteria</a:t>
            </a:r>
          </a:p>
        </p:txBody>
      </p:sp>
    </p:spTree>
    <p:extLst>
      <p:ext uri="{BB962C8B-B14F-4D97-AF65-F5344CB8AC3E}">
        <p14:creationId xmlns:p14="http://schemas.microsoft.com/office/powerpoint/2010/main" val="2811239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470</Words>
  <Application>Microsoft Macintosh PowerPoint</Application>
  <PresentationFormat>On-screen Show (4:3)</PresentationFormat>
  <Paragraphs>103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Calibri</vt:lpstr>
      <vt:lpstr>Cambria Math</vt:lpstr>
      <vt:lpstr>Arial</vt:lpstr>
      <vt:lpstr>Office Theme</vt:lpstr>
      <vt:lpstr>1_Office Theme</vt:lpstr>
      <vt:lpstr>Mental set</vt:lpstr>
      <vt:lpstr>PowerPoint Presentation</vt:lpstr>
      <vt:lpstr>Lesson Objective</vt:lpstr>
      <vt:lpstr>Success Criteria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Activity</vt:lpstr>
      <vt:lpstr>Closure activity</vt:lpstr>
    </vt:vector>
  </TitlesOfParts>
  <Company>The Department of Education</Company>
  <LinksUpToDate>false</LinksUpToDate>
  <SharedDoc>false</SharedDoc>
  <HyperlinksChanged>false</HyperlinksChanged>
  <AppVersion>15.0032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Kath Farmer</cp:lastModifiedBy>
  <cp:revision>22</cp:revision>
  <dcterms:created xsi:type="dcterms:W3CDTF">2016-10-20T03:14:06Z</dcterms:created>
  <dcterms:modified xsi:type="dcterms:W3CDTF">2017-03-21T14:47:06Z</dcterms:modified>
</cp:coreProperties>
</file>
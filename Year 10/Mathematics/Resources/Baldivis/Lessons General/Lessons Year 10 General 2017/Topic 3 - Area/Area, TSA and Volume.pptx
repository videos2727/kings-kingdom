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notesMasterIdLst>
    <p:notesMasterId r:id="rId26"/>
  </p:notesMasterIdLst>
  <p:sldIdLst>
    <p:sldId id="317" r:id="rId2"/>
    <p:sldId id="256" r:id="rId3"/>
    <p:sldId id="287" r:id="rId4"/>
    <p:sldId id="288" r:id="rId5"/>
    <p:sldId id="289" r:id="rId6"/>
    <p:sldId id="290" r:id="rId7"/>
    <p:sldId id="291" r:id="rId8"/>
    <p:sldId id="292" r:id="rId9"/>
    <p:sldId id="313" r:id="rId10"/>
    <p:sldId id="311" r:id="rId11"/>
    <p:sldId id="318" r:id="rId12"/>
    <p:sldId id="314" r:id="rId13"/>
    <p:sldId id="315" r:id="rId14"/>
    <p:sldId id="316" r:id="rId15"/>
    <p:sldId id="312" r:id="rId16"/>
    <p:sldId id="293" r:id="rId17"/>
    <p:sldId id="294" r:id="rId18"/>
    <p:sldId id="295" r:id="rId19"/>
    <p:sldId id="296" r:id="rId20"/>
    <p:sldId id="306" r:id="rId21"/>
    <p:sldId id="307" r:id="rId22"/>
    <p:sldId id="308" r:id="rId23"/>
    <p:sldId id="309" r:id="rId24"/>
    <p:sldId id="310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4" Type="http://schemas.openxmlformats.org/officeDocument/2006/relationships/image" Target="../media/image2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F5D9C2-9E57-4D85-9FB3-1F0502E5E754}" type="datetimeFigureOut">
              <a:rPr lang="en-US" smtClean="0"/>
              <a:t>3/20/2017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381E24-D2B4-4E10-A182-8EFC4B564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642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381E24-D2B4-4E10-A182-8EFC4B564F5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324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E3715-6E5A-B944-9A07-026860BF9B64}" type="datetimeFigureOut">
              <a:rPr lang="en-US" smtClean="0"/>
              <a:t>3/20/2017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E6791D-C469-C642-AA52-E2FDF3BD0D5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E3715-6E5A-B944-9A07-026860BF9B64}" type="datetimeFigureOut">
              <a:rPr lang="en-US" smtClean="0"/>
              <a:t>3/20/2017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6791D-C469-C642-AA52-E2FDF3BD0D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E3715-6E5A-B944-9A07-026860BF9B64}" type="datetimeFigureOut">
              <a:rPr lang="en-US" smtClean="0"/>
              <a:t>3/20/2017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6791D-C469-C642-AA52-E2FDF3BD0D5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E3715-6E5A-B944-9A07-026860BF9B64}" type="datetimeFigureOut">
              <a:rPr lang="en-US" smtClean="0"/>
              <a:t>3/20/2017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6791D-C469-C642-AA52-E2FDF3BD0D5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E3715-6E5A-B944-9A07-026860BF9B64}" type="datetimeFigureOut">
              <a:rPr lang="en-US" smtClean="0"/>
              <a:t>3/20/2017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6791D-C469-C642-AA52-E2FDF3BD0D5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E3715-6E5A-B944-9A07-026860BF9B64}" type="datetimeFigureOut">
              <a:rPr lang="en-US" smtClean="0"/>
              <a:t>3/20/2017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6791D-C469-C642-AA52-E2FDF3BD0D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E3715-6E5A-B944-9A07-026860BF9B64}" type="datetimeFigureOut">
              <a:rPr lang="en-US" smtClean="0"/>
              <a:t>3/20/2017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6791D-C469-C642-AA52-E2FDF3BD0D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E3715-6E5A-B944-9A07-026860BF9B64}" type="datetimeFigureOut">
              <a:rPr lang="en-US" smtClean="0"/>
              <a:t>3/20/2017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6791D-C469-C642-AA52-E2FDF3BD0D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E3715-6E5A-B944-9A07-026860BF9B64}" type="datetimeFigureOut">
              <a:rPr lang="en-US" smtClean="0"/>
              <a:t>3/20/2017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6791D-C469-C642-AA52-E2FDF3BD0D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E3715-6E5A-B944-9A07-026860BF9B64}" type="datetimeFigureOut">
              <a:rPr lang="en-US" smtClean="0"/>
              <a:t>3/20/2017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6791D-C469-C642-AA52-E2FDF3BD0D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E3715-6E5A-B944-9A07-026860BF9B64}" type="datetimeFigureOut">
              <a:rPr lang="en-US" smtClean="0"/>
              <a:t>3/20/2017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6791D-C469-C642-AA52-E2FDF3BD0D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506E3715-6E5A-B944-9A07-026860BF9B64}" type="datetimeFigureOut">
              <a:rPr lang="en-US" smtClean="0"/>
              <a:t>3/20/2017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E7E6791D-C469-C642-AA52-E2FDF3BD0D5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1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24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29.wmf"/><Relationship Id="rId4" Type="http://schemas.openxmlformats.org/officeDocument/2006/relationships/image" Target="../media/image26.wmf"/><Relationship Id="rId9" Type="http://schemas.openxmlformats.org/officeDocument/2006/relationships/oleObject" Target="../embeddings/oleObject8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82615"/>
            <a:ext cx="8229600" cy="1600200"/>
          </a:xfrm>
        </p:spPr>
        <p:txBody>
          <a:bodyPr/>
          <a:lstStyle/>
          <a:p>
            <a:r>
              <a:rPr lang="en-US" dirty="0"/>
              <a:t>Chapter 8 </a:t>
            </a:r>
            <a:br>
              <a:rPr lang="en-US" dirty="0"/>
            </a:br>
            <a:r>
              <a:rPr lang="en-US" dirty="0"/>
              <a:t>Perimeter and Area</a:t>
            </a:r>
            <a:br>
              <a:rPr lang="en-US" dirty="0"/>
            </a:br>
            <a:r>
              <a:rPr lang="en-US" sz="4400" dirty="0"/>
              <a:t>Part 1</a:t>
            </a:r>
            <a:endParaRPr lang="en-US" dirty="0"/>
          </a:p>
        </p:txBody>
      </p:sp>
      <p:sp>
        <p:nvSpPr>
          <p:cNvPr id="4" name="Parallelogram 3"/>
          <p:cNvSpPr/>
          <p:nvPr/>
        </p:nvSpPr>
        <p:spPr>
          <a:xfrm>
            <a:off x="3123028" y="4206240"/>
            <a:ext cx="2560320" cy="1659988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>
            <a:off x="7596554" y="464234"/>
            <a:ext cx="1252024" cy="1448972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873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705597" y="254589"/>
            <a:ext cx="75438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ctr" defTabSz="9144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charset="0"/>
              </a:rPr>
              <a:t>Areas of 2D shapes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873484" y="2079129"/>
            <a:ext cx="7620000" cy="5029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10000"/>
              <a:buFont typeface="Wingdings 2" pitchFamily="18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10000"/>
              <a:buFont typeface="Wingdings 2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10000"/>
              <a:buFont typeface="Wingdings 2" pitchFamily="18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10000"/>
              <a:buFont typeface="Wingdings 2" pitchFamily="18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solidFill>
                  <a:schemeClr val="tx1"/>
                </a:solidFill>
                <a:latin typeface="Times New Roman" charset="0"/>
              </a:rPr>
              <a:t>Rectangle (including Square)</a:t>
            </a:r>
          </a:p>
          <a:p>
            <a:r>
              <a:rPr lang="en-US" sz="3600" dirty="0">
                <a:solidFill>
                  <a:schemeClr val="tx1"/>
                </a:solidFill>
                <a:latin typeface="Times New Roman" charset="0"/>
              </a:rPr>
              <a:t>Triangle</a:t>
            </a:r>
          </a:p>
          <a:p>
            <a:r>
              <a:rPr lang="en-US" sz="3600" dirty="0">
                <a:solidFill>
                  <a:schemeClr val="tx1"/>
                </a:solidFill>
                <a:latin typeface="Times New Roman" charset="0"/>
              </a:rPr>
              <a:t>Circle</a:t>
            </a:r>
          </a:p>
          <a:p>
            <a:r>
              <a:rPr lang="en-US" sz="3600" dirty="0">
                <a:solidFill>
                  <a:schemeClr val="tx1"/>
                </a:solidFill>
                <a:latin typeface="Times New Roman" charset="0"/>
              </a:rPr>
              <a:t>Parallelogram (including rhombus)</a:t>
            </a:r>
          </a:p>
          <a:p>
            <a:r>
              <a:rPr lang="en-US" sz="3600" dirty="0">
                <a:solidFill>
                  <a:schemeClr val="tx1"/>
                </a:solidFill>
                <a:latin typeface="Times New Roman" charset="0"/>
              </a:rPr>
              <a:t>Trapezium</a:t>
            </a:r>
          </a:p>
        </p:txBody>
      </p:sp>
    </p:spTree>
    <p:extLst>
      <p:ext uri="{BB962C8B-B14F-4D97-AF65-F5344CB8AC3E}">
        <p14:creationId xmlns:p14="http://schemas.microsoft.com/office/powerpoint/2010/main" val="1439114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build="p" bldLvl="2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1981200" y="762000"/>
            <a:ext cx="548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>
                <a:latin typeface="Times New Roman" charset="0"/>
              </a:rPr>
              <a:t>1.1a: Rectangles</a:t>
            </a:r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3962400" y="1600200"/>
            <a:ext cx="2971800" cy="1219200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3581400" y="3886200"/>
            <a:ext cx="3200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4000" dirty="0">
                <a:solidFill>
                  <a:srgbClr val="0000FF"/>
                </a:solidFill>
                <a:latin typeface="Times New Roman" charset="0"/>
              </a:rPr>
              <a:t>Area = L </a:t>
            </a:r>
            <a:r>
              <a:rPr lang="en-US" sz="4000" dirty="0">
                <a:solidFill>
                  <a:srgbClr val="0000FF"/>
                </a:solidFill>
                <a:latin typeface="Times New Roman" charset="0"/>
                <a:sym typeface="Symbol" charset="0"/>
              </a:rPr>
              <a:t> B</a:t>
            </a:r>
            <a:endParaRPr lang="en-US" sz="4000" dirty="0">
              <a:solidFill>
                <a:srgbClr val="0000FF"/>
              </a:solidFill>
              <a:latin typeface="Times New Roman" charset="0"/>
            </a:endParaRPr>
          </a:p>
        </p:txBody>
      </p:sp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5105400" y="10668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 dirty="0">
                <a:solidFill>
                  <a:srgbClr val="CC0099"/>
                </a:solidFill>
                <a:latin typeface="Times New Roman" charset="0"/>
              </a:rPr>
              <a:t>L</a:t>
            </a:r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3429000" y="19812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>
                <a:solidFill>
                  <a:srgbClr val="CC0099"/>
                </a:solidFill>
                <a:latin typeface="Times New Roman" charset="0"/>
              </a:rPr>
              <a:t>B</a:t>
            </a:r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3429000" y="3810000"/>
            <a:ext cx="3505200" cy="838200"/>
          </a:xfrm>
          <a:prstGeom prst="rect">
            <a:avLst/>
          </a:prstGeom>
          <a:noFill/>
          <a:ln w="412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498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autoUpdateAnimBg="0"/>
      <p:bldP spid="5123" grpId="0" animBg="1"/>
      <p:bldP spid="5124" grpId="0" autoUpdateAnimBg="0"/>
      <p:bldP spid="5125" grpId="0" autoUpdateAnimBg="0"/>
      <p:bldP spid="5126" grpId="0" autoUpdateAnimBg="0"/>
      <p:bldP spid="51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2"/>
          <p:cNvSpPr txBox="1">
            <a:spLocks noChangeArrowheads="1"/>
          </p:cNvSpPr>
          <p:nvPr/>
        </p:nvSpPr>
        <p:spPr bwMode="auto">
          <a:xfrm>
            <a:off x="1752600" y="990600"/>
            <a:ext cx="655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>
                <a:latin typeface="Times New Roman" charset="0"/>
              </a:rPr>
              <a:t>1.1b: Squares </a:t>
            </a:r>
            <a:r>
              <a:rPr lang="en-US" sz="2400" b="0">
                <a:latin typeface="Times New Roman" charset="0"/>
              </a:rPr>
              <a:t>(special case of rectangles)</a:t>
            </a: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3505200" y="1981200"/>
            <a:ext cx="2438400" cy="2362200"/>
          </a:xfrm>
          <a:prstGeom prst="rect">
            <a:avLst/>
          </a:prstGeom>
          <a:solidFill>
            <a:schemeClr val="accent2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6019800" y="2590800"/>
            <a:ext cx="9906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000">
                <a:latin typeface="Times New Roman" charset="0"/>
              </a:rPr>
              <a:t>S</a:t>
            </a:r>
          </a:p>
        </p:txBody>
      </p:sp>
      <p:sp>
        <p:nvSpPr>
          <p:cNvPr id="1029" name="Text Box 5"/>
          <p:cNvSpPr txBox="1">
            <a:spLocks noChangeArrowheads="1"/>
          </p:cNvSpPr>
          <p:nvPr/>
        </p:nvSpPr>
        <p:spPr bwMode="auto">
          <a:xfrm>
            <a:off x="4419600" y="4343400"/>
            <a:ext cx="9906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000">
                <a:latin typeface="Times New Roman" charset="0"/>
              </a:rPr>
              <a:t>S</a:t>
            </a:r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3124200" y="5181600"/>
            <a:ext cx="4343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4000">
                <a:solidFill>
                  <a:srgbClr val="0000FF"/>
                </a:solidFill>
                <a:latin typeface="Times New Roman" charset="0"/>
              </a:rPr>
              <a:t>Area = S </a:t>
            </a:r>
            <a:r>
              <a:rPr lang="en-US" sz="4000">
                <a:solidFill>
                  <a:srgbClr val="0000FF"/>
                </a:solidFill>
                <a:latin typeface="Times New Roman" charset="0"/>
                <a:sym typeface="Symbol" charset="0"/>
              </a:rPr>
              <a:t> S = S</a:t>
            </a:r>
            <a:r>
              <a:rPr lang="en-US" sz="4000" baseline="30000">
                <a:solidFill>
                  <a:srgbClr val="0000FF"/>
                </a:solidFill>
                <a:latin typeface="Times New Roman" charset="0"/>
                <a:sym typeface="Symbol" charset="0"/>
              </a:rPr>
              <a:t>2</a:t>
            </a:r>
            <a:endParaRPr lang="en-US" sz="4000">
              <a:solidFill>
                <a:srgbClr val="0000FF"/>
              </a:solidFill>
              <a:latin typeface="Times New Roman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2895600" y="5181600"/>
            <a:ext cx="4495800" cy="838200"/>
          </a:xfrm>
          <a:prstGeom prst="rect">
            <a:avLst/>
          </a:prstGeom>
          <a:noFill/>
          <a:ln w="412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624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autoUpdateAnimBg="0"/>
      <p:bldP spid="1027" grpId="0" animBg="1"/>
      <p:bldP spid="1028" grpId="0" autoUpdateAnimBg="0"/>
      <p:bldP spid="1029" grpId="0" autoUpdateAnimBg="0"/>
      <p:bldP spid="1030" grpId="0" autoUpdateAnimBg="0"/>
      <p:bldP spid="103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1752600" y="990600"/>
            <a:ext cx="655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>
                <a:latin typeface="Times New Roman" charset="0"/>
              </a:rPr>
              <a:t>1.2: Triangles </a:t>
            </a: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2133600" y="2168525"/>
            <a:ext cx="5486400" cy="1981200"/>
            <a:chOff x="1344" y="1366"/>
            <a:chExt cx="3456" cy="1248"/>
          </a:xfrm>
        </p:grpSpPr>
        <p:sp>
          <p:nvSpPr>
            <p:cNvPr id="12296" name="Text Box 17"/>
            <p:cNvSpPr txBox="1">
              <a:spLocks noChangeArrowheads="1"/>
            </p:cNvSpPr>
            <p:nvPr/>
          </p:nvSpPr>
          <p:spPr bwMode="auto">
            <a:xfrm>
              <a:off x="3936" y="2256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400" b="0">
                  <a:latin typeface="Times New Roman" charset="0"/>
                </a:rPr>
                <a:t>B</a:t>
              </a:r>
            </a:p>
          </p:txBody>
        </p:sp>
        <p:grpSp>
          <p:nvGrpSpPr>
            <p:cNvPr id="12297" name="Group 28"/>
            <p:cNvGrpSpPr>
              <a:grpSpLocks/>
            </p:cNvGrpSpPr>
            <p:nvPr/>
          </p:nvGrpSpPr>
          <p:grpSpPr bwMode="auto">
            <a:xfrm>
              <a:off x="1344" y="1366"/>
              <a:ext cx="3456" cy="1248"/>
              <a:chOff x="1344" y="1366"/>
              <a:chExt cx="3456" cy="1248"/>
            </a:xfrm>
          </p:grpSpPr>
          <p:grpSp>
            <p:nvGrpSpPr>
              <p:cNvPr id="12298" name="Group 27"/>
              <p:cNvGrpSpPr>
                <a:grpSpLocks/>
              </p:cNvGrpSpPr>
              <p:nvPr/>
            </p:nvGrpSpPr>
            <p:grpSpPr bwMode="auto">
              <a:xfrm>
                <a:off x="1344" y="1366"/>
                <a:ext cx="1296" cy="1248"/>
                <a:chOff x="1344" y="1392"/>
                <a:chExt cx="1296" cy="1248"/>
              </a:xfrm>
            </p:grpSpPr>
            <p:sp>
              <p:nvSpPr>
                <p:cNvPr id="12307" name="AutoShape 3"/>
                <p:cNvSpPr>
                  <a:spLocks noChangeArrowheads="1"/>
                </p:cNvSpPr>
                <p:nvPr/>
              </p:nvSpPr>
              <p:spPr bwMode="auto">
                <a:xfrm>
                  <a:off x="1728" y="1392"/>
                  <a:ext cx="912" cy="816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CC0099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2308" name="Group 19"/>
                <p:cNvGrpSpPr>
                  <a:grpSpLocks/>
                </p:cNvGrpSpPr>
                <p:nvPr/>
              </p:nvGrpSpPr>
              <p:grpSpPr bwMode="auto">
                <a:xfrm>
                  <a:off x="1344" y="1392"/>
                  <a:ext cx="336" cy="816"/>
                  <a:chOff x="1344" y="1392"/>
                  <a:chExt cx="336" cy="816"/>
                </a:xfrm>
              </p:grpSpPr>
              <p:sp>
                <p:nvSpPr>
                  <p:cNvPr id="12312" name="Text Box 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44" y="1680"/>
                    <a:ext cx="336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2700" cap="sq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sz="2400" b="0">
                        <a:latin typeface="Times New Roman" charset="0"/>
                      </a:rPr>
                      <a:t>H</a:t>
                    </a:r>
                  </a:p>
                </p:txBody>
              </p:sp>
              <p:sp>
                <p:nvSpPr>
                  <p:cNvPr id="12313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1584" y="1392"/>
                    <a:ext cx="0" cy="816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  <a:headEnd type="triangle" w="med" len="med"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2309" name="Group 15"/>
                <p:cNvGrpSpPr>
                  <a:grpSpLocks/>
                </p:cNvGrpSpPr>
                <p:nvPr/>
              </p:nvGrpSpPr>
              <p:grpSpPr bwMode="auto">
                <a:xfrm>
                  <a:off x="1728" y="2304"/>
                  <a:ext cx="912" cy="336"/>
                  <a:chOff x="1728" y="2304"/>
                  <a:chExt cx="912" cy="336"/>
                </a:xfrm>
              </p:grpSpPr>
              <p:sp>
                <p:nvSpPr>
                  <p:cNvPr id="12310" name="Text Box 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64" y="2352"/>
                    <a:ext cx="336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2700" cap="sq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sz="2400" b="0">
                        <a:latin typeface="Times New Roman" charset="0"/>
                      </a:rPr>
                      <a:t>B</a:t>
                    </a:r>
                  </a:p>
                </p:txBody>
              </p:sp>
              <p:sp>
                <p:nvSpPr>
                  <p:cNvPr id="12311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1728" y="2304"/>
                    <a:ext cx="912" cy="0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triangle" w="med" len="med"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2299" name="Group 26"/>
              <p:cNvGrpSpPr>
                <a:grpSpLocks/>
              </p:cNvGrpSpPr>
              <p:nvPr/>
            </p:nvGrpSpPr>
            <p:grpSpPr bwMode="auto">
              <a:xfrm>
                <a:off x="3120" y="1366"/>
                <a:ext cx="1680" cy="912"/>
                <a:chOff x="3120" y="1392"/>
                <a:chExt cx="1680" cy="912"/>
              </a:xfrm>
            </p:grpSpPr>
            <p:sp>
              <p:nvSpPr>
                <p:cNvPr id="12300" name="AutoShape 4"/>
                <p:cNvSpPr>
                  <a:spLocks noChangeArrowheads="1"/>
                </p:cNvSpPr>
                <p:nvPr/>
              </p:nvSpPr>
              <p:spPr bwMode="auto">
                <a:xfrm>
                  <a:off x="3504" y="1392"/>
                  <a:ext cx="1296" cy="816"/>
                </a:xfrm>
                <a:prstGeom prst="rtTriangle">
                  <a:avLst/>
                </a:prstGeom>
                <a:solidFill>
                  <a:schemeClr val="accent2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301" name="Line 13"/>
                <p:cNvSpPr>
                  <a:spLocks noChangeShapeType="1"/>
                </p:cNvSpPr>
                <p:nvPr/>
              </p:nvSpPr>
              <p:spPr bwMode="auto">
                <a:xfrm>
                  <a:off x="3504" y="2064"/>
                  <a:ext cx="192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2302" name="Line 14"/>
                <p:cNvSpPr>
                  <a:spLocks noChangeShapeType="1"/>
                </p:cNvSpPr>
                <p:nvPr/>
              </p:nvSpPr>
              <p:spPr bwMode="auto">
                <a:xfrm>
                  <a:off x="3696" y="2064"/>
                  <a:ext cx="0" cy="144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2303" name="Line 18"/>
                <p:cNvSpPr>
                  <a:spLocks noChangeShapeType="1"/>
                </p:cNvSpPr>
                <p:nvPr/>
              </p:nvSpPr>
              <p:spPr bwMode="auto">
                <a:xfrm>
                  <a:off x="3552" y="2304"/>
                  <a:ext cx="1248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grpSp>
              <p:nvGrpSpPr>
                <p:cNvPr id="12304" name="Group 20"/>
                <p:cNvGrpSpPr>
                  <a:grpSpLocks/>
                </p:cNvGrpSpPr>
                <p:nvPr/>
              </p:nvGrpSpPr>
              <p:grpSpPr bwMode="auto">
                <a:xfrm>
                  <a:off x="3120" y="1392"/>
                  <a:ext cx="336" cy="816"/>
                  <a:chOff x="1344" y="1392"/>
                  <a:chExt cx="336" cy="816"/>
                </a:xfrm>
              </p:grpSpPr>
              <p:sp>
                <p:nvSpPr>
                  <p:cNvPr id="12305" name="Text Box 2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44" y="1680"/>
                    <a:ext cx="336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2700" cap="sq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sz="2400" b="0">
                        <a:latin typeface="Times New Roman" charset="0"/>
                      </a:rPr>
                      <a:t>H</a:t>
                    </a:r>
                  </a:p>
                </p:txBody>
              </p:sp>
              <p:sp>
                <p:nvSpPr>
                  <p:cNvPr id="12306" name="Line 22"/>
                  <p:cNvSpPr>
                    <a:spLocks noChangeShapeType="1"/>
                  </p:cNvSpPr>
                  <p:nvPr/>
                </p:nvSpPr>
                <p:spPr bwMode="auto">
                  <a:xfrm>
                    <a:off x="1584" y="1392"/>
                    <a:ext cx="0" cy="816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  <a:headEnd type="triangle" w="med" len="med"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</p:grpSp>
          </p:grpSp>
        </p:grpSp>
      </p:grpSp>
      <p:sp>
        <p:nvSpPr>
          <p:cNvPr id="6168" name="Text Box 24"/>
          <p:cNvSpPr txBox="1">
            <a:spLocks noChangeArrowheads="1"/>
          </p:cNvSpPr>
          <p:nvPr/>
        </p:nvSpPr>
        <p:spPr bwMode="auto">
          <a:xfrm>
            <a:off x="1752600" y="5334000"/>
            <a:ext cx="7391400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000">
                <a:solidFill>
                  <a:schemeClr val="folHlink"/>
                </a:solidFill>
                <a:latin typeface="Times New Roman" charset="0"/>
              </a:rPr>
              <a:t>Important!! The </a:t>
            </a:r>
            <a:r>
              <a:rPr lang="ja-JP" altLang="en-US" sz="3000">
                <a:solidFill>
                  <a:schemeClr val="folHlink"/>
                </a:solidFill>
                <a:latin typeface="Times New Roman" charset="0"/>
              </a:rPr>
              <a:t>“</a:t>
            </a:r>
            <a:r>
              <a:rPr lang="en-US" sz="3000">
                <a:solidFill>
                  <a:schemeClr val="folHlink"/>
                </a:solidFill>
                <a:latin typeface="Times New Roman" charset="0"/>
              </a:rPr>
              <a:t>B</a:t>
            </a:r>
            <a:r>
              <a:rPr lang="ja-JP" altLang="en-US" sz="3000">
                <a:solidFill>
                  <a:schemeClr val="folHlink"/>
                </a:solidFill>
                <a:latin typeface="Times New Roman" charset="0"/>
              </a:rPr>
              <a:t>”</a:t>
            </a:r>
            <a:r>
              <a:rPr lang="en-US" sz="3000">
                <a:solidFill>
                  <a:schemeClr val="folHlink"/>
                </a:solidFill>
                <a:latin typeface="Times New Roman" charset="0"/>
              </a:rPr>
              <a:t> and </a:t>
            </a:r>
            <a:r>
              <a:rPr lang="ja-JP" altLang="en-US" sz="3000">
                <a:solidFill>
                  <a:schemeClr val="folHlink"/>
                </a:solidFill>
                <a:latin typeface="Times New Roman" charset="0"/>
              </a:rPr>
              <a:t>“</a:t>
            </a:r>
            <a:r>
              <a:rPr lang="en-US" sz="3000">
                <a:solidFill>
                  <a:schemeClr val="folHlink"/>
                </a:solidFill>
                <a:latin typeface="Times New Roman" charset="0"/>
              </a:rPr>
              <a:t>H</a:t>
            </a:r>
            <a:r>
              <a:rPr lang="ja-JP" altLang="en-US" sz="3000">
                <a:solidFill>
                  <a:schemeClr val="folHlink"/>
                </a:solidFill>
                <a:latin typeface="Times New Roman" charset="0"/>
              </a:rPr>
              <a:t>”</a:t>
            </a:r>
            <a:r>
              <a:rPr lang="en-US" sz="3000">
                <a:solidFill>
                  <a:schemeClr val="folHlink"/>
                </a:solidFill>
                <a:latin typeface="Times New Roman" charset="0"/>
              </a:rPr>
              <a:t> MUST be perpendicular to each other – they must meet at 90</a:t>
            </a:r>
            <a:r>
              <a:rPr lang="en-US" sz="3000">
                <a:solidFill>
                  <a:schemeClr val="folHlink"/>
                </a:solidFill>
                <a:latin typeface="Times New Roman" charset="0"/>
                <a:cs typeface="Times New Roman" charset="0"/>
              </a:rPr>
              <a:t>°</a:t>
            </a:r>
            <a:endParaRPr lang="en-US" sz="3000">
              <a:solidFill>
                <a:schemeClr val="folHlink"/>
              </a:solidFill>
              <a:latin typeface="Times New Roman" charset="0"/>
            </a:endParaRPr>
          </a:p>
        </p:txBody>
      </p:sp>
      <p:grpSp>
        <p:nvGrpSpPr>
          <p:cNvPr id="9" name="Group 29"/>
          <p:cNvGrpSpPr>
            <a:grpSpLocks/>
          </p:cNvGrpSpPr>
          <p:nvPr/>
        </p:nvGrpSpPr>
        <p:grpSpPr bwMode="auto">
          <a:xfrm>
            <a:off x="2362200" y="4267200"/>
            <a:ext cx="6096000" cy="990600"/>
            <a:chOff x="1488" y="2688"/>
            <a:chExt cx="3840" cy="624"/>
          </a:xfrm>
        </p:grpSpPr>
        <p:sp>
          <p:nvSpPr>
            <p:cNvPr id="12294" name="Text Box 23"/>
            <p:cNvSpPr txBox="1">
              <a:spLocks noChangeArrowheads="1"/>
            </p:cNvSpPr>
            <p:nvPr/>
          </p:nvSpPr>
          <p:spPr bwMode="auto">
            <a:xfrm>
              <a:off x="1584" y="2784"/>
              <a:ext cx="3648" cy="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3500">
                  <a:solidFill>
                    <a:srgbClr val="0000FF"/>
                  </a:solidFill>
                  <a:latin typeface="Times New Roman" charset="0"/>
                </a:rPr>
                <a:t>Area = ½ </a:t>
              </a:r>
              <a:r>
                <a:rPr lang="en-US" sz="3500">
                  <a:solidFill>
                    <a:srgbClr val="0000FF"/>
                  </a:solidFill>
                  <a:latin typeface="Times New Roman" charset="0"/>
                  <a:sym typeface="Symbol" charset="0"/>
                </a:rPr>
                <a:t>B  H or (B  H)/2</a:t>
              </a:r>
            </a:p>
          </p:txBody>
        </p:sp>
        <p:sp>
          <p:nvSpPr>
            <p:cNvPr id="12295" name="Rectangle 25"/>
            <p:cNvSpPr>
              <a:spLocks noChangeArrowheads="1"/>
            </p:cNvSpPr>
            <p:nvPr/>
          </p:nvSpPr>
          <p:spPr bwMode="auto">
            <a:xfrm>
              <a:off x="1488" y="2688"/>
              <a:ext cx="3840" cy="624"/>
            </a:xfrm>
            <a:prstGeom prst="rect">
              <a:avLst/>
            </a:prstGeom>
            <a:noFill/>
            <a:ln w="412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86994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autoUpdateAnimBg="0"/>
      <p:bldP spid="6168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1752600" y="990600"/>
            <a:ext cx="655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>
                <a:latin typeface="Times New Roman" charset="0"/>
              </a:rPr>
              <a:t>1.3: Circles</a:t>
            </a:r>
          </a:p>
        </p:txBody>
      </p:sp>
      <p:sp>
        <p:nvSpPr>
          <p:cNvPr id="7171" name="Oval 3"/>
          <p:cNvSpPr>
            <a:spLocks noChangeArrowheads="1"/>
          </p:cNvSpPr>
          <p:nvPr/>
        </p:nvSpPr>
        <p:spPr bwMode="auto">
          <a:xfrm>
            <a:off x="3886200" y="1752600"/>
            <a:ext cx="1905000" cy="17526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rgbClr val="FFFFFF"/>
              </a:gs>
            </a:gsLst>
            <a:lin ang="5400000" scaled="1"/>
          </a:gra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en-AU" sz="2400" b="0">
              <a:latin typeface="Times New Roman" charset="0"/>
            </a:endParaRP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3733800" y="3810000"/>
            <a:ext cx="2819400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500" dirty="0">
                <a:solidFill>
                  <a:srgbClr val="0000FF"/>
                </a:solidFill>
                <a:latin typeface="Times New Roman" charset="0"/>
              </a:rPr>
              <a:t>Area = </a:t>
            </a:r>
            <a:r>
              <a:rPr lang="en-US" sz="3500" dirty="0">
                <a:solidFill>
                  <a:srgbClr val="0000FF"/>
                </a:solidFill>
                <a:latin typeface="Times New Roman" charset="0"/>
                <a:sym typeface="Symbol" charset="0"/>
              </a:rPr>
              <a:t> r </a:t>
            </a:r>
            <a:r>
              <a:rPr lang="en-US" sz="3500" baseline="30000" dirty="0">
                <a:solidFill>
                  <a:srgbClr val="0000FF"/>
                </a:solidFill>
                <a:latin typeface="Times New Roman" charset="0"/>
                <a:sym typeface="Symbol" charset="0"/>
              </a:rPr>
              <a:t>2</a:t>
            </a:r>
            <a:endParaRPr lang="en-US" sz="3500" dirty="0">
              <a:solidFill>
                <a:srgbClr val="0000FF"/>
              </a:solidFill>
              <a:latin typeface="Times New Roman" charset="0"/>
              <a:sym typeface="Symbol" charset="0"/>
            </a:endParaRP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4876800" y="2362200"/>
            <a:ext cx="914400" cy="457200"/>
            <a:chOff x="3072" y="1488"/>
            <a:chExt cx="576" cy="288"/>
          </a:xfrm>
        </p:grpSpPr>
        <p:sp>
          <p:nvSpPr>
            <p:cNvPr id="14344" name="Text Box 6"/>
            <p:cNvSpPr txBox="1">
              <a:spLocks noChangeArrowheads="1"/>
            </p:cNvSpPr>
            <p:nvPr/>
          </p:nvSpPr>
          <p:spPr bwMode="auto">
            <a:xfrm>
              <a:off x="3168" y="148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400" b="0">
                  <a:solidFill>
                    <a:srgbClr val="CC0099"/>
                  </a:solidFill>
                  <a:latin typeface="Times New Roman" charset="0"/>
                </a:rPr>
                <a:t>R</a:t>
              </a:r>
            </a:p>
          </p:txBody>
        </p:sp>
        <p:sp>
          <p:nvSpPr>
            <p:cNvPr id="14345" name="Line 7"/>
            <p:cNvSpPr>
              <a:spLocks noChangeShapeType="1"/>
            </p:cNvSpPr>
            <p:nvPr/>
          </p:nvSpPr>
          <p:spPr bwMode="auto">
            <a:xfrm>
              <a:off x="3360" y="1632"/>
              <a:ext cx="288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4346" name="Line 8"/>
            <p:cNvSpPr>
              <a:spLocks noChangeShapeType="1"/>
            </p:cNvSpPr>
            <p:nvPr/>
          </p:nvSpPr>
          <p:spPr bwMode="auto">
            <a:xfrm flipH="1">
              <a:off x="3072" y="1632"/>
              <a:ext cx="144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7178" name="Text Box 10"/>
          <p:cNvSpPr txBox="1">
            <a:spLocks noChangeArrowheads="1"/>
          </p:cNvSpPr>
          <p:nvPr/>
        </p:nvSpPr>
        <p:spPr bwMode="auto">
          <a:xfrm>
            <a:off x="1905000" y="4800600"/>
            <a:ext cx="6705600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000" dirty="0">
                <a:solidFill>
                  <a:srgbClr val="CC0099"/>
                </a:solidFill>
                <a:latin typeface="Times New Roman" charset="0"/>
              </a:rPr>
              <a:t>Don</a:t>
            </a:r>
            <a:r>
              <a:rPr lang="ja-JP" altLang="en-US" sz="3000" dirty="0">
                <a:solidFill>
                  <a:srgbClr val="CC0099"/>
                </a:solidFill>
                <a:latin typeface="Times New Roman" charset="0"/>
              </a:rPr>
              <a:t>’</a:t>
            </a:r>
            <a:r>
              <a:rPr lang="en-US" sz="3000" dirty="0">
                <a:solidFill>
                  <a:srgbClr val="CC0099"/>
                </a:solidFill>
                <a:latin typeface="Times New Roman" charset="0"/>
              </a:rPr>
              <a:t>t confuse this with the formula C = 2 </a:t>
            </a:r>
            <a:r>
              <a:rPr lang="en-US" sz="3000" dirty="0">
                <a:solidFill>
                  <a:srgbClr val="CC0099"/>
                </a:solidFill>
                <a:latin typeface="Times New Roman" charset="0"/>
                <a:sym typeface="Symbol" charset="0"/>
              </a:rPr>
              <a:t> r, which gives circumference (perimeter)</a:t>
            </a:r>
            <a:endParaRPr lang="en-US" sz="3000" dirty="0">
              <a:solidFill>
                <a:srgbClr val="CC0099"/>
              </a:solidFill>
              <a:latin typeface="Times New Roman" charset="0"/>
            </a:endParaRPr>
          </a:p>
        </p:txBody>
      </p:sp>
      <p:sp>
        <p:nvSpPr>
          <p:cNvPr id="7179" name="Rectangle 11"/>
          <p:cNvSpPr>
            <a:spLocks noChangeArrowheads="1"/>
          </p:cNvSpPr>
          <p:nvPr/>
        </p:nvSpPr>
        <p:spPr bwMode="auto">
          <a:xfrm>
            <a:off x="3581400" y="3810000"/>
            <a:ext cx="2743200" cy="685800"/>
          </a:xfrm>
          <a:prstGeom prst="rect">
            <a:avLst/>
          </a:prstGeom>
          <a:noFill/>
          <a:ln w="412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598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autoUpdateAnimBg="0"/>
      <p:bldP spid="7171" grpId="0" animBg="1" autoUpdateAnimBg="0"/>
      <p:bldP spid="7172" grpId="0" autoUpdateAnimBg="0"/>
      <p:bldP spid="7178" grpId="0" autoUpdateAnimBg="0"/>
      <p:bldP spid="717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1752600" y="990600"/>
            <a:ext cx="655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>
                <a:latin typeface="Times New Roman" charset="0"/>
              </a:rPr>
              <a:t>1.4: Parallelograms</a:t>
            </a:r>
          </a:p>
        </p:txBody>
      </p:sp>
      <p:sp>
        <p:nvSpPr>
          <p:cNvPr id="8195" name="AutoShape 3"/>
          <p:cNvSpPr>
            <a:spLocks noChangeArrowheads="1"/>
          </p:cNvSpPr>
          <p:nvPr/>
        </p:nvSpPr>
        <p:spPr bwMode="auto">
          <a:xfrm>
            <a:off x="3352800" y="2286000"/>
            <a:ext cx="3124200" cy="1219200"/>
          </a:xfrm>
          <a:prstGeom prst="parallelogram">
            <a:avLst>
              <a:gd name="adj" fmla="val 64063"/>
            </a:avLst>
          </a:prstGeom>
          <a:gradFill rotWithShape="0">
            <a:gsLst>
              <a:gs pos="0">
                <a:schemeClr val="folHlink"/>
              </a:gs>
              <a:gs pos="100000">
                <a:schemeClr val="folHlink">
                  <a:gamma/>
                  <a:shade val="46275"/>
                  <a:invGamma/>
                </a:schemeClr>
              </a:gs>
            </a:gsLst>
            <a:lin ang="0" scaled="1"/>
          </a:gra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AU" sz="2400" b="0">
              <a:solidFill>
                <a:schemeClr val="folHlink"/>
              </a:solidFill>
              <a:latin typeface="Times New Roman" charset="0"/>
              <a:ea typeface="+mn-ea"/>
            </a:endParaRP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2514600" y="2286000"/>
            <a:ext cx="457200" cy="1219200"/>
            <a:chOff x="1584" y="1440"/>
            <a:chExt cx="288" cy="768"/>
          </a:xfrm>
        </p:grpSpPr>
        <p:sp>
          <p:nvSpPr>
            <p:cNvPr id="15372" name="Text Box 4"/>
            <p:cNvSpPr txBox="1">
              <a:spLocks noChangeArrowheads="1"/>
            </p:cNvSpPr>
            <p:nvPr/>
          </p:nvSpPr>
          <p:spPr bwMode="auto">
            <a:xfrm>
              <a:off x="1584" y="168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400" b="0">
                  <a:latin typeface="Times New Roman" charset="0"/>
                </a:rPr>
                <a:t>H</a:t>
              </a:r>
            </a:p>
          </p:txBody>
        </p:sp>
        <p:sp>
          <p:nvSpPr>
            <p:cNvPr id="15373" name="Line 5"/>
            <p:cNvSpPr>
              <a:spLocks noChangeShapeType="1"/>
            </p:cNvSpPr>
            <p:nvPr/>
          </p:nvSpPr>
          <p:spPr bwMode="auto">
            <a:xfrm>
              <a:off x="1824" y="1440"/>
              <a:ext cx="0" cy="768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3276600" y="3657600"/>
            <a:ext cx="2438400" cy="457200"/>
            <a:chOff x="2064" y="2304"/>
            <a:chExt cx="1536" cy="288"/>
          </a:xfrm>
        </p:grpSpPr>
        <p:sp>
          <p:nvSpPr>
            <p:cNvPr id="15370" name="Text Box 7"/>
            <p:cNvSpPr txBox="1">
              <a:spLocks noChangeArrowheads="1"/>
            </p:cNvSpPr>
            <p:nvPr/>
          </p:nvSpPr>
          <p:spPr bwMode="auto">
            <a:xfrm>
              <a:off x="2640" y="2304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400" b="0">
                  <a:latin typeface="Times New Roman" charset="0"/>
                </a:rPr>
                <a:t>B</a:t>
              </a:r>
            </a:p>
          </p:txBody>
        </p:sp>
        <p:sp>
          <p:nvSpPr>
            <p:cNvPr id="15371" name="Line 8"/>
            <p:cNvSpPr>
              <a:spLocks noChangeShapeType="1"/>
            </p:cNvSpPr>
            <p:nvPr/>
          </p:nvSpPr>
          <p:spPr bwMode="auto">
            <a:xfrm>
              <a:off x="2064" y="2304"/>
              <a:ext cx="1536" cy="0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8203" name="Text Box 11"/>
          <p:cNvSpPr txBox="1">
            <a:spLocks noChangeArrowheads="1"/>
          </p:cNvSpPr>
          <p:nvPr/>
        </p:nvSpPr>
        <p:spPr bwMode="auto">
          <a:xfrm>
            <a:off x="1752600" y="5105400"/>
            <a:ext cx="67818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>
                <a:solidFill>
                  <a:schemeClr val="folHlink"/>
                </a:solidFill>
                <a:latin typeface="Times New Roman" charset="0"/>
              </a:rPr>
              <a:t>Important! Like in triangles, the B and H must be at right angles (perpendicular). H is the </a:t>
            </a:r>
            <a:r>
              <a:rPr lang="en-US" sz="2400" i="1">
                <a:solidFill>
                  <a:schemeClr val="folHlink"/>
                </a:solidFill>
                <a:latin typeface="Times New Roman" charset="0"/>
              </a:rPr>
              <a:t>Perpendicular Height, </a:t>
            </a:r>
            <a:r>
              <a:rPr lang="en-US" sz="2400" u="sng">
                <a:solidFill>
                  <a:schemeClr val="folHlink"/>
                </a:solidFill>
                <a:latin typeface="Times New Roman" charset="0"/>
              </a:rPr>
              <a:t>NOT</a:t>
            </a:r>
            <a:r>
              <a:rPr lang="en-US" sz="2400">
                <a:solidFill>
                  <a:schemeClr val="folHlink"/>
                </a:solidFill>
                <a:latin typeface="Times New Roman" charset="0"/>
              </a:rPr>
              <a:t> distance up the side!</a:t>
            </a:r>
          </a:p>
        </p:txBody>
      </p: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2971800" y="4191000"/>
            <a:ext cx="5638800" cy="685800"/>
            <a:chOff x="1872" y="2640"/>
            <a:chExt cx="3552" cy="432"/>
          </a:xfrm>
        </p:grpSpPr>
        <p:sp>
          <p:nvSpPr>
            <p:cNvPr id="15368" name="Text Box 10"/>
            <p:cNvSpPr txBox="1">
              <a:spLocks noChangeArrowheads="1"/>
            </p:cNvSpPr>
            <p:nvPr/>
          </p:nvSpPr>
          <p:spPr bwMode="auto">
            <a:xfrm>
              <a:off x="1968" y="2640"/>
              <a:ext cx="3456" cy="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3500">
                  <a:solidFill>
                    <a:srgbClr val="0000FF"/>
                  </a:solidFill>
                  <a:latin typeface="Times New Roman" charset="0"/>
                </a:rPr>
                <a:t>Area = B </a:t>
              </a:r>
              <a:r>
                <a:rPr lang="en-US" sz="3500">
                  <a:solidFill>
                    <a:srgbClr val="0000FF"/>
                  </a:solidFill>
                  <a:latin typeface="Times New Roman" charset="0"/>
                  <a:sym typeface="Symbol" charset="0"/>
                </a:rPr>
                <a:t> H</a:t>
              </a:r>
            </a:p>
          </p:txBody>
        </p:sp>
        <p:sp>
          <p:nvSpPr>
            <p:cNvPr id="15369" name="Rectangle 12"/>
            <p:cNvSpPr>
              <a:spLocks noChangeArrowheads="1"/>
            </p:cNvSpPr>
            <p:nvPr/>
          </p:nvSpPr>
          <p:spPr bwMode="auto">
            <a:xfrm>
              <a:off x="1872" y="2640"/>
              <a:ext cx="1920" cy="432"/>
            </a:xfrm>
            <a:prstGeom prst="rect">
              <a:avLst/>
            </a:prstGeom>
            <a:noFill/>
            <a:ln w="444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26179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 autoUpdateAnimBg="0"/>
      <p:bldP spid="8195" grpId="0" animBg="1" autoUpdateAnimBg="0"/>
      <p:bldP spid="8203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752600" y="990600"/>
            <a:ext cx="655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>
                <a:latin typeface="Times New Roman" charset="0"/>
              </a:rPr>
              <a:t>1.5: Trapeziums </a:t>
            </a: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1752600" y="3200400"/>
            <a:ext cx="5654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AU" sz="2400" b="0">
                <a:latin typeface="Times New Roman" charset="0"/>
              </a:rPr>
              <a:t>For these, you need 3 measurements....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3581400" y="1600200"/>
            <a:ext cx="2667000" cy="1371600"/>
            <a:chOff x="2256" y="1008"/>
            <a:chExt cx="1680" cy="864"/>
          </a:xfrm>
        </p:grpSpPr>
        <p:sp>
          <p:nvSpPr>
            <p:cNvPr id="1040" name="Line 4"/>
            <p:cNvSpPr>
              <a:spLocks noChangeShapeType="1"/>
            </p:cNvSpPr>
            <p:nvPr/>
          </p:nvSpPr>
          <p:spPr bwMode="auto">
            <a:xfrm>
              <a:off x="2784" y="1008"/>
              <a:ext cx="912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41" name="Line 5"/>
            <p:cNvSpPr>
              <a:spLocks noChangeShapeType="1"/>
            </p:cNvSpPr>
            <p:nvPr/>
          </p:nvSpPr>
          <p:spPr bwMode="auto">
            <a:xfrm>
              <a:off x="2256" y="1872"/>
              <a:ext cx="1680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42" name="Line 6"/>
            <p:cNvSpPr>
              <a:spLocks noChangeShapeType="1"/>
            </p:cNvSpPr>
            <p:nvPr/>
          </p:nvSpPr>
          <p:spPr bwMode="auto">
            <a:xfrm>
              <a:off x="3696" y="1008"/>
              <a:ext cx="240" cy="864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43" name="Line 7"/>
            <p:cNvSpPr>
              <a:spLocks noChangeShapeType="1"/>
            </p:cNvSpPr>
            <p:nvPr/>
          </p:nvSpPr>
          <p:spPr bwMode="auto">
            <a:xfrm flipH="1">
              <a:off x="2256" y="1008"/>
              <a:ext cx="528" cy="864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2590800" y="3657600"/>
            <a:ext cx="495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 b="0" i="1">
                <a:solidFill>
                  <a:srgbClr val="D60093"/>
                </a:solidFill>
                <a:latin typeface="Times New Roman" charset="0"/>
              </a:rPr>
              <a:t>“a”, </a:t>
            </a:r>
            <a:r>
              <a:rPr lang="en-AU" sz="2400" b="0">
                <a:solidFill>
                  <a:srgbClr val="D60093"/>
                </a:solidFill>
                <a:latin typeface="Times New Roman" charset="0"/>
              </a:rPr>
              <a:t>one of the two parallel sides</a:t>
            </a:r>
            <a:endParaRPr lang="en-AU" sz="2400" b="0" i="1">
              <a:solidFill>
                <a:srgbClr val="D60093"/>
              </a:solidFill>
              <a:latin typeface="Times New Roman" charset="0"/>
            </a:endParaRPr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4800600" y="12192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 b="0" i="1">
                <a:solidFill>
                  <a:srgbClr val="D60093"/>
                </a:solidFill>
                <a:latin typeface="Times New Roman" charset="0"/>
              </a:rPr>
              <a:t>a</a:t>
            </a:r>
          </a:p>
        </p:txBody>
      </p:sp>
      <p:sp>
        <p:nvSpPr>
          <p:cNvPr id="9227" name="Text Box 11"/>
          <p:cNvSpPr txBox="1">
            <a:spLocks noChangeArrowheads="1"/>
          </p:cNvSpPr>
          <p:nvPr/>
        </p:nvSpPr>
        <p:spPr bwMode="auto">
          <a:xfrm>
            <a:off x="2590800" y="4114800"/>
            <a:ext cx="495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 b="0" i="1">
                <a:solidFill>
                  <a:srgbClr val="0000FF"/>
                </a:solidFill>
                <a:latin typeface="Times New Roman" charset="0"/>
              </a:rPr>
              <a:t>“b”, </a:t>
            </a:r>
            <a:r>
              <a:rPr lang="en-AU" sz="2400" b="0">
                <a:solidFill>
                  <a:srgbClr val="0000FF"/>
                </a:solidFill>
                <a:latin typeface="Times New Roman" charset="0"/>
              </a:rPr>
              <a:t>the other parallel side</a:t>
            </a:r>
            <a:endParaRPr lang="en-AU" sz="2400" b="0" i="1">
              <a:solidFill>
                <a:srgbClr val="0000FF"/>
              </a:solidFill>
              <a:latin typeface="Times New Roman" charset="0"/>
            </a:endParaRPr>
          </a:p>
        </p:txBody>
      </p:sp>
      <p:sp>
        <p:nvSpPr>
          <p:cNvPr id="9228" name="Text Box 12"/>
          <p:cNvSpPr txBox="1">
            <a:spLocks noChangeArrowheads="1"/>
          </p:cNvSpPr>
          <p:nvPr/>
        </p:nvSpPr>
        <p:spPr bwMode="auto">
          <a:xfrm>
            <a:off x="4800600" y="28956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 b="0" i="1">
                <a:solidFill>
                  <a:srgbClr val="0000FF"/>
                </a:solidFill>
                <a:latin typeface="Times New Roman" charset="0"/>
              </a:rPr>
              <a:t>b</a:t>
            </a:r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2590800" y="4572000"/>
            <a:ext cx="495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 b="0" i="1">
                <a:solidFill>
                  <a:schemeClr val="hlink"/>
                </a:solidFill>
                <a:latin typeface="Times New Roman" charset="0"/>
              </a:rPr>
              <a:t>“h”, </a:t>
            </a:r>
            <a:r>
              <a:rPr lang="en-AU" sz="2400" b="0">
                <a:solidFill>
                  <a:schemeClr val="hlink"/>
                </a:solidFill>
                <a:latin typeface="Times New Roman" charset="0"/>
              </a:rPr>
              <a:t>the perpendicular height</a:t>
            </a:r>
            <a:endParaRPr lang="en-AU" sz="2400" b="0" i="1">
              <a:solidFill>
                <a:schemeClr val="hlink"/>
              </a:solidFill>
              <a:latin typeface="Times New Roman" charset="0"/>
            </a:endParaRPr>
          </a:p>
        </p:txBody>
      </p: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4648200" y="1676400"/>
            <a:ext cx="762000" cy="1295400"/>
            <a:chOff x="2928" y="1056"/>
            <a:chExt cx="480" cy="816"/>
          </a:xfrm>
        </p:grpSpPr>
        <p:sp>
          <p:nvSpPr>
            <p:cNvPr id="1038" name="Text Box 14"/>
            <p:cNvSpPr txBox="1">
              <a:spLocks noChangeArrowheads="1"/>
            </p:cNvSpPr>
            <p:nvPr/>
          </p:nvSpPr>
          <p:spPr bwMode="auto">
            <a:xfrm>
              <a:off x="2928" y="1296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2400" b="0" i="1">
                  <a:solidFill>
                    <a:schemeClr val="hlink"/>
                  </a:solidFill>
                  <a:latin typeface="Times New Roman" charset="0"/>
                </a:rPr>
                <a:t>h</a:t>
              </a:r>
            </a:p>
          </p:txBody>
        </p:sp>
        <p:sp>
          <p:nvSpPr>
            <p:cNvPr id="1039" name="Line 15"/>
            <p:cNvSpPr>
              <a:spLocks noChangeShapeType="1"/>
            </p:cNvSpPr>
            <p:nvPr/>
          </p:nvSpPr>
          <p:spPr bwMode="auto">
            <a:xfrm>
              <a:off x="3120" y="1056"/>
              <a:ext cx="0" cy="8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9233" name="Text Box 17"/>
          <p:cNvSpPr txBox="1">
            <a:spLocks noChangeArrowheads="1"/>
          </p:cNvSpPr>
          <p:nvPr/>
        </p:nvSpPr>
        <p:spPr bwMode="auto">
          <a:xfrm>
            <a:off x="3962400" y="5334000"/>
            <a:ext cx="1447800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3500" b="0">
                <a:latin typeface="Times New Roman" charset="0"/>
              </a:rPr>
              <a:t>Area = </a:t>
            </a:r>
          </a:p>
        </p:txBody>
      </p:sp>
      <p:graphicFrame>
        <p:nvGraphicFramePr>
          <p:cNvPr id="58368" name="Object 2048"/>
          <p:cNvGraphicFramePr>
            <a:graphicFrameLocks noChangeAspect="1"/>
          </p:cNvGraphicFramePr>
          <p:nvPr/>
        </p:nvGraphicFramePr>
        <p:xfrm>
          <a:off x="5410200" y="5105400"/>
          <a:ext cx="1828800" cy="104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" name="Equation" r:id="rId3" imgW="774360" imgH="444240" progId="Equation.3">
                  <p:embed/>
                </p:oleObj>
              </mc:Choice>
              <mc:Fallback>
                <p:oleObj name="Equation" r:id="rId3" imgW="77436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5105400"/>
                        <a:ext cx="1828800" cy="1049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5" name="Rectangle 19"/>
          <p:cNvSpPr>
            <a:spLocks noChangeArrowheads="1"/>
          </p:cNvSpPr>
          <p:nvPr/>
        </p:nvSpPr>
        <p:spPr bwMode="auto">
          <a:xfrm>
            <a:off x="3200400" y="5105400"/>
            <a:ext cx="4953000" cy="1371600"/>
          </a:xfrm>
          <a:prstGeom prst="rect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860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9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8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8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9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9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autoUpdateAnimBg="0"/>
      <p:bldP spid="9219" grpId="0" autoUpdateAnimBg="0"/>
      <p:bldP spid="9225" grpId="0" autoUpdateAnimBg="0"/>
      <p:bldP spid="9226" grpId="0" autoUpdateAnimBg="0"/>
      <p:bldP spid="9227" grpId="0" autoUpdateAnimBg="0"/>
      <p:bldP spid="9228" grpId="0" autoUpdateAnimBg="0"/>
      <p:bldP spid="9229" grpId="0" autoUpdateAnimBg="0"/>
      <p:bldP spid="9233" grpId="0" autoUpdateAnimBg="0"/>
      <p:bldP spid="923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39815" y="548640"/>
            <a:ext cx="55145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/>
              <a:t>Perimeter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/>
              <p:cNvSpPr/>
              <p:nvPr/>
            </p:nvSpPr>
            <p:spPr>
              <a:xfrm>
                <a:off x="576775" y="4174980"/>
                <a:ext cx="4572000" cy="58477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AU" sz="3200" dirty="0"/>
                  <a:t>Except circle: C = 2 </a:t>
                </a:r>
                <a14:m>
                  <m:oMath xmlns:m="http://schemas.openxmlformats.org/officeDocument/2006/math">
                    <m:r>
                      <a:rPr lang="en-AU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AU" sz="3200" dirty="0"/>
                  <a:t> r</a:t>
                </a:r>
                <a:endParaRPr lang="en-US" sz="3200" dirty="0"/>
              </a:p>
            </p:txBody>
          </p:sp>
        </mc:Choice>
        <mc:Fallback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775" y="4174980"/>
                <a:ext cx="4572000" cy="584775"/>
              </a:xfrm>
              <a:prstGeom prst="rect">
                <a:avLst/>
              </a:prstGeom>
              <a:blipFill>
                <a:blip r:embed="rId2"/>
                <a:stretch>
                  <a:fillRect l="-3467" t="-13542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576775" y="1463040"/>
            <a:ext cx="5409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Add up all the sides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9592" y="1849120"/>
            <a:ext cx="3151905" cy="12314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04714" y="2254329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 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3545" y="3365436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 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397387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 cm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5544" y="1278374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 cm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515848" y="3365174"/>
                <a:ext cx="488614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5 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𝑐𝑚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𝑐𝑚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+8 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𝑐𝑚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+8 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𝑐𝑚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=26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848" y="3365174"/>
                <a:ext cx="4886146" cy="369332"/>
              </a:xfrm>
              <a:prstGeom prst="rect">
                <a:avLst/>
              </a:prstGeom>
              <a:blipFill>
                <a:blip r:embed="rId4"/>
                <a:stretch>
                  <a:fillRect l="-1124" r="-250"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7846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3509" t="36583" r="71539" b="35157"/>
          <a:stretch/>
        </p:blipFill>
        <p:spPr>
          <a:xfrm>
            <a:off x="140678" y="461664"/>
            <a:ext cx="4121834" cy="38399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46585" y="230832"/>
            <a:ext cx="45297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Find the area and perimeter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073604" y="1688124"/>
            <a:ext cx="1477108" cy="12379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486400" y="2032585"/>
            <a:ext cx="815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 m 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6577765" y="2169478"/>
            <a:ext cx="2158271" cy="756602"/>
            <a:chOff x="6141667" y="3545058"/>
            <a:chExt cx="2158271" cy="75660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/>
                <p:cNvSpPr txBox="1"/>
                <p:nvPr/>
              </p:nvSpPr>
              <p:spPr>
                <a:xfrm>
                  <a:off x="6203852" y="3545058"/>
                  <a:ext cx="209608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4 m x 4 m =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16 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endParaRPr lang="en-US" dirty="0"/>
                </a:p>
              </p:txBody>
            </p:sp>
          </mc:Choice>
          <mc:Fallback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03852" y="3545058"/>
                  <a:ext cx="2096086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2326" t="-1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/>
                <p:cNvSpPr txBox="1"/>
                <p:nvPr/>
              </p:nvSpPr>
              <p:spPr>
                <a:xfrm>
                  <a:off x="6141667" y="3932328"/>
                  <a:ext cx="209608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4 m x 4 m =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16 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endParaRPr lang="en-US" dirty="0"/>
                </a:p>
              </p:txBody>
            </p:sp>
          </mc:Choice>
          <mc:Fallback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1667" y="3932328"/>
                  <a:ext cx="2096086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2326"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Group 17"/>
          <p:cNvGrpSpPr/>
          <p:nvPr/>
        </p:nvGrpSpPr>
        <p:grpSpPr>
          <a:xfrm>
            <a:off x="3938890" y="3951619"/>
            <a:ext cx="1955473" cy="1929684"/>
            <a:chOff x="3938890" y="3951619"/>
            <a:chExt cx="1955473" cy="1929684"/>
          </a:xfrm>
        </p:grpSpPr>
        <p:sp>
          <p:nvSpPr>
            <p:cNvPr id="8" name="Chord 7"/>
            <p:cNvSpPr/>
            <p:nvPr/>
          </p:nvSpPr>
          <p:spPr>
            <a:xfrm rot="8221079">
              <a:off x="3938890" y="3951619"/>
              <a:ext cx="1912326" cy="1929684"/>
            </a:xfrm>
            <a:prstGeom prst="chord">
              <a:avLst>
                <a:gd name="adj1" fmla="val 2700000"/>
                <a:gd name="adj2" fmla="val 13232621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078437" y="4916461"/>
              <a:ext cx="8159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 m </a:t>
              </a:r>
            </a:p>
          </p:txBody>
        </p:sp>
        <p:cxnSp>
          <p:nvCxnSpPr>
            <p:cNvPr id="12" name="Straight Connector 11"/>
            <p:cNvCxnSpPr/>
            <p:nvPr/>
          </p:nvCxnSpPr>
          <p:spPr>
            <a:xfrm flipV="1">
              <a:off x="4894580" y="4910599"/>
              <a:ext cx="959405" cy="3506"/>
            </a:xfrm>
            <a:prstGeom prst="line">
              <a:avLst/>
            </a:prstGeom>
            <a:ln w="28575"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Rectangle 13"/>
          <p:cNvSpPr/>
          <p:nvPr/>
        </p:nvSpPr>
        <p:spPr>
          <a:xfrm>
            <a:off x="6818523" y="4403061"/>
            <a:ext cx="1505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0000FF"/>
                </a:solidFill>
                <a:latin typeface="Times New Roman" charset="0"/>
              </a:rPr>
              <a:t>Area = ½ </a:t>
            </a:r>
            <a:r>
              <a:rPr lang="en-US" dirty="0">
                <a:solidFill>
                  <a:srgbClr val="0000FF"/>
                </a:solidFill>
                <a:latin typeface="Times New Roman" charset="0"/>
                <a:sym typeface="Symbol" charset="0"/>
              </a:rPr>
              <a:t> r </a:t>
            </a:r>
            <a:r>
              <a:rPr lang="en-US" baseline="30000" dirty="0">
                <a:solidFill>
                  <a:srgbClr val="0000FF"/>
                </a:solidFill>
                <a:latin typeface="Times New Roman" charset="0"/>
                <a:sym typeface="Symbol" charset="0"/>
              </a:rPr>
              <a:t>2</a:t>
            </a:r>
            <a:endParaRPr lang="en-US" dirty="0">
              <a:solidFill>
                <a:srgbClr val="0000FF"/>
              </a:solidFill>
              <a:latin typeface="Times New Roman" charset="0"/>
              <a:sym typeface="Symbol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818523" y="4791432"/>
            <a:ext cx="15440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0000FF"/>
                </a:solidFill>
                <a:latin typeface="Times New Roman" charset="0"/>
              </a:rPr>
              <a:t>Area = ½ </a:t>
            </a:r>
            <a:r>
              <a:rPr lang="en-US" dirty="0">
                <a:solidFill>
                  <a:srgbClr val="0000FF"/>
                </a:solidFill>
                <a:latin typeface="Times New Roman" charset="0"/>
                <a:sym typeface="Symbol" charset="0"/>
              </a:rPr>
              <a:t> 2 </a:t>
            </a:r>
            <a:r>
              <a:rPr lang="en-US" baseline="30000" dirty="0">
                <a:solidFill>
                  <a:srgbClr val="0000FF"/>
                </a:solidFill>
                <a:latin typeface="Times New Roman" charset="0"/>
                <a:sym typeface="Symbol" charset="0"/>
              </a:rPr>
              <a:t>2</a:t>
            </a:r>
            <a:endParaRPr lang="en-US" dirty="0">
              <a:solidFill>
                <a:srgbClr val="0000FF"/>
              </a:solidFill>
              <a:latin typeface="Times New Roman" charset="0"/>
              <a:sym typeface="Symbol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866124" y="5286767"/>
            <a:ext cx="13516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0000FF"/>
                </a:solidFill>
                <a:latin typeface="Times New Roman" charset="0"/>
              </a:rPr>
              <a:t>Area = ½ 4</a:t>
            </a:r>
            <a:r>
              <a:rPr lang="en-US" dirty="0">
                <a:solidFill>
                  <a:srgbClr val="0000FF"/>
                </a:solidFill>
                <a:latin typeface="Times New Roman" charset="0"/>
                <a:sym typeface="Symbol" charset="0"/>
              </a:rPr>
              <a:t>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/>
              <p:cNvSpPr/>
              <p:nvPr/>
            </p:nvSpPr>
            <p:spPr>
              <a:xfrm>
                <a:off x="6972411" y="5782102"/>
                <a:ext cx="169219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dirty="0">
                    <a:solidFill>
                      <a:srgbClr val="0000FF"/>
                    </a:solidFill>
                    <a:latin typeface="Times New Roman" charset="0"/>
                  </a:rPr>
                  <a:t>Area ~ 6.28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>
                  <a:solidFill>
                    <a:srgbClr val="0000FF"/>
                  </a:solidFill>
                  <a:latin typeface="Times New Roman" charset="0"/>
                  <a:sym typeface="Symbol" charset="0"/>
                </a:endParaRPr>
              </a:p>
            </p:txBody>
          </p:sp>
        </mc:Choice>
        <mc:Fallback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2411" y="5782102"/>
                <a:ext cx="1692195" cy="369332"/>
              </a:xfrm>
              <a:prstGeom prst="rect">
                <a:avLst/>
              </a:prstGeom>
              <a:blipFill>
                <a:blip r:embed="rId5"/>
                <a:stretch>
                  <a:fillRect l="-3249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/>
              <p:cNvSpPr/>
              <p:nvPr/>
            </p:nvSpPr>
            <p:spPr>
              <a:xfrm>
                <a:off x="964265" y="5398703"/>
                <a:ext cx="255531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dirty="0">
                    <a:solidFill>
                      <a:srgbClr val="0000FF"/>
                    </a:solidFill>
                    <a:latin typeface="Times New Roman" charset="0"/>
                  </a:rPr>
                  <a:t>Area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16 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latin typeface="Times New Roman" charset="0"/>
                  </a:rPr>
                  <a:t> + 6.28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>
                  <a:solidFill>
                    <a:srgbClr val="0000FF"/>
                  </a:solidFill>
                  <a:latin typeface="Times New Roman" charset="0"/>
                  <a:sym typeface="Symbol" charset="0"/>
                </a:endParaRPr>
              </a:p>
            </p:txBody>
          </p:sp>
        </mc:Choice>
        <mc:Fallback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265" y="5398703"/>
                <a:ext cx="2555315" cy="369332"/>
              </a:xfrm>
              <a:prstGeom prst="rect">
                <a:avLst/>
              </a:prstGeom>
              <a:blipFill>
                <a:blip r:embed="rId6"/>
                <a:stretch>
                  <a:fillRect l="-1909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ectangle 19"/>
              <p:cNvSpPr/>
              <p:nvPr/>
            </p:nvSpPr>
            <p:spPr>
              <a:xfrm>
                <a:off x="915645" y="5806666"/>
                <a:ext cx="230742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400" dirty="0">
                    <a:solidFill>
                      <a:schemeClr val="tx1"/>
                    </a:solidFill>
                    <a:latin typeface="Times New Roman" charset="0"/>
                  </a:rPr>
                  <a:t>Area = 22.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28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>
                  <a:solidFill>
                    <a:srgbClr val="0000FF"/>
                  </a:solidFill>
                  <a:latin typeface="Times New Roman" charset="0"/>
                  <a:sym typeface="Symbol" charset="0"/>
                </a:endParaRPr>
              </a:p>
            </p:txBody>
          </p:sp>
        </mc:Choice>
        <mc:Fallback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645" y="5806666"/>
                <a:ext cx="2307427" cy="461665"/>
              </a:xfrm>
              <a:prstGeom prst="rect">
                <a:avLst/>
              </a:prstGeom>
              <a:blipFill>
                <a:blip r:embed="rId7"/>
                <a:stretch>
                  <a:fillRect l="-3958"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9534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3509" t="36583" r="71539" b="35157"/>
          <a:stretch/>
        </p:blipFill>
        <p:spPr>
          <a:xfrm>
            <a:off x="140678" y="461664"/>
            <a:ext cx="4121834" cy="38399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46585" y="230832"/>
            <a:ext cx="45297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Find the area and perimeter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073604" y="1688124"/>
            <a:ext cx="1477108" cy="12379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486400" y="2032585"/>
            <a:ext cx="815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 m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6639950" y="2169478"/>
                <a:ext cx="2096086" cy="669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4 m + 4 m + 4 m=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/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9950" y="2169478"/>
                <a:ext cx="2096086" cy="669992"/>
              </a:xfrm>
              <a:prstGeom prst="rect">
                <a:avLst/>
              </a:prstGeom>
              <a:blipFill>
                <a:blip r:embed="rId3"/>
                <a:stretch>
                  <a:fillRect l="-2326" t="-5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/>
          <p:cNvGrpSpPr/>
          <p:nvPr/>
        </p:nvGrpSpPr>
        <p:grpSpPr>
          <a:xfrm>
            <a:off x="3938890" y="3951619"/>
            <a:ext cx="1955473" cy="1929684"/>
            <a:chOff x="3938890" y="3951619"/>
            <a:chExt cx="1955473" cy="1929684"/>
          </a:xfrm>
        </p:grpSpPr>
        <p:sp>
          <p:nvSpPr>
            <p:cNvPr id="8" name="Chord 7"/>
            <p:cNvSpPr/>
            <p:nvPr/>
          </p:nvSpPr>
          <p:spPr>
            <a:xfrm rot="8221079">
              <a:off x="3938890" y="3951619"/>
              <a:ext cx="1912326" cy="1929684"/>
            </a:xfrm>
            <a:prstGeom prst="chord">
              <a:avLst>
                <a:gd name="adj1" fmla="val 2700000"/>
                <a:gd name="adj2" fmla="val 13232621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078437" y="4916461"/>
              <a:ext cx="8159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 m </a:t>
              </a:r>
            </a:p>
          </p:txBody>
        </p:sp>
        <p:cxnSp>
          <p:nvCxnSpPr>
            <p:cNvPr id="12" name="Straight Connector 11"/>
            <p:cNvCxnSpPr/>
            <p:nvPr/>
          </p:nvCxnSpPr>
          <p:spPr>
            <a:xfrm flipV="1">
              <a:off x="4894580" y="4910599"/>
              <a:ext cx="959405" cy="3506"/>
            </a:xfrm>
            <a:prstGeom prst="line">
              <a:avLst/>
            </a:prstGeom>
            <a:ln w="28575"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Rectangle 13"/>
          <p:cNvSpPr/>
          <p:nvPr/>
        </p:nvSpPr>
        <p:spPr>
          <a:xfrm>
            <a:off x="6818523" y="4403061"/>
            <a:ext cx="15440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0000FF"/>
                </a:solidFill>
                <a:latin typeface="Times New Roman" charset="0"/>
              </a:rPr>
              <a:t>Area = ½ 2</a:t>
            </a:r>
            <a:r>
              <a:rPr lang="en-US" dirty="0">
                <a:solidFill>
                  <a:srgbClr val="0000FF"/>
                </a:solidFill>
                <a:latin typeface="Times New Roman" charset="0"/>
                <a:sym typeface="Symbol" charset="0"/>
              </a:rPr>
              <a:t> 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/>
              <p:cNvSpPr/>
              <p:nvPr/>
            </p:nvSpPr>
            <p:spPr>
              <a:xfrm>
                <a:off x="6972411" y="5782102"/>
                <a:ext cx="1749903" cy="3929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dirty="0">
                    <a:solidFill>
                      <a:srgbClr val="0000FF"/>
                    </a:solidFill>
                    <a:latin typeface="Times New Roman" charset="0"/>
                  </a:rPr>
                  <a:t>Area ~ 6.28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/>
                    </m:sSup>
                  </m:oMath>
                </a14:m>
                <a:endParaRPr lang="en-US" dirty="0">
                  <a:solidFill>
                    <a:srgbClr val="0000FF"/>
                  </a:solidFill>
                  <a:latin typeface="Times New Roman" charset="0"/>
                  <a:sym typeface="Symbol" charset="0"/>
                </a:endParaRPr>
              </a:p>
            </p:txBody>
          </p:sp>
        </mc:Choice>
        <mc:Fallback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2411" y="5782102"/>
                <a:ext cx="1749903" cy="392993"/>
              </a:xfrm>
              <a:prstGeom prst="rect">
                <a:avLst/>
              </a:prstGeom>
              <a:blipFill>
                <a:blip r:embed="rId4"/>
                <a:stretch>
                  <a:fillRect l="-3136" t="-312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/>
              <p:cNvSpPr/>
              <p:nvPr/>
            </p:nvSpPr>
            <p:spPr>
              <a:xfrm>
                <a:off x="964265" y="5398703"/>
                <a:ext cx="2670731" cy="3929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dirty="0">
                    <a:solidFill>
                      <a:srgbClr val="0000FF"/>
                    </a:solidFill>
                    <a:latin typeface="Times New Roman" charset="0"/>
                  </a:rPr>
                  <a:t>Area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/>
                    </m:sSup>
                  </m:oMath>
                </a14:m>
                <a:r>
                  <a:rPr lang="en-US" dirty="0">
                    <a:latin typeface="Times New Roman" charset="0"/>
                  </a:rPr>
                  <a:t> + 6.28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/>
                    </m:sSup>
                  </m:oMath>
                </a14:m>
                <a:endParaRPr lang="en-US" dirty="0">
                  <a:solidFill>
                    <a:srgbClr val="0000FF"/>
                  </a:solidFill>
                  <a:latin typeface="Times New Roman" charset="0"/>
                  <a:sym typeface="Symbol" charset="0"/>
                </a:endParaRPr>
              </a:p>
            </p:txBody>
          </p:sp>
        </mc:Choice>
        <mc:Fallback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265" y="5398703"/>
                <a:ext cx="2670731" cy="392993"/>
              </a:xfrm>
              <a:prstGeom prst="rect">
                <a:avLst/>
              </a:prstGeom>
              <a:blipFill>
                <a:blip r:embed="rId5"/>
                <a:stretch>
                  <a:fillRect l="-1826" t="-312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ectangle 19"/>
              <p:cNvSpPr/>
              <p:nvPr/>
            </p:nvSpPr>
            <p:spPr>
              <a:xfrm>
                <a:off x="915645" y="5806666"/>
                <a:ext cx="2384371" cy="4932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400" dirty="0">
                    <a:solidFill>
                      <a:schemeClr val="tx1"/>
                    </a:solidFill>
                    <a:latin typeface="Times New Roman" charset="0"/>
                  </a:rPr>
                  <a:t>Area = 18.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28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/>
                    </m:sSup>
                  </m:oMath>
                </a14:m>
                <a:endParaRPr lang="en-US" dirty="0">
                  <a:solidFill>
                    <a:srgbClr val="0000FF"/>
                  </a:solidFill>
                  <a:latin typeface="Times New Roman" charset="0"/>
                  <a:sym typeface="Symbol" charset="0"/>
                </a:endParaRPr>
              </a:p>
            </p:txBody>
          </p:sp>
        </mc:Choice>
        <mc:Fallback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645" y="5806666"/>
                <a:ext cx="2384371" cy="493277"/>
              </a:xfrm>
              <a:prstGeom prst="rect">
                <a:avLst/>
              </a:prstGeom>
              <a:blipFill>
                <a:blip r:embed="rId6"/>
                <a:stretch>
                  <a:fillRect l="-3836" t="-2500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/>
          <p:cNvSpPr/>
          <p:nvPr/>
        </p:nvSpPr>
        <p:spPr>
          <a:xfrm>
            <a:off x="6784471" y="4772393"/>
            <a:ext cx="11400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0000FF"/>
                </a:solidFill>
                <a:latin typeface="Times New Roman" charset="0"/>
              </a:rPr>
              <a:t>Area = </a:t>
            </a:r>
            <a:r>
              <a:rPr lang="en-US" dirty="0">
                <a:solidFill>
                  <a:srgbClr val="0000FF"/>
                </a:solidFill>
                <a:latin typeface="Times New Roman" charset="0"/>
                <a:sym typeface="Symbol" charset="0"/>
              </a:rPr>
              <a:t> 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16657" y="5199858"/>
            <a:ext cx="1178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0000FF"/>
                </a:solidFill>
                <a:latin typeface="Times New Roman" charset="0"/>
              </a:rPr>
              <a:t>Area = </a:t>
            </a:r>
            <a:r>
              <a:rPr lang="en-US" dirty="0">
                <a:solidFill>
                  <a:srgbClr val="0000FF"/>
                </a:solidFill>
                <a:latin typeface="Times New Roman" charset="0"/>
                <a:sym typeface="Symbol" charset="0"/>
              </a:rPr>
              <a:t> 2</a:t>
            </a:r>
          </a:p>
        </p:txBody>
      </p:sp>
    </p:spTree>
    <p:extLst>
      <p:ext uri="{BB962C8B-B14F-4D97-AF65-F5344CB8AC3E}">
        <p14:creationId xmlns:p14="http://schemas.microsoft.com/office/powerpoint/2010/main" val="1364884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1" grpId="0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56397" t="17505" r="24000" b="52728"/>
          <a:stretch/>
        </p:blipFill>
        <p:spPr>
          <a:xfrm>
            <a:off x="5631542" y="1055077"/>
            <a:ext cx="3507589" cy="299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595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4923" t="30824" r="52445" b="61241"/>
          <a:stretch/>
        </p:blipFill>
        <p:spPr>
          <a:xfrm>
            <a:off x="0" y="2394857"/>
            <a:ext cx="4049486" cy="79828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56397" t="17505" r="24000" b="52728"/>
          <a:stretch/>
        </p:blipFill>
        <p:spPr>
          <a:xfrm>
            <a:off x="5307985" y="717452"/>
            <a:ext cx="3507589" cy="299440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4" y="3639513"/>
            <a:ext cx="9138696" cy="90228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88169"/>
            <a:ext cx="9138696" cy="64623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780408"/>
            <a:ext cx="9138696" cy="85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80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4923" t="53322" r="24000" b="38165"/>
          <a:stretch/>
        </p:blipFill>
        <p:spPr>
          <a:xfrm>
            <a:off x="140677" y="2307771"/>
            <a:ext cx="9139132" cy="85634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b="61592"/>
          <a:stretch/>
        </p:blipFill>
        <p:spPr>
          <a:xfrm>
            <a:off x="5304" y="3429000"/>
            <a:ext cx="9138696" cy="90384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33860" b="38744"/>
          <a:stretch/>
        </p:blipFill>
        <p:spPr>
          <a:xfrm>
            <a:off x="0" y="3953021"/>
            <a:ext cx="9138696" cy="644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4635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778" y="716045"/>
            <a:ext cx="6596444" cy="5425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9312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4"/>
          <p:cNvSpPr txBox="1">
            <a:spLocks noChangeArrowheads="1"/>
          </p:cNvSpPr>
          <p:nvPr/>
        </p:nvSpPr>
        <p:spPr bwMode="auto">
          <a:xfrm>
            <a:off x="1692275" y="476250"/>
            <a:ext cx="6119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Times New Roman" charset="0"/>
              </a:rPr>
              <a:t>Summary of formulae in this section</a:t>
            </a:r>
          </a:p>
        </p:txBody>
      </p:sp>
      <p:graphicFrame>
        <p:nvGraphicFramePr>
          <p:cNvPr id="44070" name="Group 38"/>
          <p:cNvGraphicFramePr>
            <a:graphicFrameLocks noGrp="1"/>
          </p:cNvGraphicFramePr>
          <p:nvPr/>
        </p:nvGraphicFramePr>
        <p:xfrm>
          <a:off x="1524000" y="1052513"/>
          <a:ext cx="7296150" cy="5594705"/>
        </p:xfrm>
        <a:graphic>
          <a:graphicData uri="http://schemas.openxmlformats.org/drawingml/2006/table">
            <a:tbl>
              <a:tblPr/>
              <a:tblGrid>
                <a:gridCol w="1895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19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Shape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TSA Formula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95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charset="0"/>
                        </a:rPr>
                        <a:t>Prisms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charset="0"/>
                        </a:rPr>
                        <a:t>TSA = total area of all faces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Rectangular Prism: 6 faces (if closed)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Triangular Prism: 5 faces (if closed)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01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/>
                          <a:latin typeface="Times New Roman" charset="0"/>
                        </a:rPr>
                        <a:t>Cylinders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/>
                          <a:latin typeface="Times New Roman" charset="0"/>
                        </a:rPr>
                        <a:t>TSA = 2 </a:t>
                      </a:r>
                      <a:r>
                        <a:rPr kumimoji="0" lang="en-AU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/>
                          <a:latin typeface="Times New Roman" charset="0"/>
                          <a:sym typeface="Symbol" pitchFamily="18" charset="2"/>
                        </a:rPr>
                        <a:t> r h</a:t>
                      </a:r>
                      <a:r>
                        <a:rPr kumimoji="0" lang="en-A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sym typeface="Symbol" pitchFamily="18" charset="2"/>
                        </a:rPr>
                        <a:t> </a:t>
                      </a: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sym typeface="Symbol" pitchFamily="18" charset="2"/>
                        </a:rPr>
                        <a:t>(for the curved wall)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/>
                          <a:latin typeface="Times New Roman" charset="0"/>
                          <a:sym typeface="Symbol" pitchFamily="18" charset="2"/>
                        </a:rPr>
                        <a:t>+ </a:t>
                      </a:r>
                      <a:r>
                        <a:rPr kumimoji="0" lang="en-AU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/>
                          <a:latin typeface="Times New Roman" charset="0"/>
                          <a:sym typeface="Symbol" pitchFamily="18" charset="2"/>
                        </a:rPr>
                        <a:t> r</a:t>
                      </a:r>
                      <a:r>
                        <a:rPr kumimoji="0" lang="en-AU" sz="2800" b="0" i="0" u="none" strike="noStrike" cap="none" normalizeH="0" baseline="3000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/>
                          <a:latin typeface="Times New Roman" charset="0"/>
                          <a:sym typeface="Symbol" pitchFamily="18" charset="2"/>
                        </a:rPr>
                        <a:t>2</a:t>
                      </a:r>
                      <a:r>
                        <a:rPr kumimoji="0" lang="en-A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sym typeface="Symbol" pitchFamily="18" charset="2"/>
                        </a:rPr>
                        <a:t> </a:t>
                      </a: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sym typeface="Symbol" pitchFamily="18" charset="2"/>
                        </a:rPr>
                        <a:t>for each circular end if there is one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78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2112EA"/>
                          </a:solidFill>
                          <a:effectLst/>
                          <a:latin typeface="Times New Roman" charset="0"/>
                        </a:rPr>
                        <a:t>Spheres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112EA"/>
                          </a:solidFill>
                          <a:effectLst/>
                          <a:latin typeface="Times New Roman" charset="0"/>
                        </a:rPr>
                        <a:t>TSA = 4 </a:t>
                      </a:r>
                      <a:r>
                        <a:rPr kumimoji="0" lang="en-AU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112EA"/>
                          </a:solidFill>
                          <a:effectLst/>
                          <a:latin typeface="Times New Roman" charset="0"/>
                          <a:sym typeface="Symbol" pitchFamily="18" charset="2"/>
                        </a:rPr>
                        <a:t> r</a:t>
                      </a:r>
                      <a:r>
                        <a:rPr kumimoji="0" lang="en-AU" sz="2800" b="0" i="0" u="none" strike="noStrike" cap="none" normalizeH="0" baseline="30000">
                          <a:ln>
                            <a:noFill/>
                          </a:ln>
                          <a:solidFill>
                            <a:srgbClr val="2112EA"/>
                          </a:solidFill>
                          <a:effectLst/>
                          <a:latin typeface="Times New Roman" charset="0"/>
                          <a:sym typeface="Symbol" pitchFamily="18" charset="2"/>
                        </a:rPr>
                        <a:t>2</a:t>
                      </a:r>
                      <a:endParaRPr kumimoji="0" lang="en-AU" sz="2800" b="0" i="0" u="none" strike="noStrike" cap="none" normalizeH="0" baseline="0">
                        <a:ln>
                          <a:noFill/>
                        </a:ln>
                        <a:solidFill>
                          <a:srgbClr val="2112EA"/>
                        </a:solidFill>
                        <a:effectLst/>
                        <a:latin typeface="Times New Roman" charset="0"/>
                        <a:sym typeface="Symbol" pitchFamily="18" charset="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01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ED0F0F"/>
                          </a:solidFill>
                          <a:effectLst/>
                          <a:latin typeface="Times New Roman" charset="0"/>
                        </a:rPr>
                        <a:t>Cones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ED0F0F"/>
                          </a:solidFill>
                          <a:effectLst/>
                          <a:latin typeface="Times New Roman" charset="0"/>
                        </a:rPr>
                        <a:t>TSA = </a:t>
                      </a:r>
                      <a:r>
                        <a:rPr kumimoji="0" lang="en-AU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ED0F0F"/>
                          </a:solidFill>
                          <a:effectLst/>
                          <a:latin typeface="Times New Roman" charset="0"/>
                          <a:sym typeface="Symbol" pitchFamily="18" charset="2"/>
                        </a:rPr>
                        <a:t> r L</a:t>
                      </a:r>
                      <a:r>
                        <a:rPr kumimoji="0" lang="en-A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sym typeface="Symbol" pitchFamily="18" charset="2"/>
                        </a:rPr>
                        <a:t> </a:t>
                      </a: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sym typeface="Symbol" pitchFamily="18" charset="2"/>
                        </a:rPr>
                        <a:t>(for the curved wall)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ED0F0F"/>
                          </a:solidFill>
                          <a:effectLst/>
                          <a:latin typeface="Times New Roman" charset="0"/>
                          <a:sym typeface="Symbol" pitchFamily="18" charset="2"/>
                        </a:rPr>
                        <a:t>+  r</a:t>
                      </a:r>
                      <a:r>
                        <a:rPr kumimoji="0" lang="en-AU" sz="2800" b="0" i="0" u="none" strike="noStrike" cap="none" normalizeH="0" baseline="30000">
                          <a:ln>
                            <a:noFill/>
                          </a:ln>
                          <a:solidFill>
                            <a:srgbClr val="ED0F0F"/>
                          </a:solidFill>
                          <a:effectLst/>
                          <a:latin typeface="Times New Roman" charset="0"/>
                          <a:sym typeface="Symbol" pitchFamily="18" charset="2"/>
                        </a:rPr>
                        <a:t>2</a:t>
                      </a:r>
                      <a:r>
                        <a:rPr kumimoji="0" lang="en-A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sym typeface="Symbol" pitchFamily="18" charset="2"/>
                        </a:rPr>
                        <a:t> </a:t>
                      </a: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sym typeface="Symbol" pitchFamily="18" charset="2"/>
                        </a:rPr>
                        <a:t>for the circular base if there is one</a:t>
                      </a:r>
                      <a:endParaRPr kumimoji="0" lang="en-A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sym typeface="Symbol" pitchFamily="18" charset="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47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Pyramids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TSA = Base area + area of the triangular sides.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39606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1447800" y="457200"/>
            <a:ext cx="365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Times New Roman" charset="0"/>
              </a:rPr>
              <a:t>Cones - formulae</a:t>
            </a: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4191000" y="1341438"/>
            <a:ext cx="2514600" cy="2057400"/>
            <a:chOff x="2640" y="1296"/>
            <a:chExt cx="1584" cy="1296"/>
          </a:xfrm>
        </p:grpSpPr>
        <p:grpSp>
          <p:nvGrpSpPr>
            <p:cNvPr id="27656" name="Group 4"/>
            <p:cNvGrpSpPr>
              <a:grpSpLocks/>
            </p:cNvGrpSpPr>
            <p:nvPr/>
          </p:nvGrpSpPr>
          <p:grpSpPr bwMode="auto">
            <a:xfrm>
              <a:off x="2640" y="1344"/>
              <a:ext cx="1200" cy="1248"/>
              <a:chOff x="3792" y="1056"/>
              <a:chExt cx="1200" cy="1248"/>
            </a:xfrm>
          </p:grpSpPr>
          <p:sp>
            <p:nvSpPr>
              <p:cNvPr id="27661" name="Oval 5"/>
              <p:cNvSpPr>
                <a:spLocks noChangeArrowheads="1"/>
              </p:cNvSpPr>
              <p:nvPr/>
            </p:nvSpPr>
            <p:spPr bwMode="auto">
              <a:xfrm>
                <a:off x="3792" y="2016"/>
                <a:ext cx="1200" cy="288"/>
              </a:xfrm>
              <a:prstGeom prst="ellips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2" name="Line 6"/>
              <p:cNvSpPr>
                <a:spLocks noChangeShapeType="1"/>
              </p:cNvSpPr>
              <p:nvPr/>
            </p:nvSpPr>
            <p:spPr bwMode="auto">
              <a:xfrm flipH="1">
                <a:off x="3792" y="1056"/>
                <a:ext cx="576" cy="1104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7663" name="Line 7"/>
              <p:cNvSpPr>
                <a:spLocks noChangeShapeType="1"/>
              </p:cNvSpPr>
              <p:nvPr/>
            </p:nvSpPr>
            <p:spPr bwMode="auto">
              <a:xfrm>
                <a:off x="4368" y="1056"/>
                <a:ext cx="624" cy="1104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27657" name="Text Box 8"/>
            <p:cNvSpPr txBox="1">
              <a:spLocks noChangeArrowheads="1"/>
            </p:cNvSpPr>
            <p:nvPr/>
          </p:nvSpPr>
          <p:spPr bwMode="auto">
            <a:xfrm>
              <a:off x="3408" y="2256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2400" i="1">
                  <a:latin typeface="Times New Roman" charset="0"/>
                </a:rPr>
                <a:t>r</a:t>
              </a:r>
            </a:p>
          </p:txBody>
        </p:sp>
        <p:sp>
          <p:nvSpPr>
            <p:cNvPr id="27658" name="Line 9"/>
            <p:cNvSpPr>
              <a:spLocks noChangeShapeType="1"/>
            </p:cNvSpPr>
            <p:nvPr/>
          </p:nvSpPr>
          <p:spPr bwMode="auto">
            <a:xfrm>
              <a:off x="3264" y="2448"/>
              <a:ext cx="576" cy="0"/>
            </a:xfrm>
            <a:prstGeom prst="line">
              <a:avLst/>
            </a:prstGeom>
            <a:noFill/>
            <a:ln w="38100">
              <a:solidFill>
                <a:srgbClr val="ED0F0F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7659" name="Text Box 10"/>
            <p:cNvSpPr txBox="1">
              <a:spLocks noChangeArrowheads="1"/>
            </p:cNvSpPr>
            <p:nvPr/>
          </p:nvSpPr>
          <p:spPr bwMode="auto">
            <a:xfrm>
              <a:off x="3648" y="1584"/>
              <a:ext cx="5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2400" i="1">
                  <a:latin typeface="Times New Roman" charset="0"/>
                </a:rPr>
                <a:t>L</a:t>
              </a:r>
            </a:p>
          </p:txBody>
        </p:sp>
        <p:sp>
          <p:nvSpPr>
            <p:cNvPr id="27660" name="Line 11"/>
            <p:cNvSpPr>
              <a:spLocks noChangeShapeType="1"/>
            </p:cNvSpPr>
            <p:nvPr/>
          </p:nvSpPr>
          <p:spPr bwMode="auto">
            <a:xfrm>
              <a:off x="3360" y="1296"/>
              <a:ext cx="624" cy="1104"/>
            </a:xfrm>
            <a:prstGeom prst="line">
              <a:avLst/>
            </a:prstGeom>
            <a:noFill/>
            <a:ln w="38100" cap="sq">
              <a:solidFill>
                <a:srgbClr val="ED0F0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3564" name="Text Box 12"/>
          <p:cNvSpPr txBox="1">
            <a:spLocks noChangeArrowheads="1"/>
          </p:cNvSpPr>
          <p:nvPr/>
        </p:nvSpPr>
        <p:spPr bwMode="auto">
          <a:xfrm>
            <a:off x="2590800" y="4772025"/>
            <a:ext cx="556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sz="2400" i="1">
                <a:latin typeface="Times New Roman" charset="0"/>
              </a:rPr>
              <a:t>L </a:t>
            </a:r>
            <a:r>
              <a:rPr lang="en-AU" sz="2400">
                <a:latin typeface="Times New Roman" charset="0"/>
              </a:rPr>
              <a:t>is called “slant height”</a:t>
            </a:r>
            <a:endParaRPr lang="en-AU" sz="2400" i="1">
              <a:latin typeface="Times New Roman" charset="0"/>
            </a:endParaRPr>
          </a:p>
        </p:txBody>
      </p: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2195513" y="3835400"/>
            <a:ext cx="6121400" cy="673100"/>
            <a:chOff x="1474" y="709"/>
            <a:chExt cx="2767" cy="424"/>
          </a:xfrm>
        </p:grpSpPr>
        <p:sp>
          <p:nvSpPr>
            <p:cNvPr id="27654" name="Text Box 3"/>
            <p:cNvSpPr txBox="1">
              <a:spLocks noChangeArrowheads="1"/>
            </p:cNvSpPr>
            <p:nvPr/>
          </p:nvSpPr>
          <p:spPr bwMode="auto">
            <a:xfrm>
              <a:off x="1536" y="768"/>
              <a:ext cx="268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3200">
                  <a:latin typeface="Times New Roman" charset="0"/>
                </a:rPr>
                <a:t>Area of the curved wall = </a:t>
              </a:r>
              <a:r>
                <a:rPr lang="en-AU" sz="3200">
                  <a:latin typeface="Times New Roman" charset="0"/>
                  <a:sym typeface="Symbol" charset="0"/>
                </a:rPr>
                <a:t> </a:t>
              </a:r>
              <a:r>
                <a:rPr lang="en-AU" sz="3200" i="1">
                  <a:latin typeface="Times New Roman" charset="0"/>
                  <a:sym typeface="Symbol" charset="0"/>
                </a:rPr>
                <a:t>r L</a:t>
              </a:r>
              <a:endParaRPr lang="en-AU" sz="3200" i="1">
                <a:latin typeface="Times New Roman" charset="0"/>
              </a:endParaRPr>
            </a:p>
          </p:txBody>
        </p:sp>
        <p:sp>
          <p:nvSpPr>
            <p:cNvPr id="27655" name="Rectangle 14"/>
            <p:cNvSpPr>
              <a:spLocks noChangeArrowheads="1"/>
            </p:cNvSpPr>
            <p:nvPr/>
          </p:nvSpPr>
          <p:spPr bwMode="auto">
            <a:xfrm>
              <a:off x="1474" y="709"/>
              <a:ext cx="2767" cy="408"/>
            </a:xfrm>
            <a:prstGeom prst="rect">
              <a:avLst/>
            </a:prstGeom>
            <a:noFill/>
            <a:ln w="76200" cap="sq">
              <a:solidFill>
                <a:srgbClr val="D60093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74605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/>
      <p:bldP spid="2356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1447800" y="2286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Times New Roman" charset="0"/>
              </a:rPr>
              <a:t>2.4: TSA of a Sphere</a:t>
            </a:r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2209800" y="3068638"/>
            <a:ext cx="5715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sz="4000">
                <a:latin typeface="Times New Roman" charset="0"/>
              </a:rPr>
              <a:t>TSA = 4 </a:t>
            </a:r>
            <a:r>
              <a:rPr lang="en-AU" sz="4000">
                <a:latin typeface="Times New Roman" charset="0"/>
                <a:sym typeface="Symbol" charset="0"/>
              </a:rPr>
              <a:t> </a:t>
            </a:r>
            <a:r>
              <a:rPr lang="en-AU" sz="4000" i="1">
                <a:latin typeface="Times New Roman" charset="0"/>
                <a:sym typeface="Symbol" charset="0"/>
              </a:rPr>
              <a:t>r</a:t>
            </a:r>
            <a:r>
              <a:rPr lang="en-AU" sz="4000" baseline="30000">
                <a:latin typeface="Times New Roman" charset="0"/>
                <a:sym typeface="Symbol" charset="0"/>
              </a:rPr>
              <a:t>2</a:t>
            </a:r>
            <a:endParaRPr lang="en-AU" sz="4000">
              <a:latin typeface="Times New Roman" charset="0"/>
            </a:endParaRP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3048000" y="914400"/>
            <a:ext cx="2133600" cy="2133600"/>
            <a:chOff x="1920" y="576"/>
            <a:chExt cx="1344" cy="1344"/>
          </a:xfrm>
        </p:grpSpPr>
        <p:sp>
          <p:nvSpPr>
            <p:cNvPr id="31759" name="Oval 3"/>
            <p:cNvSpPr>
              <a:spLocks noChangeArrowheads="1"/>
            </p:cNvSpPr>
            <p:nvPr/>
          </p:nvSpPr>
          <p:spPr bwMode="auto">
            <a:xfrm rot="3236420">
              <a:off x="1920" y="576"/>
              <a:ext cx="1344" cy="1344"/>
            </a:xfrm>
            <a:prstGeom prst="ellipse">
              <a:avLst/>
            </a:prstGeom>
            <a:gradFill rotWithShape="0">
              <a:gsLst>
                <a:gs pos="0">
                  <a:srgbClr val="F5F6FD"/>
                </a:gs>
                <a:gs pos="100000">
                  <a:srgbClr val="717275"/>
                </a:gs>
              </a:gsLst>
              <a:lin ang="5400000" scaled="1"/>
            </a:gra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60" name="Text Box 5"/>
            <p:cNvSpPr txBox="1">
              <a:spLocks noChangeArrowheads="1"/>
            </p:cNvSpPr>
            <p:nvPr/>
          </p:nvSpPr>
          <p:spPr bwMode="auto">
            <a:xfrm>
              <a:off x="2832" y="10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2400" i="1">
                  <a:solidFill>
                    <a:srgbClr val="ED0F0F"/>
                  </a:solidFill>
                  <a:latin typeface="Times New Roman" charset="0"/>
                </a:rPr>
                <a:t>r</a:t>
              </a:r>
            </a:p>
          </p:txBody>
        </p:sp>
        <p:sp>
          <p:nvSpPr>
            <p:cNvPr id="31761" name="Line 6"/>
            <p:cNvSpPr>
              <a:spLocks noChangeShapeType="1"/>
            </p:cNvSpPr>
            <p:nvPr/>
          </p:nvSpPr>
          <p:spPr bwMode="auto">
            <a:xfrm>
              <a:off x="2592" y="1248"/>
              <a:ext cx="672" cy="0"/>
            </a:xfrm>
            <a:prstGeom prst="line">
              <a:avLst/>
            </a:prstGeom>
            <a:noFill/>
            <a:ln w="38100" cap="sq">
              <a:solidFill>
                <a:srgbClr val="ED0F0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2916238" y="4437063"/>
            <a:ext cx="2016125" cy="1800225"/>
            <a:chOff x="1837" y="2795"/>
            <a:chExt cx="1270" cy="1134"/>
          </a:xfrm>
        </p:grpSpPr>
        <p:sp>
          <p:nvSpPr>
            <p:cNvPr id="31756" name="Oval 9"/>
            <p:cNvSpPr>
              <a:spLocks noChangeArrowheads="1"/>
            </p:cNvSpPr>
            <p:nvPr/>
          </p:nvSpPr>
          <p:spPr bwMode="auto">
            <a:xfrm rot="5302015">
              <a:off x="1905" y="2727"/>
              <a:ext cx="1134" cy="1270"/>
            </a:xfrm>
            <a:prstGeom prst="ellipse">
              <a:avLst/>
            </a:prstGeom>
            <a:gradFill rotWithShape="0">
              <a:gsLst>
                <a:gs pos="0">
                  <a:srgbClr val="F5F6FD"/>
                </a:gs>
                <a:gs pos="100000">
                  <a:srgbClr val="717275"/>
                </a:gs>
              </a:gsLst>
              <a:lin ang="5400000" scaled="1"/>
            </a:gra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7" name="Text Box 10"/>
            <p:cNvSpPr txBox="1">
              <a:spLocks noChangeArrowheads="1"/>
            </p:cNvSpPr>
            <p:nvPr/>
          </p:nvSpPr>
          <p:spPr bwMode="auto">
            <a:xfrm rot="2065594">
              <a:off x="2336" y="3158"/>
              <a:ext cx="53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2200">
                  <a:solidFill>
                    <a:srgbClr val="ED0F0F"/>
                  </a:solidFill>
                  <a:latin typeface="Times New Roman" charset="0"/>
                </a:rPr>
                <a:t>10cm</a:t>
              </a:r>
            </a:p>
          </p:txBody>
        </p:sp>
        <p:sp>
          <p:nvSpPr>
            <p:cNvPr id="31758" name="Line 11"/>
            <p:cNvSpPr>
              <a:spLocks noChangeShapeType="1"/>
            </p:cNvSpPr>
            <p:nvPr/>
          </p:nvSpPr>
          <p:spPr bwMode="auto">
            <a:xfrm rot="2065594">
              <a:off x="1893" y="3358"/>
              <a:ext cx="1214" cy="20"/>
            </a:xfrm>
            <a:prstGeom prst="line">
              <a:avLst/>
            </a:prstGeom>
            <a:noFill/>
            <a:ln w="38100" cap="sq">
              <a:solidFill>
                <a:srgbClr val="ED0F0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7660" name="Text Box 12"/>
          <p:cNvSpPr txBox="1">
            <a:spLocks noChangeArrowheads="1"/>
          </p:cNvSpPr>
          <p:nvPr/>
        </p:nvSpPr>
        <p:spPr bwMode="auto">
          <a:xfrm>
            <a:off x="1476375" y="4221163"/>
            <a:ext cx="1439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Times New Roman" charset="0"/>
              </a:rPr>
              <a:t>Example</a:t>
            </a:r>
          </a:p>
        </p:txBody>
      </p:sp>
      <p:sp>
        <p:nvSpPr>
          <p:cNvPr id="27661" name="Line 13"/>
          <p:cNvSpPr>
            <a:spLocks noChangeShapeType="1"/>
          </p:cNvSpPr>
          <p:nvPr/>
        </p:nvSpPr>
        <p:spPr bwMode="auto">
          <a:xfrm>
            <a:off x="1403350" y="3933825"/>
            <a:ext cx="7345363" cy="0"/>
          </a:xfrm>
          <a:prstGeom prst="line">
            <a:avLst/>
          </a:prstGeom>
          <a:noFill/>
          <a:ln w="76200" cap="sq">
            <a:solidFill>
              <a:srgbClr val="6600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662" name="Text Box 14"/>
          <p:cNvSpPr txBox="1">
            <a:spLocks noChangeArrowheads="1"/>
          </p:cNvSpPr>
          <p:nvPr/>
        </p:nvSpPr>
        <p:spPr bwMode="auto">
          <a:xfrm>
            <a:off x="5219700" y="4149725"/>
            <a:ext cx="1873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Times New Roman" charset="0"/>
              </a:rPr>
              <a:t>TSA = 4</a:t>
            </a:r>
            <a:r>
              <a:rPr lang="en-AU" sz="2400">
                <a:latin typeface="Times New Roman" charset="0"/>
                <a:sym typeface="Symbol" charset="0"/>
              </a:rPr>
              <a:t>r</a:t>
            </a:r>
            <a:r>
              <a:rPr lang="en-AU" sz="2400" baseline="30000">
                <a:latin typeface="Times New Roman" charset="0"/>
                <a:sym typeface="Symbol" charset="0"/>
              </a:rPr>
              <a:t>2</a:t>
            </a:r>
            <a:endParaRPr lang="en-AU" sz="2400">
              <a:latin typeface="Times New Roman" charset="0"/>
              <a:sym typeface="Symbol" charset="0"/>
            </a:endParaRPr>
          </a:p>
        </p:txBody>
      </p:sp>
      <p:sp>
        <p:nvSpPr>
          <p:cNvPr id="27663" name="Text Box 15"/>
          <p:cNvSpPr txBox="1">
            <a:spLocks noChangeArrowheads="1"/>
          </p:cNvSpPr>
          <p:nvPr/>
        </p:nvSpPr>
        <p:spPr bwMode="auto">
          <a:xfrm>
            <a:off x="7308850" y="4149725"/>
            <a:ext cx="16557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1800">
                <a:solidFill>
                  <a:srgbClr val="ED0F0F"/>
                </a:solidFill>
              </a:rPr>
              <a:t>Note r = 5</a:t>
            </a:r>
          </a:p>
        </p:txBody>
      </p:sp>
      <p:sp>
        <p:nvSpPr>
          <p:cNvPr id="27664" name="Text Box 16"/>
          <p:cNvSpPr txBox="1">
            <a:spLocks noChangeArrowheads="1"/>
          </p:cNvSpPr>
          <p:nvPr/>
        </p:nvSpPr>
        <p:spPr bwMode="auto">
          <a:xfrm>
            <a:off x="5219700" y="4556125"/>
            <a:ext cx="2160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Times New Roman" charset="0"/>
              </a:rPr>
              <a:t>         = 4</a:t>
            </a:r>
            <a:r>
              <a:rPr lang="en-AU" sz="2400">
                <a:latin typeface="Times New Roman" charset="0"/>
                <a:sym typeface="Symbol" charset="0"/>
              </a:rPr>
              <a:t> </a:t>
            </a:r>
            <a:r>
              <a:rPr lang="en-US" sz="2400">
                <a:latin typeface="Times New Roman" charset="0"/>
                <a:cs typeface="Times New Roman" charset="0"/>
                <a:sym typeface="Symbol" charset="0"/>
              </a:rPr>
              <a:t>× 5</a:t>
            </a:r>
            <a:r>
              <a:rPr lang="en-AU" sz="2400" baseline="30000">
                <a:latin typeface="Times New Roman" charset="0"/>
                <a:sym typeface="Symbol" charset="0"/>
              </a:rPr>
              <a:t>2</a:t>
            </a:r>
            <a:endParaRPr lang="en-AU" sz="2400">
              <a:latin typeface="Times New Roman" charset="0"/>
              <a:sym typeface="Symbol" charset="0"/>
            </a:endParaRPr>
          </a:p>
        </p:txBody>
      </p:sp>
      <p:sp>
        <p:nvSpPr>
          <p:cNvPr id="27665" name="Text Box 17"/>
          <p:cNvSpPr txBox="1">
            <a:spLocks noChangeArrowheads="1"/>
          </p:cNvSpPr>
          <p:nvPr/>
        </p:nvSpPr>
        <p:spPr bwMode="auto">
          <a:xfrm>
            <a:off x="5219700" y="4987925"/>
            <a:ext cx="280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Times New Roman" charset="0"/>
              </a:rPr>
              <a:t>         = 314.16 cm</a:t>
            </a:r>
            <a:r>
              <a:rPr lang="en-AU" sz="2400" baseline="30000">
                <a:latin typeface="Times New Roman" charset="0"/>
              </a:rPr>
              <a:t>2</a:t>
            </a:r>
            <a:endParaRPr lang="en-AU" sz="2400">
              <a:latin typeface="Times New Roman" charset="0"/>
              <a:sym typeface="Symbo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850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76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76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76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7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7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autoUpdateAnimBg="0"/>
      <p:bldP spid="27652" grpId="0" autoUpdateAnimBg="0"/>
      <p:bldP spid="27661" grpId="0" animBg="1"/>
      <p:bldP spid="27662" grpId="0"/>
      <p:bldP spid="27663" grpId="0"/>
      <p:bldP spid="27664" grpId="0"/>
      <p:bldP spid="2766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1524000" y="381000"/>
            <a:ext cx="2743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Times New Roman" charset="0"/>
              </a:rPr>
              <a:t>2.5: TSA of a Pyramid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3276600" y="304800"/>
            <a:ext cx="3124200" cy="2438400"/>
            <a:chOff x="2064" y="192"/>
            <a:chExt cx="1968" cy="1536"/>
          </a:xfrm>
        </p:grpSpPr>
        <p:sp>
          <p:nvSpPr>
            <p:cNvPr id="32777" name="AutoShape 3"/>
            <p:cNvSpPr>
              <a:spLocks noChangeArrowheads="1"/>
            </p:cNvSpPr>
            <p:nvPr/>
          </p:nvSpPr>
          <p:spPr bwMode="auto">
            <a:xfrm>
              <a:off x="2064" y="1392"/>
              <a:ext cx="1968" cy="336"/>
            </a:xfrm>
            <a:prstGeom prst="parallelogram">
              <a:avLst>
                <a:gd name="adj" fmla="val 146429"/>
              </a:avLst>
            </a:prstGeom>
            <a:solidFill>
              <a:srgbClr val="00FF00"/>
            </a:solidFill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78" name="Line 4"/>
            <p:cNvSpPr>
              <a:spLocks noChangeShapeType="1"/>
            </p:cNvSpPr>
            <p:nvPr/>
          </p:nvSpPr>
          <p:spPr bwMode="auto">
            <a:xfrm flipH="1">
              <a:off x="2064" y="192"/>
              <a:ext cx="960" cy="1536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779" name="Line 5"/>
            <p:cNvSpPr>
              <a:spLocks noChangeShapeType="1"/>
            </p:cNvSpPr>
            <p:nvPr/>
          </p:nvSpPr>
          <p:spPr bwMode="auto">
            <a:xfrm>
              <a:off x="3024" y="192"/>
              <a:ext cx="528" cy="1536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780" name="Line 6"/>
            <p:cNvSpPr>
              <a:spLocks noChangeShapeType="1"/>
            </p:cNvSpPr>
            <p:nvPr/>
          </p:nvSpPr>
          <p:spPr bwMode="auto">
            <a:xfrm>
              <a:off x="3024" y="192"/>
              <a:ext cx="1008" cy="120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781" name="Line 7"/>
            <p:cNvSpPr>
              <a:spLocks noChangeShapeType="1"/>
            </p:cNvSpPr>
            <p:nvPr/>
          </p:nvSpPr>
          <p:spPr bwMode="auto">
            <a:xfrm flipH="1">
              <a:off x="2544" y="192"/>
              <a:ext cx="480" cy="1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8681" name="Text Box 9"/>
          <p:cNvSpPr txBox="1">
            <a:spLocks noChangeArrowheads="1"/>
          </p:cNvSpPr>
          <p:nvPr/>
        </p:nvSpPr>
        <p:spPr bwMode="auto">
          <a:xfrm>
            <a:off x="2057400" y="2895600"/>
            <a:ext cx="55626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Times New Roman" charset="0"/>
              </a:rPr>
              <a:t>Rectangular-based pyramids (closed) have five faces:</a:t>
            </a:r>
          </a:p>
        </p:txBody>
      </p:sp>
      <p:sp>
        <p:nvSpPr>
          <p:cNvPr id="28682" name="Text Box 10"/>
          <p:cNvSpPr txBox="1">
            <a:spLocks noChangeArrowheads="1"/>
          </p:cNvSpPr>
          <p:nvPr/>
        </p:nvSpPr>
        <p:spPr bwMode="auto">
          <a:xfrm>
            <a:off x="2895600" y="3657600"/>
            <a:ext cx="434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Times New Roman" charset="0"/>
              </a:rPr>
              <a:t>(1) a base – only one of these!</a:t>
            </a:r>
          </a:p>
        </p:txBody>
      </p:sp>
      <p:sp>
        <p:nvSpPr>
          <p:cNvPr id="28684" name="Text Box 12"/>
          <p:cNvSpPr txBox="1">
            <a:spLocks noChangeArrowheads="1"/>
          </p:cNvSpPr>
          <p:nvPr/>
        </p:nvSpPr>
        <p:spPr bwMode="auto">
          <a:xfrm>
            <a:off x="2895600" y="4191000"/>
            <a:ext cx="4876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Times New Roman" charset="0"/>
              </a:rPr>
              <a:t>(2) a front &amp; back triangular side (same size)</a:t>
            </a:r>
          </a:p>
        </p:txBody>
      </p:sp>
      <p:sp>
        <p:nvSpPr>
          <p:cNvPr id="28685" name="Text Box 13"/>
          <p:cNvSpPr txBox="1">
            <a:spLocks noChangeArrowheads="1"/>
          </p:cNvSpPr>
          <p:nvPr/>
        </p:nvSpPr>
        <p:spPr bwMode="auto">
          <a:xfrm>
            <a:off x="2895600" y="4953000"/>
            <a:ext cx="44196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Times New Roman" charset="0"/>
              </a:rPr>
              <a:t>(3) a left &amp; right triangular side (same size)</a:t>
            </a:r>
          </a:p>
        </p:txBody>
      </p:sp>
      <p:sp>
        <p:nvSpPr>
          <p:cNvPr id="28686" name="Text Box 14"/>
          <p:cNvSpPr txBox="1">
            <a:spLocks noChangeArrowheads="1"/>
          </p:cNvSpPr>
          <p:nvPr/>
        </p:nvSpPr>
        <p:spPr bwMode="auto">
          <a:xfrm>
            <a:off x="1828800" y="5791200"/>
            <a:ext cx="6019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solidFill>
                  <a:srgbClr val="2112EA"/>
                </a:solidFill>
                <a:latin typeface="Times New Roman" charset="0"/>
              </a:rPr>
              <a:t>If it’s a </a:t>
            </a:r>
            <a:r>
              <a:rPr lang="en-AU" sz="2400" u="sng">
                <a:solidFill>
                  <a:srgbClr val="2112EA"/>
                </a:solidFill>
                <a:latin typeface="Times New Roman" charset="0"/>
              </a:rPr>
              <a:t>square</a:t>
            </a:r>
            <a:r>
              <a:rPr lang="en-AU" sz="2400">
                <a:solidFill>
                  <a:srgbClr val="2112EA"/>
                </a:solidFill>
                <a:latin typeface="Times New Roman" charset="0"/>
              </a:rPr>
              <a:t> based pyramid, all 4 sides are the same size!</a:t>
            </a:r>
          </a:p>
        </p:txBody>
      </p:sp>
    </p:spTree>
    <p:extLst>
      <p:ext uri="{BB962C8B-B14F-4D97-AF65-F5344CB8AC3E}">
        <p14:creationId xmlns:p14="http://schemas.microsoft.com/office/powerpoint/2010/main" val="2510318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8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8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/>
      <p:bldP spid="28681" grpId="0"/>
      <p:bldP spid="28682" grpId="0"/>
      <p:bldP spid="28684" grpId="0"/>
      <p:bldP spid="28685" grpId="0"/>
      <p:bldP spid="2868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Text Box 4"/>
          <p:cNvSpPr txBox="1">
            <a:spLocks noChangeArrowheads="1"/>
          </p:cNvSpPr>
          <p:nvPr/>
        </p:nvSpPr>
        <p:spPr bwMode="auto">
          <a:xfrm>
            <a:off x="1835150" y="549275"/>
            <a:ext cx="6769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Times New Roman" charset="0"/>
              </a:rPr>
              <a:t>Summary of formulae in this section</a:t>
            </a:r>
          </a:p>
        </p:txBody>
      </p:sp>
      <p:graphicFrame>
        <p:nvGraphicFramePr>
          <p:cNvPr id="43050" name="Group 42"/>
          <p:cNvGraphicFramePr>
            <a:graphicFrameLocks noGrp="1"/>
          </p:cNvGraphicFramePr>
          <p:nvPr/>
        </p:nvGraphicFramePr>
        <p:xfrm>
          <a:off x="2195513" y="1268413"/>
          <a:ext cx="6096000" cy="4529709"/>
        </p:xfrm>
        <a:graphic>
          <a:graphicData uri="http://schemas.openxmlformats.org/drawingml/2006/table">
            <a:tbl>
              <a:tblPr/>
              <a:tblGrid>
                <a:gridCol w="2305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0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A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Shape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A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Volume Formula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9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AU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ED0F0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All prisms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Rectangular Prism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Triangular Prism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Trapezoidal prism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Cylinder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Cube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en-A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ED0F0F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Volume =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ED0F0F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Area of Base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ED0F0F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Times New Roman" charset="0"/>
                        </a:rPr>
                        <a:t>× Perp Ht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Times New Roman" charset="0"/>
                        </a:rPr>
                        <a:t>For a rectangular prism, V = LBH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Times New Roman" charset="0"/>
                        </a:rPr>
                        <a:t>For a cube, V = S</a:t>
                      </a:r>
                      <a:r>
                        <a:rPr kumimoji="0" lang="en-US" sz="16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ＭＳ Ｐゴシック" charset="0"/>
                        <a:cs typeface="Times New Roman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Times New Roman" charset="0"/>
                        </a:rPr>
                        <a:t>For a cylinder, V =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Times New Roman" charset="0"/>
                          <a:sym typeface="Symbol" charset="0"/>
                        </a:rPr>
                        <a:t>r</a:t>
                      </a:r>
                      <a:r>
                        <a:rPr kumimoji="0" lang="en-US" sz="16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Times New Roman" charset="0"/>
                          <a:sym typeface="Symbol" charset="0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Times New Roman" charset="0"/>
                          <a:sym typeface="Symbol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AU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112EA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“Pointies”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Cones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Pyramids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112EA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Volume =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112EA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1/3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112EA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Times New Roman" charset="0"/>
                        </a:rPr>
                        <a:t>×</a:t>
                      </a: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112EA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 Area of Base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112EA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Times New Roman" charset="0"/>
                        </a:rPr>
                        <a:t>× Perp Ht</a:t>
                      </a:r>
                      <a:endParaRPr kumimoji="0" lang="en-AU" sz="2000" b="0" i="0" u="none" strike="noStrike" cap="none" normalizeH="0" baseline="0">
                        <a:ln>
                          <a:noFill/>
                        </a:ln>
                        <a:solidFill>
                          <a:srgbClr val="2112EA"/>
                        </a:solidFill>
                        <a:effectLst/>
                        <a:latin typeface="Comic Sans MS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AU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Spheres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AU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Volume =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3044" name="Object 36"/>
          <p:cNvGraphicFramePr>
            <a:graphicFrameLocks noChangeAspect="1"/>
          </p:cNvGraphicFramePr>
          <p:nvPr/>
        </p:nvGraphicFramePr>
        <p:xfrm>
          <a:off x="7043738" y="5229225"/>
          <a:ext cx="623887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" name="Equation" r:id="rId3" imgW="406080" imgH="393480" progId="Equation.3">
                  <p:embed/>
                </p:oleObj>
              </mc:Choice>
              <mc:Fallback>
                <p:oleObj name="Equation" r:id="rId3" imgW="4060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3738" y="5229225"/>
                        <a:ext cx="623887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51" name="Text Box 43"/>
          <p:cNvSpPr txBox="1">
            <a:spLocks noChangeArrowheads="1"/>
          </p:cNvSpPr>
          <p:nvPr/>
        </p:nvSpPr>
        <p:spPr bwMode="auto">
          <a:xfrm>
            <a:off x="1331913" y="5949950"/>
            <a:ext cx="7812087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sz="2400"/>
              <a:t>All volumes are in </a:t>
            </a:r>
            <a:r>
              <a:rPr lang="en-AU" sz="2400" u="sng"/>
              <a:t>cubic</a:t>
            </a:r>
            <a:r>
              <a:rPr lang="en-AU" sz="2400"/>
              <a:t> units – </a:t>
            </a:r>
            <a:r>
              <a:rPr lang="en-AU" sz="2400" i="1"/>
              <a:t>m</a:t>
            </a:r>
            <a:r>
              <a:rPr lang="en-AU" sz="2400" baseline="30000"/>
              <a:t>3</a:t>
            </a:r>
            <a:r>
              <a:rPr lang="en-AU" sz="2400"/>
              <a:t>. </a:t>
            </a:r>
            <a:r>
              <a:rPr lang="en-AU" sz="2400" i="1"/>
              <a:t>cm</a:t>
            </a:r>
            <a:r>
              <a:rPr lang="en-AU" sz="2400" baseline="30000"/>
              <a:t>3</a:t>
            </a:r>
            <a:r>
              <a:rPr lang="en-AU" sz="2400"/>
              <a:t>, </a:t>
            </a:r>
            <a:r>
              <a:rPr lang="en-AU" sz="2400" i="1"/>
              <a:t>mm</a:t>
            </a:r>
            <a:r>
              <a:rPr lang="en-AU" sz="2400" baseline="30000"/>
              <a:t>3</a:t>
            </a:r>
          </a:p>
          <a:p>
            <a:pPr algn="ctr" eaLnBrk="1" hangingPunct="1">
              <a:spcBef>
                <a:spcPct val="50000"/>
              </a:spcBef>
            </a:pPr>
            <a:r>
              <a:rPr lang="en-AU" sz="1800">
                <a:solidFill>
                  <a:srgbClr val="ED0F0F"/>
                </a:solidFill>
              </a:rPr>
              <a:t>Because Volume is 3 – DIMENSIONSAL!</a:t>
            </a:r>
          </a:p>
        </p:txBody>
      </p:sp>
    </p:spTree>
    <p:extLst>
      <p:ext uri="{BB962C8B-B14F-4D97-AF65-F5344CB8AC3E}">
        <p14:creationId xmlns:p14="http://schemas.microsoft.com/office/powerpoint/2010/main" val="1725063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3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430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430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430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430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2" grpId="0"/>
      <p:bldP spid="4305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Text Box 4"/>
          <p:cNvSpPr txBox="1">
            <a:spLocks noChangeArrowheads="1"/>
          </p:cNvSpPr>
          <p:nvPr/>
        </p:nvSpPr>
        <p:spPr bwMode="auto">
          <a:xfrm>
            <a:off x="1619250" y="404813"/>
            <a:ext cx="5545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Times New Roman" charset="0"/>
              </a:rPr>
              <a:t>3.1: Volume of a Prism</a:t>
            </a:r>
          </a:p>
        </p:txBody>
      </p:sp>
      <p:sp>
        <p:nvSpPr>
          <p:cNvPr id="46085" name="Text Box 5"/>
          <p:cNvSpPr txBox="1">
            <a:spLocks noChangeArrowheads="1"/>
          </p:cNvSpPr>
          <p:nvPr/>
        </p:nvSpPr>
        <p:spPr bwMode="auto">
          <a:xfrm>
            <a:off x="1403350" y="1068388"/>
            <a:ext cx="6048375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solidFill>
                  <a:srgbClr val="660033"/>
                </a:solidFill>
              </a:rPr>
              <a:t>Prisms are shapes that have a pair of identical, parallel ends (the “</a:t>
            </a:r>
            <a:r>
              <a:rPr lang="en-AU" sz="2400">
                <a:solidFill>
                  <a:srgbClr val="ED0F0F"/>
                </a:solidFill>
              </a:rPr>
              <a:t>base</a:t>
            </a:r>
            <a:r>
              <a:rPr lang="en-AU" sz="2400">
                <a:solidFill>
                  <a:srgbClr val="660033"/>
                </a:solidFill>
              </a:rPr>
              <a:t>” and  top)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2411413" y="4654550"/>
            <a:ext cx="5400675" cy="1079500"/>
            <a:chOff x="1519" y="2750"/>
            <a:chExt cx="3402" cy="680"/>
          </a:xfrm>
        </p:grpSpPr>
        <p:sp>
          <p:nvSpPr>
            <p:cNvPr id="45076" name="Text Box 10"/>
            <p:cNvSpPr txBox="1">
              <a:spLocks noChangeArrowheads="1"/>
            </p:cNvSpPr>
            <p:nvPr/>
          </p:nvSpPr>
          <p:spPr bwMode="auto">
            <a:xfrm>
              <a:off x="1519" y="2752"/>
              <a:ext cx="3357" cy="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AU" sz="2400">
                  <a:solidFill>
                    <a:srgbClr val="0066FF"/>
                  </a:solidFill>
                </a:rPr>
                <a:t>Volume of any prism = </a:t>
              </a:r>
            </a:p>
            <a:p>
              <a:pPr algn="ctr" eaLnBrk="1" hangingPunct="1">
                <a:spcBef>
                  <a:spcPct val="50000"/>
                </a:spcBef>
              </a:pPr>
              <a:r>
                <a:rPr lang="en-AU" sz="2400">
                  <a:solidFill>
                    <a:srgbClr val="0066FF"/>
                  </a:solidFill>
                </a:rPr>
                <a:t>Base Area x Perpendicular Height</a:t>
              </a:r>
            </a:p>
          </p:txBody>
        </p:sp>
        <p:sp>
          <p:nvSpPr>
            <p:cNvPr id="45077" name="Rectangle 11"/>
            <p:cNvSpPr>
              <a:spLocks noChangeArrowheads="1"/>
            </p:cNvSpPr>
            <p:nvPr/>
          </p:nvSpPr>
          <p:spPr bwMode="auto">
            <a:xfrm>
              <a:off x="1519" y="2750"/>
              <a:ext cx="3402" cy="680"/>
            </a:xfrm>
            <a:prstGeom prst="rect">
              <a:avLst/>
            </a:prstGeom>
            <a:noFill/>
            <a:ln w="76200" cap="sq">
              <a:solidFill>
                <a:srgbClr val="00FFFF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6096" name="Text Box 16"/>
          <p:cNvSpPr txBox="1">
            <a:spLocks noChangeArrowheads="1"/>
          </p:cNvSpPr>
          <p:nvPr/>
        </p:nvSpPr>
        <p:spPr bwMode="auto">
          <a:xfrm>
            <a:off x="1403350" y="1793875"/>
            <a:ext cx="619283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solidFill>
                  <a:srgbClr val="660033"/>
                </a:solidFill>
              </a:rPr>
              <a:t>      and straight sides (the “</a:t>
            </a:r>
            <a:r>
              <a:rPr lang="en-AU" sz="2400">
                <a:solidFill>
                  <a:srgbClr val="ED0F0F"/>
                </a:solidFill>
              </a:rPr>
              <a:t>height</a:t>
            </a:r>
            <a:r>
              <a:rPr lang="en-AU" sz="2400">
                <a:solidFill>
                  <a:srgbClr val="660033"/>
                </a:solidFill>
              </a:rPr>
              <a:t>”) perpendicular to the base. </a:t>
            </a:r>
          </a:p>
        </p:txBody>
      </p:sp>
      <p:grpSp>
        <p:nvGrpSpPr>
          <p:cNvPr id="3" name="Group 21"/>
          <p:cNvGrpSpPr>
            <a:grpSpLocks/>
          </p:cNvGrpSpPr>
          <p:nvPr/>
        </p:nvGrpSpPr>
        <p:grpSpPr bwMode="auto">
          <a:xfrm>
            <a:off x="7451725" y="981075"/>
            <a:ext cx="1441450" cy="2713038"/>
            <a:chOff x="4694" y="618"/>
            <a:chExt cx="908" cy="1709"/>
          </a:xfrm>
        </p:grpSpPr>
        <p:grpSp>
          <p:nvGrpSpPr>
            <p:cNvPr id="45072" name="Group 15"/>
            <p:cNvGrpSpPr>
              <a:grpSpLocks/>
            </p:cNvGrpSpPr>
            <p:nvPr/>
          </p:nvGrpSpPr>
          <p:grpSpPr bwMode="auto">
            <a:xfrm>
              <a:off x="4694" y="618"/>
              <a:ext cx="908" cy="1678"/>
              <a:chOff x="4694" y="618"/>
              <a:chExt cx="908" cy="1678"/>
            </a:xfrm>
          </p:grpSpPr>
          <p:sp>
            <p:nvSpPr>
              <p:cNvPr id="45074" name="Oval 13" descr="Bouquet"/>
              <p:cNvSpPr>
                <a:spLocks noChangeArrowheads="1"/>
              </p:cNvSpPr>
              <p:nvPr/>
            </p:nvSpPr>
            <p:spPr bwMode="auto">
              <a:xfrm>
                <a:off x="4694" y="618"/>
                <a:ext cx="908" cy="227"/>
              </a:xfrm>
              <a:prstGeom prst="ellipse">
                <a:avLst/>
              </a:prstGeom>
              <a:blipFill dpi="0" rotWithShape="1">
                <a:blip r:embed="rId2"/>
                <a:srcRect/>
                <a:tile tx="0" ty="0" sx="100000" sy="100000" flip="none" algn="tl"/>
              </a:blip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075" name="Oval 14" descr="Pink tissue paper"/>
              <p:cNvSpPr>
                <a:spLocks noChangeArrowheads="1"/>
              </p:cNvSpPr>
              <p:nvPr/>
            </p:nvSpPr>
            <p:spPr bwMode="auto">
              <a:xfrm>
                <a:off x="4694" y="2069"/>
                <a:ext cx="908" cy="227"/>
              </a:xfrm>
              <a:prstGeom prst="ellipse">
                <a:avLst/>
              </a:prstGeom>
              <a:blipFill dpi="0" rotWithShape="1">
                <a:blip r:embed="rId3"/>
                <a:srcRect/>
                <a:tile tx="0" ty="0" sx="100000" sy="100000" flip="none" algn="tl"/>
              </a:blip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5073" name="Text Box 20"/>
            <p:cNvSpPr txBox="1">
              <a:spLocks noChangeArrowheads="1"/>
            </p:cNvSpPr>
            <p:nvPr/>
          </p:nvSpPr>
          <p:spPr bwMode="auto">
            <a:xfrm>
              <a:off x="4921" y="2115"/>
              <a:ext cx="45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1600">
                  <a:latin typeface="Times New Roman" charset="0"/>
                </a:rPr>
                <a:t>BASE</a:t>
              </a:r>
            </a:p>
          </p:txBody>
        </p:sp>
      </p:grpSp>
      <p:grpSp>
        <p:nvGrpSpPr>
          <p:cNvPr id="5" name="Group 27"/>
          <p:cNvGrpSpPr>
            <a:grpSpLocks/>
          </p:cNvGrpSpPr>
          <p:nvPr/>
        </p:nvGrpSpPr>
        <p:grpSpPr bwMode="auto">
          <a:xfrm>
            <a:off x="7451725" y="1125538"/>
            <a:ext cx="1728788" cy="2374900"/>
            <a:chOff x="4694" y="709"/>
            <a:chExt cx="1089" cy="1496"/>
          </a:xfrm>
        </p:grpSpPr>
        <p:grpSp>
          <p:nvGrpSpPr>
            <p:cNvPr id="45068" name="Group 19"/>
            <p:cNvGrpSpPr>
              <a:grpSpLocks/>
            </p:cNvGrpSpPr>
            <p:nvPr/>
          </p:nvGrpSpPr>
          <p:grpSpPr bwMode="auto">
            <a:xfrm>
              <a:off x="4694" y="709"/>
              <a:ext cx="908" cy="1496"/>
              <a:chOff x="4694" y="709"/>
              <a:chExt cx="908" cy="1496"/>
            </a:xfrm>
          </p:grpSpPr>
          <p:sp>
            <p:nvSpPr>
              <p:cNvPr id="45070" name="Line 17"/>
              <p:cNvSpPr>
                <a:spLocks noChangeShapeType="1"/>
              </p:cNvSpPr>
              <p:nvPr/>
            </p:nvSpPr>
            <p:spPr bwMode="auto">
              <a:xfrm>
                <a:off x="4694" y="709"/>
                <a:ext cx="0" cy="149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5071" name="Line 18"/>
              <p:cNvSpPr>
                <a:spLocks noChangeShapeType="1"/>
              </p:cNvSpPr>
              <p:nvPr/>
            </p:nvSpPr>
            <p:spPr bwMode="auto">
              <a:xfrm>
                <a:off x="5602" y="709"/>
                <a:ext cx="0" cy="149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45069" name="Text Box 22"/>
            <p:cNvSpPr txBox="1">
              <a:spLocks noChangeArrowheads="1"/>
            </p:cNvSpPr>
            <p:nvPr/>
          </p:nvSpPr>
          <p:spPr bwMode="auto">
            <a:xfrm rot="-5400000">
              <a:off x="5246" y="1260"/>
              <a:ext cx="86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1600">
                  <a:latin typeface="Times New Roman" charset="0"/>
                </a:rPr>
                <a:t>HEIGHT</a:t>
              </a:r>
            </a:p>
          </p:txBody>
        </p:sp>
      </p:grpSp>
      <p:sp>
        <p:nvSpPr>
          <p:cNvPr id="46104" name="Text Box 24"/>
          <p:cNvSpPr txBox="1">
            <a:spLocks noChangeArrowheads="1"/>
          </p:cNvSpPr>
          <p:nvPr/>
        </p:nvSpPr>
        <p:spPr bwMode="auto">
          <a:xfrm>
            <a:off x="1403350" y="2133600"/>
            <a:ext cx="5832475" cy="246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solidFill>
                  <a:srgbClr val="660033"/>
                </a:solidFill>
              </a:rPr>
              <a:t>                               Any cut (called a cross-section) made through the shape parallel to the top or base will result in exactly the same shape as the base or the top.</a:t>
            </a:r>
          </a:p>
          <a:p>
            <a:pPr eaLnBrk="1" hangingPunct="1">
              <a:spcBef>
                <a:spcPct val="50000"/>
              </a:spcBef>
            </a:pPr>
            <a:endParaRPr lang="en-AU" sz="2400"/>
          </a:p>
        </p:txBody>
      </p:sp>
      <p:grpSp>
        <p:nvGrpSpPr>
          <p:cNvPr id="7" name="Group 28"/>
          <p:cNvGrpSpPr>
            <a:grpSpLocks/>
          </p:cNvGrpSpPr>
          <p:nvPr/>
        </p:nvGrpSpPr>
        <p:grpSpPr bwMode="auto">
          <a:xfrm>
            <a:off x="7019925" y="2133600"/>
            <a:ext cx="1873250" cy="457200"/>
            <a:chOff x="4422" y="1344"/>
            <a:chExt cx="1180" cy="288"/>
          </a:xfrm>
        </p:grpSpPr>
        <p:sp>
          <p:nvSpPr>
            <p:cNvPr id="45066" name="Text Box 25"/>
            <p:cNvSpPr txBox="1">
              <a:spLocks noChangeArrowheads="1"/>
            </p:cNvSpPr>
            <p:nvPr/>
          </p:nvSpPr>
          <p:spPr bwMode="auto">
            <a:xfrm>
              <a:off x="4422" y="1344"/>
              <a:ext cx="3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2400">
                  <a:latin typeface="Times New Roman" charset="0"/>
                  <a:sym typeface="Wingdings" charset="0"/>
                </a:rPr>
                <a:t></a:t>
              </a:r>
            </a:p>
          </p:txBody>
        </p:sp>
        <p:sp>
          <p:nvSpPr>
            <p:cNvPr id="45067" name="Oval 26"/>
            <p:cNvSpPr>
              <a:spLocks noChangeArrowheads="1"/>
            </p:cNvSpPr>
            <p:nvPr/>
          </p:nvSpPr>
          <p:spPr bwMode="auto">
            <a:xfrm>
              <a:off x="4694" y="1389"/>
              <a:ext cx="908" cy="181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35910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0" fill="hold"/>
                                        <p:tgtEl>
                                          <p:spTgt spid="46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0" fill="hold"/>
                                        <p:tgtEl>
                                          <p:spTgt spid="46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6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6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4" grpId="0"/>
      <p:bldP spid="46085" grpId="0"/>
      <p:bldP spid="46096" grpId="0"/>
      <p:bldP spid="4610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6" name="Text Box 4"/>
          <p:cNvSpPr txBox="1">
            <a:spLocks noChangeArrowheads="1"/>
          </p:cNvSpPr>
          <p:nvPr/>
        </p:nvSpPr>
        <p:spPr bwMode="auto">
          <a:xfrm>
            <a:off x="1619250" y="404813"/>
            <a:ext cx="554513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Times New Roman" charset="0"/>
              </a:rPr>
              <a:t>3.2: Volume of a “Pointy” shape :   Cones and Pyramids</a:t>
            </a:r>
          </a:p>
        </p:txBody>
      </p:sp>
      <p:sp>
        <p:nvSpPr>
          <p:cNvPr id="49157" name="Line 5"/>
          <p:cNvSpPr>
            <a:spLocks noChangeShapeType="1"/>
          </p:cNvSpPr>
          <p:nvPr/>
        </p:nvSpPr>
        <p:spPr bwMode="auto">
          <a:xfrm>
            <a:off x="4932363" y="1268413"/>
            <a:ext cx="0" cy="5113337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2124075" y="1341438"/>
            <a:ext cx="1943100" cy="1943100"/>
            <a:chOff x="1338" y="845"/>
            <a:chExt cx="1224" cy="1224"/>
          </a:xfrm>
        </p:grpSpPr>
        <p:sp>
          <p:nvSpPr>
            <p:cNvPr id="3106" name="Oval 6"/>
            <p:cNvSpPr>
              <a:spLocks noChangeArrowheads="1"/>
            </p:cNvSpPr>
            <p:nvPr/>
          </p:nvSpPr>
          <p:spPr bwMode="auto">
            <a:xfrm>
              <a:off x="1338" y="1706"/>
              <a:ext cx="1224" cy="363"/>
            </a:xfrm>
            <a:prstGeom prst="ellipse">
              <a:avLst/>
            </a:prstGeom>
            <a:gradFill rotWithShape="1">
              <a:gsLst>
                <a:gs pos="0">
                  <a:srgbClr val="F3A3ED"/>
                </a:gs>
                <a:gs pos="100000">
                  <a:srgbClr val="704B6E"/>
                </a:gs>
              </a:gsLst>
              <a:lin ang="0" scaled="1"/>
            </a:gra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7" name="Line 7"/>
            <p:cNvSpPr>
              <a:spLocks noChangeShapeType="1"/>
            </p:cNvSpPr>
            <p:nvPr/>
          </p:nvSpPr>
          <p:spPr bwMode="auto">
            <a:xfrm flipH="1">
              <a:off x="1338" y="845"/>
              <a:ext cx="589" cy="1043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08" name="Line 8"/>
            <p:cNvSpPr>
              <a:spLocks noChangeShapeType="1"/>
            </p:cNvSpPr>
            <p:nvPr/>
          </p:nvSpPr>
          <p:spPr bwMode="auto">
            <a:xfrm>
              <a:off x="1927" y="845"/>
              <a:ext cx="633" cy="1011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" name="Group 24"/>
          <p:cNvGrpSpPr>
            <a:grpSpLocks/>
          </p:cNvGrpSpPr>
          <p:nvPr/>
        </p:nvGrpSpPr>
        <p:grpSpPr bwMode="auto">
          <a:xfrm>
            <a:off x="1476375" y="2997200"/>
            <a:ext cx="1943100" cy="1176338"/>
            <a:chOff x="930" y="1888"/>
            <a:chExt cx="1134" cy="741"/>
          </a:xfrm>
        </p:grpSpPr>
        <p:sp>
          <p:nvSpPr>
            <p:cNvPr id="3104" name="Line 16"/>
            <p:cNvSpPr>
              <a:spLocks noChangeShapeType="1"/>
            </p:cNvSpPr>
            <p:nvPr/>
          </p:nvSpPr>
          <p:spPr bwMode="auto">
            <a:xfrm flipV="1">
              <a:off x="1292" y="1888"/>
              <a:ext cx="590" cy="453"/>
            </a:xfrm>
            <a:prstGeom prst="line">
              <a:avLst/>
            </a:prstGeom>
            <a:noFill/>
            <a:ln w="38100" cap="sq">
              <a:solidFill>
                <a:srgbClr val="0066FF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05" name="Text Box 17"/>
            <p:cNvSpPr txBox="1">
              <a:spLocks noChangeArrowheads="1"/>
            </p:cNvSpPr>
            <p:nvPr/>
          </p:nvSpPr>
          <p:spPr bwMode="auto">
            <a:xfrm>
              <a:off x="930" y="2341"/>
              <a:ext cx="113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2400">
                  <a:solidFill>
                    <a:srgbClr val="0066FF"/>
                  </a:solidFill>
                </a:rPr>
                <a:t>Base = </a:t>
              </a:r>
              <a:r>
                <a:rPr lang="en-AU" sz="2400">
                  <a:solidFill>
                    <a:srgbClr val="0066FF"/>
                  </a:solidFill>
                  <a:sym typeface="Symbol" charset="0"/>
                </a:rPr>
                <a:t></a:t>
              </a:r>
              <a:r>
                <a:rPr lang="en-AU" sz="2400" i="1">
                  <a:solidFill>
                    <a:srgbClr val="0066FF"/>
                  </a:solidFill>
                  <a:sym typeface="Symbol" charset="0"/>
                </a:rPr>
                <a:t>R </a:t>
              </a:r>
              <a:r>
                <a:rPr lang="en-AU" sz="2400" baseline="30000">
                  <a:solidFill>
                    <a:srgbClr val="0066FF"/>
                  </a:solidFill>
                  <a:sym typeface="Symbol" charset="0"/>
                </a:rPr>
                <a:t>2</a:t>
              </a:r>
              <a:endParaRPr lang="en-AU" sz="2400">
                <a:solidFill>
                  <a:srgbClr val="0066FF"/>
                </a:solidFill>
                <a:sym typeface="Symbol" charset="0"/>
              </a:endParaRPr>
            </a:p>
          </p:txBody>
        </p:sp>
      </p:grpSp>
      <p:grpSp>
        <p:nvGrpSpPr>
          <p:cNvPr id="4" name="Group 26"/>
          <p:cNvGrpSpPr>
            <a:grpSpLocks/>
          </p:cNvGrpSpPr>
          <p:nvPr/>
        </p:nvGrpSpPr>
        <p:grpSpPr bwMode="auto">
          <a:xfrm>
            <a:off x="4067175" y="1341438"/>
            <a:ext cx="576263" cy="1655762"/>
            <a:chOff x="2562" y="845"/>
            <a:chExt cx="363" cy="1043"/>
          </a:xfrm>
        </p:grpSpPr>
        <p:sp>
          <p:nvSpPr>
            <p:cNvPr id="3102" name="Line 18"/>
            <p:cNvSpPr>
              <a:spLocks noChangeShapeType="1"/>
            </p:cNvSpPr>
            <p:nvPr/>
          </p:nvSpPr>
          <p:spPr bwMode="auto">
            <a:xfrm>
              <a:off x="2608" y="845"/>
              <a:ext cx="0" cy="1043"/>
            </a:xfrm>
            <a:prstGeom prst="line">
              <a:avLst/>
            </a:prstGeom>
            <a:noFill/>
            <a:ln w="38100" cap="sq">
              <a:solidFill>
                <a:srgbClr val="0066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03" name="Text Box 19"/>
            <p:cNvSpPr txBox="1">
              <a:spLocks noChangeArrowheads="1"/>
            </p:cNvSpPr>
            <p:nvPr/>
          </p:nvSpPr>
          <p:spPr bwMode="auto">
            <a:xfrm>
              <a:off x="2562" y="1253"/>
              <a:ext cx="3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2400" i="1">
                  <a:solidFill>
                    <a:srgbClr val="0066FF"/>
                  </a:solidFill>
                </a:rPr>
                <a:t>H</a:t>
              </a:r>
            </a:p>
          </p:txBody>
        </p:sp>
      </p:grpSp>
      <p:sp>
        <p:nvSpPr>
          <p:cNvPr id="49172" name="Text Box 20"/>
          <p:cNvSpPr txBox="1">
            <a:spLocks noChangeArrowheads="1"/>
          </p:cNvSpPr>
          <p:nvPr/>
        </p:nvSpPr>
        <p:spPr bwMode="auto">
          <a:xfrm>
            <a:off x="1258888" y="4437063"/>
            <a:ext cx="37449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sz="1800"/>
              <a:t>V = 1/3 </a:t>
            </a:r>
            <a:r>
              <a:rPr lang="en-US" sz="1800">
                <a:cs typeface="Times New Roman" charset="0"/>
              </a:rPr>
              <a:t>× base area × perp ht</a:t>
            </a:r>
          </a:p>
        </p:txBody>
      </p:sp>
      <p:grpSp>
        <p:nvGrpSpPr>
          <p:cNvPr id="5" name="Group 23"/>
          <p:cNvGrpSpPr>
            <a:grpSpLocks/>
          </p:cNvGrpSpPr>
          <p:nvPr/>
        </p:nvGrpSpPr>
        <p:grpSpPr bwMode="auto">
          <a:xfrm>
            <a:off x="2051050" y="4941888"/>
            <a:ext cx="1944688" cy="719137"/>
            <a:chOff x="1292" y="3113"/>
            <a:chExt cx="1225" cy="453"/>
          </a:xfrm>
        </p:grpSpPr>
        <p:graphicFrame>
          <p:nvGraphicFramePr>
            <p:cNvPr id="3075" name="Object 21"/>
            <p:cNvGraphicFramePr>
              <a:graphicFrameLocks noChangeAspect="1"/>
            </p:cNvGraphicFramePr>
            <p:nvPr/>
          </p:nvGraphicFramePr>
          <p:xfrm>
            <a:off x="1467" y="3119"/>
            <a:ext cx="856" cy="4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95" name="Equation" r:id="rId3" imgW="838080" imgH="393480" progId="Equation.3">
                    <p:embed/>
                  </p:oleObj>
                </mc:Choice>
                <mc:Fallback>
                  <p:oleObj name="Equation" r:id="rId3" imgW="83808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7" y="3119"/>
                          <a:ext cx="856" cy="4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01" name="Rectangle 22"/>
            <p:cNvSpPr>
              <a:spLocks noChangeArrowheads="1"/>
            </p:cNvSpPr>
            <p:nvPr/>
          </p:nvSpPr>
          <p:spPr bwMode="auto">
            <a:xfrm>
              <a:off x="1292" y="3113"/>
              <a:ext cx="1225" cy="453"/>
            </a:xfrm>
            <a:prstGeom prst="rect">
              <a:avLst/>
            </a:prstGeom>
            <a:noFill/>
            <a:ln w="76200" cap="sq">
              <a:solidFill>
                <a:srgbClr val="D60093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35"/>
          <p:cNvGrpSpPr>
            <a:grpSpLocks/>
          </p:cNvGrpSpPr>
          <p:nvPr/>
        </p:nvGrpSpPr>
        <p:grpSpPr bwMode="auto">
          <a:xfrm>
            <a:off x="5940425" y="1341438"/>
            <a:ext cx="2447925" cy="2093912"/>
            <a:chOff x="3742" y="845"/>
            <a:chExt cx="1542" cy="1319"/>
          </a:xfrm>
        </p:grpSpPr>
        <p:grpSp>
          <p:nvGrpSpPr>
            <p:cNvPr id="3090" name="Group 14"/>
            <p:cNvGrpSpPr>
              <a:grpSpLocks/>
            </p:cNvGrpSpPr>
            <p:nvPr/>
          </p:nvGrpSpPr>
          <p:grpSpPr bwMode="auto">
            <a:xfrm>
              <a:off x="3742" y="845"/>
              <a:ext cx="1361" cy="1134"/>
              <a:chOff x="3742" y="845"/>
              <a:chExt cx="1361" cy="1134"/>
            </a:xfrm>
          </p:grpSpPr>
          <p:sp>
            <p:nvSpPr>
              <p:cNvPr id="3096" name="AutoShape 9"/>
              <p:cNvSpPr>
                <a:spLocks noChangeArrowheads="1"/>
              </p:cNvSpPr>
              <p:nvPr/>
            </p:nvSpPr>
            <p:spPr bwMode="auto">
              <a:xfrm>
                <a:off x="3742" y="1752"/>
                <a:ext cx="1361" cy="227"/>
              </a:xfrm>
              <a:prstGeom prst="parallelogram">
                <a:avLst>
                  <a:gd name="adj" fmla="val 149890"/>
                </a:avLst>
              </a:prstGeom>
              <a:gradFill rotWithShape="1">
                <a:gsLst>
                  <a:gs pos="0">
                    <a:srgbClr val="3C7234"/>
                  </a:gs>
                  <a:gs pos="50000">
                    <a:srgbClr val="81F771"/>
                  </a:gs>
                  <a:gs pos="100000">
                    <a:srgbClr val="3C7234"/>
                  </a:gs>
                </a:gsLst>
                <a:lin ang="5400000" scaled="1"/>
              </a:gradFill>
              <a:ln w="381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97" name="Line 10"/>
              <p:cNvSpPr>
                <a:spLocks noChangeShapeType="1"/>
              </p:cNvSpPr>
              <p:nvPr/>
            </p:nvSpPr>
            <p:spPr bwMode="auto">
              <a:xfrm>
                <a:off x="4377" y="845"/>
                <a:ext cx="363" cy="1134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098" name="Line 11"/>
              <p:cNvSpPr>
                <a:spLocks noChangeShapeType="1"/>
              </p:cNvSpPr>
              <p:nvPr/>
            </p:nvSpPr>
            <p:spPr bwMode="auto">
              <a:xfrm>
                <a:off x="4377" y="845"/>
                <a:ext cx="726" cy="907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099" name="Line 12"/>
              <p:cNvSpPr>
                <a:spLocks noChangeShapeType="1"/>
              </p:cNvSpPr>
              <p:nvPr/>
            </p:nvSpPr>
            <p:spPr bwMode="auto">
              <a:xfrm flipH="1">
                <a:off x="4059" y="845"/>
                <a:ext cx="318" cy="90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dashDot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100" name="Line 13"/>
              <p:cNvSpPr>
                <a:spLocks noChangeShapeType="1"/>
              </p:cNvSpPr>
              <p:nvPr/>
            </p:nvSpPr>
            <p:spPr bwMode="auto">
              <a:xfrm flipH="1">
                <a:off x="3742" y="845"/>
                <a:ext cx="635" cy="1134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3091" name="Group 27"/>
            <p:cNvGrpSpPr>
              <a:grpSpLocks/>
            </p:cNvGrpSpPr>
            <p:nvPr/>
          </p:nvGrpSpPr>
          <p:grpSpPr bwMode="auto">
            <a:xfrm>
              <a:off x="4331" y="845"/>
              <a:ext cx="363" cy="1043"/>
              <a:chOff x="2562" y="845"/>
              <a:chExt cx="363" cy="1043"/>
            </a:xfrm>
          </p:grpSpPr>
          <p:sp>
            <p:nvSpPr>
              <p:cNvPr id="3094" name="Line 28"/>
              <p:cNvSpPr>
                <a:spLocks noChangeShapeType="1"/>
              </p:cNvSpPr>
              <p:nvPr/>
            </p:nvSpPr>
            <p:spPr bwMode="auto">
              <a:xfrm>
                <a:off x="2608" y="845"/>
                <a:ext cx="0" cy="1043"/>
              </a:xfrm>
              <a:prstGeom prst="line">
                <a:avLst/>
              </a:prstGeom>
              <a:noFill/>
              <a:ln w="38100" cap="sq">
                <a:solidFill>
                  <a:srgbClr val="0066FF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095" name="Text Box 29"/>
              <p:cNvSpPr txBox="1">
                <a:spLocks noChangeArrowheads="1"/>
              </p:cNvSpPr>
              <p:nvPr/>
            </p:nvSpPr>
            <p:spPr bwMode="auto">
              <a:xfrm>
                <a:off x="2562" y="1253"/>
                <a:ext cx="363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AU" sz="1800" i="1">
                    <a:solidFill>
                      <a:srgbClr val="0066FF"/>
                    </a:solidFill>
                  </a:rPr>
                  <a:t>H</a:t>
                </a:r>
              </a:p>
            </p:txBody>
          </p:sp>
        </p:grpSp>
        <p:sp>
          <p:nvSpPr>
            <p:cNvPr id="3092" name="Text Box 33"/>
            <p:cNvSpPr txBox="1">
              <a:spLocks noChangeArrowheads="1"/>
            </p:cNvSpPr>
            <p:nvPr/>
          </p:nvSpPr>
          <p:spPr bwMode="auto">
            <a:xfrm>
              <a:off x="4240" y="1933"/>
              <a:ext cx="40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1800" i="1">
                  <a:solidFill>
                    <a:srgbClr val="0066FF"/>
                  </a:solidFill>
                </a:rPr>
                <a:t>L</a:t>
              </a:r>
            </a:p>
          </p:txBody>
        </p:sp>
        <p:sp>
          <p:nvSpPr>
            <p:cNvPr id="3093" name="Text Box 34"/>
            <p:cNvSpPr txBox="1">
              <a:spLocks noChangeArrowheads="1"/>
            </p:cNvSpPr>
            <p:nvPr/>
          </p:nvSpPr>
          <p:spPr bwMode="auto">
            <a:xfrm>
              <a:off x="4875" y="1797"/>
              <a:ext cx="40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1800" i="1">
                  <a:solidFill>
                    <a:srgbClr val="0066FF"/>
                  </a:solidFill>
                </a:rPr>
                <a:t>B</a:t>
              </a:r>
            </a:p>
          </p:txBody>
        </p:sp>
      </p:grpSp>
      <p:grpSp>
        <p:nvGrpSpPr>
          <p:cNvPr id="9" name="Group 36"/>
          <p:cNvGrpSpPr>
            <a:grpSpLocks/>
          </p:cNvGrpSpPr>
          <p:nvPr/>
        </p:nvGrpSpPr>
        <p:grpSpPr bwMode="auto">
          <a:xfrm>
            <a:off x="5219700" y="2925763"/>
            <a:ext cx="2376488" cy="1174750"/>
            <a:chOff x="3288" y="1843"/>
            <a:chExt cx="1497" cy="740"/>
          </a:xfrm>
        </p:grpSpPr>
        <p:sp>
          <p:nvSpPr>
            <p:cNvPr id="3088" name="Text Box 32"/>
            <p:cNvSpPr txBox="1">
              <a:spLocks noChangeArrowheads="1"/>
            </p:cNvSpPr>
            <p:nvPr/>
          </p:nvSpPr>
          <p:spPr bwMode="auto">
            <a:xfrm>
              <a:off x="3288" y="2295"/>
              <a:ext cx="149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2400">
                  <a:solidFill>
                    <a:srgbClr val="0066FF"/>
                  </a:solidFill>
                </a:rPr>
                <a:t>Base = </a:t>
              </a:r>
              <a:r>
                <a:rPr lang="en-AU" sz="2400" i="1">
                  <a:solidFill>
                    <a:srgbClr val="0066FF"/>
                  </a:solidFill>
                </a:rPr>
                <a:t>L x B</a:t>
              </a:r>
              <a:endParaRPr lang="en-AU" sz="2400" i="1">
                <a:solidFill>
                  <a:srgbClr val="0066FF"/>
                </a:solidFill>
                <a:sym typeface="Symbol" charset="0"/>
              </a:endParaRPr>
            </a:p>
          </p:txBody>
        </p:sp>
        <p:sp>
          <p:nvSpPr>
            <p:cNvPr id="3089" name="Line 31"/>
            <p:cNvSpPr>
              <a:spLocks noChangeShapeType="1"/>
            </p:cNvSpPr>
            <p:nvPr/>
          </p:nvSpPr>
          <p:spPr bwMode="auto">
            <a:xfrm flipV="1">
              <a:off x="3470" y="1843"/>
              <a:ext cx="779" cy="453"/>
            </a:xfrm>
            <a:prstGeom prst="line">
              <a:avLst/>
            </a:prstGeom>
            <a:noFill/>
            <a:ln w="38100" cap="sq">
              <a:solidFill>
                <a:srgbClr val="0066FF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49189" name="Text Box 37"/>
          <p:cNvSpPr txBox="1">
            <a:spLocks noChangeArrowheads="1"/>
          </p:cNvSpPr>
          <p:nvPr/>
        </p:nvSpPr>
        <p:spPr bwMode="auto">
          <a:xfrm>
            <a:off x="5219700" y="4437063"/>
            <a:ext cx="37449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sz="1800"/>
              <a:t>V = 1/3 </a:t>
            </a:r>
            <a:r>
              <a:rPr lang="en-US" sz="1800">
                <a:cs typeface="Times New Roman" charset="0"/>
              </a:rPr>
              <a:t>× base area × perp ht</a:t>
            </a:r>
          </a:p>
        </p:txBody>
      </p:sp>
      <p:grpSp>
        <p:nvGrpSpPr>
          <p:cNvPr id="10" name="Group 38"/>
          <p:cNvGrpSpPr>
            <a:grpSpLocks/>
          </p:cNvGrpSpPr>
          <p:nvPr/>
        </p:nvGrpSpPr>
        <p:grpSpPr bwMode="auto">
          <a:xfrm>
            <a:off x="6227763" y="4941888"/>
            <a:ext cx="1944687" cy="719137"/>
            <a:chOff x="1292" y="3113"/>
            <a:chExt cx="1225" cy="453"/>
          </a:xfrm>
        </p:grpSpPr>
        <p:graphicFrame>
          <p:nvGraphicFramePr>
            <p:cNvPr id="3074" name="Object 39"/>
            <p:cNvGraphicFramePr>
              <a:graphicFrameLocks noChangeAspect="1"/>
            </p:cNvGraphicFramePr>
            <p:nvPr/>
          </p:nvGraphicFramePr>
          <p:xfrm>
            <a:off x="1499" y="3119"/>
            <a:ext cx="791" cy="4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96" name="Equation" r:id="rId5" imgW="774360" imgH="393480" progId="Equation.3">
                    <p:embed/>
                  </p:oleObj>
                </mc:Choice>
                <mc:Fallback>
                  <p:oleObj name="Equation" r:id="rId5" imgW="77436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9" y="3119"/>
                          <a:ext cx="791" cy="4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7" name="Rectangle 40"/>
            <p:cNvSpPr>
              <a:spLocks noChangeArrowheads="1"/>
            </p:cNvSpPr>
            <p:nvPr/>
          </p:nvSpPr>
          <p:spPr bwMode="auto">
            <a:xfrm>
              <a:off x="1292" y="3113"/>
              <a:ext cx="1225" cy="453"/>
            </a:xfrm>
            <a:prstGeom prst="rect">
              <a:avLst/>
            </a:prstGeom>
            <a:noFill/>
            <a:ln w="76200" cap="sq">
              <a:solidFill>
                <a:srgbClr val="D60093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93481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9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49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5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6" grpId="0"/>
      <p:bldP spid="49157" grpId="0" animBg="1"/>
      <p:bldP spid="49172" grpId="0"/>
      <p:bldP spid="4918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8" name="Text Box 4"/>
          <p:cNvSpPr txBox="1">
            <a:spLocks noChangeArrowheads="1"/>
          </p:cNvSpPr>
          <p:nvPr/>
        </p:nvSpPr>
        <p:spPr bwMode="auto">
          <a:xfrm>
            <a:off x="1619250" y="404813"/>
            <a:ext cx="5545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Times New Roman" charset="0"/>
              </a:rPr>
              <a:t>3.3: Volume of a Sphere</a:t>
            </a: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4572000" y="981075"/>
            <a:ext cx="1905000" cy="1752600"/>
            <a:chOff x="2880" y="618"/>
            <a:chExt cx="1200" cy="1104"/>
          </a:xfrm>
        </p:grpSpPr>
        <p:sp>
          <p:nvSpPr>
            <p:cNvPr id="4109" name="Oval 5"/>
            <p:cNvSpPr>
              <a:spLocks noChangeArrowheads="1"/>
            </p:cNvSpPr>
            <p:nvPr/>
          </p:nvSpPr>
          <p:spPr bwMode="auto">
            <a:xfrm>
              <a:off x="2880" y="618"/>
              <a:ext cx="1200" cy="1104"/>
            </a:xfrm>
            <a:prstGeom prst="ellipse">
              <a:avLst/>
            </a:prstGeom>
            <a:gradFill rotWithShape="1">
              <a:gsLst>
                <a:gs pos="0">
                  <a:srgbClr val="81F771"/>
                </a:gs>
                <a:gs pos="100000">
                  <a:srgbClr val="3C7234"/>
                </a:gs>
              </a:gsLst>
              <a:lin ang="5400000" scaled="1"/>
            </a:gra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endParaRPr lang="en-AU" sz="2400" b="0">
                <a:latin typeface="Times New Roman" charset="0"/>
              </a:endParaRPr>
            </a:p>
          </p:txBody>
        </p:sp>
        <p:sp>
          <p:nvSpPr>
            <p:cNvPr id="4110" name="Arc 6"/>
            <p:cNvSpPr>
              <a:spLocks/>
            </p:cNvSpPr>
            <p:nvPr/>
          </p:nvSpPr>
          <p:spPr bwMode="auto">
            <a:xfrm>
              <a:off x="3515" y="754"/>
              <a:ext cx="272" cy="181"/>
            </a:xfrm>
            <a:custGeom>
              <a:avLst/>
              <a:gdLst>
                <a:gd name="T0" fmla="*/ 0 w 21600"/>
                <a:gd name="T1" fmla="*/ 0 h 21600"/>
                <a:gd name="T2" fmla="*/ 272 w 21600"/>
                <a:gd name="T3" fmla="*/ 181 h 21600"/>
                <a:gd name="T4" fmla="*/ 0 w 21600"/>
                <a:gd name="T5" fmla="*/ 181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1" name="Arc 7"/>
            <p:cNvSpPr>
              <a:spLocks/>
            </p:cNvSpPr>
            <p:nvPr/>
          </p:nvSpPr>
          <p:spPr bwMode="auto">
            <a:xfrm>
              <a:off x="3470" y="799"/>
              <a:ext cx="272" cy="181"/>
            </a:xfrm>
            <a:custGeom>
              <a:avLst/>
              <a:gdLst>
                <a:gd name="T0" fmla="*/ 0 w 21600"/>
                <a:gd name="T1" fmla="*/ 0 h 21600"/>
                <a:gd name="T2" fmla="*/ 272 w 21600"/>
                <a:gd name="T3" fmla="*/ 181 h 21600"/>
                <a:gd name="T4" fmla="*/ 0 w 21600"/>
                <a:gd name="T5" fmla="*/ 181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2" name="Arc 8"/>
            <p:cNvSpPr>
              <a:spLocks/>
            </p:cNvSpPr>
            <p:nvPr/>
          </p:nvSpPr>
          <p:spPr bwMode="auto">
            <a:xfrm rot="2968030">
              <a:off x="3787" y="1026"/>
              <a:ext cx="272" cy="181"/>
            </a:xfrm>
            <a:custGeom>
              <a:avLst/>
              <a:gdLst>
                <a:gd name="T0" fmla="*/ 0 w 21572"/>
                <a:gd name="T1" fmla="*/ 0 h 21600"/>
                <a:gd name="T2" fmla="*/ 272 w 21572"/>
                <a:gd name="T3" fmla="*/ 172 h 21600"/>
                <a:gd name="T4" fmla="*/ 0 w 21572"/>
                <a:gd name="T5" fmla="*/ 181 h 21600"/>
                <a:gd name="T6" fmla="*/ 0 60000 65536"/>
                <a:gd name="T7" fmla="*/ 0 60000 65536"/>
                <a:gd name="T8" fmla="*/ 0 60000 65536"/>
                <a:gd name="T9" fmla="*/ 0 w 21572"/>
                <a:gd name="T10" fmla="*/ 0 h 21600"/>
                <a:gd name="T11" fmla="*/ 21572 w 2157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72" h="21600" fill="none" extrusionOk="0">
                  <a:moveTo>
                    <a:pt x="-1" y="0"/>
                  </a:moveTo>
                  <a:cubicBezTo>
                    <a:pt x="11499" y="0"/>
                    <a:pt x="20983" y="9010"/>
                    <a:pt x="21571" y="20495"/>
                  </a:cubicBezTo>
                </a:path>
                <a:path w="21572" h="21600" stroke="0" extrusionOk="0">
                  <a:moveTo>
                    <a:pt x="-1" y="0"/>
                  </a:moveTo>
                  <a:cubicBezTo>
                    <a:pt x="11499" y="0"/>
                    <a:pt x="20983" y="9010"/>
                    <a:pt x="21571" y="20495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prstDash val="dash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52233" name="Object 9"/>
          <p:cNvGraphicFramePr>
            <a:graphicFrameLocks noChangeAspect="1"/>
          </p:cNvGraphicFramePr>
          <p:nvPr/>
        </p:nvGraphicFramePr>
        <p:xfrm>
          <a:off x="2484438" y="1844675"/>
          <a:ext cx="1566862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5" name="Equation" r:id="rId3" imgW="685800" imgH="393480" progId="Equation.3">
                  <p:embed/>
                </p:oleObj>
              </mc:Choice>
              <mc:Fallback>
                <p:oleObj name="Equation" r:id="rId3" imgW="6858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1844675"/>
                        <a:ext cx="1566862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4" name="Line 10"/>
          <p:cNvSpPr>
            <a:spLocks noChangeShapeType="1"/>
          </p:cNvSpPr>
          <p:nvPr/>
        </p:nvSpPr>
        <p:spPr bwMode="auto">
          <a:xfrm>
            <a:off x="1476375" y="3068638"/>
            <a:ext cx="7488238" cy="0"/>
          </a:xfrm>
          <a:prstGeom prst="line">
            <a:avLst/>
          </a:prstGeom>
          <a:noFill/>
          <a:ln w="76200" cap="sq">
            <a:solidFill>
              <a:srgbClr val="D6009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3" name="Group 21"/>
          <p:cNvGrpSpPr>
            <a:grpSpLocks/>
          </p:cNvGrpSpPr>
          <p:nvPr/>
        </p:nvGrpSpPr>
        <p:grpSpPr bwMode="auto">
          <a:xfrm>
            <a:off x="1882775" y="3398838"/>
            <a:ext cx="2039938" cy="2027237"/>
            <a:chOff x="1186" y="2141"/>
            <a:chExt cx="1285" cy="1277"/>
          </a:xfrm>
        </p:grpSpPr>
        <p:sp>
          <p:nvSpPr>
            <p:cNvPr id="4106" name="Oval 11"/>
            <p:cNvSpPr>
              <a:spLocks noChangeArrowheads="1"/>
            </p:cNvSpPr>
            <p:nvPr/>
          </p:nvSpPr>
          <p:spPr bwMode="auto">
            <a:xfrm rot="-2735167">
              <a:off x="1190" y="2137"/>
              <a:ext cx="1277" cy="1285"/>
            </a:xfrm>
            <a:prstGeom prst="ellipse">
              <a:avLst/>
            </a:prstGeom>
            <a:gradFill rotWithShape="1">
              <a:gsLst>
                <a:gs pos="0">
                  <a:srgbClr val="762F76"/>
                </a:gs>
                <a:gs pos="100000">
                  <a:srgbClr val="FF66FF">
                    <a:alpha val="53000"/>
                  </a:srgbClr>
                </a:gs>
              </a:gsLst>
              <a:lin ang="5400000" scaled="1"/>
            </a:gra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vert="eaVert" wrap="none" anchor="ctr"/>
            <a:lstStyle/>
            <a:p>
              <a:pPr algn="ctr"/>
              <a:endParaRPr lang="en-AU" sz="2400" b="0">
                <a:latin typeface="Times New Roman" charset="0"/>
              </a:endParaRPr>
            </a:p>
          </p:txBody>
        </p:sp>
        <p:sp>
          <p:nvSpPr>
            <p:cNvPr id="4107" name="Text Box 15"/>
            <p:cNvSpPr txBox="1">
              <a:spLocks noChangeArrowheads="1"/>
            </p:cNvSpPr>
            <p:nvPr/>
          </p:nvSpPr>
          <p:spPr bwMode="auto">
            <a:xfrm rot="1393892">
              <a:off x="1565" y="2507"/>
              <a:ext cx="63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2400">
                  <a:solidFill>
                    <a:srgbClr val="F5F6FD"/>
                  </a:solidFill>
                </a:rPr>
                <a:t>11cm</a:t>
              </a:r>
            </a:p>
          </p:txBody>
        </p:sp>
        <p:sp>
          <p:nvSpPr>
            <p:cNvPr id="4108" name="Line 16"/>
            <p:cNvSpPr>
              <a:spLocks noChangeShapeType="1"/>
            </p:cNvSpPr>
            <p:nvPr/>
          </p:nvSpPr>
          <p:spPr bwMode="auto">
            <a:xfrm>
              <a:off x="1202" y="2523"/>
              <a:ext cx="1224" cy="499"/>
            </a:xfrm>
            <a:prstGeom prst="line">
              <a:avLst/>
            </a:prstGeom>
            <a:noFill/>
            <a:ln w="38100" cap="sq">
              <a:solidFill>
                <a:srgbClr val="F5F6FD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aphicFrame>
        <p:nvGraphicFramePr>
          <p:cNvPr id="52241" name="Object 17"/>
          <p:cNvGraphicFramePr>
            <a:graphicFrameLocks noChangeAspect="1"/>
          </p:cNvGraphicFramePr>
          <p:nvPr/>
        </p:nvGraphicFramePr>
        <p:xfrm>
          <a:off x="5165725" y="3105150"/>
          <a:ext cx="1566863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6" name="Equation" r:id="rId5" imgW="685800" imgH="393480" progId="Equation.3">
                  <p:embed/>
                </p:oleObj>
              </mc:Choice>
              <mc:Fallback>
                <p:oleObj name="Equation" r:id="rId5" imgW="6858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5725" y="3105150"/>
                        <a:ext cx="1566863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2" name="Object 18"/>
          <p:cNvGraphicFramePr>
            <a:graphicFrameLocks noChangeAspect="1"/>
          </p:cNvGraphicFramePr>
          <p:nvPr/>
        </p:nvGraphicFramePr>
        <p:xfrm>
          <a:off x="5172075" y="4113213"/>
          <a:ext cx="2495550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7" name="Equation" r:id="rId7" imgW="1091880" imgH="393480" progId="Equation.3">
                  <p:embed/>
                </p:oleObj>
              </mc:Choice>
              <mc:Fallback>
                <p:oleObj name="Equation" r:id="rId7" imgW="10918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2075" y="4113213"/>
                        <a:ext cx="2495550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3" name="Object 19"/>
          <p:cNvGraphicFramePr>
            <a:graphicFrameLocks noChangeAspect="1"/>
          </p:cNvGraphicFramePr>
          <p:nvPr/>
        </p:nvGraphicFramePr>
        <p:xfrm>
          <a:off x="5535613" y="5194300"/>
          <a:ext cx="2060575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8" name="Equation" r:id="rId9" imgW="901440" imgH="203040" progId="Equation.3">
                  <p:embed/>
                </p:oleObj>
              </mc:Choice>
              <mc:Fallback>
                <p:oleObj name="Equation" r:id="rId9" imgW="90144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5613" y="5194300"/>
                        <a:ext cx="2060575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01606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2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2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2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2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8" grpId="0"/>
      <p:bldP spid="5223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1763713" y="404813"/>
            <a:ext cx="6769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sz="2400">
                <a:solidFill>
                  <a:srgbClr val="0066FF"/>
                </a:solidFill>
              </a:rPr>
              <a:t>Special conversions you need to know</a:t>
            </a:r>
          </a:p>
        </p:txBody>
      </p:sp>
      <p:sp>
        <p:nvSpPr>
          <p:cNvPr id="53253" name="Line 5"/>
          <p:cNvSpPr>
            <a:spLocks noChangeShapeType="1"/>
          </p:cNvSpPr>
          <p:nvPr/>
        </p:nvSpPr>
        <p:spPr bwMode="auto">
          <a:xfrm>
            <a:off x="3635375" y="1052513"/>
            <a:ext cx="0" cy="5472112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54" name="Line 6"/>
          <p:cNvSpPr>
            <a:spLocks noChangeShapeType="1"/>
          </p:cNvSpPr>
          <p:nvPr/>
        </p:nvSpPr>
        <p:spPr bwMode="auto">
          <a:xfrm>
            <a:off x="6443663" y="1052513"/>
            <a:ext cx="0" cy="5400675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55" name="Text Box 7"/>
          <p:cNvSpPr txBox="1">
            <a:spLocks noChangeArrowheads="1"/>
          </p:cNvSpPr>
          <p:nvPr/>
        </p:nvSpPr>
        <p:spPr bwMode="auto">
          <a:xfrm>
            <a:off x="1403350" y="1125538"/>
            <a:ext cx="2160588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sz="1800"/>
              <a:t>Length measure</a:t>
            </a:r>
          </a:p>
          <a:p>
            <a:pPr algn="ctr" eaLnBrk="1" hangingPunct="1">
              <a:spcBef>
                <a:spcPct val="50000"/>
              </a:spcBef>
            </a:pPr>
            <a:r>
              <a:rPr lang="en-AU" sz="1800"/>
              <a:t>1-dimension</a:t>
            </a:r>
          </a:p>
        </p:txBody>
      </p:sp>
      <p:sp>
        <p:nvSpPr>
          <p:cNvPr id="53256" name="Text Box 8"/>
          <p:cNvSpPr txBox="1">
            <a:spLocks noChangeArrowheads="1"/>
          </p:cNvSpPr>
          <p:nvPr/>
        </p:nvSpPr>
        <p:spPr bwMode="auto">
          <a:xfrm>
            <a:off x="3851275" y="1125538"/>
            <a:ext cx="2376488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sz="1800"/>
              <a:t>Area/TSA measure</a:t>
            </a:r>
          </a:p>
          <a:p>
            <a:pPr algn="ctr" eaLnBrk="1" hangingPunct="1">
              <a:spcBef>
                <a:spcPct val="50000"/>
              </a:spcBef>
            </a:pPr>
            <a:r>
              <a:rPr lang="en-AU" sz="1800"/>
              <a:t>2-dimensions</a:t>
            </a:r>
          </a:p>
        </p:txBody>
      </p:sp>
      <p:sp>
        <p:nvSpPr>
          <p:cNvPr id="53257" name="Text Box 9"/>
          <p:cNvSpPr txBox="1">
            <a:spLocks noChangeArrowheads="1"/>
          </p:cNvSpPr>
          <p:nvPr/>
        </p:nvSpPr>
        <p:spPr bwMode="auto">
          <a:xfrm>
            <a:off x="6804025" y="1125538"/>
            <a:ext cx="2160588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sz="1800"/>
              <a:t>Volume measure</a:t>
            </a:r>
          </a:p>
          <a:p>
            <a:pPr algn="ctr" eaLnBrk="1" hangingPunct="1">
              <a:spcBef>
                <a:spcPct val="50000"/>
              </a:spcBef>
            </a:pPr>
            <a:r>
              <a:rPr lang="en-AU" sz="1800"/>
              <a:t>3-dimensions</a:t>
            </a:r>
          </a:p>
        </p:txBody>
      </p:sp>
      <p:sp>
        <p:nvSpPr>
          <p:cNvPr id="53258" name="Line 10"/>
          <p:cNvSpPr>
            <a:spLocks noChangeShapeType="1"/>
          </p:cNvSpPr>
          <p:nvPr/>
        </p:nvSpPr>
        <p:spPr bwMode="auto">
          <a:xfrm>
            <a:off x="1331913" y="1989138"/>
            <a:ext cx="7632700" cy="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59" name="Text Box 11"/>
          <p:cNvSpPr txBox="1">
            <a:spLocks noChangeArrowheads="1"/>
          </p:cNvSpPr>
          <p:nvPr/>
        </p:nvSpPr>
        <p:spPr bwMode="auto">
          <a:xfrm>
            <a:off x="1476375" y="2349500"/>
            <a:ext cx="2016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>
                <a:solidFill>
                  <a:srgbClr val="993366"/>
                </a:solidFill>
              </a:rPr>
              <a:t>100cm = 1m</a:t>
            </a:r>
          </a:p>
        </p:txBody>
      </p:sp>
      <p:sp>
        <p:nvSpPr>
          <p:cNvPr id="53260" name="Text Box 12"/>
          <p:cNvSpPr txBox="1">
            <a:spLocks noChangeArrowheads="1"/>
          </p:cNvSpPr>
          <p:nvPr/>
        </p:nvSpPr>
        <p:spPr bwMode="auto">
          <a:xfrm>
            <a:off x="3924300" y="2349500"/>
            <a:ext cx="23764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>
                <a:solidFill>
                  <a:srgbClr val="993366"/>
                </a:solidFill>
              </a:rPr>
              <a:t>10 000cm</a:t>
            </a:r>
            <a:r>
              <a:rPr lang="en-AU" baseline="30000">
                <a:solidFill>
                  <a:srgbClr val="993366"/>
                </a:solidFill>
              </a:rPr>
              <a:t>2</a:t>
            </a:r>
            <a:r>
              <a:rPr lang="en-AU">
                <a:solidFill>
                  <a:srgbClr val="993366"/>
                </a:solidFill>
              </a:rPr>
              <a:t> = 1m</a:t>
            </a:r>
            <a:r>
              <a:rPr lang="en-AU" baseline="30000">
                <a:solidFill>
                  <a:srgbClr val="993366"/>
                </a:solidFill>
              </a:rPr>
              <a:t>2</a:t>
            </a:r>
            <a:endParaRPr lang="en-AU">
              <a:solidFill>
                <a:srgbClr val="993366"/>
              </a:solidFill>
            </a:endParaRPr>
          </a:p>
        </p:txBody>
      </p:sp>
      <p:sp>
        <p:nvSpPr>
          <p:cNvPr id="53261" name="Text Box 13"/>
          <p:cNvSpPr txBox="1">
            <a:spLocks noChangeArrowheads="1"/>
          </p:cNvSpPr>
          <p:nvPr/>
        </p:nvSpPr>
        <p:spPr bwMode="auto">
          <a:xfrm>
            <a:off x="6372225" y="2349500"/>
            <a:ext cx="2879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>
                <a:solidFill>
                  <a:srgbClr val="993366"/>
                </a:solidFill>
              </a:rPr>
              <a:t>1 000 000cm</a:t>
            </a:r>
            <a:r>
              <a:rPr lang="en-AU" baseline="30000">
                <a:solidFill>
                  <a:srgbClr val="993366"/>
                </a:solidFill>
              </a:rPr>
              <a:t>3</a:t>
            </a:r>
            <a:r>
              <a:rPr lang="en-AU">
                <a:solidFill>
                  <a:srgbClr val="993366"/>
                </a:solidFill>
              </a:rPr>
              <a:t> = 1m</a:t>
            </a:r>
            <a:r>
              <a:rPr lang="en-AU" baseline="30000">
                <a:solidFill>
                  <a:srgbClr val="993366"/>
                </a:solidFill>
              </a:rPr>
              <a:t>3</a:t>
            </a:r>
            <a:endParaRPr lang="en-AU">
              <a:solidFill>
                <a:srgbClr val="993366"/>
              </a:solidFill>
            </a:endParaRPr>
          </a:p>
        </p:txBody>
      </p:sp>
      <p:sp>
        <p:nvSpPr>
          <p:cNvPr id="53263" name="Text Box 15"/>
          <p:cNvSpPr txBox="1">
            <a:spLocks noChangeArrowheads="1"/>
          </p:cNvSpPr>
          <p:nvPr/>
        </p:nvSpPr>
        <p:spPr bwMode="auto">
          <a:xfrm>
            <a:off x="3995738" y="2852738"/>
            <a:ext cx="23050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1600" b="0">
                <a:solidFill>
                  <a:srgbClr val="ED0F0F"/>
                </a:solidFill>
              </a:rPr>
              <a:t>Note 10 000 is 100</a:t>
            </a:r>
            <a:r>
              <a:rPr lang="en-AU" sz="1600" b="0" baseline="30000">
                <a:solidFill>
                  <a:srgbClr val="ED0F0F"/>
                </a:solidFill>
              </a:rPr>
              <a:t>2</a:t>
            </a:r>
            <a:r>
              <a:rPr lang="en-AU" sz="1600" b="0">
                <a:solidFill>
                  <a:srgbClr val="ED0F0F"/>
                </a:solidFill>
              </a:rPr>
              <a:t> or 100 x 100</a:t>
            </a:r>
          </a:p>
        </p:txBody>
      </p:sp>
      <p:sp>
        <p:nvSpPr>
          <p:cNvPr id="53264" name="Text Box 16"/>
          <p:cNvSpPr txBox="1">
            <a:spLocks noChangeArrowheads="1"/>
          </p:cNvSpPr>
          <p:nvPr/>
        </p:nvSpPr>
        <p:spPr bwMode="auto">
          <a:xfrm>
            <a:off x="6515100" y="2852738"/>
            <a:ext cx="26289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1600" b="0">
                <a:solidFill>
                  <a:srgbClr val="ED0F0F"/>
                </a:solidFill>
              </a:rPr>
              <a:t>Note 1 000 000 is 100</a:t>
            </a:r>
            <a:r>
              <a:rPr lang="en-AU" sz="1600" b="0" baseline="30000">
                <a:solidFill>
                  <a:srgbClr val="ED0F0F"/>
                </a:solidFill>
              </a:rPr>
              <a:t>3</a:t>
            </a:r>
            <a:r>
              <a:rPr lang="en-AU" sz="1600" b="0">
                <a:solidFill>
                  <a:srgbClr val="ED0F0F"/>
                </a:solidFill>
              </a:rPr>
              <a:t> or 100 x 100 x 100</a:t>
            </a:r>
          </a:p>
        </p:txBody>
      </p:sp>
      <p:sp>
        <p:nvSpPr>
          <p:cNvPr id="53265" name="Line 17"/>
          <p:cNvSpPr>
            <a:spLocks noChangeShapeType="1"/>
          </p:cNvSpPr>
          <p:nvPr/>
        </p:nvSpPr>
        <p:spPr bwMode="auto">
          <a:xfrm>
            <a:off x="1331913" y="3573463"/>
            <a:ext cx="7632700" cy="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66" name="Text Box 18"/>
          <p:cNvSpPr txBox="1">
            <a:spLocks noChangeArrowheads="1"/>
          </p:cNvSpPr>
          <p:nvPr/>
        </p:nvSpPr>
        <p:spPr bwMode="auto">
          <a:xfrm>
            <a:off x="3635375" y="3716338"/>
            <a:ext cx="2879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>
                <a:solidFill>
                  <a:srgbClr val="006600"/>
                </a:solidFill>
              </a:rPr>
              <a:t>1 hectare = 10000</a:t>
            </a:r>
            <a:r>
              <a:rPr lang="en-AU" i="1">
                <a:solidFill>
                  <a:srgbClr val="006600"/>
                </a:solidFill>
              </a:rPr>
              <a:t>m</a:t>
            </a:r>
            <a:r>
              <a:rPr lang="en-AU" baseline="30000">
                <a:solidFill>
                  <a:srgbClr val="006600"/>
                </a:solidFill>
              </a:rPr>
              <a:t>2</a:t>
            </a:r>
            <a:endParaRPr lang="en-AU">
              <a:solidFill>
                <a:srgbClr val="006600"/>
              </a:solidFill>
            </a:endParaRPr>
          </a:p>
        </p:txBody>
      </p:sp>
      <p:sp>
        <p:nvSpPr>
          <p:cNvPr id="53267" name="Line 19"/>
          <p:cNvSpPr>
            <a:spLocks noChangeShapeType="1"/>
          </p:cNvSpPr>
          <p:nvPr/>
        </p:nvSpPr>
        <p:spPr bwMode="auto">
          <a:xfrm>
            <a:off x="1258888" y="4149725"/>
            <a:ext cx="7705725" cy="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68" name="Text Box 20"/>
          <p:cNvSpPr txBox="1">
            <a:spLocks noChangeArrowheads="1"/>
          </p:cNvSpPr>
          <p:nvPr/>
        </p:nvSpPr>
        <p:spPr bwMode="auto">
          <a:xfrm>
            <a:off x="6443663" y="4292600"/>
            <a:ext cx="27003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>
                <a:solidFill>
                  <a:srgbClr val="0066FF"/>
                </a:solidFill>
              </a:rPr>
              <a:t>1 litre = 1000</a:t>
            </a:r>
            <a:r>
              <a:rPr lang="en-AU" i="1">
                <a:solidFill>
                  <a:srgbClr val="0066FF"/>
                </a:solidFill>
              </a:rPr>
              <a:t>cm</a:t>
            </a:r>
            <a:r>
              <a:rPr lang="en-AU" baseline="30000">
                <a:solidFill>
                  <a:srgbClr val="0066FF"/>
                </a:solidFill>
              </a:rPr>
              <a:t>3</a:t>
            </a:r>
            <a:endParaRPr lang="en-AU">
              <a:solidFill>
                <a:srgbClr val="0066FF"/>
              </a:solidFill>
            </a:endParaRPr>
          </a:p>
        </p:txBody>
      </p:sp>
      <p:sp>
        <p:nvSpPr>
          <p:cNvPr id="53269" name="Text Box 21"/>
          <p:cNvSpPr txBox="1">
            <a:spLocks noChangeArrowheads="1"/>
          </p:cNvSpPr>
          <p:nvPr/>
        </p:nvSpPr>
        <p:spPr bwMode="auto">
          <a:xfrm>
            <a:off x="6443663" y="4687888"/>
            <a:ext cx="27003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>
                <a:solidFill>
                  <a:srgbClr val="0066FF"/>
                </a:solidFill>
              </a:rPr>
              <a:t>1</a:t>
            </a:r>
            <a:r>
              <a:rPr lang="en-AU" i="1">
                <a:solidFill>
                  <a:srgbClr val="0066FF"/>
                </a:solidFill>
              </a:rPr>
              <a:t>m</a:t>
            </a:r>
            <a:r>
              <a:rPr lang="en-AU" baseline="30000">
                <a:solidFill>
                  <a:srgbClr val="0066FF"/>
                </a:solidFill>
              </a:rPr>
              <a:t>3</a:t>
            </a:r>
            <a:r>
              <a:rPr lang="en-AU">
                <a:solidFill>
                  <a:srgbClr val="0066FF"/>
                </a:solidFill>
              </a:rPr>
              <a:t> = 1000 litres</a:t>
            </a:r>
          </a:p>
        </p:txBody>
      </p:sp>
      <p:sp>
        <p:nvSpPr>
          <p:cNvPr id="53270" name="Text Box 22"/>
          <p:cNvSpPr txBox="1">
            <a:spLocks noChangeArrowheads="1"/>
          </p:cNvSpPr>
          <p:nvPr/>
        </p:nvSpPr>
        <p:spPr bwMode="auto">
          <a:xfrm>
            <a:off x="6443663" y="5119688"/>
            <a:ext cx="27003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>
                <a:solidFill>
                  <a:srgbClr val="0066FF"/>
                </a:solidFill>
              </a:rPr>
              <a:t>1</a:t>
            </a:r>
            <a:r>
              <a:rPr lang="en-AU" i="1">
                <a:solidFill>
                  <a:srgbClr val="0066FF"/>
                </a:solidFill>
              </a:rPr>
              <a:t>cm</a:t>
            </a:r>
            <a:r>
              <a:rPr lang="en-AU" baseline="30000">
                <a:solidFill>
                  <a:srgbClr val="0066FF"/>
                </a:solidFill>
              </a:rPr>
              <a:t>3</a:t>
            </a:r>
            <a:r>
              <a:rPr lang="en-AU">
                <a:solidFill>
                  <a:srgbClr val="0066FF"/>
                </a:solidFill>
              </a:rPr>
              <a:t> = 1 </a:t>
            </a:r>
            <a:r>
              <a:rPr lang="en-AU" i="1">
                <a:solidFill>
                  <a:srgbClr val="0066FF"/>
                </a:solidFill>
              </a:rPr>
              <a:t>mL</a:t>
            </a:r>
            <a:endParaRPr lang="en-AU">
              <a:solidFill>
                <a:srgbClr val="0066FF"/>
              </a:solidFill>
            </a:endParaRPr>
          </a:p>
        </p:txBody>
      </p:sp>
      <p:sp>
        <p:nvSpPr>
          <p:cNvPr id="53271" name="Text Box 23"/>
          <p:cNvSpPr txBox="1">
            <a:spLocks noChangeArrowheads="1"/>
          </p:cNvSpPr>
          <p:nvPr/>
        </p:nvSpPr>
        <p:spPr bwMode="auto">
          <a:xfrm>
            <a:off x="3635375" y="4256088"/>
            <a:ext cx="28813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>
                <a:solidFill>
                  <a:srgbClr val="993366"/>
                </a:solidFill>
              </a:rPr>
              <a:t>1 000 000mm</a:t>
            </a:r>
            <a:r>
              <a:rPr lang="en-AU" baseline="30000">
                <a:solidFill>
                  <a:srgbClr val="993366"/>
                </a:solidFill>
              </a:rPr>
              <a:t>2</a:t>
            </a:r>
            <a:r>
              <a:rPr lang="en-AU">
                <a:solidFill>
                  <a:srgbClr val="993366"/>
                </a:solidFill>
              </a:rPr>
              <a:t> = 1m</a:t>
            </a:r>
            <a:r>
              <a:rPr lang="en-AU" baseline="30000">
                <a:solidFill>
                  <a:srgbClr val="993366"/>
                </a:solidFill>
              </a:rPr>
              <a:t>2</a:t>
            </a:r>
            <a:endParaRPr lang="en-AU">
              <a:solidFill>
                <a:srgbClr val="993366"/>
              </a:solidFill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1403350" y="2744788"/>
            <a:ext cx="2016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>
                <a:solidFill>
                  <a:srgbClr val="993366"/>
                </a:solidFill>
              </a:rPr>
              <a:t>1000mm = 1m</a:t>
            </a: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1476375" y="3103563"/>
            <a:ext cx="2016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>
                <a:solidFill>
                  <a:srgbClr val="993366"/>
                </a:solidFill>
              </a:rPr>
              <a:t>10mm = 1cm</a:t>
            </a:r>
          </a:p>
        </p:txBody>
      </p:sp>
    </p:spTree>
    <p:extLst>
      <p:ext uri="{BB962C8B-B14F-4D97-AF65-F5344CB8AC3E}">
        <p14:creationId xmlns:p14="http://schemas.microsoft.com/office/powerpoint/2010/main" val="2584132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3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3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3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3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3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3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3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3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2000"/>
                                        <p:tgtEl>
                                          <p:spTgt spid="5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20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2000"/>
                                        <p:tgtEl>
                                          <p:spTgt spid="5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53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53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70" decel="100000"/>
                                        <p:tgtEl>
                                          <p:spTgt spid="532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770" decel="100000"/>
                                        <p:tgtEl>
                                          <p:spTgt spid="53263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6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3263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62" dur="770" fill="hold"/>
                                        <p:tgtEl>
                                          <p:spTgt spid="53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6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3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64" dur="770" fill="hold"/>
                                        <p:tgtEl>
                                          <p:spTgt spid="53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6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3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53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770" decel="100000"/>
                                        <p:tgtEl>
                                          <p:spTgt spid="5326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6" dur="770" decel="100000"/>
                                        <p:tgtEl>
                                          <p:spTgt spid="53264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7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3264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78" dur="770" fill="hold"/>
                                        <p:tgtEl>
                                          <p:spTgt spid="53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7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3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80" dur="770" fill="hold"/>
                                        <p:tgtEl>
                                          <p:spTgt spid="53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8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3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53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53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53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53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53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2" grpId="0"/>
      <p:bldP spid="53253" grpId="0" animBg="1"/>
      <p:bldP spid="53254" grpId="0" animBg="1"/>
      <p:bldP spid="53255" grpId="0"/>
      <p:bldP spid="53256" grpId="0"/>
      <p:bldP spid="53257" grpId="0"/>
      <p:bldP spid="53258" grpId="0" animBg="1"/>
      <p:bldP spid="53259" grpId="0"/>
      <p:bldP spid="53260" grpId="0"/>
      <p:bldP spid="53261" grpId="0"/>
      <p:bldP spid="53263" grpId="0"/>
      <p:bldP spid="53264" grpId="0"/>
      <p:bldP spid="53265" grpId="0" animBg="1"/>
      <p:bldP spid="53266" grpId="0"/>
      <p:bldP spid="53267" grpId="0" animBg="1"/>
      <p:bldP spid="53268" grpId="0"/>
      <p:bldP spid="53269" grpId="0"/>
      <p:bldP spid="53270" grpId="0"/>
      <p:bldP spid="53271" grpId="0"/>
      <p:bldP spid="23" grpId="0"/>
      <p:bldP spid="24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Executive.thmx</Template>
  <TotalTime>944</TotalTime>
  <Words>842</Words>
  <Application>Microsoft Office PowerPoint</Application>
  <PresentationFormat>On-screen Show (4:3)</PresentationFormat>
  <Paragraphs>170</Paragraphs>
  <Slides>24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8" baseType="lpstr">
      <vt:lpstr>ＭＳ Ｐゴシック</vt:lpstr>
      <vt:lpstr>Arial</vt:lpstr>
      <vt:lpstr>Calibri</vt:lpstr>
      <vt:lpstr>Cambria Math</vt:lpstr>
      <vt:lpstr>Century Gothic</vt:lpstr>
      <vt:lpstr>Comic Sans MS</vt:lpstr>
      <vt:lpstr>Courier New</vt:lpstr>
      <vt:lpstr>Palatino Linotype</vt:lpstr>
      <vt:lpstr>Symbol</vt:lpstr>
      <vt:lpstr>Times New Roman</vt:lpstr>
      <vt:lpstr>Wingdings</vt:lpstr>
      <vt:lpstr>Wingdings 2</vt:lpstr>
      <vt:lpstr>Executive</vt:lpstr>
      <vt:lpstr>Equation</vt:lpstr>
      <vt:lpstr>Chapter 8  Perimeter and Area Part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Department of Education</dc:creator>
  <cp:lastModifiedBy>Alexandria Latham</cp:lastModifiedBy>
  <cp:revision>15</cp:revision>
  <dcterms:created xsi:type="dcterms:W3CDTF">2016-03-29T23:54:14Z</dcterms:created>
  <dcterms:modified xsi:type="dcterms:W3CDTF">2017-03-20T22:59:28Z</dcterms:modified>
</cp:coreProperties>
</file>
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31" r:id="rId2"/>
    <p:sldId id="330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28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9" r:id="rId22"/>
    <p:sldId id="325" r:id="rId23"/>
    <p:sldId id="326" r:id="rId24"/>
    <p:sldId id="329" r:id="rId25"/>
    <p:sldId id="332" r:id="rId26"/>
    <p:sldId id="334" r:id="rId27"/>
    <p:sldId id="335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43" autoAdjust="0"/>
    <p:restoredTop sz="89165" autoAdjust="0"/>
  </p:normalViewPr>
  <p:slideViewPr>
    <p:cSldViewPr>
      <p:cViewPr>
        <p:scale>
          <a:sx n="75" d="100"/>
          <a:sy n="75" d="100"/>
        </p:scale>
        <p:origin x="1488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7/10/17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62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25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80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7/10/17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ZcSrJPiQvHQ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Gradient review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2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33054" y="3048000"/>
            <a:ext cx="67953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Locate the gradient in an algebraic equation.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Demonstrate how to plot a line of a distinct gradient.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96174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 fontScale="90000"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4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16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073" y="682911"/>
            <a:ext cx="3988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 example</a:t>
            </a:r>
          </a:p>
          <a:p>
            <a:r>
              <a:rPr lang="en-US" sz="2800" dirty="0" smtClean="0"/>
              <a:t>Linear: ___________</a:t>
            </a:r>
          </a:p>
          <a:p>
            <a:r>
              <a:rPr lang="en-US" sz="2800" dirty="0" smtClean="0"/>
              <a:t>Origin: ___________</a:t>
            </a:r>
          </a:p>
          <a:p>
            <a:r>
              <a:rPr lang="en-US" sz="2800" dirty="0" smtClean="0"/>
              <a:t>Coordinates: __________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3191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066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25c Pyramid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this AVID activity, split up into pairs and decide who is ‘A’ and who is ‘B’</a:t>
            </a:r>
          </a:p>
          <a:p>
            <a:r>
              <a:rPr lang="en-US" sz="1800" dirty="0"/>
              <a:t>Person A needs to face towards the board and Person B needs to face away</a:t>
            </a:r>
          </a:p>
          <a:p>
            <a:r>
              <a:rPr lang="en-US" sz="1800" dirty="0"/>
              <a:t>3 words will be displayed on the board. Person A needs to get Person B to say that word (by explaining it) </a:t>
            </a:r>
          </a:p>
          <a:p>
            <a:r>
              <a:rPr lang="en-US" sz="1800" dirty="0"/>
              <a:t>Person A cannot use the word itself or describing how it’s spelt (you can’t say it starts with the letter…)</a:t>
            </a:r>
          </a:p>
          <a:p>
            <a:r>
              <a:rPr lang="en-US" sz="1800" dirty="0"/>
              <a:t>Person B cannot peak!!!</a:t>
            </a:r>
          </a:p>
          <a:p>
            <a:r>
              <a:rPr lang="en-US" sz="1800" dirty="0"/>
              <a:t>As soon as the person has got all 3 words (you can do them in any order), both people need to sit down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94250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First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17145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Car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Pen</a:t>
            </a:r>
          </a:p>
          <a:p>
            <a:endParaRPr lang="en-US" sz="3300" dirty="0"/>
          </a:p>
          <a:p>
            <a:r>
              <a:rPr lang="en-US" sz="3300" dirty="0" smtClean="0"/>
              <a:t>Variable</a:t>
            </a:r>
            <a:endParaRPr lang="en-US" sz="3300" dirty="0"/>
          </a:p>
        </p:txBody>
      </p:sp>
      <p:sp>
        <p:nvSpPr>
          <p:cNvPr id="7" name="TextBox 6"/>
          <p:cNvSpPr txBox="1"/>
          <p:nvPr/>
        </p:nvSpPr>
        <p:spPr>
          <a:xfrm>
            <a:off x="3147275" y="4476316"/>
            <a:ext cx="34982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Hint: </a:t>
            </a:r>
            <a:r>
              <a:rPr lang="en-US" sz="1350" dirty="0" smtClean="0"/>
              <a:t>Letters that represent unknown numbers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80186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Second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192056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Duck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Calculator</a:t>
            </a:r>
          </a:p>
          <a:p>
            <a:endParaRPr lang="en-US" sz="3300" dirty="0"/>
          </a:p>
          <a:p>
            <a:r>
              <a:rPr lang="en-US" sz="3300" dirty="0" smtClean="0"/>
              <a:t>Equation</a:t>
            </a:r>
            <a:endParaRPr lang="en-US" sz="3300" dirty="0"/>
          </a:p>
        </p:txBody>
      </p:sp>
      <p:sp>
        <p:nvSpPr>
          <p:cNvPr id="5" name="TextBox 4"/>
          <p:cNvSpPr txBox="1"/>
          <p:nvPr/>
        </p:nvSpPr>
        <p:spPr>
          <a:xfrm>
            <a:off x="3147274" y="4476316"/>
            <a:ext cx="36431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</a:t>
            </a:r>
            <a:r>
              <a:rPr lang="en-US" sz="1350" dirty="0" smtClean="0"/>
              <a:t>: Has an equal sign and variables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154145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Third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39167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Perth</a:t>
            </a:r>
          </a:p>
          <a:p>
            <a:endParaRPr lang="en-US" sz="3300" dirty="0"/>
          </a:p>
          <a:p>
            <a:r>
              <a:rPr lang="en-US" sz="3300" dirty="0" smtClean="0"/>
              <a:t>Interactive Notebook</a:t>
            </a:r>
          </a:p>
          <a:p>
            <a:endParaRPr lang="en-US" sz="3300" dirty="0"/>
          </a:p>
          <a:p>
            <a:r>
              <a:rPr lang="en-US" sz="3300" dirty="0" smtClean="0"/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2277" y="4476316"/>
            <a:ext cx="32567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Hint: </a:t>
            </a:r>
            <a:r>
              <a:rPr lang="en-US" sz="1350" dirty="0" smtClean="0"/>
              <a:t>How we display data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2034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Fourth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266753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Spoon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Ruler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Straight Line</a:t>
            </a:r>
            <a:endParaRPr lang="en-AU" sz="3300" dirty="0"/>
          </a:p>
        </p:txBody>
      </p:sp>
      <p:sp>
        <p:nvSpPr>
          <p:cNvPr id="5" name="TextBox 4"/>
          <p:cNvSpPr txBox="1"/>
          <p:nvPr/>
        </p:nvSpPr>
        <p:spPr>
          <a:xfrm>
            <a:off x="3354946" y="4441590"/>
            <a:ext cx="38362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</a:t>
            </a:r>
            <a:r>
              <a:rPr lang="en-US" sz="1350" dirty="0" smtClean="0"/>
              <a:t>: What we use a ruler for, not curved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3839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908720"/>
            <a:ext cx="6433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Hook</a:t>
            </a:r>
          </a:p>
          <a:p>
            <a:endParaRPr lang="en-US" sz="3600" dirty="0"/>
          </a:p>
          <a:p>
            <a:r>
              <a:rPr lang="en-US" sz="3600" dirty="0" smtClean="0"/>
              <a:t>Slope </a:t>
            </a:r>
            <a:r>
              <a:rPr lang="en-US" sz="3600" dirty="0" err="1" smtClean="0"/>
              <a:t>Dood</a:t>
            </a:r>
            <a:r>
              <a:rPr lang="en-US" sz="3600" dirty="0" smtClean="0"/>
              <a:t> video</a:t>
            </a:r>
          </a:p>
          <a:p>
            <a:endParaRPr lang="en-US" sz="3600" dirty="0"/>
          </a:p>
          <a:p>
            <a:r>
              <a:rPr lang="en-US" sz="3600" dirty="0">
                <a:hlinkClick r:id="rId2"/>
              </a:rPr>
              <a:t>https://</a:t>
            </a:r>
            <a:r>
              <a:rPr lang="en-US" sz="3600" dirty="0" smtClean="0">
                <a:hlinkClick r:id="rId2"/>
              </a:rPr>
              <a:t>www.youtube.com/watch?v=ZcSrJPiQvHQ</a:t>
            </a:r>
            <a:endParaRPr lang="en-US" sz="36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4903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57508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Gradient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2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</p:spTree>
    <p:extLst>
      <p:ext uri="{BB962C8B-B14F-4D97-AF65-F5344CB8AC3E}">
        <p14:creationId xmlns:p14="http://schemas.microsoft.com/office/powerpoint/2010/main" val="4620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66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9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5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58" y="4704579"/>
            <a:ext cx="4724400" cy="901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6001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gradient?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67720" y="2128486"/>
            <a:ext cx="458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of a line is a measure of its slope.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720" y="2480391"/>
            <a:ext cx="4819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is a number that shows the steepness of a line.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67720" y="2899256"/>
            <a:ext cx="599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 is calculated by knowing how far a line rises or falls (called the </a:t>
            </a:r>
            <a:r>
              <a:rPr lang="en-US" i="1"/>
              <a:t>rise</a:t>
            </a:r>
            <a:r>
              <a:rPr lang="en-US"/>
              <a:t>) within a certain horizontal distance (called the </a:t>
            </a:r>
            <a:r>
              <a:rPr lang="en-US" i="1"/>
              <a:t>run</a:t>
            </a:r>
            <a:r>
              <a:rPr lang="en-US"/>
              <a:t>).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67720" y="3608973"/>
            <a:ext cx="500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gradient is equal to the </a:t>
            </a:r>
            <a:r>
              <a:rPr lang="en-US" i="1" dirty="0"/>
              <a:t>rise </a:t>
            </a:r>
            <a:r>
              <a:rPr lang="en-US" dirty="0"/>
              <a:t>divided by the </a:t>
            </a:r>
            <a:r>
              <a:rPr lang="en-US" i="1" dirty="0"/>
              <a:t>run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67720" y="4091224"/>
            <a:ext cx="4187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letter </a:t>
            </a:r>
            <a:r>
              <a:rPr lang="en-US" i="1"/>
              <a:t>m </a:t>
            </a:r>
            <a:r>
              <a:rPr lang="en-US"/>
              <a:t>is used to represent gradient.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58" y="4704579"/>
            <a:ext cx="4724400" cy="901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54401" y="5606279"/>
            <a:ext cx="6011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Engineers apply their knowledge of gradients when designing roads, bridges, railway lines and buildings. 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4582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2" y="2579202"/>
            <a:ext cx="2462305" cy="17662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9633" y="4653136"/>
            <a:ext cx="235274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up from left to right, the rise is positive and the gradient is positive. </a:t>
            </a:r>
          </a:p>
          <a:p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7" y="6005542"/>
            <a:ext cx="2197100" cy="63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47864" y="4602004"/>
            <a:ext cx="27423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the line slopes down from left to right, the rise is considered to be negative and the gradient is negative. </a:t>
            </a:r>
          </a:p>
          <a:p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167" y="2544609"/>
            <a:ext cx="2422480" cy="19325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147" y="5903942"/>
            <a:ext cx="2349500" cy="736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05332" y="2060848"/>
            <a:ext cx="83431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latin typeface="ACaslon" charset="0"/>
              </a:rPr>
              <a:t>Important Note:  Always </a:t>
            </a:r>
            <a:r>
              <a:rPr lang="en-US" dirty="0">
                <a:latin typeface="ACaslon" charset="0"/>
              </a:rPr>
              <a:t>move from left to right when considering the rise and the run</a:t>
            </a:r>
            <a:r>
              <a:rPr lang="en-US" dirty="0" smtClean="0">
                <a:latin typeface="ACaslon" charset="0"/>
              </a:rPr>
              <a:t>.</a:t>
            </a:r>
          </a:p>
          <a:p>
            <a:r>
              <a:rPr lang="en-US" dirty="0">
                <a:latin typeface="ACaslon" charset="0"/>
              </a:rPr>
              <a:t/>
            </a:r>
            <a:br>
              <a:rPr lang="en-US" dirty="0">
                <a:latin typeface="ACaslon" charset="0"/>
              </a:rPr>
            </a:b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878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384786" y="2103239"/>
            <a:ext cx="835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</a:t>
            </a:r>
            <a:r>
              <a:rPr lang="en-US" dirty="0" err="1" smtClean="0">
                <a:solidFill>
                  <a:srgbClr val="D80000"/>
                </a:solidFill>
                <a:latin typeface="ACaslon" charset="0"/>
              </a:rPr>
              <a:t>undifined</a:t>
            </a:r>
            <a:r>
              <a:rPr lang="en-US" dirty="0" smtClean="0">
                <a:solidFill>
                  <a:srgbClr val="D80000"/>
                </a:solidFill>
                <a:latin typeface="ACaslon" charset="0"/>
              </a:rPr>
              <a:t> </a:t>
            </a:r>
            <a:r>
              <a:rPr lang="en-US" dirty="0">
                <a:solidFill>
                  <a:srgbClr val="D80000"/>
                </a:solidFill>
                <a:latin typeface="ACaslon" charset="0"/>
              </a:rPr>
              <a:t>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5" y="2863199"/>
            <a:ext cx="25400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4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Gradient?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15616" y="404664"/>
            <a:ext cx="1455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smtClean="0"/>
              <a:t>Gradient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384786" y="2103239"/>
            <a:ext cx="8355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solidFill>
                  <a:srgbClr val="D80000"/>
                </a:solidFill>
                <a:latin typeface="ACaslon" charset="0"/>
              </a:rPr>
              <a:t>The gradient can also be zero (when a line is horizontal) and </a:t>
            </a:r>
            <a:r>
              <a:rPr lang="en-US" dirty="0" smtClean="0">
                <a:solidFill>
                  <a:srgbClr val="D80000"/>
                </a:solidFill>
                <a:latin typeface="ACaslon" charset="0"/>
              </a:rPr>
              <a:t>undefined </a:t>
            </a:r>
            <a:r>
              <a:rPr lang="en-US" dirty="0">
                <a:solidFill>
                  <a:srgbClr val="D80000"/>
                </a:solidFill>
                <a:latin typeface="ACaslon" charset="0"/>
              </a:rPr>
              <a:t>(when a line is vertical). </a:t>
            </a:r>
            <a:endParaRPr lang="en-US" sz="800" dirty="0">
              <a:solidFill>
                <a:srgbClr val="D80000"/>
              </a:solidFill>
              <a:effectLst/>
              <a:latin typeface="ZapfDingbat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5" y="2863199"/>
            <a:ext cx="2540000" cy="2095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164" y="2897770"/>
            <a:ext cx="22479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9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Guided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Slope Foldable - Work through </a:t>
            </a:r>
            <a:r>
              <a:rPr lang="en-US" dirty="0"/>
              <a:t>as a </a:t>
            </a:r>
            <a:r>
              <a:rPr lang="en-US" dirty="0" smtClean="0"/>
              <a:t>class.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2091384" y="1700808"/>
            <a:ext cx="4817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Completion of gradient foldable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369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Gradient revision questions as attached.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9401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Exit Pass Attached.</a:t>
            </a:r>
          </a:p>
        </p:txBody>
      </p:sp>
    </p:spTree>
    <p:extLst>
      <p:ext uri="{BB962C8B-B14F-4D97-AF65-F5344CB8AC3E}">
        <p14:creationId xmlns:p14="http://schemas.microsoft.com/office/powerpoint/2010/main" val="486938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1043</Words>
  <Application>Microsoft Macintosh PowerPoint</Application>
  <PresentationFormat>On-screen Show (4:3)</PresentationFormat>
  <Paragraphs>230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ACaslon</vt:lpstr>
      <vt:lpstr>Calibri</vt:lpstr>
      <vt:lpstr>ZapfDingbats</vt:lpstr>
      <vt:lpstr>Arial</vt:lpstr>
      <vt:lpstr>Office Theme</vt:lpstr>
      <vt:lpstr>Yr 10 Week 1</vt:lpstr>
      <vt:lpstr>Success Criteria</vt:lpstr>
      <vt:lpstr>My Linear Relationships Interactive Notebook</vt:lpstr>
      <vt:lpstr>Interactive Notebooks!</vt:lpstr>
      <vt:lpstr>PowerPoint Presentation</vt:lpstr>
      <vt:lpstr>PowerPoint Presentation</vt:lpstr>
      <vt:lpstr>25c Pyramid</vt:lpstr>
      <vt:lpstr>First set of words</vt:lpstr>
      <vt:lpstr>Second set of words</vt:lpstr>
      <vt:lpstr>Third set of words</vt:lpstr>
      <vt:lpstr>Fourth set of words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Activity</vt:lpstr>
      <vt:lpstr>Closure activity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104</cp:revision>
  <dcterms:created xsi:type="dcterms:W3CDTF">2014-05-14T02:58:57Z</dcterms:created>
  <dcterms:modified xsi:type="dcterms:W3CDTF">2017-10-07T15:09:53Z</dcterms:modified>
</cp:coreProperties>
</file>
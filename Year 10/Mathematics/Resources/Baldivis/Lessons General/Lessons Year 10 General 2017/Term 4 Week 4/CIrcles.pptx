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4" r:id="rId2"/>
  </p:sldMasterIdLst>
  <p:notesMasterIdLst>
    <p:notesMasterId r:id="rId12"/>
  </p:notesMasterIdLst>
  <p:handoutMasterIdLst>
    <p:handoutMasterId r:id="rId13"/>
  </p:handoutMasterIdLst>
  <p:sldIdLst>
    <p:sldId id="256" r:id="rId3"/>
    <p:sldId id="257" r:id="rId4"/>
    <p:sldId id="265" r:id="rId5"/>
    <p:sldId id="271" r:id="rId6"/>
    <p:sldId id="269" r:id="rId7"/>
    <p:sldId id="272" r:id="rId8"/>
    <p:sldId id="273" r:id="rId9"/>
    <p:sldId id="274" r:id="rId10"/>
    <p:sldId id="264" r:id="rId1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200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880">
          <p15:clr>
            <a:srgbClr val="A4A3A4"/>
          </p15:clr>
        </p15:guide>
        <p15:guide id="5" orient="horz" pos="3216">
          <p15:clr>
            <a:srgbClr val="A4A3A4"/>
          </p15:clr>
        </p15:guide>
        <p15:guide id="6" orient="horz" pos="816">
          <p15:clr>
            <a:srgbClr val="A4A3A4"/>
          </p15:clr>
        </p15:guide>
        <p15:guide id="7" orient="horz" pos="175">
          <p15:clr>
            <a:srgbClr val="A4A3A4"/>
          </p15:clr>
        </p15:guide>
        <p15:guide id="8" pos="3839">
          <p15:clr>
            <a:srgbClr val="A4A3A4"/>
          </p15:clr>
        </p15:guide>
        <p15:guide id="9" pos="959">
          <p15:clr>
            <a:srgbClr val="A4A3A4"/>
          </p15:clr>
        </p15:guide>
        <p15:guide id="10" pos="6719">
          <p15:clr>
            <a:srgbClr val="A4A3A4"/>
          </p15:clr>
        </p15:guide>
        <p15:guide id="11" pos="6143">
          <p15:clr>
            <a:srgbClr val="A4A3A4"/>
          </p15:clr>
        </p15:guide>
        <p15:guide id="12" pos="283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58" autoAdjust="0"/>
    <p:restoredTop sz="74813" autoAdjust="0"/>
  </p:normalViewPr>
  <p:slideViewPr>
    <p:cSldViewPr>
      <p:cViewPr varScale="1">
        <p:scale>
          <a:sx n="64" d="100"/>
          <a:sy n="64" d="100"/>
        </p:scale>
        <p:origin x="1435" y="72"/>
      </p:cViewPr>
      <p:guideLst>
        <p:guide orient="horz" pos="2160"/>
        <p:guide orient="horz" pos="1200"/>
        <p:guide orient="horz" pos="3888"/>
        <p:guide orient="horz" pos="2880"/>
        <p:guide orient="horz" pos="3216"/>
        <p:guide orient="horz" pos="816"/>
        <p:guide orient="horz" pos="175"/>
        <p:guide pos="3839"/>
        <p:guide pos="959"/>
        <p:guide pos="6719"/>
        <p:guide pos="6143"/>
        <p:guide pos="28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2538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11/1/2017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11/1/2017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4455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037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3232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3045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2999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line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tx2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8551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11/1/2017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8576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line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tx2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11/1/2017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45632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11/1/2017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596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11/1/2017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0744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11/1/2017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5795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11/1/2017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frame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  <a:solidFill>
            <a:schemeClr val="tx2"/>
          </a:solidFill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11/1/2017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766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" name="frame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  <a:solidFill>
            <a:schemeClr val="tx2"/>
          </a:solidFill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11/1/2017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0549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11/1/2017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3416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line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11/1/2017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855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11/1/2017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471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74333" y="609600"/>
            <a:ext cx="529208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</a:rPr>
              <a:t>Ms. Latham</a:t>
            </a:r>
          </a:p>
          <a:p>
            <a:pPr algn="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</a:rPr>
              <a:t>Year 10 – Coordinate Geometry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788" y="260648"/>
            <a:ext cx="457199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</a:rPr>
              <a:t>Term 4 – Week 4 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are circles graphed?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837828" y="1988840"/>
            <a:ext cx="11052720" cy="2667000"/>
          </a:xfrm>
        </p:spPr>
        <p:txBody>
          <a:bodyPr/>
          <a:lstStyle/>
          <a:p>
            <a:r>
              <a:rPr lang="en-US" dirty="0"/>
              <a:t>Topic : Circles</a:t>
            </a:r>
          </a:p>
        </p:txBody>
      </p:sp>
    </p:spTree>
    <p:extLst>
      <p:ext uri="{BB962C8B-B14F-4D97-AF65-F5344CB8AC3E}">
        <p14:creationId xmlns:p14="http://schemas.microsoft.com/office/powerpoint/2010/main" val="57531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9143999" cy="4267200"/>
          </a:xfrm>
        </p:spPr>
        <p:txBody>
          <a:bodyPr>
            <a:normAutofit/>
          </a:bodyPr>
          <a:lstStyle/>
          <a:p>
            <a:r>
              <a:rPr lang="en-US" sz="3200" dirty="0"/>
              <a:t>Understand the different parts of a circles equation</a:t>
            </a:r>
          </a:p>
          <a:p>
            <a:pPr lvl="1"/>
            <a:r>
              <a:rPr lang="en-US" sz="2800" dirty="0"/>
              <a:t>How the different parts will transform when graphed</a:t>
            </a:r>
          </a:p>
          <a:p>
            <a:pPr lvl="1"/>
            <a:endParaRPr lang="en-US" sz="2800" dirty="0"/>
          </a:p>
          <a:p>
            <a:r>
              <a:rPr lang="en-US" sz="3200" dirty="0">
                <a:highlight>
                  <a:srgbClr val="FFFF00"/>
                </a:highlight>
              </a:rPr>
              <a:t>Students will need a half page of graph paper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29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480705-C379-402E-9BE6-420114E925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5931-3558-4E51-A6E2-AA850A0669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3DA3C0-AD6B-4283-B7F3-722CF29B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FC0C5-3197-4A1C-A26E-0DC6A9B1AB6B}"/>
              </a:ext>
            </a:extLst>
          </p:cNvPr>
          <p:cNvSpPr/>
          <p:nvPr/>
        </p:nvSpPr>
        <p:spPr>
          <a:xfrm>
            <a:off x="225761" y="235705"/>
            <a:ext cx="11737304" cy="6480720"/>
          </a:xfrm>
          <a:prstGeom prst="rect">
            <a:avLst/>
          </a:prstGeom>
          <a:solidFill>
            <a:schemeClr val="bg2"/>
          </a:solidFill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11B15E-B102-49A4-AFD0-8711AE39C186}"/>
              </a:ext>
            </a:extLst>
          </p:cNvPr>
          <p:cNvCxnSpPr/>
          <p:nvPr/>
        </p:nvCxnSpPr>
        <p:spPr>
          <a:xfrm>
            <a:off x="549796" y="764704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BD83C0-93C5-48B9-97BF-8ED8CE4E74BF}"/>
              </a:ext>
            </a:extLst>
          </p:cNvPr>
          <p:cNvCxnSpPr/>
          <p:nvPr/>
        </p:nvCxnSpPr>
        <p:spPr>
          <a:xfrm>
            <a:off x="549796" y="1262593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43D54B-CE33-493F-801C-CE3413DB4228}"/>
              </a:ext>
            </a:extLst>
          </p:cNvPr>
          <p:cNvCxnSpPr>
            <a:cxnSpLocks/>
          </p:cNvCxnSpPr>
          <p:nvPr/>
        </p:nvCxnSpPr>
        <p:spPr>
          <a:xfrm>
            <a:off x="1856798" y="1295400"/>
            <a:ext cx="0" cy="4968551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7A0B65-0FC0-461E-B527-EB25E129D614}"/>
              </a:ext>
            </a:extLst>
          </p:cNvPr>
          <p:cNvSpPr txBox="1"/>
          <p:nvPr/>
        </p:nvSpPr>
        <p:spPr>
          <a:xfrm>
            <a:off x="765820" y="274638"/>
            <a:ext cx="101531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Topic : Circles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F8641-1D39-42E1-A6C1-BEC9DC40BCA7}"/>
              </a:ext>
            </a:extLst>
          </p:cNvPr>
          <p:cNvSpPr txBox="1"/>
          <p:nvPr/>
        </p:nvSpPr>
        <p:spPr>
          <a:xfrm>
            <a:off x="773096" y="764703"/>
            <a:ext cx="10513168" cy="43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How are circles graphed?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B85E18-E650-457A-9FFE-34C82EC5CB52}"/>
              </a:ext>
            </a:extLst>
          </p:cNvPr>
          <p:cNvSpPr txBox="1"/>
          <p:nvPr/>
        </p:nvSpPr>
        <p:spPr>
          <a:xfrm>
            <a:off x="560655" y="1533873"/>
            <a:ext cx="259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radius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357B38-2E80-4624-8255-5C9C542B033B}"/>
              </a:ext>
            </a:extLst>
          </p:cNvPr>
          <p:cNvSpPr txBox="1"/>
          <p:nvPr/>
        </p:nvSpPr>
        <p:spPr>
          <a:xfrm>
            <a:off x="3457744" y="1453406"/>
            <a:ext cx="6336706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b="0" dirty="0"/>
              <a:t>The distance from the centre of the circle to a point on the circle </a:t>
            </a:r>
          </a:p>
          <a:p>
            <a:pPr>
              <a:lnSpc>
                <a:spcPct val="90000"/>
              </a:lnSpc>
            </a:pPr>
            <a:r>
              <a:rPr lang="en-AU" sz="2400" dirty="0"/>
              <a:t>(½ the diameter)</a:t>
            </a:r>
            <a:endParaRPr lang="en-AU" sz="2400" b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8125A1-4470-465E-8D45-3A009E91B4C5}"/>
              </a:ext>
            </a:extLst>
          </p:cNvPr>
          <p:cNvSpPr txBox="1"/>
          <p:nvPr/>
        </p:nvSpPr>
        <p:spPr>
          <a:xfrm>
            <a:off x="364542" y="3397284"/>
            <a:ext cx="259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B97F849-6B1F-4E1D-AB87-3C08CBF98878}"/>
                  </a:ext>
                </a:extLst>
              </p:cNvPr>
              <p:cNvSpPr txBox="1"/>
              <p:nvPr/>
            </p:nvSpPr>
            <p:spPr>
              <a:xfrm>
                <a:off x="1975111" y="3621856"/>
                <a:ext cx="6179315" cy="1089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b="0" dirty="0"/>
              </a:p>
              <a:p>
                <a:pPr>
                  <a:lnSpc>
                    <a:spcPct val="90000"/>
                  </a:lnSpc>
                </a:pPr>
                <a:endParaRPr lang="en-AU" sz="2400" dirty="0"/>
              </a:p>
              <a:p>
                <a:pPr>
                  <a:lnSpc>
                    <a:spcPct val="90000"/>
                  </a:lnSpc>
                </a:pPr>
                <a:r>
                  <a:rPr lang="en-AU" sz="2400" dirty="0"/>
                  <a:t>r is the radius and the centre is at (0,0)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B97F849-6B1F-4E1D-AB87-3C08CBF98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111" y="3621856"/>
                <a:ext cx="6179315" cy="1089529"/>
              </a:xfrm>
              <a:prstGeom prst="rect">
                <a:avLst/>
              </a:prstGeom>
              <a:blipFill>
                <a:blip r:embed="rId3"/>
                <a:stretch>
                  <a:fillRect l="-1479" b="-117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5FCC0CF-8263-495A-91A2-B8C11B2630D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0102" t="25897" r="26257" b="13241"/>
          <a:stretch/>
        </p:blipFill>
        <p:spPr>
          <a:xfrm>
            <a:off x="8048509" y="2046799"/>
            <a:ext cx="3914556" cy="398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62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480705-C379-402E-9BE6-420114E925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5931-3558-4E51-A6E2-AA850A0669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3DA3C0-AD6B-4283-B7F3-722CF29B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FC0C5-3197-4A1C-A26E-0DC6A9B1AB6B}"/>
              </a:ext>
            </a:extLst>
          </p:cNvPr>
          <p:cNvSpPr/>
          <p:nvPr/>
        </p:nvSpPr>
        <p:spPr>
          <a:xfrm>
            <a:off x="225761" y="116632"/>
            <a:ext cx="11737304" cy="6480720"/>
          </a:xfrm>
          <a:prstGeom prst="rect">
            <a:avLst/>
          </a:prstGeom>
          <a:solidFill>
            <a:schemeClr val="bg2"/>
          </a:solidFill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11B15E-B102-49A4-AFD0-8711AE39C186}"/>
              </a:ext>
            </a:extLst>
          </p:cNvPr>
          <p:cNvCxnSpPr/>
          <p:nvPr/>
        </p:nvCxnSpPr>
        <p:spPr>
          <a:xfrm>
            <a:off x="549796" y="764704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BD83C0-93C5-48B9-97BF-8ED8CE4E74BF}"/>
              </a:ext>
            </a:extLst>
          </p:cNvPr>
          <p:cNvCxnSpPr/>
          <p:nvPr/>
        </p:nvCxnSpPr>
        <p:spPr>
          <a:xfrm>
            <a:off x="549796" y="1262593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43D54B-CE33-493F-801C-CE3413DB4228}"/>
              </a:ext>
            </a:extLst>
          </p:cNvPr>
          <p:cNvCxnSpPr>
            <a:cxnSpLocks/>
          </p:cNvCxnSpPr>
          <p:nvPr/>
        </p:nvCxnSpPr>
        <p:spPr>
          <a:xfrm>
            <a:off x="1856798" y="1295400"/>
            <a:ext cx="0" cy="4968551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7A0B65-0FC0-461E-B527-EB25E129D614}"/>
              </a:ext>
            </a:extLst>
          </p:cNvPr>
          <p:cNvSpPr txBox="1"/>
          <p:nvPr/>
        </p:nvSpPr>
        <p:spPr>
          <a:xfrm>
            <a:off x="765820" y="274638"/>
            <a:ext cx="101531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Topic : Circles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F8641-1D39-42E1-A6C1-BEC9DC40BCA7}"/>
              </a:ext>
            </a:extLst>
          </p:cNvPr>
          <p:cNvSpPr txBox="1"/>
          <p:nvPr/>
        </p:nvSpPr>
        <p:spPr>
          <a:xfrm>
            <a:off x="773096" y="764703"/>
            <a:ext cx="10513168" cy="43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How are circles graphed?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B85E18-E650-457A-9FFE-34C82EC5CB52}"/>
              </a:ext>
            </a:extLst>
          </p:cNvPr>
          <p:cNvSpPr txBox="1"/>
          <p:nvPr/>
        </p:nvSpPr>
        <p:spPr>
          <a:xfrm>
            <a:off x="384041" y="2367904"/>
            <a:ext cx="259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Example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8125A1-4470-465E-8D45-3A009E91B4C5}"/>
              </a:ext>
            </a:extLst>
          </p:cNvPr>
          <p:cNvSpPr txBox="1"/>
          <p:nvPr/>
        </p:nvSpPr>
        <p:spPr>
          <a:xfrm>
            <a:off x="384041" y="1412778"/>
            <a:ext cx="259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B97F849-6B1F-4E1D-AB87-3C08CBF98878}"/>
                  </a:ext>
                </a:extLst>
              </p:cNvPr>
              <p:cNvSpPr txBox="1"/>
              <p:nvPr/>
            </p:nvSpPr>
            <p:spPr>
              <a:xfrm>
                <a:off x="2185986" y="1288791"/>
                <a:ext cx="6179315" cy="1089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b="0" dirty="0"/>
              </a:p>
              <a:p>
                <a:pPr>
                  <a:lnSpc>
                    <a:spcPct val="90000"/>
                  </a:lnSpc>
                </a:pPr>
                <a:endParaRPr lang="en-AU" sz="2400" dirty="0"/>
              </a:p>
              <a:p>
                <a:pPr>
                  <a:lnSpc>
                    <a:spcPct val="90000"/>
                  </a:lnSpc>
                </a:pPr>
                <a:r>
                  <a:rPr lang="en-AU" sz="2400" dirty="0"/>
                  <a:t>r is the radius and the centre is at (0,0)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B97F849-6B1F-4E1D-AB87-3C08CBF98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5986" y="1288791"/>
                <a:ext cx="6179315" cy="1089529"/>
              </a:xfrm>
              <a:prstGeom prst="rect">
                <a:avLst/>
              </a:prstGeom>
              <a:blipFill>
                <a:blip r:embed="rId3"/>
                <a:stretch>
                  <a:fillRect l="-1579" b="-117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5FCC0CF-8263-495A-91A2-B8C11B2630D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0102" t="25897" r="26257" b="13241"/>
          <a:stretch/>
        </p:blipFill>
        <p:spPr>
          <a:xfrm>
            <a:off x="8960722" y="24592"/>
            <a:ext cx="3096598" cy="31512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220E5C-7D38-4BB2-BA2C-2EC779C60300}"/>
                  </a:ext>
                </a:extLst>
              </p:cNvPr>
              <p:cNvSpPr txBox="1"/>
              <p:nvPr/>
            </p:nvSpPr>
            <p:spPr>
              <a:xfrm>
                <a:off x="2501085" y="2264008"/>
                <a:ext cx="5400600" cy="1421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AU" sz="2400" b="0" dirty="0"/>
              </a:p>
              <a:p>
                <a:pPr>
                  <a:lnSpc>
                    <a:spcPct val="90000"/>
                  </a:lnSpc>
                </a:pPr>
                <a:endParaRPr lang="en-AU" sz="2400" dirty="0"/>
              </a:p>
              <a:p>
                <a:pPr>
                  <a:lnSpc>
                    <a:spcPct val="90000"/>
                  </a:lnSpc>
                </a:pPr>
                <a:r>
                  <a:rPr lang="en-AU" sz="2400" dirty="0"/>
                  <a:t>What is the radius? </a:t>
                </a:r>
              </a:p>
              <a:p>
                <a:pPr>
                  <a:lnSpc>
                    <a:spcPct val="90000"/>
                  </a:lnSpc>
                </a:pPr>
                <a:endParaRPr lang="en-AU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220E5C-7D38-4BB2-BA2C-2EC779C60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085" y="2264008"/>
                <a:ext cx="5400600" cy="1421928"/>
              </a:xfrm>
              <a:prstGeom prst="rect">
                <a:avLst/>
              </a:prstGeom>
              <a:blipFill>
                <a:blip r:embed="rId5"/>
                <a:stretch>
                  <a:fillRect l="-16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FD0301E-9DFC-4285-9B27-174F3EE1C215}"/>
                  </a:ext>
                </a:extLst>
              </p:cNvPr>
              <p:cNvSpPr txBox="1"/>
              <p:nvPr/>
            </p:nvSpPr>
            <p:spPr>
              <a:xfrm>
                <a:off x="5567961" y="2855924"/>
                <a:ext cx="2160240" cy="462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rad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FD0301E-9DFC-4285-9B27-174F3EE1C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961" y="2855924"/>
                <a:ext cx="2160240" cy="4626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E4567E8-E3F4-4C94-9B44-4246E1347125}"/>
              </a:ext>
            </a:extLst>
          </p:cNvPr>
          <p:cNvSpPr txBox="1"/>
          <p:nvPr/>
        </p:nvSpPr>
        <p:spPr>
          <a:xfrm>
            <a:off x="2371646" y="3515220"/>
            <a:ext cx="5561263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b="1" dirty="0">
                <a:solidFill>
                  <a:schemeClr val="tx2"/>
                </a:solidFill>
              </a:rPr>
              <a:t>so: (2,0) (0,2) (-2,0) and (0,-2)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2F3DF9-E0A2-4898-980B-81ED32C92122}"/>
              </a:ext>
            </a:extLst>
          </p:cNvPr>
          <p:cNvSpPr txBox="1"/>
          <p:nvPr/>
        </p:nvSpPr>
        <p:spPr>
          <a:xfrm>
            <a:off x="7625065" y="2855924"/>
            <a:ext cx="4595424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We know the centre would still be at (0,0) because no transformations have been made. And we know 4 coordinate points to sketch it. </a:t>
            </a:r>
          </a:p>
          <a:p>
            <a:pPr>
              <a:lnSpc>
                <a:spcPct val="90000"/>
              </a:lnSpc>
            </a:pP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FC21484-85ED-42A7-99F6-B949602DDFF1}"/>
                  </a:ext>
                </a:extLst>
              </p:cNvPr>
              <p:cNvSpPr txBox="1"/>
              <p:nvPr/>
            </p:nvSpPr>
            <p:spPr>
              <a:xfrm>
                <a:off x="1989956" y="4365104"/>
                <a:ext cx="9296308" cy="2137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AU" sz="2400" dirty="0"/>
                  <a:t>Lets double check that these (</a:t>
                </a:r>
                <a:r>
                  <a:rPr lang="en-AU" sz="2400" dirty="0" err="1"/>
                  <a:t>x,y</a:t>
                </a:r>
                <a:r>
                  <a:rPr lang="en-AU" sz="2400" dirty="0"/>
                  <a:t>) coordinate points work with our equation. </a:t>
                </a:r>
              </a:p>
              <a:p>
                <a:pPr>
                  <a:lnSpc>
                    <a:spcPct val="90000"/>
                  </a:lnSpc>
                </a:pPr>
                <a:endParaRPr lang="en-AU" sz="2400" dirty="0"/>
              </a:p>
              <a:p>
                <a:pPr>
                  <a:lnSpc>
                    <a:spcPct val="90000"/>
                  </a:lnSpc>
                </a:pPr>
                <a:r>
                  <a:rPr lang="en-AU" sz="2400" dirty="0"/>
                  <a:t>1</a:t>
                </a:r>
                <a:r>
                  <a:rPr lang="en-AU" sz="2400" baseline="30000" dirty="0"/>
                  <a:t>st</a:t>
                </a:r>
                <a:r>
                  <a:rPr lang="en-AU" sz="2400" dirty="0"/>
                  <a:t> point: (2,0) x=2 and y=0</a:t>
                </a:r>
              </a:p>
              <a:p>
                <a:pPr>
                  <a:lnSpc>
                    <a:spcPct val="90000"/>
                  </a:lnSpc>
                </a:pPr>
                <a:endParaRPr lang="en-AU" sz="2400" dirty="0"/>
              </a:p>
              <a:p>
                <a:pPr>
                  <a:lnSpc>
                    <a:spcPct val="90000"/>
                  </a:lnSpc>
                </a:pPr>
                <a:r>
                  <a:rPr lang="en-AU" sz="2400" dirty="0"/>
                  <a:t>Is this true     →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FC21484-85ED-42A7-99F6-B949602DD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956" y="4365104"/>
                <a:ext cx="9296308" cy="2137573"/>
              </a:xfrm>
              <a:prstGeom prst="rect">
                <a:avLst/>
              </a:prstGeom>
              <a:blipFill>
                <a:blip r:embed="rId7"/>
                <a:stretch>
                  <a:fillRect l="-984" t="-3989" b="-31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ADB2612F-2786-421B-A72F-D272E85400AE}"/>
              </a:ext>
            </a:extLst>
          </p:cNvPr>
          <p:cNvSpPr txBox="1"/>
          <p:nvPr/>
        </p:nvSpPr>
        <p:spPr>
          <a:xfrm>
            <a:off x="7080129" y="5949175"/>
            <a:ext cx="129614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b="1" dirty="0">
                <a:solidFill>
                  <a:srgbClr val="FF0000"/>
                </a:solidFill>
              </a:rPr>
              <a:t>YES!!!!!!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30BF3C-0321-4126-958F-B0CFDF296AAF}"/>
              </a:ext>
            </a:extLst>
          </p:cNvPr>
          <p:cNvSpPr txBox="1"/>
          <p:nvPr/>
        </p:nvSpPr>
        <p:spPr>
          <a:xfrm>
            <a:off x="9733766" y="5648155"/>
            <a:ext cx="282965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Try the other points</a:t>
            </a:r>
          </a:p>
        </p:txBody>
      </p:sp>
    </p:spTree>
    <p:extLst>
      <p:ext uri="{BB962C8B-B14F-4D97-AF65-F5344CB8AC3E}">
        <p14:creationId xmlns:p14="http://schemas.microsoft.com/office/powerpoint/2010/main" val="2388118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/>
      <p:bldP spid="6" grpId="0"/>
      <p:bldP spid="11" grpId="0"/>
      <p:bldP spid="15" grpId="0"/>
      <p:bldP spid="17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37F58A-6198-4CB2-91FD-31C4BC1A37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600" dirty="0"/>
              <a:t>3</a:t>
            </a:r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r>
              <a:rPr lang="en-AU" sz="3600" dirty="0"/>
              <a:t>4</a:t>
            </a:r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r>
              <a:rPr lang="en-AU" sz="3600" dirty="0"/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151A2F-2684-4BEC-80C9-0C519DFE472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gradFill flip="none" rotWithShape="1">
                <a:gsLst>
                  <a:gs pos="0">
                    <a:schemeClr val="bg1">
                      <a:lumMod val="50000"/>
                      <a:shade val="30000"/>
                      <a:satMod val="115000"/>
                    </a:schemeClr>
                  </a:gs>
                  <a:gs pos="50000">
                    <a:schemeClr val="bg1">
                      <a:lumMod val="50000"/>
                      <a:shade val="67500"/>
                      <a:satMod val="115000"/>
                    </a:schemeClr>
                  </a:gs>
                  <a:gs pos="100000">
                    <a:schemeClr val="bg1">
                      <a:lumMod val="50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</p:spPr>
            <p:txBody>
              <a:bodyPr>
                <a:normAutofit/>
              </a:bodyPr>
              <a:lstStyle/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endParaRPr lang="en-AU" sz="3200" dirty="0"/>
              </a:p>
              <a:p>
                <a:pPr marL="514350" indent="-514350">
                  <a:buAutoNum type="arabicPeriod"/>
                </a:pPr>
                <a:endParaRPr lang="en-AU" sz="3200" dirty="0"/>
              </a:p>
              <a:p>
                <a:pPr marL="0" indent="0">
                  <a:buNone/>
                </a:pPr>
                <a:r>
                  <a:rPr lang="en-AU" sz="3200" dirty="0"/>
                  <a:t>2.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2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lang="en-AU" sz="3200" dirty="0"/>
              </a:p>
              <a:p>
                <a:pPr marL="0" indent="0">
                  <a:buNone/>
                </a:pPr>
                <a:endParaRPr lang="en-AU" sz="3200" dirty="0"/>
              </a:p>
              <a:p>
                <a:pPr marL="0" indent="0">
                  <a:buNone/>
                </a:pPr>
                <a:r>
                  <a:rPr lang="en-AU" sz="3200" dirty="0"/>
                  <a:t>3.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2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endParaRPr lang="en-AU" sz="3200" dirty="0"/>
              </a:p>
              <a:p>
                <a:pPr marL="0" indent="0">
                  <a:buNone/>
                </a:pPr>
                <a:endParaRPr lang="en-AU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151A2F-2684-4BEC-80C9-0C519DFE47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35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971685B2-3A57-4A55-9FC5-10D460C622B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AU" dirty="0"/>
              <a:t>What will the radius be for these circle equations?</a:t>
            </a:r>
          </a:p>
        </p:txBody>
      </p:sp>
    </p:spTree>
    <p:extLst>
      <p:ext uri="{BB962C8B-B14F-4D97-AF65-F5344CB8AC3E}">
        <p14:creationId xmlns:p14="http://schemas.microsoft.com/office/powerpoint/2010/main" val="3464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480705-C379-402E-9BE6-420114E925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5931-3558-4E51-A6E2-AA850A0669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3DA3C0-AD6B-4283-B7F3-722CF29B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FC0C5-3197-4A1C-A26E-0DC6A9B1AB6B}"/>
              </a:ext>
            </a:extLst>
          </p:cNvPr>
          <p:cNvSpPr/>
          <p:nvPr/>
        </p:nvSpPr>
        <p:spPr>
          <a:xfrm>
            <a:off x="225761" y="257335"/>
            <a:ext cx="11737304" cy="6480720"/>
          </a:xfrm>
          <a:prstGeom prst="rect">
            <a:avLst/>
          </a:prstGeom>
          <a:solidFill>
            <a:schemeClr val="bg2"/>
          </a:solidFill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11B15E-B102-49A4-AFD0-8711AE39C186}"/>
              </a:ext>
            </a:extLst>
          </p:cNvPr>
          <p:cNvCxnSpPr/>
          <p:nvPr/>
        </p:nvCxnSpPr>
        <p:spPr>
          <a:xfrm>
            <a:off x="549796" y="764704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BD83C0-93C5-48B9-97BF-8ED8CE4E74BF}"/>
              </a:ext>
            </a:extLst>
          </p:cNvPr>
          <p:cNvCxnSpPr/>
          <p:nvPr/>
        </p:nvCxnSpPr>
        <p:spPr>
          <a:xfrm>
            <a:off x="549796" y="1262593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43D54B-CE33-493F-801C-CE3413DB4228}"/>
              </a:ext>
            </a:extLst>
          </p:cNvPr>
          <p:cNvCxnSpPr>
            <a:cxnSpLocks/>
          </p:cNvCxnSpPr>
          <p:nvPr/>
        </p:nvCxnSpPr>
        <p:spPr>
          <a:xfrm>
            <a:off x="2349996" y="1262593"/>
            <a:ext cx="0" cy="4968551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7A0B65-0FC0-461E-B527-EB25E129D614}"/>
              </a:ext>
            </a:extLst>
          </p:cNvPr>
          <p:cNvSpPr txBox="1"/>
          <p:nvPr/>
        </p:nvSpPr>
        <p:spPr>
          <a:xfrm>
            <a:off x="765820" y="274638"/>
            <a:ext cx="101531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Topic : Circles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F8641-1D39-42E1-A6C1-BEC9DC40BCA7}"/>
              </a:ext>
            </a:extLst>
          </p:cNvPr>
          <p:cNvSpPr txBox="1"/>
          <p:nvPr/>
        </p:nvSpPr>
        <p:spPr>
          <a:xfrm>
            <a:off x="773096" y="764703"/>
            <a:ext cx="10513168" cy="43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How are circles graphed?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B85E18-E650-457A-9FFE-34C82EC5CB52}"/>
              </a:ext>
            </a:extLst>
          </p:cNvPr>
          <p:cNvSpPr txBox="1"/>
          <p:nvPr/>
        </p:nvSpPr>
        <p:spPr>
          <a:xfrm>
            <a:off x="4506572" y="1769335"/>
            <a:ext cx="259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8125A1-4470-465E-8D45-3A009E91B4C5}"/>
              </a:ext>
            </a:extLst>
          </p:cNvPr>
          <p:cNvSpPr txBox="1"/>
          <p:nvPr/>
        </p:nvSpPr>
        <p:spPr>
          <a:xfrm>
            <a:off x="384041" y="1412778"/>
            <a:ext cx="18572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How can we shift the circles horizontally?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B97F849-6B1F-4E1D-AB87-3C08CBF98878}"/>
                  </a:ext>
                </a:extLst>
              </p:cNvPr>
              <p:cNvSpPr txBox="1"/>
              <p:nvPr/>
            </p:nvSpPr>
            <p:spPr>
              <a:xfrm>
                <a:off x="2639693" y="2417056"/>
                <a:ext cx="7291301" cy="424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400" b="0" dirty="0"/>
                  <a:t>  shifted p units to the right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B97F849-6B1F-4E1D-AB87-3C08CBF98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693" y="2417056"/>
                <a:ext cx="7291301" cy="424732"/>
              </a:xfrm>
              <a:prstGeom prst="rect">
                <a:avLst/>
              </a:prstGeom>
              <a:blipFill>
                <a:blip r:embed="rId3"/>
                <a:stretch>
                  <a:fillRect l="-669" t="-20000" b="-314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3220E5C-7D38-4BB2-BA2C-2EC779C60300}"/>
              </a:ext>
            </a:extLst>
          </p:cNvPr>
          <p:cNvSpPr txBox="1"/>
          <p:nvPr/>
        </p:nvSpPr>
        <p:spPr>
          <a:xfrm>
            <a:off x="2694225" y="1361371"/>
            <a:ext cx="540060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b="0" dirty="0"/>
              <a:t>Which variable is the horizontal one?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9775A64-7400-4F8A-8882-DEA903EF8A60}"/>
                  </a:ext>
                </a:extLst>
              </p:cNvPr>
              <p:cNvSpPr txBox="1"/>
              <p:nvPr/>
            </p:nvSpPr>
            <p:spPr>
              <a:xfrm>
                <a:off x="2651207" y="2860087"/>
                <a:ext cx="7291301" cy="424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400" b="0" dirty="0"/>
                  <a:t>  shifted p units to the left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9775A64-7400-4F8A-8882-DEA903EF8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207" y="2860087"/>
                <a:ext cx="7291301" cy="424732"/>
              </a:xfrm>
              <a:prstGeom prst="rect">
                <a:avLst/>
              </a:prstGeom>
              <a:blipFill>
                <a:blip r:embed="rId4"/>
                <a:stretch>
                  <a:fillRect l="-753" t="-20000" b="-314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912ED2E8-AF40-4916-B7ED-28C1BCEBA2F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316" t="43137" r="50158" b="35186"/>
          <a:stretch/>
        </p:blipFill>
        <p:spPr>
          <a:xfrm>
            <a:off x="2458727" y="3497695"/>
            <a:ext cx="5250590" cy="284223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E17F545-CFA4-4BF0-AA04-A4D84B95E02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2277" t="19543" r="27856" b="32371"/>
          <a:stretch/>
        </p:blipFill>
        <p:spPr>
          <a:xfrm>
            <a:off x="7728973" y="3504662"/>
            <a:ext cx="3931677" cy="266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4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480705-C379-402E-9BE6-420114E925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5931-3558-4E51-A6E2-AA850A0669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3DA3C0-AD6B-4283-B7F3-722CF29B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FC0C5-3197-4A1C-A26E-0DC6A9B1AB6B}"/>
              </a:ext>
            </a:extLst>
          </p:cNvPr>
          <p:cNvSpPr/>
          <p:nvPr/>
        </p:nvSpPr>
        <p:spPr>
          <a:xfrm>
            <a:off x="238217" y="188640"/>
            <a:ext cx="11737304" cy="6480720"/>
          </a:xfrm>
          <a:prstGeom prst="rect">
            <a:avLst/>
          </a:prstGeom>
          <a:solidFill>
            <a:schemeClr val="bg2"/>
          </a:solidFill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11B15E-B102-49A4-AFD0-8711AE39C186}"/>
              </a:ext>
            </a:extLst>
          </p:cNvPr>
          <p:cNvCxnSpPr/>
          <p:nvPr/>
        </p:nvCxnSpPr>
        <p:spPr>
          <a:xfrm>
            <a:off x="549796" y="764704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BD83C0-93C5-48B9-97BF-8ED8CE4E74BF}"/>
              </a:ext>
            </a:extLst>
          </p:cNvPr>
          <p:cNvCxnSpPr/>
          <p:nvPr/>
        </p:nvCxnSpPr>
        <p:spPr>
          <a:xfrm>
            <a:off x="549796" y="1262593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43D54B-CE33-493F-801C-CE3413DB4228}"/>
              </a:ext>
            </a:extLst>
          </p:cNvPr>
          <p:cNvCxnSpPr>
            <a:cxnSpLocks/>
          </p:cNvCxnSpPr>
          <p:nvPr/>
        </p:nvCxnSpPr>
        <p:spPr>
          <a:xfrm>
            <a:off x="1856798" y="1295400"/>
            <a:ext cx="0" cy="4968551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7A0B65-0FC0-461E-B527-EB25E129D614}"/>
              </a:ext>
            </a:extLst>
          </p:cNvPr>
          <p:cNvSpPr txBox="1"/>
          <p:nvPr/>
        </p:nvSpPr>
        <p:spPr>
          <a:xfrm>
            <a:off x="765820" y="274638"/>
            <a:ext cx="101531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Topic : Circles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F8641-1D39-42E1-A6C1-BEC9DC40BCA7}"/>
              </a:ext>
            </a:extLst>
          </p:cNvPr>
          <p:cNvSpPr txBox="1"/>
          <p:nvPr/>
        </p:nvSpPr>
        <p:spPr>
          <a:xfrm>
            <a:off x="773096" y="764703"/>
            <a:ext cx="10513168" cy="43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How are circles graphed?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B85E18-E650-457A-9FFE-34C82EC5CB52}"/>
              </a:ext>
            </a:extLst>
          </p:cNvPr>
          <p:cNvSpPr txBox="1"/>
          <p:nvPr/>
        </p:nvSpPr>
        <p:spPr>
          <a:xfrm>
            <a:off x="4506572" y="1769335"/>
            <a:ext cx="259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b="1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8125A1-4470-465E-8D45-3A009E91B4C5}"/>
              </a:ext>
            </a:extLst>
          </p:cNvPr>
          <p:cNvSpPr txBox="1"/>
          <p:nvPr/>
        </p:nvSpPr>
        <p:spPr>
          <a:xfrm>
            <a:off x="384041" y="1412778"/>
            <a:ext cx="14727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How can we shift the circles up?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B97F849-6B1F-4E1D-AB87-3C08CBF98878}"/>
                  </a:ext>
                </a:extLst>
              </p:cNvPr>
              <p:cNvSpPr txBox="1"/>
              <p:nvPr/>
            </p:nvSpPr>
            <p:spPr>
              <a:xfrm>
                <a:off x="1856798" y="2505599"/>
                <a:ext cx="7291301" cy="424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400" b="0" dirty="0"/>
                  <a:t>  shifted q units up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B97F849-6B1F-4E1D-AB87-3C08CBF98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798" y="2505599"/>
                <a:ext cx="7291301" cy="424732"/>
              </a:xfrm>
              <a:prstGeom prst="rect">
                <a:avLst/>
              </a:prstGeom>
              <a:blipFill>
                <a:blip r:embed="rId3"/>
                <a:stretch>
                  <a:fillRect t="-20000" b="-314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3220E5C-7D38-4BB2-BA2C-2EC779C60300}"/>
              </a:ext>
            </a:extLst>
          </p:cNvPr>
          <p:cNvSpPr txBox="1"/>
          <p:nvPr/>
        </p:nvSpPr>
        <p:spPr>
          <a:xfrm>
            <a:off x="2694225" y="1361371"/>
            <a:ext cx="54006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b="0" dirty="0"/>
              <a:t>Which variable is the vertical one?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9775A64-7400-4F8A-8882-DEA903EF8A60}"/>
                  </a:ext>
                </a:extLst>
              </p:cNvPr>
              <p:cNvSpPr txBox="1"/>
              <p:nvPr/>
            </p:nvSpPr>
            <p:spPr>
              <a:xfrm>
                <a:off x="1856798" y="3072963"/>
                <a:ext cx="7291301" cy="424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400" b="0" dirty="0"/>
                  <a:t>  shifted q units down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9775A64-7400-4F8A-8882-DEA903EF8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798" y="3072963"/>
                <a:ext cx="7291301" cy="424732"/>
              </a:xfrm>
              <a:prstGeom prst="rect">
                <a:avLst/>
              </a:prstGeom>
              <a:blipFill>
                <a:blip r:embed="rId4"/>
                <a:stretch>
                  <a:fillRect t="-20000" b="-314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DA37F1C8-342E-4CAB-8A79-CC4DE1276FA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6370" t="57352" r="47637" b="19542"/>
          <a:stretch/>
        </p:blipFill>
        <p:spPr>
          <a:xfrm>
            <a:off x="2226173" y="3779674"/>
            <a:ext cx="5070314" cy="25351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A0B20BB-9E7C-42CE-A827-FA86F5FCE58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6656" t="57352" r="24947" b="19542"/>
          <a:stretch/>
        </p:blipFill>
        <p:spPr>
          <a:xfrm>
            <a:off x="7811993" y="3322846"/>
            <a:ext cx="3950886" cy="279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559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F30619-FCFC-4CF3-9591-9DC47643D6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835001-AF59-45BA-8C19-B7FDCDDA7AD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30131" t="37065" r="25879" b="13694"/>
          <a:stretch/>
        </p:blipFill>
        <p:spPr>
          <a:xfrm>
            <a:off x="693812" y="1905000"/>
            <a:ext cx="6080174" cy="382825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2AA3DB2-C6DC-4843-942A-1D76B9C4E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400" dirty="0"/>
              <a:t>Describe the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161126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your summaries</a:t>
            </a:r>
          </a:p>
        </p:txBody>
      </p:sp>
    </p:spTree>
    <p:extLst>
      <p:ext uri="{BB962C8B-B14F-4D97-AF65-F5344CB8AC3E}">
        <p14:creationId xmlns:p14="http://schemas.microsoft.com/office/powerpoint/2010/main" val="375281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tudent presentation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7Grunge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Student presentation" id="{61936DD2-5F1E-4CE5-AB4B-725D35FC9179}" vid="{60FEA300-D151-4B21-9955-901AC34D046A}"/>
    </a:ext>
  </a:extLst>
</a:theme>
</file>

<file path=ppt/theme/theme2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7Grunge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7Grunge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98950B5-7B6B-4C28-8458-CAB8EA4CB2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Student scientific report presentation</Template>
  <TotalTime>0</TotalTime>
  <Words>356</Words>
  <Application>Microsoft Office PowerPoint</Application>
  <PresentationFormat>Custom</PresentationFormat>
  <Paragraphs>71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Cambria Math</vt:lpstr>
      <vt:lpstr>Century Gothic</vt:lpstr>
      <vt:lpstr>Wingdings 3</vt:lpstr>
      <vt:lpstr>Student presentation</vt:lpstr>
      <vt:lpstr>Topic : Circles</vt:lpstr>
      <vt:lpstr>Overview</vt:lpstr>
      <vt:lpstr>PowerPoint Presentation</vt:lpstr>
      <vt:lpstr>PowerPoint Presentation</vt:lpstr>
      <vt:lpstr>What will the radius be for these circle equations?</vt:lpstr>
      <vt:lpstr>PowerPoint Presentation</vt:lpstr>
      <vt:lpstr>PowerPoint Presentation</vt:lpstr>
      <vt:lpstr>Describe the transformation</vt:lpstr>
      <vt:lpstr>Write your summaries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2017-10-29T10:47:27Z</dcterms:created>
  <dcterms:modified xsi:type="dcterms:W3CDTF">2017-11-01T00:01:53Z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TC034605859991</vt:lpwstr>
  </property>
</Properties>
</file>
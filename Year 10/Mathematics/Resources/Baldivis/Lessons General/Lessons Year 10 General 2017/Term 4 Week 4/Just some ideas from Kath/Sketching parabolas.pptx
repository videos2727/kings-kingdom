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2" r:id="rId6"/>
    <p:sldId id="274" r:id="rId7"/>
    <p:sldId id="260" r:id="rId8"/>
    <p:sldId id="261" r:id="rId9"/>
    <p:sldId id="277" r:id="rId10"/>
    <p:sldId id="273" r:id="rId11"/>
    <p:sldId id="265" r:id="rId12"/>
    <p:sldId id="278" r:id="rId13"/>
    <p:sldId id="270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ヒラギノ角ゴ Pro W3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FF0066"/>
    <a:srgbClr val="FF33CC"/>
    <a:srgbClr val="FFFF66"/>
    <a:srgbClr val="FF9900"/>
    <a:srgbClr val="66FF33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965" y="-158"/>
      </p:cViewPr>
      <p:guideLst>
        <p:guide orient="horz" pos="1093"/>
        <p:guide pos="2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586CBF9-8CF8-48D0-89EA-88E448F60E47}" type="datetime1">
              <a:rPr lang="en-US"/>
              <a:pPr>
                <a:defRPr/>
              </a:pPr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2AD94A2-1B2D-4BE9-963C-C6B22DA4A7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6120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Let students know that in Algebra I we concentrate only on parabolas that are functions; In Algebra II, they will study parabolas that open left or right.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9pPr>
          </a:lstStyle>
          <a:p>
            <a:fld id="{76539026-2FDF-4B62-9EA6-C5F71657FB38}" type="slidenum">
              <a:rPr lang="en-US" altLang="en-US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Remind students that if </a:t>
            </a:r>
            <a:r>
              <a:rPr lang="ja-JP" altLang="en-US" smtClean="0"/>
              <a:t>‘</a:t>
            </a:r>
            <a:r>
              <a:rPr lang="en-US" altLang="ja-JP" smtClean="0"/>
              <a:t>a</a:t>
            </a:r>
            <a:r>
              <a:rPr lang="ja-JP" altLang="en-US" smtClean="0"/>
              <a:t>’</a:t>
            </a:r>
            <a:r>
              <a:rPr lang="en-US" altLang="ja-JP" smtClean="0"/>
              <a:t> = 0 you would not have a quadratic function.</a:t>
            </a:r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9pPr>
          </a:lstStyle>
          <a:p>
            <a:fld id="{BAA16B35-419D-4F05-B55B-19F6185C739C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Discuss with the students that the line of symmetry of a quadratic function (parabola that opens up or down) is always a vertical line, therefore has the equation  x =#.  Ask </a:t>
            </a:r>
            <a:r>
              <a:rPr lang="ja-JP" altLang="en-US" smtClean="0"/>
              <a:t>“</a:t>
            </a:r>
            <a:r>
              <a:rPr lang="en-US" altLang="ja-JP" smtClean="0"/>
              <a:t>Does this parabola open up or down?</a:t>
            </a:r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9pPr>
          </a:lstStyle>
          <a:p>
            <a:fld id="{7E79B039-8F71-4668-989F-F7CF45C1BE28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smtClean="0"/>
              <a:t>Remind students that x-intercepts are found by setting y = 0 therefore the related equation would be ax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+bx+c=0.  Also state that since the highest degree of a quadratic is 2, then there are at most 2 solutions.  For the first graph ask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why are there no solutions?</a:t>
            </a:r>
            <a:r>
              <a:rPr lang="ja-JP" altLang="en-US" dirty="0" smtClean="0"/>
              <a:t>”</a:t>
            </a:r>
            <a:r>
              <a:rPr lang="en-US" altLang="ja-JP" dirty="0" smtClean="0"/>
              <a:t>-- there are no solutions because the parabola does not intercept the x-axis.  2</a:t>
            </a:r>
            <a:r>
              <a:rPr lang="en-US" altLang="ja-JP" baseline="30000" dirty="0" smtClean="0"/>
              <a:t>nd</a:t>
            </a:r>
            <a:r>
              <a:rPr lang="en-US" altLang="ja-JP" dirty="0" smtClean="0"/>
              <a:t> and 3</a:t>
            </a:r>
            <a:r>
              <a:rPr lang="en-US" altLang="ja-JP" baseline="30000" dirty="0" smtClean="0"/>
              <a:t>rd</a:t>
            </a:r>
            <a:r>
              <a:rPr lang="en-US" altLang="ja-JP" dirty="0" smtClean="0"/>
              <a:t> graph ask students to state the solutions.  Additional Vocab may be </a:t>
            </a:r>
            <a:r>
              <a:rPr lang="en-US" altLang="ja-JP" dirty="0" err="1" smtClean="0"/>
              <a:t>itroduced</a:t>
            </a:r>
            <a:r>
              <a:rPr lang="en-US" altLang="ja-JP" dirty="0" smtClean="0"/>
              <a:t>:  The x-intercepts are solutions, zero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or roots of the equation.</a:t>
            </a:r>
            <a:endParaRPr lang="en-US" altLang="en-US" dirty="0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9pPr>
          </a:lstStyle>
          <a:p>
            <a:fld id="{3172753A-DE51-4C1C-B5D8-2FD9D7B7982E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B8D385-F6DF-42DE-8A48-D72BE2D7E3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02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34F122-AEF0-4A2C-BFF5-4A152FAC14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90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2D4D05-4845-4E67-814C-FB19001DF2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29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C306E-941E-405C-A41A-CD6F42ED09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13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D22F1-3384-40FE-8AD0-923392F59F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25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6C38A1-E878-49DC-B465-D310914B9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8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A95BBC-75DD-4250-952C-4281DD7149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031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C4CB25-90C9-43D1-9D59-1A07933C1B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40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4C62F-8463-4D47-9F6D-D871CEAB9A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CE4CE-7973-46EF-89B9-9C93F7BC46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36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0E594F-410B-49F8-8499-2BB9C77138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8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184" y="3159"/>
                  </a:cxn>
                  <a:cxn ang="0">
                    <a:pos x="518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5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56" y="3159"/>
                  </a:cxn>
                  <a:cxn ang="0">
                    <a:pos x="55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</p:grpSp>
        <p:sp>
          <p:nvSpPr>
            <p:cNvPr id="4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0"/>
                </a:cxn>
                <a:cxn ang="0">
                  <a:pos x="12" y="42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1" y="12"/>
                </a:cxn>
                <a:cxn ang="0">
                  <a:pos x="251" y="0"/>
                </a:cxn>
                <a:cxn ang="0">
                  <a:pos x="251" y="0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51" y="12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9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0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24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24" y="12"/>
                  </a:cxn>
                  <a:cxn ang="0">
                    <a:pos x="4724" y="0"/>
                  </a:cxn>
                  <a:cxn ang="0">
                    <a:pos x="4724" y="0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1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2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3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</p:grpSp>
      </p:grpSp>
      <p:pic>
        <p:nvPicPr>
          <p:cNvPr id="16" name="Picture 21" descr="scottishfla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714375"/>
            <a:ext cx="647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22"/>
          <p:cNvSpPr txBox="1">
            <a:spLocks noChangeArrowheads="1"/>
          </p:cNvSpPr>
          <p:nvPr/>
        </p:nvSpPr>
        <p:spPr bwMode="auto">
          <a:xfrm rot="16200000">
            <a:off x="-1547812" y="4160837"/>
            <a:ext cx="4027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2800" dirty="0">
                <a:solidFill>
                  <a:srgbClr val="FFFF00"/>
                </a:solidFill>
                <a:latin typeface="Comic Sans MS" pitchFamily="66" charset="0"/>
                <a:ea typeface="+mn-ea"/>
              </a:rPr>
              <a:t>www.mathsrevision.com</a:t>
            </a:r>
          </a:p>
        </p:txBody>
      </p:sp>
      <p:pic>
        <p:nvPicPr>
          <p:cNvPr id="18" name="Picture 23" descr="Office Objects 05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260350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139700" y="1552575"/>
            <a:ext cx="5984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1200" dirty="0">
                <a:solidFill>
                  <a:srgbClr val="FFFF00"/>
                </a:solidFill>
                <a:latin typeface="Comic Sans MS"/>
                <a:ea typeface="+mn-ea"/>
              </a:rPr>
              <a:t>Nat 5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1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GB"/>
              <a:t>www.mathsrevision.com</a:t>
            </a:r>
          </a:p>
        </p:txBody>
      </p:sp>
      <p:sp>
        <p:nvSpPr>
          <p:cNvPr id="22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F870598F-E79E-4EE4-9769-078F9179D26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098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184" y="3159"/>
                  </a:cxn>
                  <a:cxn ang="0">
                    <a:pos x="518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5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56" y="3159"/>
                  </a:cxn>
                  <a:cxn ang="0">
                    <a:pos x="55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</p:grpSp>
        <p:sp>
          <p:nvSpPr>
            <p:cNvPr id="4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0"/>
                </a:cxn>
                <a:cxn ang="0">
                  <a:pos x="12" y="42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1" y="12"/>
                </a:cxn>
                <a:cxn ang="0">
                  <a:pos x="251" y="0"/>
                </a:cxn>
                <a:cxn ang="0">
                  <a:pos x="251" y="0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51" y="12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GB" sz="2400" dirty="0">
                <a:solidFill>
                  <a:srgbClr val="FFFFFF"/>
                </a:solidFill>
                <a:latin typeface="Arial Narrow" pitchFamily="34" charset="0"/>
                <a:ea typeface="+mn-ea"/>
              </a:endParaRPr>
            </a:p>
          </p:txBody>
        </p: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9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0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24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24" y="12"/>
                  </a:cxn>
                  <a:cxn ang="0">
                    <a:pos x="4724" y="0"/>
                  </a:cxn>
                  <a:cxn ang="0">
                    <a:pos x="4724" y="0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1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2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  <p:sp>
            <p:nvSpPr>
              <p:cNvPr id="13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en-GB" sz="2400" dirty="0">
                  <a:solidFill>
                    <a:srgbClr val="FFFFFF"/>
                  </a:solidFill>
                  <a:latin typeface="Arial Narrow" pitchFamily="34" charset="0"/>
                  <a:ea typeface="+mn-ea"/>
                </a:endParaRPr>
              </a:p>
            </p:txBody>
          </p:sp>
        </p:grpSp>
      </p:grpSp>
      <p:pic>
        <p:nvPicPr>
          <p:cNvPr id="16" name="Picture 21" descr="scottishfla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714375"/>
            <a:ext cx="647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22"/>
          <p:cNvSpPr txBox="1">
            <a:spLocks noChangeArrowheads="1"/>
          </p:cNvSpPr>
          <p:nvPr/>
        </p:nvSpPr>
        <p:spPr bwMode="auto">
          <a:xfrm rot="16200000">
            <a:off x="-1547812" y="4160837"/>
            <a:ext cx="4027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2800" dirty="0">
                <a:solidFill>
                  <a:srgbClr val="FFFF00"/>
                </a:solidFill>
                <a:latin typeface="Comic Sans MS" pitchFamily="66" charset="0"/>
                <a:ea typeface="+mn-ea"/>
              </a:rPr>
              <a:t>www.mathsrevision.com</a:t>
            </a:r>
          </a:p>
        </p:txBody>
      </p:sp>
      <p:pic>
        <p:nvPicPr>
          <p:cNvPr id="18" name="Picture 23" descr="Office Objects 05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260350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139700" y="1552575"/>
            <a:ext cx="5984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1200" dirty="0">
                <a:solidFill>
                  <a:srgbClr val="FFFF00"/>
                </a:solidFill>
                <a:latin typeface="Comic Sans MS"/>
                <a:ea typeface="+mn-ea"/>
              </a:rPr>
              <a:t>Nat 5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1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GB"/>
              <a:t>www.mathsrevision.com</a:t>
            </a:r>
          </a:p>
        </p:txBody>
      </p:sp>
      <p:sp>
        <p:nvSpPr>
          <p:cNvPr id="22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F59117B7-54E8-49DC-A6F6-6938726A198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73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FB21E82-75A5-4B4C-B197-1C9A4E9E82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-128"/>
          <a:cs typeface="ヒラギノ角ゴ Pro W3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ヒラギノ角ゴ Pro W3" charset="-128"/>
          <a:cs typeface="ヒラギノ角ゴ Pro W3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ヒラギノ角ゴ Pro W3" charset="-128"/>
          <a:cs typeface="ヒラギノ角ゴ Pro W3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ヒラギノ角ゴ Pro W3" charset="-128"/>
          <a:cs typeface="ヒラギノ角ゴ Pro W3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ヒラギノ角ゴ Pro W3" charset="-128"/>
          <a:cs typeface="ヒラギノ角ゴ Pro W3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ヒラギノ角ゴ Pro W3" charset="-128"/>
          <a:cs typeface="ヒラギノ角ゴ Pro W3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ヒラギノ角ゴ Pro W3" charset="-128"/>
          <a:cs typeface="ヒラギノ角ゴ Pro W3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ヒラギノ角ゴ Pro W3" charset="-128"/>
          <a:cs typeface="ヒラギノ角ゴ Pro W3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-128"/>
          <a:cs typeface="ヒラギノ角ゴ Pro W3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9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slide" Target="slide6.xml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1325" y="1262544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Topic: Sketching Quadratic </a:t>
            </a:r>
            <a:r>
              <a:rPr lang="en-US" altLang="en-US" dirty="0" smtClean="0"/>
              <a:t>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18224" y="36967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ヒラギノ角ゴ Pro W3" charset="-128"/>
                <a:cs typeface="ヒラギノ角ゴ Pro W3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dirty="0" smtClean="0"/>
              <a:t>EQ: How do I sketch a </a:t>
            </a:r>
            <a:r>
              <a:rPr lang="en-US" altLang="en-US" dirty="0" err="1" smtClean="0"/>
              <a:t>qudartic</a:t>
            </a:r>
            <a:r>
              <a:rPr lang="en-US" altLang="en-US" dirty="0" smtClean="0"/>
              <a:t> function without a table of values?</a:t>
            </a:r>
            <a:endParaRPr lang="en-US" altLang="en-US" dirty="0" smtClean="0"/>
          </a:p>
        </p:txBody>
      </p:sp>
    </p:spTree>
  </p:cSld>
  <p:clrMapOvr>
    <a:masterClrMapping/>
  </p:clrMapOvr>
  <p:transition advTm="6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Rectangle 585"/>
          <p:cNvSpPr>
            <a:spLocks noChangeArrowheads="1"/>
          </p:cNvSpPr>
          <p:nvPr/>
        </p:nvSpPr>
        <p:spPr bwMode="auto">
          <a:xfrm>
            <a:off x="2335213" y="4513263"/>
            <a:ext cx="1801812" cy="347662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3649" name="Rectangle 577"/>
          <p:cNvSpPr>
            <a:spLocks noChangeArrowheads="1"/>
          </p:cNvSpPr>
          <p:nvPr/>
        </p:nvSpPr>
        <p:spPr bwMode="auto">
          <a:xfrm>
            <a:off x="2335213" y="2976563"/>
            <a:ext cx="1338262" cy="363537"/>
          </a:xfrm>
          <a:prstGeom prst="rect">
            <a:avLst/>
          </a:prstGeom>
          <a:solidFill>
            <a:srgbClr val="FF0066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0"/>
            <a:ext cx="7753350" cy="84455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Quadratic Functions</a:t>
            </a:r>
          </a:p>
        </p:txBody>
      </p:sp>
      <p:sp>
        <p:nvSpPr>
          <p:cNvPr id="6149" name="Text Box 3"/>
          <p:cNvSpPr txBox="1">
            <a:spLocks noChangeArrowheads="1"/>
          </p:cNvSpPr>
          <p:nvPr/>
        </p:nvSpPr>
        <p:spPr bwMode="auto">
          <a:xfrm>
            <a:off x="257175" y="842963"/>
            <a:ext cx="818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The graph of a quadratic function is a: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7950" y="1644650"/>
            <a:ext cx="3657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A parabola can open up or down.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6675" y="2840038"/>
            <a:ext cx="40703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If the parabola opens up, the lowest point is called the vertex (</a:t>
            </a:r>
            <a:r>
              <a:rPr lang="en-US" altLang="en-US" sz="2800" b="1"/>
              <a:t>minimum</a:t>
            </a:r>
            <a:r>
              <a:rPr lang="en-US" altLang="en-US" sz="2800"/>
              <a:t>).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963" y="4381500"/>
            <a:ext cx="441166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If the parabola opens down, the vertex is the highest point    (</a:t>
            </a:r>
            <a:r>
              <a:rPr lang="en-US" altLang="en-US" sz="2800" b="1"/>
              <a:t>maximum</a:t>
            </a:r>
            <a:r>
              <a:rPr lang="en-US" altLang="en-US" sz="2800"/>
              <a:t>).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271463" y="6018213"/>
            <a:ext cx="8872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</a:rPr>
              <a:t>NOTE:  if the parabola opens left or right it is not a </a:t>
            </a:r>
            <a:r>
              <a:rPr lang="en-US" altLang="en-US" sz="2800" b="1">
                <a:solidFill>
                  <a:srgbClr val="FF0000"/>
                </a:solidFill>
              </a:rPr>
              <a:t>function!</a:t>
            </a:r>
          </a:p>
        </p:txBody>
      </p:sp>
      <p:grpSp>
        <p:nvGrpSpPr>
          <p:cNvPr id="6154" name="Group 592"/>
          <p:cNvGrpSpPr>
            <a:grpSpLocks/>
          </p:cNvGrpSpPr>
          <p:nvPr/>
        </p:nvGrpSpPr>
        <p:grpSpPr bwMode="auto">
          <a:xfrm>
            <a:off x="4191000" y="1487488"/>
            <a:ext cx="5241925" cy="4648200"/>
            <a:chOff x="2640" y="937"/>
            <a:chExt cx="3302" cy="2928"/>
          </a:xfrm>
        </p:grpSpPr>
        <p:sp>
          <p:nvSpPr>
            <p:cNvPr id="6167" name="Rectangle 152"/>
            <p:cNvSpPr>
              <a:spLocks noChangeArrowheads="1"/>
            </p:cNvSpPr>
            <p:nvPr/>
          </p:nvSpPr>
          <p:spPr bwMode="auto">
            <a:xfrm>
              <a:off x="532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68" name="Rectangle 151"/>
            <p:cNvSpPr>
              <a:spLocks noChangeArrowheads="1"/>
            </p:cNvSpPr>
            <p:nvPr/>
          </p:nvSpPr>
          <p:spPr bwMode="auto">
            <a:xfrm>
              <a:off x="508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69" name="Rectangle 150"/>
            <p:cNvSpPr>
              <a:spLocks noChangeArrowheads="1"/>
            </p:cNvSpPr>
            <p:nvPr/>
          </p:nvSpPr>
          <p:spPr bwMode="auto">
            <a:xfrm>
              <a:off x="4836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0" name="Rectangle 149"/>
            <p:cNvSpPr>
              <a:spLocks noChangeArrowheads="1"/>
            </p:cNvSpPr>
            <p:nvPr/>
          </p:nvSpPr>
          <p:spPr bwMode="auto">
            <a:xfrm>
              <a:off x="4592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1" name="Rectangle 148"/>
            <p:cNvSpPr>
              <a:spLocks noChangeArrowheads="1"/>
            </p:cNvSpPr>
            <p:nvPr/>
          </p:nvSpPr>
          <p:spPr bwMode="auto">
            <a:xfrm>
              <a:off x="4348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2" name="Rectangle 147"/>
            <p:cNvSpPr>
              <a:spLocks noChangeArrowheads="1"/>
            </p:cNvSpPr>
            <p:nvPr/>
          </p:nvSpPr>
          <p:spPr bwMode="auto">
            <a:xfrm>
              <a:off x="410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3" name="Rectangle 146"/>
            <p:cNvSpPr>
              <a:spLocks noChangeArrowheads="1"/>
            </p:cNvSpPr>
            <p:nvPr/>
          </p:nvSpPr>
          <p:spPr bwMode="auto">
            <a:xfrm>
              <a:off x="386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4" name="Rectangle 145"/>
            <p:cNvSpPr>
              <a:spLocks noChangeArrowheads="1"/>
            </p:cNvSpPr>
            <p:nvPr/>
          </p:nvSpPr>
          <p:spPr bwMode="auto">
            <a:xfrm>
              <a:off x="3616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5" name="Rectangle 144"/>
            <p:cNvSpPr>
              <a:spLocks noChangeArrowheads="1"/>
            </p:cNvSpPr>
            <p:nvPr/>
          </p:nvSpPr>
          <p:spPr bwMode="auto">
            <a:xfrm>
              <a:off x="3372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6" name="Rectangle 143"/>
            <p:cNvSpPr>
              <a:spLocks noChangeArrowheads="1"/>
            </p:cNvSpPr>
            <p:nvPr/>
          </p:nvSpPr>
          <p:spPr bwMode="auto">
            <a:xfrm>
              <a:off x="3128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7" name="Rectangle 142"/>
            <p:cNvSpPr>
              <a:spLocks noChangeArrowheads="1"/>
            </p:cNvSpPr>
            <p:nvPr/>
          </p:nvSpPr>
          <p:spPr bwMode="auto">
            <a:xfrm>
              <a:off x="288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8" name="Rectangle 141"/>
            <p:cNvSpPr>
              <a:spLocks noChangeArrowheads="1"/>
            </p:cNvSpPr>
            <p:nvPr/>
          </p:nvSpPr>
          <p:spPr bwMode="auto">
            <a:xfrm>
              <a:off x="264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79" name="Rectangle 140"/>
            <p:cNvSpPr>
              <a:spLocks noChangeArrowheads="1"/>
            </p:cNvSpPr>
            <p:nvPr/>
          </p:nvSpPr>
          <p:spPr bwMode="auto">
            <a:xfrm>
              <a:off x="532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0" name="Rectangle 139"/>
            <p:cNvSpPr>
              <a:spLocks noChangeArrowheads="1"/>
            </p:cNvSpPr>
            <p:nvPr/>
          </p:nvSpPr>
          <p:spPr bwMode="auto">
            <a:xfrm>
              <a:off x="508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1" name="Rectangle 138"/>
            <p:cNvSpPr>
              <a:spLocks noChangeArrowheads="1"/>
            </p:cNvSpPr>
            <p:nvPr/>
          </p:nvSpPr>
          <p:spPr bwMode="auto">
            <a:xfrm>
              <a:off x="4836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2" name="Rectangle 137"/>
            <p:cNvSpPr>
              <a:spLocks noChangeArrowheads="1"/>
            </p:cNvSpPr>
            <p:nvPr/>
          </p:nvSpPr>
          <p:spPr bwMode="auto">
            <a:xfrm>
              <a:off x="4592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3" name="Rectangle 136"/>
            <p:cNvSpPr>
              <a:spLocks noChangeArrowheads="1"/>
            </p:cNvSpPr>
            <p:nvPr/>
          </p:nvSpPr>
          <p:spPr bwMode="auto">
            <a:xfrm>
              <a:off x="4348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4" name="Rectangle 135"/>
            <p:cNvSpPr>
              <a:spLocks noChangeArrowheads="1"/>
            </p:cNvSpPr>
            <p:nvPr/>
          </p:nvSpPr>
          <p:spPr bwMode="auto">
            <a:xfrm>
              <a:off x="410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5" name="Rectangle 134"/>
            <p:cNvSpPr>
              <a:spLocks noChangeArrowheads="1"/>
            </p:cNvSpPr>
            <p:nvPr/>
          </p:nvSpPr>
          <p:spPr bwMode="auto">
            <a:xfrm>
              <a:off x="386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6" name="Rectangle 133"/>
            <p:cNvSpPr>
              <a:spLocks noChangeArrowheads="1"/>
            </p:cNvSpPr>
            <p:nvPr/>
          </p:nvSpPr>
          <p:spPr bwMode="auto">
            <a:xfrm>
              <a:off x="3616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7" name="Rectangle 132"/>
            <p:cNvSpPr>
              <a:spLocks noChangeArrowheads="1"/>
            </p:cNvSpPr>
            <p:nvPr/>
          </p:nvSpPr>
          <p:spPr bwMode="auto">
            <a:xfrm>
              <a:off x="3372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8" name="Rectangle 131"/>
            <p:cNvSpPr>
              <a:spLocks noChangeArrowheads="1"/>
            </p:cNvSpPr>
            <p:nvPr/>
          </p:nvSpPr>
          <p:spPr bwMode="auto">
            <a:xfrm>
              <a:off x="3128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89" name="Rectangle 130"/>
            <p:cNvSpPr>
              <a:spLocks noChangeArrowheads="1"/>
            </p:cNvSpPr>
            <p:nvPr/>
          </p:nvSpPr>
          <p:spPr bwMode="auto">
            <a:xfrm>
              <a:off x="288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0" name="Rectangle 129"/>
            <p:cNvSpPr>
              <a:spLocks noChangeArrowheads="1"/>
            </p:cNvSpPr>
            <p:nvPr/>
          </p:nvSpPr>
          <p:spPr bwMode="auto">
            <a:xfrm>
              <a:off x="264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1" name="Rectangle 128"/>
            <p:cNvSpPr>
              <a:spLocks noChangeArrowheads="1"/>
            </p:cNvSpPr>
            <p:nvPr/>
          </p:nvSpPr>
          <p:spPr bwMode="auto">
            <a:xfrm>
              <a:off x="532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2" name="Rectangle 127"/>
            <p:cNvSpPr>
              <a:spLocks noChangeArrowheads="1"/>
            </p:cNvSpPr>
            <p:nvPr/>
          </p:nvSpPr>
          <p:spPr bwMode="auto">
            <a:xfrm>
              <a:off x="508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3" name="Rectangle 126"/>
            <p:cNvSpPr>
              <a:spLocks noChangeArrowheads="1"/>
            </p:cNvSpPr>
            <p:nvPr/>
          </p:nvSpPr>
          <p:spPr bwMode="auto">
            <a:xfrm>
              <a:off x="4836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4" name="Rectangle 125"/>
            <p:cNvSpPr>
              <a:spLocks noChangeArrowheads="1"/>
            </p:cNvSpPr>
            <p:nvPr/>
          </p:nvSpPr>
          <p:spPr bwMode="auto">
            <a:xfrm>
              <a:off x="4592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5" name="Rectangle 124"/>
            <p:cNvSpPr>
              <a:spLocks noChangeArrowheads="1"/>
            </p:cNvSpPr>
            <p:nvPr/>
          </p:nvSpPr>
          <p:spPr bwMode="auto">
            <a:xfrm>
              <a:off x="4348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6" name="Rectangle 123"/>
            <p:cNvSpPr>
              <a:spLocks noChangeArrowheads="1"/>
            </p:cNvSpPr>
            <p:nvPr/>
          </p:nvSpPr>
          <p:spPr bwMode="auto">
            <a:xfrm>
              <a:off x="410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7" name="Rectangle 122"/>
            <p:cNvSpPr>
              <a:spLocks noChangeArrowheads="1"/>
            </p:cNvSpPr>
            <p:nvPr/>
          </p:nvSpPr>
          <p:spPr bwMode="auto">
            <a:xfrm>
              <a:off x="386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8" name="Rectangle 121"/>
            <p:cNvSpPr>
              <a:spLocks noChangeArrowheads="1"/>
            </p:cNvSpPr>
            <p:nvPr/>
          </p:nvSpPr>
          <p:spPr bwMode="auto">
            <a:xfrm>
              <a:off x="3616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199" name="Rectangle 120"/>
            <p:cNvSpPr>
              <a:spLocks noChangeArrowheads="1"/>
            </p:cNvSpPr>
            <p:nvPr/>
          </p:nvSpPr>
          <p:spPr bwMode="auto">
            <a:xfrm>
              <a:off x="3372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0" name="Rectangle 119"/>
            <p:cNvSpPr>
              <a:spLocks noChangeArrowheads="1"/>
            </p:cNvSpPr>
            <p:nvPr/>
          </p:nvSpPr>
          <p:spPr bwMode="auto">
            <a:xfrm>
              <a:off x="3128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1" name="Rectangle 118"/>
            <p:cNvSpPr>
              <a:spLocks noChangeArrowheads="1"/>
            </p:cNvSpPr>
            <p:nvPr/>
          </p:nvSpPr>
          <p:spPr bwMode="auto">
            <a:xfrm>
              <a:off x="288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2" name="Rectangle 117"/>
            <p:cNvSpPr>
              <a:spLocks noChangeArrowheads="1"/>
            </p:cNvSpPr>
            <p:nvPr/>
          </p:nvSpPr>
          <p:spPr bwMode="auto">
            <a:xfrm>
              <a:off x="264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3" name="Rectangle 116"/>
            <p:cNvSpPr>
              <a:spLocks noChangeArrowheads="1"/>
            </p:cNvSpPr>
            <p:nvPr/>
          </p:nvSpPr>
          <p:spPr bwMode="auto">
            <a:xfrm>
              <a:off x="532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4" name="Rectangle 115"/>
            <p:cNvSpPr>
              <a:spLocks noChangeArrowheads="1"/>
            </p:cNvSpPr>
            <p:nvPr/>
          </p:nvSpPr>
          <p:spPr bwMode="auto">
            <a:xfrm>
              <a:off x="508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5" name="Rectangle 114"/>
            <p:cNvSpPr>
              <a:spLocks noChangeArrowheads="1"/>
            </p:cNvSpPr>
            <p:nvPr/>
          </p:nvSpPr>
          <p:spPr bwMode="auto">
            <a:xfrm>
              <a:off x="4836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6" name="Rectangle 113"/>
            <p:cNvSpPr>
              <a:spLocks noChangeArrowheads="1"/>
            </p:cNvSpPr>
            <p:nvPr/>
          </p:nvSpPr>
          <p:spPr bwMode="auto">
            <a:xfrm>
              <a:off x="4592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7" name="Rectangle 112"/>
            <p:cNvSpPr>
              <a:spLocks noChangeArrowheads="1"/>
            </p:cNvSpPr>
            <p:nvPr/>
          </p:nvSpPr>
          <p:spPr bwMode="auto">
            <a:xfrm>
              <a:off x="4348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8" name="Rectangle 111"/>
            <p:cNvSpPr>
              <a:spLocks noChangeArrowheads="1"/>
            </p:cNvSpPr>
            <p:nvPr/>
          </p:nvSpPr>
          <p:spPr bwMode="auto">
            <a:xfrm>
              <a:off x="410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09" name="Rectangle 110"/>
            <p:cNvSpPr>
              <a:spLocks noChangeArrowheads="1"/>
            </p:cNvSpPr>
            <p:nvPr/>
          </p:nvSpPr>
          <p:spPr bwMode="auto">
            <a:xfrm>
              <a:off x="386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0" name="Rectangle 109"/>
            <p:cNvSpPr>
              <a:spLocks noChangeArrowheads="1"/>
            </p:cNvSpPr>
            <p:nvPr/>
          </p:nvSpPr>
          <p:spPr bwMode="auto">
            <a:xfrm>
              <a:off x="3616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1" name="Rectangle 108"/>
            <p:cNvSpPr>
              <a:spLocks noChangeArrowheads="1"/>
            </p:cNvSpPr>
            <p:nvPr/>
          </p:nvSpPr>
          <p:spPr bwMode="auto">
            <a:xfrm>
              <a:off x="3372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2" name="Rectangle 107"/>
            <p:cNvSpPr>
              <a:spLocks noChangeArrowheads="1"/>
            </p:cNvSpPr>
            <p:nvPr/>
          </p:nvSpPr>
          <p:spPr bwMode="auto">
            <a:xfrm>
              <a:off x="3128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3" name="Rectangle 106"/>
            <p:cNvSpPr>
              <a:spLocks noChangeArrowheads="1"/>
            </p:cNvSpPr>
            <p:nvPr/>
          </p:nvSpPr>
          <p:spPr bwMode="auto">
            <a:xfrm>
              <a:off x="288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4" name="Rectangle 105"/>
            <p:cNvSpPr>
              <a:spLocks noChangeArrowheads="1"/>
            </p:cNvSpPr>
            <p:nvPr/>
          </p:nvSpPr>
          <p:spPr bwMode="auto">
            <a:xfrm>
              <a:off x="264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5" name="Rectangle 104"/>
            <p:cNvSpPr>
              <a:spLocks noChangeArrowheads="1"/>
            </p:cNvSpPr>
            <p:nvPr/>
          </p:nvSpPr>
          <p:spPr bwMode="auto">
            <a:xfrm>
              <a:off x="532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6" name="Rectangle 103"/>
            <p:cNvSpPr>
              <a:spLocks noChangeArrowheads="1"/>
            </p:cNvSpPr>
            <p:nvPr/>
          </p:nvSpPr>
          <p:spPr bwMode="auto">
            <a:xfrm>
              <a:off x="508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7" name="Rectangle 102"/>
            <p:cNvSpPr>
              <a:spLocks noChangeArrowheads="1"/>
            </p:cNvSpPr>
            <p:nvPr/>
          </p:nvSpPr>
          <p:spPr bwMode="auto">
            <a:xfrm>
              <a:off x="4836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8" name="Rectangle 101"/>
            <p:cNvSpPr>
              <a:spLocks noChangeArrowheads="1"/>
            </p:cNvSpPr>
            <p:nvPr/>
          </p:nvSpPr>
          <p:spPr bwMode="auto">
            <a:xfrm>
              <a:off x="4592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19" name="Rectangle 100"/>
            <p:cNvSpPr>
              <a:spLocks noChangeArrowheads="1"/>
            </p:cNvSpPr>
            <p:nvPr/>
          </p:nvSpPr>
          <p:spPr bwMode="auto">
            <a:xfrm>
              <a:off x="4348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0" name="Rectangle 99"/>
            <p:cNvSpPr>
              <a:spLocks noChangeArrowheads="1"/>
            </p:cNvSpPr>
            <p:nvPr/>
          </p:nvSpPr>
          <p:spPr bwMode="auto">
            <a:xfrm>
              <a:off x="410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1" name="Rectangle 98"/>
            <p:cNvSpPr>
              <a:spLocks noChangeArrowheads="1"/>
            </p:cNvSpPr>
            <p:nvPr/>
          </p:nvSpPr>
          <p:spPr bwMode="auto">
            <a:xfrm>
              <a:off x="386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2" name="Rectangle 97"/>
            <p:cNvSpPr>
              <a:spLocks noChangeArrowheads="1"/>
            </p:cNvSpPr>
            <p:nvPr/>
          </p:nvSpPr>
          <p:spPr bwMode="auto">
            <a:xfrm>
              <a:off x="3616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3" name="Rectangle 96"/>
            <p:cNvSpPr>
              <a:spLocks noChangeArrowheads="1"/>
            </p:cNvSpPr>
            <p:nvPr/>
          </p:nvSpPr>
          <p:spPr bwMode="auto">
            <a:xfrm>
              <a:off x="3372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4" name="Rectangle 95"/>
            <p:cNvSpPr>
              <a:spLocks noChangeArrowheads="1"/>
            </p:cNvSpPr>
            <p:nvPr/>
          </p:nvSpPr>
          <p:spPr bwMode="auto">
            <a:xfrm>
              <a:off x="3128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5" name="Rectangle 94"/>
            <p:cNvSpPr>
              <a:spLocks noChangeArrowheads="1"/>
            </p:cNvSpPr>
            <p:nvPr/>
          </p:nvSpPr>
          <p:spPr bwMode="auto">
            <a:xfrm>
              <a:off x="288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6" name="Rectangle 93"/>
            <p:cNvSpPr>
              <a:spLocks noChangeArrowheads="1"/>
            </p:cNvSpPr>
            <p:nvPr/>
          </p:nvSpPr>
          <p:spPr bwMode="auto">
            <a:xfrm>
              <a:off x="264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7" name="Rectangle 92"/>
            <p:cNvSpPr>
              <a:spLocks noChangeArrowheads="1"/>
            </p:cNvSpPr>
            <p:nvPr/>
          </p:nvSpPr>
          <p:spPr bwMode="auto">
            <a:xfrm>
              <a:off x="532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8" name="Rectangle 91"/>
            <p:cNvSpPr>
              <a:spLocks noChangeArrowheads="1"/>
            </p:cNvSpPr>
            <p:nvPr/>
          </p:nvSpPr>
          <p:spPr bwMode="auto">
            <a:xfrm>
              <a:off x="508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29" name="Rectangle 90"/>
            <p:cNvSpPr>
              <a:spLocks noChangeArrowheads="1"/>
            </p:cNvSpPr>
            <p:nvPr/>
          </p:nvSpPr>
          <p:spPr bwMode="auto">
            <a:xfrm>
              <a:off x="4836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0" name="Rectangle 89"/>
            <p:cNvSpPr>
              <a:spLocks noChangeArrowheads="1"/>
            </p:cNvSpPr>
            <p:nvPr/>
          </p:nvSpPr>
          <p:spPr bwMode="auto">
            <a:xfrm>
              <a:off x="4592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1" name="Rectangle 88"/>
            <p:cNvSpPr>
              <a:spLocks noChangeArrowheads="1"/>
            </p:cNvSpPr>
            <p:nvPr/>
          </p:nvSpPr>
          <p:spPr bwMode="auto">
            <a:xfrm>
              <a:off x="4348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2" name="Rectangle 87"/>
            <p:cNvSpPr>
              <a:spLocks noChangeArrowheads="1"/>
            </p:cNvSpPr>
            <p:nvPr/>
          </p:nvSpPr>
          <p:spPr bwMode="auto">
            <a:xfrm>
              <a:off x="410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3" name="Rectangle 86"/>
            <p:cNvSpPr>
              <a:spLocks noChangeArrowheads="1"/>
            </p:cNvSpPr>
            <p:nvPr/>
          </p:nvSpPr>
          <p:spPr bwMode="auto">
            <a:xfrm>
              <a:off x="386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4" name="Rectangle 85"/>
            <p:cNvSpPr>
              <a:spLocks noChangeArrowheads="1"/>
            </p:cNvSpPr>
            <p:nvPr/>
          </p:nvSpPr>
          <p:spPr bwMode="auto">
            <a:xfrm>
              <a:off x="3616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5" name="Rectangle 84"/>
            <p:cNvSpPr>
              <a:spLocks noChangeArrowheads="1"/>
            </p:cNvSpPr>
            <p:nvPr/>
          </p:nvSpPr>
          <p:spPr bwMode="auto">
            <a:xfrm>
              <a:off x="3372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6" name="Rectangle 83"/>
            <p:cNvSpPr>
              <a:spLocks noChangeArrowheads="1"/>
            </p:cNvSpPr>
            <p:nvPr/>
          </p:nvSpPr>
          <p:spPr bwMode="auto">
            <a:xfrm>
              <a:off x="3128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7" name="Rectangle 82"/>
            <p:cNvSpPr>
              <a:spLocks noChangeArrowheads="1"/>
            </p:cNvSpPr>
            <p:nvPr/>
          </p:nvSpPr>
          <p:spPr bwMode="auto">
            <a:xfrm>
              <a:off x="288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8" name="Rectangle 81"/>
            <p:cNvSpPr>
              <a:spLocks noChangeArrowheads="1"/>
            </p:cNvSpPr>
            <p:nvPr/>
          </p:nvSpPr>
          <p:spPr bwMode="auto">
            <a:xfrm>
              <a:off x="264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39" name="Rectangle 80"/>
            <p:cNvSpPr>
              <a:spLocks noChangeArrowheads="1"/>
            </p:cNvSpPr>
            <p:nvPr/>
          </p:nvSpPr>
          <p:spPr bwMode="auto">
            <a:xfrm>
              <a:off x="532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0" name="Rectangle 79"/>
            <p:cNvSpPr>
              <a:spLocks noChangeArrowheads="1"/>
            </p:cNvSpPr>
            <p:nvPr/>
          </p:nvSpPr>
          <p:spPr bwMode="auto">
            <a:xfrm>
              <a:off x="508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1" name="Rectangle 78"/>
            <p:cNvSpPr>
              <a:spLocks noChangeArrowheads="1"/>
            </p:cNvSpPr>
            <p:nvPr/>
          </p:nvSpPr>
          <p:spPr bwMode="auto">
            <a:xfrm>
              <a:off x="4836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2" name="Rectangle 77"/>
            <p:cNvSpPr>
              <a:spLocks noChangeArrowheads="1"/>
            </p:cNvSpPr>
            <p:nvPr/>
          </p:nvSpPr>
          <p:spPr bwMode="auto">
            <a:xfrm>
              <a:off x="4592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3" name="Rectangle 76"/>
            <p:cNvSpPr>
              <a:spLocks noChangeArrowheads="1"/>
            </p:cNvSpPr>
            <p:nvPr/>
          </p:nvSpPr>
          <p:spPr bwMode="auto">
            <a:xfrm>
              <a:off x="4348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4" name="Rectangle 75"/>
            <p:cNvSpPr>
              <a:spLocks noChangeArrowheads="1"/>
            </p:cNvSpPr>
            <p:nvPr/>
          </p:nvSpPr>
          <p:spPr bwMode="auto">
            <a:xfrm>
              <a:off x="410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5" name="Rectangle 74"/>
            <p:cNvSpPr>
              <a:spLocks noChangeArrowheads="1"/>
            </p:cNvSpPr>
            <p:nvPr/>
          </p:nvSpPr>
          <p:spPr bwMode="auto">
            <a:xfrm>
              <a:off x="386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6" name="Rectangle 73"/>
            <p:cNvSpPr>
              <a:spLocks noChangeArrowheads="1"/>
            </p:cNvSpPr>
            <p:nvPr/>
          </p:nvSpPr>
          <p:spPr bwMode="auto">
            <a:xfrm>
              <a:off x="3616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7" name="Rectangle 72"/>
            <p:cNvSpPr>
              <a:spLocks noChangeArrowheads="1"/>
            </p:cNvSpPr>
            <p:nvPr/>
          </p:nvSpPr>
          <p:spPr bwMode="auto">
            <a:xfrm>
              <a:off x="3372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8" name="Rectangle 71"/>
            <p:cNvSpPr>
              <a:spLocks noChangeArrowheads="1"/>
            </p:cNvSpPr>
            <p:nvPr/>
          </p:nvSpPr>
          <p:spPr bwMode="auto">
            <a:xfrm>
              <a:off x="3128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49" name="Rectangle 70"/>
            <p:cNvSpPr>
              <a:spLocks noChangeArrowheads="1"/>
            </p:cNvSpPr>
            <p:nvPr/>
          </p:nvSpPr>
          <p:spPr bwMode="auto">
            <a:xfrm>
              <a:off x="288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0" name="Rectangle 69"/>
            <p:cNvSpPr>
              <a:spLocks noChangeArrowheads="1"/>
            </p:cNvSpPr>
            <p:nvPr/>
          </p:nvSpPr>
          <p:spPr bwMode="auto">
            <a:xfrm>
              <a:off x="264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1" name="Rectangle 68"/>
            <p:cNvSpPr>
              <a:spLocks noChangeArrowheads="1"/>
            </p:cNvSpPr>
            <p:nvPr/>
          </p:nvSpPr>
          <p:spPr bwMode="auto">
            <a:xfrm>
              <a:off x="532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2" name="Rectangle 67"/>
            <p:cNvSpPr>
              <a:spLocks noChangeArrowheads="1"/>
            </p:cNvSpPr>
            <p:nvPr/>
          </p:nvSpPr>
          <p:spPr bwMode="auto">
            <a:xfrm>
              <a:off x="508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3" name="Rectangle 66"/>
            <p:cNvSpPr>
              <a:spLocks noChangeArrowheads="1"/>
            </p:cNvSpPr>
            <p:nvPr/>
          </p:nvSpPr>
          <p:spPr bwMode="auto">
            <a:xfrm>
              <a:off x="4836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4" name="Rectangle 65"/>
            <p:cNvSpPr>
              <a:spLocks noChangeArrowheads="1"/>
            </p:cNvSpPr>
            <p:nvPr/>
          </p:nvSpPr>
          <p:spPr bwMode="auto">
            <a:xfrm>
              <a:off x="4592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5" name="Rectangle 64"/>
            <p:cNvSpPr>
              <a:spLocks noChangeArrowheads="1"/>
            </p:cNvSpPr>
            <p:nvPr/>
          </p:nvSpPr>
          <p:spPr bwMode="auto">
            <a:xfrm>
              <a:off x="4348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6" name="Rectangle 63"/>
            <p:cNvSpPr>
              <a:spLocks noChangeArrowheads="1"/>
            </p:cNvSpPr>
            <p:nvPr/>
          </p:nvSpPr>
          <p:spPr bwMode="auto">
            <a:xfrm>
              <a:off x="410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7" name="Rectangle 62"/>
            <p:cNvSpPr>
              <a:spLocks noChangeArrowheads="1"/>
            </p:cNvSpPr>
            <p:nvPr/>
          </p:nvSpPr>
          <p:spPr bwMode="auto">
            <a:xfrm>
              <a:off x="386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8" name="Rectangle 61"/>
            <p:cNvSpPr>
              <a:spLocks noChangeArrowheads="1"/>
            </p:cNvSpPr>
            <p:nvPr/>
          </p:nvSpPr>
          <p:spPr bwMode="auto">
            <a:xfrm>
              <a:off x="3616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59" name="Rectangle 60"/>
            <p:cNvSpPr>
              <a:spLocks noChangeArrowheads="1"/>
            </p:cNvSpPr>
            <p:nvPr/>
          </p:nvSpPr>
          <p:spPr bwMode="auto">
            <a:xfrm>
              <a:off x="3372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0" name="Rectangle 59"/>
            <p:cNvSpPr>
              <a:spLocks noChangeArrowheads="1"/>
            </p:cNvSpPr>
            <p:nvPr/>
          </p:nvSpPr>
          <p:spPr bwMode="auto">
            <a:xfrm>
              <a:off x="3128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1" name="Rectangle 58"/>
            <p:cNvSpPr>
              <a:spLocks noChangeArrowheads="1"/>
            </p:cNvSpPr>
            <p:nvPr/>
          </p:nvSpPr>
          <p:spPr bwMode="auto">
            <a:xfrm>
              <a:off x="288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2" name="Rectangle 57"/>
            <p:cNvSpPr>
              <a:spLocks noChangeArrowheads="1"/>
            </p:cNvSpPr>
            <p:nvPr/>
          </p:nvSpPr>
          <p:spPr bwMode="auto">
            <a:xfrm>
              <a:off x="264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3" name="Rectangle 56"/>
            <p:cNvSpPr>
              <a:spLocks noChangeArrowheads="1"/>
            </p:cNvSpPr>
            <p:nvPr/>
          </p:nvSpPr>
          <p:spPr bwMode="auto">
            <a:xfrm>
              <a:off x="532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4" name="Rectangle 55"/>
            <p:cNvSpPr>
              <a:spLocks noChangeArrowheads="1"/>
            </p:cNvSpPr>
            <p:nvPr/>
          </p:nvSpPr>
          <p:spPr bwMode="auto">
            <a:xfrm>
              <a:off x="508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5" name="Rectangle 54"/>
            <p:cNvSpPr>
              <a:spLocks noChangeArrowheads="1"/>
            </p:cNvSpPr>
            <p:nvPr/>
          </p:nvSpPr>
          <p:spPr bwMode="auto">
            <a:xfrm>
              <a:off x="4836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6" name="Rectangle 53"/>
            <p:cNvSpPr>
              <a:spLocks noChangeArrowheads="1"/>
            </p:cNvSpPr>
            <p:nvPr/>
          </p:nvSpPr>
          <p:spPr bwMode="auto">
            <a:xfrm>
              <a:off x="4592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7" name="Rectangle 52"/>
            <p:cNvSpPr>
              <a:spLocks noChangeArrowheads="1"/>
            </p:cNvSpPr>
            <p:nvPr/>
          </p:nvSpPr>
          <p:spPr bwMode="auto">
            <a:xfrm>
              <a:off x="4348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8" name="Rectangle 51"/>
            <p:cNvSpPr>
              <a:spLocks noChangeArrowheads="1"/>
            </p:cNvSpPr>
            <p:nvPr/>
          </p:nvSpPr>
          <p:spPr bwMode="auto">
            <a:xfrm>
              <a:off x="410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69" name="Rectangle 50"/>
            <p:cNvSpPr>
              <a:spLocks noChangeArrowheads="1"/>
            </p:cNvSpPr>
            <p:nvPr/>
          </p:nvSpPr>
          <p:spPr bwMode="auto">
            <a:xfrm>
              <a:off x="386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0" name="Rectangle 49"/>
            <p:cNvSpPr>
              <a:spLocks noChangeArrowheads="1"/>
            </p:cNvSpPr>
            <p:nvPr/>
          </p:nvSpPr>
          <p:spPr bwMode="auto">
            <a:xfrm>
              <a:off x="3616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1" name="Rectangle 48"/>
            <p:cNvSpPr>
              <a:spLocks noChangeArrowheads="1"/>
            </p:cNvSpPr>
            <p:nvPr/>
          </p:nvSpPr>
          <p:spPr bwMode="auto">
            <a:xfrm>
              <a:off x="3372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2" name="Rectangle 47"/>
            <p:cNvSpPr>
              <a:spLocks noChangeArrowheads="1"/>
            </p:cNvSpPr>
            <p:nvPr/>
          </p:nvSpPr>
          <p:spPr bwMode="auto">
            <a:xfrm>
              <a:off x="3128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3" name="Rectangle 46"/>
            <p:cNvSpPr>
              <a:spLocks noChangeArrowheads="1"/>
            </p:cNvSpPr>
            <p:nvPr/>
          </p:nvSpPr>
          <p:spPr bwMode="auto">
            <a:xfrm>
              <a:off x="288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4" name="Rectangle 45"/>
            <p:cNvSpPr>
              <a:spLocks noChangeArrowheads="1"/>
            </p:cNvSpPr>
            <p:nvPr/>
          </p:nvSpPr>
          <p:spPr bwMode="auto">
            <a:xfrm>
              <a:off x="264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5" name="Rectangle 44"/>
            <p:cNvSpPr>
              <a:spLocks noChangeArrowheads="1"/>
            </p:cNvSpPr>
            <p:nvPr/>
          </p:nvSpPr>
          <p:spPr bwMode="auto">
            <a:xfrm>
              <a:off x="532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6" name="Rectangle 43"/>
            <p:cNvSpPr>
              <a:spLocks noChangeArrowheads="1"/>
            </p:cNvSpPr>
            <p:nvPr/>
          </p:nvSpPr>
          <p:spPr bwMode="auto">
            <a:xfrm>
              <a:off x="508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7" name="Rectangle 42"/>
            <p:cNvSpPr>
              <a:spLocks noChangeArrowheads="1"/>
            </p:cNvSpPr>
            <p:nvPr/>
          </p:nvSpPr>
          <p:spPr bwMode="auto">
            <a:xfrm>
              <a:off x="4836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8" name="Rectangle 41"/>
            <p:cNvSpPr>
              <a:spLocks noChangeArrowheads="1"/>
            </p:cNvSpPr>
            <p:nvPr/>
          </p:nvSpPr>
          <p:spPr bwMode="auto">
            <a:xfrm>
              <a:off x="4592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79" name="Rectangle 40"/>
            <p:cNvSpPr>
              <a:spLocks noChangeArrowheads="1"/>
            </p:cNvSpPr>
            <p:nvPr/>
          </p:nvSpPr>
          <p:spPr bwMode="auto">
            <a:xfrm>
              <a:off x="4348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0" name="Rectangle 39"/>
            <p:cNvSpPr>
              <a:spLocks noChangeArrowheads="1"/>
            </p:cNvSpPr>
            <p:nvPr/>
          </p:nvSpPr>
          <p:spPr bwMode="auto">
            <a:xfrm>
              <a:off x="410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1" name="Rectangle 38"/>
            <p:cNvSpPr>
              <a:spLocks noChangeArrowheads="1"/>
            </p:cNvSpPr>
            <p:nvPr/>
          </p:nvSpPr>
          <p:spPr bwMode="auto">
            <a:xfrm>
              <a:off x="386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2" name="Rectangle 37"/>
            <p:cNvSpPr>
              <a:spLocks noChangeArrowheads="1"/>
            </p:cNvSpPr>
            <p:nvPr/>
          </p:nvSpPr>
          <p:spPr bwMode="auto">
            <a:xfrm>
              <a:off x="3616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3" name="Rectangle 36"/>
            <p:cNvSpPr>
              <a:spLocks noChangeArrowheads="1"/>
            </p:cNvSpPr>
            <p:nvPr/>
          </p:nvSpPr>
          <p:spPr bwMode="auto">
            <a:xfrm>
              <a:off x="3372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4" name="Rectangle 35"/>
            <p:cNvSpPr>
              <a:spLocks noChangeArrowheads="1"/>
            </p:cNvSpPr>
            <p:nvPr/>
          </p:nvSpPr>
          <p:spPr bwMode="auto">
            <a:xfrm>
              <a:off x="3128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5" name="Rectangle 34"/>
            <p:cNvSpPr>
              <a:spLocks noChangeArrowheads="1"/>
            </p:cNvSpPr>
            <p:nvPr/>
          </p:nvSpPr>
          <p:spPr bwMode="auto">
            <a:xfrm>
              <a:off x="288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6" name="Rectangle 33"/>
            <p:cNvSpPr>
              <a:spLocks noChangeArrowheads="1"/>
            </p:cNvSpPr>
            <p:nvPr/>
          </p:nvSpPr>
          <p:spPr bwMode="auto">
            <a:xfrm>
              <a:off x="264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7" name="Rectangle 32"/>
            <p:cNvSpPr>
              <a:spLocks noChangeArrowheads="1"/>
            </p:cNvSpPr>
            <p:nvPr/>
          </p:nvSpPr>
          <p:spPr bwMode="auto">
            <a:xfrm>
              <a:off x="532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8" name="Rectangle 31"/>
            <p:cNvSpPr>
              <a:spLocks noChangeArrowheads="1"/>
            </p:cNvSpPr>
            <p:nvPr/>
          </p:nvSpPr>
          <p:spPr bwMode="auto">
            <a:xfrm>
              <a:off x="508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89" name="Rectangle 30"/>
            <p:cNvSpPr>
              <a:spLocks noChangeArrowheads="1"/>
            </p:cNvSpPr>
            <p:nvPr/>
          </p:nvSpPr>
          <p:spPr bwMode="auto">
            <a:xfrm>
              <a:off x="4836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0" name="Rectangle 29"/>
            <p:cNvSpPr>
              <a:spLocks noChangeArrowheads="1"/>
            </p:cNvSpPr>
            <p:nvPr/>
          </p:nvSpPr>
          <p:spPr bwMode="auto">
            <a:xfrm>
              <a:off x="4592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1" name="Rectangle 28"/>
            <p:cNvSpPr>
              <a:spLocks noChangeArrowheads="1"/>
            </p:cNvSpPr>
            <p:nvPr/>
          </p:nvSpPr>
          <p:spPr bwMode="auto">
            <a:xfrm>
              <a:off x="4348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2" name="Rectangle 27"/>
            <p:cNvSpPr>
              <a:spLocks noChangeArrowheads="1"/>
            </p:cNvSpPr>
            <p:nvPr/>
          </p:nvSpPr>
          <p:spPr bwMode="auto">
            <a:xfrm>
              <a:off x="410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3" name="Rectangle 26"/>
            <p:cNvSpPr>
              <a:spLocks noChangeArrowheads="1"/>
            </p:cNvSpPr>
            <p:nvPr/>
          </p:nvSpPr>
          <p:spPr bwMode="auto">
            <a:xfrm>
              <a:off x="386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4" name="Rectangle 25"/>
            <p:cNvSpPr>
              <a:spLocks noChangeArrowheads="1"/>
            </p:cNvSpPr>
            <p:nvPr/>
          </p:nvSpPr>
          <p:spPr bwMode="auto">
            <a:xfrm>
              <a:off x="3616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5" name="Rectangle 24"/>
            <p:cNvSpPr>
              <a:spLocks noChangeArrowheads="1"/>
            </p:cNvSpPr>
            <p:nvPr/>
          </p:nvSpPr>
          <p:spPr bwMode="auto">
            <a:xfrm>
              <a:off x="3372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6" name="Rectangle 23"/>
            <p:cNvSpPr>
              <a:spLocks noChangeArrowheads="1"/>
            </p:cNvSpPr>
            <p:nvPr/>
          </p:nvSpPr>
          <p:spPr bwMode="auto">
            <a:xfrm>
              <a:off x="3128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7" name="Rectangle 22"/>
            <p:cNvSpPr>
              <a:spLocks noChangeArrowheads="1"/>
            </p:cNvSpPr>
            <p:nvPr/>
          </p:nvSpPr>
          <p:spPr bwMode="auto">
            <a:xfrm>
              <a:off x="288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8" name="Rectangle 21"/>
            <p:cNvSpPr>
              <a:spLocks noChangeArrowheads="1"/>
            </p:cNvSpPr>
            <p:nvPr/>
          </p:nvSpPr>
          <p:spPr bwMode="auto">
            <a:xfrm>
              <a:off x="264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299" name="Rectangle 20"/>
            <p:cNvSpPr>
              <a:spLocks noChangeArrowheads="1"/>
            </p:cNvSpPr>
            <p:nvPr/>
          </p:nvSpPr>
          <p:spPr bwMode="auto">
            <a:xfrm>
              <a:off x="532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0" name="Rectangle 19"/>
            <p:cNvSpPr>
              <a:spLocks noChangeArrowheads="1"/>
            </p:cNvSpPr>
            <p:nvPr/>
          </p:nvSpPr>
          <p:spPr bwMode="auto">
            <a:xfrm>
              <a:off x="508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1" name="Rectangle 18"/>
            <p:cNvSpPr>
              <a:spLocks noChangeArrowheads="1"/>
            </p:cNvSpPr>
            <p:nvPr/>
          </p:nvSpPr>
          <p:spPr bwMode="auto">
            <a:xfrm>
              <a:off x="4836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2" name="Rectangle 17"/>
            <p:cNvSpPr>
              <a:spLocks noChangeArrowheads="1"/>
            </p:cNvSpPr>
            <p:nvPr/>
          </p:nvSpPr>
          <p:spPr bwMode="auto">
            <a:xfrm>
              <a:off x="4592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3" name="Rectangle 16"/>
            <p:cNvSpPr>
              <a:spLocks noChangeArrowheads="1"/>
            </p:cNvSpPr>
            <p:nvPr/>
          </p:nvSpPr>
          <p:spPr bwMode="auto">
            <a:xfrm>
              <a:off x="4348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4" name="Rectangle 15"/>
            <p:cNvSpPr>
              <a:spLocks noChangeArrowheads="1"/>
            </p:cNvSpPr>
            <p:nvPr/>
          </p:nvSpPr>
          <p:spPr bwMode="auto">
            <a:xfrm>
              <a:off x="410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5" name="Rectangle 14"/>
            <p:cNvSpPr>
              <a:spLocks noChangeArrowheads="1"/>
            </p:cNvSpPr>
            <p:nvPr/>
          </p:nvSpPr>
          <p:spPr bwMode="auto">
            <a:xfrm>
              <a:off x="386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6" name="Rectangle 13"/>
            <p:cNvSpPr>
              <a:spLocks noChangeArrowheads="1"/>
            </p:cNvSpPr>
            <p:nvPr/>
          </p:nvSpPr>
          <p:spPr bwMode="auto">
            <a:xfrm>
              <a:off x="3616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7" name="Rectangle 12"/>
            <p:cNvSpPr>
              <a:spLocks noChangeArrowheads="1"/>
            </p:cNvSpPr>
            <p:nvPr/>
          </p:nvSpPr>
          <p:spPr bwMode="auto">
            <a:xfrm>
              <a:off x="3372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8" name="Rectangle 11"/>
            <p:cNvSpPr>
              <a:spLocks noChangeArrowheads="1"/>
            </p:cNvSpPr>
            <p:nvPr/>
          </p:nvSpPr>
          <p:spPr bwMode="auto">
            <a:xfrm>
              <a:off x="3128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09" name="Rectangle 10"/>
            <p:cNvSpPr>
              <a:spLocks noChangeArrowheads="1"/>
            </p:cNvSpPr>
            <p:nvPr/>
          </p:nvSpPr>
          <p:spPr bwMode="auto">
            <a:xfrm>
              <a:off x="288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10" name="Rectangle 9"/>
            <p:cNvSpPr>
              <a:spLocks noChangeArrowheads="1"/>
            </p:cNvSpPr>
            <p:nvPr/>
          </p:nvSpPr>
          <p:spPr bwMode="auto">
            <a:xfrm>
              <a:off x="264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6311" name="Line 154"/>
            <p:cNvSpPr>
              <a:spLocks noChangeShapeType="1"/>
            </p:cNvSpPr>
            <p:nvPr/>
          </p:nvSpPr>
          <p:spPr bwMode="auto">
            <a:xfrm>
              <a:off x="2640" y="1424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2" name="Line 155"/>
            <p:cNvSpPr>
              <a:spLocks noChangeShapeType="1"/>
            </p:cNvSpPr>
            <p:nvPr/>
          </p:nvSpPr>
          <p:spPr bwMode="auto">
            <a:xfrm>
              <a:off x="2640" y="1648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3" name="Line 156"/>
            <p:cNvSpPr>
              <a:spLocks noChangeShapeType="1"/>
            </p:cNvSpPr>
            <p:nvPr/>
          </p:nvSpPr>
          <p:spPr bwMode="auto">
            <a:xfrm>
              <a:off x="2640" y="1872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4" name="Line 157"/>
            <p:cNvSpPr>
              <a:spLocks noChangeShapeType="1"/>
            </p:cNvSpPr>
            <p:nvPr/>
          </p:nvSpPr>
          <p:spPr bwMode="auto">
            <a:xfrm>
              <a:off x="2640" y="2096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5" name="Line 158"/>
            <p:cNvSpPr>
              <a:spLocks noChangeShapeType="1"/>
            </p:cNvSpPr>
            <p:nvPr/>
          </p:nvSpPr>
          <p:spPr bwMode="auto">
            <a:xfrm>
              <a:off x="2640" y="2320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6" name="Line 159"/>
            <p:cNvSpPr>
              <a:spLocks noChangeShapeType="1"/>
            </p:cNvSpPr>
            <p:nvPr/>
          </p:nvSpPr>
          <p:spPr bwMode="auto">
            <a:xfrm>
              <a:off x="2640" y="2544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7" name="Line 160"/>
            <p:cNvSpPr>
              <a:spLocks noChangeShapeType="1"/>
            </p:cNvSpPr>
            <p:nvPr/>
          </p:nvSpPr>
          <p:spPr bwMode="auto">
            <a:xfrm>
              <a:off x="2640" y="2745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8" name="Line 161"/>
            <p:cNvSpPr>
              <a:spLocks noChangeShapeType="1"/>
            </p:cNvSpPr>
            <p:nvPr/>
          </p:nvSpPr>
          <p:spPr bwMode="auto">
            <a:xfrm>
              <a:off x="2640" y="2969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19" name="Line 162"/>
            <p:cNvSpPr>
              <a:spLocks noChangeShapeType="1"/>
            </p:cNvSpPr>
            <p:nvPr/>
          </p:nvSpPr>
          <p:spPr bwMode="auto">
            <a:xfrm>
              <a:off x="2640" y="3193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0" name="Line 163"/>
            <p:cNvSpPr>
              <a:spLocks noChangeShapeType="1"/>
            </p:cNvSpPr>
            <p:nvPr/>
          </p:nvSpPr>
          <p:spPr bwMode="auto">
            <a:xfrm>
              <a:off x="2640" y="3417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1" name="Line 164"/>
            <p:cNvSpPr>
              <a:spLocks noChangeShapeType="1"/>
            </p:cNvSpPr>
            <p:nvPr/>
          </p:nvSpPr>
          <p:spPr bwMode="auto">
            <a:xfrm>
              <a:off x="2640" y="3641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2" name="Line 167"/>
            <p:cNvSpPr>
              <a:spLocks noChangeShapeType="1"/>
            </p:cNvSpPr>
            <p:nvPr/>
          </p:nvSpPr>
          <p:spPr bwMode="auto">
            <a:xfrm>
              <a:off x="288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3" name="Line 168"/>
            <p:cNvSpPr>
              <a:spLocks noChangeShapeType="1"/>
            </p:cNvSpPr>
            <p:nvPr/>
          </p:nvSpPr>
          <p:spPr bwMode="auto">
            <a:xfrm>
              <a:off x="3128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4" name="Line 169"/>
            <p:cNvSpPr>
              <a:spLocks noChangeShapeType="1"/>
            </p:cNvSpPr>
            <p:nvPr/>
          </p:nvSpPr>
          <p:spPr bwMode="auto">
            <a:xfrm>
              <a:off x="3372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5" name="Line 170"/>
            <p:cNvSpPr>
              <a:spLocks noChangeShapeType="1"/>
            </p:cNvSpPr>
            <p:nvPr/>
          </p:nvSpPr>
          <p:spPr bwMode="auto">
            <a:xfrm>
              <a:off x="3616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6" name="Line 171"/>
            <p:cNvSpPr>
              <a:spLocks noChangeShapeType="1"/>
            </p:cNvSpPr>
            <p:nvPr/>
          </p:nvSpPr>
          <p:spPr bwMode="auto">
            <a:xfrm>
              <a:off x="3860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7" name="Line 172"/>
            <p:cNvSpPr>
              <a:spLocks noChangeShapeType="1"/>
            </p:cNvSpPr>
            <p:nvPr/>
          </p:nvSpPr>
          <p:spPr bwMode="auto">
            <a:xfrm>
              <a:off x="410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8" name="Line 173"/>
            <p:cNvSpPr>
              <a:spLocks noChangeShapeType="1"/>
            </p:cNvSpPr>
            <p:nvPr/>
          </p:nvSpPr>
          <p:spPr bwMode="auto">
            <a:xfrm>
              <a:off x="4348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29" name="Line 174"/>
            <p:cNvSpPr>
              <a:spLocks noChangeShapeType="1"/>
            </p:cNvSpPr>
            <p:nvPr/>
          </p:nvSpPr>
          <p:spPr bwMode="auto">
            <a:xfrm>
              <a:off x="4592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0" name="Line 175"/>
            <p:cNvSpPr>
              <a:spLocks noChangeShapeType="1"/>
            </p:cNvSpPr>
            <p:nvPr/>
          </p:nvSpPr>
          <p:spPr bwMode="auto">
            <a:xfrm>
              <a:off x="4836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1" name="Line 176"/>
            <p:cNvSpPr>
              <a:spLocks noChangeShapeType="1"/>
            </p:cNvSpPr>
            <p:nvPr/>
          </p:nvSpPr>
          <p:spPr bwMode="auto">
            <a:xfrm>
              <a:off x="5080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2" name="Line 177"/>
            <p:cNvSpPr>
              <a:spLocks noChangeShapeType="1"/>
            </p:cNvSpPr>
            <p:nvPr/>
          </p:nvSpPr>
          <p:spPr bwMode="auto">
            <a:xfrm>
              <a:off x="532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3" name="Line 471"/>
            <p:cNvSpPr>
              <a:spLocks noChangeShapeType="1"/>
            </p:cNvSpPr>
            <p:nvPr/>
          </p:nvSpPr>
          <p:spPr bwMode="auto">
            <a:xfrm>
              <a:off x="2640" y="2544"/>
              <a:ext cx="0" cy="2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4" name="Line 166"/>
            <p:cNvSpPr>
              <a:spLocks noChangeShapeType="1"/>
            </p:cNvSpPr>
            <p:nvPr/>
          </p:nvSpPr>
          <p:spPr bwMode="auto">
            <a:xfrm>
              <a:off x="2640" y="1200"/>
              <a:ext cx="0" cy="13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5" name="Line 472"/>
            <p:cNvSpPr>
              <a:spLocks noChangeShapeType="1"/>
            </p:cNvSpPr>
            <p:nvPr/>
          </p:nvSpPr>
          <p:spPr bwMode="auto">
            <a:xfrm>
              <a:off x="2640" y="2745"/>
              <a:ext cx="0" cy="11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6" name="Line 505"/>
            <p:cNvSpPr>
              <a:spLocks noChangeShapeType="1"/>
            </p:cNvSpPr>
            <p:nvPr/>
          </p:nvSpPr>
          <p:spPr bwMode="auto">
            <a:xfrm>
              <a:off x="5568" y="2544"/>
              <a:ext cx="0" cy="2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7" name="Line 178"/>
            <p:cNvSpPr>
              <a:spLocks noChangeShapeType="1"/>
            </p:cNvSpPr>
            <p:nvPr/>
          </p:nvSpPr>
          <p:spPr bwMode="auto">
            <a:xfrm>
              <a:off x="5568" y="1200"/>
              <a:ext cx="0" cy="13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8" name="Line 506"/>
            <p:cNvSpPr>
              <a:spLocks noChangeShapeType="1"/>
            </p:cNvSpPr>
            <p:nvPr/>
          </p:nvSpPr>
          <p:spPr bwMode="auto">
            <a:xfrm>
              <a:off x="5568" y="2745"/>
              <a:ext cx="0" cy="11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39" name="Line 530"/>
            <p:cNvSpPr>
              <a:spLocks noChangeShapeType="1"/>
            </p:cNvSpPr>
            <p:nvPr/>
          </p:nvSpPr>
          <p:spPr bwMode="auto">
            <a:xfrm>
              <a:off x="3860" y="1200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0" name="Line 153"/>
            <p:cNvSpPr>
              <a:spLocks noChangeShapeType="1"/>
            </p:cNvSpPr>
            <p:nvPr/>
          </p:nvSpPr>
          <p:spPr bwMode="auto">
            <a:xfrm>
              <a:off x="2640" y="1200"/>
              <a:ext cx="12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1" name="Line 531"/>
            <p:cNvSpPr>
              <a:spLocks noChangeShapeType="1"/>
            </p:cNvSpPr>
            <p:nvPr/>
          </p:nvSpPr>
          <p:spPr bwMode="auto">
            <a:xfrm>
              <a:off x="4104" y="1200"/>
              <a:ext cx="14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2" name="Line 564"/>
            <p:cNvSpPr>
              <a:spLocks noChangeShapeType="1"/>
            </p:cNvSpPr>
            <p:nvPr/>
          </p:nvSpPr>
          <p:spPr bwMode="auto">
            <a:xfrm>
              <a:off x="3860" y="3865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3" name="Line 165"/>
            <p:cNvSpPr>
              <a:spLocks noChangeShapeType="1"/>
            </p:cNvSpPr>
            <p:nvPr/>
          </p:nvSpPr>
          <p:spPr bwMode="auto">
            <a:xfrm>
              <a:off x="2640" y="3865"/>
              <a:ext cx="12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4" name="Line 565"/>
            <p:cNvSpPr>
              <a:spLocks noChangeShapeType="1"/>
            </p:cNvSpPr>
            <p:nvPr/>
          </p:nvSpPr>
          <p:spPr bwMode="auto">
            <a:xfrm>
              <a:off x="4104" y="3865"/>
              <a:ext cx="14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5" name="Line 568"/>
            <p:cNvSpPr>
              <a:spLocks noChangeShapeType="1"/>
            </p:cNvSpPr>
            <p:nvPr/>
          </p:nvSpPr>
          <p:spPr bwMode="auto">
            <a:xfrm flipV="1">
              <a:off x="4106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6" name="Line 570"/>
            <p:cNvSpPr>
              <a:spLocks noChangeShapeType="1"/>
            </p:cNvSpPr>
            <p:nvPr/>
          </p:nvSpPr>
          <p:spPr bwMode="auto">
            <a:xfrm rot="5400000" flipV="1">
              <a:off x="5405" y="228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47" name="Text Box 571"/>
            <p:cNvSpPr txBox="1">
              <a:spLocks noChangeArrowheads="1"/>
            </p:cNvSpPr>
            <p:nvPr/>
          </p:nvSpPr>
          <p:spPr bwMode="auto">
            <a:xfrm>
              <a:off x="4131" y="937"/>
              <a:ext cx="36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500" i="1"/>
                <a:t>y</a:t>
              </a:r>
            </a:p>
          </p:txBody>
        </p:sp>
        <p:sp>
          <p:nvSpPr>
            <p:cNvPr id="6348" name="Text Box 572"/>
            <p:cNvSpPr txBox="1">
              <a:spLocks noChangeArrowheads="1"/>
            </p:cNvSpPr>
            <p:nvPr/>
          </p:nvSpPr>
          <p:spPr bwMode="auto">
            <a:xfrm>
              <a:off x="5579" y="2546"/>
              <a:ext cx="36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500" i="1"/>
                <a:t>x</a:t>
              </a:r>
            </a:p>
          </p:txBody>
        </p:sp>
      </p:grpSp>
      <p:sp>
        <p:nvSpPr>
          <p:cNvPr id="3646" name="Freeform 574"/>
          <p:cNvSpPr>
            <a:spLocks/>
          </p:cNvSpPr>
          <p:nvPr/>
        </p:nvSpPr>
        <p:spPr bwMode="auto">
          <a:xfrm>
            <a:off x="4572000" y="2246313"/>
            <a:ext cx="1550988" cy="2822575"/>
          </a:xfrm>
          <a:custGeom>
            <a:avLst/>
            <a:gdLst>
              <a:gd name="T0" fmla="*/ 0 w 977"/>
              <a:gd name="T1" fmla="*/ 2147483646 h 1778"/>
              <a:gd name="T2" fmla="*/ 2147483646 w 977"/>
              <a:gd name="T3" fmla="*/ 2147483646 h 1778"/>
              <a:gd name="T4" fmla="*/ 2147483646 w 977"/>
              <a:gd name="T5" fmla="*/ 2147483646 h 1778"/>
              <a:gd name="T6" fmla="*/ 2147483646 w 977"/>
              <a:gd name="T7" fmla="*/ 2147483646 h 1778"/>
              <a:gd name="T8" fmla="*/ 2147483646 w 977"/>
              <a:gd name="T9" fmla="*/ 0 h 17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77"/>
              <a:gd name="T16" fmla="*/ 0 h 1778"/>
              <a:gd name="T17" fmla="*/ 977 w 977"/>
              <a:gd name="T18" fmla="*/ 1778 h 17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77" h="1778">
                <a:moveTo>
                  <a:pt x="0" y="12"/>
                </a:moveTo>
                <a:cubicBezTo>
                  <a:pt x="84" y="522"/>
                  <a:pt x="169" y="1033"/>
                  <a:pt x="250" y="1327"/>
                </a:cubicBezTo>
                <a:cubicBezTo>
                  <a:pt x="331" y="1621"/>
                  <a:pt x="407" y="1778"/>
                  <a:pt x="488" y="1778"/>
                </a:cubicBezTo>
                <a:cubicBezTo>
                  <a:pt x="569" y="1778"/>
                  <a:pt x="658" y="1623"/>
                  <a:pt x="739" y="1327"/>
                </a:cubicBezTo>
                <a:cubicBezTo>
                  <a:pt x="820" y="1031"/>
                  <a:pt x="898" y="515"/>
                  <a:pt x="977" y="0"/>
                </a:cubicBezTo>
              </a:path>
            </a:pathLst>
          </a:custGeom>
          <a:noFill/>
          <a:ln w="508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3" name="Group 580"/>
          <p:cNvGrpSpPr>
            <a:grpSpLocks/>
          </p:cNvGrpSpPr>
          <p:nvPr/>
        </p:nvGrpSpPr>
        <p:grpSpPr bwMode="auto">
          <a:xfrm>
            <a:off x="4116388" y="5224463"/>
            <a:ext cx="1320800" cy="569912"/>
            <a:chOff x="2593" y="3291"/>
            <a:chExt cx="832" cy="359"/>
          </a:xfrm>
        </p:grpSpPr>
        <p:sp>
          <p:nvSpPr>
            <p:cNvPr id="6165" name="Text Box 578"/>
            <p:cNvSpPr txBox="1">
              <a:spLocks noChangeArrowheads="1"/>
            </p:cNvSpPr>
            <p:nvPr/>
          </p:nvSpPr>
          <p:spPr bwMode="auto">
            <a:xfrm>
              <a:off x="2593" y="3410"/>
              <a:ext cx="614" cy="24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900"/>
                <a:t>Vertex</a:t>
              </a:r>
            </a:p>
          </p:txBody>
        </p:sp>
        <p:sp>
          <p:nvSpPr>
            <p:cNvPr id="6166" name="AutoShape 579"/>
            <p:cNvSpPr>
              <a:spLocks noChangeArrowheads="1"/>
            </p:cNvSpPr>
            <p:nvPr/>
          </p:nvSpPr>
          <p:spPr bwMode="auto">
            <a:xfrm rot="-2614296">
              <a:off x="3050" y="3291"/>
              <a:ext cx="375" cy="175"/>
            </a:xfrm>
            <a:prstGeom prst="rightArrow">
              <a:avLst>
                <a:gd name="adj1" fmla="val 50000"/>
                <a:gd name="adj2" fmla="val 53571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</p:grpSp>
      <p:sp>
        <p:nvSpPr>
          <p:cNvPr id="3647" name="Freeform 575"/>
          <p:cNvSpPr>
            <a:spLocks/>
          </p:cNvSpPr>
          <p:nvPr/>
        </p:nvSpPr>
        <p:spPr bwMode="auto">
          <a:xfrm flipV="1">
            <a:off x="6135688" y="2976563"/>
            <a:ext cx="1550987" cy="2822575"/>
          </a:xfrm>
          <a:custGeom>
            <a:avLst/>
            <a:gdLst>
              <a:gd name="T0" fmla="*/ 0 w 977"/>
              <a:gd name="T1" fmla="*/ 2147483646 h 1778"/>
              <a:gd name="T2" fmla="*/ 2147483646 w 977"/>
              <a:gd name="T3" fmla="*/ 2147483646 h 1778"/>
              <a:gd name="T4" fmla="*/ 2147483646 w 977"/>
              <a:gd name="T5" fmla="*/ 2147483646 h 1778"/>
              <a:gd name="T6" fmla="*/ 2147483646 w 977"/>
              <a:gd name="T7" fmla="*/ 2147483646 h 1778"/>
              <a:gd name="T8" fmla="*/ 2147483646 w 977"/>
              <a:gd name="T9" fmla="*/ 0 h 17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77"/>
              <a:gd name="T16" fmla="*/ 0 h 1778"/>
              <a:gd name="T17" fmla="*/ 977 w 977"/>
              <a:gd name="T18" fmla="*/ 1778 h 17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77" h="1778">
                <a:moveTo>
                  <a:pt x="0" y="12"/>
                </a:moveTo>
                <a:cubicBezTo>
                  <a:pt x="84" y="522"/>
                  <a:pt x="169" y="1033"/>
                  <a:pt x="250" y="1327"/>
                </a:cubicBezTo>
                <a:cubicBezTo>
                  <a:pt x="331" y="1621"/>
                  <a:pt x="407" y="1778"/>
                  <a:pt x="488" y="1778"/>
                </a:cubicBezTo>
                <a:cubicBezTo>
                  <a:pt x="569" y="1778"/>
                  <a:pt x="658" y="1623"/>
                  <a:pt x="739" y="1327"/>
                </a:cubicBezTo>
                <a:cubicBezTo>
                  <a:pt x="820" y="1031"/>
                  <a:pt x="898" y="515"/>
                  <a:pt x="977" y="0"/>
                </a:cubicBezTo>
              </a:path>
            </a:pathLst>
          </a:custGeom>
          <a:noFill/>
          <a:ln w="635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4" name="Group 593"/>
          <p:cNvGrpSpPr>
            <a:grpSpLocks/>
          </p:cNvGrpSpPr>
          <p:nvPr/>
        </p:nvGrpSpPr>
        <p:grpSpPr bwMode="auto">
          <a:xfrm>
            <a:off x="6869113" y="2236788"/>
            <a:ext cx="1366837" cy="592137"/>
            <a:chOff x="4327" y="1409"/>
            <a:chExt cx="861" cy="373"/>
          </a:xfrm>
        </p:grpSpPr>
        <p:sp>
          <p:nvSpPr>
            <p:cNvPr id="6163" name="Text Box 589"/>
            <p:cNvSpPr txBox="1">
              <a:spLocks noChangeArrowheads="1"/>
            </p:cNvSpPr>
            <p:nvPr/>
          </p:nvSpPr>
          <p:spPr bwMode="auto">
            <a:xfrm>
              <a:off x="4574" y="1409"/>
              <a:ext cx="614" cy="24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900"/>
                <a:t>Vertex</a:t>
              </a:r>
            </a:p>
          </p:txBody>
        </p:sp>
        <p:sp>
          <p:nvSpPr>
            <p:cNvPr id="6164" name="AutoShape 590"/>
            <p:cNvSpPr>
              <a:spLocks noChangeArrowheads="1"/>
            </p:cNvSpPr>
            <p:nvPr/>
          </p:nvSpPr>
          <p:spPr bwMode="auto">
            <a:xfrm rot="8319140">
              <a:off x="4327" y="1607"/>
              <a:ext cx="375" cy="175"/>
            </a:xfrm>
            <a:prstGeom prst="rightArrow">
              <a:avLst>
                <a:gd name="adj1" fmla="val 50000"/>
                <a:gd name="adj2" fmla="val 53571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</p:grpSp>
      <p:sp>
        <p:nvSpPr>
          <p:cNvPr id="204" name="Oval 203"/>
          <p:cNvSpPr>
            <a:spLocks noChangeArrowheads="1"/>
          </p:cNvSpPr>
          <p:nvPr/>
        </p:nvSpPr>
        <p:spPr bwMode="auto">
          <a:xfrm flipH="1">
            <a:off x="5284788" y="4997450"/>
            <a:ext cx="122237" cy="1635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5" name="Oval 204"/>
          <p:cNvSpPr>
            <a:spLocks noChangeArrowheads="1"/>
          </p:cNvSpPr>
          <p:nvPr/>
        </p:nvSpPr>
        <p:spPr bwMode="auto">
          <a:xfrm flipV="1">
            <a:off x="6854825" y="2894013"/>
            <a:ext cx="136525" cy="12541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3" name="TextBox 202"/>
          <p:cNvSpPr txBox="1">
            <a:spLocks noChangeArrowheads="1"/>
          </p:cNvSpPr>
          <p:nvPr/>
        </p:nvSpPr>
        <p:spPr bwMode="auto">
          <a:xfrm>
            <a:off x="6681788" y="758825"/>
            <a:ext cx="2151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sz="4000" b="1">
                <a:solidFill>
                  <a:srgbClr val="3366FF"/>
                </a:solidFill>
              </a:rPr>
              <a:t>parabola</a:t>
            </a:r>
            <a:endParaRPr lang="en-US" altLang="en-US" sz="4000"/>
          </a:p>
        </p:txBody>
      </p:sp>
      <p:sp>
        <p:nvSpPr>
          <p:cNvPr id="206" name="Rectangle 205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7" grpId="0" animBg="1"/>
      <p:bldP spid="3649" grpId="0" animBg="1"/>
      <p:bldP spid="3076" grpId="0" autoUpdateAnimBg="0"/>
      <p:bldP spid="3077" grpId="0" autoUpdateAnimBg="0"/>
      <p:bldP spid="3078" grpId="0" autoUpdateAnimBg="0"/>
      <p:bldP spid="3079" grpId="0" autoUpdateAnimBg="0"/>
      <p:bldP spid="3646" grpId="0" animBg="1"/>
      <p:bldP spid="3647" grpId="0" animBg="1"/>
      <p:bldP spid="204" grpId="0" animBg="1"/>
      <p:bldP spid="205" grpId="0" animBg="1"/>
      <p:bldP spid="2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99"/>
          <p:cNvSpPr>
            <a:spLocks noChangeArrowheads="1"/>
          </p:cNvSpPr>
          <p:nvPr/>
        </p:nvSpPr>
        <p:spPr bwMode="auto">
          <a:xfrm>
            <a:off x="1201738" y="1187450"/>
            <a:ext cx="285750" cy="39687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327" name="Rectangle 207"/>
          <p:cNvSpPr>
            <a:spLocks noChangeArrowheads="1"/>
          </p:cNvSpPr>
          <p:nvPr/>
        </p:nvSpPr>
        <p:spPr bwMode="auto">
          <a:xfrm>
            <a:off x="311150" y="4492625"/>
            <a:ext cx="277813" cy="377825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328" name="Rectangle 208"/>
          <p:cNvSpPr>
            <a:spLocks noChangeArrowheads="1"/>
          </p:cNvSpPr>
          <p:nvPr/>
        </p:nvSpPr>
        <p:spPr bwMode="auto">
          <a:xfrm>
            <a:off x="1679575" y="4487863"/>
            <a:ext cx="1503363" cy="309562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324" name="Rectangle 204"/>
          <p:cNvSpPr>
            <a:spLocks noChangeArrowheads="1"/>
          </p:cNvSpPr>
          <p:nvPr/>
        </p:nvSpPr>
        <p:spPr bwMode="auto">
          <a:xfrm>
            <a:off x="2890838" y="2441575"/>
            <a:ext cx="287337" cy="366713"/>
          </a:xfrm>
          <a:prstGeom prst="rect">
            <a:avLst/>
          </a:prstGeom>
          <a:solidFill>
            <a:srgbClr val="FF0066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5325" name="Rectangle 205"/>
          <p:cNvSpPr>
            <a:spLocks noChangeArrowheads="1"/>
          </p:cNvSpPr>
          <p:nvPr/>
        </p:nvSpPr>
        <p:spPr bwMode="auto">
          <a:xfrm>
            <a:off x="1481138" y="2863850"/>
            <a:ext cx="1284287" cy="339725"/>
          </a:xfrm>
          <a:prstGeom prst="rect">
            <a:avLst/>
          </a:prstGeom>
          <a:solidFill>
            <a:srgbClr val="FF0066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15366" name="Text Box 187"/>
          <p:cNvSpPr txBox="1">
            <a:spLocks noChangeArrowheads="1"/>
          </p:cNvSpPr>
          <p:nvPr/>
        </p:nvSpPr>
        <p:spPr bwMode="auto">
          <a:xfrm>
            <a:off x="-41275" y="915988"/>
            <a:ext cx="43068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i="1">
                <a:solidFill>
                  <a:schemeClr val="accent2"/>
                </a:solidFill>
              </a:rPr>
              <a:t>y = ax</a:t>
            </a:r>
            <a:r>
              <a:rPr lang="en-US" altLang="en-US" sz="4000" b="1" i="1" baseline="30000">
                <a:solidFill>
                  <a:schemeClr val="accent2"/>
                </a:solidFill>
              </a:rPr>
              <a:t>2</a:t>
            </a:r>
            <a:r>
              <a:rPr lang="en-US" altLang="en-US" sz="4000" b="1" i="1">
                <a:solidFill>
                  <a:schemeClr val="accent2"/>
                </a:solidFill>
              </a:rPr>
              <a:t> + bx + c</a:t>
            </a:r>
          </a:p>
        </p:txBody>
      </p:sp>
      <p:sp>
        <p:nvSpPr>
          <p:cNvPr id="5320" name="Text Box 200"/>
          <p:cNvSpPr txBox="1">
            <a:spLocks noChangeArrowheads="1"/>
          </p:cNvSpPr>
          <p:nvPr/>
        </p:nvSpPr>
        <p:spPr bwMode="auto">
          <a:xfrm>
            <a:off x="265113" y="3492500"/>
            <a:ext cx="32400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The parabola will open down when the </a:t>
            </a:r>
            <a:r>
              <a:rPr lang="en-US" altLang="en-US" sz="2800" i="1"/>
              <a:t>a</a:t>
            </a:r>
            <a:r>
              <a:rPr lang="en-US" altLang="en-US" sz="2800"/>
              <a:t> value is negative.</a:t>
            </a:r>
          </a:p>
        </p:txBody>
      </p:sp>
      <p:sp>
        <p:nvSpPr>
          <p:cNvPr id="5308" name="Text Box 188"/>
          <p:cNvSpPr txBox="1">
            <a:spLocks noChangeArrowheads="1"/>
          </p:cNvSpPr>
          <p:nvPr/>
        </p:nvSpPr>
        <p:spPr bwMode="auto">
          <a:xfrm>
            <a:off x="252413" y="1843088"/>
            <a:ext cx="30924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The parabola will open up when the </a:t>
            </a:r>
            <a:r>
              <a:rPr lang="en-US" altLang="en-US" sz="2800" i="1"/>
              <a:t>a</a:t>
            </a:r>
            <a:r>
              <a:rPr lang="en-US" altLang="en-US" sz="2800"/>
              <a:t> value is positive.</a:t>
            </a:r>
          </a:p>
        </p:txBody>
      </p:sp>
      <p:sp>
        <p:nvSpPr>
          <p:cNvPr id="8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95250"/>
            <a:ext cx="7772400" cy="725488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Standard Form</a:t>
            </a:r>
          </a:p>
        </p:txBody>
      </p:sp>
      <p:grpSp>
        <p:nvGrpSpPr>
          <p:cNvPr id="8203" name="Group 3"/>
          <p:cNvGrpSpPr>
            <a:grpSpLocks/>
          </p:cNvGrpSpPr>
          <p:nvPr/>
        </p:nvGrpSpPr>
        <p:grpSpPr bwMode="auto">
          <a:xfrm>
            <a:off x="3902075" y="1487488"/>
            <a:ext cx="5241925" cy="4648200"/>
            <a:chOff x="2640" y="937"/>
            <a:chExt cx="3302" cy="2928"/>
          </a:xfrm>
        </p:grpSpPr>
        <p:sp>
          <p:nvSpPr>
            <p:cNvPr id="8213" name="Rectangle 4"/>
            <p:cNvSpPr>
              <a:spLocks noChangeArrowheads="1"/>
            </p:cNvSpPr>
            <p:nvPr/>
          </p:nvSpPr>
          <p:spPr bwMode="auto">
            <a:xfrm>
              <a:off x="532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4" name="Rectangle 5"/>
            <p:cNvSpPr>
              <a:spLocks noChangeArrowheads="1"/>
            </p:cNvSpPr>
            <p:nvPr/>
          </p:nvSpPr>
          <p:spPr bwMode="auto">
            <a:xfrm>
              <a:off x="508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5" name="Rectangle 6"/>
            <p:cNvSpPr>
              <a:spLocks noChangeArrowheads="1"/>
            </p:cNvSpPr>
            <p:nvPr/>
          </p:nvSpPr>
          <p:spPr bwMode="auto">
            <a:xfrm>
              <a:off x="4836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6" name="Rectangle 7"/>
            <p:cNvSpPr>
              <a:spLocks noChangeArrowheads="1"/>
            </p:cNvSpPr>
            <p:nvPr/>
          </p:nvSpPr>
          <p:spPr bwMode="auto">
            <a:xfrm>
              <a:off x="4592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7" name="Rectangle 8"/>
            <p:cNvSpPr>
              <a:spLocks noChangeArrowheads="1"/>
            </p:cNvSpPr>
            <p:nvPr/>
          </p:nvSpPr>
          <p:spPr bwMode="auto">
            <a:xfrm>
              <a:off x="4348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8" name="Rectangle 9"/>
            <p:cNvSpPr>
              <a:spLocks noChangeArrowheads="1"/>
            </p:cNvSpPr>
            <p:nvPr/>
          </p:nvSpPr>
          <p:spPr bwMode="auto">
            <a:xfrm>
              <a:off x="410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19" name="Rectangle 10"/>
            <p:cNvSpPr>
              <a:spLocks noChangeArrowheads="1"/>
            </p:cNvSpPr>
            <p:nvPr/>
          </p:nvSpPr>
          <p:spPr bwMode="auto">
            <a:xfrm>
              <a:off x="386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0" name="Rectangle 11"/>
            <p:cNvSpPr>
              <a:spLocks noChangeArrowheads="1"/>
            </p:cNvSpPr>
            <p:nvPr/>
          </p:nvSpPr>
          <p:spPr bwMode="auto">
            <a:xfrm>
              <a:off x="3616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1" name="Rectangle 12"/>
            <p:cNvSpPr>
              <a:spLocks noChangeArrowheads="1"/>
            </p:cNvSpPr>
            <p:nvPr/>
          </p:nvSpPr>
          <p:spPr bwMode="auto">
            <a:xfrm>
              <a:off x="3372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2" name="Rectangle 13"/>
            <p:cNvSpPr>
              <a:spLocks noChangeArrowheads="1"/>
            </p:cNvSpPr>
            <p:nvPr/>
          </p:nvSpPr>
          <p:spPr bwMode="auto">
            <a:xfrm>
              <a:off x="3128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3" name="Rectangle 14"/>
            <p:cNvSpPr>
              <a:spLocks noChangeArrowheads="1"/>
            </p:cNvSpPr>
            <p:nvPr/>
          </p:nvSpPr>
          <p:spPr bwMode="auto">
            <a:xfrm>
              <a:off x="2884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4" name="Rectangle 15"/>
            <p:cNvSpPr>
              <a:spLocks noChangeArrowheads="1"/>
            </p:cNvSpPr>
            <p:nvPr/>
          </p:nvSpPr>
          <p:spPr bwMode="auto">
            <a:xfrm>
              <a:off x="2640" y="3641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5" name="Rectangle 16"/>
            <p:cNvSpPr>
              <a:spLocks noChangeArrowheads="1"/>
            </p:cNvSpPr>
            <p:nvPr/>
          </p:nvSpPr>
          <p:spPr bwMode="auto">
            <a:xfrm>
              <a:off x="532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6" name="Rectangle 17"/>
            <p:cNvSpPr>
              <a:spLocks noChangeArrowheads="1"/>
            </p:cNvSpPr>
            <p:nvPr/>
          </p:nvSpPr>
          <p:spPr bwMode="auto">
            <a:xfrm>
              <a:off x="508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7" name="Rectangle 18"/>
            <p:cNvSpPr>
              <a:spLocks noChangeArrowheads="1"/>
            </p:cNvSpPr>
            <p:nvPr/>
          </p:nvSpPr>
          <p:spPr bwMode="auto">
            <a:xfrm>
              <a:off x="4836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8" name="Rectangle 19"/>
            <p:cNvSpPr>
              <a:spLocks noChangeArrowheads="1"/>
            </p:cNvSpPr>
            <p:nvPr/>
          </p:nvSpPr>
          <p:spPr bwMode="auto">
            <a:xfrm>
              <a:off x="4592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29" name="Rectangle 20"/>
            <p:cNvSpPr>
              <a:spLocks noChangeArrowheads="1"/>
            </p:cNvSpPr>
            <p:nvPr/>
          </p:nvSpPr>
          <p:spPr bwMode="auto">
            <a:xfrm>
              <a:off x="4348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0" name="Rectangle 21"/>
            <p:cNvSpPr>
              <a:spLocks noChangeArrowheads="1"/>
            </p:cNvSpPr>
            <p:nvPr/>
          </p:nvSpPr>
          <p:spPr bwMode="auto">
            <a:xfrm>
              <a:off x="410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1" name="Rectangle 22"/>
            <p:cNvSpPr>
              <a:spLocks noChangeArrowheads="1"/>
            </p:cNvSpPr>
            <p:nvPr/>
          </p:nvSpPr>
          <p:spPr bwMode="auto">
            <a:xfrm>
              <a:off x="386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2" name="Rectangle 23"/>
            <p:cNvSpPr>
              <a:spLocks noChangeArrowheads="1"/>
            </p:cNvSpPr>
            <p:nvPr/>
          </p:nvSpPr>
          <p:spPr bwMode="auto">
            <a:xfrm>
              <a:off x="3616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3" name="Rectangle 24"/>
            <p:cNvSpPr>
              <a:spLocks noChangeArrowheads="1"/>
            </p:cNvSpPr>
            <p:nvPr/>
          </p:nvSpPr>
          <p:spPr bwMode="auto">
            <a:xfrm>
              <a:off x="3372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4" name="Rectangle 25"/>
            <p:cNvSpPr>
              <a:spLocks noChangeArrowheads="1"/>
            </p:cNvSpPr>
            <p:nvPr/>
          </p:nvSpPr>
          <p:spPr bwMode="auto">
            <a:xfrm>
              <a:off x="3128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5" name="Rectangle 26"/>
            <p:cNvSpPr>
              <a:spLocks noChangeArrowheads="1"/>
            </p:cNvSpPr>
            <p:nvPr/>
          </p:nvSpPr>
          <p:spPr bwMode="auto">
            <a:xfrm>
              <a:off x="2884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6" name="Rectangle 27"/>
            <p:cNvSpPr>
              <a:spLocks noChangeArrowheads="1"/>
            </p:cNvSpPr>
            <p:nvPr/>
          </p:nvSpPr>
          <p:spPr bwMode="auto">
            <a:xfrm>
              <a:off x="2640" y="3417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7" name="Rectangle 28"/>
            <p:cNvSpPr>
              <a:spLocks noChangeArrowheads="1"/>
            </p:cNvSpPr>
            <p:nvPr/>
          </p:nvSpPr>
          <p:spPr bwMode="auto">
            <a:xfrm>
              <a:off x="532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8" name="Rectangle 29"/>
            <p:cNvSpPr>
              <a:spLocks noChangeArrowheads="1"/>
            </p:cNvSpPr>
            <p:nvPr/>
          </p:nvSpPr>
          <p:spPr bwMode="auto">
            <a:xfrm>
              <a:off x="508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39" name="Rectangle 30"/>
            <p:cNvSpPr>
              <a:spLocks noChangeArrowheads="1"/>
            </p:cNvSpPr>
            <p:nvPr/>
          </p:nvSpPr>
          <p:spPr bwMode="auto">
            <a:xfrm>
              <a:off x="4836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0" name="Rectangle 31"/>
            <p:cNvSpPr>
              <a:spLocks noChangeArrowheads="1"/>
            </p:cNvSpPr>
            <p:nvPr/>
          </p:nvSpPr>
          <p:spPr bwMode="auto">
            <a:xfrm>
              <a:off x="4592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1" name="Rectangle 32"/>
            <p:cNvSpPr>
              <a:spLocks noChangeArrowheads="1"/>
            </p:cNvSpPr>
            <p:nvPr/>
          </p:nvSpPr>
          <p:spPr bwMode="auto">
            <a:xfrm>
              <a:off x="4348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2" name="Rectangle 33"/>
            <p:cNvSpPr>
              <a:spLocks noChangeArrowheads="1"/>
            </p:cNvSpPr>
            <p:nvPr/>
          </p:nvSpPr>
          <p:spPr bwMode="auto">
            <a:xfrm>
              <a:off x="410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3" name="Rectangle 34"/>
            <p:cNvSpPr>
              <a:spLocks noChangeArrowheads="1"/>
            </p:cNvSpPr>
            <p:nvPr/>
          </p:nvSpPr>
          <p:spPr bwMode="auto">
            <a:xfrm>
              <a:off x="386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4" name="Rectangle 35"/>
            <p:cNvSpPr>
              <a:spLocks noChangeArrowheads="1"/>
            </p:cNvSpPr>
            <p:nvPr/>
          </p:nvSpPr>
          <p:spPr bwMode="auto">
            <a:xfrm>
              <a:off x="3616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5" name="Rectangle 36"/>
            <p:cNvSpPr>
              <a:spLocks noChangeArrowheads="1"/>
            </p:cNvSpPr>
            <p:nvPr/>
          </p:nvSpPr>
          <p:spPr bwMode="auto">
            <a:xfrm>
              <a:off x="3372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6" name="Rectangle 37"/>
            <p:cNvSpPr>
              <a:spLocks noChangeArrowheads="1"/>
            </p:cNvSpPr>
            <p:nvPr/>
          </p:nvSpPr>
          <p:spPr bwMode="auto">
            <a:xfrm>
              <a:off x="3128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7" name="Rectangle 38"/>
            <p:cNvSpPr>
              <a:spLocks noChangeArrowheads="1"/>
            </p:cNvSpPr>
            <p:nvPr/>
          </p:nvSpPr>
          <p:spPr bwMode="auto">
            <a:xfrm>
              <a:off x="2884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8" name="Rectangle 39"/>
            <p:cNvSpPr>
              <a:spLocks noChangeArrowheads="1"/>
            </p:cNvSpPr>
            <p:nvPr/>
          </p:nvSpPr>
          <p:spPr bwMode="auto">
            <a:xfrm>
              <a:off x="2640" y="3193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49" name="Rectangle 40"/>
            <p:cNvSpPr>
              <a:spLocks noChangeArrowheads="1"/>
            </p:cNvSpPr>
            <p:nvPr/>
          </p:nvSpPr>
          <p:spPr bwMode="auto">
            <a:xfrm>
              <a:off x="532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0" name="Rectangle 41"/>
            <p:cNvSpPr>
              <a:spLocks noChangeArrowheads="1"/>
            </p:cNvSpPr>
            <p:nvPr/>
          </p:nvSpPr>
          <p:spPr bwMode="auto">
            <a:xfrm>
              <a:off x="508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1" name="Rectangle 42"/>
            <p:cNvSpPr>
              <a:spLocks noChangeArrowheads="1"/>
            </p:cNvSpPr>
            <p:nvPr/>
          </p:nvSpPr>
          <p:spPr bwMode="auto">
            <a:xfrm>
              <a:off x="4836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2" name="Rectangle 43"/>
            <p:cNvSpPr>
              <a:spLocks noChangeArrowheads="1"/>
            </p:cNvSpPr>
            <p:nvPr/>
          </p:nvSpPr>
          <p:spPr bwMode="auto">
            <a:xfrm>
              <a:off x="4592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3" name="Rectangle 44"/>
            <p:cNvSpPr>
              <a:spLocks noChangeArrowheads="1"/>
            </p:cNvSpPr>
            <p:nvPr/>
          </p:nvSpPr>
          <p:spPr bwMode="auto">
            <a:xfrm>
              <a:off x="4348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4" name="Rectangle 45"/>
            <p:cNvSpPr>
              <a:spLocks noChangeArrowheads="1"/>
            </p:cNvSpPr>
            <p:nvPr/>
          </p:nvSpPr>
          <p:spPr bwMode="auto">
            <a:xfrm>
              <a:off x="410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5" name="Rectangle 46"/>
            <p:cNvSpPr>
              <a:spLocks noChangeArrowheads="1"/>
            </p:cNvSpPr>
            <p:nvPr/>
          </p:nvSpPr>
          <p:spPr bwMode="auto">
            <a:xfrm>
              <a:off x="386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6" name="Rectangle 47"/>
            <p:cNvSpPr>
              <a:spLocks noChangeArrowheads="1"/>
            </p:cNvSpPr>
            <p:nvPr/>
          </p:nvSpPr>
          <p:spPr bwMode="auto">
            <a:xfrm>
              <a:off x="3616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7" name="Rectangle 48"/>
            <p:cNvSpPr>
              <a:spLocks noChangeArrowheads="1"/>
            </p:cNvSpPr>
            <p:nvPr/>
          </p:nvSpPr>
          <p:spPr bwMode="auto">
            <a:xfrm>
              <a:off x="3372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8" name="Rectangle 49"/>
            <p:cNvSpPr>
              <a:spLocks noChangeArrowheads="1"/>
            </p:cNvSpPr>
            <p:nvPr/>
          </p:nvSpPr>
          <p:spPr bwMode="auto">
            <a:xfrm>
              <a:off x="3128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59" name="Rectangle 50"/>
            <p:cNvSpPr>
              <a:spLocks noChangeArrowheads="1"/>
            </p:cNvSpPr>
            <p:nvPr/>
          </p:nvSpPr>
          <p:spPr bwMode="auto">
            <a:xfrm>
              <a:off x="2884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0" name="Rectangle 51"/>
            <p:cNvSpPr>
              <a:spLocks noChangeArrowheads="1"/>
            </p:cNvSpPr>
            <p:nvPr/>
          </p:nvSpPr>
          <p:spPr bwMode="auto">
            <a:xfrm>
              <a:off x="2640" y="2969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1" name="Rectangle 52"/>
            <p:cNvSpPr>
              <a:spLocks noChangeArrowheads="1"/>
            </p:cNvSpPr>
            <p:nvPr/>
          </p:nvSpPr>
          <p:spPr bwMode="auto">
            <a:xfrm>
              <a:off x="532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2" name="Rectangle 53"/>
            <p:cNvSpPr>
              <a:spLocks noChangeArrowheads="1"/>
            </p:cNvSpPr>
            <p:nvPr/>
          </p:nvSpPr>
          <p:spPr bwMode="auto">
            <a:xfrm>
              <a:off x="508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3" name="Rectangle 54"/>
            <p:cNvSpPr>
              <a:spLocks noChangeArrowheads="1"/>
            </p:cNvSpPr>
            <p:nvPr/>
          </p:nvSpPr>
          <p:spPr bwMode="auto">
            <a:xfrm>
              <a:off x="4836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4" name="Rectangle 55"/>
            <p:cNvSpPr>
              <a:spLocks noChangeArrowheads="1"/>
            </p:cNvSpPr>
            <p:nvPr/>
          </p:nvSpPr>
          <p:spPr bwMode="auto">
            <a:xfrm>
              <a:off x="4592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5" name="Rectangle 56"/>
            <p:cNvSpPr>
              <a:spLocks noChangeArrowheads="1"/>
            </p:cNvSpPr>
            <p:nvPr/>
          </p:nvSpPr>
          <p:spPr bwMode="auto">
            <a:xfrm>
              <a:off x="4348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6" name="Rectangle 57"/>
            <p:cNvSpPr>
              <a:spLocks noChangeArrowheads="1"/>
            </p:cNvSpPr>
            <p:nvPr/>
          </p:nvSpPr>
          <p:spPr bwMode="auto">
            <a:xfrm>
              <a:off x="410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7" name="Rectangle 58"/>
            <p:cNvSpPr>
              <a:spLocks noChangeArrowheads="1"/>
            </p:cNvSpPr>
            <p:nvPr/>
          </p:nvSpPr>
          <p:spPr bwMode="auto">
            <a:xfrm>
              <a:off x="386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8" name="Rectangle 59"/>
            <p:cNvSpPr>
              <a:spLocks noChangeArrowheads="1"/>
            </p:cNvSpPr>
            <p:nvPr/>
          </p:nvSpPr>
          <p:spPr bwMode="auto">
            <a:xfrm>
              <a:off x="3616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69" name="Rectangle 60"/>
            <p:cNvSpPr>
              <a:spLocks noChangeArrowheads="1"/>
            </p:cNvSpPr>
            <p:nvPr/>
          </p:nvSpPr>
          <p:spPr bwMode="auto">
            <a:xfrm>
              <a:off x="3372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0" name="Rectangle 61"/>
            <p:cNvSpPr>
              <a:spLocks noChangeArrowheads="1"/>
            </p:cNvSpPr>
            <p:nvPr/>
          </p:nvSpPr>
          <p:spPr bwMode="auto">
            <a:xfrm>
              <a:off x="3128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1" name="Rectangle 62"/>
            <p:cNvSpPr>
              <a:spLocks noChangeArrowheads="1"/>
            </p:cNvSpPr>
            <p:nvPr/>
          </p:nvSpPr>
          <p:spPr bwMode="auto">
            <a:xfrm>
              <a:off x="2884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2" name="Rectangle 63"/>
            <p:cNvSpPr>
              <a:spLocks noChangeArrowheads="1"/>
            </p:cNvSpPr>
            <p:nvPr/>
          </p:nvSpPr>
          <p:spPr bwMode="auto">
            <a:xfrm>
              <a:off x="2640" y="2745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3" name="Rectangle 64"/>
            <p:cNvSpPr>
              <a:spLocks noChangeArrowheads="1"/>
            </p:cNvSpPr>
            <p:nvPr/>
          </p:nvSpPr>
          <p:spPr bwMode="auto">
            <a:xfrm>
              <a:off x="532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4" name="Rectangle 65"/>
            <p:cNvSpPr>
              <a:spLocks noChangeArrowheads="1"/>
            </p:cNvSpPr>
            <p:nvPr/>
          </p:nvSpPr>
          <p:spPr bwMode="auto">
            <a:xfrm>
              <a:off x="508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5" name="Rectangle 66"/>
            <p:cNvSpPr>
              <a:spLocks noChangeArrowheads="1"/>
            </p:cNvSpPr>
            <p:nvPr/>
          </p:nvSpPr>
          <p:spPr bwMode="auto">
            <a:xfrm>
              <a:off x="4836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6" name="Rectangle 67"/>
            <p:cNvSpPr>
              <a:spLocks noChangeArrowheads="1"/>
            </p:cNvSpPr>
            <p:nvPr/>
          </p:nvSpPr>
          <p:spPr bwMode="auto">
            <a:xfrm>
              <a:off x="4592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7" name="Rectangle 68"/>
            <p:cNvSpPr>
              <a:spLocks noChangeArrowheads="1"/>
            </p:cNvSpPr>
            <p:nvPr/>
          </p:nvSpPr>
          <p:spPr bwMode="auto">
            <a:xfrm>
              <a:off x="4348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8" name="Rectangle 69"/>
            <p:cNvSpPr>
              <a:spLocks noChangeArrowheads="1"/>
            </p:cNvSpPr>
            <p:nvPr/>
          </p:nvSpPr>
          <p:spPr bwMode="auto">
            <a:xfrm>
              <a:off x="410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79" name="Rectangle 70"/>
            <p:cNvSpPr>
              <a:spLocks noChangeArrowheads="1"/>
            </p:cNvSpPr>
            <p:nvPr/>
          </p:nvSpPr>
          <p:spPr bwMode="auto">
            <a:xfrm>
              <a:off x="386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0" name="Rectangle 71"/>
            <p:cNvSpPr>
              <a:spLocks noChangeArrowheads="1"/>
            </p:cNvSpPr>
            <p:nvPr/>
          </p:nvSpPr>
          <p:spPr bwMode="auto">
            <a:xfrm>
              <a:off x="3616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1" name="Rectangle 72"/>
            <p:cNvSpPr>
              <a:spLocks noChangeArrowheads="1"/>
            </p:cNvSpPr>
            <p:nvPr/>
          </p:nvSpPr>
          <p:spPr bwMode="auto">
            <a:xfrm>
              <a:off x="3372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2" name="Rectangle 73"/>
            <p:cNvSpPr>
              <a:spLocks noChangeArrowheads="1"/>
            </p:cNvSpPr>
            <p:nvPr/>
          </p:nvSpPr>
          <p:spPr bwMode="auto">
            <a:xfrm>
              <a:off x="3128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3" name="Rectangle 74"/>
            <p:cNvSpPr>
              <a:spLocks noChangeArrowheads="1"/>
            </p:cNvSpPr>
            <p:nvPr/>
          </p:nvSpPr>
          <p:spPr bwMode="auto">
            <a:xfrm>
              <a:off x="2884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4" name="Rectangle 75"/>
            <p:cNvSpPr>
              <a:spLocks noChangeArrowheads="1"/>
            </p:cNvSpPr>
            <p:nvPr/>
          </p:nvSpPr>
          <p:spPr bwMode="auto">
            <a:xfrm>
              <a:off x="2640" y="2544"/>
              <a:ext cx="2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5" name="Rectangle 76"/>
            <p:cNvSpPr>
              <a:spLocks noChangeArrowheads="1"/>
            </p:cNvSpPr>
            <p:nvPr/>
          </p:nvSpPr>
          <p:spPr bwMode="auto">
            <a:xfrm>
              <a:off x="532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6" name="Rectangle 77"/>
            <p:cNvSpPr>
              <a:spLocks noChangeArrowheads="1"/>
            </p:cNvSpPr>
            <p:nvPr/>
          </p:nvSpPr>
          <p:spPr bwMode="auto">
            <a:xfrm>
              <a:off x="508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7" name="Rectangle 78"/>
            <p:cNvSpPr>
              <a:spLocks noChangeArrowheads="1"/>
            </p:cNvSpPr>
            <p:nvPr/>
          </p:nvSpPr>
          <p:spPr bwMode="auto">
            <a:xfrm>
              <a:off x="4836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8" name="Rectangle 79"/>
            <p:cNvSpPr>
              <a:spLocks noChangeArrowheads="1"/>
            </p:cNvSpPr>
            <p:nvPr/>
          </p:nvSpPr>
          <p:spPr bwMode="auto">
            <a:xfrm>
              <a:off x="4592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89" name="Rectangle 80"/>
            <p:cNvSpPr>
              <a:spLocks noChangeArrowheads="1"/>
            </p:cNvSpPr>
            <p:nvPr/>
          </p:nvSpPr>
          <p:spPr bwMode="auto">
            <a:xfrm>
              <a:off x="4348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0" name="Rectangle 81"/>
            <p:cNvSpPr>
              <a:spLocks noChangeArrowheads="1"/>
            </p:cNvSpPr>
            <p:nvPr/>
          </p:nvSpPr>
          <p:spPr bwMode="auto">
            <a:xfrm>
              <a:off x="410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1" name="Rectangle 82"/>
            <p:cNvSpPr>
              <a:spLocks noChangeArrowheads="1"/>
            </p:cNvSpPr>
            <p:nvPr/>
          </p:nvSpPr>
          <p:spPr bwMode="auto">
            <a:xfrm>
              <a:off x="386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2" name="Rectangle 83"/>
            <p:cNvSpPr>
              <a:spLocks noChangeArrowheads="1"/>
            </p:cNvSpPr>
            <p:nvPr/>
          </p:nvSpPr>
          <p:spPr bwMode="auto">
            <a:xfrm>
              <a:off x="3616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3" name="Rectangle 84"/>
            <p:cNvSpPr>
              <a:spLocks noChangeArrowheads="1"/>
            </p:cNvSpPr>
            <p:nvPr/>
          </p:nvSpPr>
          <p:spPr bwMode="auto">
            <a:xfrm>
              <a:off x="3372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4" name="Rectangle 85"/>
            <p:cNvSpPr>
              <a:spLocks noChangeArrowheads="1"/>
            </p:cNvSpPr>
            <p:nvPr/>
          </p:nvSpPr>
          <p:spPr bwMode="auto">
            <a:xfrm>
              <a:off x="3128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5" name="Rectangle 86"/>
            <p:cNvSpPr>
              <a:spLocks noChangeArrowheads="1"/>
            </p:cNvSpPr>
            <p:nvPr/>
          </p:nvSpPr>
          <p:spPr bwMode="auto">
            <a:xfrm>
              <a:off x="2884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6" name="Rectangle 87"/>
            <p:cNvSpPr>
              <a:spLocks noChangeArrowheads="1"/>
            </p:cNvSpPr>
            <p:nvPr/>
          </p:nvSpPr>
          <p:spPr bwMode="auto">
            <a:xfrm>
              <a:off x="2640" y="232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7" name="Rectangle 88"/>
            <p:cNvSpPr>
              <a:spLocks noChangeArrowheads="1"/>
            </p:cNvSpPr>
            <p:nvPr/>
          </p:nvSpPr>
          <p:spPr bwMode="auto">
            <a:xfrm>
              <a:off x="532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8" name="Rectangle 89"/>
            <p:cNvSpPr>
              <a:spLocks noChangeArrowheads="1"/>
            </p:cNvSpPr>
            <p:nvPr/>
          </p:nvSpPr>
          <p:spPr bwMode="auto">
            <a:xfrm>
              <a:off x="508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299" name="Rectangle 90"/>
            <p:cNvSpPr>
              <a:spLocks noChangeArrowheads="1"/>
            </p:cNvSpPr>
            <p:nvPr/>
          </p:nvSpPr>
          <p:spPr bwMode="auto">
            <a:xfrm>
              <a:off x="4836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0" name="Rectangle 91"/>
            <p:cNvSpPr>
              <a:spLocks noChangeArrowheads="1"/>
            </p:cNvSpPr>
            <p:nvPr/>
          </p:nvSpPr>
          <p:spPr bwMode="auto">
            <a:xfrm>
              <a:off x="4592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1" name="Rectangle 92"/>
            <p:cNvSpPr>
              <a:spLocks noChangeArrowheads="1"/>
            </p:cNvSpPr>
            <p:nvPr/>
          </p:nvSpPr>
          <p:spPr bwMode="auto">
            <a:xfrm>
              <a:off x="4348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2" name="Rectangle 93"/>
            <p:cNvSpPr>
              <a:spLocks noChangeArrowheads="1"/>
            </p:cNvSpPr>
            <p:nvPr/>
          </p:nvSpPr>
          <p:spPr bwMode="auto">
            <a:xfrm>
              <a:off x="410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3" name="Rectangle 94"/>
            <p:cNvSpPr>
              <a:spLocks noChangeArrowheads="1"/>
            </p:cNvSpPr>
            <p:nvPr/>
          </p:nvSpPr>
          <p:spPr bwMode="auto">
            <a:xfrm>
              <a:off x="386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4" name="Rectangle 95"/>
            <p:cNvSpPr>
              <a:spLocks noChangeArrowheads="1"/>
            </p:cNvSpPr>
            <p:nvPr/>
          </p:nvSpPr>
          <p:spPr bwMode="auto">
            <a:xfrm>
              <a:off x="3616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5" name="Rectangle 96"/>
            <p:cNvSpPr>
              <a:spLocks noChangeArrowheads="1"/>
            </p:cNvSpPr>
            <p:nvPr/>
          </p:nvSpPr>
          <p:spPr bwMode="auto">
            <a:xfrm>
              <a:off x="3372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6" name="Rectangle 97"/>
            <p:cNvSpPr>
              <a:spLocks noChangeArrowheads="1"/>
            </p:cNvSpPr>
            <p:nvPr/>
          </p:nvSpPr>
          <p:spPr bwMode="auto">
            <a:xfrm>
              <a:off x="3128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7" name="Rectangle 98"/>
            <p:cNvSpPr>
              <a:spLocks noChangeArrowheads="1"/>
            </p:cNvSpPr>
            <p:nvPr/>
          </p:nvSpPr>
          <p:spPr bwMode="auto">
            <a:xfrm>
              <a:off x="2884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8" name="Rectangle 99"/>
            <p:cNvSpPr>
              <a:spLocks noChangeArrowheads="1"/>
            </p:cNvSpPr>
            <p:nvPr/>
          </p:nvSpPr>
          <p:spPr bwMode="auto">
            <a:xfrm>
              <a:off x="2640" y="2096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09" name="Rectangle 100"/>
            <p:cNvSpPr>
              <a:spLocks noChangeArrowheads="1"/>
            </p:cNvSpPr>
            <p:nvPr/>
          </p:nvSpPr>
          <p:spPr bwMode="auto">
            <a:xfrm>
              <a:off x="532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0" name="Rectangle 101"/>
            <p:cNvSpPr>
              <a:spLocks noChangeArrowheads="1"/>
            </p:cNvSpPr>
            <p:nvPr/>
          </p:nvSpPr>
          <p:spPr bwMode="auto">
            <a:xfrm>
              <a:off x="508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1" name="Rectangle 102"/>
            <p:cNvSpPr>
              <a:spLocks noChangeArrowheads="1"/>
            </p:cNvSpPr>
            <p:nvPr/>
          </p:nvSpPr>
          <p:spPr bwMode="auto">
            <a:xfrm>
              <a:off x="4836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2" name="Rectangle 103"/>
            <p:cNvSpPr>
              <a:spLocks noChangeArrowheads="1"/>
            </p:cNvSpPr>
            <p:nvPr/>
          </p:nvSpPr>
          <p:spPr bwMode="auto">
            <a:xfrm>
              <a:off x="4592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3" name="Rectangle 104"/>
            <p:cNvSpPr>
              <a:spLocks noChangeArrowheads="1"/>
            </p:cNvSpPr>
            <p:nvPr/>
          </p:nvSpPr>
          <p:spPr bwMode="auto">
            <a:xfrm>
              <a:off x="4348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4" name="Rectangle 105"/>
            <p:cNvSpPr>
              <a:spLocks noChangeArrowheads="1"/>
            </p:cNvSpPr>
            <p:nvPr/>
          </p:nvSpPr>
          <p:spPr bwMode="auto">
            <a:xfrm>
              <a:off x="410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5" name="Rectangle 106"/>
            <p:cNvSpPr>
              <a:spLocks noChangeArrowheads="1"/>
            </p:cNvSpPr>
            <p:nvPr/>
          </p:nvSpPr>
          <p:spPr bwMode="auto">
            <a:xfrm>
              <a:off x="386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6" name="Rectangle 107"/>
            <p:cNvSpPr>
              <a:spLocks noChangeArrowheads="1"/>
            </p:cNvSpPr>
            <p:nvPr/>
          </p:nvSpPr>
          <p:spPr bwMode="auto">
            <a:xfrm>
              <a:off x="3616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7" name="Rectangle 108"/>
            <p:cNvSpPr>
              <a:spLocks noChangeArrowheads="1"/>
            </p:cNvSpPr>
            <p:nvPr/>
          </p:nvSpPr>
          <p:spPr bwMode="auto">
            <a:xfrm>
              <a:off x="3372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8" name="Rectangle 109"/>
            <p:cNvSpPr>
              <a:spLocks noChangeArrowheads="1"/>
            </p:cNvSpPr>
            <p:nvPr/>
          </p:nvSpPr>
          <p:spPr bwMode="auto">
            <a:xfrm>
              <a:off x="3128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19" name="Rectangle 110"/>
            <p:cNvSpPr>
              <a:spLocks noChangeArrowheads="1"/>
            </p:cNvSpPr>
            <p:nvPr/>
          </p:nvSpPr>
          <p:spPr bwMode="auto">
            <a:xfrm>
              <a:off x="2884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0" name="Rectangle 111"/>
            <p:cNvSpPr>
              <a:spLocks noChangeArrowheads="1"/>
            </p:cNvSpPr>
            <p:nvPr/>
          </p:nvSpPr>
          <p:spPr bwMode="auto">
            <a:xfrm>
              <a:off x="2640" y="1872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1" name="Rectangle 112"/>
            <p:cNvSpPr>
              <a:spLocks noChangeArrowheads="1"/>
            </p:cNvSpPr>
            <p:nvPr/>
          </p:nvSpPr>
          <p:spPr bwMode="auto">
            <a:xfrm>
              <a:off x="532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2" name="Rectangle 113"/>
            <p:cNvSpPr>
              <a:spLocks noChangeArrowheads="1"/>
            </p:cNvSpPr>
            <p:nvPr/>
          </p:nvSpPr>
          <p:spPr bwMode="auto">
            <a:xfrm>
              <a:off x="508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3" name="Rectangle 114"/>
            <p:cNvSpPr>
              <a:spLocks noChangeArrowheads="1"/>
            </p:cNvSpPr>
            <p:nvPr/>
          </p:nvSpPr>
          <p:spPr bwMode="auto">
            <a:xfrm>
              <a:off x="4836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4" name="Rectangle 115"/>
            <p:cNvSpPr>
              <a:spLocks noChangeArrowheads="1"/>
            </p:cNvSpPr>
            <p:nvPr/>
          </p:nvSpPr>
          <p:spPr bwMode="auto">
            <a:xfrm>
              <a:off x="4592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5" name="Rectangle 116"/>
            <p:cNvSpPr>
              <a:spLocks noChangeArrowheads="1"/>
            </p:cNvSpPr>
            <p:nvPr/>
          </p:nvSpPr>
          <p:spPr bwMode="auto">
            <a:xfrm>
              <a:off x="4348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6" name="Rectangle 117"/>
            <p:cNvSpPr>
              <a:spLocks noChangeArrowheads="1"/>
            </p:cNvSpPr>
            <p:nvPr/>
          </p:nvSpPr>
          <p:spPr bwMode="auto">
            <a:xfrm>
              <a:off x="410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7" name="Rectangle 118"/>
            <p:cNvSpPr>
              <a:spLocks noChangeArrowheads="1"/>
            </p:cNvSpPr>
            <p:nvPr/>
          </p:nvSpPr>
          <p:spPr bwMode="auto">
            <a:xfrm>
              <a:off x="386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8" name="Rectangle 119"/>
            <p:cNvSpPr>
              <a:spLocks noChangeArrowheads="1"/>
            </p:cNvSpPr>
            <p:nvPr/>
          </p:nvSpPr>
          <p:spPr bwMode="auto">
            <a:xfrm>
              <a:off x="3616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29" name="Rectangle 120"/>
            <p:cNvSpPr>
              <a:spLocks noChangeArrowheads="1"/>
            </p:cNvSpPr>
            <p:nvPr/>
          </p:nvSpPr>
          <p:spPr bwMode="auto">
            <a:xfrm>
              <a:off x="3372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0" name="Rectangle 121"/>
            <p:cNvSpPr>
              <a:spLocks noChangeArrowheads="1"/>
            </p:cNvSpPr>
            <p:nvPr/>
          </p:nvSpPr>
          <p:spPr bwMode="auto">
            <a:xfrm>
              <a:off x="3128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1" name="Rectangle 122"/>
            <p:cNvSpPr>
              <a:spLocks noChangeArrowheads="1"/>
            </p:cNvSpPr>
            <p:nvPr/>
          </p:nvSpPr>
          <p:spPr bwMode="auto">
            <a:xfrm>
              <a:off x="2884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2" name="Rectangle 123"/>
            <p:cNvSpPr>
              <a:spLocks noChangeArrowheads="1"/>
            </p:cNvSpPr>
            <p:nvPr/>
          </p:nvSpPr>
          <p:spPr bwMode="auto">
            <a:xfrm>
              <a:off x="2640" y="1648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3" name="Rectangle 124"/>
            <p:cNvSpPr>
              <a:spLocks noChangeArrowheads="1"/>
            </p:cNvSpPr>
            <p:nvPr/>
          </p:nvSpPr>
          <p:spPr bwMode="auto">
            <a:xfrm>
              <a:off x="532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4" name="Rectangle 125"/>
            <p:cNvSpPr>
              <a:spLocks noChangeArrowheads="1"/>
            </p:cNvSpPr>
            <p:nvPr/>
          </p:nvSpPr>
          <p:spPr bwMode="auto">
            <a:xfrm>
              <a:off x="508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5" name="Rectangle 126"/>
            <p:cNvSpPr>
              <a:spLocks noChangeArrowheads="1"/>
            </p:cNvSpPr>
            <p:nvPr/>
          </p:nvSpPr>
          <p:spPr bwMode="auto">
            <a:xfrm>
              <a:off x="4836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6" name="Rectangle 127"/>
            <p:cNvSpPr>
              <a:spLocks noChangeArrowheads="1"/>
            </p:cNvSpPr>
            <p:nvPr/>
          </p:nvSpPr>
          <p:spPr bwMode="auto">
            <a:xfrm>
              <a:off x="4592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7" name="Rectangle 128"/>
            <p:cNvSpPr>
              <a:spLocks noChangeArrowheads="1"/>
            </p:cNvSpPr>
            <p:nvPr/>
          </p:nvSpPr>
          <p:spPr bwMode="auto">
            <a:xfrm>
              <a:off x="4348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8" name="Rectangle 129"/>
            <p:cNvSpPr>
              <a:spLocks noChangeArrowheads="1"/>
            </p:cNvSpPr>
            <p:nvPr/>
          </p:nvSpPr>
          <p:spPr bwMode="auto">
            <a:xfrm>
              <a:off x="410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39" name="Rectangle 130"/>
            <p:cNvSpPr>
              <a:spLocks noChangeArrowheads="1"/>
            </p:cNvSpPr>
            <p:nvPr/>
          </p:nvSpPr>
          <p:spPr bwMode="auto">
            <a:xfrm>
              <a:off x="386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0" name="Rectangle 131"/>
            <p:cNvSpPr>
              <a:spLocks noChangeArrowheads="1"/>
            </p:cNvSpPr>
            <p:nvPr/>
          </p:nvSpPr>
          <p:spPr bwMode="auto">
            <a:xfrm>
              <a:off x="3616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1" name="Rectangle 132"/>
            <p:cNvSpPr>
              <a:spLocks noChangeArrowheads="1"/>
            </p:cNvSpPr>
            <p:nvPr/>
          </p:nvSpPr>
          <p:spPr bwMode="auto">
            <a:xfrm>
              <a:off x="3372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2" name="Rectangle 133"/>
            <p:cNvSpPr>
              <a:spLocks noChangeArrowheads="1"/>
            </p:cNvSpPr>
            <p:nvPr/>
          </p:nvSpPr>
          <p:spPr bwMode="auto">
            <a:xfrm>
              <a:off x="3128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3" name="Rectangle 134"/>
            <p:cNvSpPr>
              <a:spLocks noChangeArrowheads="1"/>
            </p:cNvSpPr>
            <p:nvPr/>
          </p:nvSpPr>
          <p:spPr bwMode="auto">
            <a:xfrm>
              <a:off x="2884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4" name="Rectangle 135"/>
            <p:cNvSpPr>
              <a:spLocks noChangeArrowheads="1"/>
            </p:cNvSpPr>
            <p:nvPr/>
          </p:nvSpPr>
          <p:spPr bwMode="auto">
            <a:xfrm>
              <a:off x="2640" y="1424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5" name="Rectangle 136"/>
            <p:cNvSpPr>
              <a:spLocks noChangeArrowheads="1"/>
            </p:cNvSpPr>
            <p:nvPr/>
          </p:nvSpPr>
          <p:spPr bwMode="auto">
            <a:xfrm>
              <a:off x="532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6" name="Rectangle 137"/>
            <p:cNvSpPr>
              <a:spLocks noChangeArrowheads="1"/>
            </p:cNvSpPr>
            <p:nvPr/>
          </p:nvSpPr>
          <p:spPr bwMode="auto">
            <a:xfrm>
              <a:off x="508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7" name="Rectangle 138"/>
            <p:cNvSpPr>
              <a:spLocks noChangeArrowheads="1"/>
            </p:cNvSpPr>
            <p:nvPr/>
          </p:nvSpPr>
          <p:spPr bwMode="auto">
            <a:xfrm>
              <a:off x="4836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8" name="Rectangle 139"/>
            <p:cNvSpPr>
              <a:spLocks noChangeArrowheads="1"/>
            </p:cNvSpPr>
            <p:nvPr/>
          </p:nvSpPr>
          <p:spPr bwMode="auto">
            <a:xfrm>
              <a:off x="4592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49" name="Rectangle 140"/>
            <p:cNvSpPr>
              <a:spLocks noChangeArrowheads="1"/>
            </p:cNvSpPr>
            <p:nvPr/>
          </p:nvSpPr>
          <p:spPr bwMode="auto">
            <a:xfrm>
              <a:off x="4348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0" name="Rectangle 141"/>
            <p:cNvSpPr>
              <a:spLocks noChangeArrowheads="1"/>
            </p:cNvSpPr>
            <p:nvPr/>
          </p:nvSpPr>
          <p:spPr bwMode="auto">
            <a:xfrm>
              <a:off x="410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1" name="Rectangle 142"/>
            <p:cNvSpPr>
              <a:spLocks noChangeArrowheads="1"/>
            </p:cNvSpPr>
            <p:nvPr/>
          </p:nvSpPr>
          <p:spPr bwMode="auto">
            <a:xfrm>
              <a:off x="386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2" name="Rectangle 143"/>
            <p:cNvSpPr>
              <a:spLocks noChangeArrowheads="1"/>
            </p:cNvSpPr>
            <p:nvPr/>
          </p:nvSpPr>
          <p:spPr bwMode="auto">
            <a:xfrm>
              <a:off x="3616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3" name="Rectangle 144"/>
            <p:cNvSpPr>
              <a:spLocks noChangeArrowheads="1"/>
            </p:cNvSpPr>
            <p:nvPr/>
          </p:nvSpPr>
          <p:spPr bwMode="auto">
            <a:xfrm>
              <a:off x="3372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4" name="Rectangle 145"/>
            <p:cNvSpPr>
              <a:spLocks noChangeArrowheads="1"/>
            </p:cNvSpPr>
            <p:nvPr/>
          </p:nvSpPr>
          <p:spPr bwMode="auto">
            <a:xfrm>
              <a:off x="3128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5" name="Rectangle 146"/>
            <p:cNvSpPr>
              <a:spLocks noChangeArrowheads="1"/>
            </p:cNvSpPr>
            <p:nvPr/>
          </p:nvSpPr>
          <p:spPr bwMode="auto">
            <a:xfrm>
              <a:off x="2884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6" name="Rectangle 147"/>
            <p:cNvSpPr>
              <a:spLocks noChangeArrowheads="1"/>
            </p:cNvSpPr>
            <p:nvPr/>
          </p:nvSpPr>
          <p:spPr bwMode="auto">
            <a:xfrm>
              <a:off x="2640" y="1200"/>
              <a:ext cx="24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en-US" altLang="en-US" sz="1500"/>
            </a:p>
          </p:txBody>
        </p:sp>
        <p:sp>
          <p:nvSpPr>
            <p:cNvPr id="8357" name="Line 148"/>
            <p:cNvSpPr>
              <a:spLocks noChangeShapeType="1"/>
            </p:cNvSpPr>
            <p:nvPr/>
          </p:nvSpPr>
          <p:spPr bwMode="auto">
            <a:xfrm>
              <a:off x="2640" y="1424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58" name="Line 149"/>
            <p:cNvSpPr>
              <a:spLocks noChangeShapeType="1"/>
            </p:cNvSpPr>
            <p:nvPr/>
          </p:nvSpPr>
          <p:spPr bwMode="auto">
            <a:xfrm>
              <a:off x="2640" y="1648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59" name="Line 150"/>
            <p:cNvSpPr>
              <a:spLocks noChangeShapeType="1"/>
            </p:cNvSpPr>
            <p:nvPr/>
          </p:nvSpPr>
          <p:spPr bwMode="auto">
            <a:xfrm>
              <a:off x="2640" y="1872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0" name="Line 151"/>
            <p:cNvSpPr>
              <a:spLocks noChangeShapeType="1"/>
            </p:cNvSpPr>
            <p:nvPr/>
          </p:nvSpPr>
          <p:spPr bwMode="auto">
            <a:xfrm>
              <a:off x="2640" y="2096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1" name="Line 152"/>
            <p:cNvSpPr>
              <a:spLocks noChangeShapeType="1"/>
            </p:cNvSpPr>
            <p:nvPr/>
          </p:nvSpPr>
          <p:spPr bwMode="auto">
            <a:xfrm>
              <a:off x="2640" y="2320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2" name="Line 153"/>
            <p:cNvSpPr>
              <a:spLocks noChangeShapeType="1"/>
            </p:cNvSpPr>
            <p:nvPr/>
          </p:nvSpPr>
          <p:spPr bwMode="auto">
            <a:xfrm>
              <a:off x="2640" y="2544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3" name="Line 154"/>
            <p:cNvSpPr>
              <a:spLocks noChangeShapeType="1"/>
            </p:cNvSpPr>
            <p:nvPr/>
          </p:nvSpPr>
          <p:spPr bwMode="auto">
            <a:xfrm>
              <a:off x="2640" y="2745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4" name="Line 155"/>
            <p:cNvSpPr>
              <a:spLocks noChangeShapeType="1"/>
            </p:cNvSpPr>
            <p:nvPr/>
          </p:nvSpPr>
          <p:spPr bwMode="auto">
            <a:xfrm>
              <a:off x="2640" y="2969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5" name="Line 156"/>
            <p:cNvSpPr>
              <a:spLocks noChangeShapeType="1"/>
            </p:cNvSpPr>
            <p:nvPr/>
          </p:nvSpPr>
          <p:spPr bwMode="auto">
            <a:xfrm>
              <a:off x="2640" y="3193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6" name="Line 157"/>
            <p:cNvSpPr>
              <a:spLocks noChangeShapeType="1"/>
            </p:cNvSpPr>
            <p:nvPr/>
          </p:nvSpPr>
          <p:spPr bwMode="auto">
            <a:xfrm>
              <a:off x="2640" y="3417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7" name="Line 158"/>
            <p:cNvSpPr>
              <a:spLocks noChangeShapeType="1"/>
            </p:cNvSpPr>
            <p:nvPr/>
          </p:nvSpPr>
          <p:spPr bwMode="auto">
            <a:xfrm>
              <a:off x="2640" y="3641"/>
              <a:ext cx="29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8" name="Line 159"/>
            <p:cNvSpPr>
              <a:spLocks noChangeShapeType="1"/>
            </p:cNvSpPr>
            <p:nvPr/>
          </p:nvSpPr>
          <p:spPr bwMode="auto">
            <a:xfrm>
              <a:off x="288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69" name="Line 160"/>
            <p:cNvSpPr>
              <a:spLocks noChangeShapeType="1"/>
            </p:cNvSpPr>
            <p:nvPr/>
          </p:nvSpPr>
          <p:spPr bwMode="auto">
            <a:xfrm>
              <a:off x="3128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0" name="Line 161"/>
            <p:cNvSpPr>
              <a:spLocks noChangeShapeType="1"/>
            </p:cNvSpPr>
            <p:nvPr/>
          </p:nvSpPr>
          <p:spPr bwMode="auto">
            <a:xfrm>
              <a:off x="3372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1" name="Line 162"/>
            <p:cNvSpPr>
              <a:spLocks noChangeShapeType="1"/>
            </p:cNvSpPr>
            <p:nvPr/>
          </p:nvSpPr>
          <p:spPr bwMode="auto">
            <a:xfrm>
              <a:off x="3616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2" name="Line 163"/>
            <p:cNvSpPr>
              <a:spLocks noChangeShapeType="1"/>
            </p:cNvSpPr>
            <p:nvPr/>
          </p:nvSpPr>
          <p:spPr bwMode="auto">
            <a:xfrm>
              <a:off x="3860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3" name="Line 164"/>
            <p:cNvSpPr>
              <a:spLocks noChangeShapeType="1"/>
            </p:cNvSpPr>
            <p:nvPr/>
          </p:nvSpPr>
          <p:spPr bwMode="auto">
            <a:xfrm>
              <a:off x="410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4" name="Line 165"/>
            <p:cNvSpPr>
              <a:spLocks noChangeShapeType="1"/>
            </p:cNvSpPr>
            <p:nvPr/>
          </p:nvSpPr>
          <p:spPr bwMode="auto">
            <a:xfrm>
              <a:off x="4348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5" name="Line 166"/>
            <p:cNvSpPr>
              <a:spLocks noChangeShapeType="1"/>
            </p:cNvSpPr>
            <p:nvPr/>
          </p:nvSpPr>
          <p:spPr bwMode="auto">
            <a:xfrm>
              <a:off x="4592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6" name="Line 167"/>
            <p:cNvSpPr>
              <a:spLocks noChangeShapeType="1"/>
            </p:cNvSpPr>
            <p:nvPr/>
          </p:nvSpPr>
          <p:spPr bwMode="auto">
            <a:xfrm>
              <a:off x="4836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7" name="Line 168"/>
            <p:cNvSpPr>
              <a:spLocks noChangeShapeType="1"/>
            </p:cNvSpPr>
            <p:nvPr/>
          </p:nvSpPr>
          <p:spPr bwMode="auto">
            <a:xfrm>
              <a:off x="5080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8" name="Line 169"/>
            <p:cNvSpPr>
              <a:spLocks noChangeShapeType="1"/>
            </p:cNvSpPr>
            <p:nvPr/>
          </p:nvSpPr>
          <p:spPr bwMode="auto">
            <a:xfrm>
              <a:off x="5324" y="1200"/>
              <a:ext cx="0" cy="2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79" name="Line 170"/>
            <p:cNvSpPr>
              <a:spLocks noChangeShapeType="1"/>
            </p:cNvSpPr>
            <p:nvPr/>
          </p:nvSpPr>
          <p:spPr bwMode="auto">
            <a:xfrm>
              <a:off x="2640" y="2544"/>
              <a:ext cx="0" cy="2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0" name="Line 171"/>
            <p:cNvSpPr>
              <a:spLocks noChangeShapeType="1"/>
            </p:cNvSpPr>
            <p:nvPr/>
          </p:nvSpPr>
          <p:spPr bwMode="auto">
            <a:xfrm>
              <a:off x="2640" y="1200"/>
              <a:ext cx="0" cy="13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1" name="Line 172"/>
            <p:cNvSpPr>
              <a:spLocks noChangeShapeType="1"/>
            </p:cNvSpPr>
            <p:nvPr/>
          </p:nvSpPr>
          <p:spPr bwMode="auto">
            <a:xfrm>
              <a:off x="2640" y="2745"/>
              <a:ext cx="0" cy="11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2" name="Line 173"/>
            <p:cNvSpPr>
              <a:spLocks noChangeShapeType="1"/>
            </p:cNvSpPr>
            <p:nvPr/>
          </p:nvSpPr>
          <p:spPr bwMode="auto">
            <a:xfrm>
              <a:off x="5568" y="2544"/>
              <a:ext cx="0" cy="2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3" name="Line 174"/>
            <p:cNvSpPr>
              <a:spLocks noChangeShapeType="1"/>
            </p:cNvSpPr>
            <p:nvPr/>
          </p:nvSpPr>
          <p:spPr bwMode="auto">
            <a:xfrm>
              <a:off x="5568" y="1200"/>
              <a:ext cx="0" cy="13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4" name="Line 175"/>
            <p:cNvSpPr>
              <a:spLocks noChangeShapeType="1"/>
            </p:cNvSpPr>
            <p:nvPr/>
          </p:nvSpPr>
          <p:spPr bwMode="auto">
            <a:xfrm>
              <a:off x="5568" y="2745"/>
              <a:ext cx="0" cy="11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5" name="Line 176"/>
            <p:cNvSpPr>
              <a:spLocks noChangeShapeType="1"/>
            </p:cNvSpPr>
            <p:nvPr/>
          </p:nvSpPr>
          <p:spPr bwMode="auto">
            <a:xfrm>
              <a:off x="3860" y="1200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6" name="Line 177"/>
            <p:cNvSpPr>
              <a:spLocks noChangeShapeType="1"/>
            </p:cNvSpPr>
            <p:nvPr/>
          </p:nvSpPr>
          <p:spPr bwMode="auto">
            <a:xfrm>
              <a:off x="2640" y="1200"/>
              <a:ext cx="12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7" name="Line 178"/>
            <p:cNvSpPr>
              <a:spLocks noChangeShapeType="1"/>
            </p:cNvSpPr>
            <p:nvPr/>
          </p:nvSpPr>
          <p:spPr bwMode="auto">
            <a:xfrm>
              <a:off x="4104" y="1200"/>
              <a:ext cx="14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8" name="Line 179"/>
            <p:cNvSpPr>
              <a:spLocks noChangeShapeType="1"/>
            </p:cNvSpPr>
            <p:nvPr/>
          </p:nvSpPr>
          <p:spPr bwMode="auto">
            <a:xfrm>
              <a:off x="3860" y="3865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89" name="Line 180"/>
            <p:cNvSpPr>
              <a:spLocks noChangeShapeType="1"/>
            </p:cNvSpPr>
            <p:nvPr/>
          </p:nvSpPr>
          <p:spPr bwMode="auto">
            <a:xfrm>
              <a:off x="2640" y="3865"/>
              <a:ext cx="12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90" name="Line 181"/>
            <p:cNvSpPr>
              <a:spLocks noChangeShapeType="1"/>
            </p:cNvSpPr>
            <p:nvPr/>
          </p:nvSpPr>
          <p:spPr bwMode="auto">
            <a:xfrm>
              <a:off x="4104" y="3865"/>
              <a:ext cx="14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91" name="Line 182"/>
            <p:cNvSpPr>
              <a:spLocks noChangeShapeType="1"/>
            </p:cNvSpPr>
            <p:nvPr/>
          </p:nvSpPr>
          <p:spPr bwMode="auto">
            <a:xfrm flipV="1">
              <a:off x="4106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92" name="Line 183"/>
            <p:cNvSpPr>
              <a:spLocks noChangeShapeType="1"/>
            </p:cNvSpPr>
            <p:nvPr/>
          </p:nvSpPr>
          <p:spPr bwMode="auto">
            <a:xfrm rot="5400000" flipV="1">
              <a:off x="5405" y="228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93" name="Text Box 184"/>
            <p:cNvSpPr txBox="1">
              <a:spLocks noChangeArrowheads="1"/>
            </p:cNvSpPr>
            <p:nvPr/>
          </p:nvSpPr>
          <p:spPr bwMode="auto">
            <a:xfrm>
              <a:off x="4131" y="937"/>
              <a:ext cx="36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500" i="1"/>
                <a:t>y</a:t>
              </a:r>
            </a:p>
          </p:txBody>
        </p:sp>
        <p:sp>
          <p:nvSpPr>
            <p:cNvPr id="8394" name="Text Box 185"/>
            <p:cNvSpPr txBox="1">
              <a:spLocks noChangeArrowheads="1"/>
            </p:cNvSpPr>
            <p:nvPr/>
          </p:nvSpPr>
          <p:spPr bwMode="auto">
            <a:xfrm>
              <a:off x="5579" y="2546"/>
              <a:ext cx="36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500" i="1"/>
                <a:t>x</a:t>
              </a:r>
            </a:p>
          </p:txBody>
        </p:sp>
      </p:grpSp>
      <p:sp>
        <p:nvSpPr>
          <p:cNvPr id="8204" name="Text Box 186"/>
          <p:cNvSpPr txBox="1">
            <a:spLocks noChangeArrowheads="1"/>
          </p:cNvSpPr>
          <p:nvPr/>
        </p:nvSpPr>
        <p:spPr bwMode="auto">
          <a:xfrm>
            <a:off x="252413" y="614363"/>
            <a:ext cx="86248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The standard form of a quadratic function is: </a:t>
            </a:r>
          </a:p>
        </p:txBody>
      </p:sp>
      <p:grpSp>
        <p:nvGrpSpPr>
          <p:cNvPr id="3" name="Group 195"/>
          <p:cNvGrpSpPr>
            <a:grpSpLocks/>
          </p:cNvGrpSpPr>
          <p:nvPr/>
        </p:nvGrpSpPr>
        <p:grpSpPr bwMode="auto">
          <a:xfrm>
            <a:off x="6605588" y="2178050"/>
            <a:ext cx="1550987" cy="3616325"/>
            <a:chOff x="4232" y="1416"/>
            <a:chExt cx="977" cy="2278"/>
          </a:xfrm>
        </p:grpSpPr>
        <p:sp>
          <p:nvSpPr>
            <p:cNvPr id="8211" name="Freeform 189"/>
            <p:cNvSpPr>
              <a:spLocks/>
            </p:cNvSpPr>
            <p:nvPr/>
          </p:nvSpPr>
          <p:spPr bwMode="auto">
            <a:xfrm>
              <a:off x="4232" y="1916"/>
              <a:ext cx="977" cy="1778"/>
            </a:xfrm>
            <a:custGeom>
              <a:avLst/>
              <a:gdLst>
                <a:gd name="T0" fmla="*/ 0 w 977"/>
                <a:gd name="T1" fmla="*/ 12 h 1778"/>
                <a:gd name="T2" fmla="*/ 250 w 977"/>
                <a:gd name="T3" fmla="*/ 1327 h 1778"/>
                <a:gd name="T4" fmla="*/ 488 w 977"/>
                <a:gd name="T5" fmla="*/ 1778 h 1778"/>
                <a:gd name="T6" fmla="*/ 739 w 977"/>
                <a:gd name="T7" fmla="*/ 1327 h 1778"/>
                <a:gd name="T8" fmla="*/ 977 w 977"/>
                <a:gd name="T9" fmla="*/ 0 h 17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7"/>
                <a:gd name="T16" fmla="*/ 0 h 1778"/>
                <a:gd name="T17" fmla="*/ 977 w 977"/>
                <a:gd name="T18" fmla="*/ 1778 h 17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7" h="1778">
                  <a:moveTo>
                    <a:pt x="0" y="12"/>
                  </a:moveTo>
                  <a:cubicBezTo>
                    <a:pt x="84" y="522"/>
                    <a:pt x="169" y="1033"/>
                    <a:pt x="250" y="1327"/>
                  </a:cubicBezTo>
                  <a:cubicBezTo>
                    <a:pt x="331" y="1621"/>
                    <a:pt x="407" y="1778"/>
                    <a:pt x="488" y="1778"/>
                  </a:cubicBezTo>
                  <a:cubicBezTo>
                    <a:pt x="569" y="1778"/>
                    <a:pt x="658" y="1623"/>
                    <a:pt x="739" y="1327"/>
                  </a:cubicBezTo>
                  <a:cubicBezTo>
                    <a:pt x="820" y="1031"/>
                    <a:pt x="898" y="515"/>
                    <a:pt x="977" y="0"/>
                  </a:cubicBezTo>
                </a:path>
              </a:pathLst>
            </a:custGeom>
            <a:noFill/>
            <a:ln w="635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212" name="Text Box 190"/>
            <p:cNvSpPr txBox="1">
              <a:spLocks noChangeArrowheads="1"/>
            </p:cNvSpPr>
            <p:nvPr/>
          </p:nvSpPr>
          <p:spPr bwMode="auto">
            <a:xfrm>
              <a:off x="4433" y="1416"/>
              <a:ext cx="626" cy="288"/>
            </a:xfrm>
            <a:prstGeom prst="rect">
              <a:avLst/>
            </a:prstGeom>
            <a:solidFill>
              <a:srgbClr val="FF0066">
                <a:alpha val="25098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i="1"/>
                <a:t>a</a:t>
              </a:r>
              <a:r>
                <a:rPr lang="en-US" altLang="en-US" sz="2400"/>
                <a:t> &gt; 0</a:t>
              </a:r>
              <a:endParaRPr lang="en-US" altLang="en-US" sz="2400" i="1"/>
            </a:p>
          </p:txBody>
        </p:sp>
      </p:grpSp>
      <p:grpSp>
        <p:nvGrpSpPr>
          <p:cNvPr id="4" name="Group 194"/>
          <p:cNvGrpSpPr>
            <a:grpSpLocks/>
          </p:cNvGrpSpPr>
          <p:nvPr/>
        </p:nvGrpSpPr>
        <p:grpSpPr bwMode="auto">
          <a:xfrm>
            <a:off x="4297363" y="2230438"/>
            <a:ext cx="1550987" cy="3506787"/>
            <a:chOff x="2663" y="1361"/>
            <a:chExt cx="977" cy="2209"/>
          </a:xfrm>
        </p:grpSpPr>
        <p:sp>
          <p:nvSpPr>
            <p:cNvPr id="8209" name="Freeform 192"/>
            <p:cNvSpPr>
              <a:spLocks/>
            </p:cNvSpPr>
            <p:nvPr/>
          </p:nvSpPr>
          <p:spPr bwMode="auto">
            <a:xfrm flipV="1">
              <a:off x="2663" y="1361"/>
              <a:ext cx="977" cy="1778"/>
            </a:xfrm>
            <a:custGeom>
              <a:avLst/>
              <a:gdLst>
                <a:gd name="T0" fmla="*/ 0 w 977"/>
                <a:gd name="T1" fmla="*/ 12 h 1778"/>
                <a:gd name="T2" fmla="*/ 250 w 977"/>
                <a:gd name="T3" fmla="*/ 1327 h 1778"/>
                <a:gd name="T4" fmla="*/ 488 w 977"/>
                <a:gd name="T5" fmla="*/ 1778 h 1778"/>
                <a:gd name="T6" fmla="*/ 739 w 977"/>
                <a:gd name="T7" fmla="*/ 1327 h 1778"/>
                <a:gd name="T8" fmla="*/ 977 w 977"/>
                <a:gd name="T9" fmla="*/ 0 h 17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7"/>
                <a:gd name="T16" fmla="*/ 0 h 1778"/>
                <a:gd name="T17" fmla="*/ 977 w 977"/>
                <a:gd name="T18" fmla="*/ 1778 h 17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7" h="1778">
                  <a:moveTo>
                    <a:pt x="0" y="12"/>
                  </a:moveTo>
                  <a:cubicBezTo>
                    <a:pt x="84" y="522"/>
                    <a:pt x="169" y="1033"/>
                    <a:pt x="250" y="1327"/>
                  </a:cubicBezTo>
                  <a:cubicBezTo>
                    <a:pt x="331" y="1621"/>
                    <a:pt x="407" y="1778"/>
                    <a:pt x="488" y="1778"/>
                  </a:cubicBezTo>
                  <a:cubicBezTo>
                    <a:pt x="569" y="1778"/>
                    <a:pt x="658" y="1623"/>
                    <a:pt x="739" y="1327"/>
                  </a:cubicBezTo>
                  <a:cubicBezTo>
                    <a:pt x="820" y="1031"/>
                    <a:pt x="898" y="515"/>
                    <a:pt x="977" y="0"/>
                  </a:cubicBezTo>
                </a:path>
              </a:pathLst>
            </a:custGeom>
            <a:noFill/>
            <a:ln w="635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210" name="Text Box 193"/>
            <p:cNvSpPr txBox="1">
              <a:spLocks noChangeArrowheads="1"/>
            </p:cNvSpPr>
            <p:nvPr/>
          </p:nvSpPr>
          <p:spPr bwMode="auto">
            <a:xfrm>
              <a:off x="2863" y="3282"/>
              <a:ext cx="626" cy="288"/>
            </a:xfrm>
            <a:prstGeom prst="rect">
              <a:avLst/>
            </a:prstGeom>
            <a:solidFill>
              <a:schemeClr val="accent1">
                <a:alpha val="30196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i="1"/>
                <a:t>a</a:t>
              </a:r>
              <a:r>
                <a:rPr lang="en-US" altLang="en-US" sz="2400"/>
                <a:t> &lt; 0</a:t>
              </a:r>
              <a:endParaRPr lang="en-US" altLang="en-US" sz="2400" i="1"/>
            </a:p>
          </p:txBody>
        </p:sp>
      </p:grpSp>
      <p:sp>
        <p:nvSpPr>
          <p:cNvPr id="201" name="Rectangle 200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2" name="Object 2"/>
          <p:cNvGraphicFramePr>
            <a:graphicFrameLocks noChangeAspect="1"/>
          </p:cNvGraphicFramePr>
          <p:nvPr/>
        </p:nvGraphicFramePr>
        <p:xfrm>
          <a:off x="787400" y="5256213"/>
          <a:ext cx="2166938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3" name="Equation" r:id="rId4" imgW="330200" imgH="165100" progId="Equation.3">
                  <p:embed/>
                </p:oleObj>
              </mc:Choice>
              <mc:Fallback>
                <p:oleObj name="Equation" r:id="rId4" imgW="330200" imgH="165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5256213"/>
                        <a:ext cx="2166938" cy="10842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0" grpId="1" animBg="1"/>
      <p:bldP spid="5327" grpId="0" animBg="1"/>
      <p:bldP spid="5328" grpId="0" animBg="1"/>
      <p:bldP spid="5324" grpId="0" animBg="1"/>
      <p:bldP spid="5325" grpId="0" animBg="1"/>
      <p:bldP spid="15366" grpId="0"/>
      <p:bldP spid="5320" grpId="0" autoUpdateAnimBg="0"/>
      <p:bldP spid="530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03"/>
          <p:cNvGrpSpPr>
            <a:grpSpLocks/>
          </p:cNvGrpSpPr>
          <p:nvPr/>
        </p:nvGrpSpPr>
        <p:grpSpPr bwMode="auto">
          <a:xfrm>
            <a:off x="3860800" y="1487488"/>
            <a:ext cx="5241925" cy="4648200"/>
            <a:chOff x="2458" y="937"/>
            <a:chExt cx="3302" cy="2928"/>
          </a:xfrm>
        </p:grpSpPr>
        <p:grpSp>
          <p:nvGrpSpPr>
            <p:cNvPr id="10259" name="Group 3"/>
            <p:cNvGrpSpPr>
              <a:grpSpLocks/>
            </p:cNvGrpSpPr>
            <p:nvPr/>
          </p:nvGrpSpPr>
          <p:grpSpPr bwMode="auto">
            <a:xfrm>
              <a:off x="2458" y="937"/>
              <a:ext cx="3302" cy="2928"/>
              <a:chOff x="2640" y="937"/>
              <a:chExt cx="3302" cy="2928"/>
            </a:xfrm>
          </p:grpSpPr>
          <p:sp>
            <p:nvSpPr>
              <p:cNvPr id="10261" name="Rectangle 4"/>
              <p:cNvSpPr>
                <a:spLocks noChangeArrowheads="1"/>
              </p:cNvSpPr>
              <p:nvPr/>
            </p:nvSpPr>
            <p:spPr bwMode="auto">
              <a:xfrm>
                <a:off x="5324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2" name="Rectangle 5"/>
              <p:cNvSpPr>
                <a:spLocks noChangeArrowheads="1"/>
              </p:cNvSpPr>
              <p:nvPr/>
            </p:nvSpPr>
            <p:spPr bwMode="auto">
              <a:xfrm>
                <a:off x="5080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3" name="Rectangle 6"/>
              <p:cNvSpPr>
                <a:spLocks noChangeArrowheads="1"/>
              </p:cNvSpPr>
              <p:nvPr/>
            </p:nvSpPr>
            <p:spPr bwMode="auto">
              <a:xfrm>
                <a:off x="4836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4" name="Rectangle 7"/>
              <p:cNvSpPr>
                <a:spLocks noChangeArrowheads="1"/>
              </p:cNvSpPr>
              <p:nvPr/>
            </p:nvSpPr>
            <p:spPr bwMode="auto">
              <a:xfrm>
                <a:off x="4592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5" name="Rectangle 8"/>
              <p:cNvSpPr>
                <a:spLocks noChangeArrowheads="1"/>
              </p:cNvSpPr>
              <p:nvPr/>
            </p:nvSpPr>
            <p:spPr bwMode="auto">
              <a:xfrm>
                <a:off x="4348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6" name="Rectangle 9"/>
              <p:cNvSpPr>
                <a:spLocks noChangeArrowheads="1"/>
              </p:cNvSpPr>
              <p:nvPr/>
            </p:nvSpPr>
            <p:spPr bwMode="auto">
              <a:xfrm>
                <a:off x="4104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7" name="Rectangle 10"/>
              <p:cNvSpPr>
                <a:spLocks noChangeArrowheads="1"/>
              </p:cNvSpPr>
              <p:nvPr/>
            </p:nvSpPr>
            <p:spPr bwMode="auto">
              <a:xfrm>
                <a:off x="3860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8" name="Rectangle 11"/>
              <p:cNvSpPr>
                <a:spLocks noChangeArrowheads="1"/>
              </p:cNvSpPr>
              <p:nvPr/>
            </p:nvSpPr>
            <p:spPr bwMode="auto">
              <a:xfrm>
                <a:off x="3616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69" name="Rectangle 12"/>
              <p:cNvSpPr>
                <a:spLocks noChangeArrowheads="1"/>
              </p:cNvSpPr>
              <p:nvPr/>
            </p:nvSpPr>
            <p:spPr bwMode="auto">
              <a:xfrm>
                <a:off x="3372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0" name="Rectangle 13"/>
              <p:cNvSpPr>
                <a:spLocks noChangeArrowheads="1"/>
              </p:cNvSpPr>
              <p:nvPr/>
            </p:nvSpPr>
            <p:spPr bwMode="auto">
              <a:xfrm>
                <a:off x="3128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1" name="Rectangle 14"/>
              <p:cNvSpPr>
                <a:spLocks noChangeArrowheads="1"/>
              </p:cNvSpPr>
              <p:nvPr/>
            </p:nvSpPr>
            <p:spPr bwMode="auto">
              <a:xfrm>
                <a:off x="2884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2" name="Rectangle 15"/>
              <p:cNvSpPr>
                <a:spLocks noChangeArrowheads="1"/>
              </p:cNvSpPr>
              <p:nvPr/>
            </p:nvSpPr>
            <p:spPr bwMode="auto">
              <a:xfrm>
                <a:off x="2640" y="3641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3" name="Rectangle 16"/>
              <p:cNvSpPr>
                <a:spLocks noChangeArrowheads="1"/>
              </p:cNvSpPr>
              <p:nvPr/>
            </p:nvSpPr>
            <p:spPr bwMode="auto">
              <a:xfrm>
                <a:off x="5324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4" name="Rectangle 17"/>
              <p:cNvSpPr>
                <a:spLocks noChangeArrowheads="1"/>
              </p:cNvSpPr>
              <p:nvPr/>
            </p:nvSpPr>
            <p:spPr bwMode="auto">
              <a:xfrm>
                <a:off x="5080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5" name="Rectangle 18"/>
              <p:cNvSpPr>
                <a:spLocks noChangeArrowheads="1"/>
              </p:cNvSpPr>
              <p:nvPr/>
            </p:nvSpPr>
            <p:spPr bwMode="auto">
              <a:xfrm>
                <a:off x="4836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6" name="Rectangle 19"/>
              <p:cNvSpPr>
                <a:spLocks noChangeArrowheads="1"/>
              </p:cNvSpPr>
              <p:nvPr/>
            </p:nvSpPr>
            <p:spPr bwMode="auto">
              <a:xfrm>
                <a:off x="4592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7" name="Rectangle 20"/>
              <p:cNvSpPr>
                <a:spLocks noChangeArrowheads="1"/>
              </p:cNvSpPr>
              <p:nvPr/>
            </p:nvSpPr>
            <p:spPr bwMode="auto">
              <a:xfrm>
                <a:off x="4348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8" name="Rectangle 21"/>
              <p:cNvSpPr>
                <a:spLocks noChangeArrowheads="1"/>
              </p:cNvSpPr>
              <p:nvPr/>
            </p:nvSpPr>
            <p:spPr bwMode="auto">
              <a:xfrm>
                <a:off x="4104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79" name="Rectangle 22"/>
              <p:cNvSpPr>
                <a:spLocks noChangeArrowheads="1"/>
              </p:cNvSpPr>
              <p:nvPr/>
            </p:nvSpPr>
            <p:spPr bwMode="auto">
              <a:xfrm>
                <a:off x="3860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0" name="Rectangle 23"/>
              <p:cNvSpPr>
                <a:spLocks noChangeArrowheads="1"/>
              </p:cNvSpPr>
              <p:nvPr/>
            </p:nvSpPr>
            <p:spPr bwMode="auto">
              <a:xfrm>
                <a:off x="3616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1" name="Rectangle 24"/>
              <p:cNvSpPr>
                <a:spLocks noChangeArrowheads="1"/>
              </p:cNvSpPr>
              <p:nvPr/>
            </p:nvSpPr>
            <p:spPr bwMode="auto">
              <a:xfrm>
                <a:off x="3372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2" name="Rectangle 25"/>
              <p:cNvSpPr>
                <a:spLocks noChangeArrowheads="1"/>
              </p:cNvSpPr>
              <p:nvPr/>
            </p:nvSpPr>
            <p:spPr bwMode="auto">
              <a:xfrm>
                <a:off x="3128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3" name="Rectangle 26"/>
              <p:cNvSpPr>
                <a:spLocks noChangeArrowheads="1"/>
              </p:cNvSpPr>
              <p:nvPr/>
            </p:nvSpPr>
            <p:spPr bwMode="auto">
              <a:xfrm>
                <a:off x="2884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4" name="Rectangle 27"/>
              <p:cNvSpPr>
                <a:spLocks noChangeArrowheads="1"/>
              </p:cNvSpPr>
              <p:nvPr/>
            </p:nvSpPr>
            <p:spPr bwMode="auto">
              <a:xfrm>
                <a:off x="2640" y="3417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5" name="Rectangle 28"/>
              <p:cNvSpPr>
                <a:spLocks noChangeArrowheads="1"/>
              </p:cNvSpPr>
              <p:nvPr/>
            </p:nvSpPr>
            <p:spPr bwMode="auto">
              <a:xfrm>
                <a:off x="5324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6" name="Rectangle 29"/>
              <p:cNvSpPr>
                <a:spLocks noChangeArrowheads="1"/>
              </p:cNvSpPr>
              <p:nvPr/>
            </p:nvSpPr>
            <p:spPr bwMode="auto">
              <a:xfrm>
                <a:off x="5080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7" name="Rectangle 30"/>
              <p:cNvSpPr>
                <a:spLocks noChangeArrowheads="1"/>
              </p:cNvSpPr>
              <p:nvPr/>
            </p:nvSpPr>
            <p:spPr bwMode="auto">
              <a:xfrm>
                <a:off x="4836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8" name="Rectangle 31"/>
              <p:cNvSpPr>
                <a:spLocks noChangeArrowheads="1"/>
              </p:cNvSpPr>
              <p:nvPr/>
            </p:nvSpPr>
            <p:spPr bwMode="auto">
              <a:xfrm>
                <a:off x="4592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89" name="Rectangle 32"/>
              <p:cNvSpPr>
                <a:spLocks noChangeArrowheads="1"/>
              </p:cNvSpPr>
              <p:nvPr/>
            </p:nvSpPr>
            <p:spPr bwMode="auto">
              <a:xfrm>
                <a:off x="4348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0" name="Rectangle 33"/>
              <p:cNvSpPr>
                <a:spLocks noChangeArrowheads="1"/>
              </p:cNvSpPr>
              <p:nvPr/>
            </p:nvSpPr>
            <p:spPr bwMode="auto">
              <a:xfrm>
                <a:off x="4104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1" name="Rectangle 34"/>
              <p:cNvSpPr>
                <a:spLocks noChangeArrowheads="1"/>
              </p:cNvSpPr>
              <p:nvPr/>
            </p:nvSpPr>
            <p:spPr bwMode="auto">
              <a:xfrm>
                <a:off x="3860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2" name="Rectangle 35"/>
              <p:cNvSpPr>
                <a:spLocks noChangeArrowheads="1"/>
              </p:cNvSpPr>
              <p:nvPr/>
            </p:nvSpPr>
            <p:spPr bwMode="auto">
              <a:xfrm>
                <a:off x="3616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3" name="Rectangle 36"/>
              <p:cNvSpPr>
                <a:spLocks noChangeArrowheads="1"/>
              </p:cNvSpPr>
              <p:nvPr/>
            </p:nvSpPr>
            <p:spPr bwMode="auto">
              <a:xfrm>
                <a:off x="3372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4" name="Rectangle 37"/>
              <p:cNvSpPr>
                <a:spLocks noChangeArrowheads="1"/>
              </p:cNvSpPr>
              <p:nvPr/>
            </p:nvSpPr>
            <p:spPr bwMode="auto">
              <a:xfrm>
                <a:off x="3128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5" name="Rectangle 38"/>
              <p:cNvSpPr>
                <a:spLocks noChangeArrowheads="1"/>
              </p:cNvSpPr>
              <p:nvPr/>
            </p:nvSpPr>
            <p:spPr bwMode="auto">
              <a:xfrm>
                <a:off x="2884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6" name="Rectangle 39"/>
              <p:cNvSpPr>
                <a:spLocks noChangeArrowheads="1"/>
              </p:cNvSpPr>
              <p:nvPr/>
            </p:nvSpPr>
            <p:spPr bwMode="auto">
              <a:xfrm>
                <a:off x="2640" y="3193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7" name="Rectangle 40"/>
              <p:cNvSpPr>
                <a:spLocks noChangeArrowheads="1"/>
              </p:cNvSpPr>
              <p:nvPr/>
            </p:nvSpPr>
            <p:spPr bwMode="auto">
              <a:xfrm>
                <a:off x="5324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8" name="Rectangle 41"/>
              <p:cNvSpPr>
                <a:spLocks noChangeArrowheads="1"/>
              </p:cNvSpPr>
              <p:nvPr/>
            </p:nvSpPr>
            <p:spPr bwMode="auto">
              <a:xfrm>
                <a:off x="5080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299" name="Rectangle 42"/>
              <p:cNvSpPr>
                <a:spLocks noChangeArrowheads="1"/>
              </p:cNvSpPr>
              <p:nvPr/>
            </p:nvSpPr>
            <p:spPr bwMode="auto">
              <a:xfrm>
                <a:off x="4836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0" name="Rectangle 43"/>
              <p:cNvSpPr>
                <a:spLocks noChangeArrowheads="1"/>
              </p:cNvSpPr>
              <p:nvPr/>
            </p:nvSpPr>
            <p:spPr bwMode="auto">
              <a:xfrm>
                <a:off x="4592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1" name="Rectangle 44"/>
              <p:cNvSpPr>
                <a:spLocks noChangeArrowheads="1"/>
              </p:cNvSpPr>
              <p:nvPr/>
            </p:nvSpPr>
            <p:spPr bwMode="auto">
              <a:xfrm>
                <a:off x="4348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2" name="Rectangle 45"/>
              <p:cNvSpPr>
                <a:spLocks noChangeArrowheads="1"/>
              </p:cNvSpPr>
              <p:nvPr/>
            </p:nvSpPr>
            <p:spPr bwMode="auto">
              <a:xfrm>
                <a:off x="4104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3" name="Rectangle 46"/>
              <p:cNvSpPr>
                <a:spLocks noChangeArrowheads="1"/>
              </p:cNvSpPr>
              <p:nvPr/>
            </p:nvSpPr>
            <p:spPr bwMode="auto">
              <a:xfrm>
                <a:off x="3860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4" name="Rectangle 47"/>
              <p:cNvSpPr>
                <a:spLocks noChangeArrowheads="1"/>
              </p:cNvSpPr>
              <p:nvPr/>
            </p:nvSpPr>
            <p:spPr bwMode="auto">
              <a:xfrm>
                <a:off x="3616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5" name="Rectangle 48"/>
              <p:cNvSpPr>
                <a:spLocks noChangeArrowheads="1"/>
              </p:cNvSpPr>
              <p:nvPr/>
            </p:nvSpPr>
            <p:spPr bwMode="auto">
              <a:xfrm>
                <a:off x="3372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6" name="Rectangle 49"/>
              <p:cNvSpPr>
                <a:spLocks noChangeArrowheads="1"/>
              </p:cNvSpPr>
              <p:nvPr/>
            </p:nvSpPr>
            <p:spPr bwMode="auto">
              <a:xfrm>
                <a:off x="3128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7" name="Rectangle 50"/>
              <p:cNvSpPr>
                <a:spLocks noChangeArrowheads="1"/>
              </p:cNvSpPr>
              <p:nvPr/>
            </p:nvSpPr>
            <p:spPr bwMode="auto">
              <a:xfrm>
                <a:off x="2884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8" name="Rectangle 51"/>
              <p:cNvSpPr>
                <a:spLocks noChangeArrowheads="1"/>
              </p:cNvSpPr>
              <p:nvPr/>
            </p:nvSpPr>
            <p:spPr bwMode="auto">
              <a:xfrm>
                <a:off x="2640" y="2969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09" name="Rectangle 52"/>
              <p:cNvSpPr>
                <a:spLocks noChangeArrowheads="1"/>
              </p:cNvSpPr>
              <p:nvPr/>
            </p:nvSpPr>
            <p:spPr bwMode="auto">
              <a:xfrm>
                <a:off x="5324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0" name="Rectangle 53"/>
              <p:cNvSpPr>
                <a:spLocks noChangeArrowheads="1"/>
              </p:cNvSpPr>
              <p:nvPr/>
            </p:nvSpPr>
            <p:spPr bwMode="auto">
              <a:xfrm>
                <a:off x="5080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1" name="Rectangle 54"/>
              <p:cNvSpPr>
                <a:spLocks noChangeArrowheads="1"/>
              </p:cNvSpPr>
              <p:nvPr/>
            </p:nvSpPr>
            <p:spPr bwMode="auto">
              <a:xfrm>
                <a:off x="4836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2" name="Rectangle 55"/>
              <p:cNvSpPr>
                <a:spLocks noChangeArrowheads="1"/>
              </p:cNvSpPr>
              <p:nvPr/>
            </p:nvSpPr>
            <p:spPr bwMode="auto">
              <a:xfrm>
                <a:off x="4592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3" name="Rectangle 56"/>
              <p:cNvSpPr>
                <a:spLocks noChangeArrowheads="1"/>
              </p:cNvSpPr>
              <p:nvPr/>
            </p:nvSpPr>
            <p:spPr bwMode="auto">
              <a:xfrm>
                <a:off x="4348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4" name="Rectangle 57"/>
              <p:cNvSpPr>
                <a:spLocks noChangeArrowheads="1"/>
              </p:cNvSpPr>
              <p:nvPr/>
            </p:nvSpPr>
            <p:spPr bwMode="auto">
              <a:xfrm>
                <a:off x="4104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5" name="Rectangle 58"/>
              <p:cNvSpPr>
                <a:spLocks noChangeArrowheads="1"/>
              </p:cNvSpPr>
              <p:nvPr/>
            </p:nvSpPr>
            <p:spPr bwMode="auto">
              <a:xfrm>
                <a:off x="3860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6" name="Rectangle 59"/>
              <p:cNvSpPr>
                <a:spLocks noChangeArrowheads="1"/>
              </p:cNvSpPr>
              <p:nvPr/>
            </p:nvSpPr>
            <p:spPr bwMode="auto">
              <a:xfrm>
                <a:off x="3616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7" name="Rectangle 60"/>
              <p:cNvSpPr>
                <a:spLocks noChangeArrowheads="1"/>
              </p:cNvSpPr>
              <p:nvPr/>
            </p:nvSpPr>
            <p:spPr bwMode="auto">
              <a:xfrm>
                <a:off x="3372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8" name="Rectangle 61"/>
              <p:cNvSpPr>
                <a:spLocks noChangeArrowheads="1"/>
              </p:cNvSpPr>
              <p:nvPr/>
            </p:nvSpPr>
            <p:spPr bwMode="auto">
              <a:xfrm>
                <a:off x="3128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19" name="Rectangle 62"/>
              <p:cNvSpPr>
                <a:spLocks noChangeArrowheads="1"/>
              </p:cNvSpPr>
              <p:nvPr/>
            </p:nvSpPr>
            <p:spPr bwMode="auto">
              <a:xfrm>
                <a:off x="2884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0" name="Rectangle 63"/>
              <p:cNvSpPr>
                <a:spLocks noChangeArrowheads="1"/>
              </p:cNvSpPr>
              <p:nvPr/>
            </p:nvSpPr>
            <p:spPr bwMode="auto">
              <a:xfrm>
                <a:off x="2640" y="2745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1" name="Rectangle 64"/>
              <p:cNvSpPr>
                <a:spLocks noChangeArrowheads="1"/>
              </p:cNvSpPr>
              <p:nvPr/>
            </p:nvSpPr>
            <p:spPr bwMode="auto">
              <a:xfrm>
                <a:off x="5324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2" name="Rectangle 65"/>
              <p:cNvSpPr>
                <a:spLocks noChangeArrowheads="1"/>
              </p:cNvSpPr>
              <p:nvPr/>
            </p:nvSpPr>
            <p:spPr bwMode="auto">
              <a:xfrm>
                <a:off x="5080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3" name="Rectangle 66"/>
              <p:cNvSpPr>
                <a:spLocks noChangeArrowheads="1"/>
              </p:cNvSpPr>
              <p:nvPr/>
            </p:nvSpPr>
            <p:spPr bwMode="auto">
              <a:xfrm>
                <a:off x="4836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4" name="Rectangle 67"/>
              <p:cNvSpPr>
                <a:spLocks noChangeArrowheads="1"/>
              </p:cNvSpPr>
              <p:nvPr/>
            </p:nvSpPr>
            <p:spPr bwMode="auto">
              <a:xfrm>
                <a:off x="4592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5" name="Rectangle 68"/>
              <p:cNvSpPr>
                <a:spLocks noChangeArrowheads="1"/>
              </p:cNvSpPr>
              <p:nvPr/>
            </p:nvSpPr>
            <p:spPr bwMode="auto">
              <a:xfrm>
                <a:off x="4348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6" name="Rectangle 69"/>
              <p:cNvSpPr>
                <a:spLocks noChangeArrowheads="1"/>
              </p:cNvSpPr>
              <p:nvPr/>
            </p:nvSpPr>
            <p:spPr bwMode="auto">
              <a:xfrm>
                <a:off x="4104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7" name="Rectangle 70"/>
              <p:cNvSpPr>
                <a:spLocks noChangeArrowheads="1"/>
              </p:cNvSpPr>
              <p:nvPr/>
            </p:nvSpPr>
            <p:spPr bwMode="auto">
              <a:xfrm>
                <a:off x="3860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8" name="Rectangle 71"/>
              <p:cNvSpPr>
                <a:spLocks noChangeArrowheads="1"/>
              </p:cNvSpPr>
              <p:nvPr/>
            </p:nvSpPr>
            <p:spPr bwMode="auto">
              <a:xfrm>
                <a:off x="3616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29" name="Rectangle 72"/>
              <p:cNvSpPr>
                <a:spLocks noChangeArrowheads="1"/>
              </p:cNvSpPr>
              <p:nvPr/>
            </p:nvSpPr>
            <p:spPr bwMode="auto">
              <a:xfrm>
                <a:off x="3372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0" name="Rectangle 73"/>
              <p:cNvSpPr>
                <a:spLocks noChangeArrowheads="1"/>
              </p:cNvSpPr>
              <p:nvPr/>
            </p:nvSpPr>
            <p:spPr bwMode="auto">
              <a:xfrm>
                <a:off x="3128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1" name="Rectangle 74"/>
              <p:cNvSpPr>
                <a:spLocks noChangeArrowheads="1"/>
              </p:cNvSpPr>
              <p:nvPr/>
            </p:nvSpPr>
            <p:spPr bwMode="auto">
              <a:xfrm>
                <a:off x="2884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2" name="Rectangle 75"/>
              <p:cNvSpPr>
                <a:spLocks noChangeArrowheads="1"/>
              </p:cNvSpPr>
              <p:nvPr/>
            </p:nvSpPr>
            <p:spPr bwMode="auto">
              <a:xfrm>
                <a:off x="2640" y="2544"/>
                <a:ext cx="244" cy="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3" name="Rectangle 76"/>
              <p:cNvSpPr>
                <a:spLocks noChangeArrowheads="1"/>
              </p:cNvSpPr>
              <p:nvPr/>
            </p:nvSpPr>
            <p:spPr bwMode="auto">
              <a:xfrm>
                <a:off x="5324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4" name="Rectangle 77"/>
              <p:cNvSpPr>
                <a:spLocks noChangeArrowheads="1"/>
              </p:cNvSpPr>
              <p:nvPr/>
            </p:nvSpPr>
            <p:spPr bwMode="auto">
              <a:xfrm>
                <a:off x="5080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5" name="Rectangle 78"/>
              <p:cNvSpPr>
                <a:spLocks noChangeArrowheads="1"/>
              </p:cNvSpPr>
              <p:nvPr/>
            </p:nvSpPr>
            <p:spPr bwMode="auto">
              <a:xfrm>
                <a:off x="4836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6" name="Rectangle 79"/>
              <p:cNvSpPr>
                <a:spLocks noChangeArrowheads="1"/>
              </p:cNvSpPr>
              <p:nvPr/>
            </p:nvSpPr>
            <p:spPr bwMode="auto">
              <a:xfrm>
                <a:off x="4592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7" name="Rectangle 80"/>
              <p:cNvSpPr>
                <a:spLocks noChangeArrowheads="1"/>
              </p:cNvSpPr>
              <p:nvPr/>
            </p:nvSpPr>
            <p:spPr bwMode="auto">
              <a:xfrm>
                <a:off x="4348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8" name="Rectangle 81"/>
              <p:cNvSpPr>
                <a:spLocks noChangeArrowheads="1"/>
              </p:cNvSpPr>
              <p:nvPr/>
            </p:nvSpPr>
            <p:spPr bwMode="auto">
              <a:xfrm>
                <a:off x="4104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39" name="Rectangle 82"/>
              <p:cNvSpPr>
                <a:spLocks noChangeArrowheads="1"/>
              </p:cNvSpPr>
              <p:nvPr/>
            </p:nvSpPr>
            <p:spPr bwMode="auto">
              <a:xfrm>
                <a:off x="3860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0" name="Rectangle 83"/>
              <p:cNvSpPr>
                <a:spLocks noChangeArrowheads="1"/>
              </p:cNvSpPr>
              <p:nvPr/>
            </p:nvSpPr>
            <p:spPr bwMode="auto">
              <a:xfrm>
                <a:off x="3616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1" name="Rectangle 84"/>
              <p:cNvSpPr>
                <a:spLocks noChangeArrowheads="1"/>
              </p:cNvSpPr>
              <p:nvPr/>
            </p:nvSpPr>
            <p:spPr bwMode="auto">
              <a:xfrm>
                <a:off x="3372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2" name="Rectangle 85"/>
              <p:cNvSpPr>
                <a:spLocks noChangeArrowheads="1"/>
              </p:cNvSpPr>
              <p:nvPr/>
            </p:nvSpPr>
            <p:spPr bwMode="auto">
              <a:xfrm>
                <a:off x="3128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3" name="Rectangle 86"/>
              <p:cNvSpPr>
                <a:spLocks noChangeArrowheads="1"/>
              </p:cNvSpPr>
              <p:nvPr/>
            </p:nvSpPr>
            <p:spPr bwMode="auto">
              <a:xfrm>
                <a:off x="2884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4" name="Rectangle 87"/>
              <p:cNvSpPr>
                <a:spLocks noChangeArrowheads="1"/>
              </p:cNvSpPr>
              <p:nvPr/>
            </p:nvSpPr>
            <p:spPr bwMode="auto">
              <a:xfrm>
                <a:off x="2640" y="232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5" name="Rectangle 88"/>
              <p:cNvSpPr>
                <a:spLocks noChangeArrowheads="1"/>
              </p:cNvSpPr>
              <p:nvPr/>
            </p:nvSpPr>
            <p:spPr bwMode="auto">
              <a:xfrm>
                <a:off x="5324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6" name="Rectangle 89"/>
              <p:cNvSpPr>
                <a:spLocks noChangeArrowheads="1"/>
              </p:cNvSpPr>
              <p:nvPr/>
            </p:nvSpPr>
            <p:spPr bwMode="auto">
              <a:xfrm>
                <a:off x="5080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7" name="Rectangle 90"/>
              <p:cNvSpPr>
                <a:spLocks noChangeArrowheads="1"/>
              </p:cNvSpPr>
              <p:nvPr/>
            </p:nvSpPr>
            <p:spPr bwMode="auto">
              <a:xfrm>
                <a:off x="4836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8" name="Rectangle 91"/>
              <p:cNvSpPr>
                <a:spLocks noChangeArrowheads="1"/>
              </p:cNvSpPr>
              <p:nvPr/>
            </p:nvSpPr>
            <p:spPr bwMode="auto">
              <a:xfrm>
                <a:off x="4592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49" name="Rectangle 92"/>
              <p:cNvSpPr>
                <a:spLocks noChangeArrowheads="1"/>
              </p:cNvSpPr>
              <p:nvPr/>
            </p:nvSpPr>
            <p:spPr bwMode="auto">
              <a:xfrm>
                <a:off x="4348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0" name="Rectangle 93"/>
              <p:cNvSpPr>
                <a:spLocks noChangeArrowheads="1"/>
              </p:cNvSpPr>
              <p:nvPr/>
            </p:nvSpPr>
            <p:spPr bwMode="auto">
              <a:xfrm>
                <a:off x="4104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1" name="Rectangle 94"/>
              <p:cNvSpPr>
                <a:spLocks noChangeArrowheads="1"/>
              </p:cNvSpPr>
              <p:nvPr/>
            </p:nvSpPr>
            <p:spPr bwMode="auto">
              <a:xfrm>
                <a:off x="3860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2" name="Rectangle 95"/>
              <p:cNvSpPr>
                <a:spLocks noChangeArrowheads="1"/>
              </p:cNvSpPr>
              <p:nvPr/>
            </p:nvSpPr>
            <p:spPr bwMode="auto">
              <a:xfrm>
                <a:off x="3616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3" name="Rectangle 96"/>
              <p:cNvSpPr>
                <a:spLocks noChangeArrowheads="1"/>
              </p:cNvSpPr>
              <p:nvPr/>
            </p:nvSpPr>
            <p:spPr bwMode="auto">
              <a:xfrm>
                <a:off x="3372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4" name="Rectangle 97"/>
              <p:cNvSpPr>
                <a:spLocks noChangeArrowheads="1"/>
              </p:cNvSpPr>
              <p:nvPr/>
            </p:nvSpPr>
            <p:spPr bwMode="auto">
              <a:xfrm>
                <a:off x="3128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5" name="Rectangle 98"/>
              <p:cNvSpPr>
                <a:spLocks noChangeArrowheads="1"/>
              </p:cNvSpPr>
              <p:nvPr/>
            </p:nvSpPr>
            <p:spPr bwMode="auto">
              <a:xfrm>
                <a:off x="2884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6" name="Rectangle 99"/>
              <p:cNvSpPr>
                <a:spLocks noChangeArrowheads="1"/>
              </p:cNvSpPr>
              <p:nvPr/>
            </p:nvSpPr>
            <p:spPr bwMode="auto">
              <a:xfrm>
                <a:off x="2640" y="2096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7" name="Rectangle 100"/>
              <p:cNvSpPr>
                <a:spLocks noChangeArrowheads="1"/>
              </p:cNvSpPr>
              <p:nvPr/>
            </p:nvSpPr>
            <p:spPr bwMode="auto">
              <a:xfrm>
                <a:off x="5324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8" name="Rectangle 101"/>
              <p:cNvSpPr>
                <a:spLocks noChangeArrowheads="1"/>
              </p:cNvSpPr>
              <p:nvPr/>
            </p:nvSpPr>
            <p:spPr bwMode="auto">
              <a:xfrm>
                <a:off x="5080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59" name="Rectangle 102"/>
              <p:cNvSpPr>
                <a:spLocks noChangeArrowheads="1"/>
              </p:cNvSpPr>
              <p:nvPr/>
            </p:nvSpPr>
            <p:spPr bwMode="auto">
              <a:xfrm>
                <a:off x="4836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0" name="Rectangle 103"/>
              <p:cNvSpPr>
                <a:spLocks noChangeArrowheads="1"/>
              </p:cNvSpPr>
              <p:nvPr/>
            </p:nvSpPr>
            <p:spPr bwMode="auto">
              <a:xfrm>
                <a:off x="4592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1" name="Rectangle 104"/>
              <p:cNvSpPr>
                <a:spLocks noChangeArrowheads="1"/>
              </p:cNvSpPr>
              <p:nvPr/>
            </p:nvSpPr>
            <p:spPr bwMode="auto">
              <a:xfrm>
                <a:off x="4348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2" name="Rectangle 105"/>
              <p:cNvSpPr>
                <a:spLocks noChangeArrowheads="1"/>
              </p:cNvSpPr>
              <p:nvPr/>
            </p:nvSpPr>
            <p:spPr bwMode="auto">
              <a:xfrm>
                <a:off x="4104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3" name="Rectangle 106"/>
              <p:cNvSpPr>
                <a:spLocks noChangeArrowheads="1"/>
              </p:cNvSpPr>
              <p:nvPr/>
            </p:nvSpPr>
            <p:spPr bwMode="auto">
              <a:xfrm>
                <a:off x="3860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4" name="Rectangle 107"/>
              <p:cNvSpPr>
                <a:spLocks noChangeArrowheads="1"/>
              </p:cNvSpPr>
              <p:nvPr/>
            </p:nvSpPr>
            <p:spPr bwMode="auto">
              <a:xfrm>
                <a:off x="3616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5" name="Rectangle 108"/>
              <p:cNvSpPr>
                <a:spLocks noChangeArrowheads="1"/>
              </p:cNvSpPr>
              <p:nvPr/>
            </p:nvSpPr>
            <p:spPr bwMode="auto">
              <a:xfrm>
                <a:off x="3372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6" name="Rectangle 109"/>
              <p:cNvSpPr>
                <a:spLocks noChangeArrowheads="1"/>
              </p:cNvSpPr>
              <p:nvPr/>
            </p:nvSpPr>
            <p:spPr bwMode="auto">
              <a:xfrm>
                <a:off x="3128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7" name="Rectangle 110"/>
              <p:cNvSpPr>
                <a:spLocks noChangeArrowheads="1"/>
              </p:cNvSpPr>
              <p:nvPr/>
            </p:nvSpPr>
            <p:spPr bwMode="auto">
              <a:xfrm>
                <a:off x="2884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8" name="Rectangle 111"/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69" name="Rectangle 112"/>
              <p:cNvSpPr>
                <a:spLocks noChangeArrowheads="1"/>
              </p:cNvSpPr>
              <p:nvPr/>
            </p:nvSpPr>
            <p:spPr bwMode="auto">
              <a:xfrm>
                <a:off x="5324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0" name="Rectangle 113"/>
              <p:cNvSpPr>
                <a:spLocks noChangeArrowheads="1"/>
              </p:cNvSpPr>
              <p:nvPr/>
            </p:nvSpPr>
            <p:spPr bwMode="auto">
              <a:xfrm>
                <a:off x="5080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1" name="Rectangle 114"/>
              <p:cNvSpPr>
                <a:spLocks noChangeArrowheads="1"/>
              </p:cNvSpPr>
              <p:nvPr/>
            </p:nvSpPr>
            <p:spPr bwMode="auto">
              <a:xfrm>
                <a:off x="4836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2" name="Rectangle 115"/>
              <p:cNvSpPr>
                <a:spLocks noChangeArrowheads="1"/>
              </p:cNvSpPr>
              <p:nvPr/>
            </p:nvSpPr>
            <p:spPr bwMode="auto">
              <a:xfrm>
                <a:off x="4592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3" name="Rectangle 116"/>
              <p:cNvSpPr>
                <a:spLocks noChangeArrowheads="1"/>
              </p:cNvSpPr>
              <p:nvPr/>
            </p:nvSpPr>
            <p:spPr bwMode="auto">
              <a:xfrm>
                <a:off x="4348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4" name="Rectangle 117"/>
              <p:cNvSpPr>
                <a:spLocks noChangeArrowheads="1"/>
              </p:cNvSpPr>
              <p:nvPr/>
            </p:nvSpPr>
            <p:spPr bwMode="auto">
              <a:xfrm>
                <a:off x="4104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5" name="Rectangle 118"/>
              <p:cNvSpPr>
                <a:spLocks noChangeArrowheads="1"/>
              </p:cNvSpPr>
              <p:nvPr/>
            </p:nvSpPr>
            <p:spPr bwMode="auto">
              <a:xfrm>
                <a:off x="3860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6" name="Rectangle 119"/>
              <p:cNvSpPr>
                <a:spLocks noChangeArrowheads="1"/>
              </p:cNvSpPr>
              <p:nvPr/>
            </p:nvSpPr>
            <p:spPr bwMode="auto">
              <a:xfrm>
                <a:off x="3616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7" name="Rectangle 120"/>
              <p:cNvSpPr>
                <a:spLocks noChangeArrowheads="1"/>
              </p:cNvSpPr>
              <p:nvPr/>
            </p:nvSpPr>
            <p:spPr bwMode="auto">
              <a:xfrm>
                <a:off x="3372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8" name="Rectangle 121"/>
              <p:cNvSpPr>
                <a:spLocks noChangeArrowheads="1"/>
              </p:cNvSpPr>
              <p:nvPr/>
            </p:nvSpPr>
            <p:spPr bwMode="auto">
              <a:xfrm>
                <a:off x="3128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79" name="Rectangle 122"/>
              <p:cNvSpPr>
                <a:spLocks noChangeArrowheads="1"/>
              </p:cNvSpPr>
              <p:nvPr/>
            </p:nvSpPr>
            <p:spPr bwMode="auto">
              <a:xfrm>
                <a:off x="2884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0" name="Rectangle 123"/>
              <p:cNvSpPr>
                <a:spLocks noChangeArrowheads="1"/>
              </p:cNvSpPr>
              <p:nvPr/>
            </p:nvSpPr>
            <p:spPr bwMode="auto">
              <a:xfrm>
                <a:off x="2640" y="1648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1" name="Rectangle 124"/>
              <p:cNvSpPr>
                <a:spLocks noChangeArrowheads="1"/>
              </p:cNvSpPr>
              <p:nvPr/>
            </p:nvSpPr>
            <p:spPr bwMode="auto">
              <a:xfrm>
                <a:off x="5324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2" name="Rectangle 125"/>
              <p:cNvSpPr>
                <a:spLocks noChangeArrowheads="1"/>
              </p:cNvSpPr>
              <p:nvPr/>
            </p:nvSpPr>
            <p:spPr bwMode="auto">
              <a:xfrm>
                <a:off x="5080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3" name="Rectangle 126"/>
              <p:cNvSpPr>
                <a:spLocks noChangeArrowheads="1"/>
              </p:cNvSpPr>
              <p:nvPr/>
            </p:nvSpPr>
            <p:spPr bwMode="auto">
              <a:xfrm>
                <a:off x="4836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4" name="Rectangle 127"/>
              <p:cNvSpPr>
                <a:spLocks noChangeArrowheads="1"/>
              </p:cNvSpPr>
              <p:nvPr/>
            </p:nvSpPr>
            <p:spPr bwMode="auto">
              <a:xfrm>
                <a:off x="4592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5" name="Rectangle 128"/>
              <p:cNvSpPr>
                <a:spLocks noChangeArrowheads="1"/>
              </p:cNvSpPr>
              <p:nvPr/>
            </p:nvSpPr>
            <p:spPr bwMode="auto">
              <a:xfrm>
                <a:off x="4348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6" name="Rectangle 129"/>
              <p:cNvSpPr>
                <a:spLocks noChangeArrowheads="1"/>
              </p:cNvSpPr>
              <p:nvPr/>
            </p:nvSpPr>
            <p:spPr bwMode="auto">
              <a:xfrm>
                <a:off x="4104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7" name="Rectangle 130"/>
              <p:cNvSpPr>
                <a:spLocks noChangeArrowheads="1"/>
              </p:cNvSpPr>
              <p:nvPr/>
            </p:nvSpPr>
            <p:spPr bwMode="auto">
              <a:xfrm>
                <a:off x="3860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8" name="Rectangle 131"/>
              <p:cNvSpPr>
                <a:spLocks noChangeArrowheads="1"/>
              </p:cNvSpPr>
              <p:nvPr/>
            </p:nvSpPr>
            <p:spPr bwMode="auto">
              <a:xfrm>
                <a:off x="3616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89" name="Rectangle 132"/>
              <p:cNvSpPr>
                <a:spLocks noChangeArrowheads="1"/>
              </p:cNvSpPr>
              <p:nvPr/>
            </p:nvSpPr>
            <p:spPr bwMode="auto">
              <a:xfrm>
                <a:off x="3372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0" name="Rectangle 133"/>
              <p:cNvSpPr>
                <a:spLocks noChangeArrowheads="1"/>
              </p:cNvSpPr>
              <p:nvPr/>
            </p:nvSpPr>
            <p:spPr bwMode="auto">
              <a:xfrm>
                <a:off x="3128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1" name="Rectangle 134"/>
              <p:cNvSpPr>
                <a:spLocks noChangeArrowheads="1"/>
              </p:cNvSpPr>
              <p:nvPr/>
            </p:nvSpPr>
            <p:spPr bwMode="auto">
              <a:xfrm>
                <a:off x="2884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2" name="Rectangle 135"/>
              <p:cNvSpPr>
                <a:spLocks noChangeArrowheads="1"/>
              </p:cNvSpPr>
              <p:nvPr/>
            </p:nvSpPr>
            <p:spPr bwMode="auto">
              <a:xfrm>
                <a:off x="2640" y="1424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3" name="Rectangle 136"/>
              <p:cNvSpPr>
                <a:spLocks noChangeArrowheads="1"/>
              </p:cNvSpPr>
              <p:nvPr/>
            </p:nvSpPr>
            <p:spPr bwMode="auto">
              <a:xfrm>
                <a:off x="5324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4" name="Rectangle 137"/>
              <p:cNvSpPr>
                <a:spLocks noChangeArrowheads="1"/>
              </p:cNvSpPr>
              <p:nvPr/>
            </p:nvSpPr>
            <p:spPr bwMode="auto">
              <a:xfrm>
                <a:off x="5080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5" name="Rectangle 138"/>
              <p:cNvSpPr>
                <a:spLocks noChangeArrowheads="1"/>
              </p:cNvSpPr>
              <p:nvPr/>
            </p:nvSpPr>
            <p:spPr bwMode="auto">
              <a:xfrm>
                <a:off x="4836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6" name="Rectangle 139"/>
              <p:cNvSpPr>
                <a:spLocks noChangeArrowheads="1"/>
              </p:cNvSpPr>
              <p:nvPr/>
            </p:nvSpPr>
            <p:spPr bwMode="auto">
              <a:xfrm>
                <a:off x="4592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7" name="Rectangle 140"/>
              <p:cNvSpPr>
                <a:spLocks noChangeArrowheads="1"/>
              </p:cNvSpPr>
              <p:nvPr/>
            </p:nvSpPr>
            <p:spPr bwMode="auto">
              <a:xfrm>
                <a:off x="4348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8" name="Rectangle 141"/>
              <p:cNvSpPr>
                <a:spLocks noChangeArrowheads="1"/>
              </p:cNvSpPr>
              <p:nvPr/>
            </p:nvSpPr>
            <p:spPr bwMode="auto">
              <a:xfrm>
                <a:off x="4104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399" name="Rectangle 142"/>
              <p:cNvSpPr>
                <a:spLocks noChangeArrowheads="1"/>
              </p:cNvSpPr>
              <p:nvPr/>
            </p:nvSpPr>
            <p:spPr bwMode="auto">
              <a:xfrm>
                <a:off x="3860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0" name="Rectangle 143"/>
              <p:cNvSpPr>
                <a:spLocks noChangeArrowheads="1"/>
              </p:cNvSpPr>
              <p:nvPr/>
            </p:nvSpPr>
            <p:spPr bwMode="auto">
              <a:xfrm>
                <a:off x="3616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1" name="Rectangle 144"/>
              <p:cNvSpPr>
                <a:spLocks noChangeArrowheads="1"/>
              </p:cNvSpPr>
              <p:nvPr/>
            </p:nvSpPr>
            <p:spPr bwMode="auto">
              <a:xfrm>
                <a:off x="3372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2" name="Rectangle 145"/>
              <p:cNvSpPr>
                <a:spLocks noChangeArrowheads="1"/>
              </p:cNvSpPr>
              <p:nvPr/>
            </p:nvSpPr>
            <p:spPr bwMode="auto">
              <a:xfrm>
                <a:off x="3128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3" name="Rectangle 146"/>
              <p:cNvSpPr>
                <a:spLocks noChangeArrowheads="1"/>
              </p:cNvSpPr>
              <p:nvPr/>
            </p:nvSpPr>
            <p:spPr bwMode="auto">
              <a:xfrm>
                <a:off x="2884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4" name="Rectangle 147"/>
              <p:cNvSpPr>
                <a:spLocks noChangeArrowheads="1"/>
              </p:cNvSpPr>
              <p:nvPr/>
            </p:nvSpPr>
            <p:spPr bwMode="auto">
              <a:xfrm>
                <a:off x="2640" y="1200"/>
                <a:ext cx="2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</a:pPr>
                <a:endParaRPr lang="en-US" altLang="en-US" sz="1500"/>
              </a:p>
            </p:txBody>
          </p:sp>
          <p:sp>
            <p:nvSpPr>
              <p:cNvPr id="10405" name="Line 148"/>
              <p:cNvSpPr>
                <a:spLocks noChangeShapeType="1"/>
              </p:cNvSpPr>
              <p:nvPr/>
            </p:nvSpPr>
            <p:spPr bwMode="auto">
              <a:xfrm>
                <a:off x="2640" y="1424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06" name="Line 149"/>
              <p:cNvSpPr>
                <a:spLocks noChangeShapeType="1"/>
              </p:cNvSpPr>
              <p:nvPr/>
            </p:nvSpPr>
            <p:spPr bwMode="auto">
              <a:xfrm>
                <a:off x="2640" y="1648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07" name="Line 150"/>
              <p:cNvSpPr>
                <a:spLocks noChangeShapeType="1"/>
              </p:cNvSpPr>
              <p:nvPr/>
            </p:nvSpPr>
            <p:spPr bwMode="auto">
              <a:xfrm>
                <a:off x="2640" y="1872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08" name="Line 151"/>
              <p:cNvSpPr>
                <a:spLocks noChangeShapeType="1"/>
              </p:cNvSpPr>
              <p:nvPr/>
            </p:nvSpPr>
            <p:spPr bwMode="auto">
              <a:xfrm>
                <a:off x="2640" y="2096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09" name="Line 152"/>
              <p:cNvSpPr>
                <a:spLocks noChangeShapeType="1"/>
              </p:cNvSpPr>
              <p:nvPr/>
            </p:nvSpPr>
            <p:spPr bwMode="auto">
              <a:xfrm>
                <a:off x="2640" y="2320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0" name="Line 153"/>
              <p:cNvSpPr>
                <a:spLocks noChangeShapeType="1"/>
              </p:cNvSpPr>
              <p:nvPr/>
            </p:nvSpPr>
            <p:spPr bwMode="auto">
              <a:xfrm>
                <a:off x="2640" y="2544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1" name="Line 154"/>
              <p:cNvSpPr>
                <a:spLocks noChangeShapeType="1"/>
              </p:cNvSpPr>
              <p:nvPr/>
            </p:nvSpPr>
            <p:spPr bwMode="auto">
              <a:xfrm>
                <a:off x="2640" y="2745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2" name="Line 155"/>
              <p:cNvSpPr>
                <a:spLocks noChangeShapeType="1"/>
              </p:cNvSpPr>
              <p:nvPr/>
            </p:nvSpPr>
            <p:spPr bwMode="auto">
              <a:xfrm>
                <a:off x="2640" y="2969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3" name="Line 156"/>
              <p:cNvSpPr>
                <a:spLocks noChangeShapeType="1"/>
              </p:cNvSpPr>
              <p:nvPr/>
            </p:nvSpPr>
            <p:spPr bwMode="auto">
              <a:xfrm>
                <a:off x="2640" y="3193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4" name="Line 157"/>
              <p:cNvSpPr>
                <a:spLocks noChangeShapeType="1"/>
              </p:cNvSpPr>
              <p:nvPr/>
            </p:nvSpPr>
            <p:spPr bwMode="auto">
              <a:xfrm>
                <a:off x="2640" y="3417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5" name="Line 158"/>
              <p:cNvSpPr>
                <a:spLocks noChangeShapeType="1"/>
              </p:cNvSpPr>
              <p:nvPr/>
            </p:nvSpPr>
            <p:spPr bwMode="auto">
              <a:xfrm>
                <a:off x="2640" y="3641"/>
                <a:ext cx="2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6" name="Line 159"/>
              <p:cNvSpPr>
                <a:spLocks noChangeShapeType="1"/>
              </p:cNvSpPr>
              <p:nvPr/>
            </p:nvSpPr>
            <p:spPr bwMode="auto">
              <a:xfrm>
                <a:off x="2884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7" name="Line 160"/>
              <p:cNvSpPr>
                <a:spLocks noChangeShapeType="1"/>
              </p:cNvSpPr>
              <p:nvPr/>
            </p:nvSpPr>
            <p:spPr bwMode="auto">
              <a:xfrm>
                <a:off x="3128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8" name="Line 161"/>
              <p:cNvSpPr>
                <a:spLocks noChangeShapeType="1"/>
              </p:cNvSpPr>
              <p:nvPr/>
            </p:nvSpPr>
            <p:spPr bwMode="auto">
              <a:xfrm>
                <a:off x="3372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19" name="Line 162"/>
              <p:cNvSpPr>
                <a:spLocks noChangeShapeType="1"/>
              </p:cNvSpPr>
              <p:nvPr/>
            </p:nvSpPr>
            <p:spPr bwMode="auto">
              <a:xfrm>
                <a:off x="3616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0" name="Line 163"/>
              <p:cNvSpPr>
                <a:spLocks noChangeShapeType="1"/>
              </p:cNvSpPr>
              <p:nvPr/>
            </p:nvSpPr>
            <p:spPr bwMode="auto">
              <a:xfrm>
                <a:off x="3860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1" name="Line 164"/>
              <p:cNvSpPr>
                <a:spLocks noChangeShapeType="1"/>
              </p:cNvSpPr>
              <p:nvPr/>
            </p:nvSpPr>
            <p:spPr bwMode="auto">
              <a:xfrm>
                <a:off x="4104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2" name="Line 165"/>
              <p:cNvSpPr>
                <a:spLocks noChangeShapeType="1"/>
              </p:cNvSpPr>
              <p:nvPr/>
            </p:nvSpPr>
            <p:spPr bwMode="auto">
              <a:xfrm>
                <a:off x="4348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3" name="Line 166"/>
              <p:cNvSpPr>
                <a:spLocks noChangeShapeType="1"/>
              </p:cNvSpPr>
              <p:nvPr/>
            </p:nvSpPr>
            <p:spPr bwMode="auto">
              <a:xfrm>
                <a:off x="4592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4" name="Line 167"/>
              <p:cNvSpPr>
                <a:spLocks noChangeShapeType="1"/>
              </p:cNvSpPr>
              <p:nvPr/>
            </p:nvSpPr>
            <p:spPr bwMode="auto">
              <a:xfrm>
                <a:off x="4836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5" name="Line 168"/>
              <p:cNvSpPr>
                <a:spLocks noChangeShapeType="1"/>
              </p:cNvSpPr>
              <p:nvPr/>
            </p:nvSpPr>
            <p:spPr bwMode="auto">
              <a:xfrm>
                <a:off x="5080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6" name="Line 169"/>
              <p:cNvSpPr>
                <a:spLocks noChangeShapeType="1"/>
              </p:cNvSpPr>
              <p:nvPr/>
            </p:nvSpPr>
            <p:spPr bwMode="auto">
              <a:xfrm>
                <a:off x="5324" y="1200"/>
                <a:ext cx="0" cy="26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7" name="Line 170"/>
              <p:cNvSpPr>
                <a:spLocks noChangeShapeType="1"/>
              </p:cNvSpPr>
              <p:nvPr/>
            </p:nvSpPr>
            <p:spPr bwMode="auto">
              <a:xfrm>
                <a:off x="2640" y="2544"/>
                <a:ext cx="0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8" name="Line 171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134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29" name="Line 172"/>
              <p:cNvSpPr>
                <a:spLocks noChangeShapeType="1"/>
              </p:cNvSpPr>
              <p:nvPr/>
            </p:nvSpPr>
            <p:spPr bwMode="auto">
              <a:xfrm>
                <a:off x="2640" y="2745"/>
                <a:ext cx="0" cy="11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0" name="Line 173"/>
              <p:cNvSpPr>
                <a:spLocks noChangeShapeType="1"/>
              </p:cNvSpPr>
              <p:nvPr/>
            </p:nvSpPr>
            <p:spPr bwMode="auto">
              <a:xfrm>
                <a:off x="5568" y="2544"/>
                <a:ext cx="0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1" name="Line 174"/>
              <p:cNvSpPr>
                <a:spLocks noChangeShapeType="1"/>
              </p:cNvSpPr>
              <p:nvPr/>
            </p:nvSpPr>
            <p:spPr bwMode="auto">
              <a:xfrm>
                <a:off x="5568" y="1200"/>
                <a:ext cx="0" cy="134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2" name="Line 175"/>
              <p:cNvSpPr>
                <a:spLocks noChangeShapeType="1"/>
              </p:cNvSpPr>
              <p:nvPr/>
            </p:nvSpPr>
            <p:spPr bwMode="auto">
              <a:xfrm>
                <a:off x="5568" y="2745"/>
                <a:ext cx="0" cy="11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3" name="Line 176"/>
              <p:cNvSpPr>
                <a:spLocks noChangeShapeType="1"/>
              </p:cNvSpPr>
              <p:nvPr/>
            </p:nvSpPr>
            <p:spPr bwMode="auto">
              <a:xfrm>
                <a:off x="3860" y="1200"/>
                <a:ext cx="2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4" name="Line 177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122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5" name="Line 178"/>
              <p:cNvSpPr>
                <a:spLocks noChangeShapeType="1"/>
              </p:cNvSpPr>
              <p:nvPr/>
            </p:nvSpPr>
            <p:spPr bwMode="auto">
              <a:xfrm>
                <a:off x="4104" y="1200"/>
                <a:ext cx="146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6" name="Line 179"/>
              <p:cNvSpPr>
                <a:spLocks noChangeShapeType="1"/>
              </p:cNvSpPr>
              <p:nvPr/>
            </p:nvSpPr>
            <p:spPr bwMode="auto">
              <a:xfrm>
                <a:off x="3860" y="3865"/>
                <a:ext cx="2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7" name="Line 180"/>
              <p:cNvSpPr>
                <a:spLocks noChangeShapeType="1"/>
              </p:cNvSpPr>
              <p:nvPr/>
            </p:nvSpPr>
            <p:spPr bwMode="auto">
              <a:xfrm>
                <a:off x="2640" y="3865"/>
                <a:ext cx="122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8" name="Line 181"/>
              <p:cNvSpPr>
                <a:spLocks noChangeShapeType="1"/>
              </p:cNvSpPr>
              <p:nvPr/>
            </p:nvSpPr>
            <p:spPr bwMode="auto">
              <a:xfrm>
                <a:off x="4104" y="3865"/>
                <a:ext cx="146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39" name="Line 182"/>
              <p:cNvSpPr>
                <a:spLocks noChangeShapeType="1"/>
              </p:cNvSpPr>
              <p:nvPr/>
            </p:nvSpPr>
            <p:spPr bwMode="auto">
              <a:xfrm flipV="1">
                <a:off x="4106" y="100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40" name="Line 183"/>
              <p:cNvSpPr>
                <a:spLocks noChangeShapeType="1"/>
              </p:cNvSpPr>
              <p:nvPr/>
            </p:nvSpPr>
            <p:spPr bwMode="auto">
              <a:xfrm rot="5400000" flipV="1">
                <a:off x="5405" y="2281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41" name="Text Box 184"/>
              <p:cNvSpPr txBox="1">
                <a:spLocks noChangeArrowheads="1"/>
              </p:cNvSpPr>
              <p:nvPr/>
            </p:nvSpPr>
            <p:spPr bwMode="auto">
              <a:xfrm>
                <a:off x="4131" y="937"/>
                <a:ext cx="3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500" i="1"/>
                  <a:t>y</a:t>
                </a:r>
              </a:p>
            </p:txBody>
          </p:sp>
          <p:sp>
            <p:nvSpPr>
              <p:cNvPr id="10442" name="Text Box 185"/>
              <p:cNvSpPr txBox="1">
                <a:spLocks noChangeArrowheads="1"/>
              </p:cNvSpPr>
              <p:nvPr/>
            </p:nvSpPr>
            <p:spPr bwMode="auto">
              <a:xfrm>
                <a:off x="5579" y="2546"/>
                <a:ext cx="3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ヒラギノ角ゴ Pro W3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500" i="1"/>
                  <a:t>x</a:t>
                </a:r>
              </a:p>
            </p:txBody>
          </p:sp>
        </p:grpSp>
        <p:sp>
          <p:nvSpPr>
            <p:cNvPr id="10260" name="Freeform 191"/>
            <p:cNvSpPr>
              <a:spLocks/>
            </p:cNvSpPr>
            <p:nvPr/>
          </p:nvSpPr>
          <p:spPr bwMode="auto">
            <a:xfrm flipV="1">
              <a:off x="4178" y="1699"/>
              <a:ext cx="977" cy="1778"/>
            </a:xfrm>
            <a:custGeom>
              <a:avLst/>
              <a:gdLst>
                <a:gd name="T0" fmla="*/ 0 w 977"/>
                <a:gd name="T1" fmla="*/ 12 h 1778"/>
                <a:gd name="T2" fmla="*/ 250 w 977"/>
                <a:gd name="T3" fmla="*/ 1327 h 1778"/>
                <a:gd name="T4" fmla="*/ 488 w 977"/>
                <a:gd name="T5" fmla="*/ 1778 h 1778"/>
                <a:gd name="T6" fmla="*/ 739 w 977"/>
                <a:gd name="T7" fmla="*/ 1327 h 1778"/>
                <a:gd name="T8" fmla="*/ 977 w 977"/>
                <a:gd name="T9" fmla="*/ 0 h 17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7"/>
                <a:gd name="T16" fmla="*/ 0 h 1778"/>
                <a:gd name="T17" fmla="*/ 977 w 977"/>
                <a:gd name="T18" fmla="*/ 1778 h 17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7" h="1778">
                  <a:moveTo>
                    <a:pt x="0" y="12"/>
                  </a:moveTo>
                  <a:cubicBezTo>
                    <a:pt x="84" y="522"/>
                    <a:pt x="169" y="1033"/>
                    <a:pt x="250" y="1327"/>
                  </a:cubicBezTo>
                  <a:cubicBezTo>
                    <a:pt x="331" y="1621"/>
                    <a:pt x="407" y="1778"/>
                    <a:pt x="488" y="1778"/>
                  </a:cubicBezTo>
                  <a:cubicBezTo>
                    <a:pt x="569" y="1778"/>
                    <a:pt x="658" y="1623"/>
                    <a:pt x="739" y="1327"/>
                  </a:cubicBezTo>
                  <a:cubicBezTo>
                    <a:pt x="820" y="1031"/>
                    <a:pt x="898" y="515"/>
                    <a:pt x="977" y="0"/>
                  </a:cubicBezTo>
                </a:path>
              </a:pathLst>
            </a:custGeom>
            <a:noFill/>
            <a:ln w="635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200"/>
          <p:cNvGrpSpPr>
            <a:grpSpLocks/>
          </p:cNvGrpSpPr>
          <p:nvPr/>
        </p:nvGrpSpPr>
        <p:grpSpPr bwMode="auto">
          <a:xfrm>
            <a:off x="5657850" y="1525588"/>
            <a:ext cx="1731963" cy="852487"/>
            <a:chOff x="3564" y="935"/>
            <a:chExt cx="1091" cy="537"/>
          </a:xfrm>
        </p:grpSpPr>
        <p:sp>
          <p:nvSpPr>
            <p:cNvPr id="10257" name="Text Box 198"/>
            <p:cNvSpPr txBox="1">
              <a:spLocks noChangeArrowheads="1"/>
            </p:cNvSpPr>
            <p:nvPr/>
          </p:nvSpPr>
          <p:spPr bwMode="auto">
            <a:xfrm>
              <a:off x="3564" y="935"/>
              <a:ext cx="781" cy="42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ヒラギノ角ゴ Pro W3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900"/>
                <a:t>Axis of Symmetry</a:t>
              </a:r>
            </a:p>
          </p:txBody>
        </p:sp>
        <p:sp>
          <p:nvSpPr>
            <p:cNvPr id="10258" name="AutoShape 199"/>
            <p:cNvSpPr>
              <a:spLocks noChangeArrowheads="1"/>
            </p:cNvSpPr>
            <p:nvPr/>
          </p:nvSpPr>
          <p:spPr bwMode="auto">
            <a:xfrm rot="1974250">
              <a:off x="4258" y="1293"/>
              <a:ext cx="397" cy="179"/>
            </a:xfrm>
            <a:prstGeom prst="rightArrow">
              <a:avLst>
                <a:gd name="adj1" fmla="val 50000"/>
                <a:gd name="adj2" fmla="val 5544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</p:grp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77800"/>
            <a:ext cx="7772400" cy="904875"/>
          </a:xfrm>
        </p:spPr>
        <p:txBody>
          <a:bodyPr/>
          <a:lstStyle/>
          <a:p>
            <a:pPr eaLnBrk="1" hangingPunct="1"/>
            <a:r>
              <a:rPr lang="en-US" altLang="en-US" sz="3400" smtClean="0"/>
              <a:t>Axis of Symmetry</a:t>
            </a:r>
          </a:p>
        </p:txBody>
      </p:sp>
      <p:sp>
        <p:nvSpPr>
          <p:cNvPr id="4282" name="Freeform 186"/>
          <p:cNvSpPr>
            <a:spLocks/>
          </p:cNvSpPr>
          <p:nvPr/>
        </p:nvSpPr>
        <p:spPr bwMode="auto">
          <a:xfrm>
            <a:off x="5068888" y="2608263"/>
            <a:ext cx="776287" cy="2822575"/>
          </a:xfrm>
          <a:custGeom>
            <a:avLst/>
            <a:gdLst>
              <a:gd name="T0" fmla="*/ 0 w 489"/>
              <a:gd name="T1" fmla="*/ 2147483646 h 1778"/>
              <a:gd name="T2" fmla="*/ 2147483646 w 489"/>
              <a:gd name="T3" fmla="*/ 2147483646 h 1778"/>
              <a:gd name="T4" fmla="*/ 2147483646 w 489"/>
              <a:gd name="T5" fmla="*/ 0 h 1778"/>
              <a:gd name="T6" fmla="*/ 0 60000 65536"/>
              <a:gd name="T7" fmla="*/ 0 60000 65536"/>
              <a:gd name="T8" fmla="*/ 0 60000 65536"/>
              <a:gd name="T9" fmla="*/ 0 w 489"/>
              <a:gd name="T10" fmla="*/ 0 h 1778"/>
              <a:gd name="T11" fmla="*/ 489 w 489"/>
              <a:gd name="T12" fmla="*/ 1778 h 17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9" h="1778">
                <a:moveTo>
                  <a:pt x="0" y="1778"/>
                </a:moveTo>
                <a:cubicBezTo>
                  <a:pt x="68" y="1773"/>
                  <a:pt x="170" y="1623"/>
                  <a:pt x="251" y="1327"/>
                </a:cubicBezTo>
                <a:cubicBezTo>
                  <a:pt x="332" y="1031"/>
                  <a:pt x="410" y="515"/>
                  <a:pt x="489" y="0"/>
                </a:cubicBezTo>
              </a:path>
            </a:pathLst>
          </a:custGeom>
          <a:noFill/>
          <a:ln w="635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46" name="Text Box 187"/>
          <p:cNvSpPr txBox="1">
            <a:spLocks noChangeArrowheads="1"/>
          </p:cNvSpPr>
          <p:nvPr/>
        </p:nvSpPr>
        <p:spPr bwMode="auto">
          <a:xfrm>
            <a:off x="206375" y="673100"/>
            <a:ext cx="7786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Parabolas are symmetric.</a:t>
            </a:r>
          </a:p>
        </p:txBody>
      </p:sp>
      <p:sp>
        <p:nvSpPr>
          <p:cNvPr id="4284" name="Text Box 188"/>
          <p:cNvSpPr txBox="1">
            <a:spLocks noChangeArrowheads="1"/>
          </p:cNvSpPr>
          <p:nvPr/>
        </p:nvSpPr>
        <p:spPr bwMode="auto">
          <a:xfrm>
            <a:off x="234950" y="1490663"/>
            <a:ext cx="337978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If we drew a line down the middle of the parabola, we could fold the parabola in half.</a:t>
            </a:r>
          </a:p>
        </p:txBody>
      </p:sp>
      <p:sp>
        <p:nvSpPr>
          <p:cNvPr id="4285" name="Freeform 189"/>
          <p:cNvSpPr>
            <a:spLocks/>
          </p:cNvSpPr>
          <p:nvPr/>
        </p:nvSpPr>
        <p:spPr bwMode="auto">
          <a:xfrm flipH="1">
            <a:off x="4281488" y="2608263"/>
            <a:ext cx="776287" cy="2822575"/>
          </a:xfrm>
          <a:custGeom>
            <a:avLst/>
            <a:gdLst>
              <a:gd name="T0" fmla="*/ 0 w 489"/>
              <a:gd name="T1" fmla="*/ 2147483646 h 1778"/>
              <a:gd name="T2" fmla="*/ 2147483646 w 489"/>
              <a:gd name="T3" fmla="*/ 2147483646 h 1778"/>
              <a:gd name="T4" fmla="*/ 2147483646 w 489"/>
              <a:gd name="T5" fmla="*/ 0 h 1778"/>
              <a:gd name="T6" fmla="*/ 0 60000 65536"/>
              <a:gd name="T7" fmla="*/ 0 60000 65536"/>
              <a:gd name="T8" fmla="*/ 0 60000 65536"/>
              <a:gd name="T9" fmla="*/ 0 w 489"/>
              <a:gd name="T10" fmla="*/ 0 h 1778"/>
              <a:gd name="T11" fmla="*/ 489 w 489"/>
              <a:gd name="T12" fmla="*/ 1778 h 17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9" h="1778">
                <a:moveTo>
                  <a:pt x="0" y="1778"/>
                </a:moveTo>
                <a:cubicBezTo>
                  <a:pt x="68" y="1773"/>
                  <a:pt x="170" y="1623"/>
                  <a:pt x="251" y="1327"/>
                </a:cubicBezTo>
                <a:cubicBezTo>
                  <a:pt x="332" y="1031"/>
                  <a:pt x="410" y="515"/>
                  <a:pt x="489" y="0"/>
                </a:cubicBezTo>
              </a:path>
            </a:pathLst>
          </a:custGeom>
          <a:noFill/>
          <a:ln w="635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286" name="Line 190"/>
          <p:cNvSpPr>
            <a:spLocks noChangeShapeType="1"/>
          </p:cNvSpPr>
          <p:nvPr/>
        </p:nvSpPr>
        <p:spPr bwMode="auto">
          <a:xfrm flipV="1">
            <a:off x="5060950" y="1601788"/>
            <a:ext cx="0" cy="4667250"/>
          </a:xfrm>
          <a:prstGeom prst="line">
            <a:avLst/>
          </a:prstGeom>
          <a:noFill/>
          <a:ln w="38100">
            <a:solidFill>
              <a:srgbClr val="3366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288" name="Line 192"/>
          <p:cNvSpPr>
            <a:spLocks noChangeShapeType="1"/>
          </p:cNvSpPr>
          <p:nvPr/>
        </p:nvSpPr>
        <p:spPr bwMode="auto">
          <a:xfrm flipV="1">
            <a:off x="7366000" y="1774825"/>
            <a:ext cx="0" cy="4667250"/>
          </a:xfrm>
          <a:prstGeom prst="line">
            <a:avLst/>
          </a:prstGeom>
          <a:noFill/>
          <a:ln w="38100">
            <a:solidFill>
              <a:srgbClr val="3366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290" name="Text Box 194"/>
          <p:cNvSpPr txBox="1">
            <a:spLocks noChangeArrowheads="1"/>
          </p:cNvSpPr>
          <p:nvPr/>
        </p:nvSpPr>
        <p:spPr bwMode="auto">
          <a:xfrm>
            <a:off x="179388" y="3206750"/>
            <a:ext cx="33797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We call this line the </a:t>
            </a:r>
            <a:r>
              <a:rPr lang="en-US" altLang="en-US" sz="2800" b="1">
                <a:solidFill>
                  <a:srgbClr val="3366FF"/>
                </a:solidFill>
              </a:rPr>
              <a:t>Axis of symmetry</a:t>
            </a:r>
            <a:r>
              <a:rPr lang="en-US" altLang="en-US" sz="2800"/>
              <a:t>.  </a:t>
            </a:r>
          </a:p>
        </p:txBody>
      </p:sp>
      <p:sp>
        <p:nvSpPr>
          <p:cNvPr id="4301" name="Text Box 205"/>
          <p:cNvSpPr txBox="1">
            <a:spLocks noChangeArrowheads="1"/>
          </p:cNvSpPr>
          <p:nvPr/>
        </p:nvSpPr>
        <p:spPr bwMode="auto">
          <a:xfrm>
            <a:off x="4273550" y="5765800"/>
            <a:ext cx="3916363" cy="7016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The Axis of symmetry ALWAYS passes through the vertex.</a:t>
            </a:r>
            <a:endParaRPr lang="en-US" altLang="en-US" sz="2400"/>
          </a:p>
        </p:txBody>
      </p:sp>
      <p:sp>
        <p:nvSpPr>
          <p:cNvPr id="4289" name="Text Box 193"/>
          <p:cNvSpPr txBox="1">
            <a:spLocks noChangeArrowheads="1"/>
          </p:cNvSpPr>
          <p:nvPr/>
        </p:nvSpPr>
        <p:spPr bwMode="auto">
          <a:xfrm>
            <a:off x="247650" y="4337050"/>
            <a:ext cx="3379788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If we graph one side of the parabola, we could  </a:t>
            </a:r>
            <a:r>
              <a:rPr lang="en-US" altLang="en-US" sz="2400" b="1" u="sng"/>
              <a:t>REFLECT</a:t>
            </a:r>
            <a:r>
              <a:rPr lang="en-US" altLang="en-US" sz="2400"/>
              <a:t> it over the Axis of symmetry to graph the other side.</a:t>
            </a:r>
          </a:p>
        </p:txBody>
      </p:sp>
      <p:sp>
        <p:nvSpPr>
          <p:cNvPr id="204" name="Oval 203"/>
          <p:cNvSpPr>
            <a:spLocks noChangeArrowheads="1"/>
          </p:cNvSpPr>
          <p:nvPr/>
        </p:nvSpPr>
        <p:spPr bwMode="auto">
          <a:xfrm flipV="1">
            <a:off x="7296150" y="2632075"/>
            <a:ext cx="136525" cy="1254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5" name="Oval 204"/>
          <p:cNvSpPr>
            <a:spLocks noChangeArrowheads="1"/>
          </p:cNvSpPr>
          <p:nvPr/>
        </p:nvSpPr>
        <p:spPr bwMode="auto">
          <a:xfrm flipV="1">
            <a:off x="4991100" y="5324475"/>
            <a:ext cx="136525" cy="1254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06" name="Rectangle 205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2" grpId="0" animBg="1"/>
      <p:bldP spid="4284" grpId="0" autoUpdateAnimBg="0"/>
      <p:bldP spid="4285" grpId="0" animBg="1"/>
      <p:bldP spid="4286" grpId="0" animBg="1"/>
      <p:bldP spid="4288" grpId="0" animBg="1"/>
      <p:bldP spid="4290" grpId="0" autoUpdateAnimBg="0"/>
      <p:bldP spid="4301" grpId="0" animBg="1" autoUpdateAnimBg="0"/>
      <p:bldP spid="4289" grpId="0" autoUpdateAnimBg="0"/>
      <p:bldP spid="204" grpId="0" animBg="1"/>
      <p:bldP spid="20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8963" y="180975"/>
            <a:ext cx="7772400" cy="746125"/>
          </a:xfrm>
        </p:spPr>
        <p:txBody>
          <a:bodyPr/>
          <a:lstStyle/>
          <a:p>
            <a:pPr eaLnBrk="1" hangingPunct="1"/>
            <a:r>
              <a:rPr lang="en-US" altLang="en-US" sz="3400" smtClean="0"/>
              <a:t>Graphing a Quadratic Function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192845" y="1022089"/>
            <a:ext cx="82772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There are </a:t>
            </a:r>
            <a:r>
              <a:rPr lang="en-US" altLang="en-US" dirty="0" smtClean="0"/>
              <a:t>4 </a:t>
            </a:r>
            <a:r>
              <a:rPr lang="en-US" altLang="en-US" dirty="0"/>
              <a:t>steps to graphing a parabola in standard form</a:t>
            </a:r>
            <a:r>
              <a:rPr lang="en-US" altLang="en-US" sz="2000" dirty="0"/>
              <a:t>.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9357" y="2190489"/>
            <a:ext cx="7881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0066"/>
                </a:solidFill>
              </a:rPr>
              <a:t>STEP 1</a:t>
            </a:r>
            <a:r>
              <a:rPr lang="en-US" altLang="en-US" sz="2800" dirty="0"/>
              <a:t>:  Find the Axis of symmetry using: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43644" y="2947727"/>
            <a:ext cx="6987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0066"/>
                </a:solidFill>
              </a:rPr>
              <a:t>STEP 2</a:t>
            </a:r>
            <a:r>
              <a:rPr lang="en-US" altLang="en-US" sz="2800" dirty="0"/>
              <a:t>:  Find the </a:t>
            </a:r>
            <a:r>
              <a:rPr lang="en-US" altLang="en-US" sz="2800" dirty="0" smtClean="0"/>
              <a:t>vertex (Turning Point)</a:t>
            </a:r>
            <a:endParaRPr lang="en-US" altLang="en-US" sz="2800" dirty="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43644" y="3722427"/>
            <a:ext cx="86990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0066"/>
                </a:solidFill>
              </a:rPr>
              <a:t>STEP 3</a:t>
            </a:r>
            <a:r>
              <a:rPr lang="en-US" altLang="en-US" sz="2800" dirty="0"/>
              <a:t>:  </a:t>
            </a:r>
            <a:r>
              <a:rPr lang="en-US" altLang="en-US" sz="2800" dirty="0" smtClean="0"/>
              <a:t>Find the x-intercepts (where it crosses the x-axis)</a:t>
            </a:r>
            <a:endParaRPr lang="en-US" altLang="en-US" sz="2800" dirty="0"/>
          </a:p>
        </p:txBody>
      </p:sp>
      <p:graphicFrame>
        <p:nvGraphicFramePr>
          <p:cNvPr id="61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742672"/>
              </p:ext>
            </p:extLst>
          </p:nvPr>
        </p:nvGraphicFramePr>
        <p:xfrm>
          <a:off x="6527188" y="1938077"/>
          <a:ext cx="11477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Equation" r:id="rId3" imgW="634725" imgH="558558" progId="Equation.DSMT4">
                  <p:embed/>
                </p:oleObj>
              </mc:Choice>
              <mc:Fallback>
                <p:oleObj name="Equation" r:id="rId3" imgW="634725" imgH="55855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188" y="1938077"/>
                        <a:ext cx="1147763" cy="1009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29357" y="4456580"/>
            <a:ext cx="86990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0066"/>
                </a:solidFill>
              </a:rPr>
              <a:t>STEP 3</a:t>
            </a:r>
            <a:r>
              <a:rPr lang="en-US" altLang="en-US" sz="2800" dirty="0"/>
              <a:t>:  </a:t>
            </a:r>
            <a:r>
              <a:rPr lang="en-US" altLang="en-US" sz="2800" dirty="0" smtClean="0"/>
              <a:t>Find the y-intercepts (where it crosses the y-axis)</a:t>
            </a: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utoUpdateAnimBg="0"/>
      <p:bldP spid="8198" grpId="0" autoUpdateAnimBg="0"/>
      <p:bldP spid="8199" grpId="0" autoUpdateAnimBg="0"/>
      <p:bldP spid="1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3"/>
          <p:cNvSpPr txBox="1">
            <a:spLocks noChangeArrowheads="1"/>
          </p:cNvSpPr>
          <p:nvPr/>
        </p:nvSpPr>
        <p:spPr bwMode="auto">
          <a:xfrm>
            <a:off x="252412" y="413653"/>
            <a:ext cx="5688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Example 1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: </a:t>
            </a: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Sketch  f(x) = x</a:t>
            </a:r>
            <a:r>
              <a:rPr lang="en-GB" sz="2400" baseline="300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2</a:t>
            </a: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- 7x + 6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439736" y="1105671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Step 1 : </a:t>
            </a:r>
            <a:r>
              <a:rPr lang="en-GB" sz="2400" b="1" dirty="0" smtClean="0">
                <a:solidFill>
                  <a:srgbClr val="990099"/>
                </a:solidFill>
                <a:ea typeface="+mn-ea"/>
                <a:sym typeface="Symbol" pitchFamily="18" charset="2"/>
                <a:hlinkClick r:id="rId2" action="ppaction://hlinksldjump"/>
              </a:rPr>
              <a:t>Find the axis of symmetry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439735" y="1566046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           x = 3.5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353079" y="2189249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Step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2: </a:t>
            </a:r>
            <a:r>
              <a:rPr lang="en-GB" sz="2400" b="1" dirty="0" smtClean="0">
                <a:solidFill>
                  <a:srgbClr val="990099"/>
                </a:solidFill>
                <a:ea typeface="+mn-ea"/>
                <a:sym typeface="Symbol" pitchFamily="18" charset="2"/>
                <a:hlinkClick r:id="rId3" action="ppaction://hlinksldjump"/>
              </a:rPr>
              <a:t>Find the vertex (TP)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439736" y="2649622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           (3.5, -6.25)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353079" y="3339264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Step 3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: </a:t>
            </a:r>
            <a:r>
              <a:rPr lang="en-GB" sz="2400" b="1" dirty="0" smtClean="0">
                <a:solidFill>
                  <a:srgbClr val="990099"/>
                </a:solidFill>
                <a:ea typeface="+mn-ea"/>
                <a:sym typeface="Symbol" pitchFamily="18" charset="2"/>
                <a:hlinkClick r:id="rId4" action="ppaction://hlinksldjump"/>
              </a:rPr>
              <a:t>Find the x-intercepts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439736" y="3799637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           (1, 0) and (6, 0)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418822" y="4324640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Step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4: </a:t>
            </a:r>
            <a:r>
              <a:rPr lang="en-GB" sz="2400" b="1" dirty="0" smtClean="0">
                <a:solidFill>
                  <a:srgbClr val="990099"/>
                </a:solidFill>
                <a:ea typeface="+mn-ea"/>
                <a:sym typeface="Symbol" pitchFamily="18" charset="2"/>
              </a:rPr>
              <a:t>Find the y-intercept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505479" y="4885681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            (0, 6)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439736" y="5768944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Now you can sketch your function!!</a:t>
            </a:r>
            <a:endParaRPr lang="en-GB" sz="2400" b="1" dirty="0">
              <a:solidFill>
                <a:srgbClr val="990099"/>
              </a:solidFill>
              <a:ea typeface="+mn-ea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7392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utoUpdateAnimBg="0"/>
      <p:bldP spid="23" grpId="0" autoUpdateAnimBg="0"/>
      <p:bldP spid="25" grpId="0" autoUpdateAnimBg="0"/>
      <p:bldP spid="26" grpId="0" autoUpdateAnimBg="0"/>
      <p:bldP spid="27" grpId="0" autoUpdateAnimBg="0"/>
      <p:bldP spid="29" grpId="0" autoUpdateAnimBg="0"/>
      <p:bldP spid="32" grpId="0" autoUpdateAnimBg="0"/>
      <p:bldP spid="37" grpId="0" autoUpdateAnimBg="0"/>
      <p:bldP spid="3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344488" y="3316288"/>
            <a:ext cx="8405812" cy="534987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335" name="Text Box 191"/>
          <p:cNvSpPr txBox="1">
            <a:spLocks noChangeArrowheads="1"/>
          </p:cNvSpPr>
          <p:nvPr/>
        </p:nvSpPr>
        <p:spPr bwMode="auto">
          <a:xfrm>
            <a:off x="304800" y="3924300"/>
            <a:ext cx="812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/>
              <a:t>Find the Axis of symmetry for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f(x) = x</a:t>
            </a:r>
            <a:r>
              <a:rPr lang="en-GB" baseline="30000" dirty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  <a:endParaRPr lang="en-GB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6360" name="AutoShape 216"/>
          <p:cNvSpPr>
            <a:spLocks noChangeArrowheads="1"/>
          </p:cNvSpPr>
          <p:nvPr/>
        </p:nvSpPr>
        <p:spPr bwMode="auto">
          <a:xfrm>
            <a:off x="5826125" y="5494338"/>
            <a:ext cx="2260862" cy="1371600"/>
          </a:xfrm>
          <a:prstGeom prst="irregularSeal2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-122238"/>
            <a:ext cx="7772400" cy="884238"/>
          </a:xfrm>
        </p:spPr>
        <p:txBody>
          <a:bodyPr/>
          <a:lstStyle/>
          <a:p>
            <a:pPr eaLnBrk="1" hangingPunct="1"/>
            <a:r>
              <a:rPr lang="en-US" altLang="en-US" sz="3400" smtClean="0"/>
              <a:t>Finding the Axis of Symmetry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020763" y="654050"/>
            <a:ext cx="6916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When a quadratic function is in standard form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841375" y="1917700"/>
            <a:ext cx="5799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the </a:t>
            </a:r>
            <a:r>
              <a:rPr lang="en-US" altLang="en-US" sz="2800">
                <a:solidFill>
                  <a:srgbClr val="990099"/>
                </a:solidFill>
              </a:rPr>
              <a:t>equation of the Axis of symmetry</a:t>
            </a:r>
            <a:r>
              <a:rPr lang="en-US" altLang="en-US" sz="2800"/>
              <a:t> is 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319338" y="1174750"/>
            <a:ext cx="4197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i="1">
                <a:solidFill>
                  <a:schemeClr val="accent2"/>
                </a:solidFill>
              </a:rPr>
              <a:t>y = ax</a:t>
            </a:r>
            <a:r>
              <a:rPr lang="en-US" altLang="en-US" sz="4000" b="1" i="1" baseline="30000">
                <a:solidFill>
                  <a:schemeClr val="accent2"/>
                </a:solidFill>
              </a:rPr>
              <a:t>2</a:t>
            </a:r>
            <a:r>
              <a:rPr lang="en-US" altLang="en-US" sz="4000" b="1" i="1">
                <a:solidFill>
                  <a:schemeClr val="accent2"/>
                </a:solidFill>
              </a:rPr>
              <a:t> + bx + c</a:t>
            </a:r>
            <a:r>
              <a:rPr lang="en-US" altLang="en-US" sz="3600" b="1" i="1"/>
              <a:t>,</a:t>
            </a:r>
          </a:p>
        </p:txBody>
      </p:sp>
      <p:graphicFrame>
        <p:nvGraphicFramePr>
          <p:cNvPr id="6150" name="Object 2"/>
          <p:cNvGraphicFramePr>
            <a:graphicFrameLocks noChangeAspect="1"/>
          </p:cNvGraphicFramePr>
          <p:nvPr/>
        </p:nvGraphicFramePr>
        <p:xfrm>
          <a:off x="6775450" y="1747838"/>
          <a:ext cx="11477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4" imgW="634725" imgH="558558" progId="Equation.DSMT4">
                  <p:embed/>
                </p:oleObj>
              </mc:Choice>
              <mc:Fallback>
                <p:oleObj name="Equation" r:id="rId4" imgW="634725" imgH="55855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1747838"/>
                        <a:ext cx="1147763" cy="1009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8" name="Text Box 194"/>
          <p:cNvSpPr txBox="1">
            <a:spLocks noChangeArrowheads="1"/>
          </p:cNvSpPr>
          <p:nvPr/>
        </p:nvSpPr>
        <p:spPr bwMode="auto">
          <a:xfrm>
            <a:off x="414338" y="2662238"/>
            <a:ext cx="84201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/>
              <a:t>This is best read as … </a:t>
            </a:r>
          </a:p>
          <a:p>
            <a:pPr algn="ctr" eaLnBrk="1" hangingPunct="1">
              <a:spcBef>
                <a:spcPct val="50000"/>
              </a:spcBef>
            </a:pPr>
            <a:r>
              <a:rPr lang="ja-JP" altLang="en-US" sz="2800" dirty="0"/>
              <a:t>‘</a:t>
            </a:r>
            <a:r>
              <a:rPr lang="en-US" altLang="ja-JP" sz="2800" dirty="0"/>
              <a:t>the opposite of </a:t>
            </a:r>
            <a:r>
              <a:rPr lang="en-US" altLang="ja-JP" sz="2800" i="1" dirty="0"/>
              <a:t>b</a:t>
            </a:r>
            <a:r>
              <a:rPr lang="en-US" altLang="ja-JP" sz="2800" dirty="0"/>
              <a:t> divided by the quantity of 2 times </a:t>
            </a:r>
            <a:r>
              <a:rPr lang="en-US" altLang="ja-JP" sz="2800" i="1" dirty="0"/>
              <a:t>a</a:t>
            </a:r>
            <a:r>
              <a:rPr lang="en-US" altLang="ja-JP" sz="2800" dirty="0"/>
              <a:t>.</a:t>
            </a:r>
            <a:r>
              <a:rPr lang="ja-JP" altLang="en-US" sz="2800" dirty="0"/>
              <a:t>’</a:t>
            </a:r>
            <a:endParaRPr lang="en-US" altLang="en-US" sz="2800" i="1" dirty="0"/>
          </a:p>
        </p:txBody>
      </p:sp>
      <p:sp>
        <p:nvSpPr>
          <p:cNvPr id="6359" name="Text Box 215"/>
          <p:cNvSpPr txBox="1">
            <a:spLocks noChangeArrowheads="1"/>
          </p:cNvSpPr>
          <p:nvPr/>
        </p:nvSpPr>
        <p:spPr bwMode="auto">
          <a:xfrm>
            <a:off x="6005513" y="4486275"/>
            <a:ext cx="28289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000" b="1" dirty="0">
                <a:solidFill>
                  <a:srgbClr val="660066"/>
                </a:solidFill>
              </a:rPr>
              <a:t>The Axis of symmetry is </a:t>
            </a:r>
            <a:r>
              <a:rPr lang="en-US" altLang="en-US" sz="4000" b="1" i="1" dirty="0">
                <a:solidFill>
                  <a:srgbClr val="660066"/>
                </a:solidFill>
              </a:rPr>
              <a:t>x</a:t>
            </a:r>
            <a:r>
              <a:rPr lang="en-US" altLang="en-US" sz="4000" b="1" dirty="0">
                <a:solidFill>
                  <a:srgbClr val="660066"/>
                </a:solidFill>
              </a:rPr>
              <a:t> = </a:t>
            </a:r>
            <a:r>
              <a:rPr lang="en-US" altLang="en-US" sz="4000" b="1" dirty="0" smtClean="0">
                <a:solidFill>
                  <a:srgbClr val="660066"/>
                </a:solidFill>
              </a:rPr>
              <a:t>3.5</a:t>
            </a:r>
            <a:endParaRPr lang="en-US" altLang="en-US" sz="4000" b="1" dirty="0">
              <a:solidFill>
                <a:srgbClr val="660066"/>
              </a:solidFill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23875" y="4541838"/>
            <a:ext cx="28119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b="1" i="1" dirty="0">
                <a:solidFill>
                  <a:srgbClr val="0000FF"/>
                </a:solidFill>
              </a:rPr>
              <a:t>a = </a:t>
            </a:r>
            <a:r>
              <a:rPr lang="en-US" altLang="en-US" b="1" i="1" dirty="0" smtClean="0">
                <a:solidFill>
                  <a:srgbClr val="0000FF"/>
                </a:solidFill>
              </a:rPr>
              <a:t>1</a:t>
            </a:r>
            <a:r>
              <a:rPr lang="en-US" altLang="en-US" b="1" i="1" dirty="0">
                <a:solidFill>
                  <a:srgbClr val="0000FF"/>
                </a:solidFill>
              </a:rPr>
              <a:t>	   b = </a:t>
            </a:r>
            <a:r>
              <a:rPr lang="en-US" altLang="en-US" b="1" i="1" dirty="0" smtClean="0">
                <a:solidFill>
                  <a:srgbClr val="0000FF"/>
                </a:solidFill>
              </a:rPr>
              <a:t>-</a:t>
            </a:r>
            <a:r>
              <a:rPr lang="en-US" altLang="en-US" b="1" i="1" dirty="0">
                <a:solidFill>
                  <a:srgbClr val="0000FF"/>
                </a:solidFill>
              </a:rPr>
              <a:t>7</a:t>
            </a:r>
            <a:r>
              <a:rPr lang="en-US" altLang="en-US" b="1" i="1" dirty="0" smtClean="0">
                <a:solidFill>
                  <a:srgbClr val="0000FF"/>
                </a:solidFill>
              </a:rPr>
              <a:t>    </a:t>
            </a:r>
            <a:endParaRPr lang="en-US" altLang="en-US" b="1" i="1" dirty="0">
              <a:solidFill>
                <a:srgbClr val="0000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800" y="5479618"/>
                <a:ext cx="2321469" cy="1027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/>
                            </a:rPr>
                            <m:t>−(−7)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sz="3200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479618"/>
                <a:ext cx="2321469" cy="102714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502630" y="5501687"/>
                <a:ext cx="1024832" cy="1011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630" y="5501687"/>
                <a:ext cx="1024832" cy="101111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679137" y="5774313"/>
                <a:ext cx="12476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=3.5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137" y="5774313"/>
                <a:ext cx="1247649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Arrow 2">
            <a:hlinkClick r:id="rId9" action="ppaction://hlinksldjump"/>
          </p:cNvPr>
          <p:cNvSpPr/>
          <p:nvPr/>
        </p:nvSpPr>
        <p:spPr>
          <a:xfrm>
            <a:off x="8501062" y="6426200"/>
            <a:ext cx="387162" cy="366376"/>
          </a:xfrm>
          <a:prstGeom prst="leftArrow">
            <a:avLst/>
          </a:prstGeom>
          <a:solidFill>
            <a:srgbClr val="FF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335" grpId="0" autoUpdateAnimBg="0"/>
      <p:bldP spid="6360" grpId="0" animBg="1"/>
      <p:bldP spid="6147" grpId="0" autoUpdateAnimBg="0"/>
      <p:bldP spid="6148" grpId="0" autoUpdateAnimBg="0"/>
      <p:bldP spid="6149" grpId="0" autoUpdateAnimBg="0"/>
      <p:bldP spid="6338" grpId="0" autoUpdateAnimBg="0"/>
      <p:bldP spid="6359" grpId="0" autoUpdateAnimBg="0"/>
      <p:bldP spid="34" grpId="0"/>
      <p:bldP spid="2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-136525"/>
            <a:ext cx="7772400" cy="844550"/>
          </a:xfrm>
        </p:spPr>
        <p:txBody>
          <a:bodyPr/>
          <a:lstStyle/>
          <a:p>
            <a:pPr eaLnBrk="1" hangingPunct="1"/>
            <a:r>
              <a:rPr lang="en-US" altLang="en-US" sz="3400" dirty="0" smtClean="0"/>
              <a:t>Finding the Vertex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14313" y="560388"/>
            <a:ext cx="86074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The Axis of symmetry always goes through the </a:t>
            </a:r>
            <a:r>
              <a:rPr lang="en-US" altLang="en-US" sz="3600" b="1" u="sng" dirty="0"/>
              <a:t>_______</a:t>
            </a:r>
            <a:r>
              <a:rPr lang="en-US" altLang="en-US" sz="3600" dirty="0"/>
              <a:t>. Thus, the Axis of symmetry gives us the </a:t>
            </a:r>
            <a:r>
              <a:rPr lang="en-US" altLang="en-US" sz="3600" i="1" u="sng" dirty="0"/>
              <a:t>____________</a:t>
            </a:r>
            <a:r>
              <a:rPr lang="en-US" altLang="en-US" sz="3600" dirty="0"/>
              <a:t> of the vertex.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600" dirty="0"/>
              <a:t>  </a:t>
            </a:r>
            <a:endParaRPr lang="en-US" altLang="en-US" sz="2400" dirty="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26047" y="2956842"/>
            <a:ext cx="77554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STEP 1:  Find the Axis of </a:t>
            </a:r>
            <a:r>
              <a:rPr lang="en-US" altLang="en-US" sz="2400" b="1" dirty="0" smtClean="0">
                <a:solidFill>
                  <a:schemeClr val="accent2"/>
                </a:solidFill>
              </a:rPr>
              <a:t>symmetry: </a:t>
            </a:r>
            <a:endParaRPr lang="en-US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14338" y="1022350"/>
            <a:ext cx="1479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sz="3600" b="1">
                <a:solidFill>
                  <a:srgbClr val="FF0000"/>
                </a:solidFill>
              </a:rPr>
              <a:t>Vertex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85578" y="2352087"/>
            <a:ext cx="54569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dirty="0"/>
              <a:t>Find the vertex of </a:t>
            </a:r>
            <a:r>
              <a:rPr lang="en-US" altLang="en-US" sz="2800" i="1" dirty="0"/>
              <a:t>  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f(x) = x</a:t>
            </a:r>
            <a:r>
              <a:rPr lang="en-GB" sz="2800" baseline="300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  <a:endParaRPr lang="en-GB" sz="2800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587500" y="1587500"/>
            <a:ext cx="2774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sz="3600" b="1">
                <a:solidFill>
                  <a:srgbClr val="FF0000"/>
                </a:solidFill>
              </a:rPr>
              <a:t>X-coordinate</a:t>
            </a:r>
          </a:p>
        </p:txBody>
      </p:sp>
      <p:sp>
        <p:nvSpPr>
          <p:cNvPr id="37" name="Text Box 215"/>
          <p:cNvSpPr txBox="1">
            <a:spLocks noChangeArrowheads="1"/>
          </p:cNvSpPr>
          <p:nvPr/>
        </p:nvSpPr>
        <p:spPr bwMode="auto">
          <a:xfrm>
            <a:off x="1510020" y="3392407"/>
            <a:ext cx="7922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FF0000"/>
                </a:solidFill>
              </a:rPr>
              <a:t>The x-coordinate of the vertex is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3.5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AutoShape 15"/>
          <p:cNvSpPr>
            <a:spLocks noChangeArrowheads="1"/>
          </p:cNvSpPr>
          <p:nvPr/>
        </p:nvSpPr>
        <p:spPr bwMode="auto">
          <a:xfrm>
            <a:off x="7858125" y="4573151"/>
            <a:ext cx="1169904" cy="1430338"/>
          </a:xfrm>
          <a:prstGeom prst="irregularSeal2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 sz="2400"/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296068" y="3854072"/>
            <a:ext cx="862981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STEP 2:  Substitute the </a:t>
            </a:r>
            <a:r>
              <a:rPr lang="en-US" altLang="en-US" sz="2400" b="1" i="1" dirty="0">
                <a:solidFill>
                  <a:schemeClr val="accent2"/>
                </a:solidFill>
              </a:rPr>
              <a:t>x</a:t>
            </a:r>
            <a:r>
              <a:rPr lang="en-US" altLang="en-US" sz="2400" b="1" dirty="0">
                <a:solidFill>
                  <a:schemeClr val="accent2"/>
                </a:solidFill>
              </a:rPr>
              <a:t> – value into the original equation to find the </a:t>
            </a:r>
            <a:r>
              <a:rPr lang="en-US" altLang="en-US" sz="2400" b="1" i="1" dirty="0">
                <a:solidFill>
                  <a:schemeClr val="accent2"/>
                </a:solidFill>
              </a:rPr>
              <a:t>y</a:t>
            </a:r>
            <a:r>
              <a:rPr lang="en-US" altLang="en-US" sz="2400" b="1" dirty="0">
                <a:solidFill>
                  <a:schemeClr val="accent2"/>
                </a:solidFill>
              </a:rPr>
              <a:t> –coordinate of the vertex.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5479796" y="4983440"/>
            <a:ext cx="35383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The vertex is (2 , 5)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15745"/>
              </p:ext>
            </p:extLst>
          </p:nvPr>
        </p:nvGraphicFramePr>
        <p:xfrm>
          <a:off x="849395" y="4808815"/>
          <a:ext cx="3254375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3" imgW="1206360" imgH="939600" progId="Equation.3">
                  <p:embed/>
                </p:oleObj>
              </mc:Choice>
              <mc:Fallback>
                <p:oleObj name="Equation" r:id="rId3" imgW="12063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95" y="4808815"/>
                        <a:ext cx="3254375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1510020" y="4931133"/>
            <a:ext cx="503338" cy="4356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/>
          <p:cNvSpPr/>
          <p:nvPr/>
        </p:nvSpPr>
        <p:spPr>
          <a:xfrm>
            <a:off x="2914049" y="4998085"/>
            <a:ext cx="500270" cy="3286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30"/>
          <p:cNvSpPr/>
          <p:nvPr/>
        </p:nvSpPr>
        <p:spPr>
          <a:xfrm>
            <a:off x="780449" y="4771977"/>
            <a:ext cx="4267200" cy="7170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/>
          <p:cNvSpPr/>
          <p:nvPr/>
        </p:nvSpPr>
        <p:spPr>
          <a:xfrm>
            <a:off x="885598" y="5489046"/>
            <a:ext cx="3119438" cy="565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35"/>
          <p:cNvSpPr/>
          <p:nvPr/>
        </p:nvSpPr>
        <p:spPr>
          <a:xfrm>
            <a:off x="885598" y="6003489"/>
            <a:ext cx="2443163" cy="5667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Left Arrow 39">
            <a:hlinkClick r:id="rId5" action="ppaction://hlinksldjump"/>
          </p:cNvPr>
          <p:cNvSpPr/>
          <p:nvPr/>
        </p:nvSpPr>
        <p:spPr>
          <a:xfrm>
            <a:off x="8501062" y="6426200"/>
            <a:ext cx="387162" cy="366376"/>
          </a:xfrm>
          <a:prstGeom prst="leftArrow">
            <a:avLst/>
          </a:prstGeom>
          <a:solidFill>
            <a:srgbClr val="FF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  <p:bldP spid="29" grpId="0"/>
      <p:bldP spid="30" grpId="0"/>
      <p:bldP spid="35" grpId="0"/>
      <p:bldP spid="37" grpId="0" autoUpdateAnimBg="0"/>
      <p:bldP spid="23" grpId="0" animBg="1"/>
      <p:bldP spid="24" grpId="0" autoUpdateAnimBg="0"/>
      <p:bldP spid="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17525" y="873067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Find </a:t>
            </a: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where the function crosses the x – axis.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655638" y="28517"/>
            <a:ext cx="7772400" cy="8445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ヒラギノ角ゴ Pro W3" charset="-128"/>
                <a:cs typeface="ヒラギノ角ゴ Pro W3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ヒラギノ角ゴ Pro W3" charset="-128"/>
                <a:cs typeface="ヒラギノ角ゴ Pro W3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3400" dirty="0" smtClean="0"/>
              <a:t>Finding the x-intercepts</a:t>
            </a:r>
            <a:endParaRPr lang="en-US" altLang="en-US" sz="34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1737818" y="1341015"/>
            <a:ext cx="2626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f(x) = x</a:t>
            </a:r>
            <a:r>
              <a:rPr lang="en-GB" sz="2800" baseline="300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  <a:endParaRPr lang="en-GB" sz="2800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517524" y="2049200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The function crosses the x-axis when y=0</a:t>
            </a:r>
            <a:endParaRPr lang="en-GB" sz="2400" dirty="0">
              <a:solidFill>
                <a:schemeClr val="tx2">
                  <a:lumMod val="10000"/>
                </a:schemeClr>
              </a:solidFill>
              <a:ea typeface="+mn-ea"/>
              <a:sym typeface="Symbol" pitchFamily="18" charset="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839118" y="2583984"/>
            <a:ext cx="2265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2800" dirty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0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= x</a:t>
            </a:r>
            <a:r>
              <a:rPr lang="en-GB" sz="2800" baseline="300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  <a:endParaRPr lang="en-GB" sz="2800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17523" y="3107204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Now factorise.</a:t>
            </a:r>
            <a:endParaRPr lang="en-GB" sz="2400" dirty="0">
              <a:solidFill>
                <a:schemeClr val="tx2">
                  <a:lumMod val="10000"/>
                </a:schemeClr>
              </a:solidFill>
              <a:ea typeface="+mn-ea"/>
              <a:sym typeface="Symbol" pitchFamily="18" charset="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72572" y="3702691"/>
            <a:ext cx="3291286" cy="246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      0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= x</a:t>
            </a:r>
            <a:r>
              <a:rPr lang="en-GB" sz="2800" baseline="300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</a:p>
          <a:p>
            <a:pPr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         = (x – 1)(x – 6)</a:t>
            </a:r>
          </a:p>
          <a:p>
            <a:pPr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So: x = 1, 6</a:t>
            </a:r>
          </a:p>
          <a:p>
            <a:pPr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(1,0) and (6,0)</a:t>
            </a:r>
            <a:endParaRPr lang="en-GB" sz="2800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41838" y="3609423"/>
            <a:ext cx="30149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dirty="0" smtClean="0">
                <a:solidFill>
                  <a:schemeClr val="accent6"/>
                </a:solidFill>
                <a:sym typeface="Symbol" pitchFamily="18" charset="2"/>
              </a:rPr>
              <a:t>Find two numbers that ×to give 6 and + to give -7</a:t>
            </a:r>
            <a:endParaRPr lang="en-GB" dirty="0">
              <a:solidFill>
                <a:schemeClr val="accent6"/>
              </a:solidFill>
              <a:sym typeface="Symbol" pitchFamily="18" charset="2"/>
            </a:endParaRPr>
          </a:p>
        </p:txBody>
      </p:sp>
      <p:sp>
        <p:nvSpPr>
          <p:cNvPr id="37" name="Left Arrow 36">
            <a:hlinkClick r:id="rId2" action="ppaction://hlinksldjump"/>
          </p:cNvPr>
          <p:cNvSpPr/>
          <p:nvPr/>
        </p:nvSpPr>
        <p:spPr>
          <a:xfrm>
            <a:off x="8501062" y="6426200"/>
            <a:ext cx="387162" cy="366376"/>
          </a:xfrm>
          <a:prstGeom prst="leftArrow">
            <a:avLst/>
          </a:prstGeom>
          <a:solidFill>
            <a:srgbClr val="FF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58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utoUpdateAnimBg="0"/>
      <p:bldP spid="2" grpId="0"/>
      <p:bldP spid="25" grpId="0" autoUpdateAnimBg="0"/>
      <p:bldP spid="26" grpId="0"/>
      <p:bldP spid="27" grpId="0" autoUpdateAnimBg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Rectangle 2"/>
          <p:cNvSpPr txBox="1">
            <a:spLocks noChangeArrowheads="1"/>
          </p:cNvSpPr>
          <p:nvPr/>
        </p:nvSpPr>
        <p:spPr bwMode="auto">
          <a:xfrm>
            <a:off x="588963" y="176081"/>
            <a:ext cx="77724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/>
            <a:r>
              <a:rPr lang="en-US" altLang="en-US" sz="3400" dirty="0" smtClean="0">
                <a:solidFill>
                  <a:schemeClr val="tx2"/>
                </a:solidFill>
              </a:rPr>
              <a:t>Finding the y-intercept</a:t>
            </a:r>
            <a:endParaRPr lang="en-US" altLang="en-US" sz="3400" dirty="0">
              <a:solidFill>
                <a:schemeClr val="tx2"/>
              </a:solidFill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9" name="TextBox 238"/>
          <p:cNvSpPr txBox="1">
            <a:spLocks noChangeArrowheads="1"/>
          </p:cNvSpPr>
          <p:nvPr/>
        </p:nvSpPr>
        <p:spPr bwMode="auto">
          <a:xfrm>
            <a:off x="4740081" y="4200872"/>
            <a:ext cx="41538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FF"/>
                </a:solidFill>
              </a:rPr>
              <a:t>The constant term is always the y- intercept</a:t>
            </a:r>
          </a:p>
        </p:txBody>
      </p:sp>
      <p:sp>
        <p:nvSpPr>
          <p:cNvPr id="206" name="Text Box 4"/>
          <p:cNvSpPr txBox="1">
            <a:spLocks noChangeArrowheads="1"/>
          </p:cNvSpPr>
          <p:nvPr/>
        </p:nvSpPr>
        <p:spPr bwMode="auto">
          <a:xfrm>
            <a:off x="215522" y="922206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Find </a:t>
            </a: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where the function crosses the </a:t>
            </a: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y </a:t>
            </a:r>
            <a:r>
              <a:rPr lang="en-GB" sz="2400" dirty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– axis.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534419" y="1382581"/>
            <a:ext cx="2626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f(x) = x</a:t>
            </a:r>
            <a:r>
              <a:rPr lang="en-GB" sz="2800" baseline="300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2</a:t>
            </a:r>
            <a:r>
              <a:rPr lang="en-GB" sz="2800" dirty="0" smtClean="0">
                <a:solidFill>
                  <a:schemeClr val="tx2">
                    <a:lumMod val="10000"/>
                  </a:schemeClr>
                </a:solidFill>
                <a:sym typeface="Symbol" pitchFamily="18" charset="2"/>
              </a:rPr>
              <a:t> - 7x + 6</a:t>
            </a:r>
            <a:endParaRPr lang="en-GB" sz="2800" dirty="0">
              <a:solidFill>
                <a:schemeClr val="tx2">
                  <a:lumMod val="10000"/>
                </a:schemeClr>
              </a:solidFill>
              <a:sym typeface="Symbol" pitchFamily="18" charset="2"/>
            </a:endParaRPr>
          </a:p>
        </p:txBody>
      </p:sp>
      <p:sp>
        <p:nvSpPr>
          <p:cNvPr id="208" name="Text Box 4"/>
          <p:cNvSpPr txBox="1">
            <a:spLocks noChangeArrowheads="1"/>
          </p:cNvSpPr>
          <p:nvPr/>
        </p:nvSpPr>
        <p:spPr bwMode="auto">
          <a:xfrm>
            <a:off x="252909" y="1998866"/>
            <a:ext cx="788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dirty="0" smtClean="0">
                <a:solidFill>
                  <a:schemeClr val="tx2">
                    <a:lumMod val="10000"/>
                  </a:schemeClr>
                </a:solidFill>
                <a:ea typeface="+mn-ea"/>
                <a:sym typeface="Symbol" pitchFamily="18" charset="2"/>
              </a:rPr>
              <a:t>The function crosses the y-axis when x=0</a:t>
            </a:r>
            <a:endParaRPr lang="en-GB" sz="2400" dirty="0">
              <a:solidFill>
                <a:schemeClr val="tx2">
                  <a:lumMod val="10000"/>
                </a:schemeClr>
              </a:solidFill>
              <a:ea typeface="+mn-ea"/>
              <a:sym typeface="Symbol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34419" y="2594759"/>
                <a:ext cx="37603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</a:rPr>
                        <m:t> −7</m:t>
                      </m:r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×0+6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419" y="2594759"/>
                <a:ext cx="3760325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TextBox 209"/>
              <p:cNvSpPr txBox="1"/>
              <p:nvPr/>
            </p:nvSpPr>
            <p:spPr>
              <a:xfrm>
                <a:off x="1594540" y="3270379"/>
                <a:ext cx="31455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</a:rPr>
                        <m:t> −0</m:t>
                      </m:r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+6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10" name="TextBox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40" y="3270379"/>
                <a:ext cx="3145541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TextBox 210"/>
              <p:cNvSpPr txBox="1"/>
              <p:nvPr/>
            </p:nvSpPr>
            <p:spPr>
              <a:xfrm>
                <a:off x="1594540" y="3939262"/>
                <a:ext cx="16478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11" name="TextBox 2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40" y="3939262"/>
                <a:ext cx="164782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TextBox 211"/>
              <p:cNvSpPr txBox="1"/>
              <p:nvPr/>
            </p:nvSpPr>
            <p:spPr>
              <a:xfrm>
                <a:off x="1594540" y="4621351"/>
                <a:ext cx="14911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0" dirty="0" smtClean="0">
                    <a:ea typeface="Cambria Math"/>
                  </a:rPr>
                  <a:t>So: (0,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  <a:ea typeface="Cambria Math"/>
                      </a:rPr>
                      <m:t>6)</m:t>
                    </m:r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212" name="TextBox 2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40" y="4621351"/>
                <a:ext cx="1491114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8607" t="-11628" b="-31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Left Arrow 212">
            <a:hlinkClick r:id="rId6" action="ppaction://hlinksldjump"/>
          </p:cNvPr>
          <p:cNvSpPr/>
          <p:nvPr/>
        </p:nvSpPr>
        <p:spPr>
          <a:xfrm>
            <a:off x="8501062" y="6426200"/>
            <a:ext cx="387162" cy="366376"/>
          </a:xfrm>
          <a:prstGeom prst="leftArrow">
            <a:avLst/>
          </a:prstGeom>
          <a:solidFill>
            <a:srgbClr val="FF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/>
      <p:bldP spid="206" grpId="0" autoUpdateAnimBg="0"/>
      <p:bldP spid="207" grpId="0"/>
      <p:bldP spid="208" grpId="0" autoUpdateAnimBg="0"/>
      <p:bldP spid="3" grpId="0"/>
      <p:bldP spid="210" grpId="0"/>
      <p:bldP spid="211" grpId="0"/>
      <p:bldP spid="2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5" name="Picture 23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t="9683" r="27411" b="10948"/>
          <a:stretch/>
        </p:blipFill>
        <p:spPr bwMode="auto">
          <a:xfrm>
            <a:off x="1426029" y="705973"/>
            <a:ext cx="6213231" cy="6008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7" name="Rectangle 2"/>
          <p:cNvSpPr txBox="1">
            <a:spLocks noChangeArrowheads="1"/>
          </p:cNvSpPr>
          <p:nvPr/>
        </p:nvSpPr>
        <p:spPr bwMode="auto">
          <a:xfrm>
            <a:off x="588963" y="82550"/>
            <a:ext cx="7772400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3400" kern="0" dirty="0" smtClean="0">
                <a:solidFill>
                  <a:schemeClr val="tx2"/>
                </a:solidFill>
                <a:latin typeface="+mj-lt"/>
                <a:cs typeface="ヒラギノ角ゴ Pro W3" charset="-128"/>
              </a:rPr>
              <a:t>Sketching your parabola</a:t>
            </a:r>
            <a:endParaRPr lang="en-US" sz="3400" kern="0" dirty="0">
              <a:solidFill>
                <a:schemeClr val="tx2"/>
              </a:solidFill>
              <a:latin typeface="+mj-lt"/>
              <a:cs typeface="ヒラギノ角ゴ Pro W3" charset="-128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Arrow Connector 7"/>
          <p:cNvCxnSpPr/>
          <p:nvPr/>
        </p:nvCxnSpPr>
        <p:spPr>
          <a:xfrm>
            <a:off x="3979333" y="1941383"/>
            <a:ext cx="495830" cy="222651"/>
          </a:xfrm>
          <a:prstGeom prst="straightConnector1">
            <a:avLst/>
          </a:prstGeom>
          <a:ln w="38100">
            <a:solidFill>
              <a:srgbClr val="9900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 flipH="1" flipV="1">
            <a:off x="5419837" y="5326913"/>
            <a:ext cx="584040" cy="592374"/>
          </a:xfrm>
          <a:prstGeom prst="straightConnector1">
            <a:avLst/>
          </a:prstGeom>
          <a:ln w="38100">
            <a:solidFill>
              <a:srgbClr val="9900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flipH="1">
            <a:off x="4792133" y="3152106"/>
            <a:ext cx="1422400" cy="558068"/>
          </a:xfrm>
          <a:prstGeom prst="straightConnector1">
            <a:avLst/>
          </a:prstGeom>
          <a:ln w="38100">
            <a:solidFill>
              <a:srgbClr val="9900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 flipH="1">
            <a:off x="6079067" y="3208867"/>
            <a:ext cx="135466" cy="501307"/>
          </a:xfrm>
          <a:prstGeom prst="straightConnector1">
            <a:avLst/>
          </a:prstGeom>
          <a:ln w="38100">
            <a:solidFill>
              <a:srgbClr val="9900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419835" y="963772"/>
            <a:ext cx="1" cy="536528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/>
          <p:cNvSpPr txBox="1"/>
          <p:nvPr/>
        </p:nvSpPr>
        <p:spPr>
          <a:xfrm>
            <a:off x="2584924" y="1693791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ea typeface="Cambria Math"/>
              </a:rPr>
              <a:t>y-intercept</a:t>
            </a:r>
            <a:endParaRPr lang="en-AU" sz="2400" dirty="0"/>
          </a:p>
        </p:txBody>
      </p:sp>
      <p:sp>
        <p:nvSpPr>
          <p:cNvPr id="242" name="TextBox 241"/>
          <p:cNvSpPr txBox="1"/>
          <p:nvPr/>
        </p:nvSpPr>
        <p:spPr>
          <a:xfrm>
            <a:off x="6003876" y="2690441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ea typeface="Cambria Math"/>
              </a:rPr>
              <a:t>x-intercepts</a:t>
            </a:r>
            <a:endParaRPr lang="en-AU" sz="2400" dirty="0"/>
          </a:p>
        </p:txBody>
      </p:sp>
      <p:sp>
        <p:nvSpPr>
          <p:cNvPr id="248" name="TextBox 247"/>
          <p:cNvSpPr txBox="1"/>
          <p:nvPr/>
        </p:nvSpPr>
        <p:spPr>
          <a:xfrm>
            <a:off x="5711857" y="5913556"/>
            <a:ext cx="2975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ea typeface="Cambria Math"/>
              </a:rPr>
              <a:t>Vertex (Turning Point)</a:t>
            </a:r>
          </a:p>
          <a:p>
            <a:r>
              <a:rPr lang="en-AU" sz="2400" dirty="0">
                <a:ea typeface="Cambria Math"/>
              </a:rPr>
              <a:t> </a:t>
            </a:r>
            <a:r>
              <a:rPr lang="en-AU" sz="2400" dirty="0" smtClean="0">
                <a:ea typeface="Cambria Math"/>
              </a:rPr>
              <a:t>           Minimum</a:t>
            </a:r>
            <a:endParaRPr lang="en-AU" sz="2400" dirty="0"/>
          </a:p>
        </p:txBody>
      </p:sp>
      <p:cxnSp>
        <p:nvCxnSpPr>
          <p:cNvPr id="249" name="Straight Arrow Connector 248"/>
          <p:cNvCxnSpPr/>
          <p:nvPr/>
        </p:nvCxnSpPr>
        <p:spPr>
          <a:xfrm flipV="1">
            <a:off x="4309300" y="5791200"/>
            <a:ext cx="1110535" cy="358919"/>
          </a:xfrm>
          <a:prstGeom prst="straightConnector1">
            <a:avLst/>
          </a:prstGeom>
          <a:ln w="38100">
            <a:solidFill>
              <a:srgbClr val="9900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2034852" y="5919287"/>
            <a:ext cx="2387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ea typeface="Cambria Math"/>
              </a:rPr>
              <a:t>Line of symmetry</a:t>
            </a:r>
            <a:endParaRPr lang="en-A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/>
      <p:bldP spid="242" grpId="0"/>
      <p:bldP spid="248" grpId="0"/>
      <p:bldP spid="2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"/>
          <p:cNvSpPr txBox="1">
            <a:spLocks noChangeArrowheads="1"/>
          </p:cNvSpPr>
          <p:nvPr/>
        </p:nvSpPr>
        <p:spPr bwMode="auto">
          <a:xfrm>
            <a:off x="588963" y="180975"/>
            <a:ext cx="7772400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3400" kern="0" dirty="0" smtClean="0">
                <a:solidFill>
                  <a:schemeClr val="tx2"/>
                </a:solidFill>
                <a:latin typeface="+mj-lt"/>
                <a:cs typeface="ヒラギノ角ゴ Pro W3" charset="-128"/>
              </a:rPr>
              <a:t>Sketching your parabola</a:t>
            </a:r>
            <a:endParaRPr lang="en-US" sz="3400" kern="0" dirty="0">
              <a:solidFill>
                <a:schemeClr val="tx2"/>
              </a:solidFill>
              <a:latin typeface="+mj-lt"/>
              <a:cs typeface="ヒラギノ角ゴ Pro W3" charset="-128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1" r="6845" b="14112"/>
          <a:stretch/>
        </p:blipFill>
        <p:spPr>
          <a:xfrm>
            <a:off x="1233182" y="1073127"/>
            <a:ext cx="6224631" cy="4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990600" y="1905000"/>
            <a:ext cx="7896225" cy="1338263"/>
          </a:xfrm>
          <a:noFill/>
        </p:spPr>
        <p:txBody>
          <a:bodyPr/>
          <a:lstStyle/>
          <a:p>
            <a:pPr>
              <a:spcBef>
                <a:spcPct val="0"/>
              </a:spcBef>
              <a:spcAft>
                <a:spcPts val="13"/>
              </a:spcAft>
              <a:buFontTx/>
              <a:buNone/>
            </a:pPr>
            <a:r>
              <a:rPr lang="en-US" altLang="en-US" sz="3400" b="1" smtClean="0">
                <a:latin typeface="Book Antiqua" pitchFamily="18" charset="0"/>
              </a:rPr>
              <a:t>The number of real solutions is at most two.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58813" y="0"/>
            <a:ext cx="7772400" cy="1143000"/>
          </a:xfrm>
          <a:noFill/>
        </p:spPr>
        <p:txBody>
          <a:bodyPr/>
          <a:lstStyle/>
          <a:p>
            <a:pPr>
              <a:spcAft>
                <a:spcPts val="13"/>
              </a:spcAft>
            </a:pPr>
            <a:r>
              <a:rPr lang="en-US" altLang="en-US" sz="4900" smtClean="0">
                <a:solidFill>
                  <a:schemeClr val="tx1"/>
                </a:solidFill>
              </a:rPr>
              <a:t>Solving a Quadratic</a:t>
            </a:r>
          </a:p>
        </p:txBody>
      </p:sp>
      <p:sp>
        <p:nvSpPr>
          <p:cNvPr id="19460" name="Text Box 7"/>
          <p:cNvSpPr txBox="1">
            <a:spLocks/>
          </p:cNvSpPr>
          <p:nvPr/>
        </p:nvSpPr>
        <p:spPr bwMode="auto">
          <a:xfrm>
            <a:off x="860425" y="4411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1" name="Text Box 9"/>
          <p:cNvSpPr txBox="1">
            <a:spLocks/>
          </p:cNvSpPr>
          <p:nvPr/>
        </p:nvSpPr>
        <p:spPr bwMode="auto">
          <a:xfrm>
            <a:off x="860425" y="4487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7418" name="Text Box 10"/>
          <p:cNvSpPr txBox="1">
            <a:spLocks/>
          </p:cNvSpPr>
          <p:nvPr/>
        </p:nvSpPr>
        <p:spPr bwMode="auto">
          <a:xfrm>
            <a:off x="534988" y="5713413"/>
            <a:ext cx="2308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elvetica" charset="0"/>
              </a:rPr>
              <a:t>No solutions</a:t>
            </a:r>
          </a:p>
        </p:txBody>
      </p:sp>
      <p:sp>
        <p:nvSpPr>
          <p:cNvPr id="19463" name="Text Box 11"/>
          <p:cNvSpPr txBox="1">
            <a:spLocks/>
          </p:cNvSpPr>
          <p:nvPr/>
        </p:nvSpPr>
        <p:spPr bwMode="auto">
          <a:xfrm>
            <a:off x="1143000" y="54864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4" name="Text Box 13"/>
          <p:cNvSpPr txBox="1">
            <a:spLocks/>
          </p:cNvSpPr>
          <p:nvPr/>
        </p:nvSpPr>
        <p:spPr bwMode="auto">
          <a:xfrm>
            <a:off x="762000" y="38100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5" name="Text Box 14"/>
          <p:cNvSpPr txBox="1">
            <a:spLocks/>
          </p:cNvSpPr>
          <p:nvPr/>
        </p:nvSpPr>
        <p:spPr bwMode="auto">
          <a:xfrm>
            <a:off x="4060825" y="4495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6" name="Text Box 15"/>
          <p:cNvSpPr txBox="1">
            <a:spLocks/>
          </p:cNvSpPr>
          <p:nvPr/>
        </p:nvSpPr>
        <p:spPr bwMode="auto">
          <a:xfrm>
            <a:off x="533400" y="31242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7" name="Text Box 17"/>
          <p:cNvSpPr txBox="1">
            <a:spLocks/>
          </p:cNvSpPr>
          <p:nvPr/>
        </p:nvSpPr>
        <p:spPr bwMode="auto">
          <a:xfrm>
            <a:off x="250825" y="6392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68" name="Text Box 18"/>
          <p:cNvSpPr txBox="1">
            <a:spLocks/>
          </p:cNvSpPr>
          <p:nvPr/>
        </p:nvSpPr>
        <p:spPr bwMode="auto">
          <a:xfrm>
            <a:off x="1127125" y="40227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69" name="Text Box 19"/>
          <p:cNvSpPr txBox="1">
            <a:spLocks/>
          </p:cNvSpPr>
          <p:nvPr/>
        </p:nvSpPr>
        <p:spPr bwMode="auto">
          <a:xfrm>
            <a:off x="1431925" y="19653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70" name="Text Box 20"/>
          <p:cNvSpPr txBox="1">
            <a:spLocks/>
          </p:cNvSpPr>
          <p:nvPr/>
        </p:nvSpPr>
        <p:spPr bwMode="auto">
          <a:xfrm>
            <a:off x="822325" y="20415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71" name="Text Box 21"/>
          <p:cNvSpPr txBox="1">
            <a:spLocks/>
          </p:cNvSpPr>
          <p:nvPr/>
        </p:nvSpPr>
        <p:spPr bwMode="auto">
          <a:xfrm>
            <a:off x="990600" y="21336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72" name="Text Box 22"/>
          <p:cNvSpPr txBox="1">
            <a:spLocks/>
          </p:cNvSpPr>
          <p:nvPr/>
        </p:nvSpPr>
        <p:spPr bwMode="auto">
          <a:xfrm>
            <a:off x="-304800" y="30480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73" name="Text Box 23"/>
          <p:cNvSpPr txBox="1">
            <a:spLocks/>
          </p:cNvSpPr>
          <p:nvPr/>
        </p:nvSpPr>
        <p:spPr bwMode="auto">
          <a:xfrm>
            <a:off x="3908425" y="2963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74" name="Text Box 24"/>
          <p:cNvSpPr txBox="1">
            <a:spLocks/>
          </p:cNvSpPr>
          <p:nvPr/>
        </p:nvSpPr>
        <p:spPr bwMode="auto">
          <a:xfrm>
            <a:off x="3794125" y="25749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75" name="Text Box 25"/>
          <p:cNvSpPr txBox="1">
            <a:spLocks/>
          </p:cNvSpPr>
          <p:nvPr/>
        </p:nvSpPr>
        <p:spPr bwMode="auto">
          <a:xfrm>
            <a:off x="4038600" y="31242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76" name="Text Box 26"/>
          <p:cNvSpPr txBox="1">
            <a:spLocks/>
          </p:cNvSpPr>
          <p:nvPr/>
        </p:nvSpPr>
        <p:spPr bwMode="auto">
          <a:xfrm>
            <a:off x="8442325" y="33369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77" name="Text Box 27"/>
          <p:cNvSpPr txBox="1">
            <a:spLocks/>
          </p:cNvSpPr>
          <p:nvPr/>
        </p:nvSpPr>
        <p:spPr bwMode="auto">
          <a:xfrm>
            <a:off x="3413125" y="41751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78" name="Text Box 28"/>
          <p:cNvSpPr txBox="1">
            <a:spLocks/>
          </p:cNvSpPr>
          <p:nvPr/>
        </p:nvSpPr>
        <p:spPr bwMode="auto">
          <a:xfrm>
            <a:off x="1851025" y="2201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9479" name="Text Box 29"/>
          <p:cNvSpPr txBox="1">
            <a:spLocks/>
          </p:cNvSpPr>
          <p:nvPr/>
        </p:nvSpPr>
        <p:spPr bwMode="auto">
          <a:xfrm>
            <a:off x="1203325" y="19653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pic>
        <p:nvPicPr>
          <p:cNvPr id="19480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3057525"/>
            <a:ext cx="2482850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81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3" y="3055938"/>
            <a:ext cx="2746375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82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124200"/>
            <a:ext cx="2927350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3" name="Text Box 36"/>
          <p:cNvSpPr txBox="1">
            <a:spLocks/>
          </p:cNvSpPr>
          <p:nvPr/>
        </p:nvSpPr>
        <p:spPr bwMode="auto">
          <a:xfrm>
            <a:off x="3336925" y="53181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7445" name="Text Box 37"/>
          <p:cNvSpPr txBox="1">
            <a:spLocks/>
          </p:cNvSpPr>
          <p:nvPr/>
        </p:nvSpPr>
        <p:spPr bwMode="auto">
          <a:xfrm>
            <a:off x="3429000" y="5630863"/>
            <a:ext cx="22717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latin typeface="Helvetica" charset="0"/>
              </a:rPr>
              <a:t>One solution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latin typeface="Helvetica" charset="0"/>
              </a:rPr>
              <a:t>X = 3</a:t>
            </a:r>
          </a:p>
        </p:txBody>
      </p:sp>
      <p:sp>
        <p:nvSpPr>
          <p:cNvPr id="19485" name="Text Box 38"/>
          <p:cNvSpPr txBox="1">
            <a:spLocks/>
          </p:cNvSpPr>
          <p:nvPr/>
        </p:nvSpPr>
        <p:spPr bwMode="auto">
          <a:xfrm>
            <a:off x="6080125" y="53181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7447" name="Text Box 39"/>
          <p:cNvSpPr txBox="1">
            <a:spLocks/>
          </p:cNvSpPr>
          <p:nvPr/>
        </p:nvSpPr>
        <p:spPr bwMode="auto">
          <a:xfrm>
            <a:off x="6281738" y="5630863"/>
            <a:ext cx="2362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elvetica" charset="0"/>
              </a:rPr>
              <a:t>Two  solutions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elvetica" charset="0"/>
              </a:rPr>
              <a:t>X= -2 or X =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58125" y="82550"/>
            <a:ext cx="12858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488" name="TextBox 31"/>
          <p:cNvSpPr txBox="1">
            <a:spLocks noChangeArrowheads="1"/>
          </p:cNvSpPr>
          <p:nvPr/>
        </p:nvSpPr>
        <p:spPr bwMode="auto">
          <a:xfrm>
            <a:off x="676275" y="952500"/>
            <a:ext cx="79311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pPr eaLnBrk="1" hangingPunct="1"/>
            <a:r>
              <a:rPr lang="en-US" altLang="en-US" sz="2800"/>
              <a:t>The </a:t>
            </a:r>
            <a:r>
              <a:rPr lang="en-US" altLang="en-US" sz="2800" b="1"/>
              <a:t>x-intercepts </a:t>
            </a:r>
            <a:r>
              <a:rPr lang="en-US" altLang="en-US" sz="2800"/>
              <a:t>(when y = 0)</a:t>
            </a:r>
            <a:r>
              <a:rPr lang="en-US" altLang="en-US" sz="2800" b="1"/>
              <a:t> </a:t>
            </a:r>
            <a:r>
              <a:rPr lang="en-US" altLang="en-US" sz="2800"/>
              <a:t>of a quadratic function </a:t>
            </a:r>
          </a:p>
          <a:p>
            <a:pPr eaLnBrk="1" hangingPunct="1"/>
            <a:r>
              <a:rPr lang="en-US" altLang="en-US" sz="2800"/>
              <a:t>are the solutions to the related quadratic equation.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" grpId="0" build="p"/>
      <p:bldP spid="17418" grpId="0"/>
      <p:bldP spid="17445" grpId="0"/>
      <p:bldP spid="17447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</TotalTime>
  <Words>946</Words>
  <Application>Microsoft Office PowerPoint</Application>
  <PresentationFormat>On-screen Show (4:3)</PresentationFormat>
  <Paragraphs>113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Times New Roman</vt:lpstr>
      <vt:lpstr>ヒラギノ角ゴ Pro W3</vt:lpstr>
      <vt:lpstr>Arial</vt:lpstr>
      <vt:lpstr>Calibri</vt:lpstr>
      <vt:lpstr>Book Antiqua</vt:lpstr>
      <vt:lpstr>Helvetica</vt:lpstr>
      <vt:lpstr>Default Design</vt:lpstr>
      <vt:lpstr>Microsoft Equation</vt:lpstr>
      <vt:lpstr>MathType 5.0 Equation</vt:lpstr>
      <vt:lpstr>Microsoft Equation 3.0</vt:lpstr>
      <vt:lpstr>Topic: Sketching Quadratic Functions</vt:lpstr>
      <vt:lpstr>Quadratic Functions</vt:lpstr>
      <vt:lpstr>Standard Form</vt:lpstr>
      <vt:lpstr>Axis of Symmetry</vt:lpstr>
      <vt:lpstr>Graphing a Quadratic Function</vt:lpstr>
      <vt:lpstr>PowerPoint Presentation</vt:lpstr>
      <vt:lpstr>Finding the Axis of Symmetry</vt:lpstr>
      <vt:lpstr>Finding the Vertex</vt:lpstr>
      <vt:lpstr>PowerPoint Presentation</vt:lpstr>
      <vt:lpstr>PowerPoint Presentation</vt:lpstr>
      <vt:lpstr>PowerPoint Presentation</vt:lpstr>
      <vt:lpstr>PowerPoint Presentation</vt:lpstr>
      <vt:lpstr>Solving a Quadratic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Graphing Quadratic Functions</dc:title>
  <dc:creator>Larson, Sladjana</dc:creator>
  <cp:lastModifiedBy>FRASER-JONES Laura</cp:lastModifiedBy>
  <cp:revision>46</cp:revision>
  <dcterms:created xsi:type="dcterms:W3CDTF">2011-04-25T13:24:03Z</dcterms:created>
  <dcterms:modified xsi:type="dcterms:W3CDTF">2016-09-07T01:26:23Z</dcterms:modified>
</cp:coreProperties>
</file>
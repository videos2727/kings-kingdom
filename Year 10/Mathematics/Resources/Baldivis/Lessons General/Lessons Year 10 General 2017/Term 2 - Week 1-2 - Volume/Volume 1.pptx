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84" r:id="rId3"/>
  </p:sldMasterIdLst>
  <p:notesMasterIdLst>
    <p:notesMasterId r:id="rId14"/>
  </p:notesMasterIdLst>
  <p:handoutMasterIdLst>
    <p:handoutMasterId r:id="rId15"/>
  </p:handoutMasterIdLst>
  <p:sldIdLst>
    <p:sldId id="282" r:id="rId4"/>
    <p:sldId id="256" r:id="rId5"/>
    <p:sldId id="257" r:id="rId6"/>
    <p:sldId id="271" r:id="rId7"/>
    <p:sldId id="272" r:id="rId8"/>
    <p:sldId id="273" r:id="rId9"/>
    <p:sldId id="277" r:id="rId10"/>
    <p:sldId id="281" r:id="rId11"/>
    <p:sldId id="275" r:id="rId12"/>
    <p:sldId id="280" r:id="rId13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327F5DF-8BD0-476F-AF3C-A256BE4F9F43}">
          <p14:sldIdLst>
            <p14:sldId id="282"/>
            <p14:sldId id="256"/>
            <p14:sldId id="257"/>
            <p14:sldId id="271"/>
            <p14:sldId id="272"/>
            <p14:sldId id="273"/>
            <p14:sldId id="277"/>
            <p14:sldId id="281"/>
            <p14:sldId id="275"/>
            <p14:sldId id="280"/>
          </p14:sldIdLst>
        </p14:section>
        <p14:section name="Un-used slides" id="{03370B32-6515-4975-906E-8F5E03A9B599}">
          <p14:sldIdLst/>
        </p14:section>
      </p14:sectionLst>
    </p:ex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EC20E35-A176-4012-BC5E-935CFFF8708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2841" autoAdjust="0"/>
  </p:normalViewPr>
  <p:slideViewPr>
    <p:cSldViewPr>
      <p:cViewPr varScale="1">
        <p:scale>
          <a:sx n="56" d="100"/>
          <a:sy n="56" d="100"/>
        </p:scale>
        <p:origin x="492" y="102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52" d="100"/>
          <a:sy n="52" d="100"/>
        </p:scale>
        <p:origin x="2664" y="3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4AA43A-3F76-4A13-9CD6-36134EB429E3}" type="datetimeFigureOut">
              <a:rPr lang="en-US"/>
              <a:t>4/24/2017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50423A-8BCE-448E-A97B-03A88B2B12C1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1395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674A4F-2B7A-4ECB-A400-260B2FFC03C1}" type="datetimeFigureOut">
              <a:rPr lang="en-US"/>
              <a:t>4/24/2017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F2A70B-78F2-4DCF-B53B-C990D2FAFB8A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11570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SET – I am moving houses next week.</a:t>
            </a:r>
            <a:r>
              <a:rPr lang="en-AU" baseline="0" dirty="0"/>
              <a:t> One of my friends have offered to help by lending her the truck. I have packed my goods in cubic packing boxes with side length of 2.5 ft. If the Truck has the dimensions as given, how many boxes can I fit in the Truck?</a:t>
            </a:r>
          </a:p>
          <a:p>
            <a:endParaRPr lang="en-AU" baseline="0" dirty="0"/>
          </a:p>
          <a:p>
            <a:r>
              <a:rPr lang="en-AU" baseline="0" dirty="0"/>
              <a:t>Ask students how they will solve the problem. Discuss the mathematical problem solving procedure and lead the discussion towards Volume (Filling empty 3D space – Volume - inside the truck with boxes).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2A70B-78F2-4DCF-B53B-C990D2FAFB8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1066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2A70B-78F2-4DCF-B53B-C990D2FAFB8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1881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 : Use the video or</a:t>
            </a:r>
            <a:r>
              <a:rPr lang="en-AU" baseline="0" dirty="0"/>
              <a:t> do the direct instruction yourself using the next slide </a:t>
            </a:r>
            <a:endParaRPr lang="en-AU" dirty="0"/>
          </a:p>
          <a:p>
            <a:r>
              <a:rPr lang="en-AU" dirty="0"/>
              <a:t>https://www.youtube.com/watch?v=xMz9WFvox9g&amp;t=23s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2A70B-78F2-4DCF-B53B-C990D2FAFB8A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685295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 : Summarise the information of the Video fro</a:t>
            </a:r>
            <a:r>
              <a:rPr lang="en-AU" baseline="0" dirty="0"/>
              <a:t>m previous slide. Or use the slide to carry out input instead of the video.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2A70B-78F2-4DCF-B53B-C990D2FAFB8A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319267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Go</a:t>
            </a:r>
            <a:r>
              <a:rPr lang="en-AU" baseline="0" dirty="0"/>
              <a:t> through the answer for both of this shapes. Asks students if they can think of a formula? </a:t>
            </a:r>
          </a:p>
          <a:p>
            <a:r>
              <a:rPr lang="en-AU" baseline="0" dirty="0"/>
              <a:t>Explanation : https://www.youtube.com/watch?v=E8tuMaDxgJM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2A70B-78F2-4DCF-B53B-C990D2FAFB8A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852421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INB notes</a:t>
            </a:r>
          </a:p>
          <a:p>
            <a:r>
              <a:rPr lang="en-AU" dirty="0"/>
              <a:t>Input – Formalising</a:t>
            </a:r>
            <a:r>
              <a:rPr lang="en-AU" baseline="0" dirty="0"/>
              <a:t> the learning from Activity -1, by taking notes in the INB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55BE75-6727-4F64-82F8-DA94106C0530}" type="slidenum">
              <a:rPr kumimoji="0" lang="en-AU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AU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2385828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Modelling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2A70B-78F2-4DCF-B53B-C990D2FAFB8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0435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2A70B-78F2-4DCF-B53B-C990D2FAFB8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2442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2A70B-78F2-4DCF-B53B-C990D2FAFB8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9648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2413" y="1905000"/>
            <a:ext cx="9144000" cy="2667000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56" name="line" descr="Line graphic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7" name="Freeform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8" name="Freeform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9" name="Freeform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0" name="Freeform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1" name="Freeform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2" name="Freeform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3" name="Freeform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4" name="Freeform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5" name="Freeform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6" name="Freeform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7" name="Freeform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8" name="Freeform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9" name="Freeform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0" name="Freeform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1" name="Freeform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2" name="Freeform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3" name="Freeform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4" name="Freeform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5" name="Freeform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6" name="Freeform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7" name="Freeform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8" name="Freeform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9" name="Freeform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0" name="Freeform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1" name="Freeform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2" name="Freeform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3" name="Freeform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4" name="Freeform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5" name="Freeform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6" name="Freeform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7" name="Freeform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8" name="Freeform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9" name="Freeform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0" name="Freeform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1" name="Freeform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2" name="Freeform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3" name="Freeform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4" name="Freeform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5" name="Freeform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6" name="Freeform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7" name="Freeform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8" name="Freeform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9" name="Freeform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0" name="Freeform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1" name="Freeform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2" name="Freeform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3" name="Freeform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4" name="Freeform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5" name="Freeform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6" name="Freeform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7" name="Freeform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8" name="Freeform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9" name="Freeform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0" name="Freeform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1" name="Freeform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2" name="Freeform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3" name="Freeform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4" name="Freeform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5" name="Freeform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6" name="Freeform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7" name="Freeform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8" name="Freeform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9" name="Freeform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0" name="Freeform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1" name="Freeform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2" name="Freeform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3" name="Freeform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4" name="Freeform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5" name="Freeform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6" name="Freeform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7" name="Freeform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8" name="Freeform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9" name="Freeform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0" name="Freeform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1" name="Freeform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2" name="Freeform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3" name="Freeform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4" name="Freeform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5" name="Freeform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6" name="Freeform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7" name="Freeform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8" name="Freeform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9" name="Freeform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0" name="Freeform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1" name="Freeform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2" name="Freeform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3" name="Freeform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4" name="Freeform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5" name="Freeform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6" name="Freeform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7" name="Freeform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8" name="Freeform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9" name="Freeform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0" name="Freeform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1" name="Freeform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2" name="Freeform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3" name="Freeform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4" name="Freeform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5" name="Freeform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6" name="Freeform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7" name="Freeform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8" name="Freeform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9" name="Freeform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0" name="Freeform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1" name="Freeform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2" name="Freeform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3" name="Freeform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4" name="Freeform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5" name="Freeform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6" name="Freeform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7" name="Freeform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8" name="Freeform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9" name="Freeform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0" name="Freeform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1" name="Freeform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2" name="Freeform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3" name="Freeform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4" name="Freeform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5" name="Freeform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6" name="Freeform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7" name="Freeform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8" name="Freeform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9" name="Freeform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5105400"/>
            <a:ext cx="9143999" cy="10668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74356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67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8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548640">
              <a:defRPr/>
            </a:lvl2pPr>
            <a:lvl3pPr marL="777240">
              <a:defRPr/>
            </a:lvl3pPr>
            <a:lvl4pPr marL="1005840">
              <a:defRPr/>
            </a:lvl4pPr>
            <a:lvl5pPr marL="1234440">
              <a:defRPr/>
            </a:lvl5pPr>
            <a:lvl6pPr marL="1463040">
              <a:defRPr baseline="0"/>
            </a:lvl6pPr>
            <a:lvl7pPr marL="1691640">
              <a:defRPr baseline="0"/>
            </a:lvl7pPr>
            <a:lvl8pPr marL="1920240">
              <a:defRPr baseline="0"/>
            </a:lvl8pPr>
            <a:lvl9pPr marL="2148840">
              <a:defRPr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4/24/2017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4472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3" y="1905000"/>
            <a:ext cx="9144000" cy="2667000"/>
          </a:xfrm>
        </p:spPr>
        <p:txBody>
          <a:bodyPr anchor="b">
            <a:noAutofit/>
          </a:bodyPr>
          <a:lstStyle>
            <a:lvl1pPr algn="l">
              <a:defRPr sz="4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55" name="line" descr="Line graphic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6" name="Freeform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7" name="Freeform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8" name="Freeform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9" name="Freeform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0" name="Freeform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1" name="Freeform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2" name="Freeform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3" name="Freeform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4" name="Freeform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5" name="Freeform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6" name="Freeform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7" name="Freeform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8" name="Freeform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9" name="Freeform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0" name="Freeform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1" name="Freeform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2" name="Freeform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3" name="Freeform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4" name="Freeform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5" name="Freeform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6" name="Freeform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7" name="Freeform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8" name="Freeform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9" name="Freeform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0" name="Freeform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1" name="Freeform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2" name="Freeform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3" name="Freeform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4" name="Freeform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5" name="Freeform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6" name="Freeform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7" name="Freeform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8" name="Freeform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9" name="Freeform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0" name="Freeform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1" name="Freeform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2" name="Freeform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3" name="Freeform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4" name="Freeform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5" name="Freeform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6" name="Freeform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7" name="Freeform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8" name="Freeform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9" name="Freeform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0" name="Freeform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1" name="Freeform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2" name="Freeform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3" name="Freeform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4" name="Freeform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5" name="Freeform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6" name="Freeform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7" name="Freeform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8" name="Freeform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9" name="Freeform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0" name="Freeform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1" name="Freeform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2" name="Freeform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3" name="Freeform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4" name="Freeform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5" name="Freeform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6" name="Freeform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7" name="Freeform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8" name="Freeform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9" name="Freeform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0" name="Freeform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1" name="Freeform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2" name="Freeform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3" name="Freeform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4" name="Freeform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5" name="Freeform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6" name="Freeform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7" name="Freeform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8" name="Freeform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9" name="Freeform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0" name="Freeform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1" name="Freeform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2" name="Freeform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3" name="Freeform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4" name="Freeform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5" name="Freeform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6" name="Freeform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7" name="Freeform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8" name="Freeform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9" name="Freeform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0" name="Freeform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1" name="Freeform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2" name="Freeform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3" name="Freeform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4" name="Freeform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5" name="Freeform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6" name="Freeform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7" name="Freeform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8" name="Freeform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9" name="Freeform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0" name="Freeform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1" name="Freeform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2" name="Freeform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3" name="Freeform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4" name="Freeform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5" name="Freeform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6" name="Freeform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7" name="Freeform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8" name="Freeform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9" name="Freeform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0" name="Freeform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1" name="Freeform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2" name="Freeform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3" name="Freeform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4" name="Freeform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5" name="Freeform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6" name="Freeform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7" name="Freeform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8" name="Freeform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9" name="Freeform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0" name="Freeform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1" name="Freeform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2" name="Freeform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3" name="Freeform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4" name="Freeform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5" name="Freeform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6" name="Freeform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7" name="Freeform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8" name="Freeform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5102525"/>
            <a:ext cx="9143999" cy="1069675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4/24/2017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8797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58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59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0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1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2413" y="1905000"/>
            <a:ext cx="4419599" cy="42672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6815" y="1905000"/>
            <a:ext cx="4419598" cy="42672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4/24/2017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83294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60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1" name="Freeform 16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6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6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3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4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1905000"/>
            <a:ext cx="44165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3" y="2819399"/>
            <a:ext cx="4416552" cy="33528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9860" y="1905000"/>
            <a:ext cx="44165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9860" y="2819399"/>
            <a:ext cx="4416552" cy="33528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 marL="1956816">
              <a:defRPr sz="1600"/>
            </a:lvl5pPr>
            <a:lvl6pPr marL="1956816">
              <a:defRPr sz="1600"/>
            </a:lvl6pPr>
            <a:lvl7pPr marL="1956816">
              <a:defRPr sz="1600"/>
            </a:lvl7pPr>
            <a:lvl8pPr marL="1956816">
              <a:defRPr sz="1600"/>
            </a:lvl8pPr>
            <a:lvl9pPr marL="1956816"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4/24/2017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2491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56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57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8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9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0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1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4/24/2017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31561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4/24/2017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5966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anchor="b">
            <a:no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2413" y="3429000"/>
            <a:ext cx="2743200" cy="2743200"/>
          </a:xfrm>
        </p:spPr>
        <p:txBody>
          <a:bodyPr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0022" y="1905000"/>
            <a:ext cx="5669280" cy="4038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 baseline="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grpSp>
        <p:nvGrpSpPr>
          <p:cNvPr id="615" name="frame" descr="Box graphic"/>
          <p:cNvGrpSpPr/>
          <p:nvPr/>
        </p:nvGrpSpPr>
        <p:grpSpPr bwMode="invGray">
          <a:xfrm>
            <a:off x="4417839" y="1630821"/>
            <a:ext cx="6291028" cy="4575885"/>
            <a:chOff x="4417839" y="1630821"/>
            <a:chExt cx="6291028" cy="4575885"/>
          </a:xfrm>
        </p:grpSpPr>
        <p:grpSp>
          <p:nvGrpSpPr>
            <p:cNvPr id="616" name="Group 615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8" name="Group 76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4" name="Freeform 84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5" name="Freeform 84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6" name="Freeform 84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7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8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9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0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1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2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3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4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5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6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7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8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9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0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1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2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3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4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5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6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7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8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9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0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1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2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3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4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5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6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7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8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9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0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1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2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3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4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5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6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7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8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9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0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1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2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3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4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5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6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7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8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9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0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1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2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3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4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5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6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7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8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9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0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1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2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3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4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5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6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7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9" name="Group 76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70" name="Freeform 76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1" name="Freeform 77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2" name="Freeform 77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3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4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5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6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7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8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9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0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1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2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3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4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5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6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7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8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9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0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1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2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3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4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5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6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7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8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9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0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1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2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3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4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5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6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7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8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9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0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1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2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3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4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5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6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7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8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9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0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1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2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3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4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5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6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7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8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9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0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1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2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3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4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5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6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7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8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9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0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1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2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3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7" name="Group 616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8" name="Group 61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4" name="Freeform 69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5" name="Freeform 69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6" name="Freeform 69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7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8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9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0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1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2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3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4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5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6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7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8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9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0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1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2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3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4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5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6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7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8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9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0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1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2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3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4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5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6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7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8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9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0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1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2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3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4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5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6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7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8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9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0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1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2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3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4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5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6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7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8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9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0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1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2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3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4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5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6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7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8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9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0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1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2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3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4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5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6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7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9" name="Group 61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20" name="Freeform 61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1" name="Freeform 62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2" name="Freeform 62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3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4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5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6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7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8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9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0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1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2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3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4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5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6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7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8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9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0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1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2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3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4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5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6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7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8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9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0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1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2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3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4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5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6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7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8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9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0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1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2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3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4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5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6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7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8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9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0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1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2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3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4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5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6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7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8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9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0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1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2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3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4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5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6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7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8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9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0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1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2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3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4/24/2017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62116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anchor="b">
            <a:no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1745838" y="1884311"/>
            <a:ext cx="5669280" cy="4041648"/>
          </a:xfrm>
          <a:solidFill>
            <a:schemeClr val="bg1"/>
          </a:solidFill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grpSp>
        <p:nvGrpSpPr>
          <p:cNvPr id="614" name="frame" descr="Box graphic"/>
          <p:cNvGrpSpPr/>
          <p:nvPr/>
        </p:nvGrpSpPr>
        <p:grpSpPr bwMode="invGray">
          <a:xfrm flipH="1">
            <a:off x="1447500" y="1630821"/>
            <a:ext cx="6291028" cy="4575885"/>
            <a:chOff x="4417839" y="1630821"/>
            <a:chExt cx="6291028" cy="4575885"/>
          </a:xfrm>
        </p:grpSpPr>
        <p:grpSp>
          <p:nvGrpSpPr>
            <p:cNvPr id="615" name="Group 614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7" name="Group 76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3" name="Freeform 84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4" name="Freeform 84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5" name="Freeform 84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6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7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8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9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0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1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2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3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4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5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6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7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8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9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0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1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2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3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4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5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6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7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8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9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0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1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2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3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4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5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6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7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8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9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0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1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2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3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4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5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6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7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8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9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0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1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2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3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4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5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6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7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8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9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0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1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2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3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4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5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6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7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8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9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0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1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2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3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4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5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6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8" name="Group 76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69" name="Freeform 76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0" name="Freeform 76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1" name="Freeform 77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2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3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4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5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6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7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8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9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0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1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2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3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4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5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6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7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8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9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0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1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2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3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4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5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6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7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8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9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0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1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2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3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4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5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6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7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8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9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0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1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2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3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4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5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6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7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8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9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0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1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2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3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4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5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6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7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8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9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0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1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2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3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4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5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6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7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8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9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0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1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2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6" name="Group 615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7" name="Group 61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3" name="Freeform 69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4" name="Freeform 69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5" name="Freeform 69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6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7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8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9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0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1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2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3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4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5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6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7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8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9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0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1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2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3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4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5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6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7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8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9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0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1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2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3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4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5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6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7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8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9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0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1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2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3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4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5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6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7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8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9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0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1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2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3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4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5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6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7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8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9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0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1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2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3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4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5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6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7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8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9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0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1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2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3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4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5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6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8" name="Group 61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19" name="Freeform 61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0" name="Freeform 61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1" name="Freeform 62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2" name="Freeform 621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3" name="Freeform 622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4" name="Freeform 623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5" name="Freeform 624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6" name="Freeform 625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7" name="Freeform 626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8" name="Freeform 627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9" name="Freeform 628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0" name="Freeform 629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1" name="Freeform 630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2" name="Freeform 631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3" name="Freeform 632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4" name="Freeform 633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5" name="Freeform 634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6" name="Freeform 635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7" name="Freeform 636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8" name="Freeform 637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9" name="Freeform 638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0" name="Freeform 639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1" name="Freeform 640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2" name="Freeform 641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3" name="Freeform 642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4" name="Freeform 643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5" name="Freeform 644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6" name="Freeform 645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7" name="Freeform 646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8" name="Freeform 647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9" name="Freeform 648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0" name="Freeform 649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1" name="Freeform 650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2" name="Freeform 651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3" name="Freeform 652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4" name="Freeform 653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5" name="Freeform 654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6" name="Freeform 655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7" name="Freeform 656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8" name="Freeform 657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9" name="Freeform 658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0" name="Freeform 659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1" name="Freeform 660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2" name="Freeform 661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3" name="Freeform 662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4" name="Freeform 663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5" name="Freeform 664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6" name="Freeform 665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7" name="Freeform 666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8" name="Freeform 667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9" name="Freeform 668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0" name="Freeform 669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1" name="Freeform 670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2" name="Freeform 671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3" name="Freeform 672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4" name="Freeform 673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5" name="Freeform 674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6" name="Freeform 675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7" name="Freeform 676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8" name="Freeform 677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9" name="Freeform 678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0" name="Freeform 679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1" name="Freeform 680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2" name="Freeform 681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3" name="Freeform 682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4" name="Freeform 683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5" name="Freeform 684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6" name="Freeform 685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7" name="Freeform 686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8" name="Freeform 687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9" name="Freeform 688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0" name="Freeform 689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1" name="Freeform 690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2" name="Freeform 691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5959" y="3411748"/>
            <a:ext cx="2743200" cy="2743200"/>
          </a:xfrm>
        </p:spPr>
        <p:txBody>
          <a:bodyPr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4/24/2017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7694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7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8" name="Freeform 7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9" name="Freeform 8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0" name="Freeform 9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 marL="1956816">
              <a:defRPr/>
            </a:lvl6pPr>
            <a:lvl7pPr marL="1956816">
              <a:defRPr/>
            </a:lvl7pPr>
            <a:lvl8pPr marL="1956816">
              <a:defRPr/>
            </a:lvl8pPr>
            <a:lvl9pPr marL="1956816">
              <a:defRPr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4/24/2017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6793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61612" y="274639"/>
            <a:ext cx="1371600" cy="59017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7" name="line" descr="Line graphic"/>
          <p:cNvGrpSpPr/>
          <p:nvPr/>
        </p:nvGrpSpPr>
        <p:grpSpPr bwMode="invGray">
          <a:xfrm rot="5400000">
            <a:off x="6864412" y="3472598"/>
            <a:ext cx="6492240" cy="64008"/>
            <a:chOff x="1522413" y="1514475"/>
            <a:chExt cx="10569575" cy="64008"/>
          </a:xfrm>
        </p:grpSpPr>
        <p:sp>
          <p:nvSpPr>
            <p:cNvPr id="8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9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0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08012" y="277813"/>
            <a:ext cx="9144001" cy="5898573"/>
          </a:xfrm>
        </p:spPr>
        <p:txBody>
          <a:bodyPr vert="eaVert"/>
          <a:lstStyle>
            <a:lvl5pPr>
              <a:defRPr/>
            </a:lvl5pPr>
            <a:lvl6pPr marL="1261872" indent="0">
              <a:buNone/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dirty="0"/>
              <a:t>Click to edit Master text styles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4/24/2017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11791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3603" y="1122363"/>
            <a:ext cx="9141619" cy="2387600"/>
          </a:xfrm>
        </p:spPr>
        <p:txBody>
          <a:bodyPr anchor="b"/>
          <a:lstStyle>
            <a:lvl1pPr algn="ctr">
              <a:defRPr sz="599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3603" y="3602038"/>
            <a:ext cx="9141619" cy="1655762"/>
          </a:xfrm>
        </p:spPr>
        <p:txBody>
          <a:bodyPr/>
          <a:lstStyle>
            <a:lvl1pPr marL="0" indent="0" algn="ctr">
              <a:buNone/>
              <a:defRPr sz="2399"/>
            </a:lvl1pPr>
            <a:lvl2pPr marL="457063" indent="0" algn="ctr">
              <a:buNone/>
              <a:defRPr sz="1999"/>
            </a:lvl2pPr>
            <a:lvl3pPr marL="914126" indent="0" algn="ctr">
              <a:buNone/>
              <a:defRPr sz="1799"/>
            </a:lvl3pPr>
            <a:lvl4pPr marL="1371189" indent="0" algn="ctr">
              <a:buNone/>
              <a:defRPr sz="1600"/>
            </a:lvl4pPr>
            <a:lvl5pPr marL="1828251" indent="0" algn="ctr">
              <a:buNone/>
              <a:defRPr sz="1600"/>
            </a:lvl5pPr>
            <a:lvl6pPr marL="2285314" indent="0" algn="ctr">
              <a:buNone/>
              <a:defRPr sz="1600"/>
            </a:lvl6pPr>
            <a:lvl7pPr marL="2742377" indent="0" algn="ctr">
              <a:buNone/>
              <a:defRPr sz="1600"/>
            </a:lvl7pPr>
            <a:lvl8pPr marL="3199440" indent="0" algn="ctr">
              <a:buNone/>
              <a:defRPr sz="1600"/>
            </a:lvl8pPr>
            <a:lvl9pPr marL="365650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4/24/2017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0128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4/24/2017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09851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633" y="1709739"/>
            <a:ext cx="10512862" cy="2852737"/>
          </a:xfrm>
        </p:spPr>
        <p:txBody>
          <a:bodyPr anchor="b"/>
          <a:lstStyle>
            <a:lvl1pPr>
              <a:defRPr sz="599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633" y="4589464"/>
            <a:ext cx="10512862" cy="1500187"/>
          </a:xfrm>
        </p:spPr>
        <p:txBody>
          <a:bodyPr/>
          <a:lstStyle>
            <a:lvl1pPr marL="0" indent="0">
              <a:buNone/>
              <a:defRPr sz="2399">
                <a:solidFill>
                  <a:schemeClr val="tx1">
                    <a:tint val="75000"/>
                  </a:schemeClr>
                </a:solidFill>
              </a:defRPr>
            </a:lvl1pPr>
            <a:lvl2pPr marL="457063" indent="0">
              <a:buNone/>
              <a:defRPr sz="19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4/24/2017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2016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7982" y="1825625"/>
            <a:ext cx="5180251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592" y="1825625"/>
            <a:ext cx="5180251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4/24/2017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25786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569" y="365126"/>
            <a:ext cx="10512862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570" y="1681163"/>
            <a:ext cx="5156444" cy="82391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570" y="2505075"/>
            <a:ext cx="5156444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0593" y="1681163"/>
            <a:ext cx="5181838" cy="82391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593" y="2505075"/>
            <a:ext cx="518183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4/24/2017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2032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4/24/2017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11268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4/24/2017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3623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570" y="457200"/>
            <a:ext cx="3931213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838" y="987426"/>
            <a:ext cx="6170593" cy="4873625"/>
          </a:xfrm>
        </p:spPr>
        <p:txBody>
          <a:bodyPr/>
          <a:lstStyle>
            <a:lvl1pPr>
              <a:defRPr sz="3199"/>
            </a:lvl1pPr>
            <a:lvl2pPr>
              <a:defRPr sz="2799"/>
            </a:lvl2pPr>
            <a:lvl3pPr>
              <a:defRPr sz="2399"/>
            </a:lvl3pPr>
            <a:lvl4pPr>
              <a:defRPr sz="1999"/>
            </a:lvl4pPr>
            <a:lvl5pPr>
              <a:defRPr sz="1999"/>
            </a:lvl5pPr>
            <a:lvl6pPr>
              <a:defRPr sz="1999"/>
            </a:lvl6pPr>
            <a:lvl7pPr>
              <a:defRPr sz="1999"/>
            </a:lvl7pPr>
            <a:lvl8pPr>
              <a:defRPr sz="1999"/>
            </a:lvl8pPr>
            <a:lvl9pPr>
              <a:defRPr sz="1999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570" y="2057400"/>
            <a:ext cx="393121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4/24/2017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48410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570" y="457200"/>
            <a:ext cx="3931213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838" y="987426"/>
            <a:ext cx="6170593" cy="4873625"/>
          </a:xfrm>
        </p:spPr>
        <p:txBody>
          <a:bodyPr/>
          <a:lstStyle>
            <a:lvl1pPr marL="0" indent="0">
              <a:buNone/>
              <a:defRPr sz="3199"/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570" y="2057400"/>
            <a:ext cx="393121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4/24/2017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00790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4/24/2017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86090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2628" y="365125"/>
            <a:ext cx="262821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7982" y="365125"/>
            <a:ext cx="7732286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4/24/2017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4549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4773957" y="685800"/>
            <a:ext cx="7412753" cy="3352800"/>
          </a:xfrm>
        </p:spPr>
        <p:txBody>
          <a:bodyPr/>
          <a:lstStyle>
            <a:lvl1pPr>
              <a:defRPr>
                <a:solidFill>
                  <a:schemeClr val="bg2"/>
                </a:solidFill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6907001" y="4038600"/>
            <a:ext cx="5279709" cy="1752600"/>
          </a:xfrm>
          <a:ln w="9525">
            <a:headEnd/>
            <a:tailEnd/>
          </a:ln>
        </p:spPr>
        <p:txBody>
          <a:bodyPr lIns="92075" tIns="46038" rIns="92075" bIns="46038" anchor="ctr"/>
          <a:lstStyle>
            <a:lvl1pPr marL="0" indent="0" algn="ctr">
              <a:buFont typeface="Wingdings" pitchFamily="2" charset="2"/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quarter" idx="10"/>
          </p:nvPr>
        </p:nvSpPr>
        <p:spPr>
          <a:xfrm>
            <a:off x="914162" y="6248400"/>
            <a:ext cx="2539339" cy="457200"/>
          </a:xfrm>
        </p:spPr>
        <p:txBody>
          <a:bodyPr/>
          <a:lstStyle>
            <a:lvl1pPr>
              <a:defRPr>
                <a:solidFill>
                  <a:srgbClr val="EAEAEA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4515" y="6248400"/>
            <a:ext cx="3859795" cy="457200"/>
          </a:xfrm>
        </p:spPr>
        <p:txBody>
          <a:bodyPr/>
          <a:lstStyle>
            <a:lvl1pPr>
              <a:defRPr>
                <a:solidFill>
                  <a:srgbClr val="EAEAEA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5324" y="6248400"/>
            <a:ext cx="2539339" cy="457200"/>
          </a:xfrm>
        </p:spPr>
        <p:txBody>
          <a:bodyPr/>
          <a:lstStyle>
            <a:lvl1pPr>
              <a:defRPr>
                <a:solidFill>
                  <a:srgbClr val="EAEAEA"/>
                </a:solidFill>
              </a:defRPr>
            </a:lvl1pPr>
          </a:lstStyle>
          <a:p>
            <a:fld id="{65006EEB-21A8-446D-ACDB-9DA2E7A6538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0990265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0E29480-C5CA-4AC4-AF72-C548B20A72A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854373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833" y="4406901"/>
            <a:ext cx="10360501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2833" y="2906713"/>
            <a:ext cx="10360501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DD7C549-47AD-4B41-9294-239DB0F540F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7287800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28324" y="1981200"/>
            <a:ext cx="4977104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08574" y="1981200"/>
            <a:ext cx="4977104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CB9A954-E1F0-455C-B267-F44E1BAC3F8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8477022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1" y="274638"/>
            <a:ext cx="10969943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535113"/>
            <a:ext cx="538551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441" y="2174875"/>
            <a:ext cx="538551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1754" y="1535113"/>
            <a:ext cx="538763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1754" y="2174875"/>
            <a:ext cx="538763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4C55A3-035D-4BA6-8F54-860C9043F34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194432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9EF4BF0-EF12-4FA9-A1F2-0FF502609A3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0216457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06194FE-A24A-47D2-925F-B7B9736DC7D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9730385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2" y="273050"/>
            <a:ext cx="401003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5492" y="273051"/>
            <a:ext cx="681389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442" y="1435101"/>
            <a:ext cx="401003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D9A7847-0C89-4FF9-8456-E519D26CA01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4764615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095" y="4800600"/>
            <a:ext cx="7313295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095" y="612775"/>
            <a:ext cx="731329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AU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095" y="5367338"/>
            <a:ext cx="731329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2CC7C22-0FF5-459F-9195-75A66F5D1B2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7410959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52709AD-DDC5-4282-96A4-D3F22E783EE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8591780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6339" y="533400"/>
            <a:ext cx="2539339" cy="5562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828324" y="533400"/>
            <a:ext cx="7414869" cy="5562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671C7EF-A038-477A-9683-B833F1C7489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44465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FE8FB1-0A7A-443E-AAF7-31D4FA1AA312}" type="datetimeFigureOut">
              <a:rPr lang="en-US" smtClean="0"/>
              <a:pPr/>
              <a:t>4/24/2017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523412" y="6400801"/>
            <a:ext cx="1143002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BA54BD-C84D-46CE-8B72-31BFB26ABA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6364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90000"/>
        </a:lnSpc>
        <a:spcBef>
          <a:spcPts val="1800"/>
        </a:spcBef>
        <a:buSzPct val="100000"/>
        <a:buFont typeface="Arial" pitchFamily="34" charset="0"/>
        <a:buChar char="▪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76072" indent="-27432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046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332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618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9476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1762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286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7982" y="1825625"/>
            <a:ext cx="1051286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7982" y="6356351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DE6118-2437-4B30-8E3C-4D2BE6020583}" type="datetimeFigureOut">
              <a:rPr lang="en-US" smtClean="0"/>
              <a:pPr/>
              <a:t>4/24/2017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7549" y="6356351"/>
            <a:ext cx="4113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08357" y="6356351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996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126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31" indent="-228531" algn="l" defTabSz="91412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59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657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720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783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846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828324" y="533400"/>
            <a:ext cx="10055781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828324" y="6248400"/>
            <a:ext cx="2234618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sz="14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570810" y="6248400"/>
            <a:ext cx="4570809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 sz="14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649486" y="6248400"/>
            <a:ext cx="2539339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 b="0">
                <a:latin typeface="Times New Roman" panose="02020603050405020304" pitchFamily="18" charset="0"/>
              </a:defRPr>
            </a:lvl1pPr>
          </a:lstStyle>
          <a:p>
            <a:fld id="{16355749-DD05-4C2C-A505-02E7A7C88496}" type="slidenum">
              <a:rPr lang="en-US" altLang="en-US"/>
              <a:pPr/>
              <a:t>‹#›</a:t>
            </a:fld>
            <a:endParaRPr lang="en-US" altLang="en-US"/>
          </a:p>
        </p:txBody>
      </p:sp>
      <p:pic>
        <p:nvPicPr>
          <p:cNvPr id="10246" name="Picture 6" descr="strtegic1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62517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7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1828324" y="1981200"/>
            <a:ext cx="10157354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96076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w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95000"/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xMz9WFvox9g" TargetMode="Externa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Moving Houses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390" y="1772816"/>
            <a:ext cx="8670022" cy="4518046"/>
          </a:xfrm>
        </p:spPr>
      </p:pic>
    </p:spTree>
    <p:extLst>
      <p:ext uri="{BB962C8B-B14F-4D97-AF65-F5344CB8AC3E}">
        <p14:creationId xmlns:p14="http://schemas.microsoft.com/office/powerpoint/2010/main" val="4180787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Volume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Mr</a:t>
            </a:r>
            <a:r>
              <a:rPr lang="en-US" dirty="0"/>
              <a:t> Parekh</a:t>
            </a:r>
          </a:p>
        </p:txBody>
      </p:sp>
    </p:spTree>
    <p:extLst>
      <p:ext uri="{BB962C8B-B14F-4D97-AF65-F5344CB8AC3E}">
        <p14:creationId xmlns:p14="http://schemas.microsoft.com/office/powerpoint/2010/main" val="1920111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909837" y="274638"/>
            <a:ext cx="4419598" cy="1020762"/>
          </a:xfrm>
        </p:spPr>
        <p:txBody>
          <a:bodyPr/>
          <a:lstStyle/>
          <a:p>
            <a:r>
              <a:rPr lang="en-US" dirty="0"/>
              <a:t>Learning Intention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909836" y="1905000"/>
            <a:ext cx="4824536" cy="42672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Students will be able,</a:t>
            </a:r>
          </a:p>
          <a:p>
            <a:r>
              <a:rPr lang="en-US" dirty="0"/>
              <a:t>Explain how volume is used measured using cubic units</a:t>
            </a:r>
          </a:p>
          <a:p>
            <a:r>
              <a:rPr lang="en-US" dirty="0"/>
              <a:t>Interpret volume of a prism as area times length</a:t>
            </a:r>
          </a:p>
          <a:p>
            <a:r>
              <a:rPr lang="en-US" dirty="0"/>
              <a:t>Recall formula for calculating volume of a prism</a:t>
            </a:r>
          </a:p>
          <a:p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sz="half" idx="2"/>
          </p:nvPr>
        </p:nvSpPr>
        <p:spPr>
          <a:xfrm>
            <a:off x="6454452" y="1905000"/>
            <a:ext cx="4680520" cy="4267200"/>
          </a:xfrm>
        </p:spPr>
        <p:txBody>
          <a:bodyPr/>
          <a:lstStyle/>
          <a:p>
            <a:pPr marL="0" indent="0">
              <a:buNone/>
            </a:pPr>
            <a:r>
              <a:rPr lang="en-AU" dirty="0"/>
              <a:t>You will</a:t>
            </a:r>
          </a:p>
          <a:p>
            <a:r>
              <a:rPr lang="en-AU" dirty="0"/>
              <a:t>Complete the hands-on activity to obtain mathematical formula for calculating volume of the prisms</a:t>
            </a:r>
          </a:p>
          <a:p>
            <a:r>
              <a:rPr lang="en-AU" dirty="0"/>
              <a:t>Complete Exercise 3.2 (Dr Dwyer’s textbook)</a:t>
            </a:r>
          </a:p>
        </p:txBody>
      </p:sp>
      <p:sp>
        <p:nvSpPr>
          <p:cNvPr id="5" name="Title 12"/>
          <p:cNvSpPr txBox="1">
            <a:spLocks/>
          </p:cNvSpPr>
          <p:nvPr/>
        </p:nvSpPr>
        <p:spPr>
          <a:xfrm>
            <a:off x="6454452" y="274638"/>
            <a:ext cx="4419598" cy="1020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Success Criteria</a:t>
            </a:r>
          </a:p>
        </p:txBody>
      </p:sp>
    </p:spTree>
    <p:extLst>
      <p:ext uri="{BB962C8B-B14F-4D97-AF65-F5344CB8AC3E}">
        <p14:creationId xmlns:p14="http://schemas.microsoft.com/office/powerpoint/2010/main" val="2128536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Measurements - Volume</a:t>
            </a:r>
          </a:p>
        </p:txBody>
      </p:sp>
      <p:pic>
        <p:nvPicPr>
          <p:cNvPr id="9" name="xMz9WFvox9g"/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1373016" y="1546429"/>
            <a:ext cx="9442793" cy="5311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390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Measurements – Three dimensions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17750" y="1916832"/>
            <a:ext cx="3888432" cy="4267200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A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One dimension (1D) - Length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325827" y="3576675"/>
            <a:ext cx="2160000" cy="0"/>
          </a:xfrm>
          <a:prstGeom prst="line">
            <a:avLst/>
          </a:prstGeom>
          <a:ln w="3810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25827" y="4418808"/>
            <a:ext cx="1440000" cy="0"/>
          </a:xfrm>
          <a:prstGeom prst="line">
            <a:avLst/>
          </a:prstGeom>
          <a:ln w="3810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99154" y="2960869"/>
            <a:ext cx="180020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400" dirty="0"/>
              <a:t>Line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9154" y="3796357"/>
            <a:ext cx="180020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400" dirty="0"/>
              <a:t>Line 2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379254" y="5304867"/>
            <a:ext cx="720000" cy="0"/>
          </a:xfrm>
          <a:prstGeom prst="line">
            <a:avLst/>
          </a:prstGeom>
          <a:ln w="38100">
            <a:solidFill>
              <a:schemeClr val="accent5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99254" y="5067164"/>
            <a:ext cx="180020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AU" sz="2400" dirty="0"/>
              <a:t>Unit Length</a:t>
            </a:r>
          </a:p>
        </p:txBody>
      </p:sp>
      <p:grpSp>
        <p:nvGrpSpPr>
          <p:cNvPr id="37" name="Group 36"/>
          <p:cNvGrpSpPr/>
          <p:nvPr/>
        </p:nvGrpSpPr>
        <p:grpSpPr>
          <a:xfrm>
            <a:off x="4150197" y="1916832"/>
            <a:ext cx="4392487" cy="4267200"/>
            <a:chOff x="4150197" y="1916832"/>
            <a:chExt cx="4392487" cy="4267200"/>
          </a:xfrm>
        </p:grpSpPr>
        <p:sp>
          <p:nvSpPr>
            <p:cNvPr id="6" name="Content Placeholder 3"/>
            <p:cNvSpPr txBox="1">
              <a:spLocks/>
            </p:cNvSpPr>
            <p:nvPr/>
          </p:nvSpPr>
          <p:spPr>
            <a:xfrm>
              <a:off x="4150197" y="1916832"/>
              <a:ext cx="3888432" cy="42672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vert="horz" lIns="91440" tIns="45720" rIns="91440" bIns="45720" rtlCol="0">
              <a:normAutofit/>
            </a:bodyPr>
            <a:lstStyle>
              <a:lvl1pPr marL="274320" indent="-274320" algn="l" defTabSz="914400" rtl="0" eaLnBrk="1" latinLnBrk="0" hangingPunct="1">
                <a:lnSpc>
                  <a:spcPct val="90000"/>
                </a:lnSpc>
                <a:spcBef>
                  <a:spcPts val="1800"/>
                </a:spcBef>
                <a:buSzPct val="100000"/>
                <a:buFont typeface="Arial" pitchFamily="34" charset="0"/>
                <a:buChar char="▪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76072" indent="-27432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SzPct val="100000"/>
                <a:buFont typeface="Consolas" pitchFamily="49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04672" indent="-22860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SzPct val="100000"/>
                <a:buFont typeface="Arial" pitchFamily="34" charset="0"/>
                <a:buChar char="▪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33272" indent="-22860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SzPct val="100000"/>
                <a:buFont typeface="Consolas" pitchFamily="49" charset="0"/>
                <a:buChar char="–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61872" indent="-22860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SzPct val="100000"/>
                <a:buFont typeface="Arial" pitchFamily="34" charset="0"/>
                <a:buChar char="▪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956816" indent="-22860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SzPct val="100000"/>
                <a:buFont typeface="Consolas" pitchFamily="49" charset="0"/>
                <a:buChar char="–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56816" indent="-22860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SzPct val="100000"/>
                <a:buFont typeface="Arial" pitchFamily="34" charset="0"/>
                <a:buChar char="▪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956816" indent="-22860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SzPct val="100000"/>
                <a:buFont typeface="Consolas" pitchFamily="49" charset="0"/>
                <a:buChar char="–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56816" indent="-22860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SzPct val="100000"/>
                <a:buFont typeface="Arial" pitchFamily="34" charset="0"/>
                <a:buChar char="▪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AU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Two dimension (2D) -    Area</a:t>
              </a:r>
            </a:p>
          </p:txBody>
        </p:sp>
        <p:pic>
          <p:nvPicPr>
            <p:cNvPr id="1030" name="Picture 6" descr="Image result for area maths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57" t="3837" r="65906" b="15344"/>
            <a:stretch/>
          </p:blipFill>
          <p:spPr bwMode="auto">
            <a:xfrm>
              <a:off x="4491924" y="3140968"/>
              <a:ext cx="1530480" cy="15171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6" descr="Image result for area maths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3579" r="76755" b="42523"/>
            <a:stretch/>
          </p:blipFill>
          <p:spPr bwMode="auto">
            <a:xfrm>
              <a:off x="6742484" y="3576675"/>
              <a:ext cx="1080121" cy="11461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" name="TextBox 20"/>
            <p:cNvSpPr txBox="1"/>
            <p:nvPr/>
          </p:nvSpPr>
          <p:spPr>
            <a:xfrm>
              <a:off x="4438228" y="4854798"/>
              <a:ext cx="1800200" cy="4247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AU" sz="2400" dirty="0"/>
                <a:t>Area 1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742484" y="4854798"/>
              <a:ext cx="1800200" cy="4247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AU" sz="2400" dirty="0"/>
                <a:t>Area 2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4491924" y="5534086"/>
              <a:ext cx="540000" cy="54000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918676" y="5597860"/>
              <a:ext cx="2639503" cy="4247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AU" sz="2400" dirty="0"/>
                <a:t>Unit Area (unit</a:t>
              </a:r>
              <a:r>
                <a:rPr lang="en-AU" sz="2400" baseline="30000" dirty="0"/>
                <a:t>2</a:t>
              </a:r>
              <a:r>
                <a:rPr lang="en-AU" sz="2400" dirty="0"/>
                <a:t>)</a:t>
              </a: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8110638" y="1916832"/>
            <a:ext cx="3888783" cy="4267200"/>
            <a:chOff x="8110638" y="1916832"/>
            <a:chExt cx="3888783" cy="4267200"/>
          </a:xfrm>
        </p:grpSpPr>
        <p:sp>
          <p:nvSpPr>
            <p:cNvPr id="7" name="Content Placeholder 3"/>
            <p:cNvSpPr txBox="1">
              <a:spLocks/>
            </p:cNvSpPr>
            <p:nvPr/>
          </p:nvSpPr>
          <p:spPr>
            <a:xfrm>
              <a:off x="8110989" y="1916832"/>
              <a:ext cx="3888432" cy="42672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vert="horz" lIns="91440" tIns="45720" rIns="91440" bIns="45720" rtlCol="0">
              <a:normAutofit/>
            </a:bodyPr>
            <a:lstStyle>
              <a:lvl1pPr marL="274320" indent="-274320" algn="l" defTabSz="914400" rtl="0" eaLnBrk="1" latinLnBrk="0" hangingPunct="1">
                <a:lnSpc>
                  <a:spcPct val="90000"/>
                </a:lnSpc>
                <a:spcBef>
                  <a:spcPts val="1800"/>
                </a:spcBef>
                <a:buSzPct val="100000"/>
                <a:buFont typeface="Arial" pitchFamily="34" charset="0"/>
                <a:buChar char="▪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76072" indent="-27432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SzPct val="100000"/>
                <a:buFont typeface="Consolas" pitchFamily="49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04672" indent="-22860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SzPct val="100000"/>
                <a:buFont typeface="Arial" pitchFamily="34" charset="0"/>
                <a:buChar char="▪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33272" indent="-22860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SzPct val="100000"/>
                <a:buFont typeface="Consolas" pitchFamily="49" charset="0"/>
                <a:buChar char="–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61872" indent="-22860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SzPct val="100000"/>
                <a:buFont typeface="Arial" pitchFamily="34" charset="0"/>
                <a:buChar char="▪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956816" indent="-22860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SzPct val="100000"/>
                <a:buFont typeface="Consolas" pitchFamily="49" charset="0"/>
                <a:buChar char="–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56816" indent="-22860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SzPct val="100000"/>
                <a:buFont typeface="Arial" pitchFamily="34" charset="0"/>
                <a:buChar char="▪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956816" indent="-22860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SzPct val="100000"/>
                <a:buFont typeface="Consolas" pitchFamily="49" charset="0"/>
                <a:buChar char="–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56816" indent="-228600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SzPct val="100000"/>
                <a:buFont typeface="Arial" pitchFamily="34" charset="0"/>
                <a:buChar char="▪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AU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Three dimension (3D) - Volume</a:t>
              </a:r>
            </a:p>
          </p:txBody>
        </p:sp>
        <p:pic>
          <p:nvPicPr>
            <p:cNvPr id="1034" name="Picture 10" descr="Image result for volume cube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926" t="52882" r="60756" b="13896"/>
            <a:stretch/>
          </p:blipFill>
          <p:spPr bwMode="auto">
            <a:xfrm>
              <a:off x="8254286" y="3513576"/>
              <a:ext cx="1224136" cy="12206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4" name="TextBox 33"/>
            <p:cNvSpPr txBox="1"/>
            <p:nvPr/>
          </p:nvSpPr>
          <p:spPr>
            <a:xfrm>
              <a:off x="8110638" y="4843317"/>
              <a:ext cx="1800200" cy="4247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AU" sz="2400" dirty="0"/>
                <a:t>Volume 1</a:t>
              </a:r>
            </a:p>
          </p:txBody>
        </p:sp>
        <p:pic>
          <p:nvPicPr>
            <p:cNvPr id="35" name="Picture 10" descr="Image result for volume cube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7304" t="30680" r="3890" b="16977"/>
            <a:stretch/>
          </p:blipFill>
          <p:spPr bwMode="auto">
            <a:xfrm>
              <a:off x="9838827" y="2831449"/>
              <a:ext cx="2160594" cy="19231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6" name="TextBox 35"/>
            <p:cNvSpPr txBox="1"/>
            <p:nvPr/>
          </p:nvSpPr>
          <p:spPr>
            <a:xfrm>
              <a:off x="9838827" y="4843317"/>
              <a:ext cx="1800200" cy="4247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AU" sz="2400" dirty="0"/>
                <a:t>Volume 2</a:t>
              </a:r>
            </a:p>
          </p:txBody>
        </p:sp>
        <p:pic>
          <p:nvPicPr>
            <p:cNvPr id="24" name="Picture 23"/>
            <p:cNvPicPr>
              <a:picLocks noChangeAspect="1"/>
            </p:cNvPicPr>
            <p:nvPr/>
          </p:nvPicPr>
          <p:blipFill rotWithShape="1">
            <a:blip r:embed="rId5"/>
            <a:srcRect l="-1" t="-2175" r="-1608" b="10420"/>
            <a:stretch/>
          </p:blipFill>
          <p:spPr>
            <a:xfrm>
              <a:off x="8167917" y="5443699"/>
              <a:ext cx="648437" cy="489425"/>
            </a:xfrm>
            <a:prstGeom prst="rect">
              <a:avLst/>
            </a:prstGeom>
          </p:spPr>
        </p:pic>
        <p:sp>
          <p:nvSpPr>
            <p:cNvPr id="38" name="TextBox 37"/>
            <p:cNvSpPr txBox="1"/>
            <p:nvPr/>
          </p:nvSpPr>
          <p:spPr>
            <a:xfrm>
              <a:off x="8735453" y="5491895"/>
              <a:ext cx="2639503" cy="4247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AU" sz="2400" dirty="0"/>
                <a:t>Unit Volume (unit</a:t>
              </a:r>
              <a:r>
                <a:rPr lang="en-AU" sz="2400" baseline="30000" dirty="0"/>
                <a:t>3</a:t>
              </a:r>
              <a:r>
                <a:rPr lang="en-AU" sz="2400" dirty="0"/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05341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10" grpId="0"/>
      <p:bldP spid="11" grpId="0"/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Activity - 1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The side length of an MAB block is 1 unit. How many MAB blocks are required to create following shapes? What is the volume of the shapes?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1744230" y="3224275"/>
            <a:ext cx="3273949" cy="2947925"/>
            <a:chOff x="1277191" y="3267391"/>
            <a:chExt cx="3273949" cy="2947925"/>
          </a:xfrm>
        </p:grpSpPr>
        <p:pic>
          <p:nvPicPr>
            <p:cNvPr id="2056" name="Picture 8" descr="Image result for cube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5359" r="9282" b="18638"/>
            <a:stretch/>
          </p:blipFill>
          <p:spPr bwMode="auto">
            <a:xfrm>
              <a:off x="1277191" y="3267391"/>
              <a:ext cx="2880320" cy="25602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TextBox 6"/>
            <p:cNvSpPr txBox="1"/>
            <p:nvPr/>
          </p:nvSpPr>
          <p:spPr>
            <a:xfrm>
              <a:off x="1675087" y="5790584"/>
              <a:ext cx="1475654" cy="4247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AU" sz="2400" dirty="0"/>
                <a:t>3 units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 rot="16200000">
              <a:off x="2191890" y="4602533"/>
              <a:ext cx="1475654" cy="4247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AU" sz="2400" dirty="0"/>
                <a:t>3 units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 rot="19441384">
              <a:off x="3075486" y="5338347"/>
              <a:ext cx="1475654" cy="4247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AU" sz="2400" dirty="0"/>
                <a:t>3 units</a:t>
              </a: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6598761" y="3212154"/>
            <a:ext cx="4257318" cy="2924944"/>
            <a:chOff x="4798572" y="3191270"/>
            <a:chExt cx="4257318" cy="2924944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 rotWithShape="1">
            <a:blip r:embed="rId4"/>
            <a:srcRect l="11006" t="12667" r="15637" b="15899"/>
            <a:stretch/>
          </p:blipFill>
          <p:spPr>
            <a:xfrm>
              <a:off x="4798572" y="3191270"/>
              <a:ext cx="3875083" cy="2924944"/>
            </a:xfrm>
            <a:prstGeom prst="rect">
              <a:avLst/>
            </a:prstGeom>
          </p:spPr>
        </p:pic>
        <p:sp>
          <p:nvSpPr>
            <p:cNvPr id="23" name="TextBox 22"/>
            <p:cNvSpPr txBox="1"/>
            <p:nvPr/>
          </p:nvSpPr>
          <p:spPr>
            <a:xfrm>
              <a:off x="5617419" y="5691482"/>
              <a:ext cx="1475654" cy="4247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AU" sz="2400" dirty="0">
                  <a:solidFill>
                    <a:schemeClr val="bg1"/>
                  </a:solidFill>
                </a:rPr>
                <a:t>5 units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 rot="18938292">
              <a:off x="7580236" y="5023774"/>
              <a:ext cx="1475654" cy="4247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AU" sz="2400" dirty="0">
                  <a:solidFill>
                    <a:schemeClr val="bg1"/>
                  </a:solidFill>
                </a:rPr>
                <a:t>3 units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 rot="16200000">
              <a:off x="6721642" y="4858565"/>
              <a:ext cx="1475654" cy="4247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AU" sz="2400" dirty="0">
                  <a:solidFill>
                    <a:schemeClr val="bg1"/>
                  </a:solidFill>
                </a:rPr>
                <a:t>3 units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61120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-1" y="795399"/>
            <a:ext cx="12188825" cy="1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1" y="1396803"/>
            <a:ext cx="12188825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730422" y="1376977"/>
            <a:ext cx="7429" cy="5382725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00499" y="254059"/>
            <a:ext cx="7437238" cy="523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>
              <a:defRPr/>
            </a:pPr>
            <a:r>
              <a:rPr lang="en-AU" sz="2799" kern="0" dirty="0">
                <a:solidFill>
                  <a:prstClr val="black"/>
                </a:solidFill>
              </a:rPr>
              <a:t>Volume of a Prism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9055" y="334626"/>
            <a:ext cx="2496263" cy="523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>
              <a:defRPr/>
            </a:pPr>
            <a:r>
              <a:rPr lang="en-AU" sz="2799" kern="0" dirty="0">
                <a:solidFill>
                  <a:prstClr val="black"/>
                </a:solidFill>
              </a:rPr>
              <a:t>Date: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-1" y="935258"/>
            <a:ext cx="12069793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>
              <a:defRPr/>
            </a:pPr>
            <a:r>
              <a:rPr lang="en-AU" sz="2399" kern="0" dirty="0">
                <a:solidFill>
                  <a:prstClr val="black"/>
                </a:solidFill>
              </a:rPr>
              <a:t>EQ : How do I calculate a volume of a prism?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7750165" y="893"/>
            <a:ext cx="0" cy="980473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02" y="-68118"/>
            <a:ext cx="799797" cy="923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>
              <a:defRPr/>
            </a:pPr>
            <a:r>
              <a:rPr lang="en-AU" sz="1799" kern="0" dirty="0">
                <a:solidFill>
                  <a:prstClr val="black"/>
                </a:solidFill>
              </a:rPr>
              <a:t>24</a:t>
            </a:r>
          </a:p>
          <a:p>
            <a:pPr defTabSz="914126">
              <a:defRPr/>
            </a:pPr>
            <a:r>
              <a:rPr lang="en-AU" sz="1799" kern="0" dirty="0">
                <a:solidFill>
                  <a:prstClr val="black"/>
                </a:solidFill>
              </a:rPr>
              <a:t>7</a:t>
            </a:r>
          </a:p>
          <a:p>
            <a:pPr defTabSz="914126">
              <a:defRPr/>
            </a:pPr>
            <a:r>
              <a:rPr lang="en-AU" sz="1799" kern="0" dirty="0">
                <a:solidFill>
                  <a:prstClr val="black"/>
                </a:solidFill>
              </a:rPr>
              <a:t>30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1562216" y="6400026"/>
            <a:ext cx="520451" cy="369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>
              <a:defRPr/>
            </a:pPr>
            <a:r>
              <a:rPr lang="en-AU" sz="1799" kern="0">
                <a:solidFill>
                  <a:sysClr val="windowText" lastClr="000000"/>
                </a:solidFill>
              </a:rPr>
              <a:t>17</a:t>
            </a:r>
            <a:endParaRPr lang="en-AU" sz="1799" kern="0" dirty="0">
              <a:solidFill>
                <a:sysClr val="windowText" lastClr="000000"/>
              </a:solidFill>
            </a:endParaRPr>
          </a:p>
        </p:txBody>
      </p:sp>
      <p:grpSp>
        <p:nvGrpSpPr>
          <p:cNvPr id="15" name="Group 12"/>
          <p:cNvGrpSpPr>
            <a:grpSpLocks/>
          </p:cNvGrpSpPr>
          <p:nvPr/>
        </p:nvGrpSpPr>
        <p:grpSpPr bwMode="auto">
          <a:xfrm>
            <a:off x="1989831" y="1576597"/>
            <a:ext cx="5400675" cy="1079500"/>
            <a:chOff x="1519" y="2750"/>
            <a:chExt cx="3402" cy="680"/>
          </a:xfrm>
        </p:grpSpPr>
        <p:sp>
          <p:nvSpPr>
            <p:cNvPr id="16" name="Text Box 10"/>
            <p:cNvSpPr txBox="1">
              <a:spLocks noChangeArrowheads="1"/>
            </p:cNvSpPr>
            <p:nvPr/>
          </p:nvSpPr>
          <p:spPr bwMode="auto">
            <a:xfrm>
              <a:off x="1519" y="2752"/>
              <a:ext cx="3357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AU" altLang="en-US" sz="2400" dirty="0">
                  <a:solidFill>
                    <a:srgbClr val="0066FF"/>
                  </a:solidFill>
                </a:rPr>
                <a:t>Volume of any prism = </a:t>
              </a:r>
            </a:p>
            <a:p>
              <a:pPr algn="ctr" eaLnBrk="1" hangingPunct="1">
                <a:spcBef>
                  <a:spcPct val="50000"/>
                </a:spcBef>
              </a:pPr>
              <a:r>
                <a:rPr lang="en-AU" altLang="en-US" sz="2400" dirty="0">
                  <a:solidFill>
                    <a:srgbClr val="0066FF"/>
                  </a:solidFill>
                </a:rPr>
                <a:t>Base Area x Depth</a:t>
              </a:r>
            </a:p>
          </p:txBody>
        </p:sp>
        <p:sp>
          <p:nvSpPr>
            <p:cNvPr id="17" name="Rectangle 11"/>
            <p:cNvSpPr>
              <a:spLocks noChangeArrowheads="1"/>
            </p:cNvSpPr>
            <p:nvPr/>
          </p:nvSpPr>
          <p:spPr bwMode="auto">
            <a:xfrm>
              <a:off x="1519" y="2750"/>
              <a:ext cx="3402" cy="680"/>
            </a:xfrm>
            <a:prstGeom prst="rect">
              <a:avLst/>
            </a:prstGeom>
            <a:noFill/>
            <a:ln w="76200" cap="sq">
              <a:solidFill>
                <a:srgbClr val="00FFFF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eaLnBrk="1" hangingPunct="1"/>
              <a:endParaRPr lang="en-AU" altLang="en-US"/>
            </a:p>
          </p:txBody>
        </p:sp>
      </p:grpSp>
      <p:grpSp>
        <p:nvGrpSpPr>
          <p:cNvPr id="159" name="Group 158"/>
          <p:cNvGrpSpPr/>
          <p:nvPr/>
        </p:nvGrpSpPr>
        <p:grpSpPr>
          <a:xfrm>
            <a:off x="6427787" y="2875681"/>
            <a:ext cx="5761038" cy="3952370"/>
            <a:chOff x="1563431" y="1659813"/>
            <a:chExt cx="6769100" cy="4643953"/>
          </a:xfrm>
        </p:grpSpPr>
        <p:sp>
          <p:nvSpPr>
            <p:cNvPr id="160" name="Text Box 11"/>
            <p:cNvSpPr txBox="1">
              <a:spLocks noChangeArrowheads="1"/>
            </p:cNvSpPr>
            <p:nvPr/>
          </p:nvSpPr>
          <p:spPr bwMode="auto">
            <a:xfrm>
              <a:off x="5884606" y="3280761"/>
              <a:ext cx="2447925" cy="701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AU" altLang="en-US" b="0"/>
                <a:t>Base can be any face.</a:t>
              </a:r>
            </a:p>
          </p:txBody>
        </p:sp>
        <p:sp>
          <p:nvSpPr>
            <p:cNvPr id="161" name="Text Box 14"/>
            <p:cNvSpPr txBox="1">
              <a:spLocks noChangeArrowheads="1"/>
            </p:cNvSpPr>
            <p:nvPr/>
          </p:nvSpPr>
          <p:spPr bwMode="auto">
            <a:xfrm rot="19431703">
              <a:off x="1707894" y="1659813"/>
              <a:ext cx="1223963" cy="470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AU" altLang="en-US" b="0" dirty="0" err="1"/>
                <a:t>Deoth</a:t>
              </a:r>
              <a:endParaRPr lang="en-AU" altLang="en-US" b="0" dirty="0"/>
            </a:p>
          </p:txBody>
        </p:sp>
        <p:sp>
          <p:nvSpPr>
            <p:cNvPr id="162" name="Text Box 15"/>
            <p:cNvSpPr txBox="1">
              <a:spLocks noChangeArrowheads="1"/>
            </p:cNvSpPr>
            <p:nvPr/>
          </p:nvSpPr>
          <p:spPr bwMode="auto">
            <a:xfrm rot="19004741">
              <a:off x="3868481" y="1727901"/>
              <a:ext cx="1223962" cy="4339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AU" altLang="en-US" sz="1800" dirty="0"/>
                <a:t>Depth</a:t>
              </a:r>
            </a:p>
          </p:txBody>
        </p:sp>
        <p:sp>
          <p:nvSpPr>
            <p:cNvPr id="163" name="Text Box 24"/>
            <p:cNvSpPr txBox="1">
              <a:spLocks noChangeArrowheads="1"/>
            </p:cNvSpPr>
            <p:nvPr/>
          </p:nvSpPr>
          <p:spPr bwMode="auto">
            <a:xfrm rot="16200000">
              <a:off x="2843748" y="4984846"/>
              <a:ext cx="1223963" cy="470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AU" altLang="en-US" b="0" dirty="0"/>
                <a:t>Depth</a:t>
              </a:r>
            </a:p>
          </p:txBody>
        </p:sp>
        <p:grpSp>
          <p:nvGrpSpPr>
            <p:cNvPr id="164" name="Group 40"/>
            <p:cNvGrpSpPr>
              <a:grpSpLocks/>
            </p:cNvGrpSpPr>
            <p:nvPr/>
          </p:nvGrpSpPr>
          <p:grpSpPr bwMode="auto">
            <a:xfrm>
              <a:off x="2104768" y="2287391"/>
              <a:ext cx="4822825" cy="4016375"/>
              <a:chOff x="1338" y="1343"/>
              <a:chExt cx="3038" cy="2530"/>
            </a:xfrm>
          </p:grpSpPr>
          <p:sp>
            <p:nvSpPr>
              <p:cNvPr id="174" name="Arc 27"/>
              <p:cNvSpPr>
                <a:spLocks/>
              </p:cNvSpPr>
              <p:nvPr/>
            </p:nvSpPr>
            <p:spPr bwMode="auto">
              <a:xfrm rot="5400000">
                <a:off x="2722" y="3476"/>
                <a:ext cx="340" cy="454"/>
              </a:xfrm>
              <a:custGeom>
                <a:avLst/>
                <a:gdLst>
                  <a:gd name="T0" fmla="*/ 0 w 23143"/>
                  <a:gd name="T1" fmla="*/ 0 h 43200"/>
                  <a:gd name="T2" fmla="*/ 0 w 23143"/>
                  <a:gd name="T3" fmla="*/ 0 h 43200"/>
                  <a:gd name="T4" fmla="*/ 0 w 23143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23143"/>
                  <a:gd name="T10" fmla="*/ 0 h 43200"/>
                  <a:gd name="T11" fmla="*/ 23143 w 23143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3143" h="43200" fill="none" extrusionOk="0">
                    <a:moveTo>
                      <a:pt x="1542" y="0"/>
                    </a:moveTo>
                    <a:cubicBezTo>
                      <a:pt x="13472" y="0"/>
                      <a:pt x="23143" y="9670"/>
                      <a:pt x="23143" y="21600"/>
                    </a:cubicBezTo>
                    <a:cubicBezTo>
                      <a:pt x="23143" y="33529"/>
                      <a:pt x="13472" y="43200"/>
                      <a:pt x="1543" y="43200"/>
                    </a:cubicBezTo>
                    <a:cubicBezTo>
                      <a:pt x="1028" y="43200"/>
                      <a:pt x="513" y="43181"/>
                      <a:pt x="0" y="43144"/>
                    </a:cubicBezTo>
                  </a:path>
                  <a:path w="23143" h="43200" stroke="0" extrusionOk="0">
                    <a:moveTo>
                      <a:pt x="1542" y="0"/>
                    </a:moveTo>
                    <a:cubicBezTo>
                      <a:pt x="13472" y="0"/>
                      <a:pt x="23143" y="9670"/>
                      <a:pt x="23143" y="21600"/>
                    </a:cubicBezTo>
                    <a:cubicBezTo>
                      <a:pt x="23143" y="33529"/>
                      <a:pt x="13472" y="43200"/>
                      <a:pt x="1543" y="43200"/>
                    </a:cubicBezTo>
                    <a:cubicBezTo>
                      <a:pt x="1028" y="43200"/>
                      <a:pt x="513" y="43181"/>
                      <a:pt x="0" y="43144"/>
                    </a:cubicBezTo>
                    <a:lnTo>
                      <a:pt x="1543" y="21600"/>
                    </a:lnTo>
                    <a:close/>
                  </a:path>
                </a:pathLst>
              </a:custGeom>
              <a:noFill/>
              <a:ln w="381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grpSp>
            <p:nvGrpSpPr>
              <p:cNvPr id="175" name="Group 37"/>
              <p:cNvGrpSpPr>
                <a:grpSpLocks/>
              </p:cNvGrpSpPr>
              <p:nvPr/>
            </p:nvGrpSpPr>
            <p:grpSpPr bwMode="auto">
              <a:xfrm>
                <a:off x="1338" y="1343"/>
                <a:ext cx="3038" cy="2511"/>
                <a:chOff x="1338" y="1343"/>
                <a:chExt cx="3038" cy="2511"/>
              </a:xfrm>
            </p:grpSpPr>
            <p:sp>
              <p:nvSpPr>
                <p:cNvPr id="176" name="Rectangle 4"/>
                <p:cNvSpPr>
                  <a:spLocks noChangeArrowheads="1"/>
                </p:cNvSpPr>
                <p:nvPr/>
              </p:nvSpPr>
              <p:spPr bwMode="auto">
                <a:xfrm>
                  <a:off x="3787" y="1479"/>
                  <a:ext cx="589" cy="318"/>
                </a:xfrm>
                <a:prstGeom prst="rect">
                  <a:avLst/>
                </a:prstGeom>
                <a:solidFill>
                  <a:srgbClr val="F3F75B"/>
                </a:solidFill>
                <a:ln w="9525">
                  <a:miter lim="800000"/>
                  <a:headEnd/>
                  <a:tailEnd/>
                </a:ln>
                <a:scene3d>
                  <a:camera prst="legacyObliqueTopRight"/>
                  <a:lightRig rig="legacyFlat3" dir="b"/>
                </a:scene3d>
                <a:sp3d extrusionH="887400" prstMaterial="legacyMatte">
                  <a:bevelT w="13500" h="13500" prst="angle"/>
                  <a:bevelB w="13500" h="13500" prst="angle"/>
                  <a:extrusionClr>
                    <a:srgbClr val="F3F75B"/>
                  </a:extrusionClr>
                  <a:contourClr>
                    <a:srgbClr val="F3F75B"/>
                  </a:contourClr>
                </a:sp3d>
              </p:spPr>
              <p:txBody>
                <a:bodyPr wrap="none" anchor="ctr">
                  <a:flatTx/>
                </a:bodyPr>
                <a:lstStyle>
                  <a:lvl1pPr eaLnBrk="0" hangingPunct="0">
                    <a:defRPr sz="2000" b="1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 eaLnBrk="0" hangingPunct="0">
                    <a:defRPr sz="2000" b="1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 eaLnBrk="0" hangingPunct="0">
                    <a:defRPr sz="2000" b="1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 eaLnBrk="0" hangingPunct="0">
                    <a:defRPr sz="2000" b="1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2057400" indent="-228600" eaLnBrk="0" hangingPunct="0">
                    <a:defRPr sz="2000" b="1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eaLnBrk="1" hangingPunct="1"/>
                  <a:endParaRPr lang="en-AU" altLang="en-US"/>
                </a:p>
              </p:txBody>
            </p:sp>
            <p:sp>
              <p:nvSpPr>
                <p:cNvPr id="177" name="AutoShape 5"/>
                <p:cNvSpPr>
                  <a:spLocks noChangeArrowheads="1"/>
                </p:cNvSpPr>
                <p:nvPr/>
              </p:nvSpPr>
              <p:spPr bwMode="auto">
                <a:xfrm>
                  <a:off x="1383" y="1343"/>
                  <a:ext cx="681" cy="499"/>
                </a:xfrm>
                <a:prstGeom prst="rtTriangle">
                  <a:avLst/>
                </a:prstGeom>
                <a:solidFill>
                  <a:srgbClr val="62E9F0"/>
                </a:solidFill>
                <a:ln w="9525">
                  <a:miter lim="800000"/>
                  <a:headEnd/>
                  <a:tailEnd/>
                </a:ln>
                <a:scene3d>
                  <a:camera prst="legacyPerspectiveFront">
                    <a:rot lat="1500000" lon="1500000" rev="0"/>
                  </a:camera>
                  <a:lightRig rig="legacyFlat2" dir="b"/>
                </a:scene3d>
                <a:sp3d extrusionH="887400" prstMaterial="legacyMatte">
                  <a:bevelT w="13500" h="13500" prst="angle"/>
                  <a:bevelB w="13500" h="13500" prst="angle"/>
                  <a:extrusionClr>
                    <a:srgbClr val="62E9F0"/>
                  </a:extrusionClr>
                  <a:contourClr>
                    <a:srgbClr val="62E9F0"/>
                  </a:contourClr>
                </a:sp3d>
              </p:spPr>
              <p:txBody>
                <a:bodyPr wrap="none" anchor="ctr">
                  <a:flatTx/>
                </a:bodyPr>
                <a:lstStyle>
                  <a:lvl1pPr eaLnBrk="0" hangingPunct="0">
                    <a:defRPr sz="2000" b="1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 eaLnBrk="0" hangingPunct="0">
                    <a:defRPr sz="2000" b="1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 eaLnBrk="0" hangingPunct="0">
                    <a:defRPr sz="2000" b="1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 eaLnBrk="0" hangingPunct="0">
                    <a:defRPr sz="2000" b="1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2057400" indent="-228600" eaLnBrk="0" hangingPunct="0">
                    <a:defRPr sz="2000" b="1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eaLnBrk="1" hangingPunct="1"/>
                  <a:endParaRPr lang="en-AU" altLang="en-US"/>
                </a:p>
              </p:txBody>
            </p:sp>
            <p:sp>
              <p:nvSpPr>
                <p:cNvPr id="178" name="Oval 6"/>
                <p:cNvSpPr>
                  <a:spLocks noChangeArrowheads="1"/>
                </p:cNvSpPr>
                <p:nvPr/>
              </p:nvSpPr>
              <p:spPr bwMode="auto">
                <a:xfrm>
                  <a:off x="2608" y="1389"/>
                  <a:ext cx="454" cy="408"/>
                </a:xfrm>
                <a:prstGeom prst="ellipse">
                  <a:avLst/>
                </a:prstGeom>
                <a:solidFill>
                  <a:srgbClr val="F36D5F"/>
                </a:solidFill>
                <a:ln w="9525">
                  <a:round/>
                  <a:headEnd/>
                  <a:tailEnd/>
                </a:ln>
                <a:scene3d>
                  <a:camera prst="legacyPerspectiveFront">
                    <a:rot lat="1500000" lon="1500000" rev="0"/>
                  </a:camera>
                  <a:lightRig rig="legacyFlat2" dir="b"/>
                </a:scene3d>
                <a:sp3d extrusionH="887400" prstMaterial="legacyMatte">
                  <a:bevelT w="13500" h="13500" prst="angle"/>
                  <a:bevelB w="13500" h="13500" prst="angle"/>
                  <a:extrusionClr>
                    <a:srgbClr val="F36D5F"/>
                  </a:extrusionClr>
                  <a:contourClr>
                    <a:srgbClr val="F36D5F"/>
                  </a:contourClr>
                </a:sp3d>
              </p:spPr>
              <p:txBody>
                <a:bodyPr wrap="none" anchor="ctr">
                  <a:flatTx/>
                </a:bodyPr>
                <a:lstStyle>
                  <a:lvl1pPr eaLnBrk="0" hangingPunct="0">
                    <a:defRPr sz="2000" b="1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 eaLnBrk="0" hangingPunct="0">
                    <a:defRPr sz="2000" b="1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 eaLnBrk="0" hangingPunct="0">
                    <a:defRPr sz="2000" b="1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 eaLnBrk="0" hangingPunct="0">
                    <a:defRPr sz="2000" b="1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2057400" indent="-228600" eaLnBrk="0" hangingPunct="0">
                    <a:defRPr sz="2000" b="1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eaLnBrk="1" hangingPunct="1"/>
                  <a:endParaRPr lang="en-AU" altLang="en-US"/>
                </a:p>
              </p:txBody>
            </p:sp>
            <p:grpSp>
              <p:nvGrpSpPr>
                <p:cNvPr id="179" name="Group 21"/>
                <p:cNvGrpSpPr>
                  <a:grpSpLocks/>
                </p:cNvGrpSpPr>
                <p:nvPr/>
              </p:nvGrpSpPr>
              <p:grpSpPr bwMode="auto">
                <a:xfrm>
                  <a:off x="1338" y="2704"/>
                  <a:ext cx="726" cy="953"/>
                  <a:chOff x="1338" y="2704"/>
                  <a:chExt cx="726" cy="953"/>
                </a:xfrm>
              </p:grpSpPr>
              <p:sp>
                <p:nvSpPr>
                  <p:cNvPr id="187" name="Oval 17"/>
                  <p:cNvSpPr>
                    <a:spLocks noChangeArrowheads="1"/>
                  </p:cNvSpPr>
                  <p:nvPr/>
                </p:nvSpPr>
                <p:spPr bwMode="auto">
                  <a:xfrm>
                    <a:off x="1338" y="2704"/>
                    <a:ext cx="726" cy="182"/>
                  </a:xfrm>
                  <a:prstGeom prst="ellipse">
                    <a:avLst/>
                  </a:prstGeom>
                  <a:solidFill>
                    <a:srgbClr val="F36D5F"/>
                  </a:solidFill>
                  <a:ln w="12700" cap="sq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</p:spPr>
                <p:txBody>
                  <a:bodyPr wrap="none" anchor="ctr"/>
                  <a:lstStyle>
                    <a:lvl1pPr eaLnBrk="0" hangingPunct="0">
                      <a:defRPr sz="2000" b="1">
                        <a:solidFill>
                          <a:schemeClr val="tx1"/>
                        </a:solidFill>
                        <a:latin typeface="Comic Sans MS" panose="030F0702030302020204" pitchFamily="66" charset="0"/>
                      </a:defRPr>
                    </a:lvl1pPr>
                    <a:lvl2pPr marL="742950" indent="-285750" eaLnBrk="0" hangingPunct="0">
                      <a:defRPr sz="2000" b="1">
                        <a:solidFill>
                          <a:schemeClr val="tx1"/>
                        </a:solidFill>
                        <a:latin typeface="Comic Sans MS" panose="030F0702030302020204" pitchFamily="66" charset="0"/>
                      </a:defRPr>
                    </a:lvl2pPr>
                    <a:lvl3pPr marL="1143000" indent="-228600" eaLnBrk="0" hangingPunct="0">
                      <a:defRPr sz="2000" b="1">
                        <a:solidFill>
                          <a:schemeClr val="tx1"/>
                        </a:solidFill>
                        <a:latin typeface="Comic Sans MS" panose="030F0702030302020204" pitchFamily="66" charset="0"/>
                      </a:defRPr>
                    </a:lvl3pPr>
                    <a:lvl4pPr marL="1600200" indent="-228600" eaLnBrk="0" hangingPunct="0">
                      <a:defRPr sz="2000" b="1">
                        <a:solidFill>
                          <a:schemeClr val="tx1"/>
                        </a:solidFill>
                        <a:latin typeface="Comic Sans MS" panose="030F0702030302020204" pitchFamily="66" charset="0"/>
                      </a:defRPr>
                    </a:lvl4pPr>
                    <a:lvl5pPr marL="2057400" indent="-228600" eaLnBrk="0" hangingPunct="0">
                      <a:defRPr sz="2000" b="1">
                        <a:solidFill>
                          <a:schemeClr val="tx1"/>
                        </a:solidFill>
                        <a:latin typeface="Comic Sans MS" panose="030F0702030302020204" pitchFamily="66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panose="030F0702030302020204" pitchFamily="66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panose="030F0702030302020204" pitchFamily="66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panose="030F0702030302020204" pitchFamily="66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panose="030F0702030302020204" pitchFamily="66" charset="0"/>
                      </a:defRPr>
                    </a:lvl9pPr>
                  </a:lstStyle>
                  <a:p>
                    <a:pPr eaLnBrk="1" hangingPunct="1"/>
                    <a:endParaRPr lang="en-AU" altLang="en-US"/>
                  </a:p>
                </p:txBody>
              </p:sp>
              <p:sp>
                <p:nvSpPr>
                  <p:cNvPr id="188" name="Oval 18"/>
                  <p:cNvSpPr>
                    <a:spLocks noChangeArrowheads="1"/>
                  </p:cNvSpPr>
                  <p:nvPr/>
                </p:nvSpPr>
                <p:spPr bwMode="auto">
                  <a:xfrm>
                    <a:off x="1338" y="3475"/>
                    <a:ext cx="726" cy="182"/>
                  </a:xfrm>
                  <a:prstGeom prst="ellipse">
                    <a:avLst/>
                  </a:prstGeom>
                  <a:solidFill>
                    <a:srgbClr val="F36D5F"/>
                  </a:solidFill>
                  <a:ln w="12700" cap="sq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</p:spPr>
                <p:txBody>
                  <a:bodyPr wrap="none" anchor="ctr"/>
                  <a:lstStyle>
                    <a:lvl1pPr eaLnBrk="0" hangingPunct="0">
                      <a:defRPr sz="2000" b="1">
                        <a:solidFill>
                          <a:schemeClr val="tx1"/>
                        </a:solidFill>
                        <a:latin typeface="Comic Sans MS" panose="030F0702030302020204" pitchFamily="66" charset="0"/>
                      </a:defRPr>
                    </a:lvl1pPr>
                    <a:lvl2pPr marL="742950" indent="-285750" eaLnBrk="0" hangingPunct="0">
                      <a:defRPr sz="2000" b="1">
                        <a:solidFill>
                          <a:schemeClr val="tx1"/>
                        </a:solidFill>
                        <a:latin typeface="Comic Sans MS" panose="030F0702030302020204" pitchFamily="66" charset="0"/>
                      </a:defRPr>
                    </a:lvl2pPr>
                    <a:lvl3pPr marL="1143000" indent="-228600" eaLnBrk="0" hangingPunct="0">
                      <a:defRPr sz="2000" b="1">
                        <a:solidFill>
                          <a:schemeClr val="tx1"/>
                        </a:solidFill>
                        <a:latin typeface="Comic Sans MS" panose="030F0702030302020204" pitchFamily="66" charset="0"/>
                      </a:defRPr>
                    </a:lvl3pPr>
                    <a:lvl4pPr marL="1600200" indent="-228600" eaLnBrk="0" hangingPunct="0">
                      <a:defRPr sz="2000" b="1">
                        <a:solidFill>
                          <a:schemeClr val="tx1"/>
                        </a:solidFill>
                        <a:latin typeface="Comic Sans MS" panose="030F0702030302020204" pitchFamily="66" charset="0"/>
                      </a:defRPr>
                    </a:lvl4pPr>
                    <a:lvl5pPr marL="2057400" indent="-228600" eaLnBrk="0" hangingPunct="0">
                      <a:defRPr sz="2000" b="1">
                        <a:solidFill>
                          <a:schemeClr val="tx1"/>
                        </a:solidFill>
                        <a:latin typeface="Comic Sans MS" panose="030F0702030302020204" pitchFamily="66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panose="030F0702030302020204" pitchFamily="66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panose="030F0702030302020204" pitchFamily="66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panose="030F0702030302020204" pitchFamily="66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chemeClr val="tx1"/>
                        </a:solidFill>
                        <a:latin typeface="Comic Sans MS" panose="030F0702030302020204" pitchFamily="66" charset="0"/>
                      </a:defRPr>
                    </a:lvl9pPr>
                  </a:lstStyle>
                  <a:p>
                    <a:pPr eaLnBrk="1" hangingPunct="1"/>
                    <a:endParaRPr lang="en-AU" altLang="en-US"/>
                  </a:p>
                </p:txBody>
              </p:sp>
              <p:sp>
                <p:nvSpPr>
                  <p:cNvPr id="189" name="Line 19"/>
                  <p:cNvSpPr>
                    <a:spLocks noChangeShapeType="1"/>
                  </p:cNvSpPr>
                  <p:nvPr/>
                </p:nvSpPr>
                <p:spPr bwMode="auto">
                  <a:xfrm>
                    <a:off x="1338" y="2795"/>
                    <a:ext cx="0" cy="771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en-AU"/>
                  </a:p>
                </p:txBody>
              </p:sp>
              <p:sp>
                <p:nvSpPr>
                  <p:cNvPr id="190" name="Line 20"/>
                  <p:cNvSpPr>
                    <a:spLocks noChangeShapeType="1"/>
                  </p:cNvSpPr>
                  <p:nvPr/>
                </p:nvSpPr>
                <p:spPr bwMode="auto">
                  <a:xfrm>
                    <a:off x="2064" y="2795"/>
                    <a:ext cx="0" cy="771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en-AU" dirty="0"/>
                  </a:p>
                </p:txBody>
              </p:sp>
            </p:grpSp>
            <p:grpSp>
              <p:nvGrpSpPr>
                <p:cNvPr id="180" name="Group 36"/>
                <p:cNvGrpSpPr>
                  <a:grpSpLocks/>
                </p:cNvGrpSpPr>
                <p:nvPr/>
              </p:nvGrpSpPr>
              <p:grpSpPr bwMode="auto">
                <a:xfrm>
                  <a:off x="2653" y="2931"/>
                  <a:ext cx="1237" cy="923"/>
                  <a:chOff x="2653" y="2931"/>
                  <a:chExt cx="1237" cy="923"/>
                </a:xfrm>
              </p:grpSpPr>
              <p:sp>
                <p:nvSpPr>
                  <p:cNvPr id="181" name="Arc 28"/>
                  <p:cNvSpPr>
                    <a:spLocks/>
                  </p:cNvSpPr>
                  <p:nvPr/>
                </p:nvSpPr>
                <p:spPr bwMode="auto">
                  <a:xfrm rot="5400000">
                    <a:off x="3493" y="2886"/>
                    <a:ext cx="340" cy="454"/>
                  </a:xfrm>
                  <a:custGeom>
                    <a:avLst/>
                    <a:gdLst>
                      <a:gd name="T0" fmla="*/ 0 w 23143"/>
                      <a:gd name="T1" fmla="*/ 0 h 43200"/>
                      <a:gd name="T2" fmla="*/ 0 w 23143"/>
                      <a:gd name="T3" fmla="*/ 0 h 43200"/>
                      <a:gd name="T4" fmla="*/ 0 w 23143"/>
                      <a:gd name="T5" fmla="*/ 0 h 43200"/>
                      <a:gd name="T6" fmla="*/ 0 60000 65536"/>
                      <a:gd name="T7" fmla="*/ 0 60000 65536"/>
                      <a:gd name="T8" fmla="*/ 0 60000 65536"/>
                      <a:gd name="T9" fmla="*/ 0 w 23143"/>
                      <a:gd name="T10" fmla="*/ 0 h 43200"/>
                      <a:gd name="T11" fmla="*/ 23143 w 23143"/>
                      <a:gd name="T12" fmla="*/ 43200 h 432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3143" h="43200" fill="none" extrusionOk="0">
                        <a:moveTo>
                          <a:pt x="1542" y="0"/>
                        </a:moveTo>
                        <a:cubicBezTo>
                          <a:pt x="13472" y="0"/>
                          <a:pt x="23143" y="9670"/>
                          <a:pt x="23143" y="21600"/>
                        </a:cubicBezTo>
                        <a:cubicBezTo>
                          <a:pt x="23143" y="33529"/>
                          <a:pt x="13472" y="43200"/>
                          <a:pt x="1543" y="43200"/>
                        </a:cubicBezTo>
                        <a:cubicBezTo>
                          <a:pt x="1028" y="43200"/>
                          <a:pt x="513" y="43181"/>
                          <a:pt x="0" y="43144"/>
                        </a:cubicBezTo>
                      </a:path>
                      <a:path w="23143" h="43200" stroke="0" extrusionOk="0">
                        <a:moveTo>
                          <a:pt x="1542" y="0"/>
                        </a:moveTo>
                        <a:cubicBezTo>
                          <a:pt x="13472" y="0"/>
                          <a:pt x="23143" y="9670"/>
                          <a:pt x="23143" y="21600"/>
                        </a:cubicBezTo>
                        <a:cubicBezTo>
                          <a:pt x="23143" y="33529"/>
                          <a:pt x="13472" y="43200"/>
                          <a:pt x="1543" y="43200"/>
                        </a:cubicBezTo>
                        <a:cubicBezTo>
                          <a:pt x="1028" y="43200"/>
                          <a:pt x="513" y="43181"/>
                          <a:pt x="0" y="43144"/>
                        </a:cubicBezTo>
                        <a:lnTo>
                          <a:pt x="1543" y="2160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chemeClr val="tx1"/>
                    </a:solidFill>
                    <a:prstDash val="lgDashDotDot"/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AU"/>
                  </a:p>
                </p:txBody>
              </p:sp>
              <p:sp>
                <p:nvSpPr>
                  <p:cNvPr id="182" name="Line 29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107" y="2931"/>
                    <a:ext cx="771" cy="635"/>
                  </a:xfrm>
                  <a:prstGeom prst="line">
                    <a:avLst/>
                  </a:prstGeom>
                  <a:noFill/>
                  <a:ln w="38100" cap="sq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en-AU"/>
                  </a:p>
                </p:txBody>
              </p:sp>
              <p:sp>
                <p:nvSpPr>
                  <p:cNvPr id="183" name="Line 30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653" y="2931"/>
                    <a:ext cx="771" cy="590"/>
                  </a:xfrm>
                  <a:prstGeom prst="line">
                    <a:avLst/>
                  </a:prstGeom>
                  <a:noFill/>
                  <a:ln w="38100" cap="sq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en-AU"/>
                  </a:p>
                </p:txBody>
              </p:sp>
              <p:sp>
                <p:nvSpPr>
                  <p:cNvPr id="184" name="Line 31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980" y="3249"/>
                    <a:ext cx="807" cy="605"/>
                  </a:xfrm>
                  <a:prstGeom prst="line">
                    <a:avLst/>
                  </a:prstGeom>
                  <a:noFill/>
                  <a:ln w="38100" cap="sq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en-AU"/>
                  </a:p>
                </p:txBody>
              </p:sp>
              <p:sp>
                <p:nvSpPr>
                  <p:cNvPr id="185" name="Line 32"/>
                  <p:cNvSpPr>
                    <a:spLocks noChangeShapeType="1"/>
                  </p:cNvSpPr>
                  <p:nvPr/>
                </p:nvSpPr>
                <p:spPr bwMode="auto">
                  <a:xfrm>
                    <a:off x="3424" y="2931"/>
                    <a:ext cx="454" cy="0"/>
                  </a:xfrm>
                  <a:prstGeom prst="line">
                    <a:avLst/>
                  </a:prstGeom>
                  <a:noFill/>
                  <a:ln w="28575" cap="sq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en-AU"/>
                  </a:p>
                </p:txBody>
              </p:sp>
              <p:sp>
                <p:nvSpPr>
                  <p:cNvPr id="186" name="Line 33"/>
                  <p:cNvSpPr>
                    <a:spLocks noChangeShapeType="1"/>
                  </p:cNvSpPr>
                  <p:nvPr/>
                </p:nvSpPr>
                <p:spPr bwMode="auto">
                  <a:xfrm>
                    <a:off x="2653" y="3521"/>
                    <a:ext cx="454" cy="0"/>
                  </a:xfrm>
                  <a:prstGeom prst="line">
                    <a:avLst/>
                  </a:prstGeom>
                  <a:noFill/>
                  <a:ln w="38100" cap="sq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en-AU"/>
                  </a:p>
                </p:txBody>
              </p:sp>
            </p:grpSp>
          </p:grpSp>
        </p:grpSp>
        <p:sp>
          <p:nvSpPr>
            <p:cNvPr id="165" name="Line 34"/>
            <p:cNvSpPr>
              <a:spLocks noChangeShapeType="1"/>
            </p:cNvSpPr>
            <p:nvPr/>
          </p:nvSpPr>
          <p:spPr bwMode="auto">
            <a:xfrm>
              <a:off x="4300281" y="3928461"/>
              <a:ext cx="215900" cy="208756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166" name="Text Box 35"/>
            <p:cNvSpPr txBox="1">
              <a:spLocks noChangeArrowheads="1"/>
            </p:cNvSpPr>
            <p:nvPr/>
          </p:nvSpPr>
          <p:spPr bwMode="auto">
            <a:xfrm rot="19163137">
              <a:off x="5071806" y="5439650"/>
              <a:ext cx="1223962" cy="470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AU" altLang="en-US" b="0" dirty="0"/>
                <a:t>Depth</a:t>
              </a:r>
            </a:p>
          </p:txBody>
        </p:sp>
        <p:grpSp>
          <p:nvGrpSpPr>
            <p:cNvPr id="167" name="Group 38"/>
            <p:cNvGrpSpPr>
              <a:grpSpLocks/>
            </p:cNvGrpSpPr>
            <p:nvPr/>
          </p:nvGrpSpPr>
          <p:grpSpPr bwMode="auto">
            <a:xfrm>
              <a:off x="1563431" y="2775936"/>
              <a:ext cx="1223962" cy="1189037"/>
              <a:chOff x="975" y="1661"/>
              <a:chExt cx="771" cy="749"/>
            </a:xfrm>
          </p:grpSpPr>
          <p:sp>
            <p:nvSpPr>
              <p:cNvPr id="172" name="Text Box 10"/>
              <p:cNvSpPr txBox="1">
                <a:spLocks noChangeArrowheads="1"/>
              </p:cNvSpPr>
              <p:nvPr/>
            </p:nvSpPr>
            <p:spPr bwMode="auto">
              <a:xfrm>
                <a:off x="975" y="2160"/>
                <a:ext cx="771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AU" altLang="en-US" b="0"/>
                  <a:t>Base</a:t>
                </a:r>
              </a:p>
            </p:txBody>
          </p:sp>
          <p:sp>
            <p:nvSpPr>
              <p:cNvPr id="173" name="Line 9"/>
              <p:cNvSpPr>
                <a:spLocks noChangeShapeType="1"/>
              </p:cNvSpPr>
              <p:nvPr/>
            </p:nvSpPr>
            <p:spPr bwMode="auto">
              <a:xfrm flipV="1">
                <a:off x="1383" y="1661"/>
                <a:ext cx="182" cy="499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AU"/>
              </a:p>
            </p:txBody>
          </p:sp>
        </p:grpSp>
        <p:sp>
          <p:nvSpPr>
            <p:cNvPr id="168" name="Line 23"/>
            <p:cNvSpPr>
              <a:spLocks noChangeShapeType="1"/>
            </p:cNvSpPr>
            <p:nvPr/>
          </p:nvSpPr>
          <p:spPr bwMode="auto">
            <a:xfrm>
              <a:off x="2211131" y="3928461"/>
              <a:ext cx="360362" cy="576262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AU"/>
            </a:p>
          </p:txBody>
        </p:sp>
        <p:grpSp>
          <p:nvGrpSpPr>
            <p:cNvPr id="169" name="Group 39"/>
            <p:cNvGrpSpPr>
              <a:grpSpLocks/>
            </p:cNvGrpSpPr>
            <p:nvPr/>
          </p:nvGrpSpPr>
          <p:grpSpPr bwMode="auto">
            <a:xfrm>
              <a:off x="3866893" y="2631473"/>
              <a:ext cx="1223963" cy="1296988"/>
              <a:chOff x="2426" y="1570"/>
              <a:chExt cx="771" cy="817"/>
            </a:xfrm>
          </p:grpSpPr>
          <p:sp>
            <p:nvSpPr>
              <p:cNvPr id="170" name="Text Box 12"/>
              <p:cNvSpPr txBox="1">
                <a:spLocks noChangeArrowheads="1"/>
              </p:cNvSpPr>
              <p:nvPr/>
            </p:nvSpPr>
            <p:spPr bwMode="auto">
              <a:xfrm>
                <a:off x="2426" y="2137"/>
                <a:ext cx="771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AU" altLang="en-US" b="0"/>
                  <a:t>Base</a:t>
                </a:r>
              </a:p>
            </p:txBody>
          </p:sp>
          <p:sp>
            <p:nvSpPr>
              <p:cNvPr id="171" name="Line 13"/>
              <p:cNvSpPr>
                <a:spLocks noChangeShapeType="1"/>
              </p:cNvSpPr>
              <p:nvPr/>
            </p:nvSpPr>
            <p:spPr bwMode="auto">
              <a:xfrm flipV="1">
                <a:off x="2653" y="1570"/>
                <a:ext cx="182" cy="545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AU"/>
              </a:p>
            </p:txBody>
          </p:sp>
        </p:grpSp>
      </p:grpSp>
      <p:sp>
        <p:nvSpPr>
          <p:cNvPr id="192" name="TextBox 191"/>
          <p:cNvSpPr txBox="1"/>
          <p:nvPr/>
        </p:nvSpPr>
        <p:spPr>
          <a:xfrm>
            <a:off x="0" y="2876120"/>
            <a:ext cx="19898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What is a prism?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1918102" y="2898112"/>
            <a:ext cx="4497169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AU" altLang="en-US" sz="2400" dirty="0">
                <a:solidFill>
                  <a:srgbClr val="660033"/>
                </a:solidFill>
              </a:rPr>
              <a:t>Prisms are shapes that have a pair of identical, parallel ends (the “</a:t>
            </a:r>
            <a:r>
              <a:rPr lang="en-AU" altLang="en-US" sz="2400" dirty="0">
                <a:solidFill>
                  <a:srgbClr val="ED0F0F"/>
                </a:solidFill>
              </a:rPr>
              <a:t>base</a:t>
            </a:r>
            <a:r>
              <a:rPr lang="en-AU" altLang="en-US" sz="2400" dirty="0">
                <a:solidFill>
                  <a:srgbClr val="660033"/>
                </a:solidFill>
              </a:rPr>
              <a:t>” and  top) and straight sides (the “</a:t>
            </a:r>
            <a:r>
              <a:rPr lang="en-AU" altLang="en-US" sz="2400" dirty="0">
                <a:solidFill>
                  <a:srgbClr val="ED0F0F"/>
                </a:solidFill>
              </a:rPr>
              <a:t>Depth</a:t>
            </a:r>
            <a:r>
              <a:rPr lang="en-AU" altLang="en-US" sz="2400" dirty="0">
                <a:solidFill>
                  <a:srgbClr val="660033"/>
                </a:solidFill>
              </a:rPr>
              <a:t>”) perpendicular to the base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AU" altLang="en-US" sz="2400" dirty="0">
                <a:solidFill>
                  <a:srgbClr val="660033"/>
                </a:solidFill>
              </a:rPr>
              <a:t>Any cut (called a cross-section) made through the shape parallel to the top or base will result in exactly the same shape as the base or the top.</a:t>
            </a:r>
          </a:p>
          <a:p>
            <a:endParaRPr lang="en-AU" altLang="en-US" sz="2400" dirty="0">
              <a:solidFill>
                <a:srgbClr val="660033"/>
              </a:solidFill>
            </a:endParaRPr>
          </a:p>
          <a:p>
            <a:endParaRPr lang="en-AU" altLang="en-US" sz="2400" dirty="0">
              <a:solidFill>
                <a:srgbClr val="660033"/>
              </a:solidFill>
            </a:endParaRPr>
          </a:p>
          <a:p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356960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2781300" y="0"/>
            <a:ext cx="7885112" cy="6858000"/>
            <a:chOff x="793" y="0"/>
            <a:chExt cx="4967" cy="4320"/>
          </a:xfrm>
        </p:grpSpPr>
        <p:sp>
          <p:nvSpPr>
            <p:cNvPr id="3122" name="Line 5"/>
            <p:cNvSpPr>
              <a:spLocks noChangeShapeType="1"/>
            </p:cNvSpPr>
            <p:nvPr/>
          </p:nvSpPr>
          <p:spPr bwMode="auto">
            <a:xfrm>
              <a:off x="3152" y="0"/>
              <a:ext cx="0" cy="432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AU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123" name="Line 6"/>
            <p:cNvSpPr>
              <a:spLocks noChangeShapeType="1"/>
            </p:cNvSpPr>
            <p:nvPr/>
          </p:nvSpPr>
          <p:spPr bwMode="auto">
            <a:xfrm>
              <a:off x="793" y="2115"/>
              <a:ext cx="4967" cy="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AU" kern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3" name="Group 21"/>
          <p:cNvGrpSpPr>
            <a:grpSpLocks/>
          </p:cNvGrpSpPr>
          <p:nvPr/>
        </p:nvGrpSpPr>
        <p:grpSpPr bwMode="auto">
          <a:xfrm>
            <a:off x="3214688" y="404813"/>
            <a:ext cx="1870075" cy="1014412"/>
            <a:chOff x="1066" y="255"/>
            <a:chExt cx="1178" cy="639"/>
          </a:xfrm>
        </p:grpSpPr>
        <p:sp>
          <p:nvSpPr>
            <p:cNvPr id="3118" name="Rectangle 8" descr="Pink tissue paper"/>
            <p:cNvSpPr>
              <a:spLocks noChangeArrowheads="1"/>
            </p:cNvSpPr>
            <p:nvPr/>
          </p:nvSpPr>
          <p:spPr bwMode="auto">
            <a:xfrm>
              <a:off x="1066" y="391"/>
              <a:ext cx="725" cy="318"/>
            </a:xfrm>
            <a:prstGeom prst="rect">
              <a:avLst/>
            </a:prstGeom>
            <a:blipFill dpi="0" rotWithShape="1">
              <a:blip r:embed="rId4"/>
              <a:srcRect/>
              <a:tile tx="0" ty="0" sx="100000" sy="100000" flip="none" algn="tl"/>
            </a:blip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887400" prstMaterial="legacyMatte">
              <a:bevelT w="13500" h="13500" prst="angle"/>
              <a:bevelB w="13500" h="13500" prst="angle"/>
              <a:extrusionClr>
                <a:srgbClr val="FFCCCC"/>
              </a:extrusionClr>
              <a:contourClr>
                <a:srgbClr val="FFFFFF"/>
              </a:contourClr>
            </a:sp3d>
          </p:spPr>
          <p:txBody>
            <a:bodyPr wrap="none" anchor="ctr">
              <a:flatTx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eaLnBrk="1" hangingPunct="1"/>
              <a:endParaRPr lang="en-AU" altLang="en-US" kern="0"/>
            </a:p>
          </p:txBody>
        </p:sp>
        <p:sp>
          <p:nvSpPr>
            <p:cNvPr id="3119" name="Text Box 9"/>
            <p:cNvSpPr txBox="1">
              <a:spLocks noChangeArrowheads="1"/>
            </p:cNvSpPr>
            <p:nvPr/>
          </p:nvSpPr>
          <p:spPr bwMode="auto">
            <a:xfrm>
              <a:off x="1837" y="527"/>
              <a:ext cx="31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AU" altLang="en-US" sz="1800" b="0" kern="0">
                  <a:latin typeface="Times New Roman" panose="02020603050405020304" pitchFamily="18" charset="0"/>
                </a:rPr>
                <a:t>4m</a:t>
              </a:r>
            </a:p>
          </p:txBody>
        </p:sp>
        <p:sp>
          <p:nvSpPr>
            <p:cNvPr id="3120" name="Text Box 10"/>
            <p:cNvSpPr txBox="1">
              <a:spLocks noChangeArrowheads="1"/>
            </p:cNvSpPr>
            <p:nvPr/>
          </p:nvSpPr>
          <p:spPr bwMode="auto">
            <a:xfrm>
              <a:off x="1927" y="255"/>
              <a:ext cx="31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AU" altLang="en-US" sz="1800" b="0" kern="0">
                  <a:latin typeface="Times New Roman" panose="02020603050405020304" pitchFamily="18" charset="0"/>
                </a:rPr>
                <a:t>3m</a:t>
              </a:r>
            </a:p>
          </p:txBody>
        </p:sp>
        <p:sp>
          <p:nvSpPr>
            <p:cNvPr id="3121" name="Text Box 11"/>
            <p:cNvSpPr txBox="1">
              <a:spLocks noChangeArrowheads="1"/>
            </p:cNvSpPr>
            <p:nvPr/>
          </p:nvSpPr>
          <p:spPr bwMode="auto">
            <a:xfrm>
              <a:off x="1338" y="663"/>
              <a:ext cx="31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AU" altLang="en-US" sz="1800" b="0" kern="0">
                  <a:latin typeface="Times New Roman" panose="02020603050405020304" pitchFamily="18" charset="0"/>
                </a:rPr>
                <a:t>5m</a:t>
              </a:r>
            </a:p>
          </p:txBody>
        </p:sp>
      </p:grpSp>
      <p:sp>
        <p:nvSpPr>
          <p:cNvPr id="48140" name="Text Box 12"/>
          <p:cNvSpPr txBox="1">
            <a:spLocks noChangeArrowheads="1"/>
          </p:cNvSpPr>
          <p:nvPr/>
        </p:nvSpPr>
        <p:spPr bwMode="auto">
          <a:xfrm>
            <a:off x="3141663" y="1628776"/>
            <a:ext cx="28813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altLang="en-US" sz="1800" kern="0" dirty="0">
                <a:latin typeface="Times New Roman" panose="02020603050405020304" pitchFamily="18" charset="0"/>
              </a:rPr>
              <a:t>Vol = Base Area </a:t>
            </a:r>
            <a:r>
              <a:rPr lang="en-US" altLang="en-US" sz="1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× </a:t>
            </a:r>
            <a:r>
              <a:rPr lang="en-AU" altLang="en-US" sz="1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Depth</a:t>
            </a:r>
            <a:endParaRPr lang="en-AU" altLang="en-US" sz="1800" kern="0" dirty="0">
              <a:latin typeface="Times New Roman" panose="02020603050405020304" pitchFamily="18" charset="0"/>
            </a:endParaRPr>
          </a:p>
        </p:txBody>
      </p:sp>
      <p:sp>
        <p:nvSpPr>
          <p:cNvPr id="48141" name="Text Box 13"/>
          <p:cNvSpPr txBox="1">
            <a:spLocks noChangeArrowheads="1"/>
          </p:cNvSpPr>
          <p:nvPr/>
        </p:nvSpPr>
        <p:spPr bwMode="auto">
          <a:xfrm>
            <a:off x="3573462" y="2133600"/>
            <a:ext cx="21605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altLang="en-US" sz="1600" b="0" kern="0">
                <a:latin typeface="Times New Roman" panose="02020603050405020304" pitchFamily="18" charset="0"/>
              </a:rPr>
              <a:t> = 5 </a:t>
            </a:r>
            <a:r>
              <a:rPr lang="en-US" altLang="en-US" sz="1600" b="0" kern="0">
                <a:latin typeface="Times New Roman" panose="02020603050405020304" pitchFamily="18" charset="0"/>
                <a:cs typeface="Times New Roman" panose="02020603050405020304" pitchFamily="18" charset="0"/>
              </a:rPr>
              <a:t>× 4 </a:t>
            </a:r>
            <a:r>
              <a:rPr lang="en-US" altLang="en-US" sz="1600" b="0" kern="0">
                <a:latin typeface="Times New Roman" panose="02020603050405020304" pitchFamily="18" charset="0"/>
              </a:rPr>
              <a:t>× 3</a:t>
            </a:r>
          </a:p>
        </p:txBody>
      </p:sp>
      <p:sp>
        <p:nvSpPr>
          <p:cNvPr id="48142" name="Text Box 14"/>
          <p:cNvSpPr txBox="1">
            <a:spLocks noChangeArrowheads="1"/>
          </p:cNvSpPr>
          <p:nvPr/>
        </p:nvSpPr>
        <p:spPr bwMode="auto">
          <a:xfrm>
            <a:off x="3573462" y="2587625"/>
            <a:ext cx="21605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altLang="en-US" sz="1600" b="0" kern="0">
                <a:latin typeface="Times New Roman" panose="02020603050405020304" pitchFamily="18" charset="0"/>
              </a:rPr>
              <a:t> = 60 cubic metres</a:t>
            </a:r>
            <a:endParaRPr lang="en-US" altLang="en-US" sz="1600" b="0" kern="0">
              <a:latin typeface="Times New Roman" panose="02020603050405020304" pitchFamily="18" charset="0"/>
            </a:endParaRPr>
          </a:p>
        </p:txBody>
      </p:sp>
      <p:grpSp>
        <p:nvGrpSpPr>
          <p:cNvPr id="4" name="Group 48"/>
          <p:cNvGrpSpPr>
            <a:grpSpLocks/>
          </p:cNvGrpSpPr>
          <p:nvPr/>
        </p:nvGrpSpPr>
        <p:grpSpPr bwMode="auto">
          <a:xfrm>
            <a:off x="6815138" y="549275"/>
            <a:ext cx="2519363" cy="1150938"/>
            <a:chOff x="3334" y="346"/>
            <a:chExt cx="1587" cy="725"/>
          </a:xfrm>
        </p:grpSpPr>
        <p:sp>
          <p:nvSpPr>
            <p:cNvPr id="3112" name="AutoShape 15"/>
            <p:cNvSpPr>
              <a:spLocks noChangeArrowheads="1"/>
            </p:cNvSpPr>
            <p:nvPr/>
          </p:nvSpPr>
          <p:spPr bwMode="auto">
            <a:xfrm>
              <a:off x="3334" y="346"/>
              <a:ext cx="1088" cy="544"/>
            </a:xfrm>
            <a:prstGeom prst="triangle">
              <a:avLst>
                <a:gd name="adj" fmla="val 78551"/>
              </a:avLst>
            </a:prstGeom>
            <a:gradFill rotWithShape="1">
              <a:gsLst>
                <a:gs pos="0">
                  <a:srgbClr val="630044"/>
                </a:gs>
                <a:gs pos="50000">
                  <a:srgbClr val="D60093"/>
                </a:gs>
                <a:gs pos="100000">
                  <a:srgbClr val="630044"/>
                </a:gs>
              </a:gsLst>
              <a:lin ang="5400000" scaled="1"/>
            </a:gradFill>
            <a:ln w="9525">
              <a:miter lim="800000"/>
              <a:headEnd/>
              <a:tailEnd/>
            </a:ln>
            <a:scene3d>
              <a:camera prst="legacyObliqueTopRight"/>
              <a:lightRig rig="legacyFlat2" dir="t"/>
            </a:scene3d>
            <a:sp3d extrusionH="887400" prstMaterial="legacyMatte">
              <a:bevelT w="13500" h="13500" prst="angle"/>
              <a:bevelB w="13500" h="13500" prst="angle"/>
              <a:extrusionClr>
                <a:srgbClr val="D60093"/>
              </a:extrusionClr>
              <a:contourClr>
                <a:srgbClr val="630044"/>
              </a:contourClr>
            </a:sp3d>
          </p:spPr>
          <p:txBody>
            <a:bodyPr wrap="none" anchor="ctr">
              <a:flatTx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eaLnBrk="1" hangingPunct="1"/>
              <a:endParaRPr lang="en-AU" altLang="en-US" kern="0"/>
            </a:p>
          </p:txBody>
        </p:sp>
        <p:sp>
          <p:nvSpPr>
            <p:cNvPr id="3113" name="Text Box 16"/>
            <p:cNvSpPr txBox="1">
              <a:spLocks noChangeArrowheads="1"/>
            </p:cNvSpPr>
            <p:nvPr/>
          </p:nvSpPr>
          <p:spPr bwMode="auto">
            <a:xfrm>
              <a:off x="3742" y="840"/>
              <a:ext cx="45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AU" altLang="en-US" sz="1800" b="0" kern="0">
                  <a:latin typeface="Times New Roman" panose="02020603050405020304" pitchFamily="18" charset="0"/>
                </a:rPr>
                <a:t>12m</a:t>
              </a:r>
            </a:p>
          </p:txBody>
        </p:sp>
        <p:sp>
          <p:nvSpPr>
            <p:cNvPr id="3114" name="Text Box 17"/>
            <p:cNvSpPr txBox="1">
              <a:spLocks noChangeArrowheads="1"/>
            </p:cNvSpPr>
            <p:nvPr/>
          </p:nvSpPr>
          <p:spPr bwMode="auto">
            <a:xfrm>
              <a:off x="4468" y="709"/>
              <a:ext cx="45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AU" altLang="en-US" sz="1800" b="0" kern="0">
                  <a:latin typeface="Times New Roman" panose="02020603050405020304" pitchFamily="18" charset="0"/>
                </a:rPr>
                <a:t>7m</a:t>
              </a:r>
            </a:p>
          </p:txBody>
        </p:sp>
        <p:sp>
          <p:nvSpPr>
            <p:cNvPr id="3115" name="Line 18"/>
            <p:cNvSpPr>
              <a:spLocks noChangeShapeType="1"/>
            </p:cNvSpPr>
            <p:nvPr/>
          </p:nvSpPr>
          <p:spPr bwMode="auto">
            <a:xfrm flipV="1">
              <a:off x="4195" y="346"/>
              <a:ext cx="0" cy="181"/>
            </a:xfrm>
            <a:prstGeom prst="line">
              <a:avLst/>
            </a:prstGeom>
            <a:noFill/>
            <a:ln w="38100" cap="sq">
              <a:solidFill>
                <a:srgbClr val="F5F6FD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AU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116" name="Line 19"/>
            <p:cNvSpPr>
              <a:spLocks noChangeShapeType="1"/>
            </p:cNvSpPr>
            <p:nvPr/>
          </p:nvSpPr>
          <p:spPr bwMode="auto">
            <a:xfrm>
              <a:off x="4195" y="754"/>
              <a:ext cx="0" cy="136"/>
            </a:xfrm>
            <a:prstGeom prst="line">
              <a:avLst/>
            </a:prstGeom>
            <a:noFill/>
            <a:ln w="38100" cap="sq">
              <a:solidFill>
                <a:srgbClr val="F5F6FD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AU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117" name="Text Box 20"/>
            <p:cNvSpPr txBox="1">
              <a:spLocks noChangeArrowheads="1"/>
            </p:cNvSpPr>
            <p:nvPr/>
          </p:nvSpPr>
          <p:spPr bwMode="auto">
            <a:xfrm>
              <a:off x="4059" y="527"/>
              <a:ext cx="45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AU" altLang="en-US" sz="1800" b="0" kern="0">
                  <a:solidFill>
                    <a:srgbClr val="F5F6FD"/>
                  </a:solidFill>
                  <a:latin typeface="Times New Roman" panose="02020603050405020304" pitchFamily="18" charset="0"/>
                </a:rPr>
                <a:t>5m</a:t>
              </a:r>
            </a:p>
          </p:txBody>
        </p:sp>
      </p:grpSp>
      <p:sp>
        <p:nvSpPr>
          <p:cNvPr id="48150" name="Text Box 22"/>
          <p:cNvSpPr txBox="1">
            <a:spLocks noChangeArrowheads="1"/>
          </p:cNvSpPr>
          <p:nvPr/>
        </p:nvSpPr>
        <p:spPr bwMode="auto">
          <a:xfrm>
            <a:off x="6813550" y="2341563"/>
            <a:ext cx="288131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altLang="en-US" sz="1800" kern="0" dirty="0">
                <a:latin typeface="Times New Roman" panose="02020603050405020304" pitchFamily="18" charset="0"/>
              </a:rPr>
              <a:t>Vol = Base Area </a:t>
            </a:r>
            <a:r>
              <a:rPr lang="en-US" altLang="en-US" sz="1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× </a:t>
            </a:r>
            <a:r>
              <a:rPr lang="en-AU" altLang="en-US" sz="1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Depth</a:t>
            </a:r>
            <a:endParaRPr lang="en-AU" altLang="en-US" sz="1800" kern="0" dirty="0">
              <a:latin typeface="Times New Roman" panose="02020603050405020304" pitchFamily="18" charset="0"/>
            </a:endParaRPr>
          </a:p>
        </p:txBody>
      </p:sp>
      <p:sp>
        <p:nvSpPr>
          <p:cNvPr id="48151" name="Text Box 23"/>
          <p:cNvSpPr txBox="1">
            <a:spLocks noChangeArrowheads="1"/>
          </p:cNvSpPr>
          <p:nvPr/>
        </p:nvSpPr>
        <p:spPr bwMode="auto">
          <a:xfrm>
            <a:off x="6815137" y="1628775"/>
            <a:ext cx="36004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altLang="en-US" sz="1800" i="1" kern="0">
                <a:solidFill>
                  <a:srgbClr val="ED0F0F"/>
                </a:solidFill>
              </a:rPr>
              <a:t>NOTE!!  </a:t>
            </a:r>
            <a:r>
              <a:rPr lang="en-AU" altLang="en-US" sz="1800" kern="0">
                <a:solidFill>
                  <a:srgbClr val="ED0F0F"/>
                </a:solidFill>
              </a:rPr>
              <a:t>The base is the </a:t>
            </a:r>
            <a:r>
              <a:rPr lang="en-AU" altLang="en-US" sz="1800" kern="0">
                <a:solidFill>
                  <a:srgbClr val="ED0F0F"/>
                </a:solidFill>
                <a:sym typeface="Symbol" panose="05050102010706020507" pitchFamily="18" charset="2"/>
              </a:rPr>
              <a:t> front and height is 7</a:t>
            </a:r>
          </a:p>
        </p:txBody>
      </p:sp>
      <p:sp>
        <p:nvSpPr>
          <p:cNvPr id="48152" name="Text Box 24"/>
          <p:cNvSpPr txBox="1">
            <a:spLocks noChangeArrowheads="1"/>
          </p:cNvSpPr>
          <p:nvPr/>
        </p:nvSpPr>
        <p:spPr bwMode="auto">
          <a:xfrm>
            <a:off x="7173912" y="2660650"/>
            <a:ext cx="21605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altLang="en-US" sz="1600" b="0" kern="0">
                <a:latin typeface="Times New Roman" panose="02020603050405020304" pitchFamily="18" charset="0"/>
              </a:rPr>
              <a:t> = (½  </a:t>
            </a:r>
            <a:r>
              <a:rPr lang="en-US" altLang="en-US" sz="1600" b="0" kern="0">
                <a:latin typeface="Times New Roman" panose="02020603050405020304" pitchFamily="18" charset="0"/>
                <a:cs typeface="Times New Roman" panose="02020603050405020304" pitchFamily="18" charset="0"/>
              </a:rPr>
              <a:t>× 12 </a:t>
            </a:r>
            <a:r>
              <a:rPr lang="en-US" altLang="en-US" sz="1600" b="0" kern="0">
                <a:latin typeface="Times New Roman" panose="02020603050405020304" pitchFamily="18" charset="0"/>
              </a:rPr>
              <a:t>× 5) × 7</a:t>
            </a:r>
          </a:p>
        </p:txBody>
      </p:sp>
      <p:sp>
        <p:nvSpPr>
          <p:cNvPr id="48153" name="Text Box 25"/>
          <p:cNvSpPr txBox="1">
            <a:spLocks noChangeArrowheads="1"/>
          </p:cNvSpPr>
          <p:nvPr/>
        </p:nvSpPr>
        <p:spPr bwMode="auto">
          <a:xfrm>
            <a:off x="7173912" y="2947988"/>
            <a:ext cx="21605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altLang="en-US" sz="1600" b="0" kern="0">
                <a:latin typeface="Times New Roman" panose="02020603050405020304" pitchFamily="18" charset="0"/>
              </a:rPr>
              <a:t> = 210 m</a:t>
            </a:r>
            <a:r>
              <a:rPr lang="en-AU" altLang="en-US" sz="1600" b="0" kern="0" baseline="30000">
                <a:latin typeface="Times New Roman" panose="02020603050405020304" pitchFamily="18" charset="0"/>
              </a:rPr>
              <a:t>3</a:t>
            </a:r>
            <a:endParaRPr lang="en-US" altLang="en-US" sz="1600" b="0" kern="0" baseline="30000">
              <a:latin typeface="Times New Roman" panose="02020603050405020304" pitchFamily="18" charset="0"/>
            </a:endParaRPr>
          </a:p>
        </p:txBody>
      </p:sp>
      <p:grpSp>
        <p:nvGrpSpPr>
          <p:cNvPr id="5" name="Group 49"/>
          <p:cNvGrpSpPr>
            <a:grpSpLocks/>
          </p:cNvGrpSpPr>
          <p:nvPr/>
        </p:nvGrpSpPr>
        <p:grpSpPr bwMode="auto">
          <a:xfrm>
            <a:off x="2854325" y="3644900"/>
            <a:ext cx="1655762" cy="1944688"/>
            <a:chOff x="839" y="2296"/>
            <a:chExt cx="1043" cy="1225"/>
          </a:xfrm>
        </p:grpSpPr>
        <p:grpSp>
          <p:nvGrpSpPr>
            <p:cNvPr id="3104" name="Group 30"/>
            <p:cNvGrpSpPr>
              <a:grpSpLocks/>
            </p:cNvGrpSpPr>
            <p:nvPr/>
          </p:nvGrpSpPr>
          <p:grpSpPr bwMode="auto">
            <a:xfrm>
              <a:off x="839" y="2296"/>
              <a:ext cx="635" cy="907"/>
              <a:chOff x="839" y="2296"/>
              <a:chExt cx="635" cy="907"/>
            </a:xfrm>
          </p:grpSpPr>
          <p:sp>
            <p:nvSpPr>
              <p:cNvPr id="3108" name="Oval 26"/>
              <p:cNvSpPr>
                <a:spLocks noChangeArrowheads="1"/>
              </p:cNvSpPr>
              <p:nvPr/>
            </p:nvSpPr>
            <p:spPr bwMode="auto">
              <a:xfrm>
                <a:off x="839" y="2296"/>
                <a:ext cx="635" cy="182"/>
              </a:xfrm>
              <a:prstGeom prst="ellipse">
                <a:avLst/>
              </a:prstGeom>
              <a:solidFill>
                <a:schemeClr val="accent1"/>
              </a:solidFill>
              <a:ln w="381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eaLnBrk="1" hangingPunct="1"/>
                <a:endParaRPr lang="en-AU" altLang="en-US" kern="0"/>
              </a:p>
            </p:txBody>
          </p:sp>
          <p:sp>
            <p:nvSpPr>
              <p:cNvPr id="3109" name="Oval 27"/>
              <p:cNvSpPr>
                <a:spLocks noChangeArrowheads="1"/>
              </p:cNvSpPr>
              <p:nvPr/>
            </p:nvSpPr>
            <p:spPr bwMode="auto">
              <a:xfrm>
                <a:off x="839" y="3021"/>
                <a:ext cx="635" cy="182"/>
              </a:xfrm>
              <a:prstGeom prst="ellipse">
                <a:avLst/>
              </a:prstGeom>
              <a:solidFill>
                <a:schemeClr val="accent1"/>
              </a:solidFill>
              <a:ln w="381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 eaLnBrk="0" hangingPunct="0"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 eaLnBrk="0" hangingPunct="0"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 eaLnBrk="0" hangingPunct="0"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 eaLnBrk="0" hangingPunct="0"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eaLnBrk="1" hangingPunct="1"/>
                <a:endParaRPr lang="en-AU" altLang="en-US" kern="0"/>
              </a:p>
            </p:txBody>
          </p:sp>
          <p:sp>
            <p:nvSpPr>
              <p:cNvPr id="3110" name="Line 28"/>
              <p:cNvSpPr>
                <a:spLocks noChangeShapeType="1"/>
              </p:cNvSpPr>
              <p:nvPr/>
            </p:nvSpPr>
            <p:spPr bwMode="auto">
              <a:xfrm>
                <a:off x="839" y="2387"/>
                <a:ext cx="0" cy="726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AU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111" name="Line 29"/>
              <p:cNvSpPr>
                <a:spLocks noChangeShapeType="1"/>
              </p:cNvSpPr>
              <p:nvPr/>
            </p:nvSpPr>
            <p:spPr bwMode="auto">
              <a:xfrm>
                <a:off x="1474" y="2387"/>
                <a:ext cx="0" cy="771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AU" kern="0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3105" name="Text Box 31"/>
            <p:cNvSpPr txBox="1">
              <a:spLocks noChangeArrowheads="1"/>
            </p:cNvSpPr>
            <p:nvPr/>
          </p:nvSpPr>
          <p:spPr bwMode="auto">
            <a:xfrm>
              <a:off x="1429" y="2614"/>
              <a:ext cx="45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AU" altLang="en-US" sz="1800" b="0" kern="0">
                  <a:latin typeface="Times New Roman" panose="02020603050405020304" pitchFamily="18" charset="0"/>
                </a:rPr>
                <a:t>5cm</a:t>
              </a:r>
            </a:p>
          </p:txBody>
        </p:sp>
        <p:sp>
          <p:nvSpPr>
            <p:cNvPr id="3106" name="Text Box 32"/>
            <p:cNvSpPr txBox="1">
              <a:spLocks noChangeArrowheads="1"/>
            </p:cNvSpPr>
            <p:nvPr/>
          </p:nvSpPr>
          <p:spPr bwMode="auto">
            <a:xfrm>
              <a:off x="975" y="3290"/>
              <a:ext cx="45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AU" altLang="en-US" sz="1800" b="0" kern="0">
                  <a:latin typeface="Times New Roman" panose="02020603050405020304" pitchFamily="18" charset="0"/>
                </a:rPr>
                <a:t>4cm</a:t>
              </a:r>
            </a:p>
          </p:txBody>
        </p:sp>
        <p:sp>
          <p:nvSpPr>
            <p:cNvPr id="3107" name="Line 33"/>
            <p:cNvSpPr>
              <a:spLocks noChangeShapeType="1"/>
            </p:cNvSpPr>
            <p:nvPr/>
          </p:nvSpPr>
          <p:spPr bwMode="auto">
            <a:xfrm>
              <a:off x="839" y="3294"/>
              <a:ext cx="635" cy="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AU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48162" name="Text Box 34"/>
          <p:cNvSpPr txBox="1">
            <a:spLocks noChangeArrowheads="1"/>
          </p:cNvSpPr>
          <p:nvPr/>
        </p:nvSpPr>
        <p:spPr bwMode="auto">
          <a:xfrm>
            <a:off x="3214688" y="5589588"/>
            <a:ext cx="288131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altLang="en-US" sz="1800" kern="0" dirty="0">
                <a:latin typeface="Times New Roman" panose="02020603050405020304" pitchFamily="18" charset="0"/>
              </a:rPr>
              <a:t>Vol = Base Area </a:t>
            </a:r>
            <a:r>
              <a:rPr lang="en-US" altLang="en-US" sz="1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× </a:t>
            </a:r>
            <a:r>
              <a:rPr lang="en-AU" altLang="en-US" sz="1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Depth</a:t>
            </a:r>
            <a:endParaRPr lang="en-AU" altLang="en-US" sz="1800" kern="0" dirty="0">
              <a:latin typeface="Times New Roman" panose="02020603050405020304" pitchFamily="18" charset="0"/>
            </a:endParaRPr>
          </a:p>
        </p:txBody>
      </p:sp>
      <p:sp>
        <p:nvSpPr>
          <p:cNvPr id="48163" name="Text Box 35"/>
          <p:cNvSpPr txBox="1">
            <a:spLocks noChangeArrowheads="1"/>
          </p:cNvSpPr>
          <p:nvPr/>
        </p:nvSpPr>
        <p:spPr bwMode="auto">
          <a:xfrm>
            <a:off x="3573462" y="5900738"/>
            <a:ext cx="21605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altLang="en-US" sz="1600" b="0" kern="0">
                <a:latin typeface="Times New Roman" panose="02020603050405020304" pitchFamily="18" charset="0"/>
              </a:rPr>
              <a:t> = </a:t>
            </a:r>
            <a:r>
              <a:rPr lang="en-AU" altLang="en-US" sz="1600" b="0" kern="0">
                <a:latin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lang="en-AU" altLang="en-US" sz="1600" b="0" kern="0">
                <a:latin typeface="Times New Roman" panose="02020603050405020304" pitchFamily="18" charset="0"/>
              </a:rPr>
              <a:t> </a:t>
            </a:r>
            <a:r>
              <a:rPr lang="en-US" altLang="en-US" sz="1600" b="0" kern="0">
                <a:latin typeface="Times New Roman" panose="02020603050405020304" pitchFamily="18" charset="0"/>
                <a:cs typeface="Times New Roman" panose="02020603050405020304" pitchFamily="18" charset="0"/>
              </a:rPr>
              <a:t>× 2</a:t>
            </a:r>
            <a:r>
              <a:rPr lang="en-US" altLang="en-US" sz="1600" b="0" kern="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1600" b="0" ker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0" kern="0">
                <a:latin typeface="Times New Roman" panose="02020603050405020304" pitchFamily="18" charset="0"/>
              </a:rPr>
              <a:t>× 5</a:t>
            </a:r>
          </a:p>
        </p:txBody>
      </p:sp>
      <p:grpSp>
        <p:nvGrpSpPr>
          <p:cNvPr id="7" name="Group 38"/>
          <p:cNvGrpSpPr>
            <a:grpSpLocks/>
          </p:cNvGrpSpPr>
          <p:nvPr/>
        </p:nvGrpSpPr>
        <p:grpSpPr bwMode="auto">
          <a:xfrm>
            <a:off x="3357562" y="3789364"/>
            <a:ext cx="3024188" cy="541337"/>
            <a:chOff x="1156" y="2387"/>
            <a:chExt cx="1905" cy="341"/>
          </a:xfrm>
        </p:grpSpPr>
        <p:sp>
          <p:nvSpPr>
            <p:cNvPr id="3102" name="Text Box 36"/>
            <p:cNvSpPr txBox="1">
              <a:spLocks noChangeArrowheads="1"/>
            </p:cNvSpPr>
            <p:nvPr/>
          </p:nvSpPr>
          <p:spPr bwMode="auto">
            <a:xfrm>
              <a:off x="1927" y="2478"/>
              <a:ext cx="113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AU" altLang="en-US" i="1" kern="0">
                  <a:solidFill>
                    <a:srgbClr val="ED0F0F"/>
                  </a:solidFill>
                </a:rPr>
                <a:t>Note! r </a:t>
              </a:r>
              <a:r>
                <a:rPr lang="en-AU" altLang="en-US" kern="0">
                  <a:solidFill>
                    <a:srgbClr val="ED0F0F"/>
                  </a:solidFill>
                </a:rPr>
                <a:t>= 2</a:t>
              </a:r>
            </a:p>
          </p:txBody>
        </p:sp>
        <p:sp>
          <p:nvSpPr>
            <p:cNvPr id="3103" name="Line 37"/>
            <p:cNvSpPr>
              <a:spLocks noChangeShapeType="1"/>
            </p:cNvSpPr>
            <p:nvPr/>
          </p:nvSpPr>
          <p:spPr bwMode="auto">
            <a:xfrm>
              <a:off x="1156" y="2387"/>
              <a:ext cx="318" cy="0"/>
            </a:xfrm>
            <a:prstGeom prst="line">
              <a:avLst/>
            </a:prstGeom>
            <a:noFill/>
            <a:ln w="38100" cap="sq">
              <a:solidFill>
                <a:srgbClr val="F5F6FD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AU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48167" name="Text Box 39"/>
          <p:cNvSpPr txBox="1">
            <a:spLocks noChangeArrowheads="1"/>
          </p:cNvSpPr>
          <p:nvPr/>
        </p:nvSpPr>
        <p:spPr bwMode="auto">
          <a:xfrm>
            <a:off x="3573462" y="6261100"/>
            <a:ext cx="21605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altLang="en-US" sz="1600" b="0" kern="0">
                <a:latin typeface="Times New Roman" panose="02020603050405020304" pitchFamily="18" charset="0"/>
              </a:rPr>
              <a:t> = </a:t>
            </a:r>
            <a:r>
              <a:rPr lang="en-AU" altLang="en-US" sz="1600" b="0" kern="0">
                <a:latin typeface="Times New Roman" panose="02020603050405020304" pitchFamily="18" charset="0"/>
                <a:sym typeface="Symbol" panose="05050102010706020507" pitchFamily="18" charset="2"/>
              </a:rPr>
              <a:t>62.83 cm</a:t>
            </a:r>
            <a:r>
              <a:rPr lang="en-AU" altLang="en-US" sz="1600" b="0" kern="0" baseline="30000"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  <a:endParaRPr lang="en-US" altLang="en-US" sz="1600" b="0" kern="0">
              <a:latin typeface="Times New Roman" panose="02020603050405020304" pitchFamily="18" charset="0"/>
            </a:endParaRPr>
          </a:p>
        </p:txBody>
      </p:sp>
      <p:grpSp>
        <p:nvGrpSpPr>
          <p:cNvPr id="8" name="Group 50"/>
          <p:cNvGrpSpPr>
            <a:grpSpLocks/>
          </p:cNvGrpSpPr>
          <p:nvPr/>
        </p:nvGrpSpPr>
        <p:grpSpPr bwMode="auto">
          <a:xfrm>
            <a:off x="6742113" y="3429000"/>
            <a:ext cx="2665413" cy="1512888"/>
            <a:chOff x="3288" y="2160"/>
            <a:chExt cx="1679" cy="953"/>
          </a:xfrm>
        </p:grpSpPr>
        <p:sp>
          <p:nvSpPr>
            <p:cNvPr id="3094" name="AutoShape 40"/>
            <p:cNvSpPr>
              <a:spLocks noChangeArrowheads="1"/>
            </p:cNvSpPr>
            <p:nvPr/>
          </p:nvSpPr>
          <p:spPr bwMode="auto">
            <a:xfrm>
              <a:off x="3288" y="2568"/>
              <a:ext cx="771" cy="49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3950 w 21600"/>
                <a:gd name="T13" fmla="*/ 3939 h 21600"/>
                <a:gd name="T14" fmla="*/ 17650 w 21600"/>
                <a:gd name="T15" fmla="*/ 17661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4286" y="21600"/>
                  </a:lnTo>
                  <a:lnTo>
                    <a:pt x="17314" y="21600"/>
                  </a:lnTo>
                  <a:lnTo>
                    <a:pt x="216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3F75B"/>
                </a:gs>
                <a:gs pos="100000">
                  <a:srgbClr val="70722A"/>
                </a:gs>
              </a:gsLst>
              <a:lin ang="5400000" scaled="1"/>
            </a:gradFill>
            <a:ln w="9525">
              <a:round/>
              <a:headEnd/>
              <a:tailEnd/>
            </a:ln>
            <a:scene3d>
              <a:camera prst="legacyObliqueTopRight"/>
              <a:lightRig rig="legacyFlat3" dir="b"/>
            </a:scene3d>
            <a:sp3d extrusionH="1801800" prstMaterial="legacyMatte">
              <a:bevelT w="13500" h="13500" prst="angle"/>
              <a:bevelB w="13500" h="13500" prst="angle"/>
              <a:extrusionClr>
                <a:srgbClr val="F3F75B"/>
              </a:extrusionClr>
              <a:contourClr>
                <a:srgbClr val="F3F75B"/>
              </a:contourClr>
            </a:sp3d>
          </p:spPr>
          <p:txBody>
            <a:bodyPr wrap="none" anchor="ctr">
              <a:flatTx/>
            </a:bodyPr>
            <a:lstStyle/>
            <a:p>
              <a:endParaRPr lang="en-AU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095" name="Text Box 41"/>
            <p:cNvSpPr txBox="1">
              <a:spLocks noChangeArrowheads="1"/>
            </p:cNvSpPr>
            <p:nvPr/>
          </p:nvSpPr>
          <p:spPr bwMode="auto">
            <a:xfrm>
              <a:off x="3470" y="2882"/>
              <a:ext cx="45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AU" altLang="en-US" sz="1800" b="0" kern="0">
                  <a:latin typeface="Times New Roman" panose="02020603050405020304" pitchFamily="18" charset="0"/>
                </a:rPr>
                <a:t>5cm</a:t>
              </a:r>
            </a:p>
          </p:txBody>
        </p:sp>
        <p:sp>
          <p:nvSpPr>
            <p:cNvPr id="3096" name="Text Box 42"/>
            <p:cNvSpPr txBox="1">
              <a:spLocks noChangeArrowheads="1"/>
            </p:cNvSpPr>
            <p:nvPr/>
          </p:nvSpPr>
          <p:spPr bwMode="auto">
            <a:xfrm>
              <a:off x="3515" y="2387"/>
              <a:ext cx="45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AU" altLang="en-US" sz="1800" b="0" kern="0">
                  <a:latin typeface="Times New Roman" panose="02020603050405020304" pitchFamily="18" charset="0"/>
                </a:rPr>
                <a:t>9cm</a:t>
              </a:r>
            </a:p>
          </p:txBody>
        </p:sp>
        <p:sp>
          <p:nvSpPr>
            <p:cNvPr id="3097" name="Text Box 43"/>
            <p:cNvSpPr txBox="1">
              <a:spLocks noChangeArrowheads="1"/>
            </p:cNvSpPr>
            <p:nvPr/>
          </p:nvSpPr>
          <p:spPr bwMode="auto">
            <a:xfrm>
              <a:off x="4060" y="2750"/>
              <a:ext cx="45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AU" altLang="en-US" sz="1800" b="0" kern="0">
                  <a:latin typeface="Times New Roman" panose="02020603050405020304" pitchFamily="18" charset="0"/>
                </a:rPr>
                <a:t>12cm</a:t>
              </a:r>
            </a:p>
          </p:txBody>
        </p:sp>
        <p:sp>
          <p:nvSpPr>
            <p:cNvPr id="3098" name="Text Box 44"/>
            <p:cNvSpPr txBox="1">
              <a:spLocks noChangeArrowheads="1"/>
            </p:cNvSpPr>
            <p:nvPr/>
          </p:nvSpPr>
          <p:spPr bwMode="auto">
            <a:xfrm>
              <a:off x="4514" y="2296"/>
              <a:ext cx="45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AU" altLang="en-US" sz="1800" b="0" kern="0">
                  <a:latin typeface="Times New Roman" panose="02020603050405020304" pitchFamily="18" charset="0"/>
                </a:rPr>
                <a:t>8cm</a:t>
              </a:r>
            </a:p>
          </p:txBody>
        </p:sp>
        <p:sp>
          <p:nvSpPr>
            <p:cNvPr id="3099" name="Line 45"/>
            <p:cNvSpPr>
              <a:spLocks noChangeShapeType="1"/>
            </p:cNvSpPr>
            <p:nvPr/>
          </p:nvSpPr>
          <p:spPr bwMode="auto">
            <a:xfrm>
              <a:off x="4513" y="2160"/>
              <a:ext cx="0" cy="49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AU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100" name="Line 46"/>
            <p:cNvSpPr>
              <a:spLocks noChangeShapeType="1"/>
            </p:cNvSpPr>
            <p:nvPr/>
          </p:nvSpPr>
          <p:spPr bwMode="auto">
            <a:xfrm>
              <a:off x="4332" y="2659"/>
              <a:ext cx="4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AU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101" name="Line 47"/>
            <p:cNvSpPr>
              <a:spLocks noChangeShapeType="1"/>
            </p:cNvSpPr>
            <p:nvPr/>
          </p:nvSpPr>
          <p:spPr bwMode="auto">
            <a:xfrm>
              <a:off x="4422" y="2160"/>
              <a:ext cx="4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AU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48179" name="Text Box 51"/>
          <p:cNvSpPr txBox="1">
            <a:spLocks noChangeArrowheads="1"/>
          </p:cNvSpPr>
          <p:nvPr/>
        </p:nvSpPr>
        <p:spPr bwMode="auto">
          <a:xfrm>
            <a:off x="6597650" y="5734051"/>
            <a:ext cx="288131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altLang="en-US" sz="1800" kern="0" dirty="0">
                <a:latin typeface="Times New Roman" panose="02020603050405020304" pitchFamily="18" charset="0"/>
              </a:rPr>
              <a:t>Vol = Base Area </a:t>
            </a:r>
            <a:r>
              <a:rPr lang="en-US" altLang="en-US" sz="1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× </a:t>
            </a:r>
            <a:r>
              <a:rPr lang="en-AU" altLang="en-US" sz="18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Depth</a:t>
            </a:r>
            <a:endParaRPr lang="en-AU" altLang="en-US" sz="1800" kern="0" dirty="0">
              <a:latin typeface="Times New Roman" panose="02020603050405020304" pitchFamily="18" charset="0"/>
            </a:endParaRPr>
          </a:p>
        </p:txBody>
      </p:sp>
      <p:sp>
        <p:nvSpPr>
          <p:cNvPr id="48181" name="Text Box 53"/>
          <p:cNvSpPr txBox="1">
            <a:spLocks noChangeArrowheads="1"/>
          </p:cNvSpPr>
          <p:nvPr/>
        </p:nvSpPr>
        <p:spPr bwMode="auto">
          <a:xfrm>
            <a:off x="7750176" y="4833939"/>
            <a:ext cx="2916237" cy="611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altLang="en-US" sz="1800" i="1" kern="0">
                <a:solidFill>
                  <a:srgbClr val="ED0F0F"/>
                </a:solidFill>
              </a:rPr>
              <a:t>Note! </a:t>
            </a:r>
            <a:r>
              <a:rPr lang="en-AU" altLang="en-US" sz="1600" i="1" kern="0">
                <a:solidFill>
                  <a:srgbClr val="ED0F0F"/>
                </a:solidFill>
              </a:rPr>
              <a:t>Base is front trapezium &amp; height is 12</a:t>
            </a:r>
          </a:p>
        </p:txBody>
      </p:sp>
      <p:sp>
        <p:nvSpPr>
          <p:cNvPr id="48182" name="Text Box 54"/>
          <p:cNvSpPr txBox="1">
            <a:spLocks noChangeArrowheads="1"/>
          </p:cNvSpPr>
          <p:nvPr/>
        </p:nvSpPr>
        <p:spPr bwMode="auto">
          <a:xfrm>
            <a:off x="8594726" y="6143625"/>
            <a:ext cx="20716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AU" altLang="en-US" sz="3200" b="0" kern="0">
                <a:latin typeface="Times New Roman" panose="02020603050405020304" pitchFamily="18" charset="0"/>
              </a:rPr>
              <a:t> = 672 cm</a:t>
            </a:r>
            <a:r>
              <a:rPr lang="en-AU" altLang="en-US" sz="3200" b="0" kern="0" baseline="30000">
                <a:latin typeface="Times New Roman" panose="02020603050405020304" pitchFamily="18" charset="0"/>
              </a:rPr>
              <a:t>3</a:t>
            </a:r>
            <a:endParaRPr lang="en-US" altLang="en-US" sz="3200" b="0" kern="0" baseline="30000">
              <a:latin typeface="Times New Roman" panose="02020603050405020304" pitchFamily="18" charset="0"/>
            </a:endParaRPr>
          </a:p>
        </p:txBody>
      </p:sp>
      <p:graphicFrame>
        <p:nvGraphicFramePr>
          <p:cNvPr id="3074" name="Object 52"/>
          <p:cNvGraphicFramePr>
            <a:graphicFrameLocks noChangeAspect="1"/>
          </p:cNvGraphicFramePr>
          <p:nvPr/>
        </p:nvGraphicFramePr>
        <p:xfrm>
          <a:off x="7094537" y="6057900"/>
          <a:ext cx="1428750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2" name="Equation" r:id="rId5" imgW="1054080" imgH="431640" progId="Equation.3">
                  <p:embed/>
                </p:oleObj>
              </mc:Choice>
              <mc:Fallback>
                <p:oleObj name="Equation" r:id="rId5" imgW="1054080" imgH="431640" progId="Equation.3">
                  <p:embed/>
                  <p:pic>
                    <p:nvPicPr>
                      <p:cNvPr id="3074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4537" y="6057900"/>
                        <a:ext cx="1428750" cy="585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04234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8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8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8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70" decel="100000"/>
                                        <p:tgtEl>
                                          <p:spTgt spid="4815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8" dur="770" decel="100000"/>
                                        <p:tgtEl>
                                          <p:spTgt spid="48151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3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48151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40" dur="770" fill="hold"/>
                                        <p:tgtEl>
                                          <p:spTgt spid="48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4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48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42" dur="770" fill="hold"/>
                                        <p:tgtEl>
                                          <p:spTgt spid="48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4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48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48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48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48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5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770" decel="100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9" dur="770" decel="100000"/>
                                        <p:tgtEl>
                                          <p:spTgt spid="7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70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71" dur="77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72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73" dur="77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74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48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2000" fill="hold"/>
                                        <p:tgtEl>
                                          <p:spTgt spid="48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2000" fill="hold"/>
                                        <p:tgtEl>
                                          <p:spTgt spid="48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2000" fill="hold"/>
                                        <p:tgtEl>
                                          <p:spTgt spid="48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2000" fill="hold"/>
                                        <p:tgtEl>
                                          <p:spTgt spid="48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5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770" decel="100000"/>
                                        <p:tgtEl>
                                          <p:spTgt spid="4818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2" dur="770" decel="100000"/>
                                        <p:tgtEl>
                                          <p:spTgt spid="48181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10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48181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04" dur="770" fill="hold"/>
                                        <p:tgtEl>
                                          <p:spTgt spid="481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05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481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06" dur="770" fill="hold"/>
                                        <p:tgtEl>
                                          <p:spTgt spid="48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07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48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48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17" dur="20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481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48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40" grpId="0"/>
      <p:bldP spid="48141" grpId="0"/>
      <p:bldP spid="48142" grpId="0"/>
      <p:bldP spid="48150" grpId="0"/>
      <p:bldP spid="48151" grpId="0"/>
      <p:bldP spid="48152" grpId="0"/>
      <p:bldP spid="48153" grpId="0"/>
      <p:bldP spid="48162" grpId="0"/>
      <p:bldP spid="48163" grpId="0"/>
      <p:bldP spid="48167" grpId="0"/>
      <p:bldP spid="48179" grpId="0"/>
      <p:bldP spid="48181" grpId="0"/>
      <p:bldP spid="4818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Activity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Complete Exercise 3.2 (Dr Dwyer textbook, </a:t>
            </a:r>
            <a:r>
              <a:rPr lang="en-AU" dirty="0" err="1"/>
              <a:t>pg</a:t>
            </a:r>
            <a:r>
              <a:rPr lang="en-AU" dirty="0"/>
              <a:t> 35)</a:t>
            </a:r>
          </a:p>
        </p:txBody>
      </p:sp>
    </p:spTree>
    <p:extLst>
      <p:ext uri="{BB962C8B-B14F-4D97-AF65-F5344CB8AC3E}">
        <p14:creationId xmlns:p14="http://schemas.microsoft.com/office/powerpoint/2010/main" val="3515378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Closure – Review Success Criteria</a:t>
            </a:r>
          </a:p>
        </p:txBody>
      </p:sp>
      <p:sp>
        <p:nvSpPr>
          <p:cNvPr id="4" name="Content Placeholder 13"/>
          <p:cNvSpPr txBox="1">
            <a:spLocks/>
          </p:cNvSpPr>
          <p:nvPr/>
        </p:nvSpPr>
        <p:spPr>
          <a:xfrm>
            <a:off x="909836" y="2777480"/>
            <a:ext cx="4824536" cy="31081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7432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SzPct val="100000"/>
              <a:buFont typeface="Arial" pitchFamily="34" charset="0"/>
              <a:buChar char="▪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itchFamily="49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772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itchFamily="49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630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itchFamily="49" charset="0"/>
              <a:buChar char="–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916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itchFamily="49" charset="0"/>
              <a:buChar char="–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4884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dirty="0"/>
              <a:t>Students will be able,</a:t>
            </a:r>
          </a:p>
          <a:p>
            <a:r>
              <a:rPr lang="en-US" dirty="0"/>
              <a:t>Explain how volume is used measured using cubic units</a:t>
            </a:r>
          </a:p>
          <a:p>
            <a:r>
              <a:rPr lang="en-US" dirty="0"/>
              <a:t>Interpret volume of a prism as area times length</a:t>
            </a:r>
          </a:p>
          <a:p>
            <a:r>
              <a:rPr lang="en-US" dirty="0"/>
              <a:t>Recall formula for calculating volume of a prism</a:t>
            </a:r>
          </a:p>
          <a:p>
            <a:endParaRPr lang="en-US" dirty="0"/>
          </a:p>
        </p:txBody>
      </p:sp>
      <p:sp>
        <p:nvSpPr>
          <p:cNvPr id="5" name="Content Placeholder 1"/>
          <p:cNvSpPr txBox="1">
            <a:spLocks/>
          </p:cNvSpPr>
          <p:nvPr/>
        </p:nvSpPr>
        <p:spPr>
          <a:xfrm>
            <a:off x="6454452" y="2777480"/>
            <a:ext cx="4680520" cy="3459832"/>
          </a:xfrm>
          <a:prstGeom prst="rect">
            <a:avLst/>
          </a:prstGeom>
        </p:spPr>
        <p:txBody>
          <a:bodyPr/>
          <a:lstStyle>
            <a:lvl1pPr marL="274320" indent="-27432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SzPct val="100000"/>
              <a:buFont typeface="Arial" pitchFamily="34" charset="0"/>
              <a:buChar char="▪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072" indent="-27432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itchFamily="49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4672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33272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itchFamily="49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1872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90472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itchFamily="49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47672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Consolas" pitchFamily="49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76272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AU" dirty="0"/>
              <a:t>You will</a:t>
            </a:r>
          </a:p>
          <a:p>
            <a:r>
              <a:rPr lang="en-AU" dirty="0"/>
              <a:t>Complete the hands-on activity to obtain mathematical formula for calculating volume of the prisms</a:t>
            </a:r>
          </a:p>
          <a:p>
            <a:r>
              <a:rPr lang="en-AU" dirty="0"/>
              <a:t>Complete Exercise 3.2 (Dr Dwyer’s textbook)</a:t>
            </a:r>
          </a:p>
        </p:txBody>
      </p:sp>
      <p:sp>
        <p:nvSpPr>
          <p:cNvPr id="6" name="Title 12"/>
          <p:cNvSpPr txBox="1">
            <a:spLocks/>
          </p:cNvSpPr>
          <p:nvPr/>
        </p:nvSpPr>
        <p:spPr>
          <a:xfrm>
            <a:off x="6445813" y="1394619"/>
            <a:ext cx="4419598" cy="1020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Success Criteria</a:t>
            </a:r>
          </a:p>
        </p:txBody>
      </p:sp>
      <p:sp>
        <p:nvSpPr>
          <p:cNvPr id="7" name="Title 12"/>
          <p:cNvSpPr txBox="1">
            <a:spLocks/>
          </p:cNvSpPr>
          <p:nvPr/>
        </p:nvSpPr>
        <p:spPr>
          <a:xfrm>
            <a:off x="909836" y="1394619"/>
            <a:ext cx="4419598" cy="1020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Learning Intention</a:t>
            </a:r>
          </a:p>
        </p:txBody>
      </p:sp>
    </p:spTree>
    <p:extLst>
      <p:ext uri="{BB962C8B-B14F-4D97-AF65-F5344CB8AC3E}">
        <p14:creationId xmlns:p14="http://schemas.microsoft.com/office/powerpoint/2010/main" val="3042166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halkboard 16x9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/>
        </a:blipFill>
      </a:bgFillStyleLst>
    </a:fmtScheme>
  </a:themeElements>
  <a:objectDefaults>
    <a:spDef>
      <a:spPr>
        <a:ln>
          <a:miter lim="800000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lnSpc>
            <a:spcPct val="90000"/>
          </a:lnSpc>
          <a:defRPr sz="24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0001018.potx" id="{D19C2884-2C55-4C1A-A5C2-5D03FF1F35A4}" vid="{5F7A9C6A-558C-4654-B762-2F22BC904FA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trategic">
  <a:themeElements>
    <a:clrScheme name="Strategic 2">
      <a:dk1>
        <a:srgbClr val="000000"/>
      </a:dk1>
      <a:lt1>
        <a:srgbClr val="E9E2B6"/>
      </a:lt1>
      <a:dk2>
        <a:srgbClr val="996600"/>
      </a:dk2>
      <a:lt2>
        <a:srgbClr val="786950"/>
      </a:lt2>
      <a:accent1>
        <a:srgbClr val="727DE0"/>
      </a:accent1>
      <a:accent2>
        <a:srgbClr val="D54F41"/>
      </a:accent2>
      <a:accent3>
        <a:srgbClr val="F2EED7"/>
      </a:accent3>
      <a:accent4>
        <a:srgbClr val="000000"/>
      </a:accent4>
      <a:accent5>
        <a:srgbClr val="BCBFED"/>
      </a:accent5>
      <a:accent6>
        <a:srgbClr val="C1473A"/>
      </a:accent6>
      <a:hlink>
        <a:srgbClr val="003300"/>
      </a:hlink>
      <a:folHlink>
        <a:srgbClr val="339933"/>
      </a:folHlink>
    </a:clrScheme>
    <a:fontScheme name="Strategic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rgbClr val="161B1C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rgbClr val="161B1C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</a:defRPr>
        </a:defPPr>
      </a:lstStyle>
    </a:lnDef>
  </a:objectDefaults>
  <a:extraClrSchemeLst>
    <a:extraClrScheme>
      <a:clrScheme name="Strategic 1">
        <a:dk1>
          <a:srgbClr val="000000"/>
        </a:dk1>
        <a:lt1>
          <a:srgbClr val="EAEAEA"/>
        </a:lt1>
        <a:dk2>
          <a:srgbClr val="819E81"/>
        </a:dk2>
        <a:lt2>
          <a:srgbClr val="FFCC66"/>
        </a:lt2>
        <a:accent1>
          <a:srgbClr val="727DE0"/>
        </a:accent1>
        <a:accent2>
          <a:srgbClr val="D54F41"/>
        </a:accent2>
        <a:accent3>
          <a:srgbClr val="C1CCC1"/>
        </a:accent3>
        <a:accent4>
          <a:srgbClr val="C8C8C8"/>
        </a:accent4>
        <a:accent5>
          <a:srgbClr val="BCBFED"/>
        </a:accent5>
        <a:accent6>
          <a:srgbClr val="C1473A"/>
        </a:accent6>
        <a:hlink>
          <a:srgbClr val="003300"/>
        </a:hlink>
        <a:folHlink>
          <a:srgbClr val="66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ategic 2">
        <a:dk1>
          <a:srgbClr val="000000"/>
        </a:dk1>
        <a:lt1>
          <a:srgbClr val="E9E2B6"/>
        </a:lt1>
        <a:dk2>
          <a:srgbClr val="996600"/>
        </a:dk2>
        <a:lt2>
          <a:srgbClr val="786950"/>
        </a:lt2>
        <a:accent1>
          <a:srgbClr val="727DE0"/>
        </a:accent1>
        <a:accent2>
          <a:srgbClr val="D54F41"/>
        </a:accent2>
        <a:accent3>
          <a:srgbClr val="F2EED7"/>
        </a:accent3>
        <a:accent4>
          <a:srgbClr val="000000"/>
        </a:accent4>
        <a:accent5>
          <a:srgbClr val="BCBFED"/>
        </a:accent5>
        <a:accent6>
          <a:srgbClr val="C1473A"/>
        </a:accent6>
        <a:hlink>
          <a:srgbClr val="003300"/>
        </a:hlink>
        <a:folHlink>
          <a:srgbClr val="3399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ategic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ategic 4">
        <a:dk1>
          <a:srgbClr val="000000"/>
        </a:dk1>
        <a:lt1>
          <a:srgbClr val="EAEAEA"/>
        </a:lt1>
        <a:dk2>
          <a:srgbClr val="BC6262"/>
        </a:dk2>
        <a:lt2>
          <a:srgbClr val="FFCC66"/>
        </a:lt2>
        <a:accent1>
          <a:srgbClr val="727DE0"/>
        </a:accent1>
        <a:accent2>
          <a:srgbClr val="D54F41"/>
        </a:accent2>
        <a:accent3>
          <a:srgbClr val="DAB7B7"/>
        </a:accent3>
        <a:accent4>
          <a:srgbClr val="C8C8C8"/>
        </a:accent4>
        <a:accent5>
          <a:srgbClr val="BCBFED"/>
        </a:accent5>
        <a:accent6>
          <a:srgbClr val="C1473A"/>
        </a:accent6>
        <a:hlink>
          <a:srgbClr val="000066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ategic 5">
        <a:dk1>
          <a:srgbClr val="000000"/>
        </a:dk1>
        <a:lt1>
          <a:srgbClr val="EAEAEA"/>
        </a:lt1>
        <a:dk2>
          <a:srgbClr val="5C74A4"/>
        </a:dk2>
        <a:lt2>
          <a:srgbClr val="FFCC99"/>
        </a:lt2>
        <a:accent1>
          <a:srgbClr val="727DE0"/>
        </a:accent1>
        <a:accent2>
          <a:srgbClr val="D54F41"/>
        </a:accent2>
        <a:accent3>
          <a:srgbClr val="B5BCCF"/>
        </a:accent3>
        <a:accent4>
          <a:srgbClr val="C8C8C8"/>
        </a:accent4>
        <a:accent5>
          <a:srgbClr val="BCBFED"/>
        </a:accent5>
        <a:accent6>
          <a:srgbClr val="C1473A"/>
        </a:accent6>
        <a:hlink>
          <a:srgbClr val="FFFFCC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ategic 6">
        <a:dk1>
          <a:srgbClr val="000000"/>
        </a:dk1>
        <a:lt1>
          <a:srgbClr val="EAEAEA"/>
        </a:lt1>
        <a:dk2>
          <a:srgbClr val="996600"/>
        </a:dk2>
        <a:lt2>
          <a:srgbClr val="FFCC99"/>
        </a:lt2>
        <a:accent1>
          <a:srgbClr val="727DE0"/>
        </a:accent1>
        <a:accent2>
          <a:srgbClr val="D54F41"/>
        </a:accent2>
        <a:accent3>
          <a:srgbClr val="CAB8AA"/>
        </a:accent3>
        <a:accent4>
          <a:srgbClr val="C8C8C8"/>
        </a:accent4>
        <a:accent5>
          <a:srgbClr val="BCBFED"/>
        </a:accent5>
        <a:accent6>
          <a:srgbClr val="C1473A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Chalkboard education presentation (widescreen)</Template>
  <TotalTime>384</TotalTime>
  <Words>642</Words>
  <Application>Microsoft Office PowerPoint</Application>
  <PresentationFormat>Custom</PresentationFormat>
  <Paragraphs>112</Paragraphs>
  <Slides>10</Slides>
  <Notes>9</Notes>
  <HiddenSlides>0</HiddenSlides>
  <MMClips>1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3" baseType="lpstr">
      <vt:lpstr>Arial</vt:lpstr>
      <vt:lpstr>Calibri</vt:lpstr>
      <vt:lpstr>Calibri Light</vt:lpstr>
      <vt:lpstr>Comic Sans MS</vt:lpstr>
      <vt:lpstr>Consolas</vt:lpstr>
      <vt:lpstr>Corbel</vt:lpstr>
      <vt:lpstr>Symbol</vt:lpstr>
      <vt:lpstr>Times New Roman</vt:lpstr>
      <vt:lpstr>Wingdings</vt:lpstr>
      <vt:lpstr>Chalkboard 16x9</vt:lpstr>
      <vt:lpstr>Office Theme</vt:lpstr>
      <vt:lpstr>Strategic</vt:lpstr>
      <vt:lpstr>Equation</vt:lpstr>
      <vt:lpstr>Moving Houses</vt:lpstr>
      <vt:lpstr>Volume</vt:lpstr>
      <vt:lpstr>Learning Intention</vt:lpstr>
      <vt:lpstr>Measurements - Volume</vt:lpstr>
      <vt:lpstr>Measurements – Three dimensions </vt:lpstr>
      <vt:lpstr>Activity - 1</vt:lpstr>
      <vt:lpstr>PowerPoint Presentation</vt:lpstr>
      <vt:lpstr>PowerPoint Presentation</vt:lpstr>
      <vt:lpstr>Activity 2</vt:lpstr>
      <vt:lpstr>Closure – Review Success Criteria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Volume</dc:title>
  <dc:creator>Saad Parekh</dc:creator>
  <cp:lastModifiedBy>Saad Parekh</cp:lastModifiedBy>
  <cp:revision>18</cp:revision>
  <dcterms:created xsi:type="dcterms:W3CDTF">2017-04-23T16:00:14Z</dcterms:created>
  <dcterms:modified xsi:type="dcterms:W3CDTF">2017-04-24T08:22:09Z</dcterms:modified>
</cp:coreProperties>
</file>
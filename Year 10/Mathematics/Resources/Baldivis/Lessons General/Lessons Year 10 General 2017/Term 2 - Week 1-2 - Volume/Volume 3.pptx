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76" r:id="rId3"/>
    <p:sldId id="256" r:id="rId4"/>
    <p:sldId id="270" r:id="rId5"/>
    <p:sldId id="272" r:id="rId6"/>
    <p:sldId id="273" r:id="rId7"/>
    <p:sldId id="271" r:id="rId8"/>
    <p:sldId id="277" r:id="rId9"/>
    <p:sldId id="274" r:id="rId10"/>
    <p:sldId id="275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69373" autoAdjust="0"/>
  </p:normalViewPr>
  <p:slideViewPr>
    <p:cSldViewPr>
      <p:cViewPr varScale="1">
        <p:scale>
          <a:sx n="46" d="100"/>
          <a:sy n="46" d="100"/>
        </p:scale>
        <p:origin x="1578" y="6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4/24/2017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4/24/2017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Set – How will Sarah decide on the number of cans.</a:t>
            </a:r>
          </a:p>
          <a:p>
            <a:pPr marL="228600" indent="-228600">
              <a:buAutoNum type="arabicParenR"/>
            </a:pPr>
            <a:r>
              <a:rPr lang="en-AU" baseline="0" dirty="0"/>
              <a:t>Measure the size of her shed.</a:t>
            </a:r>
          </a:p>
          <a:p>
            <a:pPr marL="228600" indent="-228600">
              <a:buAutoNum type="arabicParenR"/>
            </a:pPr>
            <a:r>
              <a:rPr lang="en-AU" baseline="0" dirty="0"/>
              <a:t>Find the volume</a:t>
            </a:r>
          </a:p>
          <a:p>
            <a:pPr marL="228600" indent="-228600">
              <a:buAutoNum type="arabicParenR"/>
            </a:pPr>
            <a:r>
              <a:rPr lang="en-AU" baseline="0" dirty="0"/>
              <a:t>How do you find the volume of this shade ( composite solid) – can we see that this is basically just a triangular prism on top if a rectangular prism?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49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INB notes</a:t>
            </a:r>
          </a:p>
          <a:p>
            <a:r>
              <a:rPr lang="en-AU" dirty="0"/>
              <a:t>Input : Explain the process. Link it back to how they found the area of</a:t>
            </a:r>
            <a:r>
              <a:rPr lang="en-AU" baseline="0" dirty="0"/>
              <a:t> the composite shapes (Connecting to previous learning).</a:t>
            </a:r>
          </a:p>
          <a:p>
            <a:r>
              <a:rPr lang="en-AU" baseline="0" dirty="0"/>
              <a:t>Modelling : Demonstrate step by step how the process can be used.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5BE75-6727-4F64-82F8-DA94106C0530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0937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INB notes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aseline="0" dirty="0"/>
              <a:t>Modelling : Demonstrate step by step how the process can be used.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5BE75-6727-4F64-82F8-DA94106C0530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94962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Practice/Check for </a:t>
            </a:r>
            <a:r>
              <a:rPr lang="en-AU" dirty="0" err="1"/>
              <a:t>undersranding</a:t>
            </a:r>
            <a:r>
              <a:rPr lang="en-AU" dirty="0"/>
              <a:t> : </a:t>
            </a:r>
          </a:p>
          <a:p>
            <a:r>
              <a:rPr lang="en-AU" dirty="0"/>
              <a:t>The problem is scaffolded here with the process shown on the PowerPoint. Guide</a:t>
            </a:r>
            <a:r>
              <a:rPr lang="en-AU" baseline="0" dirty="0"/>
              <a:t> student through this question by </a:t>
            </a:r>
            <a:r>
              <a:rPr lang="en-AU" baseline="0" dirty="0" err="1"/>
              <a:t>emplying</a:t>
            </a:r>
            <a:r>
              <a:rPr lang="en-AU" baseline="0" dirty="0"/>
              <a:t> questioning techniques.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9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Inquiry – Ask</a:t>
            </a:r>
            <a:r>
              <a:rPr lang="en-AU" baseline="0" dirty="0"/>
              <a:t> student how you would solve a question like this?  </a:t>
            </a:r>
            <a:endParaRPr lang="en-AU" dirty="0"/>
          </a:p>
          <a:p>
            <a:r>
              <a:rPr lang="en-AU" dirty="0"/>
              <a:t>Input</a:t>
            </a:r>
            <a:r>
              <a:rPr lang="en-AU" baseline="0" dirty="0"/>
              <a:t> –  Composite shapes that can be considered as </a:t>
            </a:r>
            <a:r>
              <a:rPr lang="en-AU" dirty="0">
                <a:effectLst/>
              </a:rPr>
              <a:t>considered as a larger solid with a smaller solid cut out of it</a:t>
            </a:r>
          </a:p>
          <a:p>
            <a:endParaRPr lang="en-AU" dirty="0">
              <a:effectLst/>
            </a:endParaRPr>
          </a:p>
          <a:p>
            <a:r>
              <a:rPr lang="en-AU" dirty="0">
                <a:effectLst/>
              </a:rPr>
              <a:t>Guided</a:t>
            </a:r>
            <a:r>
              <a:rPr lang="en-AU" baseline="0" dirty="0">
                <a:effectLst/>
              </a:rPr>
              <a:t> Practice – Ask student to calculate the volume of component shapes and share the final volume with class. </a:t>
            </a:r>
          </a:p>
          <a:p>
            <a:r>
              <a:rPr lang="en-AU" baseline="0" dirty="0">
                <a:effectLst/>
              </a:rPr>
              <a:t>Volume = (243 pi – 75 pi = 168 pi = 527.5 m^3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Guided/Independent</a:t>
            </a:r>
            <a:r>
              <a:rPr lang="en-AU" baseline="0" dirty="0"/>
              <a:t>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4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Review the success criteria and learning intention. Ask students have they met the success criteria. </a:t>
            </a:r>
          </a:p>
          <a:p>
            <a:r>
              <a:rPr lang="en-AU" dirty="0"/>
              <a:t>Teacher summarises the learning for the lesson.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24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677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76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101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97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82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6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236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7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67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4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3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Problem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Sarah wants to fumigate her shed for ants. If one can of spray will treat 15 m</a:t>
            </a:r>
            <a:r>
              <a:rPr lang="en-AU" baseline="30000" dirty="0"/>
              <a:t>3</a:t>
            </a:r>
            <a:r>
              <a:rPr lang="en-AU" dirty="0"/>
              <a:t>. How many cans will she need for her shed. 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02513"/>
              </p:ext>
            </p:extLst>
          </p:nvPr>
        </p:nvGraphicFramePr>
        <p:xfrm>
          <a:off x="7246540" y="2780928"/>
          <a:ext cx="4550047" cy="3805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Bitmap Image" r:id="rId4" imgW="2619360" imgH="2190600" progId="Paint.Picture">
                  <p:embed/>
                </p:oleObj>
              </mc:Choice>
              <mc:Fallback>
                <p:oleObj name="Bitmap Image" r:id="rId4" imgW="2619360" imgH="2190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46540" y="2780928"/>
                        <a:ext cx="4550047" cy="3805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03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Volume 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Composite Solids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09837" y="274638"/>
            <a:ext cx="4419598" cy="1020762"/>
          </a:xfrm>
        </p:spPr>
        <p:txBody>
          <a:bodyPr/>
          <a:lstStyle/>
          <a:p>
            <a:r>
              <a:rPr lang="en-US" dirty="0"/>
              <a:t>Learning Intention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909836" y="1905000"/>
            <a:ext cx="4824536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Students will be able,</a:t>
            </a:r>
          </a:p>
          <a:p>
            <a:r>
              <a:rPr lang="en-US" dirty="0"/>
              <a:t>Interpret composite shapes as a combination of simpler solids</a:t>
            </a:r>
          </a:p>
          <a:p>
            <a:r>
              <a:rPr lang="en-US" dirty="0"/>
              <a:t>Evaluate the volume of composite solids by finding volumes of the component solids and adding them together.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454452" y="1905000"/>
            <a:ext cx="4680520" cy="426720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You will</a:t>
            </a:r>
          </a:p>
          <a:p>
            <a:r>
              <a:rPr lang="en-AU" dirty="0"/>
              <a:t>Minimum : Exercise 3.3 Question 1-3</a:t>
            </a:r>
          </a:p>
          <a:p>
            <a:r>
              <a:rPr lang="en-AU" dirty="0"/>
              <a:t>Expected : </a:t>
            </a:r>
            <a:r>
              <a:rPr lang="en-AU" dirty="0"/>
              <a:t>Exercise 3.3 Question 1-6</a:t>
            </a:r>
          </a:p>
          <a:p>
            <a:endParaRPr lang="en-AU" dirty="0"/>
          </a:p>
        </p:txBody>
      </p:sp>
      <p:sp>
        <p:nvSpPr>
          <p:cNvPr id="5" name="Title 12"/>
          <p:cNvSpPr txBox="1">
            <a:spLocks/>
          </p:cNvSpPr>
          <p:nvPr/>
        </p:nvSpPr>
        <p:spPr>
          <a:xfrm>
            <a:off x="6454452" y="274638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Success Criteria</a:t>
            </a:r>
          </a:p>
        </p:txBody>
      </p:sp>
      <p:sp>
        <p:nvSpPr>
          <p:cNvPr id="6" name="Title 12"/>
          <p:cNvSpPr txBox="1">
            <a:spLocks/>
          </p:cNvSpPr>
          <p:nvPr/>
        </p:nvSpPr>
        <p:spPr>
          <a:xfrm>
            <a:off x="909836" y="274638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Learning Intention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43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" y="795399"/>
            <a:ext cx="12188825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" y="1396803"/>
            <a:ext cx="12188825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30422" y="1376977"/>
            <a:ext cx="7429" cy="538272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0499" y="254059"/>
            <a:ext cx="7437238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Volume of </a:t>
            </a:r>
            <a:r>
              <a:rPr lang="en-AU" sz="2799" kern="0" dirty="0">
                <a:solidFill>
                  <a:prstClr val="black"/>
                </a:solidFill>
              </a:rPr>
              <a:t>composite solids</a:t>
            </a:r>
            <a:endParaRPr kumimoji="0" lang="en-AU" sz="27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9055" y="334626"/>
            <a:ext cx="2496263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" y="935258"/>
            <a:ext cx="1206979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EQ : How do I calculate a volume of composite solids?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50165" y="893"/>
            <a:ext cx="0" cy="980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2" y="-68118"/>
            <a:ext cx="799797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2216" y="6400026"/>
            <a:ext cx="520451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</a:t>
            </a:r>
            <a:endParaRPr kumimoji="0" lang="en-AU" sz="1799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0" y="1447409"/>
            <a:ext cx="173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Find the volume: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7587" t="8470"/>
          <a:stretch/>
        </p:blipFill>
        <p:spPr>
          <a:xfrm>
            <a:off x="2153079" y="1536661"/>
            <a:ext cx="3206839" cy="28323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1891" y="1491679"/>
            <a:ext cx="495058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Process: 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200" dirty="0"/>
              <a:t>Break down the shape into smaller and simpler solids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200" dirty="0"/>
              <a:t>Find the volume of the individual smaller solids.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200" dirty="0"/>
              <a:t>Add up the volumes of the individual solids to find the total volume.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427" y="4953000"/>
            <a:ext cx="2238375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2427" y="4450390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Break down the shape into two smaller solids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196" y="5041773"/>
            <a:ext cx="3905250" cy="1800225"/>
          </a:xfrm>
          <a:prstGeom prst="rect">
            <a:avLst/>
          </a:prstGeom>
        </p:spPr>
      </p:pic>
      <p:pic>
        <p:nvPicPr>
          <p:cNvPr id="19" name="Picture 18" descr="File:&lt;strong&gt;Plus&lt;/strong&gt; font awesome.svg - Wikimedia Commons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854" y="5414665"/>
            <a:ext cx="691487" cy="69148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/>
          <a:srcRect l="7587" t="8470"/>
          <a:stretch/>
        </p:blipFill>
        <p:spPr>
          <a:xfrm>
            <a:off x="8981986" y="4025614"/>
            <a:ext cx="3206839" cy="2832386"/>
          </a:xfrm>
          <a:prstGeom prst="rect">
            <a:avLst/>
          </a:prstGeom>
        </p:spPr>
      </p:pic>
      <p:pic>
        <p:nvPicPr>
          <p:cNvPr id="20" name="Picture 19" descr="File:OCR-A char &lt;strong&gt;Equals&lt;/strong&gt; Sign.svg - Wikimedia Commons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8"/>
          <a:stretch/>
        </p:blipFill>
        <p:spPr>
          <a:xfrm>
            <a:off x="7935808" y="5301208"/>
            <a:ext cx="1139611" cy="10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4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" y="795399"/>
            <a:ext cx="12188825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" y="1396803"/>
            <a:ext cx="12188825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30422" y="1376977"/>
            <a:ext cx="7429" cy="538272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0499" y="254059"/>
            <a:ext cx="7437238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Volume of </a:t>
            </a:r>
            <a:r>
              <a:rPr lang="en-AU" sz="2799" kern="0" dirty="0">
                <a:solidFill>
                  <a:prstClr val="black"/>
                </a:solidFill>
              </a:rPr>
              <a:t>composite solids</a:t>
            </a:r>
            <a:endParaRPr kumimoji="0" lang="en-AU" sz="27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9055" y="334626"/>
            <a:ext cx="2496263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" y="935258"/>
            <a:ext cx="1206979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EQ : How do I calculate a volume of composite solids?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50165" y="893"/>
            <a:ext cx="0" cy="980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2" y="-68118"/>
            <a:ext cx="799797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2216" y="6400026"/>
            <a:ext cx="520451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99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</a:t>
            </a:r>
            <a:endParaRPr kumimoji="0" lang="en-AU" sz="1799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7948" y="1536661"/>
            <a:ext cx="9937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Find the volume of the individual smaller solids</a:t>
            </a:r>
            <a:r>
              <a:rPr lang="en-AU" sz="2400" dirty="0"/>
              <a:t>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59" y="1947121"/>
            <a:ext cx="2238375" cy="1905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53" y="1947121"/>
            <a:ext cx="3905250" cy="1800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522359" y="3681542"/>
                <a:ext cx="24482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=4×4×4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=64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359" y="3681542"/>
                <a:ext cx="2448272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034895" y="3763348"/>
                <a:ext cx="24482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=10×6×4</m:t>
                      </m:r>
                    </m:oMath>
                  </m:oMathPara>
                </a14:m>
                <a:endParaRPr lang="en-AU" sz="2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=240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895" y="3763348"/>
                <a:ext cx="2448272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884996" y="5556039"/>
                <a:ext cx="77378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𝑐𝑢𝑏𝑒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𝑉𝑜𝑙𝑢𝑚𝑒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𝑅𝑒𝑐𝑡𝑎𝑛𝑔𝑢𝑙𝑎𝑟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𝑃𝑟𝑖𝑠𝑚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996" y="5556039"/>
                <a:ext cx="7737808" cy="4001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884996" y="5029259"/>
            <a:ext cx="9970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Add up the volumes of the individual solids to find the total volume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082583" y="5988304"/>
                <a:ext cx="2547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=64+240=304 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583" y="5988304"/>
                <a:ext cx="254749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07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7" grpId="0"/>
      <p:bldP spid="13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– Guided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05753" y="1549440"/>
            <a:ext cx="8132836" cy="53085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AU" dirty="0"/>
              <a:t>Break down the shape into smaller and simpler solids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Find the volume of the individual smaller solids.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Add up the volumes of the individual solids to find the total volume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8686700" y="1877291"/>
            <a:ext cx="3502125" cy="426720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volume of </a:t>
            </a:r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00" y="2708920"/>
            <a:ext cx="2857885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7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: Find Volume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7983" t="-107" b="107"/>
          <a:stretch/>
        </p:blipFill>
        <p:spPr>
          <a:xfrm>
            <a:off x="4173933" y="2280270"/>
            <a:ext cx="2760837" cy="2228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172" y="2842789"/>
            <a:ext cx="7920880" cy="2294726"/>
          </a:xfrm>
          <a:prstGeom prst="rect">
            <a:avLst/>
          </a:prstGeom>
        </p:spPr>
      </p:pic>
      <p:pic>
        <p:nvPicPr>
          <p:cNvPr id="10" name="Picture 9" descr="&lt;strong&gt;equal_sign&lt;/strong&gt;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5" t="11734" r="21125" b="17391"/>
          <a:stretch/>
        </p:blipFill>
        <p:spPr>
          <a:xfrm>
            <a:off x="2998068" y="3645023"/>
            <a:ext cx="792088" cy="864097"/>
          </a:xfrm>
          <a:prstGeom prst="rect">
            <a:avLst/>
          </a:prstGeom>
        </p:spPr>
      </p:pic>
      <p:pic>
        <p:nvPicPr>
          <p:cNvPr id="11" name="Picture 10" descr="Original file ‎ (SVG file, nominally 200 × 200 pixels, file size: 2 ..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62564" y="3785642"/>
            <a:ext cx="864096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9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1 0.02801 L -0.33069 0.0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5" y="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- 2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Exercise 3.3 (Dr Dwyer textbook, Page 36)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2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– Review Success Criteria</a:t>
            </a:r>
            <a:endParaRPr lang="en-US" dirty="0"/>
          </a:p>
        </p:txBody>
      </p:sp>
      <p:sp>
        <p:nvSpPr>
          <p:cNvPr id="4" name="Content Placeholder 13"/>
          <p:cNvSpPr>
            <a:spLocks noGrp="1"/>
          </p:cNvSpPr>
          <p:nvPr>
            <p:ph sz="half" idx="1"/>
          </p:nvPr>
        </p:nvSpPr>
        <p:spPr>
          <a:xfrm>
            <a:off x="981844" y="2408847"/>
            <a:ext cx="4824536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Students will be able,</a:t>
            </a:r>
          </a:p>
          <a:p>
            <a:r>
              <a:rPr lang="en-US" dirty="0"/>
              <a:t>Interpret composite shapes as a combination of simpler solids</a:t>
            </a:r>
          </a:p>
          <a:p>
            <a:r>
              <a:rPr lang="en-US" dirty="0"/>
              <a:t>Evaluate the volume of composite solids by finding volumes of the component solids and adding them together. 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6526460" y="2420888"/>
            <a:ext cx="4680520" cy="426720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3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/>
              <a:t>You will</a:t>
            </a:r>
          </a:p>
          <a:p>
            <a:r>
              <a:rPr lang="en-AU" dirty="0"/>
              <a:t>Minimum : Exercise 3.3 Question 1-3</a:t>
            </a:r>
          </a:p>
          <a:p>
            <a:r>
              <a:rPr lang="en-AU" dirty="0"/>
              <a:t>Expected : </a:t>
            </a:r>
            <a:r>
              <a:rPr lang="en-AU" dirty="0"/>
              <a:t>Exercise 3.3 Question 1-6</a:t>
            </a:r>
          </a:p>
          <a:p>
            <a:endParaRPr lang="en-AU" dirty="0"/>
          </a:p>
        </p:txBody>
      </p:sp>
      <p:sp>
        <p:nvSpPr>
          <p:cNvPr id="6" name="Title 12"/>
          <p:cNvSpPr txBox="1">
            <a:spLocks/>
          </p:cNvSpPr>
          <p:nvPr/>
        </p:nvSpPr>
        <p:spPr>
          <a:xfrm>
            <a:off x="6526460" y="1150566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Success Criteria</a:t>
            </a:r>
          </a:p>
        </p:txBody>
      </p:sp>
      <p:sp>
        <p:nvSpPr>
          <p:cNvPr id="7" name="Title 12"/>
          <p:cNvSpPr txBox="1">
            <a:spLocks/>
          </p:cNvSpPr>
          <p:nvPr/>
        </p:nvSpPr>
        <p:spPr>
          <a:xfrm>
            <a:off x="981844" y="1150566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Learning Intention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562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262</TotalTime>
  <Words>601</Words>
  <Application>Microsoft Office PowerPoint</Application>
  <PresentationFormat>Custom</PresentationFormat>
  <Paragraphs>90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Corbel</vt:lpstr>
      <vt:lpstr>Chalkboard 16x9</vt:lpstr>
      <vt:lpstr>Office Theme</vt:lpstr>
      <vt:lpstr>Paintbrush Picture</vt:lpstr>
      <vt:lpstr>Problem</vt:lpstr>
      <vt:lpstr>Volume  </vt:lpstr>
      <vt:lpstr>Learning Intention</vt:lpstr>
      <vt:lpstr>PowerPoint Presentation</vt:lpstr>
      <vt:lpstr>PowerPoint Presentation</vt:lpstr>
      <vt:lpstr>Task – Guided Practice</vt:lpstr>
      <vt:lpstr>Challenge : Find Volume</vt:lpstr>
      <vt:lpstr>Task - 2</vt:lpstr>
      <vt:lpstr>Closure – Review 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</dc:title>
  <dc:creator>Saad Parekh</dc:creator>
  <cp:lastModifiedBy>Saad Parekh</cp:lastModifiedBy>
  <cp:revision>14</cp:revision>
  <dcterms:created xsi:type="dcterms:W3CDTF">2017-04-24T03:44:30Z</dcterms:created>
  <dcterms:modified xsi:type="dcterms:W3CDTF">2017-04-24T08:06:46Z</dcterms:modified>
</cp:coreProperties>
</file>
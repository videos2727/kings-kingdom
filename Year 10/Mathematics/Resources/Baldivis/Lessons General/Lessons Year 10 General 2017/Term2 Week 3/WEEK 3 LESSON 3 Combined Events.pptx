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3" r:id="rId2"/>
    <p:sldId id="257" r:id="rId3"/>
    <p:sldId id="264" r:id="rId4"/>
    <p:sldId id="258" r:id="rId5"/>
    <p:sldId id="269" r:id="rId6"/>
    <p:sldId id="272" r:id="rId7"/>
    <p:sldId id="271" r:id="rId8"/>
    <p:sldId id="267" r:id="rId9"/>
    <p:sldId id="273" r:id="rId10"/>
    <p:sldId id="27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5" d="100"/>
          <a:sy n="55" d="100"/>
        </p:scale>
        <p:origin x="-1123" y="-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pPr/>
              <a:t>8/05/2017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="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hook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pPr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="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pPr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="" val="30634270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</a:t>
            </a:r>
            <a:r>
              <a:rPr lang="en-AU" baseline="0" dirty="0" smtClean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pPr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="" val="14258631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Input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pPr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="" val="14258631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AU" smtClean="0"/>
              <a:t>Input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pPr/>
              <a:t>6</a:t>
            </a:fld>
            <a:endParaRPr lang="en-A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Input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pPr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="" val="14258631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Guided practice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pPr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="" val="478043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pPr/>
              <a:t>8/05/2017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="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pPr/>
              <a:t>8/05/2017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="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pPr/>
              <a:t>8/05/2017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="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pPr/>
              <a:t>8/05/2017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="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pPr/>
              <a:t>8/05/2017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="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pPr/>
              <a:t>8/05/2017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="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pPr/>
              <a:t>8/05/2017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="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pPr/>
              <a:t>8/05/2017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="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pPr/>
              <a:t>8/05/2017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="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pPr/>
              <a:t>8/05/2017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="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pPr/>
              <a:t>8/05/2017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="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pPr/>
              <a:t>8/05/2017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="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Mental set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2060849"/>
            <a:ext cx="8229600" cy="1584176"/>
          </a:xfrm>
        </p:spPr>
        <p:txBody>
          <a:bodyPr/>
          <a:lstStyle/>
          <a:p>
            <a:pPr marL="0" indent="0">
              <a:buNone/>
            </a:pPr>
            <a:r>
              <a:rPr lang="en-AU" sz="2800" dirty="0" smtClean="0"/>
              <a:t>When visiting a casino, the </a:t>
            </a:r>
            <a:r>
              <a:rPr lang="en-AU" sz="2800" b="1" dirty="0" smtClean="0"/>
              <a:t>craps</a:t>
            </a:r>
            <a:r>
              <a:rPr lang="en-AU" sz="2800" dirty="0" smtClean="0"/>
              <a:t> table is likely to be the most animated, loud and lively of the tables.</a:t>
            </a:r>
          </a:p>
          <a:p>
            <a:pPr marL="0" indent="0">
              <a:buNone/>
            </a:pPr>
            <a:endParaRPr lang="en-AU" dirty="0" smtClean="0"/>
          </a:p>
        </p:txBody>
      </p:sp>
      <p:pic>
        <p:nvPicPr>
          <p:cNvPr id="4" name="Picture 3" descr="Craps is all about throwing dice (unless you're in an Indian Casino where they only use cards) and hoping they roll a number you're betting on. Anyone betting can roll the dice! I'll advise later.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"/>
            <a:ext cx="2915816" cy="21328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 descr="Craps is all about throwing dice (unless you're in an Indian Casino where they only use cards) and hoping they roll a number you're betting on. Anyone betting can roll the dice! I'll advise later.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16216" y="1"/>
            <a:ext cx="2627784" cy="19888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323528" y="3102059"/>
            <a:ext cx="842493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 smtClean="0"/>
              <a:t>Craps is all about throwing dice and hoping they roll a number you're betting on.</a:t>
            </a:r>
            <a:endParaRPr lang="en-AU" sz="2400" dirty="0"/>
          </a:p>
        </p:txBody>
      </p:sp>
      <p:sp>
        <p:nvSpPr>
          <p:cNvPr id="17409" name="Rectangle 1"/>
          <p:cNvSpPr>
            <a:spLocks noChangeArrowheads="1"/>
          </p:cNvSpPr>
          <p:nvPr/>
        </p:nvSpPr>
        <p:spPr bwMode="auto">
          <a:xfrm>
            <a:off x="0" y="4145012"/>
            <a:ext cx="914400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Arial" pitchFamily="34" charset="0"/>
              </a:rPr>
              <a:t>The players take turn rolling two dice. The player that is rolling the dice is considered the shooter.</a:t>
            </a:r>
            <a:endParaRPr kumimoji="0" lang="en-A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The shooter must roll a 7 or 11 on their first roll to win if they rolls a 2, 3, or 12 they lose.</a:t>
            </a:r>
            <a:endParaRPr kumimoji="0" lang="en-A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If the shooter rolls a </a:t>
            </a:r>
            <a:r>
              <a:rPr kumimoji="0" lang="en-A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Arial" pitchFamily="34" charset="0"/>
              </a:rPr>
              <a:t>4, 5, 6, 8, 9, or 10. This number becomes the point. </a:t>
            </a:r>
            <a:endParaRPr kumimoji="0" lang="en-A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Arial" pitchFamily="34" charset="0"/>
              </a:rPr>
              <a:t>They must now roll the point to win before rolling a seven to win.</a:t>
            </a:r>
            <a:endParaRPr kumimoji="0" lang="en-A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Arial" pitchFamily="34" charset="0"/>
              </a:rPr>
              <a:t>From hearing about this game which number do you thing is the easiest to roll with two dice?</a:t>
            </a:r>
            <a:endParaRPr kumimoji="0" lang="en-A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Arial" pitchFamily="34" charset="0"/>
              </a:rPr>
              <a:t>Which numbers are the hardest? </a:t>
            </a:r>
            <a:endParaRPr kumimoji="0" lang="en-A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00671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Lesson objective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By the end of this lesson you will be able to;</a:t>
            </a:r>
          </a:p>
          <a:p>
            <a:pPr marL="0" indent="0">
              <a:buNone/>
            </a:pPr>
            <a:r>
              <a:rPr lang="en-AU" dirty="0" smtClean="0"/>
              <a:t>- construct 2-way tables and calculate probabilities related to them.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167979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35496" y="170080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691680" y="1701408"/>
            <a:ext cx="0" cy="54000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8467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Title:  Probabilities of combined events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9512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are two way tables and how are they used?</a:t>
            </a:r>
            <a:endParaRPr lang="en-AU" sz="2400" dirty="0"/>
          </a:p>
        </p:txBody>
      </p:sp>
      <p:sp>
        <p:nvSpPr>
          <p:cNvPr id="13" name="Rectangle 12"/>
          <p:cNvSpPr/>
          <p:nvPr/>
        </p:nvSpPr>
        <p:spPr>
          <a:xfrm>
            <a:off x="1763688" y="1772816"/>
            <a:ext cx="72008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Many probability questions are concerned with combined events. </a:t>
            </a:r>
          </a:p>
          <a:p>
            <a:endParaRPr lang="en-AU" dirty="0" smtClean="0"/>
          </a:p>
          <a:p>
            <a:r>
              <a:rPr lang="en-AU" b="1" dirty="0" smtClean="0"/>
              <a:t>Combined events</a:t>
            </a:r>
            <a:r>
              <a:rPr lang="en-AU" dirty="0" smtClean="0"/>
              <a:t> or Multiple </a:t>
            </a:r>
            <a:r>
              <a:rPr lang="en-AU" b="1" dirty="0" smtClean="0"/>
              <a:t>events</a:t>
            </a:r>
            <a:r>
              <a:rPr lang="en-AU" dirty="0" smtClean="0"/>
              <a:t>: When two experiments are conducted together and the results are considered as a </a:t>
            </a:r>
            <a:r>
              <a:rPr lang="en-AU" b="1" dirty="0" smtClean="0"/>
              <a:t>combined event</a:t>
            </a:r>
            <a:r>
              <a:rPr lang="en-AU" dirty="0" smtClean="0"/>
              <a:t>.</a:t>
            </a:r>
          </a:p>
          <a:p>
            <a:endParaRPr lang="en-AU" dirty="0" smtClean="0"/>
          </a:p>
          <a:p>
            <a:r>
              <a:rPr lang="en-AU" dirty="0" smtClean="0"/>
              <a:t>The simplest ways of considering combined events are by using two-way tables, Venn diagrams and tree diagrams.</a:t>
            </a:r>
          </a:p>
          <a:p>
            <a:endParaRPr lang="en-AU" dirty="0" smtClean="0"/>
          </a:p>
          <a:p>
            <a:r>
              <a:rPr lang="en-AU" dirty="0" smtClean="0"/>
              <a:t>Two-way tables are most useful for situations having two dimensions. Situations with two variables are of this kind for example rolling two dice or tossing two coins.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321455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Success Criteria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By the end of this lesson you will be able to construct 2-way tables and calculate probabilities related to them.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3209397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35496" y="170080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691680" y="1701408"/>
            <a:ext cx="0" cy="54000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8467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Title:  Probabilities of combined events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9512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are two way tables and how are they used?</a:t>
            </a:r>
            <a:endParaRPr lang="en-AU" sz="2400" dirty="0"/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04248" y="1844824"/>
            <a:ext cx="2133972" cy="16757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2769096" y="2618204"/>
          <a:ext cx="2667000" cy="2827020"/>
        </p:xfrm>
        <a:graphic>
          <a:graphicData uri="http://schemas.openxmlformats.org/drawingml/2006/table">
            <a:tbl>
              <a:tblPr/>
              <a:tblGrid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</a:tblGrid>
              <a:tr h="403860"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1763688" y="1846565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dirty="0" smtClean="0"/>
              <a:t>Fill in the table below to represent two dice being thrown.</a:t>
            </a:r>
            <a:endParaRPr lang="en-AU" dirty="0"/>
          </a:p>
        </p:txBody>
      </p:sp>
      <p:sp>
        <p:nvSpPr>
          <p:cNvPr id="19" name="Rectangle 18"/>
          <p:cNvSpPr/>
          <p:nvPr/>
        </p:nvSpPr>
        <p:spPr>
          <a:xfrm>
            <a:off x="1835696" y="5685055"/>
            <a:ext cx="662473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Find the probability of obtaining two even numbers.</a:t>
            </a:r>
          </a:p>
          <a:p>
            <a:endParaRPr lang="en-AU" dirty="0" smtClean="0"/>
          </a:p>
          <a:p>
            <a:r>
              <a:rPr lang="en-AU" dirty="0" smtClean="0"/>
              <a:t>Find the probability of rolling  7.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321455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7" descr="tableun_05_03.jp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949" y="1123008"/>
            <a:ext cx="3582987" cy="1585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1691680" y="1735088"/>
            <a:ext cx="584200" cy="685800"/>
          </a:xfrm>
          <a:prstGeom prst="rect">
            <a:avLst/>
          </a:prstGeom>
          <a:solidFill>
            <a:srgbClr val="FFFF00">
              <a:alpha val="40000"/>
            </a:srgb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691680" y="1732806"/>
            <a:ext cx="1447800" cy="400050"/>
          </a:xfrm>
          <a:prstGeom prst="rect">
            <a:avLst/>
          </a:prstGeom>
          <a:solidFill>
            <a:schemeClr val="tx2">
              <a:lumMod val="40000"/>
              <a:lumOff val="60000"/>
              <a:alpha val="4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TextBox 10"/>
          <p:cNvSpPr txBox="1">
            <a:spLocks noChangeArrowheads="1"/>
          </p:cNvSpPr>
          <p:nvPr/>
        </p:nvSpPr>
        <p:spPr bwMode="auto">
          <a:xfrm>
            <a:off x="4716016" y="1098625"/>
            <a:ext cx="3652838" cy="153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defTabSz="4572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defTabSz="4572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defTabSz="4572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defTabSz="4572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defTabSz="4572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l" eaLnBrk="1" hangingPunct="1">
              <a:spcAft>
                <a:spcPts val="2400"/>
              </a:spcAft>
              <a:buFontTx/>
              <a:buAutoNum type="alphaLcParenBoth"/>
            </a:pPr>
            <a:r>
              <a:rPr lang="en-US" altLang="en-US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has pierced ears.</a:t>
            </a:r>
          </a:p>
          <a:p>
            <a:pPr algn="l" eaLnBrk="1" hangingPunct="1">
              <a:spcAft>
                <a:spcPts val="2400"/>
              </a:spcAft>
              <a:buFontTx/>
              <a:buAutoNum type="alphaLcParenBoth"/>
            </a:pPr>
            <a:r>
              <a:rPr lang="en-US" altLang="en-US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is a male with pierced ears.</a:t>
            </a:r>
          </a:p>
          <a:p>
            <a:pPr algn="l" eaLnBrk="1" hangingPunct="1">
              <a:spcAft>
                <a:spcPts val="2400"/>
              </a:spcAft>
              <a:buFontTx/>
              <a:buAutoNum type="alphaLcParenBoth"/>
            </a:pPr>
            <a:r>
              <a:rPr lang="en-US" altLang="en-US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is a male or has pierced ears.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372120" y="3297039"/>
            <a:ext cx="808831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defTabSz="4572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defTabSz="4572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defTabSz="4572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defTabSz="4572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l" eaLnBrk="1" hangingPunct="1"/>
            <a:r>
              <a:rPr lang="en-US" altLang="en-US" sz="2000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(a) Each student is equally likely to be chosen. 103 students have pierced ears.  So, </a:t>
            </a:r>
            <a:r>
              <a:rPr lang="en-US" altLang="en-US" sz="2000" i="1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P(</a:t>
            </a:r>
            <a:r>
              <a:rPr lang="en-US" altLang="en-US" sz="2000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pierced ears) = </a:t>
            </a:r>
            <a:r>
              <a:rPr lang="en-US" altLang="en-US" sz="2000" i="1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P</a:t>
            </a:r>
            <a:r>
              <a:rPr lang="en-US" altLang="en-US" sz="2000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(</a:t>
            </a:r>
            <a:r>
              <a:rPr lang="en-US" altLang="en-US" sz="2000" i="1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B</a:t>
            </a:r>
            <a:r>
              <a:rPr lang="en-US" altLang="en-US" sz="2000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) = 103/178.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370532" y="4069184"/>
            <a:ext cx="80899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defTabSz="4572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defTabSz="4572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defTabSz="4572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defTabSz="4572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l" eaLnBrk="1" hangingPunct="1"/>
            <a:r>
              <a:rPr lang="en-US" altLang="en-US" sz="2000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(b) We want to find </a:t>
            </a:r>
            <a:r>
              <a:rPr lang="en-US" altLang="en-US" sz="2000" i="1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P</a:t>
            </a:r>
            <a:r>
              <a:rPr lang="en-US" altLang="en-US" sz="2000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(male </a:t>
            </a:r>
            <a:r>
              <a:rPr lang="en-US" altLang="en-US" sz="2000" i="1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and</a:t>
            </a:r>
            <a:r>
              <a:rPr lang="en-US" altLang="en-US" sz="2000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 pierced ears), that is, </a:t>
            </a:r>
            <a:r>
              <a:rPr lang="en-US" altLang="en-US" sz="2000" i="1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P</a:t>
            </a:r>
            <a:r>
              <a:rPr lang="en-US" altLang="en-US" sz="2000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(</a:t>
            </a:r>
            <a:r>
              <a:rPr lang="en-US" altLang="en-US" sz="2000" i="1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A </a:t>
            </a:r>
            <a:r>
              <a:rPr lang="en-US" altLang="en-US" sz="2000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and </a:t>
            </a:r>
            <a:r>
              <a:rPr lang="en-US" altLang="en-US" sz="2000" i="1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B</a:t>
            </a:r>
            <a:r>
              <a:rPr lang="en-US" altLang="en-US" sz="2000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).  Look at the intersection of the “Male” row and “Yes” column.  There are 19 males with pierced ears.  So, </a:t>
            </a:r>
            <a:r>
              <a:rPr lang="en-US" altLang="en-US" sz="2000" i="1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P</a:t>
            </a:r>
            <a:r>
              <a:rPr lang="en-US" altLang="en-US" sz="2000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(</a:t>
            </a:r>
            <a:r>
              <a:rPr lang="en-US" altLang="en-US" sz="2000" i="1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A </a:t>
            </a:r>
            <a:r>
              <a:rPr lang="en-US" altLang="en-US" sz="2000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and </a:t>
            </a:r>
            <a:r>
              <a:rPr lang="en-US" altLang="en-US" sz="2000" i="1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B</a:t>
            </a:r>
            <a:r>
              <a:rPr lang="en-US" altLang="en-US" sz="2000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) = 19/178.</a:t>
            </a: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395536" y="5273377"/>
            <a:ext cx="80899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defTabSz="4572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defTabSz="4572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defTabSz="4572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defTabSz="4572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l" eaLnBrk="1" hangingPunct="1"/>
            <a:r>
              <a:rPr lang="en-US" altLang="en-US" sz="2000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(c) We want to find </a:t>
            </a:r>
            <a:r>
              <a:rPr lang="en-US" altLang="en-US" sz="2000" i="1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P</a:t>
            </a:r>
            <a:r>
              <a:rPr lang="en-US" altLang="en-US" sz="2000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(male </a:t>
            </a:r>
            <a:r>
              <a:rPr lang="en-US" altLang="en-US" sz="2000" i="1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or</a:t>
            </a:r>
            <a:r>
              <a:rPr lang="en-US" altLang="en-US" sz="2000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 pierced ears), that is, </a:t>
            </a:r>
            <a:r>
              <a:rPr lang="en-US" altLang="en-US" sz="2000" i="1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P</a:t>
            </a:r>
            <a:r>
              <a:rPr lang="en-US" altLang="en-US" sz="2000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(</a:t>
            </a:r>
            <a:r>
              <a:rPr lang="en-US" altLang="en-US" sz="2000" i="1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A </a:t>
            </a:r>
            <a:r>
              <a:rPr lang="en-US" altLang="en-US" sz="2000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or </a:t>
            </a:r>
            <a:r>
              <a:rPr lang="en-US" altLang="en-US" sz="2000" i="1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B</a:t>
            </a:r>
            <a:r>
              <a:rPr lang="en-US" altLang="en-US" sz="2000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). There are 90 males in the class and 103 individuals with pierced ears. However, 19 males have pierced ears – don’t count them twice!  </a:t>
            </a:r>
          </a:p>
          <a:p>
            <a:pPr algn="l" eaLnBrk="1" hangingPunct="1"/>
            <a:r>
              <a:rPr lang="en-US" altLang="en-US" sz="2000" i="1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P</a:t>
            </a:r>
            <a:r>
              <a:rPr lang="en-US" altLang="en-US" sz="2000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(</a:t>
            </a:r>
            <a:r>
              <a:rPr lang="en-US" altLang="en-US" sz="2000" i="1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A </a:t>
            </a:r>
            <a:r>
              <a:rPr lang="en-US" altLang="en-US" sz="2000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or </a:t>
            </a:r>
            <a:r>
              <a:rPr lang="en-US" altLang="en-US" sz="2000" i="1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B</a:t>
            </a:r>
            <a:r>
              <a:rPr lang="en-US" altLang="en-US" sz="2000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) = (19 + 71 + 84)/178.  So, </a:t>
            </a:r>
            <a:r>
              <a:rPr lang="en-US" altLang="en-US" sz="2000" i="1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P</a:t>
            </a:r>
            <a:r>
              <a:rPr lang="en-US" altLang="en-US" sz="2000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(</a:t>
            </a:r>
            <a:r>
              <a:rPr lang="en-US" altLang="en-US" sz="2000" i="1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A </a:t>
            </a:r>
            <a:r>
              <a:rPr lang="en-US" altLang="en-US" sz="2000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or B</a:t>
            </a:r>
            <a:r>
              <a:rPr lang="en-US" altLang="en-US" sz="2000" i="1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) </a:t>
            </a:r>
            <a:r>
              <a:rPr lang="en-US" altLang="en-US" sz="2000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= 174/178</a:t>
            </a:r>
          </a:p>
        </p:txBody>
      </p:sp>
      <p:sp>
        <p:nvSpPr>
          <p:cNvPr id="9" name="Rectangle 8"/>
          <p:cNvSpPr/>
          <p:nvPr/>
        </p:nvSpPr>
        <p:spPr>
          <a:xfrm>
            <a:off x="323528" y="190381"/>
            <a:ext cx="842493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dirty="0" smtClean="0">
                <a:solidFill>
                  <a:srgbClr val="000000"/>
                </a:solidFill>
              </a:rPr>
              <a:t>Consider the following table. Suppose we choose a student at random. Find the probability that the student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7" grpId="2" animBg="1"/>
      <p:bldP spid="8" grpId="0" animBg="1"/>
      <p:bldP spid="11" grpId="0"/>
      <p:bldP spid="12" grpId="0"/>
      <p:bldP spid="12" grpId="1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35496" y="170080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043608" y="1701408"/>
            <a:ext cx="0" cy="54000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8467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Title:  Probabilities of combined events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9512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are two way tables and how are they used?</a:t>
            </a:r>
            <a:endParaRPr lang="en-AU" sz="2400" dirty="0"/>
          </a:p>
        </p:txBody>
      </p: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75656" y="1916832"/>
            <a:ext cx="6826591" cy="259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31640" y="4941168"/>
            <a:ext cx="7273815" cy="1080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321455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87624" y="188640"/>
            <a:ext cx="6851650" cy="325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70434" y="3573016"/>
            <a:ext cx="6457950" cy="283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1259632" y="350100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2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xmlns="" val="1126673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260648"/>
            <a:ext cx="7327253" cy="4470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827584" y="188640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3</a:t>
            </a:r>
            <a:endParaRPr lang="en-AU" sz="1600" dirty="0"/>
          </a:p>
        </p:txBody>
      </p:sp>
      <p:sp>
        <p:nvSpPr>
          <p:cNvPr id="4" name="TextBox 3"/>
          <p:cNvSpPr txBox="1"/>
          <p:nvPr/>
        </p:nvSpPr>
        <p:spPr>
          <a:xfrm>
            <a:off x="899592" y="21543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4</a:t>
            </a:r>
            <a:endParaRPr lang="en-AU" sz="16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5616" y="4869160"/>
            <a:ext cx="7033340" cy="1512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899592" y="479715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5</a:t>
            </a:r>
            <a:endParaRPr lang="en-AU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icket Clip Art Images  Pictures - Becu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692696"/>
            <a:ext cx="6943725" cy="3238500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1619672" y="692697"/>
            <a:ext cx="5904656" cy="2954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AU" sz="1400" dirty="0" smtClean="0"/>
              <a:t>Exit Pass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lang="en-AU" sz="1400" dirty="0" smtClean="0"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AU" sz="1400" dirty="0" smtClean="0">
                <a:latin typeface="Calibri" pitchFamily="34" charset="0"/>
                <a:ea typeface="Calibri" pitchFamily="34" charset="0"/>
                <a:cs typeface="Times New Roman" pitchFamily="18" charset="0"/>
              </a:rPr>
              <a:t>Name ___________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lang="en-AU" sz="1400" dirty="0" smtClean="0"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AU" sz="1400" dirty="0" smtClean="0">
                <a:latin typeface="Calibri" pitchFamily="34" charset="0"/>
                <a:ea typeface="Calibri" pitchFamily="34" charset="0"/>
                <a:cs typeface="Times New Roman" pitchFamily="18" charset="0"/>
              </a:rPr>
              <a:t>Give an example of a combined event  ________________________________</a:t>
            </a:r>
            <a:endParaRPr lang="en-AU" sz="1400" dirty="0" smtClean="0">
              <a:latin typeface="Arial" pitchFamily="34" charset="0"/>
              <a:cs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AU" sz="1400" dirty="0" smtClean="0"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1400" dirty="0" smtClean="0">
                <a:latin typeface="Calibri" pitchFamily="34" charset="0"/>
                <a:ea typeface="Calibri" pitchFamily="34" charset="0"/>
                <a:cs typeface="Times New Roman" pitchFamily="18" charset="0"/>
              </a:rPr>
              <a:t>Draw a two table which show two dice being thrown ?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1400" dirty="0" smtClean="0">
                <a:latin typeface="Calibri" pitchFamily="34" charset="0"/>
                <a:ea typeface="Calibri" pitchFamily="34" charset="0"/>
                <a:cs typeface="Times New Roman" pitchFamily="18" charset="0"/>
              </a:rPr>
              <a:t> </a:t>
            </a:r>
            <a:endParaRPr lang="en-AU" sz="1400" dirty="0" smtClean="0">
              <a:latin typeface="Arial" pitchFamily="34" charset="0"/>
              <a:cs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1400" dirty="0" smtClean="0">
                <a:latin typeface="Calibri" pitchFamily="34" charset="0"/>
                <a:ea typeface="Calibri" pitchFamily="34" charset="0"/>
                <a:cs typeface="Times New Roman" pitchFamily="18" charset="0"/>
              </a:rPr>
              <a:t>What is the probability of throwing a 7 ? </a:t>
            </a:r>
            <a:r>
              <a:rPr lang="en-AU" sz="1400" dirty="0" smtClean="0">
                <a:latin typeface="Calibri" pitchFamily="34" charset="0"/>
                <a:ea typeface="Calibri" pitchFamily="34" charset="0"/>
                <a:cs typeface="Times New Roman" pitchFamily="18" charset="0"/>
              </a:rPr>
              <a:t>__________</a:t>
            </a:r>
            <a:endParaRPr lang="en-AU" sz="1400" dirty="0" smtClean="0">
              <a:latin typeface="Arial" pitchFamily="34" charset="0"/>
              <a:cs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AU" sz="1400" dirty="0" smtClean="0"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1400" dirty="0" smtClean="0">
                <a:latin typeface="Calibri" pitchFamily="34" charset="0"/>
                <a:ea typeface="Calibri" pitchFamily="34" charset="0"/>
                <a:cs typeface="Times New Roman" pitchFamily="18" charset="0"/>
              </a:rPr>
              <a:t>What is the probability of throwing a 12? </a:t>
            </a:r>
            <a:r>
              <a:rPr lang="en-AU" sz="1400" dirty="0" smtClean="0">
                <a:latin typeface="Calibri" pitchFamily="34" charset="0"/>
                <a:ea typeface="Calibri" pitchFamily="34" charset="0"/>
                <a:cs typeface="Times New Roman" pitchFamily="18" charset="0"/>
              </a:rPr>
              <a:t>__________</a:t>
            </a:r>
            <a:endParaRPr lang="en-AU" sz="1400" dirty="0" smtClean="0">
              <a:latin typeface="Arial" pitchFamily="34" charset="0"/>
              <a:cs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AU" sz="3200" dirty="0" smtClean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724128" y="1844824"/>
          <a:ext cx="1965960" cy="1700403"/>
        </p:xfrm>
        <a:graphic>
          <a:graphicData uri="http://schemas.openxmlformats.org/drawingml/2006/table">
            <a:tbl>
              <a:tblPr/>
              <a:tblGrid>
                <a:gridCol w="280670"/>
                <a:gridCol w="280670"/>
                <a:gridCol w="280670"/>
                <a:gridCol w="280670"/>
                <a:gridCol w="280670"/>
                <a:gridCol w="281305"/>
                <a:gridCol w="281305"/>
              </a:tblGrid>
              <a:tr h="22415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800">
                          <a:latin typeface="Calibri"/>
                          <a:ea typeface="Calibri"/>
                          <a:cs typeface="Times New Roman"/>
                        </a:rPr>
                        <a:t>+</a:t>
                      </a:r>
                      <a:endParaRPr lang="en-AU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AU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AU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AU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AU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AU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AU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AU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AU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AU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AU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AU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AU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AU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1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AU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AU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AU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AU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AU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AU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AU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1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AU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AU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AU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AU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AU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AU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AU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AU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AU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AU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AU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AU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AU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AU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1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AU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AU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AU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AU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AU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AU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AU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AU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AU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AU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AU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AU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AU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AU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563</Words>
  <Application>Microsoft Office PowerPoint</Application>
  <PresentationFormat>On-screen Show (4:3)</PresentationFormat>
  <Paragraphs>133</Paragraphs>
  <Slides>10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Mental set</vt:lpstr>
      <vt:lpstr>Lesson objective</vt:lpstr>
      <vt:lpstr>Slide 3</vt:lpstr>
      <vt:lpstr>Success Criteria</vt:lpstr>
      <vt:lpstr>Slide 5</vt:lpstr>
      <vt:lpstr>Slide 6</vt:lpstr>
      <vt:lpstr>Slide 7</vt:lpstr>
      <vt:lpstr>Slide 8</vt:lpstr>
      <vt:lpstr>Slide 9</vt:lpstr>
      <vt:lpstr>Slide 10</vt:lpstr>
    </vt:vector>
  </TitlesOfParts>
  <Company>The Department of Education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E2038835</cp:lastModifiedBy>
  <cp:revision>14</cp:revision>
  <dcterms:created xsi:type="dcterms:W3CDTF">2016-10-20T03:14:06Z</dcterms:created>
  <dcterms:modified xsi:type="dcterms:W3CDTF">2017-05-08T01:02:44Z</dcterms:modified>
</cp:coreProperties>
</file>
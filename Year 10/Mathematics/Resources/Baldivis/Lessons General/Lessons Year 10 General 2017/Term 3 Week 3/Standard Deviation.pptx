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357" r:id="rId2"/>
    <p:sldId id="304" r:id="rId3"/>
    <p:sldId id="259" r:id="rId4"/>
    <p:sldId id="258" r:id="rId5"/>
    <p:sldId id="310" r:id="rId6"/>
    <p:sldId id="342" r:id="rId7"/>
    <p:sldId id="341" r:id="rId8"/>
    <p:sldId id="340" r:id="rId9"/>
    <p:sldId id="339" r:id="rId10"/>
    <p:sldId id="338" r:id="rId11"/>
    <p:sldId id="336" r:id="rId12"/>
    <p:sldId id="346" r:id="rId13"/>
    <p:sldId id="345" r:id="rId14"/>
    <p:sldId id="332" r:id="rId15"/>
    <p:sldId id="348" r:id="rId16"/>
    <p:sldId id="355" r:id="rId17"/>
    <p:sldId id="354" r:id="rId18"/>
    <p:sldId id="353" r:id="rId19"/>
    <p:sldId id="352" r:id="rId20"/>
    <p:sldId id="351" r:id="rId21"/>
    <p:sldId id="350" r:id="rId22"/>
    <p:sldId id="349" r:id="rId23"/>
    <p:sldId id="344" r:id="rId24"/>
    <p:sldId id="347" r:id="rId25"/>
    <p:sldId id="301" r:id="rId26"/>
    <p:sldId id="292" r:id="rId27"/>
    <p:sldId id="291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2895" autoAdjust="0"/>
  </p:normalViewPr>
  <p:slideViewPr>
    <p:cSldViewPr>
      <p:cViewPr varScale="1">
        <p:scale>
          <a:sx n="64" d="100"/>
          <a:sy n="64" d="100"/>
        </p:scale>
        <p:origin x="1560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invertIfNegative val="0"/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6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1C-4324-9C83-0EDA0F2D4F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8958776"/>
        <c:axId val="188566752"/>
      </c:barChart>
      <c:catAx>
        <c:axId val="1895877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188566752"/>
        <c:crosses val="autoZero"/>
        <c:auto val="1"/>
        <c:lblAlgn val="ctr"/>
        <c:lblOffset val="100"/>
        <c:noMultiLvlLbl val="0"/>
      </c:catAx>
      <c:valAx>
        <c:axId val="18856675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8958776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6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4D-41EA-A83A-2271EC7749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zero"/>
    <c:showDLblsOverMax val="0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295F81-78AA-40F1-A918-EB93CFFEFFAD}" type="datetimeFigureOut">
              <a:rPr lang="en-AU" smtClean="0"/>
              <a:t>31/07/2017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18BFA1-8560-4929-93A4-D9B97F80CCB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1194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pPr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65501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31/07/2017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31/07/2017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31/07/2017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31/07/2017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31/07/2017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31/07/2017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31/07/2017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31/07/2017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31/07/2017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31/07/2017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31/07/2017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31/07/2017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:\Users\e4047095\AppData\Local\Microsoft\Windows\Temporary Internet Files\Content.IE5\UN5YM58D\Line_Graph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0" y="1556792"/>
            <a:ext cx="3793604" cy="2927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576" y="260648"/>
            <a:ext cx="7772400" cy="1470025"/>
          </a:xfrm>
        </p:spPr>
        <p:txBody>
          <a:bodyPr/>
          <a:lstStyle/>
          <a:p>
            <a:r>
              <a:rPr lang="en-AU" dirty="0"/>
              <a:t>My Statistics</a:t>
            </a:r>
            <a:br>
              <a:rPr lang="en-AU" dirty="0"/>
            </a:br>
            <a:r>
              <a:rPr lang="en-AU" dirty="0"/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0844" y="4467670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/>
              <a:t>Name </a:t>
            </a:r>
          </a:p>
          <a:p>
            <a:pPr algn="l"/>
            <a:r>
              <a:rPr lang="en-AU" dirty="0"/>
              <a:t>Class 10.4</a:t>
            </a:r>
          </a:p>
          <a:p>
            <a:pPr algn="l"/>
            <a:r>
              <a:rPr lang="en-AU" dirty="0"/>
              <a:t>Teacher </a:t>
            </a:r>
            <a:r>
              <a:rPr lang="en-AU"/>
              <a:t>Mrs Keen</a:t>
            </a:r>
            <a:endParaRPr lang="en-AU" dirty="0"/>
          </a:p>
          <a:p>
            <a:pPr algn="l"/>
            <a:r>
              <a:rPr lang="en-AU" dirty="0"/>
              <a:t>Term 3 Semester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graphicFrame>
        <p:nvGraphicFramePr>
          <p:cNvPr id="16" name="Chart 15"/>
          <p:cNvGraphicFramePr>
            <a:graphicFrameLocks/>
          </p:cNvGraphicFramePr>
          <p:nvPr>
            <p:extLst/>
          </p:nvPr>
        </p:nvGraphicFramePr>
        <p:xfrm>
          <a:off x="5369199" y="1700808"/>
          <a:ext cx="3654152" cy="1803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7" name="Chart 16"/>
          <p:cNvGraphicFramePr>
            <a:graphicFrameLocks/>
          </p:cNvGraphicFramePr>
          <p:nvPr>
            <p:extLst/>
          </p:nvPr>
        </p:nvGraphicFramePr>
        <p:xfrm>
          <a:off x="4283968" y="3212976"/>
          <a:ext cx="4248472" cy="2599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985039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Create your own front page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It needs to contain the following –</a:t>
            </a:r>
          </a:p>
          <a:p>
            <a:pPr>
              <a:buFontTx/>
              <a:buChar char="-"/>
            </a:pPr>
            <a:r>
              <a:rPr lang="en-AU" dirty="0"/>
              <a:t>My applications interactive notebook</a:t>
            </a:r>
          </a:p>
          <a:p>
            <a:pPr>
              <a:buFontTx/>
              <a:buChar char="-"/>
            </a:pPr>
            <a:r>
              <a:rPr lang="en-AU" dirty="0"/>
              <a:t>Name </a:t>
            </a:r>
          </a:p>
          <a:p>
            <a:pPr>
              <a:buFontTx/>
              <a:buChar char="-"/>
            </a:pPr>
            <a:r>
              <a:rPr lang="en-AU" dirty="0"/>
              <a:t>Class</a:t>
            </a:r>
          </a:p>
          <a:p>
            <a:pPr>
              <a:buFontTx/>
              <a:buChar char="-"/>
            </a:pPr>
            <a:r>
              <a:rPr lang="en-AU" dirty="0"/>
              <a:t>Teachers Name</a:t>
            </a:r>
          </a:p>
          <a:p>
            <a:pPr>
              <a:buFontTx/>
              <a:buChar char="-"/>
            </a:pPr>
            <a:r>
              <a:rPr lang="en-AU" dirty="0"/>
              <a:t>Semester 2 Term 2</a:t>
            </a:r>
          </a:p>
          <a:p>
            <a:pPr>
              <a:buFontTx/>
              <a:buChar char="-"/>
            </a:pPr>
            <a:r>
              <a:rPr lang="en-AU" dirty="0"/>
              <a:t>Page number 1</a:t>
            </a:r>
          </a:p>
        </p:txBody>
      </p:sp>
    </p:spTree>
    <p:extLst>
      <p:ext uri="{BB962C8B-B14F-4D97-AF65-F5344CB8AC3E}">
        <p14:creationId xmlns:p14="http://schemas.microsoft.com/office/powerpoint/2010/main" val="82869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Glossary or Formula Page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9535" y="410095"/>
            <a:ext cx="939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Topic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3" y="1063436"/>
            <a:ext cx="89038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is the difference between standard deviation and mean          deviation?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63688" y="410095"/>
            <a:ext cx="50405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Data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8072438" y="417195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7752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9535" y="410095"/>
            <a:ext cx="939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Topic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3" y="1063436"/>
            <a:ext cx="89038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is the difference between standard deviation and mean          deviation?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63688" y="410095"/>
            <a:ext cx="50405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Data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8072438" y="417195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15816" y="1916832"/>
            <a:ext cx="622818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Averages</a:t>
            </a:r>
            <a:r>
              <a:rPr lang="en-AU" dirty="0"/>
              <a:t> are good for summarising data but they don’t tell the whole story. We also need measures of dispersion (spread).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b="1" dirty="0"/>
          </a:p>
          <a:p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3663302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9535" y="410095"/>
            <a:ext cx="939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Topic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3" y="1063436"/>
            <a:ext cx="89038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is the difference between standard deviation and mean          deviation?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63688" y="410095"/>
            <a:ext cx="50405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Data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8072438" y="417195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15816" y="1916832"/>
            <a:ext cx="622818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Averages</a:t>
            </a:r>
            <a:r>
              <a:rPr lang="en-AU" dirty="0"/>
              <a:t> are good for summarising data but they don’t tell the whole story. We also need measures of dispersion (spread).</a:t>
            </a:r>
          </a:p>
          <a:p>
            <a:endParaRPr lang="en-AU" dirty="0"/>
          </a:p>
          <a:p>
            <a:r>
              <a:rPr lang="en-AU" b="1" dirty="0"/>
              <a:t>Range</a:t>
            </a:r>
            <a:r>
              <a:rPr lang="en-AU" dirty="0"/>
              <a:t> only takes 2 pieces of data into account and is not that useful.</a:t>
            </a:r>
          </a:p>
          <a:p>
            <a:endParaRPr lang="en-AU" dirty="0"/>
          </a:p>
          <a:p>
            <a:endParaRPr lang="en-AU" dirty="0"/>
          </a:p>
          <a:p>
            <a:endParaRPr lang="en-AU" b="1" dirty="0"/>
          </a:p>
          <a:p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4261367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9535" y="410095"/>
            <a:ext cx="939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Topic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3" y="1063436"/>
            <a:ext cx="89038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is the difference between standard deviation and mean          deviation?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63688" y="410095"/>
            <a:ext cx="50405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Data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8072438" y="417195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15816" y="1916832"/>
            <a:ext cx="622818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Averages</a:t>
            </a:r>
            <a:r>
              <a:rPr lang="en-AU" dirty="0"/>
              <a:t> are good for summarising data but they don’t tell the whole story. We also need measures of dispersion (spread).</a:t>
            </a:r>
          </a:p>
          <a:p>
            <a:endParaRPr lang="en-AU" dirty="0"/>
          </a:p>
          <a:p>
            <a:r>
              <a:rPr lang="en-AU" b="1" dirty="0"/>
              <a:t>Range</a:t>
            </a:r>
            <a:r>
              <a:rPr lang="en-AU" dirty="0"/>
              <a:t> only takes 2 pieces of data into account and is not that useful.</a:t>
            </a:r>
          </a:p>
          <a:p>
            <a:endParaRPr lang="en-AU" dirty="0"/>
          </a:p>
          <a:p>
            <a:r>
              <a:rPr lang="en-AU" b="1" dirty="0"/>
              <a:t>Mean Deviation: </a:t>
            </a:r>
            <a:r>
              <a:rPr lang="en-AU" dirty="0"/>
              <a:t>the average of the absolute values of the deviations.</a:t>
            </a:r>
          </a:p>
          <a:p>
            <a:endParaRPr lang="en-AU" dirty="0"/>
          </a:p>
          <a:p>
            <a:endParaRPr lang="en-AU" b="1" dirty="0"/>
          </a:p>
          <a:p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580309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9535" y="410095"/>
            <a:ext cx="939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Topic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3" y="1063436"/>
            <a:ext cx="89038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is the difference between standard deviation and mean          deviation?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63688" y="410095"/>
            <a:ext cx="50405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Data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8072438" y="417195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15816" y="1916832"/>
            <a:ext cx="622818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Averages</a:t>
            </a:r>
            <a:r>
              <a:rPr lang="en-AU" dirty="0"/>
              <a:t> are good for summarising data but they don’t tell the whole story. We also need measures of dispersion (spread).</a:t>
            </a:r>
          </a:p>
          <a:p>
            <a:endParaRPr lang="en-AU" dirty="0"/>
          </a:p>
          <a:p>
            <a:r>
              <a:rPr lang="en-AU" b="1" dirty="0"/>
              <a:t>Range</a:t>
            </a:r>
            <a:r>
              <a:rPr lang="en-AU" dirty="0"/>
              <a:t> only takes 2 pieces of data into account and is not that useful.</a:t>
            </a:r>
          </a:p>
          <a:p>
            <a:endParaRPr lang="en-AU" dirty="0"/>
          </a:p>
          <a:p>
            <a:r>
              <a:rPr lang="en-AU" b="1" dirty="0"/>
              <a:t>Mean Deviation: </a:t>
            </a:r>
            <a:r>
              <a:rPr lang="en-AU" dirty="0"/>
              <a:t>the average of the absolute values of the deviations.</a:t>
            </a:r>
          </a:p>
          <a:p>
            <a:endParaRPr lang="en-AU" dirty="0"/>
          </a:p>
          <a:p>
            <a:r>
              <a:rPr lang="en-AU" b="1" dirty="0"/>
              <a:t>Variance: </a:t>
            </a:r>
            <a:r>
              <a:rPr lang="en-AU" dirty="0"/>
              <a:t>the average of the square deviations.</a:t>
            </a:r>
          </a:p>
          <a:p>
            <a:endParaRPr lang="en-AU" b="1" dirty="0"/>
          </a:p>
          <a:p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807960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9535" y="410095"/>
            <a:ext cx="939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Topic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3" y="1063436"/>
            <a:ext cx="89038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is the difference between standard deviation and mean          deviation?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63688" y="410095"/>
            <a:ext cx="50405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Data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8072438" y="417195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15816" y="1916832"/>
            <a:ext cx="622818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Averages</a:t>
            </a:r>
            <a:r>
              <a:rPr lang="en-AU" dirty="0"/>
              <a:t> are good for summarising data but they don’t tell the whole story. We also need measures of dispersion (spread).</a:t>
            </a:r>
          </a:p>
          <a:p>
            <a:endParaRPr lang="en-AU" dirty="0"/>
          </a:p>
          <a:p>
            <a:r>
              <a:rPr lang="en-AU" b="1" dirty="0"/>
              <a:t>Range</a:t>
            </a:r>
            <a:r>
              <a:rPr lang="en-AU" dirty="0"/>
              <a:t> only takes 2 pieces of data into account and is not that useful.</a:t>
            </a:r>
          </a:p>
          <a:p>
            <a:endParaRPr lang="en-AU" dirty="0"/>
          </a:p>
          <a:p>
            <a:r>
              <a:rPr lang="en-AU" b="1" dirty="0"/>
              <a:t>Mean Deviation: </a:t>
            </a:r>
            <a:r>
              <a:rPr lang="en-AU" dirty="0"/>
              <a:t>the average of the absolute values of the deviations.</a:t>
            </a:r>
          </a:p>
          <a:p>
            <a:endParaRPr lang="en-AU" dirty="0"/>
          </a:p>
          <a:p>
            <a:r>
              <a:rPr lang="en-AU" b="1" dirty="0"/>
              <a:t>Variance: </a:t>
            </a:r>
            <a:r>
              <a:rPr lang="en-AU" dirty="0"/>
              <a:t>the average of the square deviations.</a:t>
            </a:r>
          </a:p>
          <a:p>
            <a:endParaRPr lang="en-AU" b="1" dirty="0"/>
          </a:p>
          <a:p>
            <a:r>
              <a:rPr lang="en-AU" b="1" dirty="0"/>
              <a:t>Standard Deviation</a:t>
            </a:r>
            <a:r>
              <a:rPr lang="en-AU" dirty="0"/>
              <a:t>: the square root of the </a:t>
            </a:r>
            <a:r>
              <a:rPr lang="en-AU" b="1" dirty="0"/>
              <a:t>variance.</a:t>
            </a:r>
          </a:p>
          <a:p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42767753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9535" y="410095"/>
            <a:ext cx="939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Topic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3" y="1063436"/>
            <a:ext cx="89038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is the difference between standard deviation and mean          deviation?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63688" y="410095"/>
            <a:ext cx="50405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Data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8072438" y="417195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15816" y="1916832"/>
            <a:ext cx="622818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Averages</a:t>
            </a:r>
            <a:r>
              <a:rPr lang="en-AU" dirty="0"/>
              <a:t> are good for summarising data but they don’t tell the whole story. We also need measures of dispersion (spread).</a:t>
            </a:r>
          </a:p>
          <a:p>
            <a:endParaRPr lang="en-AU" dirty="0"/>
          </a:p>
          <a:p>
            <a:r>
              <a:rPr lang="en-AU" b="1" dirty="0"/>
              <a:t>Range</a:t>
            </a:r>
            <a:r>
              <a:rPr lang="en-AU" dirty="0"/>
              <a:t> only takes 2 pieces of data into account and is not that useful.</a:t>
            </a:r>
          </a:p>
          <a:p>
            <a:endParaRPr lang="en-AU" dirty="0"/>
          </a:p>
          <a:p>
            <a:r>
              <a:rPr lang="en-AU" b="1" dirty="0"/>
              <a:t>Mean Deviation: </a:t>
            </a:r>
            <a:r>
              <a:rPr lang="en-AU" dirty="0"/>
              <a:t>the average of the absolute values of the deviations.</a:t>
            </a:r>
          </a:p>
          <a:p>
            <a:endParaRPr lang="en-AU" dirty="0"/>
          </a:p>
          <a:p>
            <a:r>
              <a:rPr lang="en-AU" b="1" dirty="0"/>
              <a:t>Variance: </a:t>
            </a:r>
            <a:r>
              <a:rPr lang="en-AU" dirty="0"/>
              <a:t>the average of the square deviations.</a:t>
            </a:r>
          </a:p>
          <a:p>
            <a:endParaRPr lang="en-AU" b="1" dirty="0"/>
          </a:p>
          <a:p>
            <a:r>
              <a:rPr lang="en-AU" b="1" dirty="0"/>
              <a:t>Standard Deviation</a:t>
            </a:r>
            <a:r>
              <a:rPr lang="en-AU" dirty="0"/>
              <a:t>: the square root of the </a:t>
            </a:r>
            <a:r>
              <a:rPr lang="en-AU" b="1" dirty="0"/>
              <a:t>variance.</a:t>
            </a:r>
          </a:p>
          <a:p>
            <a:endParaRPr lang="en-AU" b="1" dirty="0"/>
          </a:p>
          <a:p>
            <a:r>
              <a:rPr lang="en-AU" dirty="0"/>
              <a:t>Standard Deviation is the more commonly used measure of dispersion in data analysis.</a:t>
            </a:r>
          </a:p>
          <a:p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33832709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9535" y="410095"/>
            <a:ext cx="939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Topic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3" y="1063436"/>
            <a:ext cx="89038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is the difference between standard deviation and mean          deviation?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63688" y="410095"/>
            <a:ext cx="50405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Data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8072438" y="417195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15816" y="1916832"/>
            <a:ext cx="6228184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Averages</a:t>
            </a:r>
            <a:r>
              <a:rPr lang="en-AU" dirty="0"/>
              <a:t> are good for summarising data but they don’t tell the whole story. We also need measures of dispersion (spread).</a:t>
            </a:r>
          </a:p>
          <a:p>
            <a:endParaRPr lang="en-AU" dirty="0"/>
          </a:p>
          <a:p>
            <a:r>
              <a:rPr lang="en-AU" b="1" dirty="0"/>
              <a:t>Range</a:t>
            </a:r>
            <a:r>
              <a:rPr lang="en-AU" dirty="0"/>
              <a:t> only takes 2 pieces of data into account and is not that useful.</a:t>
            </a:r>
          </a:p>
          <a:p>
            <a:endParaRPr lang="en-AU" dirty="0"/>
          </a:p>
          <a:p>
            <a:r>
              <a:rPr lang="en-AU" b="1" dirty="0"/>
              <a:t>Mean Deviation: </a:t>
            </a:r>
            <a:r>
              <a:rPr lang="en-AU" dirty="0"/>
              <a:t>the average of the absolute values of the deviations.</a:t>
            </a:r>
          </a:p>
          <a:p>
            <a:endParaRPr lang="en-AU" dirty="0"/>
          </a:p>
          <a:p>
            <a:r>
              <a:rPr lang="en-AU" b="1" dirty="0"/>
              <a:t>Variance: </a:t>
            </a:r>
            <a:r>
              <a:rPr lang="en-AU" dirty="0"/>
              <a:t>the average of the square deviations.</a:t>
            </a:r>
          </a:p>
          <a:p>
            <a:endParaRPr lang="en-AU" b="1" dirty="0"/>
          </a:p>
          <a:p>
            <a:r>
              <a:rPr lang="en-AU" b="1" dirty="0"/>
              <a:t>Standard Deviation</a:t>
            </a:r>
            <a:r>
              <a:rPr lang="en-AU" dirty="0"/>
              <a:t>: the square root of the </a:t>
            </a:r>
            <a:r>
              <a:rPr lang="en-AU" b="1" dirty="0"/>
              <a:t>variance.</a:t>
            </a:r>
          </a:p>
          <a:p>
            <a:endParaRPr lang="en-AU" b="1" dirty="0"/>
          </a:p>
          <a:p>
            <a:r>
              <a:rPr lang="en-AU" dirty="0"/>
              <a:t>Standard Deviation is the more commonly used measure of dispersion in data analysis.</a:t>
            </a:r>
          </a:p>
          <a:p>
            <a:endParaRPr lang="en-AU" b="1" dirty="0"/>
          </a:p>
          <a:p>
            <a:pPr algn="ctr"/>
            <a:r>
              <a:rPr lang="en-AU" sz="1400" dirty="0"/>
              <a:t>All well and good but I think we might need an example!…   </a:t>
            </a:r>
            <a:endParaRPr lang="en-AU" sz="1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11480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9535" y="410095"/>
            <a:ext cx="939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Topic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3" y="1063436"/>
            <a:ext cx="89038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is the difference between standard deviation and mean          deviation?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63688" y="410095"/>
            <a:ext cx="50405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Data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8072438" y="417195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15816" y="1916832"/>
            <a:ext cx="6228184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Averages</a:t>
            </a:r>
            <a:r>
              <a:rPr lang="en-AU" dirty="0"/>
              <a:t> are good for summarising data but they don’t tell the whole story. We also need measures of dispersion (spread).</a:t>
            </a:r>
          </a:p>
          <a:p>
            <a:endParaRPr lang="en-AU" dirty="0"/>
          </a:p>
          <a:p>
            <a:r>
              <a:rPr lang="en-AU" b="1" dirty="0"/>
              <a:t>Range</a:t>
            </a:r>
            <a:r>
              <a:rPr lang="en-AU" dirty="0"/>
              <a:t> only takes 2 pieces of data into account and is not that useful.</a:t>
            </a:r>
          </a:p>
          <a:p>
            <a:endParaRPr lang="en-AU" dirty="0"/>
          </a:p>
          <a:p>
            <a:r>
              <a:rPr lang="en-AU" b="1" dirty="0"/>
              <a:t>Mean Deviation: </a:t>
            </a:r>
            <a:r>
              <a:rPr lang="en-AU" dirty="0"/>
              <a:t>the average of the absolute values of the deviations.</a:t>
            </a:r>
          </a:p>
          <a:p>
            <a:endParaRPr lang="en-AU" dirty="0"/>
          </a:p>
          <a:p>
            <a:r>
              <a:rPr lang="en-AU" b="1" dirty="0"/>
              <a:t>Variance: </a:t>
            </a:r>
            <a:r>
              <a:rPr lang="en-AU" dirty="0"/>
              <a:t>the average of the square deviations.</a:t>
            </a:r>
          </a:p>
          <a:p>
            <a:endParaRPr lang="en-AU" b="1" dirty="0"/>
          </a:p>
          <a:p>
            <a:r>
              <a:rPr lang="en-AU" b="1" dirty="0"/>
              <a:t>Standard Deviation</a:t>
            </a:r>
            <a:r>
              <a:rPr lang="en-AU" dirty="0"/>
              <a:t>: the square root of the </a:t>
            </a:r>
            <a:r>
              <a:rPr lang="en-AU" b="1" dirty="0"/>
              <a:t>variance.</a:t>
            </a:r>
          </a:p>
          <a:p>
            <a:endParaRPr lang="en-AU" b="1" dirty="0"/>
          </a:p>
          <a:p>
            <a:r>
              <a:rPr lang="en-AU" dirty="0"/>
              <a:t>Standard Deviation is the more commonly used measure of dispersion in data analysis.</a:t>
            </a:r>
          </a:p>
          <a:p>
            <a:endParaRPr lang="en-AU" b="1" dirty="0"/>
          </a:p>
          <a:p>
            <a:pPr algn="ctr"/>
            <a:r>
              <a:rPr lang="en-AU" sz="1400" dirty="0"/>
              <a:t>All well and good but I think we might need an example!…   </a:t>
            </a:r>
            <a:r>
              <a:rPr lang="en-AU" sz="1400" dirty="0">
                <a:solidFill>
                  <a:srgbClr val="00B050"/>
                </a:solidFill>
              </a:rPr>
              <a:t>Yes please!  </a:t>
            </a:r>
            <a:r>
              <a:rPr lang="en-AU" sz="1400" dirty="0">
                <a:solidFill>
                  <a:srgbClr val="00B050"/>
                </a:solidFill>
                <a:sym typeface="Wingdings" panose="05000000000000000000" pitchFamily="2" charset="2"/>
              </a:rPr>
              <a:t></a:t>
            </a:r>
            <a:endParaRPr lang="en-AU" sz="1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8609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Example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4532078"/>
              </p:ext>
            </p:extLst>
          </p:nvPr>
        </p:nvGraphicFramePr>
        <p:xfrm>
          <a:off x="1403648" y="1556792"/>
          <a:ext cx="6624736" cy="2664296"/>
        </p:xfrm>
        <a:graphic>
          <a:graphicData uri="http://schemas.openxmlformats.org/drawingml/2006/table">
            <a:tbl>
              <a:tblPr firstRow="1" firstCol="1" bandRow="1"/>
              <a:tblGrid>
                <a:gridCol w="933279">
                  <a:extLst>
                    <a:ext uri="{9D8B030D-6E8A-4147-A177-3AD203B41FA5}">
                      <a16:colId xmlns:a16="http://schemas.microsoft.com/office/drawing/2014/main" val="4053937665"/>
                    </a:ext>
                  </a:extLst>
                </a:gridCol>
                <a:gridCol w="1561094">
                  <a:extLst>
                    <a:ext uri="{9D8B030D-6E8A-4147-A177-3AD203B41FA5}">
                      <a16:colId xmlns:a16="http://schemas.microsoft.com/office/drawing/2014/main" val="4241511028"/>
                    </a:ext>
                  </a:extLst>
                </a:gridCol>
                <a:gridCol w="2918790">
                  <a:extLst>
                    <a:ext uri="{9D8B030D-6E8A-4147-A177-3AD203B41FA5}">
                      <a16:colId xmlns:a16="http://schemas.microsoft.com/office/drawing/2014/main" val="2106444741"/>
                    </a:ext>
                  </a:extLst>
                </a:gridCol>
                <a:gridCol w="1211573">
                  <a:extLst>
                    <a:ext uri="{9D8B030D-6E8A-4147-A177-3AD203B41FA5}">
                      <a16:colId xmlns:a16="http://schemas.microsoft.com/office/drawing/2014/main" val="1667676594"/>
                    </a:ext>
                  </a:extLst>
                </a:gridCol>
              </a:tblGrid>
              <a:tr h="360040">
                <a:tc grid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AU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Team A Heights (mean 184cm)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986739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Player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Height (cm)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Deviation from the mean</a:t>
                      </a:r>
                      <a:endParaRPr lang="en-A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730026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211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211 – 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27 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4110800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184 – 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 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0205500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184 – 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6513492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172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172 – 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-12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2913095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169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169 - 184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-15</a:t>
                      </a:r>
                      <a:endParaRPr lang="en-A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495343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403648" y="4797152"/>
            <a:ext cx="6480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*</a:t>
            </a:r>
            <a:r>
              <a:rPr lang="en-AU" dirty="0">
                <a:solidFill>
                  <a:srgbClr val="FF0000"/>
                </a:solidFill>
              </a:rPr>
              <a:t> </a:t>
            </a:r>
            <a:r>
              <a:rPr lang="en-AU" b="1" dirty="0">
                <a:solidFill>
                  <a:srgbClr val="FF0000"/>
                </a:solidFill>
              </a:rPr>
              <a:t>IGNORE</a:t>
            </a:r>
            <a:r>
              <a:rPr lang="en-AU" dirty="0">
                <a:solidFill>
                  <a:srgbClr val="FF0000"/>
                </a:solidFill>
              </a:rPr>
              <a:t> </a:t>
            </a:r>
            <a:r>
              <a:rPr lang="en-AU" dirty="0"/>
              <a:t>the negative signs when we use </a:t>
            </a:r>
            <a:r>
              <a:rPr lang="en-AU" b="1" dirty="0"/>
              <a:t>absolute values</a:t>
            </a:r>
          </a:p>
        </p:txBody>
      </p:sp>
    </p:spTree>
    <p:extLst>
      <p:ext uri="{BB962C8B-B14F-4D97-AF65-F5344CB8AC3E}">
        <p14:creationId xmlns:p14="http://schemas.microsoft.com/office/powerpoint/2010/main" val="26405579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Example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907704" y="1417638"/>
          <a:ext cx="5728970" cy="1369949"/>
        </p:xfrm>
        <a:graphic>
          <a:graphicData uri="http://schemas.openxmlformats.org/drawingml/2006/table">
            <a:tbl>
              <a:tblPr firstRow="1" firstCol="1" bandRow="1"/>
              <a:tblGrid>
                <a:gridCol w="807085">
                  <a:extLst>
                    <a:ext uri="{9D8B030D-6E8A-4147-A177-3AD203B41FA5}">
                      <a16:colId xmlns:a16="http://schemas.microsoft.com/office/drawing/2014/main" val="1640702031"/>
                    </a:ext>
                  </a:extLst>
                </a:gridCol>
                <a:gridCol w="1350010">
                  <a:extLst>
                    <a:ext uri="{9D8B030D-6E8A-4147-A177-3AD203B41FA5}">
                      <a16:colId xmlns:a16="http://schemas.microsoft.com/office/drawing/2014/main" val="2932964259"/>
                    </a:ext>
                  </a:extLst>
                </a:gridCol>
                <a:gridCol w="2524125">
                  <a:extLst>
                    <a:ext uri="{9D8B030D-6E8A-4147-A177-3AD203B41FA5}">
                      <a16:colId xmlns:a16="http://schemas.microsoft.com/office/drawing/2014/main" val="4048168139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1151607499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Team A Heights (mean 184cm)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9731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Player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Height (cm)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Deviation from the mean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63498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211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211 – 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27 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4518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184 – 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 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889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184 – 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9263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172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172 – 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-12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3378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169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169 - 184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-15</a:t>
                      </a:r>
                      <a:endParaRPr lang="en-A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9150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2755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Example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907704" y="1417638"/>
          <a:ext cx="5728970" cy="1369949"/>
        </p:xfrm>
        <a:graphic>
          <a:graphicData uri="http://schemas.openxmlformats.org/drawingml/2006/table">
            <a:tbl>
              <a:tblPr firstRow="1" firstCol="1" bandRow="1"/>
              <a:tblGrid>
                <a:gridCol w="807085">
                  <a:extLst>
                    <a:ext uri="{9D8B030D-6E8A-4147-A177-3AD203B41FA5}">
                      <a16:colId xmlns:a16="http://schemas.microsoft.com/office/drawing/2014/main" val="1640702031"/>
                    </a:ext>
                  </a:extLst>
                </a:gridCol>
                <a:gridCol w="1350010">
                  <a:extLst>
                    <a:ext uri="{9D8B030D-6E8A-4147-A177-3AD203B41FA5}">
                      <a16:colId xmlns:a16="http://schemas.microsoft.com/office/drawing/2014/main" val="2932964259"/>
                    </a:ext>
                  </a:extLst>
                </a:gridCol>
                <a:gridCol w="2524125">
                  <a:extLst>
                    <a:ext uri="{9D8B030D-6E8A-4147-A177-3AD203B41FA5}">
                      <a16:colId xmlns:a16="http://schemas.microsoft.com/office/drawing/2014/main" val="4048168139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1151607499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Team A Heights (mean 184cm)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9731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Player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Height (cm)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Deviation from the mean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63498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211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211 – 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27 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4518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184 – 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 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889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184 – 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9263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172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172 – 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-12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3378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169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169 - 184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-15</a:t>
                      </a:r>
                      <a:endParaRPr lang="en-A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9150990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171789" y="3501008"/>
            <a:ext cx="7200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AU" b="1" dirty="0"/>
              <a:t>Mean Deviation</a:t>
            </a:r>
          </a:p>
          <a:p>
            <a:pPr lvl="1"/>
            <a:endParaRPr lang="en-AU" b="1" dirty="0"/>
          </a:p>
          <a:p>
            <a:pPr lvl="1"/>
            <a:r>
              <a:rPr lang="en-AU" b="1" dirty="0"/>
              <a:t>	</a:t>
            </a:r>
            <a:endParaRPr lang="en-AU" dirty="0"/>
          </a:p>
          <a:p>
            <a:pPr lvl="1"/>
            <a:endParaRPr lang="en-AU" b="1" dirty="0"/>
          </a:p>
          <a:p>
            <a:pPr lvl="1"/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9603900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Example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907704" y="1417638"/>
          <a:ext cx="5728970" cy="1369949"/>
        </p:xfrm>
        <a:graphic>
          <a:graphicData uri="http://schemas.openxmlformats.org/drawingml/2006/table">
            <a:tbl>
              <a:tblPr firstRow="1" firstCol="1" bandRow="1"/>
              <a:tblGrid>
                <a:gridCol w="807085">
                  <a:extLst>
                    <a:ext uri="{9D8B030D-6E8A-4147-A177-3AD203B41FA5}">
                      <a16:colId xmlns:a16="http://schemas.microsoft.com/office/drawing/2014/main" val="1640702031"/>
                    </a:ext>
                  </a:extLst>
                </a:gridCol>
                <a:gridCol w="1350010">
                  <a:extLst>
                    <a:ext uri="{9D8B030D-6E8A-4147-A177-3AD203B41FA5}">
                      <a16:colId xmlns:a16="http://schemas.microsoft.com/office/drawing/2014/main" val="2932964259"/>
                    </a:ext>
                  </a:extLst>
                </a:gridCol>
                <a:gridCol w="2524125">
                  <a:extLst>
                    <a:ext uri="{9D8B030D-6E8A-4147-A177-3AD203B41FA5}">
                      <a16:colId xmlns:a16="http://schemas.microsoft.com/office/drawing/2014/main" val="4048168139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1151607499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Team A Heights (mean 184cm)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9731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Player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Height (cm)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Deviation from the mean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63498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211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211 – 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27 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4518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184 – 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 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889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184 – 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9263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172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172 – 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-12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3378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169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169 - 184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-15</a:t>
                      </a:r>
                      <a:endParaRPr lang="en-A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915099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171789" y="3501008"/>
                <a:ext cx="7200800" cy="15976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AU" b="1" dirty="0"/>
                  <a:t>Mean Deviation </a:t>
                </a:r>
                <a:r>
                  <a:rPr lang="en-AU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27+0+0+12+15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lang="en-AU" b="1" dirty="0"/>
              </a:p>
              <a:p>
                <a:pPr lvl="1"/>
                <a:endParaRPr lang="en-AU" b="1" dirty="0"/>
              </a:p>
              <a:p>
                <a:pPr lvl="1"/>
                <a:r>
                  <a:rPr lang="en-AU" b="1" dirty="0"/>
                  <a:t>	</a:t>
                </a:r>
                <a:endParaRPr lang="en-AU" dirty="0"/>
              </a:p>
              <a:p>
                <a:pPr lvl="1"/>
                <a:endParaRPr lang="en-AU" b="1" dirty="0"/>
              </a:p>
              <a:p>
                <a:pPr lvl="1"/>
                <a:endParaRPr lang="en-AU" b="1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789" y="3501008"/>
                <a:ext cx="7200800" cy="159768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45849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Example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907704" y="1417638"/>
          <a:ext cx="5728970" cy="1369949"/>
        </p:xfrm>
        <a:graphic>
          <a:graphicData uri="http://schemas.openxmlformats.org/drawingml/2006/table">
            <a:tbl>
              <a:tblPr firstRow="1" firstCol="1" bandRow="1"/>
              <a:tblGrid>
                <a:gridCol w="807085">
                  <a:extLst>
                    <a:ext uri="{9D8B030D-6E8A-4147-A177-3AD203B41FA5}">
                      <a16:colId xmlns:a16="http://schemas.microsoft.com/office/drawing/2014/main" val="1640702031"/>
                    </a:ext>
                  </a:extLst>
                </a:gridCol>
                <a:gridCol w="1350010">
                  <a:extLst>
                    <a:ext uri="{9D8B030D-6E8A-4147-A177-3AD203B41FA5}">
                      <a16:colId xmlns:a16="http://schemas.microsoft.com/office/drawing/2014/main" val="2932964259"/>
                    </a:ext>
                  </a:extLst>
                </a:gridCol>
                <a:gridCol w="2524125">
                  <a:extLst>
                    <a:ext uri="{9D8B030D-6E8A-4147-A177-3AD203B41FA5}">
                      <a16:colId xmlns:a16="http://schemas.microsoft.com/office/drawing/2014/main" val="4048168139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1151607499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Team A Heights (mean 184cm)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9731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Player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Height (cm)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Deviation from the mean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63498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211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211 – 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27 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4518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184 – 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 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889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184 – 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9263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172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172 – 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-12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3378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169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169 - 184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-15</a:t>
                      </a:r>
                      <a:endParaRPr lang="en-A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915099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171789" y="3501008"/>
                <a:ext cx="7200800" cy="18746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AU" b="1" dirty="0"/>
                  <a:t>Mean Deviation </a:t>
                </a:r>
                <a:r>
                  <a:rPr lang="en-AU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27+0+0+12+15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=10.8 </m:t>
                    </m:r>
                  </m:oMath>
                </a14:m>
                <a:endParaRPr lang="en-AU" b="0" dirty="0"/>
              </a:p>
              <a:p>
                <a:pPr lvl="1"/>
                <a:endParaRPr lang="en-AU" b="1" dirty="0"/>
              </a:p>
              <a:p>
                <a:pPr lvl="1"/>
                <a:endParaRPr lang="en-AU" b="1" dirty="0"/>
              </a:p>
              <a:p>
                <a:pPr lvl="1"/>
                <a:r>
                  <a:rPr lang="en-AU" b="1" dirty="0"/>
                  <a:t>	</a:t>
                </a:r>
                <a:endParaRPr lang="en-AU" dirty="0"/>
              </a:p>
              <a:p>
                <a:pPr lvl="1"/>
                <a:endParaRPr lang="en-AU" b="1" dirty="0"/>
              </a:p>
              <a:p>
                <a:pPr lvl="1"/>
                <a:endParaRPr lang="en-AU" b="1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789" y="3501008"/>
                <a:ext cx="7200800" cy="18746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04057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Example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907704" y="1417638"/>
          <a:ext cx="5728970" cy="1369949"/>
        </p:xfrm>
        <a:graphic>
          <a:graphicData uri="http://schemas.openxmlformats.org/drawingml/2006/table">
            <a:tbl>
              <a:tblPr firstRow="1" firstCol="1" bandRow="1"/>
              <a:tblGrid>
                <a:gridCol w="807085">
                  <a:extLst>
                    <a:ext uri="{9D8B030D-6E8A-4147-A177-3AD203B41FA5}">
                      <a16:colId xmlns:a16="http://schemas.microsoft.com/office/drawing/2014/main" val="1640702031"/>
                    </a:ext>
                  </a:extLst>
                </a:gridCol>
                <a:gridCol w="1350010">
                  <a:extLst>
                    <a:ext uri="{9D8B030D-6E8A-4147-A177-3AD203B41FA5}">
                      <a16:colId xmlns:a16="http://schemas.microsoft.com/office/drawing/2014/main" val="2932964259"/>
                    </a:ext>
                  </a:extLst>
                </a:gridCol>
                <a:gridCol w="2524125">
                  <a:extLst>
                    <a:ext uri="{9D8B030D-6E8A-4147-A177-3AD203B41FA5}">
                      <a16:colId xmlns:a16="http://schemas.microsoft.com/office/drawing/2014/main" val="4048168139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1151607499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Team A Heights (mean 184cm)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9731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Player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Height (cm)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Deviation from the mean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63498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211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211 – 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27 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4518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184 – 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 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889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184 – 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9263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172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172 – 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-12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3378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169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169 - 184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-15</a:t>
                      </a:r>
                      <a:endParaRPr lang="en-A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915099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171789" y="3501008"/>
                <a:ext cx="7200800" cy="18746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AU" b="1" dirty="0"/>
                  <a:t>Mean Deviation </a:t>
                </a:r>
                <a:r>
                  <a:rPr lang="en-AU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27+0+0+12+15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=10.8 </m:t>
                    </m:r>
                  </m:oMath>
                </a14:m>
                <a:endParaRPr lang="en-AU" b="0" dirty="0"/>
              </a:p>
              <a:p>
                <a:pPr lvl="1"/>
                <a:endParaRPr lang="en-AU" b="1" dirty="0"/>
              </a:p>
              <a:p>
                <a:pPr lvl="1"/>
                <a:endParaRPr lang="en-AU" b="1" dirty="0"/>
              </a:p>
              <a:p>
                <a:pPr lvl="1"/>
                <a:r>
                  <a:rPr lang="en-AU" b="1" dirty="0"/>
                  <a:t>Variance 	</a:t>
                </a:r>
                <a:endParaRPr lang="en-AU" dirty="0"/>
              </a:p>
              <a:p>
                <a:pPr lvl="1"/>
                <a:endParaRPr lang="en-AU" b="1" dirty="0"/>
              </a:p>
              <a:p>
                <a:pPr lvl="1"/>
                <a:endParaRPr lang="en-AU" b="1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789" y="3501008"/>
                <a:ext cx="7200800" cy="18746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32447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Example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907704" y="1417638"/>
          <a:ext cx="5728970" cy="1369949"/>
        </p:xfrm>
        <a:graphic>
          <a:graphicData uri="http://schemas.openxmlformats.org/drawingml/2006/table">
            <a:tbl>
              <a:tblPr firstRow="1" firstCol="1" bandRow="1"/>
              <a:tblGrid>
                <a:gridCol w="807085">
                  <a:extLst>
                    <a:ext uri="{9D8B030D-6E8A-4147-A177-3AD203B41FA5}">
                      <a16:colId xmlns:a16="http://schemas.microsoft.com/office/drawing/2014/main" val="1640702031"/>
                    </a:ext>
                  </a:extLst>
                </a:gridCol>
                <a:gridCol w="1350010">
                  <a:extLst>
                    <a:ext uri="{9D8B030D-6E8A-4147-A177-3AD203B41FA5}">
                      <a16:colId xmlns:a16="http://schemas.microsoft.com/office/drawing/2014/main" val="2932964259"/>
                    </a:ext>
                  </a:extLst>
                </a:gridCol>
                <a:gridCol w="2524125">
                  <a:extLst>
                    <a:ext uri="{9D8B030D-6E8A-4147-A177-3AD203B41FA5}">
                      <a16:colId xmlns:a16="http://schemas.microsoft.com/office/drawing/2014/main" val="4048168139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1151607499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Team A Heights (mean 184cm)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9731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Player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Height (cm)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Deviation from the mean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63498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211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211 – 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27 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4518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184 – 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 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889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184 – 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9263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172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172 – 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-12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3378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169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169 - 184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-15</a:t>
                      </a:r>
                      <a:endParaRPr lang="en-A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915099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171789" y="3501008"/>
                <a:ext cx="7200800" cy="2010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AU" b="1" dirty="0"/>
                  <a:t>Mean Deviation </a:t>
                </a:r>
                <a:r>
                  <a:rPr lang="en-AU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27+0+0+12+15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=10.8 </m:t>
                    </m:r>
                  </m:oMath>
                </a14:m>
                <a:endParaRPr lang="en-AU" b="0" dirty="0"/>
              </a:p>
              <a:p>
                <a:pPr lvl="1"/>
                <a:endParaRPr lang="en-AU" b="1" dirty="0"/>
              </a:p>
              <a:p>
                <a:pPr lvl="1"/>
                <a:endParaRPr lang="en-AU" b="1" dirty="0"/>
              </a:p>
              <a:p>
                <a:pPr lvl="1"/>
                <a:r>
                  <a:rPr lang="en-AU" b="1" dirty="0"/>
                  <a:t>Variance 	</a:t>
                </a:r>
                <a:r>
                  <a:rPr lang="en-AU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27</m:t>
                            </m:r>
                          </m:e>
                        </m:d>
                        <m:r>
                          <a:rPr lang="en-AU" b="0" i="1" baseline="3000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+ </m:t>
                        </m:r>
                        <m:d>
                          <m:d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AU" b="0" i="1" baseline="3000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+  </m:t>
                        </m:r>
                        <m:d>
                          <m:d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AU" b="0" i="1" baseline="3000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+  </m:t>
                        </m:r>
                        <m:d>
                          <m:d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−12</m:t>
                            </m:r>
                          </m:e>
                        </m:d>
                        <m:r>
                          <a:rPr lang="en-AU" b="0" i="1" baseline="3000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+  </m:t>
                        </m:r>
                        <m:d>
                          <m:d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−15</m:t>
                            </m:r>
                          </m:e>
                        </m:d>
                        <m:r>
                          <a:rPr lang="en-AU" b="0" i="1" baseline="3000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AU" b="1" dirty="0"/>
                  <a:t> </a:t>
                </a:r>
                <a:endParaRPr lang="en-AU" dirty="0"/>
              </a:p>
              <a:p>
                <a:pPr lvl="1"/>
                <a:endParaRPr lang="en-AU" b="1" dirty="0"/>
              </a:p>
              <a:p>
                <a:pPr lvl="1"/>
                <a:endParaRPr lang="en-AU" b="1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789" y="3501008"/>
                <a:ext cx="7200800" cy="20105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73677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Example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907704" y="1417638"/>
          <a:ext cx="5728970" cy="1369949"/>
        </p:xfrm>
        <a:graphic>
          <a:graphicData uri="http://schemas.openxmlformats.org/drawingml/2006/table">
            <a:tbl>
              <a:tblPr firstRow="1" firstCol="1" bandRow="1"/>
              <a:tblGrid>
                <a:gridCol w="807085">
                  <a:extLst>
                    <a:ext uri="{9D8B030D-6E8A-4147-A177-3AD203B41FA5}">
                      <a16:colId xmlns:a16="http://schemas.microsoft.com/office/drawing/2014/main" val="1640702031"/>
                    </a:ext>
                  </a:extLst>
                </a:gridCol>
                <a:gridCol w="1350010">
                  <a:extLst>
                    <a:ext uri="{9D8B030D-6E8A-4147-A177-3AD203B41FA5}">
                      <a16:colId xmlns:a16="http://schemas.microsoft.com/office/drawing/2014/main" val="2932964259"/>
                    </a:ext>
                  </a:extLst>
                </a:gridCol>
                <a:gridCol w="2524125">
                  <a:extLst>
                    <a:ext uri="{9D8B030D-6E8A-4147-A177-3AD203B41FA5}">
                      <a16:colId xmlns:a16="http://schemas.microsoft.com/office/drawing/2014/main" val="4048168139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1151607499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Team A Heights (mean 184cm)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9731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Player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Height (cm)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Deviation from the mean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63498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211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211 – 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27 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4518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184 – 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 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889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184 – 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9263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172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172 – 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-12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3378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169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169 - 184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-15</a:t>
                      </a:r>
                      <a:endParaRPr lang="en-A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915099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171789" y="3501008"/>
                <a:ext cx="7200800" cy="2010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AU" b="1" dirty="0"/>
                  <a:t>Mean Deviation </a:t>
                </a:r>
                <a:r>
                  <a:rPr lang="en-AU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27+0+0+12+15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=10.8 </m:t>
                    </m:r>
                  </m:oMath>
                </a14:m>
                <a:endParaRPr lang="en-AU" b="0" dirty="0"/>
              </a:p>
              <a:p>
                <a:pPr lvl="1"/>
                <a:endParaRPr lang="en-AU" b="1" dirty="0"/>
              </a:p>
              <a:p>
                <a:pPr lvl="1"/>
                <a:endParaRPr lang="en-AU" b="1" dirty="0"/>
              </a:p>
              <a:p>
                <a:pPr lvl="1"/>
                <a:r>
                  <a:rPr lang="en-AU" b="1" dirty="0"/>
                  <a:t>Variance 	</a:t>
                </a:r>
                <a:r>
                  <a:rPr lang="en-AU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27</m:t>
                            </m:r>
                          </m:e>
                        </m:d>
                        <m:r>
                          <a:rPr lang="en-AU" b="0" i="1" baseline="3000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+ </m:t>
                        </m:r>
                        <m:d>
                          <m:d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AU" b="0" i="1" baseline="3000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+  </m:t>
                        </m:r>
                        <m:d>
                          <m:d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AU" b="0" i="1" baseline="3000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+  </m:t>
                        </m:r>
                        <m:d>
                          <m:d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−12</m:t>
                            </m:r>
                          </m:e>
                        </m:d>
                        <m:r>
                          <a:rPr lang="en-AU" b="0" i="1" baseline="3000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+  </m:t>
                        </m:r>
                        <m:d>
                          <m:d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−15</m:t>
                            </m:r>
                          </m:e>
                        </m:d>
                        <m:r>
                          <a:rPr lang="en-AU" b="0" i="1" baseline="3000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AU" b="1" dirty="0"/>
                  <a:t> </a:t>
                </a:r>
                <a:r>
                  <a:rPr lang="en-AU" dirty="0"/>
                  <a:t>= 219.6</a:t>
                </a:r>
              </a:p>
              <a:p>
                <a:pPr lvl="1"/>
                <a:endParaRPr lang="en-AU" b="1" dirty="0"/>
              </a:p>
              <a:p>
                <a:pPr lvl="1"/>
                <a:endParaRPr lang="en-AU" b="1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789" y="3501008"/>
                <a:ext cx="7200800" cy="20105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70780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Example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907704" y="1417638"/>
          <a:ext cx="5728970" cy="1369949"/>
        </p:xfrm>
        <a:graphic>
          <a:graphicData uri="http://schemas.openxmlformats.org/drawingml/2006/table">
            <a:tbl>
              <a:tblPr firstRow="1" firstCol="1" bandRow="1"/>
              <a:tblGrid>
                <a:gridCol w="807085">
                  <a:extLst>
                    <a:ext uri="{9D8B030D-6E8A-4147-A177-3AD203B41FA5}">
                      <a16:colId xmlns:a16="http://schemas.microsoft.com/office/drawing/2014/main" val="1640702031"/>
                    </a:ext>
                  </a:extLst>
                </a:gridCol>
                <a:gridCol w="1350010">
                  <a:extLst>
                    <a:ext uri="{9D8B030D-6E8A-4147-A177-3AD203B41FA5}">
                      <a16:colId xmlns:a16="http://schemas.microsoft.com/office/drawing/2014/main" val="2932964259"/>
                    </a:ext>
                  </a:extLst>
                </a:gridCol>
                <a:gridCol w="2524125">
                  <a:extLst>
                    <a:ext uri="{9D8B030D-6E8A-4147-A177-3AD203B41FA5}">
                      <a16:colId xmlns:a16="http://schemas.microsoft.com/office/drawing/2014/main" val="4048168139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1151607499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Team A Heights (mean 184cm)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9731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Player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Height (cm)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Deviation from the mean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63498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211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211 – 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27 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4518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184 – 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 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889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184 – 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9263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172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172 – 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-12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3378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169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169 - 184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-15</a:t>
                      </a:r>
                      <a:endParaRPr lang="en-A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915099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171789" y="3501008"/>
                <a:ext cx="7200800" cy="23264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AU" b="1" dirty="0"/>
                  <a:t>Mean Deviation </a:t>
                </a:r>
                <a:r>
                  <a:rPr lang="en-AU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27+0+0+12+15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=10.8 </m:t>
                    </m:r>
                  </m:oMath>
                </a14:m>
                <a:endParaRPr lang="en-AU" b="0" dirty="0"/>
              </a:p>
              <a:p>
                <a:pPr lvl="1"/>
                <a:endParaRPr lang="en-AU" b="1" dirty="0"/>
              </a:p>
              <a:p>
                <a:pPr lvl="1"/>
                <a:endParaRPr lang="en-AU" b="1" dirty="0"/>
              </a:p>
              <a:p>
                <a:pPr lvl="1"/>
                <a:r>
                  <a:rPr lang="en-AU" b="1" dirty="0"/>
                  <a:t>Variance 	</a:t>
                </a:r>
                <a:r>
                  <a:rPr lang="en-AU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27</m:t>
                            </m:r>
                          </m:e>
                        </m:d>
                        <m:r>
                          <a:rPr lang="en-AU" b="0" i="1" baseline="3000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+ </m:t>
                        </m:r>
                        <m:d>
                          <m:d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AU" b="0" i="1" baseline="3000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+  </m:t>
                        </m:r>
                        <m:d>
                          <m:d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AU" b="0" i="1" baseline="3000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+  </m:t>
                        </m:r>
                        <m:d>
                          <m:d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−12</m:t>
                            </m:r>
                          </m:e>
                        </m:d>
                        <m:r>
                          <a:rPr lang="en-AU" b="0" i="1" baseline="3000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+  </m:t>
                        </m:r>
                        <m:d>
                          <m:d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−15</m:t>
                            </m:r>
                          </m:e>
                        </m:d>
                        <m:r>
                          <a:rPr lang="en-AU" b="0" i="1" baseline="3000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AU" b="1" dirty="0"/>
                  <a:t> </a:t>
                </a:r>
                <a:r>
                  <a:rPr lang="en-AU" dirty="0"/>
                  <a:t>= 219.6</a:t>
                </a:r>
              </a:p>
              <a:p>
                <a:pPr lvl="1"/>
                <a:endParaRPr lang="en-AU" b="1" dirty="0"/>
              </a:p>
              <a:p>
                <a:pPr lvl="1"/>
                <a:endParaRPr lang="en-AU" b="1" dirty="0"/>
              </a:p>
              <a:p>
                <a:pPr lvl="1"/>
                <a:r>
                  <a:rPr lang="en-AU" b="1" dirty="0"/>
                  <a:t>Standard Deviation </a:t>
                </a:r>
                <a:r>
                  <a:rPr lang="en-AU" dirty="0"/>
                  <a:t> =</a:t>
                </a:r>
                <a:endParaRPr lang="en-AU" sz="16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789" y="3501008"/>
                <a:ext cx="7200800" cy="2326471"/>
              </a:xfrm>
              <a:prstGeom prst="rect">
                <a:avLst/>
              </a:prstGeom>
              <a:blipFill>
                <a:blip r:embed="rId2"/>
                <a:stretch>
                  <a:fillRect b="-15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39500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Example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4433455"/>
              </p:ext>
            </p:extLst>
          </p:nvPr>
        </p:nvGraphicFramePr>
        <p:xfrm>
          <a:off x="1907704" y="1417638"/>
          <a:ext cx="5728970" cy="1369949"/>
        </p:xfrm>
        <a:graphic>
          <a:graphicData uri="http://schemas.openxmlformats.org/drawingml/2006/table">
            <a:tbl>
              <a:tblPr firstRow="1" firstCol="1" bandRow="1"/>
              <a:tblGrid>
                <a:gridCol w="807085">
                  <a:extLst>
                    <a:ext uri="{9D8B030D-6E8A-4147-A177-3AD203B41FA5}">
                      <a16:colId xmlns:a16="http://schemas.microsoft.com/office/drawing/2014/main" val="1640702031"/>
                    </a:ext>
                  </a:extLst>
                </a:gridCol>
                <a:gridCol w="1350010">
                  <a:extLst>
                    <a:ext uri="{9D8B030D-6E8A-4147-A177-3AD203B41FA5}">
                      <a16:colId xmlns:a16="http://schemas.microsoft.com/office/drawing/2014/main" val="2932964259"/>
                    </a:ext>
                  </a:extLst>
                </a:gridCol>
                <a:gridCol w="2524125">
                  <a:extLst>
                    <a:ext uri="{9D8B030D-6E8A-4147-A177-3AD203B41FA5}">
                      <a16:colId xmlns:a16="http://schemas.microsoft.com/office/drawing/2014/main" val="4048168139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1151607499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Team A Heights (mean 184cm)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9731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Player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Height (cm)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Deviation from the mean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63498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211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211 – 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27 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4518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184 – 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 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889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184 – 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9263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172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172 – 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-12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3378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169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169 - 184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-15</a:t>
                      </a:r>
                      <a:endParaRPr lang="en-A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915099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171789" y="3501008"/>
                <a:ext cx="7200800" cy="23264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AU" b="1" dirty="0"/>
                  <a:t>Mean Deviation </a:t>
                </a:r>
                <a:r>
                  <a:rPr lang="en-AU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27+0+0+12+15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=10.8 </m:t>
                    </m:r>
                  </m:oMath>
                </a14:m>
                <a:endParaRPr lang="en-AU" b="0" dirty="0"/>
              </a:p>
              <a:p>
                <a:pPr lvl="1"/>
                <a:endParaRPr lang="en-AU" b="1" dirty="0"/>
              </a:p>
              <a:p>
                <a:pPr lvl="1"/>
                <a:endParaRPr lang="en-AU" b="1" dirty="0"/>
              </a:p>
              <a:p>
                <a:pPr lvl="1"/>
                <a:r>
                  <a:rPr lang="en-AU" b="1" dirty="0"/>
                  <a:t>Variance 	</a:t>
                </a:r>
                <a:r>
                  <a:rPr lang="en-AU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27</m:t>
                            </m:r>
                          </m:e>
                        </m:d>
                        <m:r>
                          <a:rPr lang="en-AU" b="0" i="1" baseline="3000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+ </m:t>
                        </m:r>
                        <m:d>
                          <m:d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AU" b="0" i="1" baseline="3000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+  </m:t>
                        </m:r>
                        <m:d>
                          <m:d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AU" b="0" i="1" baseline="3000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+  </m:t>
                        </m:r>
                        <m:d>
                          <m:d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−12</m:t>
                            </m:r>
                          </m:e>
                        </m:d>
                        <m:r>
                          <a:rPr lang="en-AU" b="0" i="1" baseline="3000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+  </m:t>
                        </m:r>
                        <m:d>
                          <m:d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−15</m:t>
                            </m:r>
                          </m:e>
                        </m:d>
                        <m:r>
                          <a:rPr lang="en-AU" b="0" i="1" baseline="3000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AU" b="1" dirty="0"/>
                  <a:t> </a:t>
                </a:r>
                <a:r>
                  <a:rPr lang="en-AU" dirty="0"/>
                  <a:t>= 219.6</a:t>
                </a:r>
              </a:p>
              <a:p>
                <a:pPr lvl="1"/>
                <a:endParaRPr lang="en-AU" b="1" dirty="0"/>
              </a:p>
              <a:p>
                <a:pPr lvl="1"/>
                <a:endParaRPr lang="en-AU" b="1" dirty="0"/>
              </a:p>
              <a:p>
                <a:pPr lvl="1"/>
                <a:r>
                  <a:rPr lang="en-AU" b="1" dirty="0"/>
                  <a:t>Standard Deviation </a:t>
                </a:r>
                <a:r>
                  <a:rPr lang="en-AU" dirty="0"/>
                  <a:t> = 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219.6</m:t>
                        </m:r>
                      </m:e>
                    </m:rad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AU" sz="16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789" y="3501008"/>
                <a:ext cx="7200800" cy="2326471"/>
              </a:xfrm>
              <a:prstGeom prst="rect">
                <a:avLst/>
              </a:prstGeom>
              <a:blipFill>
                <a:blip r:embed="rId2"/>
                <a:stretch>
                  <a:fillRect b="-26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44429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Example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907704" y="1417638"/>
          <a:ext cx="5728970" cy="1369949"/>
        </p:xfrm>
        <a:graphic>
          <a:graphicData uri="http://schemas.openxmlformats.org/drawingml/2006/table">
            <a:tbl>
              <a:tblPr firstRow="1" firstCol="1" bandRow="1"/>
              <a:tblGrid>
                <a:gridCol w="807085">
                  <a:extLst>
                    <a:ext uri="{9D8B030D-6E8A-4147-A177-3AD203B41FA5}">
                      <a16:colId xmlns:a16="http://schemas.microsoft.com/office/drawing/2014/main" val="1640702031"/>
                    </a:ext>
                  </a:extLst>
                </a:gridCol>
                <a:gridCol w="1350010">
                  <a:extLst>
                    <a:ext uri="{9D8B030D-6E8A-4147-A177-3AD203B41FA5}">
                      <a16:colId xmlns:a16="http://schemas.microsoft.com/office/drawing/2014/main" val="2932964259"/>
                    </a:ext>
                  </a:extLst>
                </a:gridCol>
                <a:gridCol w="2524125">
                  <a:extLst>
                    <a:ext uri="{9D8B030D-6E8A-4147-A177-3AD203B41FA5}">
                      <a16:colId xmlns:a16="http://schemas.microsoft.com/office/drawing/2014/main" val="4048168139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1151607499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Team A Heights (mean 184cm)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9731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Player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Height (cm)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Deviation from the mean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63498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211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211 – 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27 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4518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184 – 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 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889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184 – 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9263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172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172 – 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-12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3378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169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169 - 184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-15</a:t>
                      </a:r>
                      <a:endParaRPr lang="en-A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915099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171789" y="3501008"/>
                <a:ext cx="7200800" cy="23264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AU" b="1" dirty="0"/>
                  <a:t>Mean Deviation </a:t>
                </a:r>
                <a:r>
                  <a:rPr lang="en-AU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27+0+0+12+15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=10.8 </m:t>
                    </m:r>
                  </m:oMath>
                </a14:m>
                <a:endParaRPr lang="en-AU" b="0" dirty="0"/>
              </a:p>
              <a:p>
                <a:pPr lvl="1"/>
                <a:endParaRPr lang="en-AU" b="1" dirty="0"/>
              </a:p>
              <a:p>
                <a:pPr lvl="1"/>
                <a:endParaRPr lang="en-AU" b="1" dirty="0"/>
              </a:p>
              <a:p>
                <a:pPr lvl="1"/>
                <a:r>
                  <a:rPr lang="en-AU" b="1" dirty="0"/>
                  <a:t>Variance 	</a:t>
                </a:r>
                <a:r>
                  <a:rPr lang="en-AU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27</m:t>
                            </m:r>
                          </m:e>
                        </m:d>
                        <m:r>
                          <a:rPr lang="en-AU" b="0" i="1" baseline="3000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+ </m:t>
                        </m:r>
                        <m:d>
                          <m:d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AU" b="0" i="1" baseline="3000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+  </m:t>
                        </m:r>
                        <m:d>
                          <m:d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AU" b="0" i="1" baseline="3000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+  </m:t>
                        </m:r>
                        <m:d>
                          <m:d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−12</m:t>
                            </m:r>
                          </m:e>
                        </m:d>
                        <m:r>
                          <a:rPr lang="en-AU" b="0" i="1" baseline="3000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+  </m:t>
                        </m:r>
                        <m:d>
                          <m:d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−15</m:t>
                            </m:r>
                          </m:e>
                        </m:d>
                        <m:r>
                          <a:rPr lang="en-AU" b="0" i="1" baseline="3000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AU" b="1" dirty="0"/>
                  <a:t> </a:t>
                </a:r>
                <a:r>
                  <a:rPr lang="en-AU" dirty="0"/>
                  <a:t>= 219.6</a:t>
                </a:r>
              </a:p>
              <a:p>
                <a:pPr lvl="1"/>
                <a:endParaRPr lang="en-AU" b="1" dirty="0"/>
              </a:p>
              <a:p>
                <a:pPr lvl="1"/>
                <a:endParaRPr lang="en-AU" b="1" dirty="0"/>
              </a:p>
              <a:p>
                <a:pPr lvl="1"/>
                <a:r>
                  <a:rPr lang="en-AU" b="1" dirty="0"/>
                  <a:t>Standard Deviation </a:t>
                </a:r>
                <a:r>
                  <a:rPr lang="en-AU" dirty="0"/>
                  <a:t> = 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219.6</m:t>
                        </m:r>
                      </m:e>
                    </m:rad>
                    <m:r>
                      <a:rPr lang="en-AU" b="0" i="1" smtClean="0">
                        <a:latin typeface="Cambria Math" panose="02040503050406030204" pitchFamily="18" charset="0"/>
                      </a:rPr>
                      <m:t> =  14.8</m:t>
                    </m:r>
                  </m:oMath>
                </a14:m>
                <a:r>
                  <a:rPr lang="en-AU" b="1" dirty="0"/>
                  <a:t>  </a:t>
                </a:r>
                <a:r>
                  <a:rPr lang="en-AU" sz="1600" dirty="0"/>
                  <a:t>(to 1dp)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789" y="3501008"/>
                <a:ext cx="7200800" cy="2326471"/>
              </a:xfrm>
              <a:prstGeom prst="rect">
                <a:avLst/>
              </a:prstGeom>
              <a:blipFill>
                <a:blip r:embed="rId2"/>
                <a:stretch>
                  <a:fillRect b="-26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16963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48FED7-875C-4D5D-B3EF-108E2ADB1A5C}"/>
              </a:ext>
            </a:extLst>
          </p:cNvPr>
          <p:cNvPicPr/>
          <p:nvPr/>
        </p:nvPicPr>
        <p:blipFill rotWithShape="1">
          <a:blip r:embed="rId2"/>
          <a:srcRect l="28252" t="65025" r="21726" b="13399"/>
          <a:stretch/>
        </p:blipFill>
        <p:spPr bwMode="auto">
          <a:xfrm>
            <a:off x="611560" y="1700808"/>
            <a:ext cx="8075239" cy="280831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E820015-F08C-4AF0-A05A-80030C62FD3B}"/>
              </a:ext>
            </a:extLst>
          </p:cNvPr>
          <p:cNvSpPr txBox="1"/>
          <p:nvPr/>
        </p:nvSpPr>
        <p:spPr>
          <a:xfrm>
            <a:off x="611560" y="1196752"/>
            <a:ext cx="8075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Find the mean and standard deviation for each of the following sets of scores.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827407-0961-443A-B551-89D6AB0F3110}"/>
              </a:ext>
            </a:extLst>
          </p:cNvPr>
          <p:cNvSpPr txBox="1"/>
          <p:nvPr/>
        </p:nvSpPr>
        <p:spPr>
          <a:xfrm>
            <a:off x="611560" y="5157192"/>
            <a:ext cx="47628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5400" dirty="0"/>
              <a:t>and…	SMILE!</a:t>
            </a:r>
          </a:p>
        </p:txBody>
      </p:sp>
      <p:pic>
        <p:nvPicPr>
          <p:cNvPr id="8" name="Picture 7" descr="Smile!">
            <a:extLst>
              <a:ext uri="{FF2B5EF4-FFF2-40B4-BE49-F238E27FC236}">
                <a16:creationId xmlns:a16="http://schemas.microsoft.com/office/drawing/2014/main" id="{0D462056-ED57-4450-8B19-6B8D146CA8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0" y="4718757"/>
            <a:ext cx="1800200" cy="18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3192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page filled 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5929</TotalTime>
  <Words>1449</Words>
  <Application>Microsoft Office PowerPoint</Application>
  <PresentationFormat>On-screen Show (4:3)</PresentationFormat>
  <Paragraphs>517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Cambria Math</vt:lpstr>
      <vt:lpstr>Times New Roman</vt:lpstr>
      <vt:lpstr>Wingdings</vt:lpstr>
      <vt:lpstr>Office Theme</vt:lpstr>
      <vt:lpstr>My Statistics Interactive Notebook</vt:lpstr>
      <vt:lpstr>Create your own front page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Task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KEEN Stephanie [Baldivis Secondary College]</cp:lastModifiedBy>
  <cp:revision>89</cp:revision>
  <dcterms:created xsi:type="dcterms:W3CDTF">2014-05-14T02:58:57Z</dcterms:created>
  <dcterms:modified xsi:type="dcterms:W3CDTF">2017-07-30T23:54:56Z</dcterms:modified>
</cp:coreProperties>
</file>
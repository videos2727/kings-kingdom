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84" r:id="rId1"/>
  </p:sldMasterIdLst>
  <p:notesMasterIdLst>
    <p:notesMasterId r:id="rId10"/>
  </p:notesMasterIdLst>
  <p:sldIdLst>
    <p:sldId id="256" r:id="rId2"/>
    <p:sldId id="262" r:id="rId3"/>
    <p:sldId id="263" r:id="rId4"/>
    <p:sldId id="257" r:id="rId5"/>
    <p:sldId id="264" r:id="rId6"/>
    <p:sldId id="261" r:id="rId7"/>
    <p:sldId id="260" r:id="rId8"/>
    <p:sldId id="258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49" autoAdjust="0"/>
    <p:restoredTop sz="86716" autoAdjust="0"/>
  </p:normalViewPr>
  <p:slideViewPr>
    <p:cSldViewPr snapToGrid="0">
      <p:cViewPr varScale="1">
        <p:scale>
          <a:sx n="59" d="100"/>
          <a:sy n="59" d="100"/>
        </p:scale>
        <p:origin x="111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923A1B-60A7-4C10-81A1-B08F260FFB29}" type="datetimeFigureOut">
              <a:rPr lang="en-US" smtClean="0"/>
              <a:t>5/24/2017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BF9327-ECF8-4851-B374-B57FECA635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2422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/>
              <a:t>Mr Parekh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BF9327-ECF8-4851-B374-B57FECA6357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7897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Set – Leave the questions</a:t>
            </a:r>
            <a:r>
              <a:rPr lang="en-AU" baseline="0" dirty="0"/>
              <a:t> on the board. Ask students to attempt the questions as they enter.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BF9327-ECF8-4851-B374-B57FECA6357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6359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Input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255BE75-6727-4F64-82F8-DA94106C0530}" type="slidenum">
              <a:rPr kumimoji="0" lang="en-AU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AU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0468210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 txBox="1">
            <a:spLocks noGrp="1" noChangeArrowheads="1"/>
          </p:cNvSpPr>
          <p:nvPr/>
        </p:nvSpPr>
        <p:spPr bwMode="auto">
          <a:xfrm>
            <a:off x="3884545" y="8684973"/>
            <a:ext cx="2971853" cy="457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algn="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75F1281-AA51-493F-9688-BBBC865E690C}" type="slidenum"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pPr marL="0" marR="0" lvl="0" indent="0" algn="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sp>
        <p:nvSpPr>
          <p:cNvPr id="80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63734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 txBox="1">
            <a:spLocks noGrp="1" noChangeArrowheads="1"/>
          </p:cNvSpPr>
          <p:nvPr/>
        </p:nvSpPr>
        <p:spPr bwMode="auto">
          <a:xfrm>
            <a:off x="3884545" y="8684973"/>
            <a:ext cx="2971853" cy="457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algn="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75F1281-AA51-493F-9688-BBBC865E690C}" type="slidenum"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pPr marL="0" marR="0" lvl="0" indent="0" algn="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sp>
        <p:nvSpPr>
          <p:cNvPr id="80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GB" dirty="0"/>
              <a:t>Can be used to model response</a:t>
            </a:r>
            <a:r>
              <a:rPr lang="en-GB" baseline="0" dirty="0"/>
              <a:t> before asking students to attempt Question 10-15 of </a:t>
            </a:r>
            <a:r>
              <a:rPr lang="en-GB" baseline="0" dirty="0" err="1"/>
              <a:t>Exerise</a:t>
            </a:r>
            <a:r>
              <a:rPr lang="en-GB" baseline="0" dirty="0"/>
              <a:t> 1.3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542414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Can be a exit pass as well.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BF9327-ECF8-4851-B374-B57FECA6357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9155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5/24/2017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49249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5/24/2017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21465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5/24/2017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59769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5/24/2017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89579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5/24/2017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83164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5/24/2017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10956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5/24/2017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0086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5/24/2017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27071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5/24/2017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77625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5/24/2017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16085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5/24/2017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855016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5/24/2017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02232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5/24/2017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626233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5/24/2017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76662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5/24/2017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33690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5/24/2017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33585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DE6118-2437-4B30-8E3C-4D2BE6020583}" type="datetimeFigureOut">
              <a:rPr lang="en-US" smtClean="0"/>
              <a:pPr/>
              <a:t>5/24/2017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4170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Distributive Law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Single Brackets</a:t>
            </a:r>
          </a:p>
        </p:txBody>
      </p:sp>
    </p:spTree>
    <p:extLst>
      <p:ext uri="{BB962C8B-B14F-4D97-AF65-F5344CB8AC3E}">
        <p14:creationId xmlns:p14="http://schemas.microsoft.com/office/powerpoint/2010/main" val="32652059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Revision – Do Now	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77334" y="1620262"/>
                <a:ext cx="8596668" cy="3880773"/>
              </a:xfrm>
            </p:spPr>
            <p:txBody>
              <a:bodyPr/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en-AU" sz="2800" b="0" i="1" dirty="0">
                    <a:latin typeface="Cambria Math" panose="02040503050406030204" pitchFamily="18" charset="0"/>
                  </a:rPr>
                  <a:t>Multiplying Pronumerals.</a:t>
                </a: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AU" sz="2800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AU" sz="2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2800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AU" sz="28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AU" sz="2800" b="0" dirty="0"/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AU" sz="2800" b="0" i="1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AU" sz="28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AU" sz="2800" b="0" i="1" smtClean="0">
                        <a:latin typeface="Cambria Math" panose="02040503050406030204" pitchFamily="18" charset="0"/>
                      </a:rPr>
                      <m:t>×3</m:t>
                    </m:r>
                    <m:r>
                      <a:rPr lang="en-AU" sz="2800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endParaRPr lang="en-AU" sz="2800" b="0" dirty="0"/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AU" sz="2800" b="0" i="1" smtClean="0">
                        <a:latin typeface="Cambria Math" panose="02040503050406030204" pitchFamily="18" charset="0"/>
                      </a:rPr>
                      <m:t>−4</m:t>
                    </m:r>
                    <m:r>
                      <a:rPr lang="en-AU" sz="28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AU" sz="2800" b="0" i="1" smtClean="0">
                        <a:latin typeface="Cambria Math" panose="02040503050406030204" pitchFamily="18" charset="0"/>
                      </a:rPr>
                      <m:t>×2</m:t>
                    </m:r>
                    <m:r>
                      <a:rPr lang="en-AU" sz="2800" b="0" i="1" smtClean="0">
                        <a:latin typeface="Cambria Math" panose="02040503050406030204" pitchFamily="18" charset="0"/>
                      </a:rPr>
                      <m:t>𝑝</m:t>
                    </m:r>
                    <m:sSup>
                      <m:sSupPr>
                        <m:ctrlPr>
                          <a:rPr lang="en-AU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8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AU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AU" sz="2800" b="0" dirty="0"/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AU" sz="2800" dirty="0"/>
                  <a:t> </a:t>
                </a:r>
                <a14:m>
                  <m:oMath xmlns:m="http://schemas.openxmlformats.org/officeDocument/2006/math">
                    <m:r>
                      <a:rPr lang="en-AU" sz="2800" b="0" i="1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AU" sz="2800" b="0" i="1" smtClean="0">
                        <a:latin typeface="Cambria Math" panose="02040503050406030204" pitchFamily="18" charset="0"/>
                      </a:rPr>
                      <m:t>𝑥𝑦</m:t>
                    </m:r>
                    <m:r>
                      <a:rPr lang="en-AU" sz="2800" b="0" i="1" smtClean="0">
                        <a:latin typeface="Cambria Math" panose="02040503050406030204" pitchFamily="18" charset="0"/>
                      </a:rPr>
                      <m:t>×−3</m:t>
                    </m:r>
                    <m:r>
                      <a:rPr lang="en-AU" sz="2800" b="0" i="1" smtClean="0">
                        <a:latin typeface="Cambria Math" panose="02040503050406030204" pitchFamily="18" charset="0"/>
                      </a:rPr>
                      <m:t>𝑦𝑧</m:t>
                    </m:r>
                  </m:oMath>
                </a14:m>
                <a:endParaRPr lang="en-AU" sz="2800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7334" y="1620262"/>
                <a:ext cx="8596668" cy="3880773"/>
              </a:xfrm>
              <a:blipFill>
                <a:blip r:embed="rId3"/>
                <a:stretch>
                  <a:fillRect l="-14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889539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Learning 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930400"/>
            <a:ext cx="8596668" cy="38807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2400" dirty="0"/>
              <a:t>By the end of the class you will be able to:</a:t>
            </a:r>
          </a:p>
          <a:p>
            <a:r>
              <a:rPr lang="en-AU" sz="2400" dirty="0"/>
              <a:t>Use distributive law to expand a single bracket.</a:t>
            </a:r>
          </a:p>
          <a:p>
            <a:r>
              <a:rPr lang="en-AU" sz="2400" dirty="0"/>
              <a:t>Simplify algebraic equation by collecting like terms. 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2399434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 flipV="1">
            <a:off x="0" y="1019099"/>
            <a:ext cx="12192000" cy="1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722868"/>
            <a:ext cx="12192000" cy="0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3230576" y="1722868"/>
            <a:ext cx="0" cy="5162841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77863" y="304292"/>
            <a:ext cx="74391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Distributive Law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91188" y="333820"/>
            <a:ext cx="32249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Date: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815" y="1118989"/>
            <a:ext cx="120729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EQ : How to do</a:t>
            </a:r>
            <a:r>
              <a:rPr kumimoji="0" lang="en-AU" sz="2400" b="0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I use distributive law to expand the brackets?</a:t>
            </a:r>
            <a:endParaRPr kumimoji="0" lang="en-AU" sz="2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7752184" y="0"/>
            <a:ext cx="0" cy="980728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815" y="1903046"/>
            <a:ext cx="29158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Multiplying numbers with</a:t>
            </a:r>
            <a:r>
              <a:rPr kumimoji="0" lang="en-AU" sz="2000" b="0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different signs</a:t>
            </a:r>
            <a:r>
              <a:rPr lang="en-AU" sz="2000" kern="0" dirty="0">
                <a:solidFill>
                  <a:prstClr val="black"/>
                </a:solidFill>
              </a:rPr>
              <a:t>.</a:t>
            </a:r>
            <a:endParaRPr kumimoji="0" lang="en-AU" sz="2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285943" y="1903046"/>
            <a:ext cx="8715589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en-AU" sz="2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4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5815" y="84983"/>
            <a:ext cx="80000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24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7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30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1565228" y="6400800"/>
            <a:ext cx="520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17</a:t>
            </a:r>
            <a:endParaRPr kumimoji="0" lang="en-AU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pic>
        <p:nvPicPr>
          <p:cNvPr id="16" name="Picture 8" descr="Image result for multiplying different sign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0034" y="1903046"/>
            <a:ext cx="2880144" cy="25231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4" descr="Image result for algebra meme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2743" y="1807708"/>
            <a:ext cx="4136009" cy="2254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/>
          <p:cNvSpPr txBox="1"/>
          <p:nvPr/>
        </p:nvSpPr>
        <p:spPr>
          <a:xfrm>
            <a:off x="45815" y="4703536"/>
            <a:ext cx="29158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sz="2000" kern="0" dirty="0">
                <a:solidFill>
                  <a:prstClr val="black"/>
                </a:solidFill>
              </a:rPr>
              <a:t>Using Distributive Law to expand brackets</a:t>
            </a:r>
            <a:endParaRPr kumimoji="0" lang="en-AU" sz="2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385240" y="4703536"/>
            <a:ext cx="817998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sz="2000" kern="0" dirty="0">
                <a:solidFill>
                  <a:prstClr val="black"/>
                </a:solidFill>
              </a:rPr>
              <a:t>Multiply each term inside the bracket by the term outside the bracket. </a:t>
            </a:r>
            <a:endParaRPr kumimoji="0" lang="en-AU" sz="2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30" name="TextBox 3"/>
          <p:cNvSpPr txBox="1">
            <a:spLocks noChangeArrowheads="1"/>
          </p:cNvSpPr>
          <p:nvPr/>
        </p:nvSpPr>
        <p:spPr bwMode="auto">
          <a:xfrm>
            <a:off x="5331698" y="5822022"/>
            <a:ext cx="176630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 </a:t>
            </a: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cs typeface="Arial" charset="0"/>
              </a:rPr>
              <a:t>a</a:t>
            </a:r>
            <a:r>
              <a:rPr lang="en-US" sz="2800" b="1" kern="0" dirty="0">
                <a:solidFill>
                  <a:srgbClr val="000000"/>
                </a:solidFill>
              </a:rPr>
              <a:t> (</a:t>
            </a: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charset="0"/>
                <a:cs typeface="Arial" charset="0"/>
              </a:rPr>
              <a:t>b</a:t>
            </a: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 </a:t>
            </a: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charset="0"/>
                <a:cs typeface="Arial" charset="0"/>
              </a:rPr>
              <a:t>+</a:t>
            </a:r>
            <a:r>
              <a:rPr kumimoji="0" lang="en-US" sz="2800" b="1" i="0" u="none" strike="noStrike" kern="0" cap="none" spc="0" normalizeH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charset="0"/>
                <a:cs typeface="Arial" charset="0"/>
              </a:rPr>
              <a:t> c</a:t>
            </a: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) </a:t>
            </a:r>
          </a:p>
        </p:txBody>
      </p:sp>
      <p:sp>
        <p:nvSpPr>
          <p:cNvPr id="31" name="TextBox 30"/>
          <p:cNvSpPr txBox="1">
            <a:spLocks noChangeArrowheads="1"/>
          </p:cNvSpPr>
          <p:nvPr/>
        </p:nvSpPr>
        <p:spPr bwMode="auto">
          <a:xfrm>
            <a:off x="6865410" y="5874979"/>
            <a:ext cx="575733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=</a:t>
            </a:r>
          </a:p>
        </p:txBody>
      </p:sp>
      <p:sp>
        <p:nvSpPr>
          <p:cNvPr id="32" name="Curved Down Arrow 111"/>
          <p:cNvSpPr/>
          <p:nvPr/>
        </p:nvSpPr>
        <p:spPr>
          <a:xfrm>
            <a:off x="5659238" y="5597780"/>
            <a:ext cx="479595" cy="244885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33" name="TextBox 32"/>
          <p:cNvSpPr txBox="1">
            <a:spLocks noChangeArrowheads="1"/>
          </p:cNvSpPr>
          <p:nvPr/>
        </p:nvSpPr>
        <p:spPr bwMode="auto">
          <a:xfrm>
            <a:off x="7231164" y="5813066"/>
            <a:ext cx="1187451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sz="2800" b="1" kern="0" dirty="0">
                <a:solidFill>
                  <a:srgbClr val="FF0000"/>
                </a:solidFill>
              </a:rPr>
              <a:t>a</a:t>
            </a:r>
            <a:r>
              <a:rPr lang="en-GB" sz="2800" b="1" kern="0" dirty="0">
                <a:solidFill>
                  <a:schemeClr val="accent2">
                    <a:lumMod val="50000"/>
                  </a:schemeClr>
                </a:solidFill>
              </a:rPr>
              <a:t>b</a:t>
            </a:r>
            <a:endParaRPr kumimoji="0" lang="en-GB" sz="2800" b="1" i="0" u="none" strike="noStrike" kern="0" cap="none" spc="0" normalizeH="0" baseline="0" noProof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34" name="Curved Down Arrow 113"/>
          <p:cNvSpPr/>
          <p:nvPr/>
        </p:nvSpPr>
        <p:spPr>
          <a:xfrm>
            <a:off x="5612181" y="5585729"/>
            <a:ext cx="955489" cy="209059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35" name="TextBox 34"/>
          <p:cNvSpPr txBox="1">
            <a:spLocks noChangeArrowheads="1"/>
          </p:cNvSpPr>
          <p:nvPr/>
        </p:nvSpPr>
        <p:spPr bwMode="auto">
          <a:xfrm>
            <a:off x="7796870" y="5802523"/>
            <a:ext cx="488586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sz="2800" b="1" kern="0" dirty="0">
                <a:solidFill>
                  <a:srgbClr val="FF0000"/>
                </a:solidFill>
              </a:rPr>
              <a:t>+</a:t>
            </a:r>
            <a:endParaRPr kumimoji="0" lang="en-GB" sz="28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sp>
        <p:nvSpPr>
          <p:cNvPr id="36" name="TextBox 35"/>
          <p:cNvSpPr txBox="1">
            <a:spLocks noChangeArrowheads="1"/>
          </p:cNvSpPr>
          <p:nvPr/>
        </p:nvSpPr>
        <p:spPr bwMode="auto">
          <a:xfrm>
            <a:off x="8191188" y="5791980"/>
            <a:ext cx="713509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cs typeface="Arial" charset="0"/>
              </a:rPr>
              <a:t>a</a:t>
            </a: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charset="0"/>
                <a:cs typeface="Arial" charset="0"/>
              </a:rPr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1204420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8" grpId="0"/>
      <p:bldP spid="30" grpId="0"/>
      <p:bldP spid="31" grpId="0"/>
      <p:bldP spid="32" grpId="0" animBg="1"/>
      <p:bldP spid="33" grpId="0"/>
      <p:bldP spid="34" grpId="0" animBg="1"/>
      <p:bldP spid="35" grpId="0"/>
      <p:bldP spid="3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06" name="Text Box 40"/>
          <p:cNvSpPr txBox="1">
            <a:spLocks noChangeArrowheads="1"/>
          </p:cNvSpPr>
          <p:nvPr/>
        </p:nvSpPr>
        <p:spPr bwMode="auto">
          <a:xfrm>
            <a:off x="3805049" y="278867"/>
            <a:ext cx="48133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600" b="1" i="0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cs typeface="Arial" charset="0"/>
              </a:rPr>
              <a:t>Guided Practice</a:t>
            </a:r>
            <a:endParaRPr kumimoji="0" lang="en-US" sz="3600" b="1" i="0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j-lt"/>
              <a:cs typeface="Arial" charset="0"/>
            </a:endParaRPr>
          </a:p>
        </p:txBody>
      </p:sp>
      <p:sp>
        <p:nvSpPr>
          <p:cNvPr id="46108" name="TextBox 2"/>
          <p:cNvSpPr txBox="1">
            <a:spLocks noChangeArrowheads="1"/>
          </p:cNvSpPr>
          <p:nvPr/>
        </p:nvSpPr>
        <p:spPr bwMode="auto">
          <a:xfrm>
            <a:off x="602097" y="903003"/>
            <a:ext cx="7008284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cs typeface="Arial" charset="0"/>
              </a:rPr>
              <a:t>1)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Expand the following brackets:</a:t>
            </a:r>
          </a:p>
        </p:txBody>
      </p:sp>
      <p:grpSp>
        <p:nvGrpSpPr>
          <p:cNvPr id="46111" name="Group 33"/>
          <p:cNvGrpSpPr>
            <a:grpSpLocks/>
          </p:cNvGrpSpPr>
          <p:nvPr/>
        </p:nvGrpSpPr>
        <p:grpSpPr bwMode="auto">
          <a:xfrm>
            <a:off x="911130" y="2965338"/>
            <a:ext cx="3089295" cy="535230"/>
            <a:chOff x="35496" y="2564903"/>
            <a:chExt cx="1655064" cy="552113"/>
          </a:xfrm>
        </p:grpSpPr>
        <p:sp>
          <p:nvSpPr>
            <p:cNvPr id="46191" name="TextBox 41"/>
            <p:cNvSpPr txBox="1">
              <a:spLocks noChangeArrowheads="1"/>
            </p:cNvSpPr>
            <p:nvPr/>
          </p:nvSpPr>
          <p:spPr bwMode="auto">
            <a:xfrm>
              <a:off x="35496" y="2564903"/>
              <a:ext cx="642332" cy="522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charset="0"/>
                  <a:cs typeface="Arial" charset="0"/>
                </a:rPr>
                <a:t>(b) </a:t>
              </a:r>
            </a:p>
          </p:txBody>
        </p:sp>
        <p:sp>
          <p:nvSpPr>
            <p:cNvPr id="46192" name="TextBox 35"/>
            <p:cNvSpPr txBox="1">
              <a:spLocks noChangeArrowheads="1"/>
            </p:cNvSpPr>
            <p:nvPr/>
          </p:nvSpPr>
          <p:spPr bwMode="auto">
            <a:xfrm>
              <a:off x="392865" y="2594604"/>
              <a:ext cx="1297695" cy="5224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cs typeface="Arial" charset="0"/>
                </a:rPr>
                <a:t> x(5y + 2)</a:t>
              </a:r>
            </a:p>
          </p:txBody>
        </p:sp>
      </p:grpSp>
      <p:grpSp>
        <p:nvGrpSpPr>
          <p:cNvPr id="46113" name="Group 5"/>
          <p:cNvGrpSpPr>
            <a:grpSpLocks/>
          </p:cNvGrpSpPr>
          <p:nvPr/>
        </p:nvGrpSpPr>
        <p:grpSpPr bwMode="auto">
          <a:xfrm>
            <a:off x="969337" y="1639041"/>
            <a:ext cx="3839392" cy="523220"/>
            <a:chOff x="35496" y="2564904"/>
            <a:chExt cx="2597770" cy="539131"/>
          </a:xfrm>
        </p:grpSpPr>
        <p:sp>
          <p:nvSpPr>
            <p:cNvPr id="46189" name="TextBox 41"/>
            <p:cNvSpPr txBox="1">
              <a:spLocks noChangeArrowheads="1"/>
            </p:cNvSpPr>
            <p:nvPr/>
          </p:nvSpPr>
          <p:spPr bwMode="auto">
            <a:xfrm>
              <a:off x="35496" y="2564904"/>
              <a:ext cx="642332" cy="5229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charset="0"/>
                  <a:cs typeface="Arial" charset="0"/>
                </a:rPr>
                <a:t>(a) </a:t>
              </a:r>
            </a:p>
          </p:txBody>
        </p:sp>
        <p:sp>
          <p:nvSpPr>
            <p:cNvPr id="46190" name="TextBox 3"/>
            <p:cNvSpPr txBox="1">
              <a:spLocks noChangeArrowheads="1"/>
            </p:cNvSpPr>
            <p:nvPr/>
          </p:nvSpPr>
          <p:spPr bwMode="auto">
            <a:xfrm>
              <a:off x="467544" y="2564904"/>
              <a:ext cx="2165722" cy="5391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cs typeface="Arial" charset="0"/>
                </a:rPr>
                <a:t> 3(2b - 5) </a:t>
              </a:r>
            </a:p>
          </p:txBody>
        </p:sp>
      </p:grpSp>
      <p:grpSp>
        <p:nvGrpSpPr>
          <p:cNvPr id="46114" name="Group 30"/>
          <p:cNvGrpSpPr>
            <a:grpSpLocks/>
          </p:cNvGrpSpPr>
          <p:nvPr/>
        </p:nvGrpSpPr>
        <p:grpSpPr bwMode="auto">
          <a:xfrm>
            <a:off x="911130" y="4322526"/>
            <a:ext cx="3837046" cy="523220"/>
            <a:chOff x="35496" y="2564904"/>
            <a:chExt cx="2597770" cy="539129"/>
          </a:xfrm>
        </p:grpSpPr>
        <p:sp>
          <p:nvSpPr>
            <p:cNvPr id="46187" name="TextBox 41"/>
            <p:cNvSpPr txBox="1">
              <a:spLocks noChangeArrowheads="1"/>
            </p:cNvSpPr>
            <p:nvPr/>
          </p:nvSpPr>
          <p:spPr bwMode="auto">
            <a:xfrm>
              <a:off x="35496" y="2564904"/>
              <a:ext cx="642332" cy="5229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charset="0"/>
                  <a:cs typeface="Arial" charset="0"/>
                </a:rPr>
                <a:t>(c) </a:t>
              </a:r>
            </a:p>
          </p:txBody>
        </p:sp>
        <p:sp>
          <p:nvSpPr>
            <p:cNvPr id="46188" name="TextBox 32"/>
            <p:cNvSpPr txBox="1">
              <a:spLocks noChangeArrowheads="1"/>
            </p:cNvSpPr>
            <p:nvPr/>
          </p:nvSpPr>
          <p:spPr bwMode="auto">
            <a:xfrm>
              <a:off x="467544" y="2564904"/>
              <a:ext cx="2165722" cy="5391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800" kern="0" dirty="0">
                  <a:solidFill>
                    <a:srgbClr val="000000"/>
                  </a:solidFill>
                </a:rPr>
                <a:t>3a</a:t>
              </a:r>
              <a:r>
                <a:rPr kumimoji="0" 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cs typeface="Arial" charset="0"/>
                </a:rPr>
                <a:t>(2b – </a:t>
              </a:r>
              <a:r>
                <a:rPr lang="en-US" sz="2800" kern="0" dirty="0">
                  <a:solidFill>
                    <a:srgbClr val="000000"/>
                  </a:solidFill>
                </a:rPr>
                <a:t>5</a:t>
              </a:r>
              <a:r>
                <a:rPr kumimoji="0" 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cs typeface="Arial" charset="0"/>
                </a:rPr>
                <a:t>)</a:t>
              </a:r>
            </a:p>
          </p:txBody>
        </p:sp>
      </p:grpSp>
      <p:sp>
        <p:nvSpPr>
          <p:cNvPr id="105" name="TextBox 104"/>
          <p:cNvSpPr txBox="1">
            <a:spLocks noChangeArrowheads="1"/>
          </p:cNvSpPr>
          <p:nvPr/>
        </p:nvSpPr>
        <p:spPr bwMode="auto">
          <a:xfrm>
            <a:off x="1114329" y="3492396"/>
            <a:ext cx="63794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=</a:t>
            </a:r>
          </a:p>
        </p:txBody>
      </p:sp>
      <p:sp>
        <p:nvSpPr>
          <p:cNvPr id="106" name="Curved Down Arrow 105"/>
          <p:cNvSpPr/>
          <p:nvPr/>
        </p:nvSpPr>
        <p:spPr>
          <a:xfrm>
            <a:off x="1865746" y="2853494"/>
            <a:ext cx="533578" cy="252104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07" name="TextBox 106"/>
          <p:cNvSpPr txBox="1">
            <a:spLocks noChangeArrowheads="1"/>
          </p:cNvSpPr>
          <p:nvPr/>
        </p:nvSpPr>
        <p:spPr bwMode="auto">
          <a:xfrm>
            <a:off x="1685834" y="3430483"/>
            <a:ext cx="129934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cs typeface="Arial" charset="0"/>
              </a:rPr>
              <a:t>5xy</a:t>
            </a:r>
          </a:p>
        </p:txBody>
      </p:sp>
      <p:sp>
        <p:nvSpPr>
          <p:cNvPr id="108" name="Curved Down Arrow 107"/>
          <p:cNvSpPr/>
          <p:nvPr/>
        </p:nvSpPr>
        <p:spPr>
          <a:xfrm>
            <a:off x="1876331" y="2771164"/>
            <a:ext cx="1108846" cy="281804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09" name="TextBox 108"/>
          <p:cNvSpPr txBox="1">
            <a:spLocks noChangeArrowheads="1"/>
          </p:cNvSpPr>
          <p:nvPr/>
        </p:nvSpPr>
        <p:spPr bwMode="auto">
          <a:xfrm>
            <a:off x="2615050" y="3471750"/>
            <a:ext cx="75521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cs typeface="Arial" charset="0"/>
              </a:rPr>
              <a:t>+</a:t>
            </a:r>
          </a:p>
        </p:txBody>
      </p:sp>
      <p:sp>
        <p:nvSpPr>
          <p:cNvPr id="110" name="TextBox 109"/>
          <p:cNvSpPr txBox="1">
            <a:spLocks noChangeArrowheads="1"/>
          </p:cNvSpPr>
          <p:nvPr/>
        </p:nvSpPr>
        <p:spPr bwMode="auto">
          <a:xfrm>
            <a:off x="3134647" y="3470250"/>
            <a:ext cx="96629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cs typeface="Arial" charset="0"/>
              </a:rPr>
              <a:t>2x</a:t>
            </a:r>
          </a:p>
        </p:txBody>
      </p:sp>
      <p:sp>
        <p:nvSpPr>
          <p:cNvPr id="111" name="TextBox 110"/>
          <p:cNvSpPr txBox="1">
            <a:spLocks noChangeArrowheads="1"/>
          </p:cNvSpPr>
          <p:nvPr/>
        </p:nvSpPr>
        <p:spPr bwMode="auto">
          <a:xfrm>
            <a:off x="1022636" y="2246486"/>
            <a:ext cx="63794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=</a:t>
            </a:r>
          </a:p>
        </p:txBody>
      </p:sp>
      <p:sp>
        <p:nvSpPr>
          <p:cNvPr id="112" name="Curved Down Arrow 111"/>
          <p:cNvSpPr/>
          <p:nvPr/>
        </p:nvSpPr>
        <p:spPr>
          <a:xfrm>
            <a:off x="1873156" y="1414799"/>
            <a:ext cx="531418" cy="237251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13" name="TextBox 112"/>
          <p:cNvSpPr txBox="1">
            <a:spLocks noChangeArrowheads="1"/>
          </p:cNvSpPr>
          <p:nvPr/>
        </p:nvSpPr>
        <p:spPr bwMode="auto">
          <a:xfrm>
            <a:off x="1710117" y="2184565"/>
            <a:ext cx="131576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sz="2800" b="1" kern="0" dirty="0">
                <a:solidFill>
                  <a:srgbClr val="FF0000"/>
                </a:solidFill>
              </a:rPr>
              <a:t>6b</a:t>
            </a:r>
            <a:endParaRPr kumimoji="0" lang="en-GB" sz="28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sp>
        <p:nvSpPr>
          <p:cNvPr id="114" name="Curved Down Arrow 113"/>
          <p:cNvSpPr/>
          <p:nvPr/>
        </p:nvSpPr>
        <p:spPr>
          <a:xfrm>
            <a:off x="1859889" y="1365274"/>
            <a:ext cx="1125287" cy="328007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15" name="TextBox 114"/>
          <p:cNvSpPr txBox="1">
            <a:spLocks noChangeArrowheads="1"/>
          </p:cNvSpPr>
          <p:nvPr/>
        </p:nvSpPr>
        <p:spPr bwMode="auto">
          <a:xfrm>
            <a:off x="2406941" y="2171865"/>
            <a:ext cx="75521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cs typeface="Arial" charset="0"/>
              </a:rPr>
              <a:t>-</a:t>
            </a:r>
          </a:p>
        </p:txBody>
      </p:sp>
      <p:sp>
        <p:nvSpPr>
          <p:cNvPr id="116" name="TextBox 115"/>
          <p:cNvSpPr txBox="1">
            <a:spLocks noChangeArrowheads="1"/>
          </p:cNvSpPr>
          <p:nvPr/>
        </p:nvSpPr>
        <p:spPr bwMode="auto">
          <a:xfrm>
            <a:off x="2711737" y="2197265"/>
            <a:ext cx="96629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cs typeface="Arial" charset="0"/>
              </a:rPr>
              <a:t>15</a:t>
            </a:r>
          </a:p>
        </p:txBody>
      </p:sp>
      <p:sp>
        <p:nvSpPr>
          <p:cNvPr id="117" name="TextBox 116"/>
          <p:cNvSpPr txBox="1">
            <a:spLocks noChangeArrowheads="1"/>
          </p:cNvSpPr>
          <p:nvPr/>
        </p:nvSpPr>
        <p:spPr bwMode="auto">
          <a:xfrm>
            <a:off x="1091049" y="4835296"/>
            <a:ext cx="63794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=</a:t>
            </a:r>
          </a:p>
        </p:txBody>
      </p:sp>
      <p:sp>
        <p:nvSpPr>
          <p:cNvPr id="118" name="Curved Down Arrow 117"/>
          <p:cNvSpPr/>
          <p:nvPr/>
        </p:nvSpPr>
        <p:spPr>
          <a:xfrm>
            <a:off x="1767368" y="4017437"/>
            <a:ext cx="708682" cy="337462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19" name="TextBox 118"/>
          <p:cNvSpPr txBox="1">
            <a:spLocks noChangeArrowheads="1"/>
          </p:cNvSpPr>
          <p:nvPr/>
        </p:nvSpPr>
        <p:spPr bwMode="auto">
          <a:xfrm>
            <a:off x="1662546" y="4773375"/>
            <a:ext cx="163116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cs typeface="Arial" charset="0"/>
              </a:rPr>
              <a:t>6ab</a:t>
            </a:r>
          </a:p>
        </p:txBody>
      </p:sp>
      <p:sp>
        <p:nvSpPr>
          <p:cNvPr id="120" name="Curved Down Arrow 119"/>
          <p:cNvSpPr/>
          <p:nvPr/>
        </p:nvSpPr>
        <p:spPr>
          <a:xfrm>
            <a:off x="1873155" y="4030137"/>
            <a:ext cx="1241053" cy="364601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21" name="TextBox 120"/>
          <p:cNvSpPr txBox="1">
            <a:spLocks noChangeArrowheads="1"/>
          </p:cNvSpPr>
          <p:nvPr/>
        </p:nvSpPr>
        <p:spPr bwMode="auto">
          <a:xfrm>
            <a:off x="2729647" y="4802698"/>
            <a:ext cx="75755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cs typeface="Arial" charset="0"/>
              </a:rPr>
              <a:t>-</a:t>
            </a:r>
          </a:p>
        </p:txBody>
      </p:sp>
      <p:sp>
        <p:nvSpPr>
          <p:cNvPr id="122" name="TextBox 121"/>
          <p:cNvSpPr txBox="1">
            <a:spLocks noChangeArrowheads="1"/>
          </p:cNvSpPr>
          <p:nvPr/>
        </p:nvSpPr>
        <p:spPr bwMode="auto">
          <a:xfrm>
            <a:off x="3175777" y="4821688"/>
            <a:ext cx="139453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cs typeface="Arial" charset="0"/>
              </a:rPr>
              <a:t>15a</a:t>
            </a:r>
          </a:p>
        </p:txBody>
      </p:sp>
      <p:pic>
        <p:nvPicPr>
          <p:cNvPr id="2056" name="Picture 8" descr="Image result for multiplying different sign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4454" y="2102396"/>
            <a:ext cx="3719996" cy="3258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2" name="Group 30"/>
          <p:cNvGrpSpPr>
            <a:grpSpLocks/>
          </p:cNvGrpSpPr>
          <p:nvPr/>
        </p:nvGrpSpPr>
        <p:grpSpPr bwMode="auto">
          <a:xfrm>
            <a:off x="911130" y="5645537"/>
            <a:ext cx="3462867" cy="523875"/>
            <a:chOff x="35496" y="2564904"/>
            <a:chExt cx="2597770" cy="522976"/>
          </a:xfrm>
        </p:grpSpPr>
        <p:sp>
          <p:nvSpPr>
            <p:cNvPr id="33" name="TextBox 41"/>
            <p:cNvSpPr txBox="1">
              <a:spLocks noChangeArrowheads="1"/>
            </p:cNvSpPr>
            <p:nvPr/>
          </p:nvSpPr>
          <p:spPr bwMode="auto">
            <a:xfrm>
              <a:off x="35496" y="2564904"/>
              <a:ext cx="642332" cy="5229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charset="0"/>
                  <a:cs typeface="Arial" charset="0"/>
                </a:rPr>
                <a:t>(d) </a:t>
              </a:r>
            </a:p>
          </p:txBody>
        </p:sp>
        <p:sp>
          <p:nvSpPr>
            <p:cNvPr id="34" name="TextBox 32"/>
            <p:cNvSpPr txBox="1">
              <a:spLocks noChangeArrowheads="1"/>
            </p:cNvSpPr>
            <p:nvPr/>
          </p:nvSpPr>
          <p:spPr bwMode="auto">
            <a:xfrm>
              <a:off x="467544" y="2564904"/>
              <a:ext cx="2165722" cy="5229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cs typeface="Arial" charset="0"/>
                </a:rPr>
                <a:t>-5w(3w – 2m)</a:t>
              </a:r>
            </a:p>
          </p:txBody>
        </p:sp>
      </p:grpSp>
      <p:sp>
        <p:nvSpPr>
          <p:cNvPr id="35" name="TextBox 34"/>
          <p:cNvSpPr txBox="1">
            <a:spLocks noChangeArrowheads="1"/>
          </p:cNvSpPr>
          <p:nvPr/>
        </p:nvSpPr>
        <p:spPr bwMode="auto">
          <a:xfrm>
            <a:off x="1091049" y="6158305"/>
            <a:ext cx="575733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=</a:t>
            </a:r>
          </a:p>
        </p:txBody>
      </p:sp>
      <p:sp>
        <p:nvSpPr>
          <p:cNvPr id="36" name="Curved Down Arrow 117"/>
          <p:cNvSpPr/>
          <p:nvPr/>
        </p:nvSpPr>
        <p:spPr>
          <a:xfrm>
            <a:off x="1767368" y="5340447"/>
            <a:ext cx="639573" cy="348320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37" name="TextBox 36"/>
          <p:cNvSpPr txBox="1">
            <a:spLocks noChangeArrowheads="1"/>
          </p:cNvSpPr>
          <p:nvPr/>
        </p:nvSpPr>
        <p:spPr bwMode="auto">
          <a:xfrm>
            <a:off x="1662546" y="6096385"/>
            <a:ext cx="147210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cs typeface="Arial" charset="0"/>
              </a:rPr>
              <a:t>-</a:t>
            </a:r>
            <a:r>
              <a:rPr lang="en-GB" sz="2800" b="1" kern="0" dirty="0">
                <a:solidFill>
                  <a:srgbClr val="FF0000"/>
                </a:solidFill>
              </a:rPr>
              <a:t>15w</a:t>
            </a:r>
            <a:r>
              <a:rPr lang="en-GB" sz="2800" b="1" kern="0" baseline="30000" dirty="0">
                <a:solidFill>
                  <a:srgbClr val="FF0000"/>
                </a:solidFill>
              </a:rPr>
              <a:t>2</a:t>
            </a:r>
            <a:endParaRPr kumimoji="0" lang="en-GB" sz="28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sp>
        <p:nvSpPr>
          <p:cNvPr id="38" name="Curved Down Arrow 119"/>
          <p:cNvSpPr/>
          <p:nvPr/>
        </p:nvSpPr>
        <p:spPr>
          <a:xfrm>
            <a:off x="1873155" y="5353147"/>
            <a:ext cx="1641475" cy="376332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39" name="TextBox 38"/>
          <p:cNvSpPr txBox="1">
            <a:spLocks noChangeArrowheads="1"/>
          </p:cNvSpPr>
          <p:nvPr/>
        </p:nvSpPr>
        <p:spPr bwMode="auto">
          <a:xfrm>
            <a:off x="2729648" y="6125708"/>
            <a:ext cx="683684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cs typeface="Arial" charset="0"/>
              </a:rPr>
              <a:t>+</a:t>
            </a:r>
          </a:p>
        </p:txBody>
      </p:sp>
      <p:sp>
        <p:nvSpPr>
          <p:cNvPr id="40" name="TextBox 39"/>
          <p:cNvSpPr txBox="1">
            <a:spLocks noChangeArrowheads="1"/>
          </p:cNvSpPr>
          <p:nvPr/>
        </p:nvSpPr>
        <p:spPr bwMode="auto">
          <a:xfrm>
            <a:off x="3175777" y="6144698"/>
            <a:ext cx="125854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cs typeface="Arial" charset="0"/>
              </a:rPr>
              <a:t>10mw</a:t>
            </a:r>
          </a:p>
        </p:txBody>
      </p:sp>
    </p:spTree>
    <p:extLst>
      <p:ext uri="{BB962C8B-B14F-4D97-AF65-F5344CB8AC3E}">
        <p14:creationId xmlns:p14="http://schemas.microsoft.com/office/powerpoint/2010/main" val="3793672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3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1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" grpId="0"/>
      <p:bldP spid="106" grpId="0" animBg="1"/>
      <p:bldP spid="107" grpId="0"/>
      <p:bldP spid="108" grpId="0" animBg="1"/>
      <p:bldP spid="109" grpId="0"/>
      <p:bldP spid="110" grpId="0"/>
      <p:bldP spid="111" grpId="0"/>
      <p:bldP spid="112" grpId="0" animBg="1"/>
      <p:bldP spid="113" grpId="0"/>
      <p:bldP spid="114" grpId="0" animBg="1"/>
      <p:bldP spid="115" grpId="0"/>
      <p:bldP spid="116" grpId="0"/>
      <p:bldP spid="117" grpId="0"/>
      <p:bldP spid="118" grpId="0" animBg="1"/>
      <p:bldP spid="119" grpId="0"/>
      <p:bldP spid="120" grpId="0" animBg="1"/>
      <p:bldP spid="121" grpId="0"/>
      <p:bldP spid="122" grpId="0"/>
      <p:bldP spid="35" grpId="0"/>
      <p:bldP spid="36" grpId="0" animBg="1"/>
      <p:bldP spid="37" grpId="0"/>
      <p:bldP spid="38" grpId="0" animBg="1"/>
      <p:bldP spid="39" grpId="0"/>
      <p:bldP spid="4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71196"/>
          </a:xfrm>
        </p:spPr>
        <p:txBody>
          <a:bodyPr/>
          <a:lstStyle/>
          <a:p>
            <a:r>
              <a:rPr lang="en-US" dirty="0"/>
              <a:t>Independent Practice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2181342"/>
            <a:ext cx="10972800" cy="2543059"/>
          </a:xfrm>
        </p:spPr>
        <p:txBody>
          <a:bodyPr>
            <a:normAutofit/>
          </a:bodyPr>
          <a:lstStyle/>
          <a:p>
            <a:r>
              <a:rPr lang="en-AU" sz="2400" dirty="0"/>
              <a:t>Minimum</a:t>
            </a:r>
            <a:endParaRPr lang="en-US" sz="2400" dirty="0"/>
          </a:p>
          <a:p>
            <a:pPr lvl="1"/>
            <a:r>
              <a:rPr lang="en-US" sz="2200" dirty="0" err="1"/>
              <a:t>Dr</a:t>
            </a:r>
            <a:r>
              <a:rPr lang="en-US" sz="2200" dirty="0"/>
              <a:t> Dwyer Textbook, </a:t>
            </a:r>
            <a:r>
              <a:rPr lang="en-US" sz="2200" dirty="0" err="1"/>
              <a:t>pg</a:t>
            </a:r>
            <a:r>
              <a:rPr lang="en-US" sz="2200" dirty="0"/>
              <a:t> 4, Exercise 1.3, Q 1- 9</a:t>
            </a:r>
            <a:endParaRPr lang="en-US" sz="2000" dirty="0"/>
          </a:p>
          <a:p>
            <a:r>
              <a:rPr lang="en-AU" sz="2400" dirty="0"/>
              <a:t>Recommended</a:t>
            </a:r>
          </a:p>
          <a:p>
            <a:pPr lvl="1"/>
            <a:r>
              <a:rPr lang="en-US" sz="2200" dirty="0" err="1"/>
              <a:t>Dr</a:t>
            </a:r>
            <a:r>
              <a:rPr lang="en-US" sz="2200" dirty="0"/>
              <a:t> Dwyer Textbook, </a:t>
            </a:r>
            <a:r>
              <a:rPr lang="en-US" sz="2200" dirty="0" err="1"/>
              <a:t>pg</a:t>
            </a:r>
            <a:r>
              <a:rPr lang="en-US" sz="2200" dirty="0"/>
              <a:t> 4, Exercise 1.3, Q 1- 15</a:t>
            </a:r>
            <a:endParaRPr lang="en-AU" sz="2200" dirty="0"/>
          </a:p>
          <a:p>
            <a:pPr lvl="1"/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024614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300232" y="2691593"/>
            <a:ext cx="804066" cy="47490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106" name="Text Box 40"/>
          <p:cNvSpPr txBox="1">
            <a:spLocks noChangeArrowheads="1"/>
          </p:cNvSpPr>
          <p:nvPr/>
        </p:nvSpPr>
        <p:spPr bwMode="auto">
          <a:xfrm>
            <a:off x="0" y="46190"/>
            <a:ext cx="48133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sng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cs typeface="Arial" charset="0"/>
              </a:rPr>
              <a:t>EXAMPLES – Notes Page</a:t>
            </a:r>
            <a:endParaRPr kumimoji="0" lang="en-US" sz="2800" b="1" i="0" u="sng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sp>
        <p:nvSpPr>
          <p:cNvPr id="46108" name="TextBox 2"/>
          <p:cNvSpPr txBox="1">
            <a:spLocks noChangeArrowheads="1"/>
          </p:cNvSpPr>
          <p:nvPr/>
        </p:nvSpPr>
        <p:spPr bwMode="auto">
          <a:xfrm>
            <a:off x="0" y="711490"/>
            <a:ext cx="7008284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cs typeface="Arial" charset="0"/>
              </a:rPr>
              <a:t>1)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Expand the following brackets:</a:t>
            </a:r>
          </a:p>
        </p:txBody>
      </p:sp>
      <p:grpSp>
        <p:nvGrpSpPr>
          <p:cNvPr id="46117" name="Group 5"/>
          <p:cNvGrpSpPr>
            <a:grpSpLocks/>
          </p:cNvGrpSpPr>
          <p:nvPr/>
        </p:nvGrpSpPr>
        <p:grpSpPr bwMode="auto">
          <a:xfrm>
            <a:off x="446601" y="2127371"/>
            <a:ext cx="4806949" cy="549275"/>
            <a:chOff x="35496" y="2564904"/>
            <a:chExt cx="2549526" cy="550261"/>
          </a:xfrm>
        </p:grpSpPr>
        <p:sp>
          <p:nvSpPr>
            <p:cNvPr id="46181" name="TextBox 41"/>
            <p:cNvSpPr txBox="1">
              <a:spLocks noChangeArrowheads="1"/>
            </p:cNvSpPr>
            <p:nvPr/>
          </p:nvSpPr>
          <p:spPr bwMode="auto">
            <a:xfrm>
              <a:off x="35496" y="2564904"/>
              <a:ext cx="642332" cy="5229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charset="0"/>
                  <a:cs typeface="Arial" charset="0"/>
                </a:rPr>
                <a:t>(e) </a:t>
              </a:r>
            </a:p>
          </p:txBody>
        </p:sp>
        <p:sp>
          <p:nvSpPr>
            <p:cNvPr id="46182" name="TextBox 3"/>
            <p:cNvSpPr txBox="1">
              <a:spLocks noChangeArrowheads="1"/>
            </p:cNvSpPr>
            <p:nvPr/>
          </p:nvSpPr>
          <p:spPr bwMode="auto">
            <a:xfrm>
              <a:off x="419300" y="2592187"/>
              <a:ext cx="2165722" cy="5229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cs typeface="Arial" charset="0"/>
                </a:rPr>
                <a:t>3(5a – 2) + </a:t>
              </a:r>
              <a:r>
                <a:rPr lang="en-US" sz="2800" kern="0" noProof="0" dirty="0">
                  <a:solidFill>
                    <a:srgbClr val="000000"/>
                  </a:solidFill>
                </a:rPr>
                <a:t>2</a:t>
              </a:r>
              <a:r>
                <a:rPr kumimoji="0" 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cs typeface="Arial" charset="0"/>
                </a:rPr>
                <a:t>(3a – 9)</a:t>
              </a:r>
            </a:p>
          </p:txBody>
        </p:sp>
      </p:grpSp>
      <p:sp>
        <p:nvSpPr>
          <p:cNvPr id="144" name="TextBox 143"/>
          <p:cNvSpPr txBox="1">
            <a:spLocks noChangeArrowheads="1"/>
          </p:cNvSpPr>
          <p:nvPr/>
        </p:nvSpPr>
        <p:spPr bwMode="auto">
          <a:xfrm>
            <a:off x="661688" y="2681344"/>
            <a:ext cx="575733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=</a:t>
            </a:r>
          </a:p>
        </p:txBody>
      </p:sp>
      <p:sp>
        <p:nvSpPr>
          <p:cNvPr id="145" name="Curved Down Arrow 144"/>
          <p:cNvSpPr/>
          <p:nvPr/>
        </p:nvSpPr>
        <p:spPr>
          <a:xfrm>
            <a:off x="1415108" y="1904671"/>
            <a:ext cx="485319" cy="273057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46" name="TextBox 145"/>
          <p:cNvSpPr txBox="1">
            <a:spLocks noChangeArrowheads="1"/>
          </p:cNvSpPr>
          <p:nvPr/>
        </p:nvSpPr>
        <p:spPr bwMode="auto">
          <a:xfrm>
            <a:off x="1326732" y="2660023"/>
            <a:ext cx="1045633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cs typeface="Arial" charset="0"/>
              </a:rPr>
              <a:t>15a</a:t>
            </a:r>
          </a:p>
        </p:txBody>
      </p:sp>
      <p:sp>
        <p:nvSpPr>
          <p:cNvPr id="147" name="Curved Down Arrow 146"/>
          <p:cNvSpPr/>
          <p:nvPr/>
        </p:nvSpPr>
        <p:spPr>
          <a:xfrm>
            <a:off x="1412992" y="1730307"/>
            <a:ext cx="1159920" cy="500304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50" name="TextBox 149"/>
          <p:cNvSpPr txBox="1">
            <a:spLocks noChangeArrowheads="1"/>
          </p:cNvSpPr>
          <p:nvPr/>
        </p:nvSpPr>
        <p:spPr bwMode="auto">
          <a:xfrm>
            <a:off x="2103142" y="2633719"/>
            <a:ext cx="681567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cs typeface="Arial" charset="0"/>
              </a:rPr>
              <a:t>-</a:t>
            </a:r>
          </a:p>
        </p:txBody>
      </p:sp>
      <p:sp>
        <p:nvSpPr>
          <p:cNvPr id="151" name="TextBox 150"/>
          <p:cNvSpPr txBox="1">
            <a:spLocks noChangeArrowheads="1"/>
          </p:cNvSpPr>
          <p:nvPr/>
        </p:nvSpPr>
        <p:spPr bwMode="auto">
          <a:xfrm>
            <a:off x="2441804" y="2633719"/>
            <a:ext cx="1159933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cs typeface="Arial" charset="0"/>
              </a:rPr>
              <a:t>6</a:t>
            </a:r>
          </a:p>
        </p:txBody>
      </p:sp>
      <p:sp>
        <p:nvSpPr>
          <p:cNvPr id="158" name="TextBox 157"/>
          <p:cNvSpPr txBox="1">
            <a:spLocks noChangeArrowheads="1"/>
          </p:cNvSpPr>
          <p:nvPr/>
        </p:nvSpPr>
        <p:spPr bwMode="auto">
          <a:xfrm>
            <a:off x="2914093" y="2643698"/>
            <a:ext cx="681567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cs typeface="Arial" charset="0"/>
              </a:rPr>
              <a:t>+</a:t>
            </a:r>
          </a:p>
        </p:txBody>
      </p:sp>
      <p:sp>
        <p:nvSpPr>
          <p:cNvPr id="159" name="TextBox 158"/>
          <p:cNvSpPr txBox="1">
            <a:spLocks noChangeArrowheads="1"/>
          </p:cNvSpPr>
          <p:nvPr/>
        </p:nvSpPr>
        <p:spPr bwMode="auto">
          <a:xfrm>
            <a:off x="3219526" y="2626568"/>
            <a:ext cx="134793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cs typeface="Arial" charset="0"/>
              </a:rPr>
              <a:t>6a </a:t>
            </a:r>
          </a:p>
        </p:txBody>
      </p:sp>
      <p:sp>
        <p:nvSpPr>
          <p:cNvPr id="180" name="TextBox 179"/>
          <p:cNvSpPr txBox="1">
            <a:spLocks noChangeArrowheads="1"/>
          </p:cNvSpPr>
          <p:nvPr/>
        </p:nvSpPr>
        <p:spPr bwMode="auto">
          <a:xfrm>
            <a:off x="678620" y="3125844"/>
            <a:ext cx="575733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=</a:t>
            </a:r>
          </a:p>
        </p:txBody>
      </p:sp>
      <p:sp>
        <p:nvSpPr>
          <p:cNvPr id="181" name="TextBox 180"/>
          <p:cNvSpPr txBox="1">
            <a:spLocks noChangeArrowheads="1"/>
          </p:cNvSpPr>
          <p:nvPr/>
        </p:nvSpPr>
        <p:spPr bwMode="auto">
          <a:xfrm>
            <a:off x="1305153" y="3078219"/>
            <a:ext cx="1043517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sz="2800" b="1" kern="0" dirty="0">
                <a:solidFill>
                  <a:srgbClr val="FF0000"/>
                </a:solidFill>
              </a:rPr>
              <a:t>21</a:t>
            </a: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cs typeface="Arial" charset="0"/>
              </a:rPr>
              <a:t>a</a:t>
            </a:r>
          </a:p>
        </p:txBody>
      </p:sp>
      <p:grpSp>
        <p:nvGrpSpPr>
          <p:cNvPr id="183" name="Group 182"/>
          <p:cNvGrpSpPr>
            <a:grpSpLocks/>
          </p:cNvGrpSpPr>
          <p:nvPr/>
        </p:nvGrpSpPr>
        <p:grpSpPr bwMode="auto">
          <a:xfrm>
            <a:off x="2111604" y="3051231"/>
            <a:ext cx="1490133" cy="563563"/>
            <a:chOff x="2138929" y="5745904"/>
            <a:chExt cx="1118015" cy="563416"/>
          </a:xfrm>
        </p:grpSpPr>
        <p:sp>
          <p:nvSpPr>
            <p:cNvPr id="46177" name="TextBox 183"/>
            <p:cNvSpPr txBox="1">
              <a:spLocks noChangeArrowheads="1"/>
            </p:cNvSpPr>
            <p:nvPr/>
          </p:nvSpPr>
          <p:spPr bwMode="auto">
            <a:xfrm>
              <a:off x="2138929" y="5745904"/>
              <a:ext cx="511437" cy="522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2800" b="1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charset="0"/>
                  <a:cs typeface="Arial" charset="0"/>
                </a:rPr>
                <a:t>-</a:t>
              </a:r>
            </a:p>
          </p:txBody>
        </p:sp>
        <p:sp>
          <p:nvSpPr>
            <p:cNvPr id="46178" name="TextBox 184"/>
            <p:cNvSpPr txBox="1">
              <a:spLocks noChangeArrowheads="1"/>
            </p:cNvSpPr>
            <p:nvPr/>
          </p:nvSpPr>
          <p:spPr bwMode="auto">
            <a:xfrm>
              <a:off x="2327038" y="5786100"/>
              <a:ext cx="929906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2800" b="1" kern="0" noProof="0" dirty="0">
                  <a:solidFill>
                    <a:srgbClr val="FF0000"/>
                  </a:solidFill>
                </a:rPr>
                <a:t>24</a:t>
              </a:r>
              <a:endPara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cs typeface="Arial" charset="0"/>
              </a:endParaRPr>
            </a:p>
          </p:txBody>
        </p:sp>
      </p:grpSp>
      <p:sp>
        <p:nvSpPr>
          <p:cNvPr id="69" name="Oval 68"/>
          <p:cNvSpPr/>
          <p:nvPr/>
        </p:nvSpPr>
        <p:spPr>
          <a:xfrm>
            <a:off x="2947143" y="2691594"/>
            <a:ext cx="804066" cy="47490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6" name="Picture 8" descr="Image result for multiplying different sign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5404" y="732677"/>
            <a:ext cx="2880144" cy="25231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0" name="Oval 69"/>
          <p:cNvSpPr/>
          <p:nvPr/>
        </p:nvSpPr>
        <p:spPr>
          <a:xfrm>
            <a:off x="2124208" y="2674076"/>
            <a:ext cx="804066" cy="474909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Oval 70"/>
          <p:cNvSpPr/>
          <p:nvPr/>
        </p:nvSpPr>
        <p:spPr>
          <a:xfrm>
            <a:off x="3763396" y="2661137"/>
            <a:ext cx="804066" cy="474909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7883" y="3397993"/>
            <a:ext cx="4228900" cy="3180529"/>
          </a:xfrm>
          <a:prstGeom prst="rect">
            <a:avLst/>
          </a:prstGeom>
        </p:spPr>
      </p:pic>
      <p:sp>
        <p:nvSpPr>
          <p:cNvPr id="26" name="Curved Down Arrow 144"/>
          <p:cNvSpPr/>
          <p:nvPr/>
        </p:nvSpPr>
        <p:spPr>
          <a:xfrm>
            <a:off x="3173365" y="1849023"/>
            <a:ext cx="485319" cy="273057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27" name="Curved Down Arrow 146"/>
          <p:cNvSpPr/>
          <p:nvPr/>
        </p:nvSpPr>
        <p:spPr>
          <a:xfrm>
            <a:off x="3171249" y="1674659"/>
            <a:ext cx="1159920" cy="500304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28" name="TextBox 27"/>
          <p:cNvSpPr txBox="1">
            <a:spLocks noChangeArrowheads="1"/>
          </p:cNvSpPr>
          <p:nvPr/>
        </p:nvSpPr>
        <p:spPr bwMode="auto">
          <a:xfrm>
            <a:off x="3728001" y="2634756"/>
            <a:ext cx="81565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cs typeface="Arial" charset="0"/>
              </a:rPr>
              <a:t>- 18 </a:t>
            </a:r>
          </a:p>
        </p:txBody>
      </p:sp>
      <p:sp>
        <p:nvSpPr>
          <p:cNvPr id="29" name="Oval 28"/>
          <p:cNvSpPr/>
          <p:nvPr/>
        </p:nvSpPr>
        <p:spPr>
          <a:xfrm>
            <a:off x="1300232" y="4670286"/>
            <a:ext cx="804066" cy="47490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0" name="Group 5"/>
          <p:cNvGrpSpPr>
            <a:grpSpLocks/>
          </p:cNvGrpSpPr>
          <p:nvPr/>
        </p:nvGrpSpPr>
        <p:grpSpPr bwMode="auto">
          <a:xfrm>
            <a:off x="446601" y="4106064"/>
            <a:ext cx="4806949" cy="549275"/>
            <a:chOff x="35496" y="2564904"/>
            <a:chExt cx="2549526" cy="550261"/>
          </a:xfrm>
        </p:grpSpPr>
        <p:sp>
          <p:nvSpPr>
            <p:cNvPr id="31" name="TextBox 41"/>
            <p:cNvSpPr txBox="1">
              <a:spLocks noChangeArrowheads="1"/>
            </p:cNvSpPr>
            <p:nvPr/>
          </p:nvSpPr>
          <p:spPr bwMode="auto">
            <a:xfrm>
              <a:off x="35496" y="2564904"/>
              <a:ext cx="642332" cy="5229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charset="0"/>
                  <a:cs typeface="Arial" charset="0"/>
                </a:rPr>
                <a:t>(f) </a:t>
              </a:r>
            </a:p>
          </p:txBody>
        </p:sp>
        <p:sp>
          <p:nvSpPr>
            <p:cNvPr id="32" name="TextBox 3"/>
            <p:cNvSpPr txBox="1">
              <a:spLocks noChangeArrowheads="1"/>
            </p:cNvSpPr>
            <p:nvPr/>
          </p:nvSpPr>
          <p:spPr bwMode="auto">
            <a:xfrm>
              <a:off x="419300" y="2592187"/>
              <a:ext cx="2165722" cy="5229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800" kern="0" dirty="0">
                  <a:solidFill>
                    <a:srgbClr val="000000"/>
                  </a:solidFill>
                </a:rPr>
                <a:t>2</a:t>
              </a:r>
              <a:r>
                <a:rPr kumimoji="0" 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cs typeface="Arial" charset="0"/>
                </a:rPr>
                <a:t>(5x + 6) </a:t>
              </a:r>
              <a:r>
                <a:rPr lang="en-US" sz="2800" kern="0" dirty="0">
                  <a:solidFill>
                    <a:srgbClr val="000000"/>
                  </a:solidFill>
                </a:rPr>
                <a:t>-</a:t>
              </a:r>
              <a:r>
                <a:rPr kumimoji="0" 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cs typeface="Arial" charset="0"/>
                </a:rPr>
                <a:t> </a:t>
              </a:r>
              <a:r>
                <a:rPr lang="en-US" sz="2800" kern="0" noProof="0" dirty="0">
                  <a:solidFill>
                    <a:srgbClr val="000000"/>
                  </a:solidFill>
                </a:rPr>
                <a:t>2</a:t>
              </a:r>
              <a:r>
                <a:rPr kumimoji="0" 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cs typeface="Arial" charset="0"/>
                </a:rPr>
                <a:t>(3x – 7)</a:t>
              </a:r>
            </a:p>
          </p:txBody>
        </p:sp>
      </p:grpSp>
      <p:sp>
        <p:nvSpPr>
          <p:cNvPr id="33" name="TextBox 32"/>
          <p:cNvSpPr txBox="1">
            <a:spLocks noChangeArrowheads="1"/>
          </p:cNvSpPr>
          <p:nvPr/>
        </p:nvSpPr>
        <p:spPr bwMode="auto">
          <a:xfrm>
            <a:off x="661688" y="4660037"/>
            <a:ext cx="575733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=</a:t>
            </a:r>
          </a:p>
        </p:txBody>
      </p:sp>
      <p:sp>
        <p:nvSpPr>
          <p:cNvPr id="34" name="Curved Down Arrow 144"/>
          <p:cNvSpPr/>
          <p:nvPr/>
        </p:nvSpPr>
        <p:spPr>
          <a:xfrm>
            <a:off x="1415108" y="3883364"/>
            <a:ext cx="485319" cy="273057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35" name="TextBox 34"/>
          <p:cNvSpPr txBox="1">
            <a:spLocks noChangeArrowheads="1"/>
          </p:cNvSpPr>
          <p:nvPr/>
        </p:nvSpPr>
        <p:spPr bwMode="auto">
          <a:xfrm>
            <a:off x="1326732" y="4638716"/>
            <a:ext cx="1045633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cs typeface="Arial" charset="0"/>
              </a:rPr>
              <a:t>10x</a:t>
            </a:r>
          </a:p>
        </p:txBody>
      </p:sp>
      <p:sp>
        <p:nvSpPr>
          <p:cNvPr id="36" name="Curved Down Arrow 146"/>
          <p:cNvSpPr/>
          <p:nvPr/>
        </p:nvSpPr>
        <p:spPr>
          <a:xfrm>
            <a:off x="1412992" y="3709000"/>
            <a:ext cx="1159920" cy="500304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37" name="TextBox 36"/>
          <p:cNvSpPr txBox="1">
            <a:spLocks noChangeArrowheads="1"/>
          </p:cNvSpPr>
          <p:nvPr/>
        </p:nvSpPr>
        <p:spPr bwMode="auto">
          <a:xfrm>
            <a:off x="2103142" y="4612412"/>
            <a:ext cx="681567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cs typeface="Arial" charset="0"/>
              </a:rPr>
              <a:t>+</a:t>
            </a:r>
          </a:p>
        </p:txBody>
      </p:sp>
      <p:sp>
        <p:nvSpPr>
          <p:cNvPr id="38" name="TextBox 37"/>
          <p:cNvSpPr txBox="1">
            <a:spLocks noChangeArrowheads="1"/>
          </p:cNvSpPr>
          <p:nvPr/>
        </p:nvSpPr>
        <p:spPr bwMode="auto">
          <a:xfrm>
            <a:off x="2441804" y="4612412"/>
            <a:ext cx="1159933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sz="2800" b="1" kern="0" dirty="0">
                <a:solidFill>
                  <a:srgbClr val="FF0000"/>
                </a:solidFill>
              </a:rPr>
              <a:t>12</a:t>
            </a:r>
            <a:endParaRPr kumimoji="0" lang="en-GB" sz="28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sp>
        <p:nvSpPr>
          <p:cNvPr id="39" name="TextBox 38"/>
          <p:cNvSpPr txBox="1">
            <a:spLocks noChangeArrowheads="1"/>
          </p:cNvSpPr>
          <p:nvPr/>
        </p:nvSpPr>
        <p:spPr bwMode="auto">
          <a:xfrm>
            <a:off x="2914093" y="4622391"/>
            <a:ext cx="681567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sz="2800" b="1" kern="0" dirty="0">
                <a:solidFill>
                  <a:srgbClr val="FF0000"/>
                </a:solidFill>
              </a:rPr>
              <a:t>-</a:t>
            </a:r>
            <a:endParaRPr kumimoji="0" lang="en-GB" sz="28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sp>
        <p:nvSpPr>
          <p:cNvPr id="40" name="TextBox 39"/>
          <p:cNvSpPr txBox="1">
            <a:spLocks noChangeArrowheads="1"/>
          </p:cNvSpPr>
          <p:nvPr/>
        </p:nvSpPr>
        <p:spPr bwMode="auto">
          <a:xfrm>
            <a:off x="3219526" y="4605261"/>
            <a:ext cx="74486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cs typeface="Arial" charset="0"/>
              </a:rPr>
              <a:t>6x </a:t>
            </a:r>
          </a:p>
        </p:txBody>
      </p:sp>
      <p:sp>
        <p:nvSpPr>
          <p:cNvPr id="41" name="TextBox 40"/>
          <p:cNvSpPr txBox="1">
            <a:spLocks noChangeArrowheads="1"/>
          </p:cNvSpPr>
          <p:nvPr/>
        </p:nvSpPr>
        <p:spPr bwMode="auto">
          <a:xfrm>
            <a:off x="678620" y="5104537"/>
            <a:ext cx="575733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cs typeface="Arial" charset="0"/>
              </a:rPr>
              <a:t>=</a:t>
            </a:r>
          </a:p>
        </p:txBody>
      </p:sp>
      <p:sp>
        <p:nvSpPr>
          <p:cNvPr id="42" name="TextBox 41"/>
          <p:cNvSpPr txBox="1">
            <a:spLocks noChangeArrowheads="1"/>
          </p:cNvSpPr>
          <p:nvPr/>
        </p:nvSpPr>
        <p:spPr bwMode="auto">
          <a:xfrm>
            <a:off x="1305153" y="5056912"/>
            <a:ext cx="1043517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sz="2800" b="1" kern="0" noProof="0" dirty="0">
                <a:solidFill>
                  <a:srgbClr val="FF0000"/>
                </a:solidFill>
              </a:rPr>
              <a:t>4x</a:t>
            </a:r>
            <a:endParaRPr kumimoji="0" lang="en-GB" sz="28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grpSp>
        <p:nvGrpSpPr>
          <p:cNvPr id="43" name="Group 42"/>
          <p:cNvGrpSpPr>
            <a:grpSpLocks/>
          </p:cNvGrpSpPr>
          <p:nvPr/>
        </p:nvGrpSpPr>
        <p:grpSpPr bwMode="auto">
          <a:xfrm>
            <a:off x="1947511" y="5064755"/>
            <a:ext cx="1654227" cy="528733"/>
            <a:chOff x="2015813" y="5780725"/>
            <a:chExt cx="1241131" cy="528595"/>
          </a:xfrm>
        </p:grpSpPr>
        <p:sp>
          <p:nvSpPr>
            <p:cNvPr id="44" name="TextBox 183"/>
            <p:cNvSpPr txBox="1">
              <a:spLocks noChangeArrowheads="1"/>
            </p:cNvSpPr>
            <p:nvPr/>
          </p:nvSpPr>
          <p:spPr bwMode="auto">
            <a:xfrm>
              <a:off x="2015813" y="5780725"/>
              <a:ext cx="511437" cy="522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2800" b="1" kern="0" dirty="0">
                  <a:solidFill>
                    <a:srgbClr val="FF0000"/>
                  </a:solidFill>
                </a:rPr>
                <a:t>+</a:t>
              </a:r>
              <a:endPara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cs typeface="Arial" charset="0"/>
              </a:endParaRPr>
            </a:p>
          </p:txBody>
        </p:sp>
        <p:sp>
          <p:nvSpPr>
            <p:cNvPr id="45" name="TextBox 184"/>
            <p:cNvSpPr txBox="1">
              <a:spLocks noChangeArrowheads="1"/>
            </p:cNvSpPr>
            <p:nvPr/>
          </p:nvSpPr>
          <p:spPr bwMode="auto">
            <a:xfrm>
              <a:off x="2327038" y="5786100"/>
              <a:ext cx="929906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2800" b="1" kern="0" noProof="0" dirty="0">
                  <a:solidFill>
                    <a:srgbClr val="FF0000"/>
                  </a:solidFill>
                </a:rPr>
                <a:t>26</a:t>
              </a:r>
              <a:endPara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cs typeface="Arial" charset="0"/>
              </a:endParaRPr>
            </a:p>
          </p:txBody>
        </p:sp>
      </p:grpSp>
      <p:sp>
        <p:nvSpPr>
          <p:cNvPr id="46" name="Oval 45"/>
          <p:cNvSpPr/>
          <p:nvPr/>
        </p:nvSpPr>
        <p:spPr>
          <a:xfrm>
            <a:off x="2947143" y="4670287"/>
            <a:ext cx="804066" cy="47490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/>
          <p:cNvSpPr/>
          <p:nvPr/>
        </p:nvSpPr>
        <p:spPr>
          <a:xfrm>
            <a:off x="2124208" y="4652769"/>
            <a:ext cx="804066" cy="474909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/>
          <p:cNvSpPr/>
          <p:nvPr/>
        </p:nvSpPr>
        <p:spPr>
          <a:xfrm>
            <a:off x="3763396" y="4639830"/>
            <a:ext cx="804066" cy="474909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Curved Down Arrow 144"/>
          <p:cNvSpPr/>
          <p:nvPr/>
        </p:nvSpPr>
        <p:spPr>
          <a:xfrm>
            <a:off x="3173365" y="3827716"/>
            <a:ext cx="485319" cy="273057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50" name="Curved Down Arrow 146"/>
          <p:cNvSpPr/>
          <p:nvPr/>
        </p:nvSpPr>
        <p:spPr>
          <a:xfrm>
            <a:off x="3171249" y="3653352"/>
            <a:ext cx="1159920" cy="500304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51" name="TextBox 50"/>
          <p:cNvSpPr txBox="1">
            <a:spLocks noChangeArrowheads="1"/>
          </p:cNvSpPr>
          <p:nvPr/>
        </p:nvSpPr>
        <p:spPr bwMode="auto">
          <a:xfrm>
            <a:off x="3728001" y="4613449"/>
            <a:ext cx="101410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sz="2800" b="1" kern="0" dirty="0">
                <a:solidFill>
                  <a:srgbClr val="FF0000"/>
                </a:solidFill>
              </a:rPr>
              <a:t>+</a:t>
            </a:r>
            <a:r>
              <a:rPr kumimoji="0" lang="en-GB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cs typeface="Arial" charset="0"/>
              </a:rPr>
              <a:t> 14</a:t>
            </a:r>
          </a:p>
        </p:txBody>
      </p:sp>
    </p:spTree>
    <p:extLst>
      <p:ext uri="{BB962C8B-B14F-4D97-AF65-F5344CB8AC3E}">
        <p14:creationId xmlns:p14="http://schemas.microsoft.com/office/powerpoint/2010/main" val="3295050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10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1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1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5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2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4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1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3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0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1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3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4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44" grpId="0"/>
      <p:bldP spid="145" grpId="0" animBg="1"/>
      <p:bldP spid="146" grpId="0"/>
      <p:bldP spid="147" grpId="0" animBg="1"/>
      <p:bldP spid="150" grpId="0"/>
      <p:bldP spid="151" grpId="0"/>
      <p:bldP spid="158" grpId="0"/>
      <p:bldP spid="159" grpId="0"/>
      <p:bldP spid="180" grpId="0"/>
      <p:bldP spid="181" grpId="0"/>
      <p:bldP spid="69" grpId="0" animBg="1"/>
      <p:bldP spid="70" grpId="0" animBg="1"/>
      <p:bldP spid="71" grpId="0" animBg="1"/>
      <p:bldP spid="26" grpId="0" animBg="1"/>
      <p:bldP spid="27" grpId="0" animBg="1"/>
      <p:bldP spid="28" grpId="0"/>
      <p:bldP spid="29" grpId="0" animBg="1"/>
      <p:bldP spid="33" grpId="0"/>
      <p:bldP spid="34" grpId="0" animBg="1"/>
      <p:bldP spid="35" grpId="0"/>
      <p:bldP spid="36" grpId="0" animBg="1"/>
      <p:bldP spid="37" grpId="0"/>
      <p:bldP spid="38" grpId="0"/>
      <p:bldP spid="39" grpId="0"/>
      <p:bldP spid="40" grpId="0"/>
      <p:bldP spid="41" grpId="0"/>
      <p:bldP spid="42" grpId="0"/>
      <p:bldP spid="46" grpId="0" animBg="1"/>
      <p:bldP spid="47" grpId="0" animBg="1"/>
      <p:bldP spid="48" grpId="0" animBg="1"/>
      <p:bldP spid="49" grpId="0" animBg="1"/>
      <p:bldP spid="50" grpId="0" animBg="1"/>
      <p:bldP spid="5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Closure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564844"/>
            <a:ext cx="9270230" cy="44341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2400" dirty="0"/>
              <a:t>Complete the summary answering the EQ of the day.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620547070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175</TotalTime>
  <Words>336</Words>
  <Application>Microsoft Office PowerPoint</Application>
  <PresentationFormat>Widescreen</PresentationFormat>
  <Paragraphs>99</Paragraphs>
  <Slides>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Calibri</vt:lpstr>
      <vt:lpstr>Cambria Math</vt:lpstr>
      <vt:lpstr>Trebuchet MS</vt:lpstr>
      <vt:lpstr>Wingdings</vt:lpstr>
      <vt:lpstr>Wingdings 3</vt:lpstr>
      <vt:lpstr>Facet</vt:lpstr>
      <vt:lpstr>Distributive Law</vt:lpstr>
      <vt:lpstr>Revision – Do Now </vt:lpstr>
      <vt:lpstr>Learning Objectives</vt:lpstr>
      <vt:lpstr>PowerPoint Presentation</vt:lpstr>
      <vt:lpstr>PowerPoint Presentation</vt:lpstr>
      <vt:lpstr>Independent Practice </vt:lpstr>
      <vt:lpstr>PowerPoint Presentation</vt:lpstr>
      <vt:lpstr>Closure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Distributive Law</dc:title>
  <dc:creator>Saad Parekh</dc:creator>
  <cp:lastModifiedBy>Saad Parekh</cp:lastModifiedBy>
  <cp:revision>22</cp:revision>
  <dcterms:created xsi:type="dcterms:W3CDTF">2017-02-15T21:25:17Z</dcterms:created>
  <dcterms:modified xsi:type="dcterms:W3CDTF">2017-05-24T08:43:06Z</dcterms:modified>
</cp:coreProperties>
</file>
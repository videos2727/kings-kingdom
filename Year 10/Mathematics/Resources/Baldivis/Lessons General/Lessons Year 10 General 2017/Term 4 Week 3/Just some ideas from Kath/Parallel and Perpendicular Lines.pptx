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57" r:id="rId6"/>
    <p:sldId id="262" r:id="rId7"/>
    <p:sldId id="270" r:id="rId8"/>
    <p:sldId id="271" r:id="rId9"/>
    <p:sldId id="272" r:id="rId10"/>
    <p:sldId id="263" r:id="rId11"/>
    <p:sldId id="265" r:id="rId12"/>
    <p:sldId id="264" r:id="rId13"/>
    <p:sldId id="273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810" y="-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45562-DAF9-4BBD-B6C6-89A7C3DF7637}" type="datetimeFigureOut">
              <a:rPr lang="en-AU" smtClean="0"/>
              <a:t>17/10/2016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F8924-05AE-4B70-8C98-111FE6C251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8424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F8924-05AE-4B70-8C98-111FE6C2510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167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E605F-FE94-47FB-B866-FE6F0E771BA4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E09F3-F3D5-4F92-9EB9-3B8A44C6372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Relationship Id="rId9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9QIIR89B\MP900422581[2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4653136"/>
            <a:ext cx="7772400" cy="1470025"/>
          </a:xfr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GB" dirty="0" smtClean="0">
                <a:latin typeface="Kristen ITC" pitchFamily="66" charset="0"/>
              </a:rPr>
              <a:t>Parallel and Perpendicular Lines</a:t>
            </a:r>
            <a:endParaRPr lang="en-GB" dirty="0">
              <a:latin typeface="Kristen ITC" pitchFamily="66" charset="0"/>
            </a:endParaRPr>
          </a:p>
        </p:txBody>
      </p:sp>
      <p:sp>
        <p:nvSpPr>
          <p:cNvPr id="4" name="Cloud 3"/>
          <p:cNvSpPr/>
          <p:nvPr/>
        </p:nvSpPr>
        <p:spPr>
          <a:xfrm>
            <a:off x="0" y="0"/>
            <a:ext cx="4067944" cy="2420888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If a line has the equation y=2x+4 can we find a line that is parallel or perpendicular to it?</a:t>
            </a:r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7" name="Cloud 6"/>
          <p:cNvSpPr/>
          <p:nvPr/>
        </p:nvSpPr>
        <p:spPr>
          <a:xfrm>
            <a:off x="3707904" y="0"/>
            <a:ext cx="576064" cy="620688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8" name="Cloud 7"/>
          <p:cNvSpPr/>
          <p:nvPr/>
        </p:nvSpPr>
        <p:spPr>
          <a:xfrm>
            <a:off x="4427984" y="404664"/>
            <a:ext cx="360040" cy="360040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9" name="Cloud 8"/>
          <p:cNvSpPr/>
          <p:nvPr/>
        </p:nvSpPr>
        <p:spPr>
          <a:xfrm>
            <a:off x="4860032" y="836712"/>
            <a:ext cx="288032" cy="216024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11" name="Cloud 10"/>
          <p:cNvSpPr/>
          <p:nvPr/>
        </p:nvSpPr>
        <p:spPr>
          <a:xfrm>
            <a:off x="0" y="0"/>
            <a:ext cx="4067944" cy="2492896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>
                <a:solidFill>
                  <a:schemeClr val="tx1"/>
                </a:solidFill>
              </a:rPr>
              <a:t>HAVE YOU NOT GOT OFF THIS SLIDE YET?</a:t>
            </a:r>
          </a:p>
          <a:p>
            <a:pPr algn="ctr"/>
            <a:r>
              <a:rPr lang="en-GB" sz="2400" b="1" dirty="0" smtClean="0">
                <a:solidFill>
                  <a:schemeClr val="tx1"/>
                </a:solidFill>
              </a:rPr>
              <a:t>COME ON! GET MOVING GUYS! </a:t>
            </a:r>
            <a:endParaRPr lang="en-GB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" presetClass="exit" presetSubtype="0" fill="hold" grpId="1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500"/>
                            </p:stCondLst>
                            <p:childTnLst>
                              <p:par>
                                <p:cTn id="30" presetID="10" presetClass="entr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6000"/>
                            </p:stCondLst>
                            <p:childTnLst>
                              <p:par>
                                <p:cTn id="34" presetID="10" presetClass="entr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0"/>
                            </p:stCondLst>
                            <p:childTnLst>
                              <p:par>
                                <p:cTn id="38" presetID="10" presetClass="entr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9000"/>
                            </p:stCondLst>
                            <p:childTnLst>
                              <p:par>
                                <p:cTn id="42" presetID="10" presetClass="entr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500"/>
                            </p:stCondLst>
                            <p:childTnLst>
                              <p:par>
                                <p:cTn id="46" presetID="1" presetClass="exit" presetSubtype="0" fill="hold" grpId="3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3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3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3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500"/>
                            </p:stCondLst>
                            <p:childTnLst>
                              <p:par>
                                <p:cTn id="55" presetID="10" presetClass="entr" presetSubtype="0" fill="hold" grpId="4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0"/>
                            </p:stCondLst>
                            <p:childTnLst>
                              <p:par>
                                <p:cTn id="59" presetID="10" presetClass="entr" presetSubtype="0" fill="hold" grpId="4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3500"/>
                            </p:stCondLst>
                            <p:childTnLst>
                              <p:par>
                                <p:cTn id="63" presetID="10" presetClass="entr" presetSubtype="0" fill="hold" grpId="4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0"/>
                            </p:stCondLst>
                            <p:childTnLst>
                              <p:par>
                                <p:cTn id="67" presetID="10" presetClass="entr" presetSubtype="0" fill="hold" grpId="4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6500"/>
                            </p:stCondLst>
                            <p:childTnLst>
                              <p:par>
                                <p:cTn id="71" presetID="1" presetClass="exit" presetSubtype="0" fill="hold" grpId="5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5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5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5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6500"/>
                            </p:stCondLst>
                            <p:childTnLst>
                              <p:par>
                                <p:cTn id="80" presetID="10" presetClass="entr" presetSubtype="0" fill="hold" grpId="6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8000"/>
                            </p:stCondLst>
                            <p:childTnLst>
                              <p:par>
                                <p:cTn id="84" presetID="10" presetClass="entr" presetSubtype="0" fill="hold" grpId="6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9500"/>
                            </p:stCondLst>
                            <p:childTnLst>
                              <p:par>
                                <p:cTn id="88" presetID="10" presetClass="entr" presetSubtype="0" fill="hold" grpId="6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1000"/>
                            </p:stCondLst>
                            <p:childTnLst>
                              <p:par>
                                <p:cTn id="92" presetID="10" presetClass="entr" presetSubtype="0" fill="hold" grpId="6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2500"/>
                            </p:stCondLst>
                            <p:childTnLst>
                              <p:par>
                                <p:cTn id="96" presetID="1" presetClass="exit" presetSubtype="0" fill="hold" grpId="7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7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7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7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2500"/>
                            </p:stCondLst>
                            <p:childTnLst>
                              <p:par>
                                <p:cTn id="105" presetID="10" presetClass="entr" presetSubtype="0" fill="hold" grpId="8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64000"/>
                            </p:stCondLst>
                            <p:childTnLst>
                              <p:par>
                                <p:cTn id="109" presetID="10" presetClass="entr" presetSubtype="0" fill="hold" grpId="8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65500"/>
                            </p:stCondLst>
                            <p:childTnLst>
                              <p:par>
                                <p:cTn id="113" presetID="10" presetClass="entr" presetSubtype="0" fill="hold" grpId="8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67000"/>
                            </p:stCondLst>
                            <p:childTnLst>
                              <p:par>
                                <p:cTn id="117" presetID="10" presetClass="entr" presetSubtype="0" fill="hold" grpId="8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8500"/>
                            </p:stCondLst>
                            <p:childTnLst>
                              <p:par>
                                <p:cTn id="121" presetID="1" presetClass="exit" presetSubtype="0" fill="hold" grpId="9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9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9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9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78500"/>
                            </p:stCondLst>
                            <p:childTnLst>
                              <p:par>
                                <p:cTn id="130" presetID="10" presetClass="entr" presetSubtype="0" fill="hold" grpId="1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81000"/>
                            </p:stCondLst>
                            <p:childTnLst>
                              <p:par>
                                <p:cTn id="134" presetID="10" presetClass="entr" presetSubtype="0" fill="hold" grpId="1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3500"/>
                            </p:stCondLst>
                            <p:childTnLst>
                              <p:par>
                                <p:cTn id="138" presetID="10" presetClass="entr" presetSubtype="0" fill="hold" grpId="1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86000"/>
                            </p:stCondLst>
                            <p:childTnLst>
                              <p:par>
                                <p:cTn id="142" presetID="10" presetClass="entr" presetSubtype="0" fill="hold" grpId="1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88500"/>
                            </p:stCondLst>
                            <p:childTnLst>
                              <p:par>
                                <p:cTn id="146" presetID="1" presetClass="exit" presetSubtype="0" fill="hold" grpId="11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11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1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1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8500"/>
                            </p:stCondLst>
                            <p:childTnLst>
                              <p:par>
                                <p:cTn id="155" presetID="10" presetClass="entr" presetSubtype="0" fill="hold" grpId="1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59" presetID="10" presetClass="entr" presetSubtype="0" fill="hold" grpId="1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1500"/>
                            </p:stCondLst>
                            <p:childTnLst>
                              <p:par>
                                <p:cTn id="163" presetID="10" presetClass="entr" presetSubtype="0" fill="hold" grpId="1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300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5500"/>
                            </p:stCondLst>
                            <p:childTnLst>
                              <p:par>
                                <p:cTn id="171" presetID="1" presetClass="exit" presetSubtype="0" fill="hold" grpId="1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3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13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13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10500"/>
                            </p:stCondLst>
                            <p:childTnLst>
                              <p:par>
                                <p:cTn id="180" presetID="10" presetClass="entr" presetSubtype="0" fill="hold" grpId="14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2000"/>
                            </p:stCondLst>
                            <p:childTnLst>
                              <p:par>
                                <p:cTn id="184" presetID="10" presetClass="entr" presetSubtype="0" fill="hold" grpId="14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13500"/>
                            </p:stCondLst>
                            <p:childTnLst>
                              <p:par>
                                <p:cTn id="188" presetID="10" presetClass="entr" presetSubtype="0" fill="hold" grpId="14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15000"/>
                            </p:stCondLst>
                            <p:childTnLst>
                              <p:par>
                                <p:cTn id="192" presetID="10" presetClass="entr" presetSubtype="0" fill="hold" grpId="1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4" grpId="6" animBg="1"/>
      <p:bldP spid="4" grpId="7" animBg="1"/>
      <p:bldP spid="4" grpId="8" animBg="1"/>
      <p:bldP spid="4" grpId="9" animBg="1"/>
      <p:bldP spid="4" grpId="10" animBg="1"/>
      <p:bldP spid="4" grpId="11" animBg="1"/>
      <p:bldP spid="4" grpId="12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  <p:bldP spid="7" grpId="8" animBg="1"/>
      <p:bldP spid="7" grpId="9" animBg="1"/>
      <p:bldP spid="7" grpId="10" animBg="1"/>
      <p:bldP spid="7" grpId="11" animBg="1"/>
      <p:bldP spid="7" grpId="12" animBg="1"/>
      <p:bldP spid="7" grpId="13" animBg="1"/>
      <p:bldP spid="7" grpId="14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8" grpId="8" animBg="1"/>
      <p:bldP spid="8" grpId="9" animBg="1"/>
      <p:bldP spid="8" grpId="10" animBg="1"/>
      <p:bldP spid="8" grpId="11" animBg="1"/>
      <p:bldP spid="8" grpId="12" animBg="1"/>
      <p:bldP spid="8" grpId="13" animBg="1"/>
      <p:bldP spid="8" grpId="14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  <p:bldP spid="9" grpId="8" animBg="1"/>
      <p:bldP spid="9" grpId="9" animBg="1"/>
      <p:bldP spid="9" grpId="10" animBg="1"/>
      <p:bldP spid="9" grpId="11" animBg="1"/>
      <p:bldP spid="9" grpId="12" animBg="1"/>
      <p:bldP spid="9" grpId="13" animBg="1"/>
      <p:bldP spid="9" grpId="14" animBg="1"/>
      <p:bldP spid="11" grpId="0" animBg="1"/>
      <p:bldP spid="11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ben\AppData\Local\Microsoft\Windows\Temporary Internet Files\Content.IE5\4DE9FDJU\MP9004277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276872"/>
            <a:ext cx="8229600" cy="1143000"/>
          </a:xfr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GB" sz="6600" dirty="0" smtClean="0"/>
              <a:t>y=</a:t>
            </a:r>
            <a:r>
              <a:rPr lang="en-GB" sz="6600" dirty="0" err="1" smtClean="0"/>
              <a:t>mx+c</a:t>
            </a:r>
            <a:endParaRPr lang="en-GB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604664"/>
          </a:xfr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en-GB" dirty="0" smtClean="0"/>
              <a:t>Remember the equation of a straight line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3568" y="4581128"/>
            <a:ext cx="2880320" cy="1224136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m is the gradient and tells us how steep a line is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96136" y="4653136"/>
            <a:ext cx="2880320" cy="1224136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noProof="0" dirty="0" smtClean="0"/>
              <a:t>c tells us where the line crosses the y axis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699792" y="3212976"/>
            <a:ext cx="1656184" cy="1368152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5724128" y="3284984"/>
            <a:ext cx="648072" cy="1368152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ben\AppData\Local\Microsoft\Windows\Temporary Internet Files\Content.IE5\4DE9FDJU\MP9004277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276872"/>
            <a:ext cx="8229600" cy="1143000"/>
          </a:xfr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GB" sz="6600" dirty="0" smtClean="0"/>
              <a:t>y=2x+5</a:t>
            </a:r>
            <a:endParaRPr lang="en-GB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604664"/>
          </a:xfr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en-GB" dirty="0" smtClean="0"/>
              <a:t>Remember the equation of a straight line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3568" y="4581128"/>
            <a:ext cx="2880320" cy="1224136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This line has a gradient of 2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96136" y="4653136"/>
            <a:ext cx="2880320" cy="1224136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noProof="0" dirty="0" smtClean="0"/>
              <a:t>This line crosses the y axis at 5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699792" y="3212976"/>
            <a:ext cx="1656184" cy="1368152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5724128" y="3284984"/>
            <a:ext cx="648072" cy="1368152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ben\AppData\Local\Microsoft\Windows\Temporary Internet Files\Content.IE5\4DE9FDJU\MP9004277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276872"/>
            <a:ext cx="8229600" cy="1143000"/>
          </a:xfr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GB" sz="6600" dirty="0" smtClean="0"/>
              <a:t>y=0.5x-8</a:t>
            </a:r>
            <a:endParaRPr lang="en-GB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604664"/>
          </a:xfr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en-GB" dirty="0" smtClean="0"/>
              <a:t>Remember the equation of a straight line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3568" y="4581128"/>
            <a:ext cx="2880320" cy="1224136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This line has a gradient of 0.5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96136" y="4653136"/>
            <a:ext cx="2880320" cy="1224136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noProof="0" dirty="0" smtClean="0"/>
              <a:t>This line crosses the y axis at -8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699792" y="3212976"/>
            <a:ext cx="1656184" cy="1368152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5724128" y="3284984"/>
            <a:ext cx="648072" cy="1368152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ben\AppData\Local\Microsoft\Windows\Temporary Internet Files\Content.IE5\DFVGUDNK\MP9004391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GB" sz="6600" b="1" dirty="0" smtClean="0"/>
              <a:t>Parallel Lines</a:t>
            </a:r>
            <a:endParaRPr lang="en-GB" sz="6600" b="1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267744" y="0"/>
            <a:ext cx="6624736" cy="685800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4067944" y="1700808"/>
            <a:ext cx="5076056" cy="515719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5004048" y="2681536"/>
            <a:ext cx="4139952" cy="4176464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0" y="1988840"/>
            <a:ext cx="5076056" cy="165618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Parallel lines never meet,</a:t>
            </a:r>
            <a:r>
              <a:rPr kumimoji="0" lang="en-GB" sz="6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even if they carried on FOREVER!</a:t>
            </a:r>
            <a:endParaRPr kumimoji="0" lang="en-GB" sz="6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203848" y="836712"/>
            <a:ext cx="5940152" cy="6021288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ben\AppData\Local\Microsoft\Windows\Temporary Internet Files\Content.IE5\4DE9FDJU\MP9004277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784" y="2276872"/>
            <a:ext cx="4032448" cy="1143000"/>
          </a:xfr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GB" sz="6600" dirty="0" smtClean="0"/>
              <a:t>y=2x+5</a:t>
            </a:r>
            <a:endParaRPr lang="en-GB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0"/>
            <a:ext cx="8229600" cy="604664"/>
          </a:xfr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en-GB" dirty="0" smtClean="0"/>
              <a:t>Here are some lines which are parallel to y=2x+5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99592" y="5517232"/>
            <a:ext cx="1800200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</a:t>
            </a:r>
            <a:r>
              <a:rPr lang="en-GB" sz="3200" dirty="0"/>
              <a:t>-</a:t>
            </a:r>
            <a:r>
              <a:rPr lang="en-GB" sz="3200" dirty="0" smtClean="0"/>
              <a:t> 11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779912" y="5589240"/>
            <a:ext cx="1872208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-10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3275856" y="4581128"/>
            <a:ext cx="1080120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GB" sz="3200" dirty="0" smtClean="0"/>
              <a:t>y=2x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6228184" y="5301208"/>
            <a:ext cx="158417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+ 60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6876256" y="4581128"/>
            <a:ext cx="158417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+ 0.2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7092280" y="3789040"/>
            <a:ext cx="158417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-2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755576" y="3789040"/>
            <a:ext cx="1800200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+ 12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4860032" y="3717032"/>
            <a:ext cx="158417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- 6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1187624" y="1340768"/>
            <a:ext cx="158417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+ 7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3491880" y="836712"/>
            <a:ext cx="158417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+ 6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796136" y="1484784"/>
            <a:ext cx="158417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+ 16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7308304" y="2492896"/>
            <a:ext cx="158417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+ 3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539552" y="2564904"/>
            <a:ext cx="158417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/>
              <a:t>y=2x + 1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ben\AppData\Local\Microsoft\Windows\Temporary Internet Files\Content.IE5\DFVGUDNK\MP9004391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GB" sz="6600" b="1" dirty="0" smtClean="0"/>
              <a:t>Parallel Lines</a:t>
            </a:r>
            <a:endParaRPr lang="en-GB" sz="6600" b="1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267744" y="0"/>
            <a:ext cx="6624736" cy="685800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4067944" y="1700808"/>
            <a:ext cx="5076056" cy="515719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5004048" y="2681536"/>
            <a:ext cx="4139952" cy="4176464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0" y="1988840"/>
            <a:ext cx="5076056" cy="165618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Parallel lines never meet,</a:t>
            </a:r>
            <a:r>
              <a:rPr kumimoji="0" lang="en-GB" sz="6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even if they carried on FOREVER!</a:t>
            </a:r>
            <a:endParaRPr kumimoji="0" lang="en-GB" sz="6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203848" y="836712"/>
            <a:ext cx="5940152" cy="6021288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 txBox="1">
            <a:spLocks/>
          </p:cNvSpPr>
          <p:nvPr/>
        </p:nvSpPr>
        <p:spPr>
          <a:xfrm>
            <a:off x="4067944" y="5201816"/>
            <a:ext cx="5076056" cy="165618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4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Parallel lines</a:t>
            </a:r>
            <a:r>
              <a:rPr kumimoji="0" lang="en-GB" sz="6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have the same GRADIENT (m) but different Y INTERCEPTS (C)</a:t>
            </a:r>
            <a:endParaRPr kumimoji="0" lang="en-GB" sz="6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734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ben\AppData\Local\Microsoft\Windows\Temporary Internet Files\Content.IE5\DFVGUDNK\MP900439153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cxnSp>
        <p:nvCxnSpPr>
          <p:cNvPr id="5" name="Straight Arrow Connector 4"/>
          <p:cNvCxnSpPr/>
          <p:nvPr/>
        </p:nvCxnSpPr>
        <p:spPr>
          <a:xfrm flipV="1">
            <a:off x="2267744" y="0"/>
            <a:ext cx="6624736" cy="685800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4067944" y="1700808"/>
            <a:ext cx="5076056" cy="515719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5004048" y="2681536"/>
            <a:ext cx="4139952" cy="4176464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3203848" y="836712"/>
            <a:ext cx="5940152" cy="6021288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89" t="60000" r="31339" b="25397"/>
          <a:stretch/>
        </p:blipFill>
        <p:spPr bwMode="auto">
          <a:xfrm>
            <a:off x="806231" y="1888332"/>
            <a:ext cx="7531537" cy="237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822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WordArt 2"/>
          <p:cNvSpPr>
            <a:spLocks noChangeArrowheads="1" noChangeShapeType="1" noTextEdit="1"/>
          </p:cNvSpPr>
          <p:nvPr/>
        </p:nvSpPr>
        <p:spPr bwMode="auto">
          <a:xfrm>
            <a:off x="1447800" y="228600"/>
            <a:ext cx="58674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Parallel and Perpendicular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3352800" y="990600"/>
            <a:ext cx="5181600" cy="1446550"/>
          </a:xfrm>
          <a:prstGeom prst="rect">
            <a:avLst/>
          </a:prstGeom>
          <a:solidFill>
            <a:srgbClr val="00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>
                <a:solidFill>
                  <a:srgbClr val="99CCFF"/>
                </a:solidFill>
                <a:latin typeface="Arial" charset="0"/>
              </a:rPr>
              <a:t>The gradient is a number that tells "how steep" the line is and in which direction.  So as you can see, parallel lines have the same </a:t>
            </a:r>
            <a:r>
              <a:rPr lang="en-US" sz="2200" dirty="0" smtClean="0">
                <a:solidFill>
                  <a:srgbClr val="99CCFF"/>
                </a:solidFill>
                <a:latin typeface="Arial" charset="0"/>
              </a:rPr>
              <a:t>gradients.</a:t>
            </a:r>
            <a:endParaRPr lang="en-US" sz="2200" dirty="0">
              <a:solidFill>
                <a:srgbClr val="99CCFF"/>
              </a:solidFill>
              <a:latin typeface="Arial" charset="0"/>
            </a:endParaRP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3276600" y="4267200"/>
            <a:ext cx="5181600" cy="769441"/>
          </a:xfrm>
          <a:prstGeom prst="rect">
            <a:avLst/>
          </a:prstGeom>
          <a:solidFill>
            <a:srgbClr val="00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>
                <a:solidFill>
                  <a:srgbClr val="99CCFF"/>
                </a:solidFill>
                <a:latin typeface="Arial" charset="0"/>
              </a:rPr>
              <a:t>Perpendicular lines have negative reciprocal </a:t>
            </a:r>
            <a:r>
              <a:rPr lang="en-US" sz="2200" dirty="0" smtClean="0">
                <a:solidFill>
                  <a:srgbClr val="99CCFF"/>
                </a:solidFill>
                <a:latin typeface="Arial" charset="0"/>
              </a:rPr>
              <a:t>gradients.</a:t>
            </a:r>
            <a:endParaRPr lang="en-US" sz="2200" dirty="0">
              <a:solidFill>
                <a:srgbClr val="99CCFF"/>
              </a:solidFill>
              <a:latin typeface="Arial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228600" y="1219200"/>
            <a:ext cx="2438400" cy="10668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 flipV="1">
            <a:off x="457200" y="1524000"/>
            <a:ext cx="2438400" cy="10668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304800" y="685800"/>
          <a:ext cx="9144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3" imgW="406080" imgH="393480" progId="Equation.3">
                  <p:embed/>
                </p:oleObj>
              </mc:Choice>
              <mc:Fallback>
                <p:oleObj name="Equation" r:id="rId3" imgW="406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685800"/>
                        <a:ext cx="9144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1219200" y="1143000"/>
            <a:ext cx="3810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4105" name="Object 9"/>
          <p:cNvGraphicFramePr>
            <a:graphicFrameLocks noChangeAspect="1"/>
          </p:cNvGraphicFramePr>
          <p:nvPr/>
        </p:nvGraphicFramePr>
        <p:xfrm>
          <a:off x="1828800" y="2209800"/>
          <a:ext cx="9144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5" imgW="406080" imgH="393480" progId="Equation.3">
                  <p:embed/>
                </p:oleObj>
              </mc:Choice>
              <mc:Fallback>
                <p:oleObj name="Equation" r:id="rId5" imgW="406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209800"/>
                        <a:ext cx="9144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Line 10"/>
          <p:cNvSpPr>
            <a:spLocks noChangeShapeType="1"/>
          </p:cNvSpPr>
          <p:nvPr/>
        </p:nvSpPr>
        <p:spPr bwMode="auto">
          <a:xfrm flipH="1" flipV="1">
            <a:off x="1981200" y="2057400"/>
            <a:ext cx="2286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 flipV="1">
            <a:off x="457200" y="4800600"/>
            <a:ext cx="2438400" cy="10668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8" name="Line 12"/>
          <p:cNvSpPr>
            <a:spLocks noChangeShapeType="1"/>
          </p:cNvSpPr>
          <p:nvPr/>
        </p:nvSpPr>
        <p:spPr bwMode="auto">
          <a:xfrm>
            <a:off x="1219200" y="4267200"/>
            <a:ext cx="990600" cy="19812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4109" name="Object 13"/>
          <p:cNvGraphicFramePr>
            <a:graphicFrameLocks noChangeAspect="1"/>
          </p:cNvGraphicFramePr>
          <p:nvPr/>
        </p:nvGraphicFramePr>
        <p:xfrm>
          <a:off x="762000" y="5972175"/>
          <a:ext cx="9144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quation" r:id="rId7" imgW="406080" imgH="393480" progId="Equation.3">
                  <p:embed/>
                </p:oleObj>
              </mc:Choice>
              <mc:Fallback>
                <p:oleObj name="Equation" r:id="rId7" imgW="406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972175"/>
                        <a:ext cx="9144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0" name="Line 14"/>
          <p:cNvSpPr>
            <a:spLocks noChangeShapeType="1"/>
          </p:cNvSpPr>
          <p:nvPr/>
        </p:nvSpPr>
        <p:spPr bwMode="auto">
          <a:xfrm flipH="1" flipV="1">
            <a:off x="1219200" y="5638800"/>
            <a:ext cx="1524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4111" name="Object 15"/>
          <p:cNvGraphicFramePr>
            <a:graphicFrameLocks noChangeAspect="1"/>
          </p:cNvGraphicFramePr>
          <p:nvPr/>
        </p:nvGraphicFramePr>
        <p:xfrm>
          <a:off x="1066800" y="3581400"/>
          <a:ext cx="18573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8" imgW="825480" imgH="393480" progId="Equation.3">
                  <p:embed/>
                </p:oleObj>
              </mc:Choice>
              <mc:Fallback>
                <p:oleObj name="Equation" r:id="rId8" imgW="825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581400"/>
                        <a:ext cx="185737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2" name="Line 16"/>
          <p:cNvSpPr>
            <a:spLocks noChangeShapeType="1"/>
          </p:cNvSpPr>
          <p:nvPr/>
        </p:nvSpPr>
        <p:spPr bwMode="auto">
          <a:xfrm flipH="1">
            <a:off x="1752600" y="4495800"/>
            <a:ext cx="6096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77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nimBg="1" autoUpdateAnimBg="0"/>
      <p:bldP spid="4100" grpId="0" animBg="1" autoUpdateAnimBg="0"/>
      <p:bldP spid="4101" grpId="0" animBg="1"/>
      <p:bldP spid="4102" grpId="0" animBg="1"/>
      <p:bldP spid="4104" grpId="0" animBg="1"/>
      <p:bldP spid="4106" grpId="0" animBg="1"/>
      <p:bldP spid="4107" grpId="0" animBg="1"/>
      <p:bldP spid="4108" grpId="0" animBg="1"/>
      <p:bldP spid="4110" grpId="0" animBg="1"/>
      <p:bldP spid="41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ben\AppData\Local\Microsoft\Windows\Temporary Internet Files\Content.IE5\DFVGUDNK\MP9004391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GB" sz="6600" b="1" dirty="0" smtClean="0"/>
              <a:t>Perpendicular Lines</a:t>
            </a:r>
            <a:endParaRPr lang="en-GB" sz="6600" b="1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555776" y="1124744"/>
            <a:ext cx="6120680" cy="532859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0" y="1772816"/>
            <a:ext cx="5076056" cy="165618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Perpendicular</a:t>
            </a:r>
            <a:r>
              <a:rPr kumimoji="0" lang="en-GB" sz="6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lines meet at right angles</a:t>
            </a:r>
            <a:endParaRPr kumimoji="0" lang="en-GB" sz="6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203848" y="836712"/>
            <a:ext cx="5940152" cy="6021288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 txBox="1">
            <a:spLocks/>
          </p:cNvSpPr>
          <p:nvPr/>
        </p:nvSpPr>
        <p:spPr>
          <a:xfrm>
            <a:off x="4067944" y="5201816"/>
            <a:ext cx="5076056" cy="165618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If you multiply gradients</a:t>
            </a:r>
            <a:r>
              <a:rPr kumimoji="0" lang="en-GB" sz="6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of perpendicular lines you will always get -1</a:t>
            </a:r>
            <a:endParaRPr kumimoji="0" lang="en-GB" sz="6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ben\AppData\Local\Microsoft\Windows\Temporary Internet Files\Content.IE5\4DE9FDJU\MP9004277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276872"/>
            <a:ext cx="3456384" cy="1143000"/>
          </a:xfr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GB" sz="6600" dirty="0" smtClean="0"/>
              <a:t>y=3x-8</a:t>
            </a:r>
            <a:endParaRPr lang="en-GB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404664"/>
            <a:ext cx="8229600" cy="604664"/>
          </a:xfr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GB" dirty="0" smtClean="0"/>
              <a:t>Gradient 1 x Gradient 2 = -1 for perpendicular lines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3568" y="4581128"/>
            <a:ext cx="2880320" cy="1224136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noProof="0" dirty="0" smtClean="0"/>
              <a:t>3 times -1/3 gives -1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987824" y="5229200"/>
            <a:ext cx="3816424" cy="1224136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noProof="0" dirty="0" smtClean="0"/>
              <a:t>So any line with a gradient of -1/3 will be perpendicular to y=3x-8</a:t>
            </a:r>
            <a:endParaRPr kumimoji="0" lang="en-GB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979712" y="3140968"/>
            <a:ext cx="720080" cy="1440160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6156176" y="1700808"/>
            <a:ext cx="2232248" cy="792088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y=-1/3x+6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6156176" y="2636912"/>
            <a:ext cx="2232248" cy="792088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y=-1/3x+7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6156176" y="3573016"/>
            <a:ext cx="2232248" cy="792088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y=-1/3x-11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" descr="C:\Users\ben\AppData\Local\Microsoft\Windows\Temporary Internet Files\Content.IE5\4DE9FDJU\MP9004277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/>
          <a:lstStyle/>
          <a:p>
            <a:r>
              <a:rPr lang="en-GB" dirty="0" smtClean="0"/>
              <a:t>Finding a Perpendicular Gradient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748680"/>
          </a:xfr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GB" dirty="0" smtClean="0"/>
              <a:t>Find the numbers which are needed to make -1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123728" y="234888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123728" y="306896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123728" y="378904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-9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123728" y="450912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-5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123728" y="522920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-1/5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123728" y="5877272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-2/7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3131840" y="234888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3131840" y="306896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3131840" y="378904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3131840" y="450912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3131840" y="522920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3131840" y="5877272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4139952" y="234888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-1/3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4139952" y="306896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-1/7</a:t>
            </a: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139952" y="378904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1/9</a:t>
            </a:r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4139952" y="450912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1/5</a:t>
            </a: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4139952" y="522920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4139952" y="5877272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7/2</a:t>
            </a:r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5148064" y="234888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5148064" y="306896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</a:p>
        </p:txBody>
      </p:sp>
      <p:sp>
        <p:nvSpPr>
          <p:cNvPr id="31" name="Content Placeholder 2"/>
          <p:cNvSpPr txBox="1">
            <a:spLocks/>
          </p:cNvSpPr>
          <p:nvPr/>
        </p:nvSpPr>
        <p:spPr>
          <a:xfrm>
            <a:off x="5148064" y="378904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5148064" y="450912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</a:p>
        </p:txBody>
      </p:sp>
      <p:sp>
        <p:nvSpPr>
          <p:cNvPr id="33" name="Content Placeholder 2"/>
          <p:cNvSpPr txBox="1">
            <a:spLocks/>
          </p:cNvSpPr>
          <p:nvPr/>
        </p:nvSpPr>
        <p:spPr>
          <a:xfrm>
            <a:off x="5148064" y="522920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</a:p>
        </p:txBody>
      </p:sp>
      <p:sp>
        <p:nvSpPr>
          <p:cNvPr id="34" name="Content Placeholder 2"/>
          <p:cNvSpPr txBox="1">
            <a:spLocks/>
          </p:cNvSpPr>
          <p:nvPr/>
        </p:nvSpPr>
        <p:spPr>
          <a:xfrm>
            <a:off x="5148064" y="5877272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</a:p>
        </p:txBody>
      </p:sp>
      <p:sp>
        <p:nvSpPr>
          <p:cNvPr id="35" name="Content Placeholder 2"/>
          <p:cNvSpPr txBox="1">
            <a:spLocks/>
          </p:cNvSpPr>
          <p:nvPr/>
        </p:nvSpPr>
        <p:spPr>
          <a:xfrm>
            <a:off x="6156176" y="234888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</a:p>
        </p:txBody>
      </p:sp>
      <p:sp>
        <p:nvSpPr>
          <p:cNvPr id="36" name="Content Placeholder 2"/>
          <p:cNvSpPr txBox="1">
            <a:spLocks/>
          </p:cNvSpPr>
          <p:nvPr/>
        </p:nvSpPr>
        <p:spPr>
          <a:xfrm>
            <a:off x="6156176" y="306896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6156176" y="378904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6156176" y="450912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</a:p>
        </p:txBody>
      </p:sp>
      <p:sp>
        <p:nvSpPr>
          <p:cNvPr id="39" name="Content Placeholder 2"/>
          <p:cNvSpPr txBox="1">
            <a:spLocks/>
          </p:cNvSpPr>
          <p:nvPr/>
        </p:nvSpPr>
        <p:spPr>
          <a:xfrm>
            <a:off x="6156176" y="5229200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</a:p>
        </p:txBody>
      </p:sp>
      <p:sp>
        <p:nvSpPr>
          <p:cNvPr id="40" name="Content Placeholder 2"/>
          <p:cNvSpPr txBox="1">
            <a:spLocks/>
          </p:cNvSpPr>
          <p:nvPr/>
        </p:nvSpPr>
        <p:spPr>
          <a:xfrm>
            <a:off x="6156176" y="5877272"/>
            <a:ext cx="864096" cy="57606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4" t="18413" r="31697" b="59683"/>
          <a:stretch/>
        </p:blipFill>
        <p:spPr bwMode="auto">
          <a:xfrm>
            <a:off x="179879" y="836712"/>
            <a:ext cx="8938902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4086364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22. Show that the line joining (-2, 2) and (4, 8) is parallel to y = x + 10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5301208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23. Show that the line joining (-2, 5) and (4, -7) is parallel to 2x + y - 10 = 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2223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ben\AppData\Local\Microsoft\Windows\Temporary Internet Files\Content.IE5\4DE9FDJU\MP9004277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836712"/>
          </a:xfr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4800" b="1" dirty="0" smtClean="0"/>
              <a:t>Example 1</a:t>
            </a:r>
            <a:endParaRPr lang="en-GB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88632"/>
          </a:xfr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GB" b="1" dirty="0" smtClean="0"/>
              <a:t>Find the equation of the line which is perpendicular y=2x + 8 at the point (1,10)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Gradient will be -0.5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Equation so far is y=-0.5x + c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We know it passes through (1,10) so put these values in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10=-0.5+ c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c must be 10.5 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y=-0.5x + 10.5</a:t>
            </a:r>
            <a:endParaRPr lang="en-GB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ben\AppData\Local\Microsoft\Windows\Temporary Internet Files\Content.IE5\4DE9FDJU\MP9004277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836712"/>
          </a:xfr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4800" b="1" dirty="0" smtClean="0"/>
              <a:t>Example 2</a:t>
            </a:r>
            <a:endParaRPr lang="en-GB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88632"/>
          </a:xfr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GB" b="1" dirty="0" smtClean="0"/>
              <a:t>Find the equation of the line which is perpendicular y=5x + 8 at the point (5,33)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Gradient will be -1/5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Equation so far is y=-1/5x + c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We know it passes through (5,33) so put these values in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33=-1+ c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c must be 34 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y=-2x + 34</a:t>
            </a:r>
            <a:endParaRPr lang="en-GB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ben\AppData\Local\Microsoft\Windows\Temporary Internet Files\Content.IE5\4DE9FDJU\MP9004277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836712"/>
          </a:xfr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4800" b="1" dirty="0" smtClean="0"/>
              <a:t>Example 3</a:t>
            </a:r>
            <a:endParaRPr lang="en-GB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784976" cy="5688632"/>
          </a:xfr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GB" b="1" dirty="0" smtClean="0"/>
              <a:t>Find the equation of the line which is perpendicular 	y=-1/3x + 8 at the point (9,5)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Gradient will be 3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Equation so far is y=3x + c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We know it passes through (9,5) so put these values in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5=27+ c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c must be -22 </a:t>
            </a:r>
          </a:p>
          <a:p>
            <a:pPr algn="ctr">
              <a:buNone/>
            </a:pPr>
            <a:endParaRPr lang="en-GB" b="1" dirty="0"/>
          </a:p>
          <a:p>
            <a:pPr algn="ctr">
              <a:buNone/>
            </a:pPr>
            <a:r>
              <a:rPr lang="en-GB" b="1" dirty="0" smtClean="0"/>
              <a:t>y=-3x -22</a:t>
            </a:r>
            <a:endParaRPr lang="en-GB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ben\AppData\Local\Microsoft\Windows\Temporary Internet Files\Content.IE5\4DE9FDJU\MP900427753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10952"/>
          </a:xfr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3200" dirty="0" smtClean="0">
                <a:latin typeface="Century Gothic" pitchFamily="34" charset="0"/>
              </a:rPr>
              <a:t>Parallel and Perpendicular lines</a:t>
            </a:r>
            <a:endParaRPr lang="en-GB" sz="2800" dirty="0">
              <a:latin typeface="Century Gothic" pitchFamily="34" charset="0"/>
            </a:endParaRPr>
          </a:p>
        </p:txBody>
      </p:sp>
      <p:pic>
        <p:nvPicPr>
          <p:cNvPr id="15370" name="Picture 10"/>
          <p:cNvPicPr>
            <a:picLocks noChangeAspect="1" noChangeArrowheads="1"/>
          </p:cNvPicPr>
          <p:nvPr/>
        </p:nvPicPr>
        <p:blipFill>
          <a:blip r:embed="rId3" cstate="print"/>
          <a:srcRect l="27391" t="33094" r="27227" b="21625"/>
          <a:stretch>
            <a:fillRect/>
          </a:stretch>
        </p:blipFill>
        <p:spPr bwMode="auto">
          <a:xfrm>
            <a:off x="107504" y="1340768"/>
            <a:ext cx="8856984" cy="4968552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251520" y="1412776"/>
            <a:ext cx="3923928" cy="3600986"/>
          </a:xfrm>
          <a:prstGeom prst="rect">
            <a:avLst/>
          </a:prstGeom>
          <a:solidFill>
            <a:srgbClr val="FFC000"/>
          </a:solidFill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ANSWERS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  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any line with a gradient of 3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any line with a gradient of 5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any line with a gradient of 2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any line with a gradient of -3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any line with a gradient of 0.5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y=3x-7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y=5x-10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y=2x+16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y=131-9x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y=-3x-15</a:t>
            </a:r>
            <a:endParaRPr kumimoji="0" lang="en-GB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GB" sz="32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084168" y="1340768"/>
            <a:ext cx="2808312" cy="4247317"/>
          </a:xfrm>
          <a:prstGeom prst="rect">
            <a:avLst/>
          </a:prstGeom>
          <a:solidFill>
            <a:srgbClr val="FFC000"/>
          </a:solidFill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  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-1/3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-1/5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-0.5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1/3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-2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2/3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4/3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-5/3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  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y=-0.5x + 9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y= -0.25x + 17.75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y= 2x-1</a:t>
            </a:r>
            <a:endParaRPr kumimoji="0" lang="en-GB" sz="14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GB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y= -2/3x + 1/3</a:t>
            </a:r>
            <a:endParaRPr kumimoji="0" lang="en-GB" sz="40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643</Words>
  <Application>Microsoft Office PowerPoint</Application>
  <PresentationFormat>On-screen Show (4:3)</PresentationFormat>
  <Paragraphs>154</Paragraphs>
  <Slides>17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Office Theme</vt:lpstr>
      <vt:lpstr>Equation</vt:lpstr>
      <vt:lpstr>Parallel and Perpendicular Lines</vt:lpstr>
      <vt:lpstr>y=mx+c</vt:lpstr>
      <vt:lpstr>y=2x+5</vt:lpstr>
      <vt:lpstr>y=0.5x-8</vt:lpstr>
      <vt:lpstr>Parallel Lines</vt:lpstr>
      <vt:lpstr>y=2x+5</vt:lpstr>
      <vt:lpstr>Parallel Lines</vt:lpstr>
      <vt:lpstr>PowerPoint Presentation</vt:lpstr>
      <vt:lpstr>PowerPoint Presentation</vt:lpstr>
      <vt:lpstr>Perpendicular Lines</vt:lpstr>
      <vt:lpstr>y=3x-8</vt:lpstr>
      <vt:lpstr>Finding a Perpendicular Gradient</vt:lpstr>
      <vt:lpstr>PowerPoint Presentation</vt:lpstr>
      <vt:lpstr>Example 1</vt:lpstr>
      <vt:lpstr>Example 2</vt:lpstr>
      <vt:lpstr>Example 3</vt:lpstr>
      <vt:lpstr>Parallel and Perpendicular lines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and Perpendicular Lines</dc:title>
  <dc:creator>ben</dc:creator>
  <cp:lastModifiedBy>FRASER-JONES Laura</cp:lastModifiedBy>
  <cp:revision>12</cp:revision>
  <dcterms:created xsi:type="dcterms:W3CDTF">2012-01-16T18:48:20Z</dcterms:created>
  <dcterms:modified xsi:type="dcterms:W3CDTF">2016-10-17T00:03:25Z</dcterms:modified>
</cp:coreProperties>
</file>
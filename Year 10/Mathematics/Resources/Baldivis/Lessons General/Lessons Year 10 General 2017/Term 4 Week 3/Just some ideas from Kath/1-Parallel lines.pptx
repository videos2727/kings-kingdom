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15" r:id="rId2"/>
    <p:sldId id="259" r:id="rId3"/>
    <p:sldId id="258" r:id="rId4"/>
    <p:sldId id="303" r:id="rId5"/>
    <p:sldId id="316" r:id="rId6"/>
    <p:sldId id="317" r:id="rId7"/>
    <p:sldId id="318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43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00" autoAdjust="0"/>
    <p:restoredTop sz="92883" autoAdjust="0"/>
  </p:normalViewPr>
  <p:slideViewPr>
    <p:cSldViewPr>
      <p:cViewPr>
        <p:scale>
          <a:sx n="75" d="100"/>
          <a:sy n="75" d="100"/>
        </p:scale>
        <p:origin x="840" y="4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24/10/16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Topic: Linear Algebra</a:t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EQ: </a:t>
            </a:r>
            <a:r>
              <a:rPr lang="en-GB" dirty="0" smtClean="0"/>
              <a:t>Do Parallel </a:t>
            </a:r>
            <a:r>
              <a:rPr lang="en-GB" dirty="0" smtClean="0"/>
              <a:t>lines </a:t>
            </a:r>
            <a:r>
              <a:rPr lang="en-GB" dirty="0"/>
              <a:t>have specific properties associated with their gradients.</a:t>
            </a:r>
            <a:r>
              <a:rPr lang="en-GB" b="1" dirty="0" smtClean="0"/>
              <a:t>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9132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310863" y="2189768"/>
            <a:ext cx="229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are Parallel line?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135366" y="2160070"/>
            <a:ext cx="5789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Lines that are parallel to each other will never intersect because they have the same slope or gradient.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63" y="2189768"/>
            <a:ext cx="229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are Parallel line?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91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135366" y="2160070"/>
            <a:ext cx="5789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Lines that are parallel to each other will never intersect because they have the same slope or gradient.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63" y="2189768"/>
            <a:ext cx="229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are Parallel line?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062" y="3049638"/>
            <a:ext cx="2336225" cy="201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2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135366" y="2160070"/>
            <a:ext cx="5789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Lines that are parallel to each other will never intersect because they have the same slope or gradient.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63" y="2189768"/>
            <a:ext cx="229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are Parallel line?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10863" y="3152326"/>
            <a:ext cx="5701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graph shown, we can see that the rise and run of both lines is identical. Hence, they both have the same gradient, which in this case is 1.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062" y="3049638"/>
            <a:ext cx="2336225" cy="201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2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135366" y="2160070"/>
            <a:ext cx="5789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Lines that are parallel to each other will never intersect because they have the same slope or gradient.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63" y="2189768"/>
            <a:ext cx="229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are Parallel line?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10863" y="3152326"/>
            <a:ext cx="5701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graph shown, we can see that the rise and run of both lines is identical. Hence, they both have the same gradient, which in this case is 1.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062" y="3049638"/>
            <a:ext cx="2336225" cy="20121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9298" y="4345220"/>
            <a:ext cx="51612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Gradient of   </a:t>
            </a:r>
            <a:r>
              <a:rPr lang="en-US" i="1" dirty="0" smtClean="0"/>
              <a:t>y</a:t>
            </a:r>
            <a:r>
              <a:rPr lang="en-US" dirty="0" smtClean="0"/>
              <a:t>1 =</a:t>
            </a:r>
            <a:r>
              <a:rPr lang="en-US" u="sng" dirty="0" smtClean="0"/>
              <a:t> rise </a:t>
            </a:r>
            <a:r>
              <a:rPr lang="en-US" dirty="0" smtClean="0"/>
              <a:t>= </a:t>
            </a:r>
            <a:r>
              <a:rPr lang="en-US" u="sng" dirty="0" smtClean="0"/>
              <a:t>2  </a:t>
            </a:r>
            <a:r>
              <a:rPr lang="en-US" dirty="0" smtClean="0"/>
              <a:t>= 1   </a:t>
            </a:r>
            <a:r>
              <a:rPr lang="en-US" dirty="0"/>
              <a:t>and </a:t>
            </a:r>
            <a:r>
              <a:rPr lang="en-US" dirty="0" smtClean="0"/>
              <a:t>      </a:t>
            </a:r>
            <a:r>
              <a:rPr lang="en-US" i="1" dirty="0" smtClean="0"/>
              <a:t>y</a:t>
            </a:r>
            <a:r>
              <a:rPr lang="en-US" dirty="0" smtClean="0"/>
              <a:t>-intercept</a:t>
            </a:r>
            <a:r>
              <a:rPr lang="en-US" dirty="0"/>
              <a:t> = </a:t>
            </a:r>
            <a:r>
              <a:rPr lang="en-US" dirty="0" smtClean="0"/>
              <a:t>3</a:t>
            </a:r>
          </a:p>
          <a:p>
            <a:r>
              <a:rPr lang="en-US" dirty="0" smtClean="0"/>
              <a:t>                                run   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49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135366" y="2160070"/>
            <a:ext cx="5789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Lines that are parallel to each other will never intersect because they have the same slope or gradient.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63" y="2189768"/>
            <a:ext cx="229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are Parallel line?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10863" y="3152326"/>
            <a:ext cx="5701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graph shown, we can see that the rise and run of both lines is identical. Hence, they both have the same gradient, which in this case is 1.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062" y="3049638"/>
            <a:ext cx="2336225" cy="20121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9298" y="4345220"/>
            <a:ext cx="51612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Gradient of   </a:t>
            </a:r>
            <a:r>
              <a:rPr lang="en-US" i="1" dirty="0" smtClean="0"/>
              <a:t>y</a:t>
            </a:r>
            <a:r>
              <a:rPr lang="en-US" dirty="0" smtClean="0"/>
              <a:t>1 =</a:t>
            </a:r>
            <a:r>
              <a:rPr lang="en-US" u="sng" dirty="0" smtClean="0"/>
              <a:t> rise </a:t>
            </a:r>
            <a:r>
              <a:rPr lang="en-US" dirty="0" smtClean="0"/>
              <a:t>= </a:t>
            </a:r>
            <a:r>
              <a:rPr lang="en-US" u="sng" dirty="0" smtClean="0"/>
              <a:t>2  </a:t>
            </a:r>
            <a:r>
              <a:rPr lang="en-US" dirty="0" smtClean="0"/>
              <a:t>= 1   </a:t>
            </a:r>
            <a:r>
              <a:rPr lang="en-US" dirty="0"/>
              <a:t>and </a:t>
            </a:r>
            <a:r>
              <a:rPr lang="en-US" dirty="0" smtClean="0"/>
              <a:t>      </a:t>
            </a:r>
            <a:r>
              <a:rPr lang="en-US" i="1" dirty="0" smtClean="0"/>
              <a:t>y</a:t>
            </a:r>
            <a:r>
              <a:rPr lang="en-US" dirty="0" smtClean="0"/>
              <a:t>-intercept</a:t>
            </a:r>
            <a:r>
              <a:rPr lang="en-US" dirty="0"/>
              <a:t> = </a:t>
            </a:r>
            <a:r>
              <a:rPr lang="en-US" dirty="0" smtClean="0"/>
              <a:t>3</a:t>
            </a:r>
          </a:p>
          <a:p>
            <a:r>
              <a:rPr lang="en-US" dirty="0" smtClean="0"/>
              <a:t>                                run    2</a:t>
            </a:r>
          </a:p>
          <a:p>
            <a:endParaRPr lang="en-US" dirty="0"/>
          </a:p>
          <a:p>
            <a:r>
              <a:rPr lang="en-US" dirty="0" smtClean="0"/>
              <a:t>Therefore</a:t>
            </a:r>
            <a:r>
              <a:rPr lang="en-US" dirty="0"/>
              <a:t>, the equation </a:t>
            </a:r>
            <a:r>
              <a:rPr lang="en-US" dirty="0" smtClean="0"/>
              <a:t>is:       </a:t>
            </a:r>
            <a:r>
              <a:rPr lang="en-US" i="1" dirty="0" smtClean="0"/>
              <a:t>y</a:t>
            </a:r>
            <a:r>
              <a:rPr lang="en-US" dirty="0" smtClean="0"/>
              <a:t>1</a:t>
            </a:r>
            <a:r>
              <a:rPr lang="en-US" dirty="0"/>
              <a:t> = </a:t>
            </a:r>
            <a:r>
              <a:rPr lang="en-US" i="1" dirty="0"/>
              <a:t>x</a:t>
            </a:r>
            <a:r>
              <a:rPr lang="en-US" dirty="0"/>
              <a:t> + </a:t>
            </a:r>
            <a:r>
              <a:rPr lang="en-US" dirty="0" smtClean="0"/>
              <a:t>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89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135366" y="2160070"/>
            <a:ext cx="5789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Lines that are parallel to each other will never intersect because they have the same slope or gradient.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63" y="2189768"/>
            <a:ext cx="229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are Parallel line?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10863" y="3152326"/>
            <a:ext cx="5701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graph shown, we can see that the rise and run of both lines is identical. Hence, they both have the same gradient, which in this case is 1.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062" y="3049638"/>
            <a:ext cx="2336225" cy="20121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9298" y="4345220"/>
            <a:ext cx="52318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Gradient of   </a:t>
            </a:r>
            <a:r>
              <a:rPr lang="en-US" i="1" dirty="0" smtClean="0"/>
              <a:t>y</a:t>
            </a:r>
            <a:r>
              <a:rPr lang="en-US" dirty="0" smtClean="0"/>
              <a:t>1 =</a:t>
            </a:r>
            <a:r>
              <a:rPr lang="en-US" u="sng" dirty="0" smtClean="0"/>
              <a:t> rise </a:t>
            </a:r>
            <a:r>
              <a:rPr lang="en-US" dirty="0" smtClean="0"/>
              <a:t>= </a:t>
            </a:r>
            <a:r>
              <a:rPr lang="en-US" u="sng" dirty="0" smtClean="0"/>
              <a:t>2  </a:t>
            </a:r>
            <a:r>
              <a:rPr lang="en-US" dirty="0" smtClean="0"/>
              <a:t>= 1   </a:t>
            </a:r>
            <a:r>
              <a:rPr lang="en-US" dirty="0"/>
              <a:t>and </a:t>
            </a:r>
            <a:r>
              <a:rPr lang="en-US" dirty="0" smtClean="0"/>
              <a:t>      </a:t>
            </a:r>
            <a:r>
              <a:rPr lang="en-US" i="1" dirty="0" smtClean="0"/>
              <a:t>y</a:t>
            </a:r>
            <a:r>
              <a:rPr lang="en-US" dirty="0" smtClean="0"/>
              <a:t>-intercept</a:t>
            </a:r>
            <a:r>
              <a:rPr lang="en-US" dirty="0"/>
              <a:t> = </a:t>
            </a:r>
            <a:r>
              <a:rPr lang="en-US" dirty="0" smtClean="0"/>
              <a:t>3</a:t>
            </a:r>
          </a:p>
          <a:p>
            <a:r>
              <a:rPr lang="en-US" dirty="0" smtClean="0"/>
              <a:t>                                run    2</a:t>
            </a:r>
          </a:p>
          <a:p>
            <a:endParaRPr lang="en-US" dirty="0"/>
          </a:p>
          <a:p>
            <a:r>
              <a:rPr lang="en-US" dirty="0" smtClean="0"/>
              <a:t>Therefore</a:t>
            </a:r>
            <a:r>
              <a:rPr lang="en-US" dirty="0"/>
              <a:t>, the equation </a:t>
            </a:r>
            <a:r>
              <a:rPr lang="en-US" dirty="0" smtClean="0"/>
              <a:t>is:       </a:t>
            </a:r>
            <a:r>
              <a:rPr lang="en-US" i="1" dirty="0" smtClean="0"/>
              <a:t>y</a:t>
            </a:r>
            <a:r>
              <a:rPr lang="en-US" dirty="0" smtClean="0"/>
              <a:t>1</a:t>
            </a:r>
            <a:r>
              <a:rPr lang="en-US" dirty="0"/>
              <a:t> = </a:t>
            </a:r>
            <a:r>
              <a:rPr lang="en-US" i="1" dirty="0"/>
              <a:t>x</a:t>
            </a:r>
            <a:r>
              <a:rPr lang="en-US" dirty="0"/>
              <a:t> + </a:t>
            </a:r>
            <a:r>
              <a:rPr lang="en-US" dirty="0" smtClean="0"/>
              <a:t>3</a:t>
            </a:r>
          </a:p>
          <a:p>
            <a:endParaRPr lang="en-US" dirty="0"/>
          </a:p>
          <a:p>
            <a:r>
              <a:rPr lang="en-US" dirty="0"/>
              <a:t>Gradient of   </a:t>
            </a:r>
            <a:r>
              <a:rPr lang="en-US" i="1" dirty="0" smtClean="0"/>
              <a:t>y</a:t>
            </a:r>
            <a:r>
              <a:rPr lang="en-US" dirty="0" smtClean="0"/>
              <a:t>2</a:t>
            </a:r>
            <a:r>
              <a:rPr lang="en-US" dirty="0"/>
              <a:t> =</a:t>
            </a:r>
            <a:r>
              <a:rPr lang="en-US" u="sng" dirty="0"/>
              <a:t> rise </a:t>
            </a:r>
            <a:r>
              <a:rPr lang="en-US" dirty="0"/>
              <a:t>= </a:t>
            </a:r>
            <a:r>
              <a:rPr lang="en-US" u="sng" dirty="0"/>
              <a:t>2 </a:t>
            </a:r>
            <a:r>
              <a:rPr lang="en-US" u="sng" dirty="0" smtClean="0"/>
              <a:t> </a:t>
            </a:r>
            <a:r>
              <a:rPr lang="en-US" dirty="0" smtClean="0"/>
              <a:t>= </a:t>
            </a:r>
            <a:r>
              <a:rPr lang="en-US" dirty="0"/>
              <a:t>1   and       </a:t>
            </a:r>
            <a:r>
              <a:rPr lang="en-US" i="1" dirty="0"/>
              <a:t>y</a:t>
            </a:r>
            <a:r>
              <a:rPr lang="en-US" dirty="0"/>
              <a:t>-intercept = </a:t>
            </a:r>
            <a:r>
              <a:rPr lang="en-US" dirty="0" smtClean="0"/>
              <a:t>-1</a:t>
            </a:r>
            <a:endParaRPr lang="en-US" dirty="0"/>
          </a:p>
          <a:p>
            <a:r>
              <a:rPr lang="en-US" dirty="0"/>
              <a:t>                                run    </a:t>
            </a:r>
            <a:r>
              <a:rPr lang="en-US" dirty="0" smtClean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413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135366" y="2160070"/>
            <a:ext cx="5789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Lines that are parallel to each other will never intersect because they have the same slope or gradient.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63" y="2189768"/>
            <a:ext cx="229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are Parallel line?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10863" y="3152326"/>
            <a:ext cx="5701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graph shown, we can see that the rise and run of both lines is identical. Hence, they both have the same gradient, which in this case is 1.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062" y="3049638"/>
            <a:ext cx="2336225" cy="20121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9298" y="4345220"/>
            <a:ext cx="523181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Gradient of   </a:t>
            </a:r>
            <a:r>
              <a:rPr lang="en-US" i="1" dirty="0" smtClean="0"/>
              <a:t>y</a:t>
            </a:r>
            <a:r>
              <a:rPr lang="en-US" dirty="0" smtClean="0"/>
              <a:t>1 =</a:t>
            </a:r>
            <a:r>
              <a:rPr lang="en-US" u="sng" dirty="0" smtClean="0"/>
              <a:t> rise </a:t>
            </a:r>
            <a:r>
              <a:rPr lang="en-US" dirty="0" smtClean="0"/>
              <a:t>= </a:t>
            </a:r>
            <a:r>
              <a:rPr lang="en-US" u="sng" dirty="0" smtClean="0"/>
              <a:t>2  </a:t>
            </a:r>
            <a:r>
              <a:rPr lang="en-US" dirty="0" smtClean="0"/>
              <a:t>= 1   </a:t>
            </a:r>
            <a:r>
              <a:rPr lang="en-US" dirty="0"/>
              <a:t>and </a:t>
            </a:r>
            <a:r>
              <a:rPr lang="en-US" dirty="0" smtClean="0"/>
              <a:t>      </a:t>
            </a:r>
            <a:r>
              <a:rPr lang="en-US" i="1" dirty="0" smtClean="0"/>
              <a:t>y</a:t>
            </a:r>
            <a:r>
              <a:rPr lang="en-US" dirty="0" smtClean="0"/>
              <a:t>-intercept</a:t>
            </a:r>
            <a:r>
              <a:rPr lang="en-US" dirty="0"/>
              <a:t> = </a:t>
            </a:r>
            <a:r>
              <a:rPr lang="en-US" dirty="0" smtClean="0"/>
              <a:t>3</a:t>
            </a:r>
          </a:p>
          <a:p>
            <a:r>
              <a:rPr lang="en-US" dirty="0" smtClean="0"/>
              <a:t>                                run    2</a:t>
            </a:r>
          </a:p>
          <a:p>
            <a:endParaRPr lang="en-US" dirty="0"/>
          </a:p>
          <a:p>
            <a:r>
              <a:rPr lang="en-US" dirty="0" smtClean="0"/>
              <a:t>Therefore</a:t>
            </a:r>
            <a:r>
              <a:rPr lang="en-US" dirty="0"/>
              <a:t>, the equation </a:t>
            </a:r>
            <a:r>
              <a:rPr lang="en-US" dirty="0" smtClean="0"/>
              <a:t>is:       </a:t>
            </a:r>
            <a:r>
              <a:rPr lang="en-US" i="1" dirty="0" smtClean="0"/>
              <a:t>y</a:t>
            </a:r>
            <a:r>
              <a:rPr lang="en-US" dirty="0" smtClean="0"/>
              <a:t>1</a:t>
            </a:r>
            <a:r>
              <a:rPr lang="en-US" dirty="0"/>
              <a:t> = </a:t>
            </a:r>
            <a:r>
              <a:rPr lang="en-US" i="1" dirty="0"/>
              <a:t>x</a:t>
            </a:r>
            <a:r>
              <a:rPr lang="en-US" dirty="0"/>
              <a:t> + </a:t>
            </a:r>
            <a:r>
              <a:rPr lang="en-US" dirty="0" smtClean="0"/>
              <a:t>3</a:t>
            </a:r>
          </a:p>
          <a:p>
            <a:endParaRPr lang="en-US" dirty="0"/>
          </a:p>
          <a:p>
            <a:r>
              <a:rPr lang="en-US" dirty="0"/>
              <a:t>Gradient of   </a:t>
            </a:r>
            <a:r>
              <a:rPr lang="en-US" i="1" dirty="0" smtClean="0"/>
              <a:t>y</a:t>
            </a:r>
            <a:r>
              <a:rPr lang="en-US" dirty="0" smtClean="0"/>
              <a:t>2</a:t>
            </a:r>
            <a:r>
              <a:rPr lang="en-US" dirty="0"/>
              <a:t> =</a:t>
            </a:r>
            <a:r>
              <a:rPr lang="en-US" u="sng" dirty="0"/>
              <a:t> rise </a:t>
            </a:r>
            <a:r>
              <a:rPr lang="en-US" dirty="0"/>
              <a:t>= </a:t>
            </a:r>
            <a:r>
              <a:rPr lang="en-US" u="sng" dirty="0"/>
              <a:t>2 </a:t>
            </a:r>
            <a:r>
              <a:rPr lang="en-US" u="sng" dirty="0" smtClean="0"/>
              <a:t> </a:t>
            </a:r>
            <a:r>
              <a:rPr lang="en-US" dirty="0" smtClean="0"/>
              <a:t>= </a:t>
            </a:r>
            <a:r>
              <a:rPr lang="en-US" dirty="0"/>
              <a:t>1   and       </a:t>
            </a:r>
            <a:r>
              <a:rPr lang="en-US" i="1" dirty="0"/>
              <a:t>y</a:t>
            </a:r>
            <a:r>
              <a:rPr lang="en-US" dirty="0"/>
              <a:t>-intercept = </a:t>
            </a:r>
            <a:r>
              <a:rPr lang="en-US" dirty="0" smtClean="0"/>
              <a:t>-1</a:t>
            </a:r>
            <a:endParaRPr lang="en-US" dirty="0"/>
          </a:p>
          <a:p>
            <a:r>
              <a:rPr lang="en-US" dirty="0"/>
              <a:t>                                run    </a:t>
            </a:r>
            <a:r>
              <a:rPr lang="en-US" dirty="0" smtClean="0"/>
              <a:t>2</a:t>
            </a:r>
          </a:p>
          <a:p>
            <a:r>
              <a:rPr lang="en-US" dirty="0" smtClean="0"/>
              <a:t>Therefore, the equation is:       </a:t>
            </a:r>
            <a:r>
              <a:rPr lang="en-US" i="1" dirty="0" smtClean="0"/>
              <a:t>y</a:t>
            </a:r>
            <a:r>
              <a:rPr lang="en-US" dirty="0" smtClean="0"/>
              <a:t>2 = </a:t>
            </a:r>
            <a:r>
              <a:rPr lang="en-US" i="1" dirty="0" smtClean="0"/>
              <a:t>x</a:t>
            </a:r>
            <a:r>
              <a:rPr lang="en-US" dirty="0" smtClean="0"/>
              <a:t> − 1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18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71962" y="2189768"/>
            <a:ext cx="7574873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Two lines that are parallel have the same gradient: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1 =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2.</a:t>
            </a:r>
            <a:endParaRPr lang="en-US" sz="2000" dirty="0"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5733" y="4809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434667" y="6570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47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71962" y="2189768"/>
            <a:ext cx="7574873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Two lines that are parallel have the same gradient: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1 =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2.</a:t>
            </a:r>
            <a:endParaRPr lang="en-US" sz="2000" dirty="0"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1962" y="2668270"/>
            <a:ext cx="1230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Example#1</a:t>
            </a:r>
            <a:endParaRPr lang="en-US" b="1" i="1" dirty="0"/>
          </a:p>
        </p:txBody>
      </p:sp>
      <p:sp>
        <p:nvSpPr>
          <p:cNvPr id="16" name="TextBox 15"/>
          <p:cNvSpPr txBox="1"/>
          <p:nvPr/>
        </p:nvSpPr>
        <p:spPr>
          <a:xfrm>
            <a:off x="575733" y="4809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434667" y="6570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53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71962" y="2189768"/>
            <a:ext cx="7574873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Two lines that are parallel have the same gradient: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1 =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2.</a:t>
            </a:r>
            <a:endParaRPr lang="en-US" sz="2000" dirty="0"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503" y="3004218"/>
            <a:ext cx="8366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 that the line with equation 2</a:t>
            </a:r>
            <a:r>
              <a:rPr lang="en-US" i="1" dirty="0"/>
              <a:t>y</a:t>
            </a:r>
            <a:r>
              <a:rPr lang="en-US" dirty="0"/>
              <a:t> = 4</a:t>
            </a:r>
            <a:r>
              <a:rPr lang="en-US" i="1" dirty="0"/>
              <a:t>x</a:t>
            </a:r>
            <a:r>
              <a:rPr lang="en-US" dirty="0"/>
              <a:t> − 9 is parallel to the line with equation 3</a:t>
            </a:r>
            <a:r>
              <a:rPr lang="en-US" i="1" dirty="0"/>
              <a:t>y</a:t>
            </a:r>
            <a:r>
              <a:rPr lang="en-US" dirty="0"/>
              <a:t> − 6</a:t>
            </a:r>
            <a:r>
              <a:rPr lang="en-US" i="1" dirty="0"/>
              <a:t>x</a:t>
            </a:r>
            <a:r>
              <a:rPr lang="en-US" dirty="0"/>
              <a:t> + 5 = 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962" y="2668270"/>
            <a:ext cx="1230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Example#1</a:t>
            </a:r>
            <a:endParaRPr lang="en-US" b="1" i="1" dirty="0"/>
          </a:p>
        </p:txBody>
      </p:sp>
      <p:sp>
        <p:nvSpPr>
          <p:cNvPr id="16" name="TextBox 15"/>
          <p:cNvSpPr txBox="1"/>
          <p:nvPr/>
        </p:nvSpPr>
        <p:spPr>
          <a:xfrm>
            <a:off x="575733" y="4809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434667" y="6570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3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71962" y="2189768"/>
            <a:ext cx="7574873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Two lines that are parallel have the same gradient: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1 =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2.</a:t>
            </a:r>
            <a:endParaRPr lang="en-US" sz="2000" dirty="0"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503" y="3004218"/>
            <a:ext cx="8366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 that the line with equation 2</a:t>
            </a:r>
            <a:r>
              <a:rPr lang="en-US" i="1" dirty="0"/>
              <a:t>y</a:t>
            </a:r>
            <a:r>
              <a:rPr lang="en-US" dirty="0"/>
              <a:t> = 4</a:t>
            </a:r>
            <a:r>
              <a:rPr lang="en-US" i="1" dirty="0"/>
              <a:t>x</a:t>
            </a:r>
            <a:r>
              <a:rPr lang="en-US" dirty="0"/>
              <a:t> − 9 is parallel to the line with equation 3</a:t>
            </a:r>
            <a:r>
              <a:rPr lang="en-US" i="1" dirty="0"/>
              <a:t>y</a:t>
            </a:r>
            <a:r>
              <a:rPr lang="en-US" dirty="0"/>
              <a:t> − 6</a:t>
            </a:r>
            <a:r>
              <a:rPr lang="en-US" i="1" dirty="0"/>
              <a:t>x</a:t>
            </a:r>
            <a:r>
              <a:rPr lang="en-US" dirty="0"/>
              <a:t> + 5 = 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962" y="2668270"/>
            <a:ext cx="1230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Example#1</a:t>
            </a:r>
            <a:endParaRPr lang="en-US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370663" y="3934435"/>
            <a:ext cx="32652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1:</a:t>
            </a:r>
            <a:r>
              <a:rPr lang="en-US" b="1" dirty="0"/>
              <a:t> </a:t>
            </a:r>
            <a:r>
              <a:rPr lang="en-US" dirty="0"/>
              <a:t>Rearrange both equations using inverse operations to get the equations in the form </a:t>
            </a:r>
            <a:r>
              <a:rPr lang="en-US" i="1" dirty="0"/>
              <a:t>y</a:t>
            </a:r>
            <a:r>
              <a:rPr lang="en-US" dirty="0"/>
              <a:t> = </a:t>
            </a:r>
            <a:r>
              <a:rPr lang="en-US" i="1" dirty="0"/>
              <a:t>mx</a:t>
            </a:r>
            <a:r>
              <a:rPr lang="en-US" dirty="0"/>
              <a:t> + 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733" y="4809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434667" y="6570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73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71962" y="2189768"/>
            <a:ext cx="7574873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Two lines that are parallel have the same gradient: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1 =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2.</a:t>
            </a:r>
            <a:endParaRPr lang="en-US" sz="2000" dirty="0"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503" y="3004218"/>
            <a:ext cx="8366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 that the line with equation 2</a:t>
            </a:r>
            <a:r>
              <a:rPr lang="en-US" i="1" dirty="0"/>
              <a:t>y</a:t>
            </a:r>
            <a:r>
              <a:rPr lang="en-US" dirty="0"/>
              <a:t> = 4</a:t>
            </a:r>
            <a:r>
              <a:rPr lang="en-US" i="1" dirty="0"/>
              <a:t>x</a:t>
            </a:r>
            <a:r>
              <a:rPr lang="en-US" dirty="0"/>
              <a:t> − 9 is parallel to the line with equation 3</a:t>
            </a:r>
            <a:r>
              <a:rPr lang="en-US" i="1" dirty="0"/>
              <a:t>y</a:t>
            </a:r>
            <a:r>
              <a:rPr lang="en-US" dirty="0"/>
              <a:t> − 6</a:t>
            </a:r>
            <a:r>
              <a:rPr lang="en-US" i="1" dirty="0"/>
              <a:t>x</a:t>
            </a:r>
            <a:r>
              <a:rPr lang="en-US" dirty="0"/>
              <a:t> + 5 = 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962" y="2668270"/>
            <a:ext cx="1282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Example #1</a:t>
            </a:r>
            <a:endParaRPr lang="en-US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370663" y="3934435"/>
            <a:ext cx="32652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1:</a:t>
            </a:r>
            <a:r>
              <a:rPr lang="en-US" b="1" dirty="0"/>
              <a:t> </a:t>
            </a:r>
            <a:r>
              <a:rPr lang="en-US" dirty="0"/>
              <a:t>Rearrange both equations using inverse operations to get the equations in the form </a:t>
            </a:r>
            <a:r>
              <a:rPr lang="en-US" i="1" dirty="0"/>
              <a:t>y</a:t>
            </a:r>
            <a:r>
              <a:rPr lang="en-US" dirty="0"/>
              <a:t> = </a:t>
            </a:r>
            <a:r>
              <a:rPr lang="en-US" i="1" dirty="0"/>
              <a:t>mx</a:t>
            </a:r>
            <a:r>
              <a:rPr lang="en-US" dirty="0"/>
              <a:t> + 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733" y="4809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736" y="3651656"/>
            <a:ext cx="1460500" cy="1752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34667" y="6570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81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71962" y="2189768"/>
            <a:ext cx="7574873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Two lines that are parallel have the same gradient: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1 =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2.</a:t>
            </a:r>
            <a:endParaRPr lang="en-US" sz="2000" dirty="0"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503" y="3004218"/>
            <a:ext cx="8366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 that the line with equation 2</a:t>
            </a:r>
            <a:r>
              <a:rPr lang="en-US" i="1" dirty="0"/>
              <a:t>y</a:t>
            </a:r>
            <a:r>
              <a:rPr lang="en-US" dirty="0"/>
              <a:t> = 4</a:t>
            </a:r>
            <a:r>
              <a:rPr lang="en-US" i="1" dirty="0"/>
              <a:t>x</a:t>
            </a:r>
            <a:r>
              <a:rPr lang="en-US" dirty="0"/>
              <a:t> − 9 is parallel to the line with equation 3</a:t>
            </a:r>
            <a:r>
              <a:rPr lang="en-US" i="1" dirty="0"/>
              <a:t>y</a:t>
            </a:r>
            <a:r>
              <a:rPr lang="en-US" dirty="0"/>
              <a:t> − 6</a:t>
            </a:r>
            <a:r>
              <a:rPr lang="en-US" i="1" dirty="0"/>
              <a:t>x</a:t>
            </a:r>
            <a:r>
              <a:rPr lang="en-US" dirty="0"/>
              <a:t> + 5 = 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962" y="2668270"/>
            <a:ext cx="1282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Example #1</a:t>
            </a:r>
            <a:endParaRPr lang="en-US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370663" y="3934435"/>
            <a:ext cx="32652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1:</a:t>
            </a:r>
            <a:r>
              <a:rPr lang="en-US" b="1" dirty="0"/>
              <a:t> </a:t>
            </a:r>
            <a:r>
              <a:rPr lang="en-US" dirty="0"/>
              <a:t>Rearrange both equations using inverse operations to get the equations in the form </a:t>
            </a:r>
            <a:r>
              <a:rPr lang="en-US" i="1" dirty="0"/>
              <a:t>y</a:t>
            </a:r>
            <a:r>
              <a:rPr lang="en-US" dirty="0"/>
              <a:t> = </a:t>
            </a:r>
            <a:r>
              <a:rPr lang="en-US" i="1" dirty="0"/>
              <a:t>mx</a:t>
            </a:r>
            <a:r>
              <a:rPr lang="en-US" dirty="0"/>
              <a:t> + 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733" y="4809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736" y="3651656"/>
            <a:ext cx="1460500" cy="1752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754" y="3580865"/>
            <a:ext cx="2120900" cy="2159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34667" y="6570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643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71962" y="2189768"/>
            <a:ext cx="7574873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Two lines that are parallel have the same gradient: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1 =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2.</a:t>
            </a:r>
            <a:endParaRPr lang="en-US" sz="2000" dirty="0"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503" y="3004218"/>
            <a:ext cx="8366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 that the line with equation 2</a:t>
            </a:r>
            <a:r>
              <a:rPr lang="en-US" i="1" dirty="0"/>
              <a:t>y</a:t>
            </a:r>
            <a:r>
              <a:rPr lang="en-US" dirty="0"/>
              <a:t> = 4</a:t>
            </a:r>
            <a:r>
              <a:rPr lang="en-US" i="1" dirty="0"/>
              <a:t>x</a:t>
            </a:r>
            <a:r>
              <a:rPr lang="en-US" dirty="0"/>
              <a:t> − 9 is parallel to the line with equation 3</a:t>
            </a:r>
            <a:r>
              <a:rPr lang="en-US" i="1" dirty="0"/>
              <a:t>y</a:t>
            </a:r>
            <a:r>
              <a:rPr lang="en-US" dirty="0"/>
              <a:t> − 6</a:t>
            </a:r>
            <a:r>
              <a:rPr lang="en-US" i="1" dirty="0"/>
              <a:t>x</a:t>
            </a:r>
            <a:r>
              <a:rPr lang="en-US" dirty="0"/>
              <a:t> + 5 = 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962" y="2668270"/>
            <a:ext cx="1282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Example #1</a:t>
            </a:r>
            <a:endParaRPr lang="en-US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370663" y="3934435"/>
            <a:ext cx="32652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1:</a:t>
            </a:r>
            <a:r>
              <a:rPr lang="en-US" b="1" dirty="0"/>
              <a:t> </a:t>
            </a:r>
            <a:r>
              <a:rPr lang="en-US" dirty="0"/>
              <a:t>Rearrange both equations using inverse operations to get the equations in the form </a:t>
            </a:r>
            <a:r>
              <a:rPr lang="en-US" i="1" dirty="0"/>
              <a:t>y</a:t>
            </a:r>
            <a:r>
              <a:rPr lang="en-US" dirty="0"/>
              <a:t> = </a:t>
            </a:r>
            <a:r>
              <a:rPr lang="en-US" i="1" dirty="0"/>
              <a:t>mx</a:t>
            </a:r>
            <a:r>
              <a:rPr lang="en-US" dirty="0"/>
              <a:t> + 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733" y="4809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736" y="3651656"/>
            <a:ext cx="1460500" cy="1752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754" y="3580865"/>
            <a:ext cx="2120900" cy="2159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0663" y="5874891"/>
            <a:ext cx="4383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2: </a:t>
            </a:r>
            <a:r>
              <a:rPr lang="en-US" b="1" dirty="0"/>
              <a:t> </a:t>
            </a:r>
            <a:r>
              <a:rPr lang="en-US" dirty="0"/>
              <a:t>Compare the gradient values to show that </a:t>
            </a:r>
            <a:r>
              <a:rPr lang="en-US" i="1" dirty="0"/>
              <a:t>m</a:t>
            </a:r>
            <a:r>
              <a:rPr lang="en-US" dirty="0"/>
              <a:t>1 = </a:t>
            </a:r>
            <a:r>
              <a:rPr lang="en-US" i="1" dirty="0"/>
              <a:t>m</a:t>
            </a:r>
            <a:r>
              <a:rPr lang="en-US" dirty="0"/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667" y="6570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602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Parallel </a:t>
            </a:r>
            <a:r>
              <a:rPr lang="en-GB" sz="2400" dirty="0" smtClean="0"/>
              <a:t>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71962" y="2189768"/>
            <a:ext cx="7574873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Two lines that are parallel have the same gradient: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1 = </a:t>
            </a:r>
            <a:r>
              <a:rPr lang="en-US" sz="2000" i="1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m</a:t>
            </a:r>
            <a:r>
              <a:rPr lang="en-US" sz="2000" dirty="0">
                <a:solidFill>
                  <a:srgbClr val="000000"/>
                </a:solidFill>
                <a:latin typeface="Chalkboard" charset="0"/>
                <a:ea typeface="Chalkboard" charset="0"/>
                <a:cs typeface="Chalkboard" charset="0"/>
              </a:rPr>
              <a:t>2.</a:t>
            </a:r>
            <a:endParaRPr lang="en-US" sz="2000" dirty="0"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503" y="3004218"/>
            <a:ext cx="8366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 that the line with equation 2</a:t>
            </a:r>
            <a:r>
              <a:rPr lang="en-US" i="1" dirty="0"/>
              <a:t>y</a:t>
            </a:r>
            <a:r>
              <a:rPr lang="en-US" dirty="0"/>
              <a:t> = 4</a:t>
            </a:r>
            <a:r>
              <a:rPr lang="en-US" i="1" dirty="0"/>
              <a:t>x</a:t>
            </a:r>
            <a:r>
              <a:rPr lang="en-US" dirty="0"/>
              <a:t> − 9 is parallel to the line with equation 3</a:t>
            </a:r>
            <a:r>
              <a:rPr lang="en-US" i="1" dirty="0"/>
              <a:t>y</a:t>
            </a:r>
            <a:r>
              <a:rPr lang="en-US" dirty="0"/>
              <a:t> − 6</a:t>
            </a:r>
            <a:r>
              <a:rPr lang="en-US" i="1" dirty="0"/>
              <a:t>x</a:t>
            </a:r>
            <a:r>
              <a:rPr lang="en-US" dirty="0"/>
              <a:t> + 5 = 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962" y="2668270"/>
            <a:ext cx="1282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Example #1</a:t>
            </a:r>
            <a:endParaRPr lang="en-US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370663" y="3934435"/>
            <a:ext cx="32652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1:</a:t>
            </a:r>
            <a:r>
              <a:rPr lang="en-US" b="1" dirty="0"/>
              <a:t> </a:t>
            </a:r>
            <a:r>
              <a:rPr lang="en-US" dirty="0"/>
              <a:t>Rearrange both equations using inverse operations to get the equations in the form </a:t>
            </a:r>
            <a:r>
              <a:rPr lang="en-US" i="1" dirty="0"/>
              <a:t>y</a:t>
            </a:r>
            <a:r>
              <a:rPr lang="en-US" dirty="0"/>
              <a:t> = </a:t>
            </a:r>
            <a:r>
              <a:rPr lang="en-US" i="1" dirty="0"/>
              <a:t>mx</a:t>
            </a:r>
            <a:r>
              <a:rPr lang="en-US" dirty="0"/>
              <a:t> + 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733" y="4809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736" y="3651656"/>
            <a:ext cx="1460500" cy="1752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754" y="3580865"/>
            <a:ext cx="2120900" cy="2159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0663" y="5874891"/>
            <a:ext cx="4383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2: </a:t>
            </a:r>
            <a:r>
              <a:rPr lang="en-US" b="1" dirty="0"/>
              <a:t> </a:t>
            </a:r>
            <a:r>
              <a:rPr lang="en-US" dirty="0"/>
              <a:t>Compare the gradient values to show that </a:t>
            </a:r>
            <a:r>
              <a:rPr lang="en-US" i="1" dirty="0"/>
              <a:t>m</a:t>
            </a:r>
            <a:r>
              <a:rPr lang="en-US" dirty="0"/>
              <a:t>1 = </a:t>
            </a:r>
            <a:r>
              <a:rPr lang="en-US" i="1" dirty="0"/>
              <a:t>m</a:t>
            </a:r>
            <a:r>
              <a:rPr lang="en-US" dirty="0"/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667" y="6570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380" y="5864823"/>
            <a:ext cx="34036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8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07382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933</Words>
  <Application>Microsoft Macintosh PowerPoint</Application>
  <PresentationFormat>On-screen Show (4:3)</PresentationFormat>
  <Paragraphs>211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Chalkboard</vt:lpstr>
      <vt:lpstr>Office Theme</vt:lpstr>
      <vt:lpstr>Topic: Linear Algebra  EQ: Do Parallel lines have specific properties associated with their gradients.?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90</cp:revision>
  <dcterms:created xsi:type="dcterms:W3CDTF">2014-05-14T02:58:57Z</dcterms:created>
  <dcterms:modified xsi:type="dcterms:W3CDTF">2016-10-24T01:07:59Z</dcterms:modified>
</cp:coreProperties>
</file>
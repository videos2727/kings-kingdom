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15" r:id="rId2"/>
    <p:sldId id="259" r:id="rId3"/>
    <p:sldId id="258" r:id="rId4"/>
    <p:sldId id="344" r:id="rId5"/>
    <p:sldId id="358" r:id="rId6"/>
    <p:sldId id="350" r:id="rId7"/>
    <p:sldId id="345" r:id="rId8"/>
    <p:sldId id="346" r:id="rId9"/>
    <p:sldId id="347" r:id="rId10"/>
    <p:sldId id="348" r:id="rId11"/>
    <p:sldId id="333" r:id="rId12"/>
    <p:sldId id="352" r:id="rId13"/>
    <p:sldId id="351" r:id="rId14"/>
    <p:sldId id="353" r:id="rId15"/>
    <p:sldId id="354" r:id="rId16"/>
    <p:sldId id="355" r:id="rId17"/>
    <p:sldId id="356" r:id="rId18"/>
    <p:sldId id="357" r:id="rId19"/>
    <p:sldId id="343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 autoAdjust="0"/>
    <p:restoredTop sz="92883" autoAdjust="0"/>
  </p:normalViewPr>
  <p:slideViewPr>
    <p:cSldViewPr>
      <p:cViewPr>
        <p:scale>
          <a:sx n="75" d="100"/>
          <a:sy n="75" d="100"/>
        </p:scale>
        <p:origin x="840" y="4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26/10/16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26/10/16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Topic: Linear Algebra</a:t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EQ: </a:t>
            </a:r>
            <a:r>
              <a:rPr lang="en-GB" dirty="0" smtClean="0"/>
              <a:t>Do </a:t>
            </a:r>
            <a:r>
              <a:rPr lang="en-GB" dirty="0" smtClean="0"/>
              <a:t>perpendicular </a:t>
            </a:r>
            <a:r>
              <a:rPr lang="en-GB" dirty="0"/>
              <a:t>lines have specific properties associated with their gradients.</a:t>
            </a:r>
            <a:r>
              <a:rPr lang="en-GB" b="1" dirty="0" smtClean="0"/>
              <a:t>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9132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053177" y="1894433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4159" y="2110208"/>
            <a:ext cx="2969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Perpendicular line?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08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053177" y="1894433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4159" y="2110208"/>
            <a:ext cx="2969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Perpendicular line?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29090" y="2110208"/>
            <a:ext cx="513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Lines that are perpendicular intersect at right angles.</a:t>
            </a:r>
          </a:p>
        </p:txBody>
      </p:sp>
    </p:spTree>
    <p:extLst>
      <p:ext uri="{BB962C8B-B14F-4D97-AF65-F5344CB8AC3E}">
        <p14:creationId xmlns:p14="http://schemas.microsoft.com/office/powerpoint/2010/main" val="136530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053177" y="1894433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4159" y="2110208"/>
            <a:ext cx="2969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Perpendicular line?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29090" y="2110208"/>
            <a:ext cx="513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Lines that are perpendicular intersect at right angles.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345" y="2672915"/>
            <a:ext cx="2731008" cy="279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1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053177" y="1894433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4159" y="2110208"/>
            <a:ext cx="2969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Perpendicular line?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29090" y="2110208"/>
            <a:ext cx="513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Lines that are perpendicular intersect at right angles.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674" y="3043699"/>
            <a:ext cx="5989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blue line</a:t>
            </a:r>
            <a:r>
              <a:rPr lang="en-US" dirty="0"/>
              <a:t> </a:t>
            </a:r>
            <a:r>
              <a:rPr lang="en-US" i="1" dirty="0"/>
              <a:t>y</a:t>
            </a:r>
            <a:r>
              <a:rPr lang="en-US" dirty="0"/>
              <a:t> = -2</a:t>
            </a:r>
            <a:r>
              <a:rPr lang="en-US" i="1" dirty="0"/>
              <a:t>x</a:t>
            </a:r>
            <a:r>
              <a:rPr lang="en-US" dirty="0"/>
              <a:t> + 4 has an </a:t>
            </a:r>
            <a:r>
              <a:rPr lang="en-US" i="1" dirty="0"/>
              <a:t>x</a:t>
            </a:r>
            <a:r>
              <a:rPr lang="en-US" dirty="0"/>
              <a:t>-intercept of (2, 0) and a </a:t>
            </a:r>
            <a:r>
              <a:rPr lang="en-US" i="1" dirty="0"/>
              <a:t>y</a:t>
            </a:r>
            <a:r>
              <a:rPr lang="en-US" dirty="0"/>
              <a:t>-intercept of (0, 4).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71" y="2523881"/>
            <a:ext cx="2731008" cy="279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0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053177" y="1894433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4159" y="2110208"/>
            <a:ext cx="2969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Perpendicular line?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29090" y="2110208"/>
            <a:ext cx="513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Lines that are perpendicular intersect at right angles.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674" y="3043699"/>
            <a:ext cx="5989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blue line</a:t>
            </a:r>
            <a:r>
              <a:rPr lang="en-US" dirty="0"/>
              <a:t> </a:t>
            </a:r>
            <a:r>
              <a:rPr lang="en-US" i="1" dirty="0"/>
              <a:t>y</a:t>
            </a:r>
            <a:r>
              <a:rPr lang="en-US" dirty="0"/>
              <a:t> = -2</a:t>
            </a:r>
            <a:r>
              <a:rPr lang="en-US" i="1" dirty="0"/>
              <a:t>x</a:t>
            </a:r>
            <a:r>
              <a:rPr lang="en-US" dirty="0"/>
              <a:t> + 4 has an </a:t>
            </a:r>
            <a:r>
              <a:rPr lang="en-US" i="1" dirty="0"/>
              <a:t>x</a:t>
            </a:r>
            <a:r>
              <a:rPr lang="en-US" dirty="0"/>
              <a:t>-intercept of (2, 0) and a </a:t>
            </a:r>
            <a:r>
              <a:rPr lang="en-US" i="1" dirty="0"/>
              <a:t>y</a:t>
            </a:r>
            <a:r>
              <a:rPr lang="en-US" dirty="0"/>
              <a:t>-intercept of (0, 4).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71" y="2523881"/>
            <a:ext cx="2731008" cy="27919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653" y="3717725"/>
            <a:ext cx="5977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</a:t>
            </a:r>
            <a:r>
              <a:rPr lang="en-US" dirty="0"/>
              <a:t>these points are rotated 90° anticlockwise about the origin they will be positioned at (0, 2) and (-4, 0).</a:t>
            </a:r>
          </a:p>
        </p:txBody>
      </p:sp>
    </p:spTree>
    <p:extLst>
      <p:ext uri="{BB962C8B-B14F-4D97-AF65-F5344CB8AC3E}">
        <p14:creationId xmlns:p14="http://schemas.microsoft.com/office/powerpoint/2010/main" val="192715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053177" y="1894433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4159" y="2110208"/>
            <a:ext cx="2969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Perpendicular line?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29090" y="2110208"/>
            <a:ext cx="513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Lines that are perpendicular intersect at right angles.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674" y="3043699"/>
            <a:ext cx="5989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blue line</a:t>
            </a:r>
            <a:r>
              <a:rPr lang="en-US" dirty="0"/>
              <a:t> </a:t>
            </a:r>
            <a:r>
              <a:rPr lang="en-US" i="1" dirty="0"/>
              <a:t>y</a:t>
            </a:r>
            <a:r>
              <a:rPr lang="en-US" dirty="0"/>
              <a:t> = -2</a:t>
            </a:r>
            <a:r>
              <a:rPr lang="en-US" i="1" dirty="0"/>
              <a:t>x</a:t>
            </a:r>
            <a:r>
              <a:rPr lang="en-US" dirty="0"/>
              <a:t> + 4 has an </a:t>
            </a:r>
            <a:r>
              <a:rPr lang="en-US" i="1" dirty="0"/>
              <a:t>x</a:t>
            </a:r>
            <a:r>
              <a:rPr lang="en-US" dirty="0"/>
              <a:t>-intercept of (2, 0) and a </a:t>
            </a:r>
            <a:r>
              <a:rPr lang="en-US" i="1" dirty="0"/>
              <a:t>y</a:t>
            </a:r>
            <a:r>
              <a:rPr lang="en-US" dirty="0"/>
              <a:t>-intercept of (0, 4).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71" y="2523881"/>
            <a:ext cx="2731008" cy="27919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653" y="3717725"/>
            <a:ext cx="5977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</a:t>
            </a:r>
            <a:r>
              <a:rPr lang="en-US" dirty="0"/>
              <a:t>these points are rotated 90° anticlockwise about the origin they will be positioned at (0, 2) and (-4, 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674" y="4470620"/>
            <a:ext cx="5929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Joining these points gives us a line perpendicular to </a:t>
            </a:r>
            <a:r>
              <a:rPr lang="en-US" i="1" dirty="0"/>
              <a:t>y</a:t>
            </a:r>
            <a:r>
              <a:rPr lang="en-US" dirty="0"/>
              <a:t> = -2</a:t>
            </a:r>
            <a:r>
              <a:rPr lang="en-US" i="1" dirty="0"/>
              <a:t>x</a:t>
            </a:r>
            <a:r>
              <a:rPr lang="en-US" dirty="0"/>
              <a:t> + 4</a:t>
            </a:r>
            <a:r>
              <a:rPr lang="en-US" dirty="0" smtClean="0"/>
              <a:t>. (The red line)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053177" y="1894433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4159" y="2110208"/>
            <a:ext cx="2969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are Perpendicular line?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29090" y="2110208"/>
            <a:ext cx="513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Lines that are perpendicular intersect at right angles.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674" y="3043699"/>
            <a:ext cx="5989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blue line</a:t>
            </a:r>
            <a:r>
              <a:rPr lang="en-US" dirty="0"/>
              <a:t> </a:t>
            </a:r>
            <a:r>
              <a:rPr lang="en-US" i="1" dirty="0"/>
              <a:t>y</a:t>
            </a:r>
            <a:r>
              <a:rPr lang="en-US" dirty="0"/>
              <a:t> = -2</a:t>
            </a:r>
            <a:r>
              <a:rPr lang="en-US" i="1" dirty="0"/>
              <a:t>x</a:t>
            </a:r>
            <a:r>
              <a:rPr lang="en-US" dirty="0"/>
              <a:t> + 4 has an </a:t>
            </a:r>
            <a:r>
              <a:rPr lang="en-US" i="1" dirty="0"/>
              <a:t>x</a:t>
            </a:r>
            <a:r>
              <a:rPr lang="en-US" dirty="0"/>
              <a:t>-intercept of (2, 0) and a </a:t>
            </a:r>
            <a:r>
              <a:rPr lang="en-US" i="1" dirty="0"/>
              <a:t>y</a:t>
            </a:r>
            <a:r>
              <a:rPr lang="en-US" dirty="0"/>
              <a:t>-intercept of (0, 4).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71" y="2523881"/>
            <a:ext cx="2731008" cy="27919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653" y="3717725"/>
            <a:ext cx="5977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</a:t>
            </a:r>
            <a:r>
              <a:rPr lang="en-US" dirty="0"/>
              <a:t>these points are rotated 90° anticlockwise about the origin they will be positioned at (0, 2) and (-4, 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674" y="4470620"/>
            <a:ext cx="5929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Joining these points gives us a line perpendicular to </a:t>
            </a:r>
            <a:r>
              <a:rPr lang="en-US" i="1" dirty="0"/>
              <a:t>y</a:t>
            </a:r>
            <a:r>
              <a:rPr lang="en-US" dirty="0"/>
              <a:t> = -2</a:t>
            </a:r>
            <a:r>
              <a:rPr lang="en-US" i="1" dirty="0"/>
              <a:t>x</a:t>
            </a:r>
            <a:r>
              <a:rPr lang="en-US" dirty="0"/>
              <a:t> + 4</a:t>
            </a:r>
            <a:r>
              <a:rPr lang="en-US" dirty="0" smtClean="0"/>
              <a:t>. (The red line)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53050" y="5158012"/>
                <a:ext cx="8499879" cy="1941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The gradient of this line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charset="0"/>
                      </a:rPr>
                      <m:t>  </m:t>
                    </m:r>
                  </m:oMath>
                </a14:m>
                <a:r>
                  <a:rPr lang="en-US" dirty="0"/>
                  <a:t> because it has a rise of 2 and a run of 4.</a:t>
                </a:r>
              </a:p>
              <a:p>
                <a:r>
                  <a:rPr lang="en-US" dirty="0"/>
                  <a:t>The </a:t>
                </a:r>
                <a:r>
                  <a:rPr lang="en-US" i="1" dirty="0"/>
                  <a:t>y</a:t>
                </a:r>
                <a:r>
                  <a:rPr lang="en-US" dirty="0"/>
                  <a:t>-intercept is (2, 0) so the equation of this line is</a:t>
                </a:r>
                <a:r>
                  <a:rPr lang="en-US" i="1" dirty="0"/>
                  <a:t> y </a:t>
                </a:r>
                <a:r>
                  <a:rPr lang="en-US" dirty="0"/>
                  <a:t>=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i="1" dirty="0" smtClean="0"/>
                  <a:t>x</a:t>
                </a:r>
                <a:r>
                  <a:rPr lang="en-US" dirty="0"/>
                  <a:t> + 2.</a:t>
                </a:r>
              </a:p>
              <a:p>
                <a:r>
                  <a:rPr lang="en-US" dirty="0"/>
                  <a:t>In the equation </a:t>
                </a:r>
                <a:r>
                  <a:rPr lang="en-US" i="1" dirty="0"/>
                  <a:t>y</a:t>
                </a:r>
                <a:r>
                  <a:rPr lang="en-US" dirty="0"/>
                  <a:t> = -2</a:t>
                </a:r>
                <a:r>
                  <a:rPr lang="en-US" i="1" dirty="0"/>
                  <a:t>x</a:t>
                </a:r>
                <a:r>
                  <a:rPr lang="en-US" dirty="0"/>
                  <a:t> + 4, the gradient </a:t>
                </a:r>
                <a:r>
                  <a:rPr lang="en-US" i="1" dirty="0"/>
                  <a:t>m</a:t>
                </a:r>
                <a:r>
                  <a:rPr lang="en-US" dirty="0"/>
                  <a:t>1 = -2. In the equation </a:t>
                </a:r>
                <a:r>
                  <a:rPr lang="en-US" i="1" dirty="0"/>
                  <a:t>y</a:t>
                </a:r>
                <a:r>
                  <a:rPr lang="en-US" dirty="0"/>
                  <a:t> =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i="1" dirty="0" smtClean="0"/>
                  <a:t>x</a:t>
                </a:r>
                <a:r>
                  <a:rPr lang="en-US" dirty="0"/>
                  <a:t> + 2, the gradient </a:t>
                </a:r>
                <a:r>
                  <a:rPr lang="en-US" i="1" dirty="0"/>
                  <a:t>m</a:t>
                </a:r>
                <a:r>
                  <a:rPr lang="en-US" baseline="-25000" dirty="0"/>
                  <a:t>2</a:t>
                </a:r>
                <a:r>
                  <a:rPr lang="en-US" dirty="0"/>
                  <a:t> =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50" y="5158012"/>
                <a:ext cx="8499879" cy="1941494"/>
              </a:xfrm>
              <a:prstGeom prst="rect">
                <a:avLst/>
              </a:prstGeom>
              <a:blipFill rotWithShape="0">
                <a:blip r:embed="rId3"/>
                <a:stretch>
                  <a:fillRect l="-574" t="-15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97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12" y="2176486"/>
            <a:ext cx="41402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4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12" y="2176486"/>
            <a:ext cx="4140200" cy="13081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12" y="3593806"/>
            <a:ext cx="8622562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9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perpendicular 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10428"/>
            <a:ext cx="1262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Example #2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9514" y="2379760"/>
            <a:ext cx="88754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" charset="0"/>
              </a:rPr>
              <a:t>Show that the line with equation </a:t>
            </a:r>
            <a:r>
              <a:rPr lang="en-US" i="1" dirty="0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Times" charset="0"/>
              </a:rPr>
              <a:t> = 3</a:t>
            </a:r>
            <a:r>
              <a:rPr lang="en-US" i="1" dirty="0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Times" charset="0"/>
              </a:rPr>
              <a:t> − 10 is perpendicular to the line with equation 6</a:t>
            </a:r>
            <a:r>
              <a:rPr lang="en-US" i="1" dirty="0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Times" charset="0"/>
              </a:rPr>
              <a:t> + 2</a:t>
            </a:r>
            <a:r>
              <a:rPr lang="en-US" i="1" dirty="0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Times" charset="0"/>
              </a:rPr>
              <a:t> + 12 = 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66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perpendicular 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10428"/>
            <a:ext cx="1262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Example #2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9514" y="2379760"/>
            <a:ext cx="88754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" charset="0"/>
              </a:rPr>
              <a:t>Show that the line with equation 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= 3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− 10 is perpendicular to the line with equation 6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+ 2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+ 12 = 0.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9514" y="3126305"/>
            <a:ext cx="531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Step 1</a:t>
            </a:r>
            <a:r>
              <a:rPr lang="en-US" b="1" dirty="0"/>
              <a:t> </a:t>
            </a:r>
            <a:r>
              <a:rPr lang="en-US" dirty="0"/>
              <a:t>Rearrange the equations using inverse operations so that both are in the form </a:t>
            </a:r>
            <a:r>
              <a:rPr lang="en-US" i="1" dirty="0"/>
              <a:t>y</a:t>
            </a:r>
            <a:r>
              <a:rPr lang="en-US" dirty="0"/>
              <a:t> = </a:t>
            </a:r>
            <a:r>
              <a:rPr lang="en-US" i="1" dirty="0"/>
              <a:t>mx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028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</a:t>
            </a:r>
            <a:r>
              <a:rPr lang="en-GB" sz="2400" dirty="0"/>
              <a:t>perpendicular 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10428"/>
            <a:ext cx="1262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Example #2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9514" y="2379760"/>
            <a:ext cx="88754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" charset="0"/>
              </a:rPr>
              <a:t>Show that the line with equation 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= 3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− 10 is perpendicular to the line with equation 6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+ 2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+ 12 = 0.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9514" y="3126305"/>
            <a:ext cx="531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Step 1</a:t>
            </a:r>
            <a:r>
              <a:rPr lang="en-US" b="1" dirty="0"/>
              <a:t> </a:t>
            </a:r>
            <a:r>
              <a:rPr lang="en-US" dirty="0"/>
              <a:t>Rearrange the equations using inverse operations so that both are in the form </a:t>
            </a:r>
            <a:r>
              <a:rPr lang="en-US" i="1" dirty="0"/>
              <a:t>y</a:t>
            </a:r>
            <a:r>
              <a:rPr lang="en-US" dirty="0"/>
              <a:t> = </a:t>
            </a:r>
            <a:r>
              <a:rPr lang="en-US" i="1" dirty="0"/>
              <a:t>mx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825" y="2953980"/>
            <a:ext cx="2291111" cy="180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6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10428"/>
            <a:ext cx="1262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Example #2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9514" y="2379760"/>
            <a:ext cx="88754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" charset="0"/>
              </a:rPr>
              <a:t>Show that the line with equation 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= 3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− 10 is perpendicular to the line with equation 6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+ 2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+ 12 = 0.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9514" y="3126305"/>
            <a:ext cx="531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Step 1</a:t>
            </a:r>
            <a:r>
              <a:rPr lang="en-US" b="1" dirty="0"/>
              <a:t> </a:t>
            </a:r>
            <a:r>
              <a:rPr lang="en-US" dirty="0"/>
              <a:t>Rearrange the equations using inverse operations so that both are in the form </a:t>
            </a:r>
            <a:r>
              <a:rPr lang="en-US" i="1" dirty="0"/>
              <a:t>y</a:t>
            </a:r>
            <a:r>
              <a:rPr lang="en-US" dirty="0"/>
              <a:t> = </a:t>
            </a:r>
            <a:r>
              <a:rPr lang="en-US" i="1" dirty="0"/>
              <a:t>mx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635" y="4757379"/>
            <a:ext cx="4330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Step 2</a:t>
            </a:r>
            <a:r>
              <a:rPr lang="en-US" b="1" dirty="0"/>
              <a:t> </a:t>
            </a:r>
            <a:r>
              <a:rPr lang="en-US" dirty="0"/>
              <a:t>Identify the gradients </a:t>
            </a:r>
            <a:r>
              <a:rPr lang="en-US" i="1" dirty="0"/>
              <a:t>m</a:t>
            </a:r>
            <a:r>
              <a:rPr lang="en-US" dirty="0"/>
              <a:t>1 and </a:t>
            </a:r>
            <a:r>
              <a:rPr lang="en-US" i="1" dirty="0"/>
              <a:t>m</a:t>
            </a:r>
            <a:r>
              <a:rPr lang="en-US" dirty="0"/>
              <a:t>2, and multiply to determine whether </a:t>
            </a:r>
            <a:r>
              <a:rPr lang="en-US" i="1" dirty="0"/>
              <a:t>m</a:t>
            </a:r>
            <a:r>
              <a:rPr lang="en-US" dirty="0"/>
              <a:t>1 × </a:t>
            </a:r>
            <a:r>
              <a:rPr lang="en-US" i="1" dirty="0"/>
              <a:t>m</a:t>
            </a:r>
            <a:r>
              <a:rPr lang="en-US" dirty="0"/>
              <a:t>2 = -1.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825" y="2953980"/>
            <a:ext cx="2291111" cy="180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6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10428"/>
            <a:ext cx="1262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Example #2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9514" y="2379760"/>
            <a:ext cx="88754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" charset="0"/>
              </a:rPr>
              <a:t>Show that the line with equation 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= 3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− 10 is perpendicular to the line with equation 6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+ 2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+ 12 = 0.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9514" y="3126305"/>
            <a:ext cx="531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Step 1</a:t>
            </a:r>
            <a:r>
              <a:rPr lang="en-US" b="1" dirty="0"/>
              <a:t> </a:t>
            </a:r>
            <a:r>
              <a:rPr lang="en-US" dirty="0"/>
              <a:t>Rearrange the equations using inverse operations so that both are in the form </a:t>
            </a:r>
            <a:r>
              <a:rPr lang="en-US" i="1" dirty="0"/>
              <a:t>y</a:t>
            </a:r>
            <a:r>
              <a:rPr lang="en-US" dirty="0"/>
              <a:t> = </a:t>
            </a:r>
            <a:r>
              <a:rPr lang="en-US" i="1" dirty="0"/>
              <a:t>mx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635" y="4757379"/>
            <a:ext cx="4330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Step 2</a:t>
            </a:r>
            <a:r>
              <a:rPr lang="en-US" b="1" dirty="0"/>
              <a:t> </a:t>
            </a:r>
            <a:r>
              <a:rPr lang="en-US" dirty="0"/>
              <a:t>Identify the gradients </a:t>
            </a:r>
            <a:r>
              <a:rPr lang="en-US" i="1" dirty="0"/>
              <a:t>m</a:t>
            </a:r>
            <a:r>
              <a:rPr lang="en-US" dirty="0"/>
              <a:t>1 and </a:t>
            </a:r>
            <a:r>
              <a:rPr lang="en-US" i="1" dirty="0"/>
              <a:t>m</a:t>
            </a:r>
            <a:r>
              <a:rPr lang="en-US" dirty="0"/>
              <a:t>2, and multiply to determine whether </a:t>
            </a:r>
            <a:r>
              <a:rPr lang="en-US" i="1" dirty="0"/>
              <a:t>m</a:t>
            </a:r>
            <a:r>
              <a:rPr lang="en-US" dirty="0"/>
              <a:t>1 × </a:t>
            </a:r>
            <a:r>
              <a:rPr lang="en-US" i="1" dirty="0"/>
              <a:t>m</a:t>
            </a:r>
            <a:r>
              <a:rPr lang="en-US" dirty="0"/>
              <a:t>2 = -1.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825" y="2953980"/>
            <a:ext cx="2291111" cy="180339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354" y="4838962"/>
            <a:ext cx="2617486" cy="168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40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129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Linear Algebra 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 </a:t>
            </a:r>
            <a:r>
              <a:rPr lang="en-GB" sz="2400" b="1" dirty="0" smtClean="0"/>
              <a:t>EQ: </a:t>
            </a:r>
            <a:r>
              <a:rPr lang="en-GB" sz="2400" dirty="0" smtClean="0"/>
              <a:t>Do perpendicular </a:t>
            </a:r>
            <a:r>
              <a:rPr lang="en-GB" sz="2400" dirty="0"/>
              <a:t>lines have specific properties associated with their gradients.</a:t>
            </a:r>
            <a:r>
              <a:rPr lang="en-GB" sz="2400" b="1" dirty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10428"/>
            <a:ext cx="1262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Example #2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9514" y="2379760"/>
            <a:ext cx="88754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" charset="0"/>
              </a:rPr>
              <a:t>Show that the line with equation 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= 3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− 10 is perpendicular to the line with equation 6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y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+ 2</a:t>
            </a:r>
            <a:r>
              <a:rPr lang="en-US" i="1">
                <a:solidFill>
                  <a:srgbClr val="000000"/>
                </a:solidFill>
                <a:latin typeface="Times" charset="0"/>
              </a:rPr>
              <a:t>x</a:t>
            </a:r>
            <a:r>
              <a:rPr lang="en-US">
                <a:solidFill>
                  <a:srgbClr val="000000"/>
                </a:solidFill>
                <a:latin typeface="Times" charset="0"/>
              </a:rPr>
              <a:t> + 12 = 0.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9514" y="3126305"/>
            <a:ext cx="531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Step 1</a:t>
            </a:r>
            <a:r>
              <a:rPr lang="en-US" b="1" dirty="0"/>
              <a:t> </a:t>
            </a:r>
            <a:r>
              <a:rPr lang="en-US" dirty="0"/>
              <a:t>Rearrange the equations using inverse operations so that both are in the form </a:t>
            </a:r>
            <a:r>
              <a:rPr lang="en-US" i="1" dirty="0"/>
              <a:t>y</a:t>
            </a:r>
            <a:r>
              <a:rPr lang="en-US" dirty="0"/>
              <a:t> = </a:t>
            </a:r>
            <a:r>
              <a:rPr lang="en-US" i="1" dirty="0"/>
              <a:t>mx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635" y="4757379"/>
            <a:ext cx="4330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Step 2</a:t>
            </a:r>
            <a:r>
              <a:rPr lang="en-US" b="1" dirty="0"/>
              <a:t> </a:t>
            </a:r>
            <a:r>
              <a:rPr lang="en-US" dirty="0"/>
              <a:t>Identify the gradients </a:t>
            </a:r>
            <a:r>
              <a:rPr lang="en-US" i="1" dirty="0"/>
              <a:t>m</a:t>
            </a:r>
            <a:r>
              <a:rPr lang="en-US" dirty="0"/>
              <a:t>1 and </a:t>
            </a:r>
            <a:r>
              <a:rPr lang="en-US" i="1" dirty="0"/>
              <a:t>m</a:t>
            </a:r>
            <a:r>
              <a:rPr lang="en-US" dirty="0"/>
              <a:t>2, and multiply to determine whether </a:t>
            </a:r>
            <a:r>
              <a:rPr lang="en-US" i="1" dirty="0"/>
              <a:t>m</a:t>
            </a:r>
            <a:r>
              <a:rPr lang="en-US" dirty="0"/>
              <a:t>1 × </a:t>
            </a:r>
            <a:r>
              <a:rPr lang="en-US" i="1" dirty="0"/>
              <a:t>m</a:t>
            </a:r>
            <a:r>
              <a:rPr lang="en-US" dirty="0"/>
              <a:t>2 = -1.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825" y="2953980"/>
            <a:ext cx="2291111" cy="180339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354" y="4838962"/>
            <a:ext cx="2617486" cy="168349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89" y="6204894"/>
            <a:ext cx="37084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5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07382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673</Words>
  <Application>Microsoft Macintosh PowerPoint</Application>
  <PresentationFormat>On-screen Show (4:3)</PresentationFormat>
  <Paragraphs>180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Cambria Math</vt:lpstr>
      <vt:lpstr>Times</vt:lpstr>
      <vt:lpstr>Arial</vt:lpstr>
      <vt:lpstr>Office Theme</vt:lpstr>
      <vt:lpstr>Topic: Linear Algebra  EQ: Do perpendicular lines have specific properties associated with their gradients.?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91</cp:revision>
  <dcterms:created xsi:type="dcterms:W3CDTF">2014-05-14T02:58:57Z</dcterms:created>
  <dcterms:modified xsi:type="dcterms:W3CDTF">2016-10-26T04:23:11Z</dcterms:modified>
</cp:coreProperties>
</file>
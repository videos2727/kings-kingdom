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6" r:id="rId6"/>
    <p:sldId id="260" r:id="rId7"/>
    <p:sldId id="261" r:id="rId8"/>
    <p:sldId id="262" r:id="rId9"/>
    <p:sldId id="263" r:id="rId10"/>
    <p:sldId id="264"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6750"/>
    <p:restoredTop sz="94666"/>
  </p:normalViewPr>
  <p:slideViewPr>
    <p:cSldViewPr snapToGrid="0" snapToObjects="1">
      <p:cViewPr varScale="1">
        <p:scale>
          <a:sx n="72" d="100"/>
          <a:sy n="72" d="100"/>
        </p:scale>
        <p:origin x="208" y="9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80FAD09-0825-B649-AB7C-D2C179F6D417}" type="datetimeFigureOut">
              <a:rPr lang="en-US" smtClean="0"/>
              <a:t>7/26/16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5BEDC6-155E-1048-B381-2C7EDC855114}" type="slidenum">
              <a:rPr lang="en-US" smtClean="0"/>
              <a:t>‹#›</a:t>
            </a:fld>
            <a:endParaRPr lang="en-US"/>
          </a:p>
        </p:txBody>
      </p:sp>
    </p:spTree>
    <p:extLst>
      <p:ext uri="{BB962C8B-B14F-4D97-AF65-F5344CB8AC3E}">
        <p14:creationId xmlns:p14="http://schemas.microsoft.com/office/powerpoint/2010/main" val="8316705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80FAD09-0825-B649-AB7C-D2C179F6D417}" type="datetimeFigureOut">
              <a:rPr lang="en-US" smtClean="0"/>
              <a:t>7/26/16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5BEDC6-155E-1048-B381-2C7EDC855114}" type="slidenum">
              <a:rPr lang="en-US" smtClean="0"/>
              <a:t>‹#›</a:t>
            </a:fld>
            <a:endParaRPr lang="en-US"/>
          </a:p>
        </p:txBody>
      </p:sp>
    </p:spTree>
    <p:extLst>
      <p:ext uri="{BB962C8B-B14F-4D97-AF65-F5344CB8AC3E}">
        <p14:creationId xmlns:p14="http://schemas.microsoft.com/office/powerpoint/2010/main" val="745839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80FAD09-0825-B649-AB7C-D2C179F6D417}" type="datetimeFigureOut">
              <a:rPr lang="en-US" smtClean="0"/>
              <a:t>7/26/16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5BEDC6-155E-1048-B381-2C7EDC855114}" type="slidenum">
              <a:rPr lang="en-US" smtClean="0"/>
              <a:t>‹#›</a:t>
            </a:fld>
            <a:endParaRPr lang="en-US"/>
          </a:p>
        </p:txBody>
      </p:sp>
    </p:spTree>
    <p:extLst>
      <p:ext uri="{BB962C8B-B14F-4D97-AF65-F5344CB8AC3E}">
        <p14:creationId xmlns:p14="http://schemas.microsoft.com/office/powerpoint/2010/main" val="46674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80FAD09-0825-B649-AB7C-D2C179F6D417}" type="datetimeFigureOut">
              <a:rPr lang="en-US" smtClean="0"/>
              <a:t>7/26/16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5BEDC6-155E-1048-B381-2C7EDC855114}" type="slidenum">
              <a:rPr lang="en-US" smtClean="0"/>
              <a:t>‹#›</a:t>
            </a:fld>
            <a:endParaRPr lang="en-US"/>
          </a:p>
        </p:txBody>
      </p:sp>
    </p:spTree>
    <p:extLst>
      <p:ext uri="{BB962C8B-B14F-4D97-AF65-F5344CB8AC3E}">
        <p14:creationId xmlns:p14="http://schemas.microsoft.com/office/powerpoint/2010/main" val="20294076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80FAD09-0825-B649-AB7C-D2C179F6D417}" type="datetimeFigureOut">
              <a:rPr lang="en-US" smtClean="0"/>
              <a:t>7/26/16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B5BEDC6-155E-1048-B381-2C7EDC855114}" type="slidenum">
              <a:rPr lang="en-US" smtClean="0"/>
              <a:t>‹#›</a:t>
            </a:fld>
            <a:endParaRPr lang="en-US"/>
          </a:p>
        </p:txBody>
      </p:sp>
    </p:spTree>
    <p:extLst>
      <p:ext uri="{BB962C8B-B14F-4D97-AF65-F5344CB8AC3E}">
        <p14:creationId xmlns:p14="http://schemas.microsoft.com/office/powerpoint/2010/main" val="19195288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80FAD09-0825-B649-AB7C-D2C179F6D417}" type="datetimeFigureOut">
              <a:rPr lang="en-US" smtClean="0"/>
              <a:t>7/26/16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B5BEDC6-155E-1048-B381-2C7EDC855114}" type="slidenum">
              <a:rPr lang="en-US" smtClean="0"/>
              <a:t>‹#›</a:t>
            </a:fld>
            <a:endParaRPr lang="en-US"/>
          </a:p>
        </p:txBody>
      </p:sp>
    </p:spTree>
    <p:extLst>
      <p:ext uri="{BB962C8B-B14F-4D97-AF65-F5344CB8AC3E}">
        <p14:creationId xmlns:p14="http://schemas.microsoft.com/office/powerpoint/2010/main" val="2022507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0FAD09-0825-B649-AB7C-D2C179F6D417}" type="datetimeFigureOut">
              <a:rPr lang="en-US" smtClean="0"/>
              <a:t>7/26/16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B5BEDC6-155E-1048-B381-2C7EDC855114}" type="slidenum">
              <a:rPr lang="en-US" smtClean="0"/>
              <a:t>‹#›</a:t>
            </a:fld>
            <a:endParaRPr lang="en-US"/>
          </a:p>
        </p:txBody>
      </p:sp>
    </p:spTree>
    <p:extLst>
      <p:ext uri="{BB962C8B-B14F-4D97-AF65-F5344CB8AC3E}">
        <p14:creationId xmlns:p14="http://schemas.microsoft.com/office/powerpoint/2010/main" val="1909228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80FAD09-0825-B649-AB7C-D2C179F6D417}" type="datetimeFigureOut">
              <a:rPr lang="en-US" smtClean="0"/>
              <a:t>7/26/16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5BEDC6-155E-1048-B381-2C7EDC855114}" type="slidenum">
              <a:rPr lang="en-US" smtClean="0"/>
              <a:t>‹#›</a:t>
            </a:fld>
            <a:endParaRPr lang="en-US"/>
          </a:p>
        </p:txBody>
      </p:sp>
    </p:spTree>
    <p:extLst>
      <p:ext uri="{BB962C8B-B14F-4D97-AF65-F5344CB8AC3E}">
        <p14:creationId xmlns:p14="http://schemas.microsoft.com/office/powerpoint/2010/main" val="3129366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80FAD09-0825-B649-AB7C-D2C179F6D417}" type="datetimeFigureOut">
              <a:rPr lang="en-US" smtClean="0"/>
              <a:t>7/26/16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B5BEDC6-155E-1048-B381-2C7EDC855114}" type="slidenum">
              <a:rPr lang="en-US" smtClean="0"/>
              <a:t>‹#›</a:t>
            </a:fld>
            <a:endParaRPr lang="en-US"/>
          </a:p>
        </p:txBody>
      </p:sp>
    </p:spTree>
    <p:extLst>
      <p:ext uri="{BB962C8B-B14F-4D97-AF65-F5344CB8AC3E}">
        <p14:creationId xmlns:p14="http://schemas.microsoft.com/office/powerpoint/2010/main" val="338001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80FAD09-0825-B649-AB7C-D2C179F6D417}" type="datetimeFigureOut">
              <a:rPr lang="en-US" smtClean="0"/>
              <a:t>7/26/16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5BEDC6-155E-1048-B381-2C7EDC855114}" type="slidenum">
              <a:rPr lang="en-US" smtClean="0"/>
              <a:t>‹#›</a:t>
            </a:fld>
            <a:endParaRPr lang="en-US"/>
          </a:p>
        </p:txBody>
      </p:sp>
    </p:spTree>
    <p:extLst>
      <p:ext uri="{BB962C8B-B14F-4D97-AF65-F5344CB8AC3E}">
        <p14:creationId xmlns:p14="http://schemas.microsoft.com/office/powerpoint/2010/main" val="6970314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80FAD09-0825-B649-AB7C-D2C179F6D417}" type="datetimeFigureOut">
              <a:rPr lang="en-US" smtClean="0"/>
              <a:t>7/26/16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B5BEDC6-155E-1048-B381-2C7EDC855114}" type="slidenum">
              <a:rPr lang="en-US" smtClean="0"/>
              <a:t>‹#›</a:t>
            </a:fld>
            <a:endParaRPr lang="en-US"/>
          </a:p>
        </p:txBody>
      </p:sp>
    </p:spTree>
    <p:extLst>
      <p:ext uri="{BB962C8B-B14F-4D97-AF65-F5344CB8AC3E}">
        <p14:creationId xmlns:p14="http://schemas.microsoft.com/office/powerpoint/2010/main" val="483663906"/>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0FAD09-0825-B649-AB7C-D2C179F6D417}" type="datetimeFigureOut">
              <a:rPr lang="en-US" smtClean="0"/>
              <a:t>7/26/16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5BEDC6-155E-1048-B381-2C7EDC855114}" type="slidenum">
              <a:rPr lang="en-US" smtClean="0"/>
              <a:t>‹#›</a:t>
            </a:fld>
            <a:endParaRPr lang="en-US"/>
          </a:p>
        </p:txBody>
      </p:sp>
    </p:spTree>
    <p:extLst>
      <p:ext uri="{BB962C8B-B14F-4D97-AF65-F5344CB8AC3E}">
        <p14:creationId xmlns:p14="http://schemas.microsoft.com/office/powerpoint/2010/main" val="17313759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Simple vs Compound Interest</a:t>
            </a:r>
            <a:endParaRPr lang="en-US" dirty="0"/>
          </a:p>
        </p:txBody>
      </p:sp>
      <p:sp>
        <p:nvSpPr>
          <p:cNvPr id="3" name="Subtitle 2"/>
          <p:cNvSpPr>
            <a:spLocks noGrp="1"/>
          </p:cNvSpPr>
          <p:nvPr>
            <p:ph type="subTitle" idx="1"/>
          </p:nvPr>
        </p:nvSpPr>
        <p:spPr/>
        <p:txBody>
          <a:bodyPr/>
          <a:lstStyle/>
          <a:p>
            <a:r>
              <a:rPr lang="en-US" dirty="0" err="1" smtClean="0"/>
              <a:t>Yr</a:t>
            </a:r>
            <a:r>
              <a:rPr lang="en-US" dirty="0" smtClean="0"/>
              <a:t> 10 Mathematics</a:t>
            </a:r>
            <a:endParaRPr lang="en-US" dirty="0"/>
          </a:p>
        </p:txBody>
      </p:sp>
    </p:spTree>
    <p:extLst>
      <p:ext uri="{BB962C8B-B14F-4D97-AF65-F5344CB8AC3E}">
        <p14:creationId xmlns:p14="http://schemas.microsoft.com/office/powerpoint/2010/main" val="20640314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6024081" y="0"/>
            <a:ext cx="72008" cy="6957392"/>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524403" y="6474667"/>
            <a:ext cx="301686" cy="369332"/>
          </a:xfrm>
          <a:prstGeom prst="rect">
            <a:avLst/>
          </a:prstGeom>
          <a:noFill/>
        </p:spPr>
        <p:txBody>
          <a:bodyPr wrap="none" rtlCol="0">
            <a:spAutoFit/>
          </a:bodyPr>
          <a:lstStyle/>
          <a:p>
            <a:r>
              <a:rPr lang="en-AU" dirty="0"/>
              <a:t>2</a:t>
            </a:r>
          </a:p>
        </p:txBody>
      </p:sp>
      <p:sp>
        <p:nvSpPr>
          <p:cNvPr id="7" name="TextBox 6"/>
          <p:cNvSpPr txBox="1"/>
          <p:nvPr/>
        </p:nvSpPr>
        <p:spPr>
          <a:xfrm>
            <a:off x="10272465" y="6488668"/>
            <a:ext cx="549775" cy="369332"/>
          </a:xfrm>
          <a:prstGeom prst="rect">
            <a:avLst/>
          </a:prstGeom>
          <a:noFill/>
        </p:spPr>
        <p:txBody>
          <a:bodyPr wrap="square" rtlCol="0">
            <a:spAutoFit/>
          </a:bodyPr>
          <a:lstStyle/>
          <a:p>
            <a:r>
              <a:rPr lang="en-AU" dirty="0"/>
              <a:t>3</a:t>
            </a:r>
          </a:p>
        </p:txBody>
      </p:sp>
      <p:cxnSp>
        <p:nvCxnSpPr>
          <p:cNvPr id="9" name="Straight Connector 8"/>
          <p:cNvCxnSpPr/>
          <p:nvPr/>
        </p:nvCxnSpPr>
        <p:spPr>
          <a:xfrm>
            <a:off x="1380163" y="620688"/>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2639616" y="404664"/>
            <a:ext cx="0" cy="5867980"/>
          </a:xfrm>
          <a:prstGeom prst="line">
            <a:avLst/>
          </a:prstGeom>
        </p:spPr>
        <p:style>
          <a:lnRef idx="1">
            <a:schemeClr val="accent2"/>
          </a:lnRef>
          <a:fillRef idx="0">
            <a:schemeClr val="accent2"/>
          </a:fillRef>
          <a:effectRef idx="0">
            <a:schemeClr val="accent2"/>
          </a:effectRef>
          <a:fontRef idx="minor">
            <a:schemeClr val="tx1"/>
          </a:fontRef>
        </p:style>
      </p:cxnSp>
      <p:sp>
        <p:nvSpPr>
          <p:cNvPr id="20" name="TextBox 19"/>
          <p:cNvSpPr txBox="1"/>
          <p:nvPr/>
        </p:nvSpPr>
        <p:spPr>
          <a:xfrm>
            <a:off x="2101648" y="5803"/>
            <a:ext cx="932050" cy="338554"/>
          </a:xfrm>
          <a:prstGeom prst="rect">
            <a:avLst/>
          </a:prstGeom>
          <a:noFill/>
        </p:spPr>
        <p:txBody>
          <a:bodyPr wrap="none" rtlCol="0">
            <a:spAutoFit/>
          </a:bodyPr>
          <a:lstStyle/>
          <a:p>
            <a:r>
              <a:rPr lang="en-AU" sz="1600" dirty="0"/>
              <a:t>Contents</a:t>
            </a:r>
          </a:p>
        </p:txBody>
      </p:sp>
      <p:sp>
        <p:nvSpPr>
          <p:cNvPr id="23" name="TextBox 22"/>
          <p:cNvSpPr txBox="1"/>
          <p:nvPr/>
        </p:nvSpPr>
        <p:spPr>
          <a:xfrm>
            <a:off x="1747225" y="374467"/>
            <a:ext cx="580865" cy="338554"/>
          </a:xfrm>
          <a:prstGeom prst="rect">
            <a:avLst/>
          </a:prstGeom>
          <a:noFill/>
        </p:spPr>
        <p:txBody>
          <a:bodyPr wrap="none" rtlCol="0">
            <a:spAutoFit/>
          </a:bodyPr>
          <a:lstStyle/>
          <a:p>
            <a:r>
              <a:rPr lang="en-AU" sz="1600" dirty="0"/>
              <a:t>Page</a:t>
            </a:r>
          </a:p>
        </p:txBody>
      </p:sp>
      <p:cxnSp>
        <p:nvCxnSpPr>
          <p:cNvPr id="16" name="Straight Connector 15"/>
          <p:cNvCxnSpPr/>
          <p:nvPr/>
        </p:nvCxnSpPr>
        <p:spPr>
          <a:xfrm>
            <a:off x="3667810" y="404664"/>
            <a:ext cx="0" cy="5867980"/>
          </a:xfrm>
          <a:prstGeom prst="line">
            <a:avLst/>
          </a:prstGeom>
        </p:spPr>
        <p:style>
          <a:lnRef idx="1">
            <a:schemeClr val="accent2"/>
          </a:lnRef>
          <a:fillRef idx="0">
            <a:schemeClr val="accent2"/>
          </a:fillRef>
          <a:effectRef idx="0">
            <a:schemeClr val="accent2"/>
          </a:effectRef>
          <a:fontRef idx="minor">
            <a:schemeClr val="tx1"/>
          </a:fontRef>
        </p:style>
      </p:cxnSp>
      <p:sp>
        <p:nvSpPr>
          <p:cNvPr id="17" name="TextBox 16"/>
          <p:cNvSpPr txBox="1"/>
          <p:nvPr/>
        </p:nvSpPr>
        <p:spPr>
          <a:xfrm>
            <a:off x="2927646" y="344357"/>
            <a:ext cx="576504" cy="338554"/>
          </a:xfrm>
          <a:prstGeom prst="rect">
            <a:avLst/>
          </a:prstGeom>
          <a:noFill/>
        </p:spPr>
        <p:txBody>
          <a:bodyPr wrap="none" rtlCol="0">
            <a:spAutoFit/>
          </a:bodyPr>
          <a:lstStyle/>
          <a:p>
            <a:r>
              <a:rPr lang="en-AU" sz="1600" dirty="0"/>
              <a:t>Date</a:t>
            </a:r>
          </a:p>
        </p:txBody>
      </p:sp>
      <p:sp>
        <p:nvSpPr>
          <p:cNvPr id="18" name="TextBox 17"/>
          <p:cNvSpPr txBox="1"/>
          <p:nvPr/>
        </p:nvSpPr>
        <p:spPr>
          <a:xfrm>
            <a:off x="4079776" y="344357"/>
            <a:ext cx="1398888" cy="338554"/>
          </a:xfrm>
          <a:prstGeom prst="rect">
            <a:avLst/>
          </a:prstGeom>
          <a:noFill/>
        </p:spPr>
        <p:txBody>
          <a:bodyPr wrap="square" rtlCol="0">
            <a:spAutoFit/>
          </a:bodyPr>
          <a:lstStyle/>
          <a:p>
            <a:r>
              <a:rPr lang="en-AU" sz="1600" dirty="0"/>
              <a:t>Description</a:t>
            </a:r>
          </a:p>
        </p:txBody>
      </p:sp>
      <p:sp>
        <p:nvSpPr>
          <p:cNvPr id="21" name="TextBox 20"/>
          <p:cNvSpPr txBox="1"/>
          <p:nvPr/>
        </p:nvSpPr>
        <p:spPr>
          <a:xfrm>
            <a:off x="7320136" y="66504"/>
            <a:ext cx="2592288" cy="338554"/>
          </a:xfrm>
          <a:prstGeom prst="rect">
            <a:avLst/>
          </a:prstGeom>
          <a:noFill/>
        </p:spPr>
        <p:txBody>
          <a:bodyPr wrap="square" rtlCol="0">
            <a:spAutoFit/>
          </a:bodyPr>
          <a:lstStyle/>
          <a:p>
            <a:r>
              <a:rPr lang="en-AU" sz="1600" dirty="0"/>
              <a:t>Glossary or Formula Page</a:t>
            </a:r>
          </a:p>
        </p:txBody>
      </p:sp>
    </p:spTree>
    <p:extLst>
      <p:ext uri="{BB962C8B-B14F-4D97-AF65-F5344CB8AC3E}">
        <p14:creationId xmlns:p14="http://schemas.microsoft.com/office/powerpoint/2010/main" val="6954854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6024081" y="0"/>
            <a:ext cx="72008" cy="6957392"/>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1524403" y="6474667"/>
            <a:ext cx="301686" cy="369332"/>
          </a:xfrm>
          <a:prstGeom prst="rect">
            <a:avLst/>
          </a:prstGeom>
          <a:noFill/>
        </p:spPr>
        <p:txBody>
          <a:bodyPr wrap="none" rtlCol="0">
            <a:spAutoFit/>
          </a:bodyPr>
          <a:lstStyle/>
          <a:p>
            <a:r>
              <a:rPr lang="en-AU" dirty="0"/>
              <a:t>6</a:t>
            </a:r>
          </a:p>
        </p:txBody>
      </p:sp>
      <p:sp>
        <p:nvSpPr>
          <p:cNvPr id="7" name="TextBox 6"/>
          <p:cNvSpPr txBox="1"/>
          <p:nvPr/>
        </p:nvSpPr>
        <p:spPr>
          <a:xfrm>
            <a:off x="10272464" y="6525528"/>
            <a:ext cx="549775" cy="369332"/>
          </a:xfrm>
          <a:prstGeom prst="rect">
            <a:avLst/>
          </a:prstGeom>
          <a:noFill/>
        </p:spPr>
        <p:txBody>
          <a:bodyPr wrap="square" rtlCol="0">
            <a:spAutoFit/>
          </a:bodyPr>
          <a:lstStyle/>
          <a:p>
            <a:r>
              <a:rPr lang="en-AU" dirty="0"/>
              <a:t>7</a:t>
            </a:r>
          </a:p>
        </p:txBody>
      </p:sp>
      <p:cxnSp>
        <p:nvCxnSpPr>
          <p:cNvPr id="9" name="Straight Connector 8"/>
          <p:cNvCxnSpPr/>
          <p:nvPr/>
        </p:nvCxnSpPr>
        <p:spPr>
          <a:xfrm>
            <a:off x="6024082" y="620688"/>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1" name="Straight Connector 10"/>
          <p:cNvCxnSpPr/>
          <p:nvPr/>
        </p:nvCxnSpPr>
        <p:spPr>
          <a:xfrm>
            <a:off x="6024082" y="1196752"/>
            <a:ext cx="4643919"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3" name="Straight Connector 12"/>
          <p:cNvCxnSpPr/>
          <p:nvPr/>
        </p:nvCxnSpPr>
        <p:spPr>
          <a:xfrm>
            <a:off x="6096089" y="5373216"/>
            <a:ext cx="472615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15" name="Straight Connector 14"/>
          <p:cNvCxnSpPr/>
          <p:nvPr/>
        </p:nvCxnSpPr>
        <p:spPr>
          <a:xfrm>
            <a:off x="7392144" y="1196752"/>
            <a:ext cx="0" cy="4176464"/>
          </a:xfrm>
          <a:prstGeom prst="line">
            <a:avLst/>
          </a:prstGeom>
        </p:spPr>
        <p:style>
          <a:lnRef idx="1">
            <a:schemeClr val="accent2"/>
          </a:lnRef>
          <a:fillRef idx="0">
            <a:schemeClr val="accent2"/>
          </a:fillRef>
          <a:effectRef idx="0">
            <a:schemeClr val="accent2"/>
          </a:effectRef>
          <a:fontRef idx="minor">
            <a:schemeClr val="tx1"/>
          </a:fontRef>
        </p:style>
      </p:cxnSp>
      <p:sp>
        <p:nvSpPr>
          <p:cNvPr id="19" name="TextBox 18"/>
          <p:cNvSpPr txBox="1"/>
          <p:nvPr/>
        </p:nvSpPr>
        <p:spPr>
          <a:xfrm>
            <a:off x="6057262" y="66690"/>
            <a:ext cx="431959" cy="553998"/>
          </a:xfrm>
          <a:prstGeom prst="rect">
            <a:avLst/>
          </a:prstGeom>
          <a:noFill/>
        </p:spPr>
        <p:txBody>
          <a:bodyPr wrap="square" rtlCol="0">
            <a:spAutoFit/>
          </a:bodyPr>
          <a:lstStyle/>
          <a:p>
            <a:r>
              <a:rPr lang="en-AU" sz="1000" dirty="0"/>
              <a:t>24</a:t>
            </a:r>
          </a:p>
          <a:p>
            <a:r>
              <a:rPr lang="en-AU" sz="1000" dirty="0"/>
              <a:t>7</a:t>
            </a:r>
          </a:p>
          <a:p>
            <a:r>
              <a:rPr lang="en-AU" sz="1000" dirty="0"/>
              <a:t>30</a:t>
            </a:r>
          </a:p>
        </p:txBody>
      </p:sp>
      <p:sp>
        <p:nvSpPr>
          <p:cNvPr id="20" name="TextBox 19"/>
          <p:cNvSpPr txBox="1"/>
          <p:nvPr/>
        </p:nvSpPr>
        <p:spPr>
          <a:xfrm>
            <a:off x="6096089" y="601549"/>
            <a:ext cx="1143262" cy="246221"/>
          </a:xfrm>
          <a:prstGeom prst="rect">
            <a:avLst/>
          </a:prstGeom>
          <a:noFill/>
        </p:spPr>
        <p:txBody>
          <a:bodyPr wrap="none" rtlCol="0">
            <a:spAutoFit/>
          </a:bodyPr>
          <a:lstStyle/>
          <a:p>
            <a:r>
              <a:rPr lang="en-AU" sz="1000" dirty="0"/>
              <a:t>Essential Question</a:t>
            </a:r>
          </a:p>
        </p:txBody>
      </p:sp>
      <p:sp>
        <p:nvSpPr>
          <p:cNvPr id="22" name="TextBox 21"/>
          <p:cNvSpPr txBox="1"/>
          <p:nvPr/>
        </p:nvSpPr>
        <p:spPr>
          <a:xfrm>
            <a:off x="7391751" y="1196752"/>
            <a:ext cx="492443" cy="246221"/>
          </a:xfrm>
          <a:prstGeom prst="rect">
            <a:avLst/>
          </a:prstGeom>
          <a:noFill/>
        </p:spPr>
        <p:txBody>
          <a:bodyPr wrap="none" rtlCol="0">
            <a:spAutoFit/>
          </a:bodyPr>
          <a:lstStyle/>
          <a:p>
            <a:r>
              <a:rPr lang="en-AU" sz="1000" dirty="0"/>
              <a:t>Notes</a:t>
            </a:r>
          </a:p>
        </p:txBody>
      </p:sp>
      <p:sp>
        <p:nvSpPr>
          <p:cNvPr id="23" name="TextBox 22"/>
          <p:cNvSpPr txBox="1"/>
          <p:nvPr/>
        </p:nvSpPr>
        <p:spPr>
          <a:xfrm>
            <a:off x="6045850" y="1196753"/>
            <a:ext cx="708848" cy="246221"/>
          </a:xfrm>
          <a:prstGeom prst="rect">
            <a:avLst/>
          </a:prstGeom>
          <a:noFill/>
        </p:spPr>
        <p:txBody>
          <a:bodyPr wrap="none" rtlCol="0">
            <a:spAutoFit/>
          </a:bodyPr>
          <a:lstStyle/>
          <a:p>
            <a:r>
              <a:rPr lang="en-AU" sz="1000" dirty="0"/>
              <a:t>Questions</a:t>
            </a:r>
          </a:p>
        </p:txBody>
      </p:sp>
      <p:sp>
        <p:nvSpPr>
          <p:cNvPr id="24" name="TextBox 23"/>
          <p:cNvSpPr txBox="1"/>
          <p:nvPr/>
        </p:nvSpPr>
        <p:spPr>
          <a:xfrm>
            <a:off x="6096089" y="5373217"/>
            <a:ext cx="679994" cy="246221"/>
          </a:xfrm>
          <a:prstGeom prst="rect">
            <a:avLst/>
          </a:prstGeom>
          <a:noFill/>
        </p:spPr>
        <p:txBody>
          <a:bodyPr wrap="none" rtlCol="0">
            <a:spAutoFit/>
          </a:bodyPr>
          <a:lstStyle/>
          <a:p>
            <a:r>
              <a:rPr lang="en-AU" sz="1000" dirty="0"/>
              <a:t>Summary</a:t>
            </a:r>
          </a:p>
        </p:txBody>
      </p:sp>
      <p:sp>
        <p:nvSpPr>
          <p:cNvPr id="25" name="TextBox 24"/>
          <p:cNvSpPr txBox="1"/>
          <p:nvPr/>
        </p:nvSpPr>
        <p:spPr>
          <a:xfrm>
            <a:off x="1675247" y="142494"/>
            <a:ext cx="671081" cy="369332"/>
          </a:xfrm>
          <a:prstGeom prst="rect">
            <a:avLst/>
          </a:prstGeom>
          <a:noFill/>
        </p:spPr>
        <p:txBody>
          <a:bodyPr wrap="none" rtlCol="0">
            <a:spAutoFit/>
          </a:bodyPr>
          <a:lstStyle/>
          <a:p>
            <a:r>
              <a:rPr lang="en-AU" dirty="0"/>
              <a:t>Tasks</a:t>
            </a:r>
          </a:p>
        </p:txBody>
      </p:sp>
    </p:spTree>
    <p:extLst>
      <p:ext uri="{BB962C8B-B14F-4D97-AF65-F5344CB8AC3E}">
        <p14:creationId xmlns:p14="http://schemas.microsoft.com/office/powerpoint/2010/main" val="26966079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272465" y="6488668"/>
            <a:ext cx="549775" cy="369332"/>
          </a:xfrm>
          <a:prstGeom prst="rect">
            <a:avLst/>
          </a:prstGeom>
          <a:noFill/>
        </p:spPr>
        <p:txBody>
          <a:bodyPr wrap="square" rtlCol="0">
            <a:spAutoFit/>
          </a:bodyPr>
          <a:lstStyle/>
          <a:p>
            <a:r>
              <a:rPr lang="en-AU" dirty="0"/>
              <a:t> </a:t>
            </a:r>
          </a:p>
        </p:txBody>
      </p:sp>
      <p:cxnSp>
        <p:nvCxnSpPr>
          <p:cNvPr id="4" name="Straight Connector 3"/>
          <p:cNvCxnSpPr/>
          <p:nvPr/>
        </p:nvCxnSpPr>
        <p:spPr>
          <a:xfrm>
            <a:off x="152400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152400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617471" y="149732"/>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4439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2639616" y="404664"/>
            <a:ext cx="1819794" cy="523220"/>
          </a:xfrm>
          <a:prstGeom prst="rect">
            <a:avLst/>
          </a:prstGeom>
          <a:noFill/>
        </p:spPr>
        <p:txBody>
          <a:bodyPr wrap="none" rtlCol="0">
            <a:spAutoFit/>
          </a:bodyPr>
          <a:lstStyle/>
          <a:p>
            <a:r>
              <a:rPr lang="en-AU" sz="2800" dirty="0" smtClean="0"/>
              <a:t>Histograms</a:t>
            </a:r>
            <a:endParaRPr lang="en-AU" sz="2800" dirty="0"/>
          </a:p>
        </p:txBody>
      </p:sp>
      <p:sp>
        <p:nvSpPr>
          <p:cNvPr id="11" name="TextBox 10"/>
          <p:cNvSpPr txBox="1"/>
          <p:nvPr/>
        </p:nvSpPr>
        <p:spPr>
          <a:xfrm>
            <a:off x="8963175" y="106355"/>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643514" y="1075005"/>
            <a:ext cx="8620422" cy="461665"/>
          </a:xfrm>
          <a:prstGeom prst="rect">
            <a:avLst/>
          </a:prstGeom>
          <a:noFill/>
        </p:spPr>
        <p:txBody>
          <a:bodyPr wrap="square" rtlCol="0">
            <a:spAutoFit/>
          </a:bodyPr>
          <a:lstStyle/>
          <a:p>
            <a:r>
              <a:rPr lang="en-AU" sz="2400" dirty="0"/>
              <a:t>EQ – </a:t>
            </a:r>
            <a:r>
              <a:rPr lang="en-AU" sz="2400" dirty="0" smtClean="0"/>
              <a:t>How does Compound Interest differ from Simple Interest?</a:t>
            </a:r>
            <a:endParaRPr lang="en-AU" sz="2400" dirty="0"/>
          </a:p>
        </p:txBody>
      </p:sp>
      <p:sp>
        <p:nvSpPr>
          <p:cNvPr id="14" name="TextBox 13"/>
          <p:cNvSpPr txBox="1"/>
          <p:nvPr/>
        </p:nvSpPr>
        <p:spPr>
          <a:xfrm>
            <a:off x="4697506" y="2151528"/>
            <a:ext cx="6687671" cy="923330"/>
          </a:xfrm>
          <a:prstGeom prst="rect">
            <a:avLst/>
          </a:prstGeom>
          <a:noFill/>
        </p:spPr>
        <p:txBody>
          <a:bodyPr wrap="square" rtlCol="0">
            <a:spAutoFit/>
          </a:bodyPr>
          <a:lstStyle/>
          <a:p>
            <a:r>
              <a:rPr lang="en-US"/>
              <a:t>When dealing with financial calculations we often want to know the total amount that needs to be repaid by us, or paid to us, at the end of the contract. </a:t>
            </a:r>
            <a:endParaRPr lang="en-US" dirty="0"/>
          </a:p>
        </p:txBody>
      </p:sp>
    </p:spTree>
    <p:extLst>
      <p:ext uri="{BB962C8B-B14F-4D97-AF65-F5344CB8AC3E}">
        <p14:creationId xmlns:p14="http://schemas.microsoft.com/office/powerpoint/2010/main" val="9984527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272465" y="6488668"/>
            <a:ext cx="549775" cy="369332"/>
          </a:xfrm>
          <a:prstGeom prst="rect">
            <a:avLst/>
          </a:prstGeom>
          <a:noFill/>
        </p:spPr>
        <p:txBody>
          <a:bodyPr wrap="square" rtlCol="0">
            <a:spAutoFit/>
          </a:bodyPr>
          <a:lstStyle/>
          <a:p>
            <a:r>
              <a:rPr lang="en-AU" dirty="0"/>
              <a:t> </a:t>
            </a:r>
          </a:p>
        </p:txBody>
      </p:sp>
      <p:cxnSp>
        <p:nvCxnSpPr>
          <p:cNvPr id="4" name="Straight Connector 3"/>
          <p:cNvCxnSpPr/>
          <p:nvPr/>
        </p:nvCxnSpPr>
        <p:spPr>
          <a:xfrm>
            <a:off x="152400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152400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617471" y="149732"/>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4439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2639616" y="404664"/>
            <a:ext cx="1819794" cy="523220"/>
          </a:xfrm>
          <a:prstGeom prst="rect">
            <a:avLst/>
          </a:prstGeom>
          <a:noFill/>
        </p:spPr>
        <p:txBody>
          <a:bodyPr wrap="none" rtlCol="0">
            <a:spAutoFit/>
          </a:bodyPr>
          <a:lstStyle/>
          <a:p>
            <a:r>
              <a:rPr lang="en-AU" sz="2800" dirty="0" smtClean="0"/>
              <a:t>Histograms</a:t>
            </a:r>
            <a:endParaRPr lang="en-AU" sz="2800" dirty="0"/>
          </a:p>
        </p:txBody>
      </p:sp>
      <p:sp>
        <p:nvSpPr>
          <p:cNvPr id="11" name="TextBox 10"/>
          <p:cNvSpPr txBox="1"/>
          <p:nvPr/>
        </p:nvSpPr>
        <p:spPr>
          <a:xfrm>
            <a:off x="8963175" y="106355"/>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643514" y="1075005"/>
            <a:ext cx="8620422" cy="461665"/>
          </a:xfrm>
          <a:prstGeom prst="rect">
            <a:avLst/>
          </a:prstGeom>
          <a:noFill/>
        </p:spPr>
        <p:txBody>
          <a:bodyPr wrap="square" rtlCol="0">
            <a:spAutoFit/>
          </a:bodyPr>
          <a:lstStyle/>
          <a:p>
            <a:r>
              <a:rPr lang="en-AU" sz="2400" dirty="0"/>
              <a:t>EQ – </a:t>
            </a:r>
            <a:r>
              <a:rPr lang="en-AU" sz="2400" dirty="0" smtClean="0"/>
              <a:t>How does Compound Interest differ from Simple Interest?</a:t>
            </a:r>
            <a:endParaRPr lang="en-AU" sz="2400" dirty="0"/>
          </a:p>
        </p:txBody>
      </p:sp>
      <p:sp>
        <p:nvSpPr>
          <p:cNvPr id="13" name="TextBox 12"/>
          <p:cNvSpPr txBox="1"/>
          <p:nvPr/>
        </p:nvSpPr>
        <p:spPr>
          <a:xfrm>
            <a:off x="1905503" y="3538955"/>
            <a:ext cx="2592288" cy="369332"/>
          </a:xfrm>
          <a:prstGeom prst="rect">
            <a:avLst/>
          </a:prstGeom>
          <a:noFill/>
        </p:spPr>
        <p:txBody>
          <a:bodyPr wrap="square" rtlCol="0">
            <a:spAutoFit/>
          </a:bodyPr>
          <a:lstStyle/>
          <a:p>
            <a:r>
              <a:rPr lang="en-AU" dirty="0" smtClean="0"/>
              <a:t>What simple interest?  </a:t>
            </a:r>
            <a:endParaRPr lang="en-AU" dirty="0"/>
          </a:p>
        </p:txBody>
      </p:sp>
      <p:sp>
        <p:nvSpPr>
          <p:cNvPr id="14" name="TextBox 13"/>
          <p:cNvSpPr txBox="1"/>
          <p:nvPr/>
        </p:nvSpPr>
        <p:spPr>
          <a:xfrm>
            <a:off x="4697506" y="2151528"/>
            <a:ext cx="6687671" cy="923330"/>
          </a:xfrm>
          <a:prstGeom prst="rect">
            <a:avLst/>
          </a:prstGeom>
          <a:noFill/>
        </p:spPr>
        <p:txBody>
          <a:bodyPr wrap="square" rtlCol="0">
            <a:spAutoFit/>
          </a:bodyPr>
          <a:lstStyle/>
          <a:p>
            <a:r>
              <a:rPr lang="en-US"/>
              <a:t>When dealing with financial calculations we often want to know the total amount that needs to be repaid by us, or paid to us, at the end of the contract. </a:t>
            </a:r>
            <a:endParaRPr lang="en-US" dirty="0"/>
          </a:p>
        </p:txBody>
      </p:sp>
    </p:spTree>
    <p:extLst>
      <p:ext uri="{BB962C8B-B14F-4D97-AF65-F5344CB8AC3E}">
        <p14:creationId xmlns:p14="http://schemas.microsoft.com/office/powerpoint/2010/main" val="36093229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272465" y="6488668"/>
            <a:ext cx="549775" cy="369332"/>
          </a:xfrm>
          <a:prstGeom prst="rect">
            <a:avLst/>
          </a:prstGeom>
          <a:noFill/>
        </p:spPr>
        <p:txBody>
          <a:bodyPr wrap="square" rtlCol="0">
            <a:spAutoFit/>
          </a:bodyPr>
          <a:lstStyle/>
          <a:p>
            <a:r>
              <a:rPr lang="en-AU" dirty="0"/>
              <a:t> </a:t>
            </a:r>
          </a:p>
        </p:txBody>
      </p:sp>
      <p:cxnSp>
        <p:nvCxnSpPr>
          <p:cNvPr id="4" name="Straight Connector 3"/>
          <p:cNvCxnSpPr/>
          <p:nvPr/>
        </p:nvCxnSpPr>
        <p:spPr>
          <a:xfrm>
            <a:off x="152400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152400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617471" y="149732"/>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4439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2639616" y="404664"/>
            <a:ext cx="1819794" cy="523220"/>
          </a:xfrm>
          <a:prstGeom prst="rect">
            <a:avLst/>
          </a:prstGeom>
          <a:noFill/>
        </p:spPr>
        <p:txBody>
          <a:bodyPr wrap="none" rtlCol="0">
            <a:spAutoFit/>
          </a:bodyPr>
          <a:lstStyle/>
          <a:p>
            <a:r>
              <a:rPr lang="en-AU" sz="2800" dirty="0" smtClean="0"/>
              <a:t>Histograms</a:t>
            </a:r>
            <a:endParaRPr lang="en-AU" sz="2800" dirty="0"/>
          </a:p>
        </p:txBody>
      </p:sp>
      <p:sp>
        <p:nvSpPr>
          <p:cNvPr id="11" name="TextBox 10"/>
          <p:cNvSpPr txBox="1"/>
          <p:nvPr/>
        </p:nvSpPr>
        <p:spPr>
          <a:xfrm>
            <a:off x="8963175" y="106355"/>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643514" y="1075005"/>
            <a:ext cx="8620422" cy="461665"/>
          </a:xfrm>
          <a:prstGeom prst="rect">
            <a:avLst/>
          </a:prstGeom>
          <a:noFill/>
        </p:spPr>
        <p:txBody>
          <a:bodyPr wrap="square" rtlCol="0">
            <a:spAutoFit/>
          </a:bodyPr>
          <a:lstStyle/>
          <a:p>
            <a:r>
              <a:rPr lang="en-AU" sz="2400" dirty="0"/>
              <a:t>EQ – </a:t>
            </a:r>
            <a:r>
              <a:rPr lang="en-AU" sz="2400" dirty="0" smtClean="0"/>
              <a:t>How does Compound Interest differ from Simple Interest?</a:t>
            </a:r>
            <a:endParaRPr lang="en-AU" sz="2400" dirty="0"/>
          </a:p>
        </p:txBody>
      </p:sp>
      <p:sp>
        <p:nvSpPr>
          <p:cNvPr id="13" name="TextBox 12"/>
          <p:cNvSpPr txBox="1"/>
          <p:nvPr/>
        </p:nvSpPr>
        <p:spPr>
          <a:xfrm>
            <a:off x="1962558" y="3299501"/>
            <a:ext cx="2592288" cy="369332"/>
          </a:xfrm>
          <a:prstGeom prst="rect">
            <a:avLst/>
          </a:prstGeom>
          <a:noFill/>
        </p:spPr>
        <p:txBody>
          <a:bodyPr wrap="square" rtlCol="0">
            <a:spAutoFit/>
          </a:bodyPr>
          <a:lstStyle/>
          <a:p>
            <a:r>
              <a:rPr lang="en-AU" dirty="0" smtClean="0"/>
              <a:t>What simple interest?  </a:t>
            </a:r>
            <a:endParaRPr lang="en-AU" dirty="0"/>
          </a:p>
        </p:txBody>
      </p:sp>
      <p:sp>
        <p:nvSpPr>
          <p:cNvPr id="3" name="TextBox 2"/>
          <p:cNvSpPr txBox="1"/>
          <p:nvPr/>
        </p:nvSpPr>
        <p:spPr>
          <a:xfrm>
            <a:off x="4669874" y="2060848"/>
            <a:ext cx="6705600" cy="1754326"/>
          </a:xfrm>
          <a:prstGeom prst="rect">
            <a:avLst/>
          </a:prstGeom>
          <a:noFill/>
        </p:spPr>
        <p:txBody>
          <a:bodyPr wrap="square" rtlCol="0">
            <a:spAutoFit/>
          </a:bodyPr>
          <a:lstStyle/>
          <a:p>
            <a:r>
              <a:rPr lang="en-US" dirty="0" smtClean="0"/>
              <a:t>When dealing with financial calculations we often want to know the total amount that needs to be repaid by us, or paid to us, at the end of the contract. </a:t>
            </a:r>
          </a:p>
          <a:p>
            <a:endParaRPr lang="en-US" dirty="0"/>
          </a:p>
          <a:p>
            <a:r>
              <a:rPr lang="en-US" dirty="0" smtClean="0"/>
              <a:t>In </a:t>
            </a:r>
            <a:r>
              <a:rPr lang="en-US" dirty="0"/>
              <a:t>the case of simple interest, the total amount is the sum of the principal and the interest.</a:t>
            </a:r>
          </a:p>
        </p:txBody>
      </p:sp>
    </p:spTree>
    <p:extLst>
      <p:ext uri="{BB962C8B-B14F-4D97-AF65-F5344CB8AC3E}">
        <p14:creationId xmlns:p14="http://schemas.microsoft.com/office/powerpoint/2010/main" val="189536615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272465" y="6488668"/>
            <a:ext cx="549775" cy="369332"/>
          </a:xfrm>
          <a:prstGeom prst="rect">
            <a:avLst/>
          </a:prstGeom>
          <a:noFill/>
        </p:spPr>
        <p:txBody>
          <a:bodyPr wrap="square" rtlCol="0">
            <a:spAutoFit/>
          </a:bodyPr>
          <a:lstStyle/>
          <a:p>
            <a:r>
              <a:rPr lang="en-AU" dirty="0"/>
              <a:t> </a:t>
            </a:r>
          </a:p>
        </p:txBody>
      </p:sp>
      <p:cxnSp>
        <p:nvCxnSpPr>
          <p:cNvPr id="4" name="Straight Connector 3"/>
          <p:cNvCxnSpPr/>
          <p:nvPr/>
        </p:nvCxnSpPr>
        <p:spPr>
          <a:xfrm>
            <a:off x="152400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152400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617471" y="149732"/>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4439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2639616" y="404664"/>
            <a:ext cx="1819794" cy="523220"/>
          </a:xfrm>
          <a:prstGeom prst="rect">
            <a:avLst/>
          </a:prstGeom>
          <a:noFill/>
        </p:spPr>
        <p:txBody>
          <a:bodyPr wrap="none" rtlCol="0">
            <a:spAutoFit/>
          </a:bodyPr>
          <a:lstStyle/>
          <a:p>
            <a:r>
              <a:rPr lang="en-AU" sz="2800" dirty="0" smtClean="0"/>
              <a:t>Histograms</a:t>
            </a:r>
            <a:endParaRPr lang="en-AU" sz="2800" dirty="0"/>
          </a:p>
        </p:txBody>
      </p:sp>
      <p:sp>
        <p:nvSpPr>
          <p:cNvPr id="11" name="TextBox 10"/>
          <p:cNvSpPr txBox="1"/>
          <p:nvPr/>
        </p:nvSpPr>
        <p:spPr>
          <a:xfrm>
            <a:off x="8963175" y="106355"/>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643514" y="1075005"/>
            <a:ext cx="8620422" cy="461665"/>
          </a:xfrm>
          <a:prstGeom prst="rect">
            <a:avLst/>
          </a:prstGeom>
          <a:noFill/>
        </p:spPr>
        <p:txBody>
          <a:bodyPr wrap="square" rtlCol="0">
            <a:spAutoFit/>
          </a:bodyPr>
          <a:lstStyle/>
          <a:p>
            <a:r>
              <a:rPr lang="en-AU" sz="2400" dirty="0"/>
              <a:t>EQ – </a:t>
            </a:r>
            <a:r>
              <a:rPr lang="en-AU" sz="2400" dirty="0" smtClean="0"/>
              <a:t>How does Compound Interest differ from Simple Interest?</a:t>
            </a:r>
            <a:endParaRPr lang="en-AU" sz="2400" dirty="0"/>
          </a:p>
        </p:txBody>
      </p:sp>
      <p:sp>
        <p:nvSpPr>
          <p:cNvPr id="13" name="TextBox 12"/>
          <p:cNvSpPr txBox="1"/>
          <p:nvPr/>
        </p:nvSpPr>
        <p:spPr>
          <a:xfrm>
            <a:off x="1617471" y="2060848"/>
            <a:ext cx="2592288" cy="369332"/>
          </a:xfrm>
          <a:prstGeom prst="rect">
            <a:avLst/>
          </a:prstGeom>
          <a:noFill/>
        </p:spPr>
        <p:txBody>
          <a:bodyPr wrap="square" rtlCol="0">
            <a:spAutoFit/>
          </a:bodyPr>
          <a:lstStyle/>
          <a:p>
            <a:r>
              <a:rPr lang="en-AU" dirty="0" smtClean="0"/>
              <a:t>What simple interest?  </a:t>
            </a:r>
            <a:endParaRPr lang="en-AU" dirty="0"/>
          </a:p>
        </p:txBody>
      </p:sp>
      <p:sp>
        <p:nvSpPr>
          <p:cNvPr id="3" name="TextBox 2"/>
          <p:cNvSpPr txBox="1"/>
          <p:nvPr/>
        </p:nvSpPr>
        <p:spPr>
          <a:xfrm>
            <a:off x="4669874" y="2060848"/>
            <a:ext cx="6705600" cy="1200329"/>
          </a:xfrm>
          <a:prstGeom prst="rect">
            <a:avLst/>
          </a:prstGeom>
          <a:noFill/>
        </p:spPr>
        <p:txBody>
          <a:bodyPr wrap="square" rtlCol="0">
            <a:spAutoFit/>
          </a:bodyPr>
          <a:lstStyle/>
          <a:p>
            <a:r>
              <a:rPr lang="en-US" dirty="0" smtClean="0"/>
              <a:t>When </a:t>
            </a:r>
            <a:r>
              <a:rPr lang="en-US" dirty="0"/>
              <a:t>dealing with financial calculations we often want to know the total amount that needs to be repaid by us, or paid to us, at the end of the contract. In the case of simple interest, the total amount is the sum of the principal and the interest.</a:t>
            </a:r>
          </a:p>
        </p:txBody>
      </p:sp>
      <p:sp>
        <p:nvSpPr>
          <p:cNvPr id="5" name="TextBox 4"/>
          <p:cNvSpPr txBox="1"/>
          <p:nvPr/>
        </p:nvSpPr>
        <p:spPr>
          <a:xfrm>
            <a:off x="1609915" y="3642490"/>
            <a:ext cx="2154429" cy="646331"/>
          </a:xfrm>
          <a:prstGeom prst="rect">
            <a:avLst/>
          </a:prstGeom>
          <a:noFill/>
        </p:spPr>
        <p:txBody>
          <a:bodyPr wrap="square" rtlCol="0">
            <a:spAutoFit/>
          </a:bodyPr>
          <a:lstStyle/>
          <a:p>
            <a:r>
              <a:rPr lang="en-US" dirty="0" smtClean="0"/>
              <a:t>How is simple interest Calculated? </a:t>
            </a:r>
            <a:endParaRPr lang="en-US" dirty="0"/>
          </a:p>
        </p:txBody>
      </p:sp>
    </p:spTree>
    <p:extLst>
      <p:ext uri="{BB962C8B-B14F-4D97-AF65-F5344CB8AC3E}">
        <p14:creationId xmlns:p14="http://schemas.microsoft.com/office/powerpoint/2010/main" val="4809642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272465" y="6488668"/>
            <a:ext cx="549775" cy="369332"/>
          </a:xfrm>
          <a:prstGeom prst="rect">
            <a:avLst/>
          </a:prstGeom>
          <a:noFill/>
        </p:spPr>
        <p:txBody>
          <a:bodyPr wrap="square" rtlCol="0">
            <a:spAutoFit/>
          </a:bodyPr>
          <a:lstStyle/>
          <a:p>
            <a:r>
              <a:rPr lang="en-AU" dirty="0"/>
              <a:t> </a:t>
            </a:r>
          </a:p>
        </p:txBody>
      </p:sp>
      <p:cxnSp>
        <p:nvCxnSpPr>
          <p:cNvPr id="4" name="Straight Connector 3"/>
          <p:cNvCxnSpPr/>
          <p:nvPr/>
        </p:nvCxnSpPr>
        <p:spPr>
          <a:xfrm>
            <a:off x="152400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152400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617471" y="149732"/>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4439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2639616" y="404664"/>
            <a:ext cx="1819794" cy="523220"/>
          </a:xfrm>
          <a:prstGeom prst="rect">
            <a:avLst/>
          </a:prstGeom>
          <a:noFill/>
        </p:spPr>
        <p:txBody>
          <a:bodyPr wrap="none" rtlCol="0">
            <a:spAutoFit/>
          </a:bodyPr>
          <a:lstStyle/>
          <a:p>
            <a:r>
              <a:rPr lang="en-AU" sz="2800" dirty="0" smtClean="0"/>
              <a:t>Histograms</a:t>
            </a:r>
            <a:endParaRPr lang="en-AU" sz="2800" dirty="0"/>
          </a:p>
        </p:txBody>
      </p:sp>
      <p:sp>
        <p:nvSpPr>
          <p:cNvPr id="11" name="TextBox 10"/>
          <p:cNvSpPr txBox="1"/>
          <p:nvPr/>
        </p:nvSpPr>
        <p:spPr>
          <a:xfrm>
            <a:off x="8963175" y="106355"/>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643514" y="1075005"/>
            <a:ext cx="8620422" cy="461665"/>
          </a:xfrm>
          <a:prstGeom prst="rect">
            <a:avLst/>
          </a:prstGeom>
          <a:noFill/>
        </p:spPr>
        <p:txBody>
          <a:bodyPr wrap="square" rtlCol="0">
            <a:spAutoFit/>
          </a:bodyPr>
          <a:lstStyle/>
          <a:p>
            <a:r>
              <a:rPr lang="en-AU" sz="2400" dirty="0"/>
              <a:t>EQ – </a:t>
            </a:r>
            <a:r>
              <a:rPr lang="en-AU" sz="2400" dirty="0" smtClean="0"/>
              <a:t>How does Compound Interest differ from Simple Interest?</a:t>
            </a:r>
            <a:endParaRPr lang="en-AU" sz="2400" dirty="0"/>
          </a:p>
        </p:txBody>
      </p:sp>
      <p:sp>
        <p:nvSpPr>
          <p:cNvPr id="13" name="TextBox 12"/>
          <p:cNvSpPr txBox="1"/>
          <p:nvPr/>
        </p:nvSpPr>
        <p:spPr>
          <a:xfrm>
            <a:off x="1617471" y="2060848"/>
            <a:ext cx="2592288" cy="369332"/>
          </a:xfrm>
          <a:prstGeom prst="rect">
            <a:avLst/>
          </a:prstGeom>
          <a:noFill/>
        </p:spPr>
        <p:txBody>
          <a:bodyPr wrap="square" rtlCol="0">
            <a:spAutoFit/>
          </a:bodyPr>
          <a:lstStyle/>
          <a:p>
            <a:r>
              <a:rPr lang="en-AU" dirty="0" smtClean="0"/>
              <a:t>What simple interest?  </a:t>
            </a:r>
            <a:endParaRPr lang="en-AU" dirty="0"/>
          </a:p>
        </p:txBody>
      </p:sp>
      <p:sp>
        <p:nvSpPr>
          <p:cNvPr id="3" name="TextBox 2"/>
          <p:cNvSpPr txBox="1"/>
          <p:nvPr/>
        </p:nvSpPr>
        <p:spPr>
          <a:xfrm>
            <a:off x="4669874" y="2060848"/>
            <a:ext cx="6705600" cy="1200329"/>
          </a:xfrm>
          <a:prstGeom prst="rect">
            <a:avLst/>
          </a:prstGeom>
          <a:noFill/>
        </p:spPr>
        <p:txBody>
          <a:bodyPr wrap="square" rtlCol="0">
            <a:spAutoFit/>
          </a:bodyPr>
          <a:lstStyle/>
          <a:p>
            <a:r>
              <a:rPr lang="en-US" dirty="0" smtClean="0"/>
              <a:t>When </a:t>
            </a:r>
            <a:r>
              <a:rPr lang="en-US" dirty="0"/>
              <a:t>dealing with financial calculations we often want to know the total amount that needs to be repaid by us, or paid to us, at the end of the contract. In the case of simple interest, the total amount is the sum of the principal and the interest.</a:t>
            </a:r>
          </a:p>
        </p:txBody>
      </p:sp>
      <p:sp>
        <p:nvSpPr>
          <p:cNvPr id="5" name="TextBox 4"/>
          <p:cNvSpPr txBox="1"/>
          <p:nvPr/>
        </p:nvSpPr>
        <p:spPr>
          <a:xfrm>
            <a:off x="1609915" y="3642490"/>
            <a:ext cx="2154429" cy="646331"/>
          </a:xfrm>
          <a:prstGeom prst="rect">
            <a:avLst/>
          </a:prstGeom>
          <a:noFill/>
        </p:spPr>
        <p:txBody>
          <a:bodyPr wrap="square" rtlCol="0">
            <a:spAutoFit/>
          </a:bodyPr>
          <a:lstStyle/>
          <a:p>
            <a:r>
              <a:rPr lang="en-US" dirty="0" smtClean="0"/>
              <a:t>How is simple interest Calculated? </a:t>
            </a:r>
            <a:endParaRPr lang="en-US" dirty="0"/>
          </a:p>
        </p:txBody>
      </p:sp>
      <p:sp>
        <p:nvSpPr>
          <p:cNvPr id="8" name="TextBox 7"/>
          <p:cNvSpPr txBox="1"/>
          <p:nvPr/>
        </p:nvSpPr>
        <p:spPr>
          <a:xfrm>
            <a:off x="4669874" y="3581686"/>
            <a:ext cx="6772275" cy="923330"/>
          </a:xfrm>
          <a:prstGeom prst="rect">
            <a:avLst/>
          </a:prstGeom>
          <a:noFill/>
        </p:spPr>
        <p:txBody>
          <a:bodyPr wrap="square" rtlCol="0">
            <a:spAutoFit/>
          </a:bodyPr>
          <a:lstStyle/>
          <a:p>
            <a:r>
              <a:rPr lang="en-US" b="1" dirty="0"/>
              <a:t>Simple interest</a:t>
            </a:r>
            <a:r>
              <a:rPr lang="en-US" dirty="0"/>
              <a:t> is calculated on the original principal. The simple interest (</a:t>
            </a:r>
            <a:r>
              <a:rPr lang="en-US" i="1" dirty="0"/>
              <a:t>I</a:t>
            </a:r>
            <a:r>
              <a:rPr lang="en-US" dirty="0"/>
              <a:t>) depends on three things: the principal (</a:t>
            </a:r>
            <a:r>
              <a:rPr lang="en-US" i="1" dirty="0"/>
              <a:t>P</a:t>
            </a:r>
            <a:r>
              <a:rPr lang="en-US" dirty="0"/>
              <a:t>), the interest rate per annum (</a:t>
            </a:r>
            <a:r>
              <a:rPr lang="en-US" i="1" dirty="0"/>
              <a:t>R</a:t>
            </a:r>
            <a:r>
              <a:rPr lang="en-US" dirty="0"/>
              <a:t>), and the time in years (</a:t>
            </a:r>
            <a:r>
              <a:rPr lang="en-US" i="1" dirty="0"/>
              <a:t>T</a:t>
            </a:r>
            <a:r>
              <a:rPr lang="en-US" dirty="0"/>
              <a:t>).</a:t>
            </a:r>
          </a:p>
        </p:txBody>
      </p:sp>
    </p:spTree>
    <p:extLst>
      <p:ext uri="{BB962C8B-B14F-4D97-AF65-F5344CB8AC3E}">
        <p14:creationId xmlns:p14="http://schemas.microsoft.com/office/powerpoint/2010/main" val="42818741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272465" y="6488668"/>
            <a:ext cx="549775" cy="369332"/>
          </a:xfrm>
          <a:prstGeom prst="rect">
            <a:avLst/>
          </a:prstGeom>
          <a:noFill/>
        </p:spPr>
        <p:txBody>
          <a:bodyPr wrap="square" rtlCol="0">
            <a:spAutoFit/>
          </a:bodyPr>
          <a:lstStyle/>
          <a:p>
            <a:r>
              <a:rPr lang="en-AU" dirty="0"/>
              <a:t> </a:t>
            </a:r>
          </a:p>
        </p:txBody>
      </p:sp>
      <p:cxnSp>
        <p:nvCxnSpPr>
          <p:cNvPr id="4" name="Straight Connector 3"/>
          <p:cNvCxnSpPr/>
          <p:nvPr/>
        </p:nvCxnSpPr>
        <p:spPr>
          <a:xfrm>
            <a:off x="152400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152400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617471" y="149732"/>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4439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2639616" y="404664"/>
            <a:ext cx="1819794" cy="523220"/>
          </a:xfrm>
          <a:prstGeom prst="rect">
            <a:avLst/>
          </a:prstGeom>
          <a:noFill/>
        </p:spPr>
        <p:txBody>
          <a:bodyPr wrap="none" rtlCol="0">
            <a:spAutoFit/>
          </a:bodyPr>
          <a:lstStyle/>
          <a:p>
            <a:r>
              <a:rPr lang="en-AU" sz="2800" dirty="0" smtClean="0"/>
              <a:t>Histograms</a:t>
            </a:r>
            <a:endParaRPr lang="en-AU" sz="2800" dirty="0"/>
          </a:p>
        </p:txBody>
      </p:sp>
      <p:sp>
        <p:nvSpPr>
          <p:cNvPr id="11" name="TextBox 10"/>
          <p:cNvSpPr txBox="1"/>
          <p:nvPr/>
        </p:nvSpPr>
        <p:spPr>
          <a:xfrm>
            <a:off x="8963175" y="106355"/>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643514" y="1075005"/>
            <a:ext cx="8620422" cy="461665"/>
          </a:xfrm>
          <a:prstGeom prst="rect">
            <a:avLst/>
          </a:prstGeom>
          <a:noFill/>
        </p:spPr>
        <p:txBody>
          <a:bodyPr wrap="square" rtlCol="0">
            <a:spAutoFit/>
          </a:bodyPr>
          <a:lstStyle/>
          <a:p>
            <a:r>
              <a:rPr lang="en-AU" sz="2400" dirty="0"/>
              <a:t>EQ – </a:t>
            </a:r>
            <a:r>
              <a:rPr lang="en-AU" sz="2400" dirty="0" smtClean="0"/>
              <a:t>How does Compound Interest differ from Simple Interest?</a:t>
            </a:r>
            <a:endParaRPr lang="en-AU" sz="2400" dirty="0"/>
          </a:p>
        </p:txBody>
      </p:sp>
      <p:sp>
        <p:nvSpPr>
          <p:cNvPr id="13" name="TextBox 12"/>
          <p:cNvSpPr txBox="1"/>
          <p:nvPr/>
        </p:nvSpPr>
        <p:spPr>
          <a:xfrm>
            <a:off x="1617471" y="2060848"/>
            <a:ext cx="2592288" cy="369332"/>
          </a:xfrm>
          <a:prstGeom prst="rect">
            <a:avLst/>
          </a:prstGeom>
          <a:noFill/>
        </p:spPr>
        <p:txBody>
          <a:bodyPr wrap="square" rtlCol="0">
            <a:spAutoFit/>
          </a:bodyPr>
          <a:lstStyle/>
          <a:p>
            <a:r>
              <a:rPr lang="en-AU" dirty="0" smtClean="0"/>
              <a:t>What simple interest?  </a:t>
            </a:r>
            <a:endParaRPr lang="en-AU" dirty="0"/>
          </a:p>
        </p:txBody>
      </p:sp>
      <p:sp>
        <p:nvSpPr>
          <p:cNvPr id="3" name="TextBox 2"/>
          <p:cNvSpPr txBox="1"/>
          <p:nvPr/>
        </p:nvSpPr>
        <p:spPr>
          <a:xfrm>
            <a:off x="4669874" y="2060848"/>
            <a:ext cx="6705600" cy="1200329"/>
          </a:xfrm>
          <a:prstGeom prst="rect">
            <a:avLst/>
          </a:prstGeom>
          <a:noFill/>
        </p:spPr>
        <p:txBody>
          <a:bodyPr wrap="square" rtlCol="0">
            <a:spAutoFit/>
          </a:bodyPr>
          <a:lstStyle/>
          <a:p>
            <a:r>
              <a:rPr lang="en-US" dirty="0" smtClean="0"/>
              <a:t>When </a:t>
            </a:r>
            <a:r>
              <a:rPr lang="en-US" dirty="0"/>
              <a:t>dealing with financial calculations we often want to know the total amount that needs to be repaid by us, or paid to us, at the end of the contract. In the case of simple interest, the total amount is the sum of the principal and the interest.</a:t>
            </a:r>
          </a:p>
        </p:txBody>
      </p:sp>
      <p:sp>
        <p:nvSpPr>
          <p:cNvPr id="5" name="TextBox 4"/>
          <p:cNvSpPr txBox="1"/>
          <p:nvPr/>
        </p:nvSpPr>
        <p:spPr>
          <a:xfrm>
            <a:off x="1609915" y="3642490"/>
            <a:ext cx="2154429" cy="646331"/>
          </a:xfrm>
          <a:prstGeom prst="rect">
            <a:avLst/>
          </a:prstGeom>
          <a:noFill/>
        </p:spPr>
        <p:txBody>
          <a:bodyPr wrap="square" rtlCol="0">
            <a:spAutoFit/>
          </a:bodyPr>
          <a:lstStyle/>
          <a:p>
            <a:r>
              <a:rPr lang="en-US" dirty="0" smtClean="0"/>
              <a:t>How is simple interest Calculated? </a:t>
            </a:r>
            <a:endParaRPr lang="en-US" dirty="0"/>
          </a:p>
        </p:txBody>
      </p:sp>
      <p:sp>
        <p:nvSpPr>
          <p:cNvPr id="8" name="TextBox 7"/>
          <p:cNvSpPr txBox="1"/>
          <p:nvPr/>
        </p:nvSpPr>
        <p:spPr>
          <a:xfrm>
            <a:off x="4669874" y="3581686"/>
            <a:ext cx="6772275" cy="923330"/>
          </a:xfrm>
          <a:prstGeom prst="rect">
            <a:avLst/>
          </a:prstGeom>
          <a:noFill/>
        </p:spPr>
        <p:txBody>
          <a:bodyPr wrap="square" rtlCol="0">
            <a:spAutoFit/>
          </a:bodyPr>
          <a:lstStyle/>
          <a:p>
            <a:r>
              <a:rPr lang="en-US" b="1" dirty="0"/>
              <a:t>Simple interest</a:t>
            </a:r>
            <a:r>
              <a:rPr lang="en-US" dirty="0"/>
              <a:t> is calculated on the original principal. The simple interest (</a:t>
            </a:r>
            <a:r>
              <a:rPr lang="en-US" i="1" dirty="0"/>
              <a:t>I</a:t>
            </a:r>
            <a:r>
              <a:rPr lang="en-US" dirty="0"/>
              <a:t>) depends on three things: the principal (</a:t>
            </a:r>
            <a:r>
              <a:rPr lang="en-US" i="1" dirty="0"/>
              <a:t>P</a:t>
            </a:r>
            <a:r>
              <a:rPr lang="en-US" dirty="0"/>
              <a:t>), the interest rate per annum (</a:t>
            </a:r>
            <a:r>
              <a:rPr lang="en-US" i="1" dirty="0"/>
              <a:t>R</a:t>
            </a:r>
            <a:r>
              <a:rPr lang="en-US" dirty="0"/>
              <a:t>), and the time in years (</a:t>
            </a:r>
            <a:r>
              <a:rPr lang="en-US" i="1" dirty="0"/>
              <a:t>T</a:t>
            </a:r>
            <a:r>
              <a:rPr lang="en-US" dirty="0"/>
              <a:t>).</a:t>
            </a:r>
          </a:p>
        </p:txBody>
      </p:sp>
      <p:sp>
        <p:nvSpPr>
          <p:cNvPr id="20" name="TextBox 19"/>
          <p:cNvSpPr txBox="1"/>
          <p:nvPr/>
        </p:nvSpPr>
        <p:spPr>
          <a:xfrm flipH="1">
            <a:off x="1617471" y="4719022"/>
            <a:ext cx="2120829" cy="923330"/>
          </a:xfrm>
          <a:prstGeom prst="rect">
            <a:avLst/>
          </a:prstGeom>
          <a:noFill/>
        </p:spPr>
        <p:txBody>
          <a:bodyPr wrap="square" rtlCol="0">
            <a:spAutoFit/>
          </a:bodyPr>
          <a:lstStyle/>
          <a:p>
            <a:r>
              <a:rPr lang="en-US" dirty="0" smtClean="0"/>
              <a:t>The formula used for Calculating Simple interest is:</a:t>
            </a:r>
            <a:endParaRPr lang="en-US" dirty="0"/>
          </a:p>
        </p:txBody>
      </p:sp>
    </p:spTree>
    <p:extLst>
      <p:ext uri="{BB962C8B-B14F-4D97-AF65-F5344CB8AC3E}">
        <p14:creationId xmlns:p14="http://schemas.microsoft.com/office/powerpoint/2010/main" val="46549806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272465" y="6488668"/>
            <a:ext cx="549775" cy="369332"/>
          </a:xfrm>
          <a:prstGeom prst="rect">
            <a:avLst/>
          </a:prstGeom>
          <a:noFill/>
        </p:spPr>
        <p:txBody>
          <a:bodyPr wrap="square" rtlCol="0">
            <a:spAutoFit/>
          </a:bodyPr>
          <a:lstStyle/>
          <a:p>
            <a:r>
              <a:rPr lang="en-AU" dirty="0"/>
              <a:t> </a:t>
            </a:r>
          </a:p>
        </p:txBody>
      </p:sp>
      <p:cxnSp>
        <p:nvCxnSpPr>
          <p:cNvPr id="4" name="Straight Connector 3"/>
          <p:cNvCxnSpPr/>
          <p:nvPr/>
        </p:nvCxnSpPr>
        <p:spPr>
          <a:xfrm>
            <a:off x="152400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152400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617471" y="149732"/>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4439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2639616" y="404664"/>
            <a:ext cx="1819794" cy="523220"/>
          </a:xfrm>
          <a:prstGeom prst="rect">
            <a:avLst/>
          </a:prstGeom>
          <a:noFill/>
        </p:spPr>
        <p:txBody>
          <a:bodyPr wrap="none" rtlCol="0">
            <a:spAutoFit/>
          </a:bodyPr>
          <a:lstStyle/>
          <a:p>
            <a:r>
              <a:rPr lang="en-AU" sz="2800" dirty="0" smtClean="0"/>
              <a:t>Histograms</a:t>
            </a:r>
            <a:endParaRPr lang="en-AU" sz="2800" dirty="0"/>
          </a:p>
        </p:txBody>
      </p:sp>
      <p:sp>
        <p:nvSpPr>
          <p:cNvPr id="11" name="TextBox 10"/>
          <p:cNvSpPr txBox="1"/>
          <p:nvPr/>
        </p:nvSpPr>
        <p:spPr>
          <a:xfrm>
            <a:off x="8963175" y="106355"/>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643514" y="1075005"/>
            <a:ext cx="8620422" cy="461665"/>
          </a:xfrm>
          <a:prstGeom prst="rect">
            <a:avLst/>
          </a:prstGeom>
          <a:noFill/>
        </p:spPr>
        <p:txBody>
          <a:bodyPr wrap="square" rtlCol="0">
            <a:spAutoFit/>
          </a:bodyPr>
          <a:lstStyle/>
          <a:p>
            <a:r>
              <a:rPr lang="en-AU" sz="2400" dirty="0"/>
              <a:t>EQ – </a:t>
            </a:r>
            <a:r>
              <a:rPr lang="en-AU" sz="2400" dirty="0" smtClean="0"/>
              <a:t>How does Compound Interest differ from Simple Interest?</a:t>
            </a:r>
            <a:endParaRPr lang="en-AU" sz="2400" dirty="0"/>
          </a:p>
        </p:txBody>
      </p:sp>
      <p:sp>
        <p:nvSpPr>
          <p:cNvPr id="13" name="TextBox 12"/>
          <p:cNvSpPr txBox="1"/>
          <p:nvPr/>
        </p:nvSpPr>
        <p:spPr>
          <a:xfrm>
            <a:off x="1617471" y="2060848"/>
            <a:ext cx="2592288" cy="369332"/>
          </a:xfrm>
          <a:prstGeom prst="rect">
            <a:avLst/>
          </a:prstGeom>
          <a:noFill/>
        </p:spPr>
        <p:txBody>
          <a:bodyPr wrap="square" rtlCol="0">
            <a:spAutoFit/>
          </a:bodyPr>
          <a:lstStyle/>
          <a:p>
            <a:r>
              <a:rPr lang="en-AU" dirty="0" smtClean="0"/>
              <a:t>What simple interest?  </a:t>
            </a:r>
            <a:endParaRPr lang="en-AU" dirty="0"/>
          </a:p>
        </p:txBody>
      </p:sp>
      <p:sp>
        <p:nvSpPr>
          <p:cNvPr id="3" name="TextBox 2"/>
          <p:cNvSpPr txBox="1"/>
          <p:nvPr/>
        </p:nvSpPr>
        <p:spPr>
          <a:xfrm>
            <a:off x="4669874" y="2060848"/>
            <a:ext cx="6705600" cy="1200329"/>
          </a:xfrm>
          <a:prstGeom prst="rect">
            <a:avLst/>
          </a:prstGeom>
          <a:noFill/>
        </p:spPr>
        <p:txBody>
          <a:bodyPr wrap="square" rtlCol="0">
            <a:spAutoFit/>
          </a:bodyPr>
          <a:lstStyle/>
          <a:p>
            <a:r>
              <a:rPr lang="en-US" dirty="0" smtClean="0"/>
              <a:t>When </a:t>
            </a:r>
            <a:r>
              <a:rPr lang="en-US" dirty="0"/>
              <a:t>dealing with financial calculations we often want to know the total amount that needs to be repaid by us, or paid to us, at the end of the contract. In the case of simple interest, the total amount is the sum of the principal and the interest.</a:t>
            </a:r>
          </a:p>
        </p:txBody>
      </p:sp>
      <p:sp>
        <p:nvSpPr>
          <p:cNvPr id="5" name="TextBox 4"/>
          <p:cNvSpPr txBox="1"/>
          <p:nvPr/>
        </p:nvSpPr>
        <p:spPr>
          <a:xfrm>
            <a:off x="1609915" y="3642490"/>
            <a:ext cx="2154429" cy="646331"/>
          </a:xfrm>
          <a:prstGeom prst="rect">
            <a:avLst/>
          </a:prstGeom>
          <a:noFill/>
        </p:spPr>
        <p:txBody>
          <a:bodyPr wrap="square" rtlCol="0">
            <a:spAutoFit/>
          </a:bodyPr>
          <a:lstStyle/>
          <a:p>
            <a:r>
              <a:rPr lang="en-US" dirty="0" smtClean="0"/>
              <a:t>How is simple interest Calculated? </a:t>
            </a:r>
            <a:endParaRPr lang="en-US" dirty="0"/>
          </a:p>
        </p:txBody>
      </p:sp>
      <p:sp>
        <p:nvSpPr>
          <p:cNvPr id="8" name="TextBox 7"/>
          <p:cNvSpPr txBox="1"/>
          <p:nvPr/>
        </p:nvSpPr>
        <p:spPr>
          <a:xfrm>
            <a:off x="4669874" y="3581686"/>
            <a:ext cx="6772275" cy="923330"/>
          </a:xfrm>
          <a:prstGeom prst="rect">
            <a:avLst/>
          </a:prstGeom>
          <a:noFill/>
        </p:spPr>
        <p:txBody>
          <a:bodyPr wrap="square" rtlCol="0">
            <a:spAutoFit/>
          </a:bodyPr>
          <a:lstStyle/>
          <a:p>
            <a:r>
              <a:rPr lang="en-US" b="1" dirty="0"/>
              <a:t>Simple interest</a:t>
            </a:r>
            <a:r>
              <a:rPr lang="en-US" dirty="0"/>
              <a:t> is calculated on the original principal. The simple interest (</a:t>
            </a:r>
            <a:r>
              <a:rPr lang="en-US" i="1" dirty="0"/>
              <a:t>I</a:t>
            </a:r>
            <a:r>
              <a:rPr lang="en-US" dirty="0"/>
              <a:t>) depends on three things: the principal (</a:t>
            </a:r>
            <a:r>
              <a:rPr lang="en-US" i="1" dirty="0"/>
              <a:t>P</a:t>
            </a:r>
            <a:r>
              <a:rPr lang="en-US" dirty="0"/>
              <a:t>), the interest rate per annum (</a:t>
            </a:r>
            <a:r>
              <a:rPr lang="en-US" i="1" dirty="0"/>
              <a:t>R</a:t>
            </a:r>
            <a:r>
              <a:rPr lang="en-US" dirty="0"/>
              <a:t>), and the time in years (</a:t>
            </a:r>
            <a:r>
              <a:rPr lang="en-US" i="1" dirty="0"/>
              <a:t>T</a:t>
            </a:r>
            <a:r>
              <a:rPr lang="en-US" dirty="0"/>
              <a:t>).</a:t>
            </a:r>
          </a:p>
        </p:txBody>
      </p:sp>
      <p:sp>
        <p:nvSpPr>
          <p:cNvPr id="20" name="TextBox 19"/>
          <p:cNvSpPr txBox="1"/>
          <p:nvPr/>
        </p:nvSpPr>
        <p:spPr>
          <a:xfrm flipH="1">
            <a:off x="1617471" y="4719022"/>
            <a:ext cx="2120829" cy="923330"/>
          </a:xfrm>
          <a:prstGeom prst="rect">
            <a:avLst/>
          </a:prstGeom>
          <a:noFill/>
        </p:spPr>
        <p:txBody>
          <a:bodyPr wrap="square" rtlCol="0">
            <a:spAutoFit/>
          </a:bodyPr>
          <a:lstStyle/>
          <a:p>
            <a:r>
              <a:rPr lang="en-US" dirty="0" smtClean="0"/>
              <a:t>The formula used for Calculating Simple interest is:</a:t>
            </a:r>
            <a:endParaRPr lang="en-US" dirty="0"/>
          </a:p>
        </p:txBody>
      </p:sp>
      <p:pic>
        <p:nvPicPr>
          <p:cNvPr id="25" name="Picture 2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9874" y="4611370"/>
            <a:ext cx="4431029" cy="2061964"/>
          </a:xfrm>
          <a:prstGeom prst="rect">
            <a:avLst/>
          </a:prstGeom>
        </p:spPr>
      </p:pic>
    </p:spTree>
    <p:extLst>
      <p:ext uri="{BB962C8B-B14F-4D97-AF65-F5344CB8AC3E}">
        <p14:creationId xmlns:p14="http://schemas.microsoft.com/office/powerpoint/2010/main" val="98872394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272465" y="6488668"/>
            <a:ext cx="549775" cy="369332"/>
          </a:xfrm>
          <a:prstGeom prst="rect">
            <a:avLst/>
          </a:prstGeom>
          <a:noFill/>
        </p:spPr>
        <p:txBody>
          <a:bodyPr wrap="square" rtlCol="0">
            <a:spAutoFit/>
          </a:bodyPr>
          <a:lstStyle/>
          <a:p>
            <a:r>
              <a:rPr lang="en-AU" dirty="0"/>
              <a:t> </a:t>
            </a:r>
          </a:p>
        </p:txBody>
      </p:sp>
      <p:cxnSp>
        <p:nvCxnSpPr>
          <p:cNvPr id="4" name="Straight Connector 3"/>
          <p:cNvCxnSpPr/>
          <p:nvPr/>
        </p:nvCxnSpPr>
        <p:spPr>
          <a:xfrm>
            <a:off x="152400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152400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1617471" y="149732"/>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4439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2639616" y="404664"/>
            <a:ext cx="1819794" cy="523220"/>
          </a:xfrm>
          <a:prstGeom prst="rect">
            <a:avLst/>
          </a:prstGeom>
          <a:noFill/>
        </p:spPr>
        <p:txBody>
          <a:bodyPr wrap="none" rtlCol="0">
            <a:spAutoFit/>
          </a:bodyPr>
          <a:lstStyle/>
          <a:p>
            <a:r>
              <a:rPr lang="en-AU" sz="2800" dirty="0" smtClean="0"/>
              <a:t>Histograms</a:t>
            </a:r>
            <a:endParaRPr lang="en-AU" sz="2800" dirty="0"/>
          </a:p>
        </p:txBody>
      </p:sp>
      <p:sp>
        <p:nvSpPr>
          <p:cNvPr id="11" name="TextBox 10"/>
          <p:cNvSpPr txBox="1"/>
          <p:nvPr/>
        </p:nvSpPr>
        <p:spPr>
          <a:xfrm>
            <a:off x="8963175" y="106355"/>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643514" y="1075005"/>
            <a:ext cx="8620422" cy="461665"/>
          </a:xfrm>
          <a:prstGeom prst="rect">
            <a:avLst/>
          </a:prstGeom>
          <a:noFill/>
        </p:spPr>
        <p:txBody>
          <a:bodyPr wrap="square" rtlCol="0">
            <a:spAutoFit/>
          </a:bodyPr>
          <a:lstStyle/>
          <a:p>
            <a:r>
              <a:rPr lang="en-AU" sz="2400" dirty="0"/>
              <a:t>EQ – </a:t>
            </a:r>
            <a:r>
              <a:rPr lang="en-AU" sz="2400" dirty="0" smtClean="0"/>
              <a:t>How does Compound Interest differ from Simple Interest?</a:t>
            </a:r>
            <a:endParaRPr lang="en-AU" sz="2400" dirty="0"/>
          </a:p>
        </p:txBody>
      </p:sp>
      <p:sp>
        <p:nvSpPr>
          <p:cNvPr id="13" name="TextBox 12"/>
          <p:cNvSpPr txBox="1"/>
          <p:nvPr/>
        </p:nvSpPr>
        <p:spPr>
          <a:xfrm>
            <a:off x="1617471" y="2060848"/>
            <a:ext cx="2592288" cy="369332"/>
          </a:xfrm>
          <a:prstGeom prst="rect">
            <a:avLst/>
          </a:prstGeom>
          <a:noFill/>
        </p:spPr>
        <p:txBody>
          <a:bodyPr wrap="square" rtlCol="0">
            <a:spAutoFit/>
          </a:bodyPr>
          <a:lstStyle/>
          <a:p>
            <a:r>
              <a:rPr lang="en-AU" dirty="0" smtClean="0"/>
              <a:t>What simple interest?  </a:t>
            </a:r>
            <a:endParaRPr lang="en-AU" dirty="0"/>
          </a:p>
        </p:txBody>
      </p:sp>
    </p:spTree>
    <p:extLst>
      <p:ext uri="{BB962C8B-B14F-4D97-AF65-F5344CB8AC3E}">
        <p14:creationId xmlns:p14="http://schemas.microsoft.com/office/powerpoint/2010/main" val="72079354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605</TotalTime>
  <Words>571</Words>
  <Application>Microsoft Macintosh PowerPoint</Application>
  <PresentationFormat>Widescreen</PresentationFormat>
  <Paragraphs>100</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Calibri</vt:lpstr>
      <vt:lpstr>Calibri Light</vt:lpstr>
      <vt:lpstr>Arial</vt:lpstr>
      <vt:lpstr>Office Theme</vt:lpstr>
      <vt:lpstr>Simple vs Compound Interest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15.0024</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Histograms</dc:title>
  <dc:creator>Kath Farmer</dc:creator>
  <cp:lastModifiedBy>Kath Farmer</cp:lastModifiedBy>
  <cp:revision>11</cp:revision>
  <dcterms:created xsi:type="dcterms:W3CDTF">2016-07-25T04:37:25Z</dcterms:created>
  <dcterms:modified xsi:type="dcterms:W3CDTF">2016-07-26T14:45:15Z</dcterms:modified>
</cp:coreProperties>
</file>
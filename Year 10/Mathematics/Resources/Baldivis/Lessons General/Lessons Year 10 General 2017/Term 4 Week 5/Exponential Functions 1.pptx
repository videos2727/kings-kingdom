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14" autoAdjust="0"/>
    <p:restoredTop sz="94660"/>
  </p:normalViewPr>
  <p:slideViewPr>
    <p:cSldViewPr snapToGrid="0">
      <p:cViewPr varScale="1">
        <p:scale>
          <a:sx n="72" d="100"/>
          <a:sy n="72" d="100"/>
        </p:scale>
        <p:origin x="53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20510-6F88-4DBB-88E8-5288AB8F72D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1CF2362E-2774-4F98-B586-1174B0BF138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B2BE221B-3E01-4409-AA4F-4B1B67187C57}"/>
              </a:ext>
            </a:extLst>
          </p:cNvPr>
          <p:cNvSpPr>
            <a:spLocks noGrp="1"/>
          </p:cNvSpPr>
          <p:nvPr>
            <p:ph type="dt" sz="half" idx="10"/>
          </p:nvPr>
        </p:nvSpPr>
        <p:spPr/>
        <p:txBody>
          <a:bodyPr/>
          <a:lstStyle/>
          <a:p>
            <a:fld id="{B459ACB5-B1BF-4547-B67D-145CD78639E2}" type="datetimeFigureOut">
              <a:rPr lang="en-AU" smtClean="0"/>
              <a:t>8/11/2017</a:t>
            </a:fld>
            <a:endParaRPr lang="en-AU"/>
          </a:p>
        </p:txBody>
      </p:sp>
      <p:sp>
        <p:nvSpPr>
          <p:cNvPr id="5" name="Footer Placeholder 4">
            <a:extLst>
              <a:ext uri="{FF2B5EF4-FFF2-40B4-BE49-F238E27FC236}">
                <a16:creationId xmlns:a16="http://schemas.microsoft.com/office/drawing/2014/main" id="{CBF8BA36-F641-4063-80F1-200A05C213D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62D86F4-1FB9-4765-8A6B-7744BAF72F24}"/>
              </a:ext>
            </a:extLst>
          </p:cNvPr>
          <p:cNvSpPr>
            <a:spLocks noGrp="1"/>
          </p:cNvSpPr>
          <p:nvPr>
            <p:ph type="sldNum" sz="quarter" idx="12"/>
          </p:nvPr>
        </p:nvSpPr>
        <p:spPr/>
        <p:txBody>
          <a:bodyPr/>
          <a:lstStyle/>
          <a:p>
            <a:fld id="{5B403CC6-FC86-4F1F-AFDF-22BA67E449A0}" type="slidenum">
              <a:rPr lang="en-AU" smtClean="0"/>
              <a:t>‹#›</a:t>
            </a:fld>
            <a:endParaRPr lang="en-AU"/>
          </a:p>
        </p:txBody>
      </p:sp>
    </p:spTree>
    <p:extLst>
      <p:ext uri="{BB962C8B-B14F-4D97-AF65-F5344CB8AC3E}">
        <p14:creationId xmlns:p14="http://schemas.microsoft.com/office/powerpoint/2010/main" val="2676893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DDC7E-279F-418A-ABCE-4BE50BA99DA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E6A9ADF7-0272-4D70-8311-4A2734C2597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21E8F3C-E969-439F-AF25-9877757D3D99}"/>
              </a:ext>
            </a:extLst>
          </p:cNvPr>
          <p:cNvSpPr>
            <a:spLocks noGrp="1"/>
          </p:cNvSpPr>
          <p:nvPr>
            <p:ph type="dt" sz="half" idx="10"/>
          </p:nvPr>
        </p:nvSpPr>
        <p:spPr/>
        <p:txBody>
          <a:bodyPr/>
          <a:lstStyle/>
          <a:p>
            <a:fld id="{B459ACB5-B1BF-4547-B67D-145CD78639E2}" type="datetimeFigureOut">
              <a:rPr lang="en-AU" smtClean="0"/>
              <a:t>8/11/2017</a:t>
            </a:fld>
            <a:endParaRPr lang="en-AU"/>
          </a:p>
        </p:txBody>
      </p:sp>
      <p:sp>
        <p:nvSpPr>
          <p:cNvPr id="5" name="Footer Placeholder 4">
            <a:extLst>
              <a:ext uri="{FF2B5EF4-FFF2-40B4-BE49-F238E27FC236}">
                <a16:creationId xmlns:a16="http://schemas.microsoft.com/office/drawing/2014/main" id="{D278E95D-843B-40C9-BFF7-EF3E583465D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2CB2205-CA89-4392-9F39-E562221EB887}"/>
              </a:ext>
            </a:extLst>
          </p:cNvPr>
          <p:cNvSpPr>
            <a:spLocks noGrp="1"/>
          </p:cNvSpPr>
          <p:nvPr>
            <p:ph type="sldNum" sz="quarter" idx="12"/>
          </p:nvPr>
        </p:nvSpPr>
        <p:spPr/>
        <p:txBody>
          <a:bodyPr/>
          <a:lstStyle/>
          <a:p>
            <a:fld id="{5B403CC6-FC86-4F1F-AFDF-22BA67E449A0}" type="slidenum">
              <a:rPr lang="en-AU" smtClean="0"/>
              <a:t>‹#›</a:t>
            </a:fld>
            <a:endParaRPr lang="en-AU"/>
          </a:p>
        </p:txBody>
      </p:sp>
    </p:spTree>
    <p:extLst>
      <p:ext uri="{BB962C8B-B14F-4D97-AF65-F5344CB8AC3E}">
        <p14:creationId xmlns:p14="http://schemas.microsoft.com/office/powerpoint/2010/main" val="628026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7F78E-794A-4EF2-BDC1-B2EC0B1E21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84AEF5C0-6A84-4029-833F-8E029B5EFE1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F1BBCAD1-55A6-49C6-9FF7-79EDB768423B}"/>
              </a:ext>
            </a:extLst>
          </p:cNvPr>
          <p:cNvSpPr>
            <a:spLocks noGrp="1"/>
          </p:cNvSpPr>
          <p:nvPr>
            <p:ph type="dt" sz="half" idx="10"/>
          </p:nvPr>
        </p:nvSpPr>
        <p:spPr/>
        <p:txBody>
          <a:bodyPr/>
          <a:lstStyle/>
          <a:p>
            <a:fld id="{B459ACB5-B1BF-4547-B67D-145CD78639E2}" type="datetimeFigureOut">
              <a:rPr lang="en-AU" smtClean="0"/>
              <a:t>8/11/2017</a:t>
            </a:fld>
            <a:endParaRPr lang="en-AU"/>
          </a:p>
        </p:txBody>
      </p:sp>
      <p:sp>
        <p:nvSpPr>
          <p:cNvPr id="5" name="Footer Placeholder 4">
            <a:extLst>
              <a:ext uri="{FF2B5EF4-FFF2-40B4-BE49-F238E27FC236}">
                <a16:creationId xmlns:a16="http://schemas.microsoft.com/office/drawing/2014/main" id="{837B9E58-7228-4C42-AB98-73B5C7DD2F1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D601281-AF97-40EE-B21D-629B9CDE3B44}"/>
              </a:ext>
            </a:extLst>
          </p:cNvPr>
          <p:cNvSpPr>
            <a:spLocks noGrp="1"/>
          </p:cNvSpPr>
          <p:nvPr>
            <p:ph type="sldNum" sz="quarter" idx="12"/>
          </p:nvPr>
        </p:nvSpPr>
        <p:spPr/>
        <p:txBody>
          <a:bodyPr/>
          <a:lstStyle/>
          <a:p>
            <a:fld id="{5B403CC6-FC86-4F1F-AFDF-22BA67E449A0}" type="slidenum">
              <a:rPr lang="en-AU" smtClean="0"/>
              <a:t>‹#›</a:t>
            </a:fld>
            <a:endParaRPr lang="en-AU"/>
          </a:p>
        </p:txBody>
      </p:sp>
    </p:spTree>
    <p:extLst>
      <p:ext uri="{BB962C8B-B14F-4D97-AF65-F5344CB8AC3E}">
        <p14:creationId xmlns:p14="http://schemas.microsoft.com/office/powerpoint/2010/main" val="7781635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1866F-61A0-4A28-8490-6CEF312EC10B}"/>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1C1854D2-2407-42F7-A3F8-35D7162AA2DA}"/>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00972380-3B60-45BF-A447-327A5A06821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D8572ADA-48F8-4BD5-80A6-F1FB93E8940B}"/>
              </a:ext>
            </a:extLst>
          </p:cNvPr>
          <p:cNvSpPr>
            <a:spLocks noGrp="1"/>
          </p:cNvSpPr>
          <p:nvPr>
            <p:ph type="dt" sz="half" idx="10"/>
          </p:nvPr>
        </p:nvSpPr>
        <p:spPr/>
        <p:txBody>
          <a:bodyPr/>
          <a:lstStyle/>
          <a:p>
            <a:fld id="{B459ACB5-B1BF-4547-B67D-145CD78639E2}" type="datetimeFigureOut">
              <a:rPr lang="en-AU" smtClean="0"/>
              <a:t>8/11/2017</a:t>
            </a:fld>
            <a:endParaRPr lang="en-AU"/>
          </a:p>
        </p:txBody>
      </p:sp>
      <p:sp>
        <p:nvSpPr>
          <p:cNvPr id="6" name="Footer Placeholder 5">
            <a:extLst>
              <a:ext uri="{FF2B5EF4-FFF2-40B4-BE49-F238E27FC236}">
                <a16:creationId xmlns:a16="http://schemas.microsoft.com/office/drawing/2014/main" id="{0088790C-8681-46AC-A925-F83C1EEDDD2D}"/>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3E590ACA-CC6F-4813-8F4B-7A38CE24D86C}"/>
              </a:ext>
            </a:extLst>
          </p:cNvPr>
          <p:cNvSpPr>
            <a:spLocks noGrp="1"/>
          </p:cNvSpPr>
          <p:nvPr>
            <p:ph type="sldNum" sz="quarter" idx="12"/>
          </p:nvPr>
        </p:nvSpPr>
        <p:spPr/>
        <p:txBody>
          <a:bodyPr/>
          <a:lstStyle/>
          <a:p>
            <a:fld id="{5B403CC6-FC86-4F1F-AFDF-22BA67E449A0}" type="slidenum">
              <a:rPr lang="en-AU" smtClean="0"/>
              <a:t>‹#›</a:t>
            </a:fld>
            <a:endParaRPr lang="en-AU"/>
          </a:p>
        </p:txBody>
      </p:sp>
    </p:spTree>
    <p:extLst>
      <p:ext uri="{BB962C8B-B14F-4D97-AF65-F5344CB8AC3E}">
        <p14:creationId xmlns:p14="http://schemas.microsoft.com/office/powerpoint/2010/main" val="2536452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E6C0B-FB90-45C9-9A5F-298F9506336E}"/>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BC80F42F-2260-4455-9FB8-5E01625908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E0061B1-022A-4281-BAF9-942EE5280CA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5A986ACF-23AB-47C6-A43C-FE253A15F0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F30DBC4-29ED-4158-99A1-ECDAEF46ABE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761EE31C-7034-49E1-AF0B-CA46D8D48C27}"/>
              </a:ext>
            </a:extLst>
          </p:cNvPr>
          <p:cNvSpPr>
            <a:spLocks noGrp="1"/>
          </p:cNvSpPr>
          <p:nvPr>
            <p:ph type="dt" sz="half" idx="10"/>
          </p:nvPr>
        </p:nvSpPr>
        <p:spPr/>
        <p:txBody>
          <a:bodyPr/>
          <a:lstStyle/>
          <a:p>
            <a:fld id="{B459ACB5-B1BF-4547-B67D-145CD78639E2}" type="datetimeFigureOut">
              <a:rPr lang="en-AU" smtClean="0"/>
              <a:t>8/11/2017</a:t>
            </a:fld>
            <a:endParaRPr lang="en-AU"/>
          </a:p>
        </p:txBody>
      </p:sp>
      <p:sp>
        <p:nvSpPr>
          <p:cNvPr id="8" name="Footer Placeholder 7">
            <a:extLst>
              <a:ext uri="{FF2B5EF4-FFF2-40B4-BE49-F238E27FC236}">
                <a16:creationId xmlns:a16="http://schemas.microsoft.com/office/drawing/2014/main" id="{111EA98A-E06F-40BB-85B2-4294179D750F}"/>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281E2368-3367-4051-B74B-B51BDBDA196B}"/>
              </a:ext>
            </a:extLst>
          </p:cNvPr>
          <p:cNvSpPr>
            <a:spLocks noGrp="1"/>
          </p:cNvSpPr>
          <p:nvPr>
            <p:ph type="sldNum" sz="quarter" idx="12"/>
          </p:nvPr>
        </p:nvSpPr>
        <p:spPr/>
        <p:txBody>
          <a:bodyPr/>
          <a:lstStyle/>
          <a:p>
            <a:fld id="{5B403CC6-FC86-4F1F-AFDF-22BA67E449A0}" type="slidenum">
              <a:rPr lang="en-AU" smtClean="0"/>
              <a:t>‹#›</a:t>
            </a:fld>
            <a:endParaRPr lang="en-AU"/>
          </a:p>
        </p:txBody>
      </p:sp>
    </p:spTree>
    <p:extLst>
      <p:ext uri="{BB962C8B-B14F-4D97-AF65-F5344CB8AC3E}">
        <p14:creationId xmlns:p14="http://schemas.microsoft.com/office/powerpoint/2010/main" val="2428663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A1E2C-04A4-4ECC-AAA6-9E2EDE55CAA4}"/>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82D2123B-6795-4448-A3A6-E3DA53FCC9D2}"/>
              </a:ext>
            </a:extLst>
          </p:cNvPr>
          <p:cNvSpPr>
            <a:spLocks noGrp="1"/>
          </p:cNvSpPr>
          <p:nvPr>
            <p:ph type="dt" sz="half" idx="10"/>
          </p:nvPr>
        </p:nvSpPr>
        <p:spPr/>
        <p:txBody>
          <a:bodyPr/>
          <a:lstStyle/>
          <a:p>
            <a:fld id="{B459ACB5-B1BF-4547-B67D-145CD78639E2}" type="datetimeFigureOut">
              <a:rPr lang="en-AU" smtClean="0"/>
              <a:t>8/11/2017</a:t>
            </a:fld>
            <a:endParaRPr lang="en-AU"/>
          </a:p>
        </p:txBody>
      </p:sp>
      <p:sp>
        <p:nvSpPr>
          <p:cNvPr id="4" name="Footer Placeholder 3">
            <a:extLst>
              <a:ext uri="{FF2B5EF4-FFF2-40B4-BE49-F238E27FC236}">
                <a16:creationId xmlns:a16="http://schemas.microsoft.com/office/drawing/2014/main" id="{E6C75A0A-CBDC-4C0D-9C1C-D2E6E41A4663}"/>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18FEA9A0-3FA5-4408-BE84-5E3DF65C3DD2}"/>
              </a:ext>
            </a:extLst>
          </p:cNvPr>
          <p:cNvSpPr>
            <a:spLocks noGrp="1"/>
          </p:cNvSpPr>
          <p:nvPr>
            <p:ph type="sldNum" sz="quarter" idx="12"/>
          </p:nvPr>
        </p:nvSpPr>
        <p:spPr/>
        <p:txBody>
          <a:bodyPr/>
          <a:lstStyle/>
          <a:p>
            <a:fld id="{5B403CC6-FC86-4F1F-AFDF-22BA67E449A0}" type="slidenum">
              <a:rPr lang="en-AU" smtClean="0"/>
              <a:t>‹#›</a:t>
            </a:fld>
            <a:endParaRPr lang="en-AU"/>
          </a:p>
        </p:txBody>
      </p:sp>
    </p:spTree>
    <p:extLst>
      <p:ext uri="{BB962C8B-B14F-4D97-AF65-F5344CB8AC3E}">
        <p14:creationId xmlns:p14="http://schemas.microsoft.com/office/powerpoint/2010/main" val="12091725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29D36B-67E1-4546-9BFB-7F796EB7961A}"/>
              </a:ext>
            </a:extLst>
          </p:cNvPr>
          <p:cNvSpPr>
            <a:spLocks noGrp="1"/>
          </p:cNvSpPr>
          <p:nvPr>
            <p:ph type="dt" sz="half" idx="10"/>
          </p:nvPr>
        </p:nvSpPr>
        <p:spPr/>
        <p:txBody>
          <a:bodyPr/>
          <a:lstStyle/>
          <a:p>
            <a:fld id="{B459ACB5-B1BF-4547-B67D-145CD78639E2}" type="datetimeFigureOut">
              <a:rPr lang="en-AU" smtClean="0"/>
              <a:t>8/11/2017</a:t>
            </a:fld>
            <a:endParaRPr lang="en-AU"/>
          </a:p>
        </p:txBody>
      </p:sp>
      <p:sp>
        <p:nvSpPr>
          <p:cNvPr id="3" name="Footer Placeholder 2">
            <a:extLst>
              <a:ext uri="{FF2B5EF4-FFF2-40B4-BE49-F238E27FC236}">
                <a16:creationId xmlns:a16="http://schemas.microsoft.com/office/drawing/2014/main" id="{0DA80BFE-3E0C-4867-995F-89D91CB5AF66}"/>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4ED8EB28-977F-4D96-9477-7EF22801A53B}"/>
              </a:ext>
            </a:extLst>
          </p:cNvPr>
          <p:cNvSpPr>
            <a:spLocks noGrp="1"/>
          </p:cNvSpPr>
          <p:nvPr>
            <p:ph type="sldNum" sz="quarter" idx="12"/>
          </p:nvPr>
        </p:nvSpPr>
        <p:spPr/>
        <p:txBody>
          <a:bodyPr/>
          <a:lstStyle/>
          <a:p>
            <a:fld id="{5B403CC6-FC86-4F1F-AFDF-22BA67E449A0}" type="slidenum">
              <a:rPr lang="en-AU" smtClean="0"/>
              <a:t>‹#›</a:t>
            </a:fld>
            <a:endParaRPr lang="en-AU"/>
          </a:p>
        </p:txBody>
      </p:sp>
    </p:spTree>
    <p:extLst>
      <p:ext uri="{BB962C8B-B14F-4D97-AF65-F5344CB8AC3E}">
        <p14:creationId xmlns:p14="http://schemas.microsoft.com/office/powerpoint/2010/main" val="2782406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A054E-52AF-414F-ABC4-1846D3D9E3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E3841F22-66E7-4365-9EFF-72458B9D15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1E454F43-3608-4CA8-857E-EF93086FB9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830A524-47F1-4F85-8A00-E66755C2E0A7}"/>
              </a:ext>
            </a:extLst>
          </p:cNvPr>
          <p:cNvSpPr>
            <a:spLocks noGrp="1"/>
          </p:cNvSpPr>
          <p:nvPr>
            <p:ph type="dt" sz="half" idx="10"/>
          </p:nvPr>
        </p:nvSpPr>
        <p:spPr/>
        <p:txBody>
          <a:bodyPr/>
          <a:lstStyle/>
          <a:p>
            <a:fld id="{B459ACB5-B1BF-4547-B67D-145CD78639E2}" type="datetimeFigureOut">
              <a:rPr lang="en-AU" smtClean="0"/>
              <a:t>8/11/2017</a:t>
            </a:fld>
            <a:endParaRPr lang="en-AU"/>
          </a:p>
        </p:txBody>
      </p:sp>
      <p:sp>
        <p:nvSpPr>
          <p:cNvPr id="6" name="Footer Placeholder 5">
            <a:extLst>
              <a:ext uri="{FF2B5EF4-FFF2-40B4-BE49-F238E27FC236}">
                <a16:creationId xmlns:a16="http://schemas.microsoft.com/office/drawing/2014/main" id="{6F110682-6831-4545-9615-6E00676D93B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EF3D811-58A9-475E-AF0D-27EF007407D3}"/>
              </a:ext>
            </a:extLst>
          </p:cNvPr>
          <p:cNvSpPr>
            <a:spLocks noGrp="1"/>
          </p:cNvSpPr>
          <p:nvPr>
            <p:ph type="sldNum" sz="quarter" idx="12"/>
          </p:nvPr>
        </p:nvSpPr>
        <p:spPr/>
        <p:txBody>
          <a:bodyPr/>
          <a:lstStyle/>
          <a:p>
            <a:fld id="{5B403CC6-FC86-4F1F-AFDF-22BA67E449A0}" type="slidenum">
              <a:rPr lang="en-AU" smtClean="0"/>
              <a:t>‹#›</a:t>
            </a:fld>
            <a:endParaRPr lang="en-AU"/>
          </a:p>
        </p:txBody>
      </p:sp>
    </p:spTree>
    <p:extLst>
      <p:ext uri="{BB962C8B-B14F-4D97-AF65-F5344CB8AC3E}">
        <p14:creationId xmlns:p14="http://schemas.microsoft.com/office/powerpoint/2010/main" val="35299093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1DF0F-8660-4312-93F8-2633739C1B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65C98855-4E1D-4910-86B6-A401A7A551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5583A8E4-7B53-4DDD-932B-BDD51ED47B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46366A9-D027-4247-B98F-F8341100DE9B}"/>
              </a:ext>
            </a:extLst>
          </p:cNvPr>
          <p:cNvSpPr>
            <a:spLocks noGrp="1"/>
          </p:cNvSpPr>
          <p:nvPr>
            <p:ph type="dt" sz="half" idx="10"/>
          </p:nvPr>
        </p:nvSpPr>
        <p:spPr/>
        <p:txBody>
          <a:bodyPr/>
          <a:lstStyle/>
          <a:p>
            <a:fld id="{B459ACB5-B1BF-4547-B67D-145CD78639E2}" type="datetimeFigureOut">
              <a:rPr lang="en-AU" smtClean="0"/>
              <a:t>8/11/2017</a:t>
            </a:fld>
            <a:endParaRPr lang="en-AU"/>
          </a:p>
        </p:txBody>
      </p:sp>
      <p:sp>
        <p:nvSpPr>
          <p:cNvPr id="6" name="Footer Placeholder 5">
            <a:extLst>
              <a:ext uri="{FF2B5EF4-FFF2-40B4-BE49-F238E27FC236}">
                <a16:creationId xmlns:a16="http://schemas.microsoft.com/office/drawing/2014/main" id="{A18C6B41-4333-4A97-BD95-2967A571085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F19E90F5-F7F6-4A58-B08C-D5BFA67CBBF9}"/>
              </a:ext>
            </a:extLst>
          </p:cNvPr>
          <p:cNvSpPr>
            <a:spLocks noGrp="1"/>
          </p:cNvSpPr>
          <p:nvPr>
            <p:ph type="sldNum" sz="quarter" idx="12"/>
          </p:nvPr>
        </p:nvSpPr>
        <p:spPr/>
        <p:txBody>
          <a:bodyPr/>
          <a:lstStyle/>
          <a:p>
            <a:fld id="{5B403CC6-FC86-4F1F-AFDF-22BA67E449A0}" type="slidenum">
              <a:rPr lang="en-AU" smtClean="0"/>
              <a:t>‹#›</a:t>
            </a:fld>
            <a:endParaRPr lang="en-AU"/>
          </a:p>
        </p:txBody>
      </p:sp>
    </p:spTree>
    <p:extLst>
      <p:ext uri="{BB962C8B-B14F-4D97-AF65-F5344CB8AC3E}">
        <p14:creationId xmlns:p14="http://schemas.microsoft.com/office/powerpoint/2010/main" val="2065808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735CA-850B-49FA-BF36-7CCAC4A79924}"/>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118BB876-CC24-4C00-888F-E4B6FABEFA3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F41728C9-7DFF-4F1B-AA69-283D9B7E0E60}"/>
              </a:ext>
            </a:extLst>
          </p:cNvPr>
          <p:cNvSpPr>
            <a:spLocks noGrp="1"/>
          </p:cNvSpPr>
          <p:nvPr>
            <p:ph type="dt" sz="half" idx="10"/>
          </p:nvPr>
        </p:nvSpPr>
        <p:spPr/>
        <p:txBody>
          <a:bodyPr/>
          <a:lstStyle/>
          <a:p>
            <a:fld id="{B459ACB5-B1BF-4547-B67D-145CD78639E2}" type="datetimeFigureOut">
              <a:rPr lang="en-AU" smtClean="0"/>
              <a:t>8/11/2017</a:t>
            </a:fld>
            <a:endParaRPr lang="en-AU"/>
          </a:p>
        </p:txBody>
      </p:sp>
      <p:sp>
        <p:nvSpPr>
          <p:cNvPr id="5" name="Footer Placeholder 4">
            <a:extLst>
              <a:ext uri="{FF2B5EF4-FFF2-40B4-BE49-F238E27FC236}">
                <a16:creationId xmlns:a16="http://schemas.microsoft.com/office/drawing/2014/main" id="{7E60D2C5-CB0F-4B98-BD37-C770151D827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0FE4748-CE3F-4C68-904B-3D110D2984BB}"/>
              </a:ext>
            </a:extLst>
          </p:cNvPr>
          <p:cNvSpPr>
            <a:spLocks noGrp="1"/>
          </p:cNvSpPr>
          <p:nvPr>
            <p:ph type="sldNum" sz="quarter" idx="12"/>
          </p:nvPr>
        </p:nvSpPr>
        <p:spPr/>
        <p:txBody>
          <a:bodyPr/>
          <a:lstStyle/>
          <a:p>
            <a:fld id="{5B403CC6-FC86-4F1F-AFDF-22BA67E449A0}" type="slidenum">
              <a:rPr lang="en-AU" smtClean="0"/>
              <a:t>‹#›</a:t>
            </a:fld>
            <a:endParaRPr lang="en-AU"/>
          </a:p>
        </p:txBody>
      </p:sp>
    </p:spTree>
    <p:extLst>
      <p:ext uri="{BB962C8B-B14F-4D97-AF65-F5344CB8AC3E}">
        <p14:creationId xmlns:p14="http://schemas.microsoft.com/office/powerpoint/2010/main" val="9268929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9095F2E-7530-4B92-B4BB-F190D26C334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C0DAABD8-F5F1-45F1-BF62-3942AF1C0802}"/>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3068D327-31B6-43EC-B0D1-569CAD8E0B54}"/>
              </a:ext>
            </a:extLst>
          </p:cNvPr>
          <p:cNvSpPr>
            <a:spLocks noGrp="1"/>
          </p:cNvSpPr>
          <p:nvPr>
            <p:ph type="dt" sz="half" idx="10"/>
          </p:nvPr>
        </p:nvSpPr>
        <p:spPr/>
        <p:txBody>
          <a:bodyPr/>
          <a:lstStyle/>
          <a:p>
            <a:fld id="{B459ACB5-B1BF-4547-B67D-145CD78639E2}" type="datetimeFigureOut">
              <a:rPr lang="en-AU" smtClean="0"/>
              <a:t>8/11/2017</a:t>
            </a:fld>
            <a:endParaRPr lang="en-AU"/>
          </a:p>
        </p:txBody>
      </p:sp>
      <p:sp>
        <p:nvSpPr>
          <p:cNvPr id="5" name="Footer Placeholder 4">
            <a:extLst>
              <a:ext uri="{FF2B5EF4-FFF2-40B4-BE49-F238E27FC236}">
                <a16:creationId xmlns:a16="http://schemas.microsoft.com/office/drawing/2014/main" id="{7764E743-D96C-4B28-A265-18C2739C5AF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3AAA16E-DD2E-463F-BA7D-1917CFAA599B}"/>
              </a:ext>
            </a:extLst>
          </p:cNvPr>
          <p:cNvSpPr>
            <a:spLocks noGrp="1"/>
          </p:cNvSpPr>
          <p:nvPr>
            <p:ph type="sldNum" sz="quarter" idx="12"/>
          </p:nvPr>
        </p:nvSpPr>
        <p:spPr/>
        <p:txBody>
          <a:bodyPr/>
          <a:lstStyle/>
          <a:p>
            <a:fld id="{5B403CC6-FC86-4F1F-AFDF-22BA67E449A0}" type="slidenum">
              <a:rPr lang="en-AU" smtClean="0"/>
              <a:t>‹#›</a:t>
            </a:fld>
            <a:endParaRPr lang="en-AU"/>
          </a:p>
        </p:txBody>
      </p:sp>
    </p:spTree>
    <p:extLst>
      <p:ext uri="{BB962C8B-B14F-4D97-AF65-F5344CB8AC3E}">
        <p14:creationId xmlns:p14="http://schemas.microsoft.com/office/powerpoint/2010/main" val="24241737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37B435-0D01-4F71-A5B3-E284C7D1975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110E1D3B-4AF6-4C66-B5E0-C0C8BD60E7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376AC08-B635-4A84-B648-E6868C1408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59ACB5-B1BF-4547-B67D-145CD78639E2}" type="datetimeFigureOut">
              <a:rPr lang="en-AU" smtClean="0"/>
              <a:t>8/11/2017</a:t>
            </a:fld>
            <a:endParaRPr lang="en-AU"/>
          </a:p>
        </p:txBody>
      </p:sp>
      <p:sp>
        <p:nvSpPr>
          <p:cNvPr id="5" name="Footer Placeholder 4">
            <a:extLst>
              <a:ext uri="{FF2B5EF4-FFF2-40B4-BE49-F238E27FC236}">
                <a16:creationId xmlns:a16="http://schemas.microsoft.com/office/drawing/2014/main" id="{54F520AA-FDE9-4FAF-AA2B-AA963B20386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1EE94314-BBAB-4AED-9BBD-B3DBADDF5C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403CC6-FC86-4F1F-AFDF-22BA67E449A0}" type="slidenum">
              <a:rPr lang="en-AU" smtClean="0"/>
              <a:t>‹#›</a:t>
            </a:fld>
            <a:endParaRPr lang="en-AU"/>
          </a:p>
        </p:txBody>
      </p:sp>
    </p:spTree>
    <p:extLst>
      <p:ext uri="{BB962C8B-B14F-4D97-AF65-F5344CB8AC3E}">
        <p14:creationId xmlns:p14="http://schemas.microsoft.com/office/powerpoint/2010/main" val="2972577181"/>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D0D3D-4437-4B0A-BE5B-7B76FA039F56}"/>
              </a:ext>
            </a:extLst>
          </p:cNvPr>
          <p:cNvSpPr>
            <a:spLocks noGrp="1"/>
          </p:cNvSpPr>
          <p:nvPr>
            <p:ph type="ctrTitle"/>
          </p:nvPr>
        </p:nvSpPr>
        <p:spPr/>
        <p:txBody>
          <a:bodyPr/>
          <a:lstStyle/>
          <a:p>
            <a:r>
              <a:rPr lang="en-AU" dirty="0"/>
              <a:t>Exponential Functions</a:t>
            </a:r>
          </a:p>
        </p:txBody>
      </p:sp>
      <p:sp>
        <p:nvSpPr>
          <p:cNvPr id="3" name="Subtitle 2">
            <a:extLst>
              <a:ext uri="{FF2B5EF4-FFF2-40B4-BE49-F238E27FC236}">
                <a16:creationId xmlns:a16="http://schemas.microsoft.com/office/drawing/2014/main" id="{871E443D-C1A9-454E-A7BA-16E5A683E0D2}"/>
              </a:ext>
            </a:extLst>
          </p:cNvPr>
          <p:cNvSpPr>
            <a:spLocks noGrp="1"/>
          </p:cNvSpPr>
          <p:nvPr>
            <p:ph type="subTitle" idx="1"/>
          </p:nvPr>
        </p:nvSpPr>
        <p:spPr/>
        <p:txBody>
          <a:bodyPr/>
          <a:lstStyle/>
          <a:p>
            <a:r>
              <a:rPr lang="en-AU" dirty="0"/>
              <a:t>By your friendly neighbourhood Mathematics teachers</a:t>
            </a:r>
          </a:p>
        </p:txBody>
      </p:sp>
    </p:spTree>
    <p:extLst>
      <p:ext uri="{BB962C8B-B14F-4D97-AF65-F5344CB8AC3E}">
        <p14:creationId xmlns:p14="http://schemas.microsoft.com/office/powerpoint/2010/main" val="24520123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2ADA1-98A0-4BDF-8823-D160A3DEDEB5}"/>
              </a:ext>
            </a:extLst>
          </p:cNvPr>
          <p:cNvSpPr>
            <a:spLocks noGrp="1"/>
          </p:cNvSpPr>
          <p:nvPr>
            <p:ph type="title"/>
          </p:nvPr>
        </p:nvSpPr>
        <p:spPr/>
        <p:txBody>
          <a:bodyPr/>
          <a:lstStyle/>
          <a:p>
            <a:r>
              <a:rPr lang="en-AU" dirty="0"/>
              <a:t>Fermi Questions</a:t>
            </a:r>
          </a:p>
        </p:txBody>
      </p:sp>
      <p:sp>
        <p:nvSpPr>
          <p:cNvPr id="3" name="Content Placeholder 2">
            <a:extLst>
              <a:ext uri="{FF2B5EF4-FFF2-40B4-BE49-F238E27FC236}">
                <a16:creationId xmlns:a16="http://schemas.microsoft.com/office/drawing/2014/main" id="{8697A1DC-EAB5-436D-92AD-122349CCF91E}"/>
              </a:ext>
            </a:extLst>
          </p:cNvPr>
          <p:cNvSpPr>
            <a:spLocks noGrp="1"/>
          </p:cNvSpPr>
          <p:nvPr>
            <p:ph idx="1"/>
          </p:nvPr>
        </p:nvSpPr>
        <p:spPr/>
        <p:txBody>
          <a:bodyPr/>
          <a:lstStyle/>
          <a:p>
            <a:r>
              <a:rPr lang="en-AU" dirty="0"/>
              <a:t>What number do you get if you multiply all the numbers of your mobile number?</a:t>
            </a:r>
          </a:p>
          <a:p>
            <a:endParaRPr lang="en-AU" dirty="0"/>
          </a:p>
          <a:p>
            <a:r>
              <a:rPr lang="en-AU" dirty="0"/>
              <a:t>A man picks up cigarette butts from the ground and can make a cigarette with 4 butts. If he finds 16 cigarette butts, how many cigarettes can he make?</a:t>
            </a:r>
          </a:p>
          <a:p>
            <a:endParaRPr lang="en-AU" dirty="0"/>
          </a:p>
          <a:p>
            <a:r>
              <a:rPr lang="en-AU" dirty="0"/>
              <a:t>On a clock, how many times a day do the minute and hour hand overlap?</a:t>
            </a:r>
          </a:p>
        </p:txBody>
      </p:sp>
    </p:spTree>
    <p:extLst>
      <p:ext uri="{BB962C8B-B14F-4D97-AF65-F5344CB8AC3E}">
        <p14:creationId xmlns:p14="http://schemas.microsoft.com/office/powerpoint/2010/main" val="71829715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994C0-CFA9-41D2-8B3D-D89A4FAE34B7}"/>
              </a:ext>
            </a:extLst>
          </p:cNvPr>
          <p:cNvSpPr>
            <a:spLocks noGrp="1"/>
          </p:cNvSpPr>
          <p:nvPr>
            <p:ph type="title"/>
          </p:nvPr>
        </p:nvSpPr>
        <p:spPr/>
        <p:txBody>
          <a:bodyPr/>
          <a:lstStyle/>
          <a:p>
            <a:r>
              <a:rPr lang="en-AU" dirty="0"/>
              <a:t>Answers: How did you go?</a:t>
            </a:r>
          </a:p>
        </p:txBody>
      </p:sp>
      <p:sp>
        <p:nvSpPr>
          <p:cNvPr id="3" name="Content Placeholder 2">
            <a:extLst>
              <a:ext uri="{FF2B5EF4-FFF2-40B4-BE49-F238E27FC236}">
                <a16:creationId xmlns:a16="http://schemas.microsoft.com/office/drawing/2014/main" id="{E1CA960D-0A9F-4E5C-8AC3-33A1302F27B5}"/>
              </a:ext>
            </a:extLst>
          </p:cNvPr>
          <p:cNvSpPr>
            <a:spLocks noGrp="1"/>
          </p:cNvSpPr>
          <p:nvPr>
            <p:ph idx="1"/>
          </p:nvPr>
        </p:nvSpPr>
        <p:spPr/>
        <p:txBody>
          <a:bodyPr/>
          <a:lstStyle/>
          <a:p>
            <a:r>
              <a:rPr lang="en-AU" dirty="0"/>
              <a:t>Answer: 0</a:t>
            </a:r>
          </a:p>
          <a:p>
            <a:pPr marL="0" indent="0">
              <a:buNone/>
            </a:pPr>
            <a:endParaRPr lang="en-AU" dirty="0"/>
          </a:p>
          <a:p>
            <a:r>
              <a:rPr lang="en-AU" dirty="0"/>
              <a:t>Answer: </a:t>
            </a:r>
            <a:r>
              <a:rPr lang="en-AU" b="1" dirty="0"/>
              <a:t>5.</a:t>
            </a:r>
            <a:r>
              <a:rPr lang="en-AU" dirty="0"/>
              <a:t> He makes 4 cigarettes with the 16 butts. Then he smokes them and has 4 more butts to make another cigarette.</a:t>
            </a:r>
          </a:p>
          <a:p>
            <a:endParaRPr lang="en-AU" dirty="0"/>
          </a:p>
          <a:p>
            <a:r>
              <a:rPr lang="en-AU" dirty="0"/>
              <a:t>Answer: 22 times: 12:00:00, 1:05:27, 2:10:55, 3:16:22, 4:21:49, 5:27:16, 6:32:44, 7:38:11, 8:43:38, 9:49:05, 10:54:33. </a:t>
            </a:r>
          </a:p>
          <a:p>
            <a:endParaRPr lang="en-AU" dirty="0"/>
          </a:p>
        </p:txBody>
      </p:sp>
    </p:spTree>
    <p:extLst>
      <p:ext uri="{BB962C8B-B14F-4D97-AF65-F5344CB8AC3E}">
        <p14:creationId xmlns:p14="http://schemas.microsoft.com/office/powerpoint/2010/main" val="4056683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531C6-0465-4FB3-AE28-DDFBE410E97A}"/>
              </a:ext>
            </a:extLst>
          </p:cNvPr>
          <p:cNvSpPr>
            <a:spLocks noGrp="1"/>
          </p:cNvSpPr>
          <p:nvPr>
            <p:ph type="title"/>
          </p:nvPr>
        </p:nvSpPr>
        <p:spPr/>
        <p:txBody>
          <a:bodyPr>
            <a:normAutofit/>
          </a:bodyPr>
          <a:lstStyle/>
          <a:p>
            <a:r>
              <a:rPr lang="en-AU" dirty="0"/>
              <a:t>Exponential Functions</a:t>
            </a:r>
            <a:br>
              <a:rPr lang="en-AU" dirty="0"/>
            </a:br>
            <a:r>
              <a:rPr lang="en-AU" dirty="0"/>
              <a:t>EQ: How do I draw exponential Functions?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C3E3AB3-7761-4A96-A09F-1950A905E3ED}"/>
                  </a:ext>
                </a:extLst>
              </p:cNvPr>
              <p:cNvSpPr>
                <a:spLocks noGrp="1"/>
              </p:cNvSpPr>
              <p:nvPr>
                <p:ph idx="1"/>
              </p:nvPr>
            </p:nvSpPr>
            <p:spPr/>
            <p:txBody>
              <a:bodyPr>
                <a:normAutofit/>
              </a:bodyPr>
              <a:lstStyle/>
              <a:p>
                <a:r>
                  <a:rPr lang="en-AU" dirty="0"/>
                  <a:t>An Exponential function is a function that grows quickly. The basic formula is  </a:t>
                </a:r>
                <a14:m>
                  <m:oMath xmlns:m="http://schemas.openxmlformats.org/officeDocument/2006/math">
                    <m:sSup>
                      <m:sSupPr>
                        <m:ctrlPr>
                          <a:rPr lang="en-AU" i="1" smtClean="0">
                            <a:latin typeface="Cambria Math" panose="02040503050406030204" pitchFamily="18" charset="0"/>
                          </a:rPr>
                        </m:ctrlPr>
                      </m:sSupPr>
                      <m:e>
                        <m:r>
                          <a:rPr lang="en-AU" b="0" i="1" smtClean="0">
                            <a:latin typeface="Cambria Math" panose="02040503050406030204" pitchFamily="18" charset="0"/>
                          </a:rPr>
                          <m:t>𝑦</m:t>
                        </m:r>
                        <m:r>
                          <a:rPr lang="en-AU" b="0" i="1" smtClean="0">
                            <a:latin typeface="Cambria Math" panose="02040503050406030204" pitchFamily="18" charset="0"/>
                          </a:rPr>
                          <m:t>=</m:t>
                        </m:r>
                        <m:r>
                          <a:rPr lang="en-AU" b="0" i="1" smtClean="0">
                            <a:latin typeface="Cambria Math" panose="02040503050406030204" pitchFamily="18" charset="0"/>
                          </a:rPr>
                          <m:t>𝑎</m:t>
                        </m:r>
                      </m:e>
                      <m:sup>
                        <m:r>
                          <a:rPr lang="en-AU" b="0" i="1" smtClean="0">
                            <a:latin typeface="Cambria Math" panose="02040503050406030204" pitchFamily="18" charset="0"/>
                          </a:rPr>
                          <m:t>𝑥</m:t>
                        </m:r>
                      </m:sup>
                    </m:sSup>
                  </m:oMath>
                </a14:m>
                <a:r>
                  <a:rPr lang="en-AU" dirty="0"/>
                  <a:t>. The </a:t>
                </a:r>
                <a14:m>
                  <m:oMath xmlns:m="http://schemas.openxmlformats.org/officeDocument/2006/math">
                    <m:r>
                      <a:rPr lang="en-AU" i="1" dirty="0" smtClean="0">
                        <a:latin typeface="Cambria Math" panose="02040503050406030204" pitchFamily="18" charset="0"/>
                      </a:rPr>
                      <m:t>𝑥</m:t>
                    </m:r>
                  </m:oMath>
                </a14:m>
                <a:r>
                  <a:rPr lang="en-AU" dirty="0"/>
                  <a:t> is our variable that changes. </a:t>
                </a:r>
              </a:p>
              <a:p>
                <a:r>
                  <a:rPr lang="en-AU" b="1" dirty="0"/>
                  <a:t>What is Exponential Growth? </a:t>
                </a:r>
                <a:r>
                  <a:rPr lang="en-AU" dirty="0"/>
                  <a:t>Exponential growth is growth that increases at a consistent rate, and it is a common occurrence in everyday life. While it starts off slowly, it can result in enormous quantities fairly quickly. An example of this would be compound interest or the descendants of mating rabbits. </a:t>
                </a:r>
                <a:endParaRPr lang="en-AU" b="1" dirty="0"/>
              </a:p>
              <a:p>
                <a:r>
                  <a:rPr lang="en-AU" b="1" dirty="0"/>
                  <a:t>What is Exponential Decay? </a:t>
                </a:r>
                <a:r>
                  <a:rPr lang="en-AU" dirty="0"/>
                  <a:t>This is the opposite of exponential growth and is the growth that decreases at a consistent rate. An example would be the population of Australians born in the 1940’s.</a:t>
                </a:r>
              </a:p>
              <a:p>
                <a:endParaRPr lang="en-AU" dirty="0"/>
              </a:p>
            </p:txBody>
          </p:sp>
        </mc:Choice>
        <mc:Fallback xmlns="">
          <p:sp>
            <p:nvSpPr>
              <p:cNvPr id="3" name="Content Placeholder 2">
                <a:extLst>
                  <a:ext uri="{FF2B5EF4-FFF2-40B4-BE49-F238E27FC236}">
                    <a16:creationId xmlns:a16="http://schemas.microsoft.com/office/drawing/2014/main" id="{5C3E3AB3-7761-4A96-A09F-1950A905E3ED}"/>
                  </a:ext>
                </a:extLst>
              </p:cNvPr>
              <p:cNvSpPr>
                <a:spLocks noGrp="1" noRot="1" noChangeAspect="1" noMove="1" noResize="1" noEditPoints="1" noAdjustHandles="1" noChangeArrowheads="1" noChangeShapeType="1" noTextEdit="1"/>
              </p:cNvSpPr>
              <p:nvPr>
                <p:ph idx="1"/>
              </p:nvPr>
            </p:nvSpPr>
            <p:spPr>
              <a:blipFill>
                <a:blip r:embed="rId2"/>
                <a:stretch>
                  <a:fillRect l="-1043" t="-2241" b="-140"/>
                </a:stretch>
              </a:blipFill>
            </p:spPr>
            <p:txBody>
              <a:bodyPr/>
              <a:lstStyle/>
              <a:p>
                <a:r>
                  <a:rPr lang="en-AU">
                    <a:noFill/>
                  </a:rPr>
                  <a:t> </a:t>
                </a:r>
              </a:p>
            </p:txBody>
          </p:sp>
        </mc:Fallback>
      </mc:AlternateContent>
    </p:spTree>
    <p:extLst>
      <p:ext uri="{BB962C8B-B14F-4D97-AF65-F5344CB8AC3E}">
        <p14:creationId xmlns:p14="http://schemas.microsoft.com/office/powerpoint/2010/main" val="1567301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B894D-ECB7-4C8B-9D8F-6F237CCB374B}"/>
              </a:ext>
            </a:extLst>
          </p:cNvPr>
          <p:cNvSpPr>
            <a:spLocks noGrp="1"/>
          </p:cNvSpPr>
          <p:nvPr>
            <p:ph type="title"/>
          </p:nvPr>
        </p:nvSpPr>
        <p:spPr/>
        <p:txBody>
          <a:bodyPr/>
          <a:lstStyle/>
          <a:p>
            <a:r>
              <a:rPr lang="en-AU" dirty="0"/>
              <a:t>Exponential Growth and Decay.</a:t>
            </a:r>
          </a:p>
        </p:txBody>
      </p:sp>
      <p:pic>
        <p:nvPicPr>
          <p:cNvPr id="5" name="Content Placeholder 4">
            <a:extLst>
              <a:ext uri="{FF2B5EF4-FFF2-40B4-BE49-F238E27FC236}">
                <a16:creationId xmlns:a16="http://schemas.microsoft.com/office/drawing/2014/main" id="{31B819B4-6344-4FFE-A084-D46DA31A971B}"/>
              </a:ext>
            </a:extLst>
          </p:cNvPr>
          <p:cNvPicPr>
            <a:picLocks noGrp="1" noChangeAspect="1"/>
          </p:cNvPicPr>
          <p:nvPr>
            <p:ph idx="1"/>
          </p:nvPr>
        </p:nvPicPr>
        <p:blipFill rotWithShape="1">
          <a:blip r:embed="rId2"/>
          <a:srcRect l="55316" t="25641" r="29915" b="56847"/>
          <a:stretch/>
        </p:blipFill>
        <p:spPr>
          <a:xfrm>
            <a:off x="6096000" y="1690688"/>
            <a:ext cx="4733448" cy="3155632"/>
          </a:xfrm>
          <a:prstGeom prst="rect">
            <a:avLst/>
          </a:prstGeom>
        </p:spPr>
      </p:pic>
      <p:pic>
        <p:nvPicPr>
          <p:cNvPr id="4" name="Picture 3">
            <a:extLst>
              <a:ext uri="{FF2B5EF4-FFF2-40B4-BE49-F238E27FC236}">
                <a16:creationId xmlns:a16="http://schemas.microsoft.com/office/drawing/2014/main" id="{A6C1F8DC-0D62-4160-B4C1-86B1BB844A8F}"/>
              </a:ext>
            </a:extLst>
          </p:cNvPr>
          <p:cNvPicPr>
            <a:picLocks noChangeAspect="1"/>
          </p:cNvPicPr>
          <p:nvPr/>
        </p:nvPicPr>
        <p:blipFill rotWithShape="1">
          <a:blip r:embed="rId3"/>
          <a:srcRect l="31250" t="24641" r="55750" b="56670"/>
          <a:stretch/>
        </p:blipFill>
        <p:spPr>
          <a:xfrm>
            <a:off x="838200" y="1690688"/>
            <a:ext cx="3904070" cy="3155632"/>
          </a:xfrm>
          <a:prstGeom prst="rect">
            <a:avLst/>
          </a:prstGeom>
        </p:spPr>
      </p:pic>
      <p:sp>
        <p:nvSpPr>
          <p:cNvPr id="6" name="TextBox 5">
            <a:extLst>
              <a:ext uri="{FF2B5EF4-FFF2-40B4-BE49-F238E27FC236}">
                <a16:creationId xmlns:a16="http://schemas.microsoft.com/office/drawing/2014/main" id="{88496FD9-1B83-4220-A2DE-EF2C80B53D8E}"/>
              </a:ext>
            </a:extLst>
          </p:cNvPr>
          <p:cNvSpPr txBox="1"/>
          <p:nvPr/>
        </p:nvSpPr>
        <p:spPr>
          <a:xfrm>
            <a:off x="990600" y="5135880"/>
            <a:ext cx="9838848" cy="1200329"/>
          </a:xfrm>
          <a:prstGeom prst="rect">
            <a:avLst/>
          </a:prstGeom>
          <a:noFill/>
        </p:spPr>
        <p:txBody>
          <a:bodyPr wrap="square" rtlCol="0">
            <a:spAutoFit/>
          </a:bodyPr>
          <a:lstStyle/>
          <a:p>
            <a:r>
              <a:rPr lang="en-AU" b="1" dirty="0"/>
              <a:t>Few important rules:</a:t>
            </a:r>
          </a:p>
          <a:p>
            <a:r>
              <a:rPr lang="en-AU" dirty="0"/>
              <a:t>Exponential growth has a positive indices and Exponential decay has a negative indices.</a:t>
            </a:r>
          </a:p>
          <a:p>
            <a:r>
              <a:rPr lang="en-AU" dirty="0"/>
              <a:t>As x gets smaller the line moves closer to the horizontal axis (x axis).</a:t>
            </a:r>
          </a:p>
          <a:p>
            <a:r>
              <a:rPr lang="en-AU" dirty="0"/>
              <a:t>As x gets larger the graph </a:t>
            </a:r>
            <a:r>
              <a:rPr lang="en-AU"/>
              <a:t>becomes steeper.</a:t>
            </a:r>
            <a:endParaRPr lang="en-AU" dirty="0"/>
          </a:p>
        </p:txBody>
      </p:sp>
    </p:spTree>
    <p:extLst>
      <p:ext uri="{BB962C8B-B14F-4D97-AF65-F5344CB8AC3E}">
        <p14:creationId xmlns:p14="http://schemas.microsoft.com/office/powerpoint/2010/main" val="2473167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1467C-D2C8-41FC-A401-6FAAB4086266}"/>
              </a:ext>
            </a:extLst>
          </p:cNvPr>
          <p:cNvSpPr>
            <a:spLocks noGrp="1"/>
          </p:cNvSpPr>
          <p:nvPr>
            <p:ph type="title"/>
          </p:nvPr>
        </p:nvSpPr>
        <p:spPr/>
        <p:txBody>
          <a:bodyPr/>
          <a:lstStyle/>
          <a:p>
            <a:r>
              <a:rPr lang="en-AU" dirty="0"/>
              <a:t>Example 1</a:t>
            </a:r>
          </a:p>
        </p:txBody>
      </p:sp>
      <p:graphicFrame>
        <p:nvGraphicFramePr>
          <p:cNvPr id="4" name="Content Placeholder 3">
            <a:extLst>
              <a:ext uri="{FF2B5EF4-FFF2-40B4-BE49-F238E27FC236}">
                <a16:creationId xmlns:a16="http://schemas.microsoft.com/office/drawing/2014/main" id="{8E12C63A-3BE2-465E-ACDF-B6FDEAE805C4}"/>
              </a:ext>
            </a:extLst>
          </p:cNvPr>
          <p:cNvGraphicFramePr>
            <a:graphicFrameLocks noGrp="1"/>
          </p:cNvGraphicFramePr>
          <p:nvPr>
            <p:ph idx="1"/>
            <p:extLst>
              <p:ext uri="{D42A27DB-BD31-4B8C-83A1-F6EECF244321}">
                <p14:modId xmlns:p14="http://schemas.microsoft.com/office/powerpoint/2010/main" val="3495650311"/>
              </p:ext>
            </p:extLst>
          </p:nvPr>
        </p:nvGraphicFramePr>
        <p:xfrm>
          <a:off x="548640" y="2687320"/>
          <a:ext cx="4831080" cy="741680"/>
        </p:xfrm>
        <a:graphic>
          <a:graphicData uri="http://schemas.openxmlformats.org/drawingml/2006/table">
            <a:tbl>
              <a:tblPr firstRow="1" bandRow="1">
                <a:tableStyleId>{5C22544A-7EE6-4342-B048-85BDC9FD1C3A}</a:tableStyleId>
              </a:tblPr>
              <a:tblGrid>
                <a:gridCol w="605790">
                  <a:extLst>
                    <a:ext uri="{9D8B030D-6E8A-4147-A177-3AD203B41FA5}">
                      <a16:colId xmlns:a16="http://schemas.microsoft.com/office/drawing/2014/main" val="2902233813"/>
                    </a:ext>
                  </a:extLst>
                </a:gridCol>
                <a:gridCol w="605790">
                  <a:extLst>
                    <a:ext uri="{9D8B030D-6E8A-4147-A177-3AD203B41FA5}">
                      <a16:colId xmlns:a16="http://schemas.microsoft.com/office/drawing/2014/main" val="3028334799"/>
                    </a:ext>
                  </a:extLst>
                </a:gridCol>
                <a:gridCol w="605790">
                  <a:extLst>
                    <a:ext uri="{9D8B030D-6E8A-4147-A177-3AD203B41FA5}">
                      <a16:colId xmlns:a16="http://schemas.microsoft.com/office/drawing/2014/main" val="1069328417"/>
                    </a:ext>
                  </a:extLst>
                </a:gridCol>
                <a:gridCol w="605790">
                  <a:extLst>
                    <a:ext uri="{9D8B030D-6E8A-4147-A177-3AD203B41FA5}">
                      <a16:colId xmlns:a16="http://schemas.microsoft.com/office/drawing/2014/main" val="4188330063"/>
                    </a:ext>
                  </a:extLst>
                </a:gridCol>
                <a:gridCol w="605790">
                  <a:extLst>
                    <a:ext uri="{9D8B030D-6E8A-4147-A177-3AD203B41FA5}">
                      <a16:colId xmlns:a16="http://schemas.microsoft.com/office/drawing/2014/main" val="1320475630"/>
                    </a:ext>
                  </a:extLst>
                </a:gridCol>
                <a:gridCol w="605790">
                  <a:extLst>
                    <a:ext uri="{9D8B030D-6E8A-4147-A177-3AD203B41FA5}">
                      <a16:colId xmlns:a16="http://schemas.microsoft.com/office/drawing/2014/main" val="3250346983"/>
                    </a:ext>
                  </a:extLst>
                </a:gridCol>
                <a:gridCol w="605790">
                  <a:extLst>
                    <a:ext uri="{9D8B030D-6E8A-4147-A177-3AD203B41FA5}">
                      <a16:colId xmlns:a16="http://schemas.microsoft.com/office/drawing/2014/main" val="318692559"/>
                    </a:ext>
                  </a:extLst>
                </a:gridCol>
                <a:gridCol w="590550">
                  <a:extLst>
                    <a:ext uri="{9D8B030D-6E8A-4147-A177-3AD203B41FA5}">
                      <a16:colId xmlns:a16="http://schemas.microsoft.com/office/drawing/2014/main" val="2613225089"/>
                    </a:ext>
                  </a:extLst>
                </a:gridCol>
              </a:tblGrid>
              <a:tr h="370840">
                <a:tc>
                  <a:txBody>
                    <a:bodyPr/>
                    <a:lstStyle/>
                    <a:p>
                      <a:r>
                        <a:rPr lang="en-AU" dirty="0"/>
                        <a:t>x</a:t>
                      </a:r>
                    </a:p>
                  </a:txBody>
                  <a:tcPr marL="108958" marR="108958"/>
                </a:tc>
                <a:tc>
                  <a:txBody>
                    <a:bodyPr/>
                    <a:lstStyle/>
                    <a:p>
                      <a:r>
                        <a:rPr lang="en-AU" dirty="0"/>
                        <a:t>-3</a:t>
                      </a:r>
                    </a:p>
                  </a:txBody>
                  <a:tcPr marL="108958" marR="108958"/>
                </a:tc>
                <a:tc>
                  <a:txBody>
                    <a:bodyPr/>
                    <a:lstStyle/>
                    <a:p>
                      <a:r>
                        <a:rPr lang="en-AU" dirty="0"/>
                        <a:t>-2</a:t>
                      </a:r>
                    </a:p>
                  </a:txBody>
                  <a:tcPr marL="108958" marR="108958"/>
                </a:tc>
                <a:tc>
                  <a:txBody>
                    <a:bodyPr/>
                    <a:lstStyle/>
                    <a:p>
                      <a:r>
                        <a:rPr lang="en-AU" dirty="0"/>
                        <a:t>-1</a:t>
                      </a:r>
                    </a:p>
                  </a:txBody>
                  <a:tcPr marL="108958" marR="108958"/>
                </a:tc>
                <a:tc>
                  <a:txBody>
                    <a:bodyPr/>
                    <a:lstStyle/>
                    <a:p>
                      <a:r>
                        <a:rPr lang="en-AU" dirty="0"/>
                        <a:t>0</a:t>
                      </a:r>
                    </a:p>
                  </a:txBody>
                  <a:tcPr marL="108958" marR="108958"/>
                </a:tc>
                <a:tc>
                  <a:txBody>
                    <a:bodyPr/>
                    <a:lstStyle/>
                    <a:p>
                      <a:r>
                        <a:rPr lang="en-AU" dirty="0"/>
                        <a:t>1</a:t>
                      </a:r>
                    </a:p>
                  </a:txBody>
                  <a:tcPr marL="108958" marR="108958"/>
                </a:tc>
                <a:tc>
                  <a:txBody>
                    <a:bodyPr/>
                    <a:lstStyle/>
                    <a:p>
                      <a:r>
                        <a:rPr lang="en-AU" dirty="0"/>
                        <a:t>2</a:t>
                      </a:r>
                    </a:p>
                  </a:txBody>
                  <a:tcPr marL="108958" marR="108958"/>
                </a:tc>
                <a:tc>
                  <a:txBody>
                    <a:bodyPr/>
                    <a:lstStyle/>
                    <a:p>
                      <a:r>
                        <a:rPr lang="en-AU" dirty="0"/>
                        <a:t>3</a:t>
                      </a:r>
                    </a:p>
                  </a:txBody>
                  <a:tcPr marL="108958" marR="108958"/>
                </a:tc>
                <a:extLst>
                  <a:ext uri="{0D108BD9-81ED-4DB2-BD59-A6C34878D82A}">
                    <a16:rowId xmlns:a16="http://schemas.microsoft.com/office/drawing/2014/main" val="3821705780"/>
                  </a:ext>
                </a:extLst>
              </a:tr>
              <a:tr h="370840">
                <a:tc>
                  <a:txBody>
                    <a:bodyPr/>
                    <a:lstStyle/>
                    <a:p>
                      <a:r>
                        <a:rPr lang="en-AU" dirty="0"/>
                        <a:t>y</a:t>
                      </a:r>
                    </a:p>
                  </a:txBody>
                  <a:tcPr marL="108958" marR="108958"/>
                </a:tc>
                <a:tc>
                  <a:txBody>
                    <a:bodyPr/>
                    <a:lstStyle/>
                    <a:p>
                      <a:endParaRPr lang="en-AU"/>
                    </a:p>
                  </a:txBody>
                  <a:tcPr marL="108958" marR="108958"/>
                </a:tc>
                <a:tc>
                  <a:txBody>
                    <a:bodyPr/>
                    <a:lstStyle/>
                    <a:p>
                      <a:endParaRPr lang="en-AU"/>
                    </a:p>
                  </a:txBody>
                  <a:tcPr marL="108958" marR="108958"/>
                </a:tc>
                <a:tc>
                  <a:txBody>
                    <a:bodyPr/>
                    <a:lstStyle/>
                    <a:p>
                      <a:endParaRPr lang="en-AU"/>
                    </a:p>
                  </a:txBody>
                  <a:tcPr marL="108958" marR="108958"/>
                </a:tc>
                <a:tc>
                  <a:txBody>
                    <a:bodyPr/>
                    <a:lstStyle/>
                    <a:p>
                      <a:endParaRPr lang="en-AU"/>
                    </a:p>
                  </a:txBody>
                  <a:tcPr marL="108958" marR="108958"/>
                </a:tc>
                <a:tc>
                  <a:txBody>
                    <a:bodyPr/>
                    <a:lstStyle/>
                    <a:p>
                      <a:endParaRPr lang="en-AU"/>
                    </a:p>
                  </a:txBody>
                  <a:tcPr marL="108958" marR="108958"/>
                </a:tc>
                <a:tc>
                  <a:txBody>
                    <a:bodyPr/>
                    <a:lstStyle/>
                    <a:p>
                      <a:endParaRPr lang="en-AU"/>
                    </a:p>
                  </a:txBody>
                  <a:tcPr marL="108958" marR="108958"/>
                </a:tc>
                <a:tc>
                  <a:txBody>
                    <a:bodyPr/>
                    <a:lstStyle/>
                    <a:p>
                      <a:endParaRPr lang="en-AU" dirty="0"/>
                    </a:p>
                  </a:txBody>
                  <a:tcPr marL="108958" marR="108958"/>
                </a:tc>
                <a:extLst>
                  <a:ext uri="{0D108BD9-81ED-4DB2-BD59-A6C34878D82A}">
                    <a16:rowId xmlns:a16="http://schemas.microsoft.com/office/drawing/2014/main" val="396068570"/>
                  </a:ext>
                </a:extLst>
              </a:tr>
            </a:tbl>
          </a:graphicData>
        </a:graphic>
      </p:graphicFrame>
      <p:pic>
        <p:nvPicPr>
          <p:cNvPr id="6" name="Picture 5">
            <a:extLst>
              <a:ext uri="{FF2B5EF4-FFF2-40B4-BE49-F238E27FC236}">
                <a16:creationId xmlns:a16="http://schemas.microsoft.com/office/drawing/2014/main" id="{F2A99EEE-E071-401B-A236-756F6DA0C3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47360" y="0"/>
            <a:ext cx="6858000" cy="6858000"/>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9DCFF0C-F2D3-4560-B2E8-F22F28371C30}"/>
                  </a:ext>
                </a:extLst>
              </p:cNvPr>
              <p:cNvSpPr txBox="1"/>
              <p:nvPr/>
            </p:nvSpPr>
            <p:spPr>
              <a:xfrm>
                <a:off x="990600" y="1920240"/>
                <a:ext cx="316992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𝑦</m:t>
                      </m:r>
                      <m:r>
                        <a:rPr lang="en-AU" b="0" i="1" smtClean="0">
                          <a:latin typeface="Cambria Math" panose="02040503050406030204" pitchFamily="18" charset="0"/>
                        </a:rPr>
                        <m:t>=</m:t>
                      </m:r>
                      <m:sSup>
                        <m:sSupPr>
                          <m:ctrlPr>
                            <a:rPr lang="en-AU" b="0" i="1" smtClean="0">
                              <a:latin typeface="Cambria Math" panose="02040503050406030204" pitchFamily="18" charset="0"/>
                            </a:rPr>
                          </m:ctrlPr>
                        </m:sSupPr>
                        <m:e>
                          <m:r>
                            <a:rPr lang="en-AU" b="0" i="1" smtClean="0">
                              <a:latin typeface="Cambria Math" panose="02040503050406030204" pitchFamily="18" charset="0"/>
                            </a:rPr>
                            <m:t>2</m:t>
                          </m:r>
                        </m:e>
                        <m:sup>
                          <m:r>
                            <a:rPr lang="en-AU" b="0" i="1" smtClean="0">
                              <a:latin typeface="Cambria Math" panose="02040503050406030204" pitchFamily="18" charset="0"/>
                            </a:rPr>
                            <m:t>𝑥</m:t>
                          </m:r>
                        </m:sup>
                      </m:sSup>
                    </m:oMath>
                  </m:oMathPara>
                </a14:m>
                <a:endParaRPr lang="en-AU" dirty="0"/>
              </a:p>
            </p:txBody>
          </p:sp>
        </mc:Choice>
        <mc:Fallback xmlns="">
          <p:sp>
            <p:nvSpPr>
              <p:cNvPr id="7" name="TextBox 6">
                <a:extLst>
                  <a:ext uri="{FF2B5EF4-FFF2-40B4-BE49-F238E27FC236}">
                    <a16:creationId xmlns:a16="http://schemas.microsoft.com/office/drawing/2014/main" id="{29DCFF0C-F2D3-4560-B2E8-F22F28371C30}"/>
                  </a:ext>
                </a:extLst>
              </p:cNvPr>
              <p:cNvSpPr txBox="1">
                <a:spLocks noRot="1" noChangeAspect="1" noMove="1" noResize="1" noEditPoints="1" noAdjustHandles="1" noChangeArrowheads="1" noChangeShapeType="1" noTextEdit="1"/>
              </p:cNvSpPr>
              <p:nvPr/>
            </p:nvSpPr>
            <p:spPr>
              <a:xfrm>
                <a:off x="990600" y="1920240"/>
                <a:ext cx="3169920" cy="369332"/>
              </a:xfrm>
              <a:prstGeom prst="rect">
                <a:avLst/>
              </a:prstGeom>
              <a:blipFill>
                <a:blip r:embed="rId3"/>
                <a:stretch>
                  <a:fillRect b="-4918"/>
                </a:stretch>
              </a:blipFill>
            </p:spPr>
            <p:txBody>
              <a:bodyPr/>
              <a:lstStyle/>
              <a:p>
                <a:r>
                  <a:rPr lang="en-AU">
                    <a:noFill/>
                  </a:rPr>
                  <a:t> </a:t>
                </a:r>
              </a:p>
            </p:txBody>
          </p:sp>
        </mc:Fallback>
      </mc:AlternateContent>
    </p:spTree>
    <p:extLst>
      <p:ext uri="{BB962C8B-B14F-4D97-AF65-F5344CB8AC3E}">
        <p14:creationId xmlns:p14="http://schemas.microsoft.com/office/powerpoint/2010/main" val="128555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F594B-CEF6-40AC-AFDD-69E783405347}"/>
              </a:ext>
            </a:extLst>
          </p:cNvPr>
          <p:cNvSpPr>
            <a:spLocks noGrp="1"/>
          </p:cNvSpPr>
          <p:nvPr>
            <p:ph type="title"/>
          </p:nvPr>
        </p:nvSpPr>
        <p:spPr/>
        <p:txBody>
          <a:bodyPr/>
          <a:lstStyle/>
          <a:p>
            <a:r>
              <a:rPr lang="en-AU" dirty="0"/>
              <a:t>Example 2</a:t>
            </a:r>
          </a:p>
        </p:txBody>
      </p:sp>
      <p:pic>
        <p:nvPicPr>
          <p:cNvPr id="4" name="Content Placeholder 3">
            <a:extLst>
              <a:ext uri="{FF2B5EF4-FFF2-40B4-BE49-F238E27FC236}">
                <a16:creationId xmlns:a16="http://schemas.microsoft.com/office/drawing/2014/main" id="{F39B8B2E-3B0D-44FC-B421-61D3A3BFAC8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09161" y="-113506"/>
            <a:ext cx="7482840" cy="7082949"/>
          </a:xfrm>
          <a:prstGeom prst="rect">
            <a:avLst/>
          </a:prstGeom>
        </p:spPr>
      </p:pic>
      <p:graphicFrame>
        <p:nvGraphicFramePr>
          <p:cNvPr id="5" name="Table 4">
            <a:extLst>
              <a:ext uri="{FF2B5EF4-FFF2-40B4-BE49-F238E27FC236}">
                <a16:creationId xmlns:a16="http://schemas.microsoft.com/office/drawing/2014/main" id="{672A5A11-4C28-4BC2-B5E6-F18549A3C90C}"/>
              </a:ext>
            </a:extLst>
          </p:cNvPr>
          <p:cNvGraphicFramePr>
            <a:graphicFrameLocks noGrp="1"/>
          </p:cNvGraphicFramePr>
          <p:nvPr>
            <p:extLst>
              <p:ext uri="{D42A27DB-BD31-4B8C-83A1-F6EECF244321}">
                <p14:modId xmlns:p14="http://schemas.microsoft.com/office/powerpoint/2010/main" val="3264814299"/>
              </p:ext>
            </p:extLst>
          </p:nvPr>
        </p:nvGraphicFramePr>
        <p:xfrm>
          <a:off x="127001" y="2472266"/>
          <a:ext cx="5069844" cy="741680"/>
        </p:xfrm>
        <a:graphic>
          <a:graphicData uri="http://schemas.openxmlformats.org/drawingml/2006/table">
            <a:tbl>
              <a:tblPr firstRow="1" bandRow="1">
                <a:tableStyleId>{5C22544A-7EE6-4342-B048-85BDC9FD1C3A}</a:tableStyleId>
              </a:tblPr>
              <a:tblGrid>
                <a:gridCol w="563316">
                  <a:extLst>
                    <a:ext uri="{9D8B030D-6E8A-4147-A177-3AD203B41FA5}">
                      <a16:colId xmlns:a16="http://schemas.microsoft.com/office/drawing/2014/main" val="2980423021"/>
                    </a:ext>
                  </a:extLst>
                </a:gridCol>
                <a:gridCol w="563316">
                  <a:extLst>
                    <a:ext uri="{9D8B030D-6E8A-4147-A177-3AD203B41FA5}">
                      <a16:colId xmlns:a16="http://schemas.microsoft.com/office/drawing/2014/main" val="2652962540"/>
                    </a:ext>
                  </a:extLst>
                </a:gridCol>
                <a:gridCol w="563316">
                  <a:extLst>
                    <a:ext uri="{9D8B030D-6E8A-4147-A177-3AD203B41FA5}">
                      <a16:colId xmlns:a16="http://schemas.microsoft.com/office/drawing/2014/main" val="2275925830"/>
                    </a:ext>
                  </a:extLst>
                </a:gridCol>
                <a:gridCol w="563316">
                  <a:extLst>
                    <a:ext uri="{9D8B030D-6E8A-4147-A177-3AD203B41FA5}">
                      <a16:colId xmlns:a16="http://schemas.microsoft.com/office/drawing/2014/main" val="1094342535"/>
                    </a:ext>
                  </a:extLst>
                </a:gridCol>
                <a:gridCol w="563316">
                  <a:extLst>
                    <a:ext uri="{9D8B030D-6E8A-4147-A177-3AD203B41FA5}">
                      <a16:colId xmlns:a16="http://schemas.microsoft.com/office/drawing/2014/main" val="541883893"/>
                    </a:ext>
                  </a:extLst>
                </a:gridCol>
                <a:gridCol w="563316">
                  <a:extLst>
                    <a:ext uri="{9D8B030D-6E8A-4147-A177-3AD203B41FA5}">
                      <a16:colId xmlns:a16="http://schemas.microsoft.com/office/drawing/2014/main" val="3725576666"/>
                    </a:ext>
                  </a:extLst>
                </a:gridCol>
                <a:gridCol w="563316">
                  <a:extLst>
                    <a:ext uri="{9D8B030D-6E8A-4147-A177-3AD203B41FA5}">
                      <a16:colId xmlns:a16="http://schemas.microsoft.com/office/drawing/2014/main" val="2269307779"/>
                    </a:ext>
                  </a:extLst>
                </a:gridCol>
                <a:gridCol w="563316">
                  <a:extLst>
                    <a:ext uri="{9D8B030D-6E8A-4147-A177-3AD203B41FA5}">
                      <a16:colId xmlns:a16="http://schemas.microsoft.com/office/drawing/2014/main" val="1924935095"/>
                    </a:ext>
                  </a:extLst>
                </a:gridCol>
                <a:gridCol w="563316">
                  <a:extLst>
                    <a:ext uri="{9D8B030D-6E8A-4147-A177-3AD203B41FA5}">
                      <a16:colId xmlns:a16="http://schemas.microsoft.com/office/drawing/2014/main" val="1076837600"/>
                    </a:ext>
                  </a:extLst>
                </a:gridCol>
              </a:tblGrid>
              <a:tr h="370840">
                <a:tc>
                  <a:txBody>
                    <a:bodyPr/>
                    <a:lstStyle/>
                    <a:p>
                      <a:r>
                        <a:rPr lang="en-AU" dirty="0"/>
                        <a:t>x</a:t>
                      </a:r>
                    </a:p>
                  </a:txBody>
                  <a:tcPr/>
                </a:tc>
                <a:tc>
                  <a:txBody>
                    <a:bodyPr/>
                    <a:lstStyle/>
                    <a:p>
                      <a:r>
                        <a:rPr lang="en-AU" dirty="0"/>
                        <a:t>-3</a:t>
                      </a:r>
                    </a:p>
                  </a:txBody>
                  <a:tcPr/>
                </a:tc>
                <a:tc>
                  <a:txBody>
                    <a:bodyPr/>
                    <a:lstStyle/>
                    <a:p>
                      <a:r>
                        <a:rPr lang="en-AU" dirty="0"/>
                        <a:t>-2</a:t>
                      </a:r>
                    </a:p>
                  </a:txBody>
                  <a:tcPr/>
                </a:tc>
                <a:tc>
                  <a:txBody>
                    <a:bodyPr/>
                    <a:lstStyle/>
                    <a:p>
                      <a:r>
                        <a:rPr lang="en-AU" dirty="0"/>
                        <a:t>-1</a:t>
                      </a:r>
                    </a:p>
                  </a:txBody>
                  <a:tcPr/>
                </a:tc>
                <a:tc>
                  <a:txBody>
                    <a:bodyPr/>
                    <a:lstStyle/>
                    <a:p>
                      <a:r>
                        <a:rPr lang="en-AU" dirty="0"/>
                        <a:t>0</a:t>
                      </a:r>
                    </a:p>
                  </a:txBody>
                  <a:tcPr/>
                </a:tc>
                <a:tc>
                  <a:txBody>
                    <a:bodyPr/>
                    <a:lstStyle/>
                    <a:p>
                      <a:r>
                        <a:rPr lang="en-AU" dirty="0"/>
                        <a:t>1</a:t>
                      </a:r>
                    </a:p>
                  </a:txBody>
                  <a:tcPr/>
                </a:tc>
                <a:tc>
                  <a:txBody>
                    <a:bodyPr/>
                    <a:lstStyle/>
                    <a:p>
                      <a:r>
                        <a:rPr lang="en-AU" dirty="0"/>
                        <a:t>2</a:t>
                      </a:r>
                    </a:p>
                  </a:txBody>
                  <a:tcPr/>
                </a:tc>
                <a:tc>
                  <a:txBody>
                    <a:bodyPr/>
                    <a:lstStyle/>
                    <a:p>
                      <a:r>
                        <a:rPr lang="en-AU" dirty="0"/>
                        <a:t>3</a:t>
                      </a:r>
                    </a:p>
                  </a:txBody>
                  <a:tcPr/>
                </a:tc>
                <a:tc>
                  <a:txBody>
                    <a:bodyPr/>
                    <a:lstStyle/>
                    <a:p>
                      <a:r>
                        <a:rPr lang="en-AU" dirty="0"/>
                        <a:t>4</a:t>
                      </a:r>
                    </a:p>
                  </a:txBody>
                  <a:tcPr/>
                </a:tc>
                <a:extLst>
                  <a:ext uri="{0D108BD9-81ED-4DB2-BD59-A6C34878D82A}">
                    <a16:rowId xmlns:a16="http://schemas.microsoft.com/office/drawing/2014/main" val="1825582921"/>
                  </a:ext>
                </a:extLst>
              </a:tr>
              <a:tr h="370840">
                <a:tc>
                  <a:txBody>
                    <a:bodyPr/>
                    <a:lstStyle/>
                    <a:p>
                      <a:r>
                        <a:rPr lang="en-AU" dirty="0"/>
                        <a:t>y</a:t>
                      </a:r>
                    </a:p>
                  </a:txBody>
                  <a:tcPr/>
                </a:tc>
                <a:tc>
                  <a:txBody>
                    <a:bodyPr/>
                    <a:lstStyle/>
                    <a:p>
                      <a:endParaRPr lang="en-AU"/>
                    </a:p>
                  </a:txBody>
                  <a:tcPr/>
                </a:tc>
                <a:tc>
                  <a:txBody>
                    <a:bodyPr/>
                    <a:lstStyle/>
                    <a:p>
                      <a:endParaRPr lang="en-AU"/>
                    </a:p>
                  </a:txBody>
                  <a:tcPr/>
                </a:tc>
                <a:tc>
                  <a:txBody>
                    <a:bodyPr/>
                    <a:lstStyle/>
                    <a:p>
                      <a:endParaRPr lang="en-AU"/>
                    </a:p>
                  </a:txBody>
                  <a:tcPr/>
                </a:tc>
                <a:tc>
                  <a:txBody>
                    <a:bodyPr/>
                    <a:lstStyle/>
                    <a:p>
                      <a:endParaRPr lang="en-AU"/>
                    </a:p>
                  </a:txBody>
                  <a:tcPr/>
                </a:tc>
                <a:tc>
                  <a:txBody>
                    <a:bodyPr/>
                    <a:lstStyle/>
                    <a:p>
                      <a:endParaRPr lang="en-AU"/>
                    </a:p>
                  </a:txBody>
                  <a:tcPr/>
                </a:tc>
                <a:tc>
                  <a:txBody>
                    <a:bodyPr/>
                    <a:lstStyle/>
                    <a:p>
                      <a:endParaRPr lang="en-AU"/>
                    </a:p>
                  </a:txBody>
                  <a:tcPr/>
                </a:tc>
                <a:tc>
                  <a:txBody>
                    <a:bodyPr/>
                    <a:lstStyle/>
                    <a:p>
                      <a:endParaRPr lang="en-AU"/>
                    </a:p>
                  </a:txBody>
                  <a:tcPr/>
                </a:tc>
                <a:tc>
                  <a:txBody>
                    <a:bodyPr/>
                    <a:lstStyle/>
                    <a:p>
                      <a:endParaRPr lang="en-AU" dirty="0"/>
                    </a:p>
                  </a:txBody>
                  <a:tcPr/>
                </a:tc>
                <a:extLst>
                  <a:ext uri="{0D108BD9-81ED-4DB2-BD59-A6C34878D82A}">
                    <a16:rowId xmlns:a16="http://schemas.microsoft.com/office/drawing/2014/main" val="69620652"/>
                  </a:ext>
                </a:extLst>
              </a:tr>
            </a:tbl>
          </a:graphicData>
        </a:graphic>
      </p:graphicFrame>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1C18976-690E-4711-A4AD-0BA91325F801}"/>
                  </a:ext>
                </a:extLst>
              </p:cNvPr>
              <p:cNvSpPr txBox="1"/>
              <p:nvPr/>
            </p:nvSpPr>
            <p:spPr>
              <a:xfrm>
                <a:off x="1112520" y="1690688"/>
                <a:ext cx="2438400" cy="369332"/>
              </a:xfrm>
              <a:prstGeom prst="rect">
                <a:avLst/>
              </a:prstGeom>
              <a:noFill/>
            </p:spPr>
            <p:txBody>
              <a:bodyPr wrap="square" rtlCol="0">
                <a:spAutoFit/>
              </a:bodyPr>
              <a:lstStyle/>
              <a:p>
                <a14:m>
                  <m:oMath xmlns:m="http://schemas.openxmlformats.org/officeDocument/2006/math">
                    <m:r>
                      <a:rPr lang="en-AU" b="0" i="1" smtClean="0">
                        <a:latin typeface="Cambria Math" panose="02040503050406030204" pitchFamily="18" charset="0"/>
                      </a:rPr>
                      <m:t>𝑦</m:t>
                    </m:r>
                    <m:r>
                      <a:rPr lang="en-AU" b="0" i="1" smtClean="0">
                        <a:latin typeface="Cambria Math" panose="02040503050406030204" pitchFamily="18" charset="0"/>
                      </a:rPr>
                      <m:t>=</m:t>
                    </m:r>
                    <m:sSup>
                      <m:sSupPr>
                        <m:ctrlPr>
                          <a:rPr lang="en-AU" b="0" i="1" smtClean="0">
                            <a:latin typeface="Cambria Math" panose="02040503050406030204" pitchFamily="18" charset="0"/>
                          </a:rPr>
                        </m:ctrlPr>
                      </m:sSupPr>
                      <m:e>
                        <m:r>
                          <a:rPr lang="en-AU" b="0" i="1" smtClean="0">
                            <a:latin typeface="Cambria Math" panose="02040503050406030204" pitchFamily="18" charset="0"/>
                          </a:rPr>
                          <m:t>2</m:t>
                        </m:r>
                      </m:e>
                      <m:sup>
                        <m:r>
                          <a:rPr lang="en-AU" b="0" i="1" smtClean="0">
                            <a:latin typeface="Cambria Math" panose="02040503050406030204" pitchFamily="18" charset="0"/>
                          </a:rPr>
                          <m:t>𝑥</m:t>
                        </m:r>
                      </m:sup>
                    </m:sSup>
                  </m:oMath>
                </a14:m>
                <a:r>
                  <a:rPr lang="en-AU" dirty="0"/>
                  <a:t> </a:t>
                </a:r>
                <a14:m>
                  <m:oMath xmlns:m="http://schemas.openxmlformats.org/officeDocument/2006/math">
                    <m:r>
                      <a:rPr lang="en-AU" i="1">
                        <a:latin typeface="Cambria Math" panose="02040503050406030204" pitchFamily="18" charset="0"/>
                      </a:rPr>
                      <m:t>−5</m:t>
                    </m:r>
                  </m:oMath>
                </a14:m>
                <a:endParaRPr lang="en-AU" dirty="0"/>
              </a:p>
            </p:txBody>
          </p:sp>
        </mc:Choice>
        <mc:Fallback xmlns="">
          <p:sp>
            <p:nvSpPr>
              <p:cNvPr id="3" name="TextBox 2">
                <a:extLst>
                  <a:ext uri="{FF2B5EF4-FFF2-40B4-BE49-F238E27FC236}">
                    <a16:creationId xmlns:a16="http://schemas.microsoft.com/office/drawing/2014/main" id="{21C18976-690E-4711-A4AD-0BA91325F801}"/>
                  </a:ext>
                </a:extLst>
              </p:cNvPr>
              <p:cNvSpPr txBox="1">
                <a:spLocks noRot="1" noChangeAspect="1" noMove="1" noResize="1" noEditPoints="1" noAdjustHandles="1" noChangeArrowheads="1" noChangeShapeType="1" noTextEdit="1"/>
              </p:cNvSpPr>
              <p:nvPr/>
            </p:nvSpPr>
            <p:spPr>
              <a:xfrm>
                <a:off x="1112520" y="1690688"/>
                <a:ext cx="2438400" cy="369332"/>
              </a:xfrm>
              <a:prstGeom prst="rect">
                <a:avLst/>
              </a:prstGeom>
              <a:blipFill>
                <a:blip r:embed="rId3"/>
                <a:stretch>
                  <a:fillRect b="-6557"/>
                </a:stretch>
              </a:blipFill>
            </p:spPr>
            <p:txBody>
              <a:bodyPr/>
              <a:lstStyle/>
              <a:p>
                <a:r>
                  <a:rPr lang="en-AU">
                    <a:noFill/>
                  </a:rPr>
                  <a:t> </a:t>
                </a:r>
              </a:p>
            </p:txBody>
          </p:sp>
        </mc:Fallback>
      </mc:AlternateContent>
    </p:spTree>
    <p:extLst>
      <p:ext uri="{BB962C8B-B14F-4D97-AF65-F5344CB8AC3E}">
        <p14:creationId xmlns:p14="http://schemas.microsoft.com/office/powerpoint/2010/main" val="24965810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AFE45-F5B9-410B-A893-15D6E24839C9}"/>
              </a:ext>
            </a:extLst>
          </p:cNvPr>
          <p:cNvSpPr>
            <a:spLocks noGrp="1"/>
          </p:cNvSpPr>
          <p:nvPr>
            <p:ph type="title"/>
          </p:nvPr>
        </p:nvSpPr>
        <p:spPr/>
        <p:txBody>
          <a:bodyPr/>
          <a:lstStyle/>
          <a:p>
            <a:r>
              <a:rPr lang="en-AU" dirty="0"/>
              <a:t>Example 3</a:t>
            </a:r>
          </a:p>
        </p:txBody>
      </p:sp>
      <p:pic>
        <p:nvPicPr>
          <p:cNvPr id="4" name="Content Placeholder 3">
            <a:extLst>
              <a:ext uri="{FF2B5EF4-FFF2-40B4-BE49-F238E27FC236}">
                <a16:creationId xmlns:a16="http://schemas.microsoft.com/office/drawing/2014/main" id="{76BA8FA5-1251-4A15-9409-F7FA158841A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915694" y="0"/>
            <a:ext cx="6941026" cy="6941026"/>
          </a:xfrm>
          <a:prstGeom prst="rect">
            <a:avLst/>
          </a:prstGeom>
        </p:spPr>
      </p:pic>
      <p:graphicFrame>
        <p:nvGraphicFramePr>
          <p:cNvPr id="5" name="Table 4">
            <a:extLst>
              <a:ext uri="{FF2B5EF4-FFF2-40B4-BE49-F238E27FC236}">
                <a16:creationId xmlns:a16="http://schemas.microsoft.com/office/drawing/2014/main" id="{778B8913-34BB-4DF8-84F9-C1D5233BF230}"/>
              </a:ext>
            </a:extLst>
          </p:cNvPr>
          <p:cNvGraphicFramePr>
            <a:graphicFrameLocks noGrp="1"/>
          </p:cNvGraphicFramePr>
          <p:nvPr>
            <p:extLst>
              <p:ext uri="{D42A27DB-BD31-4B8C-83A1-F6EECF244321}">
                <p14:modId xmlns:p14="http://schemas.microsoft.com/office/powerpoint/2010/main" val="3773512"/>
              </p:ext>
            </p:extLst>
          </p:nvPr>
        </p:nvGraphicFramePr>
        <p:xfrm>
          <a:off x="274320" y="2590799"/>
          <a:ext cx="4983480" cy="731520"/>
        </p:xfrm>
        <a:graphic>
          <a:graphicData uri="http://schemas.openxmlformats.org/drawingml/2006/table">
            <a:tbl>
              <a:tblPr firstRow="1" bandRow="1">
                <a:tableStyleId>{5C22544A-7EE6-4342-B048-85BDC9FD1C3A}</a:tableStyleId>
              </a:tblPr>
              <a:tblGrid>
                <a:gridCol w="622935">
                  <a:extLst>
                    <a:ext uri="{9D8B030D-6E8A-4147-A177-3AD203B41FA5}">
                      <a16:colId xmlns:a16="http://schemas.microsoft.com/office/drawing/2014/main" val="2532152681"/>
                    </a:ext>
                  </a:extLst>
                </a:gridCol>
                <a:gridCol w="622935">
                  <a:extLst>
                    <a:ext uri="{9D8B030D-6E8A-4147-A177-3AD203B41FA5}">
                      <a16:colId xmlns:a16="http://schemas.microsoft.com/office/drawing/2014/main" val="2703759127"/>
                    </a:ext>
                  </a:extLst>
                </a:gridCol>
                <a:gridCol w="622935">
                  <a:extLst>
                    <a:ext uri="{9D8B030D-6E8A-4147-A177-3AD203B41FA5}">
                      <a16:colId xmlns:a16="http://schemas.microsoft.com/office/drawing/2014/main" val="2508068049"/>
                    </a:ext>
                  </a:extLst>
                </a:gridCol>
                <a:gridCol w="622935">
                  <a:extLst>
                    <a:ext uri="{9D8B030D-6E8A-4147-A177-3AD203B41FA5}">
                      <a16:colId xmlns:a16="http://schemas.microsoft.com/office/drawing/2014/main" val="575723635"/>
                    </a:ext>
                  </a:extLst>
                </a:gridCol>
                <a:gridCol w="622935">
                  <a:extLst>
                    <a:ext uri="{9D8B030D-6E8A-4147-A177-3AD203B41FA5}">
                      <a16:colId xmlns:a16="http://schemas.microsoft.com/office/drawing/2014/main" val="1990649727"/>
                    </a:ext>
                  </a:extLst>
                </a:gridCol>
                <a:gridCol w="622935">
                  <a:extLst>
                    <a:ext uri="{9D8B030D-6E8A-4147-A177-3AD203B41FA5}">
                      <a16:colId xmlns:a16="http://schemas.microsoft.com/office/drawing/2014/main" val="2142281870"/>
                    </a:ext>
                  </a:extLst>
                </a:gridCol>
                <a:gridCol w="622935">
                  <a:extLst>
                    <a:ext uri="{9D8B030D-6E8A-4147-A177-3AD203B41FA5}">
                      <a16:colId xmlns:a16="http://schemas.microsoft.com/office/drawing/2014/main" val="3354309942"/>
                    </a:ext>
                  </a:extLst>
                </a:gridCol>
                <a:gridCol w="622935">
                  <a:extLst>
                    <a:ext uri="{9D8B030D-6E8A-4147-A177-3AD203B41FA5}">
                      <a16:colId xmlns:a16="http://schemas.microsoft.com/office/drawing/2014/main" val="1585651323"/>
                    </a:ext>
                  </a:extLst>
                </a:gridCol>
              </a:tblGrid>
              <a:tr h="0">
                <a:tc>
                  <a:txBody>
                    <a:bodyPr/>
                    <a:lstStyle/>
                    <a:p>
                      <a:r>
                        <a:rPr lang="en-AU" dirty="0"/>
                        <a:t>x</a:t>
                      </a:r>
                    </a:p>
                  </a:txBody>
                  <a:tcPr/>
                </a:tc>
                <a:tc>
                  <a:txBody>
                    <a:bodyPr/>
                    <a:lstStyle/>
                    <a:p>
                      <a:r>
                        <a:rPr lang="en-AU" dirty="0"/>
                        <a:t>-3</a:t>
                      </a:r>
                    </a:p>
                  </a:txBody>
                  <a:tcPr/>
                </a:tc>
                <a:tc>
                  <a:txBody>
                    <a:bodyPr/>
                    <a:lstStyle/>
                    <a:p>
                      <a:r>
                        <a:rPr lang="en-AU" dirty="0"/>
                        <a:t>-2</a:t>
                      </a:r>
                    </a:p>
                  </a:txBody>
                  <a:tcPr/>
                </a:tc>
                <a:tc>
                  <a:txBody>
                    <a:bodyPr/>
                    <a:lstStyle/>
                    <a:p>
                      <a:r>
                        <a:rPr lang="en-AU" dirty="0"/>
                        <a:t>-1</a:t>
                      </a:r>
                    </a:p>
                  </a:txBody>
                  <a:tcPr/>
                </a:tc>
                <a:tc>
                  <a:txBody>
                    <a:bodyPr/>
                    <a:lstStyle/>
                    <a:p>
                      <a:r>
                        <a:rPr lang="en-AU" dirty="0"/>
                        <a:t>0</a:t>
                      </a:r>
                    </a:p>
                  </a:txBody>
                  <a:tcPr/>
                </a:tc>
                <a:tc>
                  <a:txBody>
                    <a:bodyPr/>
                    <a:lstStyle/>
                    <a:p>
                      <a:r>
                        <a:rPr lang="en-AU" dirty="0"/>
                        <a:t>1</a:t>
                      </a:r>
                    </a:p>
                  </a:txBody>
                  <a:tcPr/>
                </a:tc>
                <a:tc>
                  <a:txBody>
                    <a:bodyPr/>
                    <a:lstStyle/>
                    <a:p>
                      <a:r>
                        <a:rPr lang="en-AU" dirty="0"/>
                        <a:t>2</a:t>
                      </a:r>
                    </a:p>
                  </a:txBody>
                  <a:tcPr/>
                </a:tc>
                <a:tc>
                  <a:txBody>
                    <a:bodyPr/>
                    <a:lstStyle/>
                    <a:p>
                      <a:r>
                        <a:rPr lang="en-AU" dirty="0"/>
                        <a:t>3</a:t>
                      </a:r>
                    </a:p>
                  </a:txBody>
                  <a:tcPr/>
                </a:tc>
                <a:extLst>
                  <a:ext uri="{0D108BD9-81ED-4DB2-BD59-A6C34878D82A}">
                    <a16:rowId xmlns:a16="http://schemas.microsoft.com/office/drawing/2014/main" val="3303474322"/>
                  </a:ext>
                </a:extLst>
              </a:tr>
              <a:tr h="333894">
                <a:tc>
                  <a:txBody>
                    <a:bodyPr/>
                    <a:lstStyle/>
                    <a:p>
                      <a:r>
                        <a:rPr lang="en-AU" dirty="0"/>
                        <a:t>y</a:t>
                      </a:r>
                    </a:p>
                  </a:txBody>
                  <a:tcPr/>
                </a:tc>
                <a:tc>
                  <a:txBody>
                    <a:bodyPr/>
                    <a:lstStyle/>
                    <a:p>
                      <a:endParaRPr lang="en-AU"/>
                    </a:p>
                  </a:txBody>
                  <a:tcPr/>
                </a:tc>
                <a:tc>
                  <a:txBody>
                    <a:bodyPr/>
                    <a:lstStyle/>
                    <a:p>
                      <a:endParaRPr lang="en-AU"/>
                    </a:p>
                  </a:txBody>
                  <a:tcPr/>
                </a:tc>
                <a:tc>
                  <a:txBody>
                    <a:bodyPr/>
                    <a:lstStyle/>
                    <a:p>
                      <a:endParaRPr lang="en-AU"/>
                    </a:p>
                  </a:txBody>
                  <a:tcPr/>
                </a:tc>
                <a:tc>
                  <a:txBody>
                    <a:bodyPr/>
                    <a:lstStyle/>
                    <a:p>
                      <a:endParaRPr lang="en-AU"/>
                    </a:p>
                  </a:txBody>
                  <a:tcPr/>
                </a:tc>
                <a:tc>
                  <a:txBody>
                    <a:bodyPr/>
                    <a:lstStyle/>
                    <a:p>
                      <a:endParaRPr lang="en-AU"/>
                    </a:p>
                  </a:txBody>
                  <a:tcPr/>
                </a:tc>
                <a:tc>
                  <a:txBody>
                    <a:bodyPr/>
                    <a:lstStyle/>
                    <a:p>
                      <a:endParaRPr lang="en-AU"/>
                    </a:p>
                  </a:txBody>
                  <a:tcPr/>
                </a:tc>
                <a:tc>
                  <a:txBody>
                    <a:bodyPr/>
                    <a:lstStyle/>
                    <a:p>
                      <a:endParaRPr lang="en-AU" dirty="0"/>
                    </a:p>
                  </a:txBody>
                  <a:tcPr/>
                </a:tc>
                <a:extLst>
                  <a:ext uri="{0D108BD9-81ED-4DB2-BD59-A6C34878D82A}">
                    <a16:rowId xmlns:a16="http://schemas.microsoft.com/office/drawing/2014/main" val="106041883"/>
                  </a:ext>
                </a:extLst>
              </a:tr>
            </a:tbl>
          </a:graphicData>
        </a:graphic>
      </p:graphicFrame>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5609BF8-F9AD-43E4-B7FB-30D36F0D4867}"/>
                  </a:ext>
                </a:extLst>
              </p:cNvPr>
              <p:cNvSpPr txBox="1"/>
              <p:nvPr/>
            </p:nvSpPr>
            <p:spPr>
              <a:xfrm>
                <a:off x="1844040" y="1871147"/>
                <a:ext cx="262128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i="1" dirty="0" smtClean="0">
                          <a:latin typeface="Cambria Math" panose="02040503050406030204" pitchFamily="18" charset="0"/>
                        </a:rPr>
                        <m:t>𝑦</m:t>
                      </m:r>
                      <m:r>
                        <a:rPr lang="en-AU" i="1" dirty="0" smtClean="0">
                          <a:latin typeface="Cambria Math" panose="02040503050406030204" pitchFamily="18" charset="0"/>
                        </a:rPr>
                        <m:t> =</m:t>
                      </m:r>
                      <m:sSup>
                        <m:sSupPr>
                          <m:ctrlPr>
                            <a:rPr lang="en-AU" i="1" smtClean="0">
                              <a:latin typeface="Cambria Math" panose="02040503050406030204" pitchFamily="18" charset="0"/>
                            </a:rPr>
                          </m:ctrlPr>
                        </m:sSupPr>
                        <m:e>
                          <m:r>
                            <a:rPr lang="en-AU" b="0" i="1" smtClean="0">
                              <a:latin typeface="Cambria Math" panose="02040503050406030204" pitchFamily="18" charset="0"/>
                            </a:rPr>
                            <m:t>2</m:t>
                          </m:r>
                        </m:e>
                        <m:sup>
                          <m:r>
                            <a:rPr lang="en-AU" b="0" i="1" smtClean="0">
                              <a:latin typeface="Cambria Math" panose="02040503050406030204" pitchFamily="18" charset="0"/>
                            </a:rPr>
                            <m:t>𝑥</m:t>
                          </m:r>
                        </m:sup>
                      </m:sSup>
                    </m:oMath>
                  </m:oMathPara>
                </a14:m>
                <a:endParaRPr lang="en-AU" dirty="0"/>
              </a:p>
            </p:txBody>
          </p:sp>
        </mc:Choice>
        <mc:Fallback xmlns="">
          <p:sp>
            <p:nvSpPr>
              <p:cNvPr id="6" name="TextBox 5">
                <a:extLst>
                  <a:ext uri="{FF2B5EF4-FFF2-40B4-BE49-F238E27FC236}">
                    <a16:creationId xmlns:a16="http://schemas.microsoft.com/office/drawing/2014/main" id="{B5609BF8-F9AD-43E4-B7FB-30D36F0D4867}"/>
                  </a:ext>
                </a:extLst>
              </p:cNvPr>
              <p:cNvSpPr txBox="1">
                <a:spLocks noRot="1" noChangeAspect="1" noMove="1" noResize="1" noEditPoints="1" noAdjustHandles="1" noChangeArrowheads="1" noChangeShapeType="1" noTextEdit="1"/>
              </p:cNvSpPr>
              <p:nvPr/>
            </p:nvSpPr>
            <p:spPr>
              <a:xfrm>
                <a:off x="1844040" y="1871147"/>
                <a:ext cx="2621280" cy="369332"/>
              </a:xfrm>
              <a:prstGeom prst="rect">
                <a:avLst/>
              </a:prstGeom>
              <a:blipFill>
                <a:blip r:embed="rId3"/>
                <a:stretch>
                  <a:fillRect b="-4918"/>
                </a:stretch>
              </a:blipFill>
            </p:spPr>
            <p:txBody>
              <a:bodyPr/>
              <a:lstStyle/>
              <a:p>
                <a:r>
                  <a:rPr lang="en-AU">
                    <a:noFill/>
                  </a:rPr>
                  <a:t> </a:t>
                </a:r>
              </a:p>
            </p:txBody>
          </p:sp>
        </mc:Fallback>
      </mc:AlternateContent>
    </p:spTree>
    <p:extLst>
      <p:ext uri="{BB962C8B-B14F-4D97-AF65-F5344CB8AC3E}">
        <p14:creationId xmlns:p14="http://schemas.microsoft.com/office/powerpoint/2010/main" val="3939691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BB6C4-D439-4275-BCC6-478D0FE6FEFF}"/>
              </a:ext>
            </a:extLst>
          </p:cNvPr>
          <p:cNvSpPr>
            <a:spLocks noGrp="1"/>
          </p:cNvSpPr>
          <p:nvPr>
            <p:ph type="title"/>
          </p:nvPr>
        </p:nvSpPr>
        <p:spPr/>
        <p:txBody>
          <a:bodyPr/>
          <a:lstStyle/>
          <a:p>
            <a:r>
              <a:rPr lang="en-AU" dirty="0"/>
              <a:t>Practise Time </a:t>
            </a:r>
          </a:p>
        </p:txBody>
      </p:sp>
      <p:pic>
        <p:nvPicPr>
          <p:cNvPr id="4" name="Content Placeholder 3">
            <a:extLst>
              <a:ext uri="{FF2B5EF4-FFF2-40B4-BE49-F238E27FC236}">
                <a16:creationId xmlns:a16="http://schemas.microsoft.com/office/drawing/2014/main" id="{402BA007-8B37-42E8-BA9D-BC69C9A8D3A3}"/>
              </a:ext>
            </a:extLst>
          </p:cNvPr>
          <p:cNvPicPr>
            <a:picLocks noGrp="1" noChangeAspect="1"/>
          </p:cNvPicPr>
          <p:nvPr>
            <p:ph idx="1"/>
          </p:nvPr>
        </p:nvPicPr>
        <p:blipFill rotWithShape="1">
          <a:blip r:embed="rId2"/>
          <a:srcRect l="32081" t="21438" r="40351" b="27078"/>
          <a:stretch/>
        </p:blipFill>
        <p:spPr>
          <a:xfrm>
            <a:off x="4953000" y="137157"/>
            <a:ext cx="6400800" cy="6720843"/>
          </a:xfrm>
          <a:prstGeom prst="rect">
            <a:avLst/>
          </a:prstGeom>
        </p:spPr>
      </p:pic>
      <p:sp>
        <p:nvSpPr>
          <p:cNvPr id="5" name="TextBox 4">
            <a:extLst>
              <a:ext uri="{FF2B5EF4-FFF2-40B4-BE49-F238E27FC236}">
                <a16:creationId xmlns:a16="http://schemas.microsoft.com/office/drawing/2014/main" id="{62E8570F-0729-4DC1-A392-011CBA51CF88}"/>
              </a:ext>
            </a:extLst>
          </p:cNvPr>
          <p:cNvSpPr txBox="1"/>
          <p:nvPr/>
        </p:nvSpPr>
        <p:spPr>
          <a:xfrm>
            <a:off x="487680" y="1506022"/>
            <a:ext cx="4465320" cy="369332"/>
          </a:xfrm>
          <a:prstGeom prst="rect">
            <a:avLst/>
          </a:prstGeom>
          <a:noFill/>
        </p:spPr>
        <p:txBody>
          <a:bodyPr wrap="square" rtlCol="0">
            <a:spAutoFit/>
          </a:bodyPr>
          <a:lstStyle/>
          <a:p>
            <a:r>
              <a:rPr lang="en-AU" dirty="0"/>
              <a:t>Complete the table of valves and graph</a:t>
            </a:r>
          </a:p>
        </p:txBody>
      </p:sp>
    </p:spTree>
    <p:extLst>
      <p:ext uri="{BB962C8B-B14F-4D97-AF65-F5344CB8AC3E}">
        <p14:creationId xmlns:p14="http://schemas.microsoft.com/office/powerpoint/2010/main" val="11049410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3DDC9-FFB8-4099-8DCD-81325C15423D}"/>
              </a:ext>
            </a:extLst>
          </p:cNvPr>
          <p:cNvSpPr>
            <a:spLocks noGrp="1"/>
          </p:cNvSpPr>
          <p:nvPr>
            <p:ph type="title"/>
          </p:nvPr>
        </p:nvSpPr>
        <p:spPr/>
        <p:txBody>
          <a:bodyPr/>
          <a:lstStyle/>
          <a:p>
            <a:r>
              <a:rPr lang="en-AU" dirty="0"/>
              <a:t>Thankyou and have great day.</a:t>
            </a:r>
          </a:p>
        </p:txBody>
      </p:sp>
      <p:pic>
        <p:nvPicPr>
          <p:cNvPr id="5" name="Content Placeholder 4">
            <a:extLst>
              <a:ext uri="{FF2B5EF4-FFF2-40B4-BE49-F238E27FC236}">
                <a16:creationId xmlns:a16="http://schemas.microsoft.com/office/drawing/2014/main" id="{067D6125-9985-4AF0-B6AD-DA610D74F99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6240" y="1344717"/>
            <a:ext cx="4328159" cy="5365487"/>
          </a:xfrm>
        </p:spPr>
      </p:pic>
      <p:pic>
        <p:nvPicPr>
          <p:cNvPr id="7" name="Picture 6">
            <a:extLst>
              <a:ext uri="{FF2B5EF4-FFF2-40B4-BE49-F238E27FC236}">
                <a16:creationId xmlns:a16="http://schemas.microsoft.com/office/drawing/2014/main" id="{226D59EE-7E9A-4FD0-BD00-69FA821E50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88230" y="1372362"/>
            <a:ext cx="5962650" cy="5485638"/>
          </a:xfrm>
          <a:prstGeom prst="rect">
            <a:avLst/>
          </a:prstGeom>
        </p:spPr>
      </p:pic>
    </p:spTree>
    <p:extLst>
      <p:ext uri="{BB962C8B-B14F-4D97-AF65-F5344CB8AC3E}">
        <p14:creationId xmlns:p14="http://schemas.microsoft.com/office/powerpoint/2010/main" val="30197362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124</TotalTime>
  <Words>374</Words>
  <Application>Microsoft Office PowerPoint</Application>
  <PresentationFormat>Widescreen</PresentationFormat>
  <Paragraphs>60</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Cambria Math</vt:lpstr>
      <vt:lpstr>Office Theme</vt:lpstr>
      <vt:lpstr>Exponential Functions</vt:lpstr>
      <vt:lpstr>Fermi Questions</vt:lpstr>
      <vt:lpstr>Answers: How did you go?</vt:lpstr>
      <vt:lpstr>Exponential Functions EQ: How do I draw exponential Functions?</vt:lpstr>
      <vt:lpstr>Exponential Growth and Decay.</vt:lpstr>
      <vt:lpstr>Example 1</vt:lpstr>
      <vt:lpstr>Example 2</vt:lpstr>
      <vt:lpstr>Example 3</vt:lpstr>
      <vt:lpstr>Practise Time </vt:lpstr>
      <vt:lpstr>Thankyou and have great day.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Exponential Functions</dc:title>
  <dc:creator>CRAIG Mason [Baldivis Secondary College]</dc:creator>
  <cp:lastModifiedBy>CRAIG Mason [Baldivis Secondary College]</cp:lastModifiedBy>
  <cp:revision>15</cp:revision>
  <dcterms:created xsi:type="dcterms:W3CDTF">2017-11-06T12:51:52Z</dcterms:created>
  <dcterms:modified xsi:type="dcterms:W3CDTF">2017-11-08T07:58:03Z</dcterms:modified>
</cp:coreProperties>
</file>
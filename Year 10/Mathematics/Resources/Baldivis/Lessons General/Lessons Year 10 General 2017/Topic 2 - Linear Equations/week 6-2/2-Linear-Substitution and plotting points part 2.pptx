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8" r:id="rId2"/>
    <p:sldId id="263" r:id="rId3"/>
    <p:sldId id="272" r:id="rId4"/>
    <p:sldId id="257" r:id="rId5"/>
    <p:sldId id="258" r:id="rId6"/>
    <p:sldId id="269" r:id="rId7"/>
    <p:sldId id="267" r:id="rId8"/>
    <p:sldId id="262" r:id="rId9"/>
    <p:sldId id="270" r:id="rId10"/>
    <p:sldId id="271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708"/>
  </p:normalViewPr>
  <p:slideViewPr>
    <p:cSldViewPr>
      <p:cViewPr varScale="1">
        <p:scale>
          <a:sx n="75" d="100"/>
          <a:sy n="75" d="100"/>
        </p:scale>
        <p:origin x="160" y="3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10/3/17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hook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52658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Guided practice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8043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Independent practice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Check</a:t>
            </a:r>
            <a:r>
              <a:rPr lang="en-AU" baseline="0" dirty="0" smtClean="0"/>
              <a:t>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97969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Closure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10/3/17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10/3/17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10/3/17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10/3/17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10/3/17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10/3/17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10/3/17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10/3/17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10/3/17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10/3/17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10/3/17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10/3/17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tif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Yr</a:t>
            </a:r>
            <a:r>
              <a:rPr lang="en-US" dirty="0" smtClean="0"/>
              <a:t> 10 Week 6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6000" dirty="0" smtClean="0"/>
              <a:t>Algebra</a:t>
            </a:r>
          </a:p>
          <a:p>
            <a:pPr marL="0" indent="0" algn="ctr">
              <a:buNone/>
            </a:pPr>
            <a:r>
              <a:rPr lang="en-US" dirty="0" smtClean="0"/>
              <a:t>Substitution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 smtClean="0"/>
              <a:t>K. Farmer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438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Mental set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3 x OLNA practise problem (obtained from OLNA practise tests found on Connect)</a:t>
            </a:r>
          </a:p>
          <a:p>
            <a:endParaRPr lang="en-AU" dirty="0" smtClean="0"/>
          </a:p>
          <a:p>
            <a:r>
              <a:rPr lang="en-AU" dirty="0" smtClean="0"/>
              <a:t>Work through solutions</a:t>
            </a:r>
          </a:p>
        </p:txBody>
      </p:sp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Hook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Watch the following short video.  You can skip the first 0.14 sec as it is just </a:t>
            </a:r>
            <a:r>
              <a:rPr lang="en-US" smtClean="0"/>
              <a:t>the intro.</a:t>
            </a:r>
          </a:p>
          <a:p>
            <a:endParaRPr lang="en-US" smtClean="0"/>
          </a:p>
          <a:p>
            <a:r>
              <a:rPr lang="en-US" dirty="0" smtClean="0"/>
              <a:t>https</a:t>
            </a:r>
            <a:r>
              <a:rPr lang="en-US" dirty="0"/>
              <a:t>://</a:t>
            </a:r>
            <a:r>
              <a:rPr lang="en-US" dirty="0" err="1"/>
              <a:t>www.youtube.com</a:t>
            </a:r>
            <a:r>
              <a:rPr lang="en-US" dirty="0"/>
              <a:t>/</a:t>
            </a:r>
            <a:r>
              <a:rPr lang="en-US" dirty="0" err="1"/>
              <a:t>watch?v</a:t>
            </a:r>
            <a:r>
              <a:rPr lang="en-US" dirty="0"/>
              <a:t>=</a:t>
            </a:r>
            <a:r>
              <a:rPr lang="en-US" dirty="0" err="1"/>
              <a:t>VUTXsPFx-qQ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351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Lesson objective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By the end of this lesson you will be able to;</a:t>
            </a:r>
          </a:p>
          <a:p>
            <a:pPr>
              <a:buFontTx/>
              <a:buChar char="-"/>
            </a:pPr>
            <a:r>
              <a:rPr lang="en-AU" dirty="0" smtClean="0"/>
              <a:t>Substitute a value into an algebraic equation.</a:t>
            </a:r>
          </a:p>
          <a:p>
            <a:pPr>
              <a:buFontTx/>
              <a:buChar char="-"/>
            </a:pPr>
            <a:r>
              <a:rPr lang="en-AU" dirty="0" smtClean="0"/>
              <a:t>Plot the coordinate points created by substitution.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Success Criteria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You will know you are successful in achieving the objective by…</a:t>
            </a: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1233055" y="3048000"/>
            <a:ext cx="50738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Create a straight line graph on the coordinate plane.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9397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745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Linear Algebra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 Substitute in algebra?</a:t>
            </a:r>
            <a:endParaRPr lang="en-AU" sz="2400" dirty="0"/>
          </a:p>
        </p:txBody>
      </p:sp>
      <p:sp>
        <p:nvSpPr>
          <p:cNvPr id="8" name="Rectangle 7"/>
          <p:cNvSpPr/>
          <p:nvPr/>
        </p:nvSpPr>
        <p:spPr>
          <a:xfrm>
            <a:off x="3391040" y="2077236"/>
            <a:ext cx="4572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Quite often you can substitute and x value into the equation and the results produces the y value of an ordered pair. These coordinates could then be plotted on a </a:t>
            </a:r>
            <a:r>
              <a:rPr lang="en-US" dirty="0" smtClean="0"/>
              <a:t>Cartesian </a:t>
            </a:r>
            <a:r>
              <a:rPr lang="en-US" dirty="0"/>
              <a:t>plane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err="1"/>
              <a:t>Eg</a:t>
            </a:r>
            <a:r>
              <a:rPr lang="en-US" dirty="0"/>
              <a:t>. y</a:t>
            </a:r>
            <a:r>
              <a:rPr lang="en-US" dirty="0" smtClean="0"/>
              <a:t> = 2x </a:t>
            </a:r>
            <a:r>
              <a:rPr lang="en-US" dirty="0"/>
              <a:t>+ </a:t>
            </a:r>
            <a:r>
              <a:rPr lang="en-US" dirty="0" smtClean="0"/>
              <a:t>1</a:t>
            </a:r>
            <a:endParaRPr lang="en-US" dirty="0"/>
          </a:p>
          <a:p>
            <a:r>
              <a:rPr lang="en-US" dirty="0" smtClean="0"/>
              <a:t>	     For </a:t>
            </a:r>
            <a:r>
              <a:rPr lang="en-US" dirty="0">
                <a:solidFill>
                  <a:srgbClr val="FF0000"/>
                </a:solidFill>
              </a:rPr>
              <a:t>x=3</a:t>
            </a:r>
          </a:p>
          <a:p>
            <a:r>
              <a:rPr lang="en-US" dirty="0" smtClean="0"/>
              <a:t>	     substitute </a:t>
            </a:r>
            <a:r>
              <a:rPr lang="en-US" dirty="0"/>
              <a:t>the x for the value </a:t>
            </a:r>
            <a:r>
              <a:rPr lang="en-US" dirty="0">
                <a:solidFill>
                  <a:srgbClr val="FF0000"/>
                </a:solidFill>
              </a:rPr>
              <a:t>3</a:t>
            </a:r>
            <a:endParaRPr lang="en-US" dirty="0"/>
          </a:p>
          <a:p>
            <a:r>
              <a:rPr lang="en-US" dirty="0" smtClean="0"/>
              <a:t>         y </a:t>
            </a:r>
            <a:r>
              <a:rPr lang="en-US" dirty="0"/>
              <a:t>= 2 x </a:t>
            </a:r>
            <a:r>
              <a:rPr lang="en-US" dirty="0">
                <a:solidFill>
                  <a:srgbClr val="FF0000"/>
                </a:solidFill>
              </a:rPr>
              <a:t>3</a:t>
            </a:r>
            <a:r>
              <a:rPr lang="en-US" dirty="0"/>
              <a:t> + 1</a:t>
            </a:r>
          </a:p>
          <a:p>
            <a:r>
              <a:rPr lang="en-US" dirty="0" smtClean="0"/>
              <a:t>                      Therefore </a:t>
            </a:r>
            <a:r>
              <a:rPr lang="en-US" dirty="0"/>
              <a:t>y = </a:t>
            </a:r>
            <a:r>
              <a:rPr lang="en-US" dirty="0" smtClean="0"/>
              <a:t>7</a:t>
            </a:r>
          </a:p>
          <a:p>
            <a:endParaRPr lang="en-US" dirty="0"/>
          </a:p>
          <a:p>
            <a:r>
              <a:rPr lang="en-US" dirty="0"/>
              <a:t>The ordered pair created would be (3,7</a:t>
            </a:r>
            <a:r>
              <a:rPr lang="en-US" dirty="0" smtClean="0"/>
              <a:t>)</a:t>
            </a:r>
          </a:p>
          <a:p>
            <a:r>
              <a:rPr lang="en-US" dirty="0" smtClean="0"/>
              <a:t>This point could then be plotted on a plane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19515" y="2123898"/>
            <a:ext cx="25082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How can I create an ordered pair using substitution?</a:t>
            </a:r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776" y="4077072"/>
            <a:ext cx="2395009" cy="2377096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1763688" y="4473116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/>
          <p:cNvCxnSpPr/>
          <p:nvPr/>
        </p:nvCxnSpPr>
        <p:spPr>
          <a:xfrm flipH="1" flipV="1">
            <a:off x="1907704" y="4518835"/>
            <a:ext cx="1482445" cy="10704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5561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67744" y="188640"/>
            <a:ext cx="76328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 smtClean="0"/>
              <a:t>Guided Practice</a:t>
            </a:r>
            <a:endParaRPr lang="en-AU" sz="4400" dirty="0"/>
          </a:p>
        </p:txBody>
      </p:sp>
      <p:sp>
        <p:nvSpPr>
          <p:cNvPr id="3" name="TextBox 2"/>
          <p:cNvSpPr txBox="1"/>
          <p:nvPr/>
        </p:nvSpPr>
        <p:spPr>
          <a:xfrm>
            <a:off x="1331640" y="1628800"/>
            <a:ext cx="1464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Exercise  18A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673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Activity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Straight line graph foldable booklet. Make sure this booklet is printed front to back to ensure it folds correctly.</a:t>
            </a: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6941127" y="192578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complete Exercise 18A.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33184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19672" y="404664"/>
            <a:ext cx="5760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 smtClean="0"/>
              <a:t>Check for understanding</a:t>
            </a:r>
            <a:endParaRPr lang="en-AU" sz="4000" dirty="0"/>
          </a:p>
        </p:txBody>
      </p:sp>
      <p:sp>
        <p:nvSpPr>
          <p:cNvPr id="3" name="Rectangle 2"/>
          <p:cNvSpPr/>
          <p:nvPr/>
        </p:nvSpPr>
        <p:spPr>
          <a:xfrm>
            <a:off x="1187624" y="1628800"/>
            <a:ext cx="518457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/>
              <a:t>Success On target observation</a:t>
            </a:r>
          </a:p>
        </p:txBody>
      </p:sp>
    </p:spTree>
    <p:extLst>
      <p:ext uri="{BB962C8B-B14F-4D97-AF65-F5344CB8AC3E}">
        <p14:creationId xmlns:p14="http://schemas.microsoft.com/office/powerpoint/2010/main" val="1378356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Closure activity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Quick write</a:t>
            </a:r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251</Words>
  <Application>Microsoft Macintosh PowerPoint</Application>
  <PresentationFormat>On-screen Show (4:3)</PresentationFormat>
  <Paragraphs>64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Calibri</vt:lpstr>
      <vt:lpstr>Arial</vt:lpstr>
      <vt:lpstr>Office Theme</vt:lpstr>
      <vt:lpstr>Yr 10 Week 6</vt:lpstr>
      <vt:lpstr>Mental set</vt:lpstr>
      <vt:lpstr>Hook</vt:lpstr>
      <vt:lpstr>Lesson objective</vt:lpstr>
      <vt:lpstr>Success Criteria</vt:lpstr>
      <vt:lpstr>PowerPoint Presentation</vt:lpstr>
      <vt:lpstr>PowerPoint Presentation</vt:lpstr>
      <vt:lpstr>Activity</vt:lpstr>
      <vt:lpstr>Homework</vt:lpstr>
      <vt:lpstr>PowerPoint Presentation</vt:lpstr>
      <vt:lpstr>Closure activity</vt:lpstr>
    </vt:vector>
  </TitlesOfParts>
  <Company>The Department of Education</Company>
  <LinksUpToDate>false</LinksUpToDate>
  <SharedDoc>false</SharedDoc>
  <HyperlinksChanged>false</HyperlinksChanged>
  <AppVersion>15.0031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Kath Farmer</cp:lastModifiedBy>
  <cp:revision>11</cp:revision>
  <dcterms:created xsi:type="dcterms:W3CDTF">2016-10-20T03:14:06Z</dcterms:created>
  <dcterms:modified xsi:type="dcterms:W3CDTF">2017-03-10T03:42:11Z</dcterms:modified>
</cp:coreProperties>
</file>
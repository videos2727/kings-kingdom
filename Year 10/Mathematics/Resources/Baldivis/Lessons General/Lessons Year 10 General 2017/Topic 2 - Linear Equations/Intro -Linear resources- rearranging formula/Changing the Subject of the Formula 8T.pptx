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-1216" y="-1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09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594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48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56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42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18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64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859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43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275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72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D9E40-8636-49BC-824F-451AC59E335A}" type="datetimeFigureOut">
              <a:rPr lang="en-GB" smtClean="0"/>
              <a:t>28/04/15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5C17A-4245-4C07-A17A-ED3535E4B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260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u="sng" dirty="0" smtClean="0">
                <a:solidFill>
                  <a:schemeClr val="bg1"/>
                </a:solidFill>
              </a:rPr>
              <a:t>Changing the Subject of the Formula</a:t>
            </a: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to change the subject of simple linear formulae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to change the subject of formulae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smtClean="0">
                <a:solidFill>
                  <a:schemeClr val="bg1"/>
                </a:solidFill>
              </a:rPr>
              <a:t>   involving roots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to change the subject of complex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smtClean="0">
                <a:solidFill>
                  <a:schemeClr val="bg1"/>
                </a:solidFill>
              </a:rPr>
              <a:t>   formulae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20272" y="11247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1E142A-521D-46E2-92BB-06B3350FAFE9}" type="datetime1">
              <a:rPr lang="en-GB" u="sng" smtClean="0">
                <a:solidFill>
                  <a:schemeClr val="bg1"/>
                </a:solidFill>
              </a:rPr>
              <a:t>28/04/15</a:t>
            </a:fld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112474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 smtClean="0">
                <a:solidFill>
                  <a:schemeClr val="bg1"/>
                </a:solidFill>
              </a:rPr>
              <a:t>Level 7/8</a:t>
            </a: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95536" y="249289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95536" y="5157192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95536" y="3759544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829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Changing the Subject of the Formula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Make </a:t>
                </a:r>
                <a14:m>
                  <m:oMath xmlns:m="http://schemas.openxmlformats.org/officeDocument/2006/math" xmlns="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the subject of the formula: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= 7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– 2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+ 2 = 7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+2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547664" y="386104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(+ 2)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20272" y="383143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(+ 2)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9672" y="5127575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7)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92280" y="509795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7)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2856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Changing the Subject of the Formula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Make </a:t>
                </a:r>
                <a14:m>
                  <m:oMath xmlns:m="http://schemas.openxmlformats.org/officeDocument/2006/math" xmlns="">
                    <m:r>
                      <a:rPr lang="en-GB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GB" dirty="0" smtClean="0"/>
                  <a:t> the subject of the formula: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=3</m:t>
                      </m:r>
                      <m:r>
                        <a:rPr lang="en-GB" b="0" i="1" dirty="0" smtClean="0">
                          <a:latin typeface="Cambria Math"/>
                        </a:rPr>
                        <m:t>𝑚𝑛</m:t>
                      </m:r>
                      <m:r>
                        <a:rPr lang="en-GB" b="0" i="1" dirty="0" smtClean="0">
                          <a:latin typeface="Cambria Math"/>
                        </a:rPr>
                        <m:t> −</m:t>
                      </m:r>
                      <m:r>
                        <a:rPr lang="en-GB" b="0" i="1" dirty="0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+</m:t>
                      </m:r>
                      <m:r>
                        <a:rPr lang="en-GB" b="0" i="1" dirty="0" smtClean="0">
                          <a:latin typeface="Cambria Math"/>
                        </a:rPr>
                        <m:t>𝑛</m:t>
                      </m:r>
                      <m:r>
                        <a:rPr lang="en-GB" i="1" dirty="0" smtClean="0">
                          <a:latin typeface="Cambria Math"/>
                        </a:rPr>
                        <m:t> =</m:t>
                      </m:r>
                      <m:r>
                        <a:rPr lang="en-GB" b="0" i="1" dirty="0" smtClean="0">
                          <a:latin typeface="Cambria Math"/>
                        </a:rPr>
                        <m:t>3</m:t>
                      </m:r>
                      <m:r>
                        <a:rPr lang="en-GB" b="0" i="1" dirty="0" smtClean="0">
                          <a:latin typeface="Cambria Math"/>
                        </a:rPr>
                        <m:t>𝑚𝑛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a:rPr lang="en-GB" b="0" i="1" smtClean="0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547664" y="386104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(+ n)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20272" y="383143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(+ n)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9672" y="5127575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3n)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92280" y="509795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3n)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3893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Changing the Subject of the Formula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80728"/>
                <a:ext cx="8229600" cy="561662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GB" dirty="0" smtClean="0"/>
                  <a:t>Make </a:t>
                </a:r>
                <a14:m>
                  <m:oMath xmlns:m="http://schemas.openxmlformats.org/officeDocument/2006/math" xmlns="">
                    <m:r>
                      <a:rPr lang="en-GB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dirty="0" smtClean="0"/>
                  <a:t> the subject of the formula: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/>
                        </a:rPr>
                        <m:t>𝑅</m:t>
                      </m:r>
                      <m:r>
                        <a:rPr lang="en-GB" i="1" dirty="0" smtClean="0">
                          <a:latin typeface="Cambria Math"/>
                        </a:rPr>
                        <m:t> =</m:t>
                      </m:r>
                      <m:f>
                        <m:fPr>
                          <m:ctrlPr>
                            <a:rPr lang="en-GB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/>
                            </a:rPr>
                            <m:t>4−5</m:t>
                          </m:r>
                          <m:r>
                            <a:rPr lang="en-GB" b="0" i="1" dirty="0" smtClean="0">
                              <a:latin typeface="Cambria Math"/>
                            </a:rPr>
                            <m:t>𝑝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GB" i="1" dirty="0" smtClean="0">
                          <a:latin typeface="Cambria Math"/>
                        </a:rPr>
                        <m:t> </m:t>
                      </m:r>
                      <m:r>
                        <a:rPr lang="en-GB" b="0" i="1" dirty="0" smtClean="0">
                          <a:latin typeface="Cambria Math"/>
                        </a:rPr>
                        <m:t>+ </m:t>
                      </m:r>
                      <m:r>
                        <a:rPr lang="en-GB" i="1" dirty="0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/>
                        </a:rPr>
                        <m:t>𝑅</m:t>
                      </m:r>
                      <m:r>
                        <a:rPr lang="en-GB" i="1" dirty="0" smtClean="0">
                          <a:latin typeface="Cambria Math"/>
                        </a:rPr>
                        <m:t> </m:t>
                      </m:r>
                      <m:r>
                        <a:rPr lang="en-GB" b="0" i="1" dirty="0" smtClean="0">
                          <a:latin typeface="Cambria Math"/>
                        </a:rPr>
                        <m:t>−</m:t>
                      </m:r>
                      <m:r>
                        <a:rPr lang="en-GB" i="1" dirty="0" smtClean="0">
                          <a:latin typeface="Cambria Math"/>
                        </a:rPr>
                        <m:t> 2 = </m:t>
                      </m:r>
                      <m:f>
                        <m:fPr>
                          <m:ctrlPr>
                            <a:rPr lang="en-GB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/>
                            </a:rPr>
                            <m:t>4−5</m:t>
                          </m:r>
                          <m:r>
                            <a:rPr lang="en-GB" b="0" i="1" dirty="0" smtClean="0">
                              <a:latin typeface="Cambria Math"/>
                            </a:rPr>
                            <m:t>𝑝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6</m:t>
                      </m:r>
                      <m:d>
                        <m:d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𝑅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=4−5</m:t>
                      </m:r>
                      <m:r>
                        <a:rPr lang="en-GB" b="0" i="1" smtClean="0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GB" b="0" dirty="0" smtClean="0"/>
              </a:p>
              <a:p>
                <a:pPr marL="0" indent="0" algn="ctr">
                  <a:buNone/>
                </a:pPr>
                <a:endParaRPr lang="en-GB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6</m:t>
                      </m:r>
                      <m:r>
                        <a:rPr lang="en-GB" i="1" dirty="0" smtClean="0">
                          <a:latin typeface="Cambria Math"/>
                        </a:rPr>
                        <m:t>𝑅</m:t>
                      </m:r>
                      <m:r>
                        <a:rPr lang="en-GB" i="1" dirty="0" smtClean="0">
                          <a:latin typeface="Cambria Math"/>
                        </a:rPr>
                        <m:t> – 12 = 4 – 5</m:t>
                      </m:r>
                      <m:r>
                        <a:rPr lang="en-GB" i="1" dirty="0" smtClean="0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6</m:t>
                      </m:r>
                      <m:r>
                        <a:rPr lang="en-GB" i="1" dirty="0" smtClean="0">
                          <a:latin typeface="Cambria Math"/>
                        </a:rPr>
                        <m:t>𝑅</m:t>
                      </m:r>
                      <m:r>
                        <a:rPr lang="en-GB" i="1" dirty="0" smtClean="0">
                          <a:latin typeface="Cambria Math"/>
                        </a:rPr>
                        <m:t> – 16 = −5</m:t>
                      </m:r>
                      <m:r>
                        <a:rPr lang="en-GB" i="1" dirty="0" smtClean="0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𝑅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−16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−5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a:rPr lang="en-GB" b="0" i="1" smtClean="0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0728"/>
                <a:ext cx="8229600" cy="5616624"/>
              </a:xfrm>
              <a:blipFill rotWithShape="1">
                <a:blip r:embed="rId2"/>
                <a:stretch>
                  <a:fillRect l="-815" t="-17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547664" y="2708920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(- 2)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20272" y="2708919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(- 2)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9672" y="350100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(x 6)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20272" y="350100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(x 6)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19672" y="483954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(- 4)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20272" y="483954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(- 4)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9672" y="5703639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-5)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20272" y="5703639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- 5)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3893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Changing the Subject of the Formula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GB" dirty="0" smtClean="0"/>
                  <a:t>Make </a:t>
                </a:r>
                <a14:m>
                  <m:oMath xmlns:m="http://schemas.openxmlformats.org/officeDocument/2006/math" xmlns="">
                    <m:r>
                      <a:rPr lang="en-GB" i="1" dirty="0" smtClean="0">
                        <a:latin typeface="Cambria Math"/>
                      </a:rPr>
                      <m:t>𝑑</m:t>
                    </m:r>
                  </m:oMath>
                </a14:m>
                <a:r>
                  <a:rPr lang="en-GB" dirty="0" smtClean="0"/>
                  <a:t> the subject of the formula: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𝑒</m:t>
                      </m:r>
                      <m:r>
                        <a:rPr lang="en-GB" i="1" dirty="0" smtClean="0">
                          <a:latin typeface="Cambria Math"/>
                        </a:rPr>
                        <m:t> = </m:t>
                      </m:r>
                      <m:r>
                        <a:rPr lang="en-GB" i="1" dirty="0" smtClean="0">
                          <a:latin typeface="Cambria Math"/>
                        </a:rPr>
                        <m:t>𝑐𝑑</m:t>
                      </m:r>
                      <m:r>
                        <a:rPr lang="en-GB" i="1" baseline="30000" dirty="0" smtClean="0">
                          <a:latin typeface="Cambria Math"/>
                        </a:rPr>
                        <m:t>2</m:t>
                      </m:r>
                      <m:r>
                        <a:rPr lang="en-GB" i="1" dirty="0" smtClean="0">
                          <a:latin typeface="Cambria Math"/>
                        </a:rPr>
                        <m:t> – </m:t>
                      </m:r>
                      <m:r>
                        <a:rPr lang="en-GB" i="1" dirty="0" smtClean="0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𝑒</m:t>
                      </m:r>
                      <m:r>
                        <a:rPr lang="en-GB" i="1" dirty="0" smtClean="0">
                          <a:latin typeface="Cambria Math"/>
                        </a:rPr>
                        <m:t> + </m:t>
                      </m:r>
                      <m:r>
                        <a:rPr lang="en-GB" i="1" dirty="0" smtClean="0">
                          <a:latin typeface="Cambria Math"/>
                        </a:rPr>
                        <m:t>𝑐</m:t>
                      </m:r>
                      <m:r>
                        <a:rPr lang="en-GB" i="1" dirty="0" smtClean="0">
                          <a:latin typeface="Cambria Math"/>
                        </a:rPr>
                        <m:t> = </m:t>
                      </m:r>
                      <m:r>
                        <a:rPr lang="en-GB" i="1" dirty="0" smtClean="0">
                          <a:latin typeface="Cambria Math"/>
                        </a:rPr>
                        <m:t>𝑐𝑑</m:t>
                      </m:r>
                      <m:r>
                        <a:rPr lang="en-GB" i="1" baseline="30000" dirty="0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GB" baseline="30000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𝑒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𝑐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𝑐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b="0" dirty="0" smtClean="0"/>
              </a:p>
              <a:p>
                <a:pPr marL="0" indent="0" algn="ctr">
                  <a:buNone/>
                </a:pPr>
                <a:endParaRPr lang="en-GB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𝑒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𝑐</m:t>
                              </m:r>
                            </m:den>
                          </m:f>
                        </m:e>
                      </m:ra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a:rPr lang="en-GB" b="0" i="1" smtClean="0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37" t="-2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547664" y="2924944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(+ c)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7664" y="3789040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c)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8264" y="2924943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(+ c)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8264" y="3710607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c)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512757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(√)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8264" y="5049142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(√)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5888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Changing the Subject of the Formula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80728"/>
                <a:ext cx="8229600" cy="547260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GB" dirty="0" smtClean="0"/>
                  <a:t>Make </a:t>
                </a:r>
                <a14:m>
                  <m:oMath xmlns:m="http://schemas.openxmlformats.org/officeDocument/2006/math" xmlns="">
                    <m:r>
                      <a:rPr lang="en-GB" b="0" i="1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GB" dirty="0" smtClean="0"/>
                  <a:t> the subject of the formula: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𝑒</m:t>
                      </m:r>
                      <m:r>
                        <a:rPr lang="en-GB" i="1" dirty="0" smtClean="0">
                          <a:latin typeface="Cambria Math"/>
                        </a:rPr>
                        <m:t> =</m:t>
                      </m:r>
                      <m:rad>
                        <m:radPr>
                          <m:degHide m:val="on"/>
                          <m:ctrlPr>
                            <a:rPr lang="en-GB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i="1" dirty="0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GB" b="0" i="1" dirty="0" smtClean="0">
                                  <a:latin typeface="Cambria Math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b="0" i="1" dirty="0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dirty="0" smtClean="0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GB" b="0" i="1" dirty="0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dirty="0" smtClean="0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0" i="1" dirty="0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GB" b="0" i="1" dirty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i="1" dirty="0" smtClean="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GB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GB" b="0" i="1" dirty="0" smtClean="0">
                                  <a:latin typeface="Cambria Math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b="0" i="1" dirty="0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dirty="0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baseline="30000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b="0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b="0" dirty="0" smtClean="0"/>
              </a:p>
              <a:p>
                <a:pPr marL="0" indent="0" algn="ctr">
                  <a:buNone/>
                </a:pPr>
                <a:endParaRPr lang="en-GB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5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a:rPr lang="en-GB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0728"/>
                <a:ext cx="8229600" cy="5472608"/>
              </a:xfrm>
              <a:blipFill rotWithShape="1">
                <a:blip r:embed="rId2"/>
                <a:stretch>
                  <a:fillRect l="-815" t="-17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547664" y="2780929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(square)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7664" y="3579441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(x 5)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8264" y="278092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(square)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8264" y="3501008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(x 5)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5631631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(√)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8264" y="5553198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(√)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47664" y="4479503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4)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48264" y="4401070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4)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6203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Changing the Subject of the Formula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Page 105</a:t>
            </a:r>
          </a:p>
          <a:p>
            <a:pPr lvl="1"/>
            <a:r>
              <a:rPr lang="en-GB" dirty="0" smtClean="0"/>
              <a:t>Exercise 5N</a:t>
            </a:r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Q1 to 7</a:t>
            </a:r>
          </a:p>
          <a:p>
            <a:pPr lvl="1"/>
            <a:endParaRPr lang="en-GB" dirty="0"/>
          </a:p>
          <a:p>
            <a:pPr lvl="1"/>
            <a:r>
              <a:rPr lang="en-GB" dirty="0" smtClean="0"/>
              <a:t>Q8 to 12</a:t>
            </a:r>
          </a:p>
          <a:p>
            <a:pPr lvl="1"/>
            <a:endParaRPr lang="en-GB" dirty="0"/>
          </a:p>
          <a:p>
            <a:pPr lvl="1"/>
            <a:r>
              <a:rPr lang="en-GB" dirty="0" smtClean="0"/>
              <a:t>Q13 to 21</a:t>
            </a:r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770324" y="3227724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770324" y="4265332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792825" y="5301208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1724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Changing the Subject of the Formula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If the term you are making the subject appears more than once, you will need to factorise at some point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45140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Changing the Subject of the Formula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GB" dirty="0" smtClean="0"/>
                  <a:t>Make </a:t>
                </a:r>
                <a14:m>
                  <m:oMath xmlns:m="http://schemas.openxmlformats.org/officeDocument/2006/math" xmlns="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the subject of the formula: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= </m:t>
                      </m:r>
                      <m:r>
                        <a:rPr lang="en-GB" i="1" dirty="0" err="1" smtClean="0">
                          <a:latin typeface="Cambria Math"/>
                        </a:rPr>
                        <m:t>𝑤𝑥</m:t>
                      </m:r>
                      <m:r>
                        <a:rPr lang="en-GB" i="1" dirty="0" smtClean="0">
                          <a:latin typeface="Cambria Math"/>
                        </a:rPr>
                        <m:t> + </m:t>
                      </m:r>
                      <m:r>
                        <a:rPr lang="en-GB" i="1" dirty="0" smtClean="0">
                          <a:latin typeface="Cambria Math"/>
                        </a:rPr>
                        <m:t>𝑤</m:t>
                      </m:r>
                      <m:r>
                        <a:rPr lang="en-GB" i="1" dirty="0" smtClean="0">
                          <a:latin typeface="Cambria Math"/>
                        </a:rPr>
                        <m:t> – 5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– </m:t>
                      </m:r>
                      <m:r>
                        <a:rPr lang="en-GB" i="1" dirty="0" smtClean="0">
                          <a:latin typeface="Cambria Math"/>
                        </a:rPr>
                        <m:t>𝑤</m:t>
                      </m:r>
                      <m:r>
                        <a:rPr lang="en-GB" i="1" dirty="0" smtClean="0">
                          <a:latin typeface="Cambria Math"/>
                        </a:rPr>
                        <m:t> = </m:t>
                      </m:r>
                      <m:r>
                        <a:rPr lang="en-GB" i="1" dirty="0" err="1" smtClean="0">
                          <a:latin typeface="Cambria Math"/>
                        </a:rPr>
                        <m:t>𝑤𝑥</m:t>
                      </m:r>
                      <m:r>
                        <a:rPr lang="en-GB" i="1" dirty="0" smtClean="0">
                          <a:latin typeface="Cambria Math"/>
                        </a:rPr>
                        <m:t> – 5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– </m:t>
                      </m:r>
                      <m:r>
                        <a:rPr lang="en-GB" i="1" dirty="0" smtClean="0">
                          <a:latin typeface="Cambria Math"/>
                        </a:rPr>
                        <m:t>𝑤</m:t>
                      </m:r>
                      <m:r>
                        <a:rPr lang="en-GB" i="1" dirty="0" smtClean="0">
                          <a:latin typeface="Cambria Math"/>
                        </a:rPr>
                        <m:t> = </m:t>
                      </m:r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(</m:t>
                      </m:r>
                      <m:r>
                        <a:rPr lang="en-GB" i="1" dirty="0" smtClean="0">
                          <a:latin typeface="Cambria Math"/>
                        </a:rPr>
                        <m:t>𝑤</m:t>
                      </m:r>
                      <m:r>
                        <a:rPr lang="en-GB" i="1" dirty="0" smtClean="0">
                          <a:latin typeface="Cambria Math"/>
                        </a:rPr>
                        <m:t> – 5)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𝑤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𝑤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−5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5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547664" y="3255367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(- w)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8264" y="3255367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(- w)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616" y="527159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(w – 5))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8264" y="5193158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(w – 5))</a:t>
            </a:r>
            <a:endParaRPr lang="en-GB" sz="24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192180" y="2420888"/>
            <a:ext cx="972108" cy="78328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88224" y="1621249"/>
                <a:ext cx="221424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2000" dirty="0" smtClean="0">
                    <a:solidFill>
                      <a:srgbClr val="0000FF"/>
                    </a:solidFill>
                  </a:rPr>
                  <a:t>Remove any terms not relating to </a:t>
                </a:r>
                <a14:m>
                  <m:oMath xmlns:m="http://schemas.openxmlformats.org/officeDocument/2006/math" xmlns="">
                    <m:r>
                      <a:rPr lang="en-GB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 smtClean="0">
                    <a:solidFill>
                      <a:srgbClr val="0000FF"/>
                    </a:solidFill>
                  </a:rPr>
                  <a:t> if possible</a:t>
                </a:r>
                <a:endParaRPr lang="en-GB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621249"/>
                <a:ext cx="2214246" cy="1015663"/>
              </a:xfrm>
              <a:prstGeom prst="rect">
                <a:avLst/>
              </a:prstGeom>
              <a:blipFill rotWithShape="1">
                <a:blip r:embed="rId3"/>
                <a:stretch>
                  <a:fillRect t="-2994" r="-4959" b="-9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79512" y="4017258"/>
                <a:ext cx="221424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 smtClean="0">
                    <a:solidFill>
                      <a:srgbClr val="0000FF"/>
                    </a:solidFill>
                  </a:rPr>
                  <a:t>Factorise to make </a:t>
                </a:r>
                <a14:m>
                  <m:oMath xmlns:m="http://schemas.openxmlformats.org/officeDocument/2006/math" xmlns="">
                    <m:r>
                      <a:rPr lang="en-GB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 smtClean="0">
                    <a:solidFill>
                      <a:srgbClr val="0000FF"/>
                    </a:solidFill>
                  </a:rPr>
                  <a:t> appear only once</a:t>
                </a:r>
                <a:endParaRPr lang="en-GB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017258"/>
                <a:ext cx="2214246" cy="707886"/>
              </a:xfrm>
              <a:prstGeom prst="rect">
                <a:avLst/>
              </a:prstGeom>
              <a:blipFill rotWithShape="1">
                <a:blip r:embed="rId4"/>
                <a:stretch>
                  <a:fillRect l="-2747" t="-4310" b="-14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2396329" y="4293096"/>
            <a:ext cx="522058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4585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Changing the Subject of the Formula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GB" dirty="0" smtClean="0"/>
                  <a:t>Make </a:t>
                </a:r>
                <a14:m>
                  <m:oMath xmlns:m="http://schemas.openxmlformats.org/officeDocument/2006/math" xmlns="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the subject of the formula: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=</m:t>
                      </m:r>
                      <m:f>
                        <m:fPr>
                          <m:ctrlPr>
                            <a:rPr lang="en-GB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/>
                            </a:rPr>
                            <m:t>4</m:t>
                          </m:r>
                          <m:r>
                            <a:rPr lang="en-GB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dirty="0" smtClean="0">
                              <a:latin typeface="Cambria Math"/>
                            </a:rPr>
                            <m:t>−5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=4</m:t>
                      </m:r>
                      <m:r>
                        <a:rPr lang="en-GB" i="1" dirty="0" err="1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– 5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–4</m:t>
                      </m:r>
                      <m:r>
                        <a:rPr lang="en-GB" b="0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 = – 5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𝑥</m:t>
                      </m:r>
                      <m:r>
                        <a:rPr lang="en-GB" i="1" dirty="0" smtClean="0">
                          <a:latin typeface="Cambria Math"/>
                        </a:rPr>
                        <m:t>(</m:t>
                      </m:r>
                      <m:r>
                        <a:rPr lang="en-GB" i="1" dirty="0" smtClean="0">
                          <a:latin typeface="Cambria Math"/>
                        </a:rPr>
                        <m:t>𝑦</m:t>
                      </m:r>
                      <m:r>
                        <a:rPr lang="en-GB" i="1" dirty="0" smtClean="0">
                          <a:latin typeface="Cambria Math"/>
                        </a:rPr>
                        <m:t> – 4) = −5</m:t>
                      </m:r>
                    </m:oMath>
                  </m:oMathPara>
                </a14:m>
                <a:endParaRPr lang="en-GB" dirty="0" smtClean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−5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5" t="-2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47664" y="3183359"/>
                <a:ext cx="1080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 smtClean="0">
                    <a:solidFill>
                      <a:srgbClr val="FF0000"/>
                    </a:solidFill>
                  </a:rPr>
                  <a:t>(x </a:t>
                </a:r>
                <a14:m>
                  <m:oMath xmlns:m="http://schemas.openxmlformats.org/officeDocument/2006/math" xmlns=""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 smtClean="0">
                    <a:solidFill>
                      <a:srgbClr val="FF0000"/>
                    </a:solidFill>
                  </a:rPr>
                  <a:t>)</a:t>
                </a:r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183359"/>
                <a:ext cx="1080120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9040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948264" y="3183359"/>
                <a:ext cx="1080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 smtClean="0">
                    <a:solidFill>
                      <a:srgbClr val="FF0000"/>
                    </a:solidFill>
                  </a:rPr>
                  <a:t>(x </a:t>
                </a:r>
                <a14:m>
                  <m:oMath xmlns:m="http://schemas.openxmlformats.org/officeDocument/2006/math" xmlns=""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 smtClean="0">
                    <a:solidFill>
                      <a:srgbClr val="FF0000"/>
                    </a:solidFill>
                  </a:rPr>
                  <a:t>)</a:t>
                </a:r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264" y="3183359"/>
                <a:ext cx="1080120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9040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115616" y="5415607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(y – 4))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8264" y="5337174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(÷ (y – 4))</a:t>
            </a:r>
            <a:endParaRPr lang="en-GB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3498" y="4377298"/>
                <a:ext cx="221424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 smtClean="0">
                    <a:solidFill>
                      <a:srgbClr val="0000FF"/>
                    </a:solidFill>
                  </a:rPr>
                  <a:t>Factorise to make </a:t>
                </a:r>
                <a14:m>
                  <m:oMath xmlns:m="http://schemas.openxmlformats.org/officeDocument/2006/math" xmlns="">
                    <m:r>
                      <a:rPr lang="en-GB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 smtClean="0">
                    <a:solidFill>
                      <a:srgbClr val="0000FF"/>
                    </a:solidFill>
                  </a:rPr>
                  <a:t> appear only once</a:t>
                </a:r>
                <a:endParaRPr lang="en-GB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8" y="4377298"/>
                <a:ext cx="2214246" cy="707886"/>
              </a:xfrm>
              <a:prstGeom prst="rect">
                <a:avLst/>
              </a:prstGeom>
              <a:blipFill rotWithShape="1">
                <a:blip r:embed="rId5"/>
                <a:stretch>
                  <a:fillRect l="-3030" t="-4310" b="-14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2396329" y="4725144"/>
            <a:ext cx="951535" cy="6097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547664" y="3831431"/>
                <a:ext cx="1080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 xmlns="">
                    <m:r>
                      <a:rPr lang="en-GB" sz="24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−4</m:t>
                    </m:r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 smtClean="0">
                    <a:solidFill>
                      <a:srgbClr val="FF0000"/>
                    </a:solidFill>
                  </a:rPr>
                  <a:t>)</a:t>
                </a:r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831431"/>
                <a:ext cx="1080120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9040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948264" y="3831431"/>
                <a:ext cx="10801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 xmlns="">
                    <m:r>
                      <a:rPr lang="en-GB" sz="24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−4</m:t>
                    </m:r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 smtClean="0">
                    <a:solidFill>
                      <a:srgbClr val="FF0000"/>
                    </a:solidFill>
                  </a:rPr>
                  <a:t>)</a:t>
                </a:r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264" y="3831431"/>
                <a:ext cx="1080120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9040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0978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14" grpId="0"/>
      <p:bldP spid="12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Starter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1528" y="1994064"/>
                <a:ext cx="293931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 smtClean="0"/>
                  <a:t>Make </a:t>
                </a:r>
                <a14:m>
                  <m:oMath xmlns:m="http://schemas.openxmlformats.org/officeDocument/2006/math" xmlns="">
                    <m:r>
                      <a:rPr lang="en-GB" sz="24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 smtClean="0"/>
                  <a:t> the subject of the formula:</a:t>
                </a:r>
              </a:p>
              <a:p>
                <a:endParaRPr lang="en-GB" sz="2400" dirty="0"/>
              </a:p>
              <a:p>
                <a:pPr algn="ctr"/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/>
                        </a:rPr>
                        <m:t>𝑦</m:t>
                      </m:r>
                      <m:r>
                        <a:rPr lang="en-GB" sz="2400" i="1" dirty="0" smtClean="0">
                          <a:latin typeface="Cambria Math"/>
                        </a:rPr>
                        <m:t> = 12</m:t>
                      </m:r>
                      <m:r>
                        <a:rPr lang="en-GB" sz="2400" i="1" dirty="0" smtClean="0">
                          <a:latin typeface="Cambria Math"/>
                        </a:rPr>
                        <m:t>𝑥</m:t>
                      </m:r>
                      <m:r>
                        <a:rPr lang="en-GB" sz="2400" i="1" dirty="0" smtClean="0">
                          <a:latin typeface="Cambria Math"/>
                        </a:rPr>
                        <m:t> – 11</m:t>
                      </m:r>
                    </m:oMath>
                  </m:oMathPara>
                </a14:m>
                <a:endParaRPr lang="en-GB" sz="2400" dirty="0" smtClean="0"/>
              </a:p>
              <a:p>
                <a:pPr algn="ctr"/>
                <a:endParaRPr lang="en-GB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8" y="1994064"/>
                <a:ext cx="2939312" cy="1938992"/>
              </a:xfrm>
              <a:prstGeom prst="rect">
                <a:avLst/>
              </a:prstGeom>
              <a:blipFill rotWithShape="1">
                <a:blip r:embed="rId2"/>
                <a:stretch>
                  <a:fillRect l="-3112" t="-2516" r="-35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17092" y="1969488"/>
                <a:ext cx="2926296" cy="2291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 smtClean="0"/>
                  <a:t>Make </a:t>
                </a:r>
                <a14:m>
                  <m:oMath xmlns:m="http://schemas.openxmlformats.org/officeDocument/2006/math" xmlns="">
                    <m:r>
                      <a:rPr lang="en-GB" sz="2400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400" dirty="0" smtClean="0"/>
                  <a:t> the subject of the formula:</a:t>
                </a:r>
              </a:p>
              <a:p>
                <a:endParaRPr lang="en-GB" sz="2400" dirty="0"/>
              </a:p>
              <a:p>
                <a:pPr algn="ctr"/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/>
                        </a:rPr>
                        <m:t>𝑥</m:t>
                      </m:r>
                      <m:r>
                        <a:rPr lang="en-GB" sz="2400" b="0" i="1" dirty="0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400" b="0" i="1" dirty="0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GB" sz="2400" b="0" i="1" dirty="0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GB" sz="2400" b="0" i="1" dirty="0" smtClean="0">
                                  <a:latin typeface="Cambria Math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GB" sz="2400" b="0" i="1" dirty="0" smtClean="0">
                                  <a:latin typeface="Cambria Math"/>
                                </a:rPr>
                                <m:t>8</m:t>
                              </m:r>
                              <m:r>
                                <a:rPr lang="en-GB" sz="2400" b="0" i="1" dirty="0" smtClean="0">
                                  <a:latin typeface="Cambria Math"/>
                                </a:rPr>
                                <m:t>𝑢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092" y="1969488"/>
                <a:ext cx="2926296" cy="2291525"/>
              </a:xfrm>
              <a:prstGeom prst="rect">
                <a:avLst/>
              </a:prstGeom>
              <a:blipFill rotWithShape="1">
                <a:blip r:embed="rId3"/>
                <a:stretch>
                  <a:fillRect l="-3125" t="-2128" r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56176" y="1961076"/>
                <a:ext cx="2987824" cy="2293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 smtClean="0"/>
                  <a:t>Make </a:t>
                </a:r>
                <a14:m>
                  <m:oMath xmlns:m="http://schemas.openxmlformats.org/officeDocument/2006/math" xmlns="">
                    <m:r>
                      <a:rPr lang="en-GB" sz="24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400" dirty="0" smtClean="0"/>
                  <a:t> the subject of the formula:</a:t>
                </a:r>
              </a:p>
              <a:p>
                <a:endParaRPr lang="en-GB" sz="2400" dirty="0"/>
              </a:p>
              <a:p>
                <a:pPr algn="ctr"/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/>
                        </a:rPr>
                        <m:t>𝑏</m:t>
                      </m:r>
                      <m:r>
                        <a:rPr lang="en-GB" sz="2400" i="1" dirty="0" smtClean="0">
                          <a:latin typeface="Cambria Math"/>
                        </a:rPr>
                        <m:t> =</m:t>
                      </m:r>
                      <m:f>
                        <m:fPr>
                          <m:ctrlPr>
                            <a:rPr lang="en-GB" sz="240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400" b="0" i="1" dirty="0" smtClean="0">
                              <a:latin typeface="Cambria Math"/>
                            </a:rPr>
                            <m:t>𝑎</m:t>
                          </m:r>
                          <m:r>
                            <a:rPr lang="en-GB" sz="2400" b="0" i="1" dirty="0" smtClean="0">
                              <a:latin typeface="Cambria Math"/>
                            </a:rPr>
                            <m:t>−5</m:t>
                          </m:r>
                        </m:num>
                        <m:den>
                          <m:r>
                            <a:rPr lang="en-GB" sz="2400" b="0" i="1" dirty="0" smtClean="0">
                              <a:latin typeface="Cambria Math"/>
                            </a:rPr>
                            <m:t>7−</m:t>
                          </m:r>
                          <m:r>
                            <a:rPr lang="en-GB" sz="2400" b="0" i="1" dirty="0" smtClean="0"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sz="2400" dirty="0" smtClean="0"/>
              </a:p>
              <a:p>
                <a:pPr algn="ctr"/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1961076"/>
                <a:ext cx="2987824" cy="2293000"/>
              </a:xfrm>
              <a:prstGeom prst="rect">
                <a:avLst/>
              </a:prstGeom>
              <a:blipFill rotWithShape="1">
                <a:blip r:embed="rId4"/>
                <a:stretch>
                  <a:fillRect l="-3265" t="-2128" r="-18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1187624" y="1412776"/>
            <a:ext cx="589080" cy="5890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/>
              <a:t>C</a:t>
            </a:r>
            <a:endParaRPr lang="en-GB" sz="3200" dirty="0"/>
          </a:p>
        </p:txBody>
      </p:sp>
      <p:sp>
        <p:nvSpPr>
          <p:cNvPr id="8" name="Oval 7"/>
          <p:cNvSpPr/>
          <p:nvPr/>
        </p:nvSpPr>
        <p:spPr>
          <a:xfrm>
            <a:off x="7223280" y="1371996"/>
            <a:ext cx="589080" cy="58908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/>
              <a:t>A</a:t>
            </a:r>
            <a:endParaRPr lang="en-GB" sz="3200" dirty="0"/>
          </a:p>
        </p:txBody>
      </p:sp>
      <p:sp>
        <p:nvSpPr>
          <p:cNvPr id="9" name="Oval 8"/>
          <p:cNvSpPr/>
          <p:nvPr/>
        </p:nvSpPr>
        <p:spPr>
          <a:xfrm>
            <a:off x="4355976" y="1371996"/>
            <a:ext cx="589080" cy="58908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tx1"/>
                </a:solidFill>
              </a:rPr>
              <a:t>B</a:t>
            </a:r>
            <a:endParaRPr lang="en-GB" sz="32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3059832" y="1925244"/>
            <a:ext cx="0" cy="48885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84168" y="1925244"/>
            <a:ext cx="0" cy="48885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081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Changing the Subject of the Formula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Page 370</a:t>
            </a:r>
          </a:p>
          <a:p>
            <a:pPr lvl="1"/>
            <a:r>
              <a:rPr lang="en-GB" dirty="0" smtClean="0"/>
              <a:t>Exercise 19H</a:t>
            </a:r>
          </a:p>
          <a:p>
            <a:pPr lvl="1"/>
            <a:r>
              <a:rPr lang="en-GB" dirty="0" smtClean="0"/>
              <a:t>Q1 to 10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52153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723</Words>
  <Application>Microsoft Macintosh PowerPoint</Application>
  <PresentationFormat>On-screen Show (4:3)</PresentationFormat>
  <Paragraphs>156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Changing the Subject of the Formula</vt:lpstr>
      <vt:lpstr>Changing the Subject of the Formula</vt:lpstr>
      <vt:lpstr>Changing the Subject of the Formula</vt:lpstr>
      <vt:lpstr>Changing the Subject of the Formula</vt:lpstr>
      <vt:lpstr>Changing the Subject of the Formula</vt:lpstr>
      <vt:lpstr>Changing the Subject of the Formula</vt:lpstr>
      <vt:lpstr>Changing the Subject of the Formula</vt:lpstr>
      <vt:lpstr>Changing the Subject of the Formula</vt:lpstr>
      <vt:lpstr>Changing the Subject of the Formula</vt:lpstr>
      <vt:lpstr>Changing the Subject of the Formula</vt:lpstr>
      <vt:lpstr>Starter</vt:lpstr>
      <vt:lpstr>Changing the Subject of the Formula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Changing the Subject of the Formulae</dc:title>
  <dc:creator>Daniel Burke</dc:creator>
  <cp:lastModifiedBy>Local Admin</cp:lastModifiedBy>
  <cp:revision>7</cp:revision>
  <dcterms:created xsi:type="dcterms:W3CDTF">2013-03-25T22:17:22Z</dcterms:created>
  <dcterms:modified xsi:type="dcterms:W3CDTF">2015-04-27T16:38:25Z</dcterms:modified>
</cp:coreProperties>
</file>
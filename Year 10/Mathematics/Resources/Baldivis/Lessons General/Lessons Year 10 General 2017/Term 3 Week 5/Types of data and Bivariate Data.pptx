
<file path=[Content_Types].xml><?xml version="1.0" encoding="utf-8"?>
<Types xmlns="http://schemas.openxmlformats.org/package/2006/content-types">
  <Default Extension="bin" ContentType="application/vnd.openxmlformats-officedocument.oleObject"/>
  <Default Extension="jpg&amp;ehk=TVYpR" ContentType="image/jpeg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5" r:id="rId1"/>
  </p:sldMasterIdLst>
  <p:notesMasterIdLst>
    <p:notesMasterId r:id="rId10"/>
  </p:notesMasterIdLst>
  <p:handoutMasterIdLst>
    <p:handoutMasterId r:id="rId11"/>
  </p:handoutMasterIdLst>
  <p:sldIdLst>
    <p:sldId id="259" r:id="rId2"/>
    <p:sldId id="340" r:id="rId3"/>
    <p:sldId id="342" r:id="rId4"/>
    <p:sldId id="341" r:id="rId5"/>
    <p:sldId id="260" r:id="rId6"/>
    <p:sldId id="339" r:id="rId7"/>
    <p:sldId id="343" r:id="rId8"/>
    <p:sldId id="344" r:id="rId9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F0000"/>
    <a:srgbClr val="E3E3FF"/>
    <a:srgbClr val="FFFFCC"/>
    <a:srgbClr val="FFCFE2"/>
    <a:srgbClr val="D3D3F1"/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666" y="2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A52ED33F-541B-46B9-9BA8-943DC9FDAC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6F991765-E49C-4727-AB7C-9ED2013274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5892" name="Rectangle 4">
            <a:extLst>
              <a:ext uri="{FF2B5EF4-FFF2-40B4-BE49-F238E27FC236}">
                <a16:creationId xmlns:a16="http://schemas.microsoft.com/office/drawing/2014/main" id="{B0D1BFAA-C1C7-4AB2-8AE8-0A3E9291E82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5893" name="Rectangle 5">
            <a:extLst>
              <a:ext uri="{FF2B5EF4-FFF2-40B4-BE49-F238E27FC236}">
                <a16:creationId xmlns:a16="http://schemas.microsoft.com/office/drawing/2014/main" id="{696D30C5-A718-4837-A1CD-DFC874A8B95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fld id="{C2BB25D9-65FE-4BF6-92F7-0E7B29F67688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154E0B5-2C99-4E75-8465-B9A843D01D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C6157DE-9888-46DF-8C0D-FA83ED7EEDC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FF8BCC9A-230D-47EA-9B4B-AC4318926E2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CC6C6A9A-1441-4E61-84C9-44295947F05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F6DF092B-5D21-4296-B93D-D7D1E70923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CE4BC089-5B6A-4821-A14B-1BBE575ACB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fld id="{6F09A1CA-5867-4ABC-A016-9851B344C0BC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9696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6395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260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3607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2565-63A3-4D09-8755-48C04B90FDB9}" type="slidenum">
              <a:rPr lang="en-NZ" altLang="en-US" smtClean="0"/>
              <a:pPr/>
              <a:t>‹#›</a:t>
            </a:fld>
            <a:endParaRPr lang="en-NZ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22763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BC7E-86FD-410B-A39E-770A8A921A23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442265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1D6-8494-45E8-9412-49A7BC34A3FD}" type="slidenum">
              <a:rPr lang="en-NZ" altLang="en-US" smtClean="0"/>
              <a:pPr/>
              <a:t>‹#›</a:t>
            </a:fld>
            <a:endParaRPr lang="en-NZ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3206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696D-34CF-42F6-89E8-523291EDD80F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31294162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C9EB-0148-4855-9CD3-CE6ABAAC0BAC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3872562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59E0-66B3-4360-83D8-BA170C800183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793840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6EDA-5D7C-4176-B5F5-E760195C266F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3033020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0DDA9F-697E-4F0A-9655-FF24846A3484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081412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A28D-4661-44F9-AAF0-D4AFCFE53802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59927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94A8-B6B4-4354-B682-0090F2E32C53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78700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FC43-81C6-46BF-9EBB-9DF33680D76C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5716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44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pandora.cii.wwu.edu/showcase2004/Newcomer/" TargetMode="External"/><Relationship Id="rId2" Type="http://schemas.openxmlformats.org/officeDocument/2006/relationships/image" Target="../media/image2.jpg&amp;ehk=TVYpR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743AC616-B0C6-46CB-9EF8-02333CFD8D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88356" y="1700808"/>
            <a:ext cx="6312036" cy="2592288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NZ" sz="4000" dirty="0">
                <a:ea typeface="+mn-ea"/>
              </a:rPr>
              <a:t>Types of Data &amp;</a:t>
            </a:r>
          </a:p>
          <a:p>
            <a:pPr eaLnBrk="1" hangingPunct="1">
              <a:defRPr/>
            </a:pPr>
            <a:r>
              <a:rPr lang="en-NZ" sz="4000" dirty="0">
                <a:ea typeface="+mn-ea"/>
              </a:rPr>
              <a:t>Bivariate Data</a:t>
            </a:r>
            <a:endParaRPr lang="en-GB" sz="4000" dirty="0">
              <a:ea typeface="+mn-ea"/>
            </a:endParaRPr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809A5AD0-19D6-471B-BF04-255B0D2441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5587DFC-1CB4-4953-950C-5ABA99898CB9}" type="slidenum">
              <a:rPr lang="en-NZ" altLang="en-US" sz="1000">
                <a:latin typeface="Tahoma" panose="020B0604030504040204" pitchFamily="34" charset="0"/>
              </a:rPr>
              <a:pPr eaLnBrk="1" hangingPunct="1"/>
              <a:t>1</a:t>
            </a:fld>
            <a:endParaRPr lang="en-NZ" altLang="en-US" sz="1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78971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CB613-7E17-4D4A-9AFE-2E880362C8EE}"/>
              </a:ext>
            </a:extLst>
          </p:cNvPr>
          <p:cNvSpPr txBox="1"/>
          <p:nvPr/>
        </p:nvSpPr>
        <p:spPr>
          <a:xfrm>
            <a:off x="46855" y="3001140"/>
            <a:ext cx="189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categorical data?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9E4EB-E861-441D-905B-BB660408C6BE}"/>
              </a:ext>
            </a:extLst>
          </p:cNvPr>
          <p:cNvSpPr txBox="1"/>
          <p:nvPr/>
        </p:nvSpPr>
        <p:spPr>
          <a:xfrm>
            <a:off x="2029479" y="2860148"/>
            <a:ext cx="6400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that goes into groups</a:t>
            </a:r>
          </a:p>
          <a:p>
            <a:r>
              <a:rPr lang="en-AU" dirty="0"/>
              <a:t>	</a:t>
            </a:r>
            <a:r>
              <a:rPr lang="en-AU" dirty="0" err="1"/>
              <a:t>Eg</a:t>
            </a:r>
            <a:r>
              <a:rPr lang="en-AU" dirty="0"/>
              <a:t>: what mode of transport did you take to school? (walk, 		ride, car)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A633B2-12CC-40AB-A53D-5C18C4F9E369}"/>
              </a:ext>
            </a:extLst>
          </p:cNvPr>
          <p:cNvSpPr txBox="1"/>
          <p:nvPr/>
        </p:nvSpPr>
        <p:spPr>
          <a:xfrm>
            <a:off x="2008853" y="1854842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classed into two groups either numerical or categorical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BF5350-5FC1-4C78-90A1-8969B6F3D6EB}"/>
              </a:ext>
            </a:extLst>
          </p:cNvPr>
          <p:cNvSpPr txBox="1"/>
          <p:nvPr/>
        </p:nvSpPr>
        <p:spPr>
          <a:xfrm>
            <a:off x="46855" y="1804366"/>
            <a:ext cx="1789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different types of data?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80C803-5A7B-4867-AFD0-71A4B3CABB44}"/>
              </a:ext>
            </a:extLst>
          </p:cNvPr>
          <p:cNvSpPr/>
          <p:nvPr/>
        </p:nvSpPr>
        <p:spPr>
          <a:xfrm>
            <a:off x="3453339" y="3933056"/>
            <a:ext cx="2918861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Categorical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677346-B526-4DFF-9A00-FC0C36527792}"/>
              </a:ext>
            </a:extLst>
          </p:cNvPr>
          <p:cNvSpPr/>
          <p:nvPr/>
        </p:nvSpPr>
        <p:spPr>
          <a:xfrm>
            <a:off x="2029479" y="5033647"/>
            <a:ext cx="2918861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Nominal</a:t>
            </a:r>
          </a:p>
          <a:p>
            <a:pPr algn="ctr"/>
            <a:r>
              <a:rPr lang="en-AU" sz="1600" dirty="0"/>
              <a:t>(no implied order just names)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75B56A-5768-4896-9F34-137121029B29}"/>
              </a:ext>
            </a:extLst>
          </p:cNvPr>
          <p:cNvSpPr/>
          <p:nvPr/>
        </p:nvSpPr>
        <p:spPr>
          <a:xfrm>
            <a:off x="5580112" y="5033647"/>
            <a:ext cx="2835255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Ordinal </a:t>
            </a:r>
          </a:p>
          <a:p>
            <a:pPr algn="ctr"/>
            <a:r>
              <a:rPr lang="en-AU" sz="1600" dirty="0"/>
              <a:t>(the names of the categories suggest an order)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EF9F097-C0A2-4FE2-B84B-52AF37033F61}"/>
              </a:ext>
            </a:extLst>
          </p:cNvPr>
          <p:cNvCxnSpPr>
            <a:cxnSpLocks/>
          </p:cNvCxnSpPr>
          <p:nvPr/>
        </p:nvCxnSpPr>
        <p:spPr>
          <a:xfrm flipH="1">
            <a:off x="3683931" y="4723818"/>
            <a:ext cx="291002" cy="4525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7FC39A-8B8C-4174-8FD4-D31047796136}"/>
              </a:ext>
            </a:extLst>
          </p:cNvPr>
          <p:cNvCxnSpPr>
            <a:cxnSpLocks/>
          </p:cNvCxnSpPr>
          <p:nvPr/>
        </p:nvCxnSpPr>
        <p:spPr>
          <a:xfrm>
            <a:off x="5871114" y="4702426"/>
            <a:ext cx="357070" cy="45476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97421A4-E384-4CBB-A607-14B3764A2CE6}"/>
              </a:ext>
            </a:extLst>
          </p:cNvPr>
          <p:cNvSpPr txBox="1"/>
          <p:nvPr/>
        </p:nvSpPr>
        <p:spPr>
          <a:xfrm>
            <a:off x="2020103" y="5980349"/>
            <a:ext cx="286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Favourite colour: blue, black, yellow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BF530F-A3E4-4219-A2D3-7ECE1CF287F8}"/>
              </a:ext>
            </a:extLst>
          </p:cNvPr>
          <p:cNvSpPr txBox="1"/>
          <p:nvPr/>
        </p:nvSpPr>
        <p:spPr>
          <a:xfrm>
            <a:off x="5791063" y="5969751"/>
            <a:ext cx="286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Fitness level : low, medium, high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 animBg="1"/>
      <p:bldP spid="21" grpId="0" animBg="1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78971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CB613-7E17-4D4A-9AFE-2E880362C8EE}"/>
              </a:ext>
            </a:extLst>
          </p:cNvPr>
          <p:cNvSpPr txBox="1"/>
          <p:nvPr/>
        </p:nvSpPr>
        <p:spPr>
          <a:xfrm>
            <a:off x="-13762" y="2045674"/>
            <a:ext cx="189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numerical data?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9E4EB-E861-441D-905B-BB660408C6BE}"/>
              </a:ext>
            </a:extLst>
          </p:cNvPr>
          <p:cNvSpPr txBox="1"/>
          <p:nvPr/>
        </p:nvSpPr>
        <p:spPr>
          <a:xfrm>
            <a:off x="2062338" y="1936818"/>
            <a:ext cx="6400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that the answer has a numerical answer indicating size or amount</a:t>
            </a:r>
          </a:p>
          <a:p>
            <a:r>
              <a:rPr lang="en-AU" dirty="0"/>
              <a:t>	</a:t>
            </a:r>
            <a:r>
              <a:rPr lang="en-AU" dirty="0" err="1"/>
              <a:t>Eg</a:t>
            </a:r>
            <a:r>
              <a:rPr lang="en-AU" dirty="0"/>
              <a:t>: how many people live in your house?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80C803-5A7B-4867-AFD0-71A4B3CABB44}"/>
              </a:ext>
            </a:extLst>
          </p:cNvPr>
          <p:cNvSpPr/>
          <p:nvPr/>
        </p:nvSpPr>
        <p:spPr>
          <a:xfrm>
            <a:off x="3495197" y="3307195"/>
            <a:ext cx="2918861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Numerical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677346-B526-4DFF-9A00-FC0C36527792}"/>
              </a:ext>
            </a:extLst>
          </p:cNvPr>
          <p:cNvSpPr/>
          <p:nvPr/>
        </p:nvSpPr>
        <p:spPr>
          <a:xfrm>
            <a:off x="1993908" y="4669358"/>
            <a:ext cx="3154156" cy="1351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Discrete</a:t>
            </a:r>
          </a:p>
          <a:p>
            <a:pPr algn="ctr"/>
            <a:r>
              <a:rPr lang="en-AU" sz="1600" dirty="0"/>
              <a:t>(specific integer values)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75B56A-5768-4896-9F34-137121029B29}"/>
              </a:ext>
            </a:extLst>
          </p:cNvPr>
          <p:cNvSpPr/>
          <p:nvPr/>
        </p:nvSpPr>
        <p:spPr>
          <a:xfrm>
            <a:off x="5433801" y="4690346"/>
            <a:ext cx="2738600" cy="1330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Continuous</a:t>
            </a:r>
          </a:p>
          <a:p>
            <a:pPr algn="ctr"/>
            <a:r>
              <a:rPr lang="en-AU" sz="1600" dirty="0"/>
              <a:t>(any value within a realistic range, limited by accuracy of measurement instrument)</a:t>
            </a:r>
          </a:p>
          <a:p>
            <a:pPr algn="ctr"/>
            <a:endParaRPr lang="en-AU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CAA050-7152-4448-B18B-96A80D49AA8A}"/>
              </a:ext>
            </a:extLst>
          </p:cNvPr>
          <p:cNvCxnSpPr>
            <a:cxnSpLocks/>
          </p:cNvCxnSpPr>
          <p:nvPr/>
        </p:nvCxnSpPr>
        <p:spPr>
          <a:xfrm>
            <a:off x="5791063" y="4155066"/>
            <a:ext cx="171668" cy="51429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5829C0-FA47-4D9A-91B2-CFC169A062FA}"/>
              </a:ext>
            </a:extLst>
          </p:cNvPr>
          <p:cNvCxnSpPr/>
          <p:nvPr/>
        </p:nvCxnSpPr>
        <p:spPr>
          <a:xfrm flipH="1">
            <a:off x="3757943" y="4185953"/>
            <a:ext cx="291002" cy="4525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4C338C-5C9B-413F-B825-DC6DC5DD8E2B}"/>
              </a:ext>
            </a:extLst>
          </p:cNvPr>
          <p:cNvSpPr txBox="1"/>
          <p:nvPr/>
        </p:nvSpPr>
        <p:spPr>
          <a:xfrm>
            <a:off x="2062338" y="6021288"/>
            <a:ext cx="3085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many people in your house?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FB8845-C1B1-4B1E-978E-64AEA08825C2}"/>
              </a:ext>
            </a:extLst>
          </p:cNvPr>
          <p:cNvSpPr txBox="1"/>
          <p:nvPr/>
        </p:nvSpPr>
        <p:spPr>
          <a:xfrm>
            <a:off x="5295697" y="6021288"/>
            <a:ext cx="34586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wide is the front of your house?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F991AC-D2C2-4C2C-8BFC-7E8DA50D1E8D}"/>
              </a:ext>
            </a:extLst>
          </p:cNvPr>
          <p:cNvGrpSpPr/>
          <p:nvPr/>
        </p:nvGrpSpPr>
        <p:grpSpPr>
          <a:xfrm>
            <a:off x="533636" y="3608792"/>
            <a:ext cx="2022140" cy="1206571"/>
            <a:chOff x="533636" y="3608792"/>
            <a:chExt cx="2022140" cy="1206571"/>
          </a:xfrm>
        </p:grpSpPr>
        <p:sp>
          <p:nvSpPr>
            <p:cNvPr id="15" name="Speech Bubble: Oval 14">
              <a:extLst>
                <a:ext uri="{FF2B5EF4-FFF2-40B4-BE49-F238E27FC236}">
                  <a16:creationId xmlns:a16="http://schemas.microsoft.com/office/drawing/2014/main" id="{6A3017AB-B5B9-4E7F-AE25-1026886DEB0A}"/>
                </a:ext>
              </a:extLst>
            </p:cNvPr>
            <p:cNvSpPr/>
            <p:nvPr/>
          </p:nvSpPr>
          <p:spPr>
            <a:xfrm>
              <a:off x="533636" y="3608792"/>
              <a:ext cx="1634546" cy="1206571"/>
            </a:xfrm>
            <a:prstGeom prst="wedgeEllipseCallout">
              <a:avLst>
                <a:gd name="adj1" fmla="val 58513"/>
                <a:gd name="adj2" fmla="val 57087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7A934B-B5FE-461F-BF8C-62F8E7D24E51}"/>
                </a:ext>
              </a:extLst>
            </p:cNvPr>
            <p:cNvSpPr txBox="1"/>
            <p:nvPr/>
          </p:nvSpPr>
          <p:spPr>
            <a:xfrm>
              <a:off x="539552" y="4005064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Think counting!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02DA4C-21DD-4180-BB35-320F975C77A9}"/>
              </a:ext>
            </a:extLst>
          </p:cNvPr>
          <p:cNvGrpSpPr/>
          <p:nvPr/>
        </p:nvGrpSpPr>
        <p:grpSpPr>
          <a:xfrm>
            <a:off x="7328205" y="3440087"/>
            <a:ext cx="2016224" cy="1129954"/>
            <a:chOff x="1135517" y="3617313"/>
            <a:chExt cx="2016224" cy="1129954"/>
          </a:xfrm>
        </p:grpSpPr>
        <p:sp>
          <p:nvSpPr>
            <p:cNvPr id="26" name="Speech Bubble: Oval 25">
              <a:extLst>
                <a:ext uri="{FF2B5EF4-FFF2-40B4-BE49-F238E27FC236}">
                  <a16:creationId xmlns:a16="http://schemas.microsoft.com/office/drawing/2014/main" id="{4E000CE6-B3BB-4A85-9CD1-8D277DD415DC}"/>
                </a:ext>
              </a:extLst>
            </p:cNvPr>
            <p:cNvSpPr/>
            <p:nvPr/>
          </p:nvSpPr>
          <p:spPr>
            <a:xfrm>
              <a:off x="1135517" y="3617313"/>
              <a:ext cx="1806116" cy="1129954"/>
            </a:xfrm>
            <a:prstGeom prst="wedgeEllipseCallout">
              <a:avLst>
                <a:gd name="adj1" fmla="val -46359"/>
                <a:gd name="adj2" fmla="val 64519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97F8B4C-F232-40B7-9361-B282C5658D3C}"/>
                </a:ext>
              </a:extLst>
            </p:cNvPr>
            <p:cNvSpPr txBox="1"/>
            <p:nvPr/>
          </p:nvSpPr>
          <p:spPr>
            <a:xfrm>
              <a:off x="1135517" y="3995123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Think measuring!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471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 animBg="1"/>
      <p:bldP spid="20" grpId="0" animBg="1"/>
      <p:bldP spid="21" grpId="0" animBg="1"/>
      <p:bldP spid="8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99825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CB613-7E17-4D4A-9AFE-2E880362C8EE}"/>
              </a:ext>
            </a:extLst>
          </p:cNvPr>
          <p:cNvSpPr txBox="1"/>
          <p:nvPr/>
        </p:nvSpPr>
        <p:spPr>
          <a:xfrm>
            <a:off x="136746" y="2812427"/>
            <a:ext cx="1742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bivariate data?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9E4EB-E861-441D-905B-BB660408C6BE}"/>
              </a:ext>
            </a:extLst>
          </p:cNvPr>
          <p:cNvSpPr txBox="1"/>
          <p:nvPr/>
        </p:nvSpPr>
        <p:spPr>
          <a:xfrm>
            <a:off x="2113370" y="2585997"/>
            <a:ext cx="640069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NZ" b="1" dirty="0">
                <a:latin typeface="Arial" charset="0"/>
                <a:ea typeface="ＭＳ Ｐゴシック" charset="0"/>
              </a:rPr>
              <a:t>Two pieces </a:t>
            </a:r>
            <a:r>
              <a:rPr lang="en-NZ" dirty="0">
                <a:latin typeface="Arial" charset="0"/>
                <a:ea typeface="ＭＳ Ｐゴシック" charset="0"/>
              </a:rPr>
              <a:t>of information which can show a relationship.</a:t>
            </a:r>
          </a:p>
          <a:p>
            <a:pPr>
              <a:spcBef>
                <a:spcPct val="50000"/>
              </a:spcBef>
              <a:defRPr/>
            </a:pPr>
            <a:r>
              <a:rPr lang="en-NZ" dirty="0" err="1">
                <a:latin typeface="Arial" charset="0"/>
                <a:ea typeface="ＭＳ Ｐゴシック" charset="0"/>
              </a:rPr>
              <a:t>Eg</a:t>
            </a:r>
            <a:r>
              <a:rPr lang="en-NZ" dirty="0">
                <a:latin typeface="Arial" charset="0"/>
                <a:ea typeface="ＭＳ Ｐゴシック" charset="0"/>
              </a:rPr>
              <a:t>: Weight and blood pressure, Time spent on homework and marks in a test</a:t>
            </a:r>
          </a:p>
          <a:p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BCBA8B-9CA8-4A5E-A595-8BA09C01130F}"/>
              </a:ext>
            </a:extLst>
          </p:cNvPr>
          <p:cNvSpPr txBox="1"/>
          <p:nvPr/>
        </p:nvSpPr>
        <p:spPr>
          <a:xfrm>
            <a:off x="32048" y="4072426"/>
            <a:ext cx="206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can we show with bivariate data?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C9F025-4258-48A7-A271-A4BB1D4EB688}"/>
              </a:ext>
            </a:extLst>
          </p:cNvPr>
          <p:cNvSpPr txBox="1"/>
          <p:nvPr/>
        </p:nvSpPr>
        <p:spPr>
          <a:xfrm>
            <a:off x="2102767" y="3855097"/>
            <a:ext cx="5834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latin typeface="Arial" charset="0"/>
                <a:ea typeface="ＭＳ Ｐゴシック" charset="0"/>
              </a:rPr>
              <a:t>This gives us two pieces of information we can express as an (</a:t>
            </a:r>
            <a:r>
              <a:rPr lang="en-NZ" dirty="0" err="1">
                <a:latin typeface="Arial" charset="0"/>
                <a:ea typeface="ＭＳ Ｐゴシック" charset="0"/>
              </a:rPr>
              <a:t>x,y</a:t>
            </a:r>
            <a:r>
              <a:rPr lang="en-NZ" dirty="0">
                <a:latin typeface="Arial" charset="0"/>
                <a:ea typeface="ＭＳ Ｐゴシック" charset="0"/>
              </a:rPr>
              <a:t>) coordinate. We are then able to plot and compare the values on a </a:t>
            </a:r>
            <a:r>
              <a:rPr lang="en-NZ" b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scatter plot</a:t>
            </a:r>
            <a:r>
              <a:rPr lang="en-NZ" b="1" dirty="0">
                <a:latin typeface="Arial" charset="0"/>
                <a:ea typeface="ＭＳ Ｐゴシック" charset="0"/>
              </a:rPr>
              <a:t>.</a:t>
            </a:r>
            <a:endParaRPr lang="en-GB" b="1" dirty="0">
              <a:latin typeface="Arial" charset="0"/>
              <a:ea typeface="ＭＳ Ｐゴシック" charset="0"/>
            </a:endParaRPr>
          </a:p>
          <a:p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A633B2-12CC-40AB-A53D-5C18C4F9E369}"/>
              </a:ext>
            </a:extLst>
          </p:cNvPr>
          <p:cNvSpPr txBox="1"/>
          <p:nvPr/>
        </p:nvSpPr>
        <p:spPr>
          <a:xfrm>
            <a:off x="2099825" y="1972329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latin typeface="Arial" charset="0"/>
                <a:ea typeface="ＭＳ Ｐゴシック" charset="0"/>
              </a:rPr>
              <a:t>One piece </a:t>
            </a:r>
            <a:r>
              <a:rPr lang="en-NZ" dirty="0">
                <a:latin typeface="Arial" charset="0"/>
                <a:ea typeface="ＭＳ Ｐゴシック" charset="0"/>
              </a:rPr>
              <a:t>of information about each thing</a:t>
            </a:r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BF5350-5FC1-4C78-90A1-8969B6F3D6EB}"/>
              </a:ext>
            </a:extLst>
          </p:cNvPr>
          <p:cNvSpPr txBox="1"/>
          <p:nvPr/>
        </p:nvSpPr>
        <p:spPr>
          <a:xfrm>
            <a:off x="46855" y="1804366"/>
            <a:ext cx="1789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univariate data?</a:t>
            </a:r>
          </a:p>
        </p:txBody>
      </p:sp>
    </p:spTree>
    <p:extLst>
      <p:ext uri="{BB962C8B-B14F-4D97-AF65-F5344CB8AC3E}">
        <p14:creationId xmlns:p14="http://schemas.microsoft.com/office/powerpoint/2010/main" val="393184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15E17B-CA56-4F74-B599-1EB2D6C7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7542A85-1DD4-43E2-936C-299CD38F7D8B}" type="slidenum">
              <a:rPr lang="en-GB" altLang="en-US" sz="1400"/>
              <a:pPr eaLnBrk="1" hangingPunct="1"/>
              <a:t>5</a:t>
            </a:fld>
            <a:endParaRPr lang="en-GB" altLang="en-US" sz="1400"/>
          </a:p>
        </p:txBody>
      </p:sp>
      <p:graphicFrame>
        <p:nvGraphicFramePr>
          <p:cNvPr id="9218" name="Object 4">
            <a:extLst>
              <a:ext uri="{FF2B5EF4-FFF2-40B4-BE49-F238E27FC236}">
                <a16:creationId xmlns:a16="http://schemas.microsoft.com/office/drawing/2014/main" id="{4C9CC07C-B1FB-4BAD-95FD-59C31BF58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941110"/>
              </p:ext>
            </p:extLst>
          </p:nvPr>
        </p:nvGraphicFramePr>
        <p:xfrm>
          <a:off x="-108520" y="-12575"/>
          <a:ext cx="9514269" cy="7135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Chart" r:id="rId3" imgW="4787900" imgH="3390900" progId="Excel.Chart.8">
                  <p:embed/>
                </p:oleObj>
              </mc:Choice>
              <mc:Fallback>
                <p:oleObj name="Chart" r:id="rId3" imgW="4787900" imgH="3390900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8520" y="-12575"/>
                        <a:ext cx="9514269" cy="7135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Line 5">
            <a:extLst>
              <a:ext uri="{FF2B5EF4-FFF2-40B4-BE49-F238E27FC236}">
                <a16:creationId xmlns:a16="http://schemas.microsoft.com/office/drawing/2014/main" id="{A9D9EA3E-9A5B-4437-A937-136161CB0F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1413" y="3068638"/>
            <a:ext cx="5111750" cy="2232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49EB8-28A9-4DC7-B8DC-25C69B30A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-60629"/>
            <a:ext cx="7416824" cy="1152128"/>
          </a:xfrm>
        </p:spPr>
        <p:txBody>
          <a:bodyPr>
            <a:normAutofit/>
          </a:bodyPr>
          <a:lstStyle/>
          <a:p>
            <a:r>
              <a:rPr lang="en-AU" sz="6000" dirty="0"/>
              <a:t>Interesting Fact!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C07545-411F-4A76-9049-B1B0BE66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59E0-66B3-4360-83D8-BA170C800183}" type="slidenum">
              <a:rPr lang="en-NZ" altLang="en-US" smtClean="0"/>
              <a:pPr/>
              <a:t>6</a:t>
            </a:fld>
            <a:endParaRPr lang="en-NZ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51FD2-71D1-496D-8293-EF7D62C968ED}"/>
              </a:ext>
            </a:extLst>
          </p:cNvPr>
          <p:cNvSpPr txBox="1"/>
          <p:nvPr/>
        </p:nvSpPr>
        <p:spPr>
          <a:xfrm>
            <a:off x="755576" y="1238740"/>
            <a:ext cx="3384376" cy="48936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dirty="0"/>
              <a:t>The 1986 Space Shuttle Challenger disintegrated after the failure of an O-Ring seal. </a:t>
            </a:r>
          </a:p>
          <a:p>
            <a:r>
              <a:rPr lang="en-AU" sz="2400" dirty="0"/>
              <a:t>It is claimed that improper analysis of the O-Ring temperature failure led to the disaster. Potentially proper analysis of the scatterplot and a line of best fit could have prevented the tragedy. </a:t>
            </a:r>
          </a:p>
        </p:txBody>
      </p:sp>
      <p:pic>
        <p:nvPicPr>
          <p:cNvPr id="6" name="Picture 5" descr="A picture containing transport, spacecraft, photo&#10;&#10;Description generated with very high confidence">
            <a:extLst>
              <a:ext uri="{FF2B5EF4-FFF2-40B4-BE49-F238E27FC236}">
                <a16:creationId xmlns:a16="http://schemas.microsoft.com/office/drawing/2014/main" id="{B533C0CD-11FC-431F-96BB-8BE73009C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173421" y="1700808"/>
            <a:ext cx="4542276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11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99825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9E4EB-E861-441D-905B-BB660408C6BE}"/>
              </a:ext>
            </a:extLst>
          </p:cNvPr>
          <p:cNvSpPr txBox="1"/>
          <p:nvPr/>
        </p:nvSpPr>
        <p:spPr>
          <a:xfrm>
            <a:off x="2214285" y="2680013"/>
            <a:ext cx="640069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NZ" altLang="en-US" b="1" dirty="0">
                <a:solidFill>
                  <a:srgbClr val="FF0000"/>
                </a:solidFill>
              </a:rPr>
              <a:t>Extrapolate</a:t>
            </a:r>
            <a:r>
              <a:rPr lang="en-NZ" altLang="en-US" dirty="0">
                <a:solidFill>
                  <a:srgbClr val="FF0000"/>
                </a:solidFill>
              </a:rPr>
              <a:t> </a:t>
            </a:r>
            <a:r>
              <a:rPr lang="en-NZ" altLang="en-US" dirty="0"/>
              <a:t>means to use your model to find values beyond the x values you are given.</a:t>
            </a:r>
          </a:p>
          <a:p>
            <a:pPr>
              <a:spcBef>
                <a:spcPct val="50000"/>
              </a:spcBef>
            </a:pPr>
            <a:r>
              <a:rPr lang="en-NZ" altLang="en-US" b="1" dirty="0">
                <a:solidFill>
                  <a:srgbClr val="FF0000"/>
                </a:solidFill>
              </a:rPr>
              <a:t>Interpolate</a:t>
            </a:r>
            <a:r>
              <a:rPr lang="en-NZ" altLang="en-US" dirty="0">
                <a:solidFill>
                  <a:srgbClr val="FF0000"/>
                </a:solidFill>
              </a:rPr>
              <a:t> </a:t>
            </a:r>
            <a:r>
              <a:rPr lang="en-NZ" altLang="en-US" dirty="0"/>
              <a:t>means to use your model to find values within the x values you are given</a:t>
            </a:r>
            <a:endParaRPr lang="en-GB" altLang="en-US" dirty="0"/>
          </a:p>
          <a:p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A633B2-12CC-40AB-A53D-5C18C4F9E369}"/>
              </a:ext>
            </a:extLst>
          </p:cNvPr>
          <p:cNvSpPr txBox="1"/>
          <p:nvPr/>
        </p:nvSpPr>
        <p:spPr>
          <a:xfrm>
            <a:off x="2099825" y="1972329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With two variables and their relationship we can make predictions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BF5350-5FC1-4C78-90A1-8969B6F3D6EB}"/>
              </a:ext>
            </a:extLst>
          </p:cNvPr>
          <p:cNvSpPr txBox="1"/>
          <p:nvPr/>
        </p:nvSpPr>
        <p:spPr>
          <a:xfrm>
            <a:off x="144187" y="2260392"/>
            <a:ext cx="1789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is bivariate data used?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F03B3-153B-42A0-B1E8-8E060989E9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50" t="41600" r="16926" b="16401"/>
          <a:stretch/>
        </p:blipFill>
        <p:spPr>
          <a:xfrm>
            <a:off x="2771800" y="4077072"/>
            <a:ext cx="4464496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1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4E89F1-20AA-4C6A-AE2C-72797A30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6EDA-5D7C-4176-B5F5-E760195C266F}" type="slidenum">
              <a:rPr lang="en-NZ" altLang="en-US" smtClean="0"/>
              <a:pPr/>
              <a:t>8</a:t>
            </a:fld>
            <a:endParaRPr lang="en-NZ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4270F-1337-4F6C-BBF0-8D25F2DCDADC}"/>
              </a:ext>
            </a:extLst>
          </p:cNvPr>
          <p:cNvSpPr txBox="1"/>
          <p:nvPr/>
        </p:nvSpPr>
        <p:spPr>
          <a:xfrm>
            <a:off x="1619672" y="836712"/>
            <a:ext cx="55446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Add the following words to your glossary:</a:t>
            </a:r>
          </a:p>
          <a:p>
            <a:endParaRPr lang="en-AU" sz="2400" dirty="0"/>
          </a:p>
          <a:p>
            <a:r>
              <a:rPr lang="en-AU" sz="2400" dirty="0">
                <a:solidFill>
                  <a:srgbClr val="660066"/>
                </a:solidFill>
              </a:rPr>
              <a:t>Extrapolate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Interpolate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Bivariate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Univariate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Categorical</a:t>
            </a:r>
          </a:p>
          <a:p>
            <a:r>
              <a:rPr lang="en-AU" sz="2400" dirty="0">
                <a:solidFill>
                  <a:srgbClr val="660066"/>
                </a:solidFill>
              </a:rPr>
              <a:t>Nominal</a:t>
            </a:r>
          </a:p>
          <a:p>
            <a:r>
              <a:rPr lang="en-AU" sz="2400" dirty="0">
                <a:solidFill>
                  <a:srgbClr val="660066"/>
                </a:solidFill>
              </a:rPr>
              <a:t>Ordinal</a:t>
            </a:r>
          </a:p>
          <a:p>
            <a:r>
              <a:rPr lang="en-AU" sz="2400" dirty="0">
                <a:solidFill>
                  <a:srgbClr val="660066"/>
                </a:solidFill>
              </a:rPr>
              <a:t>Numerical</a:t>
            </a:r>
          </a:p>
          <a:p>
            <a:r>
              <a:rPr lang="en-AU" sz="2400" dirty="0">
                <a:solidFill>
                  <a:srgbClr val="660066"/>
                </a:solidFill>
              </a:rPr>
              <a:t>Discrete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Continuous</a:t>
            </a:r>
          </a:p>
        </p:txBody>
      </p:sp>
    </p:spTree>
    <p:extLst>
      <p:ext uri="{BB962C8B-B14F-4D97-AF65-F5344CB8AC3E}">
        <p14:creationId xmlns:p14="http://schemas.microsoft.com/office/powerpoint/2010/main" val="3628615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5362</TotalTime>
  <Words>459</Words>
  <Application>Microsoft Office PowerPoint</Application>
  <PresentationFormat>On-screen Show (4:3)</PresentationFormat>
  <Paragraphs>92</Paragraphs>
  <Slides>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MS PGothic</vt:lpstr>
      <vt:lpstr>Tahoma</vt:lpstr>
      <vt:lpstr>Wingdings</vt:lpstr>
      <vt:lpstr>Retrospect</vt:lpstr>
      <vt:lpstr>Microsoft Office Excel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Interesting Fact!</vt:lpstr>
      <vt:lpstr>PowerPoint Presentation</vt:lpstr>
      <vt:lpstr>PowerPoint Presentation</vt:lpstr>
    </vt:vector>
  </TitlesOfParts>
  <Company>TELA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Helen Wiessing</dc:creator>
  <cp:lastModifiedBy>E4092707</cp:lastModifiedBy>
  <cp:revision>99</cp:revision>
  <dcterms:created xsi:type="dcterms:W3CDTF">2006-02-08T06:33:17Z</dcterms:created>
  <dcterms:modified xsi:type="dcterms:W3CDTF">2017-08-14T10:08:08Z</dcterms:modified>
</cp:coreProperties>
</file>
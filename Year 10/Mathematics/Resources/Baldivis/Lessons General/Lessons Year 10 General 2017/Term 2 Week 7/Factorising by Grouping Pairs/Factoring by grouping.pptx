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2" r:id="rId10"/>
    <p:sldId id="264" r:id="rId11"/>
    <p:sldId id="266" r:id="rId12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58" autoAdjust="0"/>
    <p:restoredTop sz="94618" autoAdjust="0"/>
  </p:normalViewPr>
  <p:slideViewPr>
    <p:cSldViewPr>
      <p:cViewPr varScale="1">
        <p:scale>
          <a:sx n="78" d="100"/>
          <a:sy n="78" d="100"/>
        </p:scale>
        <p:origin x="176" y="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561DDC-5327-634A-948C-8F1DA07938D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9808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7C2106-0E2B-6A44-A04E-4D35E94D8C1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010708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A53AD-716A-AA47-B8EE-7233BFA07FF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86111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7FA55C-E6E8-7F48-BCF9-F70A950741B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2857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26CDBA-67E0-3643-98EE-92970B0D1C8D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335359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8F7BA-4D57-B640-847D-46170811E424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42698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0F19FA-CEED-3F4D-9522-4111EBFA268F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70655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FE664E-BFF8-504B-8996-7FF33C8B304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05185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BC7D0-6F97-0348-BEEC-62506EC5D79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4685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BF2E99-136F-1C4C-A8E8-2957846B661B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555566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886DD5-E443-654B-86C4-2445A380210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52596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7408608-F8D2-0F4E-878C-15ABD4F80B65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shmoop.com/polynomials/grouping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19"/>
          <p:cNvSpPr>
            <a:spLocks noChangeArrowheads="1"/>
          </p:cNvSpPr>
          <p:nvPr/>
        </p:nvSpPr>
        <p:spPr bwMode="auto">
          <a:xfrm>
            <a:off x="684213" y="5157788"/>
            <a:ext cx="7772400" cy="1470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UY" altLang="x-none" dirty="0" smtClean="0">
                <a:solidFill>
                  <a:schemeClr val="tx1"/>
                </a:solidFill>
              </a:rPr>
              <a:t>Factorising By Grouping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2068" name="Rectangle 20"/>
          <p:cNvSpPr>
            <a:spLocks noChangeArrowheads="1"/>
          </p:cNvSpPr>
          <p:nvPr/>
        </p:nvSpPr>
        <p:spPr bwMode="auto">
          <a:xfrm>
            <a:off x="1403350" y="2276475"/>
            <a:ext cx="64008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ctr">
              <a:spcBef>
                <a:spcPct val="20000"/>
              </a:spcBef>
              <a:defRPr sz="3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spcBef>
                <a:spcPct val="20000"/>
              </a:spcBef>
              <a:defRPr sz="28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spcBef>
                <a:spcPct val="20000"/>
              </a:spcBef>
              <a:defRPr sz="24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spcBef>
                <a:spcPct val="20000"/>
              </a:spcBef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algn="ctr" fontAlgn="base">
              <a:spcBef>
                <a:spcPct val="2000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endParaRPr lang="x-none" altLang="x-none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s-UY" altLang="x-none" dirty="0" smtClean="0">
                <a:solidFill>
                  <a:schemeClr val="tx1"/>
                </a:solidFill>
              </a:rPr>
              <a:t>Warm up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855788"/>
            <a:ext cx="8229600" cy="4525962"/>
          </a:xfrm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UY" altLang="x-none" dirty="0" smtClean="0"/>
              <a:t>Review Factorising</a:t>
            </a:r>
            <a:endParaRPr lang="es-ES" altLang="x-none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360" y="1383030"/>
            <a:ext cx="8111505" cy="50808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3375"/>
            <a:ext cx="8229600" cy="1143000"/>
          </a:xfrm>
        </p:spPr>
        <p:txBody>
          <a:bodyPr/>
          <a:lstStyle/>
          <a:p>
            <a:r>
              <a:rPr lang="es-UY" altLang="x-none" dirty="0" smtClean="0">
                <a:solidFill>
                  <a:schemeClr val="tx1"/>
                </a:solidFill>
              </a:rPr>
              <a:t>Direct Teaching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773238"/>
            <a:ext cx="8229600" cy="4525962"/>
          </a:xfrm>
        </p:spPr>
        <p:txBody>
          <a:bodyPr/>
          <a:lstStyle/>
          <a:p>
            <a:r>
              <a:rPr lang="es-ES" altLang="x-none" dirty="0">
                <a:hlinkClick r:id="rId2"/>
              </a:rPr>
              <a:t>http://</a:t>
            </a:r>
            <a:r>
              <a:rPr lang="es-ES" altLang="x-none" dirty="0" smtClean="0">
                <a:hlinkClick r:id="rId2"/>
              </a:rPr>
              <a:t>www.shmoop.com/polynomials/grouping.html</a:t>
            </a:r>
            <a:endParaRPr lang="es-ES" altLang="x-none" dirty="0" smtClean="0"/>
          </a:p>
          <a:p>
            <a:endParaRPr lang="es-ES" altLang="x-none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514694" y="1237206"/>
            <a:ext cx="8229600" cy="1143000"/>
          </a:xfrm>
        </p:spPr>
        <p:txBody>
          <a:bodyPr/>
          <a:lstStyle/>
          <a:p>
            <a:r>
              <a:rPr lang="es-UY" altLang="x-none" sz="3200" dirty="0" smtClean="0">
                <a:solidFill>
                  <a:schemeClr val="tx1"/>
                </a:solidFill>
              </a:rPr>
              <a:t>EQ:</a:t>
            </a:r>
            <a:r>
              <a:rPr lang="es-UY" sz="3200" dirty="0"/>
              <a:t> How do we factor a trinomial with a leading coefficient greater than 1? </a:t>
            </a:r>
            <a:r>
              <a:rPr lang="es-UY" dirty="0"/>
              <a:t/>
            </a:r>
            <a:br>
              <a:rPr lang="es-UY" dirty="0"/>
            </a:br>
            <a:r>
              <a:rPr lang="es-UY" altLang="x-none" dirty="0" smtClean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2558" y="2592280"/>
            <a:ext cx="8399922" cy="789095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How </a:t>
            </a:r>
            <a:r>
              <a:rPr lang="en-US" dirty="0"/>
              <a:t>would you factor the following trinomial? </a:t>
            </a:r>
            <a:endParaRPr lang="en-US" dirty="0"/>
          </a:p>
          <a:p>
            <a:endParaRPr lang="mr-IN" dirty="0"/>
          </a:p>
          <a:p>
            <a:endParaRPr lang="es-ES" altLang="x-none" dirty="0"/>
          </a:p>
        </p:txBody>
      </p:sp>
      <p:sp>
        <p:nvSpPr>
          <p:cNvPr id="6" name="TextBox 5"/>
          <p:cNvSpPr txBox="1"/>
          <p:nvPr/>
        </p:nvSpPr>
        <p:spPr>
          <a:xfrm>
            <a:off x="492558" y="4164949"/>
            <a:ext cx="80863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Since we can't factor out a GCF to get a leading coefficient of 1, we would have to use a method called "Grouping". </a:t>
            </a:r>
            <a:endParaRPr 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492990" y="3429000"/>
            <a:ext cx="79921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mr-IN" sz="2800" dirty="0"/>
              <a:t>2x</a:t>
            </a:r>
            <a:r>
              <a:rPr lang="mr-IN" sz="2800" baseline="30000" dirty="0"/>
              <a:t>2</a:t>
            </a:r>
            <a:r>
              <a:rPr lang="mr-IN" sz="2800" dirty="0"/>
              <a:t> + 5x + 2 </a:t>
            </a:r>
            <a:endParaRPr lang="en-US" sz="2800" dirty="0"/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349311" y="239871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r>
              <a:rPr lang="es-UY" sz="4000" b="1" u="sng" dirty="0" smtClean="0">
                <a:solidFill>
                  <a:schemeClr val="tx1"/>
                </a:solidFill>
              </a:rPr>
              <a:t>Note Taking:</a:t>
            </a:r>
            <a:r>
              <a:rPr lang="es-UY" sz="4000" b="1" u="sng" dirty="0" smtClean="0"/>
              <a:t/>
            </a:r>
            <a:br>
              <a:rPr lang="es-UY" sz="4000" b="1" u="sng" dirty="0" smtClean="0"/>
            </a:br>
            <a:r>
              <a:rPr lang="es-UY" altLang="x-none" dirty="0" smtClean="0">
                <a:solidFill>
                  <a:schemeClr val="tx1"/>
                </a:solidFill>
              </a:rPr>
              <a:t> </a:t>
            </a:r>
            <a:endParaRPr lang="es-ES" altLang="x-none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I </a:t>
            </a:r>
            <a:r>
              <a:rPr lang="en-US" dirty="0"/>
              <a:t>Factor by </a:t>
            </a:r>
            <a:r>
              <a:rPr lang="en-US" dirty="0" smtClean="0"/>
              <a:t>Grouping?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588224" y="956761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75656" y="999574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Steps</a:t>
            </a:r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53098" y="1448716"/>
            <a:ext cx="31983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1) Find the product of a and c</a:t>
            </a:r>
            <a:br>
              <a:rPr lang="en-US" dirty="0"/>
            </a:br>
            <a:endParaRPr lang="en-US" dirty="0"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24635" y="1466703"/>
            <a:ext cx="15183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>
                <a:solidFill>
                  <a:srgbClr val="FF0000"/>
                </a:solidFill>
              </a:rPr>
              <a:t>2x</a:t>
            </a:r>
            <a:r>
              <a:rPr lang="mr-IN" baseline="30000" dirty="0">
                <a:solidFill>
                  <a:srgbClr val="FF0000"/>
                </a:solidFill>
              </a:rPr>
              <a:t>2</a:t>
            </a:r>
            <a:r>
              <a:rPr lang="mr-IN" dirty="0">
                <a:solidFill>
                  <a:srgbClr val="FF0000"/>
                </a:solidFill>
              </a:rPr>
              <a:t> + 5x + 2 </a:t>
            </a:r>
            <a:endParaRPr lang="mr-IN" dirty="0">
              <a:solidFill>
                <a:srgbClr val="FF0000"/>
              </a:solidFill>
            </a:endParaRPr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352330" y="1932288"/>
            <a:ext cx="20249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 smtClean="0"/>
              <a:t>2x</a:t>
            </a:r>
            <a:r>
              <a:rPr lang="mr-IN" baseline="30000" dirty="0" smtClean="0"/>
              <a:t>2</a:t>
            </a:r>
            <a:r>
              <a:rPr lang="mr-IN" dirty="0" smtClean="0"/>
              <a:t> + </a:t>
            </a:r>
            <a:r>
              <a:rPr lang="mr-IN" dirty="0" smtClean="0">
                <a:solidFill>
                  <a:srgbClr val="FF0000"/>
                </a:solidFill>
              </a:rPr>
              <a:t>4x + 1x </a:t>
            </a:r>
            <a:r>
              <a:rPr lang="mr-IN" dirty="0" smtClean="0"/>
              <a:t>+ 2 </a:t>
            </a:r>
          </a:p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53098" y="1942648"/>
            <a:ext cx="54681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2) Rewrite the middle term as the sum of two terms </a:t>
            </a:r>
            <a:endParaRPr lang="en-US" dirty="0"/>
          </a:p>
          <a:p>
            <a:r>
              <a:rPr lang="en-US" dirty="0"/>
              <a:t>that add to the product</a:t>
            </a:r>
            <a:br>
              <a:rPr lang="en-US" dirty="0"/>
            </a:b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261897" y="2999931"/>
            <a:ext cx="23326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dirty="0"/>
              <a:t>2x (x + 2) + 1 (x + 2) </a:t>
            </a:r>
            <a:endParaRPr lang="is-IS" dirty="0"/>
          </a:p>
          <a:p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29903" y="3365429"/>
            <a:ext cx="5429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4) </a:t>
            </a:r>
            <a:r>
              <a:rPr lang="en-US" dirty="0" smtClean="0"/>
              <a:t>Pull to the front the Common Factor </a:t>
            </a:r>
            <a:r>
              <a:rPr lang="en-US" dirty="0" err="1" smtClean="0"/>
              <a:t>ie</a:t>
            </a:r>
            <a:r>
              <a:rPr lang="en-US" dirty="0" smtClean="0"/>
              <a:t>. </a:t>
            </a:r>
            <a:r>
              <a:rPr lang="en-US" dirty="0" err="1" smtClean="0"/>
              <a:t>Factorise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29903" y="3899805"/>
            <a:ext cx="4673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5) Write the GCF's together as one </a:t>
            </a:r>
            <a:r>
              <a:rPr lang="en-US" dirty="0" smtClean="0"/>
              <a:t>binomial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559461" y="3759854"/>
            <a:ext cx="18069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s-IS" dirty="0" smtClean="0"/>
              <a:t>(x </a:t>
            </a:r>
            <a:r>
              <a:rPr lang="is-IS" dirty="0"/>
              <a:t>+ 2) </a:t>
            </a:r>
            <a:r>
              <a:rPr lang="is-IS" dirty="0" smtClean="0"/>
              <a:t>+ 2x + 1 </a:t>
            </a:r>
            <a:endParaRPr lang="is-IS" dirty="0"/>
          </a:p>
        </p:txBody>
      </p:sp>
      <p:sp>
        <p:nvSpPr>
          <p:cNvPr id="17" name="TextBox 16"/>
          <p:cNvSpPr txBox="1"/>
          <p:nvPr/>
        </p:nvSpPr>
        <p:spPr>
          <a:xfrm>
            <a:off x="429903" y="4435384"/>
            <a:ext cx="529728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6) Write the other common factor as one binomial 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6588224" y="4568415"/>
            <a:ext cx="19545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s-IS" smtClean="0"/>
              <a:t>(x + 2) (2x </a:t>
            </a:r>
            <a:r>
              <a:rPr lang="is-IS"/>
              <a:t>+ </a:t>
            </a:r>
            <a:r>
              <a:rPr lang="is-IS"/>
              <a:t>1</a:t>
            </a:r>
            <a:r>
              <a:rPr lang="is-IS" smtClean="0"/>
              <a:t>)</a:t>
            </a:r>
            <a:endParaRPr lang="is-IS">
              <a:effectLst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29903" y="4951341"/>
            <a:ext cx="6378669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7) Check </a:t>
            </a:r>
            <a:r>
              <a:rPr lang="en-US" dirty="0" smtClean="0"/>
              <a:t>your answer by expanding it out again using FOIL. </a:t>
            </a:r>
            <a:endParaRPr lang="en-US" dirty="0"/>
          </a:p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6372415" y="2436199"/>
            <a:ext cx="1981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dirty="0">
                <a:solidFill>
                  <a:srgbClr val="0070C0"/>
                </a:solidFill>
              </a:rPr>
              <a:t>2x</a:t>
            </a:r>
            <a:r>
              <a:rPr lang="mr-IN" baseline="30000" dirty="0">
                <a:solidFill>
                  <a:srgbClr val="0070C0"/>
                </a:solidFill>
              </a:rPr>
              <a:t>2</a:t>
            </a:r>
            <a:r>
              <a:rPr lang="mr-IN" dirty="0">
                <a:solidFill>
                  <a:srgbClr val="0070C0"/>
                </a:solidFill>
              </a:rPr>
              <a:t> + 4x </a:t>
            </a:r>
            <a:r>
              <a:rPr lang="mr-IN" dirty="0"/>
              <a:t>+ </a:t>
            </a:r>
            <a:r>
              <a:rPr lang="mr-IN" dirty="0">
                <a:solidFill>
                  <a:srgbClr val="00B050"/>
                </a:solidFill>
              </a:rPr>
              <a:t>1x + 2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903" y="2775155"/>
            <a:ext cx="4993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3) Once you have four terms, make </a:t>
            </a:r>
            <a:r>
              <a:rPr lang="en-US" dirty="0" smtClean="0"/>
              <a:t>two groups</a:t>
            </a:r>
          </a:p>
        </p:txBody>
      </p:sp>
      <p:sp>
        <p:nvSpPr>
          <p:cNvPr id="24" name="Right Brace 23"/>
          <p:cNvSpPr/>
          <p:nvPr/>
        </p:nvSpPr>
        <p:spPr>
          <a:xfrm rot="16200000">
            <a:off x="7212689" y="1550330"/>
            <a:ext cx="337477" cy="578293"/>
          </a:xfrm>
          <a:prstGeom prst="rightBrace">
            <a:avLst>
              <a:gd name="adj1" fmla="val 8333"/>
              <a:gd name="adj2" fmla="val 51414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7304809" y="2456433"/>
            <a:ext cx="34671" cy="954481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 flipH="1">
            <a:off x="6948264" y="3365429"/>
            <a:ext cx="1094736" cy="3944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6835554" y="3390147"/>
            <a:ext cx="2" cy="39442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6503697" y="3363569"/>
            <a:ext cx="1166875" cy="46352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7622466" y="3309442"/>
            <a:ext cx="450408" cy="517652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77064" y="4148401"/>
            <a:ext cx="195456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s-IS" dirty="0" smtClean="0"/>
              <a:t>(x + 2) </a:t>
            </a:r>
            <a:endParaRPr lang="is-I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33402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7" grpId="0" animBg="1"/>
      <p:bldP spid="19" grpId="0" animBg="1"/>
      <p:bldP spid="20" grpId="0" animBg="1"/>
      <p:bldP spid="21" grpId="0"/>
      <p:bldP spid="23" grpId="0"/>
      <p:bldP spid="24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try it again...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49" y="1513903"/>
            <a:ext cx="8229600" cy="748680"/>
          </a:xfrm>
        </p:spPr>
        <p:txBody>
          <a:bodyPr/>
          <a:lstStyle/>
          <a:p>
            <a:pPr marL="0" indent="0" algn="ctr">
              <a:buNone/>
            </a:pPr>
            <a:r>
              <a:rPr lang="mr-IN" dirty="0"/>
              <a:t>3x</a:t>
            </a:r>
            <a:r>
              <a:rPr lang="mr-IN" baseline="30000" dirty="0"/>
              <a:t>2</a:t>
            </a:r>
            <a:r>
              <a:rPr lang="mr-IN" dirty="0"/>
              <a:t> + 10x + 8 </a:t>
            </a:r>
            <a:endParaRPr lang="mr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2915816" y="2780928"/>
            <a:ext cx="353334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s-IS" sz="3200" dirty="0" smtClean="0"/>
              <a:t>3x(x + 2) 4 (x + 2) 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347864" y="3902161"/>
            <a:ext cx="2872902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3200" dirty="0"/>
              <a:t>(</a:t>
            </a:r>
            <a:r>
              <a:rPr lang="mr-IN" sz="3200" dirty="0" err="1"/>
              <a:t>x</a:t>
            </a:r>
            <a:r>
              <a:rPr lang="mr-IN" sz="3200" dirty="0"/>
              <a:t> + 2</a:t>
            </a:r>
            <a:r>
              <a:rPr lang="en-US" sz="3200" dirty="0"/>
              <a:t>)</a:t>
            </a:r>
            <a:r>
              <a:rPr lang="mr-IN" sz="3200" dirty="0"/>
              <a:t> </a:t>
            </a:r>
            <a:r>
              <a:rPr lang="mr-IN" sz="3200" dirty="0" smtClean="0"/>
              <a:t>(</a:t>
            </a:r>
            <a:r>
              <a:rPr lang="mr-IN" sz="3200" dirty="0"/>
              <a:t>3x + 4</a:t>
            </a:r>
            <a:r>
              <a:rPr lang="mr-IN" sz="3200" dirty="0" smtClean="0"/>
              <a:t>)</a:t>
            </a:r>
            <a:endParaRPr lang="mr-IN" sz="3200" dirty="0"/>
          </a:p>
          <a:p>
            <a:endParaRPr lang="en-US" dirty="0"/>
          </a:p>
        </p:txBody>
      </p:sp>
      <p:sp>
        <p:nvSpPr>
          <p:cNvPr id="7" name="Right Brace 6"/>
          <p:cNvSpPr/>
          <p:nvPr/>
        </p:nvSpPr>
        <p:spPr>
          <a:xfrm rot="16200000">
            <a:off x="4509611" y="1608517"/>
            <a:ext cx="345748" cy="1077797"/>
          </a:xfrm>
          <a:prstGeom prst="rightBrace">
            <a:avLst>
              <a:gd name="adj1" fmla="val 8333"/>
              <a:gd name="adj2" fmla="val 51414"/>
            </a:avLst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3900980" y="3356992"/>
            <a:ext cx="242606" cy="7177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4029391" y="3356992"/>
            <a:ext cx="1550721" cy="717757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stCxn id="5" idx="0"/>
          </p:cNvCxnSpPr>
          <p:nvPr/>
        </p:nvCxnSpPr>
        <p:spPr>
          <a:xfrm flipH="1">
            <a:off x="4682485" y="2780928"/>
            <a:ext cx="1" cy="691489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347864" y="3356992"/>
            <a:ext cx="1724483" cy="691489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4874344" y="3439241"/>
            <a:ext cx="834179" cy="60924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91958" y="2264899"/>
            <a:ext cx="338105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sz="3200" dirty="0">
                <a:solidFill>
                  <a:srgbClr val="FF0000"/>
                </a:solidFill>
              </a:rPr>
              <a:t>3x</a:t>
            </a:r>
            <a:r>
              <a:rPr lang="mr-IN" sz="3200" baseline="30000" dirty="0">
                <a:solidFill>
                  <a:srgbClr val="FF0000"/>
                </a:solidFill>
              </a:rPr>
              <a:t>2</a:t>
            </a:r>
            <a:r>
              <a:rPr lang="mr-IN" sz="3200" dirty="0">
                <a:solidFill>
                  <a:srgbClr val="FF0000"/>
                </a:solidFill>
              </a:rPr>
              <a:t> + 6x + 4x + 8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50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/>
      <p:bldP spid="7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s-IS" dirty="0"/>
              <a:t>2x</a:t>
            </a:r>
            <a:r>
              <a:rPr lang="is-IS" baseline="30000" dirty="0"/>
              <a:t>2 </a:t>
            </a:r>
            <a:r>
              <a:rPr lang="is-IS" dirty="0"/>
              <a:t>+ 22x + 20 </a:t>
            </a:r>
            <a:r>
              <a:rPr lang="is-IS" dirty="0"/>
              <a:t> </a:t>
            </a:r>
            <a:r>
              <a:rPr lang="is-IS" dirty="0" smtClean="0"/>
              <a:t>                        </a:t>
            </a:r>
            <a:r>
              <a:rPr lang="sv-SE" dirty="0" smtClean="0"/>
              <a:t>4x</a:t>
            </a:r>
            <a:r>
              <a:rPr lang="sv-SE" baseline="30000" dirty="0" smtClean="0"/>
              <a:t>2</a:t>
            </a:r>
            <a:r>
              <a:rPr lang="sv-SE" dirty="0" smtClean="0"/>
              <a:t> -11x </a:t>
            </a:r>
            <a:r>
              <a:rPr lang="sv-SE" dirty="0"/>
              <a:t>+ 6 </a:t>
            </a:r>
            <a:endParaRPr lang="sv-SE" dirty="0"/>
          </a:p>
          <a:p>
            <a:pPr marL="0" indent="0" algn="ctr">
              <a:buNone/>
            </a:pPr>
            <a:endParaRPr lang="is-I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45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556791"/>
            <a:ext cx="8244408" cy="3648589"/>
          </a:xfrm>
        </p:spPr>
      </p:pic>
    </p:spTree>
    <p:extLst>
      <p:ext uri="{BB962C8B-B14F-4D97-AF65-F5344CB8AC3E}">
        <p14:creationId xmlns:p14="http://schemas.microsoft.com/office/powerpoint/2010/main" val="66535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Mini-Whiteboard </a:t>
            </a:r>
            <a:r>
              <a:rPr lang="en-US" dirty="0"/>
              <a:t>Activity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4525963"/>
          </a:xfrm>
          <a:solidFill>
            <a:schemeClr val="bg1"/>
          </a:solidFill>
        </p:spPr>
        <p:txBody>
          <a:bodyPr/>
          <a:lstStyle/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arenR"/>
            </a:pPr>
            <a:r>
              <a:rPr lang="en-US" dirty="0" smtClean="0"/>
              <a:t>Complete </a:t>
            </a:r>
            <a:r>
              <a:rPr lang="en-US" dirty="0"/>
              <a:t>each problem with your partner. Show all </a:t>
            </a:r>
            <a:r>
              <a:rPr lang="en-US" dirty="0" smtClean="0"/>
              <a:t>working </a:t>
            </a:r>
            <a:r>
              <a:rPr lang="en-US" dirty="0" err="1" smtClean="0"/>
              <a:t>ie</a:t>
            </a:r>
            <a:r>
              <a:rPr lang="en-US" dirty="0" smtClean="0"/>
              <a:t>. every step </a:t>
            </a:r>
            <a:endParaRPr lang="en-US" dirty="0"/>
          </a:p>
          <a:p>
            <a:pPr marL="514350" indent="-514350">
              <a:spcBef>
                <a:spcPts val="0"/>
              </a:spcBef>
              <a:spcAft>
                <a:spcPts val="0"/>
              </a:spcAft>
              <a:buAutoNum type="arabicParenR"/>
            </a:pPr>
            <a:endParaRPr lang="en-US" dirty="0"/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2) Agree on an answer</a:t>
            </a:r>
            <a:r>
              <a:rPr lang="en-US" dirty="0" smtClean="0"/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3) Write the answer on your whiteboard</a:t>
            </a:r>
            <a:r>
              <a:rPr lang="en-US" dirty="0" smtClean="0"/>
              <a:t>.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>4) Hold up your whiteboard when I instruct to do so. </a:t>
            </a:r>
            <a:endParaRPr lang="en-US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29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Factoring By Grouping Connect 4 Partner Game.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43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Closure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 smtClean="0"/>
              <a:t>Snowstorm</a:t>
            </a:r>
            <a:endParaRPr lang="en-US" i="1" dirty="0"/>
          </a:p>
          <a:p>
            <a:pPr marL="0" indent="0">
              <a:buNone/>
            </a:pPr>
            <a:r>
              <a:rPr lang="en-US" dirty="0"/>
              <a:t>Students write down what they learned on a piece of scratch paper and </a:t>
            </a:r>
            <a:r>
              <a:rPr lang="en-US" dirty="0" smtClean="0"/>
              <a:t>screw </a:t>
            </a:r>
            <a:r>
              <a:rPr lang="en-US" dirty="0"/>
              <a:t>it up. Given a signal, they throw their paper </a:t>
            </a:r>
            <a:r>
              <a:rPr lang="en-US" dirty="0" smtClean="0"/>
              <a:t>/snowballs </a:t>
            </a:r>
            <a:r>
              <a:rPr lang="en-US" dirty="0"/>
              <a:t>in the air. Then each </a:t>
            </a:r>
            <a:r>
              <a:rPr lang="en-US" dirty="0" smtClean="0"/>
              <a:t>Student </a:t>
            </a:r>
            <a:r>
              <a:rPr lang="en-US" dirty="0"/>
              <a:t>picks up a nearby response and reads it aloud.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86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636" id="{DF23AC15-5DF4-914A-AB3D-EFCE691C88C2}" vid="{2458D6BE-EF50-064C-AB0E-3A0D1802B5C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636</Template>
  <TotalTime>301</TotalTime>
  <Words>345</Words>
  <Application>Microsoft Macintosh PowerPoint</Application>
  <PresentationFormat>On-screen Show (4:3)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Diseño predeterminado</vt:lpstr>
      <vt:lpstr>PowerPoint Presentation</vt:lpstr>
      <vt:lpstr>Warm up</vt:lpstr>
      <vt:lpstr>Direct Teaching</vt:lpstr>
      <vt:lpstr>EQ: How do we factor a trinomial with a leading coefficient greater than 1?   </vt:lpstr>
      <vt:lpstr>How do I Factor by Grouping?  </vt:lpstr>
      <vt:lpstr>Let's try it again...  </vt:lpstr>
      <vt:lpstr>You Try</vt:lpstr>
      <vt:lpstr>Solutions</vt:lpstr>
      <vt:lpstr>Mini-Whiteboard Activity </vt:lpstr>
      <vt:lpstr>Additional Activity</vt:lpstr>
      <vt:lpstr>Closure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12</cp:revision>
  <dcterms:created xsi:type="dcterms:W3CDTF">2017-06-07T03:32:40Z</dcterms:created>
  <dcterms:modified xsi:type="dcterms:W3CDTF">2017-06-07T08:33:56Z</dcterms:modified>
</cp:coreProperties>
</file>
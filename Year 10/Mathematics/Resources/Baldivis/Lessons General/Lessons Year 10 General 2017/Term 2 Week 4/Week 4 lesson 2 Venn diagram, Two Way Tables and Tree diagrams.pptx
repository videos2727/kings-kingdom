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71" r:id="rId2"/>
    <p:sldId id="263" r:id="rId3"/>
    <p:sldId id="257" r:id="rId4"/>
    <p:sldId id="258" r:id="rId5"/>
    <p:sldId id="260" r:id="rId6"/>
    <p:sldId id="264" r:id="rId7"/>
    <p:sldId id="266" r:id="rId8"/>
    <p:sldId id="267" r:id="rId9"/>
    <p:sldId id="268" r:id="rId10"/>
    <p:sldId id="272" r:id="rId11"/>
    <p:sldId id="265" r:id="rId12"/>
    <p:sldId id="269" r:id="rId13"/>
    <p:sldId id="270"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94AA477-598F-4CCF-8F1A-33D43F97EEB0}" type="datetimeFigureOut">
              <a:rPr lang="en-AU" smtClean="0"/>
              <a:t>19/05/2017</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91AD3D9-0B11-4189-8D45-47537C1CF889}" type="slidenum">
              <a:rPr lang="en-AU" smtClean="0"/>
              <a:t>‹#›</a:t>
            </a:fld>
            <a:endParaRPr lang="en-AU"/>
          </a:p>
        </p:txBody>
      </p:sp>
    </p:spTree>
    <p:extLst>
      <p:ext uri="{BB962C8B-B14F-4D97-AF65-F5344CB8AC3E}">
        <p14:creationId xmlns:p14="http://schemas.microsoft.com/office/powerpoint/2010/main" val="3360729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hook</a:t>
            </a:r>
          </a:p>
        </p:txBody>
      </p:sp>
      <p:sp>
        <p:nvSpPr>
          <p:cNvPr id="4" name="Slide Number Placeholder 3"/>
          <p:cNvSpPr>
            <a:spLocks noGrp="1"/>
          </p:cNvSpPr>
          <p:nvPr>
            <p:ph type="sldNum" sz="quarter" idx="10"/>
          </p:nvPr>
        </p:nvSpPr>
        <p:spPr/>
        <p:txBody>
          <a:bodyPr/>
          <a:lstStyle/>
          <a:p>
            <a:fld id="{A91AD3D9-0B11-4189-8D45-47537C1CF889}" type="slidenum">
              <a:rPr lang="en-AU" smtClean="0"/>
              <a:t>2</a:t>
            </a:fld>
            <a:endParaRPr lang="en-AU"/>
          </a:p>
        </p:txBody>
      </p:sp>
    </p:spTree>
    <p:extLst>
      <p:ext uri="{BB962C8B-B14F-4D97-AF65-F5344CB8AC3E}">
        <p14:creationId xmlns:p14="http://schemas.microsoft.com/office/powerpoint/2010/main" val="503413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Lesson </a:t>
            </a:r>
          </a:p>
        </p:txBody>
      </p:sp>
      <p:sp>
        <p:nvSpPr>
          <p:cNvPr id="4" name="Slide Number Placeholder 3"/>
          <p:cNvSpPr>
            <a:spLocks noGrp="1"/>
          </p:cNvSpPr>
          <p:nvPr>
            <p:ph type="sldNum" sz="quarter" idx="10"/>
          </p:nvPr>
        </p:nvSpPr>
        <p:spPr/>
        <p:txBody>
          <a:bodyPr/>
          <a:lstStyle/>
          <a:p>
            <a:fld id="{A91AD3D9-0B11-4189-8D45-47537C1CF889}" type="slidenum">
              <a:rPr lang="en-AU" smtClean="0"/>
              <a:t>3</a:t>
            </a:fld>
            <a:endParaRPr lang="en-AU"/>
          </a:p>
        </p:txBody>
      </p:sp>
    </p:spTree>
    <p:extLst>
      <p:ext uri="{BB962C8B-B14F-4D97-AF65-F5344CB8AC3E}">
        <p14:creationId xmlns:p14="http://schemas.microsoft.com/office/powerpoint/2010/main" val="30634270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Input</a:t>
            </a:r>
          </a:p>
        </p:txBody>
      </p:sp>
      <p:sp>
        <p:nvSpPr>
          <p:cNvPr id="4" name="Slide Number Placeholder 3"/>
          <p:cNvSpPr>
            <a:spLocks noGrp="1"/>
          </p:cNvSpPr>
          <p:nvPr>
            <p:ph type="sldNum" sz="quarter" idx="10"/>
          </p:nvPr>
        </p:nvSpPr>
        <p:spPr/>
        <p:txBody>
          <a:bodyPr/>
          <a:lstStyle/>
          <a:p>
            <a:fld id="{A91AD3D9-0B11-4189-8D45-47537C1CF889}" type="slidenum">
              <a:rPr lang="en-AU" smtClean="0"/>
              <a:t>5</a:t>
            </a:fld>
            <a:endParaRPr lang="en-AU"/>
          </a:p>
        </p:txBody>
      </p:sp>
    </p:spTree>
    <p:extLst>
      <p:ext uri="{BB962C8B-B14F-4D97-AF65-F5344CB8AC3E}">
        <p14:creationId xmlns:p14="http://schemas.microsoft.com/office/powerpoint/2010/main" val="3254196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Lesson</a:t>
            </a:r>
            <a:r>
              <a:rPr lang="en-AU" baseline="0" dirty="0"/>
              <a:t> objective (EQ)</a:t>
            </a:r>
            <a:endParaRPr lang="en-AU" dirty="0"/>
          </a:p>
        </p:txBody>
      </p:sp>
      <p:sp>
        <p:nvSpPr>
          <p:cNvPr id="4" name="Slide Number Placeholder 3"/>
          <p:cNvSpPr>
            <a:spLocks noGrp="1"/>
          </p:cNvSpPr>
          <p:nvPr>
            <p:ph type="sldNum" sz="quarter" idx="10"/>
          </p:nvPr>
        </p:nvSpPr>
        <p:spPr/>
        <p:txBody>
          <a:bodyPr/>
          <a:lstStyle/>
          <a:p>
            <a:fld id="{A91AD3D9-0B11-4189-8D45-47537C1CF889}" type="slidenum">
              <a:rPr lang="en-AU" smtClean="0"/>
              <a:t>6</a:t>
            </a:fld>
            <a:endParaRPr lang="en-AU"/>
          </a:p>
        </p:txBody>
      </p:sp>
    </p:spTree>
    <p:extLst>
      <p:ext uri="{BB962C8B-B14F-4D97-AF65-F5344CB8AC3E}">
        <p14:creationId xmlns:p14="http://schemas.microsoft.com/office/powerpoint/2010/main" val="14258631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Check</a:t>
            </a:r>
            <a:r>
              <a:rPr lang="en-AU" baseline="0" dirty="0"/>
              <a:t> for understanding</a:t>
            </a:r>
            <a:endParaRPr lang="en-AU" dirty="0"/>
          </a:p>
        </p:txBody>
      </p:sp>
      <p:sp>
        <p:nvSpPr>
          <p:cNvPr id="4" name="Slide Number Placeholder 3"/>
          <p:cNvSpPr>
            <a:spLocks noGrp="1"/>
          </p:cNvSpPr>
          <p:nvPr>
            <p:ph type="sldNum" sz="quarter" idx="10"/>
          </p:nvPr>
        </p:nvSpPr>
        <p:spPr/>
        <p:txBody>
          <a:bodyPr/>
          <a:lstStyle/>
          <a:p>
            <a:fld id="{A91AD3D9-0B11-4189-8D45-47537C1CF889}" type="slidenum">
              <a:rPr lang="en-AU" smtClean="0"/>
              <a:t>7</a:t>
            </a:fld>
            <a:endParaRPr lang="en-AU"/>
          </a:p>
        </p:txBody>
      </p:sp>
    </p:spTree>
    <p:extLst>
      <p:ext uri="{BB962C8B-B14F-4D97-AF65-F5344CB8AC3E}">
        <p14:creationId xmlns:p14="http://schemas.microsoft.com/office/powerpoint/2010/main" val="3416884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Closure</a:t>
            </a:r>
          </a:p>
        </p:txBody>
      </p:sp>
      <p:sp>
        <p:nvSpPr>
          <p:cNvPr id="4" name="Slide Number Placeholder 3"/>
          <p:cNvSpPr>
            <a:spLocks noGrp="1"/>
          </p:cNvSpPr>
          <p:nvPr>
            <p:ph type="sldNum" sz="quarter" idx="10"/>
          </p:nvPr>
        </p:nvSpPr>
        <p:spPr/>
        <p:txBody>
          <a:bodyPr/>
          <a:lstStyle/>
          <a:p>
            <a:fld id="{A91AD3D9-0B11-4189-8D45-47537C1CF889}" type="slidenum">
              <a:rPr lang="en-AU" smtClean="0"/>
              <a:t>11</a:t>
            </a:fld>
            <a:endParaRPr lang="en-AU"/>
          </a:p>
        </p:txBody>
      </p:sp>
    </p:spTree>
    <p:extLst>
      <p:ext uri="{BB962C8B-B14F-4D97-AF65-F5344CB8AC3E}">
        <p14:creationId xmlns:p14="http://schemas.microsoft.com/office/powerpoint/2010/main" val="360651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AF971031-8C33-4876-9169-26F597F7E7C1}" type="datetimeFigureOut">
              <a:rPr lang="en-AU" smtClean="0"/>
              <a:t>19/05/2017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973629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F971031-8C33-4876-9169-26F597F7E7C1}" type="datetimeFigureOut">
              <a:rPr lang="en-AU" smtClean="0"/>
              <a:t>19/05/2017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448002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971031-8C33-4876-9169-26F597F7E7C1}" type="datetimeFigureOut">
              <a:rPr lang="en-AU" smtClean="0"/>
              <a:t>19/05/2017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3647504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AF971031-8C33-4876-9169-26F597F7E7C1}" type="datetimeFigureOut">
              <a:rPr lang="en-AU" smtClean="0"/>
              <a:t>19/05/2017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55079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AF971031-8C33-4876-9169-26F597F7E7C1}" type="datetimeFigureOut">
              <a:rPr lang="en-AU" smtClean="0"/>
              <a:t>19/05/2017</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2132040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AF971031-8C33-4876-9169-26F597F7E7C1}" type="datetimeFigureOut">
              <a:rPr lang="en-AU" smtClean="0"/>
              <a:t>19/05/2017</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17742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971031-8C33-4876-9169-26F597F7E7C1}" type="datetimeFigureOut">
              <a:rPr lang="en-AU" smtClean="0"/>
              <a:t>19/05/2017</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053289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F971031-8C33-4876-9169-26F597F7E7C1}" type="datetimeFigureOut">
              <a:rPr lang="en-AU" smtClean="0"/>
              <a:t>19/05/2017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909211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F971031-8C33-4876-9169-26F597F7E7C1}" type="datetimeFigureOut">
              <a:rPr lang="en-AU" smtClean="0"/>
              <a:t>19/05/2017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3143380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F971031-8C33-4876-9169-26F597F7E7C1}" type="datetimeFigureOut">
              <a:rPr lang="en-AU" smtClean="0"/>
              <a:t>19/05/2017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379636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F971031-8C33-4876-9169-26F597F7E7C1}" type="datetimeFigureOut">
              <a:rPr lang="en-AU" smtClean="0"/>
              <a:t>19/05/2017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3992835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971031-8C33-4876-9169-26F597F7E7C1}" type="datetimeFigureOut">
              <a:rPr lang="en-AU" smtClean="0"/>
              <a:t>19/05/2017</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5B1127-360E-4A81-8847-9F94642454F8}" type="slidenum">
              <a:rPr lang="en-AU" smtClean="0"/>
              <a:t>‹#›</a:t>
            </a:fld>
            <a:endParaRPr lang="en-AU"/>
          </a:p>
        </p:txBody>
      </p:sp>
    </p:spTree>
    <p:extLst>
      <p:ext uri="{BB962C8B-B14F-4D97-AF65-F5344CB8AC3E}">
        <p14:creationId xmlns:p14="http://schemas.microsoft.com/office/powerpoint/2010/main" val="855985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Lets get ready Year 10’s</a:t>
            </a:r>
          </a:p>
        </p:txBody>
      </p:sp>
      <p:sp>
        <p:nvSpPr>
          <p:cNvPr id="3" name="Content Placeholder 2"/>
          <p:cNvSpPr>
            <a:spLocks noGrp="1"/>
          </p:cNvSpPr>
          <p:nvPr>
            <p:ph idx="1"/>
          </p:nvPr>
        </p:nvSpPr>
        <p:spPr/>
        <p:txBody>
          <a:bodyPr/>
          <a:lstStyle/>
          <a:p>
            <a:r>
              <a:rPr lang="en-AU" dirty="0"/>
              <a:t>Bag to the front </a:t>
            </a:r>
          </a:p>
          <a:p>
            <a:r>
              <a:rPr lang="en-AU" dirty="0"/>
              <a:t>Equipment out (pencil, book, calculator, ruler)</a:t>
            </a:r>
          </a:p>
          <a:p>
            <a:r>
              <a:rPr lang="en-AU" dirty="0"/>
              <a:t>Sitting in your assigned seat </a:t>
            </a:r>
          </a:p>
          <a:p>
            <a:endParaRPr lang="en-AU" dirty="0"/>
          </a:p>
          <a:p>
            <a:endParaRPr lang="en-AU"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4712" y="3320052"/>
            <a:ext cx="3101504" cy="3267428"/>
          </a:xfrm>
          <a:prstGeom prst="rect">
            <a:avLst/>
          </a:prstGeom>
        </p:spPr>
      </p:pic>
    </p:spTree>
    <p:extLst>
      <p:ext uri="{BB962C8B-B14F-4D97-AF65-F5344CB8AC3E}">
        <p14:creationId xmlns:p14="http://schemas.microsoft.com/office/powerpoint/2010/main" val="1919973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a:t>Mental set</a:t>
            </a:r>
            <a:br>
              <a:rPr lang="en-AU" dirty="0"/>
            </a:br>
            <a:r>
              <a:rPr lang="en-AU" dirty="0"/>
              <a:t>On the left hand side please!</a:t>
            </a:r>
          </a:p>
        </p:txBody>
      </p:sp>
      <p:sp>
        <p:nvSpPr>
          <p:cNvPr id="3" name="Content Placeholder 2"/>
          <p:cNvSpPr>
            <a:spLocks noGrp="1"/>
          </p:cNvSpPr>
          <p:nvPr>
            <p:ph idx="1"/>
          </p:nvPr>
        </p:nvSpPr>
        <p:spPr/>
        <p:txBody>
          <a:bodyPr>
            <a:normAutofit lnSpcReduction="10000"/>
          </a:bodyPr>
          <a:lstStyle/>
          <a:p>
            <a:pPr marL="514350" indent="-514350">
              <a:buAutoNum type="arabicPeriod"/>
            </a:pPr>
            <a:r>
              <a:rPr lang="en-AU" dirty="0"/>
              <a:t> 4x18 =</a:t>
            </a:r>
          </a:p>
          <a:p>
            <a:pPr marL="0" indent="0">
              <a:buNone/>
            </a:pPr>
            <a:r>
              <a:rPr lang="en-AU" dirty="0"/>
              <a:t>2.    27+668 =</a:t>
            </a:r>
          </a:p>
          <a:p>
            <a:pPr marL="0" indent="0">
              <a:buNone/>
            </a:pPr>
            <a:r>
              <a:rPr lang="en-AU" dirty="0"/>
              <a:t>3.    61-89= </a:t>
            </a:r>
          </a:p>
          <a:p>
            <a:pPr marL="0" indent="0">
              <a:buNone/>
            </a:pPr>
            <a:r>
              <a:rPr lang="en-AU" dirty="0"/>
              <a:t>4.    39-43=</a:t>
            </a:r>
          </a:p>
          <a:p>
            <a:pPr marL="0" indent="0">
              <a:buNone/>
            </a:pPr>
            <a:r>
              <a:rPr lang="en-AU" dirty="0"/>
              <a:t>5.    y= 2x+3=17</a:t>
            </a:r>
          </a:p>
          <a:p>
            <a:pPr marL="514350" indent="-514350">
              <a:buAutoNum type="arabicPeriod" startAt="6"/>
            </a:pPr>
            <a:r>
              <a:rPr lang="en-AU" dirty="0"/>
              <a:t>y= 4x-6+3=41</a:t>
            </a:r>
          </a:p>
          <a:p>
            <a:pPr marL="514350" indent="-514350">
              <a:buAutoNum type="arabicPeriod" startAt="6"/>
            </a:pPr>
            <a:r>
              <a:rPr lang="en-AU" dirty="0"/>
              <a:t>3c+5g+8c=</a:t>
            </a:r>
          </a:p>
          <a:p>
            <a:pPr marL="514350" indent="-514350">
              <a:buAutoNum type="arabicPeriod" startAt="6"/>
            </a:pPr>
            <a:r>
              <a:rPr lang="en-AU" dirty="0"/>
              <a:t>5k x 6hj =</a:t>
            </a:r>
          </a:p>
          <a:p>
            <a:pPr marL="514350" indent="-514350">
              <a:buAutoNum type="arabicPeriod" startAt="6"/>
            </a:pPr>
            <a:endParaRPr lang="en-AU" dirty="0"/>
          </a:p>
        </p:txBody>
      </p:sp>
    </p:spTree>
    <p:extLst>
      <p:ext uri="{BB962C8B-B14F-4D97-AF65-F5344CB8AC3E}">
        <p14:creationId xmlns:p14="http://schemas.microsoft.com/office/powerpoint/2010/main" val="3200671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Lesson objective</a:t>
            </a:r>
          </a:p>
        </p:txBody>
      </p:sp>
      <p:sp>
        <p:nvSpPr>
          <p:cNvPr id="3" name="Content Placeholder 2"/>
          <p:cNvSpPr>
            <a:spLocks noGrp="1"/>
          </p:cNvSpPr>
          <p:nvPr>
            <p:ph idx="1"/>
          </p:nvPr>
        </p:nvSpPr>
        <p:spPr/>
        <p:txBody>
          <a:bodyPr/>
          <a:lstStyle/>
          <a:p>
            <a:pPr marL="0" indent="0">
              <a:buNone/>
            </a:pPr>
            <a:r>
              <a:rPr lang="en-AU" dirty="0"/>
              <a:t>By the end of this lesson you will be able to;</a:t>
            </a:r>
          </a:p>
          <a:p>
            <a:pPr marL="0" indent="0">
              <a:buNone/>
            </a:pPr>
            <a:r>
              <a:rPr lang="en-AU" dirty="0"/>
              <a:t>- Use Venn diagrams, Tree diagrams and Two Way Tables correctly.</a:t>
            </a:r>
          </a:p>
        </p:txBody>
      </p:sp>
    </p:spTree>
    <p:extLst>
      <p:ext uri="{BB962C8B-B14F-4D97-AF65-F5344CB8AC3E}">
        <p14:creationId xmlns:p14="http://schemas.microsoft.com/office/powerpoint/2010/main" val="1167979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Quick Write</a:t>
            </a:r>
          </a:p>
        </p:txBody>
      </p:sp>
      <p:sp>
        <p:nvSpPr>
          <p:cNvPr id="3" name="Content Placeholder 2"/>
          <p:cNvSpPr>
            <a:spLocks noGrp="1"/>
          </p:cNvSpPr>
          <p:nvPr>
            <p:ph idx="1"/>
          </p:nvPr>
        </p:nvSpPr>
        <p:spPr/>
        <p:txBody>
          <a:bodyPr/>
          <a:lstStyle/>
          <a:p>
            <a:pPr marL="0" indent="0" algn="ctr">
              <a:buNone/>
            </a:pPr>
            <a:r>
              <a:rPr lang="en-AU" dirty="0"/>
              <a:t>You have </a:t>
            </a:r>
            <a:r>
              <a:rPr lang="en-AU" dirty="0">
                <a:latin typeface="Lucida Console" panose="020B0609040504020204" pitchFamily="49" charset="0"/>
              </a:rPr>
              <a:t>1</a:t>
            </a:r>
            <a:r>
              <a:rPr lang="en-AU" dirty="0"/>
              <a:t> minute</a:t>
            </a:r>
          </a:p>
          <a:p>
            <a:pPr marL="0" indent="0" algn="ctr">
              <a:buNone/>
            </a:pPr>
            <a:r>
              <a:rPr lang="en-AU" dirty="0"/>
              <a:t> Write as much as you can about Venn diagrams, Two Way Tables and Tree Diagrams.</a:t>
            </a:r>
          </a:p>
        </p:txBody>
      </p:sp>
    </p:spTree>
    <p:extLst>
      <p:ext uri="{BB962C8B-B14F-4D97-AF65-F5344CB8AC3E}">
        <p14:creationId xmlns:p14="http://schemas.microsoft.com/office/powerpoint/2010/main" val="3209397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859420" y="195900"/>
            <a:ext cx="4378186" cy="523220"/>
          </a:xfrm>
          <a:prstGeom prst="rect">
            <a:avLst/>
          </a:prstGeom>
          <a:noFill/>
        </p:spPr>
        <p:txBody>
          <a:bodyPr wrap="none" rtlCol="0">
            <a:spAutoFit/>
          </a:bodyPr>
          <a:lstStyle/>
          <a:p>
            <a:pPr algn="ctr"/>
            <a:r>
              <a:rPr lang="en-AU" sz="2800" dirty="0"/>
              <a:t>Probability of a single event?</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 </a:t>
            </a:r>
          </a:p>
        </p:txBody>
      </p:sp>
      <p:sp>
        <p:nvSpPr>
          <p:cNvPr id="3" name="TextBox 2"/>
          <p:cNvSpPr txBox="1"/>
          <p:nvPr/>
        </p:nvSpPr>
        <p:spPr>
          <a:xfrm>
            <a:off x="652833" y="1088452"/>
            <a:ext cx="7358849" cy="830997"/>
          </a:xfrm>
          <a:prstGeom prst="rect">
            <a:avLst/>
          </a:prstGeom>
          <a:noFill/>
        </p:spPr>
        <p:txBody>
          <a:bodyPr wrap="square" rtlCol="0">
            <a:spAutoFit/>
          </a:bodyPr>
          <a:lstStyle/>
          <a:p>
            <a:r>
              <a:rPr lang="en-AU" sz="2400" dirty="0"/>
              <a:t>EQ –What are the important points to remember when using Venn diagrams, Tree diagrams and Two Way Tables?</a:t>
            </a:r>
          </a:p>
        </p:txBody>
      </p:sp>
      <p:sp>
        <p:nvSpPr>
          <p:cNvPr id="5" name="TextBox 4"/>
          <p:cNvSpPr txBox="1"/>
          <p:nvPr/>
        </p:nvSpPr>
        <p:spPr>
          <a:xfrm>
            <a:off x="93470" y="2098039"/>
            <a:ext cx="2822345" cy="5078313"/>
          </a:xfrm>
          <a:prstGeom prst="rect">
            <a:avLst/>
          </a:prstGeom>
          <a:noFill/>
        </p:spPr>
        <p:txBody>
          <a:bodyPr wrap="square" rtlCol="0">
            <a:spAutoFit/>
          </a:bodyPr>
          <a:lstStyle/>
          <a:p>
            <a:pPr algn="ctr"/>
            <a:r>
              <a:rPr lang="en-AU" dirty="0"/>
              <a:t>Two Way Table example </a:t>
            </a:r>
          </a:p>
          <a:p>
            <a:r>
              <a:rPr lang="en-AU" dirty="0"/>
              <a:t>How many people play snooker?</a:t>
            </a:r>
          </a:p>
          <a:p>
            <a:r>
              <a:rPr lang="en-AU" dirty="0"/>
              <a:t>How many people play snooker and piano?</a:t>
            </a:r>
          </a:p>
          <a:p>
            <a:pPr algn="ctr"/>
            <a:endParaRPr lang="en-AU" dirty="0"/>
          </a:p>
          <a:p>
            <a:pPr algn="ctr"/>
            <a:endParaRPr lang="en-AU" dirty="0"/>
          </a:p>
          <a:p>
            <a:pPr algn="ctr"/>
            <a:endParaRPr lang="en-AU" dirty="0"/>
          </a:p>
          <a:p>
            <a:pPr algn="ctr"/>
            <a:endParaRPr lang="en-AU" dirty="0"/>
          </a:p>
          <a:p>
            <a:pPr algn="ctr"/>
            <a:r>
              <a:rPr lang="en-AU" dirty="0"/>
              <a:t>Tree Diagram Example</a:t>
            </a:r>
          </a:p>
          <a:p>
            <a:r>
              <a:rPr lang="en-AU" dirty="0"/>
              <a:t>How many combinations are there?</a:t>
            </a:r>
          </a:p>
          <a:p>
            <a:endParaRPr lang="en-AU" dirty="0"/>
          </a:p>
          <a:p>
            <a:pPr algn="ctr"/>
            <a:endParaRPr lang="en-AU" dirty="0"/>
          </a:p>
          <a:p>
            <a:pPr algn="ctr"/>
            <a:endParaRPr lang="en-AU" dirty="0"/>
          </a:p>
          <a:p>
            <a:pPr algn="ctr"/>
            <a:endParaRPr lang="en-AU" dirty="0"/>
          </a:p>
          <a:p>
            <a:pPr algn="ctr"/>
            <a:endParaRPr lang="en-AU" dirty="0"/>
          </a:p>
          <a:p>
            <a:pPr algn="ctr"/>
            <a:endParaRPr lang="en-AU" dirty="0"/>
          </a:p>
        </p:txBody>
      </p:sp>
      <p:sp>
        <p:nvSpPr>
          <p:cNvPr id="12" name="TextBox 11"/>
          <p:cNvSpPr txBox="1"/>
          <p:nvPr/>
        </p:nvSpPr>
        <p:spPr>
          <a:xfrm>
            <a:off x="3101290" y="2033929"/>
            <a:ext cx="5386566" cy="6186309"/>
          </a:xfrm>
          <a:prstGeom prst="rect">
            <a:avLst/>
          </a:prstGeom>
          <a:noFill/>
        </p:spPr>
        <p:txBody>
          <a:bodyPr wrap="square" rtlCol="0">
            <a:spAutoFit/>
          </a:bodyPr>
          <a:lstStyle/>
          <a:p>
            <a:r>
              <a:rPr lang="en-AU" dirty="0"/>
              <a:t>A survey was undertaken to see if their was a connection between people that play snooker and people that play piano. 63 people play Snooker and piano, 26 people play piano but don’t play snooker, 81 people play snooker but don’t play piano and 16 don’t play either. Represent this information using a two way table.</a:t>
            </a:r>
          </a:p>
          <a:p>
            <a:endParaRPr lang="en-AU" dirty="0"/>
          </a:p>
          <a:p>
            <a:endParaRPr lang="en-AU" dirty="0"/>
          </a:p>
          <a:p>
            <a:r>
              <a:rPr lang="en-AU" dirty="0"/>
              <a:t>Mr Morgan is something of shopaholic and is looking at buying 4 shirts (blue, gold, salmon and green), 3 shorts (Adidas, Nike and new balance) and 2 sets of sunglasses (Gucci and Ray-Ban). Unfortunately Mr Morgan is strapped for cash and can only buy one shirt, one pair of shorts and one pair of sunglasses. Create a tree diagram that represents Mr Morgan's options.</a:t>
            </a:r>
          </a:p>
          <a:p>
            <a:endParaRPr lang="en-AU" dirty="0"/>
          </a:p>
          <a:p>
            <a:endParaRPr lang="en-AU" dirty="0"/>
          </a:p>
          <a:p>
            <a:endParaRPr lang="en-AU" dirty="0"/>
          </a:p>
          <a:p>
            <a:endParaRPr lang="en-AU" dirty="0"/>
          </a:p>
          <a:p>
            <a:endParaRPr lang="en-AU" dirty="0"/>
          </a:p>
          <a:p>
            <a:endParaRPr lang="en-AU" dirty="0"/>
          </a:p>
        </p:txBody>
      </p:sp>
    </p:spTree>
    <p:extLst>
      <p:ext uri="{BB962C8B-B14F-4D97-AF65-F5344CB8AC3E}">
        <p14:creationId xmlns:p14="http://schemas.microsoft.com/office/powerpoint/2010/main" val="233300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1756250" cy="523220"/>
          </a:xfrm>
          <a:prstGeom prst="rect">
            <a:avLst/>
          </a:prstGeom>
          <a:noFill/>
        </p:spPr>
        <p:txBody>
          <a:bodyPr wrap="none" rtlCol="0">
            <a:spAutoFit/>
          </a:bodyPr>
          <a:lstStyle/>
          <a:p>
            <a:r>
              <a:rPr lang="en-AU" sz="2800" dirty="0"/>
              <a:t>Probability</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1200329"/>
          </a:xfrm>
          <a:prstGeom prst="rect">
            <a:avLst/>
          </a:prstGeom>
          <a:noFill/>
        </p:spPr>
        <p:txBody>
          <a:bodyPr wrap="square" rtlCol="0">
            <a:spAutoFit/>
          </a:bodyPr>
          <a:lstStyle/>
          <a:p>
            <a:r>
              <a:rPr lang="en-AU" sz="2400" dirty="0"/>
              <a:t>EQ –What are the important points to remember when using Venn diagrams, Tree diagrams and Two Way Tables?</a:t>
            </a:r>
          </a:p>
          <a:p>
            <a:endParaRPr lang="en-AU" sz="2400" dirty="0"/>
          </a:p>
        </p:txBody>
      </p:sp>
      <p:sp>
        <p:nvSpPr>
          <p:cNvPr id="5" name="TextBox 4"/>
          <p:cNvSpPr txBox="1"/>
          <p:nvPr/>
        </p:nvSpPr>
        <p:spPr>
          <a:xfrm>
            <a:off x="706837" y="2308564"/>
            <a:ext cx="2165029" cy="2862322"/>
          </a:xfrm>
          <a:prstGeom prst="rect">
            <a:avLst/>
          </a:prstGeom>
          <a:noFill/>
        </p:spPr>
        <p:txBody>
          <a:bodyPr wrap="square" rtlCol="0">
            <a:spAutoFit/>
          </a:bodyPr>
          <a:lstStyle/>
          <a:p>
            <a:pPr algn="ctr"/>
            <a:r>
              <a:rPr lang="en-AU" dirty="0"/>
              <a:t>Venn Diagram</a:t>
            </a:r>
          </a:p>
          <a:p>
            <a:pPr algn="ctr"/>
            <a:r>
              <a:rPr lang="en-AU" dirty="0"/>
              <a:t>Example</a:t>
            </a:r>
          </a:p>
          <a:p>
            <a:pPr algn="ctr"/>
            <a:r>
              <a:rPr lang="en-AU" dirty="0"/>
              <a:t>How many Teachers don’t wont like comedy or drama?</a:t>
            </a:r>
          </a:p>
          <a:p>
            <a:pPr algn="ctr"/>
            <a:r>
              <a:rPr lang="en-AU" dirty="0"/>
              <a:t> </a:t>
            </a:r>
          </a:p>
          <a:p>
            <a:pPr algn="ctr"/>
            <a:endParaRPr lang="en-AU" dirty="0"/>
          </a:p>
          <a:p>
            <a:pPr algn="ctr"/>
            <a:endParaRPr lang="en-AU" dirty="0"/>
          </a:p>
          <a:p>
            <a:pPr algn="ctr"/>
            <a:endParaRPr lang="en-AU" dirty="0"/>
          </a:p>
          <a:p>
            <a:pPr algn="ctr"/>
            <a:endParaRPr lang="en-AU" dirty="0"/>
          </a:p>
        </p:txBody>
      </p:sp>
      <p:sp>
        <p:nvSpPr>
          <p:cNvPr id="8" name="TextBox 7"/>
          <p:cNvSpPr txBox="1"/>
          <p:nvPr/>
        </p:nvSpPr>
        <p:spPr>
          <a:xfrm>
            <a:off x="3383868" y="2328885"/>
            <a:ext cx="4896544" cy="1754326"/>
          </a:xfrm>
          <a:prstGeom prst="rect">
            <a:avLst/>
          </a:prstGeom>
          <a:noFill/>
        </p:spPr>
        <p:txBody>
          <a:bodyPr wrap="square" rtlCol="0">
            <a:spAutoFit/>
          </a:bodyPr>
          <a:lstStyle/>
          <a:p>
            <a:r>
              <a:rPr lang="en-AU" dirty="0"/>
              <a:t>Mr Craig wanted to organise a movie night for all 150 teachers at Baldivis. The options were comedy and drama. 44 teachers like drama and 31 of the  88 teachers that like comedy also like drama. Create a Venn Diagram that represents this information.</a:t>
            </a:r>
          </a:p>
        </p:txBody>
      </p:sp>
    </p:spTree>
    <p:extLst>
      <p:ext uri="{BB962C8B-B14F-4D97-AF65-F5344CB8AC3E}">
        <p14:creationId xmlns:p14="http://schemas.microsoft.com/office/powerpoint/2010/main" val="321455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19672" y="404664"/>
            <a:ext cx="5760640" cy="707886"/>
          </a:xfrm>
          <a:prstGeom prst="rect">
            <a:avLst/>
          </a:prstGeom>
          <a:noFill/>
        </p:spPr>
        <p:txBody>
          <a:bodyPr wrap="square" rtlCol="0">
            <a:spAutoFit/>
          </a:bodyPr>
          <a:lstStyle/>
          <a:p>
            <a:pPr algn="ctr"/>
            <a:r>
              <a:rPr lang="en-AU" sz="4000" dirty="0"/>
              <a:t>Check for understanding</a:t>
            </a:r>
          </a:p>
        </p:txBody>
      </p:sp>
      <p:sp>
        <p:nvSpPr>
          <p:cNvPr id="4" name="TextBox 3"/>
          <p:cNvSpPr txBox="1"/>
          <p:nvPr/>
        </p:nvSpPr>
        <p:spPr>
          <a:xfrm>
            <a:off x="1618374" y="1268760"/>
            <a:ext cx="6265994" cy="5632311"/>
          </a:xfrm>
          <a:prstGeom prst="rect">
            <a:avLst/>
          </a:prstGeom>
          <a:noFill/>
        </p:spPr>
        <p:txBody>
          <a:bodyPr wrap="square" rtlCol="0">
            <a:spAutoFit/>
          </a:bodyPr>
          <a:lstStyle/>
          <a:p>
            <a:pPr algn="ctr"/>
            <a:r>
              <a:rPr lang="en-AU" dirty="0"/>
              <a:t>Probability = </a:t>
            </a:r>
            <a:r>
              <a:rPr lang="en-AU" u="sng" dirty="0"/>
              <a:t>Number of possible outcomes</a:t>
            </a:r>
          </a:p>
          <a:p>
            <a:r>
              <a:rPr lang="en-AU" dirty="0"/>
              <a:t>                                                Total number of outcomes</a:t>
            </a:r>
          </a:p>
          <a:p>
            <a:pPr marL="342900" indent="-342900">
              <a:buAutoNum type="arabicPeriod"/>
            </a:pPr>
            <a:endParaRPr lang="en-AU" dirty="0"/>
          </a:p>
          <a:p>
            <a:r>
              <a:rPr lang="en-AU" dirty="0"/>
              <a:t>Mary is a very active girl and she insists on doing </a:t>
            </a:r>
            <a:r>
              <a:rPr lang="en-AU" b="1" u="sng" dirty="0"/>
              <a:t>one </a:t>
            </a:r>
            <a:r>
              <a:rPr lang="en-AU" dirty="0"/>
              <a:t>sport every day. Use either a Venn diagram, two way table or tree diagram to represent the following information.</a:t>
            </a:r>
          </a:p>
          <a:p>
            <a:endParaRPr lang="en-AU" dirty="0"/>
          </a:p>
          <a:p>
            <a:r>
              <a:rPr lang="en-AU" dirty="0"/>
              <a:t>Cricket and Tee-ball is on Monday.</a:t>
            </a:r>
          </a:p>
          <a:p>
            <a:r>
              <a:rPr lang="en-AU" dirty="0"/>
              <a:t>Squash and Wrestling on Tuesday.</a:t>
            </a:r>
          </a:p>
          <a:p>
            <a:r>
              <a:rPr lang="en-AU" dirty="0"/>
              <a:t>Ballroom dancing and rock climbing on Wednesday.</a:t>
            </a:r>
          </a:p>
          <a:p>
            <a:r>
              <a:rPr lang="en-AU" dirty="0"/>
              <a:t>Volleyball and AFL on Thursday.</a:t>
            </a:r>
          </a:p>
          <a:p>
            <a:r>
              <a:rPr lang="en-AU" dirty="0"/>
              <a:t>Boxing and Soccer on Friday. </a:t>
            </a:r>
          </a:p>
          <a:p>
            <a:endParaRPr lang="en-AU" dirty="0"/>
          </a:p>
          <a:p>
            <a:r>
              <a:rPr lang="en-AU" dirty="0"/>
              <a:t>How many options does Mary have?</a:t>
            </a:r>
          </a:p>
          <a:p>
            <a:r>
              <a:rPr lang="en-AU" dirty="0"/>
              <a:t>What is the probability of her picking squash?</a:t>
            </a:r>
          </a:p>
          <a:p>
            <a:r>
              <a:rPr lang="en-AU" dirty="0"/>
              <a:t>What is the probability of her doing wrestling and AFL?</a:t>
            </a:r>
          </a:p>
          <a:p>
            <a:r>
              <a:rPr lang="en-AU" dirty="0"/>
              <a:t>What is the probability of not doing tee-ball?</a:t>
            </a:r>
          </a:p>
          <a:p>
            <a:endParaRPr lang="en-AU" dirty="0"/>
          </a:p>
          <a:p>
            <a:endParaRPr lang="en-AU" dirty="0"/>
          </a:p>
          <a:p>
            <a:endParaRPr lang="en-AU" dirty="0"/>
          </a:p>
        </p:txBody>
      </p:sp>
    </p:spTree>
    <p:extLst>
      <p:ext uri="{BB962C8B-B14F-4D97-AF65-F5344CB8AC3E}">
        <p14:creationId xmlns:p14="http://schemas.microsoft.com/office/powerpoint/2010/main" val="3689543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AU" dirty="0"/>
            </a:br>
            <a:r>
              <a:rPr lang="en-AU" dirty="0"/>
              <a:t>Lets see what you can do.</a:t>
            </a:r>
          </a:p>
        </p:txBody>
      </p:sp>
      <p:sp>
        <p:nvSpPr>
          <p:cNvPr id="7" name="Content Placeholder 6"/>
          <p:cNvSpPr>
            <a:spLocks noGrp="1"/>
          </p:cNvSpPr>
          <p:nvPr>
            <p:ph idx="1"/>
          </p:nvPr>
        </p:nvSpPr>
        <p:spPr/>
        <p:txBody>
          <a:bodyPr/>
          <a:lstStyle/>
          <a:p>
            <a:pPr marL="0" indent="0">
              <a:buNone/>
            </a:pPr>
            <a:endParaRPr lang="en-AU" dirty="0"/>
          </a:p>
          <a:p>
            <a:pPr marL="0" indent="0">
              <a:buNone/>
            </a:pPr>
            <a:endParaRPr lang="en-AU" dirty="0"/>
          </a:p>
        </p:txBody>
      </p:sp>
      <p:pic>
        <p:nvPicPr>
          <p:cNvPr id="3" name="Picture 2"/>
          <p:cNvPicPr>
            <a:picLocks noChangeAspect="1"/>
          </p:cNvPicPr>
          <p:nvPr/>
        </p:nvPicPr>
        <p:blipFill rotWithShape="1">
          <a:blip r:embed="rId2"/>
          <a:srcRect l="30313" t="10877" r="31101" b="12181"/>
          <a:stretch/>
        </p:blipFill>
        <p:spPr>
          <a:xfrm>
            <a:off x="464" y="0"/>
            <a:ext cx="8964024" cy="6807740"/>
          </a:xfrm>
          <a:prstGeom prst="rect">
            <a:avLst/>
          </a:prstGeom>
        </p:spPr>
      </p:pic>
    </p:spTree>
    <p:extLst>
      <p:ext uri="{BB962C8B-B14F-4D97-AF65-F5344CB8AC3E}">
        <p14:creationId xmlns:p14="http://schemas.microsoft.com/office/powerpoint/2010/main" val="2351322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pic>
        <p:nvPicPr>
          <p:cNvPr id="5" name="Content Placeholder 4"/>
          <p:cNvPicPr>
            <a:picLocks noGrp="1" noChangeAspect="1"/>
          </p:cNvPicPr>
          <p:nvPr>
            <p:ph idx="1"/>
          </p:nvPr>
        </p:nvPicPr>
        <p:blipFill rotWithShape="1">
          <a:blip r:embed="rId2"/>
          <a:srcRect l="31469" t="29271" r="30659" b="17122"/>
          <a:stretch/>
        </p:blipFill>
        <p:spPr>
          <a:xfrm>
            <a:off x="179512" y="274637"/>
            <a:ext cx="8280920" cy="6643253"/>
          </a:xfrm>
          <a:prstGeom prst="rect">
            <a:avLst/>
          </a:prstGeom>
        </p:spPr>
      </p:pic>
    </p:spTree>
    <p:extLst>
      <p:ext uri="{BB962C8B-B14F-4D97-AF65-F5344CB8AC3E}">
        <p14:creationId xmlns:p14="http://schemas.microsoft.com/office/powerpoint/2010/main" val="1737308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Extension Activity</a:t>
            </a:r>
          </a:p>
        </p:txBody>
      </p:sp>
      <p:pic>
        <p:nvPicPr>
          <p:cNvPr id="4" name="Content Placeholder 3"/>
          <p:cNvPicPr>
            <a:picLocks noGrp="1" noChangeAspect="1"/>
          </p:cNvPicPr>
          <p:nvPr>
            <p:ph idx="1"/>
          </p:nvPr>
        </p:nvPicPr>
        <p:blipFill rotWithShape="1">
          <a:blip r:embed="rId2"/>
          <a:srcRect l="29426" t="27679" r="30321" b="48456"/>
          <a:stretch/>
        </p:blipFill>
        <p:spPr>
          <a:xfrm>
            <a:off x="323528" y="1417638"/>
            <a:ext cx="8626366" cy="3811562"/>
          </a:xfrm>
          <a:prstGeom prst="rect">
            <a:avLst/>
          </a:prstGeom>
        </p:spPr>
      </p:pic>
    </p:spTree>
    <p:extLst>
      <p:ext uri="{BB962C8B-B14F-4D97-AF65-F5344CB8AC3E}">
        <p14:creationId xmlns:p14="http://schemas.microsoft.com/office/powerpoint/2010/main" val="4135036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a:t>Thumbs up, down or sideways Checking for Competency</a:t>
            </a:r>
          </a:p>
        </p:txBody>
      </p:sp>
      <p:sp>
        <p:nvSpPr>
          <p:cNvPr id="3" name="Content Placeholder 2"/>
          <p:cNvSpPr>
            <a:spLocks noGrp="1"/>
          </p:cNvSpPr>
          <p:nvPr>
            <p:ph idx="1"/>
          </p:nvPr>
        </p:nvSpPr>
        <p:spPr>
          <a:xfrm>
            <a:off x="251520" y="1556792"/>
            <a:ext cx="8229600" cy="4525963"/>
          </a:xfrm>
        </p:spPr>
        <p:txBody>
          <a:bodyPr/>
          <a:lstStyle/>
          <a:p>
            <a:pPr marL="0" indent="0">
              <a:buNone/>
            </a:pPr>
            <a:r>
              <a:rPr lang="en-AU" dirty="0"/>
              <a:t>Thumbs up – I got it, this makes sense. I'm the bomb.com.</a:t>
            </a:r>
          </a:p>
          <a:p>
            <a:pPr marL="0" indent="0">
              <a:buNone/>
            </a:pPr>
            <a:r>
              <a:rPr lang="en-AU" dirty="0"/>
              <a:t>Thumbs sideways –I need a little more practise before I'm ‘</a:t>
            </a:r>
            <a:r>
              <a:rPr lang="en-AU" dirty="0" err="1"/>
              <a:t>rockin</a:t>
            </a:r>
            <a:r>
              <a:rPr lang="en-AU" dirty="0"/>
              <a:t>’ this.</a:t>
            </a:r>
          </a:p>
          <a:p>
            <a:pPr marL="0" indent="0">
              <a:buNone/>
            </a:pPr>
            <a:r>
              <a:rPr lang="en-AU" dirty="0"/>
              <a:t> Thumbs down – I still don’t quite understand probability I need a little more help.</a:t>
            </a:r>
          </a:p>
          <a:p>
            <a:pPr marL="0" indent="0">
              <a:buNone/>
            </a:pPr>
            <a:endParaRPr lang="en-AU" dirty="0"/>
          </a:p>
          <a:p>
            <a:pPr marL="0" indent="0">
              <a:buNone/>
            </a:pPr>
            <a:endParaRPr lang="en-AU" dirty="0"/>
          </a:p>
        </p:txBody>
      </p:sp>
    </p:spTree>
    <p:extLst>
      <p:ext uri="{BB962C8B-B14F-4D97-AF65-F5344CB8AC3E}">
        <p14:creationId xmlns:p14="http://schemas.microsoft.com/office/powerpoint/2010/main" val="2811239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Tutoring </a:t>
            </a:r>
          </a:p>
        </p:txBody>
      </p:sp>
      <p:sp>
        <p:nvSpPr>
          <p:cNvPr id="3" name="Content Placeholder 2"/>
          <p:cNvSpPr>
            <a:spLocks noGrp="1"/>
          </p:cNvSpPr>
          <p:nvPr>
            <p:ph idx="1"/>
          </p:nvPr>
        </p:nvSpPr>
        <p:spPr>
          <a:xfrm>
            <a:off x="461497" y="1628800"/>
            <a:ext cx="8229600" cy="5229200"/>
          </a:xfrm>
        </p:spPr>
        <p:txBody>
          <a:bodyPr/>
          <a:lstStyle/>
          <a:p>
            <a:pPr algn="ctr"/>
            <a:r>
              <a:rPr lang="en-AU" dirty="0"/>
              <a:t>Every Thursday afterschool be there or be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7864" y="2204864"/>
            <a:ext cx="2857500" cy="2857500"/>
          </a:xfrm>
          <a:prstGeom prst="rect">
            <a:avLst/>
          </a:prstGeom>
        </p:spPr>
      </p:pic>
    </p:spTree>
    <p:extLst>
      <p:ext uri="{BB962C8B-B14F-4D97-AF65-F5344CB8AC3E}">
        <p14:creationId xmlns:p14="http://schemas.microsoft.com/office/powerpoint/2010/main" val="1482546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a:t>Thankyou and have a Wonderful Day</a:t>
            </a:r>
          </a:p>
        </p:txBody>
      </p:sp>
      <p:sp>
        <p:nvSpPr>
          <p:cNvPr id="6" name="TextBox 5"/>
          <p:cNvSpPr txBox="1"/>
          <p:nvPr/>
        </p:nvSpPr>
        <p:spPr>
          <a:xfrm>
            <a:off x="2123728" y="5661248"/>
            <a:ext cx="5472608" cy="369332"/>
          </a:xfrm>
          <a:prstGeom prst="rect">
            <a:avLst/>
          </a:prstGeom>
          <a:noFill/>
        </p:spPr>
        <p:txBody>
          <a:bodyPr wrap="square" rtlCol="0">
            <a:spAutoFit/>
          </a:bodyPr>
          <a:lstStyle/>
          <a:p>
            <a:r>
              <a:rPr lang="en-AU" dirty="0"/>
              <a:t>Trivia Question – Name that movie?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9712" y="1287162"/>
            <a:ext cx="5400600" cy="4370887"/>
          </a:xfrm>
          <a:prstGeom prst="rect">
            <a:avLst/>
          </a:prstGeom>
        </p:spPr>
      </p:pic>
      <p:sp>
        <p:nvSpPr>
          <p:cNvPr id="12" name="Content Placeholder 11"/>
          <p:cNvSpPr>
            <a:spLocks noGrp="1"/>
          </p:cNvSpPr>
          <p:nvPr>
            <p:ph idx="1"/>
          </p:nvPr>
        </p:nvSpPr>
        <p:spPr/>
        <p:txBody>
          <a:bodyPr/>
          <a:lstStyle/>
          <a:p>
            <a:endParaRPr lang="en-AU" dirty="0"/>
          </a:p>
        </p:txBody>
      </p:sp>
    </p:spTree>
    <p:extLst>
      <p:ext uri="{BB962C8B-B14F-4D97-AF65-F5344CB8AC3E}">
        <p14:creationId xmlns:p14="http://schemas.microsoft.com/office/powerpoint/2010/main" val="39752759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455</TotalTime>
  <Words>617</Words>
  <Application>Microsoft Office PowerPoint</Application>
  <PresentationFormat>On-screen Show (4:3)</PresentationFormat>
  <Paragraphs>100</Paragraphs>
  <Slides>13</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Lucida Console</vt:lpstr>
      <vt:lpstr>Office Theme</vt:lpstr>
      <vt:lpstr>Lets get ready Year 10’s</vt:lpstr>
      <vt:lpstr>Mental set On the left hand side please!</vt:lpstr>
      <vt:lpstr>Lesson objective</vt:lpstr>
      <vt:lpstr>Quick Write</vt:lpstr>
      <vt:lpstr>PowerPoint Presentation</vt:lpstr>
      <vt:lpstr>PowerPoint Presentation</vt:lpstr>
      <vt:lpstr>PowerPoint Presentation</vt:lpstr>
      <vt:lpstr> Lets see what you can do.</vt:lpstr>
      <vt:lpstr>PowerPoint Presentation</vt:lpstr>
      <vt:lpstr>Extension Activity</vt:lpstr>
      <vt:lpstr>Thumbs up, down or sideways Checking for Competency</vt:lpstr>
      <vt:lpstr>Tutoring </vt:lpstr>
      <vt:lpstr>Thankyou and have a Wonderful Day</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Mental set</dc:title>
  <dc:creator>MORGAN Adam</dc:creator>
  <cp:lastModifiedBy>GREEN\e4081860</cp:lastModifiedBy>
  <cp:revision>36</cp:revision>
  <dcterms:created xsi:type="dcterms:W3CDTF">2016-10-20T03:14:06Z</dcterms:created>
  <dcterms:modified xsi:type="dcterms:W3CDTF">2017-05-19T00:34:37Z</dcterms:modified>
</cp:coreProperties>
</file>
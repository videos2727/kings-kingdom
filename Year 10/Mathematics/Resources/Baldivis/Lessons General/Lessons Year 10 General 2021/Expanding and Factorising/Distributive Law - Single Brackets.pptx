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64" r:id="rId6"/>
    <p:sldId id="261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9" autoAdjust="0"/>
    <p:restoredTop sz="86716" autoAdjust="0"/>
  </p:normalViewPr>
  <p:slideViewPr>
    <p:cSldViewPr snapToGrid="0">
      <p:cViewPr>
        <p:scale>
          <a:sx n="81" d="100"/>
          <a:sy n="81" d="100"/>
        </p:scale>
        <p:origin x="3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23A1B-60A7-4C10-81A1-B08F260FFB29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9327-ECF8-4851-B374-B57FECA6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4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Mr Parekh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Set – Leave the questions</a:t>
            </a:r>
            <a:r>
              <a:rPr lang="en-AU" baseline="0" dirty="0"/>
              <a:t> on the board. Ask students to attempt the questions as they enter.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35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5BE75-6727-4F64-82F8-DA94106C0530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46821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5F1281-AA51-493F-9688-BBBC865E690C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373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5F1281-AA51-493F-9688-BBBC865E690C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/>
              <a:t>Can be used to model response</a:t>
            </a:r>
            <a:r>
              <a:rPr lang="en-GB" baseline="0" dirty="0"/>
              <a:t> before asking students to attempt Question 10-15 of </a:t>
            </a:r>
            <a:r>
              <a:rPr lang="en-GB" baseline="0" dirty="0" err="1"/>
              <a:t>Exerise</a:t>
            </a:r>
            <a:r>
              <a:rPr lang="en-GB" baseline="0" dirty="0"/>
              <a:t> 1.3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24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Can be a exit pass as well.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1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2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4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97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5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1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09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8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0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76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0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501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223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2623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6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69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5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17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Distributive 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Single Brackets</a:t>
            </a:r>
          </a:p>
        </p:txBody>
      </p:sp>
    </p:spTree>
    <p:extLst>
      <p:ext uri="{BB962C8B-B14F-4D97-AF65-F5344CB8AC3E}">
        <p14:creationId xmlns:p14="http://schemas.microsoft.com/office/powerpoint/2010/main" val="326520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Revision – Do Now	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20262"/>
                <a:ext cx="8596668" cy="388077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AU" sz="2800" b="0" i="1" dirty="0">
                    <a:latin typeface="Cambria Math" panose="02040503050406030204" pitchFamily="18" charset="0"/>
                  </a:rPr>
                  <a:t>Multiplying Pronumerals.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×−3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𝑦𝑧</m:t>
                    </m:r>
                  </m:oMath>
                </a14:m>
                <a:endParaRPr lang="en-AU" sz="28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20262"/>
                <a:ext cx="8596668" cy="3880773"/>
              </a:xfrm>
              <a:blipFill>
                <a:blip r:embed="rId3"/>
                <a:stretch>
                  <a:fillRect l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95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Learning Objectives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By the end of the class you will be able to:</a:t>
            </a:r>
          </a:p>
          <a:p>
            <a:r>
              <a:rPr lang="en-AU" sz="2400" dirty="0"/>
              <a:t>Use distributive law to expand a single bracket.</a:t>
            </a:r>
          </a:p>
          <a:p>
            <a:r>
              <a:rPr lang="en-AU" sz="2400" dirty="0"/>
              <a:t>Simplify algebraic equation by collecting like terms.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994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19099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2286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30576" y="1722868"/>
            <a:ext cx="0" cy="5162841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7863" y="304292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188" y="333820"/>
            <a:ext cx="3224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" y="1118989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EQ : How to do</a:t>
            </a:r>
            <a:r>
              <a:rPr kumimoji="0" lang="en-AU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I use distributive law to expand the brackets?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903046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Multiplying numbers with</a:t>
            </a:r>
            <a:r>
              <a:rPr kumimoji="0" lang="en-AU" sz="20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different signs</a:t>
            </a:r>
            <a:r>
              <a:rPr lang="en-AU" sz="2000" kern="0" dirty="0">
                <a:solidFill>
                  <a:prstClr val="black"/>
                </a:solidFill>
              </a:rPr>
              <a:t>.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85943" y="1903046"/>
            <a:ext cx="87155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5" y="84983"/>
            <a:ext cx="800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</a:t>
            </a: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034" y="1903046"/>
            <a:ext cx="2880144" cy="252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algebra me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43" y="1807708"/>
            <a:ext cx="4136009" cy="22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815" y="4703536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kern="0" dirty="0">
                <a:solidFill>
                  <a:prstClr val="black"/>
                </a:solidFill>
              </a:rPr>
              <a:t>Using Distributive Law to expand brackets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5240" y="4703536"/>
            <a:ext cx="8179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kern="0" dirty="0">
                <a:solidFill>
                  <a:prstClr val="black"/>
                </a:solidFill>
              </a:rPr>
              <a:t>Multiply each term inside the bracket by the term outside the bracket.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TextBox 3"/>
          <p:cNvSpPr txBox="1">
            <a:spLocks noChangeArrowheads="1"/>
          </p:cNvSpPr>
          <p:nvPr/>
        </p:nvSpPr>
        <p:spPr bwMode="auto">
          <a:xfrm>
            <a:off x="5331698" y="5822022"/>
            <a:ext cx="176630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  <a:r>
              <a:rPr lang="en-US" sz="2800" b="1" kern="0" dirty="0">
                <a:solidFill>
                  <a:srgbClr val="000000"/>
                </a:solidFill>
              </a:rPr>
              <a:t> (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charset="0"/>
                <a:cs typeface="Arial" charset="0"/>
              </a:rPr>
              <a:t>b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  <a:r>
              <a:rPr kumimoji="0" lang="en-US" sz="28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 c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) 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865410" y="5874979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2" name="Curved Down Arrow 111"/>
          <p:cNvSpPr/>
          <p:nvPr/>
        </p:nvSpPr>
        <p:spPr>
          <a:xfrm>
            <a:off x="5659238" y="5597780"/>
            <a:ext cx="479595" cy="24488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231164" y="5813066"/>
            <a:ext cx="1187451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a</a:t>
            </a:r>
            <a:r>
              <a:rPr lang="en-GB" sz="2800" b="1" kern="0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4" name="Curved Down Arrow 113"/>
          <p:cNvSpPr/>
          <p:nvPr/>
        </p:nvSpPr>
        <p:spPr>
          <a:xfrm>
            <a:off x="5612181" y="5585729"/>
            <a:ext cx="955489" cy="20905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796870" y="5802523"/>
            <a:ext cx="48858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+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8191188" y="5791980"/>
            <a:ext cx="71350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044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30" grpId="0"/>
      <p:bldP spid="31" grpId="0"/>
      <p:bldP spid="32" grpId="0" animBg="1"/>
      <p:bldP spid="33" grpId="0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6" name="Text Box 40"/>
          <p:cNvSpPr txBox="1">
            <a:spLocks noChangeArrowheads="1"/>
          </p:cNvSpPr>
          <p:nvPr/>
        </p:nvSpPr>
        <p:spPr bwMode="auto">
          <a:xfrm>
            <a:off x="3805049" y="278867"/>
            <a:ext cx="4813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rPr>
              <a:t>Guided Practice</a:t>
            </a:r>
            <a:endParaRPr kumimoji="0" lang="en-US" sz="3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46108" name="TextBox 2"/>
          <p:cNvSpPr txBox="1">
            <a:spLocks noChangeArrowheads="1"/>
          </p:cNvSpPr>
          <p:nvPr/>
        </p:nvSpPr>
        <p:spPr bwMode="auto">
          <a:xfrm>
            <a:off x="602097" y="903003"/>
            <a:ext cx="70082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Expand the following brackets:</a:t>
            </a:r>
          </a:p>
        </p:txBody>
      </p:sp>
      <p:grpSp>
        <p:nvGrpSpPr>
          <p:cNvPr id="46111" name="Group 33"/>
          <p:cNvGrpSpPr>
            <a:grpSpLocks/>
          </p:cNvGrpSpPr>
          <p:nvPr/>
        </p:nvGrpSpPr>
        <p:grpSpPr bwMode="auto">
          <a:xfrm>
            <a:off x="911130" y="2965338"/>
            <a:ext cx="3089295" cy="535230"/>
            <a:chOff x="35496" y="2564903"/>
            <a:chExt cx="1655064" cy="552113"/>
          </a:xfrm>
        </p:grpSpPr>
        <p:sp>
          <p:nvSpPr>
            <p:cNvPr id="46191" name="TextBox 41"/>
            <p:cNvSpPr txBox="1">
              <a:spLocks noChangeArrowheads="1"/>
            </p:cNvSpPr>
            <p:nvPr/>
          </p:nvSpPr>
          <p:spPr bwMode="auto">
            <a:xfrm>
              <a:off x="35496" y="2564903"/>
              <a:ext cx="642332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(b) </a:t>
              </a:r>
            </a:p>
          </p:txBody>
        </p:sp>
        <p:sp>
          <p:nvSpPr>
            <p:cNvPr id="46192" name="TextBox 35"/>
            <p:cNvSpPr txBox="1">
              <a:spLocks noChangeArrowheads="1"/>
            </p:cNvSpPr>
            <p:nvPr/>
          </p:nvSpPr>
          <p:spPr bwMode="auto">
            <a:xfrm>
              <a:off x="392865" y="2594604"/>
              <a:ext cx="1297695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x(5y + 2)</a:t>
              </a:r>
            </a:p>
          </p:txBody>
        </p:sp>
      </p:grpSp>
      <p:grpSp>
        <p:nvGrpSpPr>
          <p:cNvPr id="46113" name="Group 5"/>
          <p:cNvGrpSpPr>
            <a:grpSpLocks/>
          </p:cNvGrpSpPr>
          <p:nvPr/>
        </p:nvGrpSpPr>
        <p:grpSpPr bwMode="auto">
          <a:xfrm>
            <a:off x="969337" y="1639041"/>
            <a:ext cx="3839392" cy="523220"/>
            <a:chOff x="35496" y="2564904"/>
            <a:chExt cx="2597770" cy="539131"/>
          </a:xfrm>
        </p:grpSpPr>
        <p:sp>
          <p:nvSpPr>
            <p:cNvPr id="46189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(a) </a:t>
              </a:r>
            </a:p>
          </p:txBody>
        </p:sp>
        <p:sp>
          <p:nvSpPr>
            <p:cNvPr id="46190" name="TextBox 3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39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3(2b - 5) </a:t>
              </a:r>
            </a:p>
          </p:txBody>
        </p:sp>
      </p:grpSp>
      <p:grpSp>
        <p:nvGrpSpPr>
          <p:cNvPr id="46114" name="Group 30"/>
          <p:cNvGrpSpPr>
            <a:grpSpLocks/>
          </p:cNvGrpSpPr>
          <p:nvPr/>
        </p:nvGrpSpPr>
        <p:grpSpPr bwMode="auto">
          <a:xfrm>
            <a:off x="911130" y="4322526"/>
            <a:ext cx="3837046" cy="523220"/>
            <a:chOff x="35496" y="2564904"/>
            <a:chExt cx="2597770" cy="539129"/>
          </a:xfrm>
        </p:grpSpPr>
        <p:sp>
          <p:nvSpPr>
            <p:cNvPr id="46187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(c) </a:t>
              </a:r>
            </a:p>
          </p:txBody>
        </p:sp>
        <p:sp>
          <p:nvSpPr>
            <p:cNvPr id="46188" name="TextBox 32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39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 dirty="0">
                  <a:solidFill>
                    <a:srgbClr val="000000"/>
                  </a:solidFill>
                </a:rPr>
                <a:t>3a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(2b – </a:t>
              </a:r>
              <a:r>
                <a:rPr lang="en-US" sz="2800" kern="0" dirty="0">
                  <a:solidFill>
                    <a:srgbClr val="000000"/>
                  </a:solidFill>
                </a:rPr>
                <a:t>5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)</a:t>
              </a:r>
            </a:p>
          </p:txBody>
        </p:sp>
      </p:grp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1114329" y="349239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06" name="Curved Down Arrow 105"/>
          <p:cNvSpPr/>
          <p:nvPr/>
        </p:nvSpPr>
        <p:spPr>
          <a:xfrm>
            <a:off x="1865746" y="2853494"/>
            <a:ext cx="533578" cy="2521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1685834" y="3430483"/>
            <a:ext cx="1299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5xy</a:t>
            </a:r>
          </a:p>
        </p:txBody>
      </p:sp>
      <p:sp>
        <p:nvSpPr>
          <p:cNvPr id="108" name="Curved Down Arrow 107"/>
          <p:cNvSpPr/>
          <p:nvPr/>
        </p:nvSpPr>
        <p:spPr>
          <a:xfrm>
            <a:off x="1876331" y="2771164"/>
            <a:ext cx="1108846" cy="2818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2615050" y="3471750"/>
            <a:ext cx="755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3134647" y="3470250"/>
            <a:ext cx="96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2x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1022636" y="224648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12" name="Curved Down Arrow 111"/>
          <p:cNvSpPr/>
          <p:nvPr/>
        </p:nvSpPr>
        <p:spPr>
          <a:xfrm>
            <a:off x="1873156" y="1414799"/>
            <a:ext cx="531418" cy="2372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1710117" y="2184565"/>
            <a:ext cx="13157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6b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4" name="Curved Down Arrow 113"/>
          <p:cNvSpPr/>
          <p:nvPr/>
        </p:nvSpPr>
        <p:spPr>
          <a:xfrm>
            <a:off x="1859889" y="1365274"/>
            <a:ext cx="1125287" cy="32800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2406941" y="2171865"/>
            <a:ext cx="755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16" name="TextBox 115"/>
          <p:cNvSpPr txBox="1">
            <a:spLocks noChangeArrowheads="1"/>
          </p:cNvSpPr>
          <p:nvPr/>
        </p:nvSpPr>
        <p:spPr bwMode="auto">
          <a:xfrm>
            <a:off x="2711737" y="2197265"/>
            <a:ext cx="96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</a:t>
            </a:r>
          </a:p>
        </p:txBody>
      </p:sp>
      <p:sp>
        <p:nvSpPr>
          <p:cNvPr id="117" name="TextBox 116"/>
          <p:cNvSpPr txBox="1">
            <a:spLocks noChangeArrowheads="1"/>
          </p:cNvSpPr>
          <p:nvPr/>
        </p:nvSpPr>
        <p:spPr bwMode="auto">
          <a:xfrm>
            <a:off x="1091049" y="483529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18" name="Curved Down Arrow 117"/>
          <p:cNvSpPr/>
          <p:nvPr/>
        </p:nvSpPr>
        <p:spPr>
          <a:xfrm>
            <a:off x="1767368" y="4017437"/>
            <a:ext cx="708682" cy="33746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1662546" y="4773375"/>
            <a:ext cx="16311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6ab</a:t>
            </a:r>
          </a:p>
        </p:txBody>
      </p:sp>
      <p:sp>
        <p:nvSpPr>
          <p:cNvPr id="120" name="Curved Down Arrow 119"/>
          <p:cNvSpPr/>
          <p:nvPr/>
        </p:nvSpPr>
        <p:spPr>
          <a:xfrm>
            <a:off x="1873155" y="4030137"/>
            <a:ext cx="1241053" cy="36460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2729647" y="4802698"/>
            <a:ext cx="7575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3175777" y="4821688"/>
            <a:ext cx="1394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15a</a:t>
            </a:r>
          </a:p>
        </p:txBody>
      </p:sp>
      <p:pic>
        <p:nvPicPr>
          <p:cNvPr id="205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454" y="2102396"/>
            <a:ext cx="3719996" cy="325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911130" y="5645537"/>
            <a:ext cx="3462867" cy="523875"/>
            <a:chOff x="35496" y="2564904"/>
            <a:chExt cx="2597770" cy="522976"/>
          </a:xfrm>
        </p:grpSpPr>
        <p:sp>
          <p:nvSpPr>
            <p:cNvPr id="33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(d) </a:t>
              </a: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-5w(3w – 2m)</a:t>
              </a:r>
            </a:p>
          </p:txBody>
        </p:sp>
      </p:grp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091049" y="6158305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6" name="Curved Down Arrow 117"/>
          <p:cNvSpPr/>
          <p:nvPr/>
        </p:nvSpPr>
        <p:spPr>
          <a:xfrm>
            <a:off x="1767368" y="5340447"/>
            <a:ext cx="639573" cy="348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1662546" y="6096385"/>
            <a:ext cx="14721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  <a:r>
              <a:rPr lang="en-GB" sz="2800" b="1" kern="0" dirty="0">
                <a:solidFill>
                  <a:srgbClr val="FF0000"/>
                </a:solidFill>
              </a:rPr>
              <a:t>15w</a:t>
            </a:r>
            <a:r>
              <a:rPr lang="en-GB" sz="2800" b="1" kern="0" baseline="30000" dirty="0">
                <a:solidFill>
                  <a:srgbClr val="FF0000"/>
                </a:solidFill>
              </a:rPr>
              <a:t>2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8" name="Curved Down Arrow 119"/>
          <p:cNvSpPr/>
          <p:nvPr/>
        </p:nvSpPr>
        <p:spPr>
          <a:xfrm>
            <a:off x="1873155" y="5353147"/>
            <a:ext cx="1641475" cy="3763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729648" y="6125708"/>
            <a:ext cx="68368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175777" y="6144698"/>
            <a:ext cx="12585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10mw</a:t>
            </a:r>
          </a:p>
        </p:txBody>
      </p:sp>
    </p:spTree>
    <p:extLst>
      <p:ext uri="{BB962C8B-B14F-4D97-AF65-F5344CB8AC3E}">
        <p14:creationId xmlns:p14="http://schemas.microsoft.com/office/powerpoint/2010/main" val="379367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 animBg="1"/>
      <p:bldP spid="107" grpId="0"/>
      <p:bldP spid="108" grpId="0" animBg="1"/>
      <p:bldP spid="109" grpId="0"/>
      <p:bldP spid="110" grpId="0"/>
      <p:bldP spid="111" grpId="0"/>
      <p:bldP spid="112" grpId="0" animBg="1"/>
      <p:bldP spid="113" grpId="0"/>
      <p:bldP spid="114" grpId="0" animBg="1"/>
      <p:bldP spid="115" grpId="0"/>
      <p:bldP spid="116" grpId="0"/>
      <p:bldP spid="117" grpId="0"/>
      <p:bldP spid="118" grpId="0" animBg="1"/>
      <p:bldP spid="119" grpId="0"/>
      <p:bldP spid="120" grpId="0" animBg="1"/>
      <p:bldP spid="121" grpId="0"/>
      <p:bldP spid="122" grpId="0"/>
      <p:bldP spid="35" grpId="0"/>
      <p:bldP spid="36" grpId="0" animBg="1"/>
      <p:bldP spid="37" grpId="0"/>
      <p:bldP spid="38" grpId="0" animBg="1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11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Independent Practice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81342"/>
            <a:ext cx="10972800" cy="2543059"/>
          </a:xfrm>
        </p:spPr>
        <p:txBody>
          <a:bodyPr>
            <a:normAutofit/>
          </a:bodyPr>
          <a:lstStyle/>
          <a:p>
            <a:r>
              <a:rPr lang="en-AU" sz="2400" dirty="0"/>
              <a:t>Minimum</a:t>
            </a:r>
            <a:endParaRPr lang="en-US" sz="2400" dirty="0"/>
          </a:p>
          <a:p>
            <a:pPr lvl="1"/>
            <a:r>
              <a:rPr lang="en-US" sz="2200" dirty="0" err="1"/>
              <a:t>Dr</a:t>
            </a:r>
            <a:r>
              <a:rPr lang="en-US" sz="2200" dirty="0"/>
              <a:t> Dwyer Textbook, </a:t>
            </a:r>
            <a:r>
              <a:rPr lang="en-US" sz="2200" dirty="0" err="1"/>
              <a:t>pg</a:t>
            </a:r>
            <a:r>
              <a:rPr lang="en-US" sz="2200" dirty="0"/>
              <a:t> 4, Exercise 1.3, Q 1- 9</a:t>
            </a:r>
            <a:endParaRPr lang="en-US" sz="2000" dirty="0"/>
          </a:p>
          <a:p>
            <a:r>
              <a:rPr lang="en-AU" sz="2400" dirty="0"/>
              <a:t>Recommended</a:t>
            </a:r>
          </a:p>
          <a:p>
            <a:pPr lvl="1"/>
            <a:r>
              <a:rPr lang="en-US" sz="2200" dirty="0" err="1"/>
              <a:t>Dr</a:t>
            </a:r>
            <a:r>
              <a:rPr lang="en-US" sz="2200" dirty="0"/>
              <a:t> Dwyer Textbook, </a:t>
            </a:r>
            <a:r>
              <a:rPr lang="en-US" sz="2200" dirty="0" err="1"/>
              <a:t>pg</a:t>
            </a:r>
            <a:r>
              <a:rPr lang="en-US" sz="2200" dirty="0"/>
              <a:t> 4, Exercise 1.3, Q 1- 15</a:t>
            </a:r>
            <a:endParaRPr lang="en-AU" sz="22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461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300232" y="2691593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06" name="Text Box 40"/>
          <p:cNvSpPr txBox="1">
            <a:spLocks noChangeArrowheads="1"/>
          </p:cNvSpPr>
          <p:nvPr/>
        </p:nvSpPr>
        <p:spPr bwMode="auto">
          <a:xfrm>
            <a:off x="0" y="46190"/>
            <a:ext cx="48133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EXAMPLES – Notes Page</a:t>
            </a:r>
            <a:endParaRPr kumimoji="0" lang="en-US" sz="28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6108" name="TextBox 2"/>
          <p:cNvSpPr txBox="1">
            <a:spLocks noChangeArrowheads="1"/>
          </p:cNvSpPr>
          <p:nvPr/>
        </p:nvSpPr>
        <p:spPr bwMode="auto">
          <a:xfrm>
            <a:off x="0" y="711490"/>
            <a:ext cx="70082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Expand the following brackets:</a:t>
            </a:r>
          </a:p>
        </p:txBody>
      </p:sp>
      <p:grpSp>
        <p:nvGrpSpPr>
          <p:cNvPr id="46117" name="Group 5"/>
          <p:cNvGrpSpPr>
            <a:grpSpLocks/>
          </p:cNvGrpSpPr>
          <p:nvPr/>
        </p:nvGrpSpPr>
        <p:grpSpPr bwMode="auto">
          <a:xfrm>
            <a:off x="446601" y="2127371"/>
            <a:ext cx="4806949" cy="549275"/>
            <a:chOff x="35496" y="2564904"/>
            <a:chExt cx="2549526" cy="550261"/>
          </a:xfrm>
        </p:grpSpPr>
        <p:sp>
          <p:nvSpPr>
            <p:cNvPr id="46181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(e) </a:t>
              </a:r>
            </a:p>
          </p:txBody>
        </p:sp>
        <p:sp>
          <p:nvSpPr>
            <p:cNvPr id="46182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3(5a – 2) + </a:t>
              </a:r>
              <a:r>
                <a:rPr lang="en-US" sz="2800" kern="0" noProof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(3a – 9)</a:t>
              </a:r>
            </a:p>
          </p:txBody>
        </p:sp>
      </p:grpSp>
      <p:sp>
        <p:nvSpPr>
          <p:cNvPr id="144" name="TextBox 143"/>
          <p:cNvSpPr txBox="1">
            <a:spLocks noChangeArrowheads="1"/>
          </p:cNvSpPr>
          <p:nvPr/>
        </p:nvSpPr>
        <p:spPr bwMode="auto">
          <a:xfrm>
            <a:off x="661688" y="2681344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45" name="Curved Down Arrow 144"/>
          <p:cNvSpPr/>
          <p:nvPr/>
        </p:nvSpPr>
        <p:spPr>
          <a:xfrm>
            <a:off x="1415108" y="1904671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6" name="TextBox 145"/>
          <p:cNvSpPr txBox="1">
            <a:spLocks noChangeArrowheads="1"/>
          </p:cNvSpPr>
          <p:nvPr/>
        </p:nvSpPr>
        <p:spPr bwMode="auto">
          <a:xfrm>
            <a:off x="1326732" y="2660023"/>
            <a:ext cx="10456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15a</a:t>
            </a:r>
          </a:p>
        </p:txBody>
      </p:sp>
      <p:sp>
        <p:nvSpPr>
          <p:cNvPr id="147" name="Curved Down Arrow 146"/>
          <p:cNvSpPr/>
          <p:nvPr/>
        </p:nvSpPr>
        <p:spPr>
          <a:xfrm>
            <a:off x="1412992" y="1730307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0" name="TextBox 149"/>
          <p:cNvSpPr txBox="1">
            <a:spLocks noChangeArrowheads="1"/>
          </p:cNvSpPr>
          <p:nvPr/>
        </p:nvSpPr>
        <p:spPr bwMode="auto">
          <a:xfrm>
            <a:off x="2103142" y="2633719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51" name="TextBox 150"/>
          <p:cNvSpPr txBox="1">
            <a:spLocks noChangeArrowheads="1"/>
          </p:cNvSpPr>
          <p:nvPr/>
        </p:nvSpPr>
        <p:spPr bwMode="auto">
          <a:xfrm>
            <a:off x="2441804" y="2633719"/>
            <a:ext cx="11599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158" name="TextBox 157"/>
          <p:cNvSpPr txBox="1">
            <a:spLocks noChangeArrowheads="1"/>
          </p:cNvSpPr>
          <p:nvPr/>
        </p:nvSpPr>
        <p:spPr bwMode="auto">
          <a:xfrm>
            <a:off x="2914093" y="2643698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59" name="TextBox 158"/>
          <p:cNvSpPr txBox="1">
            <a:spLocks noChangeArrowheads="1"/>
          </p:cNvSpPr>
          <p:nvPr/>
        </p:nvSpPr>
        <p:spPr bwMode="auto">
          <a:xfrm>
            <a:off x="3219526" y="2626568"/>
            <a:ext cx="13479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6a </a:t>
            </a:r>
          </a:p>
        </p:txBody>
      </p:sp>
      <p:sp>
        <p:nvSpPr>
          <p:cNvPr id="180" name="TextBox 179"/>
          <p:cNvSpPr txBox="1">
            <a:spLocks noChangeArrowheads="1"/>
          </p:cNvSpPr>
          <p:nvPr/>
        </p:nvSpPr>
        <p:spPr bwMode="auto">
          <a:xfrm>
            <a:off x="678620" y="3125844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81" name="TextBox 180"/>
          <p:cNvSpPr txBox="1">
            <a:spLocks noChangeArrowheads="1"/>
          </p:cNvSpPr>
          <p:nvPr/>
        </p:nvSpPr>
        <p:spPr bwMode="auto">
          <a:xfrm>
            <a:off x="1305153" y="3078219"/>
            <a:ext cx="104351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21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</a:p>
        </p:txBody>
      </p:sp>
      <p:grpSp>
        <p:nvGrpSpPr>
          <p:cNvPr id="183" name="Group 182"/>
          <p:cNvGrpSpPr>
            <a:grpSpLocks/>
          </p:cNvGrpSpPr>
          <p:nvPr/>
        </p:nvGrpSpPr>
        <p:grpSpPr bwMode="auto">
          <a:xfrm>
            <a:off x="2111604" y="3051231"/>
            <a:ext cx="1490133" cy="563563"/>
            <a:chOff x="2138929" y="5745904"/>
            <a:chExt cx="1118015" cy="563416"/>
          </a:xfrm>
        </p:grpSpPr>
        <p:sp>
          <p:nvSpPr>
            <p:cNvPr id="46177" name="TextBox 183"/>
            <p:cNvSpPr txBox="1">
              <a:spLocks noChangeArrowheads="1"/>
            </p:cNvSpPr>
            <p:nvPr/>
          </p:nvSpPr>
          <p:spPr bwMode="auto">
            <a:xfrm>
              <a:off x="2138929" y="5745904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6178" name="TextBox 184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noProof="0" dirty="0">
                  <a:solidFill>
                    <a:srgbClr val="FF0000"/>
                  </a:solidFill>
                </a:rPr>
                <a:t>24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69" name="Oval 68"/>
          <p:cNvSpPr/>
          <p:nvPr/>
        </p:nvSpPr>
        <p:spPr>
          <a:xfrm>
            <a:off x="2947143" y="2691594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04" y="732677"/>
            <a:ext cx="2880144" cy="252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Oval 69"/>
          <p:cNvSpPr/>
          <p:nvPr/>
        </p:nvSpPr>
        <p:spPr>
          <a:xfrm>
            <a:off x="2124208" y="2674076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3763396" y="2661137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83" y="3397993"/>
            <a:ext cx="4228900" cy="3180529"/>
          </a:xfrm>
          <a:prstGeom prst="rect">
            <a:avLst/>
          </a:prstGeom>
        </p:spPr>
      </p:pic>
      <p:sp>
        <p:nvSpPr>
          <p:cNvPr id="26" name="Curved Down Arrow 144"/>
          <p:cNvSpPr/>
          <p:nvPr/>
        </p:nvSpPr>
        <p:spPr>
          <a:xfrm>
            <a:off x="3173365" y="1849023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Curved Down Arrow 146"/>
          <p:cNvSpPr/>
          <p:nvPr/>
        </p:nvSpPr>
        <p:spPr>
          <a:xfrm>
            <a:off x="3171249" y="1674659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728001" y="2634756"/>
            <a:ext cx="8156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- 18 </a:t>
            </a:r>
          </a:p>
        </p:txBody>
      </p:sp>
      <p:sp>
        <p:nvSpPr>
          <p:cNvPr id="29" name="Oval 28"/>
          <p:cNvSpPr/>
          <p:nvPr/>
        </p:nvSpPr>
        <p:spPr>
          <a:xfrm>
            <a:off x="1300232" y="4670286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5"/>
          <p:cNvGrpSpPr>
            <a:grpSpLocks/>
          </p:cNvGrpSpPr>
          <p:nvPr/>
        </p:nvGrpSpPr>
        <p:grpSpPr bwMode="auto">
          <a:xfrm>
            <a:off x="446601" y="4106064"/>
            <a:ext cx="4806949" cy="549275"/>
            <a:chOff x="35496" y="2564904"/>
            <a:chExt cx="2549526" cy="550261"/>
          </a:xfrm>
        </p:grpSpPr>
        <p:sp>
          <p:nvSpPr>
            <p:cNvPr id="31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(f) </a:t>
              </a:r>
            </a:p>
          </p:txBody>
        </p:sp>
        <p:sp>
          <p:nvSpPr>
            <p:cNvPr id="32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(5x + 6) </a:t>
              </a:r>
              <a:r>
                <a:rPr lang="en-US" sz="2800" kern="0" dirty="0">
                  <a:solidFill>
                    <a:srgbClr val="000000"/>
                  </a:solidFill>
                </a:rPr>
                <a:t>-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</a:t>
              </a:r>
              <a:r>
                <a:rPr lang="en-US" sz="2800" kern="0" noProof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(3x – 7)</a:t>
              </a:r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61688" y="4660037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4" name="Curved Down Arrow 144"/>
          <p:cNvSpPr/>
          <p:nvPr/>
        </p:nvSpPr>
        <p:spPr>
          <a:xfrm>
            <a:off x="1415108" y="3883364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326732" y="4638716"/>
            <a:ext cx="10456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10x</a:t>
            </a:r>
          </a:p>
        </p:txBody>
      </p:sp>
      <p:sp>
        <p:nvSpPr>
          <p:cNvPr id="36" name="Curved Down Arrow 146"/>
          <p:cNvSpPr/>
          <p:nvPr/>
        </p:nvSpPr>
        <p:spPr>
          <a:xfrm>
            <a:off x="1412992" y="3709000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103142" y="4612412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441804" y="4612412"/>
            <a:ext cx="11599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12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914093" y="4622391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-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219526" y="4605261"/>
            <a:ext cx="7448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6x 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678620" y="5104537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305153" y="5056912"/>
            <a:ext cx="104351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noProof="0" dirty="0">
                <a:solidFill>
                  <a:srgbClr val="FF0000"/>
                </a:solidFill>
              </a:rPr>
              <a:t>4x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1947511" y="5064755"/>
            <a:ext cx="1654227" cy="528733"/>
            <a:chOff x="2015813" y="5780725"/>
            <a:chExt cx="1241131" cy="528595"/>
          </a:xfrm>
        </p:grpSpPr>
        <p:sp>
          <p:nvSpPr>
            <p:cNvPr id="44" name="TextBox 183"/>
            <p:cNvSpPr txBox="1">
              <a:spLocks noChangeArrowheads="1"/>
            </p:cNvSpPr>
            <p:nvPr/>
          </p:nvSpPr>
          <p:spPr bwMode="auto">
            <a:xfrm>
              <a:off x="2015813" y="5780725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dirty="0">
                  <a:solidFill>
                    <a:srgbClr val="FF0000"/>
                  </a:solidFill>
                </a:rPr>
                <a:t>+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45" name="TextBox 184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noProof="0" dirty="0">
                  <a:solidFill>
                    <a:srgbClr val="FF0000"/>
                  </a:solidFill>
                </a:rPr>
                <a:t>26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46" name="Oval 45"/>
          <p:cNvSpPr/>
          <p:nvPr/>
        </p:nvSpPr>
        <p:spPr>
          <a:xfrm>
            <a:off x="2947143" y="4670287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2124208" y="4652769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763396" y="4639830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urved Down Arrow 144"/>
          <p:cNvSpPr/>
          <p:nvPr/>
        </p:nvSpPr>
        <p:spPr>
          <a:xfrm>
            <a:off x="3173365" y="3827716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Curved Down Arrow 146"/>
          <p:cNvSpPr/>
          <p:nvPr/>
        </p:nvSpPr>
        <p:spPr>
          <a:xfrm>
            <a:off x="3171249" y="3653352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3728001" y="4613449"/>
            <a:ext cx="10141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+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329505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4" grpId="0"/>
      <p:bldP spid="145" grpId="0" animBg="1"/>
      <p:bldP spid="146" grpId="0"/>
      <p:bldP spid="147" grpId="0" animBg="1"/>
      <p:bldP spid="150" grpId="0"/>
      <p:bldP spid="151" grpId="0"/>
      <p:bldP spid="158" grpId="0"/>
      <p:bldP spid="159" grpId="0"/>
      <p:bldP spid="180" grpId="0"/>
      <p:bldP spid="181" grpId="0"/>
      <p:bldP spid="69" grpId="0" animBg="1"/>
      <p:bldP spid="70" grpId="0" animBg="1"/>
      <p:bldP spid="71" grpId="0" animBg="1"/>
      <p:bldP spid="26" grpId="0" animBg="1"/>
      <p:bldP spid="27" grpId="0" animBg="1"/>
      <p:bldP spid="28" grpId="0"/>
      <p:bldP spid="29" grpId="0" animBg="1"/>
      <p:bldP spid="33" grpId="0"/>
      <p:bldP spid="34" grpId="0" animBg="1"/>
      <p:bldP spid="35" grpId="0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Plenary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4844"/>
            <a:ext cx="9270230" cy="4434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Complete the summary answering the EQ of the day.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05470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339</Words>
  <Application>Microsoft Office PowerPoint</Application>
  <PresentationFormat>Widescreen</PresentationFormat>
  <Paragraphs>99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Trebuchet MS</vt:lpstr>
      <vt:lpstr>Wingdings</vt:lpstr>
      <vt:lpstr>Wingdings 3</vt:lpstr>
      <vt:lpstr>Facet</vt:lpstr>
      <vt:lpstr>Distributive Law</vt:lpstr>
      <vt:lpstr>Revision – Do Now </vt:lpstr>
      <vt:lpstr>Learning Objectives</vt:lpstr>
      <vt:lpstr>PowerPoint Presentation</vt:lpstr>
      <vt:lpstr>PowerPoint Presentation</vt:lpstr>
      <vt:lpstr>Independent Practice </vt:lpstr>
      <vt:lpstr>PowerPoint Presentation</vt:lpstr>
      <vt:lpstr>Plenary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Distributive Law</dc:title>
  <dc:creator>Saad Parekh</dc:creator>
  <cp:lastModifiedBy>Stephanie Keen</cp:lastModifiedBy>
  <cp:revision>23</cp:revision>
  <dcterms:created xsi:type="dcterms:W3CDTF">2017-02-15T21:25:17Z</dcterms:created>
  <dcterms:modified xsi:type="dcterms:W3CDTF">2021-03-01T06:55:31Z</dcterms:modified>
</cp:coreProperties>
</file>
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9" r:id="rId3"/>
    <p:sldId id="258" r:id="rId4"/>
    <p:sldId id="399" r:id="rId5"/>
    <p:sldId id="400" r:id="rId6"/>
    <p:sldId id="405" r:id="rId7"/>
    <p:sldId id="271" r:id="rId8"/>
    <p:sldId id="406" r:id="rId9"/>
    <p:sldId id="402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M Magdeline [Baldivis Secondary College]" initials="LM[SC" lastIdx="1" clrIdx="0">
    <p:extLst>
      <p:ext uri="{19B8F6BF-5375-455C-9EA6-DF929625EA0E}">
        <p15:presenceInfo xmlns:p15="http://schemas.microsoft.com/office/powerpoint/2012/main" userId="S-1-5-21-471881947-2915553374-1509497933-10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70" d="100"/>
          <a:sy n="70" d="100"/>
        </p:scale>
        <p:origin x="51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9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BA1E3-2B86-455E-AFCB-F8A4464B0108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B863-BED6-4133-A9AF-1C02101EE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65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5DEB6B8-1D87-430C-885F-5024209150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7877FB-F64F-4075-9B17-BE5F4459D09C}" type="slidenum">
              <a:rPr lang="en-US" altLang="en-US" b="0"/>
              <a:pPr eaLnBrk="1" hangingPunct="1"/>
              <a:t>7</a:t>
            </a:fld>
            <a:endParaRPr lang="en-US" altLang="en-US" b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7EBBE39-6002-418B-B154-C2594A3931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92384BE-2C1C-4D9C-AFF9-B44EB3BDB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0158C16-AC64-430F-A177-F0A137410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BD15FC-C374-4831-9DA3-ECDEA579F9BE}" type="slidenum">
              <a:rPr lang="en-US" altLang="en-US" b="0"/>
              <a:pPr eaLnBrk="1" hangingPunct="1"/>
              <a:t>10</a:t>
            </a:fld>
            <a:endParaRPr lang="en-US" altLang="en-US" b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2C702EA-49E2-4CC5-9DFA-98C8141F0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82A6B2D0-243D-47AC-80F8-CFA812338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D5EF8C6D-978C-4A95-9D8A-DC351B6084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DF0119-6803-4D57-9B8F-114829657308}" type="slidenum">
              <a:rPr lang="en-US" altLang="en-US" b="0"/>
              <a:pPr eaLnBrk="1" hangingPunct="1"/>
              <a:t>11</a:t>
            </a:fld>
            <a:endParaRPr lang="en-US" altLang="en-US" b="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687380E-226A-46EA-9B17-EB59BE5DA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82FEA80-8885-4EA4-81B2-AE61E2BA8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31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13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09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4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27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352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14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10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536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09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992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6530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451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448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020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709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82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8248E-67D5-4720-A86F-7D479B4F13C7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78E73-4521-40A5-851C-18527AFD0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87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4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0.bin"/><Relationship Id="rId3" Type="http://schemas.openxmlformats.org/officeDocument/2006/relationships/oleObject" Target="../embeddings/oleObject12.bin"/><Relationship Id="rId21" Type="http://schemas.openxmlformats.org/officeDocument/2006/relationships/image" Target="../media/image4.wmf"/><Relationship Id="rId7" Type="http://schemas.openxmlformats.org/officeDocument/2006/relationships/oleObject" Target="../embeddings/oleObject14.bin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21.wmf"/><Relationship Id="rId10" Type="http://schemas.openxmlformats.org/officeDocument/2006/relationships/image" Target="../media/image19.wmf"/><Relationship Id="rId19" Type="http://schemas.openxmlformats.org/officeDocument/2006/relationships/image" Target="../media/image23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2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2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23" Type="http://schemas.openxmlformats.org/officeDocument/2006/relationships/image" Target="../media/image34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1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7.bin"/><Relationship Id="rId22" Type="http://schemas.openxmlformats.org/officeDocument/2006/relationships/image" Target="../media/image3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38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43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5" Type="http://schemas.openxmlformats.org/officeDocument/2006/relationships/image" Target="../media/image40.w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42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36.bin"/><Relationship Id="rId22" Type="http://schemas.openxmlformats.org/officeDocument/2006/relationships/image" Target="../media/image3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17D0-1007-470B-BDB6-D69F3CCC1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/>
              <a:t>TRigonometry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7C445-A000-46C4-B3CB-A6D59316C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041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7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9E1E61-6F2E-45A1-8E20-D5EFB0DD3C4A}"/>
              </a:ext>
            </a:extLst>
          </p:cNvPr>
          <p:cNvCxnSpPr/>
          <p:nvPr/>
        </p:nvCxnSpPr>
        <p:spPr>
          <a:xfrm>
            <a:off x="9336360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9FB6ED-18E6-41B3-9B04-71246F5B2B0D}"/>
              </a:ext>
            </a:extLst>
          </p:cNvPr>
          <p:cNvSpPr txBox="1"/>
          <p:nvPr/>
        </p:nvSpPr>
        <p:spPr>
          <a:xfrm>
            <a:off x="9346972" y="1196751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F69CC-851A-45BB-9582-9F218D26C672}"/>
              </a:ext>
            </a:extLst>
          </p:cNvPr>
          <p:cNvSpPr txBox="1"/>
          <p:nvPr/>
        </p:nvSpPr>
        <p:spPr>
          <a:xfrm>
            <a:off x="939815" y="788557"/>
            <a:ext cx="4580121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Complete the tasks on this side (left) of your page</a:t>
            </a:r>
            <a:endParaRPr lang="en-AU" sz="2333" dirty="0"/>
          </a:p>
        </p:txBody>
      </p:sp>
      <p:pic>
        <p:nvPicPr>
          <p:cNvPr id="21" name="Picture 20" descr="Image result for finger you">
            <a:extLst>
              <a:ext uri="{FF2B5EF4-FFF2-40B4-BE49-F238E27FC236}">
                <a16:creationId xmlns:a16="http://schemas.microsoft.com/office/drawing/2014/main" id="{8EDE0A71-0B31-47FC-8116-A1F1E0C468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69" y="2164094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C89346-A77D-4BA1-9F84-C8C332506CA6}"/>
              </a:ext>
            </a:extLst>
          </p:cNvPr>
          <p:cNvSpPr txBox="1"/>
          <p:nvPr/>
        </p:nvSpPr>
        <p:spPr>
          <a:xfrm>
            <a:off x="537185" y="5064654"/>
            <a:ext cx="516817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27" name="Right Arrow 20">
            <a:extLst>
              <a:ext uri="{FF2B5EF4-FFF2-40B4-BE49-F238E27FC236}">
                <a16:creationId xmlns:a16="http://schemas.microsoft.com/office/drawing/2014/main" id="{5386C233-1672-4F1F-95FE-C741EB5A2D49}"/>
              </a:ext>
            </a:extLst>
          </p:cNvPr>
          <p:cNvSpPr/>
          <p:nvPr/>
        </p:nvSpPr>
        <p:spPr>
          <a:xfrm rot="11903126">
            <a:off x="6355904" y="189622"/>
            <a:ext cx="1908624" cy="1020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B974D-84DF-409D-A9C4-0ECD4359A6ED}"/>
              </a:ext>
            </a:extLst>
          </p:cNvPr>
          <p:cNvSpPr txBox="1"/>
          <p:nvPr/>
        </p:nvSpPr>
        <p:spPr>
          <a:xfrm>
            <a:off x="8218331" y="664949"/>
            <a:ext cx="1961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91817-3DB0-421A-8D4D-1CE79938934A}"/>
              </a:ext>
            </a:extLst>
          </p:cNvPr>
          <p:cNvSpPr txBox="1"/>
          <p:nvPr/>
        </p:nvSpPr>
        <p:spPr>
          <a:xfrm>
            <a:off x="7637972" y="2105473"/>
            <a:ext cx="2850292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Write your notes on this side (right) of your page</a:t>
            </a:r>
            <a:endParaRPr lang="en-AU" sz="2333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60C7911-4221-4C73-9ED2-216672ABED77}"/>
              </a:ext>
            </a:extLst>
          </p:cNvPr>
          <p:cNvSpPr txBox="1">
            <a:spLocks/>
          </p:cNvSpPr>
          <p:nvPr/>
        </p:nvSpPr>
        <p:spPr>
          <a:xfrm>
            <a:off x="6410842" y="5600297"/>
            <a:ext cx="4548257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18271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  <a:p>
            <a:endParaRPr lang="en-AU" sz="2400" b="1" dirty="0"/>
          </a:p>
        </p:txBody>
      </p:sp>
      <p:graphicFrame>
        <p:nvGraphicFramePr>
          <p:cNvPr id="42" name="Object 3">
            <a:extLst>
              <a:ext uri="{FF2B5EF4-FFF2-40B4-BE49-F238E27FC236}">
                <a16:creationId xmlns:a16="http://schemas.microsoft.com/office/drawing/2014/main" id="{DCEA395B-B89F-4D75-8E42-F859D09460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884201"/>
              </p:ext>
            </p:extLst>
          </p:nvPr>
        </p:nvGraphicFramePr>
        <p:xfrm>
          <a:off x="3285807" y="2146109"/>
          <a:ext cx="3975100" cy="1768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Drawing" r:id="rId3" imgW="1677971" imgH="801278" progId="Presentations.Drawing.10">
                  <p:embed/>
                </p:oleObj>
              </mc:Choice>
              <mc:Fallback>
                <p:oleObj name="Drawing" r:id="rId3" imgW="1677971" imgH="801278" progId="Presentations.Drawing.10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2E1C76C8-2573-4664-B49F-7B4059B917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5807" y="2146109"/>
                        <a:ext cx="3975100" cy="1768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>
            <a:extLst>
              <a:ext uri="{FF2B5EF4-FFF2-40B4-BE49-F238E27FC236}">
                <a16:creationId xmlns:a16="http://schemas.microsoft.com/office/drawing/2014/main" id="{2EA691C0-D63E-4B82-A00E-CA505754C1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746504"/>
              </p:ext>
            </p:extLst>
          </p:nvPr>
        </p:nvGraphicFramePr>
        <p:xfrm>
          <a:off x="7472668" y="3847522"/>
          <a:ext cx="298860" cy="408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Drawing" r:id="rId5" imgW="125506" imgH="179294" progId="Presentations.Drawing.10">
                  <p:embed/>
                </p:oleObj>
              </mc:Choice>
              <mc:Fallback>
                <p:oleObj name="Drawing" r:id="rId5" imgW="125506" imgH="179294" progId="Presentations.Drawing.10">
                  <p:embed/>
                  <p:pic>
                    <p:nvPicPr>
                      <p:cNvPr id="7173" name="Object 5">
                        <a:extLst>
                          <a:ext uri="{FF2B5EF4-FFF2-40B4-BE49-F238E27FC236}">
                            <a16:creationId xmlns:a16="http://schemas.microsoft.com/office/drawing/2014/main" id="{C45BE1B7-5706-45E6-AFD7-1159AEFC56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2668" y="3847522"/>
                        <a:ext cx="298860" cy="408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6">
            <a:extLst>
              <a:ext uri="{FF2B5EF4-FFF2-40B4-BE49-F238E27FC236}">
                <a16:creationId xmlns:a16="http://schemas.microsoft.com/office/drawing/2014/main" id="{B6F4E0B0-673C-4E17-BB37-3FD7E7E81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352530"/>
              </p:ext>
            </p:extLst>
          </p:nvPr>
        </p:nvGraphicFramePr>
        <p:xfrm>
          <a:off x="4437423" y="3871597"/>
          <a:ext cx="1735172" cy="339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Drawing" r:id="rId7" imgW="858416" imgH="186612" progId="Presentations.Drawing.10">
                  <p:embed/>
                </p:oleObj>
              </mc:Choice>
              <mc:Fallback>
                <p:oleObj name="Drawing" r:id="rId7" imgW="858416" imgH="186612" progId="Presentations.Drawing.10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A434D2CA-0C6D-4C57-B387-F89059ABD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423" y="3871597"/>
                        <a:ext cx="1735172" cy="339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7">
            <a:extLst>
              <a:ext uri="{FF2B5EF4-FFF2-40B4-BE49-F238E27FC236}">
                <a16:creationId xmlns:a16="http://schemas.microsoft.com/office/drawing/2014/main" id="{79756E9A-9A9D-4B6F-81E3-0BA356DF7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958596"/>
              </p:ext>
            </p:extLst>
          </p:nvPr>
        </p:nvGraphicFramePr>
        <p:xfrm>
          <a:off x="3267509" y="3814805"/>
          <a:ext cx="233650" cy="34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Drawing" r:id="rId9" imgW="116541" imgH="179294" progId="Presentations.Drawing.10">
                  <p:embed/>
                </p:oleObj>
              </mc:Choice>
              <mc:Fallback>
                <p:oleObj name="Drawing" r:id="rId9" imgW="116541" imgH="179294" progId="Presentations.Drawing.10">
                  <p:embed/>
                  <p:pic>
                    <p:nvPicPr>
                      <p:cNvPr id="7175" name="Object 7">
                        <a:extLst>
                          <a:ext uri="{FF2B5EF4-FFF2-40B4-BE49-F238E27FC236}">
                            <a16:creationId xmlns:a16="http://schemas.microsoft.com/office/drawing/2014/main" id="{E7BB6B79-FBC4-40D6-8E4E-A5051AC130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509" y="3814805"/>
                        <a:ext cx="233650" cy="34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8">
            <a:extLst>
              <a:ext uri="{FF2B5EF4-FFF2-40B4-BE49-F238E27FC236}">
                <a16:creationId xmlns:a16="http://schemas.microsoft.com/office/drawing/2014/main" id="{0E0ED523-92A3-4113-AD47-6432FE8E0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903814"/>
              </p:ext>
            </p:extLst>
          </p:nvPr>
        </p:nvGraphicFramePr>
        <p:xfrm>
          <a:off x="1966667" y="3144056"/>
          <a:ext cx="1458240" cy="284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Drawing" r:id="rId11" imgW="858416" imgH="186612" progId="Presentations.Drawing.10">
                  <p:embed/>
                </p:oleObj>
              </mc:Choice>
              <mc:Fallback>
                <p:oleObj name="Drawing" r:id="rId11" imgW="858416" imgH="186612" progId="Presentations.Drawing.10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:a16="http://schemas.microsoft.com/office/drawing/2014/main" id="{17C1AD43-2319-4B46-A3D0-276B6B87BF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667" y="3144056"/>
                        <a:ext cx="1458240" cy="284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9">
            <a:extLst>
              <a:ext uri="{FF2B5EF4-FFF2-40B4-BE49-F238E27FC236}">
                <a16:creationId xmlns:a16="http://schemas.microsoft.com/office/drawing/2014/main" id="{E929BAAF-C688-4C00-84E1-EAA24FC9E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334942"/>
              </p:ext>
            </p:extLst>
          </p:nvPr>
        </p:nvGraphicFramePr>
        <p:xfrm>
          <a:off x="3174437" y="1931224"/>
          <a:ext cx="250470" cy="372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Drawing" r:id="rId13" imgW="116541" imgH="179294" progId="Presentations.Drawing.10">
                  <p:embed/>
                </p:oleObj>
              </mc:Choice>
              <mc:Fallback>
                <p:oleObj name="Drawing" r:id="rId13" imgW="116541" imgH="179294" progId="Presentations.Drawing.10">
                  <p:embed/>
                  <p:pic>
                    <p:nvPicPr>
                      <p:cNvPr id="8201" name="Object 9">
                        <a:extLst>
                          <a:ext uri="{FF2B5EF4-FFF2-40B4-BE49-F238E27FC236}">
                            <a16:creationId xmlns:a16="http://schemas.microsoft.com/office/drawing/2014/main" id="{13F3CA52-0C4E-4309-B2C6-14789542A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437" y="1931224"/>
                        <a:ext cx="250470" cy="372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0">
            <a:extLst>
              <a:ext uri="{FF2B5EF4-FFF2-40B4-BE49-F238E27FC236}">
                <a16:creationId xmlns:a16="http://schemas.microsoft.com/office/drawing/2014/main" id="{5CE1F33E-002A-4597-9449-76BD546C4A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159986"/>
              </p:ext>
            </p:extLst>
          </p:nvPr>
        </p:nvGraphicFramePr>
        <p:xfrm>
          <a:off x="5010987" y="2554089"/>
          <a:ext cx="1443149" cy="32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Drawing" r:id="rId15" imgW="737118" imgH="186612" progId="Presentations.Drawing.10">
                  <p:embed/>
                </p:oleObj>
              </mc:Choice>
              <mc:Fallback>
                <p:oleObj name="Drawing" r:id="rId15" imgW="737118" imgH="186612" progId="Presentations.Drawing.10">
                  <p:embed/>
                  <p:pic>
                    <p:nvPicPr>
                      <p:cNvPr id="7178" name="Object 10">
                        <a:extLst>
                          <a:ext uri="{FF2B5EF4-FFF2-40B4-BE49-F238E27FC236}">
                            <a16:creationId xmlns:a16="http://schemas.microsoft.com/office/drawing/2014/main" id="{C1B2C7A7-F676-45B0-8670-949798AB6B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987" y="2554089"/>
                        <a:ext cx="1443149" cy="32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15">
            <a:extLst>
              <a:ext uri="{FF2B5EF4-FFF2-40B4-BE49-F238E27FC236}">
                <a16:creationId xmlns:a16="http://schemas.microsoft.com/office/drawing/2014/main" id="{D7B55376-BD91-44A3-B912-4F8AF35B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848" y="3496098"/>
            <a:ext cx="381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00" b="0"/>
          </a:p>
        </p:txBody>
      </p:sp>
      <p:sp>
        <p:nvSpPr>
          <p:cNvPr id="50" name="AutoShape 16">
            <a:extLst>
              <a:ext uri="{FF2B5EF4-FFF2-40B4-BE49-F238E27FC236}">
                <a16:creationId xmlns:a16="http://schemas.microsoft.com/office/drawing/2014/main" id="{4C7DB114-C0AC-40BA-B6B0-AE9A6FBD5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048" y="3520883"/>
            <a:ext cx="381000" cy="356215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/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10039F37-9B4D-4834-934B-59F4A045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865" y="4472459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sp>
        <p:nvSpPr>
          <p:cNvPr id="52" name="Rectangle 11">
            <a:extLst>
              <a:ext uri="{FF2B5EF4-FFF2-40B4-BE49-F238E27FC236}">
                <a16:creationId xmlns:a16="http://schemas.microsoft.com/office/drawing/2014/main" id="{7518DD8B-FEC3-48B0-B22E-A347B538E97D}"/>
              </a:ext>
            </a:extLst>
          </p:cNvPr>
          <p:cNvSpPr txBox="1">
            <a:spLocks noChangeArrowheads="1"/>
          </p:cNvSpPr>
          <p:nvPr/>
        </p:nvSpPr>
        <p:spPr>
          <a:xfrm>
            <a:off x="2991687" y="4300020"/>
            <a:ext cx="4038600" cy="76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1800" dirty="0"/>
              <a:t>Now imagine that you move from Angle A to Angle B.</a:t>
            </a:r>
            <a:endParaRPr lang="en-US" altLang="en-US" dirty="0"/>
          </a:p>
        </p:txBody>
      </p:sp>
      <p:sp>
        <p:nvSpPr>
          <p:cNvPr id="53" name="Text Box 12">
            <a:extLst>
              <a:ext uri="{FF2B5EF4-FFF2-40B4-BE49-F238E27FC236}">
                <a16:creationId xmlns:a16="http://schemas.microsoft.com/office/drawing/2014/main" id="{B769F2C3-5431-447D-AD74-33487638A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883" y="5062020"/>
            <a:ext cx="3886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From Angle B the </a:t>
            </a:r>
            <a:r>
              <a:rPr lang="en-US" altLang="en-US" dirty="0"/>
              <a:t>adjacent side </a:t>
            </a:r>
            <a:r>
              <a:rPr lang="en-US" altLang="en-US" b="0" dirty="0"/>
              <a:t>is the side next to Angle B.</a:t>
            </a:r>
          </a:p>
        </p:txBody>
      </p:sp>
      <p:sp>
        <p:nvSpPr>
          <p:cNvPr id="54" name="Text Box 13">
            <a:extLst>
              <a:ext uri="{FF2B5EF4-FFF2-40B4-BE49-F238E27FC236}">
                <a16:creationId xmlns:a16="http://schemas.microsoft.com/office/drawing/2014/main" id="{71E5B140-0CB6-49AB-BD63-CF589FA2E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892" y="5782996"/>
            <a:ext cx="388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From Angle B the </a:t>
            </a:r>
            <a:r>
              <a:rPr lang="en-US" altLang="en-US" dirty="0"/>
              <a:t>opposite side </a:t>
            </a:r>
            <a:r>
              <a:rPr lang="en-US" altLang="en-US" b="0" dirty="0"/>
              <a:t>is the side that is on the opposite side of the triangle.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01454-5BB0-48FF-9E4C-93F6A11DFE63}"/>
              </a:ext>
            </a:extLst>
          </p:cNvPr>
          <p:cNvSpPr txBox="1"/>
          <p:nvPr/>
        </p:nvSpPr>
        <p:spPr>
          <a:xfrm>
            <a:off x="57509" y="2202611"/>
            <a:ext cx="17489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a right angled triangle labelled for trigonometry ratios?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428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17 -0.01111 L -0.39583 -0.21111 " pathEditMode="relative" ptsTypes="AA">
                                      <p:cBhvr>
                                        <p:cTn id="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963 0.05255 C -0.14336 0.08241 -0.17695 0.11273 -0.1944 0.08565 C -0.21172 0.05833 -0.21054 -0.07801 -0.21393 -0.11019 " pathEditMode="relative" rAng="0" ptsTypes="AAA">
                                      <p:cBhvr>
                                        <p:cTn id="1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21" y="-597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7037E-6 C 0.05131 -0.00672 0.10274 -0.01343 0.13959 0.01296 C 0.17657 0.03958 0.19883 0.09953 0.22123 0.15995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55" y="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/>
      <p:bldP spid="52" grpId="1"/>
      <p:bldP spid="53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25984" y="6940083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F80B6-DAD0-4CBC-A9D7-495325A2F66C}"/>
              </a:ext>
            </a:extLst>
          </p:cNvPr>
          <p:cNvSpPr/>
          <p:nvPr/>
        </p:nvSpPr>
        <p:spPr>
          <a:xfrm>
            <a:off x="2606465" y="5671952"/>
            <a:ext cx="5322887" cy="996950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FF5ED41-78EF-49BB-B374-3B787210264A}"/>
              </a:ext>
            </a:extLst>
          </p:cNvPr>
          <p:cNvGrpSpPr>
            <a:grpSpLocks/>
          </p:cNvGrpSpPr>
          <p:nvPr/>
        </p:nvGrpSpPr>
        <p:grpSpPr bwMode="auto">
          <a:xfrm>
            <a:off x="3750020" y="1841469"/>
            <a:ext cx="2819400" cy="1265238"/>
            <a:chOff x="192" y="816"/>
            <a:chExt cx="1776" cy="797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5FD2A204-BD21-4BD9-B88C-11B9B5A3E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Sin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 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886E80F7-E7FA-41FC-8B61-21747A9DC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0E16406A-3475-40F6-8064-BDFF9AE9C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O</a:t>
              </a:r>
              <a:r>
                <a:rPr lang="en-GB" altLang="en-US" sz="3200" dirty="0" err="1">
                  <a:latin typeface="Comic Sans MS" panose="030F0702030302020204" pitchFamily="66" charset="0"/>
                </a:rPr>
                <a:t>pp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D3D2F077-30A7-462E-8CCA-C4EF88ABD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FF0000"/>
                  </a:solidFill>
                  <a:latin typeface="Comic Sans MS" panose="030F0702030302020204" pitchFamily="66" charset="0"/>
                </a:rPr>
                <a:t>H</a:t>
              </a:r>
              <a:r>
                <a:rPr lang="en-GB" altLang="en-US" sz="3200">
                  <a:latin typeface="Comic Sans MS" panose="030F0702030302020204" pitchFamily="66" charset="0"/>
                </a:rPr>
                <a:t>yp</a:t>
              </a:r>
            </a:p>
          </p:txBody>
        </p:sp>
      </p:grpSp>
      <p:grpSp>
        <p:nvGrpSpPr>
          <p:cNvPr id="20" name="Group 9">
            <a:extLst>
              <a:ext uri="{FF2B5EF4-FFF2-40B4-BE49-F238E27FC236}">
                <a16:creationId xmlns:a16="http://schemas.microsoft.com/office/drawing/2014/main" id="{644E661D-55C3-4834-9E51-E8711B8476EA}"/>
              </a:ext>
            </a:extLst>
          </p:cNvPr>
          <p:cNvGrpSpPr>
            <a:grpSpLocks/>
          </p:cNvGrpSpPr>
          <p:nvPr/>
        </p:nvGrpSpPr>
        <p:grpSpPr bwMode="auto">
          <a:xfrm>
            <a:off x="3714615" y="3092157"/>
            <a:ext cx="2819400" cy="1265238"/>
            <a:chOff x="192" y="816"/>
            <a:chExt cx="1776" cy="797"/>
          </a:xfrm>
        </p:grpSpPr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787F5BAA-7C6F-4BA1-A715-A611230D5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00CC00"/>
                  </a:solidFill>
                  <a:latin typeface="Comic Sans MS" panose="030F0702030302020204" pitchFamily="66" charset="0"/>
                </a:rPr>
                <a:t>Cos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 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AC17DEC8-8E40-4A4D-AC59-F2A60A02D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4C919150-5D91-4604-B902-4EF5FBEC8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 err="1">
                  <a:solidFill>
                    <a:srgbClr val="00CC00"/>
                  </a:solidFill>
                  <a:latin typeface="Comic Sans MS" panose="030F0702030302020204" pitchFamily="66" charset="0"/>
                </a:rPr>
                <a:t>A</a:t>
              </a:r>
              <a:r>
                <a:rPr lang="en-GB" altLang="en-US" sz="3200" dirty="0" err="1">
                  <a:latin typeface="Comic Sans MS" panose="030F0702030302020204" pitchFamily="66" charset="0"/>
                </a:rPr>
                <a:t>dj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4" name="Text Box 13">
              <a:extLst>
                <a:ext uri="{FF2B5EF4-FFF2-40B4-BE49-F238E27FC236}">
                  <a16:creationId xmlns:a16="http://schemas.microsoft.com/office/drawing/2014/main" id="{B2B34B90-FFE9-4B3F-81CA-7B9449388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00CC00"/>
                  </a:solidFill>
                  <a:latin typeface="Comic Sans MS" panose="030F0702030302020204" pitchFamily="66" charset="0"/>
                </a:rPr>
                <a:t>H</a:t>
              </a:r>
              <a:r>
                <a:rPr lang="en-GB" altLang="en-US" sz="3200">
                  <a:latin typeface="Comic Sans MS" panose="030F0702030302020204" pitchFamily="66" charset="0"/>
                </a:rPr>
                <a:t>yp</a:t>
              </a:r>
            </a:p>
          </p:txBody>
        </p:sp>
      </p:grpSp>
      <p:grpSp>
        <p:nvGrpSpPr>
          <p:cNvPr id="25" name="Group 14">
            <a:extLst>
              <a:ext uri="{FF2B5EF4-FFF2-40B4-BE49-F238E27FC236}">
                <a16:creationId xmlns:a16="http://schemas.microsoft.com/office/drawing/2014/main" id="{BE4A2DE9-64A5-4CA3-92F2-CD9168124DE3}"/>
              </a:ext>
            </a:extLst>
          </p:cNvPr>
          <p:cNvGrpSpPr>
            <a:grpSpLocks/>
          </p:cNvGrpSpPr>
          <p:nvPr/>
        </p:nvGrpSpPr>
        <p:grpSpPr bwMode="auto">
          <a:xfrm>
            <a:off x="3675437" y="4269550"/>
            <a:ext cx="2893983" cy="1397030"/>
            <a:chOff x="192" y="816"/>
            <a:chExt cx="1776" cy="797"/>
          </a:xfrm>
        </p:grpSpPr>
        <p:sp>
          <p:nvSpPr>
            <p:cNvPr id="26" name="Text Box 15">
              <a:extLst>
                <a:ext uri="{FF2B5EF4-FFF2-40B4-BE49-F238E27FC236}">
                  <a16:creationId xmlns:a16="http://schemas.microsoft.com/office/drawing/2014/main" id="{E3D29B77-61DA-4844-B910-803C1FD95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CC00CC"/>
                  </a:solidFill>
                  <a:latin typeface="Comic Sans MS" panose="030F0702030302020204" pitchFamily="66" charset="0"/>
                </a:rPr>
                <a:t>Tan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B169D430-96DF-4F4F-8B27-82BACB1AA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E8DED53E-0428-44B4-829A-29A033082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CC00CC"/>
                  </a:solidFill>
                  <a:latin typeface="Comic Sans MS" panose="030F0702030302020204" pitchFamily="66" charset="0"/>
                </a:rPr>
                <a:t>O</a:t>
              </a:r>
              <a:r>
                <a:rPr lang="en-GB" altLang="en-US" sz="3200">
                  <a:latin typeface="Comic Sans MS" panose="030F0702030302020204" pitchFamily="66" charset="0"/>
                </a:rPr>
                <a:t>pp</a:t>
              </a:r>
            </a:p>
          </p:txBody>
        </p:sp>
        <p:sp>
          <p:nvSpPr>
            <p:cNvPr id="29" name="Text Box 18">
              <a:extLst>
                <a:ext uri="{FF2B5EF4-FFF2-40B4-BE49-F238E27FC236}">
                  <a16:creationId xmlns:a16="http://schemas.microsoft.com/office/drawing/2014/main" id="{B161FD69-C54B-4434-AB30-B9A306924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CC00CC"/>
                  </a:solidFill>
                  <a:latin typeface="Comic Sans MS" panose="030F0702030302020204" pitchFamily="66" charset="0"/>
                </a:rPr>
                <a:t>A</a:t>
              </a:r>
              <a:r>
                <a:rPr lang="en-GB" altLang="en-US" sz="3200">
                  <a:latin typeface="Comic Sans MS" panose="030F0702030302020204" pitchFamily="66" charset="0"/>
                </a:rPr>
                <a:t>dj</a:t>
              </a:r>
            </a:p>
          </p:txBody>
        </p:sp>
      </p:grpSp>
      <p:sp>
        <p:nvSpPr>
          <p:cNvPr id="30" name="Text Box 20">
            <a:extLst>
              <a:ext uri="{FF2B5EF4-FFF2-40B4-BE49-F238E27FC236}">
                <a16:creationId xmlns:a16="http://schemas.microsoft.com/office/drawing/2014/main" id="{EDD0B7B8-3072-4A60-9EC2-FB0BF9751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340" y="5665603"/>
            <a:ext cx="162736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 dirty="0">
                <a:solidFill>
                  <a:srgbClr val="00CC00"/>
                </a:solidFill>
                <a:latin typeface="Comic Sans MS" panose="030F0702030302020204" pitchFamily="66" charset="0"/>
              </a:rPr>
              <a:t>C</a:t>
            </a:r>
            <a:r>
              <a:rPr lang="en-GB" altLang="en-US" sz="6000" baseline="30000" dirty="0">
                <a:solidFill>
                  <a:srgbClr val="00CC00"/>
                </a:solidFill>
                <a:latin typeface="Comic Sans MS" panose="030F0702030302020204" pitchFamily="66" charset="0"/>
              </a:rPr>
              <a:t>A</a:t>
            </a:r>
            <a:r>
              <a:rPr lang="en-GB" altLang="en-US" sz="6000" dirty="0">
                <a:solidFill>
                  <a:srgbClr val="00CC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31" name="Text Box 21">
            <a:extLst>
              <a:ext uri="{FF2B5EF4-FFF2-40B4-BE49-F238E27FC236}">
                <a16:creationId xmlns:a16="http://schemas.microsoft.com/office/drawing/2014/main" id="{65B94436-CAF1-4E1D-884C-E4C267D2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9890" y="5665603"/>
            <a:ext cx="169148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>
                <a:solidFill>
                  <a:srgbClr val="CC00CC"/>
                </a:solidFill>
                <a:latin typeface="Comic Sans MS" panose="030F0702030302020204" pitchFamily="66" charset="0"/>
              </a:rPr>
              <a:t>T</a:t>
            </a:r>
            <a:r>
              <a:rPr lang="en-GB" altLang="en-US" sz="6000" baseline="30000">
                <a:solidFill>
                  <a:srgbClr val="CC00CC"/>
                </a:solidFill>
                <a:latin typeface="Comic Sans MS" panose="030F0702030302020204" pitchFamily="66" charset="0"/>
              </a:rPr>
              <a:t>O</a:t>
            </a:r>
            <a:r>
              <a:rPr lang="en-GB" altLang="en-US" sz="6000">
                <a:solidFill>
                  <a:srgbClr val="CC00CC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32" name="Text Box 24">
            <a:extLst>
              <a:ext uri="{FF2B5EF4-FFF2-40B4-BE49-F238E27FC236}">
                <a16:creationId xmlns:a16="http://schemas.microsoft.com/office/drawing/2014/main" id="{EDB13D8B-3A7E-4A05-B467-67DB098FA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990" y="5665603"/>
            <a:ext cx="17033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GB" altLang="en-US" sz="6000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O</a:t>
            </a:r>
            <a:r>
              <a:rPr lang="en-GB" altLang="en-US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29843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 descr="ohajerryimage">
            <a:extLst>
              <a:ext uri="{FF2B5EF4-FFF2-40B4-BE49-F238E27FC236}">
                <a16:creationId xmlns:a16="http://schemas.microsoft.com/office/drawing/2014/main" id="{97FC2AE3-6D1D-4F4D-ACD2-1B98B715D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442436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4">
            <a:extLst>
              <a:ext uri="{FF2B5EF4-FFF2-40B4-BE49-F238E27FC236}">
                <a16:creationId xmlns:a16="http://schemas.microsoft.com/office/drawing/2014/main" id="{4CC2191C-6440-4383-B828-60A94D7C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2" y="5486400"/>
            <a:ext cx="4433888" cy="1371600"/>
          </a:xfrm>
          <a:prstGeom prst="rect">
            <a:avLst/>
          </a:prstGeom>
          <a:gradFill rotWithShape="0">
            <a:gsLst>
              <a:gs pos="0">
                <a:srgbClr val="4D4D4D"/>
              </a:gs>
              <a:gs pos="100000">
                <a:srgbClr val="054B37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C1392A1C-0C97-4D3B-BA9F-1660AA4A2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562601"/>
            <a:ext cx="4495800" cy="10064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6000">
                <a:solidFill>
                  <a:srgbClr val="FFFFCC"/>
                </a:solidFill>
                <a:latin typeface="Curlz MT" panose="04040404050702020202" pitchFamily="82" charset="0"/>
              </a:rPr>
              <a:t>Old Hippie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37B97253-FDEF-4D57-B9AD-35E10AA50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7100" y="-1270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Some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B2ECFBC4-EAAC-4F7E-A8EE-25EE65153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096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Old</a:t>
            </a:r>
          </a:p>
        </p:txBody>
      </p:sp>
      <p:sp>
        <p:nvSpPr>
          <p:cNvPr id="13320" name="Text Box 8">
            <a:extLst>
              <a:ext uri="{FF2B5EF4-FFF2-40B4-BE49-F238E27FC236}">
                <a16:creationId xmlns:a16="http://schemas.microsoft.com/office/drawing/2014/main" id="{9F78ACFC-A38C-4398-82EF-DE5B498F1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3208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Hippie</a:t>
            </a:r>
          </a:p>
        </p:txBody>
      </p:sp>
      <p:sp>
        <p:nvSpPr>
          <p:cNvPr id="13321" name="Text Box 9">
            <a:extLst>
              <a:ext uri="{FF2B5EF4-FFF2-40B4-BE49-F238E27FC236}">
                <a16:creationId xmlns:a16="http://schemas.microsoft.com/office/drawing/2014/main" id="{D3D80342-38E1-4513-8386-01F2FAC05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00" y="21209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Came</a:t>
            </a:r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5CD881B7-6758-4E07-9706-A9CC8D37D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1" y="2882900"/>
            <a:ext cx="3209925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A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F18C4268-77FB-415D-AA68-35B770EB9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5433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Hoppin’</a:t>
            </a:r>
          </a:p>
        </p:txBody>
      </p:sp>
      <p:sp>
        <p:nvSpPr>
          <p:cNvPr id="13324" name="Text Box 12">
            <a:extLst>
              <a:ext uri="{FF2B5EF4-FFF2-40B4-BE49-F238E27FC236}">
                <a16:creationId xmlns:a16="http://schemas.microsoft.com/office/drawing/2014/main" id="{D8301E58-6E8A-42AD-BA4C-ED7098FF6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3434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Through</a:t>
            </a:r>
          </a:p>
        </p:txBody>
      </p:sp>
      <p:sp>
        <p:nvSpPr>
          <p:cNvPr id="13325" name="Text Box 13">
            <a:extLst>
              <a:ext uri="{FF2B5EF4-FFF2-40B4-BE49-F238E27FC236}">
                <a16:creationId xmlns:a16="http://schemas.microsoft.com/office/drawing/2014/main" id="{2E73CA8B-BFC0-442B-8013-61BCE4AC9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114925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Our</a:t>
            </a:r>
          </a:p>
        </p:txBody>
      </p:sp>
      <p:sp>
        <p:nvSpPr>
          <p:cNvPr id="13326" name="Text Box 14">
            <a:extLst>
              <a:ext uri="{FF2B5EF4-FFF2-40B4-BE49-F238E27FC236}">
                <a16:creationId xmlns:a16="http://schemas.microsoft.com/office/drawing/2014/main" id="{8846194D-1DE9-4E54-A299-882BC3BCC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927725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Apartment</a:t>
            </a:r>
          </a:p>
        </p:txBody>
      </p:sp>
      <p:pic>
        <p:nvPicPr>
          <p:cNvPr id="13334" name="Picture 22" descr="bd08771_">
            <a:extLst>
              <a:ext uri="{FF2B5EF4-FFF2-40B4-BE49-F238E27FC236}">
                <a16:creationId xmlns:a16="http://schemas.microsoft.com/office/drawing/2014/main" id="{9F9F8E86-BFA2-4163-B04B-3C494C416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088" y="1143000"/>
            <a:ext cx="15240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975"/>
                            </p:stCondLst>
                            <p:childTnLst>
                              <p:par>
                                <p:cTn id="3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37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775"/>
                            </p:stCondLst>
                            <p:childTnLst>
                              <p:par>
                                <p:cTn id="4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850"/>
                            </p:stCondLst>
                            <p:childTnLst>
                              <p:par>
                                <p:cTn id="5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375"/>
                            </p:stCondLst>
                            <p:childTnLst>
                              <p:par>
                                <p:cTn id="58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900"/>
                            </p:stCondLst>
                            <p:childTnLst>
                              <p:par>
                                <p:cTn id="6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8125"/>
                            </p:stCondLst>
                            <p:childTnLst>
                              <p:par>
                                <p:cTn id="7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  <p:bldP spid="13317" grpId="0" autoUpdateAnimBg="0"/>
      <p:bldP spid="13318" grpId="0" autoUpdateAnimBg="0"/>
      <p:bldP spid="13319" grpId="0" autoUpdateAnimBg="0"/>
      <p:bldP spid="13320" grpId="0" autoUpdateAnimBg="0"/>
      <p:bldP spid="13321" grpId="0" autoUpdateAnimBg="0"/>
      <p:bldP spid="13322" grpId="0" autoUpdateAnimBg="0"/>
      <p:bldP spid="13323" grpId="0" autoUpdateAnimBg="0"/>
      <p:bldP spid="13324" grpId="0" autoUpdateAnimBg="0"/>
      <p:bldP spid="13325" grpId="0" autoUpdateAnimBg="0"/>
      <p:bldP spid="1332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973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901787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820D8D8-0C67-4FFA-BC7A-D2CC017FE38F}"/>
              </a:ext>
            </a:extLst>
          </p:cNvPr>
          <p:cNvSpPr txBox="1">
            <a:spLocks noChangeArrowheads="1"/>
          </p:cNvSpPr>
          <p:nvPr/>
        </p:nvSpPr>
        <p:spPr>
          <a:xfrm>
            <a:off x="1726550" y="2075640"/>
            <a:ext cx="4800600" cy="914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Each of the 3 ratios has a name</a:t>
            </a:r>
          </a:p>
          <a:p>
            <a:r>
              <a:rPr lang="en-US" altLang="en-US" sz="2000" dirty="0"/>
              <a:t>The names also refer to an angle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755CB64-C45D-406A-A497-952A489BA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151" y="3461917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16A571E9-A2AF-4404-821A-A63C3C8F81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950086"/>
              </p:ext>
            </p:extLst>
          </p:nvPr>
        </p:nvGraphicFramePr>
        <p:xfrm>
          <a:off x="1872923" y="3280762"/>
          <a:ext cx="37338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3" imgW="1917700" imgH="419100" progId="Equation.DSMT4">
                  <p:embed/>
                </p:oleObj>
              </mc:Choice>
              <mc:Fallback>
                <p:oleObj name="Equation" r:id="rId3" imgW="1917700" imgH="419100" progId="Equation.DSMT4">
                  <p:embed/>
                  <p:pic>
                    <p:nvPicPr>
                      <p:cNvPr id="20485" name="Object 5">
                        <a:extLst>
                          <a:ext uri="{FF2B5EF4-FFF2-40B4-BE49-F238E27FC236}">
                            <a16:creationId xmlns:a16="http://schemas.microsoft.com/office/drawing/2014/main" id="{C66A7239-76BC-4EBE-9A4F-E093F2F528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3280762"/>
                        <a:ext cx="37338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70D160DA-C769-4C82-B552-59A0CB534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203697"/>
              </p:ext>
            </p:extLst>
          </p:nvPr>
        </p:nvGraphicFramePr>
        <p:xfrm>
          <a:off x="1872923" y="4448331"/>
          <a:ext cx="37338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5" imgW="2082800" imgH="419100" progId="Equation.DSMT4">
                  <p:embed/>
                </p:oleObj>
              </mc:Choice>
              <mc:Fallback>
                <p:oleObj name="Equation" r:id="rId5" imgW="2082800" imgH="419100" progId="Equation.DSMT4">
                  <p:embed/>
                  <p:pic>
                    <p:nvPicPr>
                      <p:cNvPr id="20487" name="Object 7">
                        <a:extLst>
                          <a:ext uri="{FF2B5EF4-FFF2-40B4-BE49-F238E27FC236}">
                            <a16:creationId xmlns:a16="http://schemas.microsoft.com/office/drawing/2014/main" id="{D15E51CE-B790-42D6-87AB-901C2569E4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4448331"/>
                        <a:ext cx="37338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BC04B4AC-92F1-4F49-8835-D0CC04D60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473383"/>
              </p:ext>
            </p:extLst>
          </p:nvPr>
        </p:nvGraphicFramePr>
        <p:xfrm>
          <a:off x="1872923" y="5481983"/>
          <a:ext cx="37338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Equation" r:id="rId7" imgW="1981200" imgH="419100" progId="Equation.DSMT4">
                  <p:embed/>
                </p:oleObj>
              </mc:Choice>
              <mc:Fallback>
                <p:oleObj name="Equation" r:id="rId7" imgW="1981200" imgH="419100" progId="Equation.DSMT4">
                  <p:embed/>
                  <p:pic>
                    <p:nvPicPr>
                      <p:cNvPr id="20489" name="Object 9">
                        <a:extLst>
                          <a:ext uri="{FF2B5EF4-FFF2-40B4-BE49-F238E27FC236}">
                            <a16:creationId xmlns:a16="http://schemas.microsoft.com/office/drawing/2014/main" id="{FC328105-9B7A-483B-B4A7-D7AD2FE40E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5481983"/>
                        <a:ext cx="37338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4B5CAD08-8113-4BBF-B162-FFDE4EAA8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331205"/>
              </p:ext>
            </p:extLst>
          </p:nvPr>
        </p:nvGraphicFramePr>
        <p:xfrm>
          <a:off x="7030219" y="1966672"/>
          <a:ext cx="1685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Drawing" r:id="rId9" imgW="1677971" imgH="801278" progId="Presentations.Drawing.10">
                  <p:embed/>
                </p:oleObj>
              </mc:Choice>
              <mc:Fallback>
                <p:oleObj name="Drawing" r:id="rId9" imgW="1677971" imgH="801278" progId="Presentations.Drawing.10">
                  <p:embed/>
                  <p:pic>
                    <p:nvPicPr>
                      <p:cNvPr id="20497" name="Object 17">
                        <a:extLst>
                          <a:ext uri="{FF2B5EF4-FFF2-40B4-BE49-F238E27FC236}">
                            <a16:creationId xmlns:a16="http://schemas.microsoft.com/office/drawing/2014/main" id="{A975D795-813A-4662-9962-6A4D7843BF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0219" y="1966672"/>
                        <a:ext cx="16859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9">
            <a:extLst>
              <a:ext uri="{FF2B5EF4-FFF2-40B4-BE49-F238E27FC236}">
                <a16:creationId xmlns:a16="http://schemas.microsoft.com/office/drawing/2014/main" id="{2F58A0A6-0784-4CD1-B7E8-A59A0871A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819" y="1966672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Hypotenuse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33A2A9BB-55C2-4C41-8893-26BBD48D3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819" y="2728672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/>
              <a:t>Adjacent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754869C7-8F11-49AC-BAD1-94AF42E7C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081" y="2150028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Opposite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B2F6D85E-1CDC-4C58-8C3E-75EA26E03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6619" y="2500072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8634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3958" y="645534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4669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90408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is a right angled triangle labelled?</a:t>
            </a:r>
            <a:endParaRPr lang="en-AU" sz="2400" b="1" dirty="0"/>
          </a:p>
        </p:txBody>
      </p:sp>
      <p:graphicFrame>
        <p:nvGraphicFramePr>
          <p:cNvPr id="33" name="Object 83">
            <a:extLst>
              <a:ext uri="{FF2B5EF4-FFF2-40B4-BE49-F238E27FC236}">
                <a16:creationId xmlns:a16="http://schemas.microsoft.com/office/drawing/2014/main" id="{C0F013BB-C869-43F6-9A63-5E71C216D6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959060"/>
              </p:ext>
            </p:extLst>
          </p:nvPr>
        </p:nvGraphicFramePr>
        <p:xfrm>
          <a:off x="3527894" y="4783645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Equation" r:id="rId3" imgW="228501" imgH="165028" progId="Equation.DSMT4">
                  <p:embed/>
                </p:oleObj>
              </mc:Choice>
              <mc:Fallback>
                <p:oleObj name="Equation" r:id="rId3" imgW="228501" imgH="165028" progId="Equation.DSMT4">
                  <p:embed/>
                  <p:pic>
                    <p:nvPicPr>
                      <p:cNvPr id="23635" name="Object 83">
                        <a:extLst>
                          <a:ext uri="{FF2B5EF4-FFF2-40B4-BE49-F238E27FC236}">
                            <a16:creationId xmlns:a16="http://schemas.microsoft.com/office/drawing/2014/main" id="{55C7B86F-8BC7-4FD9-AEA2-B09E1610F1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894" y="4783645"/>
                        <a:ext cx="457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0">
            <a:extLst>
              <a:ext uri="{FF2B5EF4-FFF2-40B4-BE49-F238E27FC236}">
                <a16:creationId xmlns:a16="http://schemas.microsoft.com/office/drawing/2014/main" id="{3E8BCEA0-AB68-42C5-956D-9852143E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294" y="3488245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23339005-2A59-449A-96D1-50791F59A1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733759"/>
              </p:ext>
            </p:extLst>
          </p:nvPr>
        </p:nvGraphicFramePr>
        <p:xfrm>
          <a:off x="3832694" y="3535870"/>
          <a:ext cx="17557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Equation" r:id="rId5" imgW="901309" imgH="418918" progId="Equation.DSMT4">
                  <p:embed/>
                </p:oleObj>
              </mc:Choice>
              <mc:Fallback>
                <p:oleObj name="Equation" r:id="rId5" imgW="901309" imgH="418918" progId="Equation.DSMT4">
                  <p:embed/>
                  <p:pic>
                    <p:nvPicPr>
                      <p:cNvPr id="12293" name="Object 11">
                        <a:extLst>
                          <a:ext uri="{FF2B5EF4-FFF2-40B4-BE49-F238E27FC236}">
                            <a16:creationId xmlns:a16="http://schemas.microsoft.com/office/drawing/2014/main" id="{CC5C6363-C8D3-4E9F-A042-0DC0EC5B39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694" y="3535870"/>
                        <a:ext cx="17557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2">
            <a:extLst>
              <a:ext uri="{FF2B5EF4-FFF2-40B4-BE49-F238E27FC236}">
                <a16:creationId xmlns:a16="http://schemas.microsoft.com/office/drawing/2014/main" id="{41189C4D-50BD-49DF-9369-9F56D3AFA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180169"/>
              </p:ext>
            </p:extLst>
          </p:nvPr>
        </p:nvGraphicFramePr>
        <p:xfrm>
          <a:off x="3832694" y="4631245"/>
          <a:ext cx="16859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Equation" r:id="rId7" imgW="939800" imgH="419100" progId="Equation.DSMT4">
                  <p:embed/>
                </p:oleObj>
              </mc:Choice>
              <mc:Fallback>
                <p:oleObj name="Equation" r:id="rId7" imgW="939800" imgH="419100" progId="Equation.DSMT4">
                  <p:embed/>
                  <p:pic>
                    <p:nvPicPr>
                      <p:cNvPr id="12294" name="Object 12">
                        <a:extLst>
                          <a:ext uri="{FF2B5EF4-FFF2-40B4-BE49-F238E27FC236}">
                            <a16:creationId xmlns:a16="http://schemas.microsoft.com/office/drawing/2014/main" id="{5496A6F4-C677-4E14-88C8-BBA643CD89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694" y="4631245"/>
                        <a:ext cx="16859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3">
            <a:extLst>
              <a:ext uri="{FF2B5EF4-FFF2-40B4-BE49-F238E27FC236}">
                <a16:creationId xmlns:a16="http://schemas.microsoft.com/office/drawing/2014/main" id="{B34817A3-2657-48CA-A2C7-5AD4E7026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838171"/>
              </p:ext>
            </p:extLst>
          </p:nvPr>
        </p:nvGraphicFramePr>
        <p:xfrm>
          <a:off x="3908894" y="5850445"/>
          <a:ext cx="14605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Equation" r:id="rId9" imgW="774364" imgH="418918" progId="Equation.DSMT4">
                  <p:embed/>
                </p:oleObj>
              </mc:Choice>
              <mc:Fallback>
                <p:oleObj name="Equation" r:id="rId9" imgW="774364" imgH="418918" progId="Equation.DSMT4">
                  <p:embed/>
                  <p:pic>
                    <p:nvPicPr>
                      <p:cNvPr id="12295" name="Object 13">
                        <a:extLst>
                          <a:ext uri="{FF2B5EF4-FFF2-40B4-BE49-F238E27FC236}">
                            <a16:creationId xmlns:a16="http://schemas.microsoft.com/office/drawing/2014/main" id="{98193BAF-82E3-4E88-BDE3-D04D663204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894" y="5850445"/>
                        <a:ext cx="14605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22">
            <a:extLst>
              <a:ext uri="{FF2B5EF4-FFF2-40B4-BE49-F238E27FC236}">
                <a16:creationId xmlns:a16="http://schemas.microsoft.com/office/drawing/2014/main" id="{D8A71AC6-E131-4CE8-AB94-E773D2A26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694" y="2040445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0" dirty="0"/>
              <a:t>If the angle changes from A to B</a:t>
            </a:r>
          </a:p>
        </p:txBody>
      </p:sp>
      <p:sp>
        <p:nvSpPr>
          <p:cNvPr id="44" name="Text Box 23">
            <a:extLst>
              <a:ext uri="{FF2B5EF4-FFF2-40B4-BE49-F238E27FC236}">
                <a16:creationId xmlns:a16="http://schemas.microsoft.com/office/drawing/2014/main" id="{24DD0E83-637C-41F0-B1EC-A0275ACEE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694" y="2746945"/>
            <a:ext cx="449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0" dirty="0"/>
              <a:t>The way the ratios are made is the same</a:t>
            </a:r>
          </a:p>
        </p:txBody>
      </p:sp>
      <p:graphicFrame>
        <p:nvGraphicFramePr>
          <p:cNvPr id="45" name="Object 31">
            <a:extLst>
              <a:ext uri="{FF2B5EF4-FFF2-40B4-BE49-F238E27FC236}">
                <a16:creationId xmlns:a16="http://schemas.microsoft.com/office/drawing/2014/main" id="{4CE3F0B7-35CD-43ED-B3AF-C8DB1EF181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61165"/>
              </p:ext>
            </p:extLst>
          </p:nvPr>
        </p:nvGraphicFramePr>
        <p:xfrm>
          <a:off x="3451694" y="3777170"/>
          <a:ext cx="4730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name="Equation" r:id="rId11" imgW="228501" imgH="165028" progId="Equation.DSMT4">
                  <p:embed/>
                </p:oleObj>
              </mc:Choice>
              <mc:Fallback>
                <p:oleObj name="Equation" r:id="rId11" imgW="228501" imgH="165028" progId="Equation.DSMT4">
                  <p:embed/>
                  <p:pic>
                    <p:nvPicPr>
                      <p:cNvPr id="23583" name="Object 31">
                        <a:extLst>
                          <a:ext uri="{FF2B5EF4-FFF2-40B4-BE49-F238E27FC236}">
                            <a16:creationId xmlns:a16="http://schemas.microsoft.com/office/drawing/2014/main" id="{B203E2D1-2536-4BD7-97E4-222D2CD009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694" y="3777170"/>
                        <a:ext cx="47307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5">
            <a:extLst>
              <a:ext uri="{FF2B5EF4-FFF2-40B4-BE49-F238E27FC236}">
                <a16:creationId xmlns:a16="http://schemas.microsoft.com/office/drawing/2014/main" id="{FAC4B010-A7C5-47FE-A92C-F346C7937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756789"/>
              </p:ext>
            </p:extLst>
          </p:nvPr>
        </p:nvGraphicFramePr>
        <p:xfrm>
          <a:off x="3680294" y="6079045"/>
          <a:ext cx="34766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Equation" r:id="rId12" imgW="190335" imgH="164957" progId="Equation.DSMT4">
                  <p:embed/>
                </p:oleObj>
              </mc:Choice>
              <mc:Fallback>
                <p:oleObj name="Equation" r:id="rId12" imgW="190335" imgH="164957" progId="Equation.DSMT4">
                  <p:embed/>
                  <p:pic>
                    <p:nvPicPr>
                      <p:cNvPr id="23587" name="Object 35">
                        <a:extLst>
                          <a:ext uri="{FF2B5EF4-FFF2-40B4-BE49-F238E27FC236}">
                            <a16:creationId xmlns:a16="http://schemas.microsoft.com/office/drawing/2014/main" id="{1160E4A7-2055-4279-BAA8-D7F1F79C51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0294" y="6079045"/>
                        <a:ext cx="347663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5">
            <a:extLst>
              <a:ext uri="{FF2B5EF4-FFF2-40B4-BE49-F238E27FC236}">
                <a16:creationId xmlns:a16="http://schemas.microsoft.com/office/drawing/2014/main" id="{16F1A496-8C3E-4D43-9318-4A0DA6E61C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516779"/>
              </p:ext>
            </p:extLst>
          </p:nvPr>
        </p:nvGraphicFramePr>
        <p:xfrm>
          <a:off x="1546694" y="4783645"/>
          <a:ext cx="19954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" name="Equation" r:id="rId14" imgW="1040948" imgH="203112" progId="Equation.DSMT4">
                  <p:embed/>
                </p:oleObj>
              </mc:Choice>
              <mc:Fallback>
                <p:oleObj name="Equation" r:id="rId14" imgW="1040948" imgH="203112" progId="Equation.DSMT4">
                  <p:embed/>
                  <p:pic>
                    <p:nvPicPr>
                      <p:cNvPr id="12313" name="Object 45">
                        <a:extLst>
                          <a:ext uri="{FF2B5EF4-FFF2-40B4-BE49-F238E27FC236}">
                            <a16:creationId xmlns:a16="http://schemas.microsoft.com/office/drawing/2014/main" id="{A100CCA9-2B56-4C0F-BD11-99A7871910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694" y="4783645"/>
                        <a:ext cx="19954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E14892BD-0F47-4E36-9E52-0335FA2C5F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159003"/>
              </p:ext>
            </p:extLst>
          </p:nvPr>
        </p:nvGraphicFramePr>
        <p:xfrm>
          <a:off x="1699094" y="3745420"/>
          <a:ext cx="1854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" name="Equation" r:id="rId16" imgW="926698" imgH="203112" progId="Equation.DSMT4">
                  <p:embed/>
                </p:oleObj>
              </mc:Choice>
              <mc:Fallback>
                <p:oleObj name="Equation" r:id="rId16" imgW="926698" imgH="203112" progId="Equation.DSMT4">
                  <p:embed/>
                  <p:pic>
                    <p:nvPicPr>
                      <p:cNvPr id="12315" name="Object 47">
                        <a:extLst>
                          <a:ext uri="{FF2B5EF4-FFF2-40B4-BE49-F238E27FC236}">
                            <a16:creationId xmlns:a16="http://schemas.microsoft.com/office/drawing/2014/main" id="{5D408FCB-9227-4B22-A6CA-C14283B24C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094" y="3745420"/>
                        <a:ext cx="18542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9">
            <a:extLst>
              <a:ext uri="{FF2B5EF4-FFF2-40B4-BE49-F238E27FC236}">
                <a16:creationId xmlns:a16="http://schemas.microsoft.com/office/drawing/2014/main" id="{2C24D58D-AB82-4A94-BDB0-9024ADD7B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592069"/>
              </p:ext>
            </p:extLst>
          </p:nvPr>
        </p:nvGraphicFramePr>
        <p:xfrm>
          <a:off x="1622894" y="6079045"/>
          <a:ext cx="20780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" name="Equation" r:id="rId18" imgW="1117115" imgH="203112" progId="Equation.DSMT4">
                  <p:embed/>
                </p:oleObj>
              </mc:Choice>
              <mc:Fallback>
                <p:oleObj name="Equation" r:id="rId18" imgW="1117115" imgH="203112" progId="Equation.DSMT4">
                  <p:embed/>
                  <p:pic>
                    <p:nvPicPr>
                      <p:cNvPr id="12317" name="Object 49">
                        <a:extLst>
                          <a:ext uri="{FF2B5EF4-FFF2-40B4-BE49-F238E27FC236}">
                            <a16:creationId xmlns:a16="http://schemas.microsoft.com/office/drawing/2014/main" id="{2905AE66-EEC4-4090-9A4A-240CE9BD0E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894" y="6079045"/>
                        <a:ext cx="207803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7">
            <a:extLst>
              <a:ext uri="{FF2B5EF4-FFF2-40B4-BE49-F238E27FC236}">
                <a16:creationId xmlns:a16="http://schemas.microsoft.com/office/drawing/2014/main" id="{E93099B9-D775-4D6E-A88A-D08769561E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196844"/>
              </p:ext>
            </p:extLst>
          </p:nvPr>
        </p:nvGraphicFramePr>
        <p:xfrm>
          <a:off x="6627287" y="2091307"/>
          <a:ext cx="1685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" name="Drawing" r:id="rId20" imgW="1677971" imgH="801278" progId="Presentations.Drawing.10">
                  <p:embed/>
                </p:oleObj>
              </mc:Choice>
              <mc:Fallback>
                <p:oleObj name="Drawing" r:id="rId20" imgW="1677971" imgH="801278" progId="Presentations.Drawing.10">
                  <p:embed/>
                  <p:pic>
                    <p:nvPicPr>
                      <p:cNvPr id="12296" name="Object 17">
                        <a:extLst>
                          <a:ext uri="{FF2B5EF4-FFF2-40B4-BE49-F238E27FC236}">
                            <a16:creationId xmlns:a16="http://schemas.microsoft.com/office/drawing/2014/main" id="{DCE79AEC-91F8-4EC9-A096-C4A8850CE5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287" y="2091307"/>
                        <a:ext cx="16859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19">
            <a:extLst>
              <a:ext uri="{FF2B5EF4-FFF2-40B4-BE49-F238E27FC236}">
                <a16:creationId xmlns:a16="http://schemas.microsoft.com/office/drawing/2014/main" id="{55807D80-34D1-4B64-9169-E47204450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887" y="2853307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Adjacent</a:t>
            </a:r>
          </a:p>
        </p:txBody>
      </p:sp>
      <p:sp>
        <p:nvSpPr>
          <p:cNvPr id="52" name="Text Box 20">
            <a:extLst>
              <a:ext uri="{FF2B5EF4-FFF2-40B4-BE49-F238E27FC236}">
                <a16:creationId xmlns:a16="http://schemas.microsoft.com/office/drawing/2014/main" id="{FADB18B2-9AF4-42AA-9CC5-AB6B873F7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619" y="2393795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Opposite</a:t>
            </a:r>
          </a:p>
        </p:txBody>
      </p:sp>
      <p:sp>
        <p:nvSpPr>
          <p:cNvPr id="53" name="Text Box 21">
            <a:extLst>
              <a:ext uri="{FF2B5EF4-FFF2-40B4-BE49-F238E27FC236}">
                <a16:creationId xmlns:a16="http://schemas.microsoft.com/office/drawing/2014/main" id="{8876E8DA-58AB-42F0-93D6-077C26BC0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687" y="2624707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54" name="Text Box 24">
            <a:extLst>
              <a:ext uri="{FF2B5EF4-FFF2-40B4-BE49-F238E27FC236}">
                <a16:creationId xmlns:a16="http://schemas.microsoft.com/office/drawing/2014/main" id="{F5ECF9FD-2893-4261-9857-3213107E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487" y="1786507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9897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46 C -0.00703 0.05185 -0.01341 0.10371 0.00352 0.11482 C 0.02045 0.1257 0.06107 0.0963 0.10157 0.066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583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C -0.04401 0.03356 -0.08763 0.0669 -0.10611 0.05602 C -0.1246 0.04491 -0.11744 -0.01088 -0.11028 -0.06644 " pathEditMode="relative" rAng="0" ptsTypes="AAA">
                                      <p:cBhvr>
                                        <p:cTn id="2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98" y="-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51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028">
            <a:extLst>
              <a:ext uri="{FF2B5EF4-FFF2-40B4-BE49-F238E27FC236}">
                <a16:creationId xmlns:a16="http://schemas.microsoft.com/office/drawing/2014/main" id="{63FF151C-8F58-465F-9E38-15EBE6A07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34938"/>
            <a:ext cx="8153400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Find the sine, the cosine, and the tangent of angle A.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Give your answer correct to 4 decimal places.</a:t>
            </a:r>
          </a:p>
        </p:txBody>
      </p:sp>
      <p:graphicFrame>
        <p:nvGraphicFramePr>
          <p:cNvPr id="10249" name="Object 1033">
            <a:extLst>
              <a:ext uri="{FF2B5EF4-FFF2-40B4-BE49-F238E27FC236}">
                <a16:creationId xmlns:a16="http://schemas.microsoft.com/office/drawing/2014/main" id="{97461B19-9027-439C-83EF-305BEA0983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5776" y="990600"/>
          <a:ext cx="19288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Equation" r:id="rId4" imgW="761669" imgH="418918" progId="Equation.3">
                  <p:embed/>
                </p:oleObj>
              </mc:Choice>
              <mc:Fallback>
                <p:oleObj name="Equation" r:id="rId4" imgW="761669" imgH="418918" progId="Equation.3">
                  <p:embed/>
                  <p:pic>
                    <p:nvPicPr>
                      <p:cNvPr id="10249" name="Object 1033">
                        <a:extLst>
                          <a:ext uri="{FF2B5EF4-FFF2-40B4-BE49-F238E27FC236}">
                            <a16:creationId xmlns:a16="http://schemas.microsoft.com/office/drawing/2014/main" id="{97461B19-9027-439C-83EF-305BEA0983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776" y="990600"/>
                        <a:ext cx="192881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34">
            <a:extLst>
              <a:ext uri="{FF2B5EF4-FFF2-40B4-BE49-F238E27FC236}">
                <a16:creationId xmlns:a16="http://schemas.microsoft.com/office/drawing/2014/main" id="{98B5781E-F0C8-492D-BD46-1804BADB63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990600"/>
          <a:ext cx="11255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Equation" r:id="rId6" imgW="444307" imgH="393529" progId="Equation.3">
                  <p:embed/>
                </p:oleObj>
              </mc:Choice>
              <mc:Fallback>
                <p:oleObj name="Equation" r:id="rId6" imgW="444307" imgH="393529" progId="Equation.3">
                  <p:embed/>
                  <p:pic>
                    <p:nvPicPr>
                      <p:cNvPr id="10250" name="Object 1034">
                        <a:extLst>
                          <a:ext uri="{FF2B5EF4-FFF2-40B4-BE49-F238E27FC236}">
                            <a16:creationId xmlns:a16="http://schemas.microsoft.com/office/drawing/2014/main" id="{98B5781E-F0C8-492D-BD46-1804BADB63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990600"/>
                        <a:ext cx="11255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035">
            <a:extLst>
              <a:ext uri="{FF2B5EF4-FFF2-40B4-BE49-F238E27FC236}">
                <a16:creationId xmlns:a16="http://schemas.microsoft.com/office/drawing/2014/main" id="{8D08ECFB-458E-43FF-920D-0163BEF7E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5401" y="13716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Equation" r:id="rId8" imgW="494870" imgH="177646" progId="Equation.3">
                  <p:embed/>
                </p:oleObj>
              </mc:Choice>
              <mc:Fallback>
                <p:oleObj name="Equation" r:id="rId8" imgW="494870" imgH="177646" progId="Equation.3">
                  <p:embed/>
                  <p:pic>
                    <p:nvPicPr>
                      <p:cNvPr id="10251" name="Object 1035">
                        <a:extLst>
                          <a:ext uri="{FF2B5EF4-FFF2-40B4-BE49-F238E27FC236}">
                            <a16:creationId xmlns:a16="http://schemas.microsoft.com/office/drawing/2014/main" id="{8D08ECFB-458E-43FF-920D-0163BEF7E0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13716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036">
            <a:extLst>
              <a:ext uri="{FF2B5EF4-FFF2-40B4-BE49-F238E27FC236}">
                <a16:creationId xmlns:a16="http://schemas.microsoft.com/office/drawing/2014/main" id="{113C5D3A-1D4F-475F-9E70-7BA6809CE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7038" y="2667000"/>
          <a:ext cx="1960562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Equation" r:id="rId10" imgW="774364" imgH="418918" progId="Equation.3">
                  <p:embed/>
                </p:oleObj>
              </mc:Choice>
              <mc:Fallback>
                <p:oleObj name="Equation" r:id="rId10" imgW="774364" imgH="418918" progId="Equation.3">
                  <p:embed/>
                  <p:pic>
                    <p:nvPicPr>
                      <p:cNvPr id="10252" name="Object 1036">
                        <a:extLst>
                          <a:ext uri="{FF2B5EF4-FFF2-40B4-BE49-F238E27FC236}">
                            <a16:creationId xmlns:a16="http://schemas.microsoft.com/office/drawing/2014/main" id="{113C5D3A-1D4F-475F-9E70-7BA6809CE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67000"/>
                        <a:ext cx="1960562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037">
            <a:extLst>
              <a:ext uri="{FF2B5EF4-FFF2-40B4-BE49-F238E27FC236}">
                <a16:creationId xmlns:a16="http://schemas.microsoft.com/office/drawing/2014/main" id="{6ED0EF28-4F6D-4A24-8B16-8143D412B3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2743200"/>
          <a:ext cx="11239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Equation" r:id="rId12" imgW="444307" imgH="393529" progId="Equation.3">
                  <p:embed/>
                </p:oleObj>
              </mc:Choice>
              <mc:Fallback>
                <p:oleObj name="Equation" r:id="rId12" imgW="444307" imgH="393529" progId="Equation.3">
                  <p:embed/>
                  <p:pic>
                    <p:nvPicPr>
                      <p:cNvPr id="10253" name="Object 1037">
                        <a:extLst>
                          <a:ext uri="{FF2B5EF4-FFF2-40B4-BE49-F238E27FC236}">
                            <a16:creationId xmlns:a16="http://schemas.microsoft.com/office/drawing/2014/main" id="{6ED0EF28-4F6D-4A24-8B16-8143D412B3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743200"/>
                        <a:ext cx="11239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038">
            <a:extLst>
              <a:ext uri="{FF2B5EF4-FFF2-40B4-BE49-F238E27FC236}">
                <a16:creationId xmlns:a16="http://schemas.microsoft.com/office/drawing/2014/main" id="{526D2B6A-DDC6-4A41-9B91-9BE129CB58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1" y="31242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Equation" r:id="rId14" imgW="494870" imgH="177646" progId="Equation.3">
                  <p:embed/>
                </p:oleObj>
              </mc:Choice>
              <mc:Fallback>
                <p:oleObj name="Equation" r:id="rId14" imgW="494870" imgH="177646" progId="Equation.3">
                  <p:embed/>
                  <p:pic>
                    <p:nvPicPr>
                      <p:cNvPr id="10254" name="Object 1038">
                        <a:extLst>
                          <a:ext uri="{FF2B5EF4-FFF2-40B4-BE49-F238E27FC236}">
                            <a16:creationId xmlns:a16="http://schemas.microsoft.com/office/drawing/2014/main" id="{526D2B6A-DDC6-4A41-9B91-9BE129CB5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1242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039">
            <a:extLst>
              <a:ext uri="{FF2B5EF4-FFF2-40B4-BE49-F238E27FC236}">
                <a16:creationId xmlns:a16="http://schemas.microsoft.com/office/drawing/2014/main" id="{6F4A3D55-F109-42F2-BA0D-798F9463E7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2438" y="434975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Equation" r:id="rId16" imgW="774364" imgH="418918" progId="Equation.3">
                  <p:embed/>
                </p:oleObj>
              </mc:Choice>
              <mc:Fallback>
                <p:oleObj name="Equation" r:id="rId16" imgW="774364" imgH="418918" progId="Equation.3">
                  <p:embed/>
                  <p:pic>
                    <p:nvPicPr>
                      <p:cNvPr id="10255" name="Object 1039">
                        <a:extLst>
                          <a:ext uri="{FF2B5EF4-FFF2-40B4-BE49-F238E27FC236}">
                            <a16:creationId xmlns:a16="http://schemas.microsoft.com/office/drawing/2014/main" id="{6F4A3D55-F109-42F2-BA0D-798F9463E7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434975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040">
            <a:extLst>
              <a:ext uri="{FF2B5EF4-FFF2-40B4-BE49-F238E27FC236}">
                <a16:creationId xmlns:a16="http://schemas.microsoft.com/office/drawing/2014/main" id="{76593CD5-3F3B-4446-AFC1-721DB5DAF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8439" y="4343400"/>
          <a:ext cx="674687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Equation" r:id="rId18" imgW="266469" imgH="393359" progId="Equation.3">
                  <p:embed/>
                </p:oleObj>
              </mc:Choice>
              <mc:Fallback>
                <p:oleObj name="Equation" r:id="rId18" imgW="266469" imgH="393359" progId="Equation.3">
                  <p:embed/>
                  <p:pic>
                    <p:nvPicPr>
                      <p:cNvPr id="10256" name="Object 1040">
                        <a:extLst>
                          <a:ext uri="{FF2B5EF4-FFF2-40B4-BE49-F238E27FC236}">
                            <a16:creationId xmlns:a16="http://schemas.microsoft.com/office/drawing/2014/main" id="{76593CD5-3F3B-4446-AFC1-721DB5DAF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9" y="4343400"/>
                        <a:ext cx="674687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041">
            <a:extLst>
              <a:ext uri="{FF2B5EF4-FFF2-40B4-BE49-F238E27FC236}">
                <a16:creationId xmlns:a16="http://schemas.microsoft.com/office/drawing/2014/main" id="{CAB1F12D-DBB7-47C8-B9B3-9773536D3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3838" y="4654551"/>
          <a:ext cx="8683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Equation" r:id="rId20" imgW="342603" imgH="177646" progId="Equation.3">
                  <p:embed/>
                </p:oleObj>
              </mc:Choice>
              <mc:Fallback>
                <p:oleObj name="Equation" r:id="rId20" imgW="342603" imgH="177646" progId="Equation.3">
                  <p:embed/>
                  <p:pic>
                    <p:nvPicPr>
                      <p:cNvPr id="10257" name="Object 1041">
                        <a:extLst>
                          <a:ext uri="{FF2B5EF4-FFF2-40B4-BE49-F238E27FC236}">
                            <a16:creationId xmlns:a16="http://schemas.microsoft.com/office/drawing/2014/main" id="{CAB1F12D-DBB7-47C8-B9B3-9773536D3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3838" y="4654551"/>
                        <a:ext cx="86836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AutoShape 1044">
            <a:extLst>
              <a:ext uri="{FF2B5EF4-FFF2-40B4-BE49-F238E27FC236}">
                <a16:creationId xmlns:a16="http://schemas.microsoft.com/office/drawing/2014/main" id="{64EEECE8-3279-403E-9F38-41D61C31A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066800"/>
            <a:ext cx="2133600" cy="2362200"/>
          </a:xfrm>
          <a:prstGeom prst="rtTriangle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4349" name="Rectangle 1045">
            <a:extLst>
              <a:ext uri="{FF2B5EF4-FFF2-40B4-BE49-F238E27FC236}">
                <a16:creationId xmlns:a16="http://schemas.microsoft.com/office/drawing/2014/main" id="{493BA139-3E83-4D1C-AB0E-0C32A1EBE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124200"/>
            <a:ext cx="304800" cy="3048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4350" name="Text Box 1046">
            <a:extLst>
              <a:ext uri="{FF2B5EF4-FFF2-40B4-BE49-F238E27FC236}">
                <a16:creationId xmlns:a16="http://schemas.microsoft.com/office/drawing/2014/main" id="{9C7CA6E6-D9AF-48F1-9951-3097F7E26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057401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9</a:t>
            </a:r>
          </a:p>
        </p:txBody>
      </p:sp>
      <p:sp>
        <p:nvSpPr>
          <p:cNvPr id="14351" name="Text Box 1047">
            <a:extLst>
              <a:ext uri="{FF2B5EF4-FFF2-40B4-BE49-F238E27FC236}">
                <a16:creationId xmlns:a16="http://schemas.microsoft.com/office/drawing/2014/main" id="{5688FBBA-616A-4EBB-B6E6-F6DE63000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81401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6</a:t>
            </a:r>
          </a:p>
        </p:txBody>
      </p:sp>
      <p:sp>
        <p:nvSpPr>
          <p:cNvPr id="14352" name="Text Box 1048">
            <a:extLst>
              <a:ext uri="{FF2B5EF4-FFF2-40B4-BE49-F238E27FC236}">
                <a16:creationId xmlns:a16="http://schemas.microsoft.com/office/drawing/2014/main" id="{4F4FE5E7-40E3-440C-AC17-ED6C97B20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828801"/>
            <a:ext cx="990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10.8</a:t>
            </a:r>
          </a:p>
        </p:txBody>
      </p:sp>
      <p:sp>
        <p:nvSpPr>
          <p:cNvPr id="14353" name="Text Box 1049">
            <a:extLst>
              <a:ext uri="{FF2B5EF4-FFF2-40B4-BE49-F238E27FC236}">
                <a16:creationId xmlns:a16="http://schemas.microsoft.com/office/drawing/2014/main" id="{85DF1C9E-A1DC-437F-9EA2-E2E5A865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184526"/>
            <a:ext cx="381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A</a:t>
            </a:r>
          </a:p>
        </p:txBody>
      </p:sp>
      <p:pic>
        <p:nvPicPr>
          <p:cNvPr id="14354" name="Picture 1050" descr="SY01171_">
            <a:extLst>
              <a:ext uri="{FF2B5EF4-FFF2-40B4-BE49-F238E27FC236}">
                <a16:creationId xmlns:a16="http://schemas.microsoft.com/office/drawing/2014/main" id="{FC658B08-0EF8-4B59-A7CE-461B4FA7B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6" y="5221508"/>
            <a:ext cx="1768475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7" name="Text Box 1051">
            <a:extLst>
              <a:ext uri="{FF2B5EF4-FFF2-40B4-BE49-F238E27FC236}">
                <a16:creationId xmlns:a16="http://schemas.microsoft.com/office/drawing/2014/main" id="{F2B8944F-B1AE-4FDE-B40B-D4C28028D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67201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10270" name="Picture 1054" descr="MCj00787170000[1]">
            <a:extLst>
              <a:ext uri="{FF2B5EF4-FFF2-40B4-BE49-F238E27FC236}">
                <a16:creationId xmlns:a16="http://schemas.microsoft.com/office/drawing/2014/main" id="{A2BB0A8E-896D-4E13-A4B2-24737301E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819400"/>
            <a:ext cx="29845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1" name="Text Box 1055">
            <a:extLst>
              <a:ext uri="{FF2B5EF4-FFF2-40B4-BE49-F238E27FC236}">
                <a16:creationId xmlns:a16="http://schemas.microsoft.com/office/drawing/2014/main" id="{2F57B660-32FC-4669-B83F-CBC517F36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9461" y="5606534"/>
            <a:ext cx="457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 dirty="0">
                <a:latin typeface="Century Gothic" panose="020B0502020202020204" pitchFamily="34" charset="0"/>
              </a:rPr>
              <a:t>Now, figure out your ratios.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7" grpId="0"/>
      <p:bldP spid="102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3">
            <a:extLst>
              <a:ext uri="{FF2B5EF4-FFF2-40B4-BE49-F238E27FC236}">
                <a16:creationId xmlns:a16="http://schemas.microsoft.com/office/drawing/2014/main" id="{E5A2FFCA-CD5D-48C9-AD06-41FBB009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4" y="959826"/>
            <a:ext cx="3276600" cy="1676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24592851-B046-45DD-99FA-96FF495EE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4" y="2255226"/>
            <a:ext cx="381000" cy="3810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id="{B40FF011-834E-4A1D-A31A-A4CE8F11E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Find the sine, the cosine, and the tangent of  angle A.</a:t>
            </a:r>
          </a:p>
        </p:txBody>
      </p:sp>
      <p:sp>
        <p:nvSpPr>
          <p:cNvPr id="15365" name="Text Box 6">
            <a:extLst>
              <a:ext uri="{FF2B5EF4-FFF2-40B4-BE49-F238E27FC236}">
                <a16:creationId xmlns:a16="http://schemas.microsoft.com/office/drawing/2014/main" id="{903C80C6-FBE5-4E99-B713-6900AA29B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2405469"/>
            <a:ext cx="53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5366" name="Text Box 7">
            <a:extLst>
              <a:ext uri="{FF2B5EF4-FFF2-40B4-BE49-F238E27FC236}">
                <a16:creationId xmlns:a16="http://schemas.microsoft.com/office/drawing/2014/main" id="{FB65D158-6BB7-4EF8-A674-C5757F378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924" y="11122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24.5</a:t>
            </a:r>
          </a:p>
        </p:txBody>
      </p:sp>
      <p:sp>
        <p:nvSpPr>
          <p:cNvPr id="15367" name="Text Box 8">
            <a:extLst>
              <a:ext uri="{FF2B5EF4-FFF2-40B4-BE49-F238E27FC236}">
                <a16:creationId xmlns:a16="http://schemas.microsoft.com/office/drawing/2014/main" id="{F9327619-0851-4C31-AF37-069C6501F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324" y="27886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23.1</a:t>
            </a:r>
          </a:p>
        </p:txBody>
      </p:sp>
      <p:sp>
        <p:nvSpPr>
          <p:cNvPr id="15368" name="Text Box 9">
            <a:extLst>
              <a:ext uri="{FF2B5EF4-FFF2-40B4-BE49-F238E27FC236}">
                <a16:creationId xmlns:a16="http://schemas.microsoft.com/office/drawing/2014/main" id="{C16C4457-346C-47BC-92DD-4C466BE50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4" y="15694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8.2</a:t>
            </a:r>
          </a:p>
        </p:txBody>
      </p:sp>
      <p:graphicFrame>
        <p:nvGraphicFramePr>
          <p:cNvPr id="2058" name="Object 10">
            <a:extLst>
              <a:ext uri="{FF2B5EF4-FFF2-40B4-BE49-F238E27FC236}">
                <a16:creationId xmlns:a16="http://schemas.microsoft.com/office/drawing/2014/main" id="{A23149C4-0557-4315-A002-DD54F7652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376" y="2362200"/>
          <a:ext cx="19288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4" imgW="761669" imgH="418918" progId="Equation.3">
                  <p:embed/>
                </p:oleObj>
              </mc:Choice>
              <mc:Fallback>
                <p:oleObj name="Equation" r:id="rId4" imgW="761669" imgH="418918" progId="Equation.3">
                  <p:embed/>
                  <p:pic>
                    <p:nvPicPr>
                      <p:cNvPr id="2058" name="Object 10">
                        <a:extLst>
                          <a:ext uri="{FF2B5EF4-FFF2-40B4-BE49-F238E27FC236}">
                            <a16:creationId xmlns:a16="http://schemas.microsoft.com/office/drawing/2014/main" id="{A23149C4-0557-4315-A002-DD54F7652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6" y="2362200"/>
                        <a:ext cx="192881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" name="Object 11">
            <a:extLst>
              <a:ext uri="{FF2B5EF4-FFF2-40B4-BE49-F238E27FC236}">
                <a16:creationId xmlns:a16="http://schemas.microsoft.com/office/drawing/2014/main" id="{CD0C7B6B-00BF-4378-A177-2ED5A565D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2355850"/>
          <a:ext cx="11572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6" imgW="457002" imgH="393529" progId="Equation.3">
                  <p:embed/>
                </p:oleObj>
              </mc:Choice>
              <mc:Fallback>
                <p:oleObj name="Equation" r:id="rId6" imgW="457002" imgH="393529" progId="Equation.3">
                  <p:embed/>
                  <p:pic>
                    <p:nvPicPr>
                      <p:cNvPr id="2059" name="Object 11">
                        <a:extLst>
                          <a:ext uri="{FF2B5EF4-FFF2-40B4-BE49-F238E27FC236}">
                            <a16:creationId xmlns:a16="http://schemas.microsoft.com/office/drawing/2014/main" id="{CD0C7B6B-00BF-4378-A177-2ED5A565D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355850"/>
                        <a:ext cx="115728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0" name="Object 12">
            <a:extLst>
              <a:ext uri="{FF2B5EF4-FFF2-40B4-BE49-F238E27FC236}">
                <a16:creationId xmlns:a16="http://schemas.microsoft.com/office/drawing/2014/main" id="{F7F28AD2-CB8F-4C83-8658-EA7F9418E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1" y="2736851"/>
          <a:ext cx="12858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8" imgW="507780" imgH="177723" progId="Equation.3">
                  <p:embed/>
                </p:oleObj>
              </mc:Choice>
              <mc:Fallback>
                <p:oleObj name="Equation" r:id="rId8" imgW="507780" imgH="177723" progId="Equation.3">
                  <p:embed/>
                  <p:pic>
                    <p:nvPicPr>
                      <p:cNvPr id="2060" name="Object 12">
                        <a:extLst>
                          <a:ext uri="{FF2B5EF4-FFF2-40B4-BE49-F238E27FC236}">
                            <a16:creationId xmlns:a16="http://schemas.microsoft.com/office/drawing/2014/main" id="{F7F28AD2-CB8F-4C83-8658-EA7F9418E5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2736851"/>
                        <a:ext cx="12858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1" name="Object 13">
            <a:extLst>
              <a:ext uri="{FF2B5EF4-FFF2-40B4-BE49-F238E27FC236}">
                <a16:creationId xmlns:a16="http://schemas.microsoft.com/office/drawing/2014/main" id="{E4BBA6AF-72D4-44E1-AF9A-7EC293EF4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1650" y="358140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Equation" r:id="rId10" imgW="774364" imgH="418918" progId="Equation.3">
                  <p:embed/>
                </p:oleObj>
              </mc:Choice>
              <mc:Fallback>
                <p:oleObj name="Equation" r:id="rId10" imgW="774364" imgH="418918" progId="Equation.3">
                  <p:embed/>
                  <p:pic>
                    <p:nvPicPr>
                      <p:cNvPr id="2061" name="Object 13">
                        <a:extLst>
                          <a:ext uri="{FF2B5EF4-FFF2-40B4-BE49-F238E27FC236}">
                            <a16:creationId xmlns:a16="http://schemas.microsoft.com/office/drawing/2014/main" id="{E4BBA6AF-72D4-44E1-AF9A-7EC293EF49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358140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2" name="Object 14">
            <a:extLst>
              <a:ext uri="{FF2B5EF4-FFF2-40B4-BE49-F238E27FC236}">
                <a16:creationId xmlns:a16="http://schemas.microsoft.com/office/drawing/2014/main" id="{F52A4848-EB38-43A5-9FFE-053A5B02D0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3581400"/>
          <a:ext cx="11572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name="Equation" r:id="rId12" imgW="457002" imgH="393529" progId="Equation.3">
                  <p:embed/>
                </p:oleObj>
              </mc:Choice>
              <mc:Fallback>
                <p:oleObj name="Equation" r:id="rId12" imgW="457002" imgH="393529" progId="Equation.3">
                  <p:embed/>
                  <p:pic>
                    <p:nvPicPr>
                      <p:cNvPr id="2062" name="Object 14">
                        <a:extLst>
                          <a:ext uri="{FF2B5EF4-FFF2-40B4-BE49-F238E27FC236}">
                            <a16:creationId xmlns:a16="http://schemas.microsoft.com/office/drawing/2014/main" id="{F52A4848-EB38-43A5-9FFE-053A5B02D0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581400"/>
                        <a:ext cx="115728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3" name="Object 15">
            <a:extLst>
              <a:ext uri="{FF2B5EF4-FFF2-40B4-BE49-F238E27FC236}">
                <a16:creationId xmlns:a16="http://schemas.microsoft.com/office/drawing/2014/main" id="{1BE7C29E-545C-463A-BA0A-EA82F0EBB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1" y="40386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Equation" r:id="rId14" imgW="494870" imgH="177646" progId="Equation.3">
                  <p:embed/>
                </p:oleObj>
              </mc:Choice>
              <mc:Fallback>
                <p:oleObj name="Equation" r:id="rId14" imgW="494870" imgH="177646" progId="Equation.3">
                  <p:embed/>
                  <p:pic>
                    <p:nvPicPr>
                      <p:cNvPr id="2063" name="Object 15">
                        <a:extLst>
                          <a:ext uri="{FF2B5EF4-FFF2-40B4-BE49-F238E27FC236}">
                            <a16:creationId xmlns:a16="http://schemas.microsoft.com/office/drawing/2014/main" id="{1BE7C29E-545C-463A-BA0A-EA82F0EBB4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40386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Object 16">
            <a:extLst>
              <a:ext uri="{FF2B5EF4-FFF2-40B4-BE49-F238E27FC236}">
                <a16:creationId xmlns:a16="http://schemas.microsoft.com/office/drawing/2014/main" id="{C5B935E7-AC8C-4450-8586-2749FB519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495300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16" imgW="774364" imgH="418918" progId="Equation.3">
                  <p:embed/>
                </p:oleObj>
              </mc:Choice>
              <mc:Fallback>
                <p:oleObj name="Equation" r:id="rId16" imgW="774364" imgH="418918" progId="Equation.3">
                  <p:embed/>
                  <p:pic>
                    <p:nvPicPr>
                      <p:cNvPr id="2064" name="Object 16">
                        <a:extLst>
                          <a:ext uri="{FF2B5EF4-FFF2-40B4-BE49-F238E27FC236}">
                            <a16:creationId xmlns:a16="http://schemas.microsoft.com/office/drawing/2014/main" id="{C5B935E7-AC8C-4450-8586-2749FB519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95300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5" name="Object 17">
            <a:extLst>
              <a:ext uri="{FF2B5EF4-FFF2-40B4-BE49-F238E27FC236}">
                <a16:creationId xmlns:a16="http://schemas.microsoft.com/office/drawing/2014/main" id="{6567AB59-0B8F-4CC7-97B9-4F67EA459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5029200"/>
          <a:ext cx="11255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Equation" r:id="rId18" imgW="444307" imgH="393529" progId="Equation.3">
                  <p:embed/>
                </p:oleObj>
              </mc:Choice>
              <mc:Fallback>
                <p:oleObj name="Equation" r:id="rId18" imgW="444307" imgH="393529" progId="Equation.3">
                  <p:embed/>
                  <p:pic>
                    <p:nvPicPr>
                      <p:cNvPr id="2065" name="Object 17">
                        <a:extLst>
                          <a:ext uri="{FF2B5EF4-FFF2-40B4-BE49-F238E27FC236}">
                            <a16:creationId xmlns:a16="http://schemas.microsoft.com/office/drawing/2014/main" id="{6567AB59-0B8F-4CC7-97B9-4F67EA459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029200"/>
                        <a:ext cx="11255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6" name="Object 18">
            <a:extLst>
              <a:ext uri="{FF2B5EF4-FFF2-40B4-BE49-F238E27FC236}">
                <a16:creationId xmlns:a16="http://schemas.microsoft.com/office/drawing/2014/main" id="{29AA9BAA-30C8-4AA6-835F-CD14A990B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26" y="5410201"/>
          <a:ext cx="12858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Equation" r:id="rId20" imgW="507960" imgH="177480" progId="Equation.3">
                  <p:embed/>
                </p:oleObj>
              </mc:Choice>
              <mc:Fallback>
                <p:oleObj name="Equation" r:id="rId20" imgW="507960" imgH="177480" progId="Equation.3">
                  <p:embed/>
                  <p:pic>
                    <p:nvPicPr>
                      <p:cNvPr id="2066" name="Object 18">
                        <a:extLst>
                          <a:ext uri="{FF2B5EF4-FFF2-40B4-BE49-F238E27FC236}">
                            <a16:creationId xmlns:a16="http://schemas.microsoft.com/office/drawing/2014/main" id="{29AA9BAA-30C8-4AA6-835F-CD14A990B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6" y="5410201"/>
                        <a:ext cx="12858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Text Box 21">
            <a:extLst>
              <a:ext uri="{FF2B5EF4-FFF2-40B4-BE49-F238E27FC236}">
                <a16:creationId xmlns:a16="http://schemas.microsoft.com/office/drawing/2014/main" id="{BC7DDA1D-7140-4781-9618-81279F718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762001"/>
            <a:ext cx="3962400" cy="1292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dirty="0">
                <a:latin typeface="Comic Sans MS" panose="030F0702030302020204" pitchFamily="66" charset="0"/>
              </a:rPr>
              <a:t>Give your answer correct to 4 decimal places.</a:t>
            </a:r>
          </a:p>
        </p:txBody>
      </p:sp>
      <p:sp>
        <p:nvSpPr>
          <p:cNvPr id="2071" name="Text Box 23">
            <a:extLst>
              <a:ext uri="{FF2B5EF4-FFF2-40B4-BE49-F238E27FC236}">
                <a16:creationId xmlns:a16="http://schemas.microsoft.com/office/drawing/2014/main" id="{35F21707-BC94-4E81-8FC6-AED0C3C18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226" y="3715435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2072" name="Picture 24" descr="MCj00787170000[1]">
            <a:extLst>
              <a:ext uri="{FF2B5EF4-FFF2-40B4-BE49-F238E27FC236}">
                <a16:creationId xmlns:a16="http://schemas.microsoft.com/office/drawing/2014/main" id="{2989318C-1C6C-49A5-833C-E5FB2386E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8" y="2255226"/>
            <a:ext cx="1920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" name="Text Box 25">
            <a:extLst>
              <a:ext uri="{FF2B5EF4-FFF2-40B4-BE49-F238E27FC236}">
                <a16:creationId xmlns:a16="http://schemas.microsoft.com/office/drawing/2014/main" id="{1E9B36ED-A654-47F2-B363-4339025F3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694957"/>
            <a:ext cx="457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 dirty="0">
                <a:latin typeface="Century Gothic" panose="020B0502020202020204" pitchFamily="34" charset="0"/>
              </a:rPr>
              <a:t>Now, figure out your ratios.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1" grpId="0"/>
      <p:bldP spid="2073" grpId="0"/>
    </p:bldLst>
  </p:timing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652</TotalTime>
  <Words>388</Words>
  <Application>Microsoft Office PowerPoint</Application>
  <PresentationFormat>Widescreen</PresentationFormat>
  <Paragraphs>114</Paragraphs>
  <Slides>11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Century Gothic</vt:lpstr>
      <vt:lpstr>Comic Sans MS</vt:lpstr>
      <vt:lpstr>Curlz MT</vt:lpstr>
      <vt:lpstr>Kristen ITC</vt:lpstr>
      <vt:lpstr>Times New Roman</vt:lpstr>
      <vt:lpstr>BSC Theme</vt:lpstr>
      <vt:lpstr>Drawing</vt:lpstr>
      <vt:lpstr>Equation</vt:lpstr>
      <vt:lpstr>MathType 4.0 Equation</vt:lpstr>
      <vt:lpstr>Corel Presentations 10 Drawing</vt:lpstr>
      <vt:lpstr>TRigonometry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</dc:title>
  <dc:creator>LUM Magdeline [Baldivis Secondary College]</dc:creator>
  <cp:lastModifiedBy>LUM Magdeline [Baldivis Secondary College]</cp:lastModifiedBy>
  <cp:revision>8</cp:revision>
  <dcterms:created xsi:type="dcterms:W3CDTF">2018-09-05T00:07:22Z</dcterms:created>
  <dcterms:modified xsi:type="dcterms:W3CDTF">2018-09-09T14:36:10Z</dcterms:modified>
</cp:coreProperties>
</file>
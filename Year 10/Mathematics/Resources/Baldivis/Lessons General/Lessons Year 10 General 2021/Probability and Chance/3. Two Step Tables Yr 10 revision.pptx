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7"/>
  </p:notesMasterIdLst>
  <p:sldIdLst>
    <p:sldId id="310" r:id="rId2"/>
    <p:sldId id="322" r:id="rId3"/>
    <p:sldId id="257" r:id="rId4"/>
    <p:sldId id="267" r:id="rId5"/>
    <p:sldId id="311" r:id="rId6"/>
    <p:sldId id="312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260" r:id="rId15"/>
    <p:sldId id="321" r:id="rId16"/>
    <p:sldId id="323" r:id="rId17"/>
    <p:sldId id="324" r:id="rId18"/>
    <p:sldId id="326" r:id="rId19"/>
    <p:sldId id="327" r:id="rId20"/>
    <p:sldId id="325" r:id="rId21"/>
    <p:sldId id="328" r:id="rId22"/>
    <p:sldId id="329" r:id="rId23"/>
    <p:sldId id="330" r:id="rId24"/>
    <p:sldId id="331" r:id="rId25"/>
    <p:sldId id="33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0" autoAdjust="0"/>
    <p:restoredTop sz="94660"/>
  </p:normalViewPr>
  <p:slideViewPr>
    <p:cSldViewPr snapToGrid="0">
      <p:cViewPr varScale="1">
        <p:scale>
          <a:sx n="53" d="100"/>
          <a:sy n="53" d="100"/>
        </p:scale>
        <p:origin x="78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47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73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26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62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01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03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50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49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71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56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01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20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31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12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9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63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165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85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029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1085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1887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3962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0010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9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254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3E78394-75B3-4DDA-93C4-891EE6443567}" type="datetimeFigureOut">
              <a:rPr lang="en-AU" smtClean="0"/>
              <a:t>11/10/2021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0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ommons.wikimedia.org/wiki/File:Jakob_Bernoulli.jpeg" TargetMode="Externa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37" y="806791"/>
            <a:ext cx="8748347" cy="969771"/>
          </a:xfrm>
        </p:spPr>
        <p:txBody>
          <a:bodyPr>
            <a:noAutofit/>
          </a:bodyPr>
          <a:lstStyle/>
          <a:p>
            <a:r>
              <a:rPr lang="en-AU" sz="3200" b="1" dirty="0"/>
              <a:t>Topic: Two way tables</a:t>
            </a:r>
            <a:r>
              <a:rPr lang="en-AU" sz="3200" dirty="0"/>
              <a:t/>
            </a:r>
            <a:br>
              <a:rPr lang="en-AU" sz="3200" dirty="0"/>
            </a:br>
            <a:r>
              <a:rPr lang="en-AU" sz="3200" dirty="0"/>
              <a:t>EQ: How do we represent outcomes in two way tables for experimental and theoretical probability?</a:t>
            </a:r>
            <a:endParaRPr lang="en-AU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xmlns="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ECCC7E7-14F7-4DC3-8913-B2FD7A220F02}"/>
              </a:ext>
            </a:extLst>
          </p:cNvPr>
          <p:cNvSpPr txBox="1"/>
          <p:nvPr/>
        </p:nvSpPr>
        <p:spPr>
          <a:xfrm>
            <a:off x="6598076" y="2227304"/>
            <a:ext cx="5160787" cy="33636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questions </a:t>
            </a:r>
            <a:r>
              <a:rPr lang="en-AU" dirty="0"/>
              <a:t>(on LHS) </a:t>
            </a:r>
          </a:p>
          <a:p>
            <a:pPr>
              <a:lnSpc>
                <a:spcPct val="150000"/>
              </a:lnSpc>
            </a:pPr>
            <a:r>
              <a:rPr lang="en-AU" dirty="0"/>
              <a:t>Complete the table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xmlns="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943507"/>
                  </p:ext>
                </p:extLst>
              </p:nvPr>
            </p:nvGraphicFramePr>
            <p:xfrm>
              <a:off x="6870152" y="3058255"/>
              <a:ext cx="4103109" cy="24533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xmlns="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xmlns="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xmlns="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3094262721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2361339818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1469111190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4103612425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2030473407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32807061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943507"/>
                  </p:ext>
                </p:extLst>
              </p:nvPr>
            </p:nvGraphicFramePr>
            <p:xfrm>
              <a:off x="6870152" y="3058255"/>
              <a:ext cx="4103109" cy="24533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094262721"/>
                      </a:ext>
                    </a:extLst>
                  </a:tr>
                  <a:tr h="467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75325" r="-201778" b="-3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6133981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173077" r="-201778" b="-2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69111190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103612425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030473407"/>
                      </a:ext>
                    </a:extLst>
                  </a:tr>
                  <a:tr h="4729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419231" r="-201778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2807061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2340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77" y="806791"/>
            <a:ext cx="8748347" cy="969771"/>
          </a:xfrm>
        </p:spPr>
        <p:txBody>
          <a:bodyPr>
            <a:noAutofit/>
          </a:bodyPr>
          <a:lstStyle/>
          <a:p>
            <a:r>
              <a:rPr lang="en-AU" sz="2800" b="1" dirty="0"/>
              <a:t>Topic: Two </a:t>
            </a:r>
            <a:r>
              <a:rPr lang="en-AU" sz="2800" b="1" dirty="0" smtClean="0"/>
              <a:t>way tables</a:t>
            </a:r>
            <a:r>
              <a:rPr lang="en-AU" sz="2800" dirty="0"/>
              <a:t/>
            </a:r>
            <a:br>
              <a:rPr lang="en-AU" sz="2800" dirty="0"/>
            </a:br>
            <a:r>
              <a:rPr lang="en-AU" sz="2800" dirty="0"/>
              <a:t>EQ: </a:t>
            </a:r>
            <a:r>
              <a:rPr lang="en-AU" sz="2800" dirty="0"/>
              <a:t>How do we represent outcomes in two way tables for experimental and theoretical probability?</a:t>
            </a:r>
            <a:endParaRPr lang="en-AU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</a:t>
            </a:r>
            <a:r>
              <a:rPr lang="en-AU" sz="2000" dirty="0" smtClean="0"/>
              <a:t>) and put bags in pigeon holes.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xmlns="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ECCC7E7-14F7-4DC3-8913-B2FD7A220F02}"/>
              </a:ext>
            </a:extLst>
          </p:cNvPr>
          <p:cNvSpPr txBox="1"/>
          <p:nvPr/>
        </p:nvSpPr>
        <p:spPr>
          <a:xfrm>
            <a:off x="6598077" y="2227304"/>
            <a:ext cx="5122070" cy="33636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</a:t>
            </a:r>
            <a:r>
              <a:rPr lang="en-AU" b="1"/>
              <a:t>questions </a:t>
            </a:r>
            <a:r>
              <a:rPr lang="en-AU"/>
              <a:t>(on </a:t>
            </a:r>
            <a:r>
              <a:rPr lang="en-AU" dirty="0"/>
              <a:t>LHS) </a:t>
            </a:r>
          </a:p>
          <a:p>
            <a:pPr>
              <a:lnSpc>
                <a:spcPct val="150000"/>
              </a:lnSpc>
            </a:pPr>
            <a:r>
              <a:rPr lang="en-AU" dirty="0"/>
              <a:t>Complete the table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xmlns="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8442067"/>
                  </p:ext>
                </p:extLst>
              </p:nvPr>
            </p:nvGraphicFramePr>
            <p:xfrm>
              <a:off x="6870152" y="3058255"/>
              <a:ext cx="4103109" cy="2696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xmlns="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xmlns="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xmlns="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3094262721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2361339818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0.125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12.5%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1469111190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0.33333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4103612425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66.66%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2030473407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0.714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71.4%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xmlns="" val="32807061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8442067"/>
                  </p:ext>
                </p:extLst>
              </p:nvPr>
            </p:nvGraphicFramePr>
            <p:xfrm>
              <a:off x="6870152" y="3058255"/>
              <a:ext cx="4103109" cy="2696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094262721"/>
                      </a:ext>
                    </a:extLst>
                  </a:tr>
                  <a:tr h="467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75325" r="-201778" b="-406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6133981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173077" r="-201778" b="-3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0.125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12.5%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69111190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276623" r="-201778" b="-2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0.33333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103612425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376623" r="-201778" b="-1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66.66%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030473407"/>
                      </a:ext>
                    </a:extLst>
                  </a:tr>
                  <a:tr h="4729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470513" r="-201778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0.714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71.4%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2807061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4951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19456" y="4356633"/>
            <a:ext cx="7772400" cy="1463040"/>
          </a:xfrm>
        </p:spPr>
        <p:txBody>
          <a:bodyPr>
            <a:normAutofit fontScale="90000"/>
          </a:bodyPr>
          <a:lstStyle/>
          <a:p>
            <a:r>
              <a:rPr lang="en-US" sz="6600" b="1" cap="none" dirty="0" err="1" smtClean="0">
                <a:solidFill>
                  <a:schemeClr val="tx1"/>
                </a:solidFill>
              </a:rPr>
              <a:t>Yr</a:t>
            </a:r>
            <a:r>
              <a:rPr lang="en-US" sz="6600" b="1" cap="none" dirty="0" smtClean="0">
                <a:solidFill>
                  <a:schemeClr val="tx1"/>
                </a:solidFill>
              </a:rPr>
              <a:t> 10. Two way tables </a:t>
            </a:r>
            <a:endParaRPr lang="en-US" sz="6600" b="1" cap="none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5217" y="5473325"/>
            <a:ext cx="7644384" cy="1384675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 smtClean="0">
                <a:latin typeface="Kiwi School Handwriting" panose="00000500000000000000" pitchFamily="2" charset="0"/>
              </a:rPr>
              <a:t>EQ:</a:t>
            </a:r>
            <a:r>
              <a:rPr lang="en-AU" sz="3200" dirty="0" smtClean="0"/>
              <a:t>How </a:t>
            </a:r>
            <a:r>
              <a:rPr lang="en-AU" sz="3200" dirty="0"/>
              <a:t>do we represent outcomes in two way tables for experimental and theoretical </a:t>
            </a:r>
            <a:r>
              <a:rPr lang="en-AU" sz="3200" dirty="0" smtClean="0"/>
              <a:t>probability?</a:t>
            </a:r>
            <a:endParaRPr lang="en-US" sz="3200" b="1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71871"/>
            <a:ext cx="0" cy="518612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 err="1" smtClean="0">
                <a:latin typeface="Kiwi School Handwriting" panose="00000500000000000000" pitchFamily="2" charset="0"/>
              </a:rPr>
              <a:t>Experimen</a:t>
            </a:r>
            <a:r>
              <a:rPr lang="en-US" sz="2399" b="1" dirty="0" smtClean="0">
                <a:latin typeface="Kiwi School Handwriting" panose="00000500000000000000" pitchFamily="2" charset="0"/>
              </a:rPr>
              <a:t> </a:t>
            </a:r>
            <a:r>
              <a:rPr lang="en-US" sz="2399" b="1" dirty="0">
                <a:latin typeface="Kiwi School Handwriting" panose="00000500000000000000" pitchFamily="2" charset="0"/>
              </a:rPr>
              <a:t>vs. </a:t>
            </a:r>
            <a:r>
              <a:rPr lang="en-US" sz="2399" b="1" dirty="0" smtClean="0">
                <a:latin typeface="Kiwi School Handwriting" panose="00000500000000000000" pitchFamily="2" charset="0"/>
              </a:rPr>
              <a:t>Theory</a:t>
            </a:r>
            <a:endParaRPr lang="en-US" sz="2399" b="1" dirty="0">
              <a:latin typeface="Kiwi School Handwriting" panose="000005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839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112057" y="1671871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1938528" y="1618022"/>
                <a:ext cx="10253472" cy="3564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Probabilty can have two approaches: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AU" sz="2000" b="1" dirty="0">
                    <a:ea typeface="Cambria Math" panose="02040503050406030204" pitchFamily="18" charset="0"/>
                  </a:rPr>
                  <a:t>Experimental Probability</a:t>
                </a:r>
                <a:r>
                  <a:rPr lang="en-AU" sz="2000" dirty="0">
                    <a:ea typeface="Cambria Math" panose="02040503050406030204" pitchFamily="18" charset="0"/>
                  </a:rPr>
                  <a:t> and </a:t>
                </a:r>
                <a:r>
                  <a:rPr lang="en-AU" sz="2000" b="1" dirty="0">
                    <a:ea typeface="Cambria Math" panose="02040503050406030204" pitchFamily="18" charset="0"/>
                  </a:rPr>
                  <a:t>Theoretical Probability</a:t>
                </a:r>
              </a:p>
              <a:p>
                <a:pPr algn="ctr">
                  <a:lnSpc>
                    <a:spcPct val="150000"/>
                  </a:lnSpc>
                </a:pPr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What actually happens 	vs.		 What we think will happen</a:t>
                </a:r>
              </a:p>
              <a:p>
                <a:pPr algn="ctr"/>
                <a:endParaRPr lang="en-AU" sz="2000" dirty="0"/>
              </a:p>
              <a:p>
                <a:pPr algn="ctr"/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𝑒𝑣𝑒𝑛𝑡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𝑡𝑟𝑖𝑎𝑙𝑠</m:t>
                        </m:r>
                      </m:den>
                    </m:f>
                  </m:oMath>
                </a14:m>
                <a:r>
                  <a:rPr lang="en-AU" sz="2400" dirty="0"/>
                  <a:t>      </a:t>
                </a:r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𝑓𝑎𝑣𝑜𝑟𝑎𝑏𝑙𝑒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𝑝𝑜𝑠𝑠𝑖𝑏𝑙𝑒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528" y="1618022"/>
                <a:ext cx="10253472" cy="356443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28319839-30B6-4CB4-8594-17883E90D5F2}"/>
              </a:ext>
            </a:extLst>
          </p:cNvPr>
          <p:cNvCxnSpPr/>
          <p:nvPr/>
        </p:nvCxnSpPr>
        <p:spPr>
          <a:xfrm>
            <a:off x="4876800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87227D47-957E-4F37-9926-B6EFD46500F1}"/>
              </a:ext>
            </a:extLst>
          </p:cNvPr>
          <p:cNvCxnSpPr/>
          <p:nvPr/>
        </p:nvCxnSpPr>
        <p:spPr>
          <a:xfrm>
            <a:off x="8927661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139D7078-3C37-40DA-A496-ED0F5A8F0288}"/>
                  </a:ext>
                </a:extLst>
              </p:cNvPr>
              <p:cNvSpPr txBox="1"/>
              <p:nvPr/>
            </p:nvSpPr>
            <p:spPr>
              <a:xfrm>
                <a:off x="2289730" y="4461101"/>
                <a:ext cx="4790608" cy="2494081"/>
              </a:xfrm>
              <a:prstGeom prst="rect">
                <a:avLst/>
              </a:prstGeom>
              <a:noFill/>
              <a:ln w="127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 </a:t>
                </a:r>
                <a:r>
                  <a:rPr lang="en-US" altLang="en-US" dirty="0"/>
                  <a:t>You tossed  a coin 10 times and recorded a head 3 times, a tail 7 </a:t>
                </a:r>
                <a:r>
                  <a:rPr lang="en-US" altLang="en-US" dirty="0" smtClean="0"/>
                  <a:t>times.</a:t>
                </a:r>
                <a:endParaRPr lang="en-US" alt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P(head)=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alt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9D7078-3C37-40DA-A496-ED0F5A8F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730" y="4461101"/>
                <a:ext cx="4790608" cy="2494081"/>
              </a:xfrm>
              <a:prstGeom prst="rect">
                <a:avLst/>
              </a:prstGeom>
              <a:blipFill rotWithShape="0">
                <a:blip r:embed="rId4"/>
                <a:stretch>
                  <a:fillRect l="-1017" t="-1217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A50AD406-1CAA-45A2-80B8-80BF8245C460}"/>
                  </a:ext>
                </a:extLst>
              </p:cNvPr>
              <p:cNvSpPr txBox="1"/>
              <p:nvPr/>
            </p:nvSpPr>
            <p:spPr>
              <a:xfrm>
                <a:off x="7241016" y="4461101"/>
                <a:ext cx="4790306" cy="2543132"/>
              </a:xfrm>
              <a:prstGeom prst="rect">
                <a:avLst/>
              </a:prstGeom>
              <a:noFill/>
              <a:ln w="127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 </a:t>
                </a:r>
                <a:r>
                  <a:rPr lang="en-US" altLang="en-US" dirty="0"/>
                  <a:t>Toss a coin and getting a head or a tail.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P(head)=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50AD406-1CAA-45A2-80B8-80BF8245C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16" y="4461101"/>
                <a:ext cx="4790306" cy="2543132"/>
              </a:xfrm>
              <a:prstGeom prst="rect">
                <a:avLst/>
              </a:prstGeom>
              <a:blipFill rotWithShape="0">
                <a:blip r:embed="rId5"/>
                <a:stretch>
                  <a:fillRect l="-1015" t="-1193" r="-254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018836" y="1689945"/>
            <a:ext cx="16958" cy="5168055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 smtClean="0"/>
              <a:t>Experiment </a:t>
            </a:r>
            <a:r>
              <a:rPr lang="en-US" sz="2399" b="1" dirty="0"/>
              <a:t>vs. </a:t>
            </a:r>
            <a:r>
              <a:rPr lang="en-US" sz="2399" b="1" dirty="0" smtClean="0"/>
              <a:t>Theory</a:t>
            </a:r>
            <a:endParaRPr lang="en-US" sz="2399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</a:t>
            </a:r>
            <a:r>
              <a:rPr lang="en-AU" sz="2400" dirty="0" smtClean="0"/>
              <a:t>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52150" y="1671871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1803832" y="1609955"/>
                <a:ext cx="10607624" cy="3564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Probabilty can have two approaches: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AU" sz="2000" b="1" dirty="0">
                    <a:ea typeface="Cambria Math" panose="02040503050406030204" pitchFamily="18" charset="0"/>
                  </a:rPr>
                  <a:t>Experimental Probability</a:t>
                </a:r>
                <a:r>
                  <a:rPr lang="en-AU" sz="2000" dirty="0">
                    <a:ea typeface="Cambria Math" panose="02040503050406030204" pitchFamily="18" charset="0"/>
                  </a:rPr>
                  <a:t> and </a:t>
                </a:r>
                <a:r>
                  <a:rPr lang="en-AU" sz="2000" b="1" dirty="0">
                    <a:ea typeface="Cambria Math" panose="02040503050406030204" pitchFamily="18" charset="0"/>
                  </a:rPr>
                  <a:t>Theoretical Probability</a:t>
                </a:r>
              </a:p>
              <a:p>
                <a:pPr algn="ctr">
                  <a:lnSpc>
                    <a:spcPct val="150000"/>
                  </a:lnSpc>
                </a:pPr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What actually happens 	vs.		 What we think will happen</a:t>
                </a:r>
              </a:p>
              <a:p>
                <a:pPr algn="ctr"/>
                <a:endParaRPr lang="en-AU" sz="2000" dirty="0"/>
              </a:p>
              <a:p>
                <a:pPr algn="ctr"/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𝑒𝑣𝑒𝑛𝑡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𝑡𝑟𝑖𝑎𝑙𝑠</m:t>
                        </m:r>
                      </m:den>
                    </m:f>
                  </m:oMath>
                </a14:m>
                <a:r>
                  <a:rPr lang="en-AU" sz="2400" dirty="0"/>
                  <a:t>      </a:t>
                </a:r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𝑓𝑎𝑣𝑜𝑟𝑎𝑏𝑙𝑒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𝑝𝑜𝑠𝑠𝑖𝑏𝑙𝑒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32" y="1609955"/>
                <a:ext cx="10607624" cy="356443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28319839-30B6-4CB4-8594-17883E90D5F2}"/>
              </a:ext>
            </a:extLst>
          </p:cNvPr>
          <p:cNvCxnSpPr/>
          <p:nvPr/>
        </p:nvCxnSpPr>
        <p:spPr>
          <a:xfrm>
            <a:off x="4876800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87227D47-957E-4F37-9926-B6EFD46500F1}"/>
              </a:ext>
            </a:extLst>
          </p:cNvPr>
          <p:cNvCxnSpPr/>
          <p:nvPr/>
        </p:nvCxnSpPr>
        <p:spPr>
          <a:xfrm>
            <a:off x="8927661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403235A-B26A-4CE7-8926-11EA7A63D28E}"/>
              </a:ext>
            </a:extLst>
          </p:cNvPr>
          <p:cNvSpPr/>
          <p:nvPr/>
        </p:nvSpPr>
        <p:spPr>
          <a:xfrm>
            <a:off x="2211977" y="4503868"/>
            <a:ext cx="8186058" cy="2117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The Law of Large Numbers was first published in 1713 by </a:t>
            </a:r>
            <a:r>
              <a:rPr lang="en-US" altLang="en-US" dirty="0" err="1"/>
              <a:t>Jocob</a:t>
            </a:r>
            <a:r>
              <a:rPr lang="en-US" altLang="en-US" dirty="0"/>
              <a:t> Bernoulli.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It is a fundamental concept for probability and statistic.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This Law states that as the number of trials increase, the experimental probability will get closer and closer to the theoretical probability.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1C3131E3-EDD1-4176-B545-BF3D67D8BA7F}"/>
              </a:ext>
            </a:extLst>
          </p:cNvPr>
          <p:cNvSpPr txBox="1"/>
          <p:nvPr/>
        </p:nvSpPr>
        <p:spPr>
          <a:xfrm>
            <a:off x="-151080" y="4343652"/>
            <a:ext cx="218687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The Law of Large numbers</a:t>
            </a:r>
          </a:p>
        </p:txBody>
      </p:sp>
      <p:pic>
        <p:nvPicPr>
          <p:cNvPr id="8" name="Picture 7" descr="A black and white photo of a person&#10;&#10;Description generated with high confidence">
            <a:extLst>
              <a:ext uri="{FF2B5EF4-FFF2-40B4-BE49-F238E27FC236}">
                <a16:creationId xmlns:a16="http://schemas.microsoft.com/office/drawing/2014/main" xmlns="" id="{D807BF9E-A43E-4B95-9C39-B22A35852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10416480" y="4371150"/>
            <a:ext cx="1586230" cy="192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6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71871"/>
            <a:ext cx="0" cy="518612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8850" y="15095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73005" y="1671871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573074" y="1689945"/>
            <a:ext cx="9380417" cy="53091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400" u="sng" dirty="0">
                <a:ea typeface="Cambria Math" panose="02040503050406030204" pitchFamily="18" charset="0"/>
              </a:rPr>
              <a:t>A two – way table is one way to display the outcome of a 2 step experiment, we use the results to calculate probability. </a:t>
            </a:r>
          </a:p>
          <a:p>
            <a:pPr algn="ctr">
              <a:lnSpc>
                <a:spcPct val="150000"/>
              </a:lnSpc>
            </a:pPr>
            <a:endParaRPr lang="en-AU" sz="2000" dirty="0">
              <a:ea typeface="Cambria Math" panose="02040503050406030204" pitchFamily="18" charset="0"/>
            </a:endParaRPr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r>
              <a:rPr lang="en-AU" dirty="0"/>
              <a:t>1. List all possible outcomes in a table.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algn="ctr">
              <a:lnSpc>
                <a:spcPct val="150000"/>
              </a:lnSpc>
            </a:pPr>
            <a:endParaRPr lang="en-AU" dirty="0"/>
          </a:p>
          <a:p>
            <a:pPr algn="ctr"/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437798"/>
              </p:ext>
            </p:extLst>
          </p:nvPr>
        </p:nvGraphicFramePr>
        <p:xfrm>
          <a:off x="2612571" y="4621964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2711599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ED5B39B-3BBD-4743-B6AB-2D2D41E82784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</a:t>
            </a:r>
            <a:r>
              <a:rPr lang="en-US" sz="2399" b="1" dirty="0" smtClean="0"/>
              <a:t>Tables</a:t>
            </a:r>
            <a:endParaRPr lang="en-US" sz="2399" b="1" dirty="0"/>
          </a:p>
        </p:txBody>
      </p:sp>
    </p:spTree>
    <p:extLst>
      <p:ext uri="{BB962C8B-B14F-4D97-AF65-F5344CB8AC3E}">
        <p14:creationId xmlns:p14="http://schemas.microsoft.com/office/powerpoint/2010/main" val="326686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89945"/>
            <a:ext cx="27216" cy="5168055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5" y="1738377"/>
            <a:ext cx="200181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Tables</a:t>
            </a:r>
          </a:p>
          <a:p>
            <a:pPr algn="ctr" defTabSz="914126"/>
            <a:endParaRPr lang="en-US" sz="2399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1690159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373813" y="1942636"/>
            <a:ext cx="9380417" cy="5124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000" u="sng" dirty="0">
                <a:ea typeface="Cambria Math" panose="02040503050406030204" pitchFamily="18" charset="0"/>
              </a:rPr>
              <a:t>A two – way table is one way to display the outcome of a 2 step experiment, we use the results to calculate probability. </a:t>
            </a:r>
          </a:p>
          <a:p>
            <a:pPr algn="ctr">
              <a:lnSpc>
                <a:spcPct val="150000"/>
              </a:lnSpc>
            </a:pPr>
            <a:endParaRPr lang="en-AU" sz="2000" u="sng" dirty="0">
              <a:ea typeface="Cambria Math" panose="02040503050406030204" pitchFamily="18" charset="0"/>
            </a:endParaRPr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r>
              <a:rPr lang="en-AU" dirty="0"/>
              <a:t>2. Fill in the table with all options.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algn="ctr">
              <a:lnSpc>
                <a:spcPct val="150000"/>
              </a:lnSpc>
            </a:pPr>
            <a:endParaRPr lang="en-AU" dirty="0"/>
          </a:p>
          <a:p>
            <a:pPr algn="ctr"/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992920"/>
              </p:ext>
            </p:extLst>
          </p:nvPr>
        </p:nvGraphicFramePr>
        <p:xfrm>
          <a:off x="2338409" y="5018196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27115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11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74821" y="1689945"/>
            <a:ext cx="0" cy="5168055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168994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337682" y="1987669"/>
            <a:ext cx="9380417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000" u="sng" dirty="0">
                <a:ea typeface="Cambria Math" panose="02040503050406030204" pitchFamily="18" charset="0"/>
              </a:rPr>
              <a:t>A two – way table is one way to display the outcome of a 2 step experiment, we use the results to calculate probability. </a:t>
            </a:r>
          </a:p>
          <a:p>
            <a:pPr algn="ctr">
              <a:lnSpc>
                <a:spcPct val="150000"/>
              </a:lnSpc>
            </a:pPr>
            <a:endParaRPr lang="en-AU" sz="2000" u="sng" dirty="0">
              <a:ea typeface="Cambria Math" panose="02040503050406030204" pitchFamily="18" charset="0"/>
            </a:endParaRPr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Using your table, determine the probability of;</a:t>
            </a:r>
          </a:p>
          <a:p>
            <a:r>
              <a:rPr lang="en-AU" dirty="0"/>
              <a:t>	1. getting a 4 and a tails?  - This is written as </a:t>
            </a:r>
            <a:r>
              <a:rPr lang="en-AU" b="1" u="sng" dirty="0"/>
              <a:t>P{4 and T}</a:t>
            </a:r>
          </a:p>
          <a:p>
            <a:pPr algn="ctr"/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944463"/>
              </p:ext>
            </p:extLst>
          </p:nvPr>
        </p:nvGraphicFramePr>
        <p:xfrm>
          <a:off x="2670969" y="4065161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2711599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06849D5-6D38-4AE4-B6A4-20895013C4CB}"/>
              </a:ext>
            </a:extLst>
          </p:cNvPr>
          <p:cNvSpPr txBox="1"/>
          <p:nvPr/>
        </p:nvSpPr>
        <p:spPr>
          <a:xfrm>
            <a:off x="73005" y="1738377"/>
            <a:ext cx="200181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Tables</a:t>
            </a:r>
          </a:p>
          <a:p>
            <a:pPr algn="ctr" defTabSz="914126"/>
            <a:endParaRPr lang="en-US" sz="2399" b="1" dirty="0"/>
          </a:p>
        </p:txBody>
      </p:sp>
    </p:spTree>
    <p:extLst>
      <p:ext uri="{BB962C8B-B14F-4D97-AF65-F5344CB8AC3E}">
        <p14:creationId xmlns:p14="http://schemas.microsoft.com/office/powerpoint/2010/main" val="157759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20240" y="1689945"/>
            <a:ext cx="18092" cy="5168055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168994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484555" y="1712477"/>
                <a:ext cx="9380417" cy="45895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pPr algn="ctr">
                  <a:lnSpc>
                    <a:spcPct val="150000"/>
                  </a:lnSpc>
                </a:pPr>
                <a:endParaRPr lang="en-AU" sz="2000" dirty="0">
                  <a:ea typeface="Cambria Math" panose="02040503050406030204" pitchFamily="18" charset="0"/>
                </a:endParaRP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What is the probability of;</a:t>
                </a:r>
              </a:p>
              <a:p>
                <a:r>
                  <a:rPr lang="en-AU" dirty="0"/>
                  <a:t>	1. getting a 4 and a tails? </a:t>
                </a:r>
                <a:r>
                  <a:rPr lang="en-AU" b="1" u="sng" dirty="0"/>
                  <a:t>P{4 and T}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dirty="0"/>
                  <a:t> - this is also 0.0833, or 8.33%. </a:t>
                </a:r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555" y="1712477"/>
                <a:ext cx="9380417" cy="4589590"/>
              </a:xfrm>
              <a:prstGeom prst="rect">
                <a:avLst/>
              </a:prstGeom>
              <a:blipFill rotWithShape="0">
                <a:blip r:embed="rId3"/>
                <a:stretch>
                  <a:fillRect l="-15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BBFDA34-36D6-4AF4-8C7B-1942B67BAC9D}"/>
              </a:ext>
            </a:extLst>
          </p:cNvPr>
          <p:cNvGraphicFramePr>
            <a:graphicFrameLocks noGrp="1"/>
          </p:cNvGraphicFramePr>
          <p:nvPr/>
        </p:nvGraphicFramePr>
        <p:xfrm>
          <a:off x="2670969" y="3786812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xmlns="" id="{475EB847-A4DC-4137-A080-1CFD3E82E09F}"/>
              </a:ext>
            </a:extLst>
          </p:cNvPr>
          <p:cNvSpPr/>
          <p:nvPr/>
        </p:nvSpPr>
        <p:spPr>
          <a:xfrm>
            <a:off x="7330440" y="4509675"/>
            <a:ext cx="1021080" cy="3896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703E8E6-ED2C-441A-865F-E139E8DB98BB}"/>
              </a:ext>
            </a:extLst>
          </p:cNvPr>
          <p:cNvSpPr txBox="1"/>
          <p:nvPr/>
        </p:nvSpPr>
        <p:spPr>
          <a:xfrm>
            <a:off x="73005" y="1738377"/>
            <a:ext cx="200181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Tables</a:t>
            </a:r>
          </a:p>
          <a:p>
            <a:pPr algn="ctr" defTabSz="914126"/>
            <a:endParaRPr lang="en-US" sz="2399" b="1" dirty="0"/>
          </a:p>
        </p:txBody>
      </p:sp>
    </p:spTree>
    <p:extLst>
      <p:ext uri="{BB962C8B-B14F-4D97-AF65-F5344CB8AC3E}">
        <p14:creationId xmlns:p14="http://schemas.microsoft.com/office/powerpoint/2010/main" val="327942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84530"/>
            <a:ext cx="18288" cy="519175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3783" y="1684530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612570" y="1893459"/>
                <a:ext cx="9380417" cy="48992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P(4 and 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P(&lt;5 and H) = </a:t>
                </a:r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0" y="1893459"/>
                <a:ext cx="9380417" cy="4899226"/>
              </a:xfrm>
              <a:prstGeom prst="rect">
                <a:avLst/>
              </a:prstGeom>
              <a:blipFill rotWithShape="0">
                <a:blip r:embed="rId3"/>
                <a:stretch>
                  <a:fillRect l="-15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714525"/>
              </p:ext>
            </p:extLst>
          </p:nvPr>
        </p:nvGraphicFramePr>
        <p:xfrm>
          <a:off x="2612570" y="3620968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xmlns="" id="{475EB847-A4DC-4137-A080-1CFD3E82E09F}"/>
              </a:ext>
            </a:extLst>
          </p:cNvPr>
          <p:cNvSpPr/>
          <p:nvPr/>
        </p:nvSpPr>
        <p:spPr>
          <a:xfrm>
            <a:off x="7302778" y="4343072"/>
            <a:ext cx="1021080" cy="3896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42327BCF-C61B-4D22-A8FB-C8A81198671A}"/>
              </a:ext>
            </a:extLst>
          </p:cNvPr>
          <p:cNvSpPr txBox="1"/>
          <p:nvPr/>
        </p:nvSpPr>
        <p:spPr>
          <a:xfrm>
            <a:off x="73005" y="1738377"/>
            <a:ext cx="200181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Tables</a:t>
            </a:r>
          </a:p>
          <a:p>
            <a:pPr algn="ctr" defTabSz="914126"/>
            <a:endParaRPr lang="en-US" sz="2399" b="1" dirty="0"/>
          </a:p>
        </p:txBody>
      </p:sp>
    </p:spTree>
    <p:extLst>
      <p:ext uri="{BB962C8B-B14F-4D97-AF65-F5344CB8AC3E}">
        <p14:creationId xmlns:p14="http://schemas.microsoft.com/office/powerpoint/2010/main" val="343598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89945"/>
            <a:ext cx="0" cy="5168055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</a:t>
            </a:r>
            <a:r>
              <a:rPr lang="en-AU" sz="3200" dirty="0" smtClean="0"/>
              <a:t>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168994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809997" y="1990826"/>
                <a:ext cx="9380417" cy="48610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P(4 and 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P(&lt;5 and 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nor/>
                      </m:rPr>
                      <a:rPr lang="en-AU" sz="2000" dirty="0"/>
                      <m:t>= 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997" y="1990826"/>
                <a:ext cx="9380417" cy="4861074"/>
              </a:xfrm>
              <a:prstGeom prst="rect">
                <a:avLst/>
              </a:prstGeom>
              <a:blipFill rotWithShape="0">
                <a:blip r:embed="rId3"/>
                <a:stretch>
                  <a:fillRect l="-15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24874"/>
              </p:ext>
            </p:extLst>
          </p:nvPr>
        </p:nvGraphicFramePr>
        <p:xfrm>
          <a:off x="2726471" y="3650576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xmlns="" id="{475EB847-A4DC-4137-A080-1CFD3E82E09F}"/>
              </a:ext>
            </a:extLst>
          </p:cNvPr>
          <p:cNvSpPr/>
          <p:nvPr/>
        </p:nvSpPr>
        <p:spPr>
          <a:xfrm>
            <a:off x="6186499" y="3925139"/>
            <a:ext cx="1206779" cy="445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8A8CD690-D8C8-490F-86C4-69EFFCFA900D}"/>
              </a:ext>
            </a:extLst>
          </p:cNvPr>
          <p:cNvSpPr/>
          <p:nvPr/>
        </p:nvSpPr>
        <p:spPr>
          <a:xfrm>
            <a:off x="7360458" y="3925140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CD2AF1A2-3E68-4353-B893-3B827B2E1C8C}"/>
              </a:ext>
            </a:extLst>
          </p:cNvPr>
          <p:cNvSpPr/>
          <p:nvPr/>
        </p:nvSpPr>
        <p:spPr>
          <a:xfrm>
            <a:off x="5068818" y="3956933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2F9C0CCA-1BD4-45EB-931B-4AC6081869E4}"/>
              </a:ext>
            </a:extLst>
          </p:cNvPr>
          <p:cNvSpPr/>
          <p:nvPr/>
        </p:nvSpPr>
        <p:spPr>
          <a:xfrm>
            <a:off x="3894859" y="3960688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C126BA9-2423-4045-B4D2-9D19397E3F0D}"/>
              </a:ext>
            </a:extLst>
          </p:cNvPr>
          <p:cNvSpPr txBox="1"/>
          <p:nvPr/>
        </p:nvSpPr>
        <p:spPr>
          <a:xfrm>
            <a:off x="73005" y="1738377"/>
            <a:ext cx="200181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Tables</a:t>
            </a:r>
          </a:p>
          <a:p>
            <a:pPr algn="ctr" defTabSz="914126"/>
            <a:endParaRPr lang="en-US" sz="2399" b="1" dirty="0"/>
          </a:p>
        </p:txBody>
      </p:sp>
    </p:spTree>
    <p:extLst>
      <p:ext uri="{BB962C8B-B14F-4D97-AF65-F5344CB8AC3E}">
        <p14:creationId xmlns:p14="http://schemas.microsoft.com/office/powerpoint/2010/main" val="394138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77813" y="1574236"/>
            <a:ext cx="24061" cy="530558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632090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560435" y="1689945"/>
                <a:ext cx="9380417" cy="5276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- P{4 and }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- P{&lt;5 and H}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nor/>
                      </m:rPr>
                      <a:rPr lang="en-AU" sz="2000" dirty="0"/>
                      <m:t>= 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3. Anything but 3? - P{3’}</a:t>
                </a:r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435" y="1689945"/>
                <a:ext cx="9380417" cy="5276573"/>
              </a:xfrm>
              <a:prstGeom prst="rect">
                <a:avLst/>
              </a:prstGeom>
              <a:blipFill rotWithShape="0">
                <a:blip r:embed="rId3"/>
                <a:stretch>
                  <a:fillRect l="-14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BBFDA34-36D6-4AF4-8C7B-1942B67BAC9D}"/>
              </a:ext>
            </a:extLst>
          </p:cNvPr>
          <p:cNvGraphicFramePr>
            <a:graphicFrameLocks noGrp="1"/>
          </p:cNvGraphicFramePr>
          <p:nvPr/>
        </p:nvGraphicFramePr>
        <p:xfrm>
          <a:off x="2583255" y="3202325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xmlns="" id="{475EB847-A4DC-4137-A080-1CFD3E82E09F}"/>
              </a:ext>
            </a:extLst>
          </p:cNvPr>
          <p:cNvSpPr/>
          <p:nvPr/>
        </p:nvSpPr>
        <p:spPr>
          <a:xfrm>
            <a:off x="6043865" y="3514242"/>
            <a:ext cx="1206779" cy="445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8A8CD690-D8C8-490F-86C4-69EFFCFA900D}"/>
              </a:ext>
            </a:extLst>
          </p:cNvPr>
          <p:cNvSpPr/>
          <p:nvPr/>
        </p:nvSpPr>
        <p:spPr>
          <a:xfrm>
            <a:off x="7185005" y="351150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CD2AF1A2-3E68-4353-B893-3B827B2E1C8C}"/>
              </a:ext>
            </a:extLst>
          </p:cNvPr>
          <p:cNvSpPr/>
          <p:nvPr/>
        </p:nvSpPr>
        <p:spPr>
          <a:xfrm>
            <a:off x="4876240" y="353333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2F9C0CCA-1BD4-45EB-931B-4AC6081869E4}"/>
              </a:ext>
            </a:extLst>
          </p:cNvPr>
          <p:cNvSpPr/>
          <p:nvPr/>
        </p:nvSpPr>
        <p:spPr>
          <a:xfrm>
            <a:off x="3662155" y="3485520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F801D9B-0A3D-4D4A-91BC-97869E3CD272}"/>
              </a:ext>
            </a:extLst>
          </p:cNvPr>
          <p:cNvSpPr txBox="1"/>
          <p:nvPr/>
        </p:nvSpPr>
        <p:spPr>
          <a:xfrm>
            <a:off x="73005" y="1738377"/>
            <a:ext cx="200181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Tables</a:t>
            </a:r>
          </a:p>
          <a:p>
            <a:pPr algn="ctr" defTabSz="914126"/>
            <a:endParaRPr lang="en-US" sz="2399" b="1" dirty="0"/>
          </a:p>
        </p:txBody>
      </p:sp>
    </p:spTree>
    <p:extLst>
      <p:ext uri="{BB962C8B-B14F-4D97-AF65-F5344CB8AC3E}">
        <p14:creationId xmlns:p14="http://schemas.microsoft.com/office/powerpoint/2010/main" val="387505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89945"/>
            <a:ext cx="16579" cy="5168055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</a:t>
            </a:r>
            <a:r>
              <a:rPr lang="en-AU" sz="3200" dirty="0" smtClean="0"/>
              <a:t>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48848" y="1681716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545238" y="1689945"/>
                <a:ext cx="9380417" cy="5523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- P{4 and }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- P{&lt;5 and H}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nor/>
                      </m:rPr>
                      <a:rPr lang="en-AU" sz="2000" dirty="0"/>
                      <m:t>= 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3. Anything but 3? - P{3’}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238" y="1689945"/>
                <a:ext cx="9380417" cy="5523500"/>
              </a:xfrm>
              <a:prstGeom prst="rect">
                <a:avLst/>
              </a:prstGeom>
              <a:blipFill rotWithShape="0">
                <a:blip r:embed="rId3"/>
                <a:stretch>
                  <a:fillRect l="-15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BBFDA34-36D6-4AF4-8C7B-1942B67BAC9D}"/>
              </a:ext>
            </a:extLst>
          </p:cNvPr>
          <p:cNvGraphicFramePr>
            <a:graphicFrameLocks noGrp="1"/>
          </p:cNvGraphicFramePr>
          <p:nvPr/>
        </p:nvGraphicFramePr>
        <p:xfrm>
          <a:off x="2583255" y="3202325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xmlns="" id="{475EB847-A4DC-4137-A080-1CFD3E82E09F}"/>
              </a:ext>
            </a:extLst>
          </p:cNvPr>
          <p:cNvSpPr/>
          <p:nvPr/>
        </p:nvSpPr>
        <p:spPr>
          <a:xfrm>
            <a:off x="4838786" y="3928808"/>
            <a:ext cx="1206779" cy="445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8A8CD690-D8C8-490F-86C4-69EFFCFA900D}"/>
              </a:ext>
            </a:extLst>
          </p:cNvPr>
          <p:cNvSpPr/>
          <p:nvPr/>
        </p:nvSpPr>
        <p:spPr>
          <a:xfrm>
            <a:off x="7185005" y="351150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CD2AF1A2-3E68-4353-B893-3B827B2E1C8C}"/>
              </a:ext>
            </a:extLst>
          </p:cNvPr>
          <p:cNvSpPr/>
          <p:nvPr/>
        </p:nvSpPr>
        <p:spPr>
          <a:xfrm>
            <a:off x="3679051" y="3900183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2F9C0CCA-1BD4-45EB-931B-4AC6081869E4}"/>
              </a:ext>
            </a:extLst>
          </p:cNvPr>
          <p:cNvSpPr/>
          <p:nvPr/>
        </p:nvSpPr>
        <p:spPr>
          <a:xfrm>
            <a:off x="3662155" y="3485520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5F4844C5-64ED-4956-838D-18C6532DD61E}"/>
              </a:ext>
            </a:extLst>
          </p:cNvPr>
          <p:cNvSpPr/>
          <p:nvPr/>
        </p:nvSpPr>
        <p:spPr>
          <a:xfrm>
            <a:off x="4868933" y="3518977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7AF985B7-9180-4A12-B32F-14A82131C2F9}"/>
              </a:ext>
            </a:extLst>
          </p:cNvPr>
          <p:cNvSpPr/>
          <p:nvPr/>
        </p:nvSpPr>
        <p:spPr>
          <a:xfrm>
            <a:off x="7235447" y="3900183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15238CC6-6DFD-4E60-8F6D-843B73BDB462}"/>
              </a:ext>
            </a:extLst>
          </p:cNvPr>
          <p:cNvSpPr/>
          <p:nvPr/>
        </p:nvSpPr>
        <p:spPr>
          <a:xfrm>
            <a:off x="8372651" y="3518977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04E1532F-B1D2-4E96-B412-4910221BC53B}"/>
              </a:ext>
            </a:extLst>
          </p:cNvPr>
          <p:cNvSpPr/>
          <p:nvPr/>
        </p:nvSpPr>
        <p:spPr>
          <a:xfrm>
            <a:off x="8372651" y="3916911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FDDEC165-F604-47C3-B1E2-E826790317CD}"/>
              </a:ext>
            </a:extLst>
          </p:cNvPr>
          <p:cNvSpPr/>
          <p:nvPr/>
        </p:nvSpPr>
        <p:spPr>
          <a:xfrm>
            <a:off x="9501077" y="3518977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8E0473A7-20A1-4E75-B06F-1A22346B08E4}"/>
              </a:ext>
            </a:extLst>
          </p:cNvPr>
          <p:cNvSpPr/>
          <p:nvPr/>
        </p:nvSpPr>
        <p:spPr>
          <a:xfrm>
            <a:off x="9548299" y="3916911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8A6BE66-E507-442D-8ABA-3C41077CA9ED}"/>
              </a:ext>
            </a:extLst>
          </p:cNvPr>
          <p:cNvSpPr txBox="1"/>
          <p:nvPr/>
        </p:nvSpPr>
        <p:spPr>
          <a:xfrm>
            <a:off x="73005" y="1738377"/>
            <a:ext cx="200181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Tables</a:t>
            </a:r>
          </a:p>
          <a:p>
            <a:pPr algn="ctr" defTabSz="914126"/>
            <a:endParaRPr lang="en-US" sz="2399" b="1" dirty="0"/>
          </a:p>
        </p:txBody>
      </p:sp>
    </p:spTree>
    <p:extLst>
      <p:ext uri="{BB962C8B-B14F-4D97-AF65-F5344CB8AC3E}">
        <p14:creationId xmlns:p14="http://schemas.microsoft.com/office/powerpoint/2010/main" val="227562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6B29DE-E6F6-4214-918E-11B8236C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248" y="1348572"/>
            <a:ext cx="9464040" cy="437762"/>
          </a:xfrm>
        </p:spPr>
        <p:txBody>
          <a:bodyPr>
            <a:normAutofit fontScale="90000"/>
          </a:bodyPr>
          <a:lstStyle/>
          <a:p>
            <a:r>
              <a:rPr lang="en-AU" dirty="0"/>
              <a:t>Worked example.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CB88F6-4FD7-4C15-9466-1FA03502F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" y="1707026"/>
            <a:ext cx="5977890" cy="2128881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Jeff owns a brown shirt, a white shirt and a black shirt.  He also owns a pair of black pants and a pair of blue jeans.  How many combinations can he make from these items.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61FB38C-C6FA-49F6-AD1E-577C6FFD6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634" y="1229102"/>
            <a:ext cx="1245870" cy="4057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273BDBE-BCAC-427A-BF37-4A5B8E93C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981" y="1241211"/>
            <a:ext cx="4394909" cy="26583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C195017-B098-4397-943A-B414FDC1E5BB}"/>
              </a:ext>
            </a:extLst>
          </p:cNvPr>
          <p:cNvSpPr txBox="1"/>
          <p:nvPr/>
        </p:nvSpPr>
        <p:spPr>
          <a:xfrm>
            <a:off x="118110" y="5488765"/>
            <a:ext cx="6129673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What is the Probability that today Jeff is wearing black pants and a blue or brown shirt?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48944FE-66A5-42D5-A523-E49933C4D6CE}"/>
              </a:ext>
            </a:extLst>
          </p:cNvPr>
          <p:cNvSpPr txBox="1"/>
          <p:nvPr/>
        </p:nvSpPr>
        <p:spPr>
          <a:xfrm>
            <a:off x="118110" y="4057650"/>
            <a:ext cx="670743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What is the probability that;</a:t>
            </a:r>
          </a:p>
          <a:p>
            <a:r>
              <a:rPr lang="en-AU" sz="2160" dirty="0"/>
              <a:t>Today Jeff is wearing a white shirt and blue jeans?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1FAEB37-CF8C-B740-9575-8FC7A52592D5}"/>
              </a:ext>
            </a:extLst>
          </p:cNvPr>
          <p:cNvSpPr txBox="1"/>
          <p:nvPr/>
        </p:nvSpPr>
        <p:spPr>
          <a:xfrm>
            <a:off x="7895764" y="4602414"/>
            <a:ext cx="3961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Sample Space </a:t>
            </a:r>
            <a:r>
              <a:rPr lang="en-US" dirty="0"/>
              <a:t>                        n=6.</a:t>
            </a:r>
          </a:p>
          <a:p>
            <a:r>
              <a:rPr lang="en-US" dirty="0"/>
              <a:t>{ </a:t>
            </a:r>
            <a:r>
              <a:rPr lang="en-US" dirty="0" err="1"/>
              <a:t>BaBa</a:t>
            </a:r>
            <a:r>
              <a:rPr lang="en-US" dirty="0"/>
              <a:t>, </a:t>
            </a:r>
            <a:r>
              <a:rPr lang="en-US" dirty="0" err="1"/>
              <a:t>BaBl</a:t>
            </a:r>
            <a:r>
              <a:rPr lang="en-US" dirty="0"/>
              <a:t>, </a:t>
            </a:r>
            <a:r>
              <a:rPr lang="en-US" dirty="0" err="1"/>
              <a:t>BrBa</a:t>
            </a:r>
            <a:r>
              <a:rPr lang="en-US" dirty="0"/>
              <a:t>, </a:t>
            </a:r>
            <a:r>
              <a:rPr lang="en-US" dirty="0" err="1"/>
              <a:t>BrBl</a:t>
            </a:r>
            <a:r>
              <a:rPr lang="en-US" dirty="0"/>
              <a:t>, </a:t>
            </a:r>
            <a:r>
              <a:rPr lang="en-US" dirty="0" err="1"/>
              <a:t>Wba</a:t>
            </a:r>
            <a:r>
              <a:rPr lang="en-US" dirty="0"/>
              <a:t>, </a:t>
            </a:r>
            <a:r>
              <a:rPr lang="en-US" dirty="0" err="1"/>
              <a:t>WBl</a:t>
            </a:r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CACF750-D2F5-0F4D-9C8C-28D3DDD4E401}"/>
              </a:ext>
            </a:extLst>
          </p:cNvPr>
          <p:cNvSpPr txBox="1"/>
          <p:nvPr/>
        </p:nvSpPr>
        <p:spPr>
          <a:xfrm>
            <a:off x="7964069" y="5432123"/>
            <a:ext cx="3581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 = Black, </a:t>
            </a:r>
            <a:r>
              <a:rPr lang="en-US" dirty="0" err="1"/>
              <a:t>Bl</a:t>
            </a:r>
            <a:r>
              <a:rPr lang="en-US" dirty="0"/>
              <a:t> = Blue, W= White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D768F5B-7A34-1E47-8EA5-84F98355D61D}"/>
              </a:ext>
            </a:extLst>
          </p:cNvPr>
          <p:cNvSpPr/>
          <p:nvPr/>
        </p:nvSpPr>
        <p:spPr>
          <a:xfrm>
            <a:off x="7895764" y="4602414"/>
            <a:ext cx="3820748" cy="11990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71871"/>
            <a:ext cx="0" cy="518612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8850" y="15095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73005" y="1671871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401028" y="1848195"/>
            <a:ext cx="9380417" cy="3877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 smtClean="0"/>
              <a:t>Two way tables can also be useful for experiments that have two variables that you are looking at.  </a:t>
            </a:r>
            <a:endParaRPr lang="en-AU" sz="2400" dirty="0"/>
          </a:p>
          <a:p>
            <a:endParaRPr lang="en-AU" sz="2400" dirty="0"/>
          </a:p>
          <a:p>
            <a:r>
              <a:rPr lang="en-AU" sz="2400" dirty="0" smtClean="0"/>
              <a:t>E.g. Comparing pet preferences </a:t>
            </a:r>
            <a:r>
              <a:rPr lang="en-AU" sz="2400" dirty="0" smtClean="0"/>
              <a:t>between dogs and cats</a:t>
            </a:r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pPr algn="ctr">
              <a:lnSpc>
                <a:spcPct val="150000"/>
              </a:lnSpc>
            </a:pPr>
            <a:endParaRPr lang="en-AU" sz="2400" dirty="0"/>
          </a:p>
          <a:p>
            <a:pPr algn="ctr"/>
            <a:endParaRPr lang="en-A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ED5B39B-3BBD-4743-B6AB-2D2D41E82784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</a:t>
            </a:r>
            <a:r>
              <a:rPr lang="en-US" sz="2399" b="1" dirty="0" smtClean="0"/>
              <a:t>Tables</a:t>
            </a:r>
            <a:endParaRPr lang="en-US" sz="2399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524174"/>
              </p:ext>
            </p:extLst>
          </p:nvPr>
        </p:nvGraphicFramePr>
        <p:xfrm>
          <a:off x="2401026" y="3538052"/>
          <a:ext cx="8397944" cy="2188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748"/>
                <a:gridCol w="2157984"/>
                <a:gridCol w="2157984"/>
                <a:gridCol w="1417228"/>
              </a:tblGrid>
              <a:tr h="547032">
                <a:tc>
                  <a:txBody>
                    <a:bodyPr/>
                    <a:lstStyle/>
                    <a:p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Dogs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dogs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Total</a:t>
                      </a:r>
                      <a:endParaRPr lang="en-AU" sz="2000" dirty="0"/>
                    </a:p>
                  </a:txBody>
                  <a:tcPr/>
                </a:tc>
              </a:tr>
              <a:tr h="547032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29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30</a:t>
                      </a:r>
                      <a:endParaRPr lang="en-AU" sz="2000" dirty="0"/>
                    </a:p>
                  </a:txBody>
                  <a:tcPr/>
                </a:tc>
              </a:tr>
              <a:tr h="547032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8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12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20</a:t>
                      </a:r>
                      <a:endParaRPr lang="en-AU" sz="2000" dirty="0"/>
                    </a:p>
                  </a:txBody>
                  <a:tcPr/>
                </a:tc>
              </a:tr>
              <a:tr h="547032">
                <a:tc>
                  <a:txBody>
                    <a:bodyPr/>
                    <a:lstStyle/>
                    <a:p>
                      <a:r>
                        <a:rPr lang="en-AU" sz="2000" b="1" dirty="0" smtClean="0"/>
                        <a:t>Total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37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13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50</a:t>
                      </a:r>
                      <a:endParaRPr lang="en-AU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397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71871"/>
            <a:ext cx="0" cy="518612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8850" y="15095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73005" y="1671871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401028" y="1848195"/>
            <a:ext cx="9380417" cy="3877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 smtClean="0"/>
              <a:t>Two way tables can also be useful for experiments that have two variables that you are looking at.  </a:t>
            </a:r>
          </a:p>
          <a:p>
            <a:endParaRPr lang="en-AU" sz="2400" dirty="0"/>
          </a:p>
          <a:p>
            <a:r>
              <a:rPr lang="en-AU" sz="2400" dirty="0" smtClean="0"/>
              <a:t>E.g. Comparing fruit preferences </a:t>
            </a:r>
            <a:r>
              <a:rPr lang="en-AU" sz="2400" dirty="0" smtClean="0"/>
              <a:t>between apples and bananas</a:t>
            </a:r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pPr algn="ctr">
              <a:lnSpc>
                <a:spcPct val="150000"/>
              </a:lnSpc>
            </a:pPr>
            <a:endParaRPr lang="en-AU" sz="2400" dirty="0"/>
          </a:p>
          <a:p>
            <a:pPr algn="ctr"/>
            <a:endParaRPr lang="en-A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ED5B39B-3BBD-4743-B6AB-2D2D41E82784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</a:t>
            </a:r>
            <a:r>
              <a:rPr lang="en-US" sz="2399" b="1" dirty="0" smtClean="0"/>
              <a:t>Tables</a:t>
            </a:r>
            <a:endParaRPr lang="en-US" sz="2399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861540"/>
              </p:ext>
            </p:extLst>
          </p:nvPr>
        </p:nvGraphicFramePr>
        <p:xfrm>
          <a:off x="2401028" y="3371426"/>
          <a:ext cx="8397944" cy="1950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748"/>
                <a:gridCol w="2157984"/>
                <a:gridCol w="2157984"/>
                <a:gridCol w="1417228"/>
              </a:tblGrid>
              <a:tr h="487596">
                <a:tc>
                  <a:txBody>
                    <a:bodyPr/>
                    <a:lstStyle/>
                    <a:p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Dogs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dogs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Total</a:t>
                      </a:r>
                      <a:endParaRPr lang="en-AU" sz="2000" dirty="0"/>
                    </a:p>
                  </a:txBody>
                  <a:tcPr/>
                </a:tc>
              </a:tr>
              <a:tr h="487596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29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30</a:t>
                      </a:r>
                      <a:endParaRPr lang="en-AU" sz="2000" dirty="0"/>
                    </a:p>
                  </a:txBody>
                  <a:tcPr/>
                </a:tc>
              </a:tr>
              <a:tr h="487596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8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12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20</a:t>
                      </a:r>
                      <a:endParaRPr lang="en-AU" sz="2000" dirty="0"/>
                    </a:p>
                  </a:txBody>
                  <a:tcPr/>
                </a:tc>
              </a:tr>
              <a:tr h="487596">
                <a:tc>
                  <a:txBody>
                    <a:bodyPr/>
                    <a:lstStyle/>
                    <a:p>
                      <a:r>
                        <a:rPr lang="en-AU" sz="2000" b="1" dirty="0" smtClean="0"/>
                        <a:t>Total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37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13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50</a:t>
                      </a:r>
                      <a:endParaRPr lang="en-AU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64736" y="5487004"/>
            <a:ext cx="87463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What is the probability of a person liking cats?</a:t>
            </a:r>
          </a:p>
          <a:p>
            <a:r>
              <a:rPr lang="en-AU" sz="2400" dirty="0" smtClean="0"/>
              <a:t>What is the probability of a person liking cats and dogs?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95894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71871"/>
            <a:ext cx="0" cy="518612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8850" y="15095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73005" y="1671871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401028" y="1848195"/>
            <a:ext cx="9380417" cy="3877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 smtClean="0"/>
              <a:t>Two way tables can also be useful for experiments that have two variables that you are looking at.  </a:t>
            </a:r>
          </a:p>
          <a:p>
            <a:endParaRPr lang="en-AU" sz="2400" dirty="0"/>
          </a:p>
          <a:p>
            <a:r>
              <a:rPr lang="en-AU" sz="2400" dirty="0" smtClean="0"/>
              <a:t>E.g. Comparing fruit preferences </a:t>
            </a:r>
            <a:r>
              <a:rPr lang="en-AU" sz="2400" dirty="0" smtClean="0"/>
              <a:t>between apples and bananas</a:t>
            </a:r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pPr algn="ctr">
              <a:lnSpc>
                <a:spcPct val="150000"/>
              </a:lnSpc>
            </a:pPr>
            <a:endParaRPr lang="en-AU" sz="2400" dirty="0"/>
          </a:p>
          <a:p>
            <a:pPr algn="ctr"/>
            <a:endParaRPr lang="en-A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ED5B39B-3BBD-4743-B6AB-2D2D41E82784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</a:t>
            </a:r>
            <a:r>
              <a:rPr lang="en-US" sz="2399" b="1" dirty="0" smtClean="0"/>
              <a:t>Tables</a:t>
            </a:r>
            <a:endParaRPr lang="en-US" sz="2399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264736" y="5487004"/>
            <a:ext cx="7361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What is the probability of a person liking </a:t>
            </a:r>
            <a:r>
              <a:rPr lang="en-AU" sz="2400" dirty="0" err="1" smtClean="0"/>
              <a:t>catss</a:t>
            </a:r>
            <a:r>
              <a:rPr lang="en-AU" sz="2400" dirty="0" smtClean="0"/>
              <a:t>? </a:t>
            </a:r>
            <a:endParaRPr lang="en-AU" sz="2400" dirty="0"/>
          </a:p>
          <a:p>
            <a:r>
              <a:rPr lang="en-AU" sz="2400" dirty="0" smtClean="0"/>
              <a:t>P (cats) = event/total number of outcomes</a:t>
            </a:r>
          </a:p>
          <a:p>
            <a:r>
              <a:rPr lang="en-AU" sz="2400" dirty="0" smtClean="0"/>
              <a:t>P (cats) = 30/50 = 3/5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661221"/>
              </p:ext>
            </p:extLst>
          </p:nvPr>
        </p:nvGraphicFramePr>
        <p:xfrm>
          <a:off x="2264736" y="3346704"/>
          <a:ext cx="8397944" cy="195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748"/>
                <a:gridCol w="2157984"/>
                <a:gridCol w="2157984"/>
                <a:gridCol w="1417228"/>
              </a:tblGrid>
              <a:tr h="489204">
                <a:tc>
                  <a:txBody>
                    <a:bodyPr/>
                    <a:lstStyle/>
                    <a:p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Dogs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dogs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Total</a:t>
                      </a:r>
                      <a:endParaRPr lang="en-AU" sz="2000" dirty="0"/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29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30</a:t>
                      </a:r>
                      <a:endParaRPr lang="en-AU" sz="2000" dirty="0"/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8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12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20</a:t>
                      </a:r>
                      <a:endParaRPr lang="en-AU" sz="2000" dirty="0"/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lang="en-AU" sz="2000" b="1" dirty="0" smtClean="0"/>
                        <a:t>Total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37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13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50</a:t>
                      </a:r>
                      <a:endParaRPr lang="en-AU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728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71871"/>
            <a:ext cx="0" cy="518612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8850" y="15095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73005" y="1671871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401028" y="1848195"/>
            <a:ext cx="9380417" cy="3877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 smtClean="0"/>
              <a:t>Two way tables can also be useful for experiments that have two variables that you are looking at.  </a:t>
            </a:r>
          </a:p>
          <a:p>
            <a:endParaRPr lang="en-AU" sz="2400" dirty="0"/>
          </a:p>
          <a:p>
            <a:r>
              <a:rPr lang="en-AU" sz="2400" dirty="0" smtClean="0"/>
              <a:t>E.g. Comparing fruit preferences </a:t>
            </a:r>
            <a:r>
              <a:rPr lang="en-AU" sz="2400" dirty="0" smtClean="0"/>
              <a:t>between apples and bananas</a:t>
            </a:r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pPr algn="ctr">
              <a:lnSpc>
                <a:spcPct val="150000"/>
              </a:lnSpc>
            </a:pPr>
            <a:endParaRPr lang="en-AU" sz="2400" dirty="0"/>
          </a:p>
          <a:p>
            <a:pPr algn="ctr"/>
            <a:endParaRPr lang="en-A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ED5B39B-3BBD-4743-B6AB-2D2D41E82784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</a:t>
            </a:r>
            <a:r>
              <a:rPr lang="en-US" sz="2399" b="1" dirty="0" smtClean="0"/>
              <a:t>Tables</a:t>
            </a:r>
            <a:endParaRPr lang="en-US" sz="2399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264736" y="5487004"/>
            <a:ext cx="74943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What is the probability of a person liking dogs? </a:t>
            </a:r>
            <a:endParaRPr lang="en-AU" sz="2400" dirty="0"/>
          </a:p>
          <a:p>
            <a:r>
              <a:rPr lang="en-AU" sz="2400" dirty="0" smtClean="0"/>
              <a:t>P (dogs) = event/total number of outcomes</a:t>
            </a:r>
          </a:p>
          <a:p>
            <a:r>
              <a:rPr lang="en-AU" sz="2400" dirty="0" smtClean="0"/>
              <a:t>P (dogs) = 37/50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653762"/>
              </p:ext>
            </p:extLst>
          </p:nvPr>
        </p:nvGraphicFramePr>
        <p:xfrm>
          <a:off x="2264736" y="3346704"/>
          <a:ext cx="8397944" cy="195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748"/>
                <a:gridCol w="2157984"/>
                <a:gridCol w="2157984"/>
                <a:gridCol w="1417228"/>
              </a:tblGrid>
              <a:tr h="489204">
                <a:tc>
                  <a:txBody>
                    <a:bodyPr/>
                    <a:lstStyle/>
                    <a:p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Dogs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dogs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Total</a:t>
                      </a:r>
                      <a:endParaRPr lang="en-AU" sz="2000" dirty="0"/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29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30</a:t>
                      </a:r>
                      <a:endParaRPr lang="en-AU" sz="2000" dirty="0"/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8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12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20</a:t>
                      </a:r>
                      <a:endParaRPr lang="en-AU" sz="2000" dirty="0"/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lang="en-AU" sz="2000" b="1" dirty="0" smtClean="0"/>
                        <a:t>Total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37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13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50</a:t>
                      </a:r>
                      <a:endParaRPr lang="en-AU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022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71871"/>
            <a:ext cx="0" cy="518612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8850" y="15095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73005" y="1671871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401028" y="1848195"/>
            <a:ext cx="9380417" cy="3877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 smtClean="0"/>
              <a:t>Two way tables can also be useful for experiments that have two variables that you are looking at.  </a:t>
            </a:r>
          </a:p>
          <a:p>
            <a:endParaRPr lang="en-AU" sz="2400" dirty="0"/>
          </a:p>
          <a:p>
            <a:r>
              <a:rPr lang="en-AU" sz="2400" dirty="0" smtClean="0"/>
              <a:t>E.g. Comparing fruit preferences </a:t>
            </a:r>
            <a:r>
              <a:rPr lang="en-AU" sz="2400" dirty="0" smtClean="0"/>
              <a:t>between apples and bananas</a:t>
            </a:r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pPr algn="ctr">
              <a:lnSpc>
                <a:spcPct val="150000"/>
              </a:lnSpc>
            </a:pPr>
            <a:endParaRPr lang="en-AU" sz="2400" dirty="0"/>
          </a:p>
          <a:p>
            <a:pPr algn="ctr"/>
            <a:endParaRPr lang="en-A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ED5B39B-3BBD-4743-B6AB-2D2D41E82784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</a:t>
            </a:r>
            <a:r>
              <a:rPr lang="en-US" sz="2399" b="1" dirty="0" smtClean="0"/>
              <a:t>Tables</a:t>
            </a:r>
            <a:endParaRPr lang="en-US" sz="2399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228326" y="5487004"/>
            <a:ext cx="9650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Out of the people who like </a:t>
            </a:r>
            <a:r>
              <a:rPr lang="en-AU" sz="2400" dirty="0" err="1" smtClean="0"/>
              <a:t>catss</a:t>
            </a:r>
            <a:r>
              <a:rPr lang="en-AU" sz="2400" dirty="0" smtClean="0"/>
              <a:t>, what is the probability of someone not liking dogs?</a:t>
            </a:r>
            <a:endParaRPr lang="en-AU" sz="24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254080"/>
              </p:ext>
            </p:extLst>
          </p:nvPr>
        </p:nvGraphicFramePr>
        <p:xfrm>
          <a:off x="2264736" y="3364992"/>
          <a:ext cx="8397944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748"/>
                <a:gridCol w="2157984"/>
                <a:gridCol w="2157984"/>
                <a:gridCol w="1417228"/>
              </a:tblGrid>
              <a:tr h="484632">
                <a:tc>
                  <a:txBody>
                    <a:bodyPr/>
                    <a:lstStyle/>
                    <a:p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Dogs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dogs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Total</a:t>
                      </a:r>
                      <a:endParaRPr lang="en-AU" sz="2000" dirty="0"/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29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30</a:t>
                      </a:r>
                      <a:endParaRPr lang="en-AU" sz="2000" dirty="0"/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8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12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20</a:t>
                      </a:r>
                      <a:endParaRPr lang="en-AU" sz="2000" dirty="0"/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lang="en-AU" sz="2000" b="1" dirty="0" smtClean="0"/>
                        <a:t>Total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37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13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50</a:t>
                      </a:r>
                      <a:endParaRPr lang="en-AU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210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38528" y="1671871"/>
            <a:ext cx="0" cy="518612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</a:t>
            </a:r>
            <a:r>
              <a:rPr lang="en-AU" sz="3200" b="1" dirty="0">
                <a:latin typeface="Kiwi School Handwriting" panose="00000500000000000000" pitchFamily="2" charset="0"/>
              </a:rPr>
              <a:t>: </a:t>
            </a:r>
            <a:r>
              <a:rPr lang="en-AU" sz="3200" dirty="0"/>
              <a:t>Two way tables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8850" y="15095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How do we represent outcomes in two way tables for experimental and theoretical probability?</a:t>
            </a:r>
            <a:r>
              <a:rPr lang="en-AU" sz="2399" b="1" dirty="0" smtClean="0">
                <a:latin typeface="Kiwi School Handwriting" panose="00000500000000000000" pitchFamily="2" charset="0"/>
              </a:rPr>
              <a:t> 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73005" y="1671871"/>
            <a:ext cx="121888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401028" y="1848195"/>
            <a:ext cx="9380417" cy="3877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 smtClean="0"/>
              <a:t>Two way tables can also be useful for experiments that have two variables that you are looking at.  </a:t>
            </a:r>
          </a:p>
          <a:p>
            <a:endParaRPr lang="en-AU" sz="2400" dirty="0"/>
          </a:p>
          <a:p>
            <a:r>
              <a:rPr lang="en-AU" sz="2400" dirty="0" smtClean="0"/>
              <a:t>E.g. Comparing fruit preferences </a:t>
            </a:r>
            <a:r>
              <a:rPr lang="en-AU" sz="2400" dirty="0" smtClean="0"/>
              <a:t>between apples and bananas</a:t>
            </a:r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pPr algn="ctr">
              <a:lnSpc>
                <a:spcPct val="150000"/>
              </a:lnSpc>
            </a:pPr>
            <a:endParaRPr lang="en-AU" sz="2400" dirty="0"/>
          </a:p>
          <a:p>
            <a:pPr algn="ctr"/>
            <a:endParaRPr lang="en-A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ED5B39B-3BBD-4743-B6AB-2D2D41E82784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/>
              <a:t>Two Way </a:t>
            </a:r>
            <a:r>
              <a:rPr lang="en-US" sz="2399" b="1" dirty="0" smtClean="0"/>
              <a:t>Tables</a:t>
            </a:r>
            <a:endParaRPr lang="en-US" sz="2399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228326" y="5487004"/>
            <a:ext cx="9650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Out of the people who like cats, what is the probability of someone not liking dogs?</a:t>
            </a:r>
          </a:p>
          <a:p>
            <a:r>
              <a:rPr lang="en-AU" sz="2400" dirty="0" smtClean="0"/>
              <a:t>P (bananas </a:t>
            </a:r>
            <a:r>
              <a:rPr lang="en-AU" sz="2400" dirty="0" smtClean="0">
                <a:latin typeface="Century Gothic" panose="020B0502020202020204" pitchFamily="34" charset="0"/>
              </a:rPr>
              <a:t>∩ </a:t>
            </a:r>
            <a:r>
              <a:rPr lang="en-AU" sz="2400" dirty="0" smtClean="0"/>
              <a:t>apples</a:t>
            </a:r>
            <a:r>
              <a:rPr lang="en-AU" sz="2400" dirty="0" smtClean="0">
                <a:latin typeface="Century Gothic" panose="020B0502020202020204" pitchFamily="34" charset="0"/>
              </a:rPr>
              <a:t>’) = 1/30         </a:t>
            </a:r>
            <a:r>
              <a:rPr lang="en-AU" sz="2400" b="1" dirty="0" smtClean="0">
                <a:latin typeface="Century Gothic" panose="020B0502020202020204" pitchFamily="34" charset="0"/>
              </a:rPr>
              <a:t>Note:  </a:t>
            </a:r>
            <a:r>
              <a:rPr lang="en-AU" sz="2400" dirty="0" smtClean="0">
                <a:latin typeface="Century Gothic" panose="020B0502020202020204" pitchFamily="34" charset="0"/>
              </a:rPr>
              <a:t>∩  means “and”</a:t>
            </a:r>
            <a:endParaRPr lang="en-AU" sz="24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42301"/>
              </p:ext>
            </p:extLst>
          </p:nvPr>
        </p:nvGraphicFramePr>
        <p:xfrm>
          <a:off x="2264736" y="3328416"/>
          <a:ext cx="8397944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748"/>
                <a:gridCol w="2157984"/>
                <a:gridCol w="2157984"/>
                <a:gridCol w="1417228"/>
              </a:tblGrid>
              <a:tr h="493776">
                <a:tc>
                  <a:txBody>
                    <a:bodyPr/>
                    <a:lstStyle/>
                    <a:p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Dog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dogs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Total</a:t>
                      </a:r>
                      <a:endParaRPr lang="en-AU" sz="2000" dirty="0"/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29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30</a:t>
                      </a:r>
                      <a:endParaRPr lang="en-AU" sz="2000" dirty="0"/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Dislikes cats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8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12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20</a:t>
                      </a:r>
                      <a:endParaRPr lang="en-AU" sz="2000" dirty="0"/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lang="en-AU" sz="2000" b="1" dirty="0" smtClean="0"/>
                        <a:t>Total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37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13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50</a:t>
                      </a:r>
                      <a:endParaRPr lang="en-AU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90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687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LHS practise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016BB19-ECC8-47BA-BE7A-7B1C2C371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888008"/>
            <a:ext cx="9217152" cy="424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22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LHS practise</a:t>
            </a:r>
            <a:endParaRPr lang="en-A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4128" y="1947836"/>
            <a:ext cx="10153957" cy="4452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72219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LHS practise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877824" y="2084832"/>
            <a:ext cx="104790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Complete Ex 6.5 Q9, 22 &amp; 23 from Nelson Maths 10 on </a:t>
            </a:r>
            <a:r>
              <a:rPr lang="en-AU" sz="2400" dirty="0" err="1" smtClean="0"/>
              <a:t>pg</a:t>
            </a:r>
            <a:r>
              <a:rPr lang="en-AU" sz="2400" dirty="0" smtClean="0"/>
              <a:t> 247&amp; 250</a:t>
            </a:r>
          </a:p>
          <a:p>
            <a:endParaRPr lang="en-AU" sz="2400" dirty="0"/>
          </a:p>
          <a:p>
            <a:r>
              <a:rPr lang="en-AU" sz="2400" dirty="0" smtClean="0"/>
              <a:t>And </a:t>
            </a:r>
          </a:p>
          <a:p>
            <a:endParaRPr lang="en-AU" sz="2400" dirty="0"/>
          </a:p>
          <a:p>
            <a:r>
              <a:rPr lang="en-AU" sz="2400" dirty="0" smtClean="0"/>
              <a:t>Complete the summary for this lesson.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146181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6297</TotalTime>
  <Words>2053</Words>
  <Application>Microsoft Office PowerPoint</Application>
  <PresentationFormat>Widescreen</PresentationFormat>
  <Paragraphs>611</Paragraphs>
  <Slides>25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Cambria Math</vt:lpstr>
      <vt:lpstr>Century Gothic</vt:lpstr>
      <vt:lpstr>Kiwi School Handwriting</vt:lpstr>
      <vt:lpstr>Tw Cen MT</vt:lpstr>
      <vt:lpstr>Tw Cen MT Condensed</vt:lpstr>
      <vt:lpstr>Wingdings 3</vt:lpstr>
      <vt:lpstr>Integral</vt:lpstr>
      <vt:lpstr>Topic: Two way tables EQ: How do we represent outcomes in two way tables for experimental and theoretical probability?</vt:lpstr>
      <vt:lpstr>Topic: Two way tables EQ: How do we represent outcomes in two way tables for experimental and theoretical probability?</vt:lpstr>
      <vt:lpstr>Yr 10. Two way tables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Worked example.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LHS practise</vt:lpstr>
      <vt:lpstr>LHS practise</vt:lpstr>
      <vt:lpstr>LHS practise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Coz W</cp:lastModifiedBy>
  <cp:revision>60</cp:revision>
  <dcterms:created xsi:type="dcterms:W3CDTF">2017-10-15T23:31:24Z</dcterms:created>
  <dcterms:modified xsi:type="dcterms:W3CDTF">2021-10-11T16:27:07Z</dcterms:modified>
</cp:coreProperties>
</file>
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6"/>
  </p:notesMasterIdLst>
  <p:sldIdLst>
    <p:sldId id="256" r:id="rId2"/>
    <p:sldId id="301" r:id="rId3"/>
    <p:sldId id="314" r:id="rId4"/>
    <p:sldId id="289" r:id="rId5"/>
    <p:sldId id="311" r:id="rId6"/>
    <p:sldId id="313" r:id="rId7"/>
    <p:sldId id="310" r:id="rId8"/>
    <p:sldId id="312" r:id="rId9"/>
    <p:sldId id="318" r:id="rId10"/>
    <p:sldId id="305" r:id="rId11"/>
    <p:sldId id="319" r:id="rId12"/>
    <p:sldId id="315" r:id="rId13"/>
    <p:sldId id="316" r:id="rId14"/>
    <p:sldId id="31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7384" autoAdjust="0"/>
  </p:normalViewPr>
  <p:slideViewPr>
    <p:cSldViewPr snapToGrid="0">
      <p:cViewPr varScale="1">
        <p:scale>
          <a:sx n="61" d="100"/>
          <a:sy n="61" d="100"/>
        </p:scale>
        <p:origin x="64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A10772-5EEF-4CF9-A1B3-9A5B753FBA4D}" type="datetimeFigureOut">
              <a:rPr lang="en-AU" smtClean="0"/>
              <a:t>12/10/2021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6E7107-940C-4618-81D1-D3CF499832C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5506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AU" dirty="0"/>
              <a:t>Mean</a:t>
            </a:r>
            <a:r>
              <a:rPr lang="en-AU" baseline="0" dirty="0"/>
              <a:t>: 5, Median: 5, Mode: 5, Range: 7</a:t>
            </a:r>
            <a:endParaRPr lang="en-AU" dirty="0"/>
          </a:p>
          <a:p>
            <a:pPr marL="228600" indent="-228600">
              <a:buAutoNum type="arabicPeriod"/>
            </a:pPr>
            <a:r>
              <a:rPr lang="en-AU" dirty="0"/>
              <a:t>No</a:t>
            </a:r>
          </a:p>
          <a:p>
            <a:pPr marL="228600" indent="-228600">
              <a:buAutoNum type="arabicPeriod"/>
            </a:pPr>
            <a:r>
              <a:rPr lang="en-AU" dirty="0"/>
              <a:t>50:950 = 1:9</a:t>
            </a:r>
          </a:p>
          <a:p>
            <a:pPr marL="228600" indent="-228600">
              <a:buAutoNum type="arabicPeriod"/>
            </a:pPr>
            <a:r>
              <a:rPr lang="en-AU" dirty="0"/>
              <a:t>144 minutes</a:t>
            </a:r>
          </a:p>
          <a:p>
            <a:pPr marL="228600" indent="-228600">
              <a:buAutoNum type="arabicPeriod"/>
            </a:pPr>
            <a:r>
              <a:rPr lang="en-AU" dirty="0"/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31219264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9807854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9339680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22824481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24277503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10/12/2021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10/12/2021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10/12/2021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10/12/2021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10/12/2021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10/12/2021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10/12/2021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10/12/2021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10/12/2021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10/12/2021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10/12/2021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10/12/2021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AC823-B532-4688-9E8F-9ECF5722D0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AU" sz="3200" dirty="0"/>
              <a:t>Topic: Probability</a:t>
            </a:r>
            <a:br>
              <a:rPr lang="en-AU" sz="3200" dirty="0"/>
            </a:br>
            <a:r>
              <a:rPr lang="en-AU" sz="3200" dirty="0"/>
              <a:t>EQ: What is the difference between complementary and mutually exclusive events?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87B186-3400-4A4B-B6A6-D265D5ED5F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10 Mathematics</a:t>
            </a:r>
          </a:p>
        </p:txBody>
      </p:sp>
    </p:spTree>
    <p:extLst>
      <p:ext uri="{BB962C8B-B14F-4D97-AF65-F5344CB8AC3E}">
        <p14:creationId xmlns:p14="http://schemas.microsoft.com/office/powerpoint/2010/main" val="2756094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A3C03-BF03-48EF-A72A-CE11494FF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805" y="775686"/>
            <a:ext cx="10058400" cy="1371600"/>
          </a:xfrm>
        </p:spPr>
        <p:txBody>
          <a:bodyPr/>
          <a:lstStyle/>
          <a:p>
            <a:r>
              <a:rPr lang="en-AU" dirty="0"/>
              <a:t>Five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9BC97-E084-4305-8742-02C144E0C2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339" y="2501287"/>
            <a:ext cx="11017452" cy="4453722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AU" sz="2400" b="0" dirty="0">
                <a:latin typeface="Calibri" panose="020F0502020204030204" pitchFamily="34" charset="0"/>
                <a:cs typeface="Calibri" panose="020F0502020204030204" pitchFamily="34" charset="0"/>
              </a:rPr>
              <a:t>What is the mean, median, mode and range for the following?</a:t>
            </a:r>
            <a:br>
              <a:rPr lang="en-AU" sz="2400" b="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AU" sz="2400" b="0" dirty="0">
                <a:latin typeface="Calibri" panose="020F0502020204030204" pitchFamily="34" charset="0"/>
                <a:cs typeface="Calibri" panose="020F0502020204030204" pitchFamily="34" charset="0"/>
              </a:rPr>
              <a:t>{ 2,3,5,5,6,9 }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What happens to the graph when we change the quadratic equation from y = x</a:t>
            </a:r>
            <a:r>
              <a:rPr lang="en-AU" sz="24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 to y = -x</a:t>
            </a:r>
            <a:r>
              <a:rPr lang="en-AU" sz="24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Factorise x</a:t>
            </a:r>
            <a:r>
              <a:rPr lang="en-AU" sz="24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 – 12x + 36?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Solve for x when (x+2)(x-5) = 0?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Write your summary for the previous lesson.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8740F4-4E29-46F0-AE17-D5002ED9BE37}"/>
              </a:ext>
            </a:extLst>
          </p:cNvPr>
          <p:cNvSpPr txBox="1"/>
          <p:nvPr/>
        </p:nvSpPr>
        <p:spPr>
          <a:xfrm>
            <a:off x="4901025" y="22010"/>
            <a:ext cx="23308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Topic: Probability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63EF86-F88E-4651-A0D0-6F8AFC411E31}"/>
              </a:ext>
            </a:extLst>
          </p:cNvPr>
          <p:cNvSpPr txBox="1"/>
          <p:nvPr/>
        </p:nvSpPr>
        <p:spPr>
          <a:xfrm>
            <a:off x="9461016" y="65433"/>
            <a:ext cx="241430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Date: XX/XX/2021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4CA8B5-6C6A-444C-B417-61B40A6758F2}"/>
              </a:ext>
            </a:extLst>
          </p:cNvPr>
          <p:cNvSpPr txBox="1"/>
          <p:nvPr/>
        </p:nvSpPr>
        <p:spPr>
          <a:xfrm>
            <a:off x="4901025" y="360188"/>
            <a:ext cx="72909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EQ – </a:t>
            </a:r>
            <a:r>
              <a:rPr lang="en-AU" sz="2400" dirty="0"/>
              <a:t>What is the difference between complementary and mutually exclusive events?</a:t>
            </a:r>
            <a:endParaRPr lang="en-AU" sz="24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9019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51983" y="1298661"/>
            <a:ext cx="0" cy="555933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0542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Topic: </a:t>
            </a:r>
            <a:r>
              <a:rPr lang="en-AU" sz="3200" dirty="0">
                <a:latin typeface="Calibri" panose="020F0502020204030204" pitchFamily="34" charset="0"/>
                <a:cs typeface="Calibri" panose="020F0502020204030204" pitchFamily="34" charset="0"/>
              </a:rPr>
              <a:t>Probability</a:t>
            </a:r>
            <a:endParaRPr lang="en-AU" sz="3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91345" y="837124"/>
            <a:ext cx="116839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EQ – </a:t>
            </a: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What is the difference between complementary and mutually exclusive events?</a:t>
            </a:r>
            <a:endParaRPr lang="en-AU" sz="2399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6A9E84E-8513-465B-8CA9-D1DD4FAC2317}"/>
              </a:ext>
            </a:extLst>
          </p:cNvPr>
          <p:cNvSpPr txBox="1"/>
          <p:nvPr/>
        </p:nvSpPr>
        <p:spPr>
          <a:xfrm>
            <a:off x="124245" y="5756432"/>
            <a:ext cx="2027738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399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399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399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399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399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747037-0930-4608-9244-6EA1A615E4D2}"/>
              </a:ext>
            </a:extLst>
          </p:cNvPr>
          <p:cNvSpPr txBox="1"/>
          <p:nvPr/>
        </p:nvSpPr>
        <p:spPr>
          <a:xfrm>
            <a:off x="9461016" y="65433"/>
            <a:ext cx="241430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Date: XX/XX/2021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E7DBEFA-5572-4C2C-BC9A-B8764185D513}"/>
              </a:ext>
            </a:extLst>
          </p:cNvPr>
          <p:cNvSpPr txBox="1"/>
          <p:nvPr/>
        </p:nvSpPr>
        <p:spPr>
          <a:xfrm>
            <a:off x="85300" y="1473134"/>
            <a:ext cx="19314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42900"/>
            <a:r>
              <a:rPr lang="en-US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 is an event?</a:t>
            </a:r>
            <a:endParaRPr lang="en-AU" sz="2400" b="1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11EE6C4-B3F6-4EAE-92CD-66D57340A6CA}"/>
              </a:ext>
            </a:extLst>
          </p:cNvPr>
          <p:cNvSpPr txBox="1"/>
          <p:nvPr/>
        </p:nvSpPr>
        <p:spPr>
          <a:xfrm>
            <a:off x="2287185" y="1411763"/>
            <a:ext cx="844662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Calibri" panose="020F0502020204030204" pitchFamily="34" charset="0"/>
                <a:cs typeface="Calibri" panose="020F0502020204030204" pitchFamily="34" charset="0"/>
              </a:rPr>
              <a:t>An event is a collection of outcomes regardless of whether they come from trials (experimental) or a sample space (theoretical). </a:t>
            </a:r>
            <a:br>
              <a:rPr lang="en-GB" sz="2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GB" sz="2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2800" dirty="0">
                <a:latin typeface="Calibri" panose="020F0502020204030204" pitchFamily="34" charset="0"/>
                <a:cs typeface="Calibri" panose="020F0502020204030204" pitchFamily="34" charset="0"/>
              </a:rPr>
              <a:t>An event or outcome that you are calculating probability for is called a “favourable” outcome. </a:t>
            </a:r>
          </a:p>
          <a:p>
            <a:endParaRPr lang="en-GB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2800" dirty="0">
                <a:latin typeface="Calibri" panose="020F0502020204030204" pitchFamily="34" charset="0"/>
                <a:cs typeface="Calibri" panose="020F0502020204030204" pitchFamily="34" charset="0"/>
              </a:rPr>
              <a:t>P (event) = </a:t>
            </a:r>
            <a:r>
              <a:rPr lang="en-GB" sz="2800" u="sng" dirty="0">
                <a:latin typeface="Calibri" panose="020F0502020204030204" pitchFamily="34" charset="0"/>
                <a:cs typeface="Calibri" panose="020F0502020204030204" pitchFamily="34" charset="0"/>
              </a:rPr>
              <a:t>Number of favourable outcomes</a:t>
            </a:r>
          </a:p>
          <a:p>
            <a:r>
              <a:rPr lang="en-GB" sz="2800" dirty="0">
                <a:latin typeface="Calibri" panose="020F0502020204030204" pitchFamily="34" charset="0"/>
                <a:cs typeface="Calibri" panose="020F0502020204030204" pitchFamily="34" charset="0"/>
              </a:rPr>
              <a:t>				Total number of outcomes</a:t>
            </a:r>
          </a:p>
          <a:p>
            <a:endParaRPr lang="en-GB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2244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51983" y="1298661"/>
            <a:ext cx="0" cy="555933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0542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Topic: </a:t>
            </a:r>
            <a:r>
              <a:rPr lang="en-AU" sz="3200" dirty="0">
                <a:latin typeface="Calibri" panose="020F0502020204030204" pitchFamily="34" charset="0"/>
                <a:cs typeface="Calibri" panose="020F0502020204030204" pitchFamily="34" charset="0"/>
              </a:rPr>
              <a:t>Probability</a:t>
            </a:r>
            <a:endParaRPr lang="en-AU" sz="3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91345" y="837124"/>
            <a:ext cx="116839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EQ – </a:t>
            </a: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What is the difference between complementary and mutually exclusive events?</a:t>
            </a:r>
            <a:endParaRPr lang="en-AU" sz="2399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6A9E84E-8513-465B-8CA9-D1DD4FAC2317}"/>
              </a:ext>
            </a:extLst>
          </p:cNvPr>
          <p:cNvSpPr txBox="1"/>
          <p:nvPr/>
        </p:nvSpPr>
        <p:spPr>
          <a:xfrm>
            <a:off x="124245" y="5756432"/>
            <a:ext cx="2027738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399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399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399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399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399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747037-0930-4608-9244-6EA1A615E4D2}"/>
              </a:ext>
            </a:extLst>
          </p:cNvPr>
          <p:cNvSpPr txBox="1"/>
          <p:nvPr/>
        </p:nvSpPr>
        <p:spPr>
          <a:xfrm>
            <a:off x="9461016" y="65433"/>
            <a:ext cx="241430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Date: XX/XX/2021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E7DBEFA-5572-4C2C-BC9A-B8764185D513}"/>
              </a:ext>
            </a:extLst>
          </p:cNvPr>
          <p:cNvSpPr txBox="1"/>
          <p:nvPr/>
        </p:nvSpPr>
        <p:spPr>
          <a:xfrm>
            <a:off x="85300" y="1473134"/>
            <a:ext cx="193148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42900"/>
            <a:r>
              <a:rPr lang="en-US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 is a mutually exclusive event?</a:t>
            </a:r>
            <a:endParaRPr lang="en-AU" sz="2400" b="1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11EE6C4-B3F6-4EAE-92CD-66D57340A6CA}"/>
              </a:ext>
            </a:extLst>
          </p:cNvPr>
          <p:cNvSpPr txBox="1"/>
          <p:nvPr/>
        </p:nvSpPr>
        <p:spPr>
          <a:xfrm>
            <a:off x="2287185" y="1411763"/>
            <a:ext cx="844662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Calibri" panose="020F0502020204030204" pitchFamily="34" charset="0"/>
                <a:cs typeface="Calibri" panose="020F0502020204030204" pitchFamily="34" charset="0"/>
              </a:rPr>
              <a:t>Outcomes are mutually exclusive if they cannot happen at the same time.</a:t>
            </a:r>
            <a:br>
              <a:rPr lang="en-GB" sz="2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GB" sz="2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2800" dirty="0">
                <a:latin typeface="Calibri" panose="020F0502020204030204" pitchFamily="34" charset="0"/>
                <a:cs typeface="Calibri" panose="020F0502020204030204" pitchFamily="34" charset="0"/>
              </a:rPr>
              <a:t>E.g. In a coin flip you can only have two outcomes: it will either land on heads or it will land on tails</a:t>
            </a:r>
          </a:p>
          <a:p>
            <a:r>
              <a:rPr lang="en-GB" sz="2800" dirty="0">
                <a:latin typeface="Calibri" panose="020F0502020204030204" pitchFamily="34" charset="0"/>
                <a:cs typeface="Calibri" panose="020F0502020204030204" pitchFamily="34" charset="0"/>
              </a:rPr>
              <a:t>Coin flip: {H, T}</a:t>
            </a:r>
          </a:p>
          <a:p>
            <a:endParaRPr lang="en-GB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2800" dirty="0">
                <a:latin typeface="Calibri" panose="020F0502020204030204" pitchFamily="34" charset="0"/>
                <a:cs typeface="Calibri" panose="020F0502020204030204" pitchFamily="34" charset="0"/>
              </a:rPr>
              <a:t>E.g.2 If you roll a dice it will either land on an odd number or an even number.  These two outcomes are mutually exclusive!</a:t>
            </a:r>
          </a:p>
        </p:txBody>
      </p:sp>
    </p:spTree>
    <p:extLst>
      <p:ext uri="{BB962C8B-B14F-4D97-AF65-F5344CB8AC3E}">
        <p14:creationId xmlns:p14="http://schemas.microsoft.com/office/powerpoint/2010/main" val="2043037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3A8EC506-B1DA-46A1-B44D-774E68468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1" name="Oval 5">
            <a:extLst>
              <a:ext uri="{FF2B5EF4-FFF2-40B4-BE49-F238E27FC236}">
                <a16:creationId xmlns:a16="http://schemas.microsoft.com/office/drawing/2014/main" id="{BFF30785-305E-45D7-984F-5AA93D3CA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5E01FA5-D766-43CA-A83D-E7CF3F04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CA73784B-AC76-4BAD-93AF-C72D0EDFD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726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7CD7D9D-4CFC-46C0-B763-9EC5331A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805" y="640080"/>
            <a:ext cx="3768940" cy="30348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kern="1200" cap="all" spc="20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Quick check</a:t>
            </a:r>
            <a:br>
              <a:rPr lang="en-US" sz="4400" kern="1200" cap="all" spc="20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</a:br>
            <a:r>
              <a:rPr lang="en-US" sz="4400" spc="200" dirty="0"/>
              <a:t>(LHS)</a:t>
            </a:r>
            <a:endParaRPr lang="en-US" sz="4400" kern="1200" cap="all" spc="200" baseline="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11DCF04-0C7C-44FC-8246-FC8D736B1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0698" y="3765314"/>
            <a:ext cx="320040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4405745" y="240804"/>
            <a:ext cx="6096000" cy="661719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ts val="1200"/>
              </a:spcAft>
            </a:pPr>
            <a:r>
              <a:rPr lang="en-GB" sz="3200" dirty="0">
                <a:latin typeface="Calibri" panose="020F0502020204030204" pitchFamily="34" charset="0"/>
                <a:cs typeface="Calibri" panose="020F0502020204030204" pitchFamily="34" charset="0"/>
              </a:rPr>
              <a:t>Which of the following are mutually exclusive outcomes:</a:t>
            </a:r>
          </a:p>
          <a:p>
            <a:pPr>
              <a:spcAft>
                <a:spcPts val="1200"/>
              </a:spcAft>
            </a:pPr>
            <a:br>
              <a:rPr lang="en-GB" sz="3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3200" dirty="0">
                <a:latin typeface="Calibri" panose="020F0502020204030204" pitchFamily="34" charset="0"/>
                <a:cs typeface="Calibri" panose="020F0502020204030204" pitchFamily="34" charset="0"/>
              </a:rPr>
              <a:t>a) A random person in the class having brown eyes or blue eyes?</a:t>
            </a:r>
          </a:p>
          <a:p>
            <a:pPr>
              <a:spcAft>
                <a:spcPts val="1200"/>
              </a:spcAft>
            </a:pPr>
            <a:r>
              <a:rPr lang="en-GB" sz="3200" dirty="0">
                <a:latin typeface="Calibri" panose="020F0502020204030204" pitchFamily="34" charset="0"/>
                <a:cs typeface="Calibri" panose="020F0502020204030204" pitchFamily="34" charset="0"/>
              </a:rPr>
              <a:t>b) A random person in the class having black hair or wearing glasses?</a:t>
            </a:r>
          </a:p>
          <a:p>
            <a:pPr>
              <a:spcAft>
                <a:spcPts val="1200"/>
              </a:spcAft>
            </a:pPr>
            <a:r>
              <a:rPr lang="en-GB" sz="3200" dirty="0">
                <a:latin typeface="Calibri" panose="020F0502020204030204" pitchFamily="34" charset="0"/>
                <a:cs typeface="Calibri" panose="020F0502020204030204" pitchFamily="34" charset="0"/>
              </a:rPr>
              <a:t>c) A random person in the class having a pet or a sibling? </a:t>
            </a:r>
          </a:p>
          <a:p>
            <a:pPr>
              <a:spcAft>
                <a:spcPts val="1200"/>
              </a:spcAft>
            </a:pPr>
            <a:r>
              <a:rPr lang="en-GB" sz="3200" dirty="0">
                <a:latin typeface="Calibri" panose="020F0502020204030204" pitchFamily="34" charset="0"/>
                <a:cs typeface="Calibri" panose="020F0502020204030204" pitchFamily="34" charset="0"/>
              </a:rPr>
              <a:t>d) A random person in the class being 15 or being 16?</a:t>
            </a:r>
          </a:p>
        </p:txBody>
      </p:sp>
    </p:spTree>
    <p:extLst>
      <p:ext uri="{BB962C8B-B14F-4D97-AF65-F5344CB8AC3E}">
        <p14:creationId xmlns:p14="http://schemas.microsoft.com/office/powerpoint/2010/main" val="3183457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51983" y="1298661"/>
            <a:ext cx="0" cy="555933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0542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Topic: </a:t>
            </a:r>
            <a:r>
              <a:rPr lang="en-AU" sz="3200" dirty="0">
                <a:latin typeface="Calibri" panose="020F0502020204030204" pitchFamily="34" charset="0"/>
                <a:cs typeface="Calibri" panose="020F0502020204030204" pitchFamily="34" charset="0"/>
              </a:rPr>
              <a:t>Probability</a:t>
            </a:r>
            <a:endParaRPr lang="en-AU" sz="3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91345" y="837124"/>
            <a:ext cx="116839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EQ – </a:t>
            </a: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What is the difference between complementary and mutually exclusive events?</a:t>
            </a:r>
            <a:endParaRPr lang="en-AU" sz="2399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6A9E84E-8513-465B-8CA9-D1DD4FAC2317}"/>
              </a:ext>
            </a:extLst>
          </p:cNvPr>
          <p:cNvSpPr txBox="1"/>
          <p:nvPr/>
        </p:nvSpPr>
        <p:spPr>
          <a:xfrm>
            <a:off x="124245" y="5756432"/>
            <a:ext cx="2027738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399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399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399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399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399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747037-0930-4608-9244-6EA1A615E4D2}"/>
              </a:ext>
            </a:extLst>
          </p:cNvPr>
          <p:cNvSpPr txBox="1"/>
          <p:nvPr/>
        </p:nvSpPr>
        <p:spPr>
          <a:xfrm>
            <a:off x="9461016" y="65433"/>
            <a:ext cx="241430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Date: XX/XX/2021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E7DBEFA-5572-4C2C-BC9A-B8764185D513}"/>
              </a:ext>
            </a:extLst>
          </p:cNvPr>
          <p:cNvSpPr txBox="1"/>
          <p:nvPr/>
        </p:nvSpPr>
        <p:spPr>
          <a:xfrm>
            <a:off x="85300" y="1473134"/>
            <a:ext cx="19314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42900"/>
            <a:r>
              <a:rPr lang="en-US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 is an inclusive event?</a:t>
            </a:r>
            <a:endParaRPr lang="en-AU" sz="2400" b="1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11EE6C4-B3F6-4EAE-92CD-66D57340A6CA}"/>
              </a:ext>
            </a:extLst>
          </p:cNvPr>
          <p:cNvSpPr txBox="1"/>
          <p:nvPr/>
        </p:nvSpPr>
        <p:spPr>
          <a:xfrm>
            <a:off x="2287185" y="1411763"/>
            <a:ext cx="844662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Calibri" panose="020F0502020204030204" pitchFamily="34" charset="0"/>
                <a:cs typeface="Calibri" panose="020F0502020204030204" pitchFamily="34" charset="0"/>
              </a:rPr>
              <a:t>Outcomes that can happen at the same time, such as having black hair and wearing glasses are called inclusive events.</a:t>
            </a:r>
          </a:p>
        </p:txBody>
      </p:sp>
    </p:spTree>
    <p:extLst>
      <p:ext uri="{BB962C8B-B14F-4D97-AF65-F5344CB8AC3E}">
        <p14:creationId xmlns:p14="http://schemas.microsoft.com/office/powerpoint/2010/main" val="3731347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3A8EC506-B1DA-46A1-B44D-774E68468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1" name="Oval 5">
            <a:extLst>
              <a:ext uri="{FF2B5EF4-FFF2-40B4-BE49-F238E27FC236}">
                <a16:creationId xmlns:a16="http://schemas.microsoft.com/office/drawing/2014/main" id="{BFF30785-305E-45D7-984F-5AA93D3CA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5E01FA5-D766-43CA-A83D-E7CF3F04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CA73784B-AC76-4BAD-93AF-C72D0EDFD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726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7CD7D9D-4CFC-46C0-B763-9EC5331A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805" y="640080"/>
            <a:ext cx="3768940" cy="30348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kern="1200" cap="all" spc="20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Pairs Task(LHS)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11DCF04-0C7C-44FC-8246-FC8D736B1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0698" y="3765314"/>
            <a:ext cx="320040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4804064" y="2075270"/>
            <a:ext cx="6096000" cy="270843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ts val="1200"/>
              </a:spcAft>
            </a:pPr>
            <a:r>
              <a:rPr lang="en-GB" sz="3200" dirty="0">
                <a:latin typeface="Calibri" panose="020F0502020204030204" pitchFamily="34" charset="0"/>
                <a:cs typeface="Calibri" panose="020F0502020204030204" pitchFamily="34" charset="0"/>
              </a:rPr>
              <a:t>Brainstorm: How many mutually exclusive event examples can you come up with in 1 min?</a:t>
            </a:r>
          </a:p>
          <a:p>
            <a:pPr>
              <a:spcAft>
                <a:spcPts val="1200"/>
              </a:spcAft>
            </a:pPr>
            <a:r>
              <a:rPr lang="en-GB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Vivos</a:t>
            </a:r>
            <a:r>
              <a:rPr lang="en-GB" sz="3200" dirty="0">
                <a:latin typeface="Calibri" panose="020F0502020204030204" pitchFamily="34" charset="0"/>
                <a:cs typeface="Calibri" panose="020F0502020204030204" pitchFamily="34" charset="0"/>
              </a:rPr>
              <a:t> for the group with the most correct answers!</a:t>
            </a:r>
          </a:p>
        </p:txBody>
      </p:sp>
    </p:spTree>
    <p:extLst>
      <p:ext uri="{BB962C8B-B14F-4D97-AF65-F5344CB8AC3E}">
        <p14:creationId xmlns:p14="http://schemas.microsoft.com/office/powerpoint/2010/main" val="747060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456783" y="1298662"/>
            <a:ext cx="0" cy="555933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0542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Topic: </a:t>
            </a:r>
            <a:r>
              <a:rPr lang="en-AU" sz="3200" dirty="0">
                <a:latin typeface="Calibri" panose="020F0502020204030204" pitchFamily="34" charset="0"/>
                <a:cs typeface="Calibri" panose="020F0502020204030204" pitchFamily="34" charset="0"/>
              </a:rPr>
              <a:t>Probability</a:t>
            </a:r>
            <a:endParaRPr lang="en-AU" sz="3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91345" y="837124"/>
            <a:ext cx="116839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EQ – </a:t>
            </a: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What is the difference between complementary and mutually exclusive events?</a:t>
            </a:r>
            <a:endParaRPr lang="en-AU" sz="2399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6A9E84E-8513-465B-8CA9-D1DD4FAC2317}"/>
              </a:ext>
            </a:extLst>
          </p:cNvPr>
          <p:cNvSpPr txBox="1"/>
          <p:nvPr/>
        </p:nvSpPr>
        <p:spPr>
          <a:xfrm>
            <a:off x="124245" y="5756432"/>
            <a:ext cx="2027738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399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399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399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399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399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747037-0930-4608-9244-6EA1A615E4D2}"/>
              </a:ext>
            </a:extLst>
          </p:cNvPr>
          <p:cNvSpPr txBox="1"/>
          <p:nvPr/>
        </p:nvSpPr>
        <p:spPr>
          <a:xfrm>
            <a:off x="9461016" y="65433"/>
            <a:ext cx="241430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Date: XX/XX/2021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E7DBEFA-5572-4C2C-BC9A-B8764185D513}"/>
              </a:ext>
            </a:extLst>
          </p:cNvPr>
          <p:cNvSpPr txBox="1"/>
          <p:nvPr/>
        </p:nvSpPr>
        <p:spPr>
          <a:xfrm>
            <a:off x="85299" y="1473134"/>
            <a:ext cx="23714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42900"/>
            <a:r>
              <a:rPr lang="en-US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 is a complementary event?</a:t>
            </a:r>
            <a:endParaRPr lang="en-AU" sz="2400" b="1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11EE6C4-B3F6-4EAE-92CD-66D57340A6CA}"/>
              </a:ext>
            </a:extLst>
          </p:cNvPr>
          <p:cNvSpPr txBox="1"/>
          <p:nvPr/>
        </p:nvSpPr>
        <p:spPr>
          <a:xfrm>
            <a:off x="2700274" y="1421543"/>
            <a:ext cx="844662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Calibri" panose="020F0502020204030204" pitchFamily="34" charset="0"/>
                <a:cs typeface="Calibri" panose="020F0502020204030204" pitchFamily="34" charset="0"/>
              </a:rPr>
              <a:t>For any outcome/event, the complement of that outcome is the event </a:t>
            </a:r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not </a:t>
            </a:r>
            <a:r>
              <a:rPr lang="en-GB" sz="2800" dirty="0">
                <a:latin typeface="Calibri" panose="020F0502020204030204" pitchFamily="34" charset="0"/>
                <a:cs typeface="Calibri" panose="020F0502020204030204" pitchFamily="34" charset="0"/>
              </a:rPr>
              <a:t>happening.</a:t>
            </a:r>
          </a:p>
          <a:p>
            <a:br>
              <a:rPr lang="en-GB" sz="2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2800" dirty="0">
                <a:latin typeface="Calibri" panose="020F0502020204030204" pitchFamily="34" charset="0"/>
                <a:cs typeface="Calibri" panose="020F0502020204030204" pitchFamily="34" charset="0"/>
              </a:rPr>
              <a:t>E.g. The complement of a coin landing on heads is a coin </a:t>
            </a:r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not</a:t>
            </a:r>
            <a:r>
              <a:rPr lang="en-GB" sz="2800" dirty="0">
                <a:latin typeface="Calibri" panose="020F0502020204030204" pitchFamily="34" charset="0"/>
                <a:cs typeface="Calibri" panose="020F0502020204030204" pitchFamily="34" charset="0"/>
              </a:rPr>
              <a:t> landing on heads.</a:t>
            </a:r>
          </a:p>
          <a:p>
            <a:endParaRPr lang="en-GB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sz="2800" b="1" dirty="0">
                <a:latin typeface="Calibri" panose="020F0502020204030204" pitchFamily="34" charset="0"/>
                <a:cs typeface="Calibri" panose="020F0502020204030204" pitchFamily="34" charset="0"/>
              </a:rPr>
              <a:t>The complement of event “A” is “not event A” -  We write this as A’</a:t>
            </a:r>
          </a:p>
          <a:p>
            <a:endParaRPr lang="en-AU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The sum of the probability of an event and its complement equals 1.</a:t>
            </a:r>
          </a:p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P(A) + P(A’) = 1</a:t>
            </a:r>
          </a:p>
        </p:txBody>
      </p:sp>
    </p:spTree>
    <p:extLst>
      <p:ext uri="{BB962C8B-B14F-4D97-AF65-F5344CB8AC3E}">
        <p14:creationId xmlns:p14="http://schemas.microsoft.com/office/powerpoint/2010/main" val="999855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A8EC506-B1DA-46A1-B44D-774E68468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>
            <a:extLst>
              <a:ext uri="{FF2B5EF4-FFF2-40B4-BE49-F238E27FC236}">
                <a16:creationId xmlns:a16="http://schemas.microsoft.com/office/drawing/2014/main" id="{BFF30785-305E-45D7-984F-5AA93D3CA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5E01FA5-D766-43CA-A83D-E7CF3F04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2DD0C21-8FEE-4C18-8789-CC8ABE206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1.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4B51757-7607-4CEA-A0EE-3C5BDC2C1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1998"/>
            <a:ext cx="12188952" cy="2285543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56C4DE-639B-4D08-A6C4-80C538BC4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2265" y="4989786"/>
            <a:ext cx="7767721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kern="1200" cap="all" spc="200" baseline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Task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EF39256-F095-41C8-8707-6C1A665E8F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406507" y="5220212"/>
            <a:ext cx="0" cy="914400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76089" y="170793"/>
            <a:ext cx="1119293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Answer the following on your LHS:</a:t>
            </a:r>
          </a:p>
          <a:p>
            <a:endParaRPr lang="en-AU" sz="2800" dirty="0"/>
          </a:p>
          <a:p>
            <a:r>
              <a:rPr lang="en-AU" sz="2800" dirty="0"/>
              <a:t>1.A box contains snack bags of potato chips.  The probability of drawing the following flavours at random are:</a:t>
            </a:r>
          </a:p>
          <a:p>
            <a:endParaRPr lang="en-AU" sz="2800" dirty="0"/>
          </a:p>
          <a:p>
            <a:r>
              <a:rPr lang="en-AU" sz="2800" dirty="0"/>
              <a:t>P (salt and vinegar) = 2/5    	P (Chicken) = 1/3</a:t>
            </a:r>
          </a:p>
          <a:p>
            <a:r>
              <a:rPr lang="en-AU" sz="2800" dirty="0"/>
              <a:t>The box also contains cheese and onion chips.</a:t>
            </a:r>
            <a:br>
              <a:rPr lang="en-AU" sz="2800" dirty="0"/>
            </a:br>
            <a:r>
              <a:rPr lang="en-AU" sz="2800" dirty="0"/>
              <a:t>a) What is the probability of drawing a bag of cheese and onion chips at random from the box?</a:t>
            </a:r>
          </a:p>
          <a:p>
            <a:r>
              <a:rPr lang="en-AU" sz="2800" dirty="0"/>
              <a:t>b) If there are </a:t>
            </a:r>
            <a:r>
              <a:rPr lang="en-AU" sz="2800"/>
              <a:t>30 bags </a:t>
            </a:r>
            <a:r>
              <a:rPr lang="en-AU" sz="2800" dirty="0"/>
              <a:t>in a </a:t>
            </a:r>
            <a:r>
              <a:rPr lang="en-AU" sz="2800"/>
              <a:t>box, how </a:t>
            </a:r>
            <a:r>
              <a:rPr lang="en-AU" sz="2800" dirty="0"/>
              <a:t>many are there of each flavour?</a:t>
            </a:r>
          </a:p>
        </p:txBody>
      </p:sp>
    </p:spTree>
    <p:extLst>
      <p:ext uri="{BB962C8B-B14F-4D97-AF65-F5344CB8AC3E}">
        <p14:creationId xmlns:p14="http://schemas.microsoft.com/office/powerpoint/2010/main" val="11276604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A8EC506-B1DA-46A1-B44D-774E68468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>
            <a:extLst>
              <a:ext uri="{FF2B5EF4-FFF2-40B4-BE49-F238E27FC236}">
                <a16:creationId xmlns:a16="http://schemas.microsoft.com/office/drawing/2014/main" id="{BFF30785-305E-45D7-984F-5AA93D3CA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5E01FA5-D766-43CA-A83D-E7CF3F04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2DD0C21-8FEE-4C18-8789-CC8ABE206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1.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4B51757-7607-4CEA-A0EE-3C5BDC2C1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1998"/>
            <a:ext cx="12188952" cy="2285543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56C4DE-639B-4D08-A6C4-80C538BC4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2265" y="4989786"/>
            <a:ext cx="8145972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b="1" kern="1200" cap="all" spc="200" baseline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Task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EF39256-F095-41C8-8707-6C1A665E8F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406507" y="5220212"/>
            <a:ext cx="0" cy="914400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76089" y="170793"/>
            <a:ext cx="11192933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Answer the following on your LHS:</a:t>
            </a:r>
          </a:p>
          <a:p>
            <a:endParaRPr lang="en-AU" sz="2800" dirty="0"/>
          </a:p>
          <a:p>
            <a:r>
              <a:rPr lang="en-AU" sz="2800" dirty="0"/>
              <a:t>2. When selecting a card from a normal deck of 52 cards that have been shuffled, what is the probability of:</a:t>
            </a:r>
          </a:p>
          <a:p>
            <a:pPr marL="342900" indent="-342900">
              <a:buAutoNum type="alphaLcParenR"/>
            </a:pPr>
            <a:r>
              <a:rPr lang="en-AU" sz="2800" dirty="0"/>
              <a:t>Selecting a heart?</a:t>
            </a:r>
          </a:p>
          <a:p>
            <a:pPr marL="342900" indent="-342900">
              <a:buAutoNum type="alphaLcParenR"/>
            </a:pPr>
            <a:r>
              <a:rPr lang="en-AU" sz="2800" dirty="0"/>
              <a:t>Selecting a suit other than hearts?</a:t>
            </a:r>
          </a:p>
          <a:p>
            <a:pPr marL="342900" indent="-342900">
              <a:buAutoNum type="alphaLcParenR"/>
            </a:pPr>
            <a:r>
              <a:rPr lang="en-AU" sz="2800" dirty="0"/>
              <a:t>P (ace)</a:t>
            </a:r>
          </a:p>
          <a:p>
            <a:pPr marL="342900" indent="-342900">
              <a:buAutoNum type="alphaLcParenR"/>
            </a:pPr>
            <a:r>
              <a:rPr lang="en-AU" sz="2800" dirty="0"/>
              <a:t>P (King’)</a:t>
            </a:r>
          </a:p>
          <a:p>
            <a:pPr marL="342900" indent="-342900">
              <a:buAutoNum type="alphaLcParenR"/>
            </a:pPr>
            <a:r>
              <a:rPr lang="en-AU" sz="2800" dirty="0"/>
              <a:t>P (picture card K/Q/J)</a:t>
            </a:r>
          </a:p>
          <a:p>
            <a:pPr marL="342900" indent="-342900">
              <a:buAutoNum type="alphaLcParenR"/>
            </a:pP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4149348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A8EC506-B1DA-46A1-B44D-774E68468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>
            <a:extLst>
              <a:ext uri="{FF2B5EF4-FFF2-40B4-BE49-F238E27FC236}">
                <a16:creationId xmlns:a16="http://schemas.microsoft.com/office/drawing/2014/main" id="{BFF30785-305E-45D7-984F-5AA93D3CA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5E01FA5-D766-43CA-A83D-E7CF3F04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2DD0C21-8FEE-4C18-8789-CC8ABE206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1.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4B51757-7607-4CEA-A0EE-3C5BDC2C1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1998"/>
            <a:ext cx="12188952" cy="2285543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56C4DE-639B-4D08-A6C4-80C538BC4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2265" y="4989786"/>
            <a:ext cx="7767721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kern="1200" cap="all" spc="200" baseline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Task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EF39256-F095-41C8-8707-6C1A665E8F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406507" y="5220212"/>
            <a:ext cx="0" cy="914400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76089" y="170793"/>
            <a:ext cx="11192933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Answer the following on your LHS:</a:t>
            </a:r>
          </a:p>
          <a:p>
            <a:endParaRPr lang="en-AU" sz="2800" dirty="0"/>
          </a:p>
          <a:p>
            <a:r>
              <a:rPr lang="en-AU" sz="2800" dirty="0"/>
              <a:t>3. Estimate the following probabilities</a:t>
            </a:r>
          </a:p>
          <a:p>
            <a:r>
              <a:rPr lang="en-AU" sz="2800" dirty="0"/>
              <a:t>a) What is the probability of it raining tomorrow?</a:t>
            </a:r>
          </a:p>
          <a:p>
            <a:r>
              <a:rPr lang="en-AU" sz="2800" dirty="0"/>
              <a:t>b) What is the complement of it raining tomorrow?</a:t>
            </a:r>
            <a:br>
              <a:rPr lang="en-AU" sz="2800" dirty="0"/>
            </a:br>
            <a:r>
              <a:rPr lang="en-AU" sz="2800" dirty="0"/>
              <a:t>c) Why did you give the above answer? What did you base it on?</a:t>
            </a:r>
          </a:p>
          <a:p>
            <a:pPr marL="342900" indent="-342900">
              <a:buAutoNum type="alphaLcParenR"/>
            </a:pP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26031834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3A8EC506-B1DA-46A1-B44D-774E68468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1" name="Oval 5">
            <a:extLst>
              <a:ext uri="{FF2B5EF4-FFF2-40B4-BE49-F238E27FC236}">
                <a16:creationId xmlns:a16="http://schemas.microsoft.com/office/drawing/2014/main" id="{BFF30785-305E-45D7-984F-5AA93D3CA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5E01FA5-D766-43CA-A83D-E7CF3F04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CA73784B-AC76-4BAD-93AF-C72D0EDFD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726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7CD7D9D-4CFC-46C0-B763-9EC5331A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805" y="640080"/>
            <a:ext cx="3768940" cy="30348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kern="1200" cap="all" spc="20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Group Task(LHS)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11DCF04-0C7C-44FC-8246-FC8D736B1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0698" y="3765314"/>
            <a:ext cx="320040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3901098" y="301764"/>
            <a:ext cx="7151024" cy="66171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GB" sz="3200" dirty="0">
                <a:latin typeface="Calibri" panose="020F0502020204030204" pitchFamily="34" charset="0"/>
                <a:cs typeface="Calibri" panose="020F0502020204030204" pitchFamily="34" charset="0"/>
              </a:rPr>
              <a:t>Dice roll simulation:</a:t>
            </a:r>
            <a:br>
              <a:rPr lang="en-GB" sz="3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3200" dirty="0">
                <a:latin typeface="Calibri" panose="020F0502020204030204" pitchFamily="34" charset="0"/>
                <a:cs typeface="Calibri" panose="020F0502020204030204" pitchFamily="34" charset="0"/>
              </a:rPr>
              <a:t>1) Draw up the following table in your LHS and decide who will be player 1, who will be player 2 and who will be rolling.</a:t>
            </a:r>
          </a:p>
          <a:p>
            <a:pPr>
              <a:spcAft>
                <a:spcPts val="1200"/>
              </a:spcAft>
            </a:pPr>
            <a:endParaRPr lang="en-GB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1200"/>
              </a:spcAft>
            </a:pPr>
            <a:endParaRPr lang="en-GB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1200"/>
              </a:spcAft>
            </a:pPr>
            <a:r>
              <a:rPr lang="en-GB" sz="3200" dirty="0">
                <a:latin typeface="Calibri" panose="020F0502020204030204" pitchFamily="34" charset="0"/>
                <a:cs typeface="Calibri" panose="020F0502020204030204" pitchFamily="34" charset="0"/>
              </a:rPr>
              <a:t>2) Roll both dice.  If the two numbers add up to an even sum – Player 1 wins, if the numbers add up to an odd sum Player 2 wins.</a:t>
            </a:r>
          </a:p>
          <a:p>
            <a:pPr>
              <a:spcAft>
                <a:spcPts val="1200"/>
              </a:spcAft>
            </a:pPr>
            <a:r>
              <a:rPr lang="en-GB" sz="3200" dirty="0">
                <a:latin typeface="Calibri" panose="020F0502020204030204" pitchFamily="34" charset="0"/>
                <a:cs typeface="Calibri" panose="020F0502020204030204" pitchFamily="34" charset="0"/>
              </a:rPr>
              <a:t>3) Play for 10 rounds and record your wins in the table for each round.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7909392"/>
              </p:ext>
            </p:extLst>
          </p:nvPr>
        </p:nvGraphicFramePr>
        <p:xfrm>
          <a:off x="3901098" y="2454689"/>
          <a:ext cx="745270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4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42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842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Player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Player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Predicted Wins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Actual Wins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20912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3A8EC506-B1DA-46A1-B44D-774E68468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1" name="Oval 5">
            <a:extLst>
              <a:ext uri="{FF2B5EF4-FFF2-40B4-BE49-F238E27FC236}">
                <a16:creationId xmlns:a16="http://schemas.microsoft.com/office/drawing/2014/main" id="{BFF30785-305E-45D7-984F-5AA93D3CA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5E01FA5-D766-43CA-A83D-E7CF3F04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CA73784B-AC76-4BAD-93AF-C72D0EDFD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726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7CD7D9D-4CFC-46C0-B763-9EC5331A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805" y="640080"/>
            <a:ext cx="3768940" cy="30348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kern="1200" cap="all" spc="20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Group Task(LHS)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11DCF04-0C7C-44FC-8246-FC8D736B1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0698" y="3765314"/>
            <a:ext cx="320040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3901098" y="301764"/>
            <a:ext cx="7151024" cy="57861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GB" sz="3200" dirty="0">
                <a:latin typeface="Calibri" panose="020F0502020204030204" pitchFamily="34" charset="0"/>
                <a:cs typeface="Calibri" panose="020F0502020204030204" pitchFamily="34" charset="0"/>
              </a:rPr>
              <a:t>Dice roll simulation:</a:t>
            </a:r>
            <a:br>
              <a:rPr lang="en-GB" sz="3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3200" dirty="0">
                <a:latin typeface="Calibri" panose="020F0502020204030204" pitchFamily="34" charset="0"/>
                <a:cs typeface="Calibri" panose="020F0502020204030204" pitchFamily="34" charset="0"/>
              </a:rPr>
              <a:t>4) Calculate the Probability for:</a:t>
            </a:r>
            <a:br>
              <a:rPr lang="en-GB" sz="3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3200" dirty="0">
                <a:latin typeface="Calibri" panose="020F0502020204030204" pitchFamily="34" charset="0"/>
                <a:cs typeface="Calibri" panose="020F0502020204030204" pitchFamily="34" charset="0"/>
              </a:rPr>
              <a:t>a) Predicted wins for Player 1</a:t>
            </a:r>
          </a:p>
          <a:p>
            <a:pPr>
              <a:spcAft>
                <a:spcPts val="1200"/>
              </a:spcAft>
            </a:pPr>
            <a:r>
              <a:rPr lang="en-GB" sz="3200" dirty="0">
                <a:latin typeface="Calibri" panose="020F0502020204030204" pitchFamily="34" charset="0"/>
                <a:cs typeface="Calibri" panose="020F0502020204030204" pitchFamily="34" charset="0"/>
              </a:rPr>
              <a:t>b) Actual wins for Player 1</a:t>
            </a:r>
          </a:p>
          <a:p>
            <a:pPr>
              <a:spcAft>
                <a:spcPts val="1200"/>
              </a:spcAft>
            </a:pPr>
            <a:r>
              <a:rPr lang="en-GB" sz="3200" dirty="0">
                <a:latin typeface="Calibri" panose="020F0502020204030204" pitchFamily="34" charset="0"/>
                <a:cs typeface="Calibri" panose="020F0502020204030204" pitchFamily="34" charset="0"/>
              </a:rPr>
              <a:t>c) The complement for Player 1 predicted</a:t>
            </a:r>
          </a:p>
          <a:p>
            <a:pPr>
              <a:spcAft>
                <a:spcPts val="1200"/>
              </a:spcAft>
            </a:pPr>
            <a:r>
              <a:rPr lang="en-GB" sz="3200" dirty="0">
                <a:latin typeface="Calibri" panose="020F0502020204030204" pitchFamily="34" charset="0"/>
                <a:cs typeface="Calibri" panose="020F0502020204030204" pitchFamily="34" charset="0"/>
              </a:rPr>
              <a:t>d) The complement for Player 2 predicted</a:t>
            </a:r>
          </a:p>
          <a:p>
            <a:pPr>
              <a:spcAft>
                <a:spcPts val="1200"/>
              </a:spcAft>
            </a:pPr>
            <a:r>
              <a:rPr lang="en-GB" sz="3200" dirty="0">
                <a:latin typeface="Calibri" panose="020F0502020204030204" pitchFamily="34" charset="0"/>
                <a:cs typeface="Calibri" panose="020F0502020204030204" pitchFamily="34" charset="0"/>
              </a:rPr>
              <a:t>Which of the players had the highest probability of winning?</a:t>
            </a:r>
            <a:br>
              <a:rPr lang="en-GB" sz="3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3200" dirty="0">
                <a:latin typeface="Calibri" panose="020F0502020204030204" pitchFamily="34" charset="0"/>
                <a:cs typeface="Calibri" panose="020F0502020204030204" pitchFamily="34" charset="0"/>
              </a:rPr>
              <a:t>Why?</a:t>
            </a:r>
          </a:p>
          <a:p>
            <a:pPr>
              <a:spcAft>
                <a:spcPts val="1200"/>
              </a:spcAft>
            </a:pPr>
            <a:endParaRPr lang="en-GB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6529942"/>
              </p:ext>
            </p:extLst>
          </p:nvPr>
        </p:nvGraphicFramePr>
        <p:xfrm>
          <a:off x="4038258" y="5531703"/>
          <a:ext cx="745270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4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42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842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Player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Player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Predicted Wins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Actual Wins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06997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A8EC506-B1DA-46A1-B44D-774E68468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>
            <a:extLst>
              <a:ext uri="{FF2B5EF4-FFF2-40B4-BE49-F238E27FC236}">
                <a16:creationId xmlns:a16="http://schemas.microsoft.com/office/drawing/2014/main" id="{BFF30785-305E-45D7-984F-5AA93D3CA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5E01FA5-D766-43CA-A83D-E7CF3F04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2DD0C21-8FEE-4C18-8789-CC8ABE206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1.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4B51757-7607-4CEA-A0EE-3C5BDC2C1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1998"/>
            <a:ext cx="12188952" cy="2285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56C4DE-639B-4D08-A6C4-80C538BC4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2265" y="4989786"/>
            <a:ext cx="7767721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kern="1200" cap="all" spc="200" baseline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Task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EF39256-F095-41C8-8707-6C1A665E8F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406507" y="5220212"/>
            <a:ext cx="0" cy="914400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76089" y="170793"/>
            <a:ext cx="1119293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Complete Ex 6.1 Q1 – 6 in Nelson WA Maths 10 on </a:t>
            </a:r>
            <a:r>
              <a:rPr lang="en-AU" sz="2800" dirty="0" err="1"/>
              <a:t>pg</a:t>
            </a:r>
            <a:r>
              <a:rPr lang="en-AU" sz="2800" dirty="0"/>
              <a:t> 235</a:t>
            </a:r>
          </a:p>
          <a:p>
            <a:r>
              <a:rPr lang="en-AU" sz="2800" dirty="0"/>
              <a:t>Or Ex 8.1 (all) in Dwyer 10 Maths on </a:t>
            </a:r>
            <a:r>
              <a:rPr lang="en-AU" sz="2800" dirty="0" err="1"/>
              <a:t>pg</a:t>
            </a:r>
            <a:r>
              <a:rPr lang="en-AU" sz="2800" dirty="0"/>
              <a:t> 104</a:t>
            </a:r>
          </a:p>
          <a:p>
            <a:endParaRPr lang="en-AU" sz="2800" dirty="0"/>
          </a:p>
          <a:p>
            <a:r>
              <a:rPr lang="en-AU" sz="2800" dirty="0"/>
              <a:t>And</a:t>
            </a:r>
          </a:p>
          <a:p>
            <a:endParaRPr lang="en-AU" sz="2800" dirty="0"/>
          </a:p>
          <a:p>
            <a:r>
              <a:rPr lang="en-AU" sz="2800" dirty="0"/>
              <a:t>Complete your summary for the lesson </a:t>
            </a:r>
          </a:p>
        </p:txBody>
      </p:sp>
    </p:spTree>
    <p:extLst>
      <p:ext uri="{BB962C8B-B14F-4D97-AF65-F5344CB8AC3E}">
        <p14:creationId xmlns:p14="http://schemas.microsoft.com/office/powerpoint/2010/main" val="42250031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607</TotalTime>
  <Words>1041</Words>
  <Application>Microsoft Office PowerPoint</Application>
  <PresentationFormat>Widescreen</PresentationFormat>
  <Paragraphs>127</Paragraphs>
  <Slides>14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Calibri</vt:lpstr>
      <vt:lpstr>Tw Cen MT</vt:lpstr>
      <vt:lpstr>Tw Cen MT Condensed</vt:lpstr>
      <vt:lpstr>Wingdings 3</vt:lpstr>
      <vt:lpstr>Integral</vt:lpstr>
      <vt:lpstr>Topic: Probability EQ: What is the difference between complementary and mutually exclusive events?</vt:lpstr>
      <vt:lpstr>Five Questions</vt:lpstr>
      <vt:lpstr>PowerPoint Presentation</vt:lpstr>
      <vt:lpstr>PowerPoint Presentation</vt:lpstr>
      <vt:lpstr>Quick check (LHS)</vt:lpstr>
      <vt:lpstr>PowerPoint Presentation</vt:lpstr>
      <vt:lpstr>Pairs Task(LHS)</vt:lpstr>
      <vt:lpstr>PowerPoint Presentation</vt:lpstr>
      <vt:lpstr>Task</vt:lpstr>
      <vt:lpstr>Task</vt:lpstr>
      <vt:lpstr>Task</vt:lpstr>
      <vt:lpstr>Group Task(LHS)</vt:lpstr>
      <vt:lpstr>Group Task(LHS)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Time EQ: How do I convert between Hours, Minutes, and Seconds?</dc:title>
  <dc:creator>PARLEVLIET Magdeline [Baldivis Secondary College]</dc:creator>
  <cp:lastModifiedBy>Coz W</cp:lastModifiedBy>
  <cp:revision>38</cp:revision>
  <dcterms:created xsi:type="dcterms:W3CDTF">2021-09-13T16:02:36Z</dcterms:created>
  <dcterms:modified xsi:type="dcterms:W3CDTF">2021-10-12T06:19:44Z</dcterms:modified>
</cp:coreProperties>
</file>
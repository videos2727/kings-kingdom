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89" r:id="rId2"/>
    <p:sldId id="306" r:id="rId3"/>
    <p:sldId id="326" r:id="rId4"/>
    <p:sldId id="264" r:id="rId5"/>
    <p:sldId id="266" r:id="rId6"/>
    <p:sldId id="343" r:id="rId7"/>
    <p:sldId id="263" r:id="rId8"/>
    <p:sldId id="265" r:id="rId9"/>
    <p:sldId id="349" r:id="rId10"/>
    <p:sldId id="346" r:id="rId11"/>
    <p:sldId id="347" r:id="rId12"/>
    <p:sldId id="348" r:id="rId13"/>
    <p:sldId id="350" r:id="rId14"/>
    <p:sldId id="351" r:id="rId15"/>
    <p:sldId id="354" r:id="rId16"/>
    <p:sldId id="352" r:id="rId17"/>
    <p:sldId id="353" r:id="rId18"/>
    <p:sldId id="340" r:id="rId19"/>
    <p:sldId id="344" r:id="rId20"/>
    <p:sldId id="260" r:id="rId21"/>
    <p:sldId id="275" r:id="rId22"/>
    <p:sldId id="345" r:id="rId23"/>
    <p:sldId id="25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2" d="100"/>
          <a:sy n="62" d="100"/>
        </p:scale>
        <p:origin x="1400" y="7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41FBB1-E461-4EE2-8064-F0C5B06BD487}" type="datetimeFigureOut">
              <a:rPr lang="en-US" smtClean="0"/>
              <a:t>10/15/2021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10EBA9-1C23-4FC6-AAC6-74DECE9A3A3D}" type="slidenum">
              <a:rPr lang="en-US" smtClean="0"/>
              <a:t>‹#›</a:t>
            </a:fld>
            <a:endParaRPr lang="en-US"/>
          </a:p>
        </p:txBody>
      </p:sp>
    </p:spTree>
    <p:extLst>
      <p:ext uri="{BB962C8B-B14F-4D97-AF65-F5344CB8AC3E}">
        <p14:creationId xmlns:p14="http://schemas.microsoft.com/office/powerpoint/2010/main" val="3411567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1178029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 </a:t>
            </a:r>
          </a:p>
        </p:txBody>
      </p:sp>
      <p:sp>
        <p:nvSpPr>
          <p:cNvPr id="4" name="Slide Number Placeholder 3"/>
          <p:cNvSpPr>
            <a:spLocks noGrp="1"/>
          </p:cNvSpPr>
          <p:nvPr>
            <p:ph type="sldNum" sz="quarter" idx="10"/>
          </p:nvPr>
        </p:nvSpPr>
        <p:spPr/>
        <p:txBody>
          <a:bodyPr/>
          <a:lstStyle/>
          <a:p>
            <a:fld id="{A91AD3D9-0B11-4189-8D45-47537C1CF889}" type="slidenum">
              <a:rPr lang="en-AU" smtClean="0"/>
              <a:pPr/>
              <a:t>2</a:t>
            </a:fld>
            <a:endParaRPr lang="en-AU"/>
          </a:p>
        </p:txBody>
      </p:sp>
    </p:spTree>
    <p:extLst>
      <p:ext uri="{BB962C8B-B14F-4D97-AF65-F5344CB8AC3E}">
        <p14:creationId xmlns:p14="http://schemas.microsoft.com/office/powerpoint/2010/main" val="3541599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1259561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Make sure that you write these</a:t>
            </a:r>
            <a:r>
              <a:rPr lang="en-AU" baseline="0" dirty="0"/>
              <a:t> numbers to the side of the board to make constructing the class </a:t>
            </a:r>
            <a:r>
              <a:rPr lang="en-AU" baseline="0" dirty="0" err="1"/>
              <a:t>venn</a:t>
            </a:r>
            <a:r>
              <a:rPr lang="en-AU" baseline="0" dirty="0"/>
              <a:t> diagram for comparison easier.</a:t>
            </a:r>
            <a:endParaRPr lang="en-AU" dirty="0"/>
          </a:p>
        </p:txBody>
      </p:sp>
      <p:sp>
        <p:nvSpPr>
          <p:cNvPr id="4" name="Slide Number Placeholder 3"/>
          <p:cNvSpPr>
            <a:spLocks noGrp="1"/>
          </p:cNvSpPr>
          <p:nvPr>
            <p:ph type="sldNum" sz="quarter" idx="10"/>
          </p:nvPr>
        </p:nvSpPr>
        <p:spPr/>
        <p:txBody>
          <a:bodyPr/>
          <a:lstStyle/>
          <a:p>
            <a:fld id="{A910EBA9-1C23-4FC6-AAC6-74DECE9A3A3D}" type="slidenum">
              <a:rPr lang="en-US" smtClean="0"/>
              <a:t>10</a:t>
            </a:fld>
            <a:endParaRPr lang="en-US"/>
          </a:p>
        </p:txBody>
      </p:sp>
    </p:spTree>
    <p:extLst>
      <p:ext uri="{BB962C8B-B14F-4D97-AF65-F5344CB8AC3E}">
        <p14:creationId xmlns:p14="http://schemas.microsoft.com/office/powerpoint/2010/main" val="4182648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you take away the people who are neither from the class total, you should have what the 2 circles together add up to (union).  </a:t>
            </a:r>
            <a:br>
              <a:rPr lang="en-AU" dirty="0"/>
            </a:br>
            <a:r>
              <a:rPr lang="en-AU" dirty="0"/>
              <a:t>If you take all of the boys from that number (union),</a:t>
            </a:r>
            <a:r>
              <a:rPr lang="en-AU" baseline="0" dirty="0"/>
              <a:t> you will get the number that goes into the only 15 </a:t>
            </a:r>
            <a:r>
              <a:rPr lang="en-AU" baseline="0" dirty="0" err="1"/>
              <a:t>yrs</a:t>
            </a:r>
            <a:r>
              <a:rPr lang="en-AU" baseline="0" dirty="0"/>
              <a:t> section.</a:t>
            </a:r>
          </a:p>
          <a:p>
            <a:r>
              <a:rPr lang="en-AU" baseline="0" dirty="0"/>
              <a:t>If you take the number of 15 </a:t>
            </a:r>
            <a:r>
              <a:rPr lang="en-AU" baseline="0" dirty="0" err="1"/>
              <a:t>yrs</a:t>
            </a:r>
            <a:r>
              <a:rPr lang="en-AU" baseline="0" dirty="0"/>
              <a:t> from the total of the circles (union) then you will get the number only in the boys section and then you can work out the overlap.</a:t>
            </a:r>
            <a:endParaRPr lang="en-AU" dirty="0"/>
          </a:p>
        </p:txBody>
      </p:sp>
      <p:sp>
        <p:nvSpPr>
          <p:cNvPr id="4" name="Slide Number Placeholder 3"/>
          <p:cNvSpPr>
            <a:spLocks noGrp="1"/>
          </p:cNvSpPr>
          <p:nvPr>
            <p:ph type="sldNum" sz="quarter" idx="10"/>
          </p:nvPr>
        </p:nvSpPr>
        <p:spPr/>
        <p:txBody>
          <a:bodyPr/>
          <a:lstStyle/>
          <a:p>
            <a:fld id="{A910EBA9-1C23-4FC6-AAC6-74DECE9A3A3D}" type="slidenum">
              <a:rPr lang="en-US" smtClean="0"/>
              <a:t>14</a:t>
            </a:fld>
            <a:endParaRPr lang="en-US"/>
          </a:p>
        </p:txBody>
      </p:sp>
    </p:spTree>
    <p:extLst>
      <p:ext uri="{BB962C8B-B14F-4D97-AF65-F5344CB8AC3E}">
        <p14:creationId xmlns:p14="http://schemas.microsoft.com/office/powerpoint/2010/main" val="2206322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1332859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19</a:t>
            </a:fld>
            <a:endParaRPr lang="en-US"/>
          </a:p>
        </p:txBody>
      </p:sp>
    </p:spTree>
    <p:extLst>
      <p:ext uri="{BB962C8B-B14F-4D97-AF65-F5344CB8AC3E}">
        <p14:creationId xmlns:p14="http://schemas.microsoft.com/office/powerpoint/2010/main" val="30352475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FA01BDBF-F4FC-4BD8-8353-209347E61AA3}" type="datetimeFigureOut">
              <a:rPr lang="en-US" smtClean="0"/>
              <a:t>10/15/2021</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1359296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1BDBF-F4FC-4BD8-8353-209347E61AA3}" type="datetimeFigureOut">
              <a:rPr lang="en-US" smtClean="0"/>
              <a:t>10/15/2021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1866429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FA01BDBF-F4FC-4BD8-8353-209347E61AA3}" type="datetimeFigureOut">
              <a:rPr lang="en-US" smtClean="0"/>
              <a:t>10/15/2021</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3403999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01BDBF-F4FC-4BD8-8353-209347E61AA3}" type="datetimeFigureOut">
              <a:rPr lang="en-US" smtClean="0"/>
              <a:t>10/15/2021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2782589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01BDBF-F4FC-4BD8-8353-209347E61AA3}" type="datetimeFigureOut">
              <a:rPr lang="en-US" smtClean="0"/>
              <a:t>10/15/2021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153619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01BDBF-F4FC-4BD8-8353-209347E61AA3}" type="datetimeFigureOut">
              <a:rPr lang="en-US" smtClean="0"/>
              <a:t>10/15/2021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2016432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01BDBF-F4FC-4BD8-8353-209347E61AA3}" type="datetimeFigureOut">
              <a:rPr lang="en-US" smtClean="0"/>
              <a:t>10/15/2021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3099650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01BDBF-F4FC-4BD8-8353-209347E61AA3}" type="datetimeFigureOut">
              <a:rPr lang="en-US" smtClean="0"/>
              <a:t>10/15/2021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2054415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01BDBF-F4FC-4BD8-8353-209347E61AA3}" type="datetimeFigureOut">
              <a:rPr lang="en-US" smtClean="0"/>
              <a:t>10/15/2021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2269350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01BDBF-F4FC-4BD8-8353-209347E61AA3}" type="datetimeFigureOut">
              <a:rPr lang="en-US" smtClean="0"/>
              <a:t>10/15/2021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1763228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A01BDBF-F4FC-4BD8-8353-209347E61AA3}" type="datetimeFigureOut">
              <a:rPr lang="en-US" smtClean="0"/>
              <a:t>10/15/2021</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3195084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A01BDBF-F4FC-4BD8-8353-209347E61AA3}" type="datetimeFigureOut">
              <a:rPr lang="en-US" smtClean="0"/>
              <a:t>10/15/2021</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C384DA0-6F7A-44A9-ABED-D817F96A1244}"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92235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FA01BDBF-F4FC-4BD8-8353-209347E61AA3}" type="datetimeFigureOut">
              <a:rPr lang="en-US" smtClean="0"/>
              <a:t>10/15/2021</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25426873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FA01BDBF-F4FC-4BD8-8353-209347E61AA3}" type="datetimeFigureOut">
              <a:rPr lang="en-US" smtClean="0"/>
              <a:t>10/15/2021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13874953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FA01BDBF-F4FC-4BD8-8353-209347E61AA3}" type="datetimeFigureOut">
              <a:rPr lang="en-US" smtClean="0"/>
              <a:t>10/15/2021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40669406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1BDBF-F4FC-4BD8-8353-209347E61AA3}" type="datetimeFigureOut">
              <a:rPr lang="en-US" smtClean="0"/>
              <a:t>10/15/2021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489104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FA01BDBF-F4FC-4BD8-8353-209347E61AA3}" type="datetimeFigureOut">
              <a:rPr lang="en-US" smtClean="0"/>
              <a:t>10/15/2021</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C384DA0-6F7A-44A9-ABED-D817F96A1244}" type="slidenum">
              <a:rPr lang="en-US" smtClean="0"/>
              <a:t>‹#›</a:t>
            </a:fld>
            <a:endParaRPr lang="en-US"/>
          </a:p>
        </p:txBody>
      </p:sp>
    </p:spTree>
    <p:extLst>
      <p:ext uri="{BB962C8B-B14F-4D97-AF65-F5344CB8AC3E}">
        <p14:creationId xmlns:p14="http://schemas.microsoft.com/office/powerpoint/2010/main" val="4162808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A01BDBF-F4FC-4BD8-8353-209347E61AA3}" type="datetimeFigureOut">
              <a:rPr lang="en-US" smtClean="0"/>
              <a:t>10/15/2021</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C384DA0-6F7A-44A9-ABED-D817F96A1244}" type="slidenum">
              <a:rPr lang="en-US" smtClean="0"/>
              <a:t>‹#›</a:t>
            </a:fld>
            <a:endParaRPr lang="en-US"/>
          </a:p>
        </p:txBody>
      </p:sp>
    </p:spTree>
    <p:extLst>
      <p:ext uri="{BB962C8B-B14F-4D97-AF65-F5344CB8AC3E}">
        <p14:creationId xmlns:p14="http://schemas.microsoft.com/office/powerpoint/2010/main" val="2568194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71759" y="1697490"/>
            <a:ext cx="7766936" cy="1236891"/>
          </a:xfrm>
        </p:spPr>
        <p:txBody>
          <a:bodyPr>
            <a:normAutofit/>
          </a:bodyPr>
          <a:lstStyle/>
          <a:p>
            <a:r>
              <a:rPr lang="en-US" b="1" dirty="0">
                <a:solidFill>
                  <a:srgbClr val="0070C0"/>
                </a:solidFill>
                <a:latin typeface="Kiwi School Handwriting" panose="00000500000000000000" pitchFamily="2" charset="0"/>
              </a:rPr>
              <a:t>VENN Diagrams</a:t>
            </a:r>
            <a:endParaRPr lang="en-US" b="1" dirty="0">
              <a:solidFill>
                <a:srgbClr val="0070C0"/>
              </a:solidFill>
              <a:latin typeface="DJB Fancy Nancy" panose="02000500000000000000" pitchFamily="2" charset="0"/>
            </a:endParaRPr>
          </a:p>
        </p:txBody>
      </p:sp>
      <p:sp>
        <p:nvSpPr>
          <p:cNvPr id="3" name="Subtitle 2"/>
          <p:cNvSpPr>
            <a:spLocks noGrp="1"/>
          </p:cNvSpPr>
          <p:nvPr>
            <p:ph type="subTitle" idx="1"/>
          </p:nvPr>
        </p:nvSpPr>
        <p:spPr>
          <a:xfrm>
            <a:off x="1271759" y="3500278"/>
            <a:ext cx="9446339" cy="1040326"/>
          </a:xfrm>
        </p:spPr>
        <p:txBody>
          <a:bodyPr>
            <a:normAutofit/>
          </a:bodyPr>
          <a:lstStyle/>
          <a:p>
            <a:r>
              <a:rPr lang="en-US" sz="3200" b="1" dirty="0">
                <a:solidFill>
                  <a:schemeClr val="accent2">
                    <a:lumMod val="75000"/>
                  </a:schemeClr>
                </a:solidFill>
                <a:latin typeface="Kiwi School Handwriting" panose="00000500000000000000" pitchFamily="2" charset="0"/>
              </a:rPr>
              <a:t>Year 10 Mathematics</a:t>
            </a:r>
          </a:p>
        </p:txBody>
      </p:sp>
      <p:sp>
        <p:nvSpPr>
          <p:cNvPr id="4" name="Rectangle 3">
            <a:extLst>
              <a:ext uri="{FF2B5EF4-FFF2-40B4-BE49-F238E27FC236}">
                <a16:creationId xmlns:a16="http://schemas.microsoft.com/office/drawing/2014/main" id="{75543392-3F6D-430F-85B7-9B79A4D93A42}"/>
              </a:ext>
            </a:extLst>
          </p:cNvPr>
          <p:cNvSpPr/>
          <p:nvPr/>
        </p:nvSpPr>
        <p:spPr>
          <a:xfrm>
            <a:off x="1205990" y="2934381"/>
            <a:ext cx="8650797" cy="369332"/>
          </a:xfrm>
          <a:prstGeom prst="rect">
            <a:avLst/>
          </a:prstGeom>
        </p:spPr>
        <p:txBody>
          <a:bodyPr wrap="square">
            <a:spAutoFit/>
          </a:bodyPr>
          <a:lstStyle/>
          <a:p>
            <a:pPr defTabSz="914126"/>
            <a:r>
              <a:rPr lang="en-AU" b="1" dirty="0">
                <a:solidFill>
                  <a:prstClr val="black"/>
                </a:solidFill>
                <a:latin typeface="Kiwi School Handwriting" panose="00000500000000000000" pitchFamily="2" charset="0"/>
              </a:rPr>
              <a:t>EQ – How do we sort data using Venn Diagrams?</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Lesson objective</a:t>
            </a:r>
          </a:p>
        </p:txBody>
      </p:sp>
      <p:sp>
        <p:nvSpPr>
          <p:cNvPr id="3" name="Content Placeholder 2"/>
          <p:cNvSpPr>
            <a:spLocks noGrp="1"/>
          </p:cNvSpPr>
          <p:nvPr>
            <p:ph idx="1"/>
          </p:nvPr>
        </p:nvSpPr>
        <p:spPr/>
        <p:txBody>
          <a:bodyPr/>
          <a:lstStyle/>
          <a:p>
            <a:pPr marL="0" indent="0">
              <a:buNone/>
            </a:pPr>
            <a:r>
              <a:rPr lang="en-AU" dirty="0"/>
              <a:t>By the end of this lesson you will be able to;</a:t>
            </a:r>
          </a:p>
          <a:p>
            <a:pPr>
              <a:buFontTx/>
              <a:buChar char="-"/>
            </a:pPr>
            <a:r>
              <a:rPr lang="en-AU" dirty="0"/>
              <a:t>Construct and uses </a:t>
            </a:r>
            <a:r>
              <a:rPr lang="en-AU" dirty="0" err="1"/>
              <a:t>venn</a:t>
            </a:r>
            <a:r>
              <a:rPr lang="en-AU" dirty="0"/>
              <a:t> diagrams to calculate probabilities</a:t>
            </a:r>
          </a:p>
          <a:p>
            <a:pPr marL="0" indent="0">
              <a:buNone/>
            </a:pPr>
            <a:endParaRPr lang="en-AU" dirty="0"/>
          </a:p>
          <a:p>
            <a:pPr>
              <a:buFontTx/>
              <a:buChar char="-"/>
            </a:pPr>
            <a:r>
              <a:rPr lang="en-AU" dirty="0"/>
              <a:t>List outcomes for two and three-step chance experiments using tree diagrams, 2 way tables (arrays) and Venn diagrams as required, with or without replacement, and calculate the probability of outcomes. </a:t>
            </a:r>
          </a:p>
          <a:p>
            <a:pPr marL="0" indent="0">
              <a:buNone/>
            </a:pPr>
            <a:endParaRPr lang="en-AU" dirty="0"/>
          </a:p>
          <a:p>
            <a:pPr>
              <a:buFontTx/>
              <a:buChar char="-"/>
            </a:pPr>
            <a:endParaRPr lang="en-AU" dirty="0"/>
          </a:p>
          <a:p>
            <a:pPr>
              <a:buFontTx/>
              <a:buChar char="-"/>
            </a:pPr>
            <a:endParaRPr lang="en-AU" dirty="0"/>
          </a:p>
        </p:txBody>
      </p:sp>
    </p:spTree>
    <p:extLst>
      <p:ext uri="{BB962C8B-B14F-4D97-AF65-F5344CB8AC3E}">
        <p14:creationId xmlns:p14="http://schemas.microsoft.com/office/powerpoint/2010/main" val="1167979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3823675"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Venn Diagrams</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a:t>
            </a:r>
            <a:r>
              <a:rPr lang="en-AU" sz="2400" b="1" dirty="0">
                <a:solidFill>
                  <a:prstClr val="black"/>
                </a:solidFill>
                <a:latin typeface="Kiwi School Handwriting" panose="00000500000000000000" pitchFamily="2" charset="0"/>
              </a:rPr>
              <a:t>How do we sort data using Venn diagrams?</a:t>
            </a:r>
            <a:endParaRPr lang="en-AU" sz="2399" b="1" dirty="0">
              <a:solidFill>
                <a:prstClr val="black"/>
              </a:solidFill>
              <a:latin typeface="Kiwi School Handwriting" panose="00000500000000000000" pitchFamily="2" charset="0"/>
            </a:endParaRP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2" name="Content Placeholder 12">
            <a:extLst>
              <a:ext uri="{FF2B5EF4-FFF2-40B4-BE49-F238E27FC236}">
                <a16:creationId xmlns:a16="http://schemas.microsoft.com/office/drawing/2014/main" id="{D5D54291-4381-4F4E-9123-67B1D03ACCFD}"/>
              </a:ext>
            </a:extLst>
          </p:cNvPr>
          <p:cNvSpPr txBox="1">
            <a:spLocks/>
          </p:cNvSpPr>
          <p:nvPr/>
        </p:nvSpPr>
        <p:spPr>
          <a:xfrm>
            <a:off x="2074821" y="1577012"/>
            <a:ext cx="9570332" cy="2209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defRPr/>
            </a:pPr>
            <a:endParaRPr lang="en-US" sz="3200" dirty="0"/>
          </a:p>
          <a:p>
            <a:pPr>
              <a:defRPr/>
            </a:pPr>
            <a:endParaRPr lang="en-US" dirty="0"/>
          </a:p>
        </p:txBody>
      </p:sp>
      <p:sp>
        <p:nvSpPr>
          <p:cNvPr id="17" name="TextBox 16">
            <a:extLst>
              <a:ext uri="{FF2B5EF4-FFF2-40B4-BE49-F238E27FC236}">
                <a16:creationId xmlns:a16="http://schemas.microsoft.com/office/drawing/2014/main" id="{4B812459-19F4-41C9-A93F-75C41CF324CC}"/>
              </a:ext>
            </a:extLst>
          </p:cNvPr>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14/06/2018</a:t>
            </a:r>
          </a:p>
        </p:txBody>
      </p:sp>
      <p:sp>
        <p:nvSpPr>
          <p:cNvPr id="3" name="TextBox 2">
            <a:extLst>
              <a:ext uri="{FF2B5EF4-FFF2-40B4-BE49-F238E27FC236}">
                <a16:creationId xmlns:a16="http://schemas.microsoft.com/office/drawing/2014/main" id="{35AC4D26-AE99-4656-B4EB-BC04AE569673}"/>
              </a:ext>
            </a:extLst>
          </p:cNvPr>
          <p:cNvSpPr txBox="1"/>
          <p:nvPr/>
        </p:nvSpPr>
        <p:spPr>
          <a:xfrm>
            <a:off x="2194646" y="1370101"/>
            <a:ext cx="9570328" cy="923330"/>
          </a:xfrm>
          <a:prstGeom prst="rect">
            <a:avLst/>
          </a:prstGeom>
          <a:noFill/>
        </p:spPr>
        <p:txBody>
          <a:bodyPr wrap="square" rtlCol="0">
            <a:spAutoFit/>
          </a:bodyPr>
          <a:lstStyle/>
          <a:p>
            <a:r>
              <a:rPr lang="en-AU" dirty="0"/>
              <a:t>Venn Diagrams are used to compare and contrasts sets of data. A set is a collection of items that have something in common and are written inside curly brackets, </a:t>
            </a:r>
            <a:r>
              <a:rPr lang="en-AU" b="1" dirty="0"/>
              <a:t>{ }.</a:t>
            </a:r>
          </a:p>
          <a:p>
            <a:endParaRPr lang="en-GB" dirty="0"/>
          </a:p>
        </p:txBody>
      </p:sp>
      <p:sp>
        <p:nvSpPr>
          <p:cNvPr id="15" name="Oval 4">
            <a:extLst>
              <a:ext uri="{FF2B5EF4-FFF2-40B4-BE49-F238E27FC236}">
                <a16:creationId xmlns:a16="http://schemas.microsoft.com/office/drawing/2014/main" id="{F8B9E21D-2041-440E-B807-0D2DEE80409F}"/>
              </a:ext>
            </a:extLst>
          </p:cNvPr>
          <p:cNvSpPr>
            <a:spLocks noChangeArrowheads="1"/>
          </p:cNvSpPr>
          <p:nvPr/>
        </p:nvSpPr>
        <p:spPr bwMode="auto">
          <a:xfrm>
            <a:off x="3612208" y="2737030"/>
            <a:ext cx="3927959" cy="3309809"/>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 name="Oval 5">
            <a:extLst>
              <a:ext uri="{FF2B5EF4-FFF2-40B4-BE49-F238E27FC236}">
                <a16:creationId xmlns:a16="http://schemas.microsoft.com/office/drawing/2014/main" id="{5870F1DC-C9C6-4990-A569-65CE6566497E}"/>
              </a:ext>
            </a:extLst>
          </p:cNvPr>
          <p:cNvSpPr>
            <a:spLocks noChangeArrowheads="1"/>
          </p:cNvSpPr>
          <p:nvPr/>
        </p:nvSpPr>
        <p:spPr bwMode="auto">
          <a:xfrm>
            <a:off x="6420495" y="2665592"/>
            <a:ext cx="3927959" cy="3309809"/>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1" name="WordArt 6">
            <a:extLst>
              <a:ext uri="{FF2B5EF4-FFF2-40B4-BE49-F238E27FC236}">
                <a16:creationId xmlns:a16="http://schemas.microsoft.com/office/drawing/2014/main" id="{B94E9FF0-EE7C-4E58-B732-FC4E81B8F61F}"/>
              </a:ext>
            </a:extLst>
          </p:cNvPr>
          <p:cNvSpPr>
            <a:spLocks noChangeArrowheads="1" noChangeShapeType="1" noTextEdit="1"/>
          </p:cNvSpPr>
          <p:nvPr/>
        </p:nvSpPr>
        <p:spPr bwMode="auto">
          <a:xfrm>
            <a:off x="2831761" y="6524050"/>
            <a:ext cx="1343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a:t>
            </a:r>
          </a:p>
        </p:txBody>
      </p:sp>
      <p:sp>
        <p:nvSpPr>
          <p:cNvPr id="22" name="WordArt 7">
            <a:extLst>
              <a:ext uri="{FF2B5EF4-FFF2-40B4-BE49-F238E27FC236}">
                <a16:creationId xmlns:a16="http://schemas.microsoft.com/office/drawing/2014/main" id="{CB2B5B30-E69B-42FA-B27B-7A790DC82AC0}"/>
              </a:ext>
            </a:extLst>
          </p:cNvPr>
          <p:cNvSpPr>
            <a:spLocks noChangeArrowheads="1" noChangeShapeType="1" noTextEdit="1"/>
          </p:cNvSpPr>
          <p:nvPr/>
        </p:nvSpPr>
        <p:spPr bwMode="auto">
          <a:xfrm>
            <a:off x="3334999" y="6524050"/>
            <a:ext cx="1343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a:t>
            </a:r>
          </a:p>
        </p:txBody>
      </p:sp>
      <p:sp>
        <p:nvSpPr>
          <p:cNvPr id="23" name="WordArt 8">
            <a:extLst>
              <a:ext uri="{FF2B5EF4-FFF2-40B4-BE49-F238E27FC236}">
                <a16:creationId xmlns:a16="http://schemas.microsoft.com/office/drawing/2014/main" id="{F17E8CA5-C51D-4A7D-8BAB-52BFD55136B4}"/>
              </a:ext>
            </a:extLst>
          </p:cNvPr>
          <p:cNvSpPr>
            <a:spLocks noChangeArrowheads="1" noChangeShapeType="1" noTextEdit="1"/>
          </p:cNvSpPr>
          <p:nvPr/>
        </p:nvSpPr>
        <p:spPr bwMode="auto">
          <a:xfrm>
            <a:off x="3766799" y="6524050"/>
            <a:ext cx="1343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7</a:t>
            </a:r>
          </a:p>
        </p:txBody>
      </p:sp>
      <p:sp>
        <p:nvSpPr>
          <p:cNvPr id="24" name="WordArt 9">
            <a:extLst>
              <a:ext uri="{FF2B5EF4-FFF2-40B4-BE49-F238E27FC236}">
                <a16:creationId xmlns:a16="http://schemas.microsoft.com/office/drawing/2014/main" id="{CD845A99-3E7F-4898-BADA-9ACF9708F684}"/>
              </a:ext>
            </a:extLst>
          </p:cNvPr>
          <p:cNvSpPr>
            <a:spLocks noChangeArrowheads="1" noChangeShapeType="1" noTextEdit="1"/>
          </p:cNvSpPr>
          <p:nvPr/>
        </p:nvSpPr>
        <p:spPr bwMode="auto">
          <a:xfrm>
            <a:off x="4128738"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10</a:t>
            </a:r>
          </a:p>
        </p:txBody>
      </p:sp>
      <p:sp>
        <p:nvSpPr>
          <p:cNvPr id="25" name="WordArt 11">
            <a:extLst>
              <a:ext uri="{FF2B5EF4-FFF2-40B4-BE49-F238E27FC236}">
                <a16:creationId xmlns:a16="http://schemas.microsoft.com/office/drawing/2014/main" id="{03A9A7B2-5CC4-4951-ADDA-94A566F6A1C6}"/>
              </a:ext>
            </a:extLst>
          </p:cNvPr>
          <p:cNvSpPr>
            <a:spLocks noChangeArrowheads="1" noChangeShapeType="1" noTextEdit="1"/>
          </p:cNvSpPr>
          <p:nvPr/>
        </p:nvSpPr>
        <p:spPr bwMode="auto">
          <a:xfrm>
            <a:off x="5281263"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15</a:t>
            </a:r>
          </a:p>
        </p:txBody>
      </p:sp>
      <p:sp>
        <p:nvSpPr>
          <p:cNvPr id="26" name="WordArt 12">
            <a:extLst>
              <a:ext uri="{FF2B5EF4-FFF2-40B4-BE49-F238E27FC236}">
                <a16:creationId xmlns:a16="http://schemas.microsoft.com/office/drawing/2014/main" id="{7AE08770-E194-4E39-8237-FF8BD6C5A8A9}"/>
              </a:ext>
            </a:extLst>
          </p:cNvPr>
          <p:cNvSpPr>
            <a:spLocks noChangeArrowheads="1" noChangeShapeType="1" noTextEdit="1"/>
          </p:cNvSpPr>
          <p:nvPr/>
        </p:nvSpPr>
        <p:spPr bwMode="auto">
          <a:xfrm>
            <a:off x="5786088"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18</a:t>
            </a:r>
          </a:p>
        </p:txBody>
      </p:sp>
      <p:sp>
        <p:nvSpPr>
          <p:cNvPr id="27" name="WordArt 13">
            <a:extLst>
              <a:ext uri="{FF2B5EF4-FFF2-40B4-BE49-F238E27FC236}">
                <a16:creationId xmlns:a16="http://schemas.microsoft.com/office/drawing/2014/main" id="{9BBB5E0B-8F50-4B1A-8B3F-A3671261CD53}"/>
              </a:ext>
            </a:extLst>
          </p:cNvPr>
          <p:cNvSpPr>
            <a:spLocks noChangeArrowheads="1" noChangeShapeType="1" noTextEdit="1"/>
          </p:cNvSpPr>
          <p:nvPr/>
        </p:nvSpPr>
        <p:spPr bwMode="auto">
          <a:xfrm>
            <a:off x="6433788"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24</a:t>
            </a:r>
          </a:p>
        </p:txBody>
      </p:sp>
      <p:sp>
        <p:nvSpPr>
          <p:cNvPr id="28" name="WordArt 14">
            <a:extLst>
              <a:ext uri="{FF2B5EF4-FFF2-40B4-BE49-F238E27FC236}">
                <a16:creationId xmlns:a16="http://schemas.microsoft.com/office/drawing/2014/main" id="{8DF5533C-8692-4C72-9C7C-D186AE0A2CFB}"/>
              </a:ext>
            </a:extLst>
          </p:cNvPr>
          <p:cNvSpPr>
            <a:spLocks noChangeArrowheads="1" noChangeShapeType="1" noTextEdit="1"/>
          </p:cNvSpPr>
          <p:nvPr/>
        </p:nvSpPr>
        <p:spPr bwMode="auto">
          <a:xfrm>
            <a:off x="8018113"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30</a:t>
            </a:r>
          </a:p>
        </p:txBody>
      </p:sp>
      <p:sp>
        <p:nvSpPr>
          <p:cNvPr id="29" name="WordArt 15">
            <a:extLst>
              <a:ext uri="{FF2B5EF4-FFF2-40B4-BE49-F238E27FC236}">
                <a16:creationId xmlns:a16="http://schemas.microsoft.com/office/drawing/2014/main" id="{343CDFC9-C1F5-4DCC-8BEA-FFC8D8D3647A}"/>
              </a:ext>
            </a:extLst>
          </p:cNvPr>
          <p:cNvSpPr>
            <a:spLocks noChangeArrowheads="1" noChangeShapeType="1" noTextEdit="1"/>
          </p:cNvSpPr>
          <p:nvPr/>
        </p:nvSpPr>
        <p:spPr bwMode="auto">
          <a:xfrm>
            <a:off x="4705001"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13</a:t>
            </a:r>
          </a:p>
        </p:txBody>
      </p:sp>
      <p:sp>
        <p:nvSpPr>
          <p:cNvPr id="30" name="WordArt 16">
            <a:extLst>
              <a:ext uri="{FF2B5EF4-FFF2-40B4-BE49-F238E27FC236}">
                <a16:creationId xmlns:a16="http://schemas.microsoft.com/office/drawing/2014/main" id="{F98AA517-95E7-424D-8DEA-07897AF7E71F}"/>
              </a:ext>
            </a:extLst>
          </p:cNvPr>
          <p:cNvSpPr>
            <a:spLocks noChangeArrowheads="1" noChangeShapeType="1" noTextEdit="1"/>
          </p:cNvSpPr>
          <p:nvPr/>
        </p:nvSpPr>
        <p:spPr bwMode="auto">
          <a:xfrm>
            <a:off x="7010051"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25</a:t>
            </a:r>
          </a:p>
        </p:txBody>
      </p:sp>
      <p:sp>
        <p:nvSpPr>
          <p:cNvPr id="31" name="WordArt 17">
            <a:extLst>
              <a:ext uri="{FF2B5EF4-FFF2-40B4-BE49-F238E27FC236}">
                <a16:creationId xmlns:a16="http://schemas.microsoft.com/office/drawing/2014/main" id="{BC0F5348-363A-433B-9B88-E9E013198D5F}"/>
              </a:ext>
            </a:extLst>
          </p:cNvPr>
          <p:cNvSpPr>
            <a:spLocks noChangeArrowheads="1" noChangeShapeType="1" noTextEdit="1"/>
          </p:cNvSpPr>
          <p:nvPr/>
        </p:nvSpPr>
        <p:spPr bwMode="auto">
          <a:xfrm>
            <a:off x="7513288"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27</a:t>
            </a:r>
          </a:p>
        </p:txBody>
      </p:sp>
      <p:sp>
        <p:nvSpPr>
          <p:cNvPr id="32" name="WordArt 18">
            <a:extLst>
              <a:ext uri="{FF2B5EF4-FFF2-40B4-BE49-F238E27FC236}">
                <a16:creationId xmlns:a16="http://schemas.microsoft.com/office/drawing/2014/main" id="{8360E1C7-4C78-405B-B889-6E7552223301}"/>
              </a:ext>
            </a:extLst>
          </p:cNvPr>
          <p:cNvSpPr>
            <a:spLocks noChangeArrowheads="1" noChangeShapeType="1" noTextEdit="1"/>
          </p:cNvSpPr>
          <p:nvPr/>
        </p:nvSpPr>
        <p:spPr bwMode="auto">
          <a:xfrm>
            <a:off x="9169051"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40</a:t>
            </a:r>
          </a:p>
        </p:txBody>
      </p:sp>
      <p:sp>
        <p:nvSpPr>
          <p:cNvPr id="34" name="WordArt 19">
            <a:extLst>
              <a:ext uri="{FF2B5EF4-FFF2-40B4-BE49-F238E27FC236}">
                <a16:creationId xmlns:a16="http://schemas.microsoft.com/office/drawing/2014/main" id="{F862E7E4-06A0-4855-9DAA-B51DFB0FB88A}"/>
              </a:ext>
            </a:extLst>
          </p:cNvPr>
          <p:cNvSpPr>
            <a:spLocks noChangeArrowheads="1" noChangeShapeType="1" noTextEdit="1"/>
          </p:cNvSpPr>
          <p:nvPr/>
        </p:nvSpPr>
        <p:spPr bwMode="auto">
          <a:xfrm>
            <a:off x="9673876"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50</a:t>
            </a:r>
          </a:p>
        </p:txBody>
      </p:sp>
      <p:sp>
        <p:nvSpPr>
          <p:cNvPr id="35" name="WordArt 20">
            <a:extLst>
              <a:ext uri="{FF2B5EF4-FFF2-40B4-BE49-F238E27FC236}">
                <a16:creationId xmlns:a16="http://schemas.microsoft.com/office/drawing/2014/main" id="{51A309DC-7984-4EEF-9448-FFD91B6DCAF0}"/>
              </a:ext>
            </a:extLst>
          </p:cNvPr>
          <p:cNvSpPr>
            <a:spLocks noChangeArrowheads="1" noChangeShapeType="1" noTextEdit="1"/>
          </p:cNvSpPr>
          <p:nvPr/>
        </p:nvSpPr>
        <p:spPr bwMode="auto">
          <a:xfrm>
            <a:off x="8594376" y="6524050"/>
            <a:ext cx="271614" cy="290536"/>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36</a:t>
            </a:r>
          </a:p>
        </p:txBody>
      </p:sp>
      <p:sp>
        <p:nvSpPr>
          <p:cNvPr id="36" name="Text Box 21">
            <a:extLst>
              <a:ext uri="{FF2B5EF4-FFF2-40B4-BE49-F238E27FC236}">
                <a16:creationId xmlns:a16="http://schemas.microsoft.com/office/drawing/2014/main" id="{688399D4-BAAB-4B5C-BDA8-5CA69DA4C1DF}"/>
              </a:ext>
            </a:extLst>
          </p:cNvPr>
          <p:cNvSpPr txBox="1">
            <a:spLocks noChangeArrowheads="1"/>
          </p:cNvSpPr>
          <p:nvPr/>
        </p:nvSpPr>
        <p:spPr bwMode="auto">
          <a:xfrm>
            <a:off x="2751335" y="6188709"/>
            <a:ext cx="86739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b="1" dirty="0">
                <a:effectLst>
                  <a:outerShdw blurRad="38100" dist="38100" dir="2700000" algn="tl">
                    <a:srgbClr val="FFFFFF"/>
                  </a:outerShdw>
                </a:effectLst>
              </a:rPr>
              <a:t>These numbers needed to be sorted into multiples of 3 and even numbers</a:t>
            </a:r>
          </a:p>
        </p:txBody>
      </p:sp>
      <p:sp>
        <p:nvSpPr>
          <p:cNvPr id="37" name="Text Box 22">
            <a:extLst>
              <a:ext uri="{FF2B5EF4-FFF2-40B4-BE49-F238E27FC236}">
                <a16:creationId xmlns:a16="http://schemas.microsoft.com/office/drawing/2014/main" id="{9475032D-6526-47FA-A792-9055B91C4219}"/>
              </a:ext>
            </a:extLst>
          </p:cNvPr>
          <p:cNvSpPr txBox="1">
            <a:spLocks noChangeArrowheads="1"/>
          </p:cNvSpPr>
          <p:nvPr/>
        </p:nvSpPr>
        <p:spPr bwMode="auto">
          <a:xfrm>
            <a:off x="3992634" y="1996348"/>
            <a:ext cx="17595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b="1"/>
              <a:t>Multiples of 3</a:t>
            </a:r>
          </a:p>
        </p:txBody>
      </p:sp>
      <p:sp>
        <p:nvSpPr>
          <p:cNvPr id="38" name="Text Box 23">
            <a:extLst>
              <a:ext uri="{FF2B5EF4-FFF2-40B4-BE49-F238E27FC236}">
                <a16:creationId xmlns:a16="http://schemas.microsoft.com/office/drawing/2014/main" id="{A293DB6A-2ABF-4F5D-A729-A63E69D80141}"/>
              </a:ext>
            </a:extLst>
          </p:cNvPr>
          <p:cNvSpPr txBox="1">
            <a:spLocks noChangeArrowheads="1"/>
          </p:cNvSpPr>
          <p:nvPr/>
        </p:nvSpPr>
        <p:spPr bwMode="auto">
          <a:xfrm>
            <a:off x="7874626" y="1985573"/>
            <a:ext cx="175952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b="1" dirty="0"/>
              <a:t>Even numbers</a:t>
            </a:r>
          </a:p>
        </p:txBody>
      </p:sp>
      <p:sp>
        <p:nvSpPr>
          <p:cNvPr id="39" name="Rectangle 38">
            <a:extLst>
              <a:ext uri="{FF2B5EF4-FFF2-40B4-BE49-F238E27FC236}">
                <a16:creationId xmlns:a16="http://schemas.microsoft.com/office/drawing/2014/main" id="{A727920C-3F82-4A2B-9E0A-F8F85C174862}"/>
              </a:ext>
            </a:extLst>
          </p:cNvPr>
          <p:cNvSpPr/>
          <p:nvPr/>
        </p:nvSpPr>
        <p:spPr>
          <a:xfrm>
            <a:off x="2796970" y="2378247"/>
            <a:ext cx="8122938" cy="3830727"/>
          </a:xfrm>
          <a:prstGeom prst="rect">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77489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1847851" y="260351"/>
            <a:ext cx="86407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2800" b="1">
                <a:effectLst>
                  <a:outerShdw blurRad="38100" dist="38100" dir="2700000" algn="tl">
                    <a:srgbClr val="FFFFFF"/>
                  </a:outerShdw>
                </a:effectLst>
              </a:rPr>
              <a:t>A VENN DIAGRAM IS USED TO SORT THINGS</a:t>
            </a:r>
          </a:p>
        </p:txBody>
      </p:sp>
      <p:sp>
        <p:nvSpPr>
          <p:cNvPr id="10243" name="Oval 3"/>
          <p:cNvSpPr>
            <a:spLocks noChangeArrowheads="1"/>
          </p:cNvSpPr>
          <p:nvPr/>
        </p:nvSpPr>
        <p:spPr bwMode="auto">
          <a:xfrm>
            <a:off x="2566988" y="1268414"/>
            <a:ext cx="4178300" cy="4105275"/>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4" name="Oval 4"/>
          <p:cNvSpPr>
            <a:spLocks noChangeArrowheads="1"/>
          </p:cNvSpPr>
          <p:nvPr/>
        </p:nvSpPr>
        <p:spPr bwMode="auto">
          <a:xfrm>
            <a:off x="5375275" y="1196976"/>
            <a:ext cx="4178300" cy="4105275"/>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5" name="WordArt 5"/>
          <p:cNvSpPr>
            <a:spLocks noChangeArrowheads="1" noChangeShapeType="1" noTextEdit="1"/>
          </p:cNvSpPr>
          <p:nvPr/>
        </p:nvSpPr>
        <p:spPr bwMode="auto">
          <a:xfrm>
            <a:off x="1847851"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a:t>
            </a:r>
          </a:p>
        </p:txBody>
      </p:sp>
      <p:sp>
        <p:nvSpPr>
          <p:cNvPr id="10246" name="WordArt 6"/>
          <p:cNvSpPr>
            <a:spLocks noChangeArrowheads="1" noChangeShapeType="1" noTextEdit="1"/>
          </p:cNvSpPr>
          <p:nvPr/>
        </p:nvSpPr>
        <p:spPr bwMode="auto">
          <a:xfrm>
            <a:off x="2351089"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a:t>
            </a:r>
          </a:p>
        </p:txBody>
      </p:sp>
      <p:sp>
        <p:nvSpPr>
          <p:cNvPr id="10247" name="WordArt 7"/>
          <p:cNvSpPr>
            <a:spLocks noChangeArrowheads="1" noChangeShapeType="1" noTextEdit="1"/>
          </p:cNvSpPr>
          <p:nvPr/>
        </p:nvSpPr>
        <p:spPr bwMode="auto">
          <a:xfrm>
            <a:off x="2782889"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7</a:t>
            </a:r>
          </a:p>
        </p:txBody>
      </p:sp>
      <p:sp>
        <p:nvSpPr>
          <p:cNvPr id="10248" name="WordArt 8"/>
          <p:cNvSpPr>
            <a:spLocks noChangeArrowheads="1" noChangeShapeType="1" noTextEdit="1"/>
          </p:cNvSpPr>
          <p:nvPr/>
        </p:nvSpPr>
        <p:spPr bwMode="auto">
          <a:xfrm>
            <a:off x="314325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10</a:t>
            </a:r>
          </a:p>
        </p:txBody>
      </p:sp>
      <p:sp>
        <p:nvSpPr>
          <p:cNvPr id="10249" name="WordArt 9"/>
          <p:cNvSpPr>
            <a:spLocks noChangeArrowheads="1" noChangeShapeType="1" noTextEdit="1"/>
          </p:cNvSpPr>
          <p:nvPr/>
        </p:nvSpPr>
        <p:spPr bwMode="auto">
          <a:xfrm>
            <a:off x="4295776"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15</a:t>
            </a:r>
          </a:p>
        </p:txBody>
      </p:sp>
      <p:sp>
        <p:nvSpPr>
          <p:cNvPr id="10250" name="WordArt 10"/>
          <p:cNvSpPr>
            <a:spLocks noChangeArrowheads="1" noChangeShapeType="1" noTextEdit="1"/>
          </p:cNvSpPr>
          <p:nvPr/>
        </p:nvSpPr>
        <p:spPr bwMode="auto">
          <a:xfrm>
            <a:off x="48006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18</a:t>
            </a:r>
          </a:p>
        </p:txBody>
      </p:sp>
      <p:sp>
        <p:nvSpPr>
          <p:cNvPr id="10251" name="WordArt 11"/>
          <p:cNvSpPr>
            <a:spLocks noChangeArrowheads="1" noChangeShapeType="1" noTextEdit="1"/>
          </p:cNvSpPr>
          <p:nvPr/>
        </p:nvSpPr>
        <p:spPr bwMode="auto">
          <a:xfrm>
            <a:off x="54483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24</a:t>
            </a:r>
          </a:p>
        </p:txBody>
      </p:sp>
      <p:sp>
        <p:nvSpPr>
          <p:cNvPr id="10252" name="WordArt 12"/>
          <p:cNvSpPr>
            <a:spLocks noChangeArrowheads="1" noChangeShapeType="1" noTextEdit="1"/>
          </p:cNvSpPr>
          <p:nvPr/>
        </p:nvSpPr>
        <p:spPr bwMode="auto">
          <a:xfrm>
            <a:off x="7032626"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30</a:t>
            </a:r>
          </a:p>
        </p:txBody>
      </p:sp>
      <p:sp>
        <p:nvSpPr>
          <p:cNvPr id="10253" name="WordArt 13"/>
          <p:cNvSpPr>
            <a:spLocks noChangeArrowheads="1" noChangeShapeType="1" noTextEdit="1"/>
          </p:cNvSpPr>
          <p:nvPr/>
        </p:nvSpPr>
        <p:spPr bwMode="auto">
          <a:xfrm>
            <a:off x="371951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13</a:t>
            </a:r>
          </a:p>
        </p:txBody>
      </p:sp>
      <p:sp>
        <p:nvSpPr>
          <p:cNvPr id="10254" name="WordArt 14"/>
          <p:cNvSpPr>
            <a:spLocks noChangeArrowheads="1" noChangeShapeType="1" noTextEdit="1"/>
          </p:cNvSpPr>
          <p:nvPr/>
        </p:nvSpPr>
        <p:spPr bwMode="auto">
          <a:xfrm>
            <a:off x="602456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25</a:t>
            </a:r>
          </a:p>
        </p:txBody>
      </p:sp>
      <p:sp>
        <p:nvSpPr>
          <p:cNvPr id="10255" name="WordArt 15"/>
          <p:cNvSpPr>
            <a:spLocks noChangeArrowheads="1" noChangeShapeType="1" noTextEdit="1"/>
          </p:cNvSpPr>
          <p:nvPr/>
        </p:nvSpPr>
        <p:spPr bwMode="auto">
          <a:xfrm>
            <a:off x="65278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27</a:t>
            </a:r>
          </a:p>
        </p:txBody>
      </p:sp>
      <p:sp>
        <p:nvSpPr>
          <p:cNvPr id="10256" name="WordArt 16"/>
          <p:cNvSpPr>
            <a:spLocks noChangeArrowheads="1" noChangeShapeType="1" noTextEdit="1"/>
          </p:cNvSpPr>
          <p:nvPr/>
        </p:nvSpPr>
        <p:spPr bwMode="auto">
          <a:xfrm>
            <a:off x="818356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40</a:t>
            </a:r>
          </a:p>
        </p:txBody>
      </p:sp>
      <p:sp>
        <p:nvSpPr>
          <p:cNvPr id="10257" name="WordArt 17"/>
          <p:cNvSpPr>
            <a:spLocks noChangeArrowheads="1" noChangeShapeType="1" noTextEdit="1"/>
          </p:cNvSpPr>
          <p:nvPr/>
        </p:nvSpPr>
        <p:spPr bwMode="auto">
          <a:xfrm>
            <a:off x="8688389"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50</a:t>
            </a:r>
          </a:p>
        </p:txBody>
      </p:sp>
      <p:sp>
        <p:nvSpPr>
          <p:cNvPr id="10258" name="WordArt 18"/>
          <p:cNvSpPr>
            <a:spLocks noChangeArrowheads="1" noChangeShapeType="1" noTextEdit="1"/>
          </p:cNvSpPr>
          <p:nvPr/>
        </p:nvSpPr>
        <p:spPr bwMode="auto">
          <a:xfrm>
            <a:off x="7608889"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36</a:t>
            </a:r>
          </a:p>
        </p:txBody>
      </p:sp>
      <p:sp>
        <p:nvSpPr>
          <p:cNvPr id="10259" name="Text Box 19"/>
          <p:cNvSpPr txBox="1">
            <a:spLocks noChangeArrowheads="1"/>
          </p:cNvSpPr>
          <p:nvPr/>
        </p:nvSpPr>
        <p:spPr bwMode="auto">
          <a:xfrm>
            <a:off x="3792538" y="836613"/>
            <a:ext cx="18716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Multiples of 3</a:t>
            </a:r>
          </a:p>
        </p:txBody>
      </p:sp>
      <p:sp>
        <p:nvSpPr>
          <p:cNvPr id="10260" name="Text Box 20"/>
          <p:cNvSpPr txBox="1">
            <a:spLocks noChangeArrowheads="1"/>
          </p:cNvSpPr>
          <p:nvPr/>
        </p:nvSpPr>
        <p:spPr bwMode="auto">
          <a:xfrm>
            <a:off x="6600826" y="765176"/>
            <a:ext cx="18716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Even numbers</a:t>
            </a:r>
          </a:p>
        </p:txBody>
      </p:sp>
      <p:sp>
        <p:nvSpPr>
          <p:cNvPr id="10261" name="Text Box 21"/>
          <p:cNvSpPr txBox="1">
            <a:spLocks noChangeArrowheads="1"/>
          </p:cNvSpPr>
          <p:nvPr/>
        </p:nvSpPr>
        <p:spPr bwMode="auto">
          <a:xfrm>
            <a:off x="795131" y="5633244"/>
            <a:ext cx="11178208" cy="369332"/>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GB" b="1" dirty="0"/>
              <a:t>Numbers that are multiples of 3 </a:t>
            </a:r>
            <a:r>
              <a:rPr lang="en-GB" b="1" u="sng" dirty="0"/>
              <a:t>and</a:t>
            </a:r>
            <a:r>
              <a:rPr lang="en-GB" b="1" dirty="0"/>
              <a:t> even numbers go here because they belong to both circles...</a:t>
            </a:r>
          </a:p>
        </p:txBody>
      </p:sp>
      <p:sp>
        <p:nvSpPr>
          <p:cNvPr id="10262" name="AutoShape 22"/>
          <p:cNvSpPr>
            <a:spLocks noChangeArrowheads="1"/>
          </p:cNvSpPr>
          <p:nvPr/>
        </p:nvSpPr>
        <p:spPr bwMode="auto">
          <a:xfrm>
            <a:off x="5880100" y="3500438"/>
            <a:ext cx="431800" cy="2132806"/>
          </a:xfrm>
          <a:prstGeom prst="upArrow">
            <a:avLst>
              <a:gd name="adj1" fmla="val 50000"/>
              <a:gd name="adj2" fmla="val 112592"/>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6" name="Rectangle 25"/>
          <p:cNvSpPr/>
          <p:nvPr/>
        </p:nvSpPr>
        <p:spPr>
          <a:xfrm>
            <a:off x="1703512" y="765175"/>
            <a:ext cx="8640638" cy="4751388"/>
          </a:xfrm>
          <a:prstGeom prst="rect">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74649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61"/>
                                        </p:tgtEl>
                                        <p:attrNameLst>
                                          <p:attrName>style.visibility</p:attrName>
                                        </p:attrNameLst>
                                      </p:cBhvr>
                                      <p:to>
                                        <p:strVal val="visible"/>
                                      </p:to>
                                    </p:set>
                                    <p:animEffect transition="in" filter="dissolve">
                                      <p:cBhvr>
                                        <p:cTn id="7" dur="500"/>
                                        <p:tgtEl>
                                          <p:spTgt spid="1026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262"/>
                                        </p:tgtEl>
                                        <p:attrNameLst>
                                          <p:attrName>style.visibility</p:attrName>
                                        </p:attrNameLst>
                                      </p:cBhvr>
                                      <p:to>
                                        <p:strVal val="visible"/>
                                      </p:to>
                                    </p:set>
                                    <p:animEffect transition="in" filter="dissolve">
                                      <p:cBhvr>
                                        <p:cTn id="10" dur="500"/>
                                        <p:tgtEl>
                                          <p:spTgt spid="1026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02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1" grpId="0" animBg="1"/>
      <p:bldP spid="10261" grpId="1" animBg="1"/>
      <p:bldP spid="10262"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847851" y="260351"/>
            <a:ext cx="86407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2800" b="1">
                <a:effectLst>
                  <a:outerShdw blurRad="38100" dist="38100" dir="2700000" algn="tl">
                    <a:srgbClr val="FFFFFF"/>
                  </a:outerShdw>
                </a:effectLst>
              </a:rPr>
              <a:t>A VENN DIAGRAM IS USED TO SORT THINGS</a:t>
            </a:r>
          </a:p>
        </p:txBody>
      </p:sp>
      <p:sp>
        <p:nvSpPr>
          <p:cNvPr id="12291" name="Oval 3"/>
          <p:cNvSpPr>
            <a:spLocks noChangeArrowheads="1"/>
          </p:cNvSpPr>
          <p:nvPr/>
        </p:nvSpPr>
        <p:spPr bwMode="auto">
          <a:xfrm>
            <a:off x="2566988" y="1268414"/>
            <a:ext cx="4178300" cy="4105275"/>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2292" name="Oval 4"/>
          <p:cNvSpPr>
            <a:spLocks noChangeArrowheads="1"/>
          </p:cNvSpPr>
          <p:nvPr/>
        </p:nvSpPr>
        <p:spPr bwMode="auto">
          <a:xfrm>
            <a:off x="5375275" y="1196976"/>
            <a:ext cx="4178300" cy="4105275"/>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2293" name="WordArt 5"/>
          <p:cNvSpPr>
            <a:spLocks noChangeArrowheads="1" noChangeShapeType="1" noTextEdit="1"/>
          </p:cNvSpPr>
          <p:nvPr/>
        </p:nvSpPr>
        <p:spPr bwMode="auto">
          <a:xfrm>
            <a:off x="1847851"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3</a:t>
            </a:r>
          </a:p>
        </p:txBody>
      </p:sp>
      <p:sp>
        <p:nvSpPr>
          <p:cNvPr id="12294" name="WordArt 6"/>
          <p:cNvSpPr>
            <a:spLocks noChangeArrowheads="1" noChangeShapeType="1" noTextEdit="1"/>
          </p:cNvSpPr>
          <p:nvPr/>
        </p:nvSpPr>
        <p:spPr bwMode="auto">
          <a:xfrm>
            <a:off x="2351089"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a:t>
            </a:r>
          </a:p>
        </p:txBody>
      </p:sp>
      <p:sp>
        <p:nvSpPr>
          <p:cNvPr id="12295" name="WordArt 7"/>
          <p:cNvSpPr>
            <a:spLocks noChangeArrowheads="1" noChangeShapeType="1" noTextEdit="1"/>
          </p:cNvSpPr>
          <p:nvPr/>
        </p:nvSpPr>
        <p:spPr bwMode="auto">
          <a:xfrm>
            <a:off x="2782889"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7</a:t>
            </a:r>
          </a:p>
        </p:txBody>
      </p:sp>
      <p:sp>
        <p:nvSpPr>
          <p:cNvPr id="12296" name="WordArt 8"/>
          <p:cNvSpPr>
            <a:spLocks noChangeArrowheads="1" noChangeShapeType="1" noTextEdit="1"/>
          </p:cNvSpPr>
          <p:nvPr/>
        </p:nvSpPr>
        <p:spPr bwMode="auto">
          <a:xfrm>
            <a:off x="314325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10</a:t>
            </a:r>
          </a:p>
        </p:txBody>
      </p:sp>
      <p:sp>
        <p:nvSpPr>
          <p:cNvPr id="12297" name="WordArt 9"/>
          <p:cNvSpPr>
            <a:spLocks noChangeArrowheads="1" noChangeShapeType="1" noTextEdit="1"/>
          </p:cNvSpPr>
          <p:nvPr/>
        </p:nvSpPr>
        <p:spPr bwMode="auto">
          <a:xfrm>
            <a:off x="4295776"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15</a:t>
            </a:r>
          </a:p>
        </p:txBody>
      </p:sp>
      <p:sp>
        <p:nvSpPr>
          <p:cNvPr id="12298" name="WordArt 10"/>
          <p:cNvSpPr>
            <a:spLocks noChangeArrowheads="1" noChangeShapeType="1" noTextEdit="1"/>
          </p:cNvSpPr>
          <p:nvPr/>
        </p:nvSpPr>
        <p:spPr bwMode="auto">
          <a:xfrm>
            <a:off x="48006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18</a:t>
            </a:r>
          </a:p>
        </p:txBody>
      </p:sp>
      <p:sp>
        <p:nvSpPr>
          <p:cNvPr id="12299" name="WordArt 11"/>
          <p:cNvSpPr>
            <a:spLocks noChangeArrowheads="1" noChangeShapeType="1" noTextEdit="1"/>
          </p:cNvSpPr>
          <p:nvPr/>
        </p:nvSpPr>
        <p:spPr bwMode="auto">
          <a:xfrm>
            <a:off x="54483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24</a:t>
            </a:r>
          </a:p>
        </p:txBody>
      </p:sp>
      <p:sp>
        <p:nvSpPr>
          <p:cNvPr id="12300" name="WordArt 12"/>
          <p:cNvSpPr>
            <a:spLocks noChangeArrowheads="1" noChangeShapeType="1" noTextEdit="1"/>
          </p:cNvSpPr>
          <p:nvPr/>
        </p:nvSpPr>
        <p:spPr bwMode="auto">
          <a:xfrm>
            <a:off x="7032626"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30</a:t>
            </a:r>
          </a:p>
        </p:txBody>
      </p:sp>
      <p:sp>
        <p:nvSpPr>
          <p:cNvPr id="12301" name="WordArt 13"/>
          <p:cNvSpPr>
            <a:spLocks noChangeArrowheads="1" noChangeShapeType="1" noTextEdit="1"/>
          </p:cNvSpPr>
          <p:nvPr/>
        </p:nvSpPr>
        <p:spPr bwMode="auto">
          <a:xfrm>
            <a:off x="371951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13</a:t>
            </a:r>
          </a:p>
        </p:txBody>
      </p:sp>
      <p:sp>
        <p:nvSpPr>
          <p:cNvPr id="12302" name="WordArt 14"/>
          <p:cNvSpPr>
            <a:spLocks noChangeArrowheads="1" noChangeShapeType="1" noTextEdit="1"/>
          </p:cNvSpPr>
          <p:nvPr/>
        </p:nvSpPr>
        <p:spPr bwMode="auto">
          <a:xfrm>
            <a:off x="602456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25</a:t>
            </a:r>
          </a:p>
        </p:txBody>
      </p:sp>
      <p:sp>
        <p:nvSpPr>
          <p:cNvPr id="12303" name="WordArt 15"/>
          <p:cNvSpPr>
            <a:spLocks noChangeArrowheads="1" noChangeShapeType="1" noTextEdit="1"/>
          </p:cNvSpPr>
          <p:nvPr/>
        </p:nvSpPr>
        <p:spPr bwMode="auto">
          <a:xfrm>
            <a:off x="65278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27</a:t>
            </a:r>
          </a:p>
        </p:txBody>
      </p:sp>
      <p:sp>
        <p:nvSpPr>
          <p:cNvPr id="12304" name="WordArt 16"/>
          <p:cNvSpPr>
            <a:spLocks noChangeArrowheads="1" noChangeShapeType="1" noTextEdit="1"/>
          </p:cNvSpPr>
          <p:nvPr/>
        </p:nvSpPr>
        <p:spPr bwMode="auto">
          <a:xfrm>
            <a:off x="818356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40</a:t>
            </a:r>
          </a:p>
        </p:txBody>
      </p:sp>
      <p:sp>
        <p:nvSpPr>
          <p:cNvPr id="12305" name="WordArt 17"/>
          <p:cNvSpPr>
            <a:spLocks noChangeArrowheads="1" noChangeShapeType="1" noTextEdit="1"/>
          </p:cNvSpPr>
          <p:nvPr/>
        </p:nvSpPr>
        <p:spPr bwMode="auto">
          <a:xfrm>
            <a:off x="8688389"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50</a:t>
            </a:r>
          </a:p>
        </p:txBody>
      </p:sp>
      <p:sp>
        <p:nvSpPr>
          <p:cNvPr id="12306" name="WordArt 18"/>
          <p:cNvSpPr>
            <a:spLocks noChangeArrowheads="1" noChangeShapeType="1" noTextEdit="1"/>
          </p:cNvSpPr>
          <p:nvPr/>
        </p:nvSpPr>
        <p:spPr bwMode="auto">
          <a:xfrm>
            <a:off x="7608889"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36</a:t>
            </a:r>
          </a:p>
        </p:txBody>
      </p:sp>
      <p:sp>
        <p:nvSpPr>
          <p:cNvPr id="12307" name="Text Box 19"/>
          <p:cNvSpPr txBox="1">
            <a:spLocks noChangeArrowheads="1"/>
          </p:cNvSpPr>
          <p:nvPr/>
        </p:nvSpPr>
        <p:spPr bwMode="auto">
          <a:xfrm>
            <a:off x="3792538" y="836613"/>
            <a:ext cx="18716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Multiples of 3</a:t>
            </a:r>
          </a:p>
        </p:txBody>
      </p:sp>
      <p:sp>
        <p:nvSpPr>
          <p:cNvPr id="12308" name="Text Box 20"/>
          <p:cNvSpPr txBox="1">
            <a:spLocks noChangeArrowheads="1"/>
          </p:cNvSpPr>
          <p:nvPr/>
        </p:nvSpPr>
        <p:spPr bwMode="auto">
          <a:xfrm>
            <a:off x="6600826" y="765176"/>
            <a:ext cx="18716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Even numbers</a:t>
            </a:r>
          </a:p>
        </p:txBody>
      </p:sp>
      <p:sp>
        <p:nvSpPr>
          <p:cNvPr id="12309" name="Text Box 21"/>
          <p:cNvSpPr txBox="1">
            <a:spLocks noChangeArrowheads="1"/>
          </p:cNvSpPr>
          <p:nvPr/>
        </p:nvSpPr>
        <p:spPr bwMode="auto">
          <a:xfrm>
            <a:off x="1703389" y="5649120"/>
            <a:ext cx="8785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b="1" dirty="0">
                <a:effectLst>
                  <a:outerShdw blurRad="38100" dist="38100" dir="2700000" algn="tl">
                    <a:srgbClr val="FFFFFF"/>
                  </a:outerShdw>
                </a:effectLst>
              </a:rPr>
              <a:t>Numbers that are not multiples of 3 and not even, stay on the outside.</a:t>
            </a:r>
          </a:p>
        </p:txBody>
      </p:sp>
      <p:sp>
        <p:nvSpPr>
          <p:cNvPr id="24" name="Rectangle 23"/>
          <p:cNvSpPr/>
          <p:nvPr/>
        </p:nvSpPr>
        <p:spPr>
          <a:xfrm>
            <a:off x="1703512" y="765175"/>
            <a:ext cx="8640638" cy="4751388"/>
          </a:xfrm>
          <a:prstGeom prst="rect">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033539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grpId="0" nodeType="clickEffect">
                                  <p:stCondLst>
                                    <p:cond delay="0"/>
                                  </p:stCondLst>
                                  <p:childTnLst>
                                    <p:animMotion origin="layout" path="M 8.33333E-7 6.17946E-6 L 0.2441 -0.65032 " pathEditMode="relative" ptsTypes="AA">
                                      <p:cBhvr>
                                        <p:cTn id="6" dur="3000" fill="hold"/>
                                        <p:tgtEl>
                                          <p:spTgt spid="12293"/>
                                        </p:tgtEl>
                                        <p:attrNameLst>
                                          <p:attrName>ppt_x</p:attrName>
                                          <p:attrName>ppt_y</p:attrName>
                                        </p:attrNameLst>
                                      </p:cBhvr>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grpId="0" nodeType="clickEffect">
                                  <p:stCondLst>
                                    <p:cond delay="0"/>
                                  </p:stCondLst>
                                  <p:childTnLst>
                                    <p:animMotion origin="layout" path="M -2.5E-6 -2.11841E-6 L 0.40174 -0.67136 " pathEditMode="relative" ptsTypes="AA">
                                      <p:cBhvr>
                                        <p:cTn id="10" dur="3000" fill="hold"/>
                                        <p:tgtEl>
                                          <p:spTgt spid="12296"/>
                                        </p:tgtEl>
                                        <p:attrNameLst>
                                          <p:attrName>ppt_x</p:attrName>
                                          <p:attrName>ppt_y</p:attrName>
                                        </p:attrNameLst>
                                      </p:cBhvr>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grpId="0" nodeType="clickEffect">
                                  <p:stCondLst>
                                    <p:cond delay="0"/>
                                  </p:stCondLst>
                                  <p:childTnLst>
                                    <p:animMotion origin="layout" path="M 0.03308 -0.00486 L -0.10078 -0.51898 " pathEditMode="relative" rAng="0" ptsTypes="AA">
                                      <p:cBhvr>
                                        <p:cTn id="14" dur="3000" fill="hold"/>
                                        <p:tgtEl>
                                          <p:spTgt spid="12297"/>
                                        </p:tgtEl>
                                        <p:attrNameLst>
                                          <p:attrName>ppt_x</p:attrName>
                                          <p:attrName>ppt_y</p:attrName>
                                        </p:attrNameLst>
                                      </p:cBhvr>
                                      <p:rCtr x="-6693" y="-25718"/>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0" nodeType="clickEffect">
                                  <p:stCondLst>
                                    <p:cond delay="0"/>
                                  </p:stCondLst>
                                  <p:childTnLst>
                                    <p:animMotion origin="layout" path="M 1.04167E-6 1.85185E-6 L 0.10013 -0.53171 " pathEditMode="relative" rAng="0" ptsTypes="AA">
                                      <p:cBhvr>
                                        <p:cTn id="18" dur="3000" fill="hold"/>
                                        <p:tgtEl>
                                          <p:spTgt spid="12298"/>
                                        </p:tgtEl>
                                        <p:attrNameLst>
                                          <p:attrName>ppt_x</p:attrName>
                                          <p:attrName>ppt_y</p:attrName>
                                        </p:attrNameLst>
                                      </p:cBhvr>
                                      <p:rCtr x="5000" y="-26597"/>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grpId="0" nodeType="clickEffect">
                                  <p:stCondLst>
                                    <p:cond delay="0"/>
                                  </p:stCondLst>
                                  <p:childTnLst>
                                    <p:animMotion origin="layout" path="M -2.5E-6 8.51064E-7 L 0.0158 -0.50347 " pathEditMode="relative" ptsTypes="AA">
                                      <p:cBhvr>
                                        <p:cTn id="22" dur="3000" fill="hold"/>
                                        <p:tgtEl>
                                          <p:spTgt spid="12299"/>
                                        </p:tgtEl>
                                        <p:attrNameLst>
                                          <p:attrName>ppt_x</p:attrName>
                                          <p:attrName>ppt_y</p:attrName>
                                        </p:attrNameLst>
                                      </p:cBhvr>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grpId="0" nodeType="clickEffect">
                                  <p:stCondLst>
                                    <p:cond delay="0"/>
                                  </p:stCondLst>
                                  <p:childTnLst>
                                    <p:animMotion origin="layout" path="M -8.33333E-7 8.51064E-7 L -0.22049 -0.51411 " pathEditMode="relative" ptsTypes="AA">
                                      <p:cBhvr>
                                        <p:cTn id="26" dur="2000" fill="hold"/>
                                        <p:tgtEl>
                                          <p:spTgt spid="12303"/>
                                        </p:tgtEl>
                                        <p:attrNameLst>
                                          <p:attrName>ppt_x</p:attrName>
                                          <p:attrName>ppt_y</p:attrName>
                                        </p:attrNameLst>
                                      </p:cBhvr>
                                    </p:animMotion>
                                  </p:childTnLst>
                                </p:cTn>
                              </p:par>
                            </p:childTnLst>
                          </p:cTn>
                        </p:par>
                      </p:childTnLst>
                    </p:cTn>
                  </p:par>
                  <p:par>
                    <p:cTn id="27" fill="hold" nodeType="clickPar">
                      <p:stCondLst>
                        <p:cond delay="indefinite"/>
                      </p:stCondLst>
                      <p:childTnLst>
                        <p:par>
                          <p:cTn id="28" fill="hold" nodeType="withGroup">
                            <p:stCondLst>
                              <p:cond delay="0"/>
                            </p:stCondLst>
                            <p:childTnLst>
                              <p:par>
                                <p:cTn id="29" presetID="0" presetClass="path" presetSubtype="0" accel="50000" decel="50000" fill="hold" grpId="0" nodeType="clickEffect">
                                  <p:stCondLst>
                                    <p:cond delay="0"/>
                                  </p:stCondLst>
                                  <p:childTnLst>
                                    <p:animMotion origin="layout" path="M -2.5E-6 8.51064E-7 L -0.09462 -0.45097 " pathEditMode="relative" ptsTypes="AA">
                                      <p:cBhvr>
                                        <p:cTn id="30" dur="3000" fill="hold"/>
                                        <p:tgtEl>
                                          <p:spTgt spid="12300"/>
                                        </p:tgtEl>
                                        <p:attrNameLst>
                                          <p:attrName>ppt_x</p:attrName>
                                          <p:attrName>ppt_y</p:attrName>
                                        </p:attrNameLst>
                                      </p:cBhvr>
                                    </p:animMotion>
                                  </p:childTnLst>
                                </p:cTn>
                              </p:par>
                            </p:childTnLst>
                          </p:cTn>
                        </p:par>
                      </p:childTnLst>
                    </p:cTn>
                  </p:par>
                  <p:par>
                    <p:cTn id="31" fill="hold" nodeType="clickPar">
                      <p:stCondLst>
                        <p:cond delay="indefinite"/>
                      </p:stCondLst>
                      <p:childTnLst>
                        <p:par>
                          <p:cTn id="32" fill="hold" nodeType="withGroup">
                            <p:stCondLst>
                              <p:cond delay="0"/>
                            </p:stCondLst>
                            <p:childTnLst>
                              <p:par>
                                <p:cTn id="33" presetID="0" presetClass="path" presetSubtype="0" accel="50000" decel="50000" fill="hold" grpId="0" nodeType="clickEffect">
                                  <p:stCondLst>
                                    <p:cond delay="0"/>
                                  </p:stCondLst>
                                  <p:childTnLst>
                                    <p:animMotion origin="layout" path="M 0.04713 -0.23102 L -0.1418 -0.60857 " pathEditMode="relative" rAng="0" ptsTypes="AA">
                                      <p:cBhvr>
                                        <p:cTn id="34" dur="3000" fill="hold"/>
                                        <p:tgtEl>
                                          <p:spTgt spid="12306"/>
                                        </p:tgtEl>
                                        <p:attrNameLst>
                                          <p:attrName>ppt_x</p:attrName>
                                          <p:attrName>ppt_y</p:attrName>
                                        </p:attrNameLst>
                                      </p:cBhvr>
                                      <p:rCtr x="-9453" y="-18889"/>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0" presetClass="path" presetSubtype="0" accel="50000" decel="50000" fill="hold" grpId="0" nodeType="clickEffect">
                                  <p:stCondLst>
                                    <p:cond delay="0"/>
                                  </p:stCondLst>
                                  <p:childTnLst>
                                    <p:animMotion origin="layout" path="M -6.11111E-6 8.51064E-7 L -6.11111E-6 -0.53492 " pathEditMode="relative" ptsTypes="AA">
                                      <p:cBhvr>
                                        <p:cTn id="38" dur="3000" fill="hold"/>
                                        <p:tgtEl>
                                          <p:spTgt spid="12304"/>
                                        </p:tgtEl>
                                        <p:attrNameLst>
                                          <p:attrName>ppt_x</p:attrName>
                                          <p:attrName>ppt_y</p:attrName>
                                        </p:attrNameLst>
                                      </p:cBhvr>
                                    </p:animMotion>
                                  </p:childTnLst>
                                </p:cTn>
                              </p:par>
                            </p:childTnLst>
                          </p:cTn>
                        </p:par>
                      </p:childTnLst>
                    </p:cTn>
                  </p:par>
                  <p:par>
                    <p:cTn id="39" fill="hold" nodeType="clickPar">
                      <p:stCondLst>
                        <p:cond delay="indefinite"/>
                      </p:stCondLst>
                      <p:childTnLst>
                        <p:par>
                          <p:cTn id="40" fill="hold" nodeType="withGroup">
                            <p:stCondLst>
                              <p:cond delay="0"/>
                            </p:stCondLst>
                            <p:childTnLst>
                              <p:par>
                                <p:cTn id="41" presetID="0" presetClass="path" presetSubtype="0" accel="50000" decel="50000" fill="hold" grpId="0" nodeType="clickEffect">
                                  <p:stCondLst>
                                    <p:cond delay="0"/>
                                  </p:stCondLst>
                                  <p:childTnLst>
                                    <p:animMotion origin="layout" path="M 4.44444E-6 8.51064E-7 L -0.14966 -0.38806 " pathEditMode="relative" ptsTypes="AA">
                                      <p:cBhvr>
                                        <p:cTn id="42" dur="2000" fill="hold"/>
                                        <p:tgtEl>
                                          <p:spTgt spid="12305"/>
                                        </p:tgtEl>
                                        <p:attrNameLst>
                                          <p:attrName>ppt_x</p:attrName>
                                          <p:attrName>ppt_y</p:attrName>
                                        </p:attrNameLst>
                                      </p:cBhvr>
                                    </p:animMotion>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2309"/>
                                        </p:tgtEl>
                                        <p:attrNameLst>
                                          <p:attrName>style.visibility</p:attrName>
                                        </p:attrNameLst>
                                      </p:cBhvr>
                                      <p:to>
                                        <p:strVal val="visible"/>
                                      </p:to>
                                    </p:set>
                                    <p:animEffect transition="in" filter="dissolve">
                                      <p:cBhvr>
                                        <p:cTn id="47" dur="500"/>
                                        <p:tgtEl>
                                          <p:spTgt spid="1230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12309"/>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0" presetClass="path" presetSubtype="0" accel="50000" decel="50000" fill="hold" grpId="0" nodeType="clickEffect">
                                  <p:stCondLst>
                                    <p:cond delay="0"/>
                                  </p:stCondLst>
                                  <p:childTnLst>
                                    <p:animMotion origin="layout" path="M 2.08333E-6 1.85185E-6 L -0.03542 -0.41111 " pathEditMode="relative" rAng="0" ptsTypes="AA">
                                      <p:cBhvr>
                                        <p:cTn id="55" dur="3000" fill="hold"/>
                                        <p:tgtEl>
                                          <p:spTgt spid="12294"/>
                                        </p:tgtEl>
                                        <p:attrNameLst>
                                          <p:attrName>ppt_x</p:attrName>
                                          <p:attrName>ppt_y</p:attrName>
                                        </p:attrNameLst>
                                      </p:cBhvr>
                                      <p:rCtr x="-1771" y="-20556"/>
                                    </p:animMotion>
                                  </p:childTnLst>
                                </p:cTn>
                              </p:par>
                              <p:par>
                                <p:cTn id="56" presetID="0" presetClass="path" presetSubtype="0" accel="50000" decel="50000" fill="hold" grpId="0" nodeType="withEffect">
                                  <p:stCondLst>
                                    <p:cond delay="0"/>
                                  </p:stCondLst>
                                  <p:childTnLst>
                                    <p:animMotion origin="layout" path="M -4.58333E-6 1.85185E-6 L -0.0414 -0.34537 " pathEditMode="relative" rAng="0" ptsTypes="AA">
                                      <p:cBhvr>
                                        <p:cTn id="57" dur="3000" fill="hold"/>
                                        <p:tgtEl>
                                          <p:spTgt spid="12295"/>
                                        </p:tgtEl>
                                        <p:attrNameLst>
                                          <p:attrName>ppt_x</p:attrName>
                                          <p:attrName>ppt_y</p:attrName>
                                        </p:attrNameLst>
                                      </p:cBhvr>
                                      <p:rCtr x="-2070" y="-17269"/>
                                    </p:animMotion>
                                  </p:childTnLst>
                                </p:cTn>
                              </p:par>
                              <p:par>
                                <p:cTn id="58" presetID="0" presetClass="path" presetSubtype="0" accel="50000" decel="50000" fill="hold" grpId="0" nodeType="withEffect">
                                  <p:stCondLst>
                                    <p:cond delay="0"/>
                                  </p:stCondLst>
                                  <p:childTnLst>
                                    <p:animMotion origin="layout" path="M 0.0414 -0.02616 L -0.14766 -0.59283 " pathEditMode="relative" rAng="0" ptsTypes="AA">
                                      <p:cBhvr>
                                        <p:cTn id="59" dur="3000" fill="hold"/>
                                        <p:tgtEl>
                                          <p:spTgt spid="12301"/>
                                        </p:tgtEl>
                                        <p:attrNameLst>
                                          <p:attrName>ppt_x</p:attrName>
                                          <p:attrName>ppt_y</p:attrName>
                                        </p:attrNameLst>
                                      </p:cBhvr>
                                      <p:rCtr x="-9453" y="-28333"/>
                                    </p:animMotion>
                                  </p:childTnLst>
                                </p:cTn>
                              </p:par>
                              <p:par>
                                <p:cTn id="60" presetID="0" presetClass="path" presetSubtype="0" accel="50000" decel="50000" fill="hold" grpId="0" nodeType="withEffect">
                                  <p:stCondLst>
                                    <p:cond delay="0"/>
                                  </p:stCondLst>
                                  <p:childTnLst>
                                    <p:animMotion origin="layout" path="M 4.16667E-7 1.85185E-6 L -0.3375 -0.27084 " pathEditMode="relative" rAng="0" ptsTypes="AA">
                                      <p:cBhvr>
                                        <p:cTn id="61" dur="3000" fill="hold"/>
                                        <p:tgtEl>
                                          <p:spTgt spid="12302"/>
                                        </p:tgtEl>
                                        <p:attrNameLst>
                                          <p:attrName>ppt_x</p:attrName>
                                          <p:attrName>ppt_y</p:attrName>
                                        </p:attrNameLst>
                                      </p:cBhvr>
                                      <p:rCtr x="-16875" y="-1354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p:bldP spid="12294" grpId="0" animBg="1"/>
      <p:bldP spid="12295" grpId="0" animBg="1"/>
      <p:bldP spid="12296" grpId="0" animBg="1"/>
      <p:bldP spid="12297" grpId="0" animBg="1"/>
      <p:bldP spid="12298" grpId="0" animBg="1"/>
      <p:bldP spid="12299" grpId="0" animBg="1"/>
      <p:bldP spid="12300" grpId="0" animBg="1"/>
      <p:bldP spid="12301" grpId="0" animBg="1"/>
      <p:bldP spid="12302" grpId="0" animBg="1"/>
      <p:bldP spid="12303" grpId="0" animBg="1"/>
      <p:bldP spid="12304" grpId="0" animBg="1"/>
      <p:bldP spid="12305" grpId="0" animBg="1"/>
      <p:bldP spid="12306" grpId="0" animBg="1"/>
      <p:bldP spid="12309" grpId="0"/>
      <p:bldP spid="12309" grpId="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847851" y="260351"/>
            <a:ext cx="86407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2800" b="1">
                <a:effectLst>
                  <a:outerShdw blurRad="38100" dist="38100" dir="2700000" algn="tl">
                    <a:srgbClr val="FFFFFF"/>
                  </a:outerShdw>
                </a:effectLst>
              </a:rPr>
              <a:t>A VENN DIAGRAM IS USED TO SORT THINGS</a:t>
            </a:r>
          </a:p>
        </p:txBody>
      </p:sp>
      <p:sp>
        <p:nvSpPr>
          <p:cNvPr id="12291" name="Oval 3"/>
          <p:cNvSpPr>
            <a:spLocks noChangeArrowheads="1"/>
          </p:cNvSpPr>
          <p:nvPr/>
        </p:nvSpPr>
        <p:spPr bwMode="auto">
          <a:xfrm>
            <a:off x="2566988" y="1268414"/>
            <a:ext cx="4178300" cy="4105275"/>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2292" name="Oval 4"/>
          <p:cNvSpPr>
            <a:spLocks noChangeArrowheads="1"/>
          </p:cNvSpPr>
          <p:nvPr/>
        </p:nvSpPr>
        <p:spPr bwMode="auto">
          <a:xfrm>
            <a:off x="5375275" y="1196976"/>
            <a:ext cx="4178300" cy="4105275"/>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2293" name="WordArt 5"/>
          <p:cNvSpPr>
            <a:spLocks noChangeArrowheads="1" noChangeShapeType="1" noTextEdit="1"/>
          </p:cNvSpPr>
          <p:nvPr/>
        </p:nvSpPr>
        <p:spPr bwMode="auto">
          <a:xfrm>
            <a:off x="4331431" y="2936806"/>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3</a:t>
            </a:r>
          </a:p>
        </p:txBody>
      </p:sp>
      <p:sp>
        <p:nvSpPr>
          <p:cNvPr id="12294" name="WordArt 6"/>
          <p:cNvSpPr>
            <a:spLocks noChangeArrowheads="1" noChangeShapeType="1" noTextEdit="1"/>
          </p:cNvSpPr>
          <p:nvPr/>
        </p:nvSpPr>
        <p:spPr bwMode="auto">
          <a:xfrm>
            <a:off x="2113210" y="1701422"/>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a:t>
            </a:r>
          </a:p>
        </p:txBody>
      </p:sp>
      <p:sp>
        <p:nvSpPr>
          <p:cNvPr id="12295" name="WordArt 7"/>
          <p:cNvSpPr>
            <a:spLocks noChangeArrowheads="1" noChangeShapeType="1" noTextEdit="1"/>
          </p:cNvSpPr>
          <p:nvPr/>
        </p:nvSpPr>
        <p:spPr bwMode="auto">
          <a:xfrm>
            <a:off x="2184648" y="3469517"/>
            <a:ext cx="135027"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7</a:t>
            </a:r>
          </a:p>
        </p:txBody>
      </p:sp>
      <p:sp>
        <p:nvSpPr>
          <p:cNvPr id="12296" name="WordArt 8"/>
          <p:cNvSpPr>
            <a:spLocks noChangeArrowheads="1" noChangeShapeType="1" noTextEdit="1"/>
          </p:cNvSpPr>
          <p:nvPr/>
        </p:nvSpPr>
        <p:spPr bwMode="auto">
          <a:xfrm>
            <a:off x="7127628" y="231657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10</a:t>
            </a:r>
          </a:p>
        </p:txBody>
      </p:sp>
      <p:sp>
        <p:nvSpPr>
          <p:cNvPr id="12297" name="WordArt 9"/>
          <p:cNvSpPr>
            <a:spLocks noChangeArrowheads="1" noChangeShapeType="1" noTextEdit="1"/>
          </p:cNvSpPr>
          <p:nvPr/>
        </p:nvSpPr>
        <p:spPr bwMode="auto">
          <a:xfrm>
            <a:off x="3250468" y="2673749"/>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15</a:t>
            </a:r>
          </a:p>
        </p:txBody>
      </p:sp>
      <p:sp>
        <p:nvSpPr>
          <p:cNvPr id="12298" name="WordArt 10"/>
          <p:cNvSpPr>
            <a:spLocks noChangeArrowheads="1" noChangeShapeType="1" noTextEdit="1"/>
          </p:cNvSpPr>
          <p:nvPr/>
        </p:nvSpPr>
        <p:spPr bwMode="auto">
          <a:xfrm>
            <a:off x="6022665" y="3469517"/>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18</a:t>
            </a:r>
          </a:p>
        </p:txBody>
      </p:sp>
      <p:sp>
        <p:nvSpPr>
          <p:cNvPr id="12299" name="WordArt 11"/>
          <p:cNvSpPr>
            <a:spLocks noChangeArrowheads="1" noChangeShapeType="1" noTextEdit="1"/>
          </p:cNvSpPr>
          <p:nvPr/>
        </p:nvSpPr>
        <p:spPr bwMode="auto">
          <a:xfrm>
            <a:off x="5591175" y="2853930"/>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24</a:t>
            </a:r>
          </a:p>
        </p:txBody>
      </p:sp>
      <p:sp>
        <p:nvSpPr>
          <p:cNvPr id="12300" name="WordArt 12"/>
          <p:cNvSpPr>
            <a:spLocks noChangeArrowheads="1" noChangeShapeType="1" noTextEdit="1"/>
          </p:cNvSpPr>
          <p:nvPr/>
        </p:nvSpPr>
        <p:spPr bwMode="auto">
          <a:xfrm>
            <a:off x="6096000" y="2771741"/>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30</a:t>
            </a:r>
          </a:p>
        </p:txBody>
      </p:sp>
      <p:sp>
        <p:nvSpPr>
          <p:cNvPr id="12301" name="WordArt 13"/>
          <p:cNvSpPr>
            <a:spLocks noChangeArrowheads="1" noChangeShapeType="1" noTextEdit="1"/>
          </p:cNvSpPr>
          <p:nvPr/>
        </p:nvSpPr>
        <p:spPr bwMode="auto">
          <a:xfrm>
            <a:off x="1952686" y="2591560"/>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13</a:t>
            </a:r>
          </a:p>
        </p:txBody>
      </p:sp>
      <p:sp>
        <p:nvSpPr>
          <p:cNvPr id="12302" name="WordArt 14"/>
          <p:cNvSpPr>
            <a:spLocks noChangeArrowheads="1" noChangeShapeType="1" noTextEdit="1"/>
          </p:cNvSpPr>
          <p:nvPr/>
        </p:nvSpPr>
        <p:spPr bwMode="auto">
          <a:xfrm>
            <a:off x="2062164" y="4335601"/>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25</a:t>
            </a:r>
          </a:p>
        </p:txBody>
      </p:sp>
      <p:sp>
        <p:nvSpPr>
          <p:cNvPr id="12303" name="WordArt 15"/>
          <p:cNvSpPr>
            <a:spLocks noChangeArrowheads="1" noChangeShapeType="1" noTextEdit="1"/>
          </p:cNvSpPr>
          <p:nvPr/>
        </p:nvSpPr>
        <p:spPr bwMode="auto">
          <a:xfrm>
            <a:off x="4367213" y="1922429"/>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27</a:t>
            </a:r>
          </a:p>
        </p:txBody>
      </p:sp>
      <p:sp>
        <p:nvSpPr>
          <p:cNvPr id="12304" name="WordArt 16"/>
          <p:cNvSpPr>
            <a:spLocks noChangeArrowheads="1" noChangeShapeType="1" noTextEdit="1"/>
          </p:cNvSpPr>
          <p:nvPr/>
        </p:nvSpPr>
        <p:spPr bwMode="auto">
          <a:xfrm>
            <a:off x="7247421" y="3765757"/>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40</a:t>
            </a:r>
          </a:p>
        </p:txBody>
      </p:sp>
      <p:sp>
        <p:nvSpPr>
          <p:cNvPr id="12305" name="WordArt 17"/>
          <p:cNvSpPr>
            <a:spLocks noChangeArrowheads="1" noChangeShapeType="1" noTextEdit="1"/>
          </p:cNvSpPr>
          <p:nvPr/>
        </p:nvSpPr>
        <p:spPr bwMode="auto">
          <a:xfrm>
            <a:off x="8111331" y="2673749"/>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50</a:t>
            </a:r>
          </a:p>
        </p:txBody>
      </p:sp>
      <p:sp>
        <p:nvSpPr>
          <p:cNvPr id="12306" name="WordArt 18"/>
          <p:cNvSpPr>
            <a:spLocks noChangeArrowheads="1" noChangeShapeType="1" noTextEdit="1"/>
          </p:cNvSpPr>
          <p:nvPr/>
        </p:nvSpPr>
        <p:spPr bwMode="auto">
          <a:xfrm>
            <a:off x="5807075" y="2102610"/>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dirty="0">
                <a:ln w="9525">
                  <a:solidFill>
                    <a:srgbClr val="000000"/>
                  </a:solidFill>
                  <a:round/>
                  <a:headEnd/>
                  <a:tailEnd/>
                </a:ln>
                <a:solidFill>
                  <a:schemeClr val="accent2"/>
                </a:solidFill>
                <a:latin typeface="Arial Black"/>
              </a:rPr>
              <a:t>36</a:t>
            </a:r>
          </a:p>
        </p:txBody>
      </p:sp>
      <p:sp>
        <p:nvSpPr>
          <p:cNvPr id="12307" name="Text Box 19"/>
          <p:cNvSpPr txBox="1">
            <a:spLocks noChangeArrowheads="1"/>
          </p:cNvSpPr>
          <p:nvPr/>
        </p:nvSpPr>
        <p:spPr bwMode="auto">
          <a:xfrm>
            <a:off x="3792538" y="836613"/>
            <a:ext cx="18716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Multiples of 3</a:t>
            </a:r>
          </a:p>
        </p:txBody>
      </p:sp>
      <p:sp>
        <p:nvSpPr>
          <p:cNvPr id="12308" name="Text Box 20"/>
          <p:cNvSpPr txBox="1">
            <a:spLocks noChangeArrowheads="1"/>
          </p:cNvSpPr>
          <p:nvPr/>
        </p:nvSpPr>
        <p:spPr bwMode="auto">
          <a:xfrm>
            <a:off x="6600826" y="765176"/>
            <a:ext cx="18716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Even numbers</a:t>
            </a:r>
          </a:p>
        </p:txBody>
      </p:sp>
      <p:sp>
        <p:nvSpPr>
          <p:cNvPr id="12309" name="Text Box 21"/>
          <p:cNvSpPr txBox="1">
            <a:spLocks noChangeArrowheads="1"/>
          </p:cNvSpPr>
          <p:nvPr/>
        </p:nvSpPr>
        <p:spPr bwMode="auto">
          <a:xfrm>
            <a:off x="1703389" y="5537366"/>
            <a:ext cx="8785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b="1" dirty="0">
                <a:effectLst>
                  <a:outerShdw blurRad="38100" dist="38100" dir="2700000" algn="tl">
                    <a:srgbClr val="FFFFFF"/>
                  </a:outerShdw>
                </a:effectLst>
              </a:rPr>
              <a:t>Numbers that are not multiples of 3 and not even, stay on the outside.</a:t>
            </a:r>
          </a:p>
        </p:txBody>
      </p:sp>
      <p:sp>
        <p:nvSpPr>
          <p:cNvPr id="24" name="Rectangle 23"/>
          <p:cNvSpPr/>
          <p:nvPr/>
        </p:nvSpPr>
        <p:spPr>
          <a:xfrm>
            <a:off x="1703512" y="765175"/>
            <a:ext cx="8640638" cy="4751388"/>
          </a:xfrm>
          <a:prstGeom prst="rect">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TextBox 22">
            <a:extLst>
              <a:ext uri="{FF2B5EF4-FFF2-40B4-BE49-F238E27FC236}">
                <a16:creationId xmlns:a16="http://schemas.microsoft.com/office/drawing/2014/main" id="{2629616F-0212-4716-9C77-99DBAD66464B}"/>
              </a:ext>
            </a:extLst>
          </p:cNvPr>
          <p:cNvSpPr txBox="1"/>
          <p:nvPr/>
        </p:nvSpPr>
        <p:spPr>
          <a:xfrm>
            <a:off x="2422946" y="6072463"/>
            <a:ext cx="2088839" cy="369332"/>
          </a:xfrm>
          <a:prstGeom prst="rect">
            <a:avLst/>
          </a:prstGeom>
          <a:noFill/>
        </p:spPr>
        <p:txBody>
          <a:bodyPr wrap="square" rtlCol="0">
            <a:spAutoFit/>
          </a:bodyPr>
          <a:lstStyle/>
          <a:p>
            <a:r>
              <a:rPr lang="en-AU" dirty="0"/>
              <a:t>P(multiple of 3)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8E7344D-CD0B-4984-96B7-70EB2823DDA8}"/>
                  </a:ext>
                </a:extLst>
              </p:cNvPr>
              <p:cNvSpPr txBox="1"/>
              <p:nvPr/>
            </p:nvSpPr>
            <p:spPr>
              <a:xfrm>
                <a:off x="4178251" y="5939735"/>
                <a:ext cx="1197024"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i="1" dirty="0" smtClean="0">
                              <a:latin typeface="Cambria Math" panose="02040503050406030204" pitchFamily="18" charset="0"/>
                            </a:rPr>
                          </m:ctrlPr>
                        </m:fPr>
                        <m:num>
                          <m:r>
                            <a:rPr lang="en-AU" b="0" i="1" dirty="0" smtClean="0">
                              <a:latin typeface="Cambria Math"/>
                            </a:rPr>
                            <m:t>7</m:t>
                          </m:r>
                        </m:num>
                        <m:den>
                          <m:r>
                            <a:rPr lang="en-AU" b="0" i="1" dirty="0" smtClean="0">
                              <a:latin typeface="Cambria Math"/>
                            </a:rPr>
                            <m:t>14</m:t>
                          </m:r>
                        </m:den>
                      </m:f>
                      <m:r>
                        <a:rPr lang="en-AU" b="0" i="1" dirty="0" smtClean="0">
                          <a:latin typeface="Cambria Math"/>
                        </a:rPr>
                        <m:t>= </m:t>
                      </m:r>
                      <m:f>
                        <m:fPr>
                          <m:ctrlPr>
                            <a:rPr lang="en-AU" b="0" i="1" dirty="0" smtClean="0">
                              <a:latin typeface="Cambria Math" panose="02040503050406030204" pitchFamily="18" charset="0"/>
                            </a:rPr>
                          </m:ctrlPr>
                        </m:fPr>
                        <m:num>
                          <m:r>
                            <a:rPr lang="en-AU" b="0" i="1" dirty="0" smtClean="0">
                              <a:latin typeface="Cambria Math"/>
                            </a:rPr>
                            <m:t>1</m:t>
                          </m:r>
                        </m:num>
                        <m:den>
                          <m:r>
                            <a:rPr lang="en-AU" b="0" i="1" dirty="0" smtClean="0">
                              <a:latin typeface="Cambria Math"/>
                            </a:rPr>
                            <m:t>2</m:t>
                          </m:r>
                        </m:den>
                      </m:f>
                    </m:oMath>
                  </m:oMathPara>
                </a14:m>
                <a:endParaRPr lang="en-AU" dirty="0"/>
              </a:p>
            </p:txBody>
          </p:sp>
        </mc:Choice>
        <mc:Fallback xmlns="">
          <p:sp>
            <p:nvSpPr>
              <p:cNvPr id="25" name="TextBox 24">
                <a:extLst>
                  <a:ext uri="{FF2B5EF4-FFF2-40B4-BE49-F238E27FC236}">
                    <a16:creationId xmlns:a16="http://schemas.microsoft.com/office/drawing/2014/main" id="{98E7344D-CD0B-4984-96B7-70EB2823DDA8}"/>
                  </a:ext>
                </a:extLst>
              </p:cNvPr>
              <p:cNvSpPr txBox="1">
                <a:spLocks noRot="1" noChangeAspect="1" noMove="1" noResize="1" noEditPoints="1" noAdjustHandles="1" noChangeArrowheads="1" noChangeShapeType="1" noTextEdit="1"/>
              </p:cNvSpPr>
              <p:nvPr/>
            </p:nvSpPr>
            <p:spPr>
              <a:xfrm>
                <a:off x="4178251" y="5939735"/>
                <a:ext cx="1197024" cy="634789"/>
              </a:xfrm>
              <a:prstGeom prst="rect">
                <a:avLst/>
              </a:prstGeom>
              <a:blipFill>
                <a:blip r:embed="rId2"/>
                <a:stretch>
                  <a:fillRect/>
                </a:stretch>
              </a:blipFill>
            </p:spPr>
            <p:txBody>
              <a:bodyPr/>
              <a:lstStyle/>
              <a:p>
                <a:r>
                  <a:rPr lang="en-GB">
                    <a:noFill/>
                  </a:rPr>
                  <a:t> </a:t>
                </a:r>
              </a:p>
            </p:txBody>
          </p:sp>
        </mc:Fallback>
      </mc:AlternateContent>
      <p:sp>
        <p:nvSpPr>
          <p:cNvPr id="26" name="TextBox 25">
            <a:extLst>
              <a:ext uri="{FF2B5EF4-FFF2-40B4-BE49-F238E27FC236}">
                <a16:creationId xmlns:a16="http://schemas.microsoft.com/office/drawing/2014/main" id="{9E16C89C-A9CE-46B9-ADDA-2F28B8785755}"/>
              </a:ext>
            </a:extLst>
          </p:cNvPr>
          <p:cNvSpPr txBox="1"/>
          <p:nvPr/>
        </p:nvSpPr>
        <p:spPr>
          <a:xfrm>
            <a:off x="5880100" y="6072463"/>
            <a:ext cx="2971796" cy="369332"/>
          </a:xfrm>
          <a:prstGeom prst="rect">
            <a:avLst/>
          </a:prstGeom>
          <a:noFill/>
        </p:spPr>
        <p:txBody>
          <a:bodyPr wrap="square" rtlCol="0">
            <a:spAutoFit/>
          </a:bodyPr>
          <a:lstStyle/>
          <a:p>
            <a:r>
              <a:rPr lang="en-AU" dirty="0"/>
              <a:t>P(only even number) =</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B677DAF-7615-4461-9938-F460A3132136}"/>
                  </a:ext>
                </a:extLst>
              </p:cNvPr>
              <p:cNvSpPr txBox="1"/>
              <p:nvPr/>
            </p:nvSpPr>
            <p:spPr>
              <a:xfrm>
                <a:off x="8851896" y="5992351"/>
                <a:ext cx="505247"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i="1" dirty="0" smtClean="0">
                              <a:latin typeface="Cambria Math" panose="02040503050406030204" pitchFamily="18" charset="0"/>
                            </a:rPr>
                          </m:ctrlPr>
                        </m:fPr>
                        <m:num>
                          <m:r>
                            <a:rPr lang="en-AU" b="0" i="1" dirty="0" smtClean="0">
                              <a:latin typeface="Cambria Math"/>
                            </a:rPr>
                            <m:t>3</m:t>
                          </m:r>
                        </m:num>
                        <m:den>
                          <m:r>
                            <a:rPr lang="en-AU" b="0" i="1" dirty="0" smtClean="0">
                              <a:latin typeface="Cambria Math"/>
                            </a:rPr>
                            <m:t>14</m:t>
                          </m:r>
                        </m:den>
                      </m:f>
                    </m:oMath>
                  </m:oMathPara>
                </a14:m>
                <a:endParaRPr lang="en-AU" dirty="0"/>
              </a:p>
            </p:txBody>
          </p:sp>
        </mc:Choice>
        <mc:Fallback xmlns="">
          <p:sp>
            <p:nvSpPr>
              <p:cNvPr id="27" name="TextBox 26">
                <a:extLst>
                  <a:ext uri="{FF2B5EF4-FFF2-40B4-BE49-F238E27FC236}">
                    <a16:creationId xmlns:a16="http://schemas.microsoft.com/office/drawing/2014/main" id="{4B677DAF-7615-4461-9938-F460A3132136}"/>
                  </a:ext>
                </a:extLst>
              </p:cNvPr>
              <p:cNvSpPr txBox="1">
                <a:spLocks noRot="1" noChangeAspect="1" noMove="1" noResize="1" noEditPoints="1" noAdjustHandles="1" noChangeArrowheads="1" noChangeShapeType="1" noTextEdit="1"/>
              </p:cNvSpPr>
              <p:nvPr/>
            </p:nvSpPr>
            <p:spPr>
              <a:xfrm>
                <a:off x="8851896" y="5992351"/>
                <a:ext cx="505247" cy="634789"/>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72144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847851" y="260351"/>
            <a:ext cx="86407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2800" b="1">
                <a:effectLst>
                  <a:outerShdw blurRad="38100" dist="38100" dir="2700000" algn="tl">
                    <a:srgbClr val="FFFFFF"/>
                  </a:outerShdw>
                </a:effectLst>
              </a:rPr>
              <a:t>A VENN DIAGRAM IS USED TO SORT THINGS</a:t>
            </a:r>
          </a:p>
        </p:txBody>
      </p:sp>
      <p:sp>
        <p:nvSpPr>
          <p:cNvPr id="9221" name="Oval 5"/>
          <p:cNvSpPr>
            <a:spLocks noChangeArrowheads="1"/>
          </p:cNvSpPr>
          <p:nvPr/>
        </p:nvSpPr>
        <p:spPr bwMode="auto">
          <a:xfrm>
            <a:off x="5375275" y="1196976"/>
            <a:ext cx="4178300" cy="4105275"/>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9222" name="WordArt 6"/>
          <p:cNvSpPr>
            <a:spLocks noChangeArrowheads="1" noChangeShapeType="1" noTextEdit="1"/>
          </p:cNvSpPr>
          <p:nvPr/>
        </p:nvSpPr>
        <p:spPr bwMode="auto">
          <a:xfrm>
            <a:off x="1847851"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a:t>
            </a:r>
          </a:p>
        </p:txBody>
      </p:sp>
      <p:sp>
        <p:nvSpPr>
          <p:cNvPr id="9223" name="WordArt 7"/>
          <p:cNvSpPr>
            <a:spLocks noChangeArrowheads="1" noChangeShapeType="1" noTextEdit="1"/>
          </p:cNvSpPr>
          <p:nvPr/>
        </p:nvSpPr>
        <p:spPr bwMode="auto">
          <a:xfrm>
            <a:off x="2351089"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a:t>
            </a:r>
          </a:p>
        </p:txBody>
      </p:sp>
      <p:sp>
        <p:nvSpPr>
          <p:cNvPr id="9224" name="WordArt 8"/>
          <p:cNvSpPr>
            <a:spLocks noChangeArrowheads="1" noChangeShapeType="1" noTextEdit="1"/>
          </p:cNvSpPr>
          <p:nvPr/>
        </p:nvSpPr>
        <p:spPr bwMode="auto">
          <a:xfrm>
            <a:off x="2782889"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7</a:t>
            </a:r>
          </a:p>
        </p:txBody>
      </p:sp>
      <p:sp>
        <p:nvSpPr>
          <p:cNvPr id="9225" name="WordArt 9"/>
          <p:cNvSpPr>
            <a:spLocks noChangeArrowheads="1" noChangeShapeType="1" noTextEdit="1"/>
          </p:cNvSpPr>
          <p:nvPr/>
        </p:nvSpPr>
        <p:spPr bwMode="auto">
          <a:xfrm>
            <a:off x="314325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10</a:t>
            </a:r>
          </a:p>
        </p:txBody>
      </p:sp>
      <p:sp>
        <p:nvSpPr>
          <p:cNvPr id="9226" name="WordArt 10"/>
          <p:cNvSpPr>
            <a:spLocks noChangeArrowheads="1" noChangeShapeType="1" noTextEdit="1"/>
          </p:cNvSpPr>
          <p:nvPr/>
        </p:nvSpPr>
        <p:spPr bwMode="auto">
          <a:xfrm>
            <a:off x="4295776"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15</a:t>
            </a:r>
          </a:p>
        </p:txBody>
      </p:sp>
      <p:sp>
        <p:nvSpPr>
          <p:cNvPr id="9227" name="WordArt 11"/>
          <p:cNvSpPr>
            <a:spLocks noChangeArrowheads="1" noChangeShapeType="1" noTextEdit="1"/>
          </p:cNvSpPr>
          <p:nvPr/>
        </p:nvSpPr>
        <p:spPr bwMode="auto">
          <a:xfrm>
            <a:off x="48006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18</a:t>
            </a:r>
          </a:p>
        </p:txBody>
      </p:sp>
      <p:sp>
        <p:nvSpPr>
          <p:cNvPr id="9228" name="WordArt 12"/>
          <p:cNvSpPr>
            <a:spLocks noChangeArrowheads="1" noChangeShapeType="1" noTextEdit="1"/>
          </p:cNvSpPr>
          <p:nvPr/>
        </p:nvSpPr>
        <p:spPr bwMode="auto">
          <a:xfrm>
            <a:off x="54483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24</a:t>
            </a:r>
          </a:p>
        </p:txBody>
      </p:sp>
      <p:sp>
        <p:nvSpPr>
          <p:cNvPr id="9229" name="WordArt 13"/>
          <p:cNvSpPr>
            <a:spLocks noChangeArrowheads="1" noChangeShapeType="1" noTextEdit="1"/>
          </p:cNvSpPr>
          <p:nvPr/>
        </p:nvSpPr>
        <p:spPr bwMode="auto">
          <a:xfrm>
            <a:off x="7032626"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30</a:t>
            </a:r>
          </a:p>
        </p:txBody>
      </p:sp>
      <p:sp>
        <p:nvSpPr>
          <p:cNvPr id="9230" name="WordArt 14"/>
          <p:cNvSpPr>
            <a:spLocks noChangeArrowheads="1" noChangeShapeType="1" noTextEdit="1"/>
          </p:cNvSpPr>
          <p:nvPr/>
        </p:nvSpPr>
        <p:spPr bwMode="auto">
          <a:xfrm>
            <a:off x="371951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13</a:t>
            </a:r>
          </a:p>
        </p:txBody>
      </p:sp>
      <p:sp>
        <p:nvSpPr>
          <p:cNvPr id="9231" name="WordArt 15"/>
          <p:cNvSpPr>
            <a:spLocks noChangeArrowheads="1" noChangeShapeType="1" noTextEdit="1"/>
          </p:cNvSpPr>
          <p:nvPr/>
        </p:nvSpPr>
        <p:spPr bwMode="auto">
          <a:xfrm>
            <a:off x="602456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25</a:t>
            </a:r>
          </a:p>
        </p:txBody>
      </p:sp>
      <p:sp>
        <p:nvSpPr>
          <p:cNvPr id="9232" name="WordArt 16"/>
          <p:cNvSpPr>
            <a:spLocks noChangeArrowheads="1" noChangeShapeType="1" noTextEdit="1"/>
          </p:cNvSpPr>
          <p:nvPr/>
        </p:nvSpPr>
        <p:spPr bwMode="auto">
          <a:xfrm>
            <a:off x="65278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27</a:t>
            </a:r>
          </a:p>
        </p:txBody>
      </p:sp>
      <p:sp>
        <p:nvSpPr>
          <p:cNvPr id="9233" name="WordArt 17"/>
          <p:cNvSpPr>
            <a:spLocks noChangeArrowheads="1" noChangeShapeType="1" noTextEdit="1"/>
          </p:cNvSpPr>
          <p:nvPr/>
        </p:nvSpPr>
        <p:spPr bwMode="auto">
          <a:xfrm>
            <a:off x="818356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40</a:t>
            </a:r>
          </a:p>
        </p:txBody>
      </p:sp>
      <p:sp>
        <p:nvSpPr>
          <p:cNvPr id="9234" name="WordArt 18"/>
          <p:cNvSpPr>
            <a:spLocks noChangeArrowheads="1" noChangeShapeType="1" noTextEdit="1"/>
          </p:cNvSpPr>
          <p:nvPr/>
        </p:nvSpPr>
        <p:spPr bwMode="auto">
          <a:xfrm>
            <a:off x="8688389"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50</a:t>
            </a:r>
          </a:p>
        </p:txBody>
      </p:sp>
      <p:sp>
        <p:nvSpPr>
          <p:cNvPr id="9235" name="WordArt 19"/>
          <p:cNvSpPr>
            <a:spLocks noChangeArrowheads="1" noChangeShapeType="1" noTextEdit="1"/>
          </p:cNvSpPr>
          <p:nvPr/>
        </p:nvSpPr>
        <p:spPr bwMode="auto">
          <a:xfrm>
            <a:off x="7608889"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36</a:t>
            </a:r>
          </a:p>
        </p:txBody>
      </p:sp>
      <p:sp>
        <p:nvSpPr>
          <p:cNvPr id="9236" name="Text Box 20"/>
          <p:cNvSpPr txBox="1">
            <a:spLocks noChangeArrowheads="1"/>
          </p:cNvSpPr>
          <p:nvPr/>
        </p:nvSpPr>
        <p:spPr bwMode="auto">
          <a:xfrm>
            <a:off x="3792538" y="836613"/>
            <a:ext cx="18716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Multiples of 3</a:t>
            </a:r>
          </a:p>
        </p:txBody>
      </p:sp>
      <p:sp>
        <p:nvSpPr>
          <p:cNvPr id="9237" name="Text Box 21"/>
          <p:cNvSpPr txBox="1">
            <a:spLocks noChangeArrowheads="1"/>
          </p:cNvSpPr>
          <p:nvPr/>
        </p:nvSpPr>
        <p:spPr bwMode="auto">
          <a:xfrm>
            <a:off x="6600826" y="765176"/>
            <a:ext cx="18716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Even numbers</a:t>
            </a:r>
          </a:p>
        </p:txBody>
      </p:sp>
      <p:sp>
        <p:nvSpPr>
          <p:cNvPr id="9220" name="Oval 4"/>
          <p:cNvSpPr>
            <a:spLocks noChangeArrowheads="1"/>
          </p:cNvSpPr>
          <p:nvPr/>
        </p:nvSpPr>
        <p:spPr bwMode="auto">
          <a:xfrm>
            <a:off x="2566988" y="1268414"/>
            <a:ext cx="4178300" cy="4105275"/>
          </a:xfrm>
          <a:prstGeom prst="ellipse">
            <a:avLst/>
          </a:prstGeom>
          <a:solidFill>
            <a:schemeClr val="accent1"/>
          </a:soli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9238" name="Text Box 22"/>
          <p:cNvSpPr txBox="1">
            <a:spLocks noChangeArrowheads="1"/>
          </p:cNvSpPr>
          <p:nvPr/>
        </p:nvSpPr>
        <p:spPr bwMode="auto">
          <a:xfrm>
            <a:off x="3575050" y="2060576"/>
            <a:ext cx="208915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3200" b="1"/>
              <a:t>Multiples of 3 go inside this circle</a:t>
            </a:r>
          </a:p>
        </p:txBody>
      </p:sp>
      <p:sp>
        <p:nvSpPr>
          <p:cNvPr id="24" name="Rectangle 23"/>
          <p:cNvSpPr/>
          <p:nvPr/>
        </p:nvSpPr>
        <p:spPr>
          <a:xfrm>
            <a:off x="1703512" y="765175"/>
            <a:ext cx="8640638" cy="4751388"/>
          </a:xfrm>
          <a:prstGeom prst="rect">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60040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847851" y="260351"/>
            <a:ext cx="86407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2800" b="1">
                <a:effectLst>
                  <a:outerShdw blurRad="38100" dist="38100" dir="2700000" algn="tl">
                    <a:srgbClr val="FFFFFF"/>
                  </a:outerShdw>
                </a:effectLst>
              </a:rPr>
              <a:t>A VENN DIAGRAM IS USED TO SORT THINGS</a:t>
            </a:r>
          </a:p>
        </p:txBody>
      </p:sp>
      <p:sp>
        <p:nvSpPr>
          <p:cNvPr id="11267" name="Oval 3"/>
          <p:cNvSpPr>
            <a:spLocks noChangeArrowheads="1"/>
          </p:cNvSpPr>
          <p:nvPr/>
        </p:nvSpPr>
        <p:spPr bwMode="auto">
          <a:xfrm>
            <a:off x="2566988" y="1268414"/>
            <a:ext cx="4178300" cy="4105275"/>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1268" name="Oval 4"/>
          <p:cNvSpPr>
            <a:spLocks noChangeArrowheads="1"/>
          </p:cNvSpPr>
          <p:nvPr/>
        </p:nvSpPr>
        <p:spPr bwMode="auto">
          <a:xfrm>
            <a:off x="5375275" y="1196976"/>
            <a:ext cx="4178300" cy="4105275"/>
          </a:xfrm>
          <a:prstGeom prst="ellipse">
            <a:avLst/>
          </a:prstGeom>
          <a:solidFill>
            <a:schemeClr val="accent1"/>
          </a:soli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1269" name="WordArt 5"/>
          <p:cNvSpPr>
            <a:spLocks noChangeArrowheads="1" noChangeShapeType="1" noTextEdit="1"/>
          </p:cNvSpPr>
          <p:nvPr/>
        </p:nvSpPr>
        <p:spPr bwMode="auto">
          <a:xfrm>
            <a:off x="1847851"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a:t>
            </a:r>
          </a:p>
        </p:txBody>
      </p:sp>
      <p:sp>
        <p:nvSpPr>
          <p:cNvPr id="11270" name="WordArt 6"/>
          <p:cNvSpPr>
            <a:spLocks noChangeArrowheads="1" noChangeShapeType="1" noTextEdit="1"/>
          </p:cNvSpPr>
          <p:nvPr/>
        </p:nvSpPr>
        <p:spPr bwMode="auto">
          <a:xfrm>
            <a:off x="2351089"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a:t>
            </a:r>
          </a:p>
        </p:txBody>
      </p:sp>
      <p:sp>
        <p:nvSpPr>
          <p:cNvPr id="11271" name="WordArt 7"/>
          <p:cNvSpPr>
            <a:spLocks noChangeArrowheads="1" noChangeShapeType="1" noTextEdit="1"/>
          </p:cNvSpPr>
          <p:nvPr/>
        </p:nvSpPr>
        <p:spPr bwMode="auto">
          <a:xfrm>
            <a:off x="2782889" y="6237288"/>
            <a:ext cx="14287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7</a:t>
            </a:r>
          </a:p>
        </p:txBody>
      </p:sp>
      <p:sp>
        <p:nvSpPr>
          <p:cNvPr id="11272" name="WordArt 8"/>
          <p:cNvSpPr>
            <a:spLocks noChangeArrowheads="1" noChangeShapeType="1" noTextEdit="1"/>
          </p:cNvSpPr>
          <p:nvPr/>
        </p:nvSpPr>
        <p:spPr bwMode="auto">
          <a:xfrm>
            <a:off x="314325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10</a:t>
            </a:r>
          </a:p>
        </p:txBody>
      </p:sp>
      <p:sp>
        <p:nvSpPr>
          <p:cNvPr id="11273" name="WordArt 9"/>
          <p:cNvSpPr>
            <a:spLocks noChangeArrowheads="1" noChangeShapeType="1" noTextEdit="1"/>
          </p:cNvSpPr>
          <p:nvPr/>
        </p:nvSpPr>
        <p:spPr bwMode="auto">
          <a:xfrm>
            <a:off x="4295776"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15</a:t>
            </a:r>
          </a:p>
        </p:txBody>
      </p:sp>
      <p:sp>
        <p:nvSpPr>
          <p:cNvPr id="11274" name="WordArt 10"/>
          <p:cNvSpPr>
            <a:spLocks noChangeArrowheads="1" noChangeShapeType="1" noTextEdit="1"/>
          </p:cNvSpPr>
          <p:nvPr/>
        </p:nvSpPr>
        <p:spPr bwMode="auto">
          <a:xfrm>
            <a:off x="48006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18</a:t>
            </a:r>
          </a:p>
        </p:txBody>
      </p:sp>
      <p:sp>
        <p:nvSpPr>
          <p:cNvPr id="11275" name="WordArt 11"/>
          <p:cNvSpPr>
            <a:spLocks noChangeArrowheads="1" noChangeShapeType="1" noTextEdit="1"/>
          </p:cNvSpPr>
          <p:nvPr/>
        </p:nvSpPr>
        <p:spPr bwMode="auto">
          <a:xfrm>
            <a:off x="54483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24</a:t>
            </a:r>
          </a:p>
        </p:txBody>
      </p:sp>
      <p:sp>
        <p:nvSpPr>
          <p:cNvPr id="11276" name="WordArt 12"/>
          <p:cNvSpPr>
            <a:spLocks noChangeArrowheads="1" noChangeShapeType="1" noTextEdit="1"/>
          </p:cNvSpPr>
          <p:nvPr/>
        </p:nvSpPr>
        <p:spPr bwMode="auto">
          <a:xfrm>
            <a:off x="7032626"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30</a:t>
            </a:r>
          </a:p>
        </p:txBody>
      </p:sp>
      <p:sp>
        <p:nvSpPr>
          <p:cNvPr id="11277" name="WordArt 13"/>
          <p:cNvSpPr>
            <a:spLocks noChangeArrowheads="1" noChangeShapeType="1" noTextEdit="1"/>
          </p:cNvSpPr>
          <p:nvPr/>
        </p:nvSpPr>
        <p:spPr bwMode="auto">
          <a:xfrm>
            <a:off x="371951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13</a:t>
            </a:r>
          </a:p>
        </p:txBody>
      </p:sp>
      <p:sp>
        <p:nvSpPr>
          <p:cNvPr id="11278" name="WordArt 14"/>
          <p:cNvSpPr>
            <a:spLocks noChangeArrowheads="1" noChangeShapeType="1" noTextEdit="1"/>
          </p:cNvSpPr>
          <p:nvPr/>
        </p:nvSpPr>
        <p:spPr bwMode="auto">
          <a:xfrm>
            <a:off x="602456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25</a:t>
            </a:r>
          </a:p>
        </p:txBody>
      </p:sp>
      <p:sp>
        <p:nvSpPr>
          <p:cNvPr id="11279" name="WordArt 15"/>
          <p:cNvSpPr>
            <a:spLocks noChangeArrowheads="1" noChangeShapeType="1" noTextEdit="1"/>
          </p:cNvSpPr>
          <p:nvPr/>
        </p:nvSpPr>
        <p:spPr bwMode="auto">
          <a:xfrm>
            <a:off x="6527801"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27</a:t>
            </a:r>
          </a:p>
        </p:txBody>
      </p:sp>
      <p:sp>
        <p:nvSpPr>
          <p:cNvPr id="11280" name="WordArt 16"/>
          <p:cNvSpPr>
            <a:spLocks noChangeArrowheads="1" noChangeShapeType="1" noTextEdit="1"/>
          </p:cNvSpPr>
          <p:nvPr/>
        </p:nvSpPr>
        <p:spPr bwMode="auto">
          <a:xfrm>
            <a:off x="8183564"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40</a:t>
            </a:r>
          </a:p>
        </p:txBody>
      </p:sp>
      <p:sp>
        <p:nvSpPr>
          <p:cNvPr id="11281" name="WordArt 17"/>
          <p:cNvSpPr>
            <a:spLocks noChangeArrowheads="1" noChangeShapeType="1" noTextEdit="1"/>
          </p:cNvSpPr>
          <p:nvPr/>
        </p:nvSpPr>
        <p:spPr bwMode="auto">
          <a:xfrm>
            <a:off x="8688389"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50</a:t>
            </a:r>
          </a:p>
        </p:txBody>
      </p:sp>
      <p:sp>
        <p:nvSpPr>
          <p:cNvPr id="11282" name="WordArt 18"/>
          <p:cNvSpPr>
            <a:spLocks noChangeArrowheads="1" noChangeShapeType="1" noTextEdit="1"/>
          </p:cNvSpPr>
          <p:nvPr/>
        </p:nvSpPr>
        <p:spPr bwMode="auto">
          <a:xfrm>
            <a:off x="7608889" y="6237288"/>
            <a:ext cx="288925" cy="360362"/>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AU" sz="3600" kern="10">
                <a:ln w="9525">
                  <a:solidFill>
                    <a:srgbClr val="000000"/>
                  </a:solidFill>
                  <a:round/>
                  <a:headEnd/>
                  <a:tailEnd/>
                </a:ln>
                <a:solidFill>
                  <a:schemeClr val="accent2"/>
                </a:solidFill>
                <a:latin typeface="Arial Black"/>
              </a:rPr>
              <a:t>36</a:t>
            </a:r>
          </a:p>
        </p:txBody>
      </p:sp>
      <p:sp>
        <p:nvSpPr>
          <p:cNvPr id="11283" name="Text Box 19"/>
          <p:cNvSpPr txBox="1">
            <a:spLocks noChangeArrowheads="1"/>
          </p:cNvSpPr>
          <p:nvPr/>
        </p:nvSpPr>
        <p:spPr bwMode="auto">
          <a:xfrm>
            <a:off x="3792538" y="836613"/>
            <a:ext cx="18716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Multiples of 3</a:t>
            </a:r>
          </a:p>
        </p:txBody>
      </p:sp>
      <p:sp>
        <p:nvSpPr>
          <p:cNvPr id="11284" name="Text Box 20"/>
          <p:cNvSpPr txBox="1">
            <a:spLocks noChangeArrowheads="1"/>
          </p:cNvSpPr>
          <p:nvPr/>
        </p:nvSpPr>
        <p:spPr bwMode="auto">
          <a:xfrm>
            <a:off x="6600826" y="765176"/>
            <a:ext cx="18716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b="1"/>
              <a:t>Even numbers</a:t>
            </a:r>
          </a:p>
        </p:txBody>
      </p:sp>
      <p:sp>
        <p:nvSpPr>
          <p:cNvPr id="11285" name="Text Box 21"/>
          <p:cNvSpPr txBox="1">
            <a:spLocks noChangeArrowheads="1"/>
          </p:cNvSpPr>
          <p:nvPr/>
        </p:nvSpPr>
        <p:spPr bwMode="auto">
          <a:xfrm>
            <a:off x="6600826" y="2060576"/>
            <a:ext cx="2087563"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3200" b="1"/>
              <a:t>Even numbers go inside this circle</a:t>
            </a:r>
          </a:p>
        </p:txBody>
      </p:sp>
      <p:sp>
        <p:nvSpPr>
          <p:cNvPr id="24" name="Rectangle 23"/>
          <p:cNvSpPr/>
          <p:nvPr/>
        </p:nvSpPr>
        <p:spPr>
          <a:xfrm>
            <a:off x="1703512" y="765175"/>
            <a:ext cx="8640638" cy="4751388"/>
          </a:xfrm>
          <a:prstGeom prst="rect">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01699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8971" y="1881051"/>
            <a:ext cx="11086012" cy="2554545"/>
          </a:xfrm>
          <a:prstGeom prst="rect">
            <a:avLst/>
          </a:prstGeom>
          <a:noFill/>
        </p:spPr>
        <p:txBody>
          <a:bodyPr wrap="square" rtlCol="0">
            <a:spAutoFit/>
          </a:bodyPr>
          <a:lstStyle/>
          <a:p>
            <a:r>
              <a:rPr lang="en-AU" sz="3200" dirty="0"/>
              <a:t>We can use the Venn diagram this way to collect and organise the categories, but it can be really messy!  So normally you would see a total number inside the box/circle to tell you how many values are in that section, or even listing the probability.  </a:t>
            </a:r>
          </a:p>
        </p:txBody>
      </p:sp>
    </p:spTree>
    <p:extLst>
      <p:ext uri="{BB962C8B-B14F-4D97-AF65-F5344CB8AC3E}">
        <p14:creationId xmlns:p14="http://schemas.microsoft.com/office/powerpoint/2010/main" val="30641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Class activity</a:t>
            </a:r>
          </a:p>
        </p:txBody>
      </p:sp>
      <p:sp>
        <p:nvSpPr>
          <p:cNvPr id="3" name="Content Placeholder 2"/>
          <p:cNvSpPr>
            <a:spLocks noGrp="1"/>
          </p:cNvSpPr>
          <p:nvPr>
            <p:ph idx="1"/>
          </p:nvPr>
        </p:nvSpPr>
        <p:spPr/>
        <p:txBody>
          <a:bodyPr>
            <a:normAutofit lnSpcReduction="10000"/>
          </a:bodyPr>
          <a:lstStyle/>
          <a:p>
            <a:pPr marL="0" indent="0">
              <a:buNone/>
            </a:pPr>
            <a:r>
              <a:rPr lang="en-AU" dirty="0"/>
              <a:t>Find out how many people in the class are Boys?</a:t>
            </a:r>
          </a:p>
          <a:p>
            <a:pPr marL="0" indent="0">
              <a:buNone/>
            </a:pPr>
            <a:endParaRPr lang="en-AU" dirty="0"/>
          </a:p>
          <a:p>
            <a:pPr marL="0" indent="0">
              <a:buNone/>
            </a:pPr>
            <a:r>
              <a:rPr lang="en-AU" dirty="0"/>
              <a:t>How many people are 15 years old?</a:t>
            </a:r>
          </a:p>
          <a:p>
            <a:pPr marL="0" indent="0">
              <a:buNone/>
            </a:pPr>
            <a:endParaRPr lang="en-AU" dirty="0"/>
          </a:p>
          <a:p>
            <a:pPr marL="0" indent="0">
              <a:buNone/>
            </a:pPr>
            <a:r>
              <a:rPr lang="en-AU" dirty="0"/>
              <a:t>How many people are there in the class?</a:t>
            </a:r>
          </a:p>
          <a:p>
            <a:pPr marL="0" indent="0">
              <a:buNone/>
            </a:pPr>
            <a:endParaRPr lang="en-AU" dirty="0"/>
          </a:p>
          <a:p>
            <a:pPr marL="0" indent="0">
              <a:buNone/>
            </a:pPr>
            <a:r>
              <a:rPr lang="en-AU" dirty="0"/>
              <a:t>How many people in the class are not 15 </a:t>
            </a:r>
            <a:r>
              <a:rPr lang="en-AU" dirty="0" err="1"/>
              <a:t>yrs</a:t>
            </a:r>
            <a:r>
              <a:rPr lang="en-AU" dirty="0"/>
              <a:t> old </a:t>
            </a:r>
            <a:r>
              <a:rPr lang="en-AU" b="1" dirty="0"/>
              <a:t>and </a:t>
            </a:r>
            <a:r>
              <a:rPr lang="en-AU" dirty="0"/>
              <a:t> are not boys?</a:t>
            </a:r>
          </a:p>
          <a:p>
            <a:pPr marL="0" indent="0">
              <a:buNone/>
            </a:pPr>
            <a:endParaRPr lang="en-AU" dirty="0"/>
          </a:p>
          <a:p>
            <a:pPr marL="0" indent="0">
              <a:buNone/>
            </a:pPr>
            <a:r>
              <a:rPr lang="en-AU" dirty="0"/>
              <a:t>We now have everything we need to get organised and find some probabilities! </a:t>
            </a:r>
          </a:p>
        </p:txBody>
      </p:sp>
      <p:sp>
        <p:nvSpPr>
          <p:cNvPr id="4" name="Rectangle 3"/>
          <p:cNvSpPr/>
          <p:nvPr/>
        </p:nvSpPr>
        <p:spPr>
          <a:xfrm>
            <a:off x="7552686" y="2057401"/>
            <a:ext cx="716692" cy="411892"/>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p:cNvSpPr/>
          <p:nvPr/>
        </p:nvSpPr>
        <p:spPr>
          <a:xfrm>
            <a:off x="5870872" y="2912782"/>
            <a:ext cx="716692" cy="411892"/>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p:cNvSpPr/>
          <p:nvPr/>
        </p:nvSpPr>
        <p:spPr>
          <a:xfrm>
            <a:off x="6587564" y="3794730"/>
            <a:ext cx="716692" cy="411892"/>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9978023" y="4404361"/>
            <a:ext cx="716692" cy="411892"/>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850937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Organising your Venn diagram</a:t>
            </a:r>
          </a:p>
        </p:txBody>
      </p:sp>
      <p:sp>
        <p:nvSpPr>
          <p:cNvPr id="3" name="Content Placeholder 2"/>
          <p:cNvSpPr>
            <a:spLocks noGrp="1"/>
          </p:cNvSpPr>
          <p:nvPr>
            <p:ph idx="1"/>
          </p:nvPr>
        </p:nvSpPr>
        <p:spPr/>
        <p:txBody>
          <a:bodyPr/>
          <a:lstStyle/>
          <a:p>
            <a:pPr marL="0" indent="0">
              <a:buNone/>
            </a:pPr>
            <a:r>
              <a:rPr lang="en-AU" dirty="0"/>
              <a:t>Now that we have our numbers we need to build out “universe”</a:t>
            </a:r>
          </a:p>
          <a:p>
            <a:pPr marL="0" indent="0">
              <a:buNone/>
            </a:pPr>
            <a:endParaRPr lang="en-AU" dirty="0"/>
          </a:p>
          <a:p>
            <a:pPr marL="0" indent="0">
              <a:buNone/>
            </a:pPr>
            <a:endParaRPr lang="en-AU" dirty="0"/>
          </a:p>
          <a:p>
            <a:pPr marL="0" indent="0">
              <a:buNone/>
            </a:pPr>
            <a:r>
              <a:rPr lang="en-AU" dirty="0"/>
              <a:t>Step 1 is to draw our “universe” – the box that contains everything!</a:t>
            </a:r>
          </a:p>
        </p:txBody>
      </p:sp>
      <p:graphicFrame>
        <p:nvGraphicFramePr>
          <p:cNvPr id="4" name="Table 3"/>
          <p:cNvGraphicFramePr>
            <a:graphicFrameLocks noGrp="1"/>
          </p:cNvGraphicFramePr>
          <p:nvPr>
            <p:extLst>
              <p:ext uri="{D42A27DB-BD31-4B8C-83A1-F6EECF244321}">
                <p14:modId xmlns:p14="http://schemas.microsoft.com/office/powerpoint/2010/main" val="1599359902"/>
              </p:ext>
            </p:extLst>
          </p:nvPr>
        </p:nvGraphicFramePr>
        <p:xfrm>
          <a:off x="766354" y="2624909"/>
          <a:ext cx="10136776" cy="736600"/>
        </p:xfrm>
        <a:graphic>
          <a:graphicData uri="http://schemas.openxmlformats.org/drawingml/2006/table">
            <a:tbl>
              <a:tblPr firstRow="1" bandRow="1">
                <a:tableStyleId>{5C22544A-7EE6-4342-B048-85BDC9FD1C3A}</a:tableStyleId>
              </a:tblPr>
              <a:tblGrid>
                <a:gridCol w="2534194">
                  <a:extLst>
                    <a:ext uri="{9D8B030D-6E8A-4147-A177-3AD203B41FA5}">
                      <a16:colId xmlns:a16="http://schemas.microsoft.com/office/drawing/2014/main" val="20000"/>
                    </a:ext>
                  </a:extLst>
                </a:gridCol>
                <a:gridCol w="2534194">
                  <a:extLst>
                    <a:ext uri="{9D8B030D-6E8A-4147-A177-3AD203B41FA5}">
                      <a16:colId xmlns:a16="http://schemas.microsoft.com/office/drawing/2014/main" val="20001"/>
                    </a:ext>
                  </a:extLst>
                </a:gridCol>
                <a:gridCol w="2534194">
                  <a:extLst>
                    <a:ext uri="{9D8B030D-6E8A-4147-A177-3AD203B41FA5}">
                      <a16:colId xmlns:a16="http://schemas.microsoft.com/office/drawing/2014/main" val="20002"/>
                    </a:ext>
                  </a:extLst>
                </a:gridCol>
                <a:gridCol w="2534194">
                  <a:extLst>
                    <a:ext uri="{9D8B030D-6E8A-4147-A177-3AD203B41FA5}">
                      <a16:colId xmlns:a16="http://schemas.microsoft.com/office/drawing/2014/main" val="20003"/>
                    </a:ext>
                  </a:extLst>
                </a:gridCol>
              </a:tblGrid>
              <a:tr h="370840">
                <a:tc>
                  <a:txBody>
                    <a:bodyPr/>
                    <a:lstStyle/>
                    <a:p>
                      <a:r>
                        <a:rPr lang="en-AU" dirty="0"/>
                        <a:t>Boys</a:t>
                      </a:r>
                    </a:p>
                  </a:txBody>
                  <a:tcPr/>
                </a:tc>
                <a:tc>
                  <a:txBody>
                    <a:bodyPr/>
                    <a:lstStyle/>
                    <a:p>
                      <a:r>
                        <a:rPr lang="en-AU" dirty="0"/>
                        <a:t>15ys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a:t>Not</a:t>
                      </a:r>
                      <a:r>
                        <a:rPr lang="en-AU" baseline="0" dirty="0"/>
                        <a:t> boys and 15yrs</a:t>
                      </a:r>
                      <a:endParaRPr lang="en-A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a:t>Whole class</a:t>
                      </a:r>
                    </a:p>
                  </a:txBody>
                  <a:tcPr/>
                </a:tc>
                <a:extLst>
                  <a:ext uri="{0D108BD9-81ED-4DB2-BD59-A6C34878D82A}">
                    <a16:rowId xmlns:a16="http://schemas.microsoft.com/office/drawing/2014/main" val="10000"/>
                  </a:ext>
                </a:extLst>
              </a:tr>
              <a:tr h="355117">
                <a:tc>
                  <a:txBody>
                    <a:bodyPr/>
                    <a:lstStyle/>
                    <a:p>
                      <a:endParaRPr lang="en-AU"/>
                    </a:p>
                  </a:txBody>
                  <a:tcPr/>
                </a:tc>
                <a:tc>
                  <a:txBody>
                    <a:bodyPr/>
                    <a:lstStyle/>
                    <a:p>
                      <a:endParaRPr lang="en-AU"/>
                    </a:p>
                  </a:txBody>
                  <a:tcPr/>
                </a:tc>
                <a:tc>
                  <a:txBody>
                    <a:bodyPr/>
                    <a:lstStyle/>
                    <a:p>
                      <a:endParaRPr lang="en-AU" dirty="0"/>
                    </a:p>
                  </a:txBody>
                  <a:tcPr/>
                </a:tc>
                <a:tc>
                  <a:txBody>
                    <a:bodyPr/>
                    <a:lstStyle/>
                    <a:p>
                      <a:endParaRPr lang="en-AU" dirty="0"/>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3135086" y="3900027"/>
            <a:ext cx="4850674" cy="2840407"/>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025213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Organising your Venn diagram</a:t>
            </a:r>
          </a:p>
        </p:txBody>
      </p:sp>
      <p:sp>
        <p:nvSpPr>
          <p:cNvPr id="3" name="Content Placeholder 2"/>
          <p:cNvSpPr>
            <a:spLocks noGrp="1"/>
          </p:cNvSpPr>
          <p:nvPr>
            <p:ph idx="1"/>
          </p:nvPr>
        </p:nvSpPr>
        <p:spPr/>
        <p:txBody>
          <a:bodyPr/>
          <a:lstStyle/>
          <a:p>
            <a:pPr marL="0" indent="0">
              <a:buNone/>
            </a:pPr>
            <a:r>
              <a:rPr lang="en-AU" dirty="0"/>
              <a:t>Now that we have our numbers we need to build out “universe”</a:t>
            </a:r>
          </a:p>
          <a:p>
            <a:pPr marL="0" indent="0">
              <a:buNone/>
            </a:pPr>
            <a:endParaRPr lang="en-AU" dirty="0"/>
          </a:p>
          <a:p>
            <a:pPr marL="0" indent="0">
              <a:buNone/>
            </a:pPr>
            <a:endParaRPr lang="en-AU" dirty="0"/>
          </a:p>
          <a:p>
            <a:pPr marL="0" indent="0">
              <a:buNone/>
            </a:pPr>
            <a:r>
              <a:rPr lang="en-AU" dirty="0"/>
              <a:t>Step 2 – work out how many circles will represent this information.  One circle for each category. Draw them in and label them.</a:t>
            </a:r>
          </a:p>
        </p:txBody>
      </p:sp>
      <p:graphicFrame>
        <p:nvGraphicFramePr>
          <p:cNvPr id="4" name="Table 3"/>
          <p:cNvGraphicFramePr>
            <a:graphicFrameLocks noGrp="1"/>
          </p:cNvGraphicFramePr>
          <p:nvPr>
            <p:extLst>
              <p:ext uri="{D42A27DB-BD31-4B8C-83A1-F6EECF244321}">
                <p14:modId xmlns:p14="http://schemas.microsoft.com/office/powerpoint/2010/main" val="158423570"/>
              </p:ext>
            </p:extLst>
          </p:nvPr>
        </p:nvGraphicFramePr>
        <p:xfrm>
          <a:off x="766353" y="2624909"/>
          <a:ext cx="9927772" cy="858520"/>
        </p:xfrm>
        <a:graphic>
          <a:graphicData uri="http://schemas.openxmlformats.org/drawingml/2006/table">
            <a:tbl>
              <a:tblPr firstRow="1" bandRow="1">
                <a:tableStyleId>{5C22544A-7EE6-4342-B048-85BDC9FD1C3A}</a:tableStyleId>
              </a:tblPr>
              <a:tblGrid>
                <a:gridCol w="2481943">
                  <a:extLst>
                    <a:ext uri="{9D8B030D-6E8A-4147-A177-3AD203B41FA5}">
                      <a16:colId xmlns:a16="http://schemas.microsoft.com/office/drawing/2014/main" val="20000"/>
                    </a:ext>
                  </a:extLst>
                </a:gridCol>
                <a:gridCol w="2481943">
                  <a:extLst>
                    <a:ext uri="{9D8B030D-6E8A-4147-A177-3AD203B41FA5}">
                      <a16:colId xmlns:a16="http://schemas.microsoft.com/office/drawing/2014/main" val="20001"/>
                    </a:ext>
                  </a:extLst>
                </a:gridCol>
                <a:gridCol w="2481943">
                  <a:extLst>
                    <a:ext uri="{9D8B030D-6E8A-4147-A177-3AD203B41FA5}">
                      <a16:colId xmlns:a16="http://schemas.microsoft.com/office/drawing/2014/main" val="20002"/>
                    </a:ext>
                  </a:extLst>
                </a:gridCol>
                <a:gridCol w="2481943">
                  <a:extLst>
                    <a:ext uri="{9D8B030D-6E8A-4147-A177-3AD203B41FA5}">
                      <a16:colId xmlns:a16="http://schemas.microsoft.com/office/drawing/2014/main" val="20003"/>
                    </a:ext>
                  </a:extLst>
                </a:gridCol>
              </a:tblGrid>
              <a:tr h="492760">
                <a:tc>
                  <a:txBody>
                    <a:bodyPr/>
                    <a:lstStyle/>
                    <a:p>
                      <a:r>
                        <a:rPr lang="en-AU" dirty="0"/>
                        <a:t>Boys</a:t>
                      </a:r>
                    </a:p>
                  </a:txBody>
                  <a:tcPr/>
                </a:tc>
                <a:tc>
                  <a:txBody>
                    <a:bodyPr/>
                    <a:lstStyle/>
                    <a:p>
                      <a:r>
                        <a:rPr lang="en-AU" dirty="0"/>
                        <a:t>15ys</a:t>
                      </a:r>
                    </a:p>
                  </a:txBody>
                  <a:tcPr/>
                </a:tc>
                <a:tc>
                  <a:txBody>
                    <a:bodyPr/>
                    <a:lstStyle/>
                    <a:p>
                      <a:r>
                        <a:rPr lang="en-AU" dirty="0"/>
                        <a:t>Boys’</a:t>
                      </a:r>
                      <a:r>
                        <a:rPr lang="en-AU" baseline="0" dirty="0"/>
                        <a:t> </a:t>
                      </a:r>
                      <a:r>
                        <a:rPr lang="en-AU" b="0" baseline="0" dirty="0">
                          <a:latin typeface="Century Gothic" panose="020B0502020202020204" pitchFamily="34" charset="0"/>
                        </a:rPr>
                        <a:t>∩</a:t>
                      </a:r>
                      <a:r>
                        <a:rPr lang="en-AU" baseline="0" dirty="0"/>
                        <a:t> 15yrs’</a:t>
                      </a:r>
                      <a:endParaRPr lang="en-A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a:t>Whole class</a:t>
                      </a:r>
                    </a:p>
                  </a:txBody>
                  <a:tcPr/>
                </a:tc>
                <a:extLst>
                  <a:ext uri="{0D108BD9-81ED-4DB2-BD59-A6C34878D82A}">
                    <a16:rowId xmlns:a16="http://schemas.microsoft.com/office/drawing/2014/main" val="10000"/>
                  </a:ext>
                </a:extLst>
              </a:tr>
              <a:tr h="355117">
                <a:tc>
                  <a:txBody>
                    <a:bodyPr/>
                    <a:lstStyle/>
                    <a:p>
                      <a:endParaRPr lang="en-AU"/>
                    </a:p>
                  </a:txBody>
                  <a:tcPr/>
                </a:tc>
                <a:tc>
                  <a:txBody>
                    <a:bodyPr/>
                    <a:lstStyle/>
                    <a:p>
                      <a:endParaRPr lang="en-AU"/>
                    </a:p>
                  </a:txBody>
                  <a:tcPr/>
                </a:tc>
                <a:tc>
                  <a:txBody>
                    <a:bodyPr/>
                    <a:lstStyle/>
                    <a:p>
                      <a:endParaRPr lang="en-AU" dirty="0"/>
                    </a:p>
                  </a:txBody>
                  <a:tcPr/>
                </a:tc>
                <a:tc>
                  <a:txBody>
                    <a:bodyPr/>
                    <a:lstStyle/>
                    <a:p>
                      <a:endParaRPr lang="en-AU" dirty="0"/>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3640015" y="4264269"/>
            <a:ext cx="4352193" cy="250580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p:cNvSpPr/>
          <p:nvPr/>
        </p:nvSpPr>
        <p:spPr>
          <a:xfrm>
            <a:off x="4049487" y="4615160"/>
            <a:ext cx="2072640" cy="186439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p:cNvSpPr/>
          <p:nvPr/>
        </p:nvSpPr>
        <p:spPr>
          <a:xfrm>
            <a:off x="5577842" y="4615159"/>
            <a:ext cx="1959429" cy="186439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35794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Organising your Venn diagram</a:t>
            </a:r>
          </a:p>
        </p:txBody>
      </p:sp>
      <p:sp>
        <p:nvSpPr>
          <p:cNvPr id="3" name="Content Placeholder 2"/>
          <p:cNvSpPr>
            <a:spLocks noGrp="1"/>
          </p:cNvSpPr>
          <p:nvPr>
            <p:ph idx="1"/>
          </p:nvPr>
        </p:nvSpPr>
        <p:spPr/>
        <p:txBody>
          <a:bodyPr/>
          <a:lstStyle/>
          <a:p>
            <a:pPr marL="0" indent="0">
              <a:buNone/>
            </a:pPr>
            <a:r>
              <a:rPr lang="en-AU" dirty="0"/>
              <a:t>Now that we have our numbers we need to build out “universe”</a:t>
            </a:r>
          </a:p>
          <a:p>
            <a:pPr marL="0" indent="0">
              <a:buNone/>
            </a:pPr>
            <a:endParaRPr lang="en-AU" dirty="0"/>
          </a:p>
          <a:p>
            <a:pPr marL="0" indent="0">
              <a:buNone/>
            </a:pPr>
            <a:endParaRPr lang="en-AU" dirty="0"/>
          </a:p>
          <a:p>
            <a:pPr marL="0" indent="0">
              <a:buNone/>
            </a:pPr>
            <a:r>
              <a:rPr lang="en-AU" dirty="0"/>
              <a:t>Step 3 – Organise numbers into the circles. How many people in the class did not fit into the circles? How many are boys and how many are 15yrs?</a:t>
            </a:r>
          </a:p>
        </p:txBody>
      </p:sp>
      <p:graphicFrame>
        <p:nvGraphicFramePr>
          <p:cNvPr id="4" name="Table 3"/>
          <p:cNvGraphicFramePr>
            <a:graphicFrameLocks noGrp="1"/>
          </p:cNvGraphicFramePr>
          <p:nvPr>
            <p:extLst>
              <p:ext uri="{D42A27DB-BD31-4B8C-83A1-F6EECF244321}">
                <p14:modId xmlns:p14="http://schemas.microsoft.com/office/powerpoint/2010/main" val="3155724945"/>
              </p:ext>
            </p:extLst>
          </p:nvPr>
        </p:nvGraphicFramePr>
        <p:xfrm>
          <a:off x="766353" y="2624909"/>
          <a:ext cx="9927772" cy="858520"/>
        </p:xfrm>
        <a:graphic>
          <a:graphicData uri="http://schemas.openxmlformats.org/drawingml/2006/table">
            <a:tbl>
              <a:tblPr firstRow="1" bandRow="1">
                <a:tableStyleId>{5C22544A-7EE6-4342-B048-85BDC9FD1C3A}</a:tableStyleId>
              </a:tblPr>
              <a:tblGrid>
                <a:gridCol w="2481943">
                  <a:extLst>
                    <a:ext uri="{9D8B030D-6E8A-4147-A177-3AD203B41FA5}">
                      <a16:colId xmlns:a16="http://schemas.microsoft.com/office/drawing/2014/main" val="20000"/>
                    </a:ext>
                  </a:extLst>
                </a:gridCol>
                <a:gridCol w="2481943">
                  <a:extLst>
                    <a:ext uri="{9D8B030D-6E8A-4147-A177-3AD203B41FA5}">
                      <a16:colId xmlns:a16="http://schemas.microsoft.com/office/drawing/2014/main" val="20001"/>
                    </a:ext>
                  </a:extLst>
                </a:gridCol>
                <a:gridCol w="2481943">
                  <a:extLst>
                    <a:ext uri="{9D8B030D-6E8A-4147-A177-3AD203B41FA5}">
                      <a16:colId xmlns:a16="http://schemas.microsoft.com/office/drawing/2014/main" val="20002"/>
                    </a:ext>
                  </a:extLst>
                </a:gridCol>
                <a:gridCol w="2481943">
                  <a:extLst>
                    <a:ext uri="{9D8B030D-6E8A-4147-A177-3AD203B41FA5}">
                      <a16:colId xmlns:a16="http://schemas.microsoft.com/office/drawing/2014/main" val="20003"/>
                    </a:ext>
                  </a:extLst>
                </a:gridCol>
              </a:tblGrid>
              <a:tr h="492760">
                <a:tc>
                  <a:txBody>
                    <a:bodyPr/>
                    <a:lstStyle/>
                    <a:p>
                      <a:r>
                        <a:rPr lang="en-AU" dirty="0"/>
                        <a:t>Boys</a:t>
                      </a:r>
                    </a:p>
                  </a:txBody>
                  <a:tcPr/>
                </a:tc>
                <a:tc>
                  <a:txBody>
                    <a:bodyPr/>
                    <a:lstStyle/>
                    <a:p>
                      <a:r>
                        <a:rPr lang="en-AU" dirty="0"/>
                        <a:t>15ys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a:t>Boys’</a:t>
                      </a:r>
                      <a:r>
                        <a:rPr lang="en-AU" baseline="0" dirty="0"/>
                        <a:t> </a:t>
                      </a:r>
                      <a:r>
                        <a:rPr lang="en-AU" b="0" baseline="0" dirty="0">
                          <a:latin typeface="Century Gothic" panose="020B0502020202020204" pitchFamily="34" charset="0"/>
                        </a:rPr>
                        <a:t>∩</a:t>
                      </a:r>
                      <a:r>
                        <a:rPr lang="en-AU" baseline="0" dirty="0"/>
                        <a:t> 15yrs’</a:t>
                      </a:r>
                      <a:endParaRPr lang="en-A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a:t>Whole class</a:t>
                      </a:r>
                    </a:p>
                  </a:txBody>
                  <a:tcPr/>
                </a:tc>
                <a:extLst>
                  <a:ext uri="{0D108BD9-81ED-4DB2-BD59-A6C34878D82A}">
                    <a16:rowId xmlns:a16="http://schemas.microsoft.com/office/drawing/2014/main" val="10000"/>
                  </a:ext>
                </a:extLst>
              </a:tr>
              <a:tr h="355117">
                <a:tc>
                  <a:txBody>
                    <a:bodyPr/>
                    <a:lstStyle/>
                    <a:p>
                      <a:endParaRPr lang="en-AU"/>
                    </a:p>
                  </a:txBody>
                  <a:tcPr/>
                </a:tc>
                <a:tc>
                  <a:txBody>
                    <a:bodyPr/>
                    <a:lstStyle/>
                    <a:p>
                      <a:endParaRPr lang="en-AU"/>
                    </a:p>
                  </a:txBody>
                  <a:tcPr/>
                </a:tc>
                <a:tc>
                  <a:txBody>
                    <a:bodyPr/>
                    <a:lstStyle/>
                    <a:p>
                      <a:endParaRPr lang="en-AU" dirty="0"/>
                    </a:p>
                  </a:txBody>
                  <a:tcPr/>
                </a:tc>
                <a:tc>
                  <a:txBody>
                    <a:bodyPr/>
                    <a:lstStyle/>
                    <a:p>
                      <a:endParaRPr lang="en-AU" dirty="0"/>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3640015" y="4264269"/>
            <a:ext cx="4352193" cy="250580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p:cNvSpPr/>
          <p:nvPr/>
        </p:nvSpPr>
        <p:spPr>
          <a:xfrm>
            <a:off x="4049487" y="4615160"/>
            <a:ext cx="2072640" cy="186439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p:cNvSpPr/>
          <p:nvPr/>
        </p:nvSpPr>
        <p:spPr>
          <a:xfrm>
            <a:off x="5577842" y="4615159"/>
            <a:ext cx="1959429" cy="186439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p:cNvSpPr txBox="1"/>
          <p:nvPr/>
        </p:nvSpPr>
        <p:spPr>
          <a:xfrm>
            <a:off x="4734589" y="4615159"/>
            <a:ext cx="702436" cy="369332"/>
          </a:xfrm>
          <a:prstGeom prst="rect">
            <a:avLst/>
          </a:prstGeom>
          <a:noFill/>
        </p:spPr>
        <p:txBody>
          <a:bodyPr wrap="none" rtlCol="0">
            <a:spAutoFit/>
          </a:bodyPr>
          <a:lstStyle/>
          <a:p>
            <a:r>
              <a:rPr lang="en-AU" b="1" dirty="0"/>
              <a:t>Boys</a:t>
            </a:r>
          </a:p>
        </p:txBody>
      </p:sp>
      <p:sp>
        <p:nvSpPr>
          <p:cNvPr id="9" name="TextBox 8"/>
          <p:cNvSpPr txBox="1"/>
          <p:nvPr/>
        </p:nvSpPr>
        <p:spPr>
          <a:xfrm>
            <a:off x="6235535" y="4615158"/>
            <a:ext cx="958486" cy="369332"/>
          </a:xfrm>
          <a:prstGeom prst="rect">
            <a:avLst/>
          </a:prstGeom>
          <a:noFill/>
        </p:spPr>
        <p:txBody>
          <a:bodyPr wrap="square" rtlCol="0">
            <a:spAutoFit/>
          </a:bodyPr>
          <a:lstStyle/>
          <a:p>
            <a:r>
              <a:rPr lang="en-AU" b="1" dirty="0"/>
              <a:t>15 </a:t>
            </a:r>
            <a:r>
              <a:rPr lang="en-AU" b="1" dirty="0" err="1"/>
              <a:t>yrs</a:t>
            </a:r>
            <a:endParaRPr lang="en-AU" b="1" dirty="0"/>
          </a:p>
        </p:txBody>
      </p:sp>
    </p:spTree>
    <p:extLst>
      <p:ext uri="{BB962C8B-B14F-4D97-AF65-F5344CB8AC3E}">
        <p14:creationId xmlns:p14="http://schemas.microsoft.com/office/powerpoint/2010/main" val="263521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Organising your Venn diagram</a:t>
            </a:r>
          </a:p>
        </p:txBody>
      </p:sp>
      <p:sp>
        <p:nvSpPr>
          <p:cNvPr id="3" name="Content Placeholder 2"/>
          <p:cNvSpPr>
            <a:spLocks noGrp="1"/>
          </p:cNvSpPr>
          <p:nvPr>
            <p:ph idx="1"/>
          </p:nvPr>
        </p:nvSpPr>
        <p:spPr/>
        <p:txBody>
          <a:bodyPr/>
          <a:lstStyle/>
          <a:p>
            <a:pPr marL="0" indent="0">
              <a:buNone/>
            </a:pPr>
            <a:r>
              <a:rPr lang="en-AU" dirty="0"/>
              <a:t>Now that we have our numbers we need to build out “universe”</a:t>
            </a:r>
          </a:p>
          <a:p>
            <a:pPr marL="0" indent="0">
              <a:buNone/>
            </a:pPr>
            <a:endParaRPr lang="en-AU" dirty="0"/>
          </a:p>
          <a:p>
            <a:pPr marL="0" indent="0">
              <a:buNone/>
            </a:pPr>
            <a:endParaRPr lang="en-AU" dirty="0"/>
          </a:p>
          <a:p>
            <a:pPr marL="0" indent="0">
              <a:buNone/>
            </a:pPr>
            <a:r>
              <a:rPr lang="en-AU" dirty="0"/>
              <a:t>Step 4 – Check your numbers by adding them up and making sure that they equal the whole class number.  Does it add up? You might has some people in the overlap that are both boys and 15 </a:t>
            </a:r>
            <a:r>
              <a:rPr lang="en-AU" dirty="0" err="1"/>
              <a:t>yrs</a:t>
            </a:r>
            <a:r>
              <a:rPr lang="en-AU" dirty="0"/>
              <a:t> old.</a:t>
            </a:r>
          </a:p>
        </p:txBody>
      </p:sp>
      <p:graphicFrame>
        <p:nvGraphicFramePr>
          <p:cNvPr id="4" name="Table 3"/>
          <p:cNvGraphicFramePr>
            <a:graphicFrameLocks noGrp="1"/>
          </p:cNvGraphicFramePr>
          <p:nvPr>
            <p:extLst>
              <p:ext uri="{D42A27DB-BD31-4B8C-83A1-F6EECF244321}">
                <p14:modId xmlns:p14="http://schemas.microsoft.com/office/powerpoint/2010/main" val="3155724945"/>
              </p:ext>
            </p:extLst>
          </p:nvPr>
        </p:nvGraphicFramePr>
        <p:xfrm>
          <a:off x="766353" y="2624909"/>
          <a:ext cx="9927772" cy="858520"/>
        </p:xfrm>
        <a:graphic>
          <a:graphicData uri="http://schemas.openxmlformats.org/drawingml/2006/table">
            <a:tbl>
              <a:tblPr firstRow="1" bandRow="1">
                <a:tableStyleId>{5C22544A-7EE6-4342-B048-85BDC9FD1C3A}</a:tableStyleId>
              </a:tblPr>
              <a:tblGrid>
                <a:gridCol w="2481943">
                  <a:extLst>
                    <a:ext uri="{9D8B030D-6E8A-4147-A177-3AD203B41FA5}">
                      <a16:colId xmlns:a16="http://schemas.microsoft.com/office/drawing/2014/main" val="20000"/>
                    </a:ext>
                  </a:extLst>
                </a:gridCol>
                <a:gridCol w="2481943">
                  <a:extLst>
                    <a:ext uri="{9D8B030D-6E8A-4147-A177-3AD203B41FA5}">
                      <a16:colId xmlns:a16="http://schemas.microsoft.com/office/drawing/2014/main" val="20001"/>
                    </a:ext>
                  </a:extLst>
                </a:gridCol>
                <a:gridCol w="2481943">
                  <a:extLst>
                    <a:ext uri="{9D8B030D-6E8A-4147-A177-3AD203B41FA5}">
                      <a16:colId xmlns:a16="http://schemas.microsoft.com/office/drawing/2014/main" val="20002"/>
                    </a:ext>
                  </a:extLst>
                </a:gridCol>
                <a:gridCol w="2481943">
                  <a:extLst>
                    <a:ext uri="{9D8B030D-6E8A-4147-A177-3AD203B41FA5}">
                      <a16:colId xmlns:a16="http://schemas.microsoft.com/office/drawing/2014/main" val="20003"/>
                    </a:ext>
                  </a:extLst>
                </a:gridCol>
              </a:tblGrid>
              <a:tr h="492760">
                <a:tc>
                  <a:txBody>
                    <a:bodyPr/>
                    <a:lstStyle/>
                    <a:p>
                      <a:r>
                        <a:rPr lang="en-AU" dirty="0"/>
                        <a:t>Boys</a:t>
                      </a:r>
                    </a:p>
                  </a:txBody>
                  <a:tcPr/>
                </a:tc>
                <a:tc>
                  <a:txBody>
                    <a:bodyPr/>
                    <a:lstStyle/>
                    <a:p>
                      <a:r>
                        <a:rPr lang="en-AU" dirty="0"/>
                        <a:t>15ys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a:t>Boys’</a:t>
                      </a:r>
                      <a:r>
                        <a:rPr lang="en-AU" baseline="0" dirty="0"/>
                        <a:t> </a:t>
                      </a:r>
                      <a:r>
                        <a:rPr lang="en-AU" b="0" baseline="0" dirty="0">
                          <a:latin typeface="Century Gothic" panose="020B0502020202020204" pitchFamily="34" charset="0"/>
                        </a:rPr>
                        <a:t>∩</a:t>
                      </a:r>
                      <a:r>
                        <a:rPr lang="en-AU" baseline="0" dirty="0"/>
                        <a:t> 15yrs’</a:t>
                      </a:r>
                      <a:endParaRPr lang="en-A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a:t>Whole class</a:t>
                      </a:r>
                    </a:p>
                  </a:txBody>
                  <a:tcPr/>
                </a:tc>
                <a:extLst>
                  <a:ext uri="{0D108BD9-81ED-4DB2-BD59-A6C34878D82A}">
                    <a16:rowId xmlns:a16="http://schemas.microsoft.com/office/drawing/2014/main" val="10000"/>
                  </a:ext>
                </a:extLst>
              </a:tr>
              <a:tr h="355117">
                <a:tc>
                  <a:txBody>
                    <a:bodyPr/>
                    <a:lstStyle/>
                    <a:p>
                      <a:endParaRPr lang="en-AU"/>
                    </a:p>
                  </a:txBody>
                  <a:tcPr/>
                </a:tc>
                <a:tc>
                  <a:txBody>
                    <a:bodyPr/>
                    <a:lstStyle/>
                    <a:p>
                      <a:endParaRPr lang="en-AU"/>
                    </a:p>
                  </a:txBody>
                  <a:tcPr/>
                </a:tc>
                <a:tc>
                  <a:txBody>
                    <a:bodyPr/>
                    <a:lstStyle/>
                    <a:p>
                      <a:endParaRPr lang="en-AU" dirty="0"/>
                    </a:p>
                  </a:txBody>
                  <a:tcPr/>
                </a:tc>
                <a:tc>
                  <a:txBody>
                    <a:bodyPr/>
                    <a:lstStyle/>
                    <a:p>
                      <a:endParaRPr lang="en-AU" dirty="0"/>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3780693" y="4510453"/>
            <a:ext cx="3974122" cy="2215661"/>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p:cNvSpPr/>
          <p:nvPr/>
        </p:nvSpPr>
        <p:spPr>
          <a:xfrm>
            <a:off x="4049487" y="4615160"/>
            <a:ext cx="2072640" cy="186439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p:cNvSpPr/>
          <p:nvPr/>
        </p:nvSpPr>
        <p:spPr>
          <a:xfrm>
            <a:off x="5577842" y="4615159"/>
            <a:ext cx="1959429" cy="186439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p:cNvSpPr txBox="1"/>
          <p:nvPr/>
        </p:nvSpPr>
        <p:spPr>
          <a:xfrm>
            <a:off x="4734589" y="4615159"/>
            <a:ext cx="702436" cy="369332"/>
          </a:xfrm>
          <a:prstGeom prst="rect">
            <a:avLst/>
          </a:prstGeom>
          <a:noFill/>
        </p:spPr>
        <p:txBody>
          <a:bodyPr wrap="none" rtlCol="0">
            <a:spAutoFit/>
          </a:bodyPr>
          <a:lstStyle/>
          <a:p>
            <a:r>
              <a:rPr lang="en-AU" b="1" dirty="0"/>
              <a:t>Boys</a:t>
            </a:r>
          </a:p>
        </p:txBody>
      </p:sp>
      <p:sp>
        <p:nvSpPr>
          <p:cNvPr id="9" name="TextBox 8"/>
          <p:cNvSpPr txBox="1"/>
          <p:nvPr/>
        </p:nvSpPr>
        <p:spPr>
          <a:xfrm>
            <a:off x="6235535" y="4615158"/>
            <a:ext cx="958486" cy="369332"/>
          </a:xfrm>
          <a:prstGeom prst="rect">
            <a:avLst/>
          </a:prstGeom>
          <a:noFill/>
        </p:spPr>
        <p:txBody>
          <a:bodyPr wrap="square" rtlCol="0">
            <a:spAutoFit/>
          </a:bodyPr>
          <a:lstStyle/>
          <a:p>
            <a:r>
              <a:rPr lang="en-AU" b="1" dirty="0"/>
              <a:t>15 </a:t>
            </a:r>
            <a:r>
              <a:rPr lang="en-AU" b="1" dirty="0" err="1"/>
              <a:t>yrs</a:t>
            </a:r>
            <a:endParaRPr lang="en-AU" b="1" dirty="0"/>
          </a:p>
        </p:txBody>
      </p:sp>
    </p:spTree>
    <p:extLst>
      <p:ext uri="{BB962C8B-B14F-4D97-AF65-F5344CB8AC3E}">
        <p14:creationId xmlns:p14="http://schemas.microsoft.com/office/powerpoint/2010/main" val="345054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Probabilities - LHS</a:t>
            </a:r>
          </a:p>
        </p:txBody>
      </p:sp>
      <p:sp>
        <p:nvSpPr>
          <p:cNvPr id="3" name="Content Placeholder 2"/>
          <p:cNvSpPr>
            <a:spLocks noGrp="1"/>
          </p:cNvSpPr>
          <p:nvPr>
            <p:ph idx="1"/>
          </p:nvPr>
        </p:nvSpPr>
        <p:spPr/>
        <p:txBody>
          <a:bodyPr>
            <a:normAutofit/>
          </a:bodyPr>
          <a:lstStyle/>
          <a:p>
            <a:pPr marL="457200" indent="-457200">
              <a:buAutoNum type="arabicParenR"/>
            </a:pPr>
            <a:r>
              <a:rPr lang="en-AU" sz="2400" dirty="0"/>
              <a:t>What is the probability of being a boy in our class?</a:t>
            </a:r>
          </a:p>
          <a:p>
            <a:pPr marL="457200" indent="-457200">
              <a:buAutoNum type="arabicParenR"/>
            </a:pPr>
            <a:r>
              <a:rPr lang="en-AU" sz="2400" dirty="0"/>
              <a:t>What is the probability of being a 15 </a:t>
            </a:r>
            <a:r>
              <a:rPr lang="en-AU" sz="2400" dirty="0" err="1"/>
              <a:t>yr</a:t>
            </a:r>
            <a:r>
              <a:rPr lang="en-AU" sz="2400" dirty="0"/>
              <a:t> old in our class?</a:t>
            </a:r>
          </a:p>
          <a:p>
            <a:pPr marL="457200" indent="-457200">
              <a:buAutoNum type="arabicParenR"/>
            </a:pPr>
            <a:r>
              <a:rPr lang="en-AU" sz="2400" dirty="0"/>
              <a:t>What is the probability of being a 15 </a:t>
            </a:r>
            <a:r>
              <a:rPr lang="en-AU" sz="2400" dirty="0" err="1"/>
              <a:t>yr</a:t>
            </a:r>
            <a:r>
              <a:rPr lang="en-AU" sz="2400" dirty="0"/>
              <a:t> old that is not a boy?</a:t>
            </a:r>
          </a:p>
          <a:p>
            <a:pPr marL="457200" indent="-457200">
              <a:buAutoNum type="arabicParenR"/>
            </a:pPr>
            <a:r>
              <a:rPr lang="en-AU" sz="2400" dirty="0"/>
              <a:t>What is the probability of being not 15 </a:t>
            </a:r>
            <a:r>
              <a:rPr lang="en-AU" sz="2400" dirty="0" err="1"/>
              <a:t>yr</a:t>
            </a:r>
            <a:r>
              <a:rPr lang="en-AU" sz="2400" dirty="0"/>
              <a:t> old and owning a cat?</a:t>
            </a:r>
          </a:p>
        </p:txBody>
      </p:sp>
    </p:spTree>
    <p:extLst>
      <p:ext uri="{BB962C8B-B14F-4D97-AF65-F5344CB8AC3E}">
        <p14:creationId xmlns:p14="http://schemas.microsoft.com/office/powerpoint/2010/main" val="3157095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LHS Question</a:t>
            </a:r>
          </a:p>
        </p:txBody>
      </p:sp>
      <p:sp>
        <p:nvSpPr>
          <p:cNvPr id="3" name="Content Placeholder 2"/>
          <p:cNvSpPr>
            <a:spLocks noGrp="1"/>
          </p:cNvSpPr>
          <p:nvPr>
            <p:ph idx="1"/>
          </p:nvPr>
        </p:nvSpPr>
        <p:spPr/>
        <p:txBody>
          <a:bodyPr>
            <a:normAutofit/>
          </a:bodyPr>
          <a:lstStyle/>
          <a:p>
            <a:pPr marL="0" indent="0">
              <a:buNone/>
            </a:pPr>
            <a:r>
              <a:rPr lang="en-AU" sz="4000" dirty="0"/>
              <a:t>What would our class Venn diagram look like if those people who were boys AND 15yrs old were absent today?</a:t>
            </a:r>
          </a:p>
          <a:p>
            <a:pPr marL="0" indent="0">
              <a:buNone/>
            </a:pPr>
            <a:endParaRPr lang="en-AU" sz="4000" dirty="0"/>
          </a:p>
          <a:p>
            <a:pPr marL="0" indent="0">
              <a:buNone/>
            </a:pPr>
            <a:r>
              <a:rPr lang="en-AU" sz="4000" dirty="0"/>
              <a:t>Draw the new diagram in your LHS</a:t>
            </a:r>
          </a:p>
        </p:txBody>
      </p:sp>
    </p:spTree>
    <p:extLst>
      <p:ext uri="{BB962C8B-B14F-4D97-AF65-F5344CB8AC3E}">
        <p14:creationId xmlns:p14="http://schemas.microsoft.com/office/powerpoint/2010/main" val="3443099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 </a:t>
            </a:r>
          </a:p>
        </p:txBody>
      </p:sp>
      <p:sp>
        <p:nvSpPr>
          <p:cNvPr id="3" name="Content Placeholder 2"/>
          <p:cNvSpPr>
            <a:spLocks noGrp="1"/>
          </p:cNvSpPr>
          <p:nvPr>
            <p:ph idx="1"/>
          </p:nvPr>
        </p:nvSpPr>
        <p:spPr>
          <a:xfrm>
            <a:off x="835270" y="1822758"/>
            <a:ext cx="10820400" cy="4024125"/>
          </a:xfrm>
        </p:spPr>
        <p:txBody>
          <a:bodyPr>
            <a:normAutofit/>
          </a:bodyPr>
          <a:lstStyle/>
          <a:p>
            <a:pPr marL="0" indent="0">
              <a:buNone/>
            </a:pPr>
            <a:r>
              <a:rPr lang="en-AU" sz="2800" dirty="0"/>
              <a:t>It should look something like this, a mutually exclusive event! </a:t>
            </a:r>
          </a:p>
        </p:txBody>
      </p:sp>
      <p:sp>
        <p:nvSpPr>
          <p:cNvPr id="4" name="Rectangle 3"/>
          <p:cNvSpPr/>
          <p:nvPr/>
        </p:nvSpPr>
        <p:spPr>
          <a:xfrm>
            <a:off x="2338753" y="2660551"/>
            <a:ext cx="6312877" cy="3986433"/>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Oval 4"/>
          <p:cNvSpPr/>
          <p:nvPr/>
        </p:nvSpPr>
        <p:spPr>
          <a:xfrm>
            <a:off x="2760784" y="3393831"/>
            <a:ext cx="2417885" cy="2453053"/>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p:cNvSpPr/>
          <p:nvPr/>
        </p:nvSpPr>
        <p:spPr>
          <a:xfrm>
            <a:off x="5780941" y="3393830"/>
            <a:ext cx="2417885" cy="2453053"/>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p:cNvSpPr txBox="1"/>
          <p:nvPr/>
        </p:nvSpPr>
        <p:spPr>
          <a:xfrm>
            <a:off x="3576272" y="3516923"/>
            <a:ext cx="918795" cy="369332"/>
          </a:xfrm>
          <a:prstGeom prst="rect">
            <a:avLst/>
          </a:prstGeom>
          <a:noFill/>
        </p:spPr>
        <p:txBody>
          <a:bodyPr wrap="square" rtlCol="0">
            <a:spAutoFit/>
          </a:bodyPr>
          <a:lstStyle/>
          <a:p>
            <a:r>
              <a:rPr lang="en-AU" b="1" dirty="0"/>
              <a:t>Boys</a:t>
            </a:r>
          </a:p>
        </p:txBody>
      </p:sp>
      <p:sp>
        <p:nvSpPr>
          <p:cNvPr id="8" name="TextBox 7"/>
          <p:cNvSpPr txBox="1"/>
          <p:nvPr/>
        </p:nvSpPr>
        <p:spPr>
          <a:xfrm>
            <a:off x="6576645" y="3516923"/>
            <a:ext cx="677008" cy="369332"/>
          </a:xfrm>
          <a:prstGeom prst="rect">
            <a:avLst/>
          </a:prstGeom>
          <a:noFill/>
        </p:spPr>
        <p:txBody>
          <a:bodyPr wrap="square" rtlCol="0">
            <a:spAutoFit/>
          </a:bodyPr>
          <a:lstStyle/>
          <a:p>
            <a:r>
              <a:rPr lang="en-AU" b="1" dirty="0"/>
              <a:t>15ys</a:t>
            </a:r>
          </a:p>
        </p:txBody>
      </p:sp>
    </p:spTree>
    <p:extLst>
      <p:ext uri="{BB962C8B-B14F-4D97-AF65-F5344CB8AC3E}">
        <p14:creationId xmlns:p14="http://schemas.microsoft.com/office/powerpoint/2010/main" val="406085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3823675"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Venn Diagrams</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a:t>
            </a:r>
            <a:r>
              <a:rPr lang="en-AU" sz="2400" b="1" dirty="0">
                <a:solidFill>
                  <a:prstClr val="black"/>
                </a:solidFill>
                <a:latin typeface="Kiwi School Handwriting" panose="00000500000000000000" pitchFamily="2" charset="0"/>
              </a:rPr>
              <a:t>How do we sort data using Venn Diagrams?</a:t>
            </a:r>
            <a:endParaRPr lang="en-AU" sz="2399" b="1" dirty="0">
              <a:solidFill>
                <a:prstClr val="black"/>
              </a:solidFill>
              <a:latin typeface="Kiwi School Handwriting" panose="00000500000000000000" pitchFamily="2" charset="0"/>
            </a:endParaRP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2" name="Content Placeholder 12">
            <a:extLst>
              <a:ext uri="{FF2B5EF4-FFF2-40B4-BE49-F238E27FC236}">
                <a16:creationId xmlns:a16="http://schemas.microsoft.com/office/drawing/2014/main" id="{D5D54291-4381-4F4E-9123-67B1D03ACCFD}"/>
              </a:ext>
            </a:extLst>
          </p:cNvPr>
          <p:cNvSpPr txBox="1">
            <a:spLocks/>
          </p:cNvSpPr>
          <p:nvPr/>
        </p:nvSpPr>
        <p:spPr>
          <a:xfrm>
            <a:off x="2074821" y="1577012"/>
            <a:ext cx="9570332" cy="2209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defRPr/>
            </a:pPr>
            <a:endParaRPr lang="en-US" sz="3200" dirty="0"/>
          </a:p>
          <a:p>
            <a:pPr>
              <a:defRPr/>
            </a:pPr>
            <a:endParaRPr lang="en-US" dirty="0"/>
          </a:p>
        </p:txBody>
      </p:sp>
      <p:sp>
        <p:nvSpPr>
          <p:cNvPr id="17" name="TextBox 16">
            <a:extLst>
              <a:ext uri="{FF2B5EF4-FFF2-40B4-BE49-F238E27FC236}">
                <a16:creationId xmlns:a16="http://schemas.microsoft.com/office/drawing/2014/main" id="{4B812459-19F4-41C9-A93F-75C41CF324CC}"/>
              </a:ext>
            </a:extLst>
          </p:cNvPr>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14/06/2018</a:t>
            </a:r>
          </a:p>
        </p:txBody>
      </p:sp>
      <p:sp>
        <p:nvSpPr>
          <p:cNvPr id="11" name="Freeform 45">
            <a:extLst>
              <a:ext uri="{FF2B5EF4-FFF2-40B4-BE49-F238E27FC236}">
                <a16:creationId xmlns:a16="http://schemas.microsoft.com/office/drawing/2014/main" id="{A102B713-89AD-48A4-BBF3-FACED6CFDDBB}"/>
              </a:ext>
            </a:extLst>
          </p:cNvPr>
          <p:cNvSpPr/>
          <p:nvPr/>
        </p:nvSpPr>
        <p:spPr>
          <a:xfrm>
            <a:off x="3733851" y="2339660"/>
            <a:ext cx="342900" cy="923925"/>
          </a:xfrm>
          <a:custGeom>
            <a:avLst/>
            <a:gdLst>
              <a:gd name="connsiteX0" fmla="*/ 161925 w 342900"/>
              <a:gd name="connsiteY0" fmla="*/ 0 h 923925"/>
              <a:gd name="connsiteX1" fmla="*/ 28575 w 342900"/>
              <a:gd name="connsiteY1" fmla="*/ 161925 h 923925"/>
              <a:gd name="connsiteX2" fmla="*/ 0 w 342900"/>
              <a:gd name="connsiteY2" fmla="*/ 466725 h 923925"/>
              <a:gd name="connsiteX3" fmla="*/ 28575 w 342900"/>
              <a:gd name="connsiteY3" fmla="*/ 685800 h 923925"/>
              <a:gd name="connsiteX4" fmla="*/ 152400 w 342900"/>
              <a:gd name="connsiteY4" fmla="*/ 923925 h 923925"/>
              <a:gd name="connsiteX5" fmla="*/ 247650 w 342900"/>
              <a:gd name="connsiteY5" fmla="*/ 819150 h 923925"/>
              <a:gd name="connsiteX6" fmla="*/ 342900 w 342900"/>
              <a:gd name="connsiteY6" fmla="*/ 609600 h 923925"/>
              <a:gd name="connsiteX7" fmla="*/ 342900 w 342900"/>
              <a:gd name="connsiteY7" fmla="*/ 409575 h 923925"/>
              <a:gd name="connsiteX8" fmla="*/ 323850 w 342900"/>
              <a:gd name="connsiteY8" fmla="*/ 219075 h 923925"/>
              <a:gd name="connsiteX9" fmla="*/ 238125 w 342900"/>
              <a:gd name="connsiteY9" fmla="*/ 114300 h 923925"/>
              <a:gd name="connsiteX10" fmla="*/ 161925 w 342900"/>
              <a:gd name="connsiteY10" fmla="*/ 0 h 923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2900" h="923925">
                <a:moveTo>
                  <a:pt x="161925" y="0"/>
                </a:moveTo>
                <a:lnTo>
                  <a:pt x="28575" y="161925"/>
                </a:lnTo>
                <a:lnTo>
                  <a:pt x="0" y="466725"/>
                </a:lnTo>
                <a:lnTo>
                  <a:pt x="28575" y="685800"/>
                </a:lnTo>
                <a:lnTo>
                  <a:pt x="152400" y="923925"/>
                </a:lnTo>
                <a:lnTo>
                  <a:pt x="247650" y="819150"/>
                </a:lnTo>
                <a:lnTo>
                  <a:pt x="342900" y="609600"/>
                </a:lnTo>
                <a:lnTo>
                  <a:pt x="342900" y="409575"/>
                </a:lnTo>
                <a:lnTo>
                  <a:pt x="323850" y="219075"/>
                </a:lnTo>
                <a:lnTo>
                  <a:pt x="238125" y="114300"/>
                </a:lnTo>
                <a:lnTo>
                  <a:pt x="161925" y="0"/>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3" name="Content Placeholder 2">
            <a:extLst>
              <a:ext uri="{FF2B5EF4-FFF2-40B4-BE49-F238E27FC236}">
                <a16:creationId xmlns:a16="http://schemas.microsoft.com/office/drawing/2014/main" id="{7ABF4604-89E3-41B5-B60A-4801A26FFFF2}"/>
              </a:ext>
            </a:extLst>
          </p:cNvPr>
          <p:cNvSpPr txBox="1">
            <a:spLocks/>
          </p:cNvSpPr>
          <p:nvPr/>
        </p:nvSpPr>
        <p:spPr>
          <a:xfrm>
            <a:off x="2274939" y="1320485"/>
            <a:ext cx="8713787" cy="6191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a:buFont typeface="Arial" charset="0"/>
              <a:buNone/>
            </a:pPr>
            <a:r>
              <a:rPr lang="en-GB" sz="2800" u="sng">
                <a:solidFill>
                  <a:srgbClr val="FF0000"/>
                </a:solidFill>
              </a:rPr>
              <a:t>Definitions:</a:t>
            </a:r>
          </a:p>
          <a:p>
            <a:pPr>
              <a:buFont typeface="Arial" charset="0"/>
              <a:buNone/>
            </a:pPr>
            <a:endParaRPr lang="en-GB" sz="2000" u="sng"/>
          </a:p>
          <a:p>
            <a:pPr>
              <a:lnSpc>
                <a:spcPct val="150000"/>
              </a:lnSpc>
              <a:buFont typeface="Arial" charset="0"/>
              <a:buNone/>
            </a:pPr>
            <a:r>
              <a:rPr lang="en-GB" sz="2000"/>
              <a:t>		</a:t>
            </a:r>
          </a:p>
          <a:p>
            <a:endParaRPr lang="en-GB" sz="2000"/>
          </a:p>
          <a:p>
            <a:pPr>
              <a:buFont typeface="Arial" charset="0"/>
              <a:buNone/>
            </a:pPr>
            <a:endParaRPr lang="en-GB" sz="2000"/>
          </a:p>
        </p:txBody>
      </p:sp>
      <p:sp>
        <p:nvSpPr>
          <p:cNvPr id="14" name="Oval 13">
            <a:extLst>
              <a:ext uri="{FF2B5EF4-FFF2-40B4-BE49-F238E27FC236}">
                <a16:creationId xmlns:a16="http://schemas.microsoft.com/office/drawing/2014/main" id="{78730E0E-DAB4-4A5F-9038-4AFB3CABBFA1}"/>
              </a:ext>
            </a:extLst>
          </p:cNvPr>
          <p:cNvSpPr>
            <a:spLocks noChangeAspect="1"/>
          </p:cNvSpPr>
          <p:nvPr/>
        </p:nvSpPr>
        <p:spPr>
          <a:xfrm>
            <a:off x="3714801" y="2112648"/>
            <a:ext cx="1368425" cy="1366837"/>
          </a:xfrm>
          <a:prstGeom prst="ellipse">
            <a:avLst/>
          </a:prstGeom>
          <a:noFill/>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15" name="Rectangle 14">
            <a:extLst>
              <a:ext uri="{FF2B5EF4-FFF2-40B4-BE49-F238E27FC236}">
                <a16:creationId xmlns:a16="http://schemas.microsoft.com/office/drawing/2014/main" id="{A264B403-4A1A-405C-9419-D6C89F45754A}"/>
              </a:ext>
            </a:extLst>
          </p:cNvPr>
          <p:cNvSpPr/>
          <p:nvPr/>
        </p:nvSpPr>
        <p:spPr>
          <a:xfrm>
            <a:off x="2203501" y="1823723"/>
            <a:ext cx="3455988" cy="1871662"/>
          </a:xfrm>
          <a:prstGeom prst="rect">
            <a:avLst/>
          </a:prstGeom>
          <a:no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16" name="Oval 15">
            <a:extLst>
              <a:ext uri="{FF2B5EF4-FFF2-40B4-BE49-F238E27FC236}">
                <a16:creationId xmlns:a16="http://schemas.microsoft.com/office/drawing/2014/main" id="{42148A15-F23E-4922-A847-76C9793EF1A5}"/>
              </a:ext>
            </a:extLst>
          </p:cNvPr>
          <p:cNvSpPr>
            <a:spLocks noChangeAspect="1"/>
          </p:cNvSpPr>
          <p:nvPr/>
        </p:nvSpPr>
        <p:spPr>
          <a:xfrm>
            <a:off x="2706739" y="2112648"/>
            <a:ext cx="1368425" cy="1366837"/>
          </a:xfrm>
          <a:prstGeom prst="ellipse">
            <a:avLst/>
          </a:prstGeom>
          <a:noFill/>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18" name="TextBox 25">
            <a:extLst>
              <a:ext uri="{FF2B5EF4-FFF2-40B4-BE49-F238E27FC236}">
                <a16:creationId xmlns:a16="http://schemas.microsoft.com/office/drawing/2014/main" id="{AAD3C6A4-CC26-4DFE-A7DB-381A3CEB9540}"/>
              </a:ext>
            </a:extLst>
          </p:cNvPr>
          <p:cNvSpPr txBox="1">
            <a:spLocks noChangeArrowheads="1"/>
          </p:cNvSpPr>
          <p:nvPr/>
        </p:nvSpPr>
        <p:spPr bwMode="auto">
          <a:xfrm>
            <a:off x="4146601" y="1823723"/>
            <a:ext cx="12255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sz="1600"/>
              <a:t>B</a:t>
            </a:r>
          </a:p>
        </p:txBody>
      </p:sp>
      <p:sp>
        <p:nvSpPr>
          <p:cNvPr id="19" name="TextBox 26">
            <a:extLst>
              <a:ext uri="{FF2B5EF4-FFF2-40B4-BE49-F238E27FC236}">
                <a16:creationId xmlns:a16="http://schemas.microsoft.com/office/drawing/2014/main" id="{7D456A6B-32F2-43EE-8146-04E43AE88BD4}"/>
              </a:ext>
            </a:extLst>
          </p:cNvPr>
          <p:cNvSpPr txBox="1">
            <a:spLocks noChangeArrowheads="1"/>
          </p:cNvSpPr>
          <p:nvPr/>
        </p:nvSpPr>
        <p:spPr bwMode="auto">
          <a:xfrm>
            <a:off x="2490839" y="1823723"/>
            <a:ext cx="1223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sz="1600"/>
              <a:t>A</a:t>
            </a:r>
          </a:p>
        </p:txBody>
      </p:sp>
      <p:sp>
        <p:nvSpPr>
          <p:cNvPr id="21" name="Rectangle 20">
            <a:extLst>
              <a:ext uri="{FF2B5EF4-FFF2-40B4-BE49-F238E27FC236}">
                <a16:creationId xmlns:a16="http://schemas.microsoft.com/office/drawing/2014/main" id="{1C4DF085-E5B1-4639-978A-83B2036864F0}"/>
              </a:ext>
            </a:extLst>
          </p:cNvPr>
          <p:cNvSpPr/>
          <p:nvPr/>
        </p:nvSpPr>
        <p:spPr>
          <a:xfrm>
            <a:off x="2203501" y="3839848"/>
            <a:ext cx="3455988" cy="1871662"/>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22" name="Oval 21">
            <a:extLst>
              <a:ext uri="{FF2B5EF4-FFF2-40B4-BE49-F238E27FC236}">
                <a16:creationId xmlns:a16="http://schemas.microsoft.com/office/drawing/2014/main" id="{B6B1D9A6-18A7-4598-BFF7-ACABA90C012C}"/>
              </a:ext>
            </a:extLst>
          </p:cNvPr>
          <p:cNvSpPr>
            <a:spLocks noChangeAspect="1"/>
          </p:cNvSpPr>
          <p:nvPr/>
        </p:nvSpPr>
        <p:spPr>
          <a:xfrm>
            <a:off x="2706739" y="4128773"/>
            <a:ext cx="1368425" cy="1368425"/>
          </a:xfrm>
          <a:prstGeom prst="ellipse">
            <a:avLst/>
          </a:prstGeom>
          <a:solidFill>
            <a:schemeClr val="accent3">
              <a:lumMod val="60000"/>
              <a:lumOff val="40000"/>
            </a:schemeClr>
          </a:solidFill>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23" name="Oval 22">
            <a:extLst>
              <a:ext uri="{FF2B5EF4-FFF2-40B4-BE49-F238E27FC236}">
                <a16:creationId xmlns:a16="http://schemas.microsoft.com/office/drawing/2014/main" id="{B51792BB-EAE3-462B-85B2-DA9C570B91AE}"/>
              </a:ext>
            </a:extLst>
          </p:cNvPr>
          <p:cNvSpPr>
            <a:spLocks noChangeAspect="1"/>
          </p:cNvSpPr>
          <p:nvPr/>
        </p:nvSpPr>
        <p:spPr>
          <a:xfrm>
            <a:off x="3714801" y="4128773"/>
            <a:ext cx="1368425" cy="1366837"/>
          </a:xfrm>
          <a:prstGeom prst="ellipse">
            <a:avLst/>
          </a:prstGeom>
          <a:solidFill>
            <a:schemeClr val="accent3">
              <a:lumMod val="60000"/>
              <a:lumOff val="40000"/>
            </a:schemeClr>
          </a:solidFill>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24" name="TextBox 34">
            <a:extLst>
              <a:ext uri="{FF2B5EF4-FFF2-40B4-BE49-F238E27FC236}">
                <a16:creationId xmlns:a16="http://schemas.microsoft.com/office/drawing/2014/main" id="{59FD61E5-0EED-435B-BEBC-B1A58EC43F0B}"/>
              </a:ext>
            </a:extLst>
          </p:cNvPr>
          <p:cNvSpPr txBox="1">
            <a:spLocks noChangeArrowheads="1"/>
          </p:cNvSpPr>
          <p:nvPr/>
        </p:nvSpPr>
        <p:spPr bwMode="auto">
          <a:xfrm>
            <a:off x="4146601" y="3839848"/>
            <a:ext cx="12255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sz="1600"/>
              <a:t>B</a:t>
            </a:r>
          </a:p>
        </p:txBody>
      </p:sp>
      <p:sp>
        <p:nvSpPr>
          <p:cNvPr id="25" name="TextBox 35">
            <a:extLst>
              <a:ext uri="{FF2B5EF4-FFF2-40B4-BE49-F238E27FC236}">
                <a16:creationId xmlns:a16="http://schemas.microsoft.com/office/drawing/2014/main" id="{229D149F-081D-4C3B-A97A-FE1A67A58F6A}"/>
              </a:ext>
            </a:extLst>
          </p:cNvPr>
          <p:cNvSpPr txBox="1">
            <a:spLocks noChangeArrowheads="1"/>
          </p:cNvSpPr>
          <p:nvPr/>
        </p:nvSpPr>
        <p:spPr bwMode="auto">
          <a:xfrm>
            <a:off x="2490839" y="3839848"/>
            <a:ext cx="1223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sz="1600"/>
              <a:t>A</a:t>
            </a:r>
          </a:p>
        </p:txBody>
      </p:sp>
      <p:sp>
        <p:nvSpPr>
          <p:cNvPr id="31" name="Oval 30">
            <a:extLst>
              <a:ext uri="{FF2B5EF4-FFF2-40B4-BE49-F238E27FC236}">
                <a16:creationId xmlns:a16="http://schemas.microsoft.com/office/drawing/2014/main" id="{939E5988-CB13-47DE-80F0-EFF2EB170434}"/>
              </a:ext>
            </a:extLst>
          </p:cNvPr>
          <p:cNvSpPr>
            <a:spLocks noChangeAspect="1"/>
          </p:cNvSpPr>
          <p:nvPr/>
        </p:nvSpPr>
        <p:spPr>
          <a:xfrm>
            <a:off x="2706739" y="4128773"/>
            <a:ext cx="1368425" cy="1366837"/>
          </a:xfrm>
          <a:prstGeom prst="ellipse">
            <a:avLst/>
          </a:prstGeom>
          <a:noFill/>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32" name="Rectangle 31">
            <a:extLst>
              <a:ext uri="{FF2B5EF4-FFF2-40B4-BE49-F238E27FC236}">
                <a16:creationId xmlns:a16="http://schemas.microsoft.com/office/drawing/2014/main" id="{F04E3140-8BB5-4CA3-820C-AA76BF88DCA3}"/>
              </a:ext>
            </a:extLst>
          </p:cNvPr>
          <p:cNvSpPr/>
          <p:nvPr/>
        </p:nvSpPr>
        <p:spPr>
          <a:xfrm>
            <a:off x="5803951" y="1823723"/>
            <a:ext cx="5256213" cy="1512887"/>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a:lstStyle/>
          <a:p>
            <a:r>
              <a:rPr lang="en-GB">
                <a:solidFill>
                  <a:srgbClr val="000000"/>
                </a:solidFill>
                <a:cs typeface="Arial" charset="0"/>
              </a:rPr>
              <a:t>The </a:t>
            </a:r>
            <a:r>
              <a:rPr lang="en-GB" b="1">
                <a:solidFill>
                  <a:srgbClr val="000000"/>
                </a:solidFill>
                <a:cs typeface="Arial" charset="0"/>
              </a:rPr>
              <a:t>intersection</a:t>
            </a:r>
            <a:r>
              <a:rPr lang="en-GB">
                <a:solidFill>
                  <a:srgbClr val="000000"/>
                </a:solidFill>
                <a:cs typeface="Arial" charset="0"/>
              </a:rPr>
              <a:t> is where two sets overlap.</a:t>
            </a:r>
          </a:p>
          <a:p>
            <a:endParaRPr lang="en-GB">
              <a:solidFill>
                <a:srgbClr val="000000"/>
              </a:solidFill>
              <a:cs typeface="Arial" charset="0"/>
            </a:endParaRPr>
          </a:p>
          <a:p>
            <a:endParaRPr lang="en-GB">
              <a:solidFill>
                <a:srgbClr val="000000"/>
              </a:solidFill>
              <a:cs typeface="Arial" charset="0"/>
            </a:endParaRPr>
          </a:p>
          <a:p>
            <a:r>
              <a:rPr lang="en-GB">
                <a:solidFill>
                  <a:srgbClr val="000000"/>
                </a:solidFill>
                <a:cs typeface="Arial" charset="0"/>
              </a:rPr>
              <a:t>This means </a:t>
            </a:r>
            <a:r>
              <a:rPr lang="en-GB" b="1">
                <a:solidFill>
                  <a:srgbClr val="000000"/>
                </a:solidFill>
                <a:cs typeface="Arial" charset="0"/>
              </a:rPr>
              <a:t>A and B</a:t>
            </a:r>
            <a:r>
              <a:rPr lang="en-GB">
                <a:solidFill>
                  <a:srgbClr val="000000"/>
                </a:solidFill>
                <a:cs typeface="Arial" charset="0"/>
              </a:rPr>
              <a:t>.</a:t>
            </a:r>
          </a:p>
        </p:txBody>
      </p:sp>
      <p:graphicFrame>
        <p:nvGraphicFramePr>
          <p:cNvPr id="34" name="Object 2">
            <a:extLst>
              <a:ext uri="{FF2B5EF4-FFF2-40B4-BE49-F238E27FC236}">
                <a16:creationId xmlns:a16="http://schemas.microsoft.com/office/drawing/2014/main" id="{CDC8C3C1-A6F9-4B31-84BA-41DDA9AFF57D}"/>
              </a:ext>
            </a:extLst>
          </p:cNvPr>
          <p:cNvGraphicFramePr>
            <a:graphicFrameLocks noChangeAspect="1"/>
          </p:cNvGraphicFramePr>
          <p:nvPr>
            <p:extLst>
              <p:ext uri="{D42A27DB-BD31-4B8C-83A1-F6EECF244321}">
                <p14:modId xmlns:p14="http://schemas.microsoft.com/office/powerpoint/2010/main" val="2224394735"/>
              </p:ext>
            </p:extLst>
          </p:nvPr>
        </p:nvGraphicFramePr>
        <p:xfrm>
          <a:off x="5946826" y="2255523"/>
          <a:ext cx="914400" cy="360362"/>
        </p:xfrm>
        <a:graphic>
          <a:graphicData uri="http://schemas.openxmlformats.org/presentationml/2006/ole">
            <mc:AlternateContent xmlns:mc="http://schemas.openxmlformats.org/markup-compatibility/2006">
              <mc:Choice xmlns:v="urn:schemas-microsoft-com:vml" Requires="v">
                <p:oleObj name="Equation" r:id="rId3" imgW="419040" imgH="164880" progId="Equation.3">
                  <p:embed/>
                </p:oleObj>
              </mc:Choice>
              <mc:Fallback>
                <p:oleObj name="Equation" r:id="rId3" imgW="419040" imgH="164880" progId="Equation.3">
                  <p:embed/>
                  <p:pic>
                    <p:nvPicPr>
                      <p:cNvPr id="20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6826" y="2255523"/>
                        <a:ext cx="914400"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 name="Rectangle 34">
            <a:extLst>
              <a:ext uri="{FF2B5EF4-FFF2-40B4-BE49-F238E27FC236}">
                <a16:creationId xmlns:a16="http://schemas.microsoft.com/office/drawing/2014/main" id="{DF8D4775-0C5C-4528-8D55-7F8FCFF5CF84}"/>
              </a:ext>
            </a:extLst>
          </p:cNvPr>
          <p:cNvSpPr/>
          <p:nvPr/>
        </p:nvSpPr>
        <p:spPr>
          <a:xfrm>
            <a:off x="5803951" y="3839848"/>
            <a:ext cx="5256213" cy="1512887"/>
          </a:xfrm>
          <a:prstGeom prst="rect">
            <a:avLst/>
          </a:prstGeom>
          <a:solidFill>
            <a:schemeClr val="accent3">
              <a:lumMod val="20000"/>
              <a:lumOff val="80000"/>
            </a:schemeClr>
          </a:solidFill>
        </p:spPr>
        <p:style>
          <a:lnRef idx="2">
            <a:schemeClr val="accent3"/>
          </a:lnRef>
          <a:fillRef idx="1">
            <a:schemeClr val="lt1"/>
          </a:fillRef>
          <a:effectRef idx="0">
            <a:schemeClr val="accent3"/>
          </a:effectRef>
          <a:fontRef idx="minor">
            <a:schemeClr val="dk1"/>
          </a:fontRef>
        </p:style>
        <p:txBody>
          <a:bodyPr/>
          <a:lstStyle/>
          <a:p>
            <a:r>
              <a:rPr lang="en-GB" dirty="0">
                <a:solidFill>
                  <a:srgbClr val="000000"/>
                </a:solidFill>
                <a:cs typeface="Arial" charset="0"/>
              </a:rPr>
              <a:t>If you put two sets together, you get the </a:t>
            </a:r>
            <a:r>
              <a:rPr lang="en-GB" b="1" dirty="0">
                <a:solidFill>
                  <a:srgbClr val="000000"/>
                </a:solidFill>
                <a:cs typeface="Arial" charset="0"/>
              </a:rPr>
              <a:t>union</a:t>
            </a:r>
            <a:r>
              <a:rPr lang="en-GB" dirty="0">
                <a:solidFill>
                  <a:srgbClr val="000000"/>
                </a:solidFill>
                <a:cs typeface="Arial" charset="0"/>
              </a:rPr>
              <a:t>.</a:t>
            </a:r>
          </a:p>
          <a:p>
            <a:endParaRPr lang="en-GB" dirty="0">
              <a:solidFill>
                <a:srgbClr val="000000"/>
              </a:solidFill>
              <a:cs typeface="Arial" charset="0"/>
            </a:endParaRPr>
          </a:p>
          <a:p>
            <a:endParaRPr lang="en-GB" dirty="0">
              <a:solidFill>
                <a:srgbClr val="000000"/>
              </a:solidFill>
              <a:cs typeface="Arial" charset="0"/>
            </a:endParaRPr>
          </a:p>
          <a:p>
            <a:r>
              <a:rPr lang="en-GB" dirty="0">
                <a:solidFill>
                  <a:srgbClr val="000000"/>
                </a:solidFill>
                <a:cs typeface="Arial" charset="0"/>
              </a:rPr>
              <a:t>This means </a:t>
            </a:r>
            <a:r>
              <a:rPr lang="en-GB" b="1" dirty="0">
                <a:solidFill>
                  <a:srgbClr val="000000"/>
                </a:solidFill>
                <a:cs typeface="Arial" charset="0"/>
              </a:rPr>
              <a:t>A or B</a:t>
            </a:r>
            <a:r>
              <a:rPr lang="en-GB" dirty="0">
                <a:solidFill>
                  <a:srgbClr val="000000"/>
                </a:solidFill>
                <a:cs typeface="Arial" charset="0"/>
              </a:rPr>
              <a:t>.</a:t>
            </a:r>
          </a:p>
        </p:txBody>
      </p:sp>
      <p:graphicFrame>
        <p:nvGraphicFramePr>
          <p:cNvPr id="36" name="Object 3">
            <a:extLst>
              <a:ext uri="{FF2B5EF4-FFF2-40B4-BE49-F238E27FC236}">
                <a16:creationId xmlns:a16="http://schemas.microsoft.com/office/drawing/2014/main" id="{BD4AB3DB-0DA5-427D-8DC8-E3617DB91779}"/>
              </a:ext>
            </a:extLst>
          </p:cNvPr>
          <p:cNvGraphicFramePr>
            <a:graphicFrameLocks noChangeAspect="1"/>
          </p:cNvGraphicFramePr>
          <p:nvPr>
            <p:extLst>
              <p:ext uri="{D42A27DB-BD31-4B8C-83A1-F6EECF244321}">
                <p14:modId xmlns:p14="http://schemas.microsoft.com/office/powerpoint/2010/main" val="3215344600"/>
              </p:ext>
            </p:extLst>
          </p:nvPr>
        </p:nvGraphicFramePr>
        <p:xfrm>
          <a:off x="5859607" y="4505950"/>
          <a:ext cx="914400" cy="360362"/>
        </p:xfrm>
        <a:graphic>
          <a:graphicData uri="http://schemas.openxmlformats.org/presentationml/2006/ole">
            <mc:AlternateContent xmlns:mc="http://schemas.openxmlformats.org/markup-compatibility/2006">
              <mc:Choice xmlns:v="urn:schemas-microsoft-com:vml" Requires="v">
                <p:oleObj name="Equation" r:id="rId5" imgW="419040" imgH="164880" progId="Equation.3">
                  <p:embed/>
                </p:oleObj>
              </mc:Choice>
              <mc:Fallback>
                <p:oleObj name="Equation" r:id="rId5" imgW="419040" imgH="164880" progId="Equation.3">
                  <p:embed/>
                  <p:pic>
                    <p:nvPicPr>
                      <p:cNvPr id="205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9607" y="4505950"/>
                        <a:ext cx="914400"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6885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nodePh="1">
                                  <p:stCondLst>
                                    <p:cond delay="0"/>
                                  </p:stCondLst>
                                  <p:endCondLst>
                                    <p:cond evt="begin" delay="0">
                                      <p:tn val="5"/>
                                    </p:cond>
                                  </p:end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3823675"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Venn Diagrams</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a:t>
            </a:r>
            <a:r>
              <a:rPr lang="en-AU" sz="2400" b="1" dirty="0">
                <a:solidFill>
                  <a:prstClr val="black"/>
                </a:solidFill>
                <a:latin typeface="Kiwi School Handwriting" panose="00000500000000000000" pitchFamily="2" charset="0"/>
              </a:rPr>
              <a:t>How do we sort data using Venn Diagrams?</a:t>
            </a:r>
            <a:endParaRPr lang="en-AU" sz="2399" b="1" dirty="0">
              <a:solidFill>
                <a:prstClr val="black"/>
              </a:solidFill>
              <a:latin typeface="Kiwi School Handwriting" panose="00000500000000000000" pitchFamily="2" charset="0"/>
            </a:endParaRP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2" name="Content Placeholder 12">
            <a:extLst>
              <a:ext uri="{FF2B5EF4-FFF2-40B4-BE49-F238E27FC236}">
                <a16:creationId xmlns:a16="http://schemas.microsoft.com/office/drawing/2014/main" id="{D5D54291-4381-4F4E-9123-67B1D03ACCFD}"/>
              </a:ext>
            </a:extLst>
          </p:cNvPr>
          <p:cNvSpPr txBox="1">
            <a:spLocks/>
          </p:cNvSpPr>
          <p:nvPr/>
        </p:nvSpPr>
        <p:spPr>
          <a:xfrm>
            <a:off x="2074821" y="1577012"/>
            <a:ext cx="9570332" cy="2209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defRPr/>
            </a:pPr>
            <a:endParaRPr lang="en-US" sz="3200" dirty="0"/>
          </a:p>
          <a:p>
            <a:pPr>
              <a:defRPr/>
            </a:pPr>
            <a:endParaRPr lang="en-US" dirty="0"/>
          </a:p>
        </p:txBody>
      </p:sp>
      <p:sp>
        <p:nvSpPr>
          <p:cNvPr id="17" name="TextBox 16">
            <a:extLst>
              <a:ext uri="{FF2B5EF4-FFF2-40B4-BE49-F238E27FC236}">
                <a16:creationId xmlns:a16="http://schemas.microsoft.com/office/drawing/2014/main" id="{4B812459-19F4-41C9-A93F-75C41CF324CC}"/>
              </a:ext>
            </a:extLst>
          </p:cNvPr>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14/06/2018</a:t>
            </a:r>
          </a:p>
        </p:txBody>
      </p:sp>
      <p:sp>
        <p:nvSpPr>
          <p:cNvPr id="28" name="Content Placeholder 2">
            <a:extLst>
              <a:ext uri="{FF2B5EF4-FFF2-40B4-BE49-F238E27FC236}">
                <a16:creationId xmlns:a16="http://schemas.microsoft.com/office/drawing/2014/main" id="{40B719FD-1099-41D1-8737-0AA9BA998411}"/>
              </a:ext>
            </a:extLst>
          </p:cNvPr>
          <p:cNvSpPr txBox="1">
            <a:spLocks/>
          </p:cNvSpPr>
          <p:nvPr/>
        </p:nvSpPr>
        <p:spPr>
          <a:xfrm>
            <a:off x="2293110" y="1387755"/>
            <a:ext cx="8713787" cy="6191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a:buFont typeface="Arial" charset="0"/>
              <a:buNone/>
            </a:pPr>
            <a:r>
              <a:rPr lang="en-GB" sz="2800" u="sng">
                <a:solidFill>
                  <a:srgbClr val="FF0000"/>
                </a:solidFill>
              </a:rPr>
              <a:t>Definitions:</a:t>
            </a:r>
          </a:p>
          <a:p>
            <a:pPr>
              <a:buFont typeface="Arial" charset="0"/>
              <a:buNone/>
            </a:pPr>
            <a:endParaRPr lang="en-GB" sz="2000" u="sng"/>
          </a:p>
          <a:p>
            <a:pPr>
              <a:lnSpc>
                <a:spcPct val="150000"/>
              </a:lnSpc>
              <a:buFont typeface="Arial" charset="0"/>
              <a:buNone/>
            </a:pPr>
            <a:r>
              <a:rPr lang="en-GB" sz="2000"/>
              <a:t>		</a:t>
            </a:r>
          </a:p>
          <a:p>
            <a:endParaRPr lang="en-GB" sz="2000"/>
          </a:p>
          <a:p>
            <a:pPr>
              <a:buFont typeface="Arial" charset="0"/>
              <a:buNone/>
            </a:pPr>
            <a:endParaRPr lang="en-GB" sz="2000"/>
          </a:p>
        </p:txBody>
      </p:sp>
      <p:sp>
        <p:nvSpPr>
          <p:cNvPr id="45" name="Rectangle 44">
            <a:extLst>
              <a:ext uri="{FF2B5EF4-FFF2-40B4-BE49-F238E27FC236}">
                <a16:creationId xmlns:a16="http://schemas.microsoft.com/office/drawing/2014/main" id="{0F5FDA77-5293-4C84-836A-8321977BCCF4}"/>
              </a:ext>
            </a:extLst>
          </p:cNvPr>
          <p:cNvSpPr/>
          <p:nvPr/>
        </p:nvSpPr>
        <p:spPr>
          <a:xfrm>
            <a:off x="2368523" y="2002654"/>
            <a:ext cx="3455988" cy="1873250"/>
          </a:xfrm>
          <a:prstGeom prst="rect">
            <a:avLst/>
          </a:prstGeom>
          <a:solidFill>
            <a:schemeClr val="accent4">
              <a:lumMod val="60000"/>
              <a:lumOff val="40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46" name="Oval 45">
            <a:extLst>
              <a:ext uri="{FF2B5EF4-FFF2-40B4-BE49-F238E27FC236}">
                <a16:creationId xmlns:a16="http://schemas.microsoft.com/office/drawing/2014/main" id="{45605338-EA73-4592-81A0-A7DD0D9DB69D}"/>
              </a:ext>
            </a:extLst>
          </p:cNvPr>
          <p:cNvSpPr>
            <a:spLocks noChangeAspect="1"/>
          </p:cNvSpPr>
          <p:nvPr/>
        </p:nvSpPr>
        <p:spPr>
          <a:xfrm>
            <a:off x="2871761" y="2291579"/>
            <a:ext cx="1368425" cy="1368425"/>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47" name="Oval 46">
            <a:extLst>
              <a:ext uri="{FF2B5EF4-FFF2-40B4-BE49-F238E27FC236}">
                <a16:creationId xmlns:a16="http://schemas.microsoft.com/office/drawing/2014/main" id="{A869964D-FD24-40A8-9436-48949361F996}"/>
              </a:ext>
            </a:extLst>
          </p:cNvPr>
          <p:cNvSpPr>
            <a:spLocks noChangeAspect="1"/>
          </p:cNvSpPr>
          <p:nvPr/>
        </p:nvSpPr>
        <p:spPr>
          <a:xfrm>
            <a:off x="3879823" y="2291579"/>
            <a:ext cx="1368425" cy="1366837"/>
          </a:xfrm>
          <a:prstGeom prst="ellipse">
            <a:avLst/>
          </a:prstGeom>
          <a:noFill/>
        </p:spPr>
        <p:style>
          <a:lnRef idx="2">
            <a:schemeClr val="dk1"/>
          </a:lnRef>
          <a:fillRef idx="1">
            <a:schemeClr val="lt1"/>
          </a:fillRef>
          <a:effectRef idx="0">
            <a:schemeClr val="dk1"/>
          </a:effectRef>
          <a:fontRef idx="minor">
            <a:schemeClr val="dk1"/>
          </a:fontRef>
        </p:style>
        <p:txBody>
          <a:bodyPr anchor="ctr"/>
          <a:lstStyle/>
          <a:p>
            <a:pPr algn="ctr"/>
            <a:endParaRPr lang="en-GB">
              <a:solidFill>
                <a:srgbClr val="000000"/>
              </a:solidFill>
              <a:cs typeface="Arial" charset="0"/>
            </a:endParaRPr>
          </a:p>
        </p:txBody>
      </p:sp>
      <p:sp>
        <p:nvSpPr>
          <p:cNvPr id="48" name="TextBox 39">
            <a:extLst>
              <a:ext uri="{FF2B5EF4-FFF2-40B4-BE49-F238E27FC236}">
                <a16:creationId xmlns:a16="http://schemas.microsoft.com/office/drawing/2014/main" id="{C3ED89C8-F29B-4443-8DCF-376C7CA735AB}"/>
              </a:ext>
            </a:extLst>
          </p:cNvPr>
          <p:cNvSpPr txBox="1">
            <a:spLocks noChangeArrowheads="1"/>
          </p:cNvSpPr>
          <p:nvPr/>
        </p:nvSpPr>
        <p:spPr bwMode="auto">
          <a:xfrm>
            <a:off x="4311623" y="2002654"/>
            <a:ext cx="12255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sz="1600"/>
              <a:t>B</a:t>
            </a:r>
          </a:p>
        </p:txBody>
      </p:sp>
      <p:sp>
        <p:nvSpPr>
          <p:cNvPr id="49" name="TextBox 40">
            <a:extLst>
              <a:ext uri="{FF2B5EF4-FFF2-40B4-BE49-F238E27FC236}">
                <a16:creationId xmlns:a16="http://schemas.microsoft.com/office/drawing/2014/main" id="{AA3815FA-600C-43B9-9670-8C4C60BB25CC}"/>
              </a:ext>
            </a:extLst>
          </p:cNvPr>
          <p:cNvSpPr txBox="1">
            <a:spLocks noChangeArrowheads="1"/>
          </p:cNvSpPr>
          <p:nvPr/>
        </p:nvSpPr>
        <p:spPr bwMode="auto">
          <a:xfrm>
            <a:off x="2655861" y="2002654"/>
            <a:ext cx="1223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sz="1600"/>
              <a:t>A</a:t>
            </a:r>
          </a:p>
        </p:txBody>
      </p:sp>
      <p:sp>
        <p:nvSpPr>
          <p:cNvPr id="55" name="Rectangle 54">
            <a:extLst>
              <a:ext uri="{FF2B5EF4-FFF2-40B4-BE49-F238E27FC236}">
                <a16:creationId xmlns:a16="http://schemas.microsoft.com/office/drawing/2014/main" id="{1EC1F4AC-FE70-417C-82D1-4FE925D9C32E}"/>
              </a:ext>
            </a:extLst>
          </p:cNvPr>
          <p:cNvSpPr/>
          <p:nvPr/>
        </p:nvSpPr>
        <p:spPr>
          <a:xfrm>
            <a:off x="5968973" y="2002654"/>
            <a:ext cx="5256213" cy="1512887"/>
          </a:xfrm>
          <a:prstGeom prst="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a:lstStyle/>
          <a:p>
            <a:r>
              <a:rPr lang="en-GB" dirty="0">
                <a:solidFill>
                  <a:srgbClr val="000000"/>
                </a:solidFill>
                <a:cs typeface="Arial" charset="0"/>
              </a:rPr>
              <a:t>The </a:t>
            </a:r>
            <a:r>
              <a:rPr lang="en-GB" b="1" dirty="0">
                <a:solidFill>
                  <a:srgbClr val="000000"/>
                </a:solidFill>
                <a:cs typeface="Arial" charset="0"/>
              </a:rPr>
              <a:t>complement of A </a:t>
            </a:r>
            <a:r>
              <a:rPr lang="en-GB" dirty="0">
                <a:solidFill>
                  <a:srgbClr val="000000"/>
                </a:solidFill>
                <a:cs typeface="Arial" charset="0"/>
              </a:rPr>
              <a:t>is the region that is not A.</a:t>
            </a:r>
          </a:p>
          <a:p>
            <a:endParaRPr lang="en-GB" dirty="0">
              <a:solidFill>
                <a:srgbClr val="000000"/>
              </a:solidFill>
              <a:cs typeface="Arial" charset="0"/>
            </a:endParaRPr>
          </a:p>
          <a:p>
            <a:endParaRPr lang="en-GB" dirty="0">
              <a:solidFill>
                <a:srgbClr val="000000"/>
              </a:solidFill>
              <a:cs typeface="Arial" charset="0"/>
            </a:endParaRPr>
          </a:p>
          <a:p>
            <a:r>
              <a:rPr lang="en-GB" dirty="0">
                <a:solidFill>
                  <a:srgbClr val="000000"/>
                </a:solidFill>
                <a:cs typeface="Arial" charset="0"/>
              </a:rPr>
              <a:t>This means </a:t>
            </a:r>
            <a:r>
              <a:rPr lang="en-GB" b="1" dirty="0">
                <a:solidFill>
                  <a:srgbClr val="000000"/>
                </a:solidFill>
                <a:cs typeface="Arial" charset="0"/>
              </a:rPr>
              <a:t>not A</a:t>
            </a:r>
            <a:r>
              <a:rPr lang="en-GB" dirty="0">
                <a:solidFill>
                  <a:srgbClr val="000000"/>
                </a:solidFill>
                <a:cs typeface="Arial" charset="0"/>
              </a:rPr>
              <a:t>.</a:t>
            </a:r>
          </a:p>
        </p:txBody>
      </p:sp>
      <p:graphicFrame>
        <p:nvGraphicFramePr>
          <p:cNvPr id="56" name="Object 4">
            <a:extLst>
              <a:ext uri="{FF2B5EF4-FFF2-40B4-BE49-F238E27FC236}">
                <a16:creationId xmlns:a16="http://schemas.microsoft.com/office/drawing/2014/main" id="{523B4974-830F-4598-9C97-4AB778240A47}"/>
              </a:ext>
            </a:extLst>
          </p:cNvPr>
          <p:cNvGraphicFramePr>
            <a:graphicFrameLocks noChangeAspect="1"/>
          </p:cNvGraphicFramePr>
          <p:nvPr>
            <p:extLst>
              <p:ext uri="{D42A27DB-BD31-4B8C-83A1-F6EECF244321}">
                <p14:modId xmlns:p14="http://schemas.microsoft.com/office/powerpoint/2010/main" val="410094292"/>
              </p:ext>
            </p:extLst>
          </p:nvPr>
        </p:nvGraphicFramePr>
        <p:xfrm>
          <a:off x="6400525" y="2433759"/>
          <a:ext cx="388937" cy="360362"/>
        </p:xfrm>
        <a:graphic>
          <a:graphicData uri="http://schemas.openxmlformats.org/presentationml/2006/ole">
            <mc:AlternateContent xmlns:mc="http://schemas.openxmlformats.org/markup-compatibility/2006">
              <mc:Choice xmlns:v="urn:schemas-microsoft-com:vml" Requires="v">
                <p:oleObj name="Equation" r:id="rId3" imgW="177480" imgH="164880" progId="Equation.3">
                  <p:embed/>
                </p:oleObj>
              </mc:Choice>
              <mc:Fallback>
                <p:oleObj name="Equation" r:id="rId3" imgW="177480" imgH="164880" progId="Equation.3">
                  <p:embed/>
                  <p:pic>
                    <p:nvPicPr>
                      <p:cNvPr id="20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525" y="2433759"/>
                        <a:ext cx="388937"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08856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nodePh="1">
                                  <p:stCondLst>
                                    <p:cond delay="0"/>
                                  </p:stCondLst>
                                  <p:endCondLst>
                                    <p:cond evt="begin" delay="0">
                                      <p:tn val="5"/>
                                    </p:cond>
                                  </p:end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9074D7-7189-401B-B22C-96E7385E1649}"/>
              </a:ext>
            </a:extLst>
          </p:cNvPr>
          <p:cNvPicPr>
            <a:picLocks noChangeAspect="1"/>
          </p:cNvPicPr>
          <p:nvPr/>
        </p:nvPicPr>
        <p:blipFill>
          <a:blip r:embed="rId2"/>
          <a:stretch>
            <a:fillRect/>
          </a:stretch>
        </p:blipFill>
        <p:spPr>
          <a:xfrm>
            <a:off x="3203671" y="0"/>
            <a:ext cx="5298884" cy="6850012"/>
          </a:xfrm>
          <a:prstGeom prst="rect">
            <a:avLst/>
          </a:prstGeom>
        </p:spPr>
      </p:pic>
    </p:spTree>
    <p:extLst>
      <p:ext uri="{BB962C8B-B14F-4D97-AF65-F5344CB8AC3E}">
        <p14:creationId xmlns:p14="http://schemas.microsoft.com/office/powerpoint/2010/main" val="3704257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10208" y="749371"/>
            <a:ext cx="11582400" cy="1143000"/>
          </a:xfrm>
        </p:spPr>
        <p:txBody>
          <a:bodyPr>
            <a:noAutofit/>
          </a:bodyPr>
          <a:lstStyle/>
          <a:p>
            <a:pPr algn="l"/>
            <a:r>
              <a:rPr lang="en-AU" sz="2800" b="1" u="sng" cap="none" dirty="0"/>
              <a:t>Example</a:t>
            </a:r>
            <a:br>
              <a:rPr lang="en-AU" sz="2800" cap="none" dirty="0"/>
            </a:br>
            <a:r>
              <a:rPr lang="en-AU" sz="2800" cap="none" dirty="0"/>
              <a:t>In a class of 30 students, 19 study physics, 17 study chemistry and 15 study both. Use a Venn diagram to display this information.</a:t>
            </a:r>
          </a:p>
        </p:txBody>
      </p:sp>
      <p:sp>
        <p:nvSpPr>
          <p:cNvPr id="4" name="Oval 4"/>
          <p:cNvSpPr>
            <a:spLocks noChangeArrowheads="1"/>
          </p:cNvSpPr>
          <p:nvPr/>
        </p:nvSpPr>
        <p:spPr bwMode="auto">
          <a:xfrm>
            <a:off x="5300801" y="2638173"/>
            <a:ext cx="2779986" cy="2731399"/>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 name="Text Box 19"/>
          <p:cNvSpPr txBox="1">
            <a:spLocks noChangeArrowheads="1"/>
          </p:cNvSpPr>
          <p:nvPr/>
        </p:nvSpPr>
        <p:spPr bwMode="auto">
          <a:xfrm>
            <a:off x="4077980" y="2210548"/>
            <a:ext cx="115212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b="1" dirty="0"/>
              <a:t>Physics</a:t>
            </a:r>
          </a:p>
        </p:txBody>
      </p:sp>
      <p:sp>
        <p:nvSpPr>
          <p:cNvPr id="7" name="Rectangle 6"/>
          <p:cNvSpPr/>
          <p:nvPr/>
        </p:nvSpPr>
        <p:spPr>
          <a:xfrm>
            <a:off x="2712149" y="2120888"/>
            <a:ext cx="5973028" cy="3619564"/>
          </a:xfrm>
          <a:prstGeom prst="rect">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3"/>
          <p:cNvSpPr>
            <a:spLocks noChangeArrowheads="1"/>
          </p:cNvSpPr>
          <p:nvPr/>
        </p:nvSpPr>
        <p:spPr bwMode="auto">
          <a:xfrm>
            <a:off x="3371260" y="2690876"/>
            <a:ext cx="2779986" cy="2731399"/>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3" name="Text Box 19"/>
          <p:cNvSpPr txBox="1">
            <a:spLocks noChangeArrowheads="1"/>
          </p:cNvSpPr>
          <p:nvPr/>
        </p:nvSpPr>
        <p:spPr bwMode="auto">
          <a:xfrm>
            <a:off x="6237413" y="2189216"/>
            <a:ext cx="15841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b="1" dirty="0"/>
              <a:t>Chemistry</a:t>
            </a:r>
          </a:p>
        </p:txBody>
      </p:sp>
      <p:sp>
        <p:nvSpPr>
          <p:cNvPr id="18" name="TextBox 17"/>
          <p:cNvSpPr txBox="1"/>
          <p:nvPr/>
        </p:nvSpPr>
        <p:spPr>
          <a:xfrm>
            <a:off x="510208" y="6048830"/>
            <a:ext cx="5319474" cy="523220"/>
          </a:xfrm>
          <a:prstGeom prst="rect">
            <a:avLst/>
          </a:prstGeom>
          <a:noFill/>
        </p:spPr>
        <p:txBody>
          <a:bodyPr wrap="square" rtlCol="0">
            <a:spAutoFit/>
          </a:bodyPr>
          <a:lstStyle/>
          <a:p>
            <a:r>
              <a:rPr lang="en-AU" sz="2800" dirty="0"/>
              <a:t>P(P and C) = P(P</a:t>
            </a:r>
            <a:r>
              <a:rPr lang="en-AU" sz="2800" dirty="0">
                <a:sym typeface="Symbol"/>
              </a:rPr>
              <a:t>C) =</a:t>
            </a:r>
            <a:endParaRPr lang="en-AU" sz="2800" dirty="0"/>
          </a:p>
        </p:txBody>
      </p:sp>
      <p:sp>
        <p:nvSpPr>
          <p:cNvPr id="19" name="TextBox 18"/>
          <p:cNvSpPr txBox="1"/>
          <p:nvPr/>
        </p:nvSpPr>
        <p:spPr>
          <a:xfrm>
            <a:off x="6049616" y="6031965"/>
            <a:ext cx="5381465" cy="523220"/>
          </a:xfrm>
          <a:prstGeom prst="rect">
            <a:avLst/>
          </a:prstGeom>
          <a:noFill/>
        </p:spPr>
        <p:txBody>
          <a:bodyPr wrap="square" rtlCol="0">
            <a:spAutoFit/>
          </a:bodyPr>
          <a:lstStyle/>
          <a:p>
            <a:r>
              <a:rPr lang="en-AU" sz="2800" dirty="0"/>
              <a:t>P(P or C) = P(P</a:t>
            </a:r>
            <a:r>
              <a:rPr lang="en-AU" sz="2800" dirty="0">
                <a:sym typeface="Symbol"/>
              </a:rPr>
              <a:t>C) =</a:t>
            </a:r>
            <a:endParaRPr lang="en-AU" sz="2800" dirty="0"/>
          </a:p>
        </p:txBody>
      </p:sp>
    </p:spTree>
    <p:extLst>
      <p:ext uri="{BB962C8B-B14F-4D97-AF65-F5344CB8AC3E}">
        <p14:creationId xmlns:p14="http://schemas.microsoft.com/office/powerpoint/2010/main" val="3646473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10208" y="749371"/>
            <a:ext cx="11582400" cy="1143000"/>
          </a:xfrm>
        </p:spPr>
        <p:txBody>
          <a:bodyPr>
            <a:noAutofit/>
          </a:bodyPr>
          <a:lstStyle/>
          <a:p>
            <a:pPr algn="l"/>
            <a:r>
              <a:rPr lang="en-AU" sz="2800" b="1" u="sng" cap="none" dirty="0"/>
              <a:t>Example</a:t>
            </a:r>
            <a:br>
              <a:rPr lang="en-AU" sz="2800" cap="none" dirty="0"/>
            </a:br>
            <a:r>
              <a:rPr lang="en-AU" sz="2800" cap="none" dirty="0"/>
              <a:t>In a class of 30 students, 19 study physics, 17 study chemistry and 15 study both. Use a Venn diagram to display this information.</a:t>
            </a:r>
          </a:p>
        </p:txBody>
      </p:sp>
      <p:sp>
        <p:nvSpPr>
          <p:cNvPr id="10" name="Oval 4">
            <a:extLst>
              <a:ext uri="{FF2B5EF4-FFF2-40B4-BE49-F238E27FC236}">
                <a16:creationId xmlns:a16="http://schemas.microsoft.com/office/drawing/2014/main" id="{69756691-9D0A-4B57-B398-F3079E758D0D}"/>
              </a:ext>
            </a:extLst>
          </p:cNvPr>
          <p:cNvSpPr>
            <a:spLocks noChangeArrowheads="1"/>
          </p:cNvSpPr>
          <p:nvPr/>
        </p:nvSpPr>
        <p:spPr bwMode="auto">
          <a:xfrm>
            <a:off x="5431820" y="2571913"/>
            <a:ext cx="2779986" cy="2731399"/>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1" name="Text Box 19">
            <a:extLst>
              <a:ext uri="{FF2B5EF4-FFF2-40B4-BE49-F238E27FC236}">
                <a16:creationId xmlns:a16="http://schemas.microsoft.com/office/drawing/2014/main" id="{C878FCE7-53B6-4175-BA04-D9DE89068279}"/>
              </a:ext>
            </a:extLst>
          </p:cNvPr>
          <p:cNvSpPr txBox="1">
            <a:spLocks noChangeArrowheads="1"/>
          </p:cNvSpPr>
          <p:nvPr/>
        </p:nvSpPr>
        <p:spPr bwMode="auto">
          <a:xfrm>
            <a:off x="4208999" y="2144288"/>
            <a:ext cx="115212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b="1" dirty="0"/>
              <a:t>Physics</a:t>
            </a:r>
          </a:p>
        </p:txBody>
      </p:sp>
      <p:sp>
        <p:nvSpPr>
          <p:cNvPr id="14" name="Rectangle 13">
            <a:extLst>
              <a:ext uri="{FF2B5EF4-FFF2-40B4-BE49-F238E27FC236}">
                <a16:creationId xmlns:a16="http://schemas.microsoft.com/office/drawing/2014/main" id="{8437BFA7-A358-445F-9D44-BA04CD694650}"/>
              </a:ext>
            </a:extLst>
          </p:cNvPr>
          <p:cNvSpPr/>
          <p:nvPr/>
        </p:nvSpPr>
        <p:spPr>
          <a:xfrm>
            <a:off x="2843168" y="2054628"/>
            <a:ext cx="5973028" cy="3619564"/>
          </a:xfrm>
          <a:prstGeom prst="rect">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3">
            <a:extLst>
              <a:ext uri="{FF2B5EF4-FFF2-40B4-BE49-F238E27FC236}">
                <a16:creationId xmlns:a16="http://schemas.microsoft.com/office/drawing/2014/main" id="{2CAB97A5-BBD4-4A91-A0F3-5D0F3F702D1E}"/>
              </a:ext>
            </a:extLst>
          </p:cNvPr>
          <p:cNvSpPr>
            <a:spLocks noChangeArrowheads="1"/>
          </p:cNvSpPr>
          <p:nvPr/>
        </p:nvSpPr>
        <p:spPr bwMode="auto">
          <a:xfrm>
            <a:off x="3502279" y="2624616"/>
            <a:ext cx="2779986" cy="2731399"/>
          </a:xfrm>
          <a:prstGeom prst="ellipse">
            <a:avLst/>
          </a:prstGeom>
          <a:noFill/>
          <a:ln w="571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6" name="Text Box 19">
            <a:extLst>
              <a:ext uri="{FF2B5EF4-FFF2-40B4-BE49-F238E27FC236}">
                <a16:creationId xmlns:a16="http://schemas.microsoft.com/office/drawing/2014/main" id="{797C90AA-20A5-4077-B561-A8F163EC439C}"/>
              </a:ext>
            </a:extLst>
          </p:cNvPr>
          <p:cNvSpPr txBox="1">
            <a:spLocks noChangeArrowheads="1"/>
          </p:cNvSpPr>
          <p:nvPr/>
        </p:nvSpPr>
        <p:spPr bwMode="auto">
          <a:xfrm>
            <a:off x="6368432" y="2122956"/>
            <a:ext cx="15841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b="1" dirty="0"/>
              <a:t>Chemistry</a:t>
            </a:r>
          </a:p>
        </p:txBody>
      </p:sp>
      <p:sp>
        <p:nvSpPr>
          <p:cNvPr id="17" name="TextBox 16">
            <a:extLst>
              <a:ext uri="{FF2B5EF4-FFF2-40B4-BE49-F238E27FC236}">
                <a16:creationId xmlns:a16="http://schemas.microsoft.com/office/drawing/2014/main" id="{8E863BA8-A181-46ED-9CDC-543E5A684769}"/>
              </a:ext>
            </a:extLst>
          </p:cNvPr>
          <p:cNvSpPr txBox="1"/>
          <p:nvPr/>
        </p:nvSpPr>
        <p:spPr>
          <a:xfrm>
            <a:off x="5580930" y="3819331"/>
            <a:ext cx="701335" cy="523220"/>
          </a:xfrm>
          <a:prstGeom prst="rect">
            <a:avLst/>
          </a:prstGeom>
          <a:noFill/>
        </p:spPr>
        <p:txBody>
          <a:bodyPr wrap="square" rtlCol="0">
            <a:spAutoFit/>
          </a:bodyPr>
          <a:lstStyle/>
          <a:p>
            <a:r>
              <a:rPr lang="en-AU" sz="2800" dirty="0"/>
              <a:t>15</a:t>
            </a:r>
          </a:p>
        </p:txBody>
      </p:sp>
      <p:sp>
        <p:nvSpPr>
          <p:cNvPr id="20" name="TextBox 19">
            <a:extLst>
              <a:ext uri="{FF2B5EF4-FFF2-40B4-BE49-F238E27FC236}">
                <a16:creationId xmlns:a16="http://schemas.microsoft.com/office/drawing/2014/main" id="{E7786C65-08BD-42F6-A185-807B875D5339}"/>
              </a:ext>
            </a:extLst>
          </p:cNvPr>
          <p:cNvSpPr txBox="1"/>
          <p:nvPr/>
        </p:nvSpPr>
        <p:spPr>
          <a:xfrm>
            <a:off x="6857235" y="3728704"/>
            <a:ext cx="701335" cy="523220"/>
          </a:xfrm>
          <a:prstGeom prst="rect">
            <a:avLst/>
          </a:prstGeom>
          <a:noFill/>
        </p:spPr>
        <p:txBody>
          <a:bodyPr wrap="square" rtlCol="0">
            <a:spAutoFit/>
          </a:bodyPr>
          <a:lstStyle/>
          <a:p>
            <a:r>
              <a:rPr lang="en-AU" sz="2800" dirty="0"/>
              <a:t>2</a:t>
            </a:r>
          </a:p>
        </p:txBody>
      </p:sp>
      <p:sp>
        <p:nvSpPr>
          <p:cNvPr id="21" name="TextBox 20">
            <a:extLst>
              <a:ext uri="{FF2B5EF4-FFF2-40B4-BE49-F238E27FC236}">
                <a16:creationId xmlns:a16="http://schemas.microsoft.com/office/drawing/2014/main" id="{CBEBDFEA-6B6B-4FF0-B451-D7139C3C03D6}"/>
              </a:ext>
            </a:extLst>
          </p:cNvPr>
          <p:cNvSpPr txBox="1"/>
          <p:nvPr/>
        </p:nvSpPr>
        <p:spPr>
          <a:xfrm>
            <a:off x="4099991" y="3742387"/>
            <a:ext cx="701335" cy="523220"/>
          </a:xfrm>
          <a:prstGeom prst="rect">
            <a:avLst/>
          </a:prstGeom>
          <a:noFill/>
        </p:spPr>
        <p:txBody>
          <a:bodyPr wrap="square" rtlCol="0">
            <a:spAutoFit/>
          </a:bodyPr>
          <a:lstStyle/>
          <a:p>
            <a:r>
              <a:rPr lang="en-AU" sz="2800" dirty="0"/>
              <a:t>4</a:t>
            </a:r>
          </a:p>
        </p:txBody>
      </p:sp>
      <p:sp>
        <p:nvSpPr>
          <p:cNvPr id="22" name="TextBox 21">
            <a:extLst>
              <a:ext uri="{FF2B5EF4-FFF2-40B4-BE49-F238E27FC236}">
                <a16:creationId xmlns:a16="http://schemas.microsoft.com/office/drawing/2014/main" id="{CDAD2CBB-C5EB-4D77-9D9C-85C458956A81}"/>
              </a:ext>
            </a:extLst>
          </p:cNvPr>
          <p:cNvSpPr txBox="1"/>
          <p:nvPr/>
        </p:nvSpPr>
        <p:spPr>
          <a:xfrm>
            <a:off x="2937194" y="5150972"/>
            <a:ext cx="701335" cy="523220"/>
          </a:xfrm>
          <a:prstGeom prst="rect">
            <a:avLst/>
          </a:prstGeom>
          <a:noFill/>
        </p:spPr>
        <p:txBody>
          <a:bodyPr wrap="square" rtlCol="0">
            <a:spAutoFit/>
          </a:bodyPr>
          <a:lstStyle/>
          <a:p>
            <a:r>
              <a:rPr lang="en-AU" sz="2800" dirty="0"/>
              <a:t>9</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BE2DB45-EFD3-48BF-B9EF-1E2FBF12478C}"/>
                  </a:ext>
                </a:extLst>
              </p:cNvPr>
              <p:cNvSpPr txBox="1"/>
              <p:nvPr/>
            </p:nvSpPr>
            <p:spPr>
              <a:xfrm>
                <a:off x="6821813" y="5873619"/>
                <a:ext cx="5055353" cy="704295"/>
              </a:xfrm>
              <a:prstGeom prst="rect">
                <a:avLst/>
              </a:prstGeom>
              <a:noFill/>
            </p:spPr>
            <p:txBody>
              <a:bodyPr wrap="square" rtlCol="0">
                <a:spAutoFit/>
              </a:bodyPr>
              <a:lstStyle/>
              <a:p>
                <a:r>
                  <a:rPr lang="en-AU" sz="2800" dirty="0"/>
                  <a:t>P(P or C) = P(P</a:t>
                </a:r>
                <a:r>
                  <a:rPr lang="en-AU" sz="2800" dirty="0">
                    <a:sym typeface="Symbol"/>
                  </a:rPr>
                  <a:t>C) = </a:t>
                </a:r>
                <a14:m>
                  <m:oMath xmlns:m="http://schemas.openxmlformats.org/officeDocument/2006/math">
                    <m:f>
                      <m:fPr>
                        <m:ctrlPr>
                          <a:rPr lang="en-AU" sz="2800" i="1">
                            <a:latin typeface="Cambria Math" panose="02040503050406030204" pitchFamily="18" charset="0"/>
                            <a:sym typeface="Symbol"/>
                          </a:rPr>
                        </m:ctrlPr>
                      </m:fPr>
                      <m:num>
                        <m:r>
                          <a:rPr lang="en-AU" sz="2800" i="1">
                            <a:latin typeface="Cambria Math"/>
                            <a:sym typeface="Symbol"/>
                          </a:rPr>
                          <m:t>21</m:t>
                        </m:r>
                      </m:num>
                      <m:den>
                        <m:r>
                          <a:rPr lang="en-AU" sz="2800" i="1">
                            <a:latin typeface="Cambria Math"/>
                            <a:sym typeface="Symbol"/>
                          </a:rPr>
                          <m:t>30</m:t>
                        </m:r>
                      </m:den>
                    </m:f>
                  </m:oMath>
                </a14:m>
                <a:r>
                  <a:rPr lang="en-AU" sz="2800" dirty="0"/>
                  <a:t> = </a:t>
                </a:r>
                <a14:m>
                  <m:oMath xmlns:m="http://schemas.openxmlformats.org/officeDocument/2006/math">
                    <m:f>
                      <m:fPr>
                        <m:ctrlPr>
                          <a:rPr lang="en-AU" sz="2800" i="1">
                            <a:latin typeface="Cambria Math" panose="02040503050406030204" pitchFamily="18" charset="0"/>
                          </a:rPr>
                        </m:ctrlPr>
                      </m:fPr>
                      <m:num>
                        <m:r>
                          <a:rPr lang="en-AU" sz="2800" i="1">
                            <a:latin typeface="Cambria Math"/>
                          </a:rPr>
                          <m:t>7</m:t>
                        </m:r>
                      </m:num>
                      <m:den>
                        <m:r>
                          <a:rPr lang="en-AU" sz="2800" i="1">
                            <a:latin typeface="Cambria Math"/>
                          </a:rPr>
                          <m:t>10</m:t>
                        </m:r>
                      </m:den>
                    </m:f>
                  </m:oMath>
                </a14:m>
                <a:endParaRPr lang="en-AU" sz="2800" dirty="0"/>
              </a:p>
            </p:txBody>
          </p:sp>
        </mc:Choice>
        <mc:Fallback xmlns="">
          <p:sp>
            <p:nvSpPr>
              <p:cNvPr id="23" name="TextBox 22">
                <a:extLst>
                  <a:ext uri="{FF2B5EF4-FFF2-40B4-BE49-F238E27FC236}">
                    <a16:creationId xmlns:a16="http://schemas.microsoft.com/office/drawing/2014/main" id="{EBE2DB45-EFD3-48BF-B9EF-1E2FBF12478C}"/>
                  </a:ext>
                </a:extLst>
              </p:cNvPr>
              <p:cNvSpPr txBox="1">
                <a:spLocks noRot="1" noChangeAspect="1" noMove="1" noResize="1" noEditPoints="1" noAdjustHandles="1" noChangeArrowheads="1" noChangeShapeType="1" noTextEdit="1"/>
              </p:cNvSpPr>
              <p:nvPr/>
            </p:nvSpPr>
            <p:spPr>
              <a:xfrm>
                <a:off x="6821813" y="5873619"/>
                <a:ext cx="5055353" cy="704295"/>
              </a:xfrm>
              <a:prstGeom prst="rect">
                <a:avLst/>
              </a:prstGeom>
              <a:blipFill>
                <a:blip r:embed="rId2"/>
                <a:stretch>
                  <a:fillRect l="-2413" b="-95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896221F-B133-48EE-94FD-777BC875DCC5}"/>
                  </a:ext>
                </a:extLst>
              </p:cNvPr>
              <p:cNvSpPr txBox="1"/>
              <p:nvPr/>
            </p:nvSpPr>
            <p:spPr>
              <a:xfrm>
                <a:off x="657587" y="5926003"/>
                <a:ext cx="5172095" cy="710451"/>
              </a:xfrm>
              <a:prstGeom prst="rect">
                <a:avLst/>
              </a:prstGeom>
              <a:noFill/>
            </p:spPr>
            <p:txBody>
              <a:bodyPr wrap="square" rtlCol="0">
                <a:spAutoFit/>
              </a:bodyPr>
              <a:lstStyle/>
              <a:p>
                <a:r>
                  <a:rPr lang="en-AU" sz="2800" dirty="0"/>
                  <a:t>P(P and C) = P(P</a:t>
                </a:r>
                <a:r>
                  <a:rPr lang="en-AU" sz="2800" dirty="0">
                    <a:sym typeface="Symbol"/>
                  </a:rPr>
                  <a:t>C) = </a:t>
                </a:r>
                <a14:m>
                  <m:oMath xmlns:m="http://schemas.openxmlformats.org/officeDocument/2006/math">
                    <m:f>
                      <m:fPr>
                        <m:ctrlPr>
                          <a:rPr lang="en-AU" sz="2800" i="1">
                            <a:latin typeface="Cambria Math" panose="02040503050406030204" pitchFamily="18" charset="0"/>
                            <a:sym typeface="Symbol"/>
                          </a:rPr>
                        </m:ctrlPr>
                      </m:fPr>
                      <m:num>
                        <m:r>
                          <a:rPr lang="en-AU" sz="2800" i="1">
                            <a:latin typeface="Cambria Math"/>
                            <a:sym typeface="Symbol"/>
                          </a:rPr>
                          <m:t>15</m:t>
                        </m:r>
                      </m:num>
                      <m:den>
                        <m:r>
                          <a:rPr lang="en-AU" sz="2800" i="1">
                            <a:latin typeface="Cambria Math"/>
                            <a:sym typeface="Symbol"/>
                          </a:rPr>
                          <m:t>30</m:t>
                        </m:r>
                      </m:den>
                    </m:f>
                  </m:oMath>
                </a14:m>
                <a:r>
                  <a:rPr lang="en-AU" sz="2800" dirty="0"/>
                  <a:t> = </a:t>
                </a:r>
                <a14:m>
                  <m:oMath xmlns:m="http://schemas.openxmlformats.org/officeDocument/2006/math">
                    <m:f>
                      <m:fPr>
                        <m:ctrlPr>
                          <a:rPr lang="en-AU" sz="2800" i="1">
                            <a:latin typeface="Cambria Math" panose="02040503050406030204" pitchFamily="18" charset="0"/>
                          </a:rPr>
                        </m:ctrlPr>
                      </m:fPr>
                      <m:num>
                        <m:r>
                          <a:rPr lang="en-AU" sz="2800" i="1">
                            <a:latin typeface="Cambria Math"/>
                          </a:rPr>
                          <m:t>1</m:t>
                        </m:r>
                      </m:num>
                      <m:den>
                        <m:r>
                          <a:rPr lang="en-AU" sz="2800" i="1">
                            <a:latin typeface="Cambria Math"/>
                          </a:rPr>
                          <m:t>2</m:t>
                        </m:r>
                      </m:den>
                    </m:f>
                  </m:oMath>
                </a14:m>
                <a:endParaRPr lang="en-AU" sz="2800" dirty="0"/>
              </a:p>
            </p:txBody>
          </p:sp>
        </mc:Choice>
        <mc:Fallback xmlns="">
          <p:sp>
            <p:nvSpPr>
              <p:cNvPr id="24" name="TextBox 23">
                <a:extLst>
                  <a:ext uri="{FF2B5EF4-FFF2-40B4-BE49-F238E27FC236}">
                    <a16:creationId xmlns:a16="http://schemas.microsoft.com/office/drawing/2014/main" id="{0896221F-B133-48EE-94FD-777BC875DCC5}"/>
                  </a:ext>
                </a:extLst>
              </p:cNvPr>
              <p:cNvSpPr txBox="1">
                <a:spLocks noRot="1" noChangeAspect="1" noMove="1" noResize="1" noEditPoints="1" noAdjustHandles="1" noChangeArrowheads="1" noChangeShapeType="1" noTextEdit="1"/>
              </p:cNvSpPr>
              <p:nvPr/>
            </p:nvSpPr>
            <p:spPr>
              <a:xfrm>
                <a:off x="657587" y="5926003"/>
                <a:ext cx="5172095" cy="710451"/>
              </a:xfrm>
              <a:prstGeom prst="rect">
                <a:avLst/>
              </a:prstGeom>
              <a:blipFill>
                <a:blip r:embed="rId3"/>
                <a:stretch>
                  <a:fillRect l="-2476" b="-8547"/>
                </a:stretch>
              </a:blipFill>
            </p:spPr>
            <p:txBody>
              <a:bodyPr/>
              <a:lstStyle/>
              <a:p>
                <a:r>
                  <a:rPr lang="en-GB">
                    <a:noFill/>
                  </a:rPr>
                  <a:t> </a:t>
                </a:r>
              </a:p>
            </p:txBody>
          </p:sp>
        </mc:Fallback>
      </mc:AlternateContent>
    </p:spTree>
    <p:extLst>
      <p:ext uri="{BB962C8B-B14F-4D97-AF65-F5344CB8AC3E}">
        <p14:creationId xmlns:p14="http://schemas.microsoft.com/office/powerpoint/2010/main" val="675855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6ABC60C-22A6-43CC-89B1-022B1791D296}"/>
              </a:ext>
            </a:extLst>
          </p:cNvPr>
          <p:cNvSpPr>
            <a:spLocks noGrp="1"/>
          </p:cNvSpPr>
          <p:nvPr>
            <p:ph idx="1"/>
          </p:nvPr>
        </p:nvSpPr>
        <p:spPr/>
        <p:txBody>
          <a:bodyPr/>
          <a:lstStyle/>
          <a:p>
            <a:pPr marL="0" indent="0">
              <a:buNone/>
            </a:pPr>
            <a:r>
              <a:rPr lang="en-US" dirty="0"/>
              <a:t>1) Nelson WA </a:t>
            </a:r>
            <a:r>
              <a:rPr lang="en-US" dirty="0" err="1"/>
              <a:t>Maths</a:t>
            </a:r>
            <a:r>
              <a:rPr lang="en-US" dirty="0"/>
              <a:t> 10, Ex 6.2 p. 248 Questions 13, 14 and 20</a:t>
            </a:r>
            <a:br>
              <a:rPr lang="en-US" dirty="0"/>
            </a:br>
            <a:r>
              <a:rPr lang="en-US" dirty="0"/>
              <a:t>   or   Dwyer Year 10 Text, Exercise 8.5, Questions 1-3, p.108</a:t>
            </a:r>
          </a:p>
          <a:p>
            <a:pPr marL="0" indent="0">
              <a:buNone/>
            </a:pPr>
            <a:endParaRPr lang="en-US" dirty="0"/>
          </a:p>
          <a:p>
            <a:pPr marL="0" indent="0">
              <a:buNone/>
            </a:pPr>
            <a:r>
              <a:rPr lang="en-US" dirty="0"/>
              <a:t>2) Add Venn diagram, Intersection and union to your glossary</a:t>
            </a:r>
          </a:p>
          <a:p>
            <a:pPr marL="0" indent="0">
              <a:buNone/>
            </a:pPr>
            <a:endParaRPr lang="en-US" dirty="0"/>
          </a:p>
          <a:p>
            <a:pPr marL="0" indent="0">
              <a:buNone/>
            </a:pPr>
            <a:r>
              <a:rPr lang="en-US" dirty="0"/>
              <a:t>3) Complete the worksheet</a:t>
            </a:r>
          </a:p>
        </p:txBody>
      </p:sp>
      <p:sp>
        <p:nvSpPr>
          <p:cNvPr id="8" name="Title 1">
            <a:extLst>
              <a:ext uri="{FF2B5EF4-FFF2-40B4-BE49-F238E27FC236}">
                <a16:creationId xmlns:a16="http://schemas.microsoft.com/office/drawing/2014/main" id="{8B5B740C-03A6-4C1E-A03F-B71FA988694E}"/>
              </a:ext>
            </a:extLst>
          </p:cNvPr>
          <p:cNvSpPr>
            <a:spLocks noGrp="1"/>
          </p:cNvSpPr>
          <p:nvPr>
            <p:ph type="title"/>
          </p:nvPr>
        </p:nvSpPr>
        <p:spPr>
          <a:xfrm>
            <a:off x="2895600" y="764373"/>
            <a:ext cx="8610600" cy="1293028"/>
          </a:xfrm>
        </p:spPr>
        <p:txBody>
          <a:bodyPr/>
          <a:lstStyle/>
          <a:p>
            <a:r>
              <a:rPr lang="en-AU" b="1" dirty="0">
                <a:solidFill>
                  <a:schemeClr val="accent1">
                    <a:lumMod val="75000"/>
                  </a:schemeClr>
                </a:solidFill>
                <a:latin typeface="Kiwi School Handwriting"/>
              </a:rPr>
              <a:t>Task</a:t>
            </a:r>
          </a:p>
        </p:txBody>
      </p:sp>
    </p:spTree>
    <p:extLst>
      <p:ext uri="{BB962C8B-B14F-4D97-AF65-F5344CB8AC3E}">
        <p14:creationId xmlns:p14="http://schemas.microsoft.com/office/powerpoint/2010/main" val="3829465617"/>
      </p:ext>
    </p:extLst>
  </p:cSld>
  <p:clrMapOvr>
    <a:masterClrMapping/>
  </p:clrMapOvr>
</p:sld>
</file>

<file path=ppt/theme/theme1.xml><?xml version="1.0" encoding="utf-8"?>
<a:theme xmlns:a="http://schemas.openxmlformats.org/drawingml/2006/main" name="BSC Theme">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SC Theme" id="{C1CBADD6-BB5F-440A-B968-1DF8E3AA1E88}" vid="{968D037D-C1E6-4504-B0AA-F343FEB667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TM02900720[[fn=Integral]]</Template>
  <TotalTime>440</TotalTime>
  <Words>1236</Words>
  <Application>Microsoft Office PowerPoint</Application>
  <PresentationFormat>Widescreen</PresentationFormat>
  <Paragraphs>258</Paragraphs>
  <Slides>23</Slides>
  <Notes>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2" baseType="lpstr">
      <vt:lpstr>Arial</vt:lpstr>
      <vt:lpstr>Arial Black</vt:lpstr>
      <vt:lpstr>Calibri</vt:lpstr>
      <vt:lpstr>Cambria Math</vt:lpstr>
      <vt:lpstr>Century Gothic</vt:lpstr>
      <vt:lpstr>DJB Fancy Nancy</vt:lpstr>
      <vt:lpstr>Kiwi School Handwriting</vt:lpstr>
      <vt:lpstr>BSC Theme</vt:lpstr>
      <vt:lpstr>Equation</vt:lpstr>
      <vt:lpstr>VENN Diagrams</vt:lpstr>
      <vt:lpstr>Lesson 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activity</vt:lpstr>
      <vt:lpstr>Organising your Venn diagram</vt:lpstr>
      <vt:lpstr>Organising your Venn diagram</vt:lpstr>
      <vt:lpstr>Organising your Venn diagram</vt:lpstr>
      <vt:lpstr>Organising your Venn diagram</vt:lpstr>
      <vt:lpstr>Probabilities - LHS</vt:lpstr>
      <vt:lpstr>LHS Question</vt:lpstr>
      <vt:lpstr> </vt:lpstr>
      <vt:lpstr>PowerPoint Presentation</vt:lpstr>
      <vt:lpstr>PowerPoint Presentation</vt:lpstr>
      <vt:lpstr>PowerPoint Presentation</vt:lpstr>
      <vt:lpstr>Example In a class of 30 students, 19 study physics, 17 study chemistry and 15 study both. Use a Venn diagram to display this information.</vt:lpstr>
      <vt:lpstr>Example In a class of 30 students, 19 study physics, 17 study chemistry and 15 study both. Use a Venn diagram to display this information.</vt:lpstr>
      <vt:lpstr>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dc:title>
  <dc:creator>Toby</dc:creator>
  <cp:lastModifiedBy>Coz W</cp:lastModifiedBy>
  <cp:revision>32</cp:revision>
  <cp:lastPrinted>2018-06-10T15:00:28Z</cp:lastPrinted>
  <dcterms:created xsi:type="dcterms:W3CDTF">2018-06-02T10:27:40Z</dcterms:created>
  <dcterms:modified xsi:type="dcterms:W3CDTF">2021-10-15T01:51:55Z</dcterms:modified>
</cp:coreProperties>
</file>
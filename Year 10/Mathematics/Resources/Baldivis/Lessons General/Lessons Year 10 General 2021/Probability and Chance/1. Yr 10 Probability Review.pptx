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92" r:id="rId1"/>
  </p:sldMasterIdLst>
  <p:notesMasterIdLst>
    <p:notesMasterId r:id="rId18"/>
  </p:notesMasterIdLst>
  <p:sldIdLst>
    <p:sldId id="257" r:id="rId2"/>
    <p:sldId id="274" r:id="rId3"/>
    <p:sldId id="259" r:id="rId4"/>
    <p:sldId id="263" r:id="rId5"/>
    <p:sldId id="260" r:id="rId6"/>
    <p:sldId id="261" r:id="rId7"/>
    <p:sldId id="264" r:id="rId8"/>
    <p:sldId id="273" r:id="rId9"/>
    <p:sldId id="272" r:id="rId10"/>
    <p:sldId id="265" r:id="rId11"/>
    <p:sldId id="266" r:id="rId12"/>
    <p:sldId id="276" r:id="rId13"/>
    <p:sldId id="277" r:id="rId14"/>
    <p:sldId id="271" r:id="rId15"/>
    <p:sldId id="262" r:id="rId16"/>
    <p:sldId id="27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4EF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2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F2282E-A42A-413E-AE2C-48286DBF7EC2}" type="datetimeFigureOut">
              <a:rPr lang="en-AU" smtClean="0"/>
              <a:t>12/09/2021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425140-7458-4828-80E5-6CAE1A8C668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442547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5936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9256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109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Guide students through the question.</a:t>
            </a:r>
          </a:p>
          <a:p>
            <a:r>
              <a:rPr lang="en-AU" dirty="0"/>
              <a:t>Option</a:t>
            </a:r>
            <a:r>
              <a:rPr lang="en-AU" baseline="0" dirty="0"/>
              <a:t> 2: Dot plots handout (Scaffolded for kids who may need </a:t>
            </a:r>
            <a:r>
              <a:rPr lang="en-AU" baseline="0"/>
              <a:t>extra help)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4366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50773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75159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51362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4270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49507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130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80820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Dwyer 10 doesn’t have jack</a:t>
            </a:r>
            <a:r>
              <a:rPr lang="en-AU" baseline="0" dirty="0" smtClean="0"/>
              <a:t> for practise questions at this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62400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89386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51189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611726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28151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12/09/2021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12501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12/09/2021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2102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12/09/2021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38295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12/09/2021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32608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12/09/2021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636782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7769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096648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6700264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97561481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1124535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07649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78394-75B3-4DDA-93C4-891EE6443567}" type="datetimeFigureOut">
              <a:rPr lang="en-AU" smtClean="0"/>
              <a:t>12/09/2021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88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3E78394-75B3-4DDA-93C4-891EE6443567}" type="datetimeFigureOut">
              <a:rPr lang="en-AU" smtClean="0"/>
              <a:t>12/09/2021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9ADFE24-42A0-4DE0-9667-D0ACECBB6A47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4252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3" r:id="rId1"/>
    <p:sldLayoutId id="2147483894" r:id="rId2"/>
    <p:sldLayoutId id="2147483895" r:id="rId3"/>
    <p:sldLayoutId id="2147483896" r:id="rId4"/>
    <p:sldLayoutId id="2147483897" r:id="rId5"/>
    <p:sldLayoutId id="2147483898" r:id="rId6"/>
    <p:sldLayoutId id="2147483899" r:id="rId7"/>
    <p:sldLayoutId id="2147483900" r:id="rId8"/>
    <p:sldLayoutId id="2147483901" r:id="rId9"/>
    <p:sldLayoutId id="2147483902" r:id="rId10"/>
    <p:sldLayoutId id="2147483903" r:id="rId11"/>
    <p:sldLayoutId id="2147483904" r:id="rId12"/>
    <p:sldLayoutId id="2147483905" r:id="rId13"/>
    <p:sldLayoutId id="2147483906" r:id="rId14"/>
    <p:sldLayoutId id="2147483907" r:id="rId15"/>
    <p:sldLayoutId id="214748390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b="1" dirty="0" err="1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Yr</a:t>
            </a:r>
            <a:r>
              <a:rPr lang="en-US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10 Probability </a:t>
            </a:r>
            <a:r>
              <a:rPr lang="en-US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r>
              <a:rPr lang="en-US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eview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10001" y="5115925"/>
            <a:ext cx="9446339" cy="1384675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EQ: What have we learned about probability so far?</a:t>
            </a:r>
            <a:endParaRPr lang="en-US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067614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solidFill>
                  <a:schemeClr val="accent2">
                    <a:lumMod val="75000"/>
                  </a:schemeClr>
                </a:solidFill>
              </a:rPr>
              <a:t>5 Question warm up</a:t>
            </a:r>
            <a:endParaRPr lang="en-AU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1.  What is the median and the range for the following data set?</a:t>
            </a:r>
            <a:br>
              <a:rPr lang="en-AU" dirty="0" smtClean="0"/>
            </a:br>
            <a:r>
              <a:rPr lang="en-AU" dirty="0" smtClean="0"/>
              <a:t>		{ 1, 2, 3, 5, 8, 8, 9}</a:t>
            </a:r>
          </a:p>
          <a:p>
            <a:r>
              <a:rPr lang="en-AU" dirty="0" smtClean="0"/>
              <a:t>2.  Compare linear and quadratic relationships in words.</a:t>
            </a:r>
            <a:endParaRPr lang="en-AU" dirty="0"/>
          </a:p>
          <a:p>
            <a:r>
              <a:rPr lang="en-AU" dirty="0" smtClean="0"/>
              <a:t>3.  Factorise the following:</a:t>
            </a:r>
            <a:br>
              <a:rPr lang="en-AU" dirty="0" smtClean="0"/>
            </a:br>
            <a:r>
              <a:rPr lang="en-AU" dirty="0" smtClean="0"/>
              <a:t>a) 6g</a:t>
            </a:r>
            <a:r>
              <a:rPr lang="en-AU" baseline="30000" dirty="0" smtClean="0"/>
              <a:t>2</a:t>
            </a:r>
            <a:r>
              <a:rPr lang="en-AU" dirty="0" smtClean="0"/>
              <a:t>+3g+18f 		b) 3r+m+e+gh+3r-d	c) 16p+4</a:t>
            </a:r>
          </a:p>
          <a:p>
            <a:r>
              <a:rPr lang="en-AU" dirty="0" smtClean="0"/>
              <a:t>4. Find the turning point for the following quadratic equations:</a:t>
            </a:r>
            <a:br>
              <a:rPr lang="en-AU" dirty="0" smtClean="0"/>
            </a:br>
            <a:r>
              <a:rPr lang="en-AU" dirty="0" smtClean="0"/>
              <a:t>a) y = x</a:t>
            </a:r>
            <a:r>
              <a:rPr lang="en-AU" baseline="30000" dirty="0" smtClean="0"/>
              <a:t>2 </a:t>
            </a:r>
            <a:r>
              <a:rPr lang="en-AU" dirty="0" smtClean="0"/>
              <a:t>– x - 6	b) x</a:t>
            </a:r>
            <a:r>
              <a:rPr lang="en-AU" baseline="30000" dirty="0" smtClean="0"/>
              <a:t>2</a:t>
            </a:r>
            <a:r>
              <a:rPr lang="en-AU" dirty="0" smtClean="0"/>
              <a:t> + 7x + 10</a:t>
            </a:r>
          </a:p>
          <a:p>
            <a:r>
              <a:rPr lang="en-AU" dirty="0" smtClean="0"/>
              <a:t>5. Solve for x when y = 0</a:t>
            </a:r>
            <a:br>
              <a:rPr lang="en-AU" dirty="0" smtClean="0"/>
            </a:br>
            <a:r>
              <a:rPr lang="en-AU" dirty="0" smtClean="0"/>
              <a:t>a) (x-3)(x+3)		b) x</a:t>
            </a:r>
            <a:r>
              <a:rPr lang="en-AU" baseline="30000" dirty="0" smtClean="0"/>
              <a:t>2</a:t>
            </a:r>
            <a:r>
              <a:rPr lang="en-AU" dirty="0" smtClean="0"/>
              <a:t> - 6x + 8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89711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What is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xmlns="" id="{D5D54291-4381-4F4E-9123-67B1D03ACCFD}"/>
              </a:ext>
            </a:extLst>
          </p:cNvPr>
          <p:cNvSpPr txBox="1">
            <a:spLocks/>
          </p:cNvSpPr>
          <p:nvPr/>
        </p:nvSpPr>
        <p:spPr>
          <a:xfrm>
            <a:off x="2074821" y="1577012"/>
            <a:ext cx="9570332" cy="22098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3200" b="1" dirty="0">
                <a:latin typeface="Calibri" panose="020F0502020204030204" pitchFamily="34" charset="0"/>
                <a:cs typeface="Calibri" panose="020F0502020204030204" pitchFamily="34" charset="0"/>
              </a:rPr>
              <a:t>Probability</a:t>
            </a: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: is the likelihood that an event will occur.</a:t>
            </a:r>
          </a:p>
          <a:p>
            <a:pPr lvl="1">
              <a:defRPr/>
            </a:pPr>
            <a:r>
              <a:rPr lang="en-US" sz="3200" dirty="0">
                <a:latin typeface="Calibri" panose="020F0502020204030204" pitchFamily="34" charset="0"/>
                <a:cs typeface="Calibri" panose="020F0502020204030204" pitchFamily="34" charset="0"/>
              </a:rPr>
              <a:t>Probability can be written as a </a:t>
            </a: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fraction, decimal or a percent.</a:t>
            </a: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4" name="Picture 1" descr="prob[1]">
            <a:extLst>
              <a:ext uri="{FF2B5EF4-FFF2-40B4-BE49-F238E27FC236}">
                <a16:creationId xmlns:a16="http://schemas.microsoft.com/office/drawing/2014/main" xmlns="" id="{04A2866A-E7E8-4002-BB5B-BCC7734305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4600" y="3500718"/>
            <a:ext cx="8764588" cy="320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ext Box 6">
            <a:extLst>
              <a:ext uri="{FF2B5EF4-FFF2-40B4-BE49-F238E27FC236}">
                <a16:creationId xmlns:a16="http://schemas.microsoft.com/office/drawing/2014/main" xmlns="" id="{A743B007-EE6F-4CD5-BDCF-4E46B90B5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0" y="4262718"/>
            <a:ext cx="1905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>
                <a:cs typeface="Times New Roman" panose="02020603050405020304" pitchFamily="18" charset="0"/>
              </a:rPr>
              <a:t>_______________</a:t>
            </a:r>
            <a:br>
              <a:rPr lang="en-US" altLang="en-US" sz="1400" b="0">
                <a:cs typeface="Times New Roman" panose="02020603050405020304" pitchFamily="18" charset="0"/>
              </a:rPr>
            </a:br>
            <a:r>
              <a:rPr lang="en-US" altLang="en-US" sz="1400" b="0">
                <a:cs typeface="Times New Roman" panose="02020603050405020304" pitchFamily="18" charset="0"/>
              </a:rPr>
              <a:t/>
            </a:r>
            <a:br>
              <a:rPr lang="en-US" altLang="en-US" sz="1400" b="0">
                <a:cs typeface="Times New Roman" panose="02020603050405020304" pitchFamily="18" charset="0"/>
              </a:rPr>
            </a:br>
            <a:endParaRPr lang="en-US" altLang="en-US" sz="1800" b="0"/>
          </a:p>
        </p:txBody>
      </p:sp>
      <p:sp>
        <p:nvSpPr>
          <p:cNvPr id="16" name="Text Box 3">
            <a:extLst>
              <a:ext uri="{FF2B5EF4-FFF2-40B4-BE49-F238E27FC236}">
                <a16:creationId xmlns:a16="http://schemas.microsoft.com/office/drawing/2014/main" xmlns="" id="{B06CDCE4-1D90-48C5-8CFA-1C5A35D8C8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67000" y="3729318"/>
            <a:ext cx="22098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>
                <a:cs typeface="Times New Roman" panose="02020603050405020304" pitchFamily="18" charset="0"/>
              </a:rPr>
              <a:t/>
            </a:r>
            <a:br>
              <a:rPr lang="en-US" altLang="en-US" sz="1400" b="0">
                <a:cs typeface="Times New Roman" panose="02020603050405020304" pitchFamily="18" charset="0"/>
              </a:rPr>
            </a:br>
            <a:r>
              <a:rPr lang="en-US" altLang="en-US" sz="1400" b="0">
                <a:cs typeface="Times New Roman" panose="02020603050405020304" pitchFamily="18" charset="0"/>
              </a:rPr>
              <a:t/>
            </a:r>
            <a:br>
              <a:rPr lang="en-US" altLang="en-US" sz="1400" b="0">
                <a:cs typeface="Times New Roman" panose="02020603050405020304" pitchFamily="18" charset="0"/>
              </a:rPr>
            </a:br>
            <a:endParaRPr lang="en-US" altLang="en-US" sz="1800" b="0"/>
          </a:p>
        </p:txBody>
      </p:sp>
      <p:sp>
        <p:nvSpPr>
          <p:cNvPr id="17" name="Text Box 2">
            <a:extLst>
              <a:ext uri="{FF2B5EF4-FFF2-40B4-BE49-F238E27FC236}">
                <a16:creationId xmlns:a16="http://schemas.microsoft.com/office/drawing/2014/main" xmlns="" id="{994ED137-78AB-4C70-8B82-F0FA42183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77200" y="4262718"/>
            <a:ext cx="13716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0" dirty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 dirty="0">
                <a:cs typeface="Times New Roman" panose="02020603050405020304" pitchFamily="18" charset="0"/>
              </a:rPr>
              <a:t>_______________</a:t>
            </a:r>
            <a:br>
              <a:rPr lang="en-US" altLang="en-US" sz="1400" b="0" dirty="0">
                <a:cs typeface="Times New Roman" panose="02020603050405020304" pitchFamily="18" charset="0"/>
              </a:rPr>
            </a:br>
            <a:r>
              <a:rPr lang="en-US" altLang="en-US" sz="1400" b="0" dirty="0">
                <a:cs typeface="Times New Roman" panose="02020603050405020304" pitchFamily="18" charset="0"/>
              </a:rPr>
              <a:t/>
            </a:r>
            <a:br>
              <a:rPr lang="en-US" altLang="en-US" sz="1400" b="0" dirty="0">
                <a:cs typeface="Times New Roman" panose="02020603050405020304" pitchFamily="18" charset="0"/>
              </a:rPr>
            </a:br>
            <a:endParaRPr lang="en-US" altLang="en-US" sz="1800" b="0" dirty="0"/>
          </a:p>
        </p:txBody>
      </p:sp>
      <p:sp>
        <p:nvSpPr>
          <p:cNvPr id="18" name="Text Box 5">
            <a:extLst>
              <a:ext uri="{FF2B5EF4-FFF2-40B4-BE49-F238E27FC236}">
                <a16:creationId xmlns:a16="http://schemas.microsoft.com/office/drawing/2014/main" xmlns="" id="{A28B8D8C-58DF-48FA-A157-01F4D4833F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01200" y="3729318"/>
            <a:ext cx="15240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>
                <a:cs typeface="Times New Roman" panose="02020603050405020304" pitchFamily="18" charset="0"/>
              </a:rPr>
              <a:t/>
            </a:r>
            <a:br>
              <a:rPr lang="en-US" altLang="en-US" sz="1400" b="0">
                <a:cs typeface="Times New Roman" panose="02020603050405020304" pitchFamily="18" charset="0"/>
              </a:rPr>
            </a:br>
            <a:r>
              <a:rPr lang="en-US" altLang="en-US" sz="1400" b="0">
                <a:cs typeface="Times New Roman" panose="02020603050405020304" pitchFamily="18" charset="0"/>
              </a:rPr>
              <a:t/>
            </a:r>
            <a:br>
              <a:rPr lang="en-US" altLang="en-US" sz="1400" b="0">
                <a:cs typeface="Times New Roman" panose="02020603050405020304" pitchFamily="18" charset="0"/>
              </a:rPr>
            </a:br>
            <a:endParaRPr lang="en-US" altLang="en-US" sz="1800" b="0"/>
          </a:p>
        </p:txBody>
      </p:sp>
      <p:sp>
        <p:nvSpPr>
          <p:cNvPr id="19" name="Text Box 4">
            <a:extLst>
              <a:ext uri="{FF2B5EF4-FFF2-40B4-BE49-F238E27FC236}">
                <a16:creationId xmlns:a16="http://schemas.microsoft.com/office/drawing/2014/main" xmlns="" id="{60DC615B-0966-463B-AFB6-249E88A28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6400" y="3729318"/>
            <a:ext cx="3124200" cy="45720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fol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cs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400" b="0">
              <a:cs typeface="Times New Roman" panose="02020603050405020304" pitchFamily="18" charset="0"/>
            </a:endParaRP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b="0">
                <a:cs typeface="Times New Roman" panose="02020603050405020304" pitchFamily="18" charset="0"/>
              </a:rPr>
              <a:t>_______________</a:t>
            </a:r>
            <a:br>
              <a:rPr lang="en-US" altLang="en-US" sz="1400" b="0">
                <a:cs typeface="Times New Roman" panose="02020603050405020304" pitchFamily="18" charset="0"/>
              </a:rPr>
            </a:br>
            <a:r>
              <a:rPr lang="en-US" altLang="en-US" sz="1400" b="0">
                <a:cs typeface="Times New Roman" panose="02020603050405020304" pitchFamily="18" charset="0"/>
              </a:rPr>
              <a:t/>
            </a:r>
            <a:br>
              <a:rPr lang="en-US" altLang="en-US" sz="1400" b="0">
                <a:cs typeface="Times New Roman" panose="02020603050405020304" pitchFamily="18" charset="0"/>
              </a:rPr>
            </a:br>
            <a:endParaRPr lang="en-US" altLang="en-US" sz="1800" b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27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39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Calibri" panose="020F0502020204030204" pitchFamily="34" charset="0"/>
                <a:cs typeface="Calibri" panose="020F0502020204030204" pitchFamily="34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Calibri" panose="020F0502020204030204" pitchFamily="34" charset="0"/>
                <a:cs typeface="Calibri" panose="020F0502020204030204" pitchFamily="34" charset="0"/>
              </a:rPr>
              <a:t>What is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1" name="Rectangle 3">
            <a:extLst>
              <a:ext uri="{FF2B5EF4-FFF2-40B4-BE49-F238E27FC236}">
                <a16:creationId xmlns:a16="http://schemas.microsoft.com/office/drawing/2014/main" xmlns="" id="{38CA0ADA-FEE1-4F90-8A53-66EF28B0864F}"/>
              </a:ext>
            </a:extLst>
          </p:cNvPr>
          <p:cNvSpPr txBox="1">
            <a:spLocks noChangeArrowheads="1"/>
          </p:cNvSpPr>
          <p:nvPr/>
        </p:nvSpPr>
        <p:spPr>
          <a:xfrm>
            <a:off x="1847528" y="1414601"/>
            <a:ext cx="9144000" cy="534928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Probability is always between 0 and 1.</a:t>
            </a:r>
          </a:p>
          <a:p>
            <a:pPr marL="0" indent="0">
              <a:buNone/>
              <a:defRPr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  <a:defRPr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Probability = 0 means that the event will NEVER happen. </a:t>
            </a:r>
          </a:p>
          <a:p>
            <a:pPr lvl="1">
              <a:defRPr/>
            </a:pP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Example: The probability that the Perth Wildcats will win the AFL Grand Final </a:t>
            </a: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this year</a:t>
            </a: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  <a:defRPr/>
            </a:pPr>
            <a:r>
              <a:rPr 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Probability = 1 means the event will ALWAYS happen.</a:t>
            </a:r>
          </a:p>
          <a:p>
            <a:pPr lvl="1">
              <a:defRPr/>
            </a:pPr>
            <a:r>
              <a:rPr 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Example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: The probability that Christmas will be on December 25</a:t>
            </a:r>
            <a:r>
              <a:rPr lang="en-US" sz="2800" baseline="30000" dirty="0">
                <a:latin typeface="Calibri" panose="020F0502020204030204" pitchFamily="34" charset="0"/>
                <a:cs typeface="Calibri" panose="020F0502020204030204" pitchFamily="34" charset="0"/>
              </a:rPr>
              <a:t>th</a:t>
            </a:r>
            <a:r>
              <a:rPr 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 next year.</a:t>
            </a:r>
          </a:p>
          <a:p>
            <a:pPr marL="457200" lvl="1" indent="0">
              <a:buNone/>
              <a:defRPr/>
            </a:pPr>
            <a:endParaRPr lang="en-US" sz="2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en-US" sz="2800" dirty="0">
              <a:solidFill>
                <a:srgbClr val="FF000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Wingdings" panose="05000000000000000000" pitchFamily="2" charset="2"/>
              <a:buNone/>
              <a:defRPr/>
            </a:pPr>
            <a:endParaRPr 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00044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2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1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57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904" y="365824"/>
            <a:ext cx="8608358" cy="1293028"/>
          </a:xfrm>
        </p:spPr>
        <p:txBody>
          <a:bodyPr>
            <a:normAutofit/>
          </a:bodyPr>
          <a:lstStyle/>
          <a:p>
            <a:r>
              <a:rPr lang="en-AU" sz="54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Practice - LHS</a:t>
            </a:r>
            <a:endParaRPr lang="en-US" sz="5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9E868064-A396-456A-A56D-2B0AB9EF89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904" y="1925075"/>
            <a:ext cx="9413454" cy="45671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304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Calibri" panose="020F0502020204030204" pitchFamily="34" charset="0"/>
                <a:cs typeface="Calibri" panose="020F0502020204030204" pitchFamily="34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the sample space?</a:t>
            </a:r>
            <a:endParaRPr lang="en-US" sz="2399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2085584" y="1738377"/>
            <a:ext cx="9551307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The sample space is a list of all the possible outcomes.  Sample spaces are identified by using the brackets</a:t>
            </a:r>
          </a:p>
          <a:p>
            <a:r>
              <a:rPr lang="en-AU" sz="2800" dirty="0" smtClean="0"/>
              <a:t>{ and }. </a:t>
            </a:r>
          </a:p>
          <a:p>
            <a:endParaRPr lang="en-AU" sz="2800" dirty="0"/>
          </a:p>
          <a:p>
            <a:r>
              <a:rPr lang="en-AU" sz="2800" dirty="0" smtClean="0"/>
              <a:t>e.g. A normal six sided die has the numbers 1 to 6 on it.</a:t>
            </a:r>
            <a:br>
              <a:rPr lang="en-AU" sz="2800" dirty="0" smtClean="0"/>
            </a:br>
            <a:r>
              <a:rPr lang="en-AU" sz="2800" dirty="0" smtClean="0"/>
              <a:t>The sample space is:  {1, 2, 3, 4, 5, 6}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33330684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95632" y="1186249"/>
            <a:ext cx="46481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5400" b="1" dirty="0" smtClean="0"/>
              <a:t>Practise - LHS</a:t>
            </a:r>
            <a:endParaRPr lang="en-AU" sz="5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1178010" y="2891481"/>
            <a:ext cx="4026039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Write the sample space for:</a:t>
            </a:r>
            <a:br>
              <a:rPr lang="en-AU" sz="2400" dirty="0" smtClean="0"/>
            </a:br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dirty="0" smtClean="0"/>
              <a:t>a) Tossing 2 coins</a:t>
            </a:r>
          </a:p>
          <a:p>
            <a:r>
              <a:rPr lang="en-AU" sz="2400" dirty="0" smtClean="0"/>
              <a:t/>
            </a:r>
            <a:br>
              <a:rPr lang="en-AU" sz="2400" dirty="0" smtClean="0"/>
            </a:br>
            <a:r>
              <a:rPr lang="en-AU" sz="2400" dirty="0" smtClean="0"/>
              <a:t>b) Suits in a deck of cards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15480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Calibri" panose="020F0502020204030204" pitchFamily="34" charset="0"/>
                <a:cs typeface="Calibri" panose="020F0502020204030204" pitchFamily="34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Calibri" panose="020F0502020204030204" pitchFamily="34" charset="0"/>
                <a:cs typeface="Calibri" panose="020F0502020204030204" pitchFamily="34" charset="0"/>
              </a:rPr>
              <a:t>How to calculate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C5B15BDD-A090-4F9B-A148-7E5FEE2C0C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4541" y="1934503"/>
            <a:ext cx="7851223" cy="2408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8076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Calibri" panose="020F0502020204030204" pitchFamily="34" charset="0"/>
                <a:cs typeface="Calibri" panose="020F0502020204030204" pitchFamily="34" charset="0"/>
              </a:rPr>
              <a:t>Topic:</a:t>
            </a:r>
            <a:r>
              <a:rPr lang="en-AU" sz="3200" b="1" dirty="0">
                <a:solidFill>
                  <a:prstClr val="black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AU" sz="3200" b="1" dirty="0">
                <a:latin typeface="Calibri" panose="020F0502020204030204" pitchFamily="34" charset="0"/>
                <a:cs typeface="Calibri" panose="020F0502020204030204" pitchFamily="34" charset="0"/>
              </a:rPr>
              <a:t>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Calibri" panose="020F0502020204030204" pitchFamily="34" charset="0"/>
                <a:cs typeface="Calibri" panose="020F0502020204030204" pitchFamily="34" charset="0"/>
              </a:rPr>
              <a:t>How to calculate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xmlns="" id="{A965F1D7-7C28-4A0B-8C2F-5DFBF2B7F7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3160" y="1463490"/>
            <a:ext cx="5692004" cy="53177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62213EF-427D-443C-A326-099F1D1E0FE8}"/>
              </a:ext>
            </a:extLst>
          </p:cNvPr>
          <p:cNvSpPr/>
          <p:nvPr/>
        </p:nvSpPr>
        <p:spPr>
          <a:xfrm>
            <a:off x="8458270" y="1280057"/>
            <a:ext cx="352743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Sample space: 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A list of all the possible outcomes.</a:t>
            </a:r>
          </a:p>
          <a:p>
            <a:pPr>
              <a:defRPr/>
            </a:pP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alt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{ } - </a:t>
            </a:r>
            <a:r>
              <a:rPr lang="en-US" alt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These 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brackets </a:t>
            </a:r>
            <a:r>
              <a:rPr lang="en-US" alt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are used 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when listing sample space</a:t>
            </a:r>
          </a:p>
          <a:p>
            <a:pPr>
              <a:defRPr/>
            </a:pP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&lt; 3 means less than 3, so </a:t>
            </a:r>
            <a:r>
              <a:rPr lang="en-US" altLang="en-US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1</a:t>
            </a: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OR </a:t>
            </a:r>
            <a:r>
              <a:rPr lang="en-US" altLang="en-US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2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CB21444-CE47-4915-91A1-4C5197277009}"/>
              </a:ext>
            </a:extLst>
          </p:cNvPr>
          <p:cNvSpPr/>
          <p:nvPr/>
        </p:nvSpPr>
        <p:spPr>
          <a:xfrm>
            <a:off x="2474257" y="3939988"/>
            <a:ext cx="5123329" cy="1008530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9D08E116-2E75-4494-AB56-8713DC2FAC0B}"/>
              </a:ext>
            </a:extLst>
          </p:cNvPr>
          <p:cNvSpPr/>
          <p:nvPr/>
        </p:nvSpPr>
        <p:spPr>
          <a:xfrm>
            <a:off x="2474256" y="5836024"/>
            <a:ext cx="5123329" cy="945166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BBDC31F0-3ADA-423A-82C4-FA19B9B7B5F6}"/>
              </a:ext>
            </a:extLst>
          </p:cNvPr>
          <p:cNvSpPr/>
          <p:nvPr/>
        </p:nvSpPr>
        <p:spPr>
          <a:xfrm>
            <a:off x="2411521" y="4948518"/>
            <a:ext cx="5123329" cy="945166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2BB6295D-B772-44AF-95AD-71D6CF66E6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67899" y="4948518"/>
            <a:ext cx="4431567" cy="1359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3358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Calibri" panose="020F0502020204030204" pitchFamily="34" charset="0"/>
                <a:cs typeface="Calibri" panose="020F0502020204030204" pitchFamily="34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6360" y="204438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89" y="1738377"/>
            <a:ext cx="1845939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latin typeface="Calibri" panose="020F0502020204030204" pitchFamily="34" charset="0"/>
                <a:cs typeface="Calibri" panose="020F0502020204030204" pitchFamily="34" charset="0"/>
              </a:rPr>
              <a:t>How to calculate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62213EF-427D-443C-A326-099F1D1E0FE8}"/>
              </a:ext>
            </a:extLst>
          </p:cNvPr>
          <p:cNvSpPr/>
          <p:nvPr/>
        </p:nvSpPr>
        <p:spPr>
          <a:xfrm>
            <a:off x="8453264" y="1387627"/>
            <a:ext cx="352743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&gt; 6 means any number larger than 6, in our sample space.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xmlns="" id="{2BB6295D-B772-44AF-95AD-71D6CF66E6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5388" y="5298980"/>
            <a:ext cx="4315026" cy="13239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xmlns="" id="{01A79693-DA24-4D70-BE36-8124599230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91009" y="1394582"/>
            <a:ext cx="5964352" cy="522832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xmlns="" id="{DCB21444-CE47-4915-91A1-4C5197277009}"/>
              </a:ext>
            </a:extLst>
          </p:cNvPr>
          <p:cNvSpPr/>
          <p:nvPr/>
        </p:nvSpPr>
        <p:spPr>
          <a:xfrm>
            <a:off x="2474256" y="3939988"/>
            <a:ext cx="5123329" cy="900558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xmlns="" id="{9D08E116-2E75-4494-AB56-8713DC2FAC0B}"/>
              </a:ext>
            </a:extLst>
          </p:cNvPr>
          <p:cNvSpPr/>
          <p:nvPr/>
        </p:nvSpPr>
        <p:spPr>
          <a:xfrm>
            <a:off x="2411520" y="5718883"/>
            <a:ext cx="5123329" cy="796054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xmlns="" id="{BBDC31F0-3ADA-423A-82C4-FA19B9B7B5F6}"/>
              </a:ext>
            </a:extLst>
          </p:cNvPr>
          <p:cNvSpPr/>
          <p:nvPr/>
        </p:nvSpPr>
        <p:spPr>
          <a:xfrm>
            <a:off x="2378476" y="4818324"/>
            <a:ext cx="5543840" cy="792588"/>
          </a:xfrm>
          <a:prstGeom prst="rect">
            <a:avLst/>
          </a:prstGeom>
          <a:solidFill>
            <a:srgbClr val="D4EFFC"/>
          </a:solidFill>
          <a:ln>
            <a:solidFill>
              <a:srgbClr val="D4EFF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3751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xmlns="" id="{469074D7-7189-401B-B22C-96E7385E16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94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08996" y="1320485"/>
            <a:ext cx="0" cy="555933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Calibri" panose="020F0502020204030204" pitchFamily="34" charset="0"/>
                <a:cs typeface="Calibri" panose="020F0502020204030204" pitchFamily="34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4168" y="282345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767" y="1856816"/>
            <a:ext cx="225765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Compare theoretical and experimental probability</a:t>
            </a:r>
            <a:endParaRPr 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11767" y="1320485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62213EF-427D-443C-A326-099F1D1E0FE8}"/>
              </a:ext>
            </a:extLst>
          </p:cNvPr>
          <p:cNvSpPr/>
          <p:nvPr/>
        </p:nvSpPr>
        <p:spPr>
          <a:xfrm>
            <a:off x="2308996" y="1463955"/>
            <a:ext cx="875623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Theoretical Probability: </a:t>
            </a:r>
            <a:r>
              <a:rPr lang="en-US" alt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is the probability of what we expect to occur</a:t>
            </a:r>
          </a:p>
          <a:p>
            <a:pPr>
              <a:defRPr/>
            </a:pPr>
            <a:r>
              <a:rPr lang="en-US" alt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e.g. The probability of rolling a 3 on a six sided dice is 1/6</a:t>
            </a: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en-US" alt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altLang="en-US" sz="2400" b="1" dirty="0" smtClean="0">
                <a:latin typeface="Calibri" panose="020F0502020204030204" pitchFamily="34" charset="0"/>
                <a:cs typeface="Calibri" panose="020F0502020204030204" pitchFamily="34" charset="0"/>
              </a:rPr>
              <a:t>Experimental Probability: </a:t>
            </a:r>
            <a:r>
              <a:rPr lang="en-US" alt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is the probability that we get as the result of an experiment or simulation.</a:t>
            </a:r>
          </a:p>
          <a:p>
            <a:pPr>
              <a:defRPr/>
            </a:pPr>
            <a:endParaRPr lang="en-US" altLang="en-US" sz="2400" b="1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alt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e.g. Experiment tossing a coin 20 times</a:t>
            </a:r>
          </a:p>
          <a:p>
            <a:pPr>
              <a:defRPr/>
            </a:pP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en-US" alt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en-US" alt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r>
              <a:rPr lang="en-US" alt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P(Heads) = </a:t>
            </a:r>
            <a:r>
              <a:rPr lang="en-US" altLang="en-US" sz="2400" u="sng" dirty="0">
                <a:latin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en-US" altLang="en-US" sz="2400" u="sng" dirty="0" smtClean="0">
                <a:latin typeface="Calibri" panose="020F0502020204030204" pitchFamily="34" charset="0"/>
                <a:cs typeface="Calibri" panose="020F0502020204030204" pitchFamily="34" charset="0"/>
              </a:rPr>
              <a:t>umber of possible outcomes</a:t>
            </a:r>
            <a:r>
              <a:rPr lang="en-US" alt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=  	</a:t>
            </a:r>
            <a:r>
              <a:rPr lang="en-US" altLang="en-US" sz="2400" u="sng" dirty="0" smtClean="0">
                <a:latin typeface="Calibri" panose="020F0502020204030204" pitchFamily="34" charset="0"/>
                <a:cs typeface="Calibri" panose="020F0502020204030204" pitchFamily="34" charset="0"/>
              </a:rPr>
              <a:t>11</a:t>
            </a:r>
            <a:r>
              <a:rPr lang="en-US" alt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 </a:t>
            </a:r>
          </a:p>
          <a:p>
            <a:pPr>
              <a:defRPr/>
            </a:pPr>
            <a:r>
              <a:rPr lang="en-US" alt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alt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		 Total number of outcomes		20</a:t>
            </a: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defRPr/>
            </a:pPr>
            <a:endParaRPr lang="en-US" altLang="en-US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4489974"/>
              </p:ext>
            </p:extLst>
          </p:nvPr>
        </p:nvGraphicFramePr>
        <p:xfrm>
          <a:off x="2528388" y="4194386"/>
          <a:ext cx="3306354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53177"/>
                <a:gridCol w="1653177"/>
              </a:tblGrid>
              <a:tr h="370840">
                <a:tc>
                  <a:txBody>
                    <a:bodyPr/>
                    <a:lstStyle/>
                    <a:p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Heads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>
                          <a:solidFill>
                            <a:schemeClr val="tx1"/>
                          </a:solidFill>
                        </a:rPr>
                        <a:t>Tails</a:t>
                      </a:r>
                      <a:endParaRPr lang="en-AU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AU" dirty="0" smtClean="0"/>
                        <a:t>11</a:t>
                      </a:r>
                      <a:endParaRPr lang="en-A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AU" dirty="0" smtClean="0"/>
                        <a:t>8</a:t>
                      </a:r>
                      <a:endParaRPr lang="en-AU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516144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2308996" y="1320485"/>
            <a:ext cx="0" cy="5559338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92821" y="123165"/>
            <a:ext cx="313380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3200" b="1" dirty="0">
                <a:latin typeface="Calibri" panose="020F0502020204030204" pitchFamily="34" charset="0"/>
                <a:cs typeface="Calibri" panose="020F0502020204030204" pitchFamily="34" charset="0"/>
              </a:rPr>
              <a:t>Topic: Probability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4168" y="282345"/>
            <a:ext cx="2160240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latin typeface="Calibri" panose="020F0502020204030204"/>
              </a:rPr>
              <a:t>Date: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1767" y="1856816"/>
            <a:ext cx="2257658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400" b="1" dirty="0">
                <a:latin typeface="Calibri" panose="020F0502020204030204" pitchFamily="34" charset="0"/>
                <a:cs typeface="Calibri" panose="020F0502020204030204" pitchFamily="34" charset="0"/>
              </a:rPr>
              <a:t>What is complementary Probability?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latin typeface="Calibri" panose="020F0502020204030204" pitchFamily="34" charset="0"/>
                <a:cs typeface="Calibri" panose="020F0502020204030204" pitchFamily="34" charset="0"/>
              </a:rPr>
              <a:t>EQ – What have we learnt about probability so far?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xmlns="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-11767" y="1320485"/>
            <a:ext cx="12188825" cy="0"/>
          </a:xfrm>
          <a:prstGeom prst="line">
            <a:avLst/>
          </a:prstGeom>
          <a:ln w="28575">
            <a:solidFill>
              <a:schemeClr val="accent2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xmlns="" id="{362213EF-427D-443C-A326-099F1D1E0FE8}"/>
              </a:ext>
            </a:extLst>
          </p:cNvPr>
          <p:cNvSpPr/>
          <p:nvPr/>
        </p:nvSpPr>
        <p:spPr>
          <a:xfrm>
            <a:off x="2308996" y="1463955"/>
            <a:ext cx="8756230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altLang="en-US" sz="2800" b="1" dirty="0">
                <a:latin typeface="Calibri" panose="020F0502020204030204" pitchFamily="34" charset="0"/>
                <a:cs typeface="Calibri" panose="020F0502020204030204" pitchFamily="34" charset="0"/>
              </a:rPr>
              <a:t>Complement: 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means an event not happening.</a:t>
            </a:r>
          </a:p>
          <a:p>
            <a:pPr>
              <a:defRPr/>
            </a:pPr>
            <a:r>
              <a:rPr lang="en-US" alt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E.g. 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The complement of it raining, is </a:t>
            </a:r>
            <a:r>
              <a:rPr lang="en-US" altLang="en-US" sz="2800" dirty="0" smtClean="0">
                <a:latin typeface="Calibri" panose="020F0502020204030204" pitchFamily="34" charset="0"/>
                <a:cs typeface="Calibri" panose="020F0502020204030204" pitchFamily="34" charset="0"/>
              </a:rPr>
              <a:t>that it </a:t>
            </a:r>
            <a:r>
              <a:rPr lang="en-US" altLang="en-US" sz="2800" dirty="0">
                <a:latin typeface="Calibri" panose="020F0502020204030204" pitchFamily="34" charset="0"/>
                <a:cs typeface="Calibri" panose="020F0502020204030204" pitchFamily="34" charset="0"/>
              </a:rPr>
              <a:t>doesn’t rain. </a:t>
            </a:r>
          </a:p>
          <a:p>
            <a:pPr>
              <a:defRPr/>
            </a:pPr>
            <a:endParaRPr lang="en-US" altLang="en-US" sz="28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xmlns="" id="{F81109F8-D78B-4FEF-B556-EF59FD330E26}"/>
              </a:ext>
            </a:extLst>
          </p:cNvPr>
          <p:cNvSpPr txBox="1"/>
          <p:nvPr/>
        </p:nvSpPr>
        <p:spPr>
          <a:xfrm>
            <a:off x="2372798" y="2620352"/>
            <a:ext cx="89234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b="1" dirty="0">
                <a:latin typeface="Calibri" panose="020F0502020204030204" pitchFamily="34" charset="0"/>
                <a:cs typeface="Calibri" panose="020F0502020204030204" pitchFamily="34" charset="0"/>
              </a:rPr>
              <a:t>The complement of event “A” is “not event A” -  We write this as A’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xmlns="" id="{EE99625A-3F39-4C2E-A99A-20A7A0B9EF79}"/>
              </a:ext>
            </a:extLst>
          </p:cNvPr>
          <p:cNvSpPr txBox="1"/>
          <p:nvPr/>
        </p:nvSpPr>
        <p:spPr>
          <a:xfrm>
            <a:off x="6420943" y="3369319"/>
            <a:ext cx="164416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highlight>
                  <a:srgbClr val="FFFF00"/>
                </a:highlight>
              </a:rPr>
              <a:t>Not A = A’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xmlns="" id="{D06D0236-A814-466E-A720-1750BA8A2979}"/>
              </a:ext>
            </a:extLst>
          </p:cNvPr>
          <p:cNvSpPr/>
          <p:nvPr/>
        </p:nvSpPr>
        <p:spPr>
          <a:xfrm>
            <a:off x="2372102" y="3897999"/>
            <a:ext cx="9397401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The sum of the probability of an event and its complete is 1</a:t>
            </a:r>
          </a:p>
          <a:p>
            <a:r>
              <a:rPr lang="en-AU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P(A) + P(A’) = 1.</a:t>
            </a:r>
          </a:p>
          <a:p>
            <a:endParaRPr lang="en-AU" sz="24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Example, There is a 20% chance we will get ice-cream. There is then an 80% we wont. 20% + 80% = 100%, 100% = 1</a:t>
            </a:r>
          </a:p>
          <a:p>
            <a:endParaRPr lang="en-AU" sz="2400" b="1" dirty="0">
              <a:solidFill>
                <a:srgbClr val="0070C0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400" b="1" dirty="0">
                <a:solidFill>
                  <a:srgbClr val="0070C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Therefore P(A’) = 1 -  P(A)</a:t>
            </a:r>
          </a:p>
        </p:txBody>
      </p:sp>
    </p:spTree>
    <p:extLst>
      <p:ext uri="{BB962C8B-B14F-4D97-AF65-F5344CB8AC3E}">
        <p14:creationId xmlns:p14="http://schemas.microsoft.com/office/powerpoint/2010/main" val="122297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04664"/>
            <a:ext cx="10766766" cy="1293028"/>
          </a:xfrm>
        </p:spPr>
        <p:txBody>
          <a:bodyPr>
            <a:normAutofit fontScale="90000"/>
          </a:bodyPr>
          <a:lstStyle/>
          <a:p>
            <a:r>
              <a:rPr lang="en-AU" sz="54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Task - LHS:</a:t>
            </a:r>
            <a:r>
              <a:rPr lang="en-AU" sz="5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AU" sz="5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32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Hint: </a:t>
            </a:r>
            <a:r>
              <a:rPr lang="en-AU" sz="27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List the sample space of all available outcomes first</a:t>
            </a:r>
            <a:endParaRPr lang="en-US" sz="5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xmlns="" id="{02E96CB1-9426-44F2-936C-E6D5A1822C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7019" y="1697692"/>
            <a:ext cx="12226037" cy="40442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4282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04664"/>
            <a:ext cx="10766766" cy="1293028"/>
          </a:xfrm>
        </p:spPr>
        <p:txBody>
          <a:bodyPr>
            <a:normAutofit fontScale="90000"/>
          </a:bodyPr>
          <a:lstStyle/>
          <a:p>
            <a:r>
              <a:rPr lang="en-AU" sz="5400" b="1" dirty="0" smtClean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Task - LHS:</a:t>
            </a:r>
            <a:r>
              <a:rPr lang="en-AU" sz="5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/>
            </a:r>
            <a:br>
              <a:rPr lang="en-AU" sz="54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</a:br>
            <a:endParaRPr lang="en-US" sz="54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054443" y="2504303"/>
            <a:ext cx="902836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Complete Ex 6.1 Q1-6 on </a:t>
            </a:r>
            <a:r>
              <a:rPr lang="en-AU" sz="2800" dirty="0" err="1" smtClean="0"/>
              <a:t>Pg</a:t>
            </a:r>
            <a:r>
              <a:rPr lang="en-AU" sz="2800" dirty="0" smtClean="0"/>
              <a:t> 235 of Nelson WA Maths 10</a:t>
            </a:r>
            <a:endParaRPr lang="en-AU" sz="2800" dirty="0"/>
          </a:p>
        </p:txBody>
      </p:sp>
    </p:spTree>
    <p:extLst>
      <p:ext uri="{BB962C8B-B14F-4D97-AF65-F5344CB8AC3E}">
        <p14:creationId xmlns:p14="http://schemas.microsoft.com/office/powerpoint/2010/main" val="1086608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6345</TotalTime>
  <Words>650</Words>
  <Application>Microsoft Office PowerPoint</Application>
  <PresentationFormat>Widescreen</PresentationFormat>
  <Paragraphs>139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4" baseType="lpstr">
      <vt:lpstr>Arial</vt:lpstr>
      <vt:lpstr>Calibri</vt:lpstr>
      <vt:lpstr>Tahoma</vt:lpstr>
      <vt:lpstr>Times New Roman</vt:lpstr>
      <vt:lpstr>Trebuchet MS</vt:lpstr>
      <vt:lpstr>Wingdings</vt:lpstr>
      <vt:lpstr>Wingdings 3</vt:lpstr>
      <vt:lpstr>Facet</vt:lpstr>
      <vt:lpstr>Yr 10 Probability Review</vt:lpstr>
      <vt:lpstr>5 Question warm up</vt:lpstr>
      <vt:lpstr>PowerPoint Presentation</vt:lpstr>
      <vt:lpstr>PowerPoint Presentation</vt:lpstr>
      <vt:lpstr>PowerPoint Presentation</vt:lpstr>
      <vt:lpstr>Practice - LHS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 - LHS: Hint: List the sample space of all available outcomes first</vt:lpstr>
      <vt:lpstr>Task - LHS: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Probability review</dc:title>
  <dc:creator>Nine Labuschagne</dc:creator>
  <cp:lastModifiedBy>Coz W</cp:lastModifiedBy>
  <cp:revision>32</cp:revision>
  <dcterms:created xsi:type="dcterms:W3CDTF">2017-10-15T23:31:24Z</dcterms:created>
  <dcterms:modified xsi:type="dcterms:W3CDTF">2021-09-12T01:55:27Z</dcterms:modified>
</cp:coreProperties>
</file>
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2" r:id="rId2"/>
  </p:sldMasterIdLst>
  <p:sldIdLst>
    <p:sldId id="256" r:id="rId3"/>
    <p:sldId id="258" r:id="rId4"/>
    <p:sldId id="283" r:id="rId5"/>
    <p:sldId id="260" r:id="rId6"/>
    <p:sldId id="28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5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66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8883-BEFD-4F6D-83EC-295F5EFC0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7EC75-4A8C-4B7E-97AC-77BAB7FA0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C939-7EF4-4D41-B400-F2F2C338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3FDEC-4E08-4745-B2E3-CB4F0E20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94F4-4E97-4903-86CC-382AD3B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1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250D-717A-404F-8C6C-38C8D193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D2E12-57C0-42DA-A287-057548AF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9D3EB-30E1-4D3B-AC7D-6B6FEB4B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A7A06-38AF-4926-BE7D-76FAD1CA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1B1F-76D8-4AC6-B287-B0B9FB12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3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60B5-4B66-48F3-985E-35FEDDBB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B4B8-8AAE-4F51-A45D-BD8449B8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6C63-FB40-4AFD-B377-CCB2C5CA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0052-BCFA-408C-B596-F316C1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2071-7068-4F31-A29C-10A99A2A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E59D-016D-49C6-BE62-FB1FFDAB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9E4B-A350-41CC-AE6F-41B36A88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410D3-DCF3-4C12-B788-2FC779D79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49265-9C0D-4B44-B657-37B1C63B6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0ADA9-D7F0-4909-A9F0-728445F3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E229A-386A-46AC-83C4-E5D7DC26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94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5EA7-54E4-40B5-B15A-84BBF864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86D3-E3CC-4649-9661-7B93CD7C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DC95F-DFD4-42CB-80AF-F68BE5AE1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B0011-932B-40CE-886E-C69B6C37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C9476-9EE7-4F99-9308-2CC05BD96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7567C-06F4-4A0E-8093-FBA16E6F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456EE-406A-4E4F-8D1A-D829176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60659-0F68-4C09-AA59-61D260F2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6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46D5-3E0F-4E4F-9FE3-D81432E2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CF8D-B1F0-4437-8EE6-239D40A43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C111E-4074-4932-B8D2-556064A1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B0CDB-458E-4CC4-9D0A-DA50C06B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1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7C0FF-EF15-4DA6-8D22-5EEB1554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EDE9B-02B9-4FD7-B1FB-160A31A0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9AA2-FB3D-48D4-B3EA-374829B8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1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EFCD-95BC-4B40-ABD1-EA7FDC06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2B95-CA90-4A6F-87D5-97B86471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98837-EE70-4DDE-A8D0-86D2105C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598E1-88F6-42B0-B2F7-3C821EAA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2049-CDE5-4040-AF89-A77C0A2A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7E52-A6F6-4FEB-882A-F6F3CCC0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0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C4B5-D212-4D21-A4C6-81134909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090D4-0224-4991-A26A-DCF088A58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A6373-BFAE-4F2B-94DA-73E727050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CDE5-F891-42BD-96E7-7AF878E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F2D0-AA47-4CCB-8BC3-1FFBB4FA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B8933-FE4F-482C-8FAA-9B61E9FA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2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8098-58C8-4B8E-B666-A4A4AE4D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87DE-AA9F-4831-8957-D54E67BE1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02DA-4F82-4462-B7F8-6AEEF583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B4F8-2CF1-4B23-B091-8AE2C472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5983-0C93-4CF4-9AA7-334D976F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6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39158-9A4D-4235-9674-564EDF077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B278B-B2A9-4E9C-9671-04750DCB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9F63-13FD-44B2-A99C-65CBBECE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E633-AA87-4CBB-9CDE-39F44AFE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E907-DA4A-4216-97EE-87C77D83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180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270E-98F4-47B5-966E-8A39E87D8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8379D-FC38-40D6-AF30-42910BB44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7DA2B-5FAB-4F1D-BE0F-062CD275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F6465-09D8-44BA-8108-5F3E3A36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4BE9-CE91-46E3-9D62-FB39F0BB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81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0840-C5E5-4D40-8CC5-8EB84FF0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48DE5-7DAE-4F99-B216-0DBC0E6A5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EAD7E-6926-4B0E-8F42-93C8749C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DB744-562A-440C-81A0-4F235255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3AA49-0F4F-43A6-ABA2-E3223073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620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6447-6EF5-4C38-84DE-D82FC3C0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1443E-752C-40A7-AE7B-BD3D1DD0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5B0A3-CB6E-475B-8126-6AB5829B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4E42C-671E-4F05-B18E-0A87B2AE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F1BC-9CDD-4A0E-8CB2-360ACF53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115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AB87-2B3E-45E4-BF48-8CCA2E93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A53E5-C1C7-44C1-BBCA-9F1C25661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24E9E-0F12-4CA0-8D8E-3A3E57C4B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6D6E8-5C56-496E-B61A-642AED37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8CECF-297A-4724-9C84-4550C69B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8FD49-2331-4183-ADA6-FAC23E5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269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4D11-1239-4B7E-BB24-47AC14D5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B7E0A-5774-4EA8-9C21-9C07496BF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597D7-4D37-4C40-B8D6-D10CF4D8A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06909-B6B6-45F3-8FC0-6963C8EDC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FF869-B448-4848-B7D5-206DEC8AB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AF62A-01B0-4644-BED9-E6235A60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023D0-A306-487E-BF3A-B005DA43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DD737-FB81-4EE1-877B-82DAD00F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954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E4A8-510F-4488-96FD-62027687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A0285-4A77-480C-8BB8-AB0E3A1A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96DB8-F010-45D5-96D7-0D96BDAA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CBD72-1A4A-4AB9-9AB4-A7CD068B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279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704B2-2EBC-4557-B3E6-960FCB60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9CBEC-0B22-481D-9583-ABF9B9ED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768DB-C7AA-4DA9-B82C-E938457F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5168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19CB-3ABA-4A12-92B6-A0D19E75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46AF-7263-4FE4-9BE8-389F11D6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60CDA-27D2-4F05-8DB4-04DBF7F97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BD1BB-0B51-4905-B05F-6523D58A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D3A6-1273-44E1-BB93-F2D7EFFE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05C97-E757-43F0-BD8E-97FC70A5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815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C8D8-1306-4DE2-B17C-FA66F2DC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C0506-6779-4D8B-8DFC-52AB3ABA2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4F3B1-6166-4167-9607-391FF3770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782CE-F3B7-4417-9865-EF46C588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EB3F5-9C82-4D15-8F40-B8A21D4B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C37AD-9796-44FE-B097-8E2847C1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078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919C-D06C-4FA9-B808-AEACD364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F1796-73AA-4E93-885E-FF8B67DDF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B154-189D-4745-96D4-85EB07A9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DD312-222F-43AC-9AD1-50DD129A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C3917-1C37-4534-81F1-030080CB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0005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34D41-8463-48BD-8AA6-7BE43382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76AC3-918F-45BD-977B-03F955610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41A0-A3DD-49EC-9DAE-ECAF726D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D5C6A-097D-497A-876A-FC768D9B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400F-A85D-4B4F-BB91-A8EC0CE6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74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36888-3455-4FEB-905C-B9A309C7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56F58-1126-4420-B0AE-0A32278E2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3952-0D67-4D4D-95BC-B9220DB9C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BB206-D65A-4FA2-9F7B-41CDBE8AB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3AE9-AA71-4A73-B12A-ABB4CB19C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1794A-ABD1-4DAD-8AEE-601E5055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96AF6-0521-4C32-9B39-DAF92483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6BA0D-6174-4406-AF90-D0B397AFF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8CF43-89C4-4DA0-AAAE-3774093FA22A}" type="datetimeFigureOut">
              <a:rPr lang="en-GB" smtClean="0"/>
              <a:t>23/05/2021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A902-BA69-4432-B2A0-5832B4A62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6851-AD17-4CFE-8BA7-1337D3A28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63BC3-B3E5-4B8A-8BB4-DE387D990E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83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6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103C-8084-48CF-AB2A-9C343C5A3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 anchor="ctr"/>
          <a:lstStyle/>
          <a:p>
            <a:r>
              <a:rPr lang="en-AU" dirty="0"/>
              <a:t>Surface Area</a:t>
            </a:r>
          </a:p>
        </p:txBody>
      </p:sp>
    </p:spTree>
    <p:extLst>
      <p:ext uri="{BB962C8B-B14F-4D97-AF65-F5344CB8AC3E}">
        <p14:creationId xmlns:p14="http://schemas.microsoft.com/office/powerpoint/2010/main" val="212924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BB0-4FCA-4C54-AF33-721EC9AB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Surface Area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FE524-8D7A-49FE-840B-761B0AB5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347788"/>
            <a:ext cx="4443984" cy="823912"/>
          </a:xfrm>
        </p:spPr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1316E-AED3-47D1-A742-B4E6FB6C5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2067" y="2319868"/>
            <a:ext cx="5223933" cy="4157132"/>
          </a:xfrm>
        </p:spPr>
        <p:txBody>
          <a:bodyPr>
            <a:normAutofit/>
          </a:bodyPr>
          <a:lstStyle/>
          <a:p>
            <a:r>
              <a:rPr lang="en-AU" sz="2800" dirty="0"/>
              <a:t>By the end of this lesson, students will be able to:</a:t>
            </a:r>
          </a:p>
          <a:p>
            <a:pPr lvl="1"/>
            <a:r>
              <a:rPr lang="en-AU" sz="2800" dirty="0"/>
              <a:t>Calculate the surface area for a range of 3-dimensional shapes</a:t>
            </a:r>
          </a:p>
          <a:p>
            <a:pPr lvl="1"/>
            <a:r>
              <a:rPr lang="en-AU" sz="2800" dirty="0"/>
              <a:t>Name a categorise 3-dimensional shapes</a:t>
            </a:r>
          </a:p>
          <a:p>
            <a:pPr lvl="1"/>
            <a:r>
              <a:rPr lang="en-AU" sz="2800" dirty="0"/>
              <a:t>Use the appropriate units when working with 3-dimensional shapes.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B754-4CD5-4DEA-9A0A-89C8AFB9B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8814" y="1347788"/>
            <a:ext cx="4443984" cy="823912"/>
          </a:xfrm>
        </p:spPr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79241-AB12-4FE2-84FF-24C35264D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2319869"/>
            <a:ext cx="4443984" cy="4334932"/>
          </a:xfrm>
        </p:spPr>
        <p:txBody>
          <a:bodyPr>
            <a:normAutofit/>
          </a:bodyPr>
          <a:lstStyle/>
          <a:p>
            <a:r>
              <a:rPr lang="en-AU" sz="2800" dirty="0"/>
              <a:t>I will know that I have been successful if I can:</a:t>
            </a:r>
          </a:p>
          <a:p>
            <a:pPr lvl="1"/>
            <a:r>
              <a:rPr lang="en-AU" sz="2800" dirty="0"/>
              <a:t>Define surface area in my own words</a:t>
            </a:r>
          </a:p>
          <a:p>
            <a:pPr lvl="1"/>
            <a:r>
              <a:rPr lang="en-AU" sz="2800" dirty="0"/>
              <a:t>Apply the correct formula</a:t>
            </a:r>
          </a:p>
          <a:p>
            <a:pPr lvl="1"/>
            <a:r>
              <a:rPr lang="en-AU" sz="2800" dirty="0"/>
              <a:t>Break shapes into their composite parts to help determining the surface area</a:t>
            </a:r>
          </a:p>
        </p:txBody>
      </p:sp>
    </p:spTree>
    <p:extLst>
      <p:ext uri="{BB962C8B-B14F-4D97-AF65-F5344CB8AC3E}">
        <p14:creationId xmlns:p14="http://schemas.microsoft.com/office/powerpoint/2010/main" val="19504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A1048C-3B37-4BFA-9654-9F1E94CA5908}"/>
              </a:ext>
            </a:extLst>
          </p:cNvPr>
          <p:cNvCxnSpPr/>
          <p:nvPr/>
        </p:nvCxnSpPr>
        <p:spPr>
          <a:xfrm>
            <a:off x="0" y="771525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EB2ECE-50D3-449F-8399-B37D218D090E}"/>
              </a:ext>
            </a:extLst>
          </p:cNvPr>
          <p:cNvCxnSpPr/>
          <p:nvPr/>
        </p:nvCxnSpPr>
        <p:spPr>
          <a:xfrm>
            <a:off x="0" y="1305393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BB3582-EEC7-4793-8F7C-F263C2CDD173}"/>
              </a:ext>
            </a:extLst>
          </p:cNvPr>
          <p:cNvCxnSpPr/>
          <p:nvPr/>
        </p:nvCxnSpPr>
        <p:spPr>
          <a:xfrm flipH="1">
            <a:off x="1789531" y="1305393"/>
            <a:ext cx="44879" cy="56002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252596-EBF0-4B59-967A-36026E469531}"/>
              </a:ext>
            </a:extLst>
          </p:cNvPr>
          <p:cNvSpPr txBox="1"/>
          <p:nvPr/>
        </p:nvSpPr>
        <p:spPr>
          <a:xfrm>
            <a:off x="117806" y="32861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002FC-3572-4160-B3C2-8A88012037BD}"/>
              </a:ext>
            </a:extLst>
          </p:cNvPr>
          <p:cNvSpPr txBox="1"/>
          <p:nvPr/>
        </p:nvSpPr>
        <p:spPr>
          <a:xfrm>
            <a:off x="826315" y="378039"/>
            <a:ext cx="3410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Topic: 3D Shapes and Surface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9D9B8-8D9E-41E3-AFDB-3FECAD05653A}"/>
              </a:ext>
            </a:extLst>
          </p:cNvPr>
          <p:cNvSpPr txBox="1"/>
          <p:nvPr/>
        </p:nvSpPr>
        <p:spPr>
          <a:xfrm>
            <a:off x="129039" y="853792"/>
            <a:ext cx="483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EQ: How do I find the surface area of a 3D shape?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375FBE-D42E-4D9C-AD66-FDF3C000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979" y="1879927"/>
            <a:ext cx="7766603" cy="469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90CE-7FD7-44EB-AA84-D2A7F75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27000"/>
            <a:ext cx="9601200" cy="1485900"/>
          </a:xfrm>
        </p:spPr>
        <p:txBody>
          <a:bodyPr/>
          <a:lstStyle/>
          <a:p>
            <a:r>
              <a:rPr lang="en-AU" dirty="0"/>
              <a:t>Prisms: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92148-BBFF-4E14-9FAB-6D35F3CD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586" y="1142406"/>
            <a:ext cx="9682065" cy="1485900"/>
          </a:xfrm>
        </p:spPr>
        <p:txBody>
          <a:bodyPr anchor="t"/>
          <a:lstStyle/>
          <a:p>
            <a:r>
              <a:rPr lang="en-AU" dirty="0"/>
              <a:t>Prisms are solids which have a uniform cross-sectional area. i.e. if you cut the solid across its cross-section, you will have the same face repeated.</a:t>
            </a:r>
          </a:p>
        </p:txBody>
      </p:sp>
      <p:pic>
        <p:nvPicPr>
          <p:cNvPr id="1026" name="Picture 2" descr="5 Wonderful Benefits of Cucumber | Organic Facts">
            <a:extLst>
              <a:ext uri="{FF2B5EF4-FFF2-40B4-BE49-F238E27FC236}">
                <a16:creationId xmlns:a16="http://schemas.microsoft.com/office/drawing/2014/main" id="{7D9374B8-B29E-4CB6-A816-7B40CFFDA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547" y="1990229"/>
            <a:ext cx="4638984" cy="347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ese Block Images, Stock Photos &amp; Vectors | Shutterstock">
            <a:extLst>
              <a:ext uri="{FF2B5EF4-FFF2-40B4-BE49-F238E27FC236}">
                <a16:creationId xmlns:a16="http://schemas.microsoft.com/office/drawing/2014/main" id="{A20CE2B3-E60C-4586-9764-6F61E235D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8" b="16032"/>
          <a:stretch/>
        </p:blipFill>
        <p:spPr bwMode="auto">
          <a:xfrm>
            <a:off x="711199" y="1990229"/>
            <a:ext cx="6468288" cy="347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31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A1048C-3B37-4BFA-9654-9F1E94CA5908}"/>
              </a:ext>
            </a:extLst>
          </p:cNvPr>
          <p:cNvCxnSpPr/>
          <p:nvPr/>
        </p:nvCxnSpPr>
        <p:spPr>
          <a:xfrm>
            <a:off x="0" y="771525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EB2ECE-50D3-449F-8399-B37D218D090E}"/>
              </a:ext>
            </a:extLst>
          </p:cNvPr>
          <p:cNvCxnSpPr/>
          <p:nvPr/>
        </p:nvCxnSpPr>
        <p:spPr>
          <a:xfrm>
            <a:off x="0" y="1305393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BB3582-EEC7-4793-8F7C-F263C2CDD173}"/>
              </a:ext>
            </a:extLst>
          </p:cNvPr>
          <p:cNvCxnSpPr/>
          <p:nvPr/>
        </p:nvCxnSpPr>
        <p:spPr>
          <a:xfrm flipH="1">
            <a:off x="1789531" y="1305393"/>
            <a:ext cx="44879" cy="56002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252596-EBF0-4B59-967A-36026E469531}"/>
              </a:ext>
            </a:extLst>
          </p:cNvPr>
          <p:cNvSpPr txBox="1"/>
          <p:nvPr/>
        </p:nvSpPr>
        <p:spPr>
          <a:xfrm>
            <a:off x="117806" y="32861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002FC-3572-4160-B3C2-8A88012037BD}"/>
              </a:ext>
            </a:extLst>
          </p:cNvPr>
          <p:cNvSpPr txBox="1"/>
          <p:nvPr/>
        </p:nvSpPr>
        <p:spPr>
          <a:xfrm>
            <a:off x="826315" y="378039"/>
            <a:ext cx="3410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Topic: 3D Shapes and Surface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9D9B8-8D9E-41E3-AFDB-3FECAD05653A}"/>
              </a:ext>
            </a:extLst>
          </p:cNvPr>
          <p:cNvSpPr txBox="1"/>
          <p:nvPr/>
        </p:nvSpPr>
        <p:spPr>
          <a:xfrm>
            <a:off x="129039" y="853792"/>
            <a:ext cx="483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EQ: How do I find the surface area of a 3D shape?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CEC53-AD40-4338-BA39-26A89D6E0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097" y="1510190"/>
            <a:ext cx="9137302" cy="527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6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90CE-7FD7-44EB-AA84-D2A7F75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27000"/>
            <a:ext cx="9601200" cy="1485900"/>
          </a:xfrm>
        </p:spPr>
        <p:txBody>
          <a:bodyPr/>
          <a:lstStyle/>
          <a:p>
            <a:r>
              <a:rPr lang="en-AU" dirty="0"/>
              <a:t>Prisms: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92148-BBFF-4E14-9FAB-6D35F3CD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33" y="1214967"/>
            <a:ext cx="9682065" cy="1485900"/>
          </a:xfrm>
        </p:spPr>
        <p:txBody>
          <a:bodyPr anchor="t"/>
          <a:lstStyle/>
          <a:p>
            <a:r>
              <a:rPr lang="en-AU" dirty="0"/>
              <a:t>Prisms are shapes which have a uniform cross-sectional area. i.e. if you cut the shape across its cross-section, you will have the same face repeated.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16B606-E1A4-4EFD-B5DA-E5B0667FCC09}"/>
              </a:ext>
            </a:extLst>
          </p:cNvPr>
          <p:cNvSpPr/>
          <p:nvPr/>
        </p:nvSpPr>
        <p:spPr>
          <a:xfrm>
            <a:off x="5981700" y="5145552"/>
            <a:ext cx="329776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Irregular Prism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BD2E77F8-2B1E-4D19-A1FE-3879B1F2F37A}"/>
              </a:ext>
            </a:extLst>
          </p:cNvPr>
          <p:cNvSpPr/>
          <p:nvPr/>
        </p:nvSpPr>
        <p:spPr>
          <a:xfrm>
            <a:off x="1066799" y="3372380"/>
            <a:ext cx="2277533" cy="2169079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E67044B-0B83-4ED2-9DC3-DEBF8663259D}"/>
              </a:ext>
            </a:extLst>
          </p:cNvPr>
          <p:cNvSpPr/>
          <p:nvPr/>
        </p:nvSpPr>
        <p:spPr>
          <a:xfrm>
            <a:off x="2201333" y="2429933"/>
            <a:ext cx="2853267" cy="1778000"/>
          </a:xfrm>
          <a:custGeom>
            <a:avLst/>
            <a:gdLst>
              <a:gd name="connsiteX0" fmla="*/ 0 w 2878667"/>
              <a:gd name="connsiteY0" fmla="*/ 965200 h 1778000"/>
              <a:gd name="connsiteX1" fmla="*/ 1735667 w 2878667"/>
              <a:gd name="connsiteY1" fmla="*/ 0 h 1778000"/>
              <a:gd name="connsiteX2" fmla="*/ 2878667 w 2878667"/>
              <a:gd name="connsiteY2" fmla="*/ 812800 h 1778000"/>
              <a:gd name="connsiteX3" fmla="*/ 1134534 w 2878667"/>
              <a:gd name="connsiteY3" fmla="*/ 17780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8667" h="1778000">
                <a:moveTo>
                  <a:pt x="0" y="965200"/>
                </a:moveTo>
                <a:lnTo>
                  <a:pt x="1735667" y="0"/>
                </a:lnTo>
                <a:lnTo>
                  <a:pt x="2878667" y="812800"/>
                </a:lnTo>
                <a:lnTo>
                  <a:pt x="1134534" y="1778000"/>
                </a:lnTo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0283A7-AC81-4A74-818E-872906769654}"/>
              </a:ext>
            </a:extLst>
          </p:cNvPr>
          <p:cNvSpPr/>
          <p:nvPr/>
        </p:nvSpPr>
        <p:spPr>
          <a:xfrm>
            <a:off x="2912532" y="3268130"/>
            <a:ext cx="2124000" cy="2232000"/>
          </a:xfrm>
          <a:custGeom>
            <a:avLst/>
            <a:gdLst>
              <a:gd name="connsiteX0" fmla="*/ 0 w 2142067"/>
              <a:gd name="connsiteY0" fmla="*/ 2328334 h 2328334"/>
              <a:gd name="connsiteX1" fmla="*/ 1718734 w 2142067"/>
              <a:gd name="connsiteY1" fmla="*/ 1363134 h 2328334"/>
              <a:gd name="connsiteX2" fmla="*/ 2142067 w 2142067"/>
              <a:gd name="connsiteY2" fmla="*/ 0 h 2328334"/>
              <a:gd name="connsiteX3" fmla="*/ 414867 w 2142067"/>
              <a:gd name="connsiteY3" fmla="*/ 990600 h 232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2067" h="2328334">
                <a:moveTo>
                  <a:pt x="0" y="2328334"/>
                </a:moveTo>
                <a:lnTo>
                  <a:pt x="1718734" y="1363134"/>
                </a:lnTo>
                <a:lnTo>
                  <a:pt x="2142067" y="0"/>
                </a:lnTo>
                <a:lnTo>
                  <a:pt x="414867" y="990600"/>
                </a:lnTo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544E9-C2CA-4F10-BF29-7C2B81C8C620}"/>
              </a:ext>
            </a:extLst>
          </p:cNvPr>
          <p:cNvSpPr/>
          <p:nvPr/>
        </p:nvSpPr>
        <p:spPr>
          <a:xfrm>
            <a:off x="804333" y="4891777"/>
            <a:ext cx="285326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Pentagonal Prism</a:t>
            </a:r>
            <a:endParaRPr lang="en-US" sz="4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DF47C0B7-285A-4371-8E1E-BD37AA7EDD84}"/>
              </a:ext>
            </a:extLst>
          </p:cNvPr>
          <p:cNvSpPr/>
          <p:nvPr/>
        </p:nvSpPr>
        <p:spPr>
          <a:xfrm>
            <a:off x="6127964" y="3293533"/>
            <a:ext cx="3031067" cy="1778000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C70933-9A43-4AEF-8D1F-57EFF12CDF93}"/>
              </a:ext>
            </a:extLst>
          </p:cNvPr>
          <p:cNvSpPr/>
          <p:nvPr/>
        </p:nvSpPr>
        <p:spPr>
          <a:xfrm>
            <a:off x="6138333" y="2108200"/>
            <a:ext cx="2489200" cy="1210733"/>
          </a:xfrm>
          <a:custGeom>
            <a:avLst/>
            <a:gdLst>
              <a:gd name="connsiteX0" fmla="*/ 0 w 2489200"/>
              <a:gd name="connsiteY0" fmla="*/ 1210733 h 1210733"/>
              <a:gd name="connsiteX1" fmla="*/ 1600200 w 2489200"/>
              <a:gd name="connsiteY1" fmla="*/ 0 h 1210733"/>
              <a:gd name="connsiteX2" fmla="*/ 2489200 w 2489200"/>
              <a:gd name="connsiteY2" fmla="*/ 0 h 1210733"/>
              <a:gd name="connsiteX3" fmla="*/ 905934 w 2489200"/>
              <a:gd name="connsiteY3" fmla="*/ 1185333 h 121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9200" h="1210733">
                <a:moveTo>
                  <a:pt x="0" y="1210733"/>
                </a:moveTo>
                <a:lnTo>
                  <a:pt x="1600200" y="0"/>
                </a:lnTo>
                <a:lnTo>
                  <a:pt x="2489200" y="0"/>
                </a:lnTo>
                <a:lnTo>
                  <a:pt x="905934" y="1185333"/>
                </a:lnTo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61329A-99B3-4784-9476-BC7D0021E522}"/>
              </a:ext>
            </a:extLst>
          </p:cNvPr>
          <p:cNvSpPr/>
          <p:nvPr/>
        </p:nvSpPr>
        <p:spPr>
          <a:xfrm>
            <a:off x="6985000" y="2133600"/>
            <a:ext cx="1625600" cy="2074333"/>
          </a:xfrm>
          <a:custGeom>
            <a:avLst/>
            <a:gdLst>
              <a:gd name="connsiteX0" fmla="*/ 0 w 1625600"/>
              <a:gd name="connsiteY0" fmla="*/ 2074333 h 2074333"/>
              <a:gd name="connsiteX1" fmla="*/ 1625600 w 1625600"/>
              <a:gd name="connsiteY1" fmla="*/ 863600 h 2074333"/>
              <a:gd name="connsiteX2" fmla="*/ 1625600 w 1625600"/>
              <a:gd name="connsiteY2" fmla="*/ 0 h 2074333"/>
              <a:gd name="connsiteX3" fmla="*/ 16933 w 1625600"/>
              <a:gd name="connsiteY3" fmla="*/ 1193800 h 207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2074333">
                <a:moveTo>
                  <a:pt x="0" y="2074333"/>
                </a:moveTo>
                <a:lnTo>
                  <a:pt x="1625600" y="863600"/>
                </a:lnTo>
                <a:lnTo>
                  <a:pt x="1625600" y="0"/>
                </a:lnTo>
                <a:lnTo>
                  <a:pt x="16933" y="1193800"/>
                </a:lnTo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3D24827-9458-44BC-9C7B-BC0A2FAABC94}"/>
              </a:ext>
            </a:extLst>
          </p:cNvPr>
          <p:cNvSpPr/>
          <p:nvPr/>
        </p:nvSpPr>
        <p:spPr>
          <a:xfrm>
            <a:off x="9135534" y="2988733"/>
            <a:ext cx="1600200" cy="2057400"/>
          </a:xfrm>
          <a:custGeom>
            <a:avLst/>
            <a:gdLst>
              <a:gd name="connsiteX0" fmla="*/ 0 w 1634067"/>
              <a:gd name="connsiteY0" fmla="*/ 2057400 h 2057400"/>
              <a:gd name="connsiteX1" fmla="*/ 1625600 w 1634067"/>
              <a:gd name="connsiteY1" fmla="*/ 880534 h 2057400"/>
              <a:gd name="connsiteX2" fmla="*/ 1634067 w 1634067"/>
              <a:gd name="connsiteY2" fmla="*/ 0 h 2057400"/>
              <a:gd name="connsiteX3" fmla="*/ 0 w 1634067"/>
              <a:gd name="connsiteY3" fmla="*/ 1210734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4067" h="2057400">
                <a:moveTo>
                  <a:pt x="0" y="2057400"/>
                </a:moveTo>
                <a:lnTo>
                  <a:pt x="1625600" y="880534"/>
                </a:lnTo>
                <a:cubicBezTo>
                  <a:pt x="1628422" y="587023"/>
                  <a:pt x="1631245" y="293511"/>
                  <a:pt x="1634067" y="0"/>
                </a:cubicBezTo>
                <a:lnTo>
                  <a:pt x="0" y="1210734"/>
                </a:lnTo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C86FFF0-102C-4019-962B-6583CE6143E9}"/>
              </a:ext>
            </a:extLst>
          </p:cNvPr>
          <p:cNvSpPr/>
          <p:nvPr/>
        </p:nvSpPr>
        <p:spPr>
          <a:xfrm>
            <a:off x="7010400" y="2963333"/>
            <a:ext cx="3725333" cy="1244600"/>
          </a:xfrm>
          <a:custGeom>
            <a:avLst/>
            <a:gdLst>
              <a:gd name="connsiteX0" fmla="*/ 0 w 3725333"/>
              <a:gd name="connsiteY0" fmla="*/ 1244600 h 1244600"/>
              <a:gd name="connsiteX1" fmla="*/ 1617133 w 3725333"/>
              <a:gd name="connsiteY1" fmla="*/ 16934 h 1244600"/>
              <a:gd name="connsiteX2" fmla="*/ 3725333 w 3725333"/>
              <a:gd name="connsiteY2" fmla="*/ 0 h 1244600"/>
              <a:gd name="connsiteX3" fmla="*/ 2133600 w 3725333"/>
              <a:gd name="connsiteY3" fmla="*/ 1227667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5333" h="1244600">
                <a:moveTo>
                  <a:pt x="0" y="1244600"/>
                </a:moveTo>
                <a:lnTo>
                  <a:pt x="1617133" y="16934"/>
                </a:lnTo>
                <a:lnTo>
                  <a:pt x="3725333" y="0"/>
                </a:lnTo>
                <a:lnTo>
                  <a:pt x="2133600" y="1227667"/>
                </a:lnTo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482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90CE-7FD7-44EB-AA84-D2A7F75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27000"/>
            <a:ext cx="9601200" cy="1485900"/>
          </a:xfrm>
        </p:spPr>
        <p:txBody>
          <a:bodyPr/>
          <a:lstStyle/>
          <a:p>
            <a:r>
              <a:rPr lang="en-AU" dirty="0"/>
              <a:t>Pyramids: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92148-BBFF-4E14-9FAB-6D35F3CD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245" y="1192895"/>
            <a:ext cx="9682065" cy="1485900"/>
          </a:xfrm>
        </p:spPr>
        <p:txBody>
          <a:bodyPr anchor="t"/>
          <a:lstStyle/>
          <a:p>
            <a:r>
              <a:rPr lang="en-AU" dirty="0"/>
              <a:t>Pyramids are solids which have a base and then a single point above the middle of this base.</a:t>
            </a:r>
          </a:p>
        </p:txBody>
      </p:sp>
      <p:pic>
        <p:nvPicPr>
          <p:cNvPr id="2050" name="Picture 2" descr="TEESTA - Best Darjeeling Tea Bags | 20 Tea Bags in each pack ...">
            <a:extLst>
              <a:ext uri="{FF2B5EF4-FFF2-40B4-BE49-F238E27FC236}">
                <a16:creationId xmlns:a16="http://schemas.microsoft.com/office/drawing/2014/main" id="{FFE5356F-747A-4F68-B36A-02E3A8BB5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83" y="1813983"/>
            <a:ext cx="3913717" cy="367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oy #310 Sugar Ice Cream Cone - 200/Pack">
            <a:extLst>
              <a:ext uri="{FF2B5EF4-FFF2-40B4-BE49-F238E27FC236}">
                <a16:creationId xmlns:a16="http://schemas.microsoft.com/office/drawing/2014/main" id="{6DEF9A6C-F294-4F4F-85A8-4AB3BD930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633" y="1894480"/>
            <a:ext cx="35179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5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90CE-7FD7-44EB-AA84-D2A7F75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27000"/>
            <a:ext cx="9601200" cy="1485900"/>
          </a:xfrm>
        </p:spPr>
        <p:txBody>
          <a:bodyPr/>
          <a:lstStyle/>
          <a:p>
            <a:r>
              <a:rPr lang="en-AU" dirty="0"/>
              <a:t>Pyramids: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92148-BBFF-4E14-9FAB-6D35F3CD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586" y="1263648"/>
            <a:ext cx="9682065" cy="1485900"/>
          </a:xfrm>
        </p:spPr>
        <p:txBody>
          <a:bodyPr anchor="t"/>
          <a:lstStyle/>
          <a:p>
            <a:r>
              <a:rPr lang="en-AU" dirty="0"/>
              <a:t>Pyramids are solids which have a base and then a single point above the middle of this base.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C24D23F-572F-43FA-8F3D-1DC08018073D}"/>
              </a:ext>
            </a:extLst>
          </p:cNvPr>
          <p:cNvSpPr/>
          <p:nvPr/>
        </p:nvSpPr>
        <p:spPr>
          <a:xfrm>
            <a:off x="1405467" y="4030134"/>
            <a:ext cx="2836333" cy="939800"/>
          </a:xfrm>
          <a:prstGeom prst="parallelogram">
            <a:avLst>
              <a:gd name="adj" fmla="val 853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03AE64-4924-407C-867A-4ADC3F9CCBB7}"/>
              </a:ext>
            </a:extLst>
          </p:cNvPr>
          <p:cNvSpPr/>
          <p:nvPr/>
        </p:nvSpPr>
        <p:spPr>
          <a:xfrm>
            <a:off x="1397000" y="2514600"/>
            <a:ext cx="2032000" cy="2446867"/>
          </a:xfrm>
          <a:custGeom>
            <a:avLst/>
            <a:gdLst>
              <a:gd name="connsiteX0" fmla="*/ 0 w 2032000"/>
              <a:gd name="connsiteY0" fmla="*/ 2446867 h 2446867"/>
              <a:gd name="connsiteX1" fmla="*/ 1397000 w 2032000"/>
              <a:gd name="connsiteY1" fmla="*/ 0 h 2446867"/>
              <a:gd name="connsiteX2" fmla="*/ 2032000 w 2032000"/>
              <a:gd name="connsiteY2" fmla="*/ 2413000 h 244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000" h="2446867">
                <a:moveTo>
                  <a:pt x="0" y="2446867"/>
                </a:moveTo>
                <a:lnTo>
                  <a:pt x="1397000" y="0"/>
                </a:lnTo>
                <a:lnTo>
                  <a:pt x="2032000" y="24130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9C9626-E9EB-4CE4-9DA0-08FE4B31A566}"/>
              </a:ext>
            </a:extLst>
          </p:cNvPr>
          <p:cNvSpPr/>
          <p:nvPr/>
        </p:nvSpPr>
        <p:spPr>
          <a:xfrm>
            <a:off x="2802467" y="2531533"/>
            <a:ext cx="1397000" cy="2404534"/>
          </a:xfrm>
          <a:custGeom>
            <a:avLst/>
            <a:gdLst>
              <a:gd name="connsiteX0" fmla="*/ 0 w 1397000"/>
              <a:gd name="connsiteY0" fmla="*/ 0 h 2404534"/>
              <a:gd name="connsiteX1" fmla="*/ 1397000 w 1397000"/>
              <a:gd name="connsiteY1" fmla="*/ 1498600 h 2404534"/>
              <a:gd name="connsiteX2" fmla="*/ 651933 w 1397000"/>
              <a:gd name="connsiteY2" fmla="*/ 2404534 h 240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000" h="2404534">
                <a:moveTo>
                  <a:pt x="0" y="0"/>
                </a:moveTo>
                <a:lnTo>
                  <a:pt x="1397000" y="1498600"/>
                </a:lnTo>
                <a:lnTo>
                  <a:pt x="651933" y="2404534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835057-CE8C-4B1E-BCE5-B46AAC5FCC96}"/>
              </a:ext>
            </a:extLst>
          </p:cNvPr>
          <p:cNvSpPr/>
          <p:nvPr/>
        </p:nvSpPr>
        <p:spPr>
          <a:xfrm>
            <a:off x="2218267" y="2573867"/>
            <a:ext cx="1905000" cy="1456266"/>
          </a:xfrm>
          <a:custGeom>
            <a:avLst/>
            <a:gdLst>
              <a:gd name="connsiteX0" fmla="*/ 567266 w 1905000"/>
              <a:gd name="connsiteY0" fmla="*/ 0 h 1456266"/>
              <a:gd name="connsiteX1" fmla="*/ 0 w 1905000"/>
              <a:gd name="connsiteY1" fmla="*/ 1456266 h 1456266"/>
              <a:gd name="connsiteX2" fmla="*/ 1905000 w 1905000"/>
              <a:gd name="connsiteY2" fmla="*/ 1456266 h 1456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0" h="1456266">
                <a:moveTo>
                  <a:pt x="567266" y="0"/>
                </a:moveTo>
                <a:lnTo>
                  <a:pt x="0" y="1456266"/>
                </a:lnTo>
                <a:lnTo>
                  <a:pt x="1905000" y="145626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BC89502-1788-4C8F-8258-115EDC108CC1}"/>
              </a:ext>
            </a:extLst>
          </p:cNvPr>
          <p:cNvSpPr/>
          <p:nvPr/>
        </p:nvSpPr>
        <p:spPr>
          <a:xfrm>
            <a:off x="5063067" y="4504267"/>
            <a:ext cx="2946400" cy="728134"/>
          </a:xfrm>
          <a:prstGeom prst="triangle">
            <a:avLst>
              <a:gd name="adj" fmla="val 591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255EB5-E7B1-4938-8106-6D9C84A99015}"/>
              </a:ext>
            </a:extLst>
          </p:cNvPr>
          <p:cNvCxnSpPr>
            <a:stCxn id="9" idx="2"/>
          </p:cNvCxnSpPr>
          <p:nvPr/>
        </p:nvCxnSpPr>
        <p:spPr>
          <a:xfrm flipV="1">
            <a:off x="5063067" y="2328334"/>
            <a:ext cx="1397000" cy="2904067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33DFCF-3361-4E25-8189-1EE55A663364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6460068" y="2328335"/>
            <a:ext cx="347120" cy="217593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7DC62-4424-4D75-A8EF-1C0BFE77FAF8}"/>
              </a:ext>
            </a:extLst>
          </p:cNvPr>
          <p:cNvCxnSpPr>
            <a:cxnSpLocks/>
            <a:stCxn id="9" idx="4"/>
          </p:cNvCxnSpPr>
          <p:nvPr/>
        </p:nvCxnSpPr>
        <p:spPr>
          <a:xfrm flipH="1" flipV="1">
            <a:off x="6460069" y="2328335"/>
            <a:ext cx="1549398" cy="290406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Hexagon 17">
            <a:extLst>
              <a:ext uri="{FF2B5EF4-FFF2-40B4-BE49-F238E27FC236}">
                <a16:creationId xmlns:a16="http://schemas.microsoft.com/office/drawing/2014/main" id="{973EF4E8-442B-4B36-824F-3862FD70F23E}"/>
              </a:ext>
            </a:extLst>
          </p:cNvPr>
          <p:cNvSpPr/>
          <p:nvPr/>
        </p:nvSpPr>
        <p:spPr>
          <a:xfrm>
            <a:off x="9127066" y="4275667"/>
            <a:ext cx="2396067" cy="660400"/>
          </a:xfrm>
          <a:prstGeom prst="hexagon">
            <a:avLst>
              <a:gd name="adj" fmla="val 91667"/>
              <a:gd name="vf" fmla="val 115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E58C10-5381-4FAE-BB64-A0DE3128987D}"/>
              </a:ext>
            </a:extLst>
          </p:cNvPr>
          <p:cNvSpPr/>
          <p:nvPr/>
        </p:nvSpPr>
        <p:spPr>
          <a:xfrm>
            <a:off x="9753600" y="2590800"/>
            <a:ext cx="1185333" cy="2336800"/>
          </a:xfrm>
          <a:custGeom>
            <a:avLst/>
            <a:gdLst>
              <a:gd name="connsiteX0" fmla="*/ 0 w 1185333"/>
              <a:gd name="connsiteY0" fmla="*/ 2336800 h 2336800"/>
              <a:gd name="connsiteX1" fmla="*/ 1185333 w 1185333"/>
              <a:gd name="connsiteY1" fmla="*/ 2336800 h 2336800"/>
              <a:gd name="connsiteX2" fmla="*/ 516467 w 1185333"/>
              <a:gd name="connsiteY2" fmla="*/ 0 h 2336800"/>
              <a:gd name="connsiteX3" fmla="*/ 0 w 1185333"/>
              <a:gd name="connsiteY3" fmla="*/ 2336800 h 2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333" h="2336800">
                <a:moveTo>
                  <a:pt x="0" y="2336800"/>
                </a:moveTo>
                <a:lnTo>
                  <a:pt x="1185333" y="2336800"/>
                </a:lnTo>
                <a:lnTo>
                  <a:pt x="516467" y="0"/>
                </a:lnTo>
                <a:lnTo>
                  <a:pt x="0" y="233680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E26CAD-99D1-44A7-8E15-F787FA6BFB43}"/>
              </a:ext>
            </a:extLst>
          </p:cNvPr>
          <p:cNvSpPr/>
          <p:nvPr/>
        </p:nvSpPr>
        <p:spPr>
          <a:xfrm>
            <a:off x="9144000" y="2582333"/>
            <a:ext cx="1109133" cy="2328334"/>
          </a:xfrm>
          <a:custGeom>
            <a:avLst/>
            <a:gdLst>
              <a:gd name="connsiteX0" fmla="*/ 0 w 1109133"/>
              <a:gd name="connsiteY0" fmla="*/ 2006600 h 2328334"/>
              <a:gd name="connsiteX1" fmla="*/ 1109133 w 1109133"/>
              <a:gd name="connsiteY1" fmla="*/ 0 h 2328334"/>
              <a:gd name="connsiteX2" fmla="*/ 618067 w 1109133"/>
              <a:gd name="connsiteY2" fmla="*/ 2328334 h 2328334"/>
              <a:gd name="connsiteX3" fmla="*/ 0 w 1109133"/>
              <a:gd name="connsiteY3" fmla="*/ 2006600 h 232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133" h="2328334">
                <a:moveTo>
                  <a:pt x="0" y="2006600"/>
                </a:moveTo>
                <a:lnTo>
                  <a:pt x="1109133" y="0"/>
                </a:lnTo>
                <a:lnTo>
                  <a:pt x="618067" y="2328334"/>
                </a:lnTo>
                <a:lnTo>
                  <a:pt x="0" y="200660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D1BF165-599F-44BD-95F1-F8D80771CFC9}"/>
              </a:ext>
            </a:extLst>
          </p:cNvPr>
          <p:cNvSpPr/>
          <p:nvPr/>
        </p:nvSpPr>
        <p:spPr>
          <a:xfrm>
            <a:off x="10261600" y="2573867"/>
            <a:ext cx="1236133" cy="2336800"/>
          </a:xfrm>
          <a:custGeom>
            <a:avLst/>
            <a:gdLst>
              <a:gd name="connsiteX0" fmla="*/ 0 w 1253067"/>
              <a:gd name="connsiteY0" fmla="*/ 0 h 2362200"/>
              <a:gd name="connsiteX1" fmla="*/ 694267 w 1253067"/>
              <a:gd name="connsiteY1" fmla="*/ 2362200 h 2362200"/>
              <a:gd name="connsiteX2" fmla="*/ 1253067 w 1253067"/>
              <a:gd name="connsiteY2" fmla="*/ 2023533 h 2362200"/>
              <a:gd name="connsiteX3" fmla="*/ 0 w 1253067"/>
              <a:gd name="connsiteY3" fmla="*/ 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3067" h="2362200">
                <a:moveTo>
                  <a:pt x="0" y="0"/>
                </a:moveTo>
                <a:lnTo>
                  <a:pt x="694267" y="2362200"/>
                </a:lnTo>
                <a:lnTo>
                  <a:pt x="1253067" y="2023533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5BD3AE-DE16-4E7D-B0D8-1094DBB8AF15}"/>
              </a:ext>
            </a:extLst>
          </p:cNvPr>
          <p:cNvSpPr/>
          <p:nvPr/>
        </p:nvSpPr>
        <p:spPr>
          <a:xfrm>
            <a:off x="9728200" y="2590799"/>
            <a:ext cx="1185333" cy="1693333"/>
          </a:xfrm>
          <a:custGeom>
            <a:avLst/>
            <a:gdLst>
              <a:gd name="connsiteX0" fmla="*/ 524933 w 1185333"/>
              <a:gd name="connsiteY0" fmla="*/ 0 h 1710266"/>
              <a:gd name="connsiteX1" fmla="*/ 0 w 1185333"/>
              <a:gd name="connsiteY1" fmla="*/ 1710266 h 1710266"/>
              <a:gd name="connsiteX2" fmla="*/ 1185333 w 1185333"/>
              <a:gd name="connsiteY2" fmla="*/ 1710266 h 1710266"/>
              <a:gd name="connsiteX3" fmla="*/ 524933 w 1185333"/>
              <a:gd name="connsiteY3" fmla="*/ 0 h 1710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333" h="1710266">
                <a:moveTo>
                  <a:pt x="524933" y="0"/>
                </a:moveTo>
                <a:lnTo>
                  <a:pt x="0" y="1710266"/>
                </a:lnTo>
                <a:lnTo>
                  <a:pt x="1185333" y="1710266"/>
                </a:lnTo>
                <a:lnTo>
                  <a:pt x="524933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271E46-C0AD-46A5-9A34-108DE1455739}"/>
              </a:ext>
            </a:extLst>
          </p:cNvPr>
          <p:cNvSpPr/>
          <p:nvPr/>
        </p:nvSpPr>
        <p:spPr>
          <a:xfrm>
            <a:off x="499533" y="4859868"/>
            <a:ext cx="382693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Square-based Pyramid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406043-5217-4D3D-B196-EA700D3C90FC}"/>
              </a:ext>
            </a:extLst>
          </p:cNvPr>
          <p:cNvSpPr/>
          <p:nvPr/>
        </p:nvSpPr>
        <p:spPr>
          <a:xfrm>
            <a:off x="4720161" y="5088468"/>
            <a:ext cx="382693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Triangle-based Pyramid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0D9924-9BEF-4ED8-90AC-9F744E492AA9}"/>
              </a:ext>
            </a:extLst>
          </p:cNvPr>
          <p:cNvSpPr/>
          <p:nvPr/>
        </p:nvSpPr>
        <p:spPr>
          <a:xfrm>
            <a:off x="8547095" y="4969934"/>
            <a:ext cx="382693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Hexagonal-based Pyramid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604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90CE-7FD7-44EB-AA84-D2A7F75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127000"/>
            <a:ext cx="9601200" cy="1485900"/>
          </a:xfrm>
        </p:spPr>
        <p:txBody>
          <a:bodyPr/>
          <a:lstStyle/>
          <a:p>
            <a:r>
              <a:rPr lang="en-AU" dirty="0"/>
              <a:t>Pyramids: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92148-BBFF-4E14-9FAB-6D35F3CD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756" y="1149516"/>
            <a:ext cx="9682065" cy="1485900"/>
          </a:xfrm>
        </p:spPr>
        <p:txBody>
          <a:bodyPr anchor="t"/>
          <a:lstStyle/>
          <a:p>
            <a:r>
              <a:rPr lang="en-AU" dirty="0"/>
              <a:t>Pyramids are solids which have a base and then a single point above the middle of this base.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271E46-C0AD-46A5-9A34-108DE1455739}"/>
              </a:ext>
            </a:extLst>
          </p:cNvPr>
          <p:cNvSpPr/>
          <p:nvPr/>
        </p:nvSpPr>
        <p:spPr>
          <a:xfrm>
            <a:off x="499533" y="4859868"/>
            <a:ext cx="38269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Cone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C9AC31-A8C3-4FB6-A709-97D33C6C02E6}"/>
              </a:ext>
            </a:extLst>
          </p:cNvPr>
          <p:cNvSpPr/>
          <p:nvPr/>
        </p:nvSpPr>
        <p:spPr>
          <a:xfrm>
            <a:off x="740833" y="3931445"/>
            <a:ext cx="3344334" cy="790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F372A7-D5F8-454B-AF33-967B88329DB6}"/>
              </a:ext>
            </a:extLst>
          </p:cNvPr>
          <p:cNvCxnSpPr>
            <a:stCxn id="7" idx="2"/>
          </p:cNvCxnSpPr>
          <p:nvPr/>
        </p:nvCxnSpPr>
        <p:spPr>
          <a:xfrm flipV="1">
            <a:off x="740833" y="1913467"/>
            <a:ext cx="1672167" cy="2413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252154-B351-4256-AD35-239C6F1AF72C}"/>
              </a:ext>
            </a:extLst>
          </p:cNvPr>
          <p:cNvCxnSpPr>
            <a:stCxn id="7" idx="6"/>
          </p:cNvCxnSpPr>
          <p:nvPr/>
        </p:nvCxnSpPr>
        <p:spPr>
          <a:xfrm flipH="1" flipV="1">
            <a:off x="2413000" y="1896666"/>
            <a:ext cx="1672167" cy="2429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9B220B-352C-4DB3-AC51-B5AE111798F6}"/>
              </a:ext>
            </a:extLst>
          </p:cNvPr>
          <p:cNvCxnSpPr>
            <a:stCxn id="7" idx="3"/>
          </p:cNvCxnSpPr>
          <p:nvPr/>
        </p:nvCxnSpPr>
        <p:spPr>
          <a:xfrm flipV="1">
            <a:off x="1230599" y="1888266"/>
            <a:ext cx="1182401" cy="2717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FCFFF3-C746-4B25-B5EB-3FC0A9921A2D}"/>
              </a:ext>
            </a:extLst>
          </p:cNvPr>
          <p:cNvCxnSpPr>
            <a:endCxn id="7" idx="7"/>
          </p:cNvCxnSpPr>
          <p:nvPr/>
        </p:nvCxnSpPr>
        <p:spPr>
          <a:xfrm>
            <a:off x="2413000" y="1888266"/>
            <a:ext cx="1182401" cy="2158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4AA473-1A65-49AA-BDC0-636C6D5158E7}"/>
              </a:ext>
            </a:extLst>
          </p:cNvPr>
          <p:cNvCxnSpPr>
            <a:endCxn id="7" idx="5"/>
          </p:cNvCxnSpPr>
          <p:nvPr/>
        </p:nvCxnSpPr>
        <p:spPr>
          <a:xfrm>
            <a:off x="2413000" y="1896666"/>
            <a:ext cx="1182401" cy="2709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80A48E-CAFC-4992-8D75-EFE158E634A0}"/>
              </a:ext>
            </a:extLst>
          </p:cNvPr>
          <p:cNvCxnSpPr>
            <a:endCxn id="7" idx="1"/>
          </p:cNvCxnSpPr>
          <p:nvPr/>
        </p:nvCxnSpPr>
        <p:spPr>
          <a:xfrm flipH="1">
            <a:off x="1230599" y="1913467"/>
            <a:ext cx="1182401" cy="21336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D128689-340C-48FF-A4F1-3BCDD60A6317}"/>
              </a:ext>
            </a:extLst>
          </p:cNvPr>
          <p:cNvSpPr txBox="1">
            <a:spLocks/>
          </p:cNvSpPr>
          <p:nvPr/>
        </p:nvSpPr>
        <p:spPr>
          <a:xfrm>
            <a:off x="4546599" y="1814778"/>
            <a:ext cx="7467601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An important feature of pyramids is they have a perpendicular height. Perpendicular means a right angle, so this is the height measured at a right angle to the base. </a:t>
            </a:r>
          </a:p>
          <a:p>
            <a:endParaRPr lang="en-AU" dirty="0"/>
          </a:p>
          <a:p>
            <a:r>
              <a:rPr lang="en-AU" dirty="0"/>
              <a:t>This is used to determine the volume of these shapes.</a:t>
            </a:r>
          </a:p>
          <a:p>
            <a:endParaRPr lang="en-AU" dirty="0"/>
          </a:p>
          <a:p>
            <a:r>
              <a:rPr lang="en-AU" dirty="0"/>
              <a:t>We will briefly touch on volume of pyramids this unit, but it is not our primary concern.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BE8B3D-C3EA-4E19-BEED-F438B54F9649}"/>
              </a:ext>
            </a:extLst>
          </p:cNvPr>
          <p:cNvCxnSpPr/>
          <p:nvPr/>
        </p:nvCxnSpPr>
        <p:spPr>
          <a:xfrm flipV="1">
            <a:off x="2413000" y="1896666"/>
            <a:ext cx="0" cy="24298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DDB9B79-4665-45A3-9765-2F0712157124}"/>
              </a:ext>
            </a:extLst>
          </p:cNvPr>
          <p:cNvSpPr/>
          <p:nvPr/>
        </p:nvSpPr>
        <p:spPr>
          <a:xfrm>
            <a:off x="2364316" y="4152118"/>
            <a:ext cx="177800" cy="1767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8B9687-7BB2-43C6-99B0-4D5D04B49B1E}"/>
              </a:ext>
            </a:extLst>
          </p:cNvPr>
          <p:cNvCxnSpPr>
            <a:cxnSpLocks/>
            <a:stCxn id="38" idx="2"/>
            <a:endCxn id="7" idx="6"/>
          </p:cNvCxnSpPr>
          <p:nvPr/>
        </p:nvCxnSpPr>
        <p:spPr>
          <a:xfrm flipV="1">
            <a:off x="2453216" y="4326468"/>
            <a:ext cx="1631951" cy="23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03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3AA3-C0D9-42A7-823C-C3CA39FA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6" y="41799"/>
            <a:ext cx="9601200" cy="1485900"/>
          </a:xfrm>
        </p:spPr>
        <p:txBody>
          <a:bodyPr/>
          <a:lstStyle/>
          <a:p>
            <a:r>
              <a:rPr lang="en-AU" dirty="0"/>
              <a:t>Regular Solids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168E-70C7-4976-80BE-7BE3F9F76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982" y="882011"/>
            <a:ext cx="9862016" cy="1100351"/>
          </a:xfrm>
        </p:spPr>
        <p:txBody>
          <a:bodyPr/>
          <a:lstStyle/>
          <a:p>
            <a:r>
              <a:rPr lang="en-AU" dirty="0"/>
              <a:t>Regular solids are other solids which have a consistency and equal measure to them. This usually means repeated faces.</a:t>
            </a:r>
          </a:p>
        </p:txBody>
      </p:sp>
      <p:pic>
        <p:nvPicPr>
          <p:cNvPr id="5122" name="Picture 2" descr="Leather Cricket Ball | Target Australia">
            <a:extLst>
              <a:ext uri="{FF2B5EF4-FFF2-40B4-BE49-F238E27FC236}">
                <a16:creationId xmlns:a16="http://schemas.microsoft.com/office/drawing/2014/main" id="{CDF49F05-C0B2-4A7D-8050-9431B8CF5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66" y="2013105"/>
            <a:ext cx="3296194" cy="329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llustration of a soccer ball and a representation of its ...">
            <a:extLst>
              <a:ext uri="{FF2B5EF4-FFF2-40B4-BE49-F238E27FC236}">
                <a16:creationId xmlns:a16="http://schemas.microsoft.com/office/drawing/2014/main" id="{75669DBE-F42E-47FB-B299-E43203E6B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155" y="2446764"/>
            <a:ext cx="324802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20 Sided Dice Images, Stock Photos &amp; Vectors | Shutterstock">
            <a:extLst>
              <a:ext uri="{FF2B5EF4-FFF2-40B4-BE49-F238E27FC236}">
                <a16:creationId xmlns:a16="http://schemas.microsoft.com/office/drawing/2014/main" id="{0F2E5449-45D0-4C1B-99DF-846E170AC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9"/>
          <a:stretch/>
        </p:blipFill>
        <p:spPr bwMode="auto">
          <a:xfrm>
            <a:off x="7969775" y="2446764"/>
            <a:ext cx="37147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423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3AA3-C0D9-42A7-823C-C3CA39FA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6" y="41799"/>
            <a:ext cx="9601200" cy="1485900"/>
          </a:xfrm>
        </p:spPr>
        <p:txBody>
          <a:bodyPr/>
          <a:lstStyle/>
          <a:p>
            <a:r>
              <a:rPr lang="en-AU" dirty="0"/>
              <a:t>Regular Solids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168E-70C7-4976-80BE-7BE3F9F76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982" y="882011"/>
            <a:ext cx="9862016" cy="1100351"/>
          </a:xfrm>
        </p:spPr>
        <p:txBody>
          <a:bodyPr/>
          <a:lstStyle/>
          <a:p>
            <a:r>
              <a:rPr lang="en-AU" dirty="0"/>
              <a:t>We are only going to be considering spheres in this unit.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7505E0-59F5-46B7-B16A-A9C300DDFDA9}"/>
              </a:ext>
            </a:extLst>
          </p:cNvPr>
          <p:cNvSpPr/>
          <p:nvPr/>
        </p:nvSpPr>
        <p:spPr>
          <a:xfrm>
            <a:off x="1106982" y="2205446"/>
            <a:ext cx="2447108" cy="2447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753BCF-3D60-43F7-A2E5-5F8CF3B7E36B}"/>
              </a:ext>
            </a:extLst>
          </p:cNvPr>
          <p:cNvSpPr/>
          <p:nvPr/>
        </p:nvSpPr>
        <p:spPr>
          <a:xfrm>
            <a:off x="1116824" y="3378394"/>
            <a:ext cx="2415133" cy="237325"/>
          </a:xfrm>
          <a:custGeom>
            <a:avLst/>
            <a:gdLst>
              <a:gd name="connsiteX0" fmla="*/ 0 w 2415133"/>
              <a:gd name="connsiteY0" fmla="*/ 55841 h 307597"/>
              <a:gd name="connsiteX1" fmla="*/ 1179646 w 2415133"/>
              <a:gd name="connsiteY1" fmla="*/ 307127 h 307597"/>
              <a:gd name="connsiteX2" fmla="*/ 2415133 w 2415133"/>
              <a:gd name="connsiteY2" fmla="*/ 0 h 30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5133" h="307597">
                <a:moveTo>
                  <a:pt x="0" y="55841"/>
                </a:moveTo>
                <a:cubicBezTo>
                  <a:pt x="388562" y="186137"/>
                  <a:pt x="777124" y="316434"/>
                  <a:pt x="1179646" y="307127"/>
                </a:cubicBezTo>
                <a:cubicBezTo>
                  <a:pt x="1582168" y="297820"/>
                  <a:pt x="1998650" y="148910"/>
                  <a:pt x="2415133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81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3AA3-C0D9-42A7-823C-C3CA39FA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6" y="41799"/>
            <a:ext cx="9601200" cy="1485900"/>
          </a:xfrm>
        </p:spPr>
        <p:txBody>
          <a:bodyPr/>
          <a:lstStyle/>
          <a:p>
            <a:r>
              <a:rPr lang="en-AU" dirty="0"/>
              <a:t>Irregular Solids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168E-70C7-4976-80BE-7BE3F9F76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982" y="739897"/>
            <a:ext cx="9862016" cy="1242466"/>
          </a:xfrm>
        </p:spPr>
        <p:txBody>
          <a:bodyPr/>
          <a:lstStyle/>
          <a:p>
            <a:r>
              <a:rPr lang="en-AU" dirty="0"/>
              <a:t>Irregular solids are the 3-dimensional equivalent of composite shapes. They are made up of a mix of any and all of the above shapes. </a:t>
            </a:r>
          </a:p>
        </p:txBody>
      </p:sp>
      <p:pic>
        <p:nvPicPr>
          <p:cNvPr id="8194" name="Picture 2" descr="What's going on in your ice cream | News | Chemistry World">
            <a:extLst>
              <a:ext uri="{FF2B5EF4-FFF2-40B4-BE49-F238E27FC236}">
                <a16:creationId xmlns:a16="http://schemas.microsoft.com/office/drawing/2014/main" id="{DE5D7335-7C3B-450B-97EF-97FE49289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5969"/>
            <a:ext cx="5111069" cy="28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What's going on in your ice cream | News | Chemistry World">
            <a:extLst>
              <a:ext uri="{FF2B5EF4-FFF2-40B4-BE49-F238E27FC236}">
                <a16:creationId xmlns:a16="http://schemas.microsoft.com/office/drawing/2014/main" id="{74D55DEE-3882-4891-8776-CF5CBA3BF5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7"/>
          <a:stretch/>
        </p:blipFill>
        <p:spPr bwMode="auto">
          <a:xfrm>
            <a:off x="4918914" y="2035969"/>
            <a:ext cx="4881721" cy="28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What's going on in your ice cream | News | Chemistry World">
            <a:extLst>
              <a:ext uri="{FF2B5EF4-FFF2-40B4-BE49-F238E27FC236}">
                <a16:creationId xmlns:a16="http://schemas.microsoft.com/office/drawing/2014/main" id="{4A2F99E5-6288-47BE-B680-355F9EDBB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7"/>
          <a:stretch/>
        </p:blipFill>
        <p:spPr bwMode="auto">
          <a:xfrm>
            <a:off x="9678149" y="2035969"/>
            <a:ext cx="4881721" cy="28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95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7178-00AC-468C-A791-9031803B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47" y="0"/>
            <a:ext cx="9601200" cy="1485900"/>
          </a:xfrm>
        </p:spPr>
        <p:txBody>
          <a:bodyPr/>
          <a:lstStyle/>
          <a:p>
            <a:r>
              <a:rPr lang="en-AU" dirty="0"/>
              <a:t>Surface Area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237AC-014A-4DC3-812C-0893D176F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937" y="992982"/>
            <a:ext cx="10146815" cy="823912"/>
          </a:xfrm>
        </p:spPr>
        <p:txBody>
          <a:bodyPr anchor="t">
            <a:normAutofit lnSpcReduction="10000"/>
          </a:bodyPr>
          <a:lstStyle/>
          <a:p>
            <a:r>
              <a:rPr lang="en-AU" dirty="0"/>
              <a:t>Surface area is the total area on the outside of a 3-dimensional solid.</a:t>
            </a:r>
          </a:p>
          <a:p>
            <a:r>
              <a:rPr lang="en-AU" dirty="0"/>
              <a:t>It is measured in square units as it is a measurement of area.</a:t>
            </a:r>
          </a:p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11089-2526-4556-9448-4B9C3A25D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2080085"/>
            <a:ext cx="4443984" cy="458596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Consider the present on the right</a:t>
            </a:r>
          </a:p>
          <a:p>
            <a:r>
              <a:rPr lang="en-AU" dirty="0"/>
              <a:t>The surface area is essentially the area of wrapping paper that you would need to completely cover it, with no overhang and nothing uncovered. </a:t>
            </a:r>
          </a:p>
          <a:p>
            <a:r>
              <a:rPr lang="en-AU" dirty="0"/>
              <a:t>The surface area is equal to the area of all of the faces that make the 3-dimensional shape.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6CDD1-CB7D-4DD9-83BC-085FA53743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endParaRPr lang="en-AU"/>
          </a:p>
        </p:txBody>
      </p:sp>
      <p:pic>
        <p:nvPicPr>
          <p:cNvPr id="10242" name="Picture 2" descr="Gift-box-sample">
            <a:extLst>
              <a:ext uri="{FF2B5EF4-FFF2-40B4-BE49-F238E27FC236}">
                <a16:creationId xmlns:a16="http://schemas.microsoft.com/office/drawing/2014/main" id="{08843DA7-9A36-4422-AA88-8FF992C3E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952" y="2147888"/>
            <a:ext cx="4710800" cy="412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552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A1048C-3B37-4BFA-9654-9F1E94CA5908}"/>
              </a:ext>
            </a:extLst>
          </p:cNvPr>
          <p:cNvCxnSpPr/>
          <p:nvPr/>
        </p:nvCxnSpPr>
        <p:spPr>
          <a:xfrm>
            <a:off x="0" y="771525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EB2ECE-50D3-449F-8399-B37D218D090E}"/>
              </a:ext>
            </a:extLst>
          </p:cNvPr>
          <p:cNvCxnSpPr/>
          <p:nvPr/>
        </p:nvCxnSpPr>
        <p:spPr>
          <a:xfrm>
            <a:off x="0" y="1305393"/>
            <a:ext cx="1228010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BB3582-EEC7-4793-8F7C-F263C2CDD173}"/>
              </a:ext>
            </a:extLst>
          </p:cNvPr>
          <p:cNvCxnSpPr/>
          <p:nvPr/>
        </p:nvCxnSpPr>
        <p:spPr>
          <a:xfrm flipH="1">
            <a:off x="1789531" y="1305393"/>
            <a:ext cx="44879" cy="56002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252596-EBF0-4B59-967A-36026E469531}"/>
              </a:ext>
            </a:extLst>
          </p:cNvPr>
          <p:cNvSpPr txBox="1"/>
          <p:nvPr/>
        </p:nvSpPr>
        <p:spPr>
          <a:xfrm>
            <a:off x="117806" y="32861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002FC-3572-4160-B3C2-8A88012037BD}"/>
              </a:ext>
            </a:extLst>
          </p:cNvPr>
          <p:cNvSpPr txBox="1"/>
          <p:nvPr/>
        </p:nvSpPr>
        <p:spPr>
          <a:xfrm>
            <a:off x="826315" y="378039"/>
            <a:ext cx="3410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Topic: 3D Shapes and Surface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9D9B8-8D9E-41E3-AFDB-3FECAD05653A}"/>
              </a:ext>
            </a:extLst>
          </p:cNvPr>
          <p:cNvSpPr txBox="1"/>
          <p:nvPr/>
        </p:nvSpPr>
        <p:spPr>
          <a:xfrm>
            <a:off x="129039" y="853792"/>
            <a:ext cx="483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EQ: How do I find the surface area of a 3D shape?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DACE7-36CC-44BC-88E3-521BBCFE6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804" y="1651013"/>
            <a:ext cx="9173919" cy="46974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03B99-72E6-46FF-8577-643BCD6766E4}"/>
              </a:ext>
            </a:extLst>
          </p:cNvPr>
          <p:cNvSpPr txBox="1"/>
          <p:nvPr/>
        </p:nvSpPr>
        <p:spPr>
          <a:xfrm>
            <a:off x="117805" y="1652740"/>
            <a:ext cx="1581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to calculate surface area?</a:t>
            </a:r>
          </a:p>
        </p:txBody>
      </p:sp>
    </p:spTree>
    <p:extLst>
      <p:ext uri="{BB962C8B-B14F-4D97-AF65-F5344CB8AC3E}">
        <p14:creationId xmlns:p14="http://schemas.microsoft.com/office/powerpoint/2010/main" val="555102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8212150" cy="823912"/>
          </a:xfrm>
        </p:spPr>
        <p:txBody>
          <a:bodyPr/>
          <a:lstStyle/>
          <a:p>
            <a:r>
              <a:rPr lang="en-AU" dirty="0"/>
              <a:t>Some shapes have a specific formula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F34E7A8-266A-4D74-9BCD-862C3685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125405"/>
              </p:ext>
            </p:extLst>
          </p:nvPr>
        </p:nvGraphicFramePr>
        <p:xfrm>
          <a:off x="2032000" y="1836491"/>
          <a:ext cx="892684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3420">
                  <a:extLst>
                    <a:ext uri="{9D8B030D-6E8A-4147-A177-3AD203B41FA5}">
                      <a16:colId xmlns:a16="http://schemas.microsoft.com/office/drawing/2014/main" val="1912408826"/>
                    </a:ext>
                  </a:extLst>
                </a:gridCol>
                <a:gridCol w="4463420">
                  <a:extLst>
                    <a:ext uri="{9D8B030D-6E8A-4147-A177-3AD203B41FA5}">
                      <a16:colId xmlns:a16="http://schemas.microsoft.com/office/drawing/2014/main" val="3110029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88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Cube:</a:t>
                      </a:r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1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Rectangular Prism</a:t>
                      </a:r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788731"/>
                  </a:ext>
                </a:extLst>
              </a:tr>
            </a:tbl>
          </a:graphicData>
        </a:graphic>
      </p:graphicFrame>
      <p:pic>
        <p:nvPicPr>
          <p:cNvPr id="11266" name="Picture 2" descr="Surface Areas">
            <a:extLst>
              <a:ext uri="{FF2B5EF4-FFF2-40B4-BE49-F238E27FC236}">
                <a16:creationId xmlns:a16="http://schemas.microsoft.com/office/drawing/2014/main" id="{E59A7059-B081-48AF-A8F7-6447092FF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905" y="2322355"/>
            <a:ext cx="21907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5FEDF95-5610-47F5-AE40-631C420A1B48}"/>
                  </a:ext>
                </a:extLst>
              </p:cNvPr>
              <p:cNvSpPr/>
              <p:nvPr/>
            </p:nvSpPr>
            <p:spPr>
              <a:xfrm>
                <a:off x="6929606" y="2641104"/>
                <a:ext cx="3916329" cy="942053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𝑺𝑨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5FEDF95-5610-47F5-AE40-631C420A1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606" y="2641104"/>
                <a:ext cx="3916329" cy="9420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8" name="Picture 4" descr="Surface Area. Calculator | Definition | Formulas - Omni">
            <a:extLst>
              <a:ext uri="{FF2B5EF4-FFF2-40B4-BE49-F238E27FC236}">
                <a16:creationId xmlns:a16="http://schemas.microsoft.com/office/drawing/2014/main" id="{DE96F7B8-11E8-46BD-9925-2685BF921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952" y="4406103"/>
            <a:ext cx="2832015" cy="174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CAA3776-C0A2-454D-B74E-69CDDBC4E13B}"/>
                  </a:ext>
                </a:extLst>
              </p:cNvPr>
              <p:cNvSpPr/>
              <p:nvPr/>
            </p:nvSpPr>
            <p:spPr>
              <a:xfrm>
                <a:off x="6641035" y="4406103"/>
                <a:ext cx="4493473" cy="144655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𝑺𝑨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4400" b="1" i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𝒍𝒘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𝒍𝒉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𝒉𝒘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CAA3776-C0A2-454D-B74E-69CDDBC4E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035" y="4406103"/>
                <a:ext cx="4493473" cy="1446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261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8212150" cy="823912"/>
          </a:xfrm>
        </p:spPr>
        <p:txBody>
          <a:bodyPr/>
          <a:lstStyle/>
          <a:p>
            <a:r>
              <a:rPr lang="en-AU" dirty="0"/>
              <a:t>Some shapes have a specific formula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F34E7A8-266A-4D74-9BCD-862C3685C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30136"/>
              </p:ext>
            </p:extLst>
          </p:nvPr>
        </p:nvGraphicFramePr>
        <p:xfrm>
          <a:off x="2032000" y="1836491"/>
          <a:ext cx="892684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3420">
                  <a:extLst>
                    <a:ext uri="{9D8B030D-6E8A-4147-A177-3AD203B41FA5}">
                      <a16:colId xmlns:a16="http://schemas.microsoft.com/office/drawing/2014/main" val="1912408826"/>
                    </a:ext>
                  </a:extLst>
                </a:gridCol>
                <a:gridCol w="4463420">
                  <a:extLst>
                    <a:ext uri="{9D8B030D-6E8A-4147-A177-3AD203B41FA5}">
                      <a16:colId xmlns:a16="http://schemas.microsoft.com/office/drawing/2014/main" val="3110029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88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Cylinder:</a:t>
                      </a:r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1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Sphere:</a:t>
                      </a:r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7887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5FEDF95-5610-47F5-AE40-631C420A1B48}"/>
                  </a:ext>
                </a:extLst>
              </p:cNvPr>
              <p:cNvSpPr/>
              <p:nvPr/>
            </p:nvSpPr>
            <p:spPr>
              <a:xfrm>
                <a:off x="7048229" y="2330242"/>
                <a:ext cx="3679084" cy="177304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𝑺𝑨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5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5400" b="1" i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5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𝒓𝒉</m:t>
                      </m:r>
                    </m:oMath>
                  </m:oMathPara>
                </a14:m>
                <a:endPara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5FEDF95-5610-47F5-AE40-631C420A1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229" y="2330242"/>
                <a:ext cx="3679084" cy="17730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CAA3776-C0A2-454D-B74E-69CDDBC4E13B}"/>
                  </a:ext>
                </a:extLst>
              </p:cNvPr>
              <p:cNvSpPr/>
              <p:nvPr/>
            </p:nvSpPr>
            <p:spPr>
              <a:xfrm>
                <a:off x="7298936" y="4752528"/>
                <a:ext cx="3052631" cy="78476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𝑺𝑨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400" b="1" i="1" cap="none" spc="0" dirty="0" smtClean="0">
                          <a:ln w="22225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AU" sz="4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4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4400" b="1" i="1" cap="none" spc="0" dirty="0" smtClean="0">
                              <a:ln w="22225">
                                <a:solidFill>
                                  <a:schemeClr val="accent2"/>
                                </a:solidFill>
                                <a:prstDash val="solid"/>
                              </a:ln>
                              <a:solidFill>
                                <a:schemeClr val="accent2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CAA3776-C0A2-454D-B74E-69CDDBC4E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36" y="4752528"/>
                <a:ext cx="3052631" cy="784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 descr="Total Surface Area of a Cylinder">
            <a:extLst>
              <a:ext uri="{FF2B5EF4-FFF2-40B4-BE49-F238E27FC236}">
                <a16:creationId xmlns:a16="http://schemas.microsoft.com/office/drawing/2014/main" id="{D4FB765B-70F9-4D57-972E-FE2613A17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429" y="2083430"/>
            <a:ext cx="14859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c program Volume of sphere">
            <a:extLst>
              <a:ext uri="{FF2B5EF4-FFF2-40B4-BE49-F238E27FC236}">
                <a16:creationId xmlns:a16="http://schemas.microsoft.com/office/drawing/2014/main" id="{834AB4AE-47D1-4A8E-94E5-FEEE95AF59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2296" name="Picture 8" descr="c program Volume of sphere">
            <a:extLst>
              <a:ext uri="{FF2B5EF4-FFF2-40B4-BE49-F238E27FC236}">
                <a16:creationId xmlns:a16="http://schemas.microsoft.com/office/drawing/2014/main" id="{D1ED2738-779C-43B6-9132-766FA60F1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58" y="4103291"/>
            <a:ext cx="2343041" cy="227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920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10257334" cy="823912"/>
          </a:xfrm>
        </p:spPr>
        <p:txBody>
          <a:bodyPr/>
          <a:lstStyle/>
          <a:p>
            <a:r>
              <a:rPr lang="en-AU" dirty="0"/>
              <a:t>Other shapes will need you to calculate every side individually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8104098-7576-4045-8EC1-CF3CF2563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1985" y="1863299"/>
            <a:ext cx="4443984" cy="4585961"/>
          </a:xfrm>
        </p:spPr>
        <p:txBody>
          <a:bodyPr>
            <a:normAutofit lnSpcReduction="10000"/>
          </a:bodyPr>
          <a:lstStyle/>
          <a:p>
            <a:r>
              <a:rPr lang="en-AU" sz="3200" dirty="0"/>
              <a:t>Step 1: Identify and label every unique side. If there are repeat sides, indicate they are the same.</a:t>
            </a:r>
          </a:p>
          <a:p>
            <a:r>
              <a:rPr lang="en-AU" sz="3200" dirty="0"/>
              <a:t>Step 2: Work out the area of each individual unique side.</a:t>
            </a:r>
          </a:p>
          <a:p>
            <a:r>
              <a:rPr lang="en-AU" sz="3200" dirty="0"/>
              <a:t>Step 3: Add all of the surface areas together</a:t>
            </a:r>
          </a:p>
          <a:p>
            <a:endParaRPr lang="en-AU" dirty="0"/>
          </a:p>
        </p:txBody>
      </p:sp>
      <p:pic>
        <p:nvPicPr>
          <p:cNvPr id="13314" name="Picture 2" descr="Clip Art: 3D Solids: Triangular Prism B&amp;W I abcteach.com | abcteach">
            <a:extLst>
              <a:ext uri="{FF2B5EF4-FFF2-40B4-BE49-F238E27FC236}">
                <a16:creationId xmlns:a16="http://schemas.microsoft.com/office/drawing/2014/main" id="{F51C50D9-0CBF-45E8-B1F9-519D1A04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01" y="1550405"/>
            <a:ext cx="4898855" cy="489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F758B-54DF-4DF2-B015-AF3786C763F7}"/>
              </a:ext>
            </a:extLst>
          </p:cNvPr>
          <p:cNvSpPr txBox="1"/>
          <p:nvPr/>
        </p:nvSpPr>
        <p:spPr>
          <a:xfrm>
            <a:off x="1950720" y="5963567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954C7-242C-46D5-A31B-C9F0FDA99680}"/>
              </a:ext>
            </a:extLst>
          </p:cNvPr>
          <p:cNvSpPr txBox="1"/>
          <p:nvPr/>
        </p:nvSpPr>
        <p:spPr>
          <a:xfrm>
            <a:off x="4646022" y="4740013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17D3D-0E3B-4AB0-BF58-53A2D12B749F}"/>
              </a:ext>
            </a:extLst>
          </p:cNvPr>
          <p:cNvSpPr txBox="1"/>
          <p:nvPr/>
        </p:nvSpPr>
        <p:spPr>
          <a:xfrm>
            <a:off x="2896547" y="4422914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F9AA-1C22-4683-9B96-EED5E2058485}"/>
              </a:ext>
            </a:extLst>
          </p:cNvPr>
          <p:cNvSpPr/>
          <p:nvPr/>
        </p:nvSpPr>
        <p:spPr>
          <a:xfrm>
            <a:off x="1050513" y="4422914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B75E3-471B-4A74-8A1E-8ED2401C6F0A}"/>
              </a:ext>
            </a:extLst>
          </p:cNvPr>
          <p:cNvSpPr/>
          <p:nvPr/>
        </p:nvSpPr>
        <p:spPr>
          <a:xfrm>
            <a:off x="4290155" y="3202988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13 cm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FF4554-B506-417A-B29D-6177FBDDDDDF}"/>
              </a:ext>
            </a:extLst>
          </p:cNvPr>
          <p:cNvCxnSpPr/>
          <p:nvPr/>
        </p:nvCxnSpPr>
        <p:spPr>
          <a:xfrm>
            <a:off x="4371703" y="1950720"/>
            <a:ext cx="0" cy="186167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B6BFF-1E5E-4A89-82B3-447D028CBC59}"/>
              </a:ext>
            </a:extLst>
          </p:cNvPr>
          <p:cNvSpPr/>
          <p:nvPr/>
        </p:nvSpPr>
        <p:spPr>
          <a:xfrm>
            <a:off x="4329823" y="3637906"/>
            <a:ext cx="223351" cy="223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210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10257334" cy="823912"/>
          </a:xfrm>
        </p:spPr>
        <p:txBody>
          <a:bodyPr/>
          <a:lstStyle/>
          <a:p>
            <a:r>
              <a:rPr lang="en-AU" dirty="0"/>
              <a:t>Other shapes will need you to calculate every side individually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8104098-7576-4045-8EC1-CF3CF2563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1985" y="1863299"/>
            <a:ext cx="4443984" cy="4585961"/>
          </a:xfrm>
        </p:spPr>
        <p:txBody>
          <a:bodyPr>
            <a:normAutofit/>
          </a:bodyPr>
          <a:lstStyle/>
          <a:p>
            <a:r>
              <a:rPr lang="en-AU" sz="3200" dirty="0"/>
              <a:t>Step 1: Identify and label every unique side. If there are repeat sides, indicate they are the same.</a:t>
            </a:r>
          </a:p>
          <a:p>
            <a:endParaRPr lang="en-AU" dirty="0"/>
          </a:p>
        </p:txBody>
      </p:sp>
      <p:pic>
        <p:nvPicPr>
          <p:cNvPr id="13314" name="Picture 2" descr="Clip Art: 3D Solids: Triangular Prism B&amp;W I abcteach.com | abcteach">
            <a:extLst>
              <a:ext uri="{FF2B5EF4-FFF2-40B4-BE49-F238E27FC236}">
                <a16:creationId xmlns:a16="http://schemas.microsoft.com/office/drawing/2014/main" id="{F51C50D9-0CBF-45E8-B1F9-519D1A04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01" y="1550405"/>
            <a:ext cx="4898855" cy="489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F758B-54DF-4DF2-B015-AF3786C763F7}"/>
              </a:ext>
            </a:extLst>
          </p:cNvPr>
          <p:cNvSpPr txBox="1"/>
          <p:nvPr/>
        </p:nvSpPr>
        <p:spPr>
          <a:xfrm>
            <a:off x="1950720" y="5963567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954C7-242C-46D5-A31B-C9F0FDA99680}"/>
              </a:ext>
            </a:extLst>
          </p:cNvPr>
          <p:cNvSpPr txBox="1"/>
          <p:nvPr/>
        </p:nvSpPr>
        <p:spPr>
          <a:xfrm>
            <a:off x="4646022" y="4740013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17D3D-0E3B-4AB0-BF58-53A2D12B749F}"/>
              </a:ext>
            </a:extLst>
          </p:cNvPr>
          <p:cNvSpPr txBox="1"/>
          <p:nvPr/>
        </p:nvSpPr>
        <p:spPr>
          <a:xfrm>
            <a:off x="2896547" y="4422914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F9AA-1C22-4683-9B96-EED5E2058485}"/>
              </a:ext>
            </a:extLst>
          </p:cNvPr>
          <p:cNvSpPr/>
          <p:nvPr/>
        </p:nvSpPr>
        <p:spPr>
          <a:xfrm>
            <a:off x="1050513" y="4422914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B75E3-471B-4A74-8A1E-8ED2401C6F0A}"/>
              </a:ext>
            </a:extLst>
          </p:cNvPr>
          <p:cNvSpPr/>
          <p:nvPr/>
        </p:nvSpPr>
        <p:spPr>
          <a:xfrm>
            <a:off x="4290155" y="3202988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13 cm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FF4554-B506-417A-B29D-6177FBDDDDDF}"/>
              </a:ext>
            </a:extLst>
          </p:cNvPr>
          <p:cNvCxnSpPr/>
          <p:nvPr/>
        </p:nvCxnSpPr>
        <p:spPr>
          <a:xfrm>
            <a:off x="4371703" y="1950720"/>
            <a:ext cx="0" cy="186167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B6BFF-1E5E-4A89-82B3-447D028CBC59}"/>
              </a:ext>
            </a:extLst>
          </p:cNvPr>
          <p:cNvSpPr/>
          <p:nvPr/>
        </p:nvSpPr>
        <p:spPr>
          <a:xfrm>
            <a:off x="4329823" y="3637906"/>
            <a:ext cx="223351" cy="223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B4AB0F-4ECD-4C7A-8CAB-89AC605001CB}"/>
              </a:ext>
            </a:extLst>
          </p:cNvPr>
          <p:cNvSpPr/>
          <p:nvPr/>
        </p:nvSpPr>
        <p:spPr>
          <a:xfrm>
            <a:off x="2187672" y="474001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7DE468-51E1-4765-B96D-E670B585AB28}"/>
              </a:ext>
            </a:extLst>
          </p:cNvPr>
          <p:cNvSpPr/>
          <p:nvPr/>
        </p:nvSpPr>
        <p:spPr>
          <a:xfrm>
            <a:off x="3699908" y="3706261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BB36E7-5B44-4D89-9D2C-FD2A02137879}"/>
              </a:ext>
            </a:extLst>
          </p:cNvPr>
          <p:cNvSpPr/>
          <p:nvPr/>
        </p:nvSpPr>
        <p:spPr>
          <a:xfrm>
            <a:off x="4205679" y="266852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82BF72-47E1-4C3A-AAAD-97D1EFEEEEF1}"/>
              </a:ext>
            </a:extLst>
          </p:cNvPr>
          <p:cNvSpPr/>
          <p:nvPr/>
        </p:nvSpPr>
        <p:spPr>
          <a:xfrm>
            <a:off x="2116581" y="2411429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3C4A0C-2DBB-4686-B6C9-E1E05D8A4171}"/>
              </a:ext>
            </a:extLst>
          </p:cNvPr>
          <p:cNvSpPr/>
          <p:nvPr/>
        </p:nvSpPr>
        <p:spPr>
          <a:xfrm>
            <a:off x="4410203" y="5464980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01154-AB56-4F44-9A4A-E7BBD679C185}"/>
              </a:ext>
            </a:extLst>
          </p:cNvPr>
          <p:cNvCxnSpPr>
            <a:stCxn id="20" idx="5"/>
          </p:cNvCxnSpPr>
          <p:nvPr/>
        </p:nvCxnSpPr>
        <p:spPr>
          <a:xfrm>
            <a:off x="2519148" y="2912585"/>
            <a:ext cx="377399" cy="790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E438B7-8DD9-4FC6-9259-F6D596513E74}"/>
              </a:ext>
            </a:extLst>
          </p:cNvPr>
          <p:cNvCxnSpPr/>
          <p:nvPr/>
        </p:nvCxnSpPr>
        <p:spPr>
          <a:xfrm flipH="1" flipV="1">
            <a:off x="3699908" y="4808972"/>
            <a:ext cx="817373" cy="750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142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10257334" cy="823912"/>
          </a:xfrm>
        </p:spPr>
        <p:txBody>
          <a:bodyPr/>
          <a:lstStyle/>
          <a:p>
            <a:r>
              <a:rPr lang="en-AU" dirty="0"/>
              <a:t>Other shapes will need you to calculate every side individually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8104098-7576-4045-8EC1-CF3CF2563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1985" y="1863299"/>
            <a:ext cx="4443984" cy="4585961"/>
          </a:xfrm>
        </p:spPr>
        <p:txBody>
          <a:bodyPr>
            <a:normAutofit/>
          </a:bodyPr>
          <a:lstStyle/>
          <a:p>
            <a:r>
              <a:rPr lang="en-AU" sz="3200" dirty="0"/>
              <a:t>Step 2: Work out the area of each individual unique side.</a:t>
            </a:r>
          </a:p>
          <a:p>
            <a:endParaRPr lang="en-AU" dirty="0"/>
          </a:p>
        </p:txBody>
      </p:sp>
      <p:pic>
        <p:nvPicPr>
          <p:cNvPr id="13314" name="Picture 2" descr="Clip Art: 3D Solids: Triangular Prism B&amp;W I abcteach.com | abcteach">
            <a:extLst>
              <a:ext uri="{FF2B5EF4-FFF2-40B4-BE49-F238E27FC236}">
                <a16:creationId xmlns:a16="http://schemas.microsoft.com/office/drawing/2014/main" id="{F51C50D9-0CBF-45E8-B1F9-519D1A04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01" y="1550405"/>
            <a:ext cx="4898855" cy="489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F758B-54DF-4DF2-B015-AF3786C763F7}"/>
              </a:ext>
            </a:extLst>
          </p:cNvPr>
          <p:cNvSpPr txBox="1"/>
          <p:nvPr/>
        </p:nvSpPr>
        <p:spPr>
          <a:xfrm>
            <a:off x="1950720" y="5963567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954C7-242C-46D5-A31B-C9F0FDA99680}"/>
              </a:ext>
            </a:extLst>
          </p:cNvPr>
          <p:cNvSpPr txBox="1"/>
          <p:nvPr/>
        </p:nvSpPr>
        <p:spPr>
          <a:xfrm>
            <a:off x="4646022" y="4740013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17D3D-0E3B-4AB0-BF58-53A2D12B749F}"/>
              </a:ext>
            </a:extLst>
          </p:cNvPr>
          <p:cNvSpPr txBox="1"/>
          <p:nvPr/>
        </p:nvSpPr>
        <p:spPr>
          <a:xfrm>
            <a:off x="2896547" y="4422914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F9AA-1C22-4683-9B96-EED5E2058485}"/>
              </a:ext>
            </a:extLst>
          </p:cNvPr>
          <p:cNvSpPr/>
          <p:nvPr/>
        </p:nvSpPr>
        <p:spPr>
          <a:xfrm>
            <a:off x="1050513" y="4422914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B75E3-471B-4A74-8A1E-8ED2401C6F0A}"/>
              </a:ext>
            </a:extLst>
          </p:cNvPr>
          <p:cNvSpPr/>
          <p:nvPr/>
        </p:nvSpPr>
        <p:spPr>
          <a:xfrm>
            <a:off x="4290155" y="3202988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13 cm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FF4554-B506-417A-B29D-6177FBDDDDDF}"/>
              </a:ext>
            </a:extLst>
          </p:cNvPr>
          <p:cNvCxnSpPr/>
          <p:nvPr/>
        </p:nvCxnSpPr>
        <p:spPr>
          <a:xfrm>
            <a:off x="4371703" y="1950720"/>
            <a:ext cx="0" cy="186167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B6BFF-1E5E-4A89-82B3-447D028CBC59}"/>
              </a:ext>
            </a:extLst>
          </p:cNvPr>
          <p:cNvSpPr/>
          <p:nvPr/>
        </p:nvSpPr>
        <p:spPr>
          <a:xfrm>
            <a:off x="4329823" y="3637906"/>
            <a:ext cx="223351" cy="223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B4AB0F-4ECD-4C7A-8CAB-89AC605001CB}"/>
              </a:ext>
            </a:extLst>
          </p:cNvPr>
          <p:cNvSpPr/>
          <p:nvPr/>
        </p:nvSpPr>
        <p:spPr>
          <a:xfrm>
            <a:off x="2187672" y="474001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7DE468-51E1-4765-B96D-E670B585AB28}"/>
              </a:ext>
            </a:extLst>
          </p:cNvPr>
          <p:cNvSpPr/>
          <p:nvPr/>
        </p:nvSpPr>
        <p:spPr>
          <a:xfrm>
            <a:off x="3699908" y="3706261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BB36E7-5B44-4D89-9D2C-FD2A02137879}"/>
              </a:ext>
            </a:extLst>
          </p:cNvPr>
          <p:cNvSpPr/>
          <p:nvPr/>
        </p:nvSpPr>
        <p:spPr>
          <a:xfrm>
            <a:off x="4205679" y="266852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82BF72-47E1-4C3A-AAAD-97D1EFEEEEF1}"/>
              </a:ext>
            </a:extLst>
          </p:cNvPr>
          <p:cNvSpPr/>
          <p:nvPr/>
        </p:nvSpPr>
        <p:spPr>
          <a:xfrm>
            <a:off x="2116581" y="2411429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3C4A0C-2DBB-4686-B6C9-E1E05D8A4171}"/>
              </a:ext>
            </a:extLst>
          </p:cNvPr>
          <p:cNvSpPr/>
          <p:nvPr/>
        </p:nvSpPr>
        <p:spPr>
          <a:xfrm>
            <a:off x="4410203" y="5464980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01154-AB56-4F44-9A4A-E7BBD679C185}"/>
              </a:ext>
            </a:extLst>
          </p:cNvPr>
          <p:cNvCxnSpPr>
            <a:stCxn id="20" idx="5"/>
          </p:cNvCxnSpPr>
          <p:nvPr/>
        </p:nvCxnSpPr>
        <p:spPr>
          <a:xfrm>
            <a:off x="2519148" y="2912585"/>
            <a:ext cx="377399" cy="790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E438B7-8DD9-4FC6-9259-F6D596513E74}"/>
              </a:ext>
            </a:extLst>
          </p:cNvPr>
          <p:cNvCxnSpPr/>
          <p:nvPr/>
        </p:nvCxnSpPr>
        <p:spPr>
          <a:xfrm flipH="1" flipV="1">
            <a:off x="3699908" y="4808972"/>
            <a:ext cx="817373" cy="750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DD409-5348-42BC-8112-411579558636}"/>
                  </a:ext>
                </a:extLst>
              </p:cNvPr>
              <p:cNvSpPr txBox="1"/>
              <p:nvPr/>
            </p:nvSpPr>
            <p:spPr>
              <a:xfrm>
                <a:off x="6134733" y="3387654"/>
                <a:ext cx="5749394" cy="1752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×15×13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=97.5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DD409-5348-42BC-8112-411579558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733" y="3387654"/>
                <a:ext cx="5749394" cy="1752275"/>
              </a:xfrm>
              <a:prstGeom prst="rect">
                <a:avLst/>
              </a:prstGeom>
              <a:blipFill>
                <a:blip r:embed="rId3"/>
                <a:stretch>
                  <a:fillRect b="-27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14DBFF-03CF-44BC-A21A-7D3F3196C8C9}"/>
                  </a:ext>
                </a:extLst>
              </p:cNvPr>
              <p:cNvSpPr txBox="1"/>
              <p:nvPr/>
            </p:nvSpPr>
            <p:spPr>
              <a:xfrm>
                <a:off x="6173403" y="5410745"/>
                <a:ext cx="538512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𝐴𝑟𝑒𝑎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=15×25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=375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14DBFF-03CF-44BC-A21A-7D3F3196C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403" y="5410745"/>
                <a:ext cx="5385129" cy="1107996"/>
              </a:xfrm>
              <a:prstGeom prst="rect">
                <a:avLst/>
              </a:prstGeom>
              <a:blipFill>
                <a:blip r:embed="rId4"/>
                <a:stretch>
                  <a:fillRect l="-906" r="-906" b="-55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266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F3BC-26F6-494E-BE62-54F2CB95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64505"/>
            <a:ext cx="9601200" cy="1485900"/>
          </a:xfrm>
        </p:spPr>
        <p:txBody>
          <a:bodyPr/>
          <a:lstStyle/>
          <a:p>
            <a:r>
              <a:rPr lang="en-AU" dirty="0"/>
              <a:t>How to calculate surface area: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CAA1-8E0B-4955-80E6-8D639F9F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513" y="709767"/>
            <a:ext cx="10257334" cy="823912"/>
          </a:xfrm>
        </p:spPr>
        <p:txBody>
          <a:bodyPr/>
          <a:lstStyle/>
          <a:p>
            <a:r>
              <a:rPr lang="en-AU" dirty="0"/>
              <a:t>Other shapes will need you to calculate every side individually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8104098-7576-4045-8EC1-CF3CF2563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1985" y="1863299"/>
            <a:ext cx="4443984" cy="4585961"/>
          </a:xfrm>
        </p:spPr>
        <p:txBody>
          <a:bodyPr>
            <a:normAutofit/>
          </a:bodyPr>
          <a:lstStyle/>
          <a:p>
            <a:r>
              <a:rPr lang="en-AU" sz="3200" dirty="0"/>
              <a:t>Step 3: Add all of the surface areas together</a:t>
            </a:r>
          </a:p>
          <a:p>
            <a:endParaRPr lang="en-AU" dirty="0"/>
          </a:p>
        </p:txBody>
      </p:sp>
      <p:pic>
        <p:nvPicPr>
          <p:cNvPr id="13314" name="Picture 2" descr="Clip Art: 3D Solids: Triangular Prism B&amp;W I abcteach.com | abcteach">
            <a:extLst>
              <a:ext uri="{FF2B5EF4-FFF2-40B4-BE49-F238E27FC236}">
                <a16:creationId xmlns:a16="http://schemas.microsoft.com/office/drawing/2014/main" id="{F51C50D9-0CBF-45E8-B1F9-519D1A04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01" y="1550405"/>
            <a:ext cx="4898855" cy="489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F758B-54DF-4DF2-B015-AF3786C763F7}"/>
              </a:ext>
            </a:extLst>
          </p:cNvPr>
          <p:cNvSpPr txBox="1"/>
          <p:nvPr/>
        </p:nvSpPr>
        <p:spPr>
          <a:xfrm>
            <a:off x="1950720" y="5963567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954C7-242C-46D5-A31B-C9F0FDA99680}"/>
              </a:ext>
            </a:extLst>
          </p:cNvPr>
          <p:cNvSpPr txBox="1"/>
          <p:nvPr/>
        </p:nvSpPr>
        <p:spPr>
          <a:xfrm>
            <a:off x="4646022" y="4740013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17D3D-0E3B-4AB0-BF58-53A2D12B749F}"/>
              </a:ext>
            </a:extLst>
          </p:cNvPr>
          <p:cNvSpPr txBox="1"/>
          <p:nvPr/>
        </p:nvSpPr>
        <p:spPr>
          <a:xfrm>
            <a:off x="2896547" y="4422914"/>
            <a:ext cx="80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F9AA-1C22-4683-9B96-EED5E2058485}"/>
              </a:ext>
            </a:extLst>
          </p:cNvPr>
          <p:cNvSpPr/>
          <p:nvPr/>
        </p:nvSpPr>
        <p:spPr>
          <a:xfrm>
            <a:off x="1050513" y="4422914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15 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B75E3-471B-4A74-8A1E-8ED2401C6F0A}"/>
              </a:ext>
            </a:extLst>
          </p:cNvPr>
          <p:cNvSpPr/>
          <p:nvPr/>
        </p:nvSpPr>
        <p:spPr>
          <a:xfrm>
            <a:off x="4290155" y="3202988"/>
            <a:ext cx="991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13 cm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FF4554-B506-417A-B29D-6177FBDDDDDF}"/>
              </a:ext>
            </a:extLst>
          </p:cNvPr>
          <p:cNvCxnSpPr/>
          <p:nvPr/>
        </p:nvCxnSpPr>
        <p:spPr>
          <a:xfrm>
            <a:off x="4371703" y="1950720"/>
            <a:ext cx="0" cy="1861677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CB6BFF-1E5E-4A89-82B3-447D028CBC59}"/>
              </a:ext>
            </a:extLst>
          </p:cNvPr>
          <p:cNvSpPr/>
          <p:nvPr/>
        </p:nvSpPr>
        <p:spPr>
          <a:xfrm>
            <a:off x="4329823" y="3637906"/>
            <a:ext cx="223351" cy="223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B4AB0F-4ECD-4C7A-8CAB-89AC605001CB}"/>
              </a:ext>
            </a:extLst>
          </p:cNvPr>
          <p:cNvSpPr/>
          <p:nvPr/>
        </p:nvSpPr>
        <p:spPr>
          <a:xfrm>
            <a:off x="2187672" y="474001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7DE468-51E1-4765-B96D-E670B585AB28}"/>
              </a:ext>
            </a:extLst>
          </p:cNvPr>
          <p:cNvSpPr/>
          <p:nvPr/>
        </p:nvSpPr>
        <p:spPr>
          <a:xfrm>
            <a:off x="3699908" y="3706261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BB36E7-5B44-4D89-9D2C-FD2A02137879}"/>
              </a:ext>
            </a:extLst>
          </p:cNvPr>
          <p:cNvSpPr/>
          <p:nvPr/>
        </p:nvSpPr>
        <p:spPr>
          <a:xfrm>
            <a:off x="4205679" y="2668523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82BF72-47E1-4C3A-AAAD-97D1EFEEEEF1}"/>
              </a:ext>
            </a:extLst>
          </p:cNvPr>
          <p:cNvSpPr/>
          <p:nvPr/>
        </p:nvSpPr>
        <p:spPr>
          <a:xfrm>
            <a:off x="2116581" y="2411429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3C4A0C-2DBB-4686-B6C9-E1E05D8A4171}"/>
              </a:ext>
            </a:extLst>
          </p:cNvPr>
          <p:cNvSpPr/>
          <p:nvPr/>
        </p:nvSpPr>
        <p:spPr>
          <a:xfrm>
            <a:off x="4410203" y="5464980"/>
            <a:ext cx="471637" cy="5871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01154-AB56-4F44-9A4A-E7BBD679C185}"/>
              </a:ext>
            </a:extLst>
          </p:cNvPr>
          <p:cNvCxnSpPr>
            <a:stCxn id="20" idx="5"/>
          </p:cNvCxnSpPr>
          <p:nvPr/>
        </p:nvCxnSpPr>
        <p:spPr>
          <a:xfrm>
            <a:off x="2519148" y="2912585"/>
            <a:ext cx="377399" cy="790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E438B7-8DD9-4FC6-9259-F6D596513E74}"/>
              </a:ext>
            </a:extLst>
          </p:cNvPr>
          <p:cNvCxnSpPr/>
          <p:nvPr/>
        </p:nvCxnSpPr>
        <p:spPr>
          <a:xfrm flipH="1" flipV="1">
            <a:off x="3699908" y="4808972"/>
            <a:ext cx="817373" cy="750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DD409-5348-42BC-8112-411579558636}"/>
                  </a:ext>
                </a:extLst>
              </p:cNvPr>
              <p:cNvSpPr txBox="1"/>
              <p:nvPr/>
            </p:nvSpPr>
            <p:spPr>
              <a:xfrm>
                <a:off x="6849575" y="3429000"/>
                <a:ext cx="4665188" cy="2954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 =2×</m:t>
                      </m:r>
                      <m:sSub>
                        <m:sSub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+3×</m:t>
                      </m:r>
                      <m:sSub>
                        <m:sSub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32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. =2×97.5+3×375</m:t>
                      </m:r>
                    </m:oMath>
                  </m:oMathPara>
                </a14:m>
                <a:endParaRPr lang="en-AU" sz="32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3200" i="1">
                          <a:latin typeface="Cambria Math" panose="02040503050406030204" pitchFamily="18" charset="0"/>
                        </a:rPr>
                        <m:t>. =195+1125</m:t>
                      </m:r>
                    </m:oMath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. =1320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EDD409-5348-42BC-8112-411579558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75" y="3429000"/>
                <a:ext cx="4665188" cy="2954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917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31AD-B710-4B1F-A053-C9EE3454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101600"/>
            <a:ext cx="10058400" cy="1485900"/>
          </a:xfrm>
        </p:spPr>
        <p:txBody>
          <a:bodyPr/>
          <a:lstStyle/>
          <a:p>
            <a:r>
              <a:rPr lang="en-AU" dirty="0"/>
              <a:t>To calculate the surface area of a composite solid: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533C2E-C1A0-4AB9-A448-92EC0ED5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1587500"/>
            <a:ext cx="4443984" cy="4585961"/>
          </a:xfrm>
        </p:spPr>
        <p:txBody>
          <a:bodyPr>
            <a:normAutofit lnSpcReduction="10000"/>
          </a:bodyPr>
          <a:lstStyle/>
          <a:p>
            <a:r>
              <a:rPr lang="en-AU" sz="3200" dirty="0"/>
              <a:t>Step 1: Identify and label every unique side. If there are repeat sides, indicate they are the same.</a:t>
            </a:r>
          </a:p>
          <a:p>
            <a:r>
              <a:rPr lang="en-AU" sz="3200" dirty="0"/>
              <a:t>Step 2: Work out the area of each individual unique side.</a:t>
            </a:r>
          </a:p>
          <a:p>
            <a:r>
              <a:rPr lang="en-AU" sz="3200" dirty="0"/>
              <a:t>Step 3: Add all of the surface areas together</a:t>
            </a:r>
          </a:p>
          <a:p>
            <a:endParaRPr lang="en-AU" dirty="0"/>
          </a:p>
        </p:txBody>
      </p:sp>
      <p:pic>
        <p:nvPicPr>
          <p:cNvPr id="14338" name="Picture 2" descr="Composite Solids ( Read ) | Geometry | CK-12 Foundation">
            <a:extLst>
              <a:ext uri="{FF2B5EF4-FFF2-40B4-BE49-F238E27FC236}">
                <a16:creationId xmlns:a16="http://schemas.microsoft.com/office/drawing/2014/main" id="{2CD56476-EA46-4428-B3F8-C6EBC8E2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638" y="1429361"/>
            <a:ext cx="6196744" cy="466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EED614-95CF-4FCA-99E3-2C0E8E6C7A26}"/>
              </a:ext>
            </a:extLst>
          </p:cNvPr>
          <p:cNvCxnSpPr/>
          <p:nvPr/>
        </p:nvCxnSpPr>
        <p:spPr>
          <a:xfrm>
            <a:off x="10761044" y="4668253"/>
            <a:ext cx="173255" cy="1732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865B10-007E-41B6-B96A-DAF9F1DD361C}"/>
              </a:ext>
            </a:extLst>
          </p:cNvPr>
          <p:cNvCxnSpPr>
            <a:cxnSpLocks/>
          </p:cNvCxnSpPr>
          <p:nvPr/>
        </p:nvCxnSpPr>
        <p:spPr>
          <a:xfrm>
            <a:off x="8895026" y="5370897"/>
            <a:ext cx="0" cy="308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307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31AD-B710-4B1F-A053-C9EE3454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101600"/>
            <a:ext cx="10058400" cy="1485900"/>
          </a:xfrm>
        </p:spPr>
        <p:txBody>
          <a:bodyPr/>
          <a:lstStyle/>
          <a:p>
            <a:r>
              <a:rPr lang="en-AU" dirty="0"/>
              <a:t>To calculate the surface area of a composite solid: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533C2E-C1A0-4AB9-A448-92EC0ED5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93" y="1587500"/>
            <a:ext cx="5170691" cy="4585961"/>
          </a:xfrm>
        </p:spPr>
        <p:txBody>
          <a:bodyPr>
            <a:normAutofit/>
          </a:bodyPr>
          <a:lstStyle/>
          <a:p>
            <a:r>
              <a:rPr lang="en-AU" sz="3200" dirty="0"/>
              <a:t>Step 1: Identify and label every unique side. If there are repeat sides, indicate they are the same.</a:t>
            </a:r>
          </a:p>
          <a:p>
            <a:endParaRPr lang="en-AU" dirty="0"/>
          </a:p>
        </p:txBody>
      </p:sp>
      <p:pic>
        <p:nvPicPr>
          <p:cNvPr id="14338" name="Picture 2" descr="Composite Solids ( Read ) | Geometry | CK-12 Foundation">
            <a:extLst>
              <a:ext uri="{FF2B5EF4-FFF2-40B4-BE49-F238E27FC236}">
                <a16:creationId xmlns:a16="http://schemas.microsoft.com/office/drawing/2014/main" id="{2CD56476-EA46-4428-B3F8-C6EBC8E2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638" y="1429361"/>
            <a:ext cx="6196744" cy="466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EED614-95CF-4FCA-99E3-2C0E8E6C7A26}"/>
              </a:ext>
            </a:extLst>
          </p:cNvPr>
          <p:cNvCxnSpPr/>
          <p:nvPr/>
        </p:nvCxnSpPr>
        <p:spPr>
          <a:xfrm>
            <a:off x="10761044" y="4668253"/>
            <a:ext cx="173255" cy="1732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865B10-007E-41B6-B96A-DAF9F1DD361C}"/>
              </a:ext>
            </a:extLst>
          </p:cNvPr>
          <p:cNvCxnSpPr>
            <a:cxnSpLocks/>
          </p:cNvCxnSpPr>
          <p:nvPr/>
        </p:nvCxnSpPr>
        <p:spPr>
          <a:xfrm>
            <a:off x="8895026" y="5370897"/>
            <a:ext cx="0" cy="308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97E827F-826E-4104-A882-0ACDD5988AEE}"/>
              </a:ext>
            </a:extLst>
          </p:cNvPr>
          <p:cNvSpPr/>
          <p:nvPr/>
        </p:nvSpPr>
        <p:spPr>
          <a:xfrm>
            <a:off x="8414885" y="4578416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1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056984-50E9-4328-9EB5-46A2C0ADA40B}"/>
              </a:ext>
            </a:extLst>
          </p:cNvPr>
          <p:cNvSpPr/>
          <p:nvPr/>
        </p:nvSpPr>
        <p:spPr>
          <a:xfrm>
            <a:off x="10976329" y="5032398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2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7F70A9-11B4-4B63-BF10-07C19183C585}"/>
              </a:ext>
            </a:extLst>
          </p:cNvPr>
          <p:cNvSpPr/>
          <p:nvPr/>
        </p:nvSpPr>
        <p:spPr>
          <a:xfrm>
            <a:off x="8498785" y="2915261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3</a:t>
            </a:r>
            <a:endParaRPr lang="en-AU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E646F8-39BB-41ED-AEC5-301F4F54BB73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9856269" y="4841507"/>
            <a:ext cx="1236116" cy="3069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65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533C2E-C1A0-4AB9-A448-92EC0ED5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666" y="115410"/>
            <a:ext cx="5170691" cy="4585961"/>
          </a:xfrm>
        </p:spPr>
        <p:txBody>
          <a:bodyPr>
            <a:normAutofit/>
          </a:bodyPr>
          <a:lstStyle/>
          <a:p>
            <a:r>
              <a:rPr lang="en-AU" sz="3200" dirty="0"/>
              <a:t>Step 2: Work out the area of each individual unique side.</a:t>
            </a:r>
          </a:p>
          <a:p>
            <a:endParaRPr lang="en-AU" dirty="0"/>
          </a:p>
        </p:txBody>
      </p:sp>
      <p:pic>
        <p:nvPicPr>
          <p:cNvPr id="14338" name="Picture 2" descr="Composite Solids ( Read ) | Geometry | CK-12 Foundation">
            <a:extLst>
              <a:ext uri="{FF2B5EF4-FFF2-40B4-BE49-F238E27FC236}">
                <a16:creationId xmlns:a16="http://schemas.microsoft.com/office/drawing/2014/main" id="{2CD56476-EA46-4428-B3F8-C6EBC8E2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638" y="1429361"/>
            <a:ext cx="6196744" cy="466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EED614-95CF-4FCA-99E3-2C0E8E6C7A26}"/>
              </a:ext>
            </a:extLst>
          </p:cNvPr>
          <p:cNvCxnSpPr/>
          <p:nvPr/>
        </p:nvCxnSpPr>
        <p:spPr>
          <a:xfrm>
            <a:off x="10761044" y="4668253"/>
            <a:ext cx="173255" cy="1732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865B10-007E-41B6-B96A-DAF9F1DD361C}"/>
              </a:ext>
            </a:extLst>
          </p:cNvPr>
          <p:cNvCxnSpPr>
            <a:cxnSpLocks/>
          </p:cNvCxnSpPr>
          <p:nvPr/>
        </p:nvCxnSpPr>
        <p:spPr>
          <a:xfrm>
            <a:off x="8895026" y="5370897"/>
            <a:ext cx="0" cy="308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97E827F-826E-4104-A882-0ACDD5988AEE}"/>
              </a:ext>
            </a:extLst>
          </p:cNvPr>
          <p:cNvSpPr/>
          <p:nvPr/>
        </p:nvSpPr>
        <p:spPr>
          <a:xfrm>
            <a:off x="8414885" y="4578416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1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056984-50E9-4328-9EB5-46A2C0ADA40B}"/>
              </a:ext>
            </a:extLst>
          </p:cNvPr>
          <p:cNvSpPr/>
          <p:nvPr/>
        </p:nvSpPr>
        <p:spPr>
          <a:xfrm>
            <a:off x="10976329" y="5032398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2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7F70A9-11B4-4B63-BF10-07C19183C585}"/>
              </a:ext>
            </a:extLst>
          </p:cNvPr>
          <p:cNvSpPr/>
          <p:nvPr/>
        </p:nvSpPr>
        <p:spPr>
          <a:xfrm>
            <a:off x="8498785" y="2915261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3</a:t>
            </a:r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6745D2-A53E-4DE1-8F86-3A3A197F8174}"/>
                  </a:ext>
                </a:extLst>
              </p:cNvPr>
              <p:cNvSpPr txBox="1"/>
              <p:nvPr/>
            </p:nvSpPr>
            <p:spPr>
              <a:xfrm>
                <a:off x="686602" y="1958757"/>
                <a:ext cx="4833485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=18×48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=864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6745D2-A53E-4DE1-8F86-3A3A197F8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02" y="1958757"/>
                <a:ext cx="4833485" cy="1107996"/>
              </a:xfrm>
              <a:prstGeom prst="rect">
                <a:avLst/>
              </a:prstGeom>
              <a:blipFill>
                <a:blip r:embed="rId3"/>
                <a:stretch>
                  <a:fillRect b="-49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30979C-1AF9-4601-B448-84683DC7D725}"/>
                  </a:ext>
                </a:extLst>
              </p:cNvPr>
              <p:cNvSpPr txBox="1"/>
              <p:nvPr/>
            </p:nvSpPr>
            <p:spPr>
              <a:xfrm>
                <a:off x="686602" y="4494759"/>
                <a:ext cx="5170691" cy="17522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×48×25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=600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30979C-1AF9-4601-B448-84683DC7D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02" y="4494759"/>
                <a:ext cx="5170691" cy="1752275"/>
              </a:xfrm>
              <a:prstGeom prst="rect">
                <a:avLst/>
              </a:prstGeom>
              <a:blipFill>
                <a:blip r:embed="rId4"/>
                <a:stretch>
                  <a:fillRect b="-2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34AC8F-DE2E-4E18-9671-1C6B3D5676D7}"/>
              </a:ext>
            </a:extLst>
          </p:cNvPr>
          <p:cNvCxnSpPr/>
          <p:nvPr/>
        </p:nvCxnSpPr>
        <p:spPr>
          <a:xfrm flipH="1" flipV="1">
            <a:off x="9856269" y="4841507"/>
            <a:ext cx="1236116" cy="3069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39F390-5DE4-443A-8430-14979FDF56C4}"/>
                  </a:ext>
                </a:extLst>
              </p:cNvPr>
              <p:cNvSpPr txBox="1"/>
              <p:nvPr/>
            </p:nvSpPr>
            <p:spPr>
              <a:xfrm>
                <a:off x="866113" y="3305001"/>
                <a:ext cx="4833485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=48×48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=2304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39F390-5DE4-443A-8430-14979FDF5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13" y="3305001"/>
                <a:ext cx="4833485" cy="1107996"/>
              </a:xfrm>
              <a:prstGeom prst="rect">
                <a:avLst/>
              </a:prstGeom>
              <a:blipFill>
                <a:blip r:embed="rId5"/>
                <a:stretch>
                  <a:fillRect b="-49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700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8533C2E-C1A0-4AB9-A448-92EC0ED5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666" y="1174567"/>
            <a:ext cx="5170691" cy="3738845"/>
          </a:xfrm>
        </p:spPr>
        <p:txBody>
          <a:bodyPr>
            <a:normAutofit/>
          </a:bodyPr>
          <a:lstStyle/>
          <a:p>
            <a:r>
              <a:rPr lang="en-AU" sz="3200" dirty="0"/>
              <a:t>Step 3: Add all of the surface areas together</a:t>
            </a:r>
          </a:p>
          <a:p>
            <a:endParaRPr lang="en-AU" dirty="0"/>
          </a:p>
        </p:txBody>
      </p:sp>
      <p:pic>
        <p:nvPicPr>
          <p:cNvPr id="14338" name="Picture 2" descr="Composite Solids ( Read ) | Geometry | CK-12 Foundation">
            <a:extLst>
              <a:ext uri="{FF2B5EF4-FFF2-40B4-BE49-F238E27FC236}">
                <a16:creationId xmlns:a16="http://schemas.microsoft.com/office/drawing/2014/main" id="{2CD56476-EA46-4428-B3F8-C6EBC8E2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638" y="1429361"/>
            <a:ext cx="6196744" cy="466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EED614-95CF-4FCA-99E3-2C0E8E6C7A26}"/>
              </a:ext>
            </a:extLst>
          </p:cNvPr>
          <p:cNvCxnSpPr/>
          <p:nvPr/>
        </p:nvCxnSpPr>
        <p:spPr>
          <a:xfrm>
            <a:off x="10761044" y="4668253"/>
            <a:ext cx="173255" cy="1732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865B10-007E-41B6-B96A-DAF9F1DD361C}"/>
              </a:ext>
            </a:extLst>
          </p:cNvPr>
          <p:cNvCxnSpPr>
            <a:cxnSpLocks/>
          </p:cNvCxnSpPr>
          <p:nvPr/>
        </p:nvCxnSpPr>
        <p:spPr>
          <a:xfrm>
            <a:off x="8895026" y="5370897"/>
            <a:ext cx="0" cy="3080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97E827F-826E-4104-A882-0ACDD5988AEE}"/>
              </a:ext>
            </a:extLst>
          </p:cNvPr>
          <p:cNvSpPr/>
          <p:nvPr/>
        </p:nvSpPr>
        <p:spPr>
          <a:xfrm>
            <a:off x="8414885" y="4578416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1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056984-50E9-4328-9EB5-46A2C0ADA40B}"/>
              </a:ext>
            </a:extLst>
          </p:cNvPr>
          <p:cNvSpPr/>
          <p:nvPr/>
        </p:nvSpPr>
        <p:spPr>
          <a:xfrm>
            <a:off x="10976329" y="5032398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2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7F70A9-11B4-4B63-BF10-07C19183C585}"/>
              </a:ext>
            </a:extLst>
          </p:cNvPr>
          <p:cNvSpPr/>
          <p:nvPr/>
        </p:nvSpPr>
        <p:spPr>
          <a:xfrm>
            <a:off x="8498785" y="2915261"/>
            <a:ext cx="792481" cy="7924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solidFill>
                  <a:schemeClr val="tx1"/>
                </a:solidFill>
              </a:rPr>
              <a:t>3</a:t>
            </a:r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6745D2-A53E-4DE1-8F86-3A3A197F8174}"/>
                  </a:ext>
                </a:extLst>
              </p:cNvPr>
              <p:cNvSpPr txBox="1"/>
              <p:nvPr/>
            </p:nvSpPr>
            <p:spPr>
              <a:xfrm>
                <a:off x="778843" y="2391894"/>
                <a:ext cx="4924926" cy="29546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 =4×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+4×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 =4×864+2304+4×600</m:t>
                      </m:r>
                    </m:oMath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 =3456+2304+2400</m:t>
                      </m:r>
                    </m:oMath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 =8160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6745D2-A53E-4DE1-8F86-3A3A197F8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43" y="2391894"/>
                <a:ext cx="4924926" cy="2954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34AC8F-DE2E-4E18-9671-1C6B3D5676D7}"/>
              </a:ext>
            </a:extLst>
          </p:cNvPr>
          <p:cNvCxnSpPr/>
          <p:nvPr/>
        </p:nvCxnSpPr>
        <p:spPr>
          <a:xfrm flipH="1" flipV="1">
            <a:off x="9856269" y="4841507"/>
            <a:ext cx="1236116" cy="3069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75437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47D7542-FA61-477F-9DB3-780558FE82E0}" vid="{06BC9E12-6029-4E00-88E2-4AEC887A1A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1763</TotalTime>
  <Words>1054</Words>
  <Application>Microsoft Office PowerPoint</Application>
  <PresentationFormat>Widescreen</PresentationFormat>
  <Paragraphs>173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Franklin Gothic Book</vt:lpstr>
      <vt:lpstr>Theme1</vt:lpstr>
      <vt:lpstr>Office Theme</vt:lpstr>
      <vt:lpstr>Surface Area</vt:lpstr>
      <vt:lpstr>Surface Area</vt:lpstr>
      <vt:lpstr>PowerPoint Presentation</vt:lpstr>
      <vt:lpstr>Prisms:</vt:lpstr>
      <vt:lpstr>PowerPoint Presentation</vt:lpstr>
      <vt:lpstr>Prisms:</vt:lpstr>
      <vt:lpstr>Pyramids:</vt:lpstr>
      <vt:lpstr>Pyramids:</vt:lpstr>
      <vt:lpstr>Pyramids:</vt:lpstr>
      <vt:lpstr>Regular Solids</vt:lpstr>
      <vt:lpstr>Regular Solids</vt:lpstr>
      <vt:lpstr>Irregular Solids</vt:lpstr>
      <vt:lpstr>Surface Area</vt:lpstr>
      <vt:lpstr>PowerPoint Presentation</vt:lpstr>
      <vt:lpstr>How to calculate surface area:</vt:lpstr>
      <vt:lpstr>How to calculate surface area:</vt:lpstr>
      <vt:lpstr>How to calculate surface area:</vt:lpstr>
      <vt:lpstr>How to calculate surface area:</vt:lpstr>
      <vt:lpstr>How to calculate surface area:</vt:lpstr>
      <vt:lpstr>How to calculate surface area:</vt:lpstr>
      <vt:lpstr>To calculate the surface area of a composite solid:</vt:lpstr>
      <vt:lpstr>To calculate the surface area of a composite solid: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</dc:title>
  <dc:creator>GLASS Samuel [Joseph Banks Secondary College]</dc:creator>
  <cp:lastModifiedBy>Tony Nguyen</cp:lastModifiedBy>
  <cp:revision>15</cp:revision>
  <dcterms:created xsi:type="dcterms:W3CDTF">2020-04-06T04:36:19Z</dcterms:created>
  <dcterms:modified xsi:type="dcterms:W3CDTF">2021-05-23T10:47:42Z</dcterms:modified>
</cp:coreProperties>
</file>
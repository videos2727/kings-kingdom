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  <p:sldMasterId id="2147483678" r:id="rId3"/>
  </p:sldMasterIdLst>
  <p:sldIdLst>
    <p:sldId id="256" r:id="rId4"/>
    <p:sldId id="275" r:id="rId5"/>
    <p:sldId id="265" r:id="rId6"/>
    <p:sldId id="271" r:id="rId7"/>
    <p:sldId id="258" r:id="rId8"/>
    <p:sldId id="331" r:id="rId9"/>
    <p:sldId id="278" r:id="rId10"/>
    <p:sldId id="330" r:id="rId11"/>
    <p:sldId id="266" r:id="rId12"/>
    <p:sldId id="267" r:id="rId13"/>
    <p:sldId id="268" r:id="rId14"/>
    <p:sldId id="269" r:id="rId15"/>
    <p:sldId id="26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48" y="2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6/1/2021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9084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6/1/2021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1380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6/1/2021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452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6/1/2021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037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6/1/2021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1953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6/1/2021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0347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6/1/2021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4013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6/1/2021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0223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6/1/2021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0191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6/1/2021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2231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6/1/2021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3555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6/1/2021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671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6/1/2021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4772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6/1/2021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872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6/1/2021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4022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6/1/2021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4302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6/1/2021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7774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C423B-ACC8-4517-82F6-CA0EEE8886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35364-0D3A-46B2-A371-106AA66D5E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8B084C-DF9D-49CC-9210-8D90F639E4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735D4E0-4BB6-4516-8A9F-D3A38B54A8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2F00AC4-AE49-4CE8-AFEF-0492609C83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7F5CF7-25FF-420F-BB98-A893A07EA8B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436738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44DE9-E39E-4EDE-A552-E55D7EA95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102B9-7CAD-4B85-811B-4827EDB3B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A801A4C-D76F-4113-B6D0-50CF93DF0F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DA5D8C1-41ED-4257-BD69-DE5618F0DC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DB1702C-8C25-4817-83D2-F2A2E7E5FD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361C4D-55FE-4C81-A515-36B782787F7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665617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2971B-AA54-42D6-BBF3-286191955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ED0A38-86CD-4C7C-A16C-AE9E3C4BB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875FFBC-0921-4F47-8B54-114138B483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B600738-D33D-4E62-B4AA-EF86442FF0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C4F4266-6A62-4D5B-828E-606B166741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16D960-7D22-4E16-A1D2-4F7352E047F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343179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0B4E4-94A1-4686-AE26-265032715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2C54E-6BB7-4ADC-87E6-E05FEB7FD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695C3B-764B-48E4-885B-24E4707D5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576262-6B32-4CC1-AD12-5E91D1C268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918935-39B9-4BCC-8EB4-A0560A6FE1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AE179E-A189-450C-B032-CD30E354B4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4ADF17-6E30-4000-B2C0-E833650D4F8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779845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6671C-8E35-4E64-9031-F122C1C52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6B4E7-45C7-4F97-AAFC-047B58A8C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71F82A-E2EB-47F5-B543-FDC57DE59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D5D080-5455-4DB7-A901-90BFA77C49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C3E632-3B69-4514-8455-CF8742F37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C0BC954-8287-4A98-AF4C-311C757260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066A7E9-46FE-475D-B4A9-3521F95601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0918490-C515-4078-8874-F91A761364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DAE8BD-2BD2-4173-9651-5F53C4DE90F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7353409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C4ECE-6FD7-4090-AAB8-909F614EF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B0CD5DC-735E-4416-BA41-7A500DE5A8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E3E16B1-FFFD-4E3C-A8BC-46FB8AF1FA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DC598FE-DBB4-4C7E-81AF-B99E2B3EAF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73CEBB-ABD3-456C-BD86-27C940C71CA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526320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D4A19AF-D570-4A38-8474-171A2F16F6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5D96B65-D222-4CD1-8A1B-8DD01BA014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6EB5E8A-76EC-4945-AA06-8A55B088D0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8F8BFC-3283-4B47-826A-277296A01AB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5228463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19449-BD5E-4E28-885D-B9AA76A85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C1807-2379-4EDC-8597-FC85D17F8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DD9EE-9A37-4237-B48A-A9F60DE04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61412D-EFE3-483D-BDC0-676ED757CA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DDC09D-2BCD-470B-A63C-65AFBB2CDF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179BDD-4E30-499E-AB27-D7261C280B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CB287F-816D-40EA-8BCA-B67FF33EB76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6187883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B0402-8C71-4903-BD9A-98235377F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9AE466-3296-4361-8966-58700538D8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F1FFC6-6877-4A50-A764-05C35A835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69EAA1-79BF-4185-9555-F51D9935E7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4462C8-95E7-41F7-BCD0-589FBFEE55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531861-C241-4EC6-8966-24D025518E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7AB893-413A-465B-BE68-34CF8BD1C57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141419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5FFEC-BC72-4837-B4AE-E2DE3DA1B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57A24A-BBC6-419F-A5F8-FC5E712D1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C0CFB2E-F8D7-4E49-9F29-2CC4B1EB53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8502A2-6184-4D34-BE37-A6FB06FE99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FC3A899-AD86-4E7C-B82D-EDBF19805D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A30DFE-223D-4079-BBD9-04B03D346DF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578711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778016-0E7F-4474-9062-90D7A4EF0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8E8FD9-9D97-4EF7-B936-CFA61A6F7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F26D9D4-E1EA-48F8-81EA-B5FA9154F0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C27100-49E5-470D-960A-72F51DDFD9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588788E-B721-4AC8-AD36-DECBF6154A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993D6F-9507-41D1-A172-BB36AD9CE28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26446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6/1/2021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905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022E468-EF52-450B-81BC-56B6C90EBE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44C86F6-7C5B-4AEF-A874-FED5028E8F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id="{A453FAAA-D4BE-4DBA-A1E7-6FD9C1D3D90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5282DFB8-A4AB-45F5-BA58-EFCE7C66220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3218B471-41A8-4010-96C9-4A43F698D0E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99A02F18-378F-4F23-B8F3-25A48A5A2B4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84873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E103C-8084-48CF-AB2A-9C343C5A31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Volume of composite Prisms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1811A7-5C9C-4EA5-8701-08ECA585D4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29241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76BB0-4FCA-4C54-AF33-721EC9ABA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299" y="286919"/>
            <a:ext cx="9601200" cy="1485900"/>
          </a:xfrm>
        </p:spPr>
        <p:txBody>
          <a:bodyPr>
            <a:normAutofit/>
          </a:bodyPr>
          <a:lstStyle/>
          <a:p>
            <a:r>
              <a:rPr lang="en-AU" sz="3200" dirty="0"/>
              <a:t>Topic: Volume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60CCBDB-EBF1-4C99-810C-D1C8BE774F04}"/>
              </a:ext>
            </a:extLst>
          </p:cNvPr>
          <p:cNvCxnSpPr/>
          <p:nvPr/>
        </p:nvCxnSpPr>
        <p:spPr>
          <a:xfrm>
            <a:off x="478705" y="839719"/>
            <a:ext cx="117132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2420CA-6A92-4D8F-A654-9A8463B53F8B}"/>
              </a:ext>
            </a:extLst>
          </p:cNvPr>
          <p:cNvCxnSpPr/>
          <p:nvPr/>
        </p:nvCxnSpPr>
        <p:spPr>
          <a:xfrm>
            <a:off x="478705" y="1514650"/>
            <a:ext cx="116328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A4B806AB-A97A-4899-96FD-00DB8C467199}"/>
              </a:ext>
            </a:extLst>
          </p:cNvPr>
          <p:cNvSpPr txBox="1">
            <a:spLocks/>
          </p:cNvSpPr>
          <p:nvPr/>
        </p:nvSpPr>
        <p:spPr>
          <a:xfrm>
            <a:off x="1548308" y="951032"/>
            <a:ext cx="11157924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rgbClr val="4A2318"/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EQ: How do I apply the formula to find the volume of a prism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AFE1D0F-5562-43CE-AC46-E2C99503DB4E}"/>
              </a:ext>
            </a:extLst>
          </p:cNvPr>
          <p:cNvCxnSpPr/>
          <p:nvPr/>
        </p:nvCxnSpPr>
        <p:spPr>
          <a:xfrm>
            <a:off x="2917105" y="1570748"/>
            <a:ext cx="0" cy="53854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76BBB0F-4E76-415B-A672-7AD66220D78D}"/>
              </a:ext>
            </a:extLst>
          </p:cNvPr>
          <p:cNvSpPr txBox="1"/>
          <p:nvPr/>
        </p:nvSpPr>
        <p:spPr>
          <a:xfrm>
            <a:off x="773367" y="50354"/>
            <a:ext cx="4251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24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7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30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1723AE-71F5-47ED-A16A-F9744C8D7E38}"/>
                  </a:ext>
                </a:extLst>
              </p:cNvPr>
              <p:cNvSpPr txBox="1"/>
              <p:nvPr/>
            </p:nvSpPr>
            <p:spPr>
              <a:xfrm>
                <a:off x="3158794" y="1846003"/>
                <a:ext cx="6353116" cy="1582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84048" marR="0" lvl="0" indent="-384048" algn="l" defTabSz="914400" rtl="0" eaLnBrk="1" fontAlgn="auto" latinLnBrk="0" hangingPunct="1">
                  <a:lnSpc>
                    <a:spcPct val="94000"/>
                  </a:lnSpc>
                  <a:spcBef>
                    <a:spcPts val="1000"/>
                  </a:spcBef>
                  <a:spcAft>
                    <a:spcPts val="200"/>
                  </a:spcAft>
                  <a:buClrTx/>
                  <a:buSzTx/>
                  <a:buFont typeface="Franklin Gothic Book" panose="020B0503020102020204" pitchFamily="34" charset="0"/>
                  <a:buChar char="■"/>
                  <a:tabLst/>
                  <a:defRPr/>
                </a:pPr>
                <a:r>
                  <a:rPr kumimoji="0" lang="en-AU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A2318"/>
                    </a:solidFill>
                    <a:effectLst/>
                    <a:uLnTx/>
                    <a:uFillTx/>
                    <a:latin typeface="Franklin Gothic Book" panose="020B0503020102020204"/>
                    <a:ea typeface="+mn-ea"/>
                    <a:cs typeface="+mn-cs"/>
                  </a:rPr>
                  <a:t>The general formula for ALL prisms is</a:t>
                </a:r>
              </a:p>
              <a:p>
                <a:pPr marL="384048" marR="0" lvl="0" indent="-384048" algn="l" defTabSz="914400" rtl="0" eaLnBrk="1" fontAlgn="auto" latinLnBrk="0" hangingPunct="1">
                  <a:lnSpc>
                    <a:spcPct val="94000"/>
                  </a:lnSpc>
                  <a:spcBef>
                    <a:spcPts val="1000"/>
                  </a:spcBef>
                  <a:spcAft>
                    <a:spcPts val="200"/>
                  </a:spcAft>
                  <a:buClrTx/>
                  <a:buSzTx/>
                  <a:buFont typeface="Franklin Gothic Book" panose="020B0503020102020204" pitchFamily="34" charset="0"/>
                  <a:buChar char="■"/>
                  <a:tabLst/>
                  <a:defRPr/>
                </a:pPr>
                <a:endParaRPr kumimoji="0" lang="en-A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A2318"/>
                  </a:solidFill>
                  <a:effectLst/>
                  <a:uLnTx/>
                  <a:uFillTx/>
                  <a:latin typeface="Franklin Gothic Book" panose="020B05030201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4000"/>
                  </a:lnSpc>
                  <a:spcBef>
                    <a:spcPts val="1000"/>
                  </a:spcBef>
                  <a:spcAft>
                    <a:spcPts val="200"/>
                  </a:spcAft>
                  <a:buClrTx/>
                  <a:buSzTx/>
                  <a:buFont typeface="Franklin Gothic Book" panose="020B05030201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A231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𝑉𝑜𝑙𝑢𝑚𝑒</m:t>
                      </m:r>
                      <m:r>
                        <a:rPr kumimoji="0" lang="en-AU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A231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A231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𝐹𝑎𝑐𝑒</m:t>
                      </m:r>
                      <m:r>
                        <a:rPr kumimoji="0" lang="en-AU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A231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AU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A231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𝐴𝑟𝑒𝑎</m:t>
                      </m:r>
                      <m:r>
                        <a:rPr kumimoji="0" lang="en-AU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A231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kumimoji="0" lang="en-AU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A231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𝐷𝑒𝑝𝑡h</m:t>
                      </m:r>
                    </m:oMath>
                  </m:oMathPara>
                </a14:m>
                <a:endParaRPr kumimoji="0" lang="en-A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A2318"/>
                  </a:solidFill>
                  <a:effectLst/>
                  <a:uLnTx/>
                  <a:uFillTx/>
                  <a:latin typeface="Franklin Gothic Book" panose="020B05030201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4000"/>
                  </a:lnSpc>
                  <a:spcBef>
                    <a:spcPts val="1000"/>
                  </a:spcBef>
                  <a:spcAft>
                    <a:spcPts val="200"/>
                  </a:spcAft>
                  <a:buClrTx/>
                  <a:buSzTx/>
                  <a:buFont typeface="Franklin Gothic Book" panose="020B0503020102020204" pitchFamily="34" charset="0"/>
                  <a:buNone/>
                  <a:tabLst/>
                  <a:defRPr/>
                </a:pPr>
                <a:endParaRPr kumimoji="0" lang="en-A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A2318"/>
                  </a:solidFill>
                  <a:effectLst/>
                  <a:uLnTx/>
                  <a:uFillTx/>
                  <a:latin typeface="Franklin Gothic Book" panose="020B05030201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1723AE-71F5-47ED-A16A-F9744C8D7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8794" y="1846003"/>
                <a:ext cx="6353116" cy="1582997"/>
              </a:xfrm>
              <a:prstGeom prst="rect">
                <a:avLst/>
              </a:prstGeom>
              <a:blipFill>
                <a:blip r:embed="rId2"/>
                <a:stretch>
                  <a:fillRect l="-864" t="-34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A904EDE0-B6E9-4888-97EC-2D38DB5FA4E6}"/>
              </a:ext>
            </a:extLst>
          </p:cNvPr>
          <p:cNvSpPr txBox="1"/>
          <p:nvPr/>
        </p:nvSpPr>
        <p:spPr>
          <a:xfrm>
            <a:off x="776494" y="1727916"/>
            <a:ext cx="19452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What is the general formula to find volume?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36B519-CD2D-4AF4-A134-0FE7F71F8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868" y="3429000"/>
            <a:ext cx="7491868" cy="236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81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ECDF86-65EA-4D68-98DA-861FA9E20C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568" t="43333" r="28107" b="34321"/>
          <a:stretch/>
        </p:blipFill>
        <p:spPr>
          <a:xfrm>
            <a:off x="1666976" y="118533"/>
            <a:ext cx="9010448" cy="2836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92CD31-644E-40B8-901A-5D79E0A584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646" t="18765" r="26955" b="54568"/>
          <a:stretch/>
        </p:blipFill>
        <p:spPr>
          <a:xfrm>
            <a:off x="3920067" y="3069166"/>
            <a:ext cx="4351866" cy="361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353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5762869-E5F8-FF40-9767-3A72803A2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41548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028B7DE-8BE9-D943-BA0B-848EAB3CB203}"/>
              </a:ext>
            </a:extLst>
          </p:cNvPr>
          <p:cNvSpPr txBox="1"/>
          <p:nvPr/>
        </p:nvSpPr>
        <p:spPr>
          <a:xfrm>
            <a:off x="6341548" y="6488668"/>
            <a:ext cx="5232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Work question on board and in books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5028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76BB0-4FCA-4C54-AF33-721EC9ABA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299" y="286919"/>
            <a:ext cx="9601200" cy="1485900"/>
          </a:xfrm>
        </p:spPr>
        <p:txBody>
          <a:bodyPr>
            <a:normAutofit/>
          </a:bodyPr>
          <a:lstStyle/>
          <a:p>
            <a:r>
              <a:rPr lang="en-AU" sz="3200" dirty="0"/>
              <a:t>Topic: Volume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60CCBDB-EBF1-4C99-810C-D1C8BE774F04}"/>
              </a:ext>
            </a:extLst>
          </p:cNvPr>
          <p:cNvCxnSpPr/>
          <p:nvPr/>
        </p:nvCxnSpPr>
        <p:spPr>
          <a:xfrm>
            <a:off x="478705" y="839719"/>
            <a:ext cx="117132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2420CA-6A92-4D8F-A654-9A8463B53F8B}"/>
              </a:ext>
            </a:extLst>
          </p:cNvPr>
          <p:cNvCxnSpPr/>
          <p:nvPr/>
        </p:nvCxnSpPr>
        <p:spPr>
          <a:xfrm>
            <a:off x="478705" y="1514650"/>
            <a:ext cx="116328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A4B806AB-A97A-4899-96FD-00DB8C467199}"/>
              </a:ext>
            </a:extLst>
          </p:cNvPr>
          <p:cNvSpPr txBox="1">
            <a:spLocks/>
          </p:cNvSpPr>
          <p:nvPr/>
        </p:nvSpPr>
        <p:spPr>
          <a:xfrm>
            <a:off x="1548308" y="951032"/>
            <a:ext cx="11157924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/>
              <a:t>EQ: How do I apply the formula to find the volume of a composite prism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AFE1D0F-5562-43CE-AC46-E2C99503DB4E}"/>
              </a:ext>
            </a:extLst>
          </p:cNvPr>
          <p:cNvCxnSpPr/>
          <p:nvPr/>
        </p:nvCxnSpPr>
        <p:spPr>
          <a:xfrm>
            <a:off x="2917105" y="1570748"/>
            <a:ext cx="0" cy="53854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76BBB0F-4E76-415B-A672-7AD66220D78D}"/>
              </a:ext>
            </a:extLst>
          </p:cNvPr>
          <p:cNvSpPr txBox="1"/>
          <p:nvPr/>
        </p:nvSpPr>
        <p:spPr>
          <a:xfrm>
            <a:off x="773367" y="50354"/>
            <a:ext cx="4251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24</a:t>
            </a:r>
          </a:p>
          <a:p>
            <a:r>
              <a:rPr lang="en-GB" sz="1600" dirty="0"/>
              <a:t>7</a:t>
            </a:r>
          </a:p>
          <a:p>
            <a:r>
              <a:rPr lang="en-GB" sz="1600" dirty="0"/>
              <a:t>30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65ADA6-E0CF-4C9E-8352-62A5F3A0D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425" y="1946509"/>
            <a:ext cx="8584887" cy="462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43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Oval 2">
            <a:extLst>
              <a:ext uri="{FF2B5EF4-FFF2-40B4-BE49-F238E27FC236}">
                <a16:creationId xmlns:a16="http://schemas.microsoft.com/office/drawing/2014/main" id="{3AE149BD-4C95-47A5-B479-7E0C632CE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1" y="2519363"/>
            <a:ext cx="900113" cy="900112"/>
          </a:xfrm>
          <a:prstGeom prst="ellipse">
            <a:avLst/>
          </a:prstGeom>
          <a:solidFill>
            <a:srgbClr val="00FF00">
              <a:alpha val="39999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None/>
            </a:pPr>
            <a:endParaRPr lang="en-AU" altLang="en-US" sz="1800">
              <a:solidFill>
                <a:srgbClr val="000000"/>
              </a:solidFill>
            </a:endParaRP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FB78F5C4-ECFC-404D-A142-E93396144D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4000"/>
              <a:t>Formulae for Spheres and Cylinders</a:t>
            </a:r>
            <a:endParaRPr lang="en-US" altLang="en-US" sz="4000"/>
          </a:p>
        </p:txBody>
      </p:sp>
      <p:sp>
        <p:nvSpPr>
          <p:cNvPr id="32772" name="Oval 4">
            <a:extLst>
              <a:ext uri="{FF2B5EF4-FFF2-40B4-BE49-F238E27FC236}">
                <a16:creationId xmlns:a16="http://schemas.microsoft.com/office/drawing/2014/main" id="{C64A9C3A-3D04-4C95-A118-DBBE0FD11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4501" y="3925888"/>
            <a:ext cx="2087563" cy="2087562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AU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32773" name="Group 5">
            <a:extLst>
              <a:ext uri="{FF2B5EF4-FFF2-40B4-BE49-F238E27FC236}">
                <a16:creationId xmlns:a16="http://schemas.microsoft.com/office/drawing/2014/main" id="{C26F5C3F-DC77-40A7-80B6-8A6ED3C712CC}"/>
              </a:ext>
            </a:extLst>
          </p:cNvPr>
          <p:cNvGrpSpPr>
            <a:grpSpLocks/>
          </p:cNvGrpSpPr>
          <p:nvPr/>
        </p:nvGrpSpPr>
        <p:grpSpPr bwMode="auto">
          <a:xfrm>
            <a:off x="4046539" y="4567239"/>
            <a:ext cx="1074737" cy="401637"/>
            <a:chOff x="1589" y="2184"/>
            <a:chExt cx="677" cy="253"/>
          </a:xfrm>
        </p:grpSpPr>
        <p:sp>
          <p:nvSpPr>
            <p:cNvPr id="16407" name="Line 6">
              <a:extLst>
                <a:ext uri="{FF2B5EF4-FFF2-40B4-BE49-F238E27FC236}">
                  <a16:creationId xmlns:a16="http://schemas.microsoft.com/office/drawing/2014/main" id="{9824280B-8756-40E1-9E51-42E0489325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2437"/>
              <a:ext cx="63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6408" name="Text Box 7">
              <a:extLst>
                <a:ext uri="{FF2B5EF4-FFF2-40B4-BE49-F238E27FC236}">
                  <a16:creationId xmlns:a16="http://schemas.microsoft.com/office/drawing/2014/main" id="{03EBC4BC-63B8-4752-A148-4376DF4CE2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6" y="2184"/>
              <a:ext cx="43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defTabSz="914400" eaLnBrk="0" fontAlgn="base" hangingPunct="0">
                <a:spcBef>
                  <a:spcPct val="50000"/>
                </a:spcBef>
                <a:spcAft>
                  <a:spcPct val="0"/>
                </a:spcAft>
                <a:buNone/>
              </a:pPr>
              <a:r>
                <a:rPr lang="en-GB" altLang="en-US" sz="2000">
                  <a:solidFill>
                    <a:srgbClr val="000000"/>
                  </a:solidFill>
                  <a:latin typeface="Verdana" panose="020B0604030504040204" pitchFamily="34" charset="0"/>
                </a:rPr>
                <a:t>r</a:t>
              </a:r>
              <a:endParaRPr lang="en-US" altLang="en-US" sz="2000">
                <a:solidFill>
                  <a:srgbClr val="000000"/>
                </a:solidFill>
                <a:latin typeface="Verdana" panose="020B0604030504040204" pitchFamily="34" charset="0"/>
              </a:endParaRPr>
            </a:p>
          </p:txBody>
        </p:sp>
      </p:grpSp>
      <p:grpSp>
        <p:nvGrpSpPr>
          <p:cNvPr id="32776" name="Group 8">
            <a:extLst>
              <a:ext uri="{FF2B5EF4-FFF2-40B4-BE49-F238E27FC236}">
                <a16:creationId xmlns:a16="http://schemas.microsoft.com/office/drawing/2014/main" id="{8C506B84-753E-4C95-B596-BF08924498A8}"/>
              </a:ext>
            </a:extLst>
          </p:cNvPr>
          <p:cNvGrpSpPr>
            <a:grpSpLocks/>
          </p:cNvGrpSpPr>
          <p:nvPr/>
        </p:nvGrpSpPr>
        <p:grpSpPr bwMode="auto">
          <a:xfrm>
            <a:off x="5886451" y="5503863"/>
            <a:ext cx="3160713" cy="584200"/>
            <a:chOff x="2748" y="2774"/>
            <a:chExt cx="1991" cy="368"/>
          </a:xfrm>
        </p:grpSpPr>
        <p:grpSp>
          <p:nvGrpSpPr>
            <p:cNvPr id="16403" name="Group 9">
              <a:extLst>
                <a:ext uri="{FF2B5EF4-FFF2-40B4-BE49-F238E27FC236}">
                  <a16:creationId xmlns:a16="http://schemas.microsoft.com/office/drawing/2014/main" id="{552D6F1E-0323-4706-83D5-07820CC10A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8" y="2788"/>
              <a:ext cx="1991" cy="354"/>
              <a:chOff x="2724" y="3028"/>
              <a:chExt cx="1991" cy="354"/>
            </a:xfrm>
          </p:grpSpPr>
          <p:sp>
            <p:nvSpPr>
              <p:cNvPr id="16405" name="Rectangle 10">
                <a:extLst>
                  <a:ext uri="{FF2B5EF4-FFF2-40B4-BE49-F238E27FC236}">
                    <a16:creationId xmlns:a16="http://schemas.microsoft.com/office/drawing/2014/main" id="{43F6B90F-315B-4842-8CB7-0083D07D82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4" y="3028"/>
                <a:ext cx="1991" cy="354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AU" alt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16406" name="Text Box 11">
                <a:extLst>
                  <a:ext uri="{FF2B5EF4-FFF2-40B4-BE49-F238E27FC236}">
                    <a16:creationId xmlns:a16="http://schemas.microsoft.com/office/drawing/2014/main" id="{A1E69CE4-8D41-4F5C-91E4-3E05C335B7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1" y="3053"/>
                <a:ext cx="125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defTabSz="914400" eaLnBrk="0" fontAlgn="base" hangingPunct="0">
                  <a:spcBef>
                    <a:spcPct val="50000"/>
                  </a:spcBef>
                  <a:spcAft>
                    <a:spcPct val="0"/>
                  </a:spcAft>
                  <a:buNone/>
                </a:pPr>
                <a:r>
                  <a:rPr lang="en-GB" altLang="en-US" sz="1800">
                    <a:solidFill>
                      <a:srgbClr val="000000"/>
                    </a:solidFill>
                    <a:latin typeface="Verdana" panose="020B0604030504040204" pitchFamily="34" charset="0"/>
                  </a:rPr>
                  <a:t>Surface Area</a:t>
                </a:r>
                <a:endParaRPr lang="en-US" altLang="en-US" sz="1800">
                  <a:solidFill>
                    <a:srgbClr val="000000"/>
                  </a:solidFill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16404" name="Text Box 12">
              <a:extLst>
                <a:ext uri="{FF2B5EF4-FFF2-40B4-BE49-F238E27FC236}">
                  <a16:creationId xmlns:a16="http://schemas.microsoft.com/office/drawing/2014/main" id="{CD85E46F-352C-4DF7-8E0F-9A2B490FC7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3" y="2774"/>
              <a:ext cx="6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defTabSz="914400" eaLnBrk="0" fontAlgn="base" hangingPunct="0">
                <a:spcBef>
                  <a:spcPct val="50000"/>
                </a:spcBef>
                <a:spcAft>
                  <a:spcPct val="0"/>
                </a:spcAft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= 4πr</a:t>
              </a:r>
              <a:r>
                <a:rPr lang="en-US" altLang="en-US" sz="2400" baseline="30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GB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781" name="Group 13">
            <a:extLst>
              <a:ext uri="{FF2B5EF4-FFF2-40B4-BE49-F238E27FC236}">
                <a16:creationId xmlns:a16="http://schemas.microsoft.com/office/drawing/2014/main" id="{72781AA4-AA88-469F-BF39-09783AC93E83}"/>
              </a:ext>
            </a:extLst>
          </p:cNvPr>
          <p:cNvGrpSpPr>
            <a:grpSpLocks/>
          </p:cNvGrpSpPr>
          <p:nvPr/>
        </p:nvGrpSpPr>
        <p:grpSpPr bwMode="auto">
          <a:xfrm>
            <a:off x="5886450" y="3857625"/>
            <a:ext cx="3608388" cy="1797050"/>
            <a:chOff x="2748" y="1737"/>
            <a:chExt cx="2273" cy="1132"/>
          </a:xfrm>
        </p:grpSpPr>
        <p:sp>
          <p:nvSpPr>
            <p:cNvPr id="16397" name="Text Box 14">
              <a:extLst>
                <a:ext uri="{FF2B5EF4-FFF2-40B4-BE49-F238E27FC236}">
                  <a16:creationId xmlns:a16="http://schemas.microsoft.com/office/drawing/2014/main" id="{CEC0A66D-C629-4B83-BE14-FE8D1F89AB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8" y="1737"/>
              <a:ext cx="99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defTabSz="914400" eaLnBrk="0" fontAlgn="base" hangingPunct="0">
                <a:spcBef>
                  <a:spcPct val="50000"/>
                </a:spcBef>
                <a:spcAft>
                  <a:spcPct val="0"/>
                </a:spcAft>
                <a:buNone/>
              </a:pPr>
              <a:endParaRPr lang="en-US" altLang="en-US" sz="1800">
                <a:solidFill>
                  <a:srgbClr val="000000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16398" name="Text Box 15">
              <a:extLst>
                <a:ext uri="{FF2B5EF4-FFF2-40B4-BE49-F238E27FC236}">
                  <a16:creationId xmlns:a16="http://schemas.microsoft.com/office/drawing/2014/main" id="{AF0E4888-68E3-42F8-B096-EA9973F48A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" y="2055"/>
              <a:ext cx="1041" cy="8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defTabSz="914400" eaLnBrk="0" fontAlgn="base" hangingPunct="0">
                <a:spcBef>
                  <a:spcPct val="50000"/>
                </a:spcBef>
                <a:spcAft>
                  <a:spcPct val="0"/>
                </a:spcAft>
                <a:buNone/>
              </a:pPr>
              <a:r>
                <a:rPr lang="en-GB" altLang="en-US" sz="2400" u="sng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r>
                <a:rPr lang="en-US" altLang="en-US" sz="2400" u="sng">
                  <a:solidFill>
                    <a:srgbClr val="000000"/>
                  </a:solidFill>
                  <a:latin typeface="Times New Roman" panose="02020603050405020304" pitchFamily="18" charset="0"/>
                </a:rPr>
                <a:t>πr</a:t>
              </a:r>
              <a:r>
                <a:rPr lang="en-US" altLang="en-US" sz="2400" u="sng" baseline="30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</a:p>
            <a:p>
              <a:pPr defTabSz="914400" eaLnBrk="0" fontAlgn="base" hangingPunct="0">
                <a:lnSpc>
                  <a:spcPct val="25000"/>
                </a:lnSpc>
                <a:spcBef>
                  <a:spcPct val="50000"/>
                </a:spcBef>
                <a:spcAft>
                  <a:spcPct val="0"/>
                </a:spcAft>
                <a:buNone/>
              </a:pPr>
              <a:r>
                <a:rPr lang="en-GB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  3</a:t>
              </a: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defTabSz="914400" eaLnBrk="0" fontAlgn="base" hangingPunct="0">
                <a:spcBef>
                  <a:spcPct val="50000"/>
                </a:spcBef>
                <a:spcAft>
                  <a:spcPct val="0"/>
                </a:spcAft>
                <a:buNone/>
              </a:pPr>
              <a:endParaRPr lang="en-GB" altLang="en-US" sz="2400" u="sng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6399" name="Group 16">
              <a:extLst>
                <a:ext uri="{FF2B5EF4-FFF2-40B4-BE49-F238E27FC236}">
                  <a16:creationId xmlns:a16="http://schemas.microsoft.com/office/drawing/2014/main" id="{95E59D8B-154A-42BD-9DF2-12E786F9D7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8" y="1891"/>
              <a:ext cx="1983" cy="823"/>
              <a:chOff x="2748" y="2131"/>
              <a:chExt cx="1983" cy="823"/>
            </a:xfrm>
          </p:grpSpPr>
          <p:sp>
            <p:nvSpPr>
              <p:cNvPr id="16400" name="Text Box 17">
                <a:extLst>
                  <a:ext uri="{FF2B5EF4-FFF2-40B4-BE49-F238E27FC236}">
                    <a16:creationId xmlns:a16="http://schemas.microsoft.com/office/drawing/2014/main" id="{9C7A9B66-A7C9-4C4B-AF6F-9CD89EC505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83" y="2305"/>
                <a:ext cx="1677" cy="4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defTabSz="914400" eaLnBrk="0" fontAlgn="base" hangingPunct="0">
                  <a:spcBef>
                    <a:spcPct val="50000"/>
                  </a:spcBef>
                  <a:spcAft>
                    <a:spcPct val="0"/>
                  </a:spcAft>
                  <a:buNone/>
                </a:pPr>
                <a:r>
                  <a:rPr lang="en-GB" altLang="en-US" sz="1800">
                    <a:solidFill>
                      <a:srgbClr val="000000"/>
                    </a:solidFill>
                    <a:latin typeface="Verdana" panose="020B0604030504040204" pitchFamily="34" charset="0"/>
                  </a:rPr>
                  <a:t>Volume of</a:t>
                </a:r>
              </a:p>
              <a:p>
                <a:pPr defTabSz="914400" eaLnBrk="0" fontAlgn="base" hangingPunct="0">
                  <a:spcBef>
                    <a:spcPct val="50000"/>
                  </a:spcBef>
                  <a:spcAft>
                    <a:spcPct val="0"/>
                  </a:spcAft>
                  <a:buNone/>
                </a:pPr>
                <a:r>
                  <a:rPr lang="en-GB" altLang="en-US" sz="1800">
                    <a:solidFill>
                      <a:srgbClr val="000000"/>
                    </a:solidFill>
                    <a:latin typeface="Verdana" panose="020B0604030504040204" pitchFamily="34" charset="0"/>
                  </a:rPr>
                  <a:t>A sphere</a:t>
                </a:r>
                <a:endParaRPr lang="en-US" altLang="en-US" sz="1800">
                  <a:solidFill>
                    <a:srgbClr val="000000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6401" name="Text Box 18">
                <a:extLst>
                  <a:ext uri="{FF2B5EF4-FFF2-40B4-BE49-F238E27FC236}">
                    <a16:creationId xmlns:a16="http://schemas.microsoft.com/office/drawing/2014/main" id="{F5E35701-F921-4795-AAB3-AFEE3463C2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18" y="2419"/>
                <a:ext cx="3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defTabSz="914400" eaLnBrk="0" fontAlgn="base" hangingPunct="0">
                  <a:spcBef>
                    <a:spcPct val="50000"/>
                  </a:spcBef>
                  <a:spcAft>
                    <a:spcPct val="0"/>
                  </a:spcAft>
                  <a:buNone/>
                </a:pPr>
                <a:r>
                  <a:rPr lang="en-GB" altLang="en-US" sz="1800">
                    <a:solidFill>
                      <a:srgbClr val="000000"/>
                    </a:solidFill>
                    <a:latin typeface="Verdana" panose="020B0604030504040204" pitchFamily="34" charset="0"/>
                  </a:rPr>
                  <a:t>=</a:t>
                </a:r>
                <a:endParaRPr lang="en-US" altLang="en-US" sz="1800">
                  <a:solidFill>
                    <a:srgbClr val="000000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6402" name="Rectangle 19">
                <a:extLst>
                  <a:ext uri="{FF2B5EF4-FFF2-40B4-BE49-F238E27FC236}">
                    <a16:creationId xmlns:a16="http://schemas.microsoft.com/office/drawing/2014/main" id="{97128933-8904-4E59-ABB5-9A4C1183CF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8" y="2131"/>
                <a:ext cx="1983" cy="823"/>
              </a:xfrm>
              <a:prstGeom prst="rect">
                <a:avLst/>
              </a:prstGeom>
              <a:solidFill>
                <a:schemeClr val="accent1">
                  <a:alpha val="25882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AU" altLang="en-US" sz="180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6391" name="Oval 20">
            <a:extLst>
              <a:ext uri="{FF2B5EF4-FFF2-40B4-BE49-F238E27FC236}">
                <a16:creationId xmlns:a16="http://schemas.microsoft.com/office/drawing/2014/main" id="{73C6B9B4-7D14-4979-A06E-31DE4C78D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5426" y="2522538"/>
            <a:ext cx="900113" cy="90011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None/>
            </a:pPr>
            <a:endParaRPr lang="en-AU" altLang="en-US" sz="1800">
              <a:solidFill>
                <a:srgbClr val="000000"/>
              </a:solidFill>
            </a:endParaRPr>
          </a:p>
        </p:txBody>
      </p:sp>
      <p:sp>
        <p:nvSpPr>
          <p:cNvPr id="16392" name="Oval 21">
            <a:extLst>
              <a:ext uri="{FF2B5EF4-FFF2-40B4-BE49-F238E27FC236}">
                <a16:creationId xmlns:a16="http://schemas.microsoft.com/office/drawing/2014/main" id="{79BDF3A0-D9EE-4FA2-B4C3-46A9AD475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0938" y="2357438"/>
            <a:ext cx="900112" cy="900112"/>
          </a:xfrm>
          <a:prstGeom prst="ellipse">
            <a:avLst/>
          </a:prstGeom>
          <a:solidFill>
            <a:schemeClr val="accent1">
              <a:alpha val="70195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None/>
            </a:pPr>
            <a:endParaRPr lang="en-AU" altLang="en-US" sz="1800">
              <a:solidFill>
                <a:srgbClr val="000000"/>
              </a:solidFill>
            </a:endParaRPr>
          </a:p>
        </p:txBody>
      </p:sp>
      <p:cxnSp>
        <p:nvCxnSpPr>
          <p:cNvPr id="16393" name="AutoShape 22">
            <a:extLst>
              <a:ext uri="{FF2B5EF4-FFF2-40B4-BE49-F238E27FC236}">
                <a16:creationId xmlns:a16="http://schemas.microsoft.com/office/drawing/2014/main" id="{43B2AD78-54B6-41AC-8F7D-ABE9308F85B3}"/>
              </a:ext>
            </a:extLst>
          </p:cNvPr>
          <p:cNvCxnSpPr>
            <a:cxnSpLocks noChangeShapeType="1"/>
            <a:stCxn id="16391" idx="0"/>
            <a:endCxn id="16392" idx="0"/>
          </p:cNvCxnSpPr>
          <p:nvPr/>
        </p:nvCxnSpPr>
        <p:spPr bwMode="auto">
          <a:xfrm flipV="1">
            <a:off x="3216276" y="2357438"/>
            <a:ext cx="2195513" cy="165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394" name="AutoShape 23">
            <a:extLst>
              <a:ext uri="{FF2B5EF4-FFF2-40B4-BE49-F238E27FC236}">
                <a16:creationId xmlns:a16="http://schemas.microsoft.com/office/drawing/2014/main" id="{B92D682F-ABD2-4E4B-98F7-6488505D3B7D}"/>
              </a:ext>
            </a:extLst>
          </p:cNvPr>
          <p:cNvCxnSpPr>
            <a:cxnSpLocks noChangeShapeType="1"/>
            <a:stCxn id="16391" idx="4"/>
            <a:endCxn id="16392" idx="4"/>
          </p:cNvCxnSpPr>
          <p:nvPr/>
        </p:nvCxnSpPr>
        <p:spPr bwMode="auto">
          <a:xfrm flipV="1">
            <a:off x="3216276" y="3257550"/>
            <a:ext cx="2195513" cy="165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792" name="Rectangle 24">
            <a:extLst>
              <a:ext uri="{FF2B5EF4-FFF2-40B4-BE49-F238E27FC236}">
                <a16:creationId xmlns:a16="http://schemas.microsoft.com/office/drawing/2014/main" id="{84DD7F83-8617-46EB-9145-365409533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7276" y="2128838"/>
            <a:ext cx="4232275" cy="1282700"/>
          </a:xfrm>
          <a:prstGeom prst="rect">
            <a:avLst/>
          </a:prstGeom>
          <a:solidFill>
            <a:srgbClr val="FFCC99">
              <a:alpha val="7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A cylinder is also a prism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b="1">
                <a:solidFill>
                  <a:srgbClr val="000000"/>
                </a:solidFill>
                <a:latin typeface="Verdana" panose="020B0604030504040204" pitchFamily="34" charset="0"/>
              </a:rPr>
              <a:t>Therefore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b="1">
                <a:solidFill>
                  <a:srgbClr val="000000"/>
                </a:solidFill>
                <a:latin typeface="Verdana" panose="020B0604030504040204" pitchFamily="34" charset="0"/>
              </a:rPr>
              <a:t>   = area of cross-section x vertical height</a:t>
            </a:r>
            <a:endParaRPr lang="en-US" altLang="en-US" sz="1400" b="1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6396" name="AutoShape 25">
            <a:extLst>
              <a:ext uri="{FF2B5EF4-FFF2-40B4-BE49-F238E27FC236}">
                <a16:creationId xmlns:a16="http://schemas.microsoft.com/office/drawing/2014/main" id="{15C32E61-5D48-4A17-9783-EE8D5BEC3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1163" y="117475"/>
            <a:ext cx="8831262" cy="6623050"/>
          </a:xfrm>
          <a:prstGeom prst="roundRect">
            <a:avLst>
              <a:gd name="adj" fmla="val 8426"/>
            </a:avLst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None/>
            </a:pPr>
            <a:endParaRPr lang="en-AU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200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4.12581E-6 L 0.24184 -0.0219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83" y="-111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32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3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8" dur="20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0" presetID="21" presetClass="entr" presetSubtype="4" fill="hold" nodeType="afterEffect">
                                  <p:stCondLst>
                                    <p:cond delay="3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2" dur="20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9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76BB0-4FCA-4C54-AF33-721EC9ABA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299" y="286919"/>
            <a:ext cx="9601200" cy="1485900"/>
          </a:xfrm>
        </p:spPr>
        <p:txBody>
          <a:bodyPr>
            <a:normAutofit/>
          </a:bodyPr>
          <a:lstStyle/>
          <a:p>
            <a:r>
              <a:rPr lang="en-AU" sz="3200" dirty="0"/>
              <a:t>Topic: Volume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60CCBDB-EBF1-4C99-810C-D1C8BE774F04}"/>
              </a:ext>
            </a:extLst>
          </p:cNvPr>
          <p:cNvCxnSpPr/>
          <p:nvPr/>
        </p:nvCxnSpPr>
        <p:spPr>
          <a:xfrm>
            <a:off x="478705" y="839719"/>
            <a:ext cx="117132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2420CA-6A92-4D8F-A654-9A8463B53F8B}"/>
              </a:ext>
            </a:extLst>
          </p:cNvPr>
          <p:cNvCxnSpPr/>
          <p:nvPr/>
        </p:nvCxnSpPr>
        <p:spPr>
          <a:xfrm>
            <a:off x="478705" y="1514650"/>
            <a:ext cx="116328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A4B806AB-A97A-4899-96FD-00DB8C467199}"/>
              </a:ext>
            </a:extLst>
          </p:cNvPr>
          <p:cNvSpPr txBox="1">
            <a:spLocks/>
          </p:cNvSpPr>
          <p:nvPr/>
        </p:nvSpPr>
        <p:spPr>
          <a:xfrm>
            <a:off x="1150012" y="977836"/>
            <a:ext cx="11157924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4A2318"/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EQ: How do I apply the formula to find the volume of a composite prism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AFE1D0F-5562-43CE-AC46-E2C99503DB4E}"/>
              </a:ext>
            </a:extLst>
          </p:cNvPr>
          <p:cNvCxnSpPr/>
          <p:nvPr/>
        </p:nvCxnSpPr>
        <p:spPr>
          <a:xfrm>
            <a:off x="2199048" y="1514650"/>
            <a:ext cx="0" cy="53854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76BBB0F-4E76-415B-A672-7AD66220D78D}"/>
              </a:ext>
            </a:extLst>
          </p:cNvPr>
          <p:cNvSpPr txBox="1"/>
          <p:nvPr/>
        </p:nvSpPr>
        <p:spPr>
          <a:xfrm>
            <a:off x="773367" y="50354"/>
            <a:ext cx="4251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24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7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30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E2296D-E874-4692-B64D-462382BF7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140" y="1926920"/>
            <a:ext cx="9757868" cy="356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1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4EBE6-752E-744E-A634-A9A0DF554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Ex.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2EAB54-28CA-B640-BFBA-9903E4E0D5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7906" y="4692650"/>
            <a:ext cx="7607300" cy="18034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E4ECC8-996F-3A41-A1AD-0E91124BC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2533650"/>
            <a:ext cx="8458200" cy="199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991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4350A-D99E-4696-9982-39DCBA23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56479-58DB-445D-9B30-2B3664F70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0E45C8-4332-4E43-8047-DDE463A7A5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282" t="22736" r="29680" b="50444"/>
          <a:stretch/>
        </p:blipFill>
        <p:spPr>
          <a:xfrm>
            <a:off x="728134" y="16933"/>
            <a:ext cx="3589866" cy="29125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42CA01-961D-4B0F-8E11-4D4FD1FAE2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823" t="41420" r="32716" b="40741"/>
          <a:stretch/>
        </p:blipFill>
        <p:spPr>
          <a:xfrm>
            <a:off x="4318000" y="-1"/>
            <a:ext cx="7735077" cy="25230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801C79-4A8F-4F7E-87ED-845E5CAF09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082" t="44382" r="23580" b="17038"/>
          <a:stretch/>
        </p:blipFill>
        <p:spPr>
          <a:xfrm>
            <a:off x="3285067" y="2946401"/>
            <a:ext cx="7349066" cy="407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826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12CCC-C21B-46AD-B4D9-0B3AACBB5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78541-4F77-4FFD-B530-A0D75CF22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AB71EF-629D-4D5A-B486-30AED539E5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955" t="56296" r="26132" b="11096"/>
          <a:stretch/>
        </p:blipFill>
        <p:spPr>
          <a:xfrm>
            <a:off x="1371600" y="770466"/>
            <a:ext cx="9939867" cy="460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94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A9BAD-8B17-4D67-B1C4-4BFF2DA0E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EC8C8-64CF-4E32-AAAC-3F70480F7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C334E7-A04A-4232-83F3-A921DAFB2E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82" t="21852" r="26132" b="56482"/>
          <a:stretch/>
        </p:blipFill>
        <p:spPr>
          <a:xfrm>
            <a:off x="1016001" y="0"/>
            <a:ext cx="10312398" cy="34019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717A32-D1A2-4FE9-99CE-A4CE2A35EA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649" t="40494" r="23993" b="33704"/>
          <a:stretch/>
        </p:blipFill>
        <p:spPr>
          <a:xfrm>
            <a:off x="1016001" y="3401929"/>
            <a:ext cx="10312398" cy="345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415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6DAC-023A-4F15-838D-53C993E10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C84DE-9073-43D6-A522-F0058445A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8AACFA-867A-4BA4-9F11-7F5AB42233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56" t="41358" r="24156" b="10000"/>
          <a:stretch/>
        </p:blipFill>
        <p:spPr>
          <a:xfrm>
            <a:off x="1092199" y="93132"/>
            <a:ext cx="10532533" cy="660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800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E1943-711F-4973-A53D-608203299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Solutions: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ECB413-46F5-42C2-A289-EF36D80078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741" t="22716" r="23827" b="56764"/>
          <a:stretch/>
        </p:blipFill>
        <p:spPr>
          <a:xfrm>
            <a:off x="2302933" y="1540934"/>
            <a:ext cx="8263467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699398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4A2318"/>
      </a:dk2>
      <a:lt2>
        <a:srgbClr val="EDECEB"/>
      </a:lt2>
      <a:accent1>
        <a:srgbClr val="F3C82E"/>
      </a:accent1>
      <a:accent2>
        <a:srgbClr val="A26176"/>
      </a:accent2>
      <a:accent3>
        <a:srgbClr val="74A94E"/>
      </a:accent3>
      <a:accent4>
        <a:srgbClr val="188E8D"/>
      </a:accent4>
      <a:accent5>
        <a:srgbClr val="EE913A"/>
      </a:accent5>
      <a:accent6>
        <a:srgbClr val="DF5D4A"/>
      </a:accent6>
      <a:hlink>
        <a:srgbClr val="188E8D"/>
      </a:hlink>
      <a:folHlink>
        <a:srgbClr val="A26176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D7AA1D6E-F3E9-4763-A3BC-84DF2E02F60F}"/>
    </a:ext>
  </a:extLst>
</a:theme>
</file>

<file path=ppt/theme/theme2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1516</TotalTime>
  <Words>138</Words>
  <Application>Microsoft Office PowerPoint</Application>
  <PresentationFormat>Widescreen</PresentationFormat>
  <Paragraphs>35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Arial</vt:lpstr>
      <vt:lpstr>Calibri</vt:lpstr>
      <vt:lpstr>Cambria Math</vt:lpstr>
      <vt:lpstr>Century Gothic</vt:lpstr>
      <vt:lpstr>Comic Sans MS</vt:lpstr>
      <vt:lpstr>Franklin Gothic Book</vt:lpstr>
      <vt:lpstr>Times New Roman</vt:lpstr>
      <vt:lpstr>Verdana</vt:lpstr>
      <vt:lpstr>Wingdings 3</vt:lpstr>
      <vt:lpstr>Crop</vt:lpstr>
      <vt:lpstr>Ion Boardroom</vt:lpstr>
      <vt:lpstr>Default Design</vt:lpstr>
      <vt:lpstr>Volume of composite Prisms</vt:lpstr>
      <vt:lpstr>Topic: Volume</vt:lpstr>
      <vt:lpstr>PowerPoint Presentation</vt:lpstr>
      <vt:lpstr>PowerPoint Presentation</vt:lpstr>
      <vt:lpstr>Topic: Volume</vt:lpstr>
      <vt:lpstr>Formulae for Spheres and Cylinders</vt:lpstr>
      <vt:lpstr>Topic: Volume</vt:lpstr>
      <vt:lpstr>Ex. 1</vt:lpstr>
      <vt:lpstr>PowerPoint Presentation</vt:lpstr>
      <vt:lpstr>PowerPoint Presentation</vt:lpstr>
      <vt:lpstr>PowerPoint Presentation</vt:lpstr>
      <vt:lpstr>PowerPoint Presentation</vt:lpstr>
      <vt:lpstr>Solutions: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GLASS Samuel [Joseph Banks Secondary College]</dc:creator>
  <cp:lastModifiedBy>Tony Nguyen</cp:lastModifiedBy>
  <cp:revision>11</cp:revision>
  <dcterms:created xsi:type="dcterms:W3CDTF">2020-02-08T04:51:04Z</dcterms:created>
  <dcterms:modified xsi:type="dcterms:W3CDTF">2021-06-01T12:03:46Z</dcterms:modified>
</cp:coreProperties>
</file>
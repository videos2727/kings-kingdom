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8" r:id="rId2"/>
    <p:sldId id="259" r:id="rId3"/>
    <p:sldId id="260" r:id="rId4"/>
    <p:sldId id="278" r:id="rId5"/>
    <p:sldId id="273" r:id="rId6"/>
    <p:sldId id="274" r:id="rId7"/>
    <p:sldId id="290" r:id="rId8"/>
    <p:sldId id="275" r:id="rId9"/>
    <p:sldId id="276" r:id="rId10"/>
    <p:sldId id="282" r:id="rId11"/>
    <p:sldId id="281" r:id="rId12"/>
    <p:sldId id="283" r:id="rId13"/>
    <p:sldId id="284" r:id="rId14"/>
    <p:sldId id="285" r:id="rId15"/>
    <p:sldId id="286" r:id="rId16"/>
    <p:sldId id="291" r:id="rId17"/>
    <p:sldId id="289" r:id="rId1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9/2/2021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9/2/2021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9/2/2021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9/2/2021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Quadratics – Vertex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9MATH#9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EB41-6E08-480E-90ED-89302293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Quadratics – Vertex Form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D3A22-A6BE-447D-A8F6-226D78EF8D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LEARNING INTENTIONS</a:t>
            </a:r>
          </a:p>
          <a:p>
            <a:r>
              <a:rPr lang="en-US" dirty="0"/>
              <a:t>Understand the format and the purpose of a Vertex Form of a Quadratic</a:t>
            </a:r>
          </a:p>
          <a:p>
            <a:r>
              <a:rPr lang="en-US" dirty="0"/>
              <a:t>Discover how to interchange between standard, intercept and vertex forms.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DFFC6-EC5D-4326-A6D8-12728E1096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SUCCESS CRITERIA</a:t>
            </a:r>
          </a:p>
          <a:p>
            <a:r>
              <a:rPr lang="en-US" dirty="0"/>
              <a:t>Convert a quadratic equation from standard form to vertex form.</a:t>
            </a:r>
          </a:p>
          <a:p>
            <a:r>
              <a:rPr lang="en-US" dirty="0"/>
              <a:t>Use a vertex form quadratic to determine the coordinates of the vertex.</a:t>
            </a:r>
          </a:p>
        </p:txBody>
      </p:sp>
    </p:spTree>
    <p:extLst>
      <p:ext uri="{BB962C8B-B14F-4D97-AF65-F5344CB8AC3E}">
        <p14:creationId xmlns:p14="http://schemas.microsoft.com/office/powerpoint/2010/main" val="25722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2538-117E-4D35-A2B3-2D3CE226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lesson revisit…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09B3-CD19-47C7-8280-9C49DB6B2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729942" cy="39867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Last lesson, we looked at converting a Quadratic from General Form: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b="1" dirty="0"/>
              <a:t>y = ax</a:t>
            </a:r>
            <a:r>
              <a:rPr lang="en-US" sz="2400" b="1" baseline="30000" dirty="0"/>
              <a:t>2</a:t>
            </a:r>
            <a:r>
              <a:rPr lang="en-US" sz="2400" b="1" dirty="0"/>
              <a:t> + bx + c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to Intercept Form: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/>
              <a:t> </a:t>
            </a:r>
            <a:r>
              <a:rPr lang="en-US" sz="2800" b="1" dirty="0">
                <a:sym typeface="Wingdings" panose="05000000000000000000" pitchFamily="2" charset="2"/>
              </a:rPr>
              <a:t>y = a(x – p)(x – q)</a:t>
            </a:r>
            <a:endParaRPr lang="en-GB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EEDB1-C008-4386-BE4F-8E54DA4DAA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06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2538-117E-4D35-A2B3-2D3CE226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…into todays lesson.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09B3-CD19-47C7-8280-9C49DB6B2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729942" cy="39867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Last lesson, we looked at converting a Quadratic from General Form: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b="1" dirty="0"/>
              <a:t>y = ax</a:t>
            </a:r>
            <a:r>
              <a:rPr lang="en-US" sz="2400" b="1" baseline="30000" dirty="0"/>
              <a:t>2</a:t>
            </a:r>
            <a:r>
              <a:rPr lang="en-US" sz="2400" b="1" dirty="0"/>
              <a:t> + bx + c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to Intercept Form: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/>
              <a:t> </a:t>
            </a:r>
            <a:r>
              <a:rPr lang="en-US" sz="2800" b="1" dirty="0">
                <a:sym typeface="Wingdings" panose="05000000000000000000" pitchFamily="2" charset="2"/>
              </a:rPr>
              <a:t>y = a(x – p)(x – q)</a:t>
            </a:r>
            <a:endParaRPr lang="en-GB" sz="28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02E5E22-6760-4626-BB4F-6D67DD235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less, we will be looking at converting a General Form Quadratic to Vertex Form: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>
                <a:sym typeface="Wingdings" panose="05000000000000000000" pitchFamily="2" charset="2"/>
              </a:rPr>
              <a:t>y = a(x – h)</a:t>
            </a:r>
            <a:r>
              <a:rPr lang="en-US" sz="4000" b="1" baseline="30000" dirty="0">
                <a:sym typeface="Wingdings" panose="05000000000000000000" pitchFamily="2" charset="2"/>
              </a:rPr>
              <a:t>2</a:t>
            </a:r>
            <a:r>
              <a:rPr lang="en-US" sz="4000" b="1" dirty="0">
                <a:sym typeface="Wingdings" panose="05000000000000000000" pitchFamily="2" charset="2"/>
              </a:rPr>
              <a:t> + k</a:t>
            </a:r>
            <a:endParaRPr lang="en-GB" sz="4000" dirty="0"/>
          </a:p>
          <a:p>
            <a:pPr marL="0" indent="0" algn="ctr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58988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8"/>
            <a:ext cx="9628632" cy="3986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example, we will solve </a:t>
            </a:r>
            <a:r>
              <a:rPr lang="en-US" b="1" dirty="0"/>
              <a:t>y = </a:t>
            </a:r>
            <a:r>
              <a:rPr lang="en-US" b="1" i="1" dirty="0"/>
              <a:t>x</a:t>
            </a:r>
            <a:r>
              <a:rPr lang="en-US" b="1" baseline="30000" dirty="0"/>
              <a:t>2</a:t>
            </a:r>
            <a:r>
              <a:rPr lang="en-US" b="1" dirty="0"/>
              <a:t> – 10</a:t>
            </a:r>
            <a:r>
              <a:rPr lang="en-US" b="1" i="1" dirty="0"/>
              <a:t>x</a:t>
            </a:r>
            <a:r>
              <a:rPr lang="en-US" b="1" dirty="0"/>
              <a:t> + 16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81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7"/>
            <a:ext cx="7190510" cy="3986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example, we will solve </a:t>
            </a:r>
            <a:r>
              <a:rPr lang="en-US" b="1" dirty="0"/>
              <a:t>y = </a:t>
            </a:r>
            <a:r>
              <a:rPr lang="en-US" b="1" i="1" dirty="0"/>
              <a:t>x</a:t>
            </a:r>
            <a:r>
              <a:rPr lang="en-US" b="1" baseline="30000" dirty="0"/>
              <a:t>2</a:t>
            </a:r>
            <a:r>
              <a:rPr lang="en-US" b="1" dirty="0"/>
              <a:t> – 10</a:t>
            </a:r>
            <a:r>
              <a:rPr lang="en-US" b="1" i="1" dirty="0"/>
              <a:t>x</a:t>
            </a:r>
            <a:r>
              <a:rPr lang="en-US" b="1" dirty="0"/>
              <a:t> + 16</a:t>
            </a:r>
          </a:p>
          <a:p>
            <a:pPr marL="457200" indent="-457200">
              <a:buAutoNum type="arabicParenR"/>
            </a:pPr>
            <a:r>
              <a:rPr lang="en-US" dirty="0"/>
              <a:t>Half the term of the x term (-10 -&gt; -5)</a:t>
            </a:r>
          </a:p>
          <a:p>
            <a:pPr marL="457200" indent="-457200">
              <a:buAutoNum type="arabicParenR"/>
            </a:pPr>
            <a:r>
              <a:rPr lang="en-US" dirty="0"/>
              <a:t>Write this as (x-5)</a:t>
            </a:r>
            <a:r>
              <a:rPr lang="en-US" baseline="30000" dirty="0"/>
              <a:t>2 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Subtract (-5)</a:t>
            </a:r>
            <a:r>
              <a:rPr lang="en-US" baseline="30000" dirty="0"/>
              <a:t>2 </a:t>
            </a:r>
            <a:r>
              <a:rPr lang="en-US" dirty="0"/>
              <a:t>from both sides</a:t>
            </a:r>
          </a:p>
          <a:p>
            <a:pPr marL="457200" indent="-457200">
              <a:buAutoNum type="arabicParenR"/>
            </a:pPr>
            <a:r>
              <a:rPr lang="en-US" dirty="0"/>
              <a:t>Combine the constant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3903F-937E-4079-B743-0B49ECAE74CC}"/>
                  </a:ext>
                </a:extLst>
              </p:cNvPr>
              <p:cNvSpPr txBox="1"/>
              <p:nvPr/>
            </p:nvSpPr>
            <p:spPr>
              <a:xfrm>
                <a:off x="7190510" y="3219059"/>
                <a:ext cx="4738254" cy="215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−10+16</m:t>
                      </m:r>
                    </m:oMath>
                  </m:oMathPara>
                </a14:m>
                <a:br>
                  <a:rPr lang="en-AU" b="0" dirty="0"/>
                </a:br>
                <a:br>
                  <a:rPr lang="en-AU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br>
                  <a:rPr lang="en-AU" b="0" dirty="0"/>
                </a:br>
                <a:br>
                  <a:rPr lang="en-AU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−25+16</m:t>
                      </m:r>
                    </m:oMath>
                  </m:oMathPara>
                </a14:m>
                <a:endParaRPr lang="en-AU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3903F-937E-4079-B743-0B49ECAE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510" y="3219059"/>
                <a:ext cx="4738254" cy="2154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E6F734-5170-4A7F-8856-2898435FC26E}"/>
                  </a:ext>
                </a:extLst>
              </p:cNvPr>
              <p:cNvSpPr txBox="1"/>
              <p:nvPr/>
            </p:nvSpPr>
            <p:spPr>
              <a:xfrm>
                <a:off x="7122776" y="5555569"/>
                <a:ext cx="47382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0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i="0" dirty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GB" sz="36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i="0" dirty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E6F734-5170-4A7F-8856-2898435FC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776" y="5555569"/>
                <a:ext cx="473825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62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7"/>
            <a:ext cx="7190510" cy="3986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this example, we will solve </a:t>
            </a:r>
            <a:r>
              <a:rPr lang="en-US" b="1" dirty="0"/>
              <a:t>y = </a:t>
            </a:r>
            <a:r>
              <a:rPr lang="en-US" b="1" i="1" dirty="0"/>
              <a:t>x</a:t>
            </a:r>
            <a:r>
              <a:rPr lang="en-US" b="1" baseline="30000" dirty="0"/>
              <a:t>2</a:t>
            </a:r>
            <a:r>
              <a:rPr lang="en-US" b="1" dirty="0"/>
              <a:t> – 10</a:t>
            </a:r>
            <a:r>
              <a:rPr lang="en-US" b="1" i="1" dirty="0"/>
              <a:t>x</a:t>
            </a:r>
            <a:r>
              <a:rPr lang="en-US" b="1" dirty="0"/>
              <a:t> + 16</a:t>
            </a:r>
          </a:p>
          <a:p>
            <a:pPr marL="457200" indent="-457200">
              <a:buAutoNum type="arabicParenR"/>
            </a:pPr>
            <a:r>
              <a:rPr lang="en-US" dirty="0"/>
              <a:t>Half the term of the x term (-10 -&gt; -5)</a:t>
            </a:r>
          </a:p>
          <a:p>
            <a:pPr marL="457200" indent="-457200">
              <a:buAutoNum type="arabicParenR"/>
            </a:pPr>
            <a:r>
              <a:rPr lang="en-US" dirty="0"/>
              <a:t>Write this as (x-5)</a:t>
            </a:r>
            <a:r>
              <a:rPr lang="en-US" baseline="30000" dirty="0"/>
              <a:t>2 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Subtract (-5)</a:t>
            </a:r>
            <a:r>
              <a:rPr lang="en-US" baseline="30000" dirty="0"/>
              <a:t>2 </a:t>
            </a:r>
            <a:r>
              <a:rPr lang="en-US" dirty="0"/>
              <a:t>from both sides</a:t>
            </a:r>
          </a:p>
          <a:p>
            <a:pPr marL="457200" indent="-457200">
              <a:buAutoNum type="arabicParenR"/>
            </a:pPr>
            <a:r>
              <a:rPr lang="en-US" dirty="0"/>
              <a:t>Combine the constant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3903F-937E-4079-B743-0B49ECAE74CC}"/>
                  </a:ext>
                </a:extLst>
              </p:cNvPr>
              <p:cNvSpPr txBox="1"/>
              <p:nvPr/>
            </p:nvSpPr>
            <p:spPr>
              <a:xfrm>
                <a:off x="7190510" y="3219059"/>
                <a:ext cx="4738254" cy="2154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−10+16</m:t>
                      </m:r>
                    </m:oMath>
                  </m:oMathPara>
                </a14:m>
                <a:br>
                  <a:rPr lang="en-AU" b="0" dirty="0"/>
                </a:br>
                <a:br>
                  <a:rPr lang="en-AU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br>
                  <a:rPr lang="en-AU" b="0" dirty="0"/>
                </a:br>
                <a:br>
                  <a:rPr lang="en-AU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−25+16</m:t>
                      </m:r>
                    </m:oMath>
                  </m:oMathPara>
                </a14:m>
                <a:endParaRPr lang="en-AU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3903F-937E-4079-B743-0B49ECAE7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510" y="3219059"/>
                <a:ext cx="4738254" cy="2154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E6F734-5170-4A7F-8856-2898435FC26E}"/>
                  </a:ext>
                </a:extLst>
              </p:cNvPr>
              <p:cNvSpPr txBox="1"/>
              <p:nvPr/>
            </p:nvSpPr>
            <p:spPr>
              <a:xfrm>
                <a:off x="7122776" y="5555569"/>
                <a:ext cx="47382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i="0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i="0" dirty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GB" sz="36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i="0" dirty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E6F734-5170-4A7F-8856-2898435FC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776" y="5555569"/>
                <a:ext cx="473825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788412-F8A8-405A-A938-3E1EC3425AA6}"/>
              </a:ext>
            </a:extLst>
          </p:cNvPr>
          <p:cNvSpPr txBox="1"/>
          <p:nvPr/>
        </p:nvSpPr>
        <p:spPr>
          <a:xfrm>
            <a:off x="270932" y="5681394"/>
            <a:ext cx="6851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THIS PROCESS IS REFERRED TO AS “COMPLETING THE SQUARE”</a:t>
            </a:r>
          </a:p>
        </p:txBody>
      </p:sp>
    </p:spTree>
    <p:extLst>
      <p:ext uri="{BB962C8B-B14F-4D97-AF65-F5344CB8AC3E}">
        <p14:creationId xmlns:p14="http://schemas.microsoft.com/office/powerpoint/2010/main" val="98157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                  </a:t>
            </a:r>
            <a:r>
              <a:rPr lang="en-US" sz="3200" dirty="0"/>
              <a:t>(WE DO)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7"/>
            <a:ext cx="7996844" cy="3986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CONVERT THE BELOW FROM STANDARD FORM INTO VERTEX FORM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4x + 8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+ 6x + 11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+ 14x + 50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2x + 3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+ 18x + 77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+ 4x - 5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/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STEPS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Move the </a:t>
                </a:r>
                <a:r>
                  <a:rPr lang="en-US" i="1" dirty="0"/>
                  <a:t>c</a:t>
                </a:r>
                <a:r>
                  <a:rPr lang="en-US" dirty="0"/>
                  <a:t> value to the other side of the equals sign and 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to both sides. 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Simplify the left-hand side and factor the right-hand side.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Subtract as needed from both sides to get </a:t>
                </a:r>
                <a:r>
                  <a:rPr lang="en-US" i="1" dirty="0"/>
                  <a:t>y</a:t>
                </a:r>
                <a:r>
                  <a:rPr lang="en-US" dirty="0"/>
                  <a:t> by itself on the left.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blipFill>
                <a:blip r:embed="rId2"/>
                <a:stretch>
                  <a:fillRect l="-1297" t="-1096" r="-6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72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                  </a:t>
            </a:r>
            <a:r>
              <a:rPr lang="en-US" sz="3200" dirty="0"/>
              <a:t>(WE DO)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7"/>
            <a:ext cx="7996844" cy="3986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CONVERT THE BELOW FROM STANDARD FORM INTO VERTEX FORM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4x + 8                     =&gt; (x-2)</a:t>
            </a:r>
            <a:r>
              <a:rPr lang="en-US" sz="2800" baseline="30000" dirty="0"/>
              <a:t>2</a:t>
            </a:r>
            <a:r>
              <a:rPr lang="en-US" sz="2800" dirty="0"/>
              <a:t> + 4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+ 6x + 11                  =&gt; (x+3)</a:t>
            </a:r>
            <a:r>
              <a:rPr lang="en-US" sz="2800" baseline="30000" dirty="0"/>
              <a:t>2</a:t>
            </a:r>
            <a:r>
              <a:rPr lang="en-US" sz="2800" dirty="0"/>
              <a:t> + 2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+ 14x + 50                =&gt; (x+7)</a:t>
            </a:r>
            <a:r>
              <a:rPr lang="en-US" sz="2800" baseline="30000" dirty="0"/>
              <a:t>2</a:t>
            </a:r>
            <a:r>
              <a:rPr lang="en-US" sz="2800" dirty="0"/>
              <a:t> + 1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2x + 3                     =&gt; (x-1)</a:t>
            </a:r>
            <a:r>
              <a:rPr lang="en-US" sz="2800" baseline="30000" dirty="0"/>
              <a:t>2</a:t>
            </a:r>
            <a:r>
              <a:rPr lang="en-US" sz="2800" dirty="0"/>
              <a:t> + 2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+ 18x + 77                =&gt; (x+9)</a:t>
            </a:r>
            <a:r>
              <a:rPr lang="en-US" sz="2800" baseline="30000" dirty="0"/>
              <a:t>2</a:t>
            </a:r>
            <a:r>
              <a:rPr lang="en-US" sz="2800" dirty="0"/>
              <a:t> - 4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+ 4x – 5                     =&gt; (x+2)</a:t>
            </a:r>
            <a:r>
              <a:rPr lang="en-US" sz="2800" baseline="30000" dirty="0"/>
              <a:t>2</a:t>
            </a:r>
            <a:r>
              <a:rPr lang="en-US" sz="2800" dirty="0"/>
              <a:t> - 9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/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STEPS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Move the </a:t>
                </a:r>
                <a:r>
                  <a:rPr lang="en-US" i="1" dirty="0"/>
                  <a:t>c</a:t>
                </a:r>
                <a:r>
                  <a:rPr lang="en-US" dirty="0"/>
                  <a:t> value to the other side of the equals sign and 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to both sides. 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Simplify the left-hand side and factor the right-hand side.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Subtract as needed from both sides to get </a:t>
                </a:r>
                <a:r>
                  <a:rPr lang="en-US" i="1" dirty="0"/>
                  <a:t>y</a:t>
                </a:r>
                <a:r>
                  <a:rPr lang="en-US" dirty="0"/>
                  <a:t> by itself on the left.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blipFill>
                <a:blip r:embed="rId2"/>
                <a:stretch>
                  <a:fillRect l="-1297" t="-1096" r="-6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11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401D-1D63-4689-980D-10EA8455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Vertex Form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084FF-F1F2-492F-AEC4-8E623204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If the General Form of a quadratic is where we start:</a:t>
            </a:r>
          </a:p>
          <a:p>
            <a:pPr marL="0" indent="0" algn="ctr">
              <a:buNone/>
            </a:pPr>
            <a:r>
              <a:rPr lang="en-GB" sz="2800" b="1" dirty="0"/>
              <a:t>y = ax</a:t>
            </a:r>
            <a:r>
              <a:rPr lang="en-GB" sz="2800" b="1" baseline="30000" dirty="0"/>
              <a:t>2</a:t>
            </a:r>
            <a:r>
              <a:rPr lang="en-GB" sz="2800" b="1" dirty="0"/>
              <a:t> + </a:t>
            </a:r>
            <a:r>
              <a:rPr lang="en-GB" sz="2800" b="1" dirty="0" err="1"/>
              <a:t>bx</a:t>
            </a:r>
            <a:r>
              <a:rPr lang="en-GB" sz="2800" b="1" dirty="0"/>
              <a:t> + c</a:t>
            </a:r>
          </a:p>
          <a:p>
            <a:pPr marL="0" indent="0">
              <a:buNone/>
            </a:pPr>
            <a:r>
              <a:rPr lang="en-GB" sz="2800" dirty="0"/>
              <a:t>And the Intercept Form of a quadratic is used to find the intercepts:</a:t>
            </a:r>
          </a:p>
          <a:p>
            <a:pPr marL="0" indent="0" algn="ctr">
              <a:buNone/>
            </a:pPr>
            <a:r>
              <a:rPr lang="en-GB" sz="2800" b="1" dirty="0"/>
              <a:t>y = a(x – p)(x – q)</a:t>
            </a:r>
          </a:p>
          <a:p>
            <a:pPr marL="0" indent="0">
              <a:buNone/>
            </a:pPr>
            <a:r>
              <a:rPr lang="en-GB" sz="2800" dirty="0"/>
              <a:t>Then the Vertex Form is used to find the coordinates of the vertex:</a:t>
            </a:r>
          </a:p>
          <a:p>
            <a:pPr marL="0" indent="0" algn="ctr">
              <a:buNone/>
            </a:pPr>
            <a:r>
              <a:rPr lang="en-GB" sz="2800" b="1" dirty="0"/>
              <a:t>y = a(x – h)</a:t>
            </a:r>
            <a:r>
              <a:rPr lang="en-GB" sz="2800" b="1" baseline="30000" dirty="0"/>
              <a:t>2</a:t>
            </a:r>
            <a:r>
              <a:rPr lang="en-GB" sz="2800" b="1" dirty="0"/>
              <a:t> + k</a:t>
            </a:r>
          </a:p>
        </p:txBody>
      </p:sp>
    </p:spTree>
    <p:extLst>
      <p:ext uri="{BB962C8B-B14F-4D97-AF65-F5344CB8AC3E}">
        <p14:creationId xmlns:p14="http://schemas.microsoft.com/office/powerpoint/2010/main" val="375142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6C4-DB9B-44D3-B376-9B4D2E13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Quadratic: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EA131-CE95-4EC9-A55F-21B29799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80" y="1649489"/>
            <a:ext cx="2689457" cy="4921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4FA956-70CF-40DD-A835-90F8D3769E2E}"/>
              </a:ext>
            </a:extLst>
          </p:cNvPr>
          <p:cNvSpPr txBox="1"/>
          <p:nvPr/>
        </p:nvSpPr>
        <p:spPr>
          <a:xfrm>
            <a:off x="4073236" y="2019993"/>
            <a:ext cx="7631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you have completed the square and determined the Vertex Form, the hard work is done.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948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6C4-DB9B-44D3-B376-9B4D2E13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Quadratic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y = </a:t>
            </a:r>
            <a:r>
              <a:rPr lang="en-US" sz="2800" i="1" dirty="0"/>
              <a:t>a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 – </a:t>
            </a:r>
            <a:r>
              <a:rPr lang="en-US" sz="2800" i="1" dirty="0"/>
              <a:t>h</a:t>
            </a:r>
            <a:r>
              <a:rPr lang="en-US" sz="2800" dirty="0"/>
              <a:t>)</a:t>
            </a:r>
            <a:r>
              <a:rPr lang="en-US" sz="2800" baseline="30000" dirty="0"/>
              <a:t>2</a:t>
            </a:r>
            <a:r>
              <a:rPr lang="en-US" sz="2800" dirty="0"/>
              <a:t> + </a:t>
            </a:r>
            <a:r>
              <a:rPr lang="en-US" sz="2800" i="1" dirty="0"/>
              <a:t>k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EA131-CE95-4EC9-A55F-21B29799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80" y="1649489"/>
            <a:ext cx="2689457" cy="4921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4FA956-70CF-40DD-A835-90F8D3769E2E}"/>
              </a:ext>
            </a:extLst>
          </p:cNvPr>
          <p:cNvSpPr txBox="1"/>
          <p:nvPr/>
        </p:nvSpPr>
        <p:spPr>
          <a:xfrm>
            <a:off x="4073236" y="2019993"/>
            <a:ext cx="76310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you have completed the square and determined the Vertex Form, the hard work is done.</a:t>
            </a:r>
          </a:p>
          <a:p>
            <a:endParaRPr lang="en-US" dirty="0"/>
          </a:p>
          <a:p>
            <a:r>
              <a:rPr lang="en-US" dirty="0"/>
              <a:t>This ‘tip’ of the quadratic curve is the vertex; like all points on the Cartesian Plane (x- &amp; y-axis) it has an x-coordinate and a y-coordinate.</a:t>
            </a:r>
          </a:p>
          <a:p>
            <a:endParaRPr lang="en-US" dirty="0"/>
          </a:p>
          <a:p>
            <a:r>
              <a:rPr lang="en-US" dirty="0"/>
              <a:t>These coordinates are </a:t>
            </a:r>
            <a:r>
              <a:rPr lang="en-US" b="1" i="1" dirty="0"/>
              <a:t>(h, k)</a:t>
            </a:r>
            <a:endParaRPr lang="en-GB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3A9FD36-38E9-4F59-A1D0-D884D4753F18}"/>
              </a:ext>
            </a:extLst>
          </p:cNvPr>
          <p:cNvSpPr/>
          <p:nvPr/>
        </p:nvSpPr>
        <p:spPr>
          <a:xfrm>
            <a:off x="2056560" y="5993478"/>
            <a:ext cx="257695" cy="249382"/>
          </a:xfrm>
          <a:prstGeom prst="donut">
            <a:avLst>
              <a:gd name="adj" fmla="val 173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14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F6C4-DB9B-44D3-B376-9B4D2E13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Quadratic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2800" dirty="0"/>
              <a:t>y = </a:t>
            </a:r>
            <a:r>
              <a:rPr lang="en-US" sz="2800" i="1" dirty="0"/>
              <a:t>a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 – </a:t>
            </a:r>
            <a:r>
              <a:rPr lang="en-US" sz="2800" i="1" dirty="0"/>
              <a:t>h</a:t>
            </a:r>
            <a:r>
              <a:rPr lang="en-US" sz="2800" dirty="0"/>
              <a:t>)</a:t>
            </a:r>
            <a:r>
              <a:rPr lang="en-US" sz="2800" baseline="30000" dirty="0"/>
              <a:t>2</a:t>
            </a:r>
            <a:r>
              <a:rPr lang="en-US" sz="2800" dirty="0"/>
              <a:t> + </a:t>
            </a:r>
            <a:r>
              <a:rPr lang="en-US" sz="2800" i="1" dirty="0"/>
              <a:t>k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EA131-CE95-4EC9-A55F-21B29799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80" y="1649489"/>
            <a:ext cx="2689457" cy="4921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4FA956-70CF-40DD-A835-90F8D3769E2E}"/>
              </a:ext>
            </a:extLst>
          </p:cNvPr>
          <p:cNvSpPr txBox="1"/>
          <p:nvPr/>
        </p:nvSpPr>
        <p:spPr>
          <a:xfrm>
            <a:off x="4073236" y="2019993"/>
            <a:ext cx="763108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you have completed the square and determined the Vertex Form, the hard work is done.</a:t>
            </a:r>
          </a:p>
          <a:p>
            <a:endParaRPr lang="en-US" dirty="0"/>
          </a:p>
          <a:p>
            <a:r>
              <a:rPr lang="en-US" dirty="0"/>
              <a:t>This ‘tip’ of the quadratic curve is the vertex; like all points on the Cartesian Plane (x- &amp; y-axis) it has an x-coordinate and a y-coordinate.</a:t>
            </a:r>
          </a:p>
          <a:p>
            <a:endParaRPr lang="en-US" dirty="0"/>
          </a:p>
          <a:p>
            <a:r>
              <a:rPr lang="en-US" dirty="0"/>
              <a:t>These coordinates are </a:t>
            </a:r>
            <a:r>
              <a:rPr lang="en-US" b="1" i="1" dirty="0"/>
              <a:t>(-h, k)</a:t>
            </a:r>
          </a:p>
          <a:p>
            <a:endParaRPr lang="en-US" b="1" i="1" dirty="0"/>
          </a:p>
          <a:p>
            <a:pPr marL="285750" indent="-285750">
              <a:buFont typeface="Wingdings" panose="05000000000000000000" pitchFamily="2" charset="2"/>
              <a:buChar char="ß"/>
            </a:pPr>
            <a:r>
              <a:rPr lang="en-US" dirty="0"/>
              <a:t>So for our previous example of y = (x – 5)</a:t>
            </a:r>
            <a:r>
              <a:rPr lang="en-US" baseline="30000" dirty="0"/>
              <a:t>2</a:t>
            </a:r>
            <a:r>
              <a:rPr lang="en-US" dirty="0"/>
              <a:t> – 9, the coordinates of the vertex should be:</a:t>
            </a:r>
          </a:p>
          <a:p>
            <a:endParaRPr lang="en-US" dirty="0"/>
          </a:p>
          <a:p>
            <a:pPr algn="ctr"/>
            <a:r>
              <a:rPr lang="en-US" sz="2800" b="1" dirty="0"/>
              <a:t>(-(-5), -9) =&gt; (5, -9)</a:t>
            </a:r>
            <a:endParaRPr lang="en-GB" sz="2800" b="1" dirty="0"/>
          </a:p>
        </p:txBody>
      </p: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3A9FD36-38E9-4F59-A1D0-D884D4753F18}"/>
              </a:ext>
            </a:extLst>
          </p:cNvPr>
          <p:cNvSpPr/>
          <p:nvPr/>
        </p:nvSpPr>
        <p:spPr>
          <a:xfrm>
            <a:off x="2056560" y="5993478"/>
            <a:ext cx="257695" cy="249382"/>
          </a:xfrm>
          <a:prstGeom prst="donut">
            <a:avLst>
              <a:gd name="adj" fmla="val 173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04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                  </a:t>
            </a:r>
            <a:r>
              <a:rPr lang="en-US" sz="3200" dirty="0"/>
              <a:t>(WE DO)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215687"/>
            <a:ext cx="11621194" cy="3986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FROM THE VERTEX FORMS BELOW, FIND THE COORDINATES OF THE VERTEX FORMS BELOW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4x + 8                     =&gt; (x - 2)</a:t>
            </a:r>
            <a:r>
              <a:rPr lang="en-US" sz="2800" baseline="30000" dirty="0"/>
              <a:t>2</a:t>
            </a:r>
            <a:r>
              <a:rPr lang="en-US" sz="2800" dirty="0"/>
              <a:t> + 4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+ 6x + 11                  =&gt; (x + 3)</a:t>
            </a:r>
            <a:r>
              <a:rPr lang="en-US" sz="2800" baseline="30000" dirty="0"/>
              <a:t>2</a:t>
            </a:r>
            <a:r>
              <a:rPr lang="en-US" sz="2800" dirty="0"/>
              <a:t> + 2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+ 14x + 50                =&gt; (x + 7)</a:t>
            </a:r>
            <a:r>
              <a:rPr lang="en-US" sz="2800" baseline="30000" dirty="0"/>
              <a:t>2</a:t>
            </a:r>
            <a:r>
              <a:rPr lang="en-US" sz="2800" dirty="0"/>
              <a:t> + 1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2x + 3                     =&gt; (x - 1)</a:t>
            </a:r>
            <a:r>
              <a:rPr lang="en-US" sz="2800" baseline="30000" dirty="0"/>
              <a:t>2</a:t>
            </a:r>
            <a:r>
              <a:rPr lang="en-US" sz="2800" dirty="0"/>
              <a:t> + 2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+ 18x + 77                =&gt; (x + 9)</a:t>
            </a:r>
            <a:r>
              <a:rPr lang="en-US" sz="2800" baseline="30000" dirty="0"/>
              <a:t>2</a:t>
            </a:r>
            <a:r>
              <a:rPr lang="en-US" sz="2800" dirty="0"/>
              <a:t> - 4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+ 4x – 5                     =&gt; (x + 2)</a:t>
            </a:r>
            <a:r>
              <a:rPr lang="en-US" sz="2800" baseline="30000" dirty="0"/>
              <a:t>2</a:t>
            </a:r>
            <a:r>
              <a:rPr lang="en-US" sz="2800" dirty="0"/>
              <a:t> - 9</a:t>
            </a:r>
          </a:p>
        </p:txBody>
      </p:sp>
    </p:spTree>
    <p:extLst>
      <p:ext uri="{BB962C8B-B14F-4D97-AF65-F5344CB8AC3E}">
        <p14:creationId xmlns:p14="http://schemas.microsoft.com/office/powerpoint/2010/main" val="362274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                  </a:t>
            </a:r>
            <a:r>
              <a:rPr lang="en-US" sz="3200" dirty="0"/>
              <a:t>(WE DO)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215687"/>
            <a:ext cx="11621194" cy="3986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FROM THE VERTEX FORMS BELOW, FIND THE COORDINATES OF THE VERTEX FORMS BELOW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4x + 8                     =&gt; (x - 2)</a:t>
            </a:r>
            <a:r>
              <a:rPr lang="en-US" sz="2800" baseline="30000" dirty="0"/>
              <a:t>2</a:t>
            </a:r>
            <a:r>
              <a:rPr lang="en-US" sz="2800" dirty="0"/>
              <a:t> + 4                           =&gt; (-(-2), 4) = </a:t>
            </a:r>
            <a:r>
              <a:rPr lang="en-US" sz="2800" b="1" dirty="0"/>
              <a:t>(2,4)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+ 6x + 11                  =&gt; (x + 3)</a:t>
            </a:r>
            <a:r>
              <a:rPr lang="en-US" sz="2800" baseline="30000" dirty="0"/>
              <a:t>2</a:t>
            </a:r>
            <a:r>
              <a:rPr lang="en-US" sz="2800" dirty="0"/>
              <a:t> + 2                           =&gt; </a:t>
            </a:r>
            <a:r>
              <a:rPr lang="en-US" sz="2800" b="1" dirty="0"/>
              <a:t>(-3, 2)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+ 14x + 50                =&gt; (x + 7)</a:t>
            </a:r>
            <a:r>
              <a:rPr lang="en-US" sz="2800" baseline="30000" dirty="0"/>
              <a:t>2</a:t>
            </a:r>
            <a:r>
              <a:rPr lang="en-US" sz="2800" dirty="0"/>
              <a:t> + 1                           =&gt; </a:t>
            </a:r>
            <a:r>
              <a:rPr lang="en-US" sz="2800" b="1" dirty="0"/>
              <a:t>(-7, 1)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2x + 3                     =&gt; (x - 1)</a:t>
            </a:r>
            <a:r>
              <a:rPr lang="en-US" sz="2800" baseline="30000" dirty="0"/>
              <a:t>2</a:t>
            </a:r>
            <a:r>
              <a:rPr lang="en-US" sz="2800" dirty="0"/>
              <a:t> + 2                           =&gt; (-(-1), 2) = </a:t>
            </a:r>
            <a:r>
              <a:rPr lang="en-US" sz="2800" b="1" dirty="0"/>
              <a:t>(1, 2)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+ 18x + 77                =&gt; (x + 9)</a:t>
            </a:r>
            <a:r>
              <a:rPr lang="en-US" sz="2800" baseline="30000" dirty="0"/>
              <a:t>2</a:t>
            </a:r>
            <a:r>
              <a:rPr lang="en-US" sz="2800" dirty="0"/>
              <a:t> – 4                           =&gt; </a:t>
            </a:r>
            <a:r>
              <a:rPr lang="en-US" sz="2800" b="1" dirty="0"/>
              <a:t>(-9, -4)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+ 4x – 5                     =&gt; (x + 2)</a:t>
            </a:r>
            <a:r>
              <a:rPr lang="en-US" sz="2800" baseline="30000" dirty="0"/>
              <a:t>2</a:t>
            </a:r>
            <a:r>
              <a:rPr lang="en-US" sz="2800" dirty="0"/>
              <a:t> – 9                          =&gt; </a:t>
            </a:r>
            <a:r>
              <a:rPr lang="en-US" sz="2800" b="1" dirty="0"/>
              <a:t>(-2, -9)</a:t>
            </a:r>
          </a:p>
        </p:txBody>
      </p:sp>
    </p:spTree>
    <p:extLst>
      <p:ext uri="{BB962C8B-B14F-4D97-AF65-F5344CB8AC3E}">
        <p14:creationId xmlns:p14="http://schemas.microsoft.com/office/powerpoint/2010/main" val="406883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7C32-149B-45B3-9E10-7BD7AD4C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Form Example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y = </a:t>
            </a:r>
            <a:r>
              <a:rPr lang="en-US" sz="3200" i="1" dirty="0"/>
              <a:t>a</a:t>
            </a:r>
            <a:r>
              <a:rPr lang="en-US" sz="3200" dirty="0"/>
              <a:t>(</a:t>
            </a:r>
            <a:r>
              <a:rPr lang="en-US" sz="3200" i="1" dirty="0"/>
              <a:t>x</a:t>
            </a:r>
            <a:r>
              <a:rPr lang="en-US" sz="3200" dirty="0"/>
              <a:t> – </a:t>
            </a:r>
            <a:r>
              <a:rPr lang="en-US" sz="3200" i="1" dirty="0"/>
              <a:t>h</a:t>
            </a:r>
            <a:r>
              <a:rPr lang="en-US" sz="3200" dirty="0"/>
              <a:t>)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i="1" dirty="0"/>
              <a:t>k                  </a:t>
            </a:r>
            <a:r>
              <a:rPr lang="en-US" sz="3200" dirty="0"/>
              <a:t>(WE DO)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96E5-E857-4CFE-8478-EA11D77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15687"/>
            <a:ext cx="7996844" cy="3986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CONVERT THE BELOW FROM STANDARD FORM INTO VERTEX FORM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4x + 8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+ 6x + 11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+ 14x + 50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– 2x + 3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+ 18x + 77</a:t>
            </a:r>
          </a:p>
          <a:p>
            <a:pPr marL="457200" indent="-457200">
              <a:buAutoNum type="arabicParenR"/>
            </a:pPr>
            <a:r>
              <a:rPr lang="en-US" sz="2800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+ 4x - 5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/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STEPS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R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Move the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value to the other side of the equals sign and add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83696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C474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kumimoji="0" lang="en-US" sz="1800" b="0" i="0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3C4743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C474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to both sides. 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R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Simplify the left-hand side and factor the right-hand side.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arenR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Subtract as needed from both sides to get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474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by itself on the left.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C474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D2487D-2CC8-403D-970D-F197AE1C3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91" y="2310938"/>
                <a:ext cx="3757353" cy="2777555"/>
              </a:xfrm>
              <a:prstGeom prst="rect">
                <a:avLst/>
              </a:prstGeom>
              <a:blipFill>
                <a:blip r:embed="rId2"/>
                <a:stretch>
                  <a:fillRect l="-1297" t="-1096" r="-6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836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843A-9104-45CA-AB7A-4CD3FB13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5667"/>
            <a:ext cx="9628632" cy="592323"/>
          </a:xfrm>
        </p:spPr>
        <p:txBody>
          <a:bodyPr/>
          <a:lstStyle/>
          <a:p>
            <a:r>
              <a:rPr lang="en-US" dirty="0"/>
              <a:t>Complete the Square and then sketch the following: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932FE7-485C-4226-B47C-022FCAD5B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FF1E6-F896-40D3-9B16-A6D04F40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8429"/>
            <a:ext cx="6130564" cy="4582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7E9FDD-78D4-40B7-96F4-607E2C16A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073" y="2038429"/>
            <a:ext cx="5910146" cy="458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3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810</TotalTime>
  <Words>1276</Words>
  <Application>Microsoft Office PowerPoint</Application>
  <PresentationFormat>Widescreen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Cambria Math</vt:lpstr>
      <vt:lpstr>Wingdings</vt:lpstr>
      <vt:lpstr>Educational subjects 16x9</vt:lpstr>
      <vt:lpstr>Quadratics – Vertex Form</vt:lpstr>
      <vt:lpstr>Quadratics – Vertex Form</vt:lpstr>
      <vt:lpstr>Previous lesson revisit…</vt:lpstr>
      <vt:lpstr>…into todays lesson.</vt:lpstr>
      <vt:lpstr>Vertex Form Example  y = a(x – h)2 + k</vt:lpstr>
      <vt:lpstr>Vertex Form Example  y = a(x – h)2 + k</vt:lpstr>
      <vt:lpstr>Vertex Form Example  y = a(x – h)2 + k</vt:lpstr>
      <vt:lpstr>Vertex Form Example  y = a(x – h)2 + k                  (WE DO)</vt:lpstr>
      <vt:lpstr>Vertex Form Example  y = a(x – h)2 + k                  (WE DO)</vt:lpstr>
      <vt:lpstr>Purpose of the Vertex Form</vt:lpstr>
      <vt:lpstr>Vertex Form Quadratic:</vt:lpstr>
      <vt:lpstr>Vertex Form Quadratic  y = a(x – h)2 + k </vt:lpstr>
      <vt:lpstr>Vertex Form Quadratic  y = a(x – h)2 + k </vt:lpstr>
      <vt:lpstr>Vertex Form Example  y = a(x – h)2 + k                  (WE DO)</vt:lpstr>
      <vt:lpstr>Vertex Form Example  y = a(x – h)2 + k                  (WE DO)</vt:lpstr>
      <vt:lpstr>Vertex Form Example  y = a(x – h)2 + k                  (WE DO)</vt:lpstr>
      <vt:lpstr>Complete the Square and then sketch the following: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Luke STENZLER</dc:creator>
  <cp:lastModifiedBy>Tony Nguyen</cp:lastModifiedBy>
  <cp:revision>13</cp:revision>
  <cp:lastPrinted>2021-09-02T23:44:00Z</cp:lastPrinted>
  <dcterms:created xsi:type="dcterms:W3CDTF">2020-11-25T10:58:35Z</dcterms:created>
  <dcterms:modified xsi:type="dcterms:W3CDTF">2021-09-03T00:13:56Z</dcterms:modified>
</cp:coreProperties>
</file>
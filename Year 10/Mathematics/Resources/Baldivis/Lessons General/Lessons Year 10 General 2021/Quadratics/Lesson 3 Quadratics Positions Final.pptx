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25"/>
  </p:notesMasterIdLst>
  <p:sldIdLst>
    <p:sldId id="308" r:id="rId3"/>
    <p:sldId id="261" r:id="rId4"/>
    <p:sldId id="259" r:id="rId5"/>
    <p:sldId id="260" r:id="rId6"/>
    <p:sldId id="316" r:id="rId7"/>
    <p:sldId id="314" r:id="rId8"/>
    <p:sldId id="291" r:id="rId9"/>
    <p:sldId id="309" r:id="rId10"/>
    <p:sldId id="313" r:id="rId11"/>
    <p:sldId id="312" r:id="rId12"/>
    <p:sldId id="315" r:id="rId13"/>
    <p:sldId id="310" r:id="rId14"/>
    <p:sldId id="293" r:id="rId15"/>
    <p:sldId id="317" r:id="rId16"/>
    <p:sldId id="318" r:id="rId17"/>
    <p:sldId id="319" r:id="rId18"/>
    <p:sldId id="262" r:id="rId19"/>
    <p:sldId id="263" r:id="rId20"/>
    <p:sldId id="264" r:id="rId21"/>
    <p:sldId id="320" r:id="rId22"/>
    <p:sldId id="265" r:id="rId23"/>
    <p:sldId id="267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ny Nguyen" initials="TN" lastIdx="1" clrIdx="0">
    <p:extLst>
      <p:ext uri="{19B8F6BF-5375-455C-9EA6-DF929625EA0E}">
        <p15:presenceInfo xmlns:p15="http://schemas.microsoft.com/office/powerpoint/2012/main" userId="1f481f7b9cf3dbe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8537" autoAdjust="0"/>
  </p:normalViewPr>
  <p:slideViewPr>
    <p:cSldViewPr snapToGrid="0" snapToObjects="1">
      <p:cViewPr varScale="1">
        <p:scale>
          <a:sx n="93" d="100"/>
          <a:sy n="93" d="100"/>
        </p:scale>
        <p:origin x="73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8-21T22:00:36.177" idx="1">
    <p:pos x="2559" y="121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F4BD4A-A91C-4E47-8743-EFFA608D5BE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22444-CE1B-1E4E-8F2E-41A287EDCD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124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41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2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162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6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199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8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2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185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70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0952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6303" y="945913"/>
            <a:ext cx="6477805" cy="2618554"/>
          </a:xfrm>
        </p:spPr>
        <p:txBody>
          <a:bodyPr bIns="0" anchor="b">
            <a:normAutofit/>
          </a:bodyPr>
          <a:lstStyle>
            <a:lvl1pPr algn="l">
              <a:defRPr sz="4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6303" y="3564468"/>
            <a:ext cx="6477804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35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45343" y="329308"/>
            <a:ext cx="4457751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43295" y="134930"/>
            <a:ext cx="608264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9460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fld id="{48A87A34-81AB-432B-8DAE-1953F412C126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6682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75" y="1756130"/>
            <a:ext cx="6464295" cy="2050065"/>
          </a:xfrm>
        </p:spPr>
        <p:txBody>
          <a:bodyPr anchor="b">
            <a:normAutofit/>
          </a:bodyPr>
          <a:lstStyle>
            <a:lvl1pPr algn="l"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6875" y="3806196"/>
            <a:ext cx="6464295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1990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8290" y="958038"/>
            <a:ext cx="7204226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6875" y="2165621"/>
            <a:ext cx="3483864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1705" y="2171769"/>
            <a:ext cx="3483864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9509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75" y="953337"/>
            <a:ext cx="7205746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6875" y="2169728"/>
            <a:ext cx="348386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6875" y="2974448"/>
            <a:ext cx="3483864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0753" y="2173182"/>
            <a:ext cx="348386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100" b="0" cap="none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0753" y="2971670"/>
            <a:ext cx="3483864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2923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5091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7396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19" y="952578"/>
            <a:ext cx="2456260" cy="2322176"/>
          </a:xfrm>
        </p:spPr>
        <p:txBody>
          <a:bodyPr anchor="b">
            <a:normAutofit/>
          </a:bodyPr>
          <a:lstStyle>
            <a:lvl1pPr algn="l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42500" y="952579"/>
            <a:ext cx="4509353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3219" y="3274754"/>
            <a:ext cx="2456260" cy="2178918"/>
          </a:xfrm>
        </p:spPr>
        <p:txBody>
          <a:bodyPr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1087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5608041" y="482171"/>
            <a:ext cx="3055900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43" y="1129513"/>
            <a:ext cx="4391154" cy="1924208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3292" y="1122543"/>
            <a:ext cx="209337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185" y="3053722"/>
            <a:ext cx="4384865" cy="2096013"/>
          </a:xfrm>
        </p:spPr>
        <p:txBody>
          <a:bodyPr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3975" y="5469857"/>
            <a:ext cx="4387204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43975" y="318641"/>
            <a:ext cx="365836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632596" y="137408"/>
            <a:ext cx="608264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844095" y="643464"/>
            <a:ext cx="440969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966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844095" y="643464"/>
            <a:ext cx="7207758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80281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3532" y="798974"/>
            <a:ext cx="121180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47702" y="798974"/>
            <a:ext cx="5871623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5898779" y="3066347"/>
            <a:ext cx="4663440" cy="116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0608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DC6EFA5-EDA3-5B41-AB62-716640C6E233}" type="datetimeFigureOut">
              <a:rPr lang="en-US" smtClean="0"/>
              <a:t>8/22/2021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13C8DB2-0E09-8444-A9B3-6FE2B81903F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44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9144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9144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7703" y="953325"/>
            <a:ext cx="7202456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7703" y="2171769"/>
            <a:ext cx="7202456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24623" y="330370"/>
            <a:ext cx="188654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47703" y="329308"/>
            <a:ext cx="445412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38558" y="137408"/>
            <a:ext cx="608264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1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802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5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3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05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9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comments" Target="../comments/comment1.xml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99C7-E63C-42E9-95D8-3FC7C3C62A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3200" dirty="0"/>
              <a:t>Topic: Parabolas</a:t>
            </a:r>
            <a:br>
              <a:rPr lang="en-GB" sz="3200" dirty="0"/>
            </a:br>
            <a:r>
              <a:rPr lang="en-GB" sz="3200" dirty="0"/>
              <a:t>EQ: How do parabolas change positions?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9CC60-EE89-4B2F-B536-03B650FB57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148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arabolas - Remix!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723838"/>
            <a:ext cx="9144000" cy="6095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09106" y="169841"/>
            <a:ext cx="6689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Parabolas are also used in arches and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2914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90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02" y="1178309"/>
            <a:ext cx="5418256" cy="450138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t="18865" r="26129"/>
          <a:stretch/>
        </p:blipFill>
        <p:spPr>
          <a:xfrm>
            <a:off x="4431883" y="670680"/>
            <a:ext cx="3863249" cy="40138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29585" y="4727034"/>
            <a:ext cx="35916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This is a positive parabola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71839" y="4727034"/>
            <a:ext cx="35955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This is a negative  parabola</a:t>
            </a:r>
          </a:p>
        </p:txBody>
      </p:sp>
      <p:pic>
        <p:nvPicPr>
          <p:cNvPr id="3" name="Picture 2" descr="Very_sad_emoji_icon_png_grande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7773" y="3515820"/>
            <a:ext cx="968700" cy="968700"/>
          </a:xfrm>
          <a:prstGeom prst="rect">
            <a:avLst/>
          </a:prstGeom>
        </p:spPr>
      </p:pic>
      <p:pic>
        <p:nvPicPr>
          <p:cNvPr id="4" name="Picture 3" descr="b0832ed3467a3a645162499787264471_happy-emoji-happy-emoji_256-256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439" y="1328815"/>
            <a:ext cx="1210945" cy="121094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1807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Parabolas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5" y="474966"/>
            <a:ext cx="4628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parabolas change positions?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3602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1" y="340525"/>
            <a:ext cx="3635619" cy="32720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8519" y="4052304"/>
            <a:ext cx="3868701" cy="260750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354" y="4052305"/>
            <a:ext cx="2829860" cy="254687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982" y="1200627"/>
            <a:ext cx="3015928" cy="271433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4124" y="178994"/>
            <a:ext cx="4588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Objects affected by gravity follow a parabolic arc.</a:t>
            </a:r>
          </a:p>
        </p:txBody>
      </p:sp>
    </p:spTree>
    <p:extLst>
      <p:ext uri="{BB962C8B-B14F-4D97-AF65-F5344CB8AC3E}">
        <p14:creationId xmlns:p14="http://schemas.microsoft.com/office/powerpoint/2010/main" val="427224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/>
          <p:nvPr/>
        </p:nvCxnSpPr>
        <p:spPr>
          <a:xfrm>
            <a:off x="1402422" y="898989"/>
            <a:ext cx="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1807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Parabolas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5" y="474966"/>
            <a:ext cx="4628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parabolas change positions?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4BC69E-70B2-442B-A183-F88F0B1C0604}"/>
                  </a:ext>
                </a:extLst>
              </p:cNvPr>
              <p:cNvSpPr txBox="1"/>
              <p:nvPr/>
            </p:nvSpPr>
            <p:spPr>
              <a:xfrm>
                <a:off x="2576245" y="1413436"/>
                <a:ext cx="4628508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3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AU" sz="3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3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3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AU" sz="360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36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sz="360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sz="36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4BC69E-70B2-442B-A183-F88F0B1C0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245" y="1413436"/>
                <a:ext cx="4628508" cy="6463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E54169E-E005-4705-B7DA-FEA3F751A8D4}"/>
              </a:ext>
            </a:extLst>
          </p:cNvPr>
          <p:cNvSpPr txBox="1"/>
          <p:nvPr/>
        </p:nvSpPr>
        <p:spPr>
          <a:xfrm>
            <a:off x="2305938" y="2397876"/>
            <a:ext cx="6282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above equation is the standard form used for parabolas</a:t>
            </a:r>
          </a:p>
        </p:txBody>
      </p:sp>
    </p:spTree>
    <p:extLst>
      <p:ext uri="{BB962C8B-B14F-4D97-AF65-F5344CB8AC3E}">
        <p14:creationId xmlns:p14="http://schemas.microsoft.com/office/powerpoint/2010/main" val="2219365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>
            <a:cxnSpLocks/>
          </p:cNvCxnSpPr>
          <p:nvPr/>
        </p:nvCxnSpPr>
        <p:spPr>
          <a:xfrm flipH="1">
            <a:off x="1726058" y="898989"/>
            <a:ext cx="3596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1690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Parabolas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5" y="474966"/>
            <a:ext cx="4628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parabolas change positions?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48668D-F4C3-41F1-93F2-E8E6B1C0F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783" y="1378450"/>
            <a:ext cx="1767993" cy="393226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C9A5BC-24CB-41FB-9348-F85A1779E7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99" t="16489" r="69225" b="71400"/>
          <a:stretch/>
        </p:blipFill>
        <p:spPr>
          <a:xfrm>
            <a:off x="4159808" y="1562742"/>
            <a:ext cx="4469039" cy="11701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8082C55-6443-45E7-A7C6-4009F4B5447F}"/>
              </a:ext>
            </a:extLst>
          </p:cNvPr>
          <p:cNvSpPr txBox="1"/>
          <p:nvPr/>
        </p:nvSpPr>
        <p:spPr>
          <a:xfrm>
            <a:off x="4515492" y="3689162"/>
            <a:ext cx="46285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y = - x</a:t>
            </a:r>
            <a:r>
              <a:rPr lang="en-US" sz="2400" b="1" baseline="30000" dirty="0"/>
              <a:t>2</a:t>
            </a:r>
            <a:r>
              <a:rPr lang="en-US" sz="2400" b="1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Gives an upside down parabola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3570C-410A-402B-B913-F169FD5AEEC5}"/>
              </a:ext>
            </a:extLst>
          </p:cNvPr>
          <p:cNvSpPr txBox="1"/>
          <p:nvPr/>
        </p:nvSpPr>
        <p:spPr>
          <a:xfrm>
            <a:off x="0" y="1324027"/>
            <a:ext cx="16644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/>
              <a:t>What happens when you add a negative sign?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662902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55360"/>
          <a:stretch/>
        </p:blipFill>
        <p:spPr>
          <a:xfrm>
            <a:off x="1005807" y="899630"/>
            <a:ext cx="3784243" cy="447598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528193" y="1421407"/>
            <a:ext cx="361580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y = - x</a:t>
            </a:r>
            <a:r>
              <a:rPr lang="en-US" sz="3200" b="1" baseline="30000" dirty="0"/>
              <a:t>2</a:t>
            </a:r>
            <a:r>
              <a:rPr lang="en-US" sz="3200" b="1" dirty="0"/>
              <a:t> </a:t>
            </a:r>
          </a:p>
          <a:p>
            <a:endParaRPr lang="en-US" sz="2400" dirty="0"/>
          </a:p>
          <a:p>
            <a:r>
              <a:rPr lang="en-US" sz="2400" dirty="0"/>
              <a:t>Gives an upside down parabola</a:t>
            </a:r>
          </a:p>
        </p:txBody>
      </p:sp>
    </p:spTree>
    <p:extLst>
      <p:ext uri="{BB962C8B-B14F-4D97-AF65-F5344CB8AC3E}">
        <p14:creationId xmlns:p14="http://schemas.microsoft.com/office/powerpoint/2010/main" val="230594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23416DF-B283-4D9F-A625-146552CA9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73834904-4D9B-41F7-8DA6-0709FD9F7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0D1207-ECAF-48E9-8834-2CE4D2198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8B5B693-C595-4524-A03C-B775B6BE5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E99576-4458-43F6-AD1E-C7DFA7D380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9" t="16489" r="69225" b="71400"/>
          <a:stretch/>
        </p:blipFill>
        <p:spPr>
          <a:xfrm>
            <a:off x="475706" y="1852353"/>
            <a:ext cx="5756818" cy="150737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CA2121-EFAC-42D2-AD86-55BF68366B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942" t="16184" r="24295" b="14666"/>
          <a:stretch/>
        </p:blipFill>
        <p:spPr>
          <a:xfrm>
            <a:off x="6353175" y="640081"/>
            <a:ext cx="1768688" cy="393192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211CBF94-6002-4EC8-9498-6AC47E680A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706" y="4676775"/>
            <a:ext cx="8188233" cy="15469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90CD31C-8970-4AA8-92D7-64701D526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375" y="4773068"/>
            <a:ext cx="5457825" cy="135436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000" spc="200">
                <a:solidFill>
                  <a:srgbClr val="FFFFFF"/>
                </a:solidFill>
              </a:rPr>
              <a:t>Turning Point Form (&amp; Reflection)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D21A352-E781-44F0-8F36-96660871144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457950" y="4773068"/>
                <a:ext cx="2021681" cy="1354365"/>
              </a:xfrm>
            </p:spPr>
            <p:txBody>
              <a:bodyPr vert="horz" lIns="91440" tIns="45720" rIns="91440" bIns="45720" rtlCol="0" anchor="ctr"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800">
                    <a:solidFill>
                      <a:srgbClr val="FFFFFF"/>
                    </a:solidFill>
                  </a:rPr>
                  <a:t>Making </a:t>
                </a:r>
                <a14:m>
                  <m:oMath xmlns:m="http://schemas.openxmlformats.org/officeDocument/2006/math">
                    <m:r>
                      <a:rPr lang="en-US" sz="1800" b="0" i="1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800">
                    <a:solidFill>
                      <a:srgbClr val="FFFFFF"/>
                    </a:solidFill>
                  </a:rPr>
                  <a:t> negative will flip the graph horizontally about the turning point.</a:t>
                </a:r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DD21A352-E781-44F0-8F36-9666087114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457950" y="4773068"/>
                <a:ext cx="2021681" cy="1354365"/>
              </a:xfrm>
              <a:blipFill>
                <a:blip r:embed="rId3"/>
                <a:stretch>
                  <a:fillRect l="-2410" b="-13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81A7DF2-B382-4775-B387-03B45F29E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499305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0359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>
            <a:cxnSpLocks/>
          </p:cNvCxnSpPr>
          <p:nvPr/>
        </p:nvCxnSpPr>
        <p:spPr>
          <a:xfrm flipH="1">
            <a:off x="1726058" y="898989"/>
            <a:ext cx="3596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1690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Parabolas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5" y="474966"/>
            <a:ext cx="4628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parabolas change positions?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8">
                <a:extLst>
                  <a:ext uri="{FF2B5EF4-FFF2-40B4-BE49-F238E27FC236}">
                    <a16:creationId xmlns:a16="http://schemas.microsoft.com/office/drawing/2014/main" id="{4FD112F8-3DFF-4F3B-BE4E-98D1C0DD91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68901" y="1214064"/>
                <a:ext cx="6773006" cy="2996738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/>
                  <a:t>A change in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i="1" dirty="0"/>
                  <a:t> </a:t>
                </a:r>
                <a:r>
                  <a:rPr lang="en-AU" dirty="0"/>
                  <a:t>will impact the vertical position of the graph (i.e. moving it up and down)</a:t>
                </a:r>
                <a:endParaRPr lang="en-AU" i="1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9" name="Content Placeholder 8">
                <a:extLst>
                  <a:ext uri="{FF2B5EF4-FFF2-40B4-BE49-F238E27FC236}">
                    <a16:creationId xmlns:a16="http://schemas.microsoft.com/office/drawing/2014/main" id="{4FD112F8-3DFF-4F3B-BE4E-98D1C0DD91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901" y="1214064"/>
                <a:ext cx="6773006" cy="2996738"/>
              </a:xfrm>
              <a:prstGeom prst="rect">
                <a:avLst/>
              </a:prstGeom>
              <a:blipFill>
                <a:blip r:embed="rId2"/>
                <a:stretch>
                  <a:fillRect t="-20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21D5E3-6F77-43E0-819F-5470ADEC23F3}"/>
                  </a:ext>
                </a:extLst>
              </p:cNvPr>
              <p:cNvSpPr txBox="1"/>
              <p:nvPr/>
            </p:nvSpPr>
            <p:spPr>
              <a:xfrm>
                <a:off x="4692954" y="2326395"/>
                <a:ext cx="4323084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For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when c is positive, the parabola moves up c units.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21D5E3-6F77-43E0-819F-5470ADEC2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2954" y="2326395"/>
                <a:ext cx="4323084" cy="646331"/>
              </a:xfrm>
              <a:prstGeom prst="rect">
                <a:avLst/>
              </a:prstGeom>
              <a:blipFill>
                <a:blip r:embed="rId3"/>
                <a:stretch>
                  <a:fillRect l="-1269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BEB28164-5F59-4DA1-AF53-1EBA67416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6536" y="2114822"/>
            <a:ext cx="2421900" cy="4642469"/>
          </a:xfrm>
          <a:prstGeom prst="rect">
            <a:avLst/>
          </a:prstGeom>
        </p:spPr>
      </p:pic>
      <p:pic>
        <p:nvPicPr>
          <p:cNvPr id="22" name="Picture 2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BD9951F-61A5-4B09-AB2A-8D3803064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566" y="3191989"/>
            <a:ext cx="3927223" cy="167915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067C1E7-D83F-43AB-BE38-F83F1823B041}"/>
              </a:ext>
            </a:extLst>
          </p:cNvPr>
          <p:cNvSpPr txBox="1"/>
          <p:nvPr/>
        </p:nvSpPr>
        <p:spPr>
          <a:xfrm>
            <a:off x="0" y="1324027"/>
            <a:ext cx="16644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/>
              <a:t>What is the Turning Point form (&amp; Vertical Translation)?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1429810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76"/>
          <a:stretch/>
        </p:blipFill>
        <p:spPr>
          <a:xfrm>
            <a:off x="754005" y="1570546"/>
            <a:ext cx="3257551" cy="311660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306451" y="2145202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AU" dirty="0"/>
                  <a:t> Shifts the parabola up 3 places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51" y="2145202"/>
                <a:ext cx="2651761" cy="646331"/>
              </a:xfrm>
              <a:prstGeom prst="rect">
                <a:avLst/>
              </a:prstGeom>
              <a:blipFill>
                <a:blip r:embed="rId3"/>
                <a:stretch>
                  <a:fillRect l="-1839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306451" y="3750072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AU" dirty="0"/>
                  <a:t>2 Shifts the parabola down 2 places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51" y="3750072"/>
                <a:ext cx="2651761" cy="646331"/>
              </a:xfrm>
              <a:prstGeom prst="rect">
                <a:avLst/>
              </a:prstGeom>
              <a:blipFill>
                <a:blip r:embed="rId4"/>
                <a:stretch>
                  <a:fillRect l="-1839" t="-3774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3861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E99761F-7257-4971-A29F-52896605AFAD}"/>
              </a:ext>
            </a:extLst>
          </p:cNvPr>
          <p:cNvCxnSpPr/>
          <p:nvPr/>
        </p:nvCxnSpPr>
        <p:spPr>
          <a:xfrm>
            <a:off x="0" y="898989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C55F253-47D0-4F0C-B0F6-63E0394D5CBF}"/>
              </a:ext>
            </a:extLst>
          </p:cNvPr>
          <p:cNvCxnSpPr/>
          <p:nvPr/>
        </p:nvCxnSpPr>
        <p:spPr>
          <a:xfrm>
            <a:off x="0" y="419528"/>
            <a:ext cx="9144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C244D35-B6AB-4FAE-931B-DB9FB5DFC7C8}"/>
              </a:ext>
            </a:extLst>
          </p:cNvPr>
          <p:cNvCxnSpPr>
            <a:cxnSpLocks/>
          </p:cNvCxnSpPr>
          <p:nvPr/>
        </p:nvCxnSpPr>
        <p:spPr>
          <a:xfrm flipH="1">
            <a:off x="1726058" y="898989"/>
            <a:ext cx="35960" cy="595901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A11E1F6-F623-4600-B8C8-2AF9FD286A44}"/>
              </a:ext>
            </a:extLst>
          </p:cNvPr>
          <p:cNvSpPr txBox="1"/>
          <p:nvPr/>
        </p:nvSpPr>
        <p:spPr>
          <a:xfrm>
            <a:off x="498905" y="5191"/>
            <a:ext cx="1690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Topic: Parabolas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5C21B-2F6D-4EB1-93C7-BFFA406AB95A}"/>
              </a:ext>
            </a:extLst>
          </p:cNvPr>
          <p:cNvSpPr txBox="1"/>
          <p:nvPr/>
        </p:nvSpPr>
        <p:spPr>
          <a:xfrm>
            <a:off x="498905" y="474966"/>
            <a:ext cx="4628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/>
              <a:t>EQ: How do parabolas change positions?</a:t>
            </a:r>
            <a:endParaRPr lang="en-GB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067C1E7-D83F-43AB-BE38-F83F1823B041}"/>
              </a:ext>
            </a:extLst>
          </p:cNvPr>
          <p:cNvSpPr txBox="1"/>
          <p:nvPr/>
        </p:nvSpPr>
        <p:spPr>
          <a:xfrm>
            <a:off x="0" y="1324027"/>
            <a:ext cx="166441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dirty="0"/>
              <a:t>What is the Turning Point form (&amp; Horizontal Translation)?</a:t>
            </a:r>
            <a:endParaRPr lang="en-GB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8">
                <a:extLst>
                  <a:ext uri="{FF2B5EF4-FFF2-40B4-BE49-F238E27FC236}">
                    <a16:creationId xmlns:a16="http://schemas.microsoft.com/office/drawing/2014/main" id="{78B5A6EE-7337-4A61-89BB-4C2DC500E5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8588" y="1196939"/>
                <a:ext cx="7117808" cy="4023360"/>
              </a:xfrm>
              <a:prstGeom prst="rect">
                <a:avLst/>
              </a:prstGeom>
            </p:spPr>
            <p:txBody>
              <a:bodyPr/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Tw Cen MT" panose="020B0602020104020603" pitchFamily="34" charset="0"/>
                  <a:buChar char=" 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26517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4480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59436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77724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914400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060704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216152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362456" indent="-13716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Wingdings 3" pitchFamily="18" charset="2"/>
                  <a:buChar char="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dirty="0"/>
                  <a:t>A change in 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AU" i="1" dirty="0"/>
                  <a:t> </a:t>
                </a:r>
                <a:r>
                  <a:rPr lang="en-AU" dirty="0"/>
                  <a:t>will impact the horizontal position of the graph (i.e. moving it left and right)</a:t>
                </a:r>
                <a:endParaRPr lang="en-AU" i="1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6" name="Content Placeholder 8">
                <a:extLst>
                  <a:ext uri="{FF2B5EF4-FFF2-40B4-BE49-F238E27FC236}">
                    <a16:creationId xmlns:a16="http://schemas.microsoft.com/office/drawing/2014/main" id="{78B5A6EE-7337-4A61-89BB-4C2DC500E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8588" y="1196939"/>
                <a:ext cx="7117808" cy="4023360"/>
              </a:xfrm>
              <a:prstGeom prst="rect">
                <a:avLst/>
              </a:prstGeom>
              <a:blipFill>
                <a:blip r:embed="rId2"/>
                <a:stretch>
                  <a:fillRect t="-15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2A366746-3764-499B-839E-D111B662C57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760" t="12417" r="13450" b="37506"/>
          <a:stretch/>
        </p:blipFill>
        <p:spPr>
          <a:xfrm>
            <a:off x="2072350" y="2052897"/>
            <a:ext cx="3885980" cy="2457458"/>
          </a:xfrm>
          <a:prstGeom prst="rect">
            <a:avLst/>
          </a:prstGeom>
        </p:spPr>
      </p:pic>
      <p:pic>
        <p:nvPicPr>
          <p:cNvPr id="3" name="Picture 2" descr="Diagram, letter&#10;&#10;Description automatically generated">
            <a:extLst>
              <a:ext uri="{FF2B5EF4-FFF2-40B4-BE49-F238E27FC236}">
                <a16:creationId xmlns:a16="http://schemas.microsoft.com/office/drawing/2014/main" id="{6D2CF5DE-A48D-4C0D-A7DC-C5FCF859D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9618" y="4651915"/>
            <a:ext cx="3280731" cy="2018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629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68E925A6-796F-43BA-BAC1-79972631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33875" cy="1344996"/>
          </a:xfrm>
          <a:prstGeom prst="rect">
            <a:avLst/>
          </a:prstGeom>
        </p:spPr>
      </p:pic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44ACC04D-1BF7-4872-9F88-5ED8E6236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48" y="2210909"/>
            <a:ext cx="6395605" cy="427199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8F0F45-B74B-4A24-BC9C-172287CA7D60}"/>
                  </a:ext>
                </a:extLst>
              </p:cNvPr>
              <p:cNvSpPr txBox="1"/>
              <p:nvPr/>
            </p:nvSpPr>
            <p:spPr>
              <a:xfrm>
                <a:off x="4464121" y="182694"/>
                <a:ext cx="4489807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to x= 2</a:t>
                </a:r>
              </a:p>
              <a:p>
                <a:endParaRPr lang="en-AU" noProof="0" dirty="0"/>
              </a:p>
              <a:p>
                <a14:m>
                  <m:oMath xmlns:m="http://schemas.openxmlformats.org/officeDocument/2006/math"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𝑦</m:t>
                    </m:r>
                    <m:r>
                      <a:rPr kumimoji="0" lang="en-AU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p>
                      <m:sSupPr>
                        <m:ctrlP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pPr>
                      <m:e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(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+2)</m:t>
                        </m:r>
                      </m:e>
                      <m:sup>
                        <m:r>
                          <a:rPr kumimoji="0" lang="en-AU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to x = -2</a:t>
                </a:r>
              </a:p>
              <a:p>
                <a:endParaRPr lang="en-AU" dirty="0"/>
              </a:p>
              <a:p>
                <a:r>
                  <a:rPr lang="en-AU" dirty="0"/>
                  <a:t>So, negative terms shift parabolas right, positive terms shift parabolas left.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8F0F45-B74B-4A24-BC9C-172287CA7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4121" y="182694"/>
                <a:ext cx="4489807" cy="1754326"/>
              </a:xfrm>
              <a:prstGeom prst="rect">
                <a:avLst/>
              </a:prstGeom>
              <a:blipFill>
                <a:blip r:embed="rId4"/>
                <a:stretch>
                  <a:fillRect l="-1085" t="-1736" b="-45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30252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38"/>
          <a:stretch/>
        </p:blipFill>
        <p:spPr>
          <a:xfrm>
            <a:off x="512562" y="1772298"/>
            <a:ext cx="3257551" cy="33134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437749" y="3601127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+2)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vertex to x=-2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48" y="3000939"/>
                <a:ext cx="2651761" cy="646331"/>
              </a:xfrm>
              <a:prstGeom prst="rect">
                <a:avLst/>
              </a:prstGeom>
              <a:blipFill>
                <a:blip r:embed="rId5"/>
                <a:stretch>
                  <a:fillRect l="-1839" t="-4717"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437749" y="4687153"/>
                <a:ext cx="265176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/>
                  <a:t> Shifts the parabola vertex to x= 1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7749" y="4687153"/>
                <a:ext cx="2651761" cy="646331"/>
              </a:xfrm>
              <a:prstGeom prst="rect">
                <a:avLst/>
              </a:prstGeom>
              <a:blipFill>
                <a:blip r:embed="rId6"/>
                <a:stretch>
                  <a:fillRect l="-1839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914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027E2-0275-4910-8BFF-EE0582176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LHS: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D67523-D98D-4BF5-9BA9-A369DFBA7F4D}"/>
                  </a:ext>
                </a:extLst>
              </p:cNvPr>
              <p:cNvSpPr txBox="1"/>
              <p:nvPr/>
            </p:nvSpPr>
            <p:spPr>
              <a:xfrm>
                <a:off x="768096" y="1967500"/>
                <a:ext cx="7821100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Draw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onto the graph paper provided. It maybe easier if you draw a table of values. </a:t>
                </a:r>
              </a:p>
              <a:p>
                <a:endParaRPr lang="en-GB" dirty="0"/>
              </a:p>
              <a:p>
                <a:r>
                  <a:rPr lang="en-GB" dirty="0"/>
                  <a:t>Tip: Go from -4 to 4 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Now draw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AU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dirty="0"/>
                  <a:t> Which way did this parabola move in relation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? </a:t>
                </a:r>
              </a:p>
              <a:p>
                <a:endParaRPr lang="en-GB" dirty="0"/>
              </a:p>
              <a:p>
                <a:r>
                  <a:rPr lang="en-GB" dirty="0"/>
                  <a:t>Lets add 2 more parabola to your graph – Draw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+6)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−7)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AU" b="0" dirty="0"/>
              </a:p>
              <a:p>
                <a:endParaRPr lang="en-GB" dirty="0"/>
              </a:p>
              <a:p>
                <a:r>
                  <a:rPr lang="en-GB" dirty="0"/>
                  <a:t>Which way did the parabolas move in relation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? 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Finally add 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3D67523-D98D-4BF5-9BA9-A369DFBA7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096" y="1967500"/>
                <a:ext cx="7821100" cy="4247317"/>
              </a:xfrm>
              <a:prstGeom prst="rect">
                <a:avLst/>
              </a:prstGeom>
              <a:blipFill>
                <a:blip r:embed="rId2"/>
                <a:stretch>
                  <a:fillRect l="-624" t="-718" b="-158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627C2F57-6A6D-4015-8E4B-5052041CF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2807100"/>
              </p:ext>
            </p:extLst>
          </p:nvPr>
        </p:nvGraphicFramePr>
        <p:xfrm>
          <a:off x="1215775" y="3209291"/>
          <a:ext cx="6096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9264333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95467432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5198813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30693575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3913347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95635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67295915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91558859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83083197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8300295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34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4929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301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4670-B9FD-420E-B806-8FEDAFC8F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pic>
        <p:nvPicPr>
          <p:cNvPr id="4" name="Picture 3" descr="Table&#10;&#10;Description automatically generated with low confidence">
            <a:extLst>
              <a:ext uri="{FF2B5EF4-FFF2-40B4-BE49-F238E27FC236}">
                <a16:creationId xmlns:a16="http://schemas.microsoft.com/office/drawing/2014/main" id="{94FA3F3C-7822-466A-978C-6C58F1E4B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7905"/>
            <a:ext cx="3452763" cy="2769177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2DB361A3-876A-4917-BE36-255523A82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302" y="883228"/>
            <a:ext cx="6170004" cy="5616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42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On your graph provided,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(x-2)</a:t>
            </a:r>
            <a:r>
              <a:rPr lang="en-AU" baseline="30000" dirty="0"/>
              <a:t>2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13526" y="3429000"/>
          <a:ext cx="6791500" cy="1093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150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36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25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36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(x+1)</a:t>
            </a:r>
            <a:r>
              <a:rPr lang="en-AU" baseline="30000" dirty="0"/>
              <a:t>2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13526" y="3429000"/>
          <a:ext cx="6791500" cy="1093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150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3910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(x-1)</a:t>
            </a:r>
            <a:r>
              <a:rPr lang="en-AU" baseline="30000" dirty="0"/>
              <a:t>2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13526" y="3429000"/>
          <a:ext cx="6791500" cy="1093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150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0840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(x+3)</a:t>
            </a:r>
            <a:r>
              <a:rPr lang="en-AU" baseline="30000" dirty="0"/>
              <a:t>2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13526" y="3429000"/>
          <a:ext cx="6791500" cy="1093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150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8311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3D1D3-B835-4A37-AB42-67B6BAB2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 your books, discuss the impact of changing the number added or taken from y = (</a:t>
            </a:r>
            <a:r>
              <a:rPr lang="en-AU" dirty="0" err="1"/>
              <a:t>x+k</a:t>
            </a:r>
            <a:r>
              <a:rPr lang="en-AU" dirty="0"/>
              <a:t>)</a:t>
            </a:r>
            <a:r>
              <a:rPr lang="en-AU" baseline="30000" dirty="0"/>
              <a:t>2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334965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/>
              <a:t>On your graph paper,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- (x+1)</a:t>
            </a:r>
            <a:r>
              <a:rPr lang="en-AU" baseline="30000" dirty="0"/>
              <a:t>2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13526" y="3429000"/>
          <a:ext cx="6791500" cy="1093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150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9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25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4807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68953-4A34-46A0-8E3C-D5F155042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 your books, create a table of values for the following rule, plot the following points and connect with a smooth 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84BFC6-A29F-4F10-B85F-F79E866583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Rule: y = (x-4)</a:t>
            </a:r>
            <a:r>
              <a:rPr lang="en-AU" baseline="30000" dirty="0"/>
              <a:t>2  </a:t>
            </a:r>
            <a:r>
              <a:rPr lang="en-AU" dirty="0"/>
              <a:t>- 5</a:t>
            </a:r>
            <a:r>
              <a:rPr lang="en-AU" baseline="30000" dirty="0"/>
              <a:t> </a:t>
            </a:r>
            <a:endParaRPr lang="en-AU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01EEFA7F-6720-4FBF-8701-F78E64BA722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13526" y="3429000"/>
          <a:ext cx="6791500" cy="1093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9150">
                  <a:extLst>
                    <a:ext uri="{9D8B030D-6E8A-4147-A177-3AD203B41FA5}">
                      <a16:colId xmlns:a16="http://schemas.microsoft.com/office/drawing/2014/main" val="81025155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40725899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234489624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913488277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9238456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50105882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1666988516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230986003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2813195040"/>
                    </a:ext>
                  </a:extLst>
                </a:gridCol>
                <a:gridCol w="679150">
                  <a:extLst>
                    <a:ext uri="{9D8B030D-6E8A-4147-A177-3AD203B41FA5}">
                      <a16:colId xmlns:a16="http://schemas.microsoft.com/office/drawing/2014/main" val="3014540498"/>
                    </a:ext>
                  </a:extLst>
                </a:gridCol>
              </a:tblGrid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X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-1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1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3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4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42519835"/>
                  </a:ext>
                </a:extLst>
              </a:tr>
              <a:tr h="546533">
                <a:tc>
                  <a:txBody>
                    <a:bodyPr/>
                    <a:lstStyle/>
                    <a:p>
                      <a:pPr algn="ctr"/>
                      <a:r>
                        <a:rPr lang="en-AU" sz="2700" dirty="0"/>
                        <a:t>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AU" sz="27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7964651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8288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1478</TotalTime>
  <Words>713</Words>
  <Application>Microsoft Office PowerPoint</Application>
  <PresentationFormat>On-screen Show (4:3)</PresentationFormat>
  <Paragraphs>164</Paragraphs>
  <Slides>22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Cambria Math</vt:lpstr>
      <vt:lpstr>Century Gothic</vt:lpstr>
      <vt:lpstr>Tw Cen MT</vt:lpstr>
      <vt:lpstr>Tw Cen MT Condensed</vt:lpstr>
      <vt:lpstr>Wingdings 3</vt:lpstr>
      <vt:lpstr>Integral</vt:lpstr>
      <vt:lpstr>Gallery</vt:lpstr>
      <vt:lpstr>Topic: Parabolas EQ: How do parabolas change positions?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Turning Point Form (&amp; Reflection)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LHS:</vt:lpstr>
      <vt:lpstr>Solution</vt:lpstr>
      <vt:lpstr>On your graph provided, plot the following points and connect with a smooth line</vt:lpstr>
      <vt:lpstr>In your books, create a table of values for the following rule, plot the following points and connect with a smooth line</vt:lpstr>
      <vt:lpstr>In your books, create a table of values for the following rule, plot the following points and connect with a smooth line</vt:lpstr>
      <vt:lpstr>In your books, create a table of values for the following rule, plot the following points and connect with a smooth line</vt:lpstr>
      <vt:lpstr>In your books, discuss the impact of changing the number added or taken from y = (x+k)2</vt:lpstr>
      <vt:lpstr>On your graph paper, plot the following points and connect with a smooth line</vt:lpstr>
      <vt:lpstr>In your books, create a table of values for the following rule, plot the following points and connect with a smooth 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E4093549</dc:creator>
  <cp:lastModifiedBy>Tony Nguyen</cp:lastModifiedBy>
  <cp:revision>28</cp:revision>
  <dcterms:created xsi:type="dcterms:W3CDTF">2017-03-26T12:36:47Z</dcterms:created>
  <dcterms:modified xsi:type="dcterms:W3CDTF">2021-08-22T12:41:28Z</dcterms:modified>
</cp:coreProperties>
</file>
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3"/>
  </p:notesMasterIdLst>
  <p:sldIdLst>
    <p:sldId id="322" r:id="rId3"/>
    <p:sldId id="360" r:id="rId4"/>
    <p:sldId id="361" r:id="rId5"/>
    <p:sldId id="363" r:id="rId6"/>
    <p:sldId id="362" r:id="rId7"/>
    <p:sldId id="364" r:id="rId8"/>
    <p:sldId id="366" r:id="rId9"/>
    <p:sldId id="365" r:id="rId10"/>
    <p:sldId id="367" r:id="rId11"/>
    <p:sldId id="263" r:id="rId12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y Nguyen" initials="TN" lastIdx="2" clrIdx="0">
    <p:extLst>
      <p:ext uri="{19B8F6BF-5375-455C-9EA6-DF929625EA0E}">
        <p15:presenceInfo xmlns:p15="http://schemas.microsoft.com/office/powerpoint/2012/main" userId="1f481f7b9cf3db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8537" autoAdjust="0"/>
  </p:normalViewPr>
  <p:slideViewPr>
    <p:cSldViewPr snapToGrid="0" snapToObjects="1">
      <p:cViewPr varScale="1">
        <p:scale>
          <a:sx n="93" d="100"/>
          <a:sy n="93" d="100"/>
        </p:scale>
        <p:origin x="639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BD4A-A91C-4E47-8743-EFFA608D5BE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22444-CE1B-1E4E-8F2E-41A287EDC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41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62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9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8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2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18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095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0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889" indent="0" algn="ctr">
              <a:buNone/>
              <a:defRPr sz="1800"/>
            </a:lvl2pPr>
            <a:lvl3pPr marL="685777" indent="0" algn="ctr">
              <a:buNone/>
              <a:defRPr sz="1800"/>
            </a:lvl3pPr>
            <a:lvl4pPr marL="1028666" indent="0" algn="ctr">
              <a:buNone/>
              <a:defRPr sz="1500"/>
            </a:lvl4pPr>
            <a:lvl5pPr marL="1371554" indent="0" algn="ctr">
              <a:buNone/>
              <a:defRPr sz="1500"/>
            </a:lvl5pPr>
            <a:lvl6pPr marL="1714443" indent="0" algn="ctr">
              <a:buNone/>
              <a:defRPr sz="1500"/>
            </a:lvl6pPr>
            <a:lvl7pPr marL="2057331" indent="0" algn="ctr">
              <a:buNone/>
              <a:defRPr sz="1500"/>
            </a:lvl7pPr>
            <a:lvl8pPr marL="2400220" indent="0" algn="ctr">
              <a:buNone/>
              <a:defRPr sz="1500"/>
            </a:lvl8pPr>
            <a:lvl9pPr marL="2743109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8/31/2021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00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8/31/2021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935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88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7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5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4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3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2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0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8/31/2021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21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351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889" indent="0">
              <a:buNone/>
              <a:defRPr sz="1500" b="1"/>
            </a:lvl2pPr>
            <a:lvl3pPr marL="685777" indent="0">
              <a:buNone/>
              <a:defRPr sz="1350" b="1"/>
            </a:lvl3pPr>
            <a:lvl4pPr marL="1028666" indent="0">
              <a:buNone/>
              <a:defRPr sz="1200" b="1"/>
            </a:lvl4pPr>
            <a:lvl5pPr marL="1371554" indent="0">
              <a:buNone/>
              <a:defRPr sz="1200" b="1"/>
            </a:lvl5pPr>
            <a:lvl6pPr marL="1714443" indent="0">
              <a:buNone/>
              <a:defRPr sz="1200" b="1"/>
            </a:lvl6pPr>
            <a:lvl7pPr marL="2057331" indent="0">
              <a:buNone/>
              <a:defRPr sz="1200" b="1"/>
            </a:lvl7pPr>
            <a:lvl8pPr marL="2400220" indent="0">
              <a:buNone/>
              <a:defRPr sz="1200" b="1"/>
            </a:lvl8pPr>
            <a:lvl9pPr marL="274310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889" indent="0">
              <a:buNone/>
              <a:defRPr sz="1500" b="1"/>
            </a:lvl2pPr>
            <a:lvl3pPr marL="685777" indent="0">
              <a:buNone/>
              <a:defRPr sz="1350" b="1"/>
            </a:lvl3pPr>
            <a:lvl4pPr marL="1028666" indent="0">
              <a:buNone/>
              <a:defRPr sz="1200" b="1"/>
            </a:lvl4pPr>
            <a:lvl5pPr marL="1371554" indent="0">
              <a:buNone/>
              <a:defRPr sz="1200" b="1"/>
            </a:lvl5pPr>
            <a:lvl6pPr marL="1714443" indent="0">
              <a:buNone/>
              <a:defRPr sz="1200" b="1"/>
            </a:lvl6pPr>
            <a:lvl7pPr marL="2057331" indent="0">
              <a:buNone/>
              <a:defRPr sz="1200" b="1"/>
            </a:lvl7pPr>
            <a:lvl8pPr marL="2400220" indent="0">
              <a:buNone/>
              <a:defRPr sz="1200" b="1"/>
            </a:lvl8pPr>
            <a:lvl9pPr marL="274310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677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68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61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4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594359"/>
            <a:ext cx="2400300" cy="22860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889" indent="0">
              <a:buNone/>
              <a:defRPr sz="900"/>
            </a:lvl2pPr>
            <a:lvl3pPr marL="685777" indent="0">
              <a:buNone/>
              <a:defRPr sz="750"/>
            </a:lvl3pPr>
            <a:lvl4pPr marL="1028666" indent="0">
              <a:buNone/>
              <a:defRPr sz="675"/>
            </a:lvl4pPr>
            <a:lvl5pPr marL="1371554" indent="0">
              <a:buNone/>
              <a:defRPr sz="675"/>
            </a:lvl5pPr>
            <a:lvl6pPr marL="1714443" indent="0">
              <a:buNone/>
              <a:defRPr sz="675"/>
            </a:lvl6pPr>
            <a:lvl7pPr marL="2057331" indent="0">
              <a:buNone/>
              <a:defRPr sz="675"/>
            </a:lvl7pPr>
            <a:lvl8pPr marL="2400220" indent="0">
              <a:buNone/>
              <a:defRPr sz="675"/>
            </a:lvl8pPr>
            <a:lvl9pPr marL="2743109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7"/>
            <a:ext cx="1963882" cy="365125"/>
          </a:xfrm>
        </p:spPr>
        <p:txBody>
          <a:bodyPr/>
          <a:lstStyle>
            <a:lvl1pPr algn="l">
              <a:defRPr/>
            </a:lvl1pPr>
          </a:lstStyle>
          <a:p>
            <a:fld id="{C2C6F8EA-316C-41DE-B9A4-EDCC3A85ED9A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7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512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4948" cy="82296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889" indent="0">
              <a:buNone/>
              <a:defRPr sz="2100"/>
            </a:lvl2pPr>
            <a:lvl3pPr marL="685777" indent="0">
              <a:buNone/>
              <a:defRPr sz="1800"/>
            </a:lvl3pPr>
            <a:lvl4pPr marL="1028666" indent="0">
              <a:buNone/>
              <a:defRPr sz="1500"/>
            </a:lvl4pPr>
            <a:lvl5pPr marL="1371554" indent="0">
              <a:buNone/>
              <a:defRPr sz="1500"/>
            </a:lvl5pPr>
            <a:lvl6pPr marL="1714443" indent="0">
              <a:buNone/>
              <a:defRPr sz="1500"/>
            </a:lvl6pPr>
            <a:lvl7pPr marL="2057331" indent="0">
              <a:buNone/>
              <a:defRPr sz="1500"/>
            </a:lvl7pPr>
            <a:lvl8pPr marL="2400220" indent="0">
              <a:buNone/>
              <a:defRPr sz="1500"/>
            </a:lvl8pPr>
            <a:lvl9pPr marL="2743109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3"/>
            <a:ext cx="7584948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889" indent="0">
              <a:buNone/>
              <a:defRPr sz="900"/>
            </a:lvl2pPr>
            <a:lvl3pPr marL="685777" indent="0">
              <a:buNone/>
              <a:defRPr sz="750"/>
            </a:lvl3pPr>
            <a:lvl4pPr marL="1028666" indent="0">
              <a:buNone/>
              <a:defRPr sz="675"/>
            </a:lvl4pPr>
            <a:lvl5pPr marL="1371554" indent="0">
              <a:buNone/>
              <a:defRPr sz="675"/>
            </a:lvl5pPr>
            <a:lvl6pPr marL="1714443" indent="0">
              <a:buNone/>
              <a:defRPr sz="675"/>
            </a:lvl6pPr>
            <a:lvl7pPr marL="2057331" indent="0">
              <a:buNone/>
              <a:defRPr sz="675"/>
            </a:lvl7pPr>
            <a:lvl8pPr marL="2400220" indent="0">
              <a:buNone/>
              <a:defRPr sz="675"/>
            </a:lvl8pPr>
            <a:lvl9pPr marL="2743109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8/31/2021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4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9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80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8"/>
            <a:ext cx="5800725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906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C6EFA5-EDA3-5B41-AB62-716640C6E233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44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5734"/>
            <a:ext cx="75438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7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8/31/2021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7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7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29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77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78" indent="-68578" algn="l" defTabSz="685777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27" indent="-137155" algn="l" defTabSz="685777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82" indent="-137155" algn="l" defTabSz="685777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37" indent="-137155" algn="l" defTabSz="685777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492" indent="-137155" algn="l" defTabSz="685777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972" indent="-171444" algn="l" defTabSz="685777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967" indent="-171444" algn="l" defTabSz="685777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4962" indent="-171444" algn="l" defTabSz="685777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4957" indent="-171444" algn="l" defTabSz="685777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9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6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4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3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1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09" algn="l" defTabSz="68577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2359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Quadratic Roots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find the roots of a quadratic using the quadratic formula?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/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𝐸𝑥𝑎𝑚𝑝𝑙𝑒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−9=0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blipFill>
                <a:blip r:embed="rId2"/>
                <a:stretch>
                  <a:fillRect l="-2410" r="-1205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E6FB0B9-67A4-44EB-BD35-B3A3483C1AF6}"/>
              </a:ext>
            </a:extLst>
          </p:cNvPr>
          <p:cNvSpPr txBox="1"/>
          <p:nvPr/>
        </p:nvSpPr>
        <p:spPr>
          <a:xfrm>
            <a:off x="1519966" y="2090791"/>
            <a:ext cx="73671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First thing you do is label you’re a, b and c. a and b are coefficients and c is your constant</a:t>
            </a:r>
          </a:p>
          <a:p>
            <a:endParaRPr lang="en-GB" dirty="0"/>
          </a:p>
          <a:p>
            <a:r>
              <a:rPr lang="en-GB" dirty="0"/>
              <a:t>a = 1</a:t>
            </a:r>
          </a:p>
          <a:p>
            <a:r>
              <a:rPr lang="en-GB" dirty="0"/>
              <a:t>b = -5</a:t>
            </a:r>
          </a:p>
          <a:p>
            <a:r>
              <a:rPr lang="en-GB" dirty="0"/>
              <a:t>c = -9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C2B97B-B689-4795-971F-51BB4154D746}"/>
                  </a:ext>
                </a:extLst>
              </p:cNvPr>
              <p:cNvSpPr txBox="1"/>
              <p:nvPr/>
            </p:nvSpPr>
            <p:spPr>
              <a:xfrm>
                <a:off x="1589621" y="4159755"/>
                <a:ext cx="7367180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now need to determine the discriminant:</a:t>
                </a:r>
              </a:p>
              <a:p>
                <a:endParaRPr lang="en-GB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𝐹𝑜𝑟𝑚𝑢𝑙𝑎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C2B97B-B689-4795-971F-51BB4154D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621" y="4159755"/>
                <a:ext cx="7367180" cy="946991"/>
              </a:xfrm>
              <a:prstGeom prst="rect">
                <a:avLst/>
              </a:prstGeom>
              <a:blipFill>
                <a:blip r:embed="rId3"/>
                <a:stretch>
                  <a:fillRect l="-745" t="-3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70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2359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Quadratic Roots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find the roots of a quadratic using the quadratic formula?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/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𝐸𝑥𝑎𝑚𝑝𝑙𝑒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−9=0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blipFill>
                <a:blip r:embed="rId2"/>
                <a:stretch>
                  <a:fillRect l="-2410" r="-1205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C2B97B-B689-4795-971F-51BB4154D746}"/>
                  </a:ext>
                </a:extLst>
              </p:cNvPr>
              <p:cNvSpPr txBox="1"/>
              <p:nvPr/>
            </p:nvSpPr>
            <p:spPr>
              <a:xfrm>
                <a:off x="1264228" y="1919988"/>
                <a:ext cx="30748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𝐹𝑜𝑟𝑚𝑢𝑙𝑎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C2B97B-B689-4795-971F-51BB4154D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228" y="1919988"/>
                <a:ext cx="307484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852C9E-9C3E-493A-A85B-B164BF748F3E}"/>
                  </a:ext>
                </a:extLst>
              </p:cNvPr>
              <p:cNvSpPr txBox="1"/>
              <p:nvPr/>
            </p:nvSpPr>
            <p:spPr>
              <a:xfrm>
                <a:off x="2315617" y="2572452"/>
                <a:ext cx="30748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=(−5)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(1)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(−9)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852C9E-9C3E-493A-A85B-B164BF748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617" y="2572452"/>
                <a:ext cx="3074846" cy="923330"/>
              </a:xfrm>
              <a:prstGeom prst="rect">
                <a:avLst/>
              </a:prstGeom>
              <a:blipFill>
                <a:blip r:embed="rId4"/>
                <a:stretch>
                  <a:fillRect b="-52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C17B88-3080-4CD2-B398-9C9488F4E461}"/>
                  </a:ext>
                </a:extLst>
              </p:cNvPr>
              <p:cNvSpPr txBox="1"/>
              <p:nvPr/>
            </p:nvSpPr>
            <p:spPr>
              <a:xfrm>
                <a:off x="2509114" y="3220072"/>
                <a:ext cx="3074846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pPr/>
                <a:r>
                  <a:rPr lang="en-AU" b="0" dirty="0"/>
                  <a:t>=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25+36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C17B88-3080-4CD2-B398-9C9488F4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14" y="3220072"/>
                <a:ext cx="3074846" cy="946991"/>
              </a:xfrm>
              <a:prstGeom prst="rect">
                <a:avLst/>
              </a:prstGeom>
              <a:blipFill>
                <a:blip r:embed="rId5"/>
                <a:stretch>
                  <a:fillRect l="-1786" b="-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7D5312-C2A8-4B3E-AB6C-97F3832D1A7B}"/>
                  </a:ext>
                </a:extLst>
              </p:cNvPr>
              <p:cNvSpPr txBox="1"/>
              <p:nvPr/>
            </p:nvSpPr>
            <p:spPr>
              <a:xfrm>
                <a:off x="2544811" y="3872536"/>
                <a:ext cx="3074846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pPr/>
                <a:r>
                  <a:rPr lang="en-AU" b="0" dirty="0"/>
                  <a:t>=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7D5312-C2A8-4B3E-AB6C-97F3832D1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811" y="3872536"/>
                <a:ext cx="3074846" cy="946991"/>
              </a:xfrm>
              <a:prstGeom prst="rect">
                <a:avLst/>
              </a:prstGeom>
              <a:blipFill>
                <a:blip r:embed="rId6"/>
                <a:stretch>
                  <a:fillRect l="-1584" b="-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32161A9-28D0-4F64-B385-B50A4670F2ED}"/>
              </a:ext>
            </a:extLst>
          </p:cNvPr>
          <p:cNvSpPr txBox="1"/>
          <p:nvPr/>
        </p:nvSpPr>
        <p:spPr>
          <a:xfrm>
            <a:off x="1972638" y="5516242"/>
            <a:ext cx="593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 now know the discriminant is 61, so its not a square number</a:t>
            </a:r>
          </a:p>
        </p:txBody>
      </p:sp>
    </p:spTree>
    <p:extLst>
      <p:ext uri="{BB962C8B-B14F-4D97-AF65-F5344CB8AC3E}">
        <p14:creationId xmlns:p14="http://schemas.microsoft.com/office/powerpoint/2010/main" val="86253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2359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Quadratic Roots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find the roots of a quadratic using the quadratic formula?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/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𝐸𝑥𝑎𝑚𝑝𝑙𝑒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−9=0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blipFill>
                <a:blip r:embed="rId2"/>
                <a:stretch>
                  <a:fillRect l="-2410" r="-1205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C2B97B-B689-4795-971F-51BB4154D746}"/>
                  </a:ext>
                </a:extLst>
              </p:cNvPr>
              <p:cNvSpPr txBox="1"/>
              <p:nvPr/>
            </p:nvSpPr>
            <p:spPr>
              <a:xfrm>
                <a:off x="1264228" y="1919988"/>
                <a:ext cx="30748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𝐹𝑜𝑟𝑚𝑢𝑙𝑎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C2B97B-B689-4795-971F-51BB4154D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228" y="1919988"/>
                <a:ext cx="307484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852C9E-9C3E-493A-A85B-B164BF748F3E}"/>
                  </a:ext>
                </a:extLst>
              </p:cNvPr>
              <p:cNvSpPr txBox="1"/>
              <p:nvPr/>
            </p:nvSpPr>
            <p:spPr>
              <a:xfrm>
                <a:off x="2315617" y="2572452"/>
                <a:ext cx="30748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=(−5)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×(1)×(−9)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852C9E-9C3E-493A-A85B-B164BF748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617" y="2572452"/>
                <a:ext cx="3074846" cy="923330"/>
              </a:xfrm>
              <a:prstGeom prst="rect">
                <a:avLst/>
              </a:prstGeom>
              <a:blipFill>
                <a:blip r:embed="rId4"/>
                <a:stretch>
                  <a:fillRect b="-52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C17B88-3080-4CD2-B398-9C9488F4E461}"/>
                  </a:ext>
                </a:extLst>
              </p:cNvPr>
              <p:cNvSpPr txBox="1"/>
              <p:nvPr/>
            </p:nvSpPr>
            <p:spPr>
              <a:xfrm>
                <a:off x="2509114" y="3220072"/>
                <a:ext cx="3074846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r>
                  <a:rPr lang="en-AU" b="0" dirty="0"/>
                  <a:t>=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25+36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C17B88-3080-4CD2-B398-9C9488F4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14" y="3220072"/>
                <a:ext cx="3074846" cy="946991"/>
              </a:xfrm>
              <a:prstGeom prst="rect">
                <a:avLst/>
              </a:prstGeom>
              <a:blipFill>
                <a:blip r:embed="rId5"/>
                <a:stretch>
                  <a:fillRect l="-1786" b="-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7D5312-C2A8-4B3E-AB6C-97F3832D1A7B}"/>
                  </a:ext>
                </a:extLst>
              </p:cNvPr>
              <p:cNvSpPr txBox="1"/>
              <p:nvPr/>
            </p:nvSpPr>
            <p:spPr>
              <a:xfrm>
                <a:off x="2544811" y="3872536"/>
                <a:ext cx="3074846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r>
                  <a:rPr lang="en-AU" b="0" dirty="0"/>
                  <a:t>=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7D5312-C2A8-4B3E-AB6C-97F3832D1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811" y="3872536"/>
                <a:ext cx="3074846" cy="946991"/>
              </a:xfrm>
              <a:prstGeom prst="rect">
                <a:avLst/>
              </a:prstGeom>
              <a:blipFill>
                <a:blip r:embed="rId6"/>
                <a:stretch>
                  <a:fillRect l="-1584" b="-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172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2359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Quadratic Roots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find the roots of a quadratic using the quadratic formula?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/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𝐸𝑥𝑎𝑚𝑝𝑙𝑒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−9=0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blipFill>
                <a:blip r:embed="rId2"/>
                <a:stretch>
                  <a:fillRect l="-2410" r="-1205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DD025F-6999-450F-8B05-52DFB6A32AC4}"/>
                  </a:ext>
                </a:extLst>
              </p:cNvPr>
              <p:cNvSpPr txBox="1"/>
              <p:nvPr/>
            </p:nvSpPr>
            <p:spPr>
              <a:xfrm>
                <a:off x="2206113" y="3411967"/>
                <a:ext cx="4628508" cy="685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DD025F-6999-450F-8B05-52DFB6A32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113" y="3411967"/>
                <a:ext cx="4628508" cy="685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9411607-EF2F-4E70-8065-A61556071E25}"/>
              </a:ext>
            </a:extLst>
          </p:cNvPr>
          <p:cNvSpPr txBox="1"/>
          <p:nvPr/>
        </p:nvSpPr>
        <p:spPr>
          <a:xfrm>
            <a:off x="1528279" y="2097066"/>
            <a:ext cx="6485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We get the general rule for the solutions to all quadratic equations with what we call the </a:t>
            </a:r>
            <a:r>
              <a:rPr lang="en-AU" b="1" dirty="0"/>
              <a:t>QUADRATIC FORMULA</a:t>
            </a:r>
          </a:p>
        </p:txBody>
      </p:sp>
    </p:spTree>
    <p:extLst>
      <p:ext uri="{BB962C8B-B14F-4D97-AF65-F5344CB8AC3E}">
        <p14:creationId xmlns:p14="http://schemas.microsoft.com/office/powerpoint/2010/main" val="304855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2359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Quadratic Roots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find the roots of a quadratic using the quadratic formula?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/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𝐸𝑥𝑎𝑚𝑝𝑙𝑒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−9=0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651" y="1378450"/>
                <a:ext cx="3036985" cy="307777"/>
              </a:xfrm>
              <a:prstGeom prst="rect">
                <a:avLst/>
              </a:prstGeom>
              <a:blipFill>
                <a:blip r:embed="rId2"/>
                <a:stretch>
                  <a:fillRect l="-2410" r="-1205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DD025F-6999-450F-8B05-52DFB6A32AC4}"/>
                  </a:ext>
                </a:extLst>
              </p:cNvPr>
              <p:cNvSpPr txBox="1"/>
              <p:nvPr/>
            </p:nvSpPr>
            <p:spPr>
              <a:xfrm>
                <a:off x="1024585" y="2736441"/>
                <a:ext cx="4628508" cy="685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DD025F-6999-450F-8B05-52DFB6A32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585" y="2736441"/>
                <a:ext cx="4628508" cy="685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538780-31F1-47B7-95EB-87D881411901}"/>
                  </a:ext>
                </a:extLst>
              </p:cNvPr>
              <p:cNvSpPr txBox="1"/>
              <p:nvPr/>
            </p:nvSpPr>
            <p:spPr>
              <a:xfrm>
                <a:off x="1079380" y="4167974"/>
                <a:ext cx="4628508" cy="1278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61</m:t>
                              </m:r>
                            </m:e>
                          </m:rad>
                        </m:num>
                        <m:den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:endParaRPr lang="en-GB" dirty="0"/>
              </a:p>
              <a:p>
                <a:pPr algn="ctr"/>
                <a:r>
                  <a:rPr lang="en-GB" dirty="0"/>
                  <a:t>            or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538780-31F1-47B7-95EB-87D881411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380" y="4167974"/>
                <a:ext cx="4628508" cy="1278235"/>
              </a:xfrm>
              <a:prstGeom prst="rect">
                <a:avLst/>
              </a:prstGeom>
              <a:blipFill>
                <a:blip r:embed="rId4"/>
                <a:stretch>
                  <a:fillRect b="-71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CB45DF-DF08-4C0B-A0D8-C11139B32254}"/>
                  </a:ext>
                </a:extLst>
              </p:cNvPr>
              <p:cNvSpPr txBox="1"/>
              <p:nvPr/>
            </p:nvSpPr>
            <p:spPr>
              <a:xfrm>
                <a:off x="2857949" y="5843174"/>
                <a:ext cx="1772292" cy="617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5+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√61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√61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CB45DF-DF08-4C0B-A0D8-C11139B32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949" y="5843174"/>
                <a:ext cx="1772292" cy="617861"/>
              </a:xfrm>
              <a:prstGeom prst="rect">
                <a:avLst/>
              </a:prstGeom>
              <a:blipFill>
                <a:blip r:embed="rId5"/>
                <a:stretch>
                  <a:fillRect r="-103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340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2359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Quadratic Roots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find the roots of a quadratic using the quadratic formula?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ABCBE0-B5C0-4ADE-A1B1-731C445EF326}"/>
                  </a:ext>
                </a:extLst>
              </p:cNvPr>
              <p:cNvSpPr txBox="1"/>
              <p:nvPr/>
            </p:nvSpPr>
            <p:spPr>
              <a:xfrm>
                <a:off x="2350214" y="1303800"/>
                <a:ext cx="60489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Use the quadratic formula to 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+6</m:t>
                    </m:r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+8=0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ABCBE0-B5C0-4ADE-A1B1-731C445EF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214" y="1303800"/>
                <a:ext cx="6048910" cy="369332"/>
              </a:xfrm>
              <a:prstGeom prst="rect">
                <a:avLst/>
              </a:prstGeom>
              <a:blipFill>
                <a:blip r:embed="rId2"/>
                <a:stretch>
                  <a:fillRect l="-907" t="-8333" b="-2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549403-C9E0-4FA9-8D81-0777C77E97F2}"/>
                  </a:ext>
                </a:extLst>
              </p:cNvPr>
              <p:cNvSpPr txBox="1"/>
              <p:nvPr/>
            </p:nvSpPr>
            <p:spPr>
              <a:xfrm>
                <a:off x="2673587" y="2447274"/>
                <a:ext cx="4628508" cy="685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549403-C9E0-4FA9-8D81-0777C77E9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587" y="2447274"/>
                <a:ext cx="4628508" cy="685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02E808E-3321-41FB-BE3C-07E85C6BFEBE}"/>
              </a:ext>
            </a:extLst>
          </p:cNvPr>
          <p:cNvSpPr txBox="1"/>
          <p:nvPr/>
        </p:nvSpPr>
        <p:spPr>
          <a:xfrm>
            <a:off x="1608895" y="3509162"/>
            <a:ext cx="3765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It is easier to find the discriminant first!!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B148F2-FD7D-4ED9-8553-2C76065E2585}"/>
                  </a:ext>
                </a:extLst>
              </p:cNvPr>
              <p:cNvSpPr txBox="1"/>
              <p:nvPr/>
            </p:nvSpPr>
            <p:spPr>
              <a:xfrm>
                <a:off x="696074" y="4161302"/>
                <a:ext cx="4628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𝐹𝑜𝑟𝑚𝑢𝑙𝑎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B148F2-FD7D-4ED9-8553-2C76065E2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74" y="4161302"/>
                <a:ext cx="46285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5DFBF1-4269-4DC8-B992-76574B8858AE}"/>
                  </a:ext>
                </a:extLst>
              </p:cNvPr>
              <p:cNvSpPr txBox="1"/>
              <p:nvPr/>
            </p:nvSpPr>
            <p:spPr>
              <a:xfrm>
                <a:off x="2759600" y="4744621"/>
                <a:ext cx="4628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(6)</m:t>
                          </m:r>
                        </m:e>
                        <m:sup>
                          <m:r>
                            <a:rPr lang="en-AU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18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(1)(8</m:t>
                      </m:r>
                      <m:r>
                        <a:rPr lang="en-AU" sz="1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5DFBF1-4269-4DC8-B992-76574B885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600" y="4744621"/>
                <a:ext cx="4628508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20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2359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Quadratic Roots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find the roots of a quadratic using the quadratic formula?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ABCBE0-B5C0-4ADE-A1B1-731C445EF326}"/>
                  </a:ext>
                </a:extLst>
              </p:cNvPr>
              <p:cNvSpPr txBox="1"/>
              <p:nvPr/>
            </p:nvSpPr>
            <p:spPr>
              <a:xfrm>
                <a:off x="1692668" y="1097716"/>
                <a:ext cx="60489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Use the quadratic formula to 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+6</m:t>
                    </m:r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+8=0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ABCBE0-B5C0-4ADE-A1B1-731C445EF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668" y="1097716"/>
                <a:ext cx="6048910" cy="369332"/>
              </a:xfrm>
              <a:prstGeom prst="rect">
                <a:avLst/>
              </a:prstGeom>
              <a:blipFill>
                <a:blip r:embed="rId2"/>
                <a:stretch>
                  <a:fillRect l="-907" t="-655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549403-C9E0-4FA9-8D81-0777C77E97F2}"/>
                  </a:ext>
                </a:extLst>
              </p:cNvPr>
              <p:cNvSpPr txBox="1"/>
              <p:nvPr/>
            </p:nvSpPr>
            <p:spPr>
              <a:xfrm>
                <a:off x="2673587" y="1722915"/>
                <a:ext cx="4628508" cy="685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AU" sz="1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549403-C9E0-4FA9-8D81-0777C77E9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587" y="1722915"/>
                <a:ext cx="4628508" cy="685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B148F2-FD7D-4ED9-8553-2C76065E2585}"/>
                  </a:ext>
                </a:extLst>
              </p:cNvPr>
              <p:cNvSpPr txBox="1"/>
              <p:nvPr/>
            </p:nvSpPr>
            <p:spPr>
              <a:xfrm>
                <a:off x="588196" y="2873311"/>
                <a:ext cx="4628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𝐹𝑜𝑟𝑚𝑢𝑙𝑎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B148F2-FD7D-4ED9-8553-2C76065E2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96" y="2873311"/>
                <a:ext cx="46285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5DFBF1-4269-4DC8-B992-76574B8858AE}"/>
                  </a:ext>
                </a:extLst>
              </p:cNvPr>
              <p:cNvSpPr txBox="1"/>
              <p:nvPr/>
            </p:nvSpPr>
            <p:spPr>
              <a:xfrm>
                <a:off x="1054090" y="3429000"/>
                <a:ext cx="462850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=(6)</m:t>
                          </m:r>
                        </m:e>
                        <m:sup>
                          <m:r>
                            <a:rPr lang="en-AU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1800" i="1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AU" sz="1800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5DFBF1-4269-4DC8-B992-76574B885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90" y="3429000"/>
                <a:ext cx="462850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788B68-4B09-409C-8162-727325630F13}"/>
                  </a:ext>
                </a:extLst>
              </p:cNvPr>
              <p:cNvSpPr txBox="1"/>
              <p:nvPr/>
            </p:nvSpPr>
            <p:spPr>
              <a:xfrm>
                <a:off x="2542853" y="3984689"/>
                <a:ext cx="429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788B68-4B09-409C-8162-727325630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853" y="3984689"/>
                <a:ext cx="429605" cy="276999"/>
              </a:xfrm>
              <a:prstGeom prst="rect">
                <a:avLst/>
              </a:prstGeom>
              <a:blipFill>
                <a:blip r:embed="rId6"/>
                <a:stretch>
                  <a:fillRect l="-4225" r="-11268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91F164-1DA5-475F-ADE2-DA5A99B3C0A7}"/>
                  </a:ext>
                </a:extLst>
              </p:cNvPr>
              <p:cNvSpPr txBox="1"/>
              <p:nvPr/>
            </p:nvSpPr>
            <p:spPr>
              <a:xfrm>
                <a:off x="658204" y="5397973"/>
                <a:ext cx="4628508" cy="724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</m:num>
                        <m:den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91F164-1DA5-475F-ADE2-DA5A99B3C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04" y="5397973"/>
                <a:ext cx="4628508" cy="7246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468DBAE-5F72-45FC-8C1F-0F0795258807}"/>
              </a:ext>
            </a:extLst>
          </p:cNvPr>
          <p:cNvSpPr txBox="1"/>
          <p:nvPr/>
        </p:nvSpPr>
        <p:spPr>
          <a:xfrm>
            <a:off x="4290757" y="5575618"/>
            <a:ext cx="377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768166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2359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Quadratic Roots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find the roots of a quadratic using the quadratic formula?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ABCBE0-B5C0-4ADE-A1B1-731C445EF326}"/>
                  </a:ext>
                </a:extLst>
              </p:cNvPr>
              <p:cNvSpPr txBox="1"/>
              <p:nvPr/>
            </p:nvSpPr>
            <p:spPr>
              <a:xfrm>
                <a:off x="1692668" y="1097716"/>
                <a:ext cx="60489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Use the quadratic formula to 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+6</m:t>
                    </m:r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+8=0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ABCBE0-B5C0-4ADE-A1B1-731C445EF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668" y="1097716"/>
                <a:ext cx="6048910" cy="369332"/>
              </a:xfrm>
              <a:prstGeom prst="rect">
                <a:avLst/>
              </a:prstGeom>
              <a:blipFill>
                <a:blip r:embed="rId2"/>
                <a:stretch>
                  <a:fillRect l="-907" t="-655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91F164-1DA5-475F-ADE2-DA5A99B3C0A7}"/>
                  </a:ext>
                </a:extLst>
              </p:cNvPr>
              <p:cNvSpPr txBox="1"/>
              <p:nvPr/>
            </p:nvSpPr>
            <p:spPr>
              <a:xfrm>
                <a:off x="2353529" y="2173961"/>
                <a:ext cx="4628508" cy="724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AU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</m:num>
                        <m:den>
                          <m:r>
                            <a:rPr lang="en-AU" sz="18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91F164-1DA5-475F-ADE2-DA5A99B3C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529" y="2173961"/>
                <a:ext cx="4628508" cy="724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468DBAE-5F72-45FC-8C1F-0F0795258807}"/>
              </a:ext>
            </a:extLst>
          </p:cNvPr>
          <p:cNvSpPr txBox="1"/>
          <p:nvPr/>
        </p:nvSpPr>
        <p:spPr>
          <a:xfrm>
            <a:off x="4667783" y="3661417"/>
            <a:ext cx="377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73B8AD-DF08-473E-924E-20920E918513}"/>
                  </a:ext>
                </a:extLst>
              </p:cNvPr>
              <p:cNvSpPr txBox="1"/>
              <p:nvPr/>
            </p:nvSpPr>
            <p:spPr>
              <a:xfrm>
                <a:off x="2542042" y="4442615"/>
                <a:ext cx="4628508" cy="2635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−6+2</m:t>
                          </m:r>
                        </m:num>
                        <m:den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−6−2</m:t>
                          </m:r>
                        </m:num>
                        <m:den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1800" b="0" dirty="0"/>
              </a:p>
              <a:p>
                <a:pPr>
                  <a:lnSpc>
                    <a:spcPct val="125000"/>
                  </a:lnSpc>
                </a:pPr>
                <a:br>
                  <a:rPr lang="en-AU" sz="18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=−2 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AU" sz="1800" b="0" i="1" smtClean="0">
                          <a:latin typeface="Cambria Math" panose="02040503050406030204" pitchFamily="18" charset="0"/>
                        </a:rPr>
                        <m:t> −4</m:t>
                      </m:r>
                    </m:oMath>
                  </m:oMathPara>
                </a14:m>
                <a:endParaRPr lang="en-AU" sz="1800" dirty="0"/>
              </a:p>
              <a:p>
                <a:br>
                  <a:rPr lang="en-AU" sz="1800" dirty="0"/>
                </a:br>
                <a:endParaRPr lang="en-AU" sz="18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673B8AD-DF08-473E-924E-20920E918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042" y="4442615"/>
                <a:ext cx="4628508" cy="26353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69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BBC2-F2D0-4A2A-B5C6-4778CD8B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13FC72-A90B-4CF3-8592-E1223AE73B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sz="2800" dirty="0">
                    <a:solidFill>
                      <a:schemeClr val="tx1"/>
                    </a:solidFill>
                  </a:rPr>
                  <a:t>Use the quadratic formula to solve:</a:t>
                </a:r>
              </a:p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−8</m:t>
                    </m:r>
                    <m:r>
                      <a:rPr lang="en-AU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−20=0</m:t>
                    </m:r>
                  </m:oMath>
                </a14:m>
                <a:endParaRPr lang="en-AU" sz="2800" b="0" dirty="0">
                  <a:solidFill>
                    <a:schemeClr val="tx1"/>
                  </a:solidFill>
                </a:endParaRPr>
              </a:p>
              <a:p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13FC72-A90B-4CF3-8592-E1223AE73B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3" t="-2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46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30CE74-1D79-45D8-B656-CE21C02394C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dirty="0"/>
                  <a:t>Solution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60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60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−8</m:t>
                    </m:r>
                    <m:r>
                      <a:rPr lang="en-AU" sz="360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60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−20=0</m:t>
                    </m:r>
                  </m:oMath>
                </a14:m>
                <a:r>
                  <a:rPr lang="en-AU" sz="3601" dirty="0">
                    <a:solidFill>
                      <a:schemeClr val="tx1"/>
                    </a:solidFill>
                  </a:rPr>
                  <a:t>)</a:t>
                </a:r>
                <a:br>
                  <a:rPr lang="en-AU" sz="3601" dirty="0">
                    <a:solidFill>
                      <a:schemeClr val="tx1"/>
                    </a:solidFill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30CE74-1D79-45D8-B656-CE21C0239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88" t="-88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B0D42-50C9-4392-A16E-B9FF5EF50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numCol="2"/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=−8,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=−20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−8</m:t>
                            </m:r>
                          </m:e>
                        </m:d>
                        <m:r>
                          <a:rPr lang="en-AU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d>
                              <m:d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−20</m:t>
                                </m:r>
                              </m:e>
                            </m:d>
                          </m:e>
                        </m:rad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64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(−80)</m:t>
                            </m:r>
                          </m:e>
                        </m:rad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8±</m:t>
                        </m:r>
                        <m:rad>
                          <m:radPr>
                            <m:degHide m:val="on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144</m:t>
                            </m:r>
                          </m:e>
                        </m:rad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8±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8+12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8−12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br>
                  <a:rPr lang="en-AU" dirty="0"/>
                </a:b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B0D42-50C9-4392-A16E-B9FF5EF50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4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A96AFAB-1B7F-4CFF-9767-9EB433E6E5AA}"/>
              </a:ext>
            </a:extLst>
          </p:cNvPr>
          <p:cNvSpPr txBox="1"/>
          <p:nvPr/>
        </p:nvSpPr>
        <p:spPr>
          <a:xfrm>
            <a:off x="5178175" y="1855067"/>
            <a:ext cx="38836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this equation, they solve everything in one equation!</a:t>
            </a:r>
          </a:p>
          <a:p>
            <a:endParaRPr lang="en-GB" dirty="0"/>
          </a:p>
          <a:p>
            <a:r>
              <a:rPr lang="en-GB" dirty="0"/>
              <a:t>I would still solve the discriminant first!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D31EBB-F98E-4141-B683-2DECB57DC93A}"/>
                  </a:ext>
                </a:extLst>
              </p:cNvPr>
              <p:cNvSpPr txBox="1"/>
              <p:nvPr/>
            </p:nvSpPr>
            <p:spPr>
              <a:xfrm>
                <a:off x="3549722" y="3305979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𝑎𝑐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D31EBB-F98E-4141-B683-2DECB57DC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722" y="3305979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110198-8606-4C45-82AF-C483858C5819}"/>
                  </a:ext>
                </a:extLst>
              </p:cNvPr>
              <p:cNvSpPr txBox="1"/>
              <p:nvPr/>
            </p:nvSpPr>
            <p:spPr>
              <a:xfrm>
                <a:off x="4012058" y="3857414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−20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110198-8606-4C45-82AF-C483858C5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058" y="3857414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4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5672</TotalTime>
  <Words>554</Words>
  <Application>Microsoft Office PowerPoint</Application>
  <PresentationFormat>On-screen Show (4:3)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Calibri Light</vt:lpstr>
      <vt:lpstr>Cambria Math</vt:lpstr>
      <vt:lpstr>Tw Cen MT</vt:lpstr>
      <vt:lpstr>Tw Cen MT Condensed</vt:lpstr>
      <vt:lpstr>Wingdings 3</vt:lpstr>
      <vt:lpstr>Integral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LHS</vt:lpstr>
      <vt:lpstr>Solution (x^2-8x-20=0)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Tony Nguyen</cp:lastModifiedBy>
  <cp:revision>40</cp:revision>
  <cp:lastPrinted>2021-08-27T03:16:37Z</cp:lastPrinted>
  <dcterms:created xsi:type="dcterms:W3CDTF">2017-03-26T12:36:47Z</dcterms:created>
  <dcterms:modified xsi:type="dcterms:W3CDTF">2021-09-01T12:14:25Z</dcterms:modified>
</cp:coreProperties>
</file>
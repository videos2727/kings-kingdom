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comments/comment1.xml" ContentType="application/vnd.openxmlformats-officedocument.presentationml.comments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322" r:id="rId2"/>
    <p:sldId id="340" r:id="rId3"/>
    <p:sldId id="323" r:id="rId4"/>
    <p:sldId id="341" r:id="rId5"/>
    <p:sldId id="325" r:id="rId6"/>
    <p:sldId id="342" r:id="rId7"/>
    <p:sldId id="343" r:id="rId8"/>
    <p:sldId id="344" r:id="rId9"/>
    <p:sldId id="345" r:id="rId10"/>
    <p:sldId id="346" r:id="rId11"/>
    <p:sldId id="349" r:id="rId12"/>
    <p:sldId id="348" r:id="rId13"/>
    <p:sldId id="347" r:id="rId14"/>
    <p:sldId id="350" r:id="rId15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y Nguyen" initials="TN" lastIdx="2" clrIdx="0">
    <p:extLst>
      <p:ext uri="{19B8F6BF-5375-455C-9EA6-DF929625EA0E}">
        <p15:presenceInfo xmlns:p15="http://schemas.microsoft.com/office/powerpoint/2012/main" userId="1f481f7b9cf3db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8537" autoAdjust="0"/>
  </p:normalViewPr>
  <p:slideViewPr>
    <p:cSldViewPr snapToGrid="0" snapToObjects="1">
      <p:cViewPr varScale="1">
        <p:scale>
          <a:sx n="93" d="100"/>
          <a:sy n="93" d="100"/>
        </p:scale>
        <p:origin x="639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8-29T21:01:23.403" idx="2">
    <p:pos x="5760" y="1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BD4A-A91C-4E47-8743-EFFA608D5BE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22444-CE1B-1E4E-8F2E-41A287EDC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41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62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9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8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2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18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09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44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Relationship Id="rId9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customXml" Target="../ink/ink8.xml"/><Relationship Id="rId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.xml"/><Relationship Id="rId11" Type="http://schemas.openxmlformats.org/officeDocument/2006/relationships/image" Target="../media/image11.png"/><Relationship Id="rId5" Type="http://schemas.openxmlformats.org/officeDocument/2006/relationships/customXml" Target="../ink/ink13.xml"/><Relationship Id="rId10" Type="http://schemas.openxmlformats.org/officeDocument/2006/relationships/image" Target="../media/image9.png"/><Relationship Id="rId4" Type="http://schemas.openxmlformats.org/officeDocument/2006/relationships/customXml" Target="../ink/ink12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Relationship Id="rId9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5" Type="http://schemas.openxmlformats.org/officeDocument/2006/relationships/customXml" Target="../ink/ink23.xml"/><Relationship Id="rId10" Type="http://schemas.openxmlformats.org/officeDocument/2006/relationships/comments" Target="../comments/comment1.xml"/><Relationship Id="rId4" Type="http://schemas.openxmlformats.org/officeDocument/2006/relationships/customXml" Target="../ink/ink22.xml"/><Relationship Id="rId9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1" Type="http://schemas.openxmlformats.org/officeDocument/2006/relationships/image" Target="../media/image17.png"/><Relationship Id="rId5" Type="http://schemas.openxmlformats.org/officeDocument/2006/relationships/customXml" Target="../ink/ink28.xml"/><Relationship Id="rId10" Type="http://schemas.openxmlformats.org/officeDocument/2006/relationships/image" Target="../media/image15.png"/><Relationship Id="rId4" Type="http://schemas.openxmlformats.org/officeDocument/2006/relationships/customXml" Target="../ink/ink27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customXml" Target="../ink/ink31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.xml"/><Relationship Id="rId11" Type="http://schemas.openxmlformats.org/officeDocument/2006/relationships/image" Target="../media/image21.png"/><Relationship Id="rId5" Type="http://schemas.openxmlformats.org/officeDocument/2006/relationships/customXml" Target="../ink/ink33.xml"/><Relationship Id="rId15" Type="http://schemas.openxmlformats.org/officeDocument/2006/relationships/image" Target="../media/image25.png"/><Relationship Id="rId10" Type="http://schemas.openxmlformats.org/officeDocument/2006/relationships/image" Target="../media/image12.png"/><Relationship Id="rId4" Type="http://schemas.openxmlformats.org/officeDocument/2006/relationships/customXml" Target="../ink/ink32.xml"/><Relationship Id="rId9" Type="http://schemas.openxmlformats.org/officeDocument/2006/relationships/image" Target="../media/image18.png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customXml" Target="../ink/ink36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.xml"/><Relationship Id="rId11" Type="http://schemas.openxmlformats.org/officeDocument/2006/relationships/image" Target="../media/image30.png"/><Relationship Id="rId5" Type="http://schemas.openxmlformats.org/officeDocument/2006/relationships/customXml" Target="../ink/ink38.xml"/><Relationship Id="rId15" Type="http://schemas.openxmlformats.org/officeDocument/2006/relationships/image" Target="../media/image34.png"/><Relationship Id="rId10" Type="http://schemas.openxmlformats.org/officeDocument/2006/relationships/image" Target="../media/image12.png"/><Relationship Id="rId4" Type="http://schemas.openxmlformats.org/officeDocument/2006/relationships/customXml" Target="../ink/ink37.xml"/><Relationship Id="rId9" Type="http://schemas.openxmlformats.org/officeDocument/2006/relationships/image" Target="../media/image29.png"/><Relationship Id="rId1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image" Target="../media/image40.png"/><Relationship Id="rId18" Type="http://schemas.openxmlformats.org/officeDocument/2006/relationships/image" Target="../media/image44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12" Type="http://schemas.openxmlformats.org/officeDocument/2006/relationships/image" Target="../media/image39.png"/><Relationship Id="rId17" Type="http://schemas.openxmlformats.org/officeDocument/2006/relationships/image" Target="../media/image36.png"/><Relationship Id="rId2" Type="http://schemas.openxmlformats.org/officeDocument/2006/relationships/customXml" Target="../ink/ink41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.xml"/><Relationship Id="rId11" Type="http://schemas.openxmlformats.org/officeDocument/2006/relationships/image" Target="../media/image38.png"/><Relationship Id="rId5" Type="http://schemas.openxmlformats.org/officeDocument/2006/relationships/customXml" Target="../ink/ink43.xml"/><Relationship Id="rId15" Type="http://schemas.openxmlformats.org/officeDocument/2006/relationships/image" Target="../media/image42.png"/><Relationship Id="rId10" Type="http://schemas.openxmlformats.org/officeDocument/2006/relationships/image" Target="../media/image12.png"/><Relationship Id="rId4" Type="http://schemas.openxmlformats.org/officeDocument/2006/relationships/customXml" Target="../ink/ink42.xml"/><Relationship Id="rId9" Type="http://schemas.openxmlformats.org/officeDocument/2006/relationships/image" Target="../media/image29.png"/><Relationship Id="rId1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13" Type="http://schemas.openxmlformats.org/officeDocument/2006/relationships/image" Target="../media/image40.png"/><Relationship Id="rId18" Type="http://schemas.openxmlformats.org/officeDocument/2006/relationships/image" Target="../media/image53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12" Type="http://schemas.openxmlformats.org/officeDocument/2006/relationships/image" Target="../media/image50.png"/><Relationship Id="rId17" Type="http://schemas.openxmlformats.org/officeDocument/2006/relationships/image" Target="../media/image36.png"/><Relationship Id="rId2" Type="http://schemas.openxmlformats.org/officeDocument/2006/relationships/customXml" Target="../ink/ink46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.xml"/><Relationship Id="rId11" Type="http://schemas.openxmlformats.org/officeDocument/2006/relationships/image" Target="../media/image38.png"/><Relationship Id="rId5" Type="http://schemas.openxmlformats.org/officeDocument/2006/relationships/customXml" Target="../ink/ink48.xml"/><Relationship Id="rId15" Type="http://schemas.openxmlformats.org/officeDocument/2006/relationships/image" Target="../media/image42.png"/><Relationship Id="rId10" Type="http://schemas.openxmlformats.org/officeDocument/2006/relationships/image" Target="../media/image12.png"/><Relationship Id="rId4" Type="http://schemas.openxmlformats.org/officeDocument/2006/relationships/customXml" Target="../ink/ink47.xml"/><Relationship Id="rId9" Type="http://schemas.openxmlformats.org/officeDocument/2006/relationships/image" Target="../media/image49.png"/><Relationship Id="rId1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00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E9202-56D2-4A25-A2C2-B1E41C7D255D}"/>
                  </a:ext>
                </a:extLst>
              </p:cNvPr>
              <p:cNvSpPr txBox="1"/>
              <p:nvPr/>
            </p:nvSpPr>
            <p:spPr>
              <a:xfrm>
                <a:off x="3779416" y="2023087"/>
                <a:ext cx="1670862" cy="887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3600" b="0" dirty="0"/>
                  <a:t>x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E9202-56D2-4A25-A2C2-B1E41C7D2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416" y="2023087"/>
                <a:ext cx="1670862" cy="887294"/>
              </a:xfrm>
              <a:prstGeom prst="rect">
                <a:avLst/>
              </a:prstGeom>
              <a:blipFill>
                <a:blip r:embed="rId2"/>
                <a:stretch>
                  <a:fillRect l="-11314" b="-12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94C806-4401-461A-81B6-9D48C5E289FB}"/>
                  </a:ext>
                </a:extLst>
              </p:cNvPr>
              <p:cNvSpPr txBox="1"/>
              <p:nvPr/>
            </p:nvSpPr>
            <p:spPr>
              <a:xfrm>
                <a:off x="1664899" y="3480957"/>
                <a:ext cx="19942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94C806-4401-461A-81B6-9D48C5E2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99" y="3480957"/>
                <a:ext cx="1994264" cy="307777"/>
              </a:xfrm>
              <a:prstGeom prst="rect">
                <a:avLst/>
              </a:prstGeom>
              <a:blipFill>
                <a:blip r:embed="rId3"/>
                <a:stretch>
                  <a:fillRect l="-2446" r="-612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/>
              <p:nvPr/>
            </p:nvSpPr>
            <p:spPr>
              <a:xfrm>
                <a:off x="1664899" y="4114307"/>
                <a:ext cx="30429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𝐸𝑥𝑎𝑚𝑝𝑙𝑒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99" y="4114307"/>
                <a:ext cx="3042949" cy="307777"/>
              </a:xfrm>
              <a:prstGeom prst="rect">
                <a:avLst/>
              </a:prstGeom>
              <a:blipFill>
                <a:blip r:embed="rId4"/>
                <a:stretch>
                  <a:fillRect l="-2204" t="-2000" r="-1403" b="-3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3B058A7-AC2B-4FFC-B842-B02425518506}"/>
              </a:ext>
            </a:extLst>
          </p:cNvPr>
          <p:cNvSpPr txBox="1"/>
          <p:nvPr/>
        </p:nvSpPr>
        <p:spPr>
          <a:xfrm>
            <a:off x="6383547" y="4025712"/>
            <a:ext cx="593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= </a:t>
            </a:r>
          </a:p>
          <a:p>
            <a:r>
              <a:rPr lang="en-GB" dirty="0"/>
              <a:t>b = </a:t>
            </a:r>
          </a:p>
          <a:p>
            <a:r>
              <a:rPr lang="en-GB" dirty="0"/>
              <a:t>c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D3E12-CCCA-425A-8214-A7238F9D4D63}"/>
              </a:ext>
            </a:extLst>
          </p:cNvPr>
          <p:cNvSpPr txBox="1"/>
          <p:nvPr/>
        </p:nvSpPr>
        <p:spPr>
          <a:xfrm>
            <a:off x="6481313" y="1473189"/>
            <a:ext cx="1555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Opposite of b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D6AB1F-1CF9-49FE-8754-1975561352D4}"/>
              </a:ext>
            </a:extLst>
          </p:cNvPr>
          <p:cNvCxnSpPr>
            <a:cxnSpLocks/>
          </p:cNvCxnSpPr>
          <p:nvPr/>
        </p:nvCxnSpPr>
        <p:spPr>
          <a:xfrm flipH="1">
            <a:off x="5152490" y="1798224"/>
            <a:ext cx="1593368" cy="467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EC83B71-550E-4108-8EBD-88E07B805324}"/>
              </a:ext>
            </a:extLst>
          </p:cNvPr>
          <p:cNvSpPr/>
          <p:nvPr/>
        </p:nvSpPr>
        <p:spPr>
          <a:xfrm>
            <a:off x="1407200" y="1048305"/>
            <a:ext cx="45039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Math Warm Up</a:t>
            </a:r>
          </a:p>
        </p:txBody>
      </p:sp>
    </p:spTree>
    <p:extLst>
      <p:ext uri="{BB962C8B-B14F-4D97-AF65-F5344CB8AC3E}">
        <p14:creationId xmlns:p14="http://schemas.microsoft.com/office/powerpoint/2010/main" val="223970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5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</a:t>
            </a:r>
            <a:r>
              <a:rPr lang="en-GB" dirty="0" err="1"/>
              <a:t>dquare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E9202-56D2-4A25-A2C2-B1E41C7D255D}"/>
                  </a:ext>
                </a:extLst>
              </p:cNvPr>
              <p:cNvSpPr txBox="1"/>
              <p:nvPr/>
            </p:nvSpPr>
            <p:spPr>
              <a:xfrm>
                <a:off x="3779416" y="2023087"/>
                <a:ext cx="1670862" cy="887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3600" b="0" dirty="0"/>
                  <a:t>x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E9202-56D2-4A25-A2C2-B1E41C7D2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416" y="2023087"/>
                <a:ext cx="1670862" cy="887294"/>
              </a:xfrm>
              <a:prstGeom prst="rect">
                <a:avLst/>
              </a:prstGeom>
              <a:blipFill>
                <a:blip r:embed="rId2"/>
                <a:stretch>
                  <a:fillRect l="-11314" b="-12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94C806-4401-461A-81B6-9D48C5E289FB}"/>
                  </a:ext>
                </a:extLst>
              </p:cNvPr>
              <p:cNvSpPr txBox="1"/>
              <p:nvPr/>
            </p:nvSpPr>
            <p:spPr>
              <a:xfrm>
                <a:off x="1664899" y="3480957"/>
                <a:ext cx="19942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94C806-4401-461A-81B6-9D48C5E2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99" y="3480957"/>
                <a:ext cx="1994264" cy="307777"/>
              </a:xfrm>
              <a:prstGeom prst="rect">
                <a:avLst/>
              </a:prstGeom>
              <a:blipFill>
                <a:blip r:embed="rId3"/>
                <a:stretch>
                  <a:fillRect l="-2446" r="-612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/>
              <p:nvPr/>
            </p:nvSpPr>
            <p:spPr>
              <a:xfrm>
                <a:off x="1664899" y="4114307"/>
                <a:ext cx="30429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𝐸𝑥𝑎𝑚𝑝𝑙𝑒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99" y="4114307"/>
                <a:ext cx="3042949" cy="307777"/>
              </a:xfrm>
              <a:prstGeom prst="rect">
                <a:avLst/>
              </a:prstGeom>
              <a:blipFill>
                <a:blip r:embed="rId4"/>
                <a:stretch>
                  <a:fillRect l="-2204" t="-2000" r="-1403" b="-3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3B058A7-AC2B-4FFC-B842-B02425518506}"/>
              </a:ext>
            </a:extLst>
          </p:cNvPr>
          <p:cNvSpPr txBox="1"/>
          <p:nvPr/>
        </p:nvSpPr>
        <p:spPr>
          <a:xfrm>
            <a:off x="6383547" y="4025712"/>
            <a:ext cx="7970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= 1 </a:t>
            </a:r>
          </a:p>
          <a:p>
            <a:r>
              <a:rPr lang="en-GB" dirty="0"/>
              <a:t>b = -4</a:t>
            </a:r>
          </a:p>
          <a:p>
            <a:r>
              <a:rPr lang="en-GB" dirty="0"/>
              <a:t>c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D3E12-CCCA-425A-8214-A7238F9D4D63}"/>
              </a:ext>
            </a:extLst>
          </p:cNvPr>
          <p:cNvSpPr txBox="1"/>
          <p:nvPr/>
        </p:nvSpPr>
        <p:spPr>
          <a:xfrm>
            <a:off x="6481313" y="1473189"/>
            <a:ext cx="1555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Opposite of b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D6AB1F-1CF9-49FE-8754-1975561352D4}"/>
              </a:ext>
            </a:extLst>
          </p:cNvPr>
          <p:cNvCxnSpPr>
            <a:cxnSpLocks/>
          </p:cNvCxnSpPr>
          <p:nvPr/>
        </p:nvCxnSpPr>
        <p:spPr>
          <a:xfrm flipH="1">
            <a:off x="5152490" y="1798224"/>
            <a:ext cx="1593368" cy="467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EC83B71-550E-4108-8EBD-88E07B805324}"/>
              </a:ext>
            </a:extLst>
          </p:cNvPr>
          <p:cNvSpPr/>
          <p:nvPr/>
        </p:nvSpPr>
        <p:spPr>
          <a:xfrm>
            <a:off x="1407200" y="1048305"/>
            <a:ext cx="45039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Math Warm 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28FB29-0BE9-4A27-AF8E-7B13D130C817}"/>
                  </a:ext>
                </a:extLst>
              </p:cNvPr>
              <p:cNvSpPr txBox="1"/>
              <p:nvPr/>
            </p:nvSpPr>
            <p:spPr>
              <a:xfrm>
                <a:off x="1826599" y="4989384"/>
                <a:ext cx="3716305" cy="662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400" b="0" dirty="0"/>
                  <a:t>x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2(1)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28FB29-0BE9-4A27-AF8E-7B13D130C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599" y="4989384"/>
                <a:ext cx="3716305" cy="662746"/>
              </a:xfrm>
              <a:prstGeom prst="rect">
                <a:avLst/>
              </a:prstGeom>
              <a:blipFill>
                <a:blip r:embed="rId5"/>
                <a:stretch>
                  <a:fillRect l="-2627" b="-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345645-8FC4-4C91-887C-64F9B7733E03}"/>
              </a:ext>
            </a:extLst>
          </p:cNvPr>
          <p:cNvSpPr txBox="1"/>
          <p:nvPr/>
        </p:nvSpPr>
        <p:spPr>
          <a:xfrm>
            <a:off x="1756881" y="6131755"/>
            <a:ext cx="277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 the axis of symmetry is 2</a:t>
            </a:r>
          </a:p>
        </p:txBody>
      </p:sp>
    </p:spTree>
    <p:extLst>
      <p:ext uri="{BB962C8B-B14F-4D97-AF65-F5344CB8AC3E}">
        <p14:creationId xmlns:p14="http://schemas.microsoft.com/office/powerpoint/2010/main" val="1713580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5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999" y="437337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399" y="42984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9119" y="43672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59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5279" y="2693975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0" name="Table 4">
            <a:extLst>
              <a:ext uri="{FF2B5EF4-FFF2-40B4-BE49-F238E27FC236}">
                <a16:creationId xmlns:a16="http://schemas.microsoft.com/office/drawing/2014/main" id="{D0F0568F-37E9-437F-AFF6-1DBD02A5D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95130"/>
              </p:ext>
            </p:extLst>
          </p:nvPr>
        </p:nvGraphicFramePr>
        <p:xfrm>
          <a:off x="1846339" y="5175785"/>
          <a:ext cx="1219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26433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4674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4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29925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97E9E0AF-3251-4C30-902A-8225D936D236}"/>
              </a:ext>
            </a:extLst>
          </p:cNvPr>
          <p:cNvSpPr txBox="1"/>
          <p:nvPr/>
        </p:nvSpPr>
        <p:spPr>
          <a:xfrm>
            <a:off x="3601878" y="5289744"/>
            <a:ext cx="5043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now need to choose 2 points either to the left or to the right</a:t>
            </a:r>
          </a:p>
        </p:txBody>
      </p:sp>
      <p:pic>
        <p:nvPicPr>
          <p:cNvPr id="3" name="Picture 2" descr="Diagram&#10;&#10;Description automatically generated with low confidence">
            <a:extLst>
              <a:ext uri="{FF2B5EF4-FFF2-40B4-BE49-F238E27FC236}">
                <a16:creationId xmlns:a16="http://schemas.microsoft.com/office/drawing/2014/main" id="{5459826C-39CB-4776-B02D-EB9D939CF47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9101" t="24332" r="20192" b="27479"/>
          <a:stretch/>
        </p:blipFill>
        <p:spPr>
          <a:xfrm>
            <a:off x="2190527" y="1171253"/>
            <a:ext cx="5551051" cy="330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55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0" name="Table 4">
            <a:extLst>
              <a:ext uri="{FF2B5EF4-FFF2-40B4-BE49-F238E27FC236}">
                <a16:creationId xmlns:a16="http://schemas.microsoft.com/office/drawing/2014/main" id="{D0F0568F-37E9-437F-AFF6-1DBD02A5DA67}"/>
              </a:ext>
            </a:extLst>
          </p:cNvPr>
          <p:cNvGraphicFramePr>
            <a:graphicFrameLocks noGrp="1"/>
          </p:cNvGraphicFramePr>
          <p:nvPr/>
        </p:nvGraphicFramePr>
        <p:xfrm>
          <a:off x="1926853" y="1707755"/>
          <a:ext cx="15454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363">
                  <a:extLst>
                    <a:ext uri="{9D8B030D-6E8A-4147-A177-3AD203B41FA5}">
                      <a16:colId xmlns:a16="http://schemas.microsoft.com/office/drawing/2014/main" val="2092643333"/>
                    </a:ext>
                  </a:extLst>
                </a:gridCol>
                <a:gridCol w="386363">
                  <a:extLst>
                    <a:ext uri="{9D8B030D-6E8A-4147-A177-3AD203B41FA5}">
                      <a16:colId xmlns:a16="http://schemas.microsoft.com/office/drawing/2014/main" val="2020123625"/>
                    </a:ext>
                  </a:extLst>
                </a:gridCol>
                <a:gridCol w="386363">
                  <a:extLst>
                    <a:ext uri="{9D8B030D-6E8A-4147-A177-3AD203B41FA5}">
                      <a16:colId xmlns:a16="http://schemas.microsoft.com/office/drawing/2014/main" val="2426621312"/>
                    </a:ext>
                  </a:extLst>
                </a:gridCol>
                <a:gridCol w="386363">
                  <a:extLst>
                    <a:ext uri="{9D8B030D-6E8A-4147-A177-3AD203B41FA5}">
                      <a16:colId xmlns:a16="http://schemas.microsoft.com/office/drawing/2014/main" val="1954674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4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7030A0"/>
                          </a:solidFill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0070C0"/>
                          </a:solidFill>
                        </a:rPr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29925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97E9E0AF-3251-4C30-902A-8225D936D236}"/>
              </a:ext>
            </a:extLst>
          </p:cNvPr>
          <p:cNvSpPr txBox="1"/>
          <p:nvPr/>
        </p:nvSpPr>
        <p:spPr>
          <a:xfrm>
            <a:off x="3907096" y="1619945"/>
            <a:ext cx="1754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now know that our x coordinate is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90E90-0681-428A-9885-2BE95C7DA1EA}"/>
              </a:ext>
            </a:extLst>
          </p:cNvPr>
          <p:cNvSpPr txBox="1"/>
          <p:nvPr/>
        </p:nvSpPr>
        <p:spPr>
          <a:xfrm>
            <a:off x="0" y="1193784"/>
            <a:ext cx="1253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you find the y-coordinate?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90EF3-2315-419B-A246-4F5E0F8EFA90}"/>
              </a:ext>
            </a:extLst>
          </p:cNvPr>
          <p:cNvSpPr txBox="1"/>
          <p:nvPr/>
        </p:nvSpPr>
        <p:spPr>
          <a:xfrm>
            <a:off x="1731033" y="3169362"/>
            <a:ext cx="7361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find the y-coordinate we need to substitute our x values back into the equation</a:t>
            </a:r>
          </a:p>
        </p:txBody>
      </p:sp>
    </p:spTree>
    <p:extLst>
      <p:ext uri="{BB962C8B-B14F-4D97-AF65-F5344CB8AC3E}">
        <p14:creationId xmlns:p14="http://schemas.microsoft.com/office/powerpoint/2010/main" val="3654655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0" name="Table 4">
            <a:extLst>
              <a:ext uri="{FF2B5EF4-FFF2-40B4-BE49-F238E27FC236}">
                <a16:creationId xmlns:a16="http://schemas.microsoft.com/office/drawing/2014/main" id="{D0F0568F-37E9-437F-AFF6-1DBD02A5D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33758"/>
              </p:ext>
            </p:extLst>
          </p:nvPr>
        </p:nvGraphicFramePr>
        <p:xfrm>
          <a:off x="1926853" y="1707755"/>
          <a:ext cx="15454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363">
                  <a:extLst>
                    <a:ext uri="{9D8B030D-6E8A-4147-A177-3AD203B41FA5}">
                      <a16:colId xmlns:a16="http://schemas.microsoft.com/office/drawing/2014/main" val="2092643333"/>
                    </a:ext>
                  </a:extLst>
                </a:gridCol>
                <a:gridCol w="386363">
                  <a:extLst>
                    <a:ext uri="{9D8B030D-6E8A-4147-A177-3AD203B41FA5}">
                      <a16:colId xmlns:a16="http://schemas.microsoft.com/office/drawing/2014/main" val="2020123625"/>
                    </a:ext>
                  </a:extLst>
                </a:gridCol>
                <a:gridCol w="386363">
                  <a:extLst>
                    <a:ext uri="{9D8B030D-6E8A-4147-A177-3AD203B41FA5}">
                      <a16:colId xmlns:a16="http://schemas.microsoft.com/office/drawing/2014/main" val="2426621312"/>
                    </a:ext>
                  </a:extLst>
                </a:gridCol>
                <a:gridCol w="386363">
                  <a:extLst>
                    <a:ext uri="{9D8B030D-6E8A-4147-A177-3AD203B41FA5}">
                      <a16:colId xmlns:a16="http://schemas.microsoft.com/office/drawing/2014/main" val="1954674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4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7030A0"/>
                          </a:solidFill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0070C0"/>
                          </a:solidFill>
                        </a:rPr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29925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97E9E0AF-3251-4C30-902A-8225D936D236}"/>
              </a:ext>
            </a:extLst>
          </p:cNvPr>
          <p:cNvSpPr txBox="1"/>
          <p:nvPr/>
        </p:nvSpPr>
        <p:spPr>
          <a:xfrm>
            <a:off x="3907096" y="1619945"/>
            <a:ext cx="1754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now know that our x coordinate is -4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90E90-0681-428A-9885-2BE95C7DA1EA}"/>
              </a:ext>
            </a:extLst>
          </p:cNvPr>
          <p:cNvSpPr txBox="1"/>
          <p:nvPr/>
        </p:nvSpPr>
        <p:spPr>
          <a:xfrm>
            <a:off x="0" y="1193784"/>
            <a:ext cx="1253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you find the y-coordinate?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90EF3-2315-419B-A246-4F5E0F8EFA90}"/>
              </a:ext>
            </a:extLst>
          </p:cNvPr>
          <p:cNvSpPr txBox="1"/>
          <p:nvPr/>
        </p:nvSpPr>
        <p:spPr>
          <a:xfrm>
            <a:off x="1731033" y="3169362"/>
            <a:ext cx="7361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find the y-coordinate we need to </a:t>
            </a:r>
            <a:r>
              <a:rPr lang="en-GB" dirty="0" err="1"/>
              <a:t>subsitute</a:t>
            </a:r>
            <a:r>
              <a:rPr lang="en-GB" dirty="0"/>
              <a:t> our x values back into the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A97CA0-3B92-4DF6-BD08-E46CD83A5D92}"/>
                  </a:ext>
                </a:extLst>
              </p:cNvPr>
              <p:cNvSpPr txBox="1"/>
              <p:nvPr/>
            </p:nvSpPr>
            <p:spPr>
              <a:xfrm>
                <a:off x="1664899" y="4114307"/>
                <a:ext cx="272113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AU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000" b="1" dirty="0">
                  <a:solidFill>
                    <a:srgbClr val="FF0000"/>
                  </a:solidFill>
                </a:endParaRP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A97CA0-3B92-4DF6-BD08-E46CD83A5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99" y="4114307"/>
                <a:ext cx="2721130" cy="615553"/>
              </a:xfrm>
              <a:prstGeom prst="rect">
                <a:avLst/>
              </a:prstGeom>
              <a:blipFill>
                <a:blip r:embed="rId9"/>
                <a:stretch>
                  <a:fillRect l="-448" t="-990" r="-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CEAF8D-EC6A-416D-B50B-774FBE8D9490}"/>
                  </a:ext>
                </a:extLst>
              </p:cNvPr>
              <p:cNvSpPr txBox="1"/>
              <p:nvPr/>
            </p:nvSpPr>
            <p:spPr>
              <a:xfrm>
                <a:off x="1664899" y="4731851"/>
                <a:ext cx="291509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AU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000" b="1" dirty="0">
                  <a:solidFill>
                    <a:srgbClr val="7030A0"/>
                  </a:solidFill>
                </a:endParaRP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CEAF8D-EC6A-416D-B50B-774FBE8D9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99" y="4731851"/>
                <a:ext cx="2915093" cy="615553"/>
              </a:xfrm>
              <a:prstGeom prst="rect">
                <a:avLst/>
              </a:prstGeom>
              <a:blipFill>
                <a:blip r:embed="rId10"/>
                <a:stretch>
                  <a:fillRect l="-418" r="-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B8E10B-B1FD-4815-BCC7-E1CE190E4968}"/>
                  </a:ext>
                </a:extLst>
              </p:cNvPr>
              <p:cNvSpPr txBox="1"/>
              <p:nvPr/>
            </p:nvSpPr>
            <p:spPr>
              <a:xfrm>
                <a:off x="1674641" y="5347404"/>
                <a:ext cx="295754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000" b="1" dirty="0">
                  <a:solidFill>
                    <a:srgbClr val="0070C0"/>
                  </a:solidFill>
                </a:endParaRP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B8E10B-B1FD-4815-BCC7-E1CE190E4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641" y="5347404"/>
                <a:ext cx="2957541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50A2DF5-F296-40E9-B204-41B27888C936}"/>
              </a:ext>
            </a:extLst>
          </p:cNvPr>
          <p:cNvSpPr txBox="1"/>
          <p:nvPr/>
        </p:nvSpPr>
        <p:spPr>
          <a:xfrm>
            <a:off x="5599416" y="4813647"/>
            <a:ext cx="2988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LETS PLOT THE POINTS NOW!</a:t>
            </a:r>
          </a:p>
        </p:txBody>
      </p:sp>
    </p:spTree>
    <p:extLst>
      <p:ext uri="{BB962C8B-B14F-4D97-AF65-F5344CB8AC3E}">
        <p14:creationId xmlns:p14="http://schemas.microsoft.com/office/powerpoint/2010/main" val="39954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5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0960F1D4-EE57-4D05-93CB-F27A6DDF02B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0674" t="27030" r="21405" b="28154"/>
          <a:stretch/>
        </p:blipFill>
        <p:spPr>
          <a:xfrm>
            <a:off x="2214085" y="1249230"/>
            <a:ext cx="5296324" cy="30719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F2378C-D877-4820-8D92-2E08D4026199}"/>
              </a:ext>
            </a:extLst>
          </p:cNvPr>
          <p:cNvSpPr txBox="1"/>
          <p:nvPr/>
        </p:nvSpPr>
        <p:spPr>
          <a:xfrm>
            <a:off x="2029146" y="5260637"/>
            <a:ext cx="6975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Remember, the line of symmetry means the points are a reflection! So do the same points across from the line of symmetry!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4A055-3AD2-4EA6-BB03-C1679003A355}"/>
              </a:ext>
            </a:extLst>
          </p:cNvPr>
          <p:cNvSpPr txBox="1"/>
          <p:nvPr/>
        </p:nvSpPr>
        <p:spPr>
          <a:xfrm>
            <a:off x="1905856" y="3683555"/>
            <a:ext cx="147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Across 1 up 1!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492F04-AB72-4257-B72C-8FD8185ABCFE}"/>
              </a:ext>
            </a:extLst>
          </p:cNvPr>
          <p:cNvCxnSpPr>
            <a:stCxn id="6" idx="3"/>
          </p:cNvCxnSpPr>
          <p:nvPr/>
        </p:nvCxnSpPr>
        <p:spPr>
          <a:xfrm flipV="1">
            <a:off x="3384338" y="3298004"/>
            <a:ext cx="1187662" cy="570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DB41DD-C6C4-4B68-B71D-729C17C25173}"/>
              </a:ext>
            </a:extLst>
          </p:cNvPr>
          <p:cNvSpPr txBox="1"/>
          <p:nvPr/>
        </p:nvSpPr>
        <p:spPr>
          <a:xfrm>
            <a:off x="6404224" y="3583112"/>
            <a:ext cx="147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Across 1 up 1!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56AB10-FAB9-4178-A068-A996D9A152F8}"/>
              </a:ext>
            </a:extLst>
          </p:cNvPr>
          <p:cNvCxnSpPr/>
          <p:nvPr/>
        </p:nvCxnSpPr>
        <p:spPr>
          <a:xfrm flipH="1" flipV="1">
            <a:off x="5065160" y="3298004"/>
            <a:ext cx="1577083" cy="341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673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5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6F2378C-D877-4820-8D92-2E08D4026199}"/>
              </a:ext>
            </a:extLst>
          </p:cNvPr>
          <p:cNvSpPr txBox="1"/>
          <p:nvPr/>
        </p:nvSpPr>
        <p:spPr>
          <a:xfrm>
            <a:off x="2029146" y="5260637"/>
            <a:ext cx="52589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Our parabola is a minimum one with a vertex of (2, -3)</a:t>
            </a:r>
          </a:p>
          <a:p>
            <a:endParaRPr lang="en-GB" dirty="0"/>
          </a:p>
          <a:p>
            <a:r>
              <a:rPr lang="en-GB" dirty="0"/>
              <a:t>Our Y-Intercept is (0, 1)</a:t>
            </a:r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12EFE9E6-A543-4A62-8113-26B6B13EF31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9869" t="26198" r="21046" b="25653"/>
          <a:stretch/>
        </p:blipFill>
        <p:spPr>
          <a:xfrm>
            <a:off x="2145621" y="1435680"/>
            <a:ext cx="5402727" cy="330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9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5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1D6AD6D-2F71-476C-9C81-6EF647D7C424}"/>
              </a:ext>
            </a:extLst>
          </p:cNvPr>
          <p:cNvSpPr txBox="1"/>
          <p:nvPr/>
        </p:nvSpPr>
        <p:spPr>
          <a:xfrm>
            <a:off x="67391" y="1173195"/>
            <a:ext cx="1129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to factor a perfect square?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FD28C9-39B4-46ED-85CB-640D6B12D114}"/>
                  </a:ext>
                </a:extLst>
              </p:cNvPr>
              <p:cNvSpPr txBox="1"/>
              <p:nvPr/>
            </p:nvSpPr>
            <p:spPr>
              <a:xfrm>
                <a:off x="1715785" y="1237695"/>
                <a:ext cx="694497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perfect square trinomial is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/>
              </a:p>
              <a:p>
                <a:endParaRPr lang="en-GB" dirty="0"/>
              </a:p>
              <a:p>
                <a:r>
                  <a:rPr lang="en-GB" dirty="0"/>
                  <a:t>If you look at the 1</a:t>
                </a:r>
                <a:r>
                  <a:rPr lang="en-GB" baseline="30000" dirty="0"/>
                  <a:t>st</a:t>
                </a:r>
                <a:r>
                  <a:rPr lang="en-GB" dirty="0"/>
                  <a:t> and last term. If it is a square term then there is an easy way to factor them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FD28C9-39B4-46ED-85CB-640D6B12D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785" y="1237695"/>
                <a:ext cx="6944970" cy="1200329"/>
              </a:xfrm>
              <a:prstGeom prst="rect">
                <a:avLst/>
              </a:prstGeom>
              <a:blipFill>
                <a:blip r:embed="rId9"/>
                <a:stretch>
                  <a:fillRect l="-702" t="-2030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A5C62DD-6B5A-4D24-985B-1B724DA351B3}"/>
              </a:ext>
            </a:extLst>
          </p:cNvPr>
          <p:cNvSpPr txBox="1"/>
          <p:nvPr/>
        </p:nvSpPr>
        <p:spPr>
          <a:xfrm>
            <a:off x="95950" y="3256263"/>
            <a:ext cx="112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/>
              <p:nvPr/>
            </p:nvSpPr>
            <p:spPr>
              <a:xfrm>
                <a:off x="3593952" y="3406522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952" y="3406522"/>
                <a:ext cx="1502334" cy="276999"/>
              </a:xfrm>
              <a:prstGeom prst="rect">
                <a:avLst/>
              </a:prstGeom>
              <a:blipFill>
                <a:blip r:embed="rId10"/>
                <a:stretch>
                  <a:fillRect l="-1626" t="-2222" r="-3252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A442D7-AA47-4CB5-96C7-8D58E427ED18}"/>
                  </a:ext>
                </a:extLst>
              </p:cNvPr>
              <p:cNvSpPr txBox="1"/>
              <p:nvPr/>
            </p:nvSpPr>
            <p:spPr>
              <a:xfrm>
                <a:off x="1762017" y="4301937"/>
                <a:ext cx="71662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𝑠𝑞𝑢𝑎𝑟𝑒𝑑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𝑡𝑒𝑟𝑚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GB" dirty="0"/>
                  <a:t> Yes</a:t>
                </a:r>
              </a:p>
              <a:p>
                <a:r>
                  <a:rPr lang="en-GB" dirty="0"/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a squared term? Yes</a:t>
                </a:r>
              </a:p>
              <a:p>
                <a:endParaRPr lang="en-GB" dirty="0"/>
              </a:p>
              <a:p>
                <a:r>
                  <a:rPr lang="en-GB" dirty="0"/>
                  <a:t>If the middle term is 2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then all you need to factorise is (a-b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A442D7-AA47-4CB5-96C7-8D58E427E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017" y="4301937"/>
                <a:ext cx="7166223" cy="1200329"/>
              </a:xfrm>
              <a:prstGeom prst="rect">
                <a:avLst/>
              </a:prstGeom>
              <a:blipFill>
                <a:blip r:embed="rId11"/>
                <a:stretch>
                  <a:fillRect l="-680" t="-2538" b="-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978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5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A5C62DD-6B5A-4D24-985B-1B724DA351B3}"/>
              </a:ext>
            </a:extLst>
          </p:cNvPr>
          <p:cNvSpPr txBox="1"/>
          <p:nvPr/>
        </p:nvSpPr>
        <p:spPr>
          <a:xfrm>
            <a:off x="95950" y="1258957"/>
            <a:ext cx="112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/>
              <p:nvPr/>
            </p:nvSpPr>
            <p:spPr>
              <a:xfrm>
                <a:off x="3498832" y="1421471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832" y="1421471"/>
                <a:ext cx="1502334" cy="276999"/>
              </a:xfrm>
              <a:prstGeom prst="rect">
                <a:avLst/>
              </a:prstGeom>
              <a:blipFill>
                <a:blip r:embed="rId9"/>
                <a:stretch>
                  <a:fillRect l="-1626" t="-2174" r="-3252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B80B99-567E-4749-9495-8181D9C50659}"/>
                  </a:ext>
                </a:extLst>
              </p:cNvPr>
              <p:cNvSpPr txBox="1"/>
              <p:nvPr/>
            </p:nvSpPr>
            <p:spPr>
              <a:xfrm>
                <a:off x="5471984" y="981558"/>
                <a:ext cx="4628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𝐹𝑜𝑟𝑚𝑢𝑙𝑎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B80B99-567E-4749-9495-8181D9C50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984" y="981558"/>
                <a:ext cx="462850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5E5C2-A9B0-4226-B395-D1EED382A13F}"/>
                  </a:ext>
                </a:extLst>
              </p:cNvPr>
              <p:cNvSpPr txBox="1"/>
              <p:nvPr/>
            </p:nvSpPr>
            <p:spPr>
              <a:xfrm>
                <a:off x="2223065" y="2112579"/>
                <a:ext cx="8501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5E5C2-A9B0-4226-B395-D1EED382A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065" y="2112579"/>
                <a:ext cx="850105" cy="276999"/>
              </a:xfrm>
              <a:prstGeom prst="rect">
                <a:avLst/>
              </a:prstGeom>
              <a:blipFill>
                <a:blip r:embed="rId11"/>
                <a:stretch>
                  <a:fillRect l="-2878" t="-2222" r="-1439" b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3136A-DC7F-40C1-8ECA-81819C973374}"/>
                  </a:ext>
                </a:extLst>
              </p:cNvPr>
              <p:cNvSpPr txBox="1"/>
              <p:nvPr/>
            </p:nvSpPr>
            <p:spPr>
              <a:xfrm>
                <a:off x="4848159" y="2112579"/>
                <a:ext cx="8616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3136A-DC7F-40C1-8ECA-81819C97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159" y="2112579"/>
                <a:ext cx="861646" cy="276999"/>
              </a:xfrm>
              <a:prstGeom prst="rect">
                <a:avLst/>
              </a:prstGeom>
              <a:blipFill>
                <a:blip r:embed="rId12"/>
                <a:stretch>
                  <a:fillRect l="-5634" t="-2222" r="-563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2BB5EB1-7FA0-4F73-94EC-98A55EDDDA52}"/>
              </a:ext>
            </a:extLst>
          </p:cNvPr>
          <p:cNvSpPr txBox="1"/>
          <p:nvPr/>
        </p:nvSpPr>
        <p:spPr>
          <a:xfrm>
            <a:off x="1686910" y="2938775"/>
            <a:ext cx="3669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 lets figure out what a and b are: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54B96-9990-44C3-ADF8-EA2675310525}"/>
                  </a:ext>
                </a:extLst>
              </p:cNvPr>
              <p:cNvSpPr txBox="1"/>
              <p:nvPr/>
            </p:nvSpPr>
            <p:spPr>
              <a:xfrm>
                <a:off x="1950412" y="3685303"/>
                <a:ext cx="1090555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54B96-9990-44C3-ADF8-EA2675310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412" y="3685303"/>
                <a:ext cx="1090555" cy="297646"/>
              </a:xfrm>
              <a:prstGeom prst="rect">
                <a:avLst/>
              </a:prstGeom>
              <a:blipFill>
                <a:blip r:embed="rId13"/>
                <a:stretch>
                  <a:fillRect l="-7263" t="-12500" r="-559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1FD22-DB37-48CB-8A10-CDC44E412167}"/>
                  </a:ext>
                </a:extLst>
              </p:cNvPr>
              <p:cNvSpPr txBox="1"/>
              <p:nvPr/>
            </p:nvSpPr>
            <p:spPr>
              <a:xfrm>
                <a:off x="4607708" y="3685303"/>
                <a:ext cx="1102097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1FD22-DB37-48CB-8A10-CDC44E412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708" y="3685303"/>
                <a:ext cx="1102097" cy="297646"/>
              </a:xfrm>
              <a:prstGeom prst="rect">
                <a:avLst/>
              </a:prstGeom>
              <a:blipFill>
                <a:blip r:embed="rId14"/>
                <a:stretch>
                  <a:fillRect l="-7182" t="-12500" r="-442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24333-1681-46A9-B568-45F45C3731B8}"/>
                  </a:ext>
                </a:extLst>
              </p:cNvPr>
              <p:cNvSpPr txBox="1"/>
              <p:nvPr/>
            </p:nvSpPr>
            <p:spPr>
              <a:xfrm>
                <a:off x="2027067" y="4429363"/>
                <a:ext cx="629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24333-1681-46A9-B568-45F45C37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067" y="4429363"/>
                <a:ext cx="629788" cy="276999"/>
              </a:xfrm>
              <a:prstGeom prst="rect">
                <a:avLst/>
              </a:prstGeom>
              <a:blipFill>
                <a:blip r:embed="rId15"/>
                <a:stretch>
                  <a:fillRect l="-3883" r="-29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901E2-C9E7-4A1A-8ECA-FA74962ABC45}"/>
                  </a:ext>
                </a:extLst>
              </p:cNvPr>
              <p:cNvSpPr txBox="1"/>
              <p:nvPr/>
            </p:nvSpPr>
            <p:spPr>
              <a:xfrm>
                <a:off x="4848159" y="4443875"/>
                <a:ext cx="6238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901E2-C9E7-4A1A-8ECA-FA74962AB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159" y="4443875"/>
                <a:ext cx="623825" cy="276999"/>
              </a:xfrm>
              <a:prstGeom prst="rect">
                <a:avLst/>
              </a:prstGeom>
              <a:blipFill>
                <a:blip r:embed="rId16"/>
                <a:stretch>
                  <a:fillRect l="-7767" r="-7767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8789C9-5951-42F1-9319-B36CBF69ABDE}"/>
                  </a:ext>
                </a:extLst>
              </p:cNvPr>
              <p:cNvSpPr txBox="1"/>
              <p:nvPr/>
            </p:nvSpPr>
            <p:spPr>
              <a:xfrm>
                <a:off x="1684150" y="5306523"/>
                <a:ext cx="66400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Now, is the middle term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GB" dirty="0"/>
                  <a:t> Yes, so therefore the factor form is: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8789C9-5951-42F1-9319-B36CBF69A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150" y="5306523"/>
                <a:ext cx="6640087" cy="369332"/>
              </a:xfrm>
              <a:prstGeom prst="rect">
                <a:avLst/>
              </a:prstGeom>
              <a:blipFill>
                <a:blip r:embed="rId17"/>
                <a:stretch>
                  <a:fillRect l="-734" t="-8197" r="-550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CD0423-CCCE-4CEC-947C-CBF639959814}"/>
                  </a:ext>
                </a:extLst>
              </p:cNvPr>
              <p:cNvSpPr txBox="1"/>
              <p:nvPr/>
            </p:nvSpPr>
            <p:spPr>
              <a:xfrm>
                <a:off x="1950412" y="6029936"/>
                <a:ext cx="8981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CD0423-CCCE-4CEC-947C-CBF639959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412" y="6029936"/>
                <a:ext cx="898195" cy="276999"/>
              </a:xfrm>
              <a:prstGeom prst="rect">
                <a:avLst/>
              </a:prstGeom>
              <a:blipFill>
                <a:blip r:embed="rId18"/>
                <a:stretch>
                  <a:fillRect l="-8163" t="-2174" r="-1361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31B23D2-0DCA-443C-A4EC-574616FB7231}"/>
              </a:ext>
            </a:extLst>
          </p:cNvPr>
          <p:cNvSpPr txBox="1"/>
          <p:nvPr/>
        </p:nvSpPr>
        <p:spPr>
          <a:xfrm>
            <a:off x="4196020" y="6059868"/>
            <a:ext cx="4947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Because, the equation is subtraction the factored form must also be subtraction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7FF919-61BF-4FB7-B163-0F6BE75823E6}"/>
              </a:ext>
            </a:extLst>
          </p:cNvPr>
          <p:cNvCxnSpPr>
            <a:endCxn id="19" idx="2"/>
          </p:cNvCxnSpPr>
          <p:nvPr/>
        </p:nvCxnSpPr>
        <p:spPr>
          <a:xfrm flipH="1" flipV="1">
            <a:off x="2399510" y="6306935"/>
            <a:ext cx="1683759" cy="7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812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5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A5C62DD-6B5A-4D24-985B-1B724DA351B3}"/>
              </a:ext>
            </a:extLst>
          </p:cNvPr>
          <p:cNvSpPr txBox="1"/>
          <p:nvPr/>
        </p:nvSpPr>
        <p:spPr>
          <a:xfrm>
            <a:off x="95950" y="1258957"/>
            <a:ext cx="1129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Try this one yourself!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/>
              <p:nvPr/>
            </p:nvSpPr>
            <p:spPr>
              <a:xfrm>
                <a:off x="3498832" y="1421471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832" y="1421471"/>
                <a:ext cx="1502334" cy="276999"/>
              </a:xfrm>
              <a:prstGeom prst="rect">
                <a:avLst/>
              </a:prstGeom>
              <a:blipFill>
                <a:blip r:embed="rId9"/>
                <a:stretch>
                  <a:fillRect l="-1626" t="-2174" r="-284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B80B99-567E-4749-9495-8181D9C50659}"/>
                  </a:ext>
                </a:extLst>
              </p:cNvPr>
              <p:cNvSpPr txBox="1"/>
              <p:nvPr/>
            </p:nvSpPr>
            <p:spPr>
              <a:xfrm>
                <a:off x="5471984" y="981558"/>
                <a:ext cx="4628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𝐹𝑜𝑟𝑚𝑢𝑙𝑎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B80B99-567E-4749-9495-8181D9C50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984" y="981558"/>
                <a:ext cx="462850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5E5C2-A9B0-4226-B395-D1EED382A13F}"/>
                  </a:ext>
                </a:extLst>
              </p:cNvPr>
              <p:cNvSpPr txBox="1"/>
              <p:nvPr/>
            </p:nvSpPr>
            <p:spPr>
              <a:xfrm>
                <a:off x="2223065" y="2112579"/>
                <a:ext cx="5425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5E5C2-A9B0-4226-B395-D1EED382A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065" y="2112579"/>
                <a:ext cx="542584" cy="276999"/>
              </a:xfrm>
              <a:prstGeom prst="rect">
                <a:avLst/>
              </a:prstGeom>
              <a:blipFill>
                <a:blip r:embed="rId11"/>
                <a:stretch>
                  <a:fillRect l="-4494" t="-2222" r="-2247" b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3136A-DC7F-40C1-8ECA-81819C973374}"/>
                  </a:ext>
                </a:extLst>
              </p:cNvPr>
              <p:cNvSpPr txBox="1"/>
              <p:nvPr/>
            </p:nvSpPr>
            <p:spPr>
              <a:xfrm>
                <a:off x="4848159" y="2112579"/>
                <a:ext cx="5410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3136A-DC7F-40C1-8ECA-81819C97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159" y="2112579"/>
                <a:ext cx="541046" cy="276999"/>
              </a:xfrm>
              <a:prstGeom prst="rect">
                <a:avLst/>
              </a:prstGeom>
              <a:blipFill>
                <a:blip r:embed="rId12"/>
                <a:stretch>
                  <a:fillRect l="-8989" t="-2222" r="-3371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2BB5EB1-7FA0-4F73-94EC-98A55EDDDA52}"/>
              </a:ext>
            </a:extLst>
          </p:cNvPr>
          <p:cNvSpPr txBox="1"/>
          <p:nvPr/>
        </p:nvSpPr>
        <p:spPr>
          <a:xfrm>
            <a:off x="1686910" y="2938775"/>
            <a:ext cx="3669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 lets figure out what a and b are: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54B96-9990-44C3-ADF8-EA2675310525}"/>
                  </a:ext>
                </a:extLst>
              </p:cNvPr>
              <p:cNvSpPr txBox="1"/>
              <p:nvPr/>
            </p:nvSpPr>
            <p:spPr>
              <a:xfrm>
                <a:off x="1950412" y="3685303"/>
                <a:ext cx="936025" cy="300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</m:e>
                        <m:sup/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</m:e>
                        <m:sup/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54B96-9990-44C3-ADF8-EA2675310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412" y="3685303"/>
                <a:ext cx="936025" cy="300660"/>
              </a:xfrm>
              <a:prstGeom prst="rect">
                <a:avLst/>
              </a:prstGeom>
              <a:blipFill>
                <a:blip r:embed="rId13"/>
                <a:stretch>
                  <a:fillRect l="-8497" t="-12245" b="-224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1FD22-DB37-48CB-8A10-CDC44E412167}"/>
                  </a:ext>
                </a:extLst>
              </p:cNvPr>
              <p:cNvSpPr txBox="1"/>
              <p:nvPr/>
            </p:nvSpPr>
            <p:spPr>
              <a:xfrm>
                <a:off x="4607708" y="3685303"/>
                <a:ext cx="770980" cy="300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</m:e>
                        <m:sup/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1FD22-DB37-48CB-8A10-CDC44E412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708" y="3685303"/>
                <a:ext cx="770980" cy="300660"/>
              </a:xfrm>
              <a:prstGeom prst="rect">
                <a:avLst/>
              </a:prstGeom>
              <a:blipFill>
                <a:blip r:embed="rId14"/>
                <a:stretch>
                  <a:fillRect l="-10317" t="-12245" r="-11111" b="-224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24333-1681-46A9-B568-45F45C3731B8}"/>
                  </a:ext>
                </a:extLst>
              </p:cNvPr>
              <p:cNvSpPr txBox="1"/>
              <p:nvPr/>
            </p:nvSpPr>
            <p:spPr>
              <a:xfrm>
                <a:off x="2027067" y="4429363"/>
                <a:ext cx="4352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24333-1681-46A9-B568-45F45C37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067" y="4429363"/>
                <a:ext cx="435247" cy="276999"/>
              </a:xfrm>
              <a:prstGeom prst="rect">
                <a:avLst/>
              </a:prstGeom>
              <a:blipFill>
                <a:blip r:embed="rId15"/>
                <a:stretch>
                  <a:fillRect l="-5634" r="-42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901E2-C9E7-4A1A-8ECA-FA74962ABC45}"/>
                  </a:ext>
                </a:extLst>
              </p:cNvPr>
              <p:cNvSpPr txBox="1"/>
              <p:nvPr/>
            </p:nvSpPr>
            <p:spPr>
              <a:xfrm>
                <a:off x="4848159" y="4443875"/>
                <a:ext cx="4314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901E2-C9E7-4A1A-8ECA-FA74962AB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159" y="4443875"/>
                <a:ext cx="431464" cy="276999"/>
              </a:xfrm>
              <a:prstGeom prst="rect">
                <a:avLst/>
              </a:prstGeom>
              <a:blipFill>
                <a:blip r:embed="rId16"/>
                <a:stretch>
                  <a:fillRect l="-12676" r="-4225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8789C9-5951-42F1-9319-B36CBF69ABDE}"/>
                  </a:ext>
                </a:extLst>
              </p:cNvPr>
              <p:cNvSpPr txBox="1"/>
              <p:nvPr/>
            </p:nvSpPr>
            <p:spPr>
              <a:xfrm>
                <a:off x="1684150" y="5306523"/>
                <a:ext cx="66400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Now, is the middle term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GB" dirty="0"/>
                  <a:t> Yes, so therefore the factor form is: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8789C9-5951-42F1-9319-B36CBF69A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150" y="5306523"/>
                <a:ext cx="6640087" cy="369332"/>
              </a:xfrm>
              <a:prstGeom prst="rect">
                <a:avLst/>
              </a:prstGeom>
              <a:blipFill>
                <a:blip r:embed="rId17"/>
                <a:stretch>
                  <a:fillRect l="-734" t="-8197" r="-550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CD0423-CCCE-4CEC-947C-CBF639959814}"/>
                  </a:ext>
                </a:extLst>
              </p:cNvPr>
              <p:cNvSpPr txBox="1"/>
              <p:nvPr/>
            </p:nvSpPr>
            <p:spPr>
              <a:xfrm>
                <a:off x="1950412" y="6029936"/>
                <a:ext cx="11097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+____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CD0423-CCCE-4CEC-947C-CBF639959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412" y="6029936"/>
                <a:ext cx="1109791" cy="276999"/>
              </a:xfrm>
              <a:prstGeom prst="rect">
                <a:avLst/>
              </a:prstGeom>
              <a:blipFill>
                <a:blip r:embed="rId18"/>
                <a:stretch>
                  <a:fillRect l="-6593" t="-2174" r="-1099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413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5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A5C62DD-6B5A-4D24-985B-1B724DA351B3}"/>
              </a:ext>
            </a:extLst>
          </p:cNvPr>
          <p:cNvSpPr txBox="1"/>
          <p:nvPr/>
        </p:nvSpPr>
        <p:spPr>
          <a:xfrm>
            <a:off x="95950" y="1258957"/>
            <a:ext cx="1129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Try this one yourself!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/>
              <p:nvPr/>
            </p:nvSpPr>
            <p:spPr>
              <a:xfrm>
                <a:off x="3498832" y="1421471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832" y="1421471"/>
                <a:ext cx="1502334" cy="276999"/>
              </a:xfrm>
              <a:prstGeom prst="rect">
                <a:avLst/>
              </a:prstGeom>
              <a:blipFill>
                <a:blip r:embed="rId9"/>
                <a:stretch>
                  <a:fillRect l="-1626" t="-2174" r="-284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B80B99-567E-4749-9495-8181D9C50659}"/>
                  </a:ext>
                </a:extLst>
              </p:cNvPr>
              <p:cNvSpPr txBox="1"/>
              <p:nvPr/>
            </p:nvSpPr>
            <p:spPr>
              <a:xfrm>
                <a:off x="5471984" y="981558"/>
                <a:ext cx="4628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𝐹𝑜𝑟𝑚𝑢𝑙𝑎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B80B99-567E-4749-9495-8181D9C50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984" y="981558"/>
                <a:ext cx="462850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5E5C2-A9B0-4226-B395-D1EED382A13F}"/>
                  </a:ext>
                </a:extLst>
              </p:cNvPr>
              <p:cNvSpPr txBox="1"/>
              <p:nvPr/>
            </p:nvSpPr>
            <p:spPr>
              <a:xfrm>
                <a:off x="2223065" y="2112579"/>
                <a:ext cx="8501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5E5C2-A9B0-4226-B395-D1EED382A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065" y="2112579"/>
                <a:ext cx="850105" cy="276999"/>
              </a:xfrm>
              <a:prstGeom prst="rect">
                <a:avLst/>
              </a:prstGeom>
              <a:blipFill>
                <a:blip r:embed="rId11"/>
                <a:stretch>
                  <a:fillRect l="-2878" t="-2222" r="-1439" b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3136A-DC7F-40C1-8ECA-81819C973374}"/>
                  </a:ext>
                </a:extLst>
              </p:cNvPr>
              <p:cNvSpPr txBox="1"/>
              <p:nvPr/>
            </p:nvSpPr>
            <p:spPr>
              <a:xfrm>
                <a:off x="4848159" y="2112579"/>
                <a:ext cx="8616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3136A-DC7F-40C1-8ECA-81819C97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159" y="2112579"/>
                <a:ext cx="861646" cy="276999"/>
              </a:xfrm>
              <a:prstGeom prst="rect">
                <a:avLst/>
              </a:prstGeom>
              <a:blipFill>
                <a:blip r:embed="rId12"/>
                <a:stretch>
                  <a:fillRect l="-5634" t="-2222" r="-563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2BB5EB1-7FA0-4F73-94EC-98A55EDDDA52}"/>
              </a:ext>
            </a:extLst>
          </p:cNvPr>
          <p:cNvSpPr txBox="1"/>
          <p:nvPr/>
        </p:nvSpPr>
        <p:spPr>
          <a:xfrm>
            <a:off x="1686910" y="2938775"/>
            <a:ext cx="3669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 lets figure out what a and b are: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54B96-9990-44C3-ADF8-EA2675310525}"/>
                  </a:ext>
                </a:extLst>
              </p:cNvPr>
              <p:cNvSpPr txBox="1"/>
              <p:nvPr/>
            </p:nvSpPr>
            <p:spPr>
              <a:xfrm>
                <a:off x="1950412" y="3685303"/>
                <a:ext cx="1154675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54B96-9990-44C3-ADF8-EA2675310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412" y="3685303"/>
                <a:ext cx="1154675" cy="297646"/>
              </a:xfrm>
              <a:prstGeom prst="rect">
                <a:avLst/>
              </a:prstGeom>
              <a:blipFill>
                <a:blip r:embed="rId13"/>
                <a:stretch>
                  <a:fillRect l="-6878" t="-12500" r="-1058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1FD22-DB37-48CB-8A10-CDC44E412167}"/>
                  </a:ext>
                </a:extLst>
              </p:cNvPr>
              <p:cNvSpPr txBox="1"/>
              <p:nvPr/>
            </p:nvSpPr>
            <p:spPr>
              <a:xfrm>
                <a:off x="4607708" y="3685303"/>
                <a:ext cx="1166217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1FD22-DB37-48CB-8A10-CDC44E412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708" y="3685303"/>
                <a:ext cx="1166217" cy="297646"/>
              </a:xfrm>
              <a:prstGeom prst="rect">
                <a:avLst/>
              </a:prstGeom>
              <a:blipFill>
                <a:blip r:embed="rId14"/>
                <a:stretch>
                  <a:fillRect l="-6806" t="-12500" r="-4188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24333-1681-46A9-B568-45F45C3731B8}"/>
                  </a:ext>
                </a:extLst>
              </p:cNvPr>
              <p:cNvSpPr txBox="1"/>
              <p:nvPr/>
            </p:nvSpPr>
            <p:spPr>
              <a:xfrm>
                <a:off x="2027067" y="4429363"/>
                <a:ext cx="629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24333-1681-46A9-B568-45F45C37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067" y="4429363"/>
                <a:ext cx="629788" cy="276999"/>
              </a:xfrm>
              <a:prstGeom prst="rect">
                <a:avLst/>
              </a:prstGeom>
              <a:blipFill>
                <a:blip r:embed="rId15"/>
                <a:stretch>
                  <a:fillRect l="-3883" r="-29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901E2-C9E7-4A1A-8ECA-FA74962ABC45}"/>
                  </a:ext>
                </a:extLst>
              </p:cNvPr>
              <p:cNvSpPr txBox="1"/>
              <p:nvPr/>
            </p:nvSpPr>
            <p:spPr>
              <a:xfrm>
                <a:off x="4848159" y="4443875"/>
                <a:ext cx="5581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6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901E2-C9E7-4A1A-8ECA-FA74962AB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159" y="4443875"/>
                <a:ext cx="558102" cy="276999"/>
              </a:xfrm>
              <a:prstGeom prst="rect">
                <a:avLst/>
              </a:prstGeom>
              <a:blipFill>
                <a:blip r:embed="rId16"/>
                <a:stretch>
                  <a:fillRect l="-15217" t="-28889" r="-25000" b="-5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8789C9-5951-42F1-9319-B36CBF69ABDE}"/>
                  </a:ext>
                </a:extLst>
              </p:cNvPr>
              <p:cNvSpPr txBox="1"/>
              <p:nvPr/>
            </p:nvSpPr>
            <p:spPr>
              <a:xfrm>
                <a:off x="1684150" y="5306523"/>
                <a:ext cx="66400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Now, is the middle term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GB" dirty="0"/>
                  <a:t> Yes, so therefore the factor form is: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8789C9-5951-42F1-9319-B36CBF69A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150" y="5306523"/>
                <a:ext cx="6640087" cy="369332"/>
              </a:xfrm>
              <a:prstGeom prst="rect">
                <a:avLst/>
              </a:prstGeom>
              <a:blipFill>
                <a:blip r:embed="rId17"/>
                <a:stretch>
                  <a:fillRect l="-734" t="-8197" r="-550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CD0423-CCCE-4CEC-947C-CBF639959814}"/>
                  </a:ext>
                </a:extLst>
              </p:cNvPr>
              <p:cNvSpPr txBox="1"/>
              <p:nvPr/>
            </p:nvSpPr>
            <p:spPr>
              <a:xfrm>
                <a:off x="1950412" y="6029936"/>
                <a:ext cx="8981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CD0423-CCCE-4CEC-947C-CBF639959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412" y="6029936"/>
                <a:ext cx="898195" cy="276999"/>
              </a:xfrm>
              <a:prstGeom prst="rect">
                <a:avLst/>
              </a:prstGeom>
              <a:blipFill>
                <a:blip r:embed="rId18"/>
                <a:stretch>
                  <a:fillRect l="-8163" t="-2174" r="-1361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31B23D2-0DCA-443C-A4EC-574616FB7231}"/>
              </a:ext>
            </a:extLst>
          </p:cNvPr>
          <p:cNvSpPr txBox="1"/>
          <p:nvPr/>
        </p:nvSpPr>
        <p:spPr>
          <a:xfrm>
            <a:off x="4196020" y="6059868"/>
            <a:ext cx="4947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Because, the equation is addition the factored form must also be addition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7FF919-61BF-4FB7-B163-0F6BE75823E6}"/>
              </a:ext>
            </a:extLst>
          </p:cNvPr>
          <p:cNvCxnSpPr>
            <a:endCxn id="19" idx="2"/>
          </p:cNvCxnSpPr>
          <p:nvPr/>
        </p:nvCxnSpPr>
        <p:spPr>
          <a:xfrm flipH="1" flipV="1">
            <a:off x="2399510" y="6306935"/>
            <a:ext cx="1683763" cy="7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47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97B6-7490-4BE7-805E-ABC6D119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LHS: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C3869-346E-4AB7-97CC-33E9D69F9C27}"/>
                  </a:ext>
                </a:extLst>
              </p:cNvPr>
              <p:cNvSpPr txBox="1"/>
              <p:nvPr/>
            </p:nvSpPr>
            <p:spPr>
              <a:xfrm>
                <a:off x="768096" y="2293705"/>
                <a:ext cx="12458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C3869-346E-4AB7-97CC-33E9D69F9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293705"/>
                <a:ext cx="1245854" cy="276999"/>
              </a:xfrm>
              <a:prstGeom prst="rect">
                <a:avLst/>
              </a:prstGeom>
              <a:blipFill>
                <a:blip r:embed="rId2"/>
                <a:stretch>
                  <a:fillRect l="-1961" t="-2174" r="-3431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3397FA-8056-4EBE-AF57-8BED78F089A7}"/>
                  </a:ext>
                </a:extLst>
              </p:cNvPr>
              <p:cNvSpPr txBox="1"/>
              <p:nvPr/>
            </p:nvSpPr>
            <p:spPr>
              <a:xfrm>
                <a:off x="768096" y="3690991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+49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3397FA-8056-4EBE-AF57-8BED78F08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690991"/>
                <a:ext cx="1502334" cy="276999"/>
              </a:xfrm>
              <a:prstGeom prst="rect">
                <a:avLst/>
              </a:prstGeom>
              <a:blipFill>
                <a:blip r:embed="rId3"/>
                <a:stretch>
                  <a:fillRect l="-1626" t="-2174" r="-284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6D8831-CD0B-4939-964B-285E949DDADB}"/>
                  </a:ext>
                </a:extLst>
              </p:cNvPr>
              <p:cNvSpPr txBox="1"/>
              <p:nvPr/>
            </p:nvSpPr>
            <p:spPr>
              <a:xfrm>
                <a:off x="5332288" y="2298035"/>
                <a:ext cx="16305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+121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6D8831-CD0B-4939-964B-285E949DD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288" y="2298035"/>
                <a:ext cx="1630575" cy="276999"/>
              </a:xfrm>
              <a:prstGeom prst="rect">
                <a:avLst/>
              </a:prstGeom>
              <a:blipFill>
                <a:blip r:embed="rId4"/>
                <a:stretch>
                  <a:fillRect l="-1498" t="-2222" r="-2622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8A7268-1B2C-4B9A-A703-85B3D35CD5AD}"/>
                  </a:ext>
                </a:extLst>
              </p:cNvPr>
              <p:cNvSpPr txBox="1"/>
              <p:nvPr/>
            </p:nvSpPr>
            <p:spPr>
              <a:xfrm>
                <a:off x="5332288" y="3707760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+49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8A7268-1B2C-4B9A-A703-85B3D35CD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288" y="3707760"/>
                <a:ext cx="1502334" cy="276999"/>
              </a:xfrm>
              <a:prstGeom prst="rect">
                <a:avLst/>
              </a:prstGeom>
              <a:blipFill>
                <a:blip r:embed="rId5"/>
                <a:stretch>
                  <a:fillRect l="-1626" t="-2174" r="-284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594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5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complete the square?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A5C62DD-6B5A-4D24-985B-1B724DA351B3}"/>
              </a:ext>
            </a:extLst>
          </p:cNvPr>
          <p:cNvSpPr txBox="1"/>
          <p:nvPr/>
        </p:nvSpPr>
        <p:spPr>
          <a:xfrm>
            <a:off x="95950" y="1258957"/>
            <a:ext cx="1129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Try this one yourself!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/>
              <p:nvPr/>
            </p:nvSpPr>
            <p:spPr>
              <a:xfrm>
                <a:off x="3498832" y="1421471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−60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832" y="1421471"/>
                <a:ext cx="1502334" cy="276999"/>
              </a:xfrm>
              <a:prstGeom prst="rect">
                <a:avLst/>
              </a:prstGeom>
              <a:blipFill>
                <a:blip r:embed="rId9"/>
                <a:stretch>
                  <a:fillRect l="-1626" t="-2174" r="-3252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B80B99-567E-4749-9495-8181D9C50659}"/>
                  </a:ext>
                </a:extLst>
              </p:cNvPr>
              <p:cNvSpPr txBox="1"/>
              <p:nvPr/>
            </p:nvSpPr>
            <p:spPr>
              <a:xfrm>
                <a:off x="5471984" y="981558"/>
                <a:ext cx="4628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𝐹𝑜𝑟𝑚𝑢𝑙𝑎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B80B99-567E-4749-9495-8181D9C50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984" y="981558"/>
                <a:ext cx="462850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5E5C2-A9B0-4226-B395-D1EED382A13F}"/>
                  </a:ext>
                </a:extLst>
              </p:cNvPr>
              <p:cNvSpPr txBox="1"/>
              <p:nvPr/>
            </p:nvSpPr>
            <p:spPr>
              <a:xfrm>
                <a:off x="2223065" y="2112579"/>
                <a:ext cx="8501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5E5C2-A9B0-4226-B395-D1EED382A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065" y="2112579"/>
                <a:ext cx="850105" cy="276999"/>
              </a:xfrm>
              <a:prstGeom prst="rect">
                <a:avLst/>
              </a:prstGeom>
              <a:blipFill>
                <a:blip r:embed="rId11"/>
                <a:stretch>
                  <a:fillRect l="-2878" t="-2222" r="-1439" b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3136A-DC7F-40C1-8ECA-81819C973374}"/>
                  </a:ext>
                </a:extLst>
              </p:cNvPr>
              <p:cNvSpPr txBox="1"/>
              <p:nvPr/>
            </p:nvSpPr>
            <p:spPr>
              <a:xfrm>
                <a:off x="4848159" y="2112579"/>
                <a:ext cx="8616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3136A-DC7F-40C1-8ECA-81819C97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159" y="2112579"/>
                <a:ext cx="861646" cy="276999"/>
              </a:xfrm>
              <a:prstGeom prst="rect">
                <a:avLst/>
              </a:prstGeom>
              <a:blipFill>
                <a:blip r:embed="rId12"/>
                <a:stretch>
                  <a:fillRect l="-5634" t="-2222" r="-563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2BB5EB1-7FA0-4F73-94EC-98A55EDDDA52}"/>
              </a:ext>
            </a:extLst>
          </p:cNvPr>
          <p:cNvSpPr txBox="1"/>
          <p:nvPr/>
        </p:nvSpPr>
        <p:spPr>
          <a:xfrm>
            <a:off x="1686910" y="2938775"/>
            <a:ext cx="3669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 lets figure out what a and b are: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54B96-9990-44C3-ADF8-EA2675310525}"/>
                  </a:ext>
                </a:extLst>
              </p:cNvPr>
              <p:cNvSpPr txBox="1"/>
              <p:nvPr/>
            </p:nvSpPr>
            <p:spPr>
              <a:xfrm>
                <a:off x="1950412" y="3685303"/>
                <a:ext cx="1154675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54B96-9990-44C3-ADF8-EA2675310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412" y="3685303"/>
                <a:ext cx="1154675" cy="297646"/>
              </a:xfrm>
              <a:prstGeom prst="rect">
                <a:avLst/>
              </a:prstGeom>
              <a:blipFill>
                <a:blip r:embed="rId13"/>
                <a:stretch>
                  <a:fillRect l="-6878" t="-12500" r="-1058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1FD22-DB37-48CB-8A10-CDC44E412167}"/>
                  </a:ext>
                </a:extLst>
              </p:cNvPr>
              <p:cNvSpPr txBox="1"/>
              <p:nvPr/>
            </p:nvSpPr>
            <p:spPr>
              <a:xfrm>
                <a:off x="4607708" y="3685303"/>
                <a:ext cx="1166217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1FD22-DB37-48CB-8A10-CDC44E412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708" y="3685303"/>
                <a:ext cx="1166217" cy="297646"/>
              </a:xfrm>
              <a:prstGeom prst="rect">
                <a:avLst/>
              </a:prstGeom>
              <a:blipFill>
                <a:blip r:embed="rId14"/>
                <a:stretch>
                  <a:fillRect l="-6806" t="-12500" r="-471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24333-1681-46A9-B568-45F45C3731B8}"/>
                  </a:ext>
                </a:extLst>
              </p:cNvPr>
              <p:cNvSpPr txBox="1"/>
              <p:nvPr/>
            </p:nvSpPr>
            <p:spPr>
              <a:xfrm>
                <a:off x="2027067" y="4429363"/>
                <a:ext cx="629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124333-1681-46A9-B568-45F45C37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067" y="4429363"/>
                <a:ext cx="629788" cy="276999"/>
              </a:xfrm>
              <a:prstGeom prst="rect">
                <a:avLst/>
              </a:prstGeom>
              <a:blipFill>
                <a:blip r:embed="rId15"/>
                <a:stretch>
                  <a:fillRect l="-3883" r="-29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901E2-C9E7-4A1A-8ECA-FA74962ABC45}"/>
                  </a:ext>
                </a:extLst>
              </p:cNvPr>
              <p:cNvSpPr txBox="1"/>
              <p:nvPr/>
            </p:nvSpPr>
            <p:spPr>
              <a:xfrm>
                <a:off x="4848159" y="4443875"/>
                <a:ext cx="5581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5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901E2-C9E7-4A1A-8ECA-FA74962AB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159" y="4443875"/>
                <a:ext cx="558102" cy="276999"/>
              </a:xfrm>
              <a:prstGeom prst="rect">
                <a:avLst/>
              </a:prstGeom>
              <a:blipFill>
                <a:blip r:embed="rId16"/>
                <a:stretch>
                  <a:fillRect l="-15217" t="-28889" r="-25000" b="-5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8789C9-5951-42F1-9319-B36CBF69ABDE}"/>
                  </a:ext>
                </a:extLst>
              </p:cNvPr>
              <p:cNvSpPr txBox="1"/>
              <p:nvPr/>
            </p:nvSpPr>
            <p:spPr>
              <a:xfrm>
                <a:off x="1684150" y="5306523"/>
                <a:ext cx="66400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Now, is the middle term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GB" dirty="0"/>
                  <a:t> Yes, so therefore the factor form is: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8789C9-5951-42F1-9319-B36CBF69A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150" y="5306523"/>
                <a:ext cx="6640087" cy="369332"/>
              </a:xfrm>
              <a:prstGeom prst="rect">
                <a:avLst/>
              </a:prstGeom>
              <a:blipFill>
                <a:blip r:embed="rId17"/>
                <a:stretch>
                  <a:fillRect l="-734" t="-8197" r="-550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CD0423-CCCE-4CEC-947C-CBF639959814}"/>
                  </a:ext>
                </a:extLst>
              </p:cNvPr>
              <p:cNvSpPr txBox="1"/>
              <p:nvPr/>
            </p:nvSpPr>
            <p:spPr>
              <a:xfrm>
                <a:off x="1950412" y="6029936"/>
                <a:ext cx="8981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CD0423-CCCE-4CEC-947C-CBF639959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412" y="6029936"/>
                <a:ext cx="898195" cy="276999"/>
              </a:xfrm>
              <a:prstGeom prst="rect">
                <a:avLst/>
              </a:prstGeom>
              <a:blipFill>
                <a:blip r:embed="rId18"/>
                <a:stretch>
                  <a:fillRect l="-8163" t="-2174" r="-1361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31B23D2-0DCA-443C-A4EC-574616FB7231}"/>
              </a:ext>
            </a:extLst>
          </p:cNvPr>
          <p:cNvSpPr txBox="1"/>
          <p:nvPr/>
        </p:nvSpPr>
        <p:spPr>
          <a:xfrm>
            <a:off x="4196020" y="6059868"/>
            <a:ext cx="4947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Because, the equation is subtraction the factored form must also be subtraction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7FF919-61BF-4FB7-B163-0F6BE75823E6}"/>
              </a:ext>
            </a:extLst>
          </p:cNvPr>
          <p:cNvCxnSpPr>
            <a:endCxn id="19" idx="2"/>
          </p:cNvCxnSpPr>
          <p:nvPr/>
        </p:nvCxnSpPr>
        <p:spPr>
          <a:xfrm flipH="1" flipV="1">
            <a:off x="2399510" y="6306935"/>
            <a:ext cx="1683768" cy="7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56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0EEE-D76A-4FD4-BCEF-9556E524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8B268-10BA-4BDE-AB4D-B9AD14ECE264}"/>
                  </a:ext>
                </a:extLst>
              </p:cNvPr>
              <p:cNvSpPr txBox="1"/>
              <p:nvPr/>
            </p:nvSpPr>
            <p:spPr>
              <a:xfrm>
                <a:off x="657546" y="2437544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8B268-10BA-4BDE-AB4D-B9AD14ECE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46" y="2437544"/>
                <a:ext cx="1502334" cy="276999"/>
              </a:xfrm>
              <a:prstGeom prst="rect">
                <a:avLst/>
              </a:prstGeom>
              <a:blipFill>
                <a:blip r:embed="rId2"/>
                <a:stretch>
                  <a:fillRect l="-1626" t="-2222" r="-2846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7499D8-87FD-47C0-BCC6-66F660F25C90}"/>
                  </a:ext>
                </a:extLst>
              </p:cNvPr>
              <p:cNvSpPr txBox="1"/>
              <p:nvPr/>
            </p:nvSpPr>
            <p:spPr>
              <a:xfrm>
                <a:off x="5225306" y="2451444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+49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7499D8-87FD-47C0-BCC6-66F660F2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306" y="2451444"/>
                <a:ext cx="1502334" cy="276999"/>
              </a:xfrm>
              <a:prstGeom prst="rect">
                <a:avLst/>
              </a:prstGeom>
              <a:blipFill>
                <a:blip r:embed="rId3"/>
                <a:stretch>
                  <a:fillRect l="-1619" t="-2174" r="-2834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D837D3-C499-4ECC-A602-629E3D8E3413}"/>
                  </a:ext>
                </a:extLst>
              </p:cNvPr>
              <p:cNvSpPr txBox="1"/>
              <p:nvPr/>
            </p:nvSpPr>
            <p:spPr>
              <a:xfrm>
                <a:off x="721666" y="4304217"/>
                <a:ext cx="1374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D837D3-C499-4ECC-A602-629E3D8E3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66" y="4304217"/>
                <a:ext cx="1374094" cy="276999"/>
              </a:xfrm>
              <a:prstGeom prst="rect">
                <a:avLst/>
              </a:prstGeom>
              <a:blipFill>
                <a:blip r:embed="rId4"/>
                <a:stretch>
                  <a:fillRect l="-1770" t="-2174" r="-3097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7CECB2-94E2-4354-B12D-31796FED55DE}"/>
                  </a:ext>
                </a:extLst>
              </p:cNvPr>
              <p:cNvSpPr txBox="1"/>
              <p:nvPr/>
            </p:nvSpPr>
            <p:spPr>
              <a:xfrm>
                <a:off x="5225306" y="4417484"/>
                <a:ext cx="15023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7CECB2-94E2-4354-B12D-31796FED5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306" y="4417484"/>
                <a:ext cx="1502334" cy="276999"/>
              </a:xfrm>
              <a:prstGeom prst="rect">
                <a:avLst/>
              </a:prstGeom>
              <a:blipFill>
                <a:blip r:embed="rId5"/>
                <a:stretch>
                  <a:fillRect l="-1619" t="-2222" r="-283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882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3469</TotalTime>
  <Words>963</Words>
  <Application>Microsoft Office PowerPoint</Application>
  <PresentationFormat>On-screen Show (4:3)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Cambria Math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LHS:</vt:lpstr>
      <vt:lpstr>PowerPoint Presentation</vt:lpstr>
      <vt:lpstr>LHS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Tony Nguyen</cp:lastModifiedBy>
  <cp:revision>37</cp:revision>
  <cp:lastPrinted>2021-08-27T03:16:37Z</cp:lastPrinted>
  <dcterms:created xsi:type="dcterms:W3CDTF">2017-03-26T12:36:47Z</dcterms:created>
  <dcterms:modified xsi:type="dcterms:W3CDTF">2021-08-30T12:31:22Z</dcterms:modified>
</cp:coreProperties>
</file>
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22"/>
  </p:notesMasterIdLst>
  <p:sldIdLst>
    <p:sldId id="262" r:id="rId3"/>
    <p:sldId id="324" r:id="rId4"/>
    <p:sldId id="322" r:id="rId5"/>
    <p:sldId id="323" r:id="rId6"/>
    <p:sldId id="325" r:id="rId7"/>
    <p:sldId id="326" r:id="rId8"/>
    <p:sldId id="327" r:id="rId9"/>
    <p:sldId id="328" r:id="rId10"/>
    <p:sldId id="329" r:id="rId11"/>
    <p:sldId id="33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38" r:id="rId21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ny Nguyen" initials="TN" lastIdx="1" clrIdx="0">
    <p:extLst>
      <p:ext uri="{19B8F6BF-5375-455C-9EA6-DF929625EA0E}">
        <p15:presenceInfo xmlns:p15="http://schemas.microsoft.com/office/powerpoint/2012/main" userId="1f481f7b9cf3dbe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796" autoAdjust="0"/>
    <p:restoredTop sz="98537" autoAdjust="0"/>
  </p:normalViewPr>
  <p:slideViewPr>
    <p:cSldViewPr snapToGrid="0" snapToObjects="1">
      <p:cViewPr varScale="1">
        <p:scale>
          <a:sx n="93" d="100"/>
          <a:sy n="93" d="100"/>
        </p:scale>
        <p:origin x="276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3:59.22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1,'0'538,"0"-531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00.8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2 0,'-1'39,"0"-13,1 0,2 0,0 0,8 34,-4-36,28 116,-28-110,-2 0,0 53,-5-46,1-23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02.4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0,'0'819,"0"-803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03.76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1,'0'771,"0"-754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05.2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0,'0'42,"9"228,-5-202,-4-48,1 1,1-1,4 21,-3-30,0-5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06.70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1,'9'306,"-4"-190,-3-37,6-18,-5-38,1 23,-3 9,-1-41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11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1,'1'8,"0"0,0-1,0 1,6 13,0 4,12 54,13 59,-27-107,-1 0,1 48,-4-64,0 0,1-1,1 1,9 25,1 11,-7-18,-2-1,1 64,-5-78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12.93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15.6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1,'0'45,"1"52,0-85,1 0,1-1,5 15,-4-13,0-1,1 16,-2 28,-3-39,0-1,4 18,-2-26,1 1,0-1,6 14,4 9,-8-14,-1 1,-1-1,0 1,-2 0,0 26,-2-28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16.94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1,'0'13,"-1"67,17 131,-11-183,7 47,6 147,-17-201,1 0,1 0,1-1,8 27,-4-19,5 37,-11-44,-1-4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18.5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1,'1'10,"0"0,0-1,4 12,0 0,1 7,13 33,-5-17,2 8,-3 1,-2 0,-2 1,-2 0,-2 86,-4-129,0-1,0 0,1 1,0-1,1 0,0 0,7 15,-5-13,0 1,-1 0,5 26,-7 20,-2-43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19.8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0,'0'480,"0"-475,0 0,1-1,-1 1,2 6,2-1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4:53.29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4:55.36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1 1,'0'436,"0"-419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4:58.19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1 0,'0'397,"0"-394,0 0,0 0,0 0,0 0,1 0,0 0,-1-1,3 7,4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5:00.24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1 0,'0'322,"1"-312,-1-1,2 1,0-1,0 1,0-1,1 0,5 11,-3-9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5:07.65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0 0,'0'346,"0"-329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5:09.63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0 0,'0'411,"0"-402,1-1,0 0,1 0,-1 0,1 0,1 0,0 0,3 8,4 15,-7-17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5:11.31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1 1,'0'404,"0"-395,0 0,1-1,4 16,-2-11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5:21.86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2 0,'-1'74,"2"81,12-72,-12-75,0-5,0-1,-1 0,1 0,0 0,0 0,0 0,1 0,-1 0,0 0,1 0,-1-1,1 1,0-1,0 1,-1-1,3 2,6 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5:24.17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51 0,'-2'0,"0"0,0 0,1 0,-1 1,0-1,0 1,1-1,-1 1,0-1,1 1,-1 0,0 0,1 0,-1 0,1 0,0 0,-2 1,1 1,0-1,0 0,1 1,-1-1,1 1,0 0,0-1,0 1,-1 5,0 5,0-1,1 1,1 25,1-26,-1 52,2 42,0-89,1-1,8 26,-7-26,1 0,1 21,-5 16,-1-42,0 0,0 0,1 0,0-1,0 1,2 0,-1-1,5 12,-2-12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5:27.00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1 1,'0'512,"0"-507,1-1,-1 0,1 1,0-1,1 0,-1 0,1 0,3 6,1 3,-1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5:28.86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0 1,'0'256,"1"-244,0 0,5 23,-2-21,1 22,-4-28,0-1,1 0,0 1,0-1,1 0,0 0,6 10,-5-9,0 0,0 0,-1 1,4 15,-4 4,-1 0,-3 54,-1-21,2-43,0-1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45:31.331"/>
    </inkml:context>
    <inkml:brush xml:id="br0">
      <inkml:brushProperty name="width" value="0.2" units="cm"/>
      <inkml:brushProperty name="height" value="0.2" units="cm"/>
      <inkml:brushProperty name="color" value="#004F8B"/>
      <inkml:brushProperty name="ignorePressure" value="1"/>
    </inkml:brush>
  </inkml:definitions>
  <inkml:trace contextRef="#ctx0" brushRef="#br0">33 0,'-6'15,"0"0,1 1,1-1,0 1,1 0,-1 23,3 101,3-74,-2 272,0-321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28.75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1.9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1:44:32.672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49.251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8-25T12:03:50.272"/>
    </inkml:context>
    <inkml:brush xml:id="br0">
      <inkml:brushProperty name="width" value="0.05" units="cm"/>
      <inkml:brushProperty name="height" value="0.05" units="cm"/>
      <inkml:brushProperty name="color" value="#004F8B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4BD4A-A91C-4E47-8743-EFFA608D5BE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22444-CE1B-1E4E-8F2E-41A287EDC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41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0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62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9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8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2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18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7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095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6303" y="945913"/>
            <a:ext cx="6477805" cy="2618554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6303" y="3564468"/>
            <a:ext cx="6477804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5343" y="329308"/>
            <a:ext cx="4457751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43295" y="134930"/>
            <a:ext cx="608264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1821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48A87A34-81AB-432B-8DAE-1953F412C126}" type="datetimeFigureOut">
              <a:rPr lang="en-US" dirty="0"/>
              <a:pPr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8706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75" y="1756130"/>
            <a:ext cx="6464295" cy="2050065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6875" y="3806196"/>
            <a:ext cx="6464295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9026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290" y="958038"/>
            <a:ext cx="7204226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6875" y="2165621"/>
            <a:ext cx="3483864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1705" y="2171769"/>
            <a:ext cx="3483864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1763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75" y="953337"/>
            <a:ext cx="7205746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6875" y="2169728"/>
            <a:ext cx="348386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6875" y="2974448"/>
            <a:ext cx="3483864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0753" y="2173182"/>
            <a:ext cx="348386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0753" y="2971670"/>
            <a:ext cx="3483864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7053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29407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0838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19" y="952578"/>
            <a:ext cx="2456260" cy="2322176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2500" y="952579"/>
            <a:ext cx="4509353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219" y="3274754"/>
            <a:ext cx="2456260" cy="2178918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55022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482171"/>
            <a:ext cx="3055900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43" y="1129513"/>
            <a:ext cx="4391154" cy="192420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1122543"/>
            <a:ext cx="209337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6185" y="3053722"/>
            <a:ext cx="4384865" cy="2096013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3975" y="5469857"/>
            <a:ext cx="4387204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43975" y="318641"/>
            <a:ext cx="365836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32596" y="137408"/>
            <a:ext cx="608264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844095" y="643464"/>
            <a:ext cx="440969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48031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69147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3532" y="798974"/>
            <a:ext cx="121180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7702" y="798974"/>
            <a:ext cx="5871623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5898779" y="3066347"/>
            <a:ext cx="4663440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3913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C6EFA5-EDA3-5B41-AB62-716640C6E233}" type="datetimeFigureOut">
              <a:rPr lang="en-US" smtClean="0"/>
              <a:t>8/27/2021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44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9144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7703" y="953325"/>
            <a:ext cx="7202456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7703" y="2171769"/>
            <a:ext cx="7202456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24623" y="330370"/>
            <a:ext cx="188654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7703" y="329308"/>
            <a:ext cx="445412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38558" y="137408"/>
            <a:ext cx="608264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70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4.jpe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customXml" Target="../ink/ink14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Relationship Id="rId9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.xml"/><Relationship Id="rId11" Type="http://schemas.openxmlformats.org/officeDocument/2006/relationships/image" Target="../media/image24.png"/><Relationship Id="rId5" Type="http://schemas.openxmlformats.org/officeDocument/2006/relationships/customXml" Target="../ink/ink23.xml"/><Relationship Id="rId10" Type="http://schemas.openxmlformats.org/officeDocument/2006/relationships/image" Target="../media/image23.png"/><Relationship Id="rId4" Type="http://schemas.openxmlformats.org/officeDocument/2006/relationships/customXml" Target="../ink/ink22.xml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12" Type="http://schemas.openxmlformats.org/officeDocument/2006/relationships/image" Target="../media/image28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11" Type="http://schemas.openxmlformats.org/officeDocument/2006/relationships/image" Target="../media/image27.png"/><Relationship Id="rId5" Type="http://schemas.openxmlformats.org/officeDocument/2006/relationships/customXml" Target="../ink/ink28.xml"/><Relationship Id="rId10" Type="http://schemas.openxmlformats.org/officeDocument/2006/relationships/image" Target="../media/image26.png"/><Relationship Id="rId4" Type="http://schemas.openxmlformats.org/officeDocument/2006/relationships/customXml" Target="../ink/ink27.xml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.xml"/><Relationship Id="rId5" Type="http://schemas.openxmlformats.org/officeDocument/2006/relationships/customXml" Target="../ink/ink33.xml"/><Relationship Id="rId4" Type="http://schemas.openxmlformats.org/officeDocument/2006/relationships/customXml" Target="../ink/ink32.xml"/><Relationship Id="rId9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0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.xml"/><Relationship Id="rId5" Type="http://schemas.openxmlformats.org/officeDocument/2006/relationships/customXml" Target="../ink/ink38.xml"/><Relationship Id="rId4" Type="http://schemas.openxmlformats.org/officeDocument/2006/relationships/customXml" Target="../ink/ink37.xml"/><Relationship Id="rId9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customXml" Target="../ink/ink46.xml"/><Relationship Id="rId18" Type="http://schemas.openxmlformats.org/officeDocument/2006/relationships/image" Target="../media/image39.png"/><Relationship Id="rId26" Type="http://schemas.openxmlformats.org/officeDocument/2006/relationships/image" Target="../media/image43.png"/><Relationship Id="rId3" Type="http://schemas.openxmlformats.org/officeDocument/2006/relationships/customXml" Target="../ink/ink41.xml"/><Relationship Id="rId21" Type="http://schemas.openxmlformats.org/officeDocument/2006/relationships/customXml" Target="../ink/ink50.xml"/><Relationship Id="rId7" Type="http://schemas.openxmlformats.org/officeDocument/2006/relationships/customXml" Target="../ink/ink43.xml"/><Relationship Id="rId12" Type="http://schemas.openxmlformats.org/officeDocument/2006/relationships/image" Target="../media/image36.png"/><Relationship Id="rId17" Type="http://schemas.openxmlformats.org/officeDocument/2006/relationships/customXml" Target="../ink/ink48.xml"/><Relationship Id="rId25" Type="http://schemas.openxmlformats.org/officeDocument/2006/relationships/customXml" Target="../ink/ink52.xml"/><Relationship Id="rId2" Type="http://schemas.openxmlformats.org/officeDocument/2006/relationships/image" Target="../media/image21.png"/><Relationship Id="rId16" Type="http://schemas.openxmlformats.org/officeDocument/2006/relationships/image" Target="../media/image38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customXml" Target="../ink/ink45.xml"/><Relationship Id="rId24" Type="http://schemas.openxmlformats.org/officeDocument/2006/relationships/image" Target="../media/image42.png"/><Relationship Id="rId5" Type="http://schemas.openxmlformats.org/officeDocument/2006/relationships/customXml" Target="../ink/ink42.xml"/><Relationship Id="rId15" Type="http://schemas.openxmlformats.org/officeDocument/2006/relationships/customXml" Target="../ink/ink47.xml"/><Relationship Id="rId23" Type="http://schemas.openxmlformats.org/officeDocument/2006/relationships/customXml" Target="../ink/ink51.xml"/><Relationship Id="rId10" Type="http://schemas.openxmlformats.org/officeDocument/2006/relationships/image" Target="../media/image35.png"/><Relationship Id="rId19" Type="http://schemas.openxmlformats.org/officeDocument/2006/relationships/customXml" Target="../ink/ink49.xml"/><Relationship Id="rId4" Type="http://schemas.openxmlformats.org/officeDocument/2006/relationships/image" Target="../media/image32.png"/><Relationship Id="rId9" Type="http://schemas.openxmlformats.org/officeDocument/2006/relationships/customXml" Target="../ink/ink44.xml"/><Relationship Id="rId14" Type="http://schemas.openxmlformats.org/officeDocument/2006/relationships/image" Target="../media/image37.png"/><Relationship Id="rId22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7.xml"/><Relationship Id="rId3" Type="http://schemas.openxmlformats.org/officeDocument/2006/relationships/image" Target="../media/image29.png"/><Relationship Id="rId7" Type="http://schemas.openxmlformats.org/officeDocument/2006/relationships/image" Target="../media/image30.png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.xml"/><Relationship Id="rId5" Type="http://schemas.openxmlformats.org/officeDocument/2006/relationships/customXml" Target="../ink/ink55.xml"/><Relationship Id="rId10" Type="http://schemas.openxmlformats.org/officeDocument/2006/relationships/image" Target="../media/image44.png"/><Relationship Id="rId4" Type="http://schemas.openxmlformats.org/officeDocument/2006/relationships/customXml" Target="../ink/ink54.xml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2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12" Type="http://schemas.openxmlformats.org/officeDocument/2006/relationships/image" Target="../media/image47.png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1.xml"/><Relationship Id="rId11" Type="http://schemas.openxmlformats.org/officeDocument/2006/relationships/image" Target="../media/image46.png"/><Relationship Id="rId5" Type="http://schemas.openxmlformats.org/officeDocument/2006/relationships/customXml" Target="../ink/ink60.xml"/><Relationship Id="rId10" Type="http://schemas.openxmlformats.org/officeDocument/2006/relationships/image" Target="../media/image45.png"/><Relationship Id="rId4" Type="http://schemas.openxmlformats.org/officeDocument/2006/relationships/customXml" Target="../ink/ink59.xml"/><Relationship Id="rId9" Type="http://schemas.openxmlformats.org/officeDocument/2006/relationships/image" Target="../media/image4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67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12" Type="http://schemas.openxmlformats.org/officeDocument/2006/relationships/image" Target="../media/image47.png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6.xml"/><Relationship Id="rId11" Type="http://schemas.openxmlformats.org/officeDocument/2006/relationships/image" Target="../media/image46.png"/><Relationship Id="rId5" Type="http://schemas.openxmlformats.org/officeDocument/2006/relationships/customXml" Target="../ink/ink65.xml"/><Relationship Id="rId10" Type="http://schemas.openxmlformats.org/officeDocument/2006/relationships/image" Target="../media/image45.png"/><Relationship Id="rId4" Type="http://schemas.openxmlformats.org/officeDocument/2006/relationships/customXml" Target="../ink/ink64.xml"/><Relationship Id="rId9" Type="http://schemas.openxmlformats.org/officeDocument/2006/relationships/image" Target="../media/image4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2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customXml" Target="../ink/ink6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1.xml"/><Relationship Id="rId5" Type="http://schemas.openxmlformats.org/officeDocument/2006/relationships/customXml" Target="../ink/ink70.xml"/><Relationship Id="rId4" Type="http://schemas.openxmlformats.org/officeDocument/2006/relationships/customXml" Target="../ink/ink69.xml"/><Relationship Id="rId9" Type="http://schemas.openxmlformats.org/officeDocument/2006/relationships/image" Target="../media/image45.tm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77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customXml" Target="../ink/ink7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6.xml"/><Relationship Id="rId11" Type="http://schemas.openxmlformats.org/officeDocument/2006/relationships/image" Target="../media/image51.png"/><Relationship Id="rId5" Type="http://schemas.openxmlformats.org/officeDocument/2006/relationships/customXml" Target="../ink/ink75.xml"/><Relationship Id="rId10" Type="http://schemas.openxmlformats.org/officeDocument/2006/relationships/image" Target="../media/image50.png"/><Relationship Id="rId4" Type="http://schemas.openxmlformats.org/officeDocument/2006/relationships/customXml" Target="../ink/ink74.xml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2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12" Type="http://schemas.openxmlformats.org/officeDocument/2006/relationships/image" Target="../media/image55.png"/><Relationship Id="rId2" Type="http://schemas.openxmlformats.org/officeDocument/2006/relationships/customXml" Target="../ink/ink7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1.xml"/><Relationship Id="rId11" Type="http://schemas.openxmlformats.org/officeDocument/2006/relationships/image" Target="../media/image54.png"/><Relationship Id="rId5" Type="http://schemas.openxmlformats.org/officeDocument/2006/relationships/customXml" Target="../ink/ink80.xml"/><Relationship Id="rId10" Type="http://schemas.openxmlformats.org/officeDocument/2006/relationships/image" Target="../media/image53.png"/><Relationship Id="rId4" Type="http://schemas.openxmlformats.org/officeDocument/2006/relationships/customXml" Target="../ink/ink79.xml"/><Relationship Id="rId9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7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customXml" Target="../ink/ink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6.xml"/><Relationship Id="rId5" Type="http://schemas.openxmlformats.org/officeDocument/2006/relationships/customXml" Target="../ink/ink85.xml"/><Relationship Id="rId10" Type="http://schemas.openxmlformats.org/officeDocument/2006/relationships/image" Target="cid:6B954CEC-74D5-47FF-AFB9-ACB10F4DBDC0-L0-001" TargetMode="External"/><Relationship Id="rId4" Type="http://schemas.openxmlformats.org/officeDocument/2006/relationships/customXml" Target="../ink/ink84.xml"/><Relationship Id="rId9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92.xml"/><Relationship Id="rId3" Type="http://schemas.openxmlformats.org/officeDocument/2006/relationships/image" Target="../media/image10.png"/><Relationship Id="rId7" Type="http://schemas.openxmlformats.org/officeDocument/2006/relationships/image" Target="../media/image20.png"/><Relationship Id="rId2" Type="http://schemas.openxmlformats.org/officeDocument/2006/relationships/customXml" Target="../ink/ink8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1.xml"/><Relationship Id="rId5" Type="http://schemas.openxmlformats.org/officeDocument/2006/relationships/customXml" Target="../ink/ink90.xml"/><Relationship Id="rId10" Type="http://schemas.openxmlformats.org/officeDocument/2006/relationships/image" Target="cid:2E70E402-C7BC-4B8D-A9B2-F29C626923A2-L0-001" TargetMode="External"/><Relationship Id="rId4" Type="http://schemas.openxmlformats.org/officeDocument/2006/relationships/customXml" Target="../ink/ink89.xml"/><Relationship Id="rId9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 your books, create a table of values for the following rule,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x</a:t>
            </a:r>
            <a:r>
              <a:rPr lang="en-AU" baseline="30000" dirty="0"/>
              <a:t>2 </a:t>
            </a:r>
            <a:r>
              <a:rPr lang="en-AU" dirty="0"/>
              <a:t>- 1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13526" y="3429000"/>
          <a:ext cx="6791500" cy="1093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150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910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C0A38-A437-4803-A338-58680DA615C1}"/>
              </a:ext>
            </a:extLst>
          </p:cNvPr>
          <p:cNvSpPr txBox="1"/>
          <p:nvPr/>
        </p:nvSpPr>
        <p:spPr>
          <a:xfrm>
            <a:off x="63260" y="1300755"/>
            <a:ext cx="11444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are the important points on parabolas?</a:t>
            </a:r>
          </a:p>
        </p:txBody>
      </p:sp>
      <p:pic>
        <p:nvPicPr>
          <p:cNvPr id="4" name="Picture 3" descr="Calendar&#10;&#10;Description automatically generated">
            <a:extLst>
              <a:ext uri="{FF2B5EF4-FFF2-40B4-BE49-F238E27FC236}">
                <a16:creationId xmlns:a16="http://schemas.microsoft.com/office/drawing/2014/main" id="{18C917BF-E920-4FED-BB6B-AF929ED86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448" y="1303774"/>
            <a:ext cx="6285781" cy="20952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B1C835-3DCC-4121-94FF-8B06F68A5C08}"/>
              </a:ext>
            </a:extLst>
          </p:cNvPr>
          <p:cNvSpPr txBox="1"/>
          <p:nvPr/>
        </p:nvSpPr>
        <p:spPr>
          <a:xfrm>
            <a:off x="1731082" y="3878494"/>
            <a:ext cx="732090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minimum, and maximum points are also called the vertex. Through the vertex there is a line of symmetry (the red line).</a:t>
            </a:r>
          </a:p>
          <a:p>
            <a:endParaRPr lang="en-GB" dirty="0"/>
          </a:p>
          <a:p>
            <a:r>
              <a:rPr lang="en-GB" dirty="0"/>
              <a:t>When graphing a quadratic you need to find the axis of symmetry and pick two points. Either to the left or to the right of the vertex. </a:t>
            </a:r>
          </a:p>
          <a:p>
            <a:endParaRPr lang="en-GB" dirty="0"/>
          </a:p>
          <a:p>
            <a:r>
              <a:rPr lang="en-GB" dirty="0"/>
              <a:t>Once you found two points you can use the line of symmetry to reflect the other two points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293DAA2-1364-430B-BBA0-60F1784860A8}"/>
                  </a:ext>
                </a:extLst>
              </p14:cNvPr>
              <p14:cNvContentPartPr/>
              <p14:nvPr/>
            </p14:nvContentPartPr>
            <p14:xfrm>
              <a:off x="3231559" y="1276295"/>
              <a:ext cx="360" cy="196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293DAA2-1364-430B-BBA0-60F1784860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2559" y="1267295"/>
                <a:ext cx="1800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5A24A8D-444F-48D7-8046-E11C1B4DE10B}"/>
                  </a:ext>
                </a:extLst>
              </p14:cNvPr>
              <p14:cNvContentPartPr/>
              <p14:nvPr/>
            </p14:nvContentPartPr>
            <p14:xfrm>
              <a:off x="3248479" y="1644215"/>
              <a:ext cx="24840" cy="202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5A24A8D-444F-48D7-8046-E11C1B4DE1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39479" y="1635215"/>
                <a:ext cx="424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F26CCC1-50CB-4ACB-9A2D-419DB09772A7}"/>
                  </a:ext>
                </a:extLst>
              </p14:cNvPr>
              <p14:cNvContentPartPr/>
              <p14:nvPr/>
            </p14:nvContentPartPr>
            <p14:xfrm>
              <a:off x="3271879" y="2058575"/>
              <a:ext cx="360" cy="300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F26CCC1-50CB-4ACB-9A2D-419DB09772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62879" y="2049575"/>
                <a:ext cx="1800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205ECAD-0043-42D2-8775-9869A61C0F73}"/>
                  </a:ext>
                </a:extLst>
              </p14:cNvPr>
              <p14:cNvContentPartPr/>
              <p14:nvPr/>
            </p14:nvContentPartPr>
            <p14:xfrm>
              <a:off x="3271879" y="2564375"/>
              <a:ext cx="360" cy="2840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205ECAD-0043-42D2-8775-9869A61C0F7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62879" y="2555375"/>
                <a:ext cx="1800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710B9FD-A883-4A92-A42D-CC5561FB27C4}"/>
                  </a:ext>
                </a:extLst>
              </p14:cNvPr>
              <p14:cNvContentPartPr/>
              <p14:nvPr/>
            </p14:nvContentPartPr>
            <p14:xfrm>
              <a:off x="3271879" y="3024455"/>
              <a:ext cx="10440" cy="180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710B9FD-A883-4A92-A42D-CC5561FB27C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62879" y="3015455"/>
                <a:ext cx="2808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E60BCAE-6801-4412-99C3-B21D6B58511F}"/>
                  </a:ext>
                </a:extLst>
              </p14:cNvPr>
              <p14:cNvContentPartPr/>
              <p14:nvPr/>
            </p14:nvContentPartPr>
            <p14:xfrm>
              <a:off x="3294919" y="3358175"/>
              <a:ext cx="11880" cy="252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E60BCAE-6801-4412-99C3-B21D6B5851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285919" y="3349162"/>
                <a:ext cx="29520" cy="270385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51DB4A6F-5554-424E-B4ED-AF2839EF4D1F}"/>
              </a:ext>
            </a:extLst>
          </p:cNvPr>
          <p:cNvGrpSpPr/>
          <p:nvPr/>
        </p:nvGrpSpPr>
        <p:grpSpPr>
          <a:xfrm>
            <a:off x="6429079" y="1517495"/>
            <a:ext cx="64440" cy="609480"/>
            <a:chOff x="6429079" y="1517495"/>
            <a:chExt cx="64440" cy="60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9FF1923-09BF-4AD5-ADD9-0998882805E4}"/>
                    </a:ext>
                  </a:extLst>
                </p14:cNvPr>
                <p14:cNvContentPartPr/>
                <p14:nvPr/>
              </p14:nvContentPartPr>
              <p14:xfrm>
                <a:off x="6446359" y="1517495"/>
                <a:ext cx="47160" cy="275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9FF1923-09BF-4AD5-ADD9-0998882805E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437359" y="1508495"/>
                  <a:ext cx="648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E016AD2-7E4D-4004-B6E4-BA2AB03F4AD7}"/>
                    </a:ext>
                  </a:extLst>
                </p14:cNvPr>
                <p14:cNvContentPartPr/>
                <p14:nvPr/>
              </p14:nvContentPartPr>
              <p14:xfrm>
                <a:off x="6469399" y="1897655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E016AD2-7E4D-4004-B6E4-BA2AB03F4AD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60399" y="188865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8481138-C668-4AD8-BD67-391F5852B427}"/>
                    </a:ext>
                  </a:extLst>
                </p14:cNvPr>
                <p14:cNvContentPartPr/>
                <p14:nvPr/>
              </p14:nvContentPartPr>
              <p14:xfrm>
                <a:off x="6429079" y="1908815"/>
                <a:ext cx="29880" cy="218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8481138-C668-4AD8-BD67-391F5852B42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20079" y="1899815"/>
                  <a:ext cx="47520" cy="23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FEDC24A-9C34-407F-9A71-04ACDE66C9F5}"/>
                  </a:ext>
                </a:extLst>
              </p14:cNvPr>
              <p14:cNvContentPartPr/>
              <p14:nvPr/>
            </p14:nvContentPartPr>
            <p14:xfrm>
              <a:off x="6434839" y="2317055"/>
              <a:ext cx="34920" cy="321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FEDC24A-9C34-407F-9A71-04ACDE66C9F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425931" y="2308045"/>
                <a:ext cx="52380" cy="338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A2B4BF2-0EE0-41C1-9E97-0676C1DA7E58}"/>
                  </a:ext>
                </a:extLst>
              </p14:cNvPr>
              <p14:cNvContentPartPr/>
              <p14:nvPr/>
            </p14:nvContentPartPr>
            <p14:xfrm>
              <a:off x="6429439" y="2897735"/>
              <a:ext cx="58320" cy="309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A2B4BF2-0EE0-41C1-9E97-0676C1DA7E5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420439" y="2888735"/>
                <a:ext cx="759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E27CE69-091C-4766-99E5-AD060CFF42CB}"/>
                  </a:ext>
                </a:extLst>
              </p14:cNvPr>
              <p14:cNvContentPartPr/>
              <p14:nvPr/>
            </p14:nvContentPartPr>
            <p14:xfrm>
              <a:off x="6446359" y="3410015"/>
              <a:ext cx="2880" cy="1875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E27CE69-091C-4766-99E5-AD060CFF42C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37359" y="3401015"/>
                <a:ext cx="205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5768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4C0A38-A437-4803-A338-58680DA615C1}"/>
              </a:ext>
            </a:extLst>
          </p:cNvPr>
          <p:cNvSpPr txBox="1"/>
          <p:nvPr/>
        </p:nvSpPr>
        <p:spPr>
          <a:xfrm>
            <a:off x="63260" y="1300755"/>
            <a:ext cx="1144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you find axis of symmetry?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4E9202-56D2-4A25-A2C2-B1E41C7D255D}"/>
                  </a:ext>
                </a:extLst>
              </p:cNvPr>
              <p:cNvSpPr txBox="1"/>
              <p:nvPr/>
            </p:nvSpPr>
            <p:spPr>
              <a:xfrm>
                <a:off x="3717771" y="1564662"/>
                <a:ext cx="1670862" cy="887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3600" b="0" dirty="0"/>
                  <a:t>x</a:t>
                </a:r>
                <a14:m>
                  <m:oMath xmlns:m="http://schemas.openxmlformats.org/officeDocument/2006/math"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D4E9202-56D2-4A25-A2C2-B1E41C7D2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771" y="1564662"/>
                <a:ext cx="1670862" cy="887294"/>
              </a:xfrm>
              <a:prstGeom prst="rect">
                <a:avLst/>
              </a:prstGeom>
              <a:blipFill>
                <a:blip r:embed="rId2"/>
                <a:stretch>
                  <a:fillRect l="-11314" b="-124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79F54F4-F962-467D-AAA5-FF907094E1BB}"/>
              </a:ext>
            </a:extLst>
          </p:cNvPr>
          <p:cNvSpPr txBox="1"/>
          <p:nvPr/>
        </p:nvSpPr>
        <p:spPr>
          <a:xfrm>
            <a:off x="128992" y="3425548"/>
            <a:ext cx="1144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you use the formula?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94C806-4401-461A-81B6-9D48C5E289FB}"/>
                  </a:ext>
                </a:extLst>
              </p:cNvPr>
              <p:cNvSpPr txBox="1"/>
              <p:nvPr/>
            </p:nvSpPr>
            <p:spPr>
              <a:xfrm>
                <a:off x="1664899" y="3480957"/>
                <a:ext cx="199426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94C806-4401-461A-81B6-9D48C5E2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99" y="3480957"/>
                <a:ext cx="1994264" cy="307777"/>
              </a:xfrm>
              <a:prstGeom prst="rect">
                <a:avLst/>
              </a:prstGeom>
              <a:blipFill>
                <a:blip r:embed="rId3"/>
                <a:stretch>
                  <a:fillRect l="-2446" r="-612" b="-254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/>
              <p:nvPr/>
            </p:nvSpPr>
            <p:spPr>
              <a:xfrm>
                <a:off x="1664899" y="4114307"/>
                <a:ext cx="318561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𝐸𝑥𝑎𝑚𝑝𝑙𝑒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63CE7AE-5290-4434-BCDA-AC07B2D46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99" y="4114307"/>
                <a:ext cx="3185616" cy="307777"/>
              </a:xfrm>
              <a:prstGeom prst="rect">
                <a:avLst/>
              </a:prstGeom>
              <a:blipFill>
                <a:blip r:embed="rId4"/>
                <a:stretch>
                  <a:fillRect l="-2103" t="-2000" r="-1147" b="-3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3B058A7-AC2B-4FFC-B842-B02425518506}"/>
              </a:ext>
            </a:extLst>
          </p:cNvPr>
          <p:cNvSpPr txBox="1"/>
          <p:nvPr/>
        </p:nvSpPr>
        <p:spPr>
          <a:xfrm>
            <a:off x="6383547" y="4025712"/>
            <a:ext cx="8082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= 1</a:t>
            </a:r>
          </a:p>
          <a:p>
            <a:r>
              <a:rPr lang="en-GB" dirty="0"/>
              <a:t>b = 8</a:t>
            </a:r>
          </a:p>
          <a:p>
            <a:r>
              <a:rPr lang="en-GB" dirty="0"/>
              <a:t>c = 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D3E12-CCCA-425A-8214-A7238F9D4D63}"/>
              </a:ext>
            </a:extLst>
          </p:cNvPr>
          <p:cNvSpPr txBox="1"/>
          <p:nvPr/>
        </p:nvSpPr>
        <p:spPr>
          <a:xfrm>
            <a:off x="6481313" y="1473189"/>
            <a:ext cx="1555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Opposite of b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D6AB1F-1CF9-49FE-8754-1975561352D4}"/>
              </a:ext>
            </a:extLst>
          </p:cNvPr>
          <p:cNvCxnSpPr/>
          <p:nvPr/>
        </p:nvCxnSpPr>
        <p:spPr>
          <a:xfrm flipH="1">
            <a:off x="5095336" y="1798224"/>
            <a:ext cx="1650521" cy="44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ACBADF5-B932-46C2-BA95-1789B8942631}"/>
                  </a:ext>
                </a:extLst>
              </p:cNvPr>
              <p:cNvSpPr txBox="1"/>
              <p:nvPr/>
            </p:nvSpPr>
            <p:spPr>
              <a:xfrm>
                <a:off x="1858112" y="4891455"/>
                <a:ext cx="2886415" cy="568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2000" b="0" dirty="0"/>
                  <a:t>x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2(1)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ACBADF5-B932-46C2-BA95-1789B8942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8112" y="4891455"/>
                <a:ext cx="2886415" cy="568938"/>
              </a:xfrm>
              <a:prstGeom prst="rect">
                <a:avLst/>
              </a:prstGeom>
              <a:blipFill>
                <a:blip r:embed="rId5"/>
                <a:stretch>
                  <a:fillRect l="-2326" b="-74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B87834-87AB-4301-9EE8-5A1AB435B3FF}"/>
                  </a:ext>
                </a:extLst>
              </p:cNvPr>
              <p:cNvSpPr txBox="1"/>
              <p:nvPr/>
            </p:nvSpPr>
            <p:spPr>
              <a:xfrm>
                <a:off x="2051784" y="6092144"/>
                <a:ext cx="12121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So x = </a:t>
                </a:r>
                <a14:m>
                  <m:oMath xmlns:m="http://schemas.openxmlformats.org/officeDocument/2006/math">
                    <m:r>
                      <a:rPr kumimoji="0" lang="en-AU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−4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B87834-87AB-4301-9EE8-5A1AB435B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784" y="6092144"/>
                <a:ext cx="1212191" cy="400110"/>
              </a:xfrm>
              <a:prstGeom prst="rect">
                <a:avLst/>
              </a:prstGeom>
              <a:blipFill>
                <a:blip r:embed="rId6"/>
                <a:stretch>
                  <a:fillRect l="-4545" t="-1515" b="-212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702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999" y="437337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399" y="42984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9119" y="436725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59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5279" y="269397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9" name="Picture 38" descr="Diagram&#10;&#10;Description automatically generated">
            <a:extLst>
              <a:ext uri="{FF2B5EF4-FFF2-40B4-BE49-F238E27FC236}">
                <a16:creationId xmlns:a16="http://schemas.microsoft.com/office/drawing/2014/main" id="{50E81357-C3C8-409E-8F5F-6BCC28D1C6B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7295" t="22792" r="15337" b="13084"/>
          <a:stretch/>
        </p:blipFill>
        <p:spPr>
          <a:xfrm>
            <a:off x="2629192" y="1500998"/>
            <a:ext cx="4530294" cy="3232030"/>
          </a:xfrm>
          <a:prstGeom prst="rect">
            <a:avLst/>
          </a:prstGeom>
        </p:spPr>
      </p:pic>
      <p:graphicFrame>
        <p:nvGraphicFramePr>
          <p:cNvPr id="40" name="Table 4">
            <a:extLst>
              <a:ext uri="{FF2B5EF4-FFF2-40B4-BE49-F238E27FC236}">
                <a16:creationId xmlns:a16="http://schemas.microsoft.com/office/drawing/2014/main" id="{D0F0568F-37E9-437F-AFF6-1DBD02A5D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549344"/>
              </p:ext>
            </p:extLst>
          </p:nvPr>
        </p:nvGraphicFramePr>
        <p:xfrm>
          <a:off x="1846339" y="5175785"/>
          <a:ext cx="1219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26433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4674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4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29925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97E9E0AF-3251-4C30-902A-8225D936D236}"/>
              </a:ext>
            </a:extLst>
          </p:cNvPr>
          <p:cNvSpPr txBox="1"/>
          <p:nvPr/>
        </p:nvSpPr>
        <p:spPr>
          <a:xfrm>
            <a:off x="4100174" y="5335036"/>
            <a:ext cx="1754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now know that our coordinate is -4</a:t>
            </a:r>
          </a:p>
        </p:txBody>
      </p:sp>
    </p:spTree>
    <p:extLst>
      <p:ext uri="{BB962C8B-B14F-4D97-AF65-F5344CB8AC3E}">
        <p14:creationId xmlns:p14="http://schemas.microsoft.com/office/powerpoint/2010/main" val="352765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0" name="Table 4">
            <a:extLst>
              <a:ext uri="{FF2B5EF4-FFF2-40B4-BE49-F238E27FC236}">
                <a16:creationId xmlns:a16="http://schemas.microsoft.com/office/drawing/2014/main" id="{D0F0568F-37E9-437F-AFF6-1DBD02A5D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73232"/>
              </p:ext>
            </p:extLst>
          </p:nvPr>
        </p:nvGraphicFramePr>
        <p:xfrm>
          <a:off x="1926853" y="1707755"/>
          <a:ext cx="1219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26433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4674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4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29925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97E9E0AF-3251-4C30-902A-8225D936D236}"/>
              </a:ext>
            </a:extLst>
          </p:cNvPr>
          <p:cNvSpPr txBox="1"/>
          <p:nvPr/>
        </p:nvSpPr>
        <p:spPr>
          <a:xfrm>
            <a:off x="3907096" y="1619945"/>
            <a:ext cx="1754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now know that our x coordinate is -4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90E90-0681-428A-9885-2BE95C7DA1EA}"/>
              </a:ext>
            </a:extLst>
          </p:cNvPr>
          <p:cNvSpPr txBox="1"/>
          <p:nvPr/>
        </p:nvSpPr>
        <p:spPr>
          <a:xfrm>
            <a:off x="0" y="1193784"/>
            <a:ext cx="1253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you find the y-coordinate?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90EF3-2315-419B-A246-4F5E0F8EFA90}"/>
              </a:ext>
            </a:extLst>
          </p:cNvPr>
          <p:cNvSpPr txBox="1"/>
          <p:nvPr/>
        </p:nvSpPr>
        <p:spPr>
          <a:xfrm>
            <a:off x="1731033" y="3169362"/>
            <a:ext cx="735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find the y-coordinate we need to </a:t>
            </a:r>
            <a:r>
              <a:rPr lang="en-GB" dirty="0" err="1"/>
              <a:t>subsitute</a:t>
            </a:r>
            <a:r>
              <a:rPr lang="en-GB" dirty="0"/>
              <a:t> our x (-4) back into the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A97CA0-3B92-4DF6-BD08-E46CD83A5D92}"/>
                  </a:ext>
                </a:extLst>
              </p:cNvPr>
              <p:cNvSpPr txBox="1"/>
              <p:nvPr/>
            </p:nvSpPr>
            <p:spPr>
              <a:xfrm>
                <a:off x="1664899" y="4114307"/>
                <a:ext cx="2742033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(−4)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+8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+12</m:t>
                      </m:r>
                    </m:oMath>
                  </m:oMathPara>
                </a14:m>
                <a:endParaRPr lang="en-AU" sz="2000" b="0" dirty="0"/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AA97CA0-3B92-4DF6-BD08-E46CD83A5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899" y="4114307"/>
                <a:ext cx="2742033" cy="615553"/>
              </a:xfrm>
              <a:prstGeom prst="rect">
                <a:avLst/>
              </a:prstGeom>
              <a:blipFill>
                <a:blip r:embed="rId9"/>
                <a:stretch>
                  <a:fillRect l="-667" t="-990" r="-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33BFAC-69FB-4C13-A37B-4483D8FE299C}"/>
                  </a:ext>
                </a:extLst>
              </p:cNvPr>
              <p:cNvSpPr txBox="1"/>
              <p:nvPr/>
            </p:nvSpPr>
            <p:spPr>
              <a:xfrm>
                <a:off x="1697789" y="4666849"/>
                <a:ext cx="209018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=16−32+12</m:t>
                      </m:r>
                    </m:oMath>
                  </m:oMathPara>
                </a14:m>
                <a:endParaRPr lang="en-AU" sz="2000" b="0" dirty="0"/>
              </a:p>
              <a:p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33BFAC-69FB-4C13-A37B-4483D8FE2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789" y="4666849"/>
                <a:ext cx="2090188" cy="615553"/>
              </a:xfrm>
              <a:prstGeom prst="rect">
                <a:avLst/>
              </a:prstGeom>
              <a:blipFill>
                <a:blip r:embed="rId10"/>
                <a:stretch>
                  <a:fillRect l="-585" r="-5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6F1F50-B6AB-4873-BB4E-D7C674D12B64}"/>
                  </a:ext>
                </a:extLst>
              </p:cNvPr>
              <p:cNvSpPr txBox="1"/>
              <p:nvPr/>
            </p:nvSpPr>
            <p:spPr>
              <a:xfrm>
                <a:off x="1731033" y="5282402"/>
                <a:ext cx="6966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6F1F50-B6AB-4873-BB4E-D7C674D12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033" y="5282402"/>
                <a:ext cx="696666" cy="307777"/>
              </a:xfrm>
              <a:prstGeom prst="rect">
                <a:avLst/>
              </a:prstGeom>
              <a:blipFill>
                <a:blip r:embed="rId11"/>
                <a:stretch>
                  <a:fillRect l="-7895" r="-7018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4C6C05DB-BB07-4041-8C24-4B9473FD0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76415"/>
              </p:ext>
            </p:extLst>
          </p:nvPr>
        </p:nvGraphicFramePr>
        <p:xfrm>
          <a:off x="1731033" y="5914570"/>
          <a:ext cx="1219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26433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46743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4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2992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1125D1-F665-4825-86A3-2EE9F501EAF5}"/>
              </a:ext>
            </a:extLst>
          </p:cNvPr>
          <p:cNvSpPr txBox="1"/>
          <p:nvPr/>
        </p:nvSpPr>
        <p:spPr>
          <a:xfrm>
            <a:off x="5066581" y="5727940"/>
            <a:ext cx="1422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 your vertex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9BD50F-6CFC-4FC1-ADC6-464A9299D784}"/>
              </a:ext>
            </a:extLst>
          </p:cNvPr>
          <p:cNvCxnSpPr/>
          <p:nvPr/>
        </p:nvCxnSpPr>
        <p:spPr>
          <a:xfrm>
            <a:off x="2605177" y="5590179"/>
            <a:ext cx="2289162" cy="324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4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0" name="Table 4">
            <a:extLst>
              <a:ext uri="{FF2B5EF4-FFF2-40B4-BE49-F238E27FC236}">
                <a16:creationId xmlns:a16="http://schemas.microsoft.com/office/drawing/2014/main" id="{D0F0568F-37E9-437F-AFF6-1DBD02A5D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697192"/>
              </p:ext>
            </p:extLst>
          </p:nvPr>
        </p:nvGraphicFramePr>
        <p:xfrm>
          <a:off x="2035430" y="2435574"/>
          <a:ext cx="258257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644">
                  <a:extLst>
                    <a:ext uri="{9D8B030D-6E8A-4147-A177-3AD203B41FA5}">
                      <a16:colId xmlns:a16="http://schemas.microsoft.com/office/drawing/2014/main" val="2092643333"/>
                    </a:ext>
                  </a:extLst>
                </a:gridCol>
                <a:gridCol w="645644">
                  <a:extLst>
                    <a:ext uri="{9D8B030D-6E8A-4147-A177-3AD203B41FA5}">
                      <a16:colId xmlns:a16="http://schemas.microsoft.com/office/drawing/2014/main" val="1954674321"/>
                    </a:ext>
                  </a:extLst>
                </a:gridCol>
                <a:gridCol w="645644">
                  <a:extLst>
                    <a:ext uri="{9D8B030D-6E8A-4147-A177-3AD203B41FA5}">
                      <a16:colId xmlns:a16="http://schemas.microsoft.com/office/drawing/2014/main" val="53021830"/>
                    </a:ext>
                  </a:extLst>
                </a:gridCol>
                <a:gridCol w="645644">
                  <a:extLst>
                    <a:ext uri="{9D8B030D-6E8A-4147-A177-3AD203B41FA5}">
                      <a16:colId xmlns:a16="http://schemas.microsoft.com/office/drawing/2014/main" val="1411590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4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29925"/>
                  </a:ext>
                </a:extLst>
              </a:tr>
            </a:tbl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97E9E0AF-3251-4C30-902A-8225D936D236}"/>
              </a:ext>
            </a:extLst>
          </p:cNvPr>
          <p:cNvSpPr txBox="1"/>
          <p:nvPr/>
        </p:nvSpPr>
        <p:spPr>
          <a:xfrm>
            <a:off x="1779917" y="1332283"/>
            <a:ext cx="725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Now you need to pick 2 points either to the left or to the right. In our example we’re picking to points to the right as it is smaller (smaller the easier)!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A90E90-0681-428A-9885-2BE95C7DA1EA}"/>
              </a:ext>
            </a:extLst>
          </p:cNvPr>
          <p:cNvSpPr txBox="1"/>
          <p:nvPr/>
        </p:nvSpPr>
        <p:spPr>
          <a:xfrm>
            <a:off x="0" y="1193784"/>
            <a:ext cx="1253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do you find the y-coordinate?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FEF2E7-B32A-4202-B67D-AF0201ED60E2}"/>
                  </a:ext>
                </a:extLst>
              </p:cNvPr>
              <p:cNvSpPr txBox="1"/>
              <p:nvPr/>
            </p:nvSpPr>
            <p:spPr>
              <a:xfrm>
                <a:off x="4894339" y="2382220"/>
                <a:ext cx="269362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(−3)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+8(−3)+12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FFEF2E7-B32A-4202-B67D-AF0201ED6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339" y="2382220"/>
                <a:ext cx="2693623" cy="307777"/>
              </a:xfrm>
              <a:prstGeom prst="rect">
                <a:avLst/>
              </a:prstGeom>
              <a:blipFill>
                <a:blip r:embed="rId9"/>
                <a:stretch>
                  <a:fillRect l="-1584" t="-2000" r="-1357" b="-3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513998-7174-4EEE-B5E6-179A91153CB3}"/>
                  </a:ext>
                </a:extLst>
              </p:cNvPr>
              <p:cNvSpPr txBox="1"/>
              <p:nvPr/>
            </p:nvSpPr>
            <p:spPr>
              <a:xfrm>
                <a:off x="4911653" y="2869477"/>
                <a:ext cx="25499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=9−24+12=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513998-7174-4EEE-B5E6-179A91153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653" y="2869477"/>
                <a:ext cx="2549929" cy="307777"/>
              </a:xfrm>
              <a:prstGeom prst="rect">
                <a:avLst/>
              </a:prstGeom>
              <a:blipFill>
                <a:blip r:embed="rId10"/>
                <a:stretch>
                  <a:fillRect l="-1914" r="-1675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280674-F278-4367-B143-3D4F34A3FFE9}"/>
                  </a:ext>
                </a:extLst>
              </p:cNvPr>
              <p:cNvSpPr txBox="1"/>
              <p:nvPr/>
            </p:nvSpPr>
            <p:spPr>
              <a:xfrm>
                <a:off x="4911653" y="3669914"/>
                <a:ext cx="269362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(−2)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+8(−2)+12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280674-F278-4367-B143-3D4F34A3F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653" y="3669914"/>
                <a:ext cx="2693623" cy="307777"/>
              </a:xfrm>
              <a:prstGeom prst="rect">
                <a:avLst/>
              </a:prstGeom>
              <a:blipFill>
                <a:blip r:embed="rId11"/>
                <a:stretch>
                  <a:fillRect l="-1584" r="-1357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2CA080-479C-400F-8B10-29F33DFEBCE6}"/>
                  </a:ext>
                </a:extLst>
              </p:cNvPr>
              <p:cNvSpPr txBox="1"/>
              <p:nvPr/>
            </p:nvSpPr>
            <p:spPr>
              <a:xfrm>
                <a:off x="4911653" y="4130091"/>
                <a:ext cx="23575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=4−16+12=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2CA080-479C-400F-8B10-29F33DFEB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1653" y="4130091"/>
                <a:ext cx="2357568" cy="307777"/>
              </a:xfrm>
              <a:prstGeom prst="rect">
                <a:avLst/>
              </a:prstGeom>
              <a:blipFill>
                <a:blip r:embed="rId12"/>
                <a:stretch>
                  <a:fillRect l="-2073" r="-2073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651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ACEAA9DE-A6D6-4EBF-85C4-BF23870B01A7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7295" t="22204" r="15913" b="13084"/>
          <a:stretch/>
        </p:blipFill>
        <p:spPr>
          <a:xfrm>
            <a:off x="2547059" y="1218685"/>
            <a:ext cx="5110890" cy="37113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B03AD4-82CF-4840-8A26-73E2E27CA318}"/>
              </a:ext>
            </a:extLst>
          </p:cNvPr>
          <p:cNvSpPr txBox="1"/>
          <p:nvPr/>
        </p:nvSpPr>
        <p:spPr>
          <a:xfrm>
            <a:off x="1606579" y="5312600"/>
            <a:ext cx="720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can graph one part of our parabola (the right side). Remember, the points our symmetrical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E1267-AFD6-4F24-B5F2-B0D86EF0775D}"/>
              </a:ext>
            </a:extLst>
          </p:cNvPr>
          <p:cNvSpPr txBox="1"/>
          <p:nvPr/>
        </p:nvSpPr>
        <p:spPr>
          <a:xfrm>
            <a:off x="5924280" y="3353252"/>
            <a:ext cx="2146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 went over 1 up 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4DFEE5F-9704-454F-97F5-DA7BD6419B4B}"/>
              </a:ext>
            </a:extLst>
          </p:cNvPr>
          <p:cNvCxnSpPr/>
          <p:nvPr/>
        </p:nvCxnSpPr>
        <p:spPr>
          <a:xfrm flipH="1">
            <a:off x="4002657" y="3693829"/>
            <a:ext cx="20300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B43858-B332-4D3A-B456-EB9DEE6EDBDC}"/>
              </a:ext>
            </a:extLst>
          </p:cNvPr>
          <p:cNvSpPr txBox="1"/>
          <p:nvPr/>
        </p:nvSpPr>
        <p:spPr>
          <a:xfrm>
            <a:off x="6354793" y="1581509"/>
            <a:ext cx="2207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point we went over 2 up 4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E7296A-60F1-414E-90C5-C4695604914D}"/>
              </a:ext>
            </a:extLst>
          </p:cNvPr>
          <p:cNvCxnSpPr/>
          <p:nvPr/>
        </p:nvCxnSpPr>
        <p:spPr>
          <a:xfrm flipH="1">
            <a:off x="4295955" y="2035834"/>
            <a:ext cx="1915064" cy="902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948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B1C967FC-B7B6-4E34-8AA3-9A10AD10C26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7170" t="20862" r="16981" b="13084"/>
          <a:stretch/>
        </p:blipFill>
        <p:spPr>
          <a:xfrm>
            <a:off x="1570009" y="1431989"/>
            <a:ext cx="5969478" cy="4488110"/>
          </a:xfrm>
          <a:prstGeom prst="rect">
            <a:avLst/>
          </a:prstGeom>
        </p:spPr>
      </p:pic>
      <p:graphicFrame>
        <p:nvGraphicFramePr>
          <p:cNvPr id="20" name="Table 4">
            <a:extLst>
              <a:ext uri="{FF2B5EF4-FFF2-40B4-BE49-F238E27FC236}">
                <a16:creationId xmlns:a16="http://schemas.microsoft.com/office/drawing/2014/main" id="{8B4E60BC-E51D-4C16-8B48-E3EFA9796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0866382"/>
              </p:ext>
            </p:extLst>
          </p:nvPr>
        </p:nvGraphicFramePr>
        <p:xfrm>
          <a:off x="6043837" y="5217331"/>
          <a:ext cx="258257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5644">
                  <a:extLst>
                    <a:ext uri="{9D8B030D-6E8A-4147-A177-3AD203B41FA5}">
                      <a16:colId xmlns:a16="http://schemas.microsoft.com/office/drawing/2014/main" val="2092643333"/>
                    </a:ext>
                  </a:extLst>
                </a:gridCol>
                <a:gridCol w="645644">
                  <a:extLst>
                    <a:ext uri="{9D8B030D-6E8A-4147-A177-3AD203B41FA5}">
                      <a16:colId xmlns:a16="http://schemas.microsoft.com/office/drawing/2014/main" val="1954674321"/>
                    </a:ext>
                  </a:extLst>
                </a:gridCol>
                <a:gridCol w="645644">
                  <a:extLst>
                    <a:ext uri="{9D8B030D-6E8A-4147-A177-3AD203B41FA5}">
                      <a16:colId xmlns:a16="http://schemas.microsoft.com/office/drawing/2014/main" val="53021830"/>
                    </a:ext>
                  </a:extLst>
                </a:gridCol>
                <a:gridCol w="645644">
                  <a:extLst>
                    <a:ext uri="{9D8B030D-6E8A-4147-A177-3AD203B41FA5}">
                      <a16:colId xmlns:a16="http://schemas.microsoft.com/office/drawing/2014/main" val="1411590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4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29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953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C69C7C58-CACE-4AEC-8191-54E0C24A8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57" y="0"/>
            <a:ext cx="7271686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A983B85-BB54-4E44-A30F-CA324BBA92F0}"/>
              </a:ext>
            </a:extLst>
          </p:cNvPr>
          <p:cNvGrpSpPr/>
          <p:nvPr/>
        </p:nvGrpSpPr>
        <p:grpSpPr>
          <a:xfrm>
            <a:off x="3962031" y="4755335"/>
            <a:ext cx="360" cy="163440"/>
            <a:chOff x="3962031" y="4755335"/>
            <a:chExt cx="36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B81B937-FA40-4D88-949B-EE4B55AD3E6E}"/>
                    </a:ext>
                  </a:extLst>
                </p14:cNvPr>
                <p14:cNvContentPartPr/>
                <p14:nvPr/>
              </p14:nvContentPartPr>
              <p14:xfrm>
                <a:off x="3962031" y="4755335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B81B937-FA40-4D88-949B-EE4B55AD3E6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26391" y="4719695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668565F-FBA5-4689-B635-4932481381A1}"/>
                    </a:ext>
                  </a:extLst>
                </p14:cNvPr>
                <p14:cNvContentPartPr/>
                <p14:nvPr/>
              </p14:nvContentPartPr>
              <p14:xfrm>
                <a:off x="3962031" y="4755335"/>
                <a:ext cx="360" cy="163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668565F-FBA5-4689-B635-4932481381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926391" y="4719695"/>
                  <a:ext cx="72000" cy="23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B7A65A6-095A-4E84-ACEA-4832895CA306}"/>
                  </a:ext>
                </a:extLst>
              </p14:cNvPr>
              <p14:cNvContentPartPr/>
              <p14:nvPr/>
            </p14:nvContentPartPr>
            <p14:xfrm>
              <a:off x="3944751" y="5135495"/>
              <a:ext cx="5040" cy="158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B7A65A6-095A-4E84-ACEA-4832895CA30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09111" y="5099495"/>
                <a:ext cx="766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A7EBA09-DCA6-42B2-AD21-92A7F13AE407}"/>
                  </a:ext>
                </a:extLst>
              </p14:cNvPr>
              <p14:cNvContentPartPr/>
              <p14:nvPr/>
            </p14:nvContentPartPr>
            <p14:xfrm>
              <a:off x="3962031" y="5445815"/>
              <a:ext cx="9360" cy="150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A7EBA09-DCA6-42B2-AD21-92A7F13AE4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26391" y="5409815"/>
                <a:ext cx="8100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83D9A57-43AC-4426-A077-5EE277B52B08}"/>
                  </a:ext>
                </a:extLst>
              </p14:cNvPr>
              <p14:cNvContentPartPr/>
              <p14:nvPr/>
            </p14:nvContentPartPr>
            <p14:xfrm>
              <a:off x="3950511" y="5762255"/>
              <a:ext cx="360" cy="130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83D9A57-43AC-4426-A077-5EE277B52B0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14511" y="5726255"/>
                <a:ext cx="720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062E327-FA28-458A-9EFD-3C7969461949}"/>
                  </a:ext>
                </a:extLst>
              </p14:cNvPr>
              <p14:cNvContentPartPr/>
              <p14:nvPr/>
            </p14:nvContentPartPr>
            <p14:xfrm>
              <a:off x="3956271" y="6061055"/>
              <a:ext cx="11880" cy="193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062E327-FA28-458A-9EFD-3C796946194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20271" y="6025055"/>
                <a:ext cx="8352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5E82222-F0DE-40DF-B14D-333C15932A76}"/>
                  </a:ext>
                </a:extLst>
              </p14:cNvPr>
              <p14:cNvContentPartPr/>
              <p14:nvPr/>
            </p14:nvContentPartPr>
            <p14:xfrm>
              <a:off x="3967791" y="6405935"/>
              <a:ext cx="3960" cy="168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5E82222-F0DE-40DF-B14D-333C15932A7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932151" y="6370295"/>
                <a:ext cx="756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CE23231-CD83-4351-B08F-F46D3497F67F}"/>
                  </a:ext>
                </a:extLst>
              </p14:cNvPr>
              <p14:cNvContentPartPr/>
              <p14:nvPr/>
            </p14:nvContentPartPr>
            <p14:xfrm>
              <a:off x="3944391" y="4226495"/>
              <a:ext cx="18360" cy="1299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CE23231-CD83-4351-B08F-F46D3497F67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08751" y="4190495"/>
                <a:ext cx="900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8617D6B-50DE-4E8E-9E34-D0845CC38F4D}"/>
                  </a:ext>
                </a:extLst>
              </p14:cNvPr>
              <p14:cNvContentPartPr/>
              <p14:nvPr/>
            </p14:nvContentPartPr>
            <p14:xfrm>
              <a:off x="3926751" y="3461855"/>
              <a:ext cx="20160" cy="222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8617D6B-50DE-4E8E-9E34-D0845CC38F4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890751" y="3425855"/>
                <a:ext cx="9180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A0C245D-260D-4183-AEB2-00569BE6B3A6}"/>
                  </a:ext>
                </a:extLst>
              </p14:cNvPr>
              <p14:cNvContentPartPr/>
              <p14:nvPr/>
            </p14:nvContentPartPr>
            <p14:xfrm>
              <a:off x="3944751" y="2742575"/>
              <a:ext cx="9360" cy="210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A0C245D-260D-4183-AEB2-00569BE6B3A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09111" y="2706935"/>
                <a:ext cx="810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1FF812B-359E-4257-B24F-512891D10437}"/>
                  </a:ext>
                </a:extLst>
              </p14:cNvPr>
              <p14:cNvContentPartPr/>
              <p14:nvPr/>
            </p14:nvContentPartPr>
            <p14:xfrm>
              <a:off x="3956271" y="2069735"/>
              <a:ext cx="24480" cy="261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1FF812B-359E-4257-B24F-512891D1043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920271" y="2034095"/>
                <a:ext cx="9612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09B9F59-DC60-49C1-8207-EE6A3FA41E70}"/>
                  </a:ext>
                </a:extLst>
              </p14:cNvPr>
              <p14:cNvContentPartPr/>
              <p14:nvPr/>
            </p14:nvContentPartPr>
            <p14:xfrm>
              <a:off x="3967431" y="1166855"/>
              <a:ext cx="12240" cy="2498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09B9F59-DC60-49C1-8207-EE6A3FA41E7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31431" y="1130855"/>
                <a:ext cx="83880" cy="32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491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7B944D-AD7C-47FA-AEC9-3E097AADE6F2}"/>
                  </a:ext>
                </a:extLst>
              </p:cNvPr>
              <p:cNvSpPr txBox="1"/>
              <p:nvPr/>
            </p:nvSpPr>
            <p:spPr>
              <a:xfrm>
                <a:off x="1800500" y="1349511"/>
                <a:ext cx="21632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+6)(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+6)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7B944D-AD7C-47FA-AEC9-3E097AADE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500" y="1349511"/>
                <a:ext cx="2163285" cy="307777"/>
              </a:xfrm>
              <a:prstGeom prst="rect">
                <a:avLst/>
              </a:prstGeom>
              <a:blipFill>
                <a:blip r:embed="rId9"/>
                <a:stretch>
                  <a:fillRect l="-2254" t="-1961" r="-3380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35DCD-FC30-43BA-8FA2-F541E6335959}"/>
                  </a:ext>
                </a:extLst>
              </p:cNvPr>
              <p:cNvSpPr txBox="1"/>
              <p:nvPr/>
            </p:nvSpPr>
            <p:spPr>
              <a:xfrm>
                <a:off x="1800500" y="2004093"/>
                <a:ext cx="21513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35DCD-FC30-43BA-8FA2-F541E6335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500" y="2004093"/>
                <a:ext cx="2151358" cy="307777"/>
              </a:xfrm>
              <a:prstGeom prst="rect">
                <a:avLst/>
              </a:prstGeom>
              <a:blipFill>
                <a:blip r:embed="rId10"/>
                <a:stretch>
                  <a:fillRect l="-2266" t="-2000" r="-1983" b="-2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10507A6-DC7A-4D16-A9D7-A6BA19E29C88}"/>
              </a:ext>
            </a:extLst>
          </p:cNvPr>
          <p:cNvSpPr txBox="1"/>
          <p:nvPr/>
        </p:nvSpPr>
        <p:spPr>
          <a:xfrm>
            <a:off x="1580355" y="2938775"/>
            <a:ext cx="3313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Use the axis of symmetry formula: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6644A0-BC36-470C-B75E-FFA9ED1E5B45}"/>
              </a:ext>
            </a:extLst>
          </p:cNvPr>
          <p:cNvSpPr txBox="1"/>
          <p:nvPr/>
        </p:nvSpPr>
        <p:spPr>
          <a:xfrm>
            <a:off x="185271" y="1295354"/>
            <a:ext cx="1039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to solve double brackets?</a:t>
            </a:r>
          </a:p>
        </p:txBody>
      </p:sp>
    </p:spTree>
    <p:extLst>
      <p:ext uri="{BB962C8B-B14F-4D97-AF65-F5344CB8AC3E}">
        <p14:creationId xmlns:p14="http://schemas.microsoft.com/office/powerpoint/2010/main" val="2084075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7B944D-AD7C-47FA-AEC9-3E097AADE6F2}"/>
                  </a:ext>
                </a:extLst>
              </p:cNvPr>
              <p:cNvSpPr txBox="1"/>
              <p:nvPr/>
            </p:nvSpPr>
            <p:spPr>
              <a:xfrm>
                <a:off x="1800500" y="1349511"/>
                <a:ext cx="21632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+6)(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+6)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7B944D-AD7C-47FA-AEC9-3E097AADE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500" y="1349511"/>
                <a:ext cx="2163285" cy="307777"/>
              </a:xfrm>
              <a:prstGeom prst="rect">
                <a:avLst/>
              </a:prstGeom>
              <a:blipFill>
                <a:blip r:embed="rId9"/>
                <a:stretch>
                  <a:fillRect l="-2254" t="-1961" r="-3380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35DCD-FC30-43BA-8FA2-F541E6335959}"/>
                  </a:ext>
                </a:extLst>
              </p:cNvPr>
              <p:cNvSpPr txBox="1"/>
              <p:nvPr/>
            </p:nvSpPr>
            <p:spPr>
              <a:xfrm>
                <a:off x="1800500" y="2004093"/>
                <a:ext cx="21513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35DCD-FC30-43BA-8FA2-F541E6335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500" y="2004093"/>
                <a:ext cx="2151358" cy="307777"/>
              </a:xfrm>
              <a:prstGeom prst="rect">
                <a:avLst/>
              </a:prstGeom>
              <a:blipFill>
                <a:blip r:embed="rId10"/>
                <a:stretch>
                  <a:fillRect l="-2266" t="-2000" r="-1983" b="-2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10507A6-DC7A-4D16-A9D7-A6BA19E29C88}"/>
              </a:ext>
            </a:extLst>
          </p:cNvPr>
          <p:cNvSpPr txBox="1"/>
          <p:nvPr/>
        </p:nvSpPr>
        <p:spPr>
          <a:xfrm>
            <a:off x="1580355" y="2938775"/>
            <a:ext cx="3313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Use the axis of symmetry 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6CE493-18A2-49C2-B37A-3E3A4374A601}"/>
                  </a:ext>
                </a:extLst>
              </p:cNvPr>
              <p:cNvSpPr txBox="1"/>
              <p:nvPr/>
            </p:nvSpPr>
            <p:spPr>
              <a:xfrm>
                <a:off x="1748287" y="3638321"/>
                <a:ext cx="2886415" cy="568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2000" b="0" dirty="0"/>
                  <a:t>x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2(1)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6CE493-18A2-49C2-B37A-3E3A4374A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287" y="3638321"/>
                <a:ext cx="2886415" cy="568938"/>
              </a:xfrm>
              <a:prstGeom prst="rect">
                <a:avLst/>
              </a:prstGeom>
              <a:blipFill>
                <a:blip r:embed="rId11"/>
                <a:stretch>
                  <a:fillRect l="-2326" b="-75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9BC804-A742-43C8-9ACB-31126646CAD2}"/>
                  </a:ext>
                </a:extLst>
              </p:cNvPr>
              <p:cNvSpPr txBox="1"/>
              <p:nvPr/>
            </p:nvSpPr>
            <p:spPr>
              <a:xfrm>
                <a:off x="1817194" y="4971703"/>
                <a:ext cx="8844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=−6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9BC804-A742-43C8-9ACB-31126646C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194" y="4971703"/>
                <a:ext cx="884409" cy="307777"/>
              </a:xfrm>
              <a:prstGeom prst="rect">
                <a:avLst/>
              </a:prstGeom>
              <a:blipFill>
                <a:blip r:embed="rId12"/>
                <a:stretch>
                  <a:fillRect l="-2759" r="-5517" b="-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06644A0-BC36-470C-B75E-FFA9ED1E5B45}"/>
              </a:ext>
            </a:extLst>
          </p:cNvPr>
          <p:cNvSpPr txBox="1"/>
          <p:nvPr/>
        </p:nvSpPr>
        <p:spPr>
          <a:xfrm>
            <a:off x="185271" y="1295354"/>
            <a:ext cx="1039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 to solve double brackets?</a:t>
            </a:r>
          </a:p>
        </p:txBody>
      </p:sp>
    </p:spTree>
    <p:extLst>
      <p:ext uri="{BB962C8B-B14F-4D97-AF65-F5344CB8AC3E}">
        <p14:creationId xmlns:p14="http://schemas.microsoft.com/office/powerpoint/2010/main" val="747390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7B944D-AD7C-47FA-AEC9-3E097AADE6F2}"/>
                  </a:ext>
                </a:extLst>
              </p:cNvPr>
              <p:cNvSpPr txBox="1"/>
              <p:nvPr/>
            </p:nvSpPr>
            <p:spPr>
              <a:xfrm>
                <a:off x="1800500" y="1349511"/>
                <a:ext cx="216328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+6)(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+6)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7B944D-AD7C-47FA-AEC9-3E097AADE6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500" y="1349511"/>
                <a:ext cx="2163285" cy="307777"/>
              </a:xfrm>
              <a:prstGeom prst="rect">
                <a:avLst/>
              </a:prstGeom>
              <a:blipFill>
                <a:blip r:embed="rId9"/>
                <a:stretch>
                  <a:fillRect l="-2254" t="-1961" r="-3380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35DCD-FC30-43BA-8FA2-F541E6335959}"/>
                  </a:ext>
                </a:extLst>
              </p:cNvPr>
              <p:cNvSpPr txBox="1"/>
              <p:nvPr/>
            </p:nvSpPr>
            <p:spPr>
              <a:xfrm>
                <a:off x="1800500" y="2004093"/>
                <a:ext cx="215135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35DCD-FC30-43BA-8FA2-F541E63359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500" y="2004093"/>
                <a:ext cx="2151358" cy="307777"/>
              </a:xfrm>
              <a:prstGeom prst="rect">
                <a:avLst/>
              </a:prstGeom>
              <a:blipFill>
                <a:blip r:embed="rId10"/>
                <a:stretch>
                  <a:fillRect l="-2266" t="-2000" r="-1983" b="-2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10507A6-DC7A-4D16-A9D7-A6BA19E29C88}"/>
              </a:ext>
            </a:extLst>
          </p:cNvPr>
          <p:cNvSpPr txBox="1"/>
          <p:nvPr/>
        </p:nvSpPr>
        <p:spPr>
          <a:xfrm>
            <a:off x="1580355" y="2938775"/>
            <a:ext cx="3313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Use the axis of symmetry formula: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6CE493-18A2-49C2-B37A-3E3A4374A601}"/>
                  </a:ext>
                </a:extLst>
              </p:cNvPr>
              <p:cNvSpPr txBox="1"/>
              <p:nvPr/>
            </p:nvSpPr>
            <p:spPr>
              <a:xfrm>
                <a:off x="1748287" y="3638321"/>
                <a:ext cx="2886415" cy="5689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2000" b="0" dirty="0"/>
                  <a:t>x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2(1)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−12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6CE493-18A2-49C2-B37A-3E3A4374A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287" y="3638321"/>
                <a:ext cx="2886415" cy="568938"/>
              </a:xfrm>
              <a:prstGeom prst="rect">
                <a:avLst/>
              </a:prstGeom>
              <a:blipFill>
                <a:blip r:embed="rId11"/>
                <a:stretch>
                  <a:fillRect l="-2326" b="-75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9BC804-A742-43C8-9ACB-31126646CAD2}"/>
                  </a:ext>
                </a:extLst>
              </p:cNvPr>
              <p:cNvSpPr txBox="1"/>
              <p:nvPr/>
            </p:nvSpPr>
            <p:spPr>
              <a:xfrm>
                <a:off x="1817194" y="4971703"/>
                <a:ext cx="8844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=−6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9BC804-A742-43C8-9ACB-31126646C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194" y="4971703"/>
                <a:ext cx="884409" cy="307777"/>
              </a:xfrm>
              <a:prstGeom prst="rect">
                <a:avLst/>
              </a:prstGeom>
              <a:blipFill>
                <a:blip r:embed="rId12"/>
                <a:stretch>
                  <a:fillRect l="-2759" r="-5517" b="-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835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D41BCC92-8F5F-4E25-821E-E247FA62DD3C}"/>
              </a:ext>
            </a:extLst>
          </p:cNvPr>
          <p:cNvPicPr/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01" t="27118" r="32846" b="23602"/>
          <a:stretch/>
        </p:blipFill>
        <p:spPr bwMode="auto">
          <a:xfrm>
            <a:off x="2154619" y="1378450"/>
            <a:ext cx="5767290" cy="3832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8483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4BFB073-EF54-4665-8DA5-3D9D77F5EBEF}"/>
              </a:ext>
            </a:extLst>
          </p:cNvPr>
          <p:cNvSpPr txBox="1"/>
          <p:nvPr/>
        </p:nvSpPr>
        <p:spPr>
          <a:xfrm>
            <a:off x="1653926" y="1349086"/>
            <a:ext cx="6260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 find the y-coordinate substitute our x(-6) back into the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C361227-6B98-4829-AD8C-096C0613799B}"/>
                  </a:ext>
                </a:extLst>
              </p:cNvPr>
              <p:cNvSpPr txBox="1"/>
              <p:nvPr/>
            </p:nvSpPr>
            <p:spPr>
              <a:xfrm>
                <a:off x="1800500" y="2004093"/>
                <a:ext cx="28362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(−6)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+12(−6)+36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C361227-6B98-4829-AD8C-096C06137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500" y="2004093"/>
                <a:ext cx="2836289" cy="307777"/>
              </a:xfrm>
              <a:prstGeom prst="rect">
                <a:avLst/>
              </a:prstGeom>
              <a:blipFill>
                <a:blip r:embed="rId9"/>
                <a:stretch>
                  <a:fillRect l="-1502" t="-2000" r="-1288" b="-3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BE7E69-93C1-4E91-8BF6-755B5F0285D0}"/>
                  </a:ext>
                </a:extLst>
              </p:cNvPr>
              <p:cNvSpPr txBox="1"/>
              <p:nvPr/>
            </p:nvSpPr>
            <p:spPr>
              <a:xfrm>
                <a:off x="1800500" y="2580349"/>
                <a:ext cx="20227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=36−72+36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BE7E69-93C1-4E91-8BF6-755B5F028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500" y="2580349"/>
                <a:ext cx="2022733" cy="307777"/>
              </a:xfrm>
              <a:prstGeom prst="rect">
                <a:avLst/>
              </a:prstGeom>
              <a:blipFill>
                <a:blip r:embed="rId10"/>
                <a:stretch>
                  <a:fillRect l="-2410" r="-2108" b="-235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EFB028-D759-4546-B5F4-1F509BBDA285}"/>
                  </a:ext>
                </a:extLst>
              </p:cNvPr>
              <p:cNvSpPr txBox="1"/>
              <p:nvPr/>
            </p:nvSpPr>
            <p:spPr>
              <a:xfrm>
                <a:off x="1799189" y="3132648"/>
                <a:ext cx="6966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1EFB028-D759-4546-B5F4-1F509BBDA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9189" y="3132648"/>
                <a:ext cx="696666" cy="307777"/>
              </a:xfrm>
              <a:prstGeom prst="rect">
                <a:avLst/>
              </a:prstGeom>
              <a:blipFill>
                <a:blip r:embed="rId11"/>
                <a:stretch>
                  <a:fillRect l="-7895" r="-7895" b="-26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AEDBB3D-F2DA-4A74-A306-047ADC037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607426"/>
              </p:ext>
            </p:extLst>
          </p:nvPr>
        </p:nvGraphicFramePr>
        <p:xfrm>
          <a:off x="1799189" y="3919226"/>
          <a:ext cx="3212444" cy="1169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222">
                  <a:extLst>
                    <a:ext uri="{9D8B030D-6E8A-4147-A177-3AD203B41FA5}">
                      <a16:colId xmlns:a16="http://schemas.microsoft.com/office/drawing/2014/main" val="3442795152"/>
                    </a:ext>
                  </a:extLst>
                </a:gridCol>
                <a:gridCol w="1606222">
                  <a:extLst>
                    <a:ext uri="{9D8B030D-6E8A-4147-A177-3AD203B41FA5}">
                      <a16:colId xmlns:a16="http://schemas.microsoft.com/office/drawing/2014/main" val="2374039375"/>
                    </a:ext>
                  </a:extLst>
                </a:gridCol>
              </a:tblGrid>
              <a:tr h="584674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092453"/>
                  </a:ext>
                </a:extLst>
              </a:tr>
              <a:tr h="584674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2825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768BC49-DCB7-429C-A2C9-A03806EDDFF1}"/>
              </a:ext>
            </a:extLst>
          </p:cNvPr>
          <p:cNvSpPr txBox="1"/>
          <p:nvPr/>
        </p:nvSpPr>
        <p:spPr>
          <a:xfrm>
            <a:off x="6691155" y="2938775"/>
            <a:ext cx="1708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is our vertex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7B0BBE-8B49-4BDC-A4CE-95E403CE8E79}"/>
              </a:ext>
            </a:extLst>
          </p:cNvPr>
          <p:cNvCxnSpPr>
            <a:stCxn id="4" idx="1"/>
          </p:cNvCxnSpPr>
          <p:nvPr/>
        </p:nvCxnSpPr>
        <p:spPr>
          <a:xfrm flipH="1">
            <a:off x="2660861" y="3123441"/>
            <a:ext cx="4030294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218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046B7C9E-5253-4C84-8BCD-BA7AC225B603}"/>
              </a:ext>
            </a:extLst>
          </p:cNvPr>
          <p:cNvSpPr txBox="1"/>
          <p:nvPr/>
        </p:nvSpPr>
        <p:spPr>
          <a:xfrm>
            <a:off x="1646164" y="1155265"/>
            <a:ext cx="7254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Now you need to pick 2 points either to the left or to the right. In our example we’re picking two points to the right as it is smaller (smaller the easier)!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2479622-391F-4C4D-85CE-91DD41904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883243"/>
              </p:ext>
            </p:extLst>
          </p:nvPr>
        </p:nvGraphicFramePr>
        <p:xfrm>
          <a:off x="1711319" y="2413745"/>
          <a:ext cx="34045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135">
                  <a:extLst>
                    <a:ext uri="{9D8B030D-6E8A-4147-A177-3AD203B41FA5}">
                      <a16:colId xmlns:a16="http://schemas.microsoft.com/office/drawing/2014/main" val="598629175"/>
                    </a:ext>
                  </a:extLst>
                </a:gridCol>
                <a:gridCol w="851135">
                  <a:extLst>
                    <a:ext uri="{9D8B030D-6E8A-4147-A177-3AD203B41FA5}">
                      <a16:colId xmlns:a16="http://schemas.microsoft.com/office/drawing/2014/main" val="1322785651"/>
                    </a:ext>
                  </a:extLst>
                </a:gridCol>
                <a:gridCol w="851135">
                  <a:extLst>
                    <a:ext uri="{9D8B030D-6E8A-4147-A177-3AD203B41FA5}">
                      <a16:colId xmlns:a16="http://schemas.microsoft.com/office/drawing/2014/main" val="2307259900"/>
                    </a:ext>
                  </a:extLst>
                </a:gridCol>
                <a:gridCol w="851135">
                  <a:extLst>
                    <a:ext uri="{9D8B030D-6E8A-4147-A177-3AD203B41FA5}">
                      <a16:colId xmlns:a16="http://schemas.microsoft.com/office/drawing/2014/main" val="3691437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84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9643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0F2CE9-D340-41A7-8006-5B887C890DAF}"/>
                  </a:ext>
                </a:extLst>
              </p:cNvPr>
              <p:cNvSpPr txBox="1"/>
              <p:nvPr/>
            </p:nvSpPr>
            <p:spPr>
              <a:xfrm>
                <a:off x="5424755" y="2413745"/>
                <a:ext cx="28362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(−5)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+12(−5)+36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60F2CE9-D340-41A7-8006-5B887C890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755" y="2413745"/>
                <a:ext cx="2836289" cy="307777"/>
              </a:xfrm>
              <a:prstGeom prst="rect">
                <a:avLst/>
              </a:prstGeom>
              <a:blipFill>
                <a:blip r:embed="rId9"/>
                <a:stretch>
                  <a:fillRect l="-1505" t="-2000" r="-1290" b="-3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B62A74-8D3B-47CE-852A-F3BEE0EE88C6}"/>
                  </a:ext>
                </a:extLst>
              </p:cNvPr>
              <p:cNvSpPr txBox="1"/>
              <p:nvPr/>
            </p:nvSpPr>
            <p:spPr>
              <a:xfrm>
                <a:off x="5424755" y="2902783"/>
                <a:ext cx="250985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=25−60+36=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B62A74-8D3B-47CE-852A-F3BEE0EE8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755" y="2902783"/>
                <a:ext cx="2509853" cy="307777"/>
              </a:xfrm>
              <a:prstGeom prst="rect">
                <a:avLst/>
              </a:prstGeom>
              <a:blipFill>
                <a:blip r:embed="rId10"/>
                <a:stretch>
                  <a:fillRect l="-1699" r="-1456" b="-235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192BFC-BC03-4F05-B831-58EA58FF1F14}"/>
                  </a:ext>
                </a:extLst>
              </p:cNvPr>
              <p:cNvSpPr txBox="1"/>
              <p:nvPr/>
            </p:nvSpPr>
            <p:spPr>
              <a:xfrm>
                <a:off x="5410789" y="3928781"/>
                <a:ext cx="28362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(−4)</m:t>
                          </m:r>
                        </m:e>
                        <m:sup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+12(−4)+36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192BFC-BC03-4F05-B831-58EA58FF1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789" y="3928781"/>
                <a:ext cx="2836289" cy="307777"/>
              </a:xfrm>
              <a:prstGeom prst="rect">
                <a:avLst/>
              </a:prstGeom>
              <a:blipFill>
                <a:blip r:embed="rId11"/>
                <a:stretch>
                  <a:fillRect l="-1505" r="-1290" b="-352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A55046-7C6A-4AAD-9595-81A2636C8048}"/>
                  </a:ext>
                </a:extLst>
              </p:cNvPr>
              <p:cNvSpPr txBox="1"/>
              <p:nvPr/>
            </p:nvSpPr>
            <p:spPr>
              <a:xfrm>
                <a:off x="5424755" y="4513442"/>
                <a:ext cx="249863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=16−48+36=</m:t>
                      </m:r>
                      <m:r>
                        <a:rPr lang="en-AU" sz="20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A55046-7C6A-4AAD-9595-81A2636C8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755" y="4513442"/>
                <a:ext cx="2498633" cy="307777"/>
              </a:xfrm>
              <a:prstGeom prst="rect">
                <a:avLst/>
              </a:prstGeom>
              <a:blipFill>
                <a:blip r:embed="rId12"/>
                <a:stretch>
                  <a:fillRect l="-1951" r="-1707" b="-235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8738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62200D28-8537-4423-8EE9-F1CAB3354DF1}"/>
              </a:ext>
            </a:extLst>
          </p:cNvPr>
          <p:cNvPicPr/>
          <p:nvPr/>
        </p:nvPicPr>
        <p:blipFill rotWithShape="1">
          <a:blip r:embed="rId9" r:link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8" t="25596" r="46794" b="18240"/>
          <a:stretch>
            <a:fillRect/>
          </a:stretch>
        </p:blipFill>
        <p:spPr bwMode="auto">
          <a:xfrm>
            <a:off x="3046272" y="1074144"/>
            <a:ext cx="3051456" cy="395391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A7765C2-ACD4-4237-B371-A94F0869B529}"/>
              </a:ext>
            </a:extLst>
          </p:cNvPr>
          <p:cNvSpPr txBox="1"/>
          <p:nvPr/>
        </p:nvSpPr>
        <p:spPr>
          <a:xfrm>
            <a:off x="1606579" y="5312600"/>
            <a:ext cx="720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can graph one part of our parabola (the right side). Remember, the points our symmetrical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B9C604-ACBA-4D06-81BE-384B9E37BFFA}"/>
              </a:ext>
            </a:extLst>
          </p:cNvPr>
          <p:cNvSpPr txBox="1"/>
          <p:nvPr/>
        </p:nvSpPr>
        <p:spPr>
          <a:xfrm>
            <a:off x="6834187" y="1834404"/>
            <a:ext cx="13245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Over 1 up 1</a:t>
            </a:r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F50FAC-266D-412F-B4ED-D4F9178A6052}"/>
              </a:ext>
            </a:extLst>
          </p:cNvPr>
          <p:cNvCxnSpPr/>
          <p:nvPr/>
        </p:nvCxnSpPr>
        <p:spPr>
          <a:xfrm flipH="1">
            <a:off x="4433888" y="2124075"/>
            <a:ext cx="2438400" cy="68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896788C-9D4C-4C48-A3D5-0C5D6199131E}"/>
              </a:ext>
            </a:extLst>
          </p:cNvPr>
          <p:cNvSpPr txBox="1"/>
          <p:nvPr/>
        </p:nvSpPr>
        <p:spPr>
          <a:xfrm>
            <a:off x="1496541" y="1417858"/>
            <a:ext cx="136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Over 2 up 4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1AD427-81D1-467D-90CD-A215387C9C39}"/>
              </a:ext>
            </a:extLst>
          </p:cNvPr>
          <p:cNvCxnSpPr/>
          <p:nvPr/>
        </p:nvCxnSpPr>
        <p:spPr>
          <a:xfrm>
            <a:off x="2476318" y="1955678"/>
            <a:ext cx="1957570" cy="424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021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4395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Graphing Parabolas from an equation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4" y="474966"/>
            <a:ext cx="7960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I graph parabolas when I’m given a double bracket or an equation?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14:cNvPr>
              <p14:cNvContentPartPr/>
              <p14:nvPr/>
            </p14:nvContentPartPr>
            <p14:xfrm>
              <a:off x="4249639" y="4382015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3B2CB6C-C229-4188-B7D8-51DF8497E7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0639" y="43730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14:cNvPr>
              <p14:cNvContentPartPr/>
              <p14:nvPr/>
            </p14:nvContentPartPr>
            <p14:xfrm>
              <a:off x="4399039" y="430713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FFC1E07-1471-42D4-A1F1-82F9CD06E0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90039" y="429813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14:cNvPr>
              <p14:cNvContentPartPr/>
              <p14:nvPr/>
            </p14:nvContentPartPr>
            <p14:xfrm>
              <a:off x="4237759" y="4375895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D2ED9C8-47E5-4F45-BB37-CD6CCBF8C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28759" y="43668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14:cNvPr>
              <p14:cNvContentPartPr/>
              <p14:nvPr/>
            </p14:nvContentPartPr>
            <p14:xfrm>
              <a:off x="4784239" y="2938415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83D8674-563B-496A-995F-693033BBA6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75239" y="292941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14:cNvPr>
              <p14:cNvContentPartPr/>
              <p14:nvPr/>
            </p14:nvContentPartPr>
            <p14:xfrm>
              <a:off x="4743919" y="2702615"/>
              <a:ext cx="360" cy="3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74F5E89-BC3B-4FF8-80A3-F009B6668CA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4919" y="2693615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DA4E378-95CA-4DF4-89DF-2A0614AFFEEC}"/>
              </a:ext>
            </a:extLst>
          </p:cNvPr>
          <p:cNvPicPr/>
          <p:nvPr/>
        </p:nvPicPr>
        <p:blipFill rotWithShape="1">
          <a:blip r:embed="rId9" r:link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96" t="29297" r="43219" b="24157"/>
          <a:stretch>
            <a:fillRect/>
          </a:stretch>
        </p:blipFill>
        <p:spPr bwMode="auto">
          <a:xfrm>
            <a:off x="2709652" y="1564713"/>
            <a:ext cx="4369374" cy="37285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E0956E91-6A7D-43F0-8D8E-2C0D7A322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902963"/>
              </p:ext>
            </p:extLst>
          </p:nvPr>
        </p:nvGraphicFramePr>
        <p:xfrm>
          <a:off x="5315756" y="5636192"/>
          <a:ext cx="340454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135">
                  <a:extLst>
                    <a:ext uri="{9D8B030D-6E8A-4147-A177-3AD203B41FA5}">
                      <a16:colId xmlns:a16="http://schemas.microsoft.com/office/drawing/2014/main" val="598629175"/>
                    </a:ext>
                  </a:extLst>
                </a:gridCol>
                <a:gridCol w="851135">
                  <a:extLst>
                    <a:ext uri="{9D8B030D-6E8A-4147-A177-3AD203B41FA5}">
                      <a16:colId xmlns:a16="http://schemas.microsoft.com/office/drawing/2014/main" val="1322785651"/>
                    </a:ext>
                  </a:extLst>
                </a:gridCol>
                <a:gridCol w="851135">
                  <a:extLst>
                    <a:ext uri="{9D8B030D-6E8A-4147-A177-3AD203B41FA5}">
                      <a16:colId xmlns:a16="http://schemas.microsoft.com/office/drawing/2014/main" val="2307259900"/>
                    </a:ext>
                  </a:extLst>
                </a:gridCol>
                <a:gridCol w="851135">
                  <a:extLst>
                    <a:ext uri="{9D8B030D-6E8A-4147-A177-3AD203B41FA5}">
                      <a16:colId xmlns:a16="http://schemas.microsoft.com/office/drawing/2014/main" val="3691437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841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696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396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F21FBA9D-AA91-497D-B1D7-6F59B11BC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74" y="0"/>
            <a:ext cx="8220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11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6E17-F8C9-4C0D-9826-E6ADE5A6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LHS:</a:t>
            </a:r>
          </a:p>
        </p:txBody>
      </p:sp>
      <p:pic>
        <p:nvPicPr>
          <p:cNvPr id="4" name="Picture 3" descr="Text&#10;&#10;Description automatically generated with low confidence">
            <a:extLst>
              <a:ext uri="{FF2B5EF4-FFF2-40B4-BE49-F238E27FC236}">
                <a16:creationId xmlns:a16="http://schemas.microsoft.com/office/drawing/2014/main" id="{6B4A35AD-5FEE-4AA8-9D60-46B33616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050" y="2286000"/>
            <a:ext cx="45339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7375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3351</TotalTime>
  <Words>1030</Words>
  <Application>Microsoft Office PowerPoint</Application>
  <PresentationFormat>On-screen Show (4:3)</PresentationFormat>
  <Paragraphs>152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Cambria Math</vt:lpstr>
      <vt:lpstr>Century Gothic</vt:lpstr>
      <vt:lpstr>Tw Cen MT</vt:lpstr>
      <vt:lpstr>Tw Cen MT Condensed</vt:lpstr>
      <vt:lpstr>Wingdings 3</vt:lpstr>
      <vt:lpstr>Integral</vt:lpstr>
      <vt:lpstr>Gallery</vt:lpstr>
      <vt:lpstr>In your books, create a table of values for the following rule, plot the following points and connect with a smooth 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LHS: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E4093549</dc:creator>
  <cp:lastModifiedBy>Tony Nguyen</cp:lastModifiedBy>
  <cp:revision>33</cp:revision>
  <cp:lastPrinted>2021-08-27T03:16:37Z</cp:lastPrinted>
  <dcterms:created xsi:type="dcterms:W3CDTF">2017-03-26T12:36:47Z</dcterms:created>
  <dcterms:modified xsi:type="dcterms:W3CDTF">2021-08-27T03:28:30Z</dcterms:modified>
</cp:coreProperties>
</file>
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  <p:sldMasterId id="2147483720" r:id="rId2"/>
    <p:sldMasterId id="2147483732" r:id="rId3"/>
    <p:sldMasterId id="2147483744" r:id="rId4"/>
    <p:sldMasterId id="2147483756" r:id="rId5"/>
  </p:sldMasterIdLst>
  <p:notesMasterIdLst>
    <p:notesMasterId r:id="rId30"/>
  </p:notesMasterIdLst>
  <p:handoutMasterIdLst>
    <p:handoutMasterId r:id="rId31"/>
  </p:handoutMasterIdLst>
  <p:sldIdLst>
    <p:sldId id="256" r:id="rId6"/>
    <p:sldId id="269" r:id="rId7"/>
    <p:sldId id="265" r:id="rId8"/>
    <p:sldId id="259" r:id="rId9"/>
    <p:sldId id="270" r:id="rId10"/>
    <p:sldId id="349" r:id="rId11"/>
    <p:sldId id="367" r:id="rId12"/>
    <p:sldId id="271" r:id="rId13"/>
    <p:sldId id="272" r:id="rId14"/>
    <p:sldId id="276" r:id="rId15"/>
    <p:sldId id="308" r:id="rId16"/>
    <p:sldId id="305" r:id="rId17"/>
    <p:sldId id="306" r:id="rId18"/>
    <p:sldId id="307" r:id="rId19"/>
    <p:sldId id="260" r:id="rId20"/>
    <p:sldId id="262" r:id="rId21"/>
    <p:sldId id="263" r:id="rId22"/>
    <p:sldId id="264" r:id="rId23"/>
    <p:sldId id="261" r:id="rId24"/>
    <p:sldId id="277" r:id="rId25"/>
    <p:sldId id="266" r:id="rId26"/>
    <p:sldId id="267" r:id="rId27"/>
    <p:sldId id="268" r:id="rId28"/>
    <p:sldId id="30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2" autoAdjust="0"/>
    <p:restoredTop sz="76047" autoAdjust="0"/>
  </p:normalViewPr>
  <p:slideViewPr>
    <p:cSldViewPr snapToGrid="0">
      <p:cViewPr varScale="1">
        <p:scale>
          <a:sx n="83" d="100"/>
          <a:sy n="83" d="100"/>
        </p:scale>
        <p:origin x="45" y="27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8/22/2021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8/22/2021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Linear:</a:t>
            </a:r>
          </a:p>
          <a:p>
            <a:r>
              <a:rPr lang="en-AU" dirty="0"/>
              <a:t>One x value for every y value</a:t>
            </a:r>
          </a:p>
          <a:p>
            <a:r>
              <a:rPr lang="en-AU" dirty="0"/>
              <a:t>Quadratics:</a:t>
            </a:r>
          </a:p>
          <a:p>
            <a:r>
              <a:rPr lang="en-AU" dirty="0"/>
              <a:t>Two</a:t>
            </a:r>
            <a:r>
              <a:rPr lang="en-AU" baseline="0" dirty="0"/>
              <a:t> x values for most y values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1126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2E223D7-2A27-4B34-A31C-02090805ABAC}" type="datetime1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81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9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47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2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8/22/2021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2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8/22/2021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4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8/22/2021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48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7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84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9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36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Sunday, August 22,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5760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Sunday, August 22,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86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Sunday, August 22,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54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Sunday, August 22,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99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Sunday, August 22, 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716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Sunday, August 22, 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26233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Sunday, August 22, 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48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Sunday, August 22,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668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Sunday, August 22,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861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Sunday, August 22,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971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Sunday, August 22,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693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85615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48A87A34-81AB-432B-8DAE-1953F412C126}" type="datetimeFigureOut">
              <a:rPr lang="en-US" dirty="0"/>
              <a:pPr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6745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45291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22519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26143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12814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5919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57262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40327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60423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07372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301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175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666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08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038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554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80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747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021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107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087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4794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23622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0957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891646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98850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04096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17823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9383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4791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47866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2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478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13C09FF-A05A-44B7-B7F9-9715502B619B}" type="datetime1">
              <a:rPr lang="en-US" smtClean="0"/>
              <a:pPr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761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D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Sunday, August 22,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70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5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1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9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03B91B3-E50F-4EFF-8D5F-21DA810ECD9F}" type="datetimeFigureOut">
              <a:rPr lang="en-AU" smtClean="0"/>
              <a:t>22/08/2021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99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-1909211" y="4768815"/>
            <a:ext cx="9601200" cy="1724092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/>
              <a:t>What is quadratics?</a:t>
            </a: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2617518"/>
            <a:ext cx="9509760" cy="41276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Quadratic equations are commonplace in theoretical and practical applications of mathematics. They are used to solve problems in geometry and measurement as well as in number theory and physics.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The path that a projectile takes while flying through the air, for example, can be analysed </a:t>
            </a:r>
            <a:r>
              <a:rPr lang="en-AU" b="1" dirty="0"/>
              <a:t>using quadratic equations.</a:t>
            </a:r>
            <a:endParaRPr lang="en-US" b="1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4364177" y="958174"/>
            <a:ext cx="266932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30920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/>
              <a:t>What is quadratics?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2262908" y="1901952"/>
                <a:ext cx="8587971" cy="4127627"/>
              </a:xfrm>
            </p:spPr>
            <p:txBody>
              <a:bodyPr>
                <a:normAutofit/>
              </a:bodyPr>
              <a:lstStyle/>
              <a:p>
                <a:pPr marL="45720" indent="0" algn="ctr">
                  <a:lnSpc>
                    <a:spcPct val="150000"/>
                  </a:lnSpc>
                  <a:buNone/>
                </a:pPr>
                <a:r>
                  <a:rPr lang="en-US" sz="2400" b="1" dirty="0"/>
                  <a:t>The standard quadratic formula is:</a:t>
                </a:r>
              </a:p>
              <a:p>
                <a:pPr marL="4572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𝒃𝒙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AU" sz="2400" b="1" dirty="0"/>
              </a:p>
              <a:p>
                <a:pPr marL="365760" lvl="1" indent="0" algn="ctr">
                  <a:lnSpc>
                    <a:spcPct val="150000"/>
                  </a:lnSpc>
                  <a:buNone/>
                </a:pPr>
                <a:r>
                  <a:rPr lang="en-US" sz="2200" b="1" dirty="0"/>
                  <a:t>Where a, b and c are constants</a:t>
                </a:r>
              </a:p>
              <a:p>
                <a:pPr marL="365760" lvl="1" indent="0" algn="ctr">
                  <a:lnSpc>
                    <a:spcPct val="150000"/>
                  </a:lnSpc>
                  <a:buNone/>
                </a:pPr>
                <a:endParaRPr lang="en-US" sz="2200" b="1" dirty="0"/>
              </a:p>
              <a:p>
                <a:pPr marL="365760" lvl="1" indent="0">
                  <a:lnSpc>
                    <a:spcPct val="150000"/>
                  </a:lnSpc>
                  <a:buNone/>
                </a:pPr>
                <a:r>
                  <a:rPr lang="en-US" sz="2200" b="1" dirty="0"/>
                  <a:t>Unlike a linear equation which has a single solution, quadratic equations can have zero, one or two solutions.</a:t>
                </a: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2908" y="1901952"/>
                <a:ext cx="8587971" cy="412762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9309" y="2110570"/>
            <a:ext cx="167178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The formula?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582" y="4230455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How is it different from a linear equation?</a:t>
            </a:r>
          </a:p>
        </p:txBody>
      </p:sp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BF5F-451A-43DC-B88F-07A548A0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a Quadratic Function?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DE1B7-C467-417A-BE95-945942C75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1CF05-B3B0-4170-86C2-EB8DD752E7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AU" dirty="0"/>
              <a:t>A Quadratic Function is a relationship between x and y where the highest power of x is 2.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8D19B0-CE66-4071-ADBF-4DF4CC801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What does it look like?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35539-7EC6-44D3-AC5D-1DB82C4E4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3119465" cy="2863997"/>
          </a:xfrm>
        </p:spPr>
        <p:txBody>
          <a:bodyPr/>
          <a:lstStyle/>
          <a:p>
            <a:r>
              <a:rPr lang="en-AU" dirty="0"/>
              <a:t>U Shape curve</a:t>
            </a:r>
          </a:p>
          <a:p>
            <a:r>
              <a:rPr lang="en-AU" dirty="0"/>
              <a:t>Symmetrical</a:t>
            </a:r>
          </a:p>
          <a:p>
            <a:r>
              <a:rPr lang="en-AU" dirty="0"/>
              <a:t>Increases in steepness as it progresses</a:t>
            </a:r>
          </a:p>
          <a:p>
            <a:r>
              <a:rPr lang="en-AU" dirty="0"/>
              <a:t>One “turning point”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4ECDED-0D1F-49B2-801D-A9DEE622A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178" y="2971669"/>
            <a:ext cx="2851297" cy="28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40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/>
              <a:t>What is quadratics?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99" y="2232835"/>
            <a:ext cx="5898503" cy="3773383"/>
          </a:xfrm>
        </p:spPr>
      </p:pic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mage result for quadratic grap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485" y="2331853"/>
            <a:ext cx="5326216" cy="377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05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Tw Cen MT" panose="020B0602020104020603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39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1379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prstClr val="black"/>
                </a:solidFill>
                <a:latin typeface="Tw Cen MT" panose="020B0602020104020603"/>
              </a:rPr>
              <a:t>Quadratics </a:t>
            </a:r>
            <a:br>
              <a:rPr lang="en-GB" sz="2800" b="1" dirty="0">
                <a:solidFill>
                  <a:prstClr val="black"/>
                </a:solidFill>
                <a:latin typeface="Tw Cen MT" panose="020B0602020104020603"/>
              </a:rPr>
            </a:br>
            <a:endParaRPr lang="en-AU" sz="2800" dirty="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Tw Cen MT" panose="020B0602020104020603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3065" y="2113893"/>
            <a:ext cx="2115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What is a parabola?</a:t>
            </a:r>
          </a:p>
        </p:txBody>
      </p:sp>
      <p:sp>
        <p:nvSpPr>
          <p:cNvPr id="3" name="Rectangle 2"/>
          <p:cNvSpPr/>
          <p:nvPr/>
        </p:nvSpPr>
        <p:spPr>
          <a:xfrm>
            <a:off x="1919668" y="1208771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prstClr val="black"/>
                </a:solidFill>
                <a:latin typeface="Tw Cen MT" panose="020B0602020104020603"/>
              </a:rPr>
              <a:t>EQ: What is Quadratics </a:t>
            </a:r>
          </a:p>
          <a:p>
            <a:endParaRPr lang="en-US" sz="2400" dirty="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069" y="2011458"/>
            <a:ext cx="6027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A </a:t>
            </a:r>
            <a:r>
              <a:rPr lang="en-US" b="1" dirty="0">
                <a:solidFill>
                  <a:prstClr val="black"/>
                </a:solidFill>
                <a:latin typeface="Tw Cen MT" panose="020B0602020104020603"/>
              </a:rPr>
              <a:t>parabola </a:t>
            </a:r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is the graph of a quadratic relation. </a:t>
            </a:r>
          </a:p>
          <a:p>
            <a:endParaRPr lang="en-US" dirty="0">
              <a:solidFill>
                <a:prstClr val="black"/>
              </a:solidFill>
              <a:latin typeface="Tw Cen MT" panose="020B0602020104020603"/>
            </a:endParaRPr>
          </a:p>
          <a:p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The basic parabola has the rule </a:t>
            </a:r>
            <a:r>
              <a:rPr lang="en-US" i="1" dirty="0">
                <a:solidFill>
                  <a:prstClr val="black"/>
                </a:solidFill>
                <a:latin typeface="Tw Cen MT" panose="020B0602020104020603"/>
              </a:rPr>
              <a:t>y </a:t>
            </a:r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= </a:t>
            </a:r>
            <a:r>
              <a:rPr lang="en-US" i="1" dirty="0">
                <a:solidFill>
                  <a:prstClr val="black"/>
                </a:solidFill>
                <a:latin typeface="Tw Cen MT" panose="020B0602020104020603"/>
              </a:rPr>
              <a:t>x</a:t>
            </a:r>
            <a:r>
              <a:rPr lang="en-US" baseline="30000" dirty="0">
                <a:solidFill>
                  <a:prstClr val="black"/>
                </a:solidFill>
                <a:latin typeface="Tw Cen MT" panose="020B0602020104020603"/>
              </a:rPr>
              <a:t>2</a:t>
            </a:r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4347" y="3304120"/>
            <a:ext cx="2355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Tw Cen MT" panose="020B0602020104020603"/>
              </a:rPr>
              <a:t>Features of a parabola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4209" y="4030000"/>
            <a:ext cx="48001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– The vertex (or turning point) is (0, 0).</a:t>
            </a:r>
            <a:br>
              <a:rPr lang="en-US" dirty="0">
                <a:solidFill>
                  <a:prstClr val="black"/>
                </a:solidFill>
                <a:latin typeface="Tw Cen MT" panose="020B0602020104020603"/>
              </a:rPr>
            </a:br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– It is a minimum turning point. </a:t>
            </a:r>
          </a:p>
          <a:p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– Axis of symmetry is </a:t>
            </a:r>
            <a:r>
              <a:rPr lang="en-US" i="1" dirty="0">
                <a:solidFill>
                  <a:prstClr val="black"/>
                </a:solidFill>
                <a:latin typeface="Tw Cen MT" panose="020B0602020104020603"/>
              </a:rPr>
              <a:t>x </a:t>
            </a:r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= 0. – </a:t>
            </a:r>
            <a:r>
              <a:rPr lang="en-US" i="1" dirty="0">
                <a:solidFill>
                  <a:prstClr val="black"/>
                </a:solidFill>
                <a:latin typeface="Tw Cen MT" panose="020B0602020104020603"/>
              </a:rPr>
              <a:t>y</a:t>
            </a:r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-intercept is (0, 0).</a:t>
            </a:r>
            <a:br>
              <a:rPr lang="en-US" dirty="0">
                <a:solidFill>
                  <a:prstClr val="black"/>
                </a:solidFill>
                <a:latin typeface="Tw Cen MT" panose="020B0602020104020603"/>
              </a:rPr>
            </a:br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– </a:t>
            </a:r>
            <a:r>
              <a:rPr lang="en-US" i="1" dirty="0">
                <a:solidFill>
                  <a:prstClr val="black"/>
                </a:solidFill>
                <a:latin typeface="Tw Cen MT" panose="020B0602020104020603"/>
              </a:rPr>
              <a:t>x</a:t>
            </a:r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-intercept is (0, 0). </a:t>
            </a:r>
          </a:p>
          <a:p>
            <a:endParaRPr lang="en-US" dirty="0">
              <a:solidFill>
                <a:prstClr val="black"/>
              </a:solidFill>
              <a:latin typeface="Tw Cen MT" panose="020B0602020104020603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208" y="3034378"/>
            <a:ext cx="2300940" cy="307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4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Tw Cen MT" panose="020B0602020104020603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Tw Cen MT" panose="020B0602020104020603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39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8176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prstClr val="black"/>
                </a:solidFill>
                <a:latin typeface="Tw Cen MT" panose="020B0602020104020603"/>
              </a:rPr>
              <a:t>Quadratics</a:t>
            </a:r>
            <a:br>
              <a:rPr lang="en-GB" sz="2800" b="1" dirty="0">
                <a:solidFill>
                  <a:prstClr val="black"/>
                </a:solidFill>
                <a:latin typeface="Tw Cen MT" panose="020B0602020104020603"/>
              </a:rPr>
            </a:br>
            <a:endParaRPr lang="en-AU" sz="2800" dirty="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Tw Cen MT" panose="020B0602020104020603"/>
              </a:rPr>
              <a:t>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919668" y="1208771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prstClr val="black"/>
                </a:solidFill>
                <a:latin typeface="Tw Cen MT" panose="020B0602020104020603"/>
              </a:rPr>
              <a:t>EQ: What is Quadratics?</a:t>
            </a:r>
          </a:p>
          <a:p>
            <a:endParaRPr lang="en-US" sz="2400" dirty="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36629" y="2110208"/>
            <a:ext cx="246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Tw Cen MT" panose="020B0602020104020603"/>
              </a:rPr>
              <a:t>What is a Turning Point?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1813" y="2121421"/>
            <a:ext cx="616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The turning point is the point in which the parabola changes direction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227" y="2898272"/>
            <a:ext cx="42418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84133" y="5130801"/>
            <a:ext cx="4395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solidFill>
                  <a:prstClr val="black"/>
                </a:solidFill>
                <a:latin typeface="Tw Cen MT" panose="020B0602020104020603"/>
              </a:rPr>
              <a:t>If </a:t>
            </a:r>
            <a:r>
              <a:rPr lang="en-US" altLang="en-US" dirty="0">
                <a:solidFill>
                  <a:prstClr val="black"/>
                </a:solidFill>
                <a:latin typeface="Verdana" charset="0"/>
              </a:rPr>
              <a:t>positive</a:t>
            </a:r>
            <a:r>
              <a:rPr lang="en-US" altLang="en-US" dirty="0">
                <a:solidFill>
                  <a:prstClr val="black"/>
                </a:solidFill>
                <a:latin typeface="Tw Cen MT" panose="020B0602020104020603"/>
              </a:rPr>
              <a:t>, </a:t>
            </a:r>
            <a:r>
              <a:rPr lang="en-US" altLang="en-US" dirty="0" err="1">
                <a:solidFill>
                  <a:prstClr val="black"/>
                </a:solidFill>
                <a:latin typeface="Tw Cen MT" panose="020B0602020104020603"/>
              </a:rPr>
              <a:t>ie</a:t>
            </a:r>
            <a:r>
              <a:rPr lang="en-US" altLang="en-US" dirty="0">
                <a:solidFill>
                  <a:prstClr val="black"/>
                </a:solidFill>
                <a:latin typeface="Tw Cen MT" panose="020B0602020104020603"/>
              </a:rPr>
              <a:t> y=3x</a:t>
            </a:r>
            <a:r>
              <a:rPr lang="en-US" altLang="en-US" baseline="30000" dirty="0">
                <a:solidFill>
                  <a:prstClr val="black"/>
                </a:solidFill>
                <a:latin typeface="Tw Cen MT" panose="020B0602020104020603"/>
              </a:rPr>
              <a:t>2</a:t>
            </a:r>
            <a:r>
              <a:rPr lang="en-US" altLang="en-US" dirty="0">
                <a:solidFill>
                  <a:prstClr val="black"/>
                </a:solidFill>
                <a:latin typeface="Tw Cen MT" panose="020B0602020104020603"/>
              </a:rPr>
              <a:t> the parabola opens up</a:t>
            </a:r>
          </a:p>
          <a:p>
            <a:endParaRPr lang="en-US" dirty="0">
              <a:solidFill>
                <a:prstClr val="black"/>
              </a:solidFill>
              <a:latin typeface="Tw Cen MT" panose="020B0602020104020603"/>
            </a:endParaRPr>
          </a:p>
        </p:txBody>
      </p:sp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740" y="4585480"/>
            <a:ext cx="1885158" cy="1256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4239398" y="5829364"/>
            <a:ext cx="4827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solidFill>
                  <a:prstClr val="black"/>
                </a:solidFill>
                <a:latin typeface="Tw Cen MT" panose="020B0602020104020603"/>
              </a:rPr>
              <a:t>If </a:t>
            </a:r>
            <a:r>
              <a:rPr lang="en-US" altLang="en-US" dirty="0">
                <a:solidFill>
                  <a:prstClr val="black"/>
                </a:solidFill>
                <a:latin typeface="Verdana" charset="0"/>
              </a:rPr>
              <a:t>negative</a:t>
            </a:r>
            <a:r>
              <a:rPr lang="en-US" altLang="en-US" dirty="0">
                <a:solidFill>
                  <a:prstClr val="black"/>
                </a:solidFill>
                <a:latin typeface="Tw Cen MT" panose="020B0602020104020603"/>
              </a:rPr>
              <a:t>, </a:t>
            </a:r>
            <a:r>
              <a:rPr lang="en-US" altLang="en-US" dirty="0" err="1">
                <a:solidFill>
                  <a:prstClr val="black"/>
                </a:solidFill>
                <a:latin typeface="Tw Cen MT" panose="020B0602020104020603"/>
              </a:rPr>
              <a:t>ie</a:t>
            </a:r>
            <a:r>
              <a:rPr lang="en-US" altLang="en-US" dirty="0">
                <a:solidFill>
                  <a:prstClr val="black"/>
                </a:solidFill>
                <a:latin typeface="Tw Cen MT" panose="020B0602020104020603"/>
              </a:rPr>
              <a:t> y=</a:t>
            </a:r>
            <a:r>
              <a:rPr lang="en-US" altLang="en-US" b="1" dirty="0">
                <a:solidFill>
                  <a:srgbClr val="FF0000"/>
                </a:solidFill>
                <a:latin typeface="Tw Cen MT" panose="020B0602020104020603"/>
              </a:rPr>
              <a:t>-</a:t>
            </a:r>
            <a:r>
              <a:rPr lang="en-US" altLang="en-US" dirty="0">
                <a:solidFill>
                  <a:prstClr val="black"/>
                </a:solidFill>
                <a:latin typeface="Tw Cen MT" panose="020B0602020104020603"/>
              </a:rPr>
              <a:t>3x</a:t>
            </a:r>
            <a:r>
              <a:rPr lang="en-US" altLang="en-US" baseline="30000" dirty="0">
                <a:solidFill>
                  <a:prstClr val="black"/>
                </a:solidFill>
                <a:latin typeface="Tw Cen MT" panose="020B0602020104020603"/>
              </a:rPr>
              <a:t>2</a:t>
            </a:r>
            <a:r>
              <a:rPr lang="en-US" altLang="en-US" dirty="0">
                <a:solidFill>
                  <a:prstClr val="black"/>
                </a:solidFill>
                <a:latin typeface="Tw Cen MT" panose="020B0602020104020603"/>
              </a:rPr>
              <a:t> the parabola opens down</a:t>
            </a:r>
          </a:p>
          <a:p>
            <a:endParaRPr lang="en-US" altLang="en-US" dirty="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11734" y="624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prstClr val="black"/>
              </a:solidFill>
              <a:latin typeface="Tw Cen MT" panose="020B0602020104020603"/>
            </a:endParaRPr>
          </a:p>
        </p:txBody>
      </p:sp>
      <p:pic>
        <p:nvPicPr>
          <p:cNvPr id="19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664" y="5213866"/>
            <a:ext cx="1828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284134" y="6365333"/>
            <a:ext cx="2003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w Cen MT" panose="020B0602020104020603"/>
              </a:rPr>
              <a:t>This is </a:t>
            </a:r>
            <a:r>
              <a:rPr lang="en-US">
                <a:solidFill>
                  <a:prstClr val="black"/>
                </a:solidFill>
                <a:latin typeface="Tw Cen MT" panose="020B0602020104020603"/>
              </a:rPr>
              <a:t>also know 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2218" y="6405517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Arial Narrow" charset="0"/>
                <a:ea typeface="Arial Narrow" charset="0"/>
                <a:cs typeface="Arial Narrow" charset="0"/>
              </a:rPr>
              <a:t>Concave down</a:t>
            </a:r>
            <a:endParaRPr lang="en-US" dirty="0">
              <a:solidFill>
                <a:prstClr val="black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56950" y="474240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Narrow" charset="0"/>
                <a:ea typeface="Arial Narrow" charset="0"/>
                <a:cs typeface="Arial Narrow" charset="0"/>
              </a:rPr>
              <a:t>Concave up</a:t>
            </a:r>
          </a:p>
        </p:txBody>
      </p:sp>
    </p:spTree>
    <p:extLst>
      <p:ext uri="{BB962C8B-B14F-4D97-AF65-F5344CB8AC3E}">
        <p14:creationId xmlns:p14="http://schemas.microsoft.com/office/powerpoint/2010/main" val="182944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/>
              <a:t>What is quadratics?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51002366"/>
                  </p:ext>
                </p:extLst>
              </p:nvPr>
            </p:nvGraphicFramePr>
            <p:xfrm>
              <a:off x="2904739" y="2344744"/>
              <a:ext cx="7524364" cy="1965842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3762182">
                      <a:extLst>
                        <a:ext uri="{9D8B030D-6E8A-4147-A177-3AD203B41FA5}">
                          <a16:colId xmlns:a16="http://schemas.microsoft.com/office/drawing/2014/main" val="2990740202"/>
                        </a:ext>
                      </a:extLst>
                    </a:gridCol>
                    <a:gridCol w="3762182">
                      <a:extLst>
                        <a:ext uri="{9D8B030D-6E8A-4147-A177-3AD203B41FA5}">
                          <a16:colId xmlns:a16="http://schemas.microsoft.com/office/drawing/2014/main" val="1542847358"/>
                        </a:ext>
                      </a:extLst>
                    </a:gridCol>
                  </a:tblGrid>
                  <a:tr h="9829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/>
                            <a:t>Linear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6337550"/>
                      </a:ext>
                    </a:extLst>
                  </a:tr>
                  <a:tr h="9829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sSup>
                                  <m:sSupPr>
                                    <m:ctrlP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8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1" dirty="0"/>
                            <a:t>Quadratic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93480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51002366"/>
                  </p:ext>
                </p:extLst>
              </p:nvPr>
            </p:nvGraphicFramePr>
            <p:xfrm>
              <a:off x="2904739" y="2344744"/>
              <a:ext cx="7524364" cy="1965842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3762182">
                      <a:extLst>
                        <a:ext uri="{9D8B030D-6E8A-4147-A177-3AD203B41FA5}">
                          <a16:colId xmlns:a16="http://schemas.microsoft.com/office/drawing/2014/main" val="2990740202"/>
                        </a:ext>
                      </a:extLst>
                    </a:gridCol>
                    <a:gridCol w="3762182">
                      <a:extLst>
                        <a:ext uri="{9D8B030D-6E8A-4147-A177-3AD203B41FA5}">
                          <a16:colId xmlns:a16="http://schemas.microsoft.com/office/drawing/2014/main" val="1542847358"/>
                        </a:ext>
                      </a:extLst>
                    </a:gridCol>
                  </a:tblGrid>
                  <a:tr h="982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2" t="-617" r="-100324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Linear </a:t>
                          </a:r>
                          <a:endParaRPr lang="en-AU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6337550"/>
                      </a:ext>
                    </a:extLst>
                  </a:tr>
                  <a:tr h="982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2" t="-100617" r="-100324" b="-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1" dirty="0" smtClean="0"/>
                            <a:t>Quadratic</a:t>
                          </a:r>
                          <a:endParaRPr lang="en-AU" sz="28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934804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2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How is it different from a linear equation?</a:t>
            </a:r>
          </a:p>
        </p:txBody>
      </p:sp>
      <p:sp>
        <p:nvSpPr>
          <p:cNvPr id="4" name="Donut 3"/>
          <p:cNvSpPr/>
          <p:nvPr/>
        </p:nvSpPr>
        <p:spPr>
          <a:xfrm>
            <a:off x="5152768" y="3503142"/>
            <a:ext cx="432487" cy="451022"/>
          </a:xfrm>
          <a:prstGeom prst="donut">
            <a:avLst>
              <a:gd name="adj" fmla="val 1380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4" idx="5"/>
          </p:cNvCxnSpPr>
          <p:nvPr/>
        </p:nvCxnSpPr>
        <p:spPr>
          <a:xfrm flipH="1" flipV="1">
            <a:off x="5521919" y="3888113"/>
            <a:ext cx="592559" cy="14623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18198" y="5350476"/>
            <a:ext cx="229835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b="1" dirty="0"/>
              <a:t>Binomial</a:t>
            </a:r>
          </a:p>
          <a:p>
            <a:r>
              <a:rPr lang="en-AU" sz="2400" b="1" dirty="0"/>
              <a:t>(power of 2)</a:t>
            </a:r>
          </a:p>
        </p:txBody>
      </p:sp>
    </p:spTree>
    <p:extLst>
      <p:ext uri="{BB962C8B-B14F-4D97-AF65-F5344CB8AC3E}">
        <p14:creationId xmlns:p14="http://schemas.microsoft.com/office/powerpoint/2010/main" val="205966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/>
              <a:t>What is quadratics?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3385751" y="2217057"/>
                <a:ext cx="3818238" cy="4127627"/>
              </a:xfrm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200" b="1" dirty="0"/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AU" sz="3200" b="1" dirty="0"/>
              </a:p>
              <a:p>
                <a:pPr marL="45720" indent="0">
                  <a:lnSpc>
                    <a:spcPct val="100000"/>
                  </a:lnSpc>
                  <a:buNone/>
                </a:pPr>
                <a:endParaRPr lang="en-AU" sz="3200" b="1" dirty="0"/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200" b="1" dirty="0"/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AU" sz="3200" b="1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3200" b="1" i="0" dirty="0">
                  <a:latin typeface="Cambria Math" panose="02040503050406030204" pitchFamily="18" charset="0"/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/>
              </a:p>
              <a:p>
                <a:pPr marL="45720" indent="0">
                  <a:buNone/>
                </a:pPr>
                <a:endParaRPr lang="en-AU" sz="3200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5751" y="2217057"/>
                <a:ext cx="3818238" cy="412762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2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How is it different from a linear equation?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5642" y="2569341"/>
            <a:ext cx="2193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Linear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09470" y="4796361"/>
            <a:ext cx="35926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Quadratic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13521" y="2801663"/>
            <a:ext cx="2112123" cy="458686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ight Arrow 15"/>
          <p:cNvSpPr/>
          <p:nvPr/>
        </p:nvSpPr>
        <p:spPr>
          <a:xfrm>
            <a:off x="6258899" y="5017289"/>
            <a:ext cx="1550571" cy="48147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8427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  <p:bldP spid="14" grpId="0"/>
      <p:bldP spid="9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FFD5-B906-9648-867F-3EFA6A56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First look</a:t>
            </a:r>
          </a:p>
        </p:txBody>
      </p:sp>
      <p:pic>
        <p:nvPicPr>
          <p:cNvPr id="4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C927A983-63FA-4F45-A186-9470F6DF8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295" y="120217"/>
            <a:ext cx="7163493" cy="59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54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0B5EAB14-A32F-4AE7-832A-304AC0D63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171" y="0"/>
            <a:ext cx="6421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28575" cmpd="sng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28575" cmpd="sng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solidFill>
                  <a:prstClr val="black"/>
                </a:solidFill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solidFill>
                  <a:prstClr val="black"/>
                </a:solidFill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solidFill>
                  <a:prstClr val="black"/>
                </a:solidFill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halkboard"/>
                <a:cs typeface="Chalkboard"/>
              </a:rPr>
              <a:t>EQ – What is a quadratic?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9962" y="45023"/>
            <a:ext cx="2378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halkboard"/>
                <a:cs typeface="Chalkboard"/>
              </a:rPr>
              <a:t>Topic: Quadratics</a:t>
            </a:r>
            <a:endParaRPr lang="en-AU" sz="2400" dirty="0">
              <a:solidFill>
                <a:prstClr val="black"/>
              </a:solidFill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90174" y="1271951"/>
            <a:ext cx="864060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Step 1. To graph a parabola create a table with x values </a:t>
            </a:r>
          </a:p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		</a:t>
            </a:r>
          </a:p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Step 2. Substitute the x values into the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0244" y="2696493"/>
            <a:ext cx="36375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alibri"/>
              </a:rPr>
              <a:t>Graph the equation  y = x</a:t>
            </a:r>
            <a:r>
              <a:rPr lang="en-AU" sz="2400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AU" sz="2400" b="1" dirty="0">
                <a:solidFill>
                  <a:prstClr val="black"/>
                </a:solidFill>
                <a:latin typeface="Calibri"/>
              </a:rPr>
              <a:t>  </a:t>
            </a:r>
          </a:p>
          <a:p>
            <a:endParaRPr lang="en-AU" sz="24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8" name="Group 17"/>
          <p:cNvGrpSpPr/>
          <p:nvPr/>
        </p:nvGrpSpPr>
        <p:grpSpPr>
          <a:xfrm rot="611346">
            <a:off x="3871773" y="3490882"/>
            <a:ext cx="455578" cy="1693101"/>
            <a:chOff x="3035705" y="3273451"/>
            <a:chExt cx="291402" cy="1084207"/>
          </a:xfrm>
        </p:grpSpPr>
        <p:sp>
          <p:nvSpPr>
            <p:cNvPr id="19" name="Oval 18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0" name="Straight Arrow Connector 19"/>
            <p:cNvCxnSpPr>
              <a:stCxn id="19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865361" y="3527489"/>
          <a:ext cx="8366904" cy="95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x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01">
                <a:tc>
                  <a:txBody>
                    <a:bodyPr/>
                    <a:lstStyle/>
                    <a:p>
                      <a:r>
                        <a:rPr lang="en-AU" sz="2400" dirty="0"/>
                        <a:t>y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75335" y="4675616"/>
            <a:ext cx="143661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prstClr val="black"/>
                </a:solidFill>
                <a:latin typeface="Calibri"/>
              </a:rPr>
              <a:t>y = x</a:t>
            </a:r>
            <a:r>
              <a:rPr lang="en-US" sz="2800" i="1" baseline="30000" dirty="0">
                <a:solidFill>
                  <a:prstClr val="black"/>
                </a:solidFill>
                <a:latin typeface="Calibri"/>
              </a:rPr>
              <a:t>2</a:t>
            </a:r>
          </a:p>
          <a:p>
            <a:r>
              <a:rPr lang="en-US" sz="2800" i="1" dirty="0">
                <a:solidFill>
                  <a:prstClr val="black"/>
                </a:solidFill>
                <a:latin typeface="Calibri"/>
              </a:rPr>
              <a:t>y = (     )</a:t>
            </a:r>
            <a:r>
              <a:rPr lang="en-US" sz="2800" i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US" sz="2800" i="1" dirty="0">
              <a:solidFill>
                <a:prstClr val="black"/>
              </a:solidFill>
              <a:latin typeface="Calibri"/>
            </a:endParaRPr>
          </a:p>
          <a:p>
            <a:r>
              <a:rPr lang="en-US" sz="2800" i="1" dirty="0">
                <a:solidFill>
                  <a:prstClr val="black"/>
                </a:solidFill>
                <a:latin typeface="Calibri"/>
              </a:rPr>
              <a:t>y = 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3436107" y="4380488"/>
            <a:ext cx="1457161" cy="1775239"/>
            <a:chOff x="784698" y="4302044"/>
            <a:chExt cx="1457161" cy="1775239"/>
          </a:xfrm>
        </p:grpSpPr>
        <p:sp>
          <p:nvSpPr>
            <p:cNvPr id="8" name="Oval 7"/>
            <p:cNvSpPr/>
            <p:nvPr/>
          </p:nvSpPr>
          <p:spPr>
            <a:xfrm>
              <a:off x="784698" y="5429386"/>
              <a:ext cx="537049" cy="647897"/>
            </a:xfrm>
            <a:prstGeom prst="ellipse">
              <a:avLst/>
            </a:prstGeom>
            <a:noFill/>
            <a:ln w="28575" cmpd="sng">
              <a:solidFill>
                <a:srgbClr val="1737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7" name="Straight Arrow Connector 26"/>
            <p:cNvCxnSpPr>
              <a:stCxn id="8" idx="5"/>
            </p:cNvCxnSpPr>
            <p:nvPr/>
          </p:nvCxnSpPr>
          <p:spPr>
            <a:xfrm flipV="1">
              <a:off x="1243098" y="4302044"/>
              <a:ext cx="998761" cy="1680357"/>
            </a:xfrm>
            <a:prstGeom prst="straightConnector1">
              <a:avLst/>
            </a:prstGeom>
            <a:ln w="28575" cmpd="sng">
              <a:solidFill>
                <a:srgbClr val="17375E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3549414" y="5599180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62ADD3-CA22-4541-B3F0-725F057DCAA5}"/>
              </a:ext>
            </a:extLst>
          </p:cNvPr>
          <p:cNvCxnSpPr>
            <a:cxnSpLocks/>
          </p:cNvCxnSpPr>
          <p:nvPr/>
        </p:nvCxnSpPr>
        <p:spPr>
          <a:xfrm>
            <a:off x="1524000" y="45023"/>
            <a:ext cx="0" cy="681297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4B218E8-B600-433C-AF83-A96155E7D3E0}"/>
              </a:ext>
            </a:extLst>
          </p:cNvPr>
          <p:cNvSpPr txBox="1"/>
          <p:nvPr/>
        </p:nvSpPr>
        <p:spPr>
          <a:xfrm>
            <a:off x="66353" y="1351472"/>
            <a:ext cx="1354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I </a:t>
            </a:r>
            <a:r>
              <a:rPr lang="en-GB" dirty="0" err="1"/>
              <a:t>subsitute</a:t>
            </a:r>
            <a:r>
              <a:rPr lang="en-GB" dirty="0"/>
              <a:t> values into a table?</a:t>
            </a:r>
          </a:p>
        </p:txBody>
      </p:sp>
    </p:spTree>
    <p:extLst>
      <p:ext uri="{BB962C8B-B14F-4D97-AF65-F5344CB8AC3E}">
        <p14:creationId xmlns:p14="http://schemas.microsoft.com/office/powerpoint/2010/main" val="130503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28575" cmpd="sng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28575" cmpd="sng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solidFill>
                  <a:prstClr val="black"/>
                </a:solidFill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solidFill>
                  <a:prstClr val="black"/>
                </a:solidFill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solidFill>
                  <a:prstClr val="black"/>
                </a:solidFill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halkboard"/>
                <a:cs typeface="Chalkboard"/>
              </a:rPr>
              <a:t>EQ – What is a quadratic?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9962" y="45023"/>
            <a:ext cx="2378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halkboard"/>
                <a:cs typeface="Chalkboard"/>
              </a:rPr>
              <a:t>Topic: Quadratics</a:t>
            </a:r>
            <a:endParaRPr lang="en-AU" sz="2400" dirty="0">
              <a:solidFill>
                <a:prstClr val="black"/>
              </a:solidFill>
              <a:latin typeface="Chalkboard"/>
              <a:cs typeface="Chalkboard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62ADD3-CA22-4541-B3F0-725F057DCAA5}"/>
              </a:ext>
            </a:extLst>
          </p:cNvPr>
          <p:cNvCxnSpPr>
            <a:cxnSpLocks/>
          </p:cNvCxnSpPr>
          <p:nvPr/>
        </p:nvCxnSpPr>
        <p:spPr>
          <a:xfrm>
            <a:off x="1524000" y="45023"/>
            <a:ext cx="0" cy="681297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74F3FDEA-FBEB-4E24-B5B4-22766899D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17" y="1563148"/>
            <a:ext cx="8850701" cy="481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02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28575" cmpd="sng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28575" cmpd="sng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solidFill>
                  <a:prstClr val="black"/>
                </a:solidFill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solidFill>
                  <a:prstClr val="black"/>
                </a:solidFill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solidFill>
                  <a:prstClr val="black"/>
                </a:solidFill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halkboard"/>
                <a:cs typeface="Chalkboard"/>
              </a:rPr>
              <a:t>EQ – What information do we need to graph a parabola?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9962" y="45023"/>
            <a:ext cx="4698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halkboard"/>
                <a:cs typeface="Chalkboard"/>
              </a:rPr>
              <a:t>Topic: Graphing Quadratic Equation</a:t>
            </a:r>
            <a:endParaRPr lang="en-AU" sz="2400" dirty="0">
              <a:solidFill>
                <a:prstClr val="black"/>
              </a:solidFill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90174" y="1271951"/>
            <a:ext cx="864060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Step 1. To graph a parabola create a table with x values </a:t>
            </a:r>
          </a:p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		</a:t>
            </a:r>
          </a:p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Step 2. Substitute the x values into the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0244" y="2696493"/>
            <a:ext cx="36375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alibri"/>
              </a:rPr>
              <a:t>Graph the equation  y = x</a:t>
            </a:r>
            <a:r>
              <a:rPr lang="en-AU" sz="2400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AU" sz="2400" b="1" dirty="0">
                <a:solidFill>
                  <a:prstClr val="black"/>
                </a:solidFill>
                <a:latin typeface="Calibri"/>
              </a:rPr>
              <a:t>  </a:t>
            </a:r>
          </a:p>
          <a:p>
            <a:endParaRPr lang="en-AU" sz="24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865361" y="3527489"/>
          <a:ext cx="8366904" cy="95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x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b="1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01">
                <a:tc>
                  <a:txBody>
                    <a:bodyPr/>
                    <a:lstStyle/>
                    <a:p>
                      <a:r>
                        <a:rPr lang="en-AU" sz="2200" b="1" dirty="0"/>
                        <a:t>y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200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2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 flipH="1">
            <a:off x="5289439" y="4005597"/>
            <a:ext cx="687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 flipH="1">
            <a:off x="6376437" y="4024227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 flipH="1">
            <a:off x="7412864" y="4005597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 flipH="1">
            <a:off x="8463088" y="4029837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 flipH="1">
            <a:off x="9563557" y="4029837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</a:rPr>
              <a:t>9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350187" y="3878590"/>
            <a:ext cx="653632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 flipH="1">
            <a:off x="2747472" y="4412190"/>
            <a:ext cx="524062" cy="6675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65361" y="4496434"/>
            <a:ext cx="8366904" cy="1654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prstClr val="black"/>
                </a:solidFill>
                <a:latin typeface="Calibri"/>
              </a:rPr>
              <a:t>This gives us the coordinates that we can graph.</a:t>
            </a:r>
          </a:p>
          <a:p>
            <a:endParaRPr lang="en-AU" sz="1350" b="1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AU" sz="2400" b="1" dirty="0">
                <a:solidFill>
                  <a:srgbClr val="3366FF"/>
                </a:solidFill>
                <a:latin typeface="American Typewriter"/>
                <a:cs typeface="American Typewriter"/>
              </a:rPr>
              <a:t>(-3, 9), (-2, 4), (-1, 1), (0, 0), (1, 1), (2, 4), (3, 9)</a:t>
            </a:r>
            <a:endParaRPr lang="en-AU" sz="2400" dirty="0">
              <a:solidFill>
                <a:srgbClr val="3366FF"/>
              </a:solidFill>
              <a:latin typeface="American Typewriter"/>
              <a:cs typeface="American Typewriter"/>
            </a:endParaRPr>
          </a:p>
          <a:p>
            <a:endParaRPr lang="en-AU" sz="2000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3527974" y="3933662"/>
            <a:ext cx="536188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</p:cNvCxnSpPr>
          <p:nvPr/>
        </p:nvCxnSpPr>
        <p:spPr>
          <a:xfrm flipH="1">
            <a:off x="3925259" y="4412190"/>
            <a:ext cx="441859" cy="722667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4798978" y="3933662"/>
            <a:ext cx="397284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</p:cNvCxnSpPr>
          <p:nvPr/>
        </p:nvCxnSpPr>
        <p:spPr>
          <a:xfrm flipH="1">
            <a:off x="5196265" y="4467262"/>
            <a:ext cx="207891" cy="6675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905007" y="3933662"/>
            <a:ext cx="279840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</p:cNvCxnSpPr>
          <p:nvPr/>
        </p:nvCxnSpPr>
        <p:spPr>
          <a:xfrm flipH="1">
            <a:off x="6302292" y="4496434"/>
            <a:ext cx="173859" cy="638423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7162362" y="3933662"/>
            <a:ext cx="82828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flipH="1">
            <a:off x="7559650" y="4578796"/>
            <a:ext cx="37070" cy="5560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8281888" y="4005596"/>
            <a:ext cx="0" cy="11292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cxnSpLocks/>
          </p:cNvCxnSpPr>
          <p:nvPr/>
        </p:nvCxnSpPr>
        <p:spPr>
          <a:xfrm>
            <a:off x="8679176" y="4578796"/>
            <a:ext cx="0" cy="5560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9351823" y="4005596"/>
            <a:ext cx="0" cy="11292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cxnSpLocks/>
          </p:cNvCxnSpPr>
          <p:nvPr/>
        </p:nvCxnSpPr>
        <p:spPr>
          <a:xfrm>
            <a:off x="9749111" y="4578796"/>
            <a:ext cx="0" cy="5560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64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On your graph provided,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x</a:t>
            </a:r>
            <a:r>
              <a:rPr lang="en-AU" baseline="30000" dirty="0"/>
              <a:t>2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484701" y="3429000"/>
          <a:ext cx="9055330" cy="145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533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63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 your books, create a table of values for the following rule,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x</a:t>
            </a:r>
            <a:r>
              <a:rPr lang="en-AU" baseline="30000" dirty="0"/>
              <a:t>2 </a:t>
            </a:r>
            <a:r>
              <a:rPr lang="en-AU" dirty="0"/>
              <a:t>- 1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484701" y="3429000"/>
          <a:ext cx="9055330" cy="145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533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910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 your books, create a table of values for the following rule,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x</a:t>
            </a:r>
            <a:r>
              <a:rPr lang="en-AU" baseline="30000" dirty="0"/>
              <a:t>2 </a:t>
            </a:r>
            <a:r>
              <a:rPr lang="en-AU" dirty="0"/>
              <a:t>+ 2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484701" y="3429000"/>
          <a:ext cx="9055330" cy="145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533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084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 your books, create a table of values for the following rule,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x</a:t>
            </a:r>
            <a:r>
              <a:rPr lang="en-AU" baseline="30000" dirty="0"/>
              <a:t>2 </a:t>
            </a:r>
            <a:r>
              <a:rPr lang="en-AU" dirty="0"/>
              <a:t>- 5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484701" y="3429000"/>
          <a:ext cx="9055330" cy="145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533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831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D1D3-B835-4A37-AB42-67B6BAB2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 your books, discuss the impact of changing the number added or taken from y = x</a:t>
            </a:r>
            <a:r>
              <a:rPr lang="en-AU" baseline="30000" dirty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3496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On your graph paper,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- x</a:t>
            </a:r>
            <a:r>
              <a:rPr lang="en-AU" baseline="30000" dirty="0"/>
              <a:t>2 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484701" y="3429000"/>
          <a:ext cx="9055330" cy="145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533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480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 your books, create a table of values for the following rule,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- x</a:t>
            </a:r>
            <a:r>
              <a:rPr lang="en-AU" baseline="30000" dirty="0"/>
              <a:t>2 </a:t>
            </a:r>
            <a:r>
              <a:rPr lang="en-AU" dirty="0"/>
              <a:t>+ 2</a:t>
            </a:r>
            <a:r>
              <a:rPr lang="en-AU" baseline="30000" dirty="0"/>
              <a:t> 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484701" y="3429000"/>
          <a:ext cx="9055330" cy="145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533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048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 your books, create a table of values for the following rule,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- x</a:t>
            </a:r>
            <a:r>
              <a:rPr lang="en-AU" baseline="30000" dirty="0"/>
              <a:t>2 </a:t>
            </a:r>
            <a:r>
              <a:rPr lang="en-AU" dirty="0"/>
              <a:t>- 4</a:t>
            </a:r>
            <a:r>
              <a:rPr lang="en-AU" baseline="30000" dirty="0"/>
              <a:t> 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484701" y="3429000"/>
          <a:ext cx="9055330" cy="145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533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828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 your books, create a table of values for the following rule,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- x</a:t>
            </a:r>
            <a:r>
              <a:rPr lang="en-AU" baseline="30000" dirty="0"/>
              <a:t>2 </a:t>
            </a:r>
            <a:r>
              <a:rPr lang="en-AU" dirty="0"/>
              <a:t>+ 8</a:t>
            </a:r>
            <a:r>
              <a:rPr lang="en-AU" baseline="30000" dirty="0"/>
              <a:t> 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484701" y="3429000"/>
          <a:ext cx="9055330" cy="145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533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905533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728711">
                <a:tc>
                  <a:txBody>
                    <a:bodyPr/>
                    <a:lstStyle/>
                    <a:p>
                      <a:pPr algn="ctr"/>
                      <a:r>
                        <a:rPr lang="en-AU" sz="36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471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83AB1-CC39-46BE-9BDE-2C81A337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 your books, describe the impact of change the x</a:t>
            </a:r>
            <a:r>
              <a:rPr lang="en-AU" baseline="30000" dirty="0"/>
              <a:t>2 </a:t>
            </a:r>
            <a:r>
              <a:rPr lang="en-AU" dirty="0"/>
              <a:t>to – x</a:t>
            </a:r>
            <a:r>
              <a:rPr lang="en-AU" baseline="30000" dirty="0"/>
              <a:t>2</a:t>
            </a:r>
            <a:r>
              <a:rPr lang="en-AU" dirty="0"/>
              <a:t> in the equation y = x</a:t>
            </a:r>
            <a:r>
              <a:rPr lang="en-AU" baseline="30000" dirty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19704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3DFloatVTI">
  <a:themeElements>
    <a:clrScheme name="Office">
      <a:dk1>
        <a:srgbClr val="000000"/>
      </a:dk1>
      <a:lt1>
        <a:srgbClr val="FFFFFF"/>
      </a:lt1>
      <a:dk2>
        <a:srgbClr val="2E3948"/>
      </a:dk2>
      <a:lt2>
        <a:srgbClr val="E7E6E6"/>
      </a:lt2>
      <a:accent1>
        <a:srgbClr val="5A82CB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A9718D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3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1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6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3320</TotalTime>
  <Words>1061</Words>
  <Application>Microsoft Office PowerPoint</Application>
  <PresentationFormat>Widescreen</PresentationFormat>
  <Paragraphs>257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24</vt:i4>
      </vt:variant>
    </vt:vector>
  </HeadingPairs>
  <TitlesOfParts>
    <vt:vector size="42" baseType="lpstr">
      <vt:lpstr>American Typewriter</vt:lpstr>
      <vt:lpstr>Arial</vt:lpstr>
      <vt:lpstr>Arial Narrow</vt:lpstr>
      <vt:lpstr>Calibri</vt:lpstr>
      <vt:lpstr>Cambria Math</vt:lpstr>
      <vt:lpstr>Century Gothic</vt:lpstr>
      <vt:lpstr>Chalkboard</vt:lpstr>
      <vt:lpstr>Gill Sans MT</vt:lpstr>
      <vt:lpstr>Tw Cen MT</vt:lpstr>
      <vt:lpstr>Tw Cen MT Condensed</vt:lpstr>
      <vt:lpstr>Verdana</vt:lpstr>
      <vt:lpstr>Walbaum Display</vt:lpstr>
      <vt:lpstr>Wingdings 3</vt:lpstr>
      <vt:lpstr>Integral</vt:lpstr>
      <vt:lpstr>3DFloatVTI</vt:lpstr>
      <vt:lpstr>Gallery</vt:lpstr>
      <vt:lpstr>Office Theme</vt:lpstr>
      <vt:lpstr>1_Integral</vt:lpstr>
      <vt:lpstr>Topic: Quadratics EQ: What is quadratics?</vt:lpstr>
      <vt:lpstr>PowerPoint Presentation</vt:lpstr>
      <vt:lpstr>Topic: Quadratics EQ: What is quadratics?</vt:lpstr>
      <vt:lpstr>What is a Quadratic Function?</vt:lpstr>
      <vt:lpstr>Topic: Quadratics EQ: What is quadratics?</vt:lpstr>
      <vt:lpstr>PowerPoint Presentation</vt:lpstr>
      <vt:lpstr>PowerPoint Presentation</vt:lpstr>
      <vt:lpstr>Topic: Quadratics EQ: What is quadratics?</vt:lpstr>
      <vt:lpstr>Topic: Quadratics EQ: What is quadratics?</vt:lpstr>
      <vt:lpstr>First look</vt:lpstr>
      <vt:lpstr>PowerPoint Presentation</vt:lpstr>
      <vt:lpstr>PowerPoint Presentation</vt:lpstr>
      <vt:lpstr>PowerPoint Presentation</vt:lpstr>
      <vt:lpstr>PowerPoint Presentation</vt:lpstr>
      <vt:lpstr>On your graph provided, plot the following points and connect with a smooth line</vt:lpstr>
      <vt:lpstr>In your books, create a table of values for the following rule, plot the following points and connect with a smooth line</vt:lpstr>
      <vt:lpstr>In your books, create a table of values for the following rule, plot the following points and connect with a smooth line</vt:lpstr>
      <vt:lpstr>In your books, create a table of values for the following rule, plot the following points and connect with a smooth line</vt:lpstr>
      <vt:lpstr>In your books, discuss the impact of changing the number added or taken from y = x2</vt:lpstr>
      <vt:lpstr>On your graph paper, plot the following points and connect with a smooth line</vt:lpstr>
      <vt:lpstr>In your books, create a table of values for the following rule, plot the following points and connect with a smooth line</vt:lpstr>
      <vt:lpstr>In your books, create a table of values for the following rule, plot the following points and connect with a smooth line</vt:lpstr>
      <vt:lpstr>In your books, create a table of values for the following rule, plot the following points and connect with a smooth line</vt:lpstr>
      <vt:lpstr>In your books, describe the impact of change the x2 to – x2 in the equation y = x2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Quadratics EQ: What is quadratics?</dc:title>
  <dc:creator>Abigail Stephenson</dc:creator>
  <cp:lastModifiedBy>Tony Nguyen</cp:lastModifiedBy>
  <cp:revision>20</cp:revision>
  <dcterms:created xsi:type="dcterms:W3CDTF">2018-11-06T07:30:40Z</dcterms:created>
  <dcterms:modified xsi:type="dcterms:W3CDTF">2021-08-22T12:46:51Z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
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media/audio1.bin" ContentType="audio/unknown"/>
  <Override PartName="/ppt/media/audio2.bin" ContentType="audio/unknown"/>
  <Override PartName="/ppt/media/audio3.bin" ContentType="audio/unknown"/>
  <Override PartName="/ppt/media/audio4.bin" ContentType="audio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sldIdLst>
    <p:sldId id="256" r:id="rId4"/>
    <p:sldId id="260" r:id="rId5"/>
    <p:sldId id="267" r:id="rId6"/>
    <p:sldId id="268" r:id="rId7"/>
    <p:sldId id="269" r:id="rId8"/>
    <p:sldId id="261" r:id="rId9"/>
    <p:sldId id="264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4B738-F224-4513-A2DF-9F77C8B58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E5E9A-F5A9-403D-8F0C-DDB3700B9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59B8-27A5-469A-9F84-61F9A4AA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3442F-A372-4A8C-AA55-B1B5AD207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6E3EB-223C-45A9-8E0D-F47F112A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560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6580-8CBC-428E-AFF0-30D9F861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D3E6F-478C-4622-9CDA-71DAC16B6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49D2D-C17C-473D-9C49-9C4B5B76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0A049-26EC-4529-9FE6-78A2AC9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0C049-B851-4C47-AE7D-4A06084E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23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44BB-36C8-4B60-A06D-8AAA438D2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9D6F3-59B1-4669-82E2-E8D1B1BD1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2C603-97FF-4B94-8E09-E3A0ACB3C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3DB1C-E78D-43B5-8E29-7E690972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0B6A0-B5A3-43BA-B754-1F4288483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541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D9B6-566D-460C-B8B1-75F5141BA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773EC-E8A0-4C8F-9349-A0987365D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AA163-0445-4DC7-97EA-C82B6C876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4E69E-174D-4178-94B3-AF11E67D4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63E9C-EFC2-4EF5-9A09-7E3FF2CC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02BF2-361A-478C-AA85-7FDE6C9C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5835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68DEF-AD8C-4A92-9367-87FE7ADE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63280-DCCF-4B1C-8E09-ED1B04DBF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D6B50-A9AF-4106-8515-8C556617C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D6C66C-C02C-440A-AE1D-B104486826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7BBB4-B37D-4032-88AF-5A1D301AD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56D70-4D9D-4B75-B08A-F3182C1D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C35CD0-AA9C-46C0-AF52-C6731A61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99D435-A590-42E6-9F78-492C431D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944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2553-E72E-4E51-94AD-36ABAE94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31EA3-3EBD-42A5-BC75-B5E99D515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A184B-1124-4D45-AA4D-551AC827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81483-B24F-4C18-BDF7-CE50CADD0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369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52011-61D0-447D-BD3F-F05E12D5C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0B939-7978-407A-A419-2EB2A5837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1F192-46AB-4603-BE4C-4F79E48F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821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3D89-9700-4A3E-9766-06AE630C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BB592-6F15-47C1-B48F-461191CB3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541A1-DA3D-4DBE-A133-B6CD2219B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60B73-3590-45FC-8735-D14D95B5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4E49F-A5B9-4EB0-93E1-510325368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362E8-D7F3-4788-ACB2-E6916A01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21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F974-1987-4C8A-B55F-41FC6B2C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1B20D-63EC-4529-A712-3643207C6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7F8A5-26B7-4E2F-A419-26D2DA578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AD110-F423-4F3E-B730-6096DFF53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D9B3B-33C9-41B1-86C1-F543A286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EAEB7-1314-43BA-B95B-38499AF8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676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A87F-8114-4963-B8BB-963B12811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205E9-D6FC-475B-9327-7341CE72D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19474-6D17-4C94-8DCE-9E3C360C1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FA97C-6358-44A9-BE66-C1CB7CCFF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8BE4-80B8-4A84-9977-645EC895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88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A14029-8617-4940-B11B-88C3CE40E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9215F-329F-4B1F-A6E1-3EEFB7918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8FDC3-6DB9-49B6-954C-8BED162F8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E903A-9589-4FBB-9CBF-5749E802A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888F4-9B7B-417D-B0CE-39EC744A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4332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774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6493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12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3040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5813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11101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1602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05585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7721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23903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2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485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18A067F-AA26-4ABA-BA08-FC93D4B65C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2290474-78FA-439C-8DE5-E598275F85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579CD8-6247-4326-9C5B-B12276C4EC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8F0702-5FDC-4182-8CCC-B09215C0AB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31036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20823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91534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55692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96320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61610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406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9984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84403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8269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589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6578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BAD6-E1CE-434C-98FE-181CD2B1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D12BF-628F-40B8-95B4-20F9D7225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CD80C-D54A-4502-B31A-B35F5DCA6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19380-6619-45AD-B595-3F5E55791A8D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948C0-52E3-4803-B720-EEBB39450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C7C2F-91ED-4B90-B13E-4FC7E04E4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B6B9C-5688-4193-8728-032022BEE9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239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9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03B91B3-E50F-4EFF-8D5F-21DA810ECD9F}" type="datetimeFigureOut">
              <a:rPr lang="en-AU" smtClean="0"/>
              <a:t>20/10/2020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54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20/10/2020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5563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23.bin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9.bin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22.bin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7.bin"/><Relationship Id="rId29" Type="http://schemas.openxmlformats.org/officeDocument/2006/relationships/oleObject" Target="../embeddings/oleObject26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8.bin"/><Relationship Id="rId24" Type="http://schemas.openxmlformats.org/officeDocument/2006/relationships/oleObject" Target="../embeddings/oleObject21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20.bin"/><Relationship Id="rId28" Type="http://schemas.openxmlformats.org/officeDocument/2006/relationships/oleObject" Target="../embeddings/oleObject25.bin"/><Relationship Id="rId10" Type="http://schemas.openxmlformats.org/officeDocument/2006/relationships/oleObject" Target="../embeddings/oleObject7.bin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6.bin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9.bin"/><Relationship Id="rId27" Type="http://schemas.openxmlformats.org/officeDocument/2006/relationships/oleObject" Target="../embeddings/oleObject24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oleObject" Target="../embeddings/oleObject36.bin"/><Relationship Id="rId18" Type="http://schemas.openxmlformats.org/officeDocument/2006/relationships/oleObject" Target="../embeddings/oleObject41.bin"/><Relationship Id="rId26" Type="http://schemas.openxmlformats.org/officeDocument/2006/relationships/oleObject" Target="../embeddings/oleObject49.bin"/><Relationship Id="rId3" Type="http://schemas.openxmlformats.org/officeDocument/2006/relationships/oleObject" Target="../embeddings/oleObject27.bin"/><Relationship Id="rId21" Type="http://schemas.openxmlformats.org/officeDocument/2006/relationships/oleObject" Target="../embeddings/oleObject44.bin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5.bin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8.bin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3.bin"/><Relationship Id="rId29" Type="http://schemas.openxmlformats.org/officeDocument/2006/relationships/oleObject" Target="../embeddings/oleObject52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9.bin"/><Relationship Id="rId11" Type="http://schemas.openxmlformats.org/officeDocument/2006/relationships/oleObject" Target="../embeddings/oleObject34.bin"/><Relationship Id="rId24" Type="http://schemas.openxmlformats.org/officeDocument/2006/relationships/oleObject" Target="../embeddings/oleObject47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6.bin"/><Relationship Id="rId28" Type="http://schemas.openxmlformats.org/officeDocument/2006/relationships/oleObject" Target="../embeddings/oleObject51.bin"/><Relationship Id="rId10" Type="http://schemas.openxmlformats.org/officeDocument/2006/relationships/oleObject" Target="../embeddings/oleObject33.bin"/><Relationship Id="rId19" Type="http://schemas.openxmlformats.org/officeDocument/2006/relationships/oleObject" Target="../embeddings/oleObject42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32.bin"/><Relationship Id="rId14" Type="http://schemas.openxmlformats.org/officeDocument/2006/relationships/oleObject" Target="../embeddings/oleObject37.bin"/><Relationship Id="rId22" Type="http://schemas.openxmlformats.org/officeDocument/2006/relationships/oleObject" Target="../embeddings/oleObject45.bin"/><Relationship Id="rId27" Type="http://schemas.openxmlformats.org/officeDocument/2006/relationships/oleObject" Target="../embeddings/oleObject50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2.bin"/><Relationship Id="rId18" Type="http://schemas.openxmlformats.org/officeDocument/2006/relationships/oleObject" Target="../embeddings/oleObject67.bin"/><Relationship Id="rId26" Type="http://schemas.openxmlformats.org/officeDocument/2006/relationships/oleObject" Target="../embeddings/oleObject75.bin"/><Relationship Id="rId39" Type="http://schemas.openxmlformats.org/officeDocument/2006/relationships/oleObject" Target="../embeddings/oleObject88.bin"/><Relationship Id="rId21" Type="http://schemas.openxmlformats.org/officeDocument/2006/relationships/oleObject" Target="../embeddings/oleObject70.bin"/><Relationship Id="rId34" Type="http://schemas.openxmlformats.org/officeDocument/2006/relationships/oleObject" Target="../embeddings/oleObject83.bin"/><Relationship Id="rId42" Type="http://schemas.openxmlformats.org/officeDocument/2006/relationships/oleObject" Target="../embeddings/oleObject91.bin"/><Relationship Id="rId47" Type="http://schemas.openxmlformats.org/officeDocument/2006/relationships/oleObject" Target="../embeddings/oleObject96.bin"/><Relationship Id="rId50" Type="http://schemas.openxmlformats.org/officeDocument/2006/relationships/oleObject" Target="../embeddings/oleObject99.bin"/><Relationship Id="rId55" Type="http://schemas.openxmlformats.org/officeDocument/2006/relationships/oleObject" Target="../embeddings/oleObject10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65.bin"/><Relationship Id="rId29" Type="http://schemas.openxmlformats.org/officeDocument/2006/relationships/oleObject" Target="../embeddings/oleObject78.bin"/><Relationship Id="rId11" Type="http://schemas.openxmlformats.org/officeDocument/2006/relationships/oleObject" Target="../embeddings/oleObject60.bin"/><Relationship Id="rId24" Type="http://schemas.openxmlformats.org/officeDocument/2006/relationships/oleObject" Target="../embeddings/oleObject73.bin"/><Relationship Id="rId32" Type="http://schemas.openxmlformats.org/officeDocument/2006/relationships/oleObject" Target="../embeddings/oleObject81.bin"/><Relationship Id="rId37" Type="http://schemas.openxmlformats.org/officeDocument/2006/relationships/oleObject" Target="../embeddings/oleObject86.bin"/><Relationship Id="rId40" Type="http://schemas.openxmlformats.org/officeDocument/2006/relationships/oleObject" Target="../embeddings/oleObject89.bin"/><Relationship Id="rId45" Type="http://schemas.openxmlformats.org/officeDocument/2006/relationships/oleObject" Target="../embeddings/oleObject94.bin"/><Relationship Id="rId53" Type="http://schemas.openxmlformats.org/officeDocument/2006/relationships/oleObject" Target="../embeddings/oleObject102.bin"/><Relationship Id="rId5" Type="http://schemas.openxmlformats.org/officeDocument/2006/relationships/oleObject" Target="../embeddings/oleObject54.bin"/><Relationship Id="rId10" Type="http://schemas.openxmlformats.org/officeDocument/2006/relationships/oleObject" Target="../embeddings/oleObject59.bin"/><Relationship Id="rId19" Type="http://schemas.openxmlformats.org/officeDocument/2006/relationships/oleObject" Target="../embeddings/oleObject68.bin"/><Relationship Id="rId31" Type="http://schemas.openxmlformats.org/officeDocument/2006/relationships/oleObject" Target="../embeddings/oleObject80.bin"/><Relationship Id="rId44" Type="http://schemas.openxmlformats.org/officeDocument/2006/relationships/oleObject" Target="../embeddings/oleObject93.bin"/><Relationship Id="rId52" Type="http://schemas.openxmlformats.org/officeDocument/2006/relationships/oleObject" Target="../embeddings/oleObject101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58.bin"/><Relationship Id="rId14" Type="http://schemas.openxmlformats.org/officeDocument/2006/relationships/oleObject" Target="../embeddings/oleObject63.bin"/><Relationship Id="rId22" Type="http://schemas.openxmlformats.org/officeDocument/2006/relationships/oleObject" Target="../embeddings/oleObject71.bin"/><Relationship Id="rId27" Type="http://schemas.openxmlformats.org/officeDocument/2006/relationships/oleObject" Target="../embeddings/oleObject76.bin"/><Relationship Id="rId30" Type="http://schemas.openxmlformats.org/officeDocument/2006/relationships/oleObject" Target="../embeddings/oleObject79.bin"/><Relationship Id="rId35" Type="http://schemas.openxmlformats.org/officeDocument/2006/relationships/oleObject" Target="../embeddings/oleObject84.bin"/><Relationship Id="rId43" Type="http://schemas.openxmlformats.org/officeDocument/2006/relationships/oleObject" Target="../embeddings/oleObject92.bin"/><Relationship Id="rId48" Type="http://schemas.openxmlformats.org/officeDocument/2006/relationships/oleObject" Target="../embeddings/oleObject97.bin"/><Relationship Id="rId56" Type="http://schemas.openxmlformats.org/officeDocument/2006/relationships/oleObject" Target="../embeddings/oleObject105.bin"/><Relationship Id="rId8" Type="http://schemas.openxmlformats.org/officeDocument/2006/relationships/oleObject" Target="../embeddings/oleObject57.bin"/><Relationship Id="rId51" Type="http://schemas.openxmlformats.org/officeDocument/2006/relationships/oleObject" Target="../embeddings/oleObject100.bin"/><Relationship Id="rId3" Type="http://schemas.openxmlformats.org/officeDocument/2006/relationships/oleObject" Target="../embeddings/oleObject53.bin"/><Relationship Id="rId12" Type="http://schemas.openxmlformats.org/officeDocument/2006/relationships/oleObject" Target="../embeddings/oleObject61.bin"/><Relationship Id="rId17" Type="http://schemas.openxmlformats.org/officeDocument/2006/relationships/oleObject" Target="../embeddings/oleObject66.bin"/><Relationship Id="rId25" Type="http://schemas.openxmlformats.org/officeDocument/2006/relationships/oleObject" Target="../embeddings/oleObject74.bin"/><Relationship Id="rId33" Type="http://schemas.openxmlformats.org/officeDocument/2006/relationships/oleObject" Target="../embeddings/oleObject82.bin"/><Relationship Id="rId38" Type="http://schemas.openxmlformats.org/officeDocument/2006/relationships/oleObject" Target="../embeddings/oleObject87.bin"/><Relationship Id="rId46" Type="http://schemas.openxmlformats.org/officeDocument/2006/relationships/oleObject" Target="../embeddings/oleObject95.bin"/><Relationship Id="rId20" Type="http://schemas.openxmlformats.org/officeDocument/2006/relationships/oleObject" Target="../embeddings/oleObject69.bin"/><Relationship Id="rId41" Type="http://schemas.openxmlformats.org/officeDocument/2006/relationships/oleObject" Target="../embeddings/oleObject90.bin"/><Relationship Id="rId54" Type="http://schemas.openxmlformats.org/officeDocument/2006/relationships/oleObject" Target="../embeddings/oleObject103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5.bin"/><Relationship Id="rId15" Type="http://schemas.openxmlformats.org/officeDocument/2006/relationships/oleObject" Target="../embeddings/oleObject64.bin"/><Relationship Id="rId23" Type="http://schemas.openxmlformats.org/officeDocument/2006/relationships/oleObject" Target="../embeddings/oleObject72.bin"/><Relationship Id="rId28" Type="http://schemas.openxmlformats.org/officeDocument/2006/relationships/oleObject" Target="../embeddings/oleObject77.bin"/><Relationship Id="rId36" Type="http://schemas.openxmlformats.org/officeDocument/2006/relationships/oleObject" Target="../embeddings/oleObject85.bin"/><Relationship Id="rId49" Type="http://schemas.openxmlformats.org/officeDocument/2006/relationships/oleObject" Target="../embeddings/oleObject9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audio" Target="../media/audio2.bin"/><Relationship Id="rId7" Type="http://schemas.openxmlformats.org/officeDocument/2006/relationships/image" Target="../media/image9.wmf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audio" Target="../media/audio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audio" Target="../media/audio3.bin"/><Relationship Id="rId7" Type="http://schemas.openxmlformats.org/officeDocument/2006/relationships/image" Target="../media/image9.wmf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audio" Target="../media/audio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C12B-D23B-4DAB-A052-50136E426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7062"/>
            <a:ext cx="9144000" cy="5056495"/>
          </a:xfrm>
        </p:spPr>
        <p:txBody>
          <a:bodyPr>
            <a:noAutofit/>
          </a:bodyPr>
          <a:lstStyle/>
          <a:p>
            <a:r>
              <a:rPr lang="en-AU" sz="6600" dirty="0"/>
              <a:t>Interpreting Scatter Plots and Line of Best Fit</a:t>
            </a:r>
            <a:br>
              <a:rPr lang="en-AU" sz="6600" dirty="0"/>
            </a:br>
            <a:br>
              <a:rPr lang="en-AU" sz="6600" dirty="0"/>
            </a:br>
            <a:r>
              <a:rPr lang="en-AU" sz="6600" dirty="0"/>
              <a:t>EQ: How do I draw a line of best fit?</a:t>
            </a:r>
          </a:p>
        </p:txBody>
      </p:sp>
    </p:spTree>
    <p:extLst>
      <p:ext uri="{BB962C8B-B14F-4D97-AF65-F5344CB8AC3E}">
        <p14:creationId xmlns:p14="http://schemas.microsoft.com/office/powerpoint/2010/main" val="92991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5">
            <a:extLst>
              <a:ext uri="{FF2B5EF4-FFF2-40B4-BE49-F238E27FC236}">
                <a16:creationId xmlns:a16="http://schemas.microsoft.com/office/drawing/2014/main" id="{5140CACF-C44E-4F27-9454-9B22C46739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0" y="609600"/>
            <a:ext cx="90678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/>
            <a:endParaRPr lang="en-AU" altLang="en-US">
              <a:solidFill>
                <a:prstClr val="black"/>
              </a:solidFill>
            </a:endParaRPr>
          </a:p>
        </p:txBody>
      </p:sp>
      <p:sp>
        <p:nvSpPr>
          <p:cNvPr id="9219" name="Line 6">
            <a:extLst>
              <a:ext uri="{FF2B5EF4-FFF2-40B4-BE49-F238E27FC236}">
                <a16:creationId xmlns:a16="http://schemas.microsoft.com/office/drawing/2014/main" id="{5475245F-2C9C-4891-89E6-8266C2E610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79650" y="2190750"/>
            <a:ext cx="1588" cy="20145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9220" name="Line 7">
            <a:extLst>
              <a:ext uri="{FF2B5EF4-FFF2-40B4-BE49-F238E27FC236}">
                <a16:creationId xmlns:a16="http://schemas.microsoft.com/office/drawing/2014/main" id="{5F405044-2805-4CA6-91C6-8CFB3CC38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9650" y="4205289"/>
            <a:ext cx="151130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9221" name="Line 8">
            <a:extLst>
              <a:ext uri="{FF2B5EF4-FFF2-40B4-BE49-F238E27FC236}">
                <a16:creationId xmlns:a16="http://schemas.microsoft.com/office/drawing/2014/main" id="{7AC1864B-12AF-4945-9F1C-67A99C551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2251" y="4205289"/>
            <a:ext cx="170021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9222" name="Line 9">
            <a:extLst>
              <a:ext uri="{FF2B5EF4-FFF2-40B4-BE49-F238E27FC236}">
                <a16:creationId xmlns:a16="http://schemas.microsoft.com/office/drawing/2014/main" id="{EAAD1E0E-109A-4414-A64C-88CEB672AE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57800" y="2266950"/>
            <a:ext cx="44450" cy="1938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9223" name="Line 10">
            <a:extLst>
              <a:ext uri="{FF2B5EF4-FFF2-40B4-BE49-F238E27FC236}">
                <a16:creationId xmlns:a16="http://schemas.microsoft.com/office/drawing/2014/main" id="{DB7F1CE0-F358-445E-B5D1-B4138947C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4851" y="4205289"/>
            <a:ext cx="170021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9224" name="Line 11">
            <a:extLst>
              <a:ext uri="{FF2B5EF4-FFF2-40B4-BE49-F238E27FC236}">
                <a16:creationId xmlns:a16="http://schemas.microsoft.com/office/drawing/2014/main" id="{4A253B5F-381E-4BB6-AA65-BAE259B2D4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24850" y="2190750"/>
            <a:ext cx="1588" cy="20145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graphicFrame>
        <p:nvGraphicFramePr>
          <p:cNvPr id="9256" name="Object 40">
            <a:extLst>
              <a:ext uri="{FF2B5EF4-FFF2-40B4-BE49-F238E27FC236}">
                <a16:creationId xmlns:a16="http://schemas.microsoft.com/office/drawing/2014/main" id="{94F33348-F660-4980-B0A0-5164DA5DF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307569"/>
              </p:ext>
            </p:extLst>
          </p:nvPr>
        </p:nvGraphicFramePr>
        <p:xfrm>
          <a:off x="2819401" y="35623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Equation" r:id="rId3" imgW="114102" imgH="126780" progId="Equation.DSMT4">
                  <p:embed/>
                </p:oleObj>
              </mc:Choice>
              <mc:Fallback>
                <p:oleObj name="Equation" r:id="rId3" imgW="114102" imgH="126780" progId="Equation.DSMT4">
                  <p:embed/>
                  <p:pic>
                    <p:nvPicPr>
                      <p:cNvPr id="9256" name="Object 40">
                        <a:extLst>
                          <a:ext uri="{FF2B5EF4-FFF2-40B4-BE49-F238E27FC236}">
                            <a16:creationId xmlns:a16="http://schemas.microsoft.com/office/drawing/2014/main" id="{94F33348-F660-4980-B0A0-5164DA5DF5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35623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9" name="Object 53">
            <a:extLst>
              <a:ext uri="{FF2B5EF4-FFF2-40B4-BE49-F238E27FC236}">
                <a16:creationId xmlns:a16="http://schemas.microsoft.com/office/drawing/2014/main" id="{ECDF1644-90B3-4D21-8641-DB45C0A7A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019216"/>
              </p:ext>
            </p:extLst>
          </p:nvPr>
        </p:nvGraphicFramePr>
        <p:xfrm>
          <a:off x="2743201" y="32575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Equation" r:id="rId5" imgW="114102" imgH="126780" progId="Equation.DSMT4">
                  <p:embed/>
                </p:oleObj>
              </mc:Choice>
              <mc:Fallback>
                <p:oleObj name="Equation" r:id="rId5" imgW="114102" imgH="126780" progId="Equation.DSMT4">
                  <p:embed/>
                  <p:pic>
                    <p:nvPicPr>
                      <p:cNvPr id="9269" name="Object 53">
                        <a:extLst>
                          <a:ext uri="{FF2B5EF4-FFF2-40B4-BE49-F238E27FC236}">
                            <a16:creationId xmlns:a16="http://schemas.microsoft.com/office/drawing/2014/main" id="{ECDF1644-90B3-4D21-8641-DB45C0A7A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32575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76" name="Object 60">
            <a:extLst>
              <a:ext uri="{FF2B5EF4-FFF2-40B4-BE49-F238E27FC236}">
                <a16:creationId xmlns:a16="http://schemas.microsoft.com/office/drawing/2014/main" id="{AF04F718-D9D7-43E4-8B58-C5B05C3CCF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628036"/>
              </p:ext>
            </p:extLst>
          </p:nvPr>
        </p:nvGraphicFramePr>
        <p:xfrm>
          <a:off x="2362201" y="37909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Equation" r:id="rId6" imgW="114102" imgH="126780" progId="Equation.DSMT4">
                  <p:embed/>
                </p:oleObj>
              </mc:Choice>
              <mc:Fallback>
                <p:oleObj name="Equation" r:id="rId6" imgW="114102" imgH="126780" progId="Equation.DSMT4">
                  <p:embed/>
                  <p:pic>
                    <p:nvPicPr>
                      <p:cNvPr id="9276" name="Object 60">
                        <a:extLst>
                          <a:ext uri="{FF2B5EF4-FFF2-40B4-BE49-F238E27FC236}">
                            <a16:creationId xmlns:a16="http://schemas.microsoft.com/office/drawing/2014/main" id="{AF04F718-D9D7-43E4-8B58-C5B05C3CCF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37909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77" name="Object 61">
            <a:extLst>
              <a:ext uri="{FF2B5EF4-FFF2-40B4-BE49-F238E27FC236}">
                <a16:creationId xmlns:a16="http://schemas.microsoft.com/office/drawing/2014/main" id="{93A7CF0C-EC9F-4375-987A-A1B7A6D533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051194"/>
              </p:ext>
            </p:extLst>
          </p:nvPr>
        </p:nvGraphicFramePr>
        <p:xfrm>
          <a:off x="2895601" y="30289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Equation" r:id="rId7" imgW="114102" imgH="126780" progId="Equation.DSMT4">
                  <p:embed/>
                </p:oleObj>
              </mc:Choice>
              <mc:Fallback>
                <p:oleObj name="Equation" r:id="rId7" imgW="114102" imgH="126780" progId="Equation.DSMT4">
                  <p:embed/>
                  <p:pic>
                    <p:nvPicPr>
                      <p:cNvPr id="9277" name="Object 61">
                        <a:extLst>
                          <a:ext uri="{FF2B5EF4-FFF2-40B4-BE49-F238E27FC236}">
                            <a16:creationId xmlns:a16="http://schemas.microsoft.com/office/drawing/2014/main" id="{93A7CF0C-EC9F-4375-987A-A1B7A6D533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289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78" name="Object 62">
            <a:extLst>
              <a:ext uri="{FF2B5EF4-FFF2-40B4-BE49-F238E27FC236}">
                <a16:creationId xmlns:a16="http://schemas.microsoft.com/office/drawing/2014/main" id="{8B032B00-3015-4B15-B764-9A61A97CAE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901609"/>
              </p:ext>
            </p:extLst>
          </p:nvPr>
        </p:nvGraphicFramePr>
        <p:xfrm>
          <a:off x="3429001" y="28003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" name="Equation" r:id="rId8" imgW="114102" imgH="126780" progId="Equation.DSMT4">
                  <p:embed/>
                </p:oleObj>
              </mc:Choice>
              <mc:Fallback>
                <p:oleObj name="Equation" r:id="rId8" imgW="114102" imgH="126780" progId="Equation.DSMT4">
                  <p:embed/>
                  <p:pic>
                    <p:nvPicPr>
                      <p:cNvPr id="9278" name="Object 62">
                        <a:extLst>
                          <a:ext uri="{FF2B5EF4-FFF2-40B4-BE49-F238E27FC236}">
                            <a16:creationId xmlns:a16="http://schemas.microsoft.com/office/drawing/2014/main" id="{8B032B00-3015-4B15-B764-9A61A97CAE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28003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79" name="Object 63">
            <a:extLst>
              <a:ext uri="{FF2B5EF4-FFF2-40B4-BE49-F238E27FC236}">
                <a16:creationId xmlns:a16="http://schemas.microsoft.com/office/drawing/2014/main" id="{280D3887-8852-488E-BAB3-C994337A42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471321"/>
              </p:ext>
            </p:extLst>
          </p:nvPr>
        </p:nvGraphicFramePr>
        <p:xfrm>
          <a:off x="3200401" y="28765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" name="Equation" r:id="rId9" imgW="114102" imgH="126780" progId="Equation.DSMT4">
                  <p:embed/>
                </p:oleObj>
              </mc:Choice>
              <mc:Fallback>
                <p:oleObj name="Equation" r:id="rId9" imgW="114102" imgH="126780" progId="Equation.DSMT4">
                  <p:embed/>
                  <p:pic>
                    <p:nvPicPr>
                      <p:cNvPr id="9279" name="Object 63">
                        <a:extLst>
                          <a:ext uri="{FF2B5EF4-FFF2-40B4-BE49-F238E27FC236}">
                            <a16:creationId xmlns:a16="http://schemas.microsoft.com/office/drawing/2014/main" id="{280D3887-8852-488E-BAB3-C994337A42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28765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80" name="Object 64">
            <a:extLst>
              <a:ext uri="{FF2B5EF4-FFF2-40B4-BE49-F238E27FC236}">
                <a16:creationId xmlns:a16="http://schemas.microsoft.com/office/drawing/2014/main" id="{600C0FA5-1FC3-466E-A96A-BB0D2458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846955"/>
              </p:ext>
            </p:extLst>
          </p:nvPr>
        </p:nvGraphicFramePr>
        <p:xfrm>
          <a:off x="3048001" y="28765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Equation" r:id="rId10" imgW="114102" imgH="126780" progId="Equation.DSMT4">
                  <p:embed/>
                </p:oleObj>
              </mc:Choice>
              <mc:Fallback>
                <p:oleObj name="Equation" r:id="rId10" imgW="114102" imgH="126780" progId="Equation.DSMT4">
                  <p:embed/>
                  <p:pic>
                    <p:nvPicPr>
                      <p:cNvPr id="9280" name="Object 64">
                        <a:extLst>
                          <a:ext uri="{FF2B5EF4-FFF2-40B4-BE49-F238E27FC236}">
                            <a16:creationId xmlns:a16="http://schemas.microsoft.com/office/drawing/2014/main" id="{600C0FA5-1FC3-466E-A96A-BB0D245802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28765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81" name="Object 65">
            <a:extLst>
              <a:ext uri="{FF2B5EF4-FFF2-40B4-BE49-F238E27FC236}">
                <a16:creationId xmlns:a16="http://schemas.microsoft.com/office/drawing/2014/main" id="{5528A6AE-98A8-4001-BB80-3B4AC1DF60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703277"/>
              </p:ext>
            </p:extLst>
          </p:nvPr>
        </p:nvGraphicFramePr>
        <p:xfrm>
          <a:off x="3200401" y="30289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Equation" r:id="rId11" imgW="114102" imgH="126780" progId="Equation.DSMT4">
                  <p:embed/>
                </p:oleObj>
              </mc:Choice>
              <mc:Fallback>
                <p:oleObj name="Equation" r:id="rId11" imgW="114102" imgH="126780" progId="Equation.DSMT4">
                  <p:embed/>
                  <p:pic>
                    <p:nvPicPr>
                      <p:cNvPr id="9281" name="Object 65">
                        <a:extLst>
                          <a:ext uri="{FF2B5EF4-FFF2-40B4-BE49-F238E27FC236}">
                            <a16:creationId xmlns:a16="http://schemas.microsoft.com/office/drawing/2014/main" id="{5528A6AE-98A8-4001-BB80-3B4AC1DF60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30289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82" name="Object 66">
            <a:extLst>
              <a:ext uri="{FF2B5EF4-FFF2-40B4-BE49-F238E27FC236}">
                <a16:creationId xmlns:a16="http://schemas.microsoft.com/office/drawing/2014/main" id="{F6B561A5-73DB-409A-86F1-FD3A992F5F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507328"/>
              </p:ext>
            </p:extLst>
          </p:nvPr>
        </p:nvGraphicFramePr>
        <p:xfrm>
          <a:off x="3581401" y="23431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" name="Equation" r:id="rId12" imgW="114102" imgH="126780" progId="Equation.DSMT4">
                  <p:embed/>
                </p:oleObj>
              </mc:Choice>
              <mc:Fallback>
                <p:oleObj name="Equation" r:id="rId12" imgW="114102" imgH="126780" progId="Equation.DSMT4">
                  <p:embed/>
                  <p:pic>
                    <p:nvPicPr>
                      <p:cNvPr id="9282" name="Object 66">
                        <a:extLst>
                          <a:ext uri="{FF2B5EF4-FFF2-40B4-BE49-F238E27FC236}">
                            <a16:creationId xmlns:a16="http://schemas.microsoft.com/office/drawing/2014/main" id="{F6B561A5-73DB-409A-86F1-FD3A992F5F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1" y="23431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1" name="Object 75">
            <a:extLst>
              <a:ext uri="{FF2B5EF4-FFF2-40B4-BE49-F238E27FC236}">
                <a16:creationId xmlns:a16="http://schemas.microsoft.com/office/drawing/2014/main" id="{31F30407-BF25-4E00-8A01-48D86362C9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159731"/>
              </p:ext>
            </p:extLst>
          </p:nvPr>
        </p:nvGraphicFramePr>
        <p:xfrm>
          <a:off x="5486401" y="24955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" name="Equation" r:id="rId13" imgW="114102" imgH="126780" progId="Equation.DSMT4">
                  <p:embed/>
                </p:oleObj>
              </mc:Choice>
              <mc:Fallback>
                <p:oleObj name="Equation" r:id="rId13" imgW="114102" imgH="126780" progId="Equation.DSMT4">
                  <p:embed/>
                  <p:pic>
                    <p:nvPicPr>
                      <p:cNvPr id="9291" name="Object 75">
                        <a:extLst>
                          <a:ext uri="{FF2B5EF4-FFF2-40B4-BE49-F238E27FC236}">
                            <a16:creationId xmlns:a16="http://schemas.microsoft.com/office/drawing/2014/main" id="{31F30407-BF25-4E00-8A01-48D86362C9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1" y="24955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5" name="Object 79">
            <a:extLst>
              <a:ext uri="{FF2B5EF4-FFF2-40B4-BE49-F238E27FC236}">
                <a16:creationId xmlns:a16="http://schemas.microsoft.com/office/drawing/2014/main" id="{8F71E37C-19C4-4689-B5BB-A0F2A5A722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51801"/>
              </p:ext>
            </p:extLst>
          </p:nvPr>
        </p:nvGraphicFramePr>
        <p:xfrm>
          <a:off x="5638801" y="26479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" name="Equation" r:id="rId14" imgW="114102" imgH="126780" progId="Equation.DSMT4">
                  <p:embed/>
                </p:oleObj>
              </mc:Choice>
              <mc:Fallback>
                <p:oleObj name="Equation" r:id="rId14" imgW="114102" imgH="126780" progId="Equation.DSMT4">
                  <p:embed/>
                  <p:pic>
                    <p:nvPicPr>
                      <p:cNvPr id="9295" name="Object 79">
                        <a:extLst>
                          <a:ext uri="{FF2B5EF4-FFF2-40B4-BE49-F238E27FC236}">
                            <a16:creationId xmlns:a16="http://schemas.microsoft.com/office/drawing/2014/main" id="{8F71E37C-19C4-4689-B5BB-A0F2A5A722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1" y="26479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6" name="Object 80">
            <a:extLst>
              <a:ext uri="{FF2B5EF4-FFF2-40B4-BE49-F238E27FC236}">
                <a16:creationId xmlns:a16="http://schemas.microsoft.com/office/drawing/2014/main" id="{36644DAE-9EC4-4C09-8262-0322EBDC1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793018"/>
              </p:ext>
            </p:extLst>
          </p:nvPr>
        </p:nvGraphicFramePr>
        <p:xfrm>
          <a:off x="5791201" y="25717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" name="Equation" r:id="rId15" imgW="114102" imgH="126780" progId="Equation.DSMT4">
                  <p:embed/>
                </p:oleObj>
              </mc:Choice>
              <mc:Fallback>
                <p:oleObj name="Equation" r:id="rId15" imgW="114102" imgH="126780" progId="Equation.DSMT4">
                  <p:embed/>
                  <p:pic>
                    <p:nvPicPr>
                      <p:cNvPr id="9296" name="Object 80">
                        <a:extLst>
                          <a:ext uri="{FF2B5EF4-FFF2-40B4-BE49-F238E27FC236}">
                            <a16:creationId xmlns:a16="http://schemas.microsoft.com/office/drawing/2014/main" id="{36644DAE-9EC4-4C09-8262-0322EBDC1E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25717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7" name="Object 81">
            <a:extLst>
              <a:ext uri="{FF2B5EF4-FFF2-40B4-BE49-F238E27FC236}">
                <a16:creationId xmlns:a16="http://schemas.microsoft.com/office/drawing/2014/main" id="{B50B5B23-2149-44CF-94E5-2B6CB5EE3E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894484"/>
              </p:ext>
            </p:extLst>
          </p:nvPr>
        </p:nvGraphicFramePr>
        <p:xfrm>
          <a:off x="5943601" y="29527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name="Equation" r:id="rId16" imgW="114102" imgH="126780" progId="Equation.DSMT4">
                  <p:embed/>
                </p:oleObj>
              </mc:Choice>
              <mc:Fallback>
                <p:oleObj name="Equation" r:id="rId16" imgW="114102" imgH="126780" progId="Equation.DSMT4">
                  <p:embed/>
                  <p:pic>
                    <p:nvPicPr>
                      <p:cNvPr id="9297" name="Object 81">
                        <a:extLst>
                          <a:ext uri="{FF2B5EF4-FFF2-40B4-BE49-F238E27FC236}">
                            <a16:creationId xmlns:a16="http://schemas.microsoft.com/office/drawing/2014/main" id="{B50B5B23-2149-44CF-94E5-2B6CB5EE3E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29527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8" name="Object 82">
            <a:extLst>
              <a:ext uri="{FF2B5EF4-FFF2-40B4-BE49-F238E27FC236}">
                <a16:creationId xmlns:a16="http://schemas.microsoft.com/office/drawing/2014/main" id="{DA408B6A-978A-467D-8529-C641B19C53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122256"/>
              </p:ext>
            </p:extLst>
          </p:nvPr>
        </p:nvGraphicFramePr>
        <p:xfrm>
          <a:off x="6019801" y="31813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Equation" r:id="rId17" imgW="114102" imgH="126780" progId="Equation.DSMT4">
                  <p:embed/>
                </p:oleObj>
              </mc:Choice>
              <mc:Fallback>
                <p:oleObj name="Equation" r:id="rId17" imgW="114102" imgH="126780" progId="Equation.DSMT4">
                  <p:embed/>
                  <p:pic>
                    <p:nvPicPr>
                      <p:cNvPr id="9298" name="Object 82">
                        <a:extLst>
                          <a:ext uri="{FF2B5EF4-FFF2-40B4-BE49-F238E27FC236}">
                            <a16:creationId xmlns:a16="http://schemas.microsoft.com/office/drawing/2014/main" id="{DA408B6A-978A-467D-8529-C641B19C53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31813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9" name="Object 83">
            <a:extLst>
              <a:ext uri="{FF2B5EF4-FFF2-40B4-BE49-F238E27FC236}">
                <a16:creationId xmlns:a16="http://schemas.microsoft.com/office/drawing/2014/main" id="{776C72EC-BF1E-4C2E-8D90-FD590CA553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8127335"/>
              </p:ext>
            </p:extLst>
          </p:nvPr>
        </p:nvGraphicFramePr>
        <p:xfrm>
          <a:off x="8610601" y="24955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Equation" r:id="rId18" imgW="114102" imgH="126780" progId="Equation.DSMT4">
                  <p:embed/>
                </p:oleObj>
              </mc:Choice>
              <mc:Fallback>
                <p:oleObj name="Equation" r:id="rId18" imgW="114102" imgH="126780" progId="Equation.DSMT4">
                  <p:embed/>
                  <p:pic>
                    <p:nvPicPr>
                      <p:cNvPr id="9299" name="Object 83">
                        <a:extLst>
                          <a:ext uri="{FF2B5EF4-FFF2-40B4-BE49-F238E27FC236}">
                            <a16:creationId xmlns:a16="http://schemas.microsoft.com/office/drawing/2014/main" id="{776C72EC-BF1E-4C2E-8D90-FD590CA55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1" y="24955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0" name="Object 84">
            <a:extLst>
              <a:ext uri="{FF2B5EF4-FFF2-40B4-BE49-F238E27FC236}">
                <a16:creationId xmlns:a16="http://schemas.microsoft.com/office/drawing/2014/main" id="{5170B805-39AE-4AFA-9D47-C52B1D49BA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483867"/>
              </p:ext>
            </p:extLst>
          </p:nvPr>
        </p:nvGraphicFramePr>
        <p:xfrm>
          <a:off x="6553201" y="33337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Equation" r:id="rId19" imgW="114102" imgH="126780" progId="Equation.DSMT4">
                  <p:embed/>
                </p:oleObj>
              </mc:Choice>
              <mc:Fallback>
                <p:oleObj name="Equation" r:id="rId19" imgW="114102" imgH="126780" progId="Equation.DSMT4">
                  <p:embed/>
                  <p:pic>
                    <p:nvPicPr>
                      <p:cNvPr id="9300" name="Object 84">
                        <a:extLst>
                          <a:ext uri="{FF2B5EF4-FFF2-40B4-BE49-F238E27FC236}">
                            <a16:creationId xmlns:a16="http://schemas.microsoft.com/office/drawing/2014/main" id="{5170B805-39AE-4AFA-9D47-C52B1D49BA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1" y="33337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1" name="Object 85">
            <a:extLst>
              <a:ext uri="{FF2B5EF4-FFF2-40B4-BE49-F238E27FC236}">
                <a16:creationId xmlns:a16="http://schemas.microsoft.com/office/drawing/2014/main" id="{773FC873-3A6A-4A6E-BE88-832F4EDCCC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062801"/>
              </p:ext>
            </p:extLst>
          </p:nvPr>
        </p:nvGraphicFramePr>
        <p:xfrm>
          <a:off x="6400801" y="33337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" name="Equation" r:id="rId20" imgW="114102" imgH="126780" progId="Equation.DSMT4">
                  <p:embed/>
                </p:oleObj>
              </mc:Choice>
              <mc:Fallback>
                <p:oleObj name="Equation" r:id="rId20" imgW="114102" imgH="126780" progId="Equation.DSMT4">
                  <p:embed/>
                  <p:pic>
                    <p:nvPicPr>
                      <p:cNvPr id="9301" name="Object 85">
                        <a:extLst>
                          <a:ext uri="{FF2B5EF4-FFF2-40B4-BE49-F238E27FC236}">
                            <a16:creationId xmlns:a16="http://schemas.microsoft.com/office/drawing/2014/main" id="{773FC873-3A6A-4A6E-BE88-832F4EDCC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33337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2" name="Object 86">
            <a:extLst>
              <a:ext uri="{FF2B5EF4-FFF2-40B4-BE49-F238E27FC236}">
                <a16:creationId xmlns:a16="http://schemas.microsoft.com/office/drawing/2014/main" id="{709BE5BB-9D94-4295-8A2E-86759E591D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753005"/>
              </p:ext>
            </p:extLst>
          </p:nvPr>
        </p:nvGraphicFramePr>
        <p:xfrm>
          <a:off x="6705601" y="37147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name="Equation" r:id="rId21" imgW="114102" imgH="126780" progId="Equation.DSMT4">
                  <p:embed/>
                </p:oleObj>
              </mc:Choice>
              <mc:Fallback>
                <p:oleObj name="Equation" r:id="rId21" imgW="114102" imgH="126780" progId="Equation.DSMT4">
                  <p:embed/>
                  <p:pic>
                    <p:nvPicPr>
                      <p:cNvPr id="9302" name="Object 86">
                        <a:extLst>
                          <a:ext uri="{FF2B5EF4-FFF2-40B4-BE49-F238E27FC236}">
                            <a16:creationId xmlns:a16="http://schemas.microsoft.com/office/drawing/2014/main" id="{709BE5BB-9D94-4295-8A2E-86759E591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1" y="37147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3" name="Object 87">
            <a:extLst>
              <a:ext uri="{FF2B5EF4-FFF2-40B4-BE49-F238E27FC236}">
                <a16:creationId xmlns:a16="http://schemas.microsoft.com/office/drawing/2014/main" id="{6003C79A-3A18-4BA4-82C8-C9095F73E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952115"/>
              </p:ext>
            </p:extLst>
          </p:nvPr>
        </p:nvGraphicFramePr>
        <p:xfrm>
          <a:off x="5791201" y="28003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" name="Equation" r:id="rId22" imgW="114102" imgH="126780" progId="Equation.DSMT4">
                  <p:embed/>
                </p:oleObj>
              </mc:Choice>
              <mc:Fallback>
                <p:oleObj name="Equation" r:id="rId22" imgW="114102" imgH="126780" progId="Equation.DSMT4">
                  <p:embed/>
                  <p:pic>
                    <p:nvPicPr>
                      <p:cNvPr id="9303" name="Object 87">
                        <a:extLst>
                          <a:ext uri="{FF2B5EF4-FFF2-40B4-BE49-F238E27FC236}">
                            <a16:creationId xmlns:a16="http://schemas.microsoft.com/office/drawing/2014/main" id="{6003C79A-3A18-4BA4-82C8-C9095F73E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28003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4" name="Object 88">
            <a:extLst>
              <a:ext uri="{FF2B5EF4-FFF2-40B4-BE49-F238E27FC236}">
                <a16:creationId xmlns:a16="http://schemas.microsoft.com/office/drawing/2014/main" id="{F1DBF060-82A9-4FCD-B385-C1CAF84839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104283"/>
              </p:ext>
            </p:extLst>
          </p:nvPr>
        </p:nvGraphicFramePr>
        <p:xfrm>
          <a:off x="8686801" y="37147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" name="Equation" r:id="rId23" imgW="114102" imgH="126780" progId="Equation.DSMT4">
                  <p:embed/>
                </p:oleObj>
              </mc:Choice>
              <mc:Fallback>
                <p:oleObj name="Equation" r:id="rId23" imgW="114102" imgH="126780" progId="Equation.DSMT4">
                  <p:embed/>
                  <p:pic>
                    <p:nvPicPr>
                      <p:cNvPr id="9304" name="Object 88">
                        <a:extLst>
                          <a:ext uri="{FF2B5EF4-FFF2-40B4-BE49-F238E27FC236}">
                            <a16:creationId xmlns:a16="http://schemas.microsoft.com/office/drawing/2014/main" id="{F1DBF060-82A9-4FCD-B385-C1CAF84839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1" y="37147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5" name="Object 89">
            <a:extLst>
              <a:ext uri="{FF2B5EF4-FFF2-40B4-BE49-F238E27FC236}">
                <a16:creationId xmlns:a16="http://schemas.microsoft.com/office/drawing/2014/main" id="{E39C8C1F-1EB2-413A-9F02-D44E27DB7D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451735"/>
              </p:ext>
            </p:extLst>
          </p:nvPr>
        </p:nvGraphicFramePr>
        <p:xfrm>
          <a:off x="9448801" y="28003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4" name="Equation" r:id="rId24" imgW="114102" imgH="126780" progId="Equation.DSMT4">
                  <p:embed/>
                </p:oleObj>
              </mc:Choice>
              <mc:Fallback>
                <p:oleObj name="Equation" r:id="rId24" imgW="114102" imgH="126780" progId="Equation.DSMT4">
                  <p:embed/>
                  <p:pic>
                    <p:nvPicPr>
                      <p:cNvPr id="9305" name="Object 89">
                        <a:extLst>
                          <a:ext uri="{FF2B5EF4-FFF2-40B4-BE49-F238E27FC236}">
                            <a16:creationId xmlns:a16="http://schemas.microsoft.com/office/drawing/2014/main" id="{E39C8C1F-1EB2-413A-9F02-D44E27DB7D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1" y="28003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6" name="Object 90">
            <a:extLst>
              <a:ext uri="{FF2B5EF4-FFF2-40B4-BE49-F238E27FC236}">
                <a16:creationId xmlns:a16="http://schemas.microsoft.com/office/drawing/2014/main" id="{6A2590C3-C1D5-48BB-AE1F-2C98570806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393942"/>
              </p:ext>
            </p:extLst>
          </p:nvPr>
        </p:nvGraphicFramePr>
        <p:xfrm>
          <a:off x="8991601" y="34099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5" name="Equation" r:id="rId25" imgW="114102" imgH="126780" progId="Equation.DSMT4">
                  <p:embed/>
                </p:oleObj>
              </mc:Choice>
              <mc:Fallback>
                <p:oleObj name="Equation" r:id="rId25" imgW="114102" imgH="126780" progId="Equation.DSMT4">
                  <p:embed/>
                  <p:pic>
                    <p:nvPicPr>
                      <p:cNvPr id="9306" name="Object 90">
                        <a:extLst>
                          <a:ext uri="{FF2B5EF4-FFF2-40B4-BE49-F238E27FC236}">
                            <a16:creationId xmlns:a16="http://schemas.microsoft.com/office/drawing/2014/main" id="{6A2590C3-C1D5-48BB-AE1F-2C98570806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34099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7" name="Object 91">
            <a:extLst>
              <a:ext uri="{FF2B5EF4-FFF2-40B4-BE49-F238E27FC236}">
                <a16:creationId xmlns:a16="http://schemas.microsoft.com/office/drawing/2014/main" id="{7085FD4A-AEB0-47A9-8EE0-37326E10F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295952"/>
              </p:ext>
            </p:extLst>
          </p:nvPr>
        </p:nvGraphicFramePr>
        <p:xfrm>
          <a:off x="9067801" y="28765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" name="Equation" r:id="rId26" imgW="114102" imgH="126780" progId="Equation.DSMT4">
                  <p:embed/>
                </p:oleObj>
              </mc:Choice>
              <mc:Fallback>
                <p:oleObj name="Equation" r:id="rId26" imgW="114102" imgH="126780" progId="Equation.DSMT4">
                  <p:embed/>
                  <p:pic>
                    <p:nvPicPr>
                      <p:cNvPr id="9307" name="Object 91">
                        <a:extLst>
                          <a:ext uri="{FF2B5EF4-FFF2-40B4-BE49-F238E27FC236}">
                            <a16:creationId xmlns:a16="http://schemas.microsoft.com/office/drawing/2014/main" id="{7085FD4A-AEB0-47A9-8EE0-37326E10F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28765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" name="Object 92">
            <a:extLst>
              <a:ext uri="{FF2B5EF4-FFF2-40B4-BE49-F238E27FC236}">
                <a16:creationId xmlns:a16="http://schemas.microsoft.com/office/drawing/2014/main" id="{6DD17957-7F83-4A08-BEFA-3D8999F903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882838"/>
              </p:ext>
            </p:extLst>
          </p:nvPr>
        </p:nvGraphicFramePr>
        <p:xfrm>
          <a:off x="9677401" y="31813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" name="Equation" r:id="rId27" imgW="114102" imgH="126780" progId="Equation.DSMT4">
                  <p:embed/>
                </p:oleObj>
              </mc:Choice>
              <mc:Fallback>
                <p:oleObj name="Equation" r:id="rId27" imgW="114102" imgH="126780" progId="Equation.DSMT4">
                  <p:embed/>
                  <p:pic>
                    <p:nvPicPr>
                      <p:cNvPr id="9308" name="Object 92">
                        <a:extLst>
                          <a:ext uri="{FF2B5EF4-FFF2-40B4-BE49-F238E27FC236}">
                            <a16:creationId xmlns:a16="http://schemas.microsoft.com/office/drawing/2014/main" id="{6DD17957-7F83-4A08-BEFA-3D8999F903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77401" y="31813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9" name="Object 93">
            <a:extLst>
              <a:ext uri="{FF2B5EF4-FFF2-40B4-BE49-F238E27FC236}">
                <a16:creationId xmlns:a16="http://schemas.microsoft.com/office/drawing/2014/main" id="{65FBEB66-155B-457C-A2C6-ED39F37A81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46067"/>
              </p:ext>
            </p:extLst>
          </p:nvPr>
        </p:nvGraphicFramePr>
        <p:xfrm>
          <a:off x="9372601" y="36385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" name="Equation" r:id="rId28" imgW="114102" imgH="126780" progId="Equation.DSMT4">
                  <p:embed/>
                </p:oleObj>
              </mc:Choice>
              <mc:Fallback>
                <p:oleObj name="Equation" r:id="rId28" imgW="114102" imgH="126780" progId="Equation.DSMT4">
                  <p:embed/>
                  <p:pic>
                    <p:nvPicPr>
                      <p:cNvPr id="9309" name="Object 93">
                        <a:extLst>
                          <a:ext uri="{FF2B5EF4-FFF2-40B4-BE49-F238E27FC236}">
                            <a16:creationId xmlns:a16="http://schemas.microsoft.com/office/drawing/2014/main" id="{65FBEB66-155B-457C-A2C6-ED39F37A81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2601" y="36385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0" name="Object 94">
            <a:extLst>
              <a:ext uri="{FF2B5EF4-FFF2-40B4-BE49-F238E27FC236}">
                <a16:creationId xmlns:a16="http://schemas.microsoft.com/office/drawing/2014/main" id="{426F96A9-E867-4A51-8D20-8ED6CA9416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279962"/>
              </p:ext>
            </p:extLst>
          </p:nvPr>
        </p:nvGraphicFramePr>
        <p:xfrm>
          <a:off x="8534401" y="318135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" name="Equation" r:id="rId29" imgW="114102" imgH="126780" progId="Equation.DSMT4">
                  <p:embed/>
                </p:oleObj>
              </mc:Choice>
              <mc:Fallback>
                <p:oleObj name="Equation" r:id="rId29" imgW="114102" imgH="126780" progId="Equation.DSMT4">
                  <p:embed/>
                  <p:pic>
                    <p:nvPicPr>
                      <p:cNvPr id="9310" name="Object 94">
                        <a:extLst>
                          <a:ext uri="{FF2B5EF4-FFF2-40B4-BE49-F238E27FC236}">
                            <a16:creationId xmlns:a16="http://schemas.microsoft.com/office/drawing/2014/main" id="{426F96A9-E867-4A51-8D20-8ED6CA941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318135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1" name="Text Box 95">
            <a:extLst>
              <a:ext uri="{FF2B5EF4-FFF2-40B4-BE49-F238E27FC236}">
                <a16:creationId xmlns:a16="http://schemas.microsoft.com/office/drawing/2014/main" id="{33497F1E-CAF2-46A6-9E29-3E319FBBE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476751"/>
            <a:ext cx="2286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 eaLnBrk="1" hangingPunct="1">
              <a:spcBef>
                <a:spcPct val="50000"/>
              </a:spcBef>
            </a:pPr>
            <a:r>
              <a:rPr lang="en-US" altLang="en-US" sz="3000" b="1">
                <a:solidFill>
                  <a:srgbClr val="CC0066"/>
                </a:solidFill>
                <a:latin typeface="Batang" panose="020B0503020000020004" pitchFamily="18" charset="-127"/>
              </a:rPr>
              <a:t>Positive correlation</a:t>
            </a:r>
          </a:p>
        </p:txBody>
      </p:sp>
      <p:sp>
        <p:nvSpPr>
          <p:cNvPr id="9312" name="Text Box 96">
            <a:extLst>
              <a:ext uri="{FF2B5EF4-FFF2-40B4-BE49-F238E27FC236}">
                <a16:creationId xmlns:a16="http://schemas.microsoft.com/office/drawing/2014/main" id="{B16C29D8-14C8-40D7-B645-4D337B97F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476751"/>
            <a:ext cx="2209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 eaLnBrk="1" hangingPunct="1">
              <a:spcBef>
                <a:spcPct val="50000"/>
              </a:spcBef>
            </a:pPr>
            <a:r>
              <a:rPr lang="en-US" altLang="en-US" sz="3000" b="1">
                <a:solidFill>
                  <a:srgbClr val="CC0066"/>
                </a:solidFill>
                <a:latin typeface="Batang" panose="020B0503020000020004" pitchFamily="18" charset="-127"/>
              </a:rPr>
              <a:t>Negative correlation</a:t>
            </a:r>
          </a:p>
        </p:txBody>
      </p:sp>
      <p:sp>
        <p:nvSpPr>
          <p:cNvPr id="9313" name="Text Box 97">
            <a:extLst>
              <a:ext uri="{FF2B5EF4-FFF2-40B4-BE49-F238E27FC236}">
                <a16:creationId xmlns:a16="http://schemas.microsoft.com/office/drawing/2014/main" id="{4A99C0DD-C587-4A74-9E21-E901F4832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552951"/>
            <a:ext cx="2209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 eaLnBrk="1" hangingPunct="1">
              <a:spcBef>
                <a:spcPct val="50000"/>
              </a:spcBef>
            </a:pPr>
            <a:r>
              <a:rPr lang="en-US" altLang="en-US" sz="3000" b="1">
                <a:solidFill>
                  <a:srgbClr val="CC0066"/>
                </a:solidFill>
                <a:latin typeface="Batang" panose="020B0503020000020004" pitchFamily="18" charset="-127"/>
              </a:rPr>
              <a:t>little or no correlation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0269A5E-D217-4AE7-A548-305FDEAC321D}"/>
              </a:ext>
            </a:extLst>
          </p:cNvPr>
          <p:cNvSpPr txBox="1">
            <a:spLocks/>
          </p:cNvSpPr>
          <p:nvPr/>
        </p:nvSpPr>
        <p:spPr>
          <a:xfrm>
            <a:off x="4213227" y="598487"/>
            <a:ext cx="3878260" cy="106044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6600" u="sng" dirty="0"/>
              <a:t>Quick recap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9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9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9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9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9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1" grpId="0"/>
      <p:bldP spid="9312" grpId="0"/>
      <p:bldP spid="93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B45C38-15C0-4958-97F5-F681AF07E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u="sng">
                <a:effectLst>
                  <a:outerShdw blurRad="38100" dist="38100" dir="2700000" algn="tl">
                    <a:srgbClr val="FFFFFF"/>
                  </a:outerShdw>
                </a:effectLst>
              </a:rPr>
              <a:t>Positive Correlation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1E83F7B-0832-4CF4-8354-47E25A0E928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6781800" cy="4525963"/>
          </a:xfrm>
        </p:spPr>
        <p:txBody>
          <a:bodyPr/>
          <a:lstStyle/>
          <a:p>
            <a:pPr eaLnBrk="1" hangingPunct="1"/>
            <a:r>
              <a:rPr lang="en-US" altLang="en-US" sz="2800"/>
              <a:t>If you look at the age of a child and the child’s height, you will find that as the child gets older, the child gets taller. Because both are going up, it is positive correlation.</a:t>
            </a:r>
          </a:p>
        </p:txBody>
      </p:sp>
      <p:graphicFrame>
        <p:nvGraphicFramePr>
          <p:cNvPr id="6187" name="Group 43">
            <a:extLst>
              <a:ext uri="{FF2B5EF4-FFF2-40B4-BE49-F238E27FC236}">
                <a16:creationId xmlns:a16="http://schemas.microsoft.com/office/drawing/2014/main" id="{47268839-7C1E-49E4-B40B-82E5C440DFE7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752600" y="5181600"/>
          <a:ext cx="8382000" cy="1036638"/>
        </p:xfrm>
        <a:graphic>
          <a:graphicData uri="http://schemas.openxmlformats.org/drawingml/2006/table">
            <a:tbl>
              <a:tblPr/>
              <a:tblGrid>
                <a:gridCol w="131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1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1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18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Age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Height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76" name="Picture 39" descr="MPj04284930000[1]">
            <a:extLst>
              <a:ext uri="{FF2B5EF4-FFF2-40B4-BE49-F238E27FC236}">
                <a16:creationId xmlns:a16="http://schemas.microsoft.com/office/drawing/2014/main" id="{0258F083-C9EE-4C75-9DA7-B66A13EF6E5A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600" y="2590801"/>
            <a:ext cx="1455738" cy="2187575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A43C14B-5A27-4A84-98FC-ACCD9B12D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u="sng">
                <a:effectLst>
                  <a:outerShdw blurRad="38100" dist="38100" dir="2700000" algn="tl">
                    <a:srgbClr val="FFFFFF"/>
                  </a:outerShdw>
                </a:effectLst>
              </a:rPr>
              <a:t>Negative Correlation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27F0FD8-A50F-4CC1-8EC7-777F50166B6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7924800" cy="4525963"/>
          </a:xfrm>
        </p:spPr>
        <p:txBody>
          <a:bodyPr/>
          <a:lstStyle/>
          <a:p>
            <a:pPr eaLnBrk="1" hangingPunct="1"/>
            <a:r>
              <a:rPr lang="en-US" altLang="en-US" sz="2800"/>
              <a:t>If you look at the age of your family’s car and its value, you will find as the car gets older, the car is worth less. This is negative correlation.</a:t>
            </a:r>
          </a:p>
        </p:txBody>
      </p:sp>
      <p:graphicFrame>
        <p:nvGraphicFramePr>
          <p:cNvPr id="10272" name="Group 32">
            <a:extLst>
              <a:ext uri="{FF2B5EF4-FFF2-40B4-BE49-F238E27FC236}">
                <a16:creationId xmlns:a16="http://schemas.microsoft.com/office/drawing/2014/main" id="{9F90F7FC-AFE5-41BB-B2AE-A7FD98152891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828800" y="4191000"/>
          <a:ext cx="8153400" cy="2185988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93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Age of car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$30,000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$27,000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$23,500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$18,700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$15,350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291" name="Picture 29" descr="MPj04285760000[1]">
            <a:extLst>
              <a:ext uri="{FF2B5EF4-FFF2-40B4-BE49-F238E27FC236}">
                <a16:creationId xmlns:a16="http://schemas.microsoft.com/office/drawing/2014/main" id="{317F85C0-70F3-4977-B262-F1586A54DDDC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1" y="2895601"/>
            <a:ext cx="2024063" cy="131762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D8BDDAB-CA9A-43D0-8F6F-AA2FB95EF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u="sng">
                <a:effectLst>
                  <a:outerShdw blurRad="38100" dist="38100" dir="2700000" algn="tl">
                    <a:srgbClr val="FFFFFF"/>
                  </a:outerShdw>
                </a:effectLst>
              </a:rPr>
              <a:t>No Correlation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C873494-2DFA-4650-A346-5FB96FC0A5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95350" y="1675607"/>
            <a:ext cx="53340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If you look at the size shoe a baseball player wears, and their batting average, you will find that the shoe size does not make the player better or worse, then are not related.</a:t>
            </a:r>
          </a:p>
        </p:txBody>
      </p:sp>
      <p:pic>
        <p:nvPicPr>
          <p:cNvPr id="12292" name="Picture 4" descr="j0199036">
            <a:extLst>
              <a:ext uri="{FF2B5EF4-FFF2-40B4-BE49-F238E27FC236}">
                <a16:creationId xmlns:a16="http://schemas.microsoft.com/office/drawing/2014/main" id="{0A32CF94-F5B8-4C42-88B5-54F6502A588D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05689" y="1219200"/>
            <a:ext cx="2122487" cy="2338388"/>
          </a:xfrm>
        </p:spPr>
      </p:pic>
      <p:pic>
        <p:nvPicPr>
          <p:cNvPr id="12293" name="Picture 6" descr="MPj04074330000[1]">
            <a:extLst>
              <a:ext uri="{FF2B5EF4-FFF2-40B4-BE49-F238E27FC236}">
                <a16:creationId xmlns:a16="http://schemas.microsoft.com/office/drawing/2014/main" id="{D64BCA12-3AEE-474F-8A19-7C7E82687FB5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894" y="3938589"/>
            <a:ext cx="1457212" cy="218757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1" name="Group 31">
            <a:extLst>
              <a:ext uri="{FF2B5EF4-FFF2-40B4-BE49-F238E27FC236}">
                <a16:creationId xmlns:a16="http://schemas.microsoft.com/office/drawing/2014/main" id="{D73D378C-459B-4A29-86D5-6527906A2EDB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124200"/>
            <a:ext cx="9067800" cy="2266950"/>
            <a:chOff x="0" y="384"/>
            <a:chExt cx="5712" cy="1428"/>
          </a:xfrm>
        </p:grpSpPr>
        <p:sp>
          <p:nvSpPr>
            <p:cNvPr id="13348" name="AutoShape 32">
              <a:extLst>
                <a:ext uri="{FF2B5EF4-FFF2-40B4-BE49-F238E27FC236}">
                  <a16:creationId xmlns:a16="http://schemas.microsoft.com/office/drawing/2014/main" id="{4AD53CF0-D93B-43BF-B8E9-FF688D5AF3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84"/>
              <a:ext cx="5712" cy="1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457200" eaLnBrk="1" hangingPunct="1"/>
              <a:endParaRPr lang="en-AU" altLang="en-US">
                <a:solidFill>
                  <a:prstClr val="black"/>
                </a:solidFill>
              </a:endParaRPr>
            </a:p>
          </p:txBody>
        </p:sp>
        <p:sp>
          <p:nvSpPr>
            <p:cNvPr id="13349" name="Line 33">
              <a:extLst>
                <a:ext uri="{FF2B5EF4-FFF2-40B4-BE49-F238E27FC236}">
                  <a16:creationId xmlns:a16="http://schemas.microsoft.com/office/drawing/2014/main" id="{DE8322CB-4B2E-423C-ACB8-BAD8344014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" y="384"/>
              <a:ext cx="1" cy="1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/>
              <a:endParaRPr lang="en-AU">
                <a:solidFill>
                  <a:prstClr val="black"/>
                </a:solidFill>
                <a:latin typeface="Tw Cen MT" panose="020B0602020104020603"/>
              </a:endParaRPr>
            </a:p>
          </p:txBody>
        </p:sp>
        <p:sp>
          <p:nvSpPr>
            <p:cNvPr id="13350" name="Line 34">
              <a:extLst>
                <a:ext uri="{FF2B5EF4-FFF2-40B4-BE49-F238E27FC236}">
                  <a16:creationId xmlns:a16="http://schemas.microsoft.com/office/drawing/2014/main" id="{7F5A31FB-B997-4DC0-B0EE-77DF2E41D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1653"/>
              <a:ext cx="9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/>
              <a:endParaRPr lang="en-AU">
                <a:solidFill>
                  <a:prstClr val="black"/>
                </a:solidFill>
                <a:latin typeface="Tw Cen MT" panose="020B0602020104020603"/>
              </a:endParaRPr>
            </a:p>
          </p:txBody>
        </p:sp>
        <p:sp>
          <p:nvSpPr>
            <p:cNvPr id="13351" name="Line 35">
              <a:extLst>
                <a:ext uri="{FF2B5EF4-FFF2-40B4-BE49-F238E27FC236}">
                  <a16:creationId xmlns:a16="http://schemas.microsoft.com/office/drawing/2014/main" id="{0479A085-14A2-4651-A6F1-AD2F30E3A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0" y="1653"/>
              <a:ext cx="107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/>
              <a:endParaRPr lang="en-AU">
                <a:solidFill>
                  <a:prstClr val="black"/>
                </a:solidFill>
                <a:latin typeface="Tw Cen MT" panose="020B0602020104020603"/>
              </a:endParaRPr>
            </a:p>
          </p:txBody>
        </p:sp>
        <p:sp>
          <p:nvSpPr>
            <p:cNvPr id="13352" name="Line 36">
              <a:extLst>
                <a:ext uri="{FF2B5EF4-FFF2-40B4-BE49-F238E27FC236}">
                  <a16:creationId xmlns:a16="http://schemas.microsoft.com/office/drawing/2014/main" id="{46C14FD1-1A53-4A71-B7FC-B1786C5433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2" y="432"/>
              <a:ext cx="28" cy="12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/>
              <a:endParaRPr lang="en-AU">
                <a:solidFill>
                  <a:prstClr val="black"/>
                </a:solidFill>
                <a:latin typeface="Tw Cen MT" panose="020B0602020104020603"/>
              </a:endParaRPr>
            </a:p>
          </p:txBody>
        </p:sp>
        <p:sp>
          <p:nvSpPr>
            <p:cNvPr id="13353" name="Line 37">
              <a:extLst>
                <a:ext uri="{FF2B5EF4-FFF2-40B4-BE49-F238E27FC236}">
                  <a16:creationId xmlns:a16="http://schemas.microsoft.com/office/drawing/2014/main" id="{ACA42D74-3810-4D0E-B71A-65490A888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4" y="1653"/>
              <a:ext cx="107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/>
              <a:endParaRPr lang="en-AU">
                <a:solidFill>
                  <a:prstClr val="black"/>
                </a:solidFill>
                <a:latin typeface="Tw Cen MT" panose="020B0602020104020603"/>
              </a:endParaRPr>
            </a:p>
          </p:txBody>
        </p:sp>
        <p:sp>
          <p:nvSpPr>
            <p:cNvPr id="13354" name="Line 38">
              <a:extLst>
                <a:ext uri="{FF2B5EF4-FFF2-40B4-BE49-F238E27FC236}">
                  <a16:creationId xmlns:a16="http://schemas.microsoft.com/office/drawing/2014/main" id="{C59867CC-DD5F-4F0C-B618-9E3ECA76C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4" y="384"/>
              <a:ext cx="1" cy="1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457200"/>
              <a:endParaRPr lang="en-AU">
                <a:solidFill>
                  <a:prstClr val="black"/>
                </a:solidFill>
                <a:latin typeface="Tw Cen MT" panose="020B0602020104020603"/>
              </a:endParaRPr>
            </a:p>
          </p:txBody>
        </p:sp>
      </p:grpSp>
      <p:sp>
        <p:nvSpPr>
          <p:cNvPr id="13315" name="Rectangle 4">
            <a:extLst>
              <a:ext uri="{FF2B5EF4-FFF2-40B4-BE49-F238E27FC236}">
                <a16:creationId xmlns:a16="http://schemas.microsoft.com/office/drawing/2014/main" id="{4AECE6AA-21C2-466E-B034-65A484E61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13975"/>
            <a:ext cx="868680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 eaLnBrk="1" hangingPunct="1"/>
            <a:r>
              <a:rPr lang="en-US" altLang="en-US" sz="2800" b="1">
                <a:solidFill>
                  <a:prstClr val="black"/>
                </a:solidFill>
              </a:rPr>
              <a:t>Example 1</a:t>
            </a:r>
            <a:r>
              <a:rPr lang="en-US" altLang="en-US" sz="2800">
                <a:solidFill>
                  <a:prstClr val="black"/>
                </a:solidFill>
              </a:rPr>
              <a:t>:</a:t>
            </a:r>
            <a:endParaRPr lang="en-US" altLang="en-US">
              <a:solidFill>
                <a:prstClr val="black"/>
              </a:solidFill>
            </a:endParaRPr>
          </a:p>
          <a:p>
            <a:pPr algn="ctr" defTabSz="457200" eaLnBrk="1" hangingPunct="1"/>
            <a:r>
              <a:rPr lang="en-US" altLang="en-US">
                <a:solidFill>
                  <a:prstClr val="black"/>
                </a:solidFill>
              </a:rPr>
              <a:t> </a:t>
            </a:r>
            <a:r>
              <a:rPr lang="en-US" altLang="en-US" sz="2200">
                <a:solidFill>
                  <a:prstClr val="black"/>
                </a:solidFill>
              </a:rPr>
              <a:t>The scatter plots of data relate characteristics of children from</a:t>
            </a:r>
          </a:p>
          <a:p>
            <a:pPr algn="ctr" defTabSz="457200" eaLnBrk="1" hangingPunct="1"/>
            <a:r>
              <a:rPr lang="en-US" altLang="en-US" sz="2200">
                <a:solidFill>
                  <a:prstClr val="black"/>
                </a:solidFill>
              </a:rPr>
              <a:t>0 to 18 years old.</a:t>
            </a:r>
          </a:p>
          <a:p>
            <a:pPr algn="ctr" defTabSz="457200" eaLnBrk="1" hangingPunct="1"/>
            <a:endParaRPr lang="en-US" altLang="en-US" sz="2200">
              <a:solidFill>
                <a:prstClr val="black"/>
              </a:solidFill>
            </a:endParaRPr>
          </a:p>
          <a:p>
            <a:pPr algn="ctr" defTabSz="457200" eaLnBrk="1" hangingPunct="1"/>
            <a:r>
              <a:rPr lang="en-US" altLang="en-US" sz="2000">
                <a:solidFill>
                  <a:prstClr val="black"/>
                </a:solidFill>
              </a:rPr>
              <a:t>  </a:t>
            </a:r>
            <a:r>
              <a:rPr lang="en-US" altLang="en-US" sz="2200">
                <a:solidFill>
                  <a:prstClr val="black"/>
                </a:solidFill>
              </a:rPr>
              <a:t>Match each scatter plot with the appropriate variables studied.</a:t>
            </a:r>
          </a:p>
          <a:p>
            <a:pPr defTabSz="457200" eaLnBrk="1" hangingPunct="1"/>
            <a:r>
              <a:rPr lang="en-US" altLang="en-US" sz="2200">
                <a:solidFill>
                  <a:prstClr val="black"/>
                </a:solidFill>
              </a:rPr>
              <a:t>		1.  age and height</a:t>
            </a:r>
          </a:p>
          <a:p>
            <a:pPr defTabSz="457200" eaLnBrk="1" hangingPunct="1"/>
            <a:r>
              <a:rPr lang="en-US" altLang="en-US" sz="2200">
                <a:solidFill>
                  <a:prstClr val="black"/>
                </a:solidFill>
              </a:rPr>
              <a:t>		2.  age and eye color</a:t>
            </a:r>
          </a:p>
          <a:p>
            <a:pPr defTabSz="457200" eaLnBrk="1" hangingPunct="1"/>
            <a:r>
              <a:rPr lang="en-US" altLang="en-US" sz="2200">
                <a:solidFill>
                  <a:prstClr val="black"/>
                </a:solidFill>
              </a:rPr>
              <a:t>		3.  age and time needed to run a certain distance</a:t>
            </a:r>
          </a:p>
        </p:txBody>
      </p:sp>
      <p:graphicFrame>
        <p:nvGraphicFramePr>
          <p:cNvPr id="10245" name="Object 5">
            <a:extLst>
              <a:ext uri="{FF2B5EF4-FFF2-40B4-BE49-F238E27FC236}">
                <a16:creationId xmlns:a16="http://schemas.microsoft.com/office/drawing/2014/main" id="{39CF257F-662D-48C3-9C2C-AE3238F7DC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1" y="4419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" name="Equation" r:id="rId3" imgW="114102" imgH="126780" progId="Equation.DSMT4">
                  <p:embed/>
                </p:oleObj>
              </mc:Choice>
              <mc:Fallback>
                <p:oleObj name="Equation" r:id="rId3" imgW="114102" imgH="126780" progId="Equation.DSMT4">
                  <p:embed/>
                  <p:pic>
                    <p:nvPicPr>
                      <p:cNvPr id="10245" name="Object 5">
                        <a:extLst>
                          <a:ext uri="{FF2B5EF4-FFF2-40B4-BE49-F238E27FC236}">
                            <a16:creationId xmlns:a16="http://schemas.microsoft.com/office/drawing/2014/main" id="{39CF257F-662D-48C3-9C2C-AE3238F7DC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4419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9C349BC8-3588-4B2D-95E9-3695883291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4114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" name="Equation" r:id="rId5" imgW="114102" imgH="126780" progId="Equation.DSMT4">
                  <p:embed/>
                </p:oleObj>
              </mc:Choice>
              <mc:Fallback>
                <p:oleObj name="Equation" r:id="rId5" imgW="114102" imgH="126780" progId="Equation.DSMT4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9C349BC8-3588-4B2D-95E9-3695883291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4114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19A5DF29-21F9-4B3E-A3F6-864C76A2E2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1" y="4648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" name="Equation" r:id="rId6" imgW="114102" imgH="126780" progId="Equation.DSMT4">
                  <p:embed/>
                </p:oleObj>
              </mc:Choice>
              <mc:Fallback>
                <p:oleObj name="Equation" r:id="rId6" imgW="114102" imgH="126780" progId="Equation.DSMT4">
                  <p:embed/>
                  <p:pic>
                    <p:nvPicPr>
                      <p:cNvPr id="10247" name="Object 7">
                        <a:extLst>
                          <a:ext uri="{FF2B5EF4-FFF2-40B4-BE49-F238E27FC236}">
                            <a16:creationId xmlns:a16="http://schemas.microsoft.com/office/drawing/2014/main" id="{19A5DF29-21F9-4B3E-A3F6-864C76A2E2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1" y="4648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>
            <a:extLst>
              <a:ext uri="{FF2B5EF4-FFF2-40B4-BE49-F238E27FC236}">
                <a16:creationId xmlns:a16="http://schemas.microsoft.com/office/drawing/2014/main" id="{56F9BA70-13F6-44B4-8347-5A2EC598E1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3886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Equation" r:id="rId7" imgW="114102" imgH="126780" progId="Equation.DSMT4">
                  <p:embed/>
                </p:oleObj>
              </mc:Choice>
              <mc:Fallback>
                <p:oleObj name="Equation" r:id="rId7" imgW="114102" imgH="126780" progId="Equation.DSMT4">
                  <p:embed/>
                  <p:pic>
                    <p:nvPicPr>
                      <p:cNvPr id="10248" name="Object 8">
                        <a:extLst>
                          <a:ext uri="{FF2B5EF4-FFF2-40B4-BE49-F238E27FC236}">
                            <a16:creationId xmlns:a16="http://schemas.microsoft.com/office/drawing/2014/main" id="{56F9BA70-13F6-44B4-8347-5A2EC598E1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3886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>
            <a:extLst>
              <a:ext uri="{FF2B5EF4-FFF2-40B4-BE49-F238E27FC236}">
                <a16:creationId xmlns:a16="http://schemas.microsoft.com/office/drawing/2014/main" id="{628FC50E-F316-4E62-A93A-6E05CAE7A9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1" y="3657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Equation" r:id="rId8" imgW="114102" imgH="126780" progId="Equation.DSMT4">
                  <p:embed/>
                </p:oleObj>
              </mc:Choice>
              <mc:Fallback>
                <p:oleObj name="Equation" r:id="rId8" imgW="114102" imgH="126780" progId="Equation.DSMT4">
                  <p:embed/>
                  <p:pic>
                    <p:nvPicPr>
                      <p:cNvPr id="10249" name="Object 9">
                        <a:extLst>
                          <a:ext uri="{FF2B5EF4-FFF2-40B4-BE49-F238E27FC236}">
                            <a16:creationId xmlns:a16="http://schemas.microsoft.com/office/drawing/2014/main" id="{628FC50E-F316-4E62-A93A-6E05CAE7A9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3657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>
            <a:extLst>
              <a:ext uri="{FF2B5EF4-FFF2-40B4-BE49-F238E27FC236}">
                <a16:creationId xmlns:a16="http://schemas.microsoft.com/office/drawing/2014/main" id="{C56AFFD1-FF2F-40B4-AC56-C6C88EEC30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1" y="3733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Equation" r:id="rId9" imgW="114102" imgH="126780" progId="Equation.DSMT4">
                  <p:embed/>
                </p:oleObj>
              </mc:Choice>
              <mc:Fallback>
                <p:oleObj name="Equation" r:id="rId9" imgW="114102" imgH="126780" progId="Equation.DSMT4">
                  <p:embed/>
                  <p:pic>
                    <p:nvPicPr>
                      <p:cNvPr id="10250" name="Object 10">
                        <a:extLst>
                          <a:ext uri="{FF2B5EF4-FFF2-40B4-BE49-F238E27FC236}">
                            <a16:creationId xmlns:a16="http://schemas.microsoft.com/office/drawing/2014/main" id="{C56AFFD1-FF2F-40B4-AC56-C6C88EEC30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3733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>
            <a:extLst>
              <a:ext uri="{FF2B5EF4-FFF2-40B4-BE49-F238E27FC236}">
                <a16:creationId xmlns:a16="http://schemas.microsoft.com/office/drawing/2014/main" id="{EC8B1D83-580A-412D-B1CB-57206A24DB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1" y="3733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Equation" r:id="rId10" imgW="114102" imgH="126780" progId="Equation.DSMT4">
                  <p:embed/>
                </p:oleObj>
              </mc:Choice>
              <mc:Fallback>
                <p:oleObj name="Equation" r:id="rId10" imgW="114102" imgH="126780" progId="Equation.DSMT4">
                  <p:embed/>
                  <p:pic>
                    <p:nvPicPr>
                      <p:cNvPr id="10251" name="Object 11">
                        <a:extLst>
                          <a:ext uri="{FF2B5EF4-FFF2-40B4-BE49-F238E27FC236}">
                            <a16:creationId xmlns:a16="http://schemas.microsoft.com/office/drawing/2014/main" id="{EC8B1D83-580A-412D-B1CB-57206A24DB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3733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2">
            <a:extLst>
              <a:ext uri="{FF2B5EF4-FFF2-40B4-BE49-F238E27FC236}">
                <a16:creationId xmlns:a16="http://schemas.microsoft.com/office/drawing/2014/main" id="{91767083-789A-4B6F-ACD2-6DAD8FD404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1" y="3962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Equation" r:id="rId11" imgW="114102" imgH="126780" progId="Equation.DSMT4">
                  <p:embed/>
                </p:oleObj>
              </mc:Choice>
              <mc:Fallback>
                <p:oleObj name="Equation" r:id="rId11" imgW="114102" imgH="126780" progId="Equation.DSMT4">
                  <p:embed/>
                  <p:pic>
                    <p:nvPicPr>
                      <p:cNvPr id="10252" name="Object 12">
                        <a:extLst>
                          <a:ext uri="{FF2B5EF4-FFF2-40B4-BE49-F238E27FC236}">
                            <a16:creationId xmlns:a16="http://schemas.microsoft.com/office/drawing/2014/main" id="{91767083-789A-4B6F-ACD2-6DAD8FD404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1" y="3962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3">
            <a:extLst>
              <a:ext uri="{FF2B5EF4-FFF2-40B4-BE49-F238E27FC236}">
                <a16:creationId xmlns:a16="http://schemas.microsoft.com/office/drawing/2014/main" id="{616B0B63-4B6D-403A-9D6F-B5B76AD5D2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1" y="3429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" name="Equation" r:id="rId12" imgW="114102" imgH="126780" progId="Equation.DSMT4">
                  <p:embed/>
                </p:oleObj>
              </mc:Choice>
              <mc:Fallback>
                <p:oleObj name="Equation" r:id="rId12" imgW="114102" imgH="126780" progId="Equation.DSMT4">
                  <p:embed/>
                  <p:pic>
                    <p:nvPicPr>
                      <p:cNvPr id="10253" name="Object 13">
                        <a:extLst>
                          <a:ext uri="{FF2B5EF4-FFF2-40B4-BE49-F238E27FC236}">
                            <a16:creationId xmlns:a16="http://schemas.microsoft.com/office/drawing/2014/main" id="{616B0B63-4B6D-403A-9D6F-B5B76AD5D2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3429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4">
            <a:extLst>
              <a:ext uri="{FF2B5EF4-FFF2-40B4-BE49-F238E27FC236}">
                <a16:creationId xmlns:a16="http://schemas.microsoft.com/office/drawing/2014/main" id="{7D140670-E6B9-4758-98C4-8F143793A4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801" y="3657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Equation" r:id="rId13" imgW="114102" imgH="126780" progId="Equation.DSMT4">
                  <p:embed/>
                </p:oleObj>
              </mc:Choice>
              <mc:Fallback>
                <p:oleObj name="Equation" r:id="rId13" imgW="114102" imgH="126780" progId="Equation.DSMT4">
                  <p:embed/>
                  <p:pic>
                    <p:nvPicPr>
                      <p:cNvPr id="10254" name="Object 14">
                        <a:extLst>
                          <a:ext uri="{FF2B5EF4-FFF2-40B4-BE49-F238E27FC236}">
                            <a16:creationId xmlns:a16="http://schemas.microsoft.com/office/drawing/2014/main" id="{7D140670-E6B9-4758-98C4-8F143793A4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1" y="3657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>
            <a:extLst>
              <a:ext uri="{FF2B5EF4-FFF2-40B4-BE49-F238E27FC236}">
                <a16:creationId xmlns:a16="http://schemas.microsoft.com/office/drawing/2014/main" id="{A5040972-9B73-4C16-8CE1-60ABE8C14B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3810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Equation" r:id="rId14" imgW="114102" imgH="126780" progId="Equation.DSMT4">
                  <p:embed/>
                </p:oleObj>
              </mc:Choice>
              <mc:Fallback>
                <p:oleObj name="Equation" r:id="rId14" imgW="114102" imgH="126780" progId="Equation.DSMT4">
                  <p:embed/>
                  <p:pic>
                    <p:nvPicPr>
                      <p:cNvPr id="10255" name="Object 15">
                        <a:extLst>
                          <a:ext uri="{FF2B5EF4-FFF2-40B4-BE49-F238E27FC236}">
                            <a16:creationId xmlns:a16="http://schemas.microsoft.com/office/drawing/2014/main" id="{A5040972-9B73-4C16-8CE1-60ABE8C14B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3810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6">
            <a:extLst>
              <a:ext uri="{FF2B5EF4-FFF2-40B4-BE49-F238E27FC236}">
                <a16:creationId xmlns:a16="http://schemas.microsoft.com/office/drawing/2014/main" id="{5BAA77E3-C11A-4728-8C3A-041EF2E56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91601" y="3733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name="Equation" r:id="rId15" imgW="114102" imgH="126780" progId="Equation.DSMT4">
                  <p:embed/>
                </p:oleObj>
              </mc:Choice>
              <mc:Fallback>
                <p:oleObj name="Equation" r:id="rId15" imgW="114102" imgH="126780" progId="Equation.DSMT4">
                  <p:embed/>
                  <p:pic>
                    <p:nvPicPr>
                      <p:cNvPr id="10256" name="Object 16">
                        <a:extLst>
                          <a:ext uri="{FF2B5EF4-FFF2-40B4-BE49-F238E27FC236}">
                            <a16:creationId xmlns:a16="http://schemas.microsoft.com/office/drawing/2014/main" id="{5BAA77E3-C11A-4728-8C3A-041EF2E568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3733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7">
            <a:extLst>
              <a:ext uri="{FF2B5EF4-FFF2-40B4-BE49-F238E27FC236}">
                <a16:creationId xmlns:a16="http://schemas.microsoft.com/office/drawing/2014/main" id="{AF7FDE8C-BEF7-4499-9609-7F06DC4FE9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1" y="4114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" name="Equation" r:id="rId16" imgW="114102" imgH="126780" progId="Equation.DSMT4">
                  <p:embed/>
                </p:oleObj>
              </mc:Choice>
              <mc:Fallback>
                <p:oleObj name="Equation" r:id="rId16" imgW="114102" imgH="126780" progId="Equation.DSMT4">
                  <p:embed/>
                  <p:pic>
                    <p:nvPicPr>
                      <p:cNvPr id="10257" name="Object 17">
                        <a:extLst>
                          <a:ext uri="{FF2B5EF4-FFF2-40B4-BE49-F238E27FC236}">
                            <a16:creationId xmlns:a16="http://schemas.microsoft.com/office/drawing/2014/main" id="{AF7FDE8C-BEF7-4499-9609-7F06DC4FE9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1" y="4114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18">
            <a:extLst>
              <a:ext uri="{FF2B5EF4-FFF2-40B4-BE49-F238E27FC236}">
                <a16:creationId xmlns:a16="http://schemas.microsoft.com/office/drawing/2014/main" id="{A9F1D6D6-8F59-452A-9DBF-5295DD28B5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20201" y="4343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" name="Equation" r:id="rId17" imgW="114102" imgH="126780" progId="Equation.DSMT4">
                  <p:embed/>
                </p:oleObj>
              </mc:Choice>
              <mc:Fallback>
                <p:oleObj name="Equation" r:id="rId17" imgW="114102" imgH="126780" progId="Equation.DSMT4">
                  <p:embed/>
                  <p:pic>
                    <p:nvPicPr>
                      <p:cNvPr id="10258" name="Object 18">
                        <a:extLst>
                          <a:ext uri="{FF2B5EF4-FFF2-40B4-BE49-F238E27FC236}">
                            <a16:creationId xmlns:a16="http://schemas.microsoft.com/office/drawing/2014/main" id="{A9F1D6D6-8F59-452A-9DBF-5295DD28B5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1" y="4343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19">
            <a:extLst>
              <a:ext uri="{FF2B5EF4-FFF2-40B4-BE49-F238E27FC236}">
                <a16:creationId xmlns:a16="http://schemas.microsoft.com/office/drawing/2014/main" id="{DDCD67A9-3853-45D6-91F5-C36463CEEA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1" y="3505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" name="Equation" r:id="rId18" imgW="114102" imgH="126780" progId="Equation.DSMT4">
                  <p:embed/>
                </p:oleObj>
              </mc:Choice>
              <mc:Fallback>
                <p:oleObj name="Equation" r:id="rId18" imgW="114102" imgH="126780" progId="Equation.DSMT4">
                  <p:embed/>
                  <p:pic>
                    <p:nvPicPr>
                      <p:cNvPr id="10259" name="Object 19">
                        <a:extLst>
                          <a:ext uri="{FF2B5EF4-FFF2-40B4-BE49-F238E27FC236}">
                            <a16:creationId xmlns:a16="http://schemas.microsoft.com/office/drawing/2014/main" id="{DDCD67A9-3853-45D6-91F5-C36463CEEA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3505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" name="Object 20">
            <a:extLst>
              <a:ext uri="{FF2B5EF4-FFF2-40B4-BE49-F238E27FC236}">
                <a16:creationId xmlns:a16="http://schemas.microsoft.com/office/drawing/2014/main" id="{4C4C27F2-1711-4D1E-AE1C-2A027BDA22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53601" y="4495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" name="Equation" r:id="rId19" imgW="114102" imgH="126780" progId="Equation.DSMT4">
                  <p:embed/>
                </p:oleObj>
              </mc:Choice>
              <mc:Fallback>
                <p:oleObj name="Equation" r:id="rId19" imgW="114102" imgH="126780" progId="Equation.DSMT4">
                  <p:embed/>
                  <p:pic>
                    <p:nvPicPr>
                      <p:cNvPr id="10260" name="Object 20">
                        <a:extLst>
                          <a:ext uri="{FF2B5EF4-FFF2-40B4-BE49-F238E27FC236}">
                            <a16:creationId xmlns:a16="http://schemas.microsoft.com/office/drawing/2014/main" id="{4C4C27F2-1711-4D1E-AE1C-2A027BDA22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3601" y="4495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" name="Object 21">
            <a:extLst>
              <a:ext uri="{FF2B5EF4-FFF2-40B4-BE49-F238E27FC236}">
                <a16:creationId xmlns:a16="http://schemas.microsoft.com/office/drawing/2014/main" id="{2DFEC7E0-B94D-46C2-B209-A79BB87186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1201" y="4495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8" name="Equation" r:id="rId20" imgW="114102" imgH="126780" progId="Equation.DSMT4">
                  <p:embed/>
                </p:oleObj>
              </mc:Choice>
              <mc:Fallback>
                <p:oleObj name="Equation" r:id="rId20" imgW="114102" imgH="126780" progId="Equation.DSMT4">
                  <p:embed/>
                  <p:pic>
                    <p:nvPicPr>
                      <p:cNvPr id="10261" name="Object 21">
                        <a:extLst>
                          <a:ext uri="{FF2B5EF4-FFF2-40B4-BE49-F238E27FC236}">
                            <a16:creationId xmlns:a16="http://schemas.microsoft.com/office/drawing/2014/main" id="{2DFEC7E0-B94D-46C2-B209-A79BB87186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4495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22">
            <a:extLst>
              <a:ext uri="{FF2B5EF4-FFF2-40B4-BE49-F238E27FC236}">
                <a16:creationId xmlns:a16="http://schemas.microsoft.com/office/drawing/2014/main" id="{FDAD321E-D8CD-4674-B6A4-26FE67D66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0601" y="4267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" name="Equation" r:id="rId21" imgW="114102" imgH="126780" progId="Equation.DSMT4">
                  <p:embed/>
                </p:oleObj>
              </mc:Choice>
              <mc:Fallback>
                <p:oleObj name="Equation" r:id="rId21" imgW="114102" imgH="126780" progId="Equation.DSMT4">
                  <p:embed/>
                  <p:pic>
                    <p:nvPicPr>
                      <p:cNvPr id="10262" name="Object 22">
                        <a:extLst>
                          <a:ext uri="{FF2B5EF4-FFF2-40B4-BE49-F238E27FC236}">
                            <a16:creationId xmlns:a16="http://schemas.microsoft.com/office/drawing/2014/main" id="{FDAD321E-D8CD-4674-B6A4-26FE67D668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1" y="4267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23">
            <a:extLst>
              <a:ext uri="{FF2B5EF4-FFF2-40B4-BE49-F238E27FC236}">
                <a16:creationId xmlns:a16="http://schemas.microsoft.com/office/drawing/2014/main" id="{40EC45D8-3B44-4E8B-B415-796556B503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91601" y="3962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" name="Equation" r:id="rId22" imgW="114102" imgH="126780" progId="Equation.DSMT4">
                  <p:embed/>
                </p:oleObj>
              </mc:Choice>
              <mc:Fallback>
                <p:oleObj name="Equation" r:id="rId22" imgW="114102" imgH="126780" progId="Equation.DSMT4">
                  <p:embed/>
                  <p:pic>
                    <p:nvPicPr>
                      <p:cNvPr id="10263" name="Object 23">
                        <a:extLst>
                          <a:ext uri="{FF2B5EF4-FFF2-40B4-BE49-F238E27FC236}">
                            <a16:creationId xmlns:a16="http://schemas.microsoft.com/office/drawing/2014/main" id="{40EC45D8-3B44-4E8B-B415-796556B503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3962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4" name="Object 24">
            <a:extLst>
              <a:ext uri="{FF2B5EF4-FFF2-40B4-BE49-F238E27FC236}">
                <a16:creationId xmlns:a16="http://schemas.microsoft.com/office/drawing/2014/main" id="{E4EEEFD4-C4F6-43E5-95A2-E50B09843A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1" y="4724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1" name="Equation" r:id="rId23" imgW="114102" imgH="126780" progId="Equation.DSMT4">
                  <p:embed/>
                </p:oleObj>
              </mc:Choice>
              <mc:Fallback>
                <p:oleObj name="Equation" r:id="rId23" imgW="114102" imgH="126780" progId="Equation.DSMT4">
                  <p:embed/>
                  <p:pic>
                    <p:nvPicPr>
                      <p:cNvPr id="10264" name="Object 24">
                        <a:extLst>
                          <a:ext uri="{FF2B5EF4-FFF2-40B4-BE49-F238E27FC236}">
                            <a16:creationId xmlns:a16="http://schemas.microsoft.com/office/drawing/2014/main" id="{E4EEEFD4-C4F6-43E5-95A2-E50B09843A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4724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5" name="Object 25">
            <a:extLst>
              <a:ext uri="{FF2B5EF4-FFF2-40B4-BE49-F238E27FC236}">
                <a16:creationId xmlns:a16="http://schemas.microsoft.com/office/drawing/2014/main" id="{1AA4CB96-887F-48BD-8BB7-430C110D15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1" y="4724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" name="Equation" r:id="rId24" imgW="114102" imgH="126780" progId="Equation.DSMT4">
                  <p:embed/>
                </p:oleObj>
              </mc:Choice>
              <mc:Fallback>
                <p:oleObj name="Equation" r:id="rId24" imgW="114102" imgH="126780" progId="Equation.DSMT4">
                  <p:embed/>
                  <p:pic>
                    <p:nvPicPr>
                      <p:cNvPr id="10265" name="Object 25">
                        <a:extLst>
                          <a:ext uri="{FF2B5EF4-FFF2-40B4-BE49-F238E27FC236}">
                            <a16:creationId xmlns:a16="http://schemas.microsoft.com/office/drawing/2014/main" id="{1AA4CB96-887F-48BD-8BB7-430C110D15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4724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6" name="Object 26">
            <a:extLst>
              <a:ext uri="{FF2B5EF4-FFF2-40B4-BE49-F238E27FC236}">
                <a16:creationId xmlns:a16="http://schemas.microsoft.com/office/drawing/2014/main" id="{45F4D099-84B2-48C2-B44E-8820EE3A57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1" y="4419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" name="Equation" r:id="rId25" imgW="114102" imgH="126780" progId="Equation.DSMT4">
                  <p:embed/>
                </p:oleObj>
              </mc:Choice>
              <mc:Fallback>
                <p:oleObj name="Equation" r:id="rId25" imgW="114102" imgH="126780" progId="Equation.DSMT4">
                  <p:embed/>
                  <p:pic>
                    <p:nvPicPr>
                      <p:cNvPr id="10266" name="Object 26">
                        <a:extLst>
                          <a:ext uri="{FF2B5EF4-FFF2-40B4-BE49-F238E27FC236}">
                            <a16:creationId xmlns:a16="http://schemas.microsoft.com/office/drawing/2014/main" id="{45F4D099-84B2-48C2-B44E-8820EE3A57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4419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7" name="Object 27">
            <a:extLst>
              <a:ext uri="{FF2B5EF4-FFF2-40B4-BE49-F238E27FC236}">
                <a16:creationId xmlns:a16="http://schemas.microsoft.com/office/drawing/2014/main" id="{077CB1A4-9CBC-435D-942D-8575ACE25B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810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" name="Equation" r:id="rId26" imgW="114102" imgH="126780" progId="Equation.DSMT4">
                  <p:embed/>
                </p:oleObj>
              </mc:Choice>
              <mc:Fallback>
                <p:oleObj name="Equation" r:id="rId26" imgW="114102" imgH="126780" progId="Equation.DSMT4">
                  <p:embed/>
                  <p:pic>
                    <p:nvPicPr>
                      <p:cNvPr id="10267" name="Object 27">
                        <a:extLst>
                          <a:ext uri="{FF2B5EF4-FFF2-40B4-BE49-F238E27FC236}">
                            <a16:creationId xmlns:a16="http://schemas.microsoft.com/office/drawing/2014/main" id="{077CB1A4-9CBC-435D-942D-8575ACE25B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810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8" name="Object 28">
            <a:extLst>
              <a:ext uri="{FF2B5EF4-FFF2-40B4-BE49-F238E27FC236}">
                <a16:creationId xmlns:a16="http://schemas.microsoft.com/office/drawing/2014/main" id="{F2CE08A8-0CDB-44D5-86BC-7C0E41358A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3886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name="Equation" r:id="rId27" imgW="114102" imgH="126780" progId="Equation.DSMT4">
                  <p:embed/>
                </p:oleObj>
              </mc:Choice>
              <mc:Fallback>
                <p:oleObj name="Equation" r:id="rId27" imgW="114102" imgH="126780" progId="Equation.DSMT4">
                  <p:embed/>
                  <p:pic>
                    <p:nvPicPr>
                      <p:cNvPr id="10268" name="Object 28">
                        <a:extLst>
                          <a:ext uri="{FF2B5EF4-FFF2-40B4-BE49-F238E27FC236}">
                            <a16:creationId xmlns:a16="http://schemas.microsoft.com/office/drawing/2014/main" id="{F2CE08A8-0CDB-44D5-86BC-7C0E41358A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3886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9" name="Object 29">
            <a:extLst>
              <a:ext uri="{FF2B5EF4-FFF2-40B4-BE49-F238E27FC236}">
                <a16:creationId xmlns:a16="http://schemas.microsoft.com/office/drawing/2014/main" id="{929A272E-136C-48FE-9634-478A470FA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648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" name="Equation" r:id="rId28" imgW="114102" imgH="126780" progId="Equation.DSMT4">
                  <p:embed/>
                </p:oleObj>
              </mc:Choice>
              <mc:Fallback>
                <p:oleObj name="Equation" r:id="rId28" imgW="114102" imgH="126780" progId="Equation.DSMT4">
                  <p:embed/>
                  <p:pic>
                    <p:nvPicPr>
                      <p:cNvPr id="10269" name="Object 29">
                        <a:extLst>
                          <a:ext uri="{FF2B5EF4-FFF2-40B4-BE49-F238E27FC236}">
                            <a16:creationId xmlns:a16="http://schemas.microsoft.com/office/drawing/2014/main" id="{929A272E-136C-48FE-9634-478A470FA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648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" name="Object 30">
            <a:extLst>
              <a:ext uri="{FF2B5EF4-FFF2-40B4-BE49-F238E27FC236}">
                <a16:creationId xmlns:a16="http://schemas.microsoft.com/office/drawing/2014/main" id="{1011B2C4-C450-41E6-85EF-B7A51840BE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4191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" name="Equation" r:id="rId29" imgW="114102" imgH="126780" progId="Equation.DSMT4">
                  <p:embed/>
                </p:oleObj>
              </mc:Choice>
              <mc:Fallback>
                <p:oleObj name="Equation" r:id="rId29" imgW="114102" imgH="126780" progId="Equation.DSMT4">
                  <p:embed/>
                  <p:pic>
                    <p:nvPicPr>
                      <p:cNvPr id="10270" name="Object 30">
                        <a:extLst>
                          <a:ext uri="{FF2B5EF4-FFF2-40B4-BE49-F238E27FC236}">
                            <a16:creationId xmlns:a16="http://schemas.microsoft.com/office/drawing/2014/main" id="{1011B2C4-C450-41E6-85EF-B7A51840BE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4191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9" name="Text Box 39">
            <a:extLst>
              <a:ext uri="{FF2B5EF4-FFF2-40B4-BE49-F238E27FC236}">
                <a16:creationId xmlns:a16="http://schemas.microsoft.com/office/drawing/2014/main" id="{5B7FED2C-413F-40F7-B968-E6FDF2279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105400"/>
            <a:ext cx="1828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>
              <a:spcBef>
                <a:spcPct val="50000"/>
              </a:spcBef>
            </a:pPr>
            <a:r>
              <a:rPr lang="en-US" altLang="en-US">
                <a:solidFill>
                  <a:prstClr val="black"/>
                </a:solidFill>
              </a:rPr>
              <a:t>no correlation between age and eye color</a:t>
            </a:r>
          </a:p>
        </p:txBody>
      </p:sp>
      <p:sp>
        <p:nvSpPr>
          <p:cNvPr id="10280" name="Text Box 40">
            <a:extLst>
              <a:ext uri="{FF2B5EF4-FFF2-40B4-BE49-F238E27FC236}">
                <a16:creationId xmlns:a16="http://schemas.microsoft.com/office/drawing/2014/main" id="{74E1E997-D328-43A9-BA15-6F992EE69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181600"/>
            <a:ext cx="289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 eaLnBrk="1" hangingPunct="1">
              <a:spcBef>
                <a:spcPct val="50000"/>
              </a:spcBef>
            </a:pPr>
            <a:r>
              <a:rPr lang="en-US" altLang="en-US">
                <a:solidFill>
                  <a:prstClr val="black"/>
                </a:solidFill>
              </a:rPr>
              <a:t>as your age increases your height also increases</a:t>
            </a:r>
          </a:p>
        </p:txBody>
      </p:sp>
      <p:sp>
        <p:nvSpPr>
          <p:cNvPr id="10281" name="Text Box 41">
            <a:extLst>
              <a:ext uri="{FF2B5EF4-FFF2-40B4-BE49-F238E27FC236}">
                <a16:creationId xmlns:a16="http://schemas.microsoft.com/office/drawing/2014/main" id="{9839470F-C497-431F-8FA3-58A3B9C8D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257800"/>
            <a:ext cx="2209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 eaLnBrk="1" hangingPunct="1">
              <a:spcBef>
                <a:spcPct val="50000"/>
              </a:spcBef>
            </a:pPr>
            <a:r>
              <a:rPr lang="en-US" altLang="en-US">
                <a:solidFill>
                  <a:prstClr val="black"/>
                </a:solidFill>
              </a:rPr>
              <a:t>as your age increases the time will decrease</a:t>
            </a:r>
          </a:p>
        </p:txBody>
      </p:sp>
      <p:sp>
        <p:nvSpPr>
          <p:cNvPr id="10282" name="Text Box 42">
            <a:extLst>
              <a:ext uri="{FF2B5EF4-FFF2-40B4-BE49-F238E27FC236}">
                <a16:creationId xmlns:a16="http://schemas.microsoft.com/office/drawing/2014/main" id="{77C8D699-70C0-4B5D-A07D-5DA5FBCD8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257801"/>
            <a:ext cx="914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>
              <a:spcBef>
                <a:spcPct val="50000"/>
              </a:spcBef>
            </a:pPr>
            <a: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0284" name="Text Box 44">
            <a:extLst>
              <a:ext uri="{FF2B5EF4-FFF2-40B4-BE49-F238E27FC236}">
                <a16:creationId xmlns:a16="http://schemas.microsoft.com/office/drawing/2014/main" id="{08C2D62A-4224-443E-9609-60A3A0EF6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257801"/>
            <a:ext cx="914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>
              <a:spcBef>
                <a:spcPct val="50000"/>
              </a:spcBef>
            </a:pPr>
            <a: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10285" name="Text Box 45">
            <a:extLst>
              <a:ext uri="{FF2B5EF4-FFF2-40B4-BE49-F238E27FC236}">
                <a16:creationId xmlns:a16="http://schemas.microsoft.com/office/drawing/2014/main" id="{14854A95-5DCA-48BB-8259-DC7396CA9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5257801"/>
            <a:ext cx="914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>
              <a:spcBef>
                <a:spcPct val="50000"/>
              </a:spcBef>
            </a:pPr>
            <a:r>
              <a:rPr lang="en-US" altLang="en-US" sz="4000" b="1">
                <a:solidFill>
                  <a:prstClr val="black"/>
                </a:solidFill>
                <a:latin typeface="Arial Black" panose="020B0A04020102020204" pitchFamily="34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9" dur="5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3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3" dur="500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7" dur="500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1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9" grpId="0"/>
      <p:bldP spid="10279" grpId="1"/>
      <p:bldP spid="10280" grpId="0"/>
      <p:bldP spid="10280" grpId="1"/>
      <p:bldP spid="10281" grpId="0"/>
      <p:bldP spid="10281" grpId="1"/>
      <p:bldP spid="10282" grpId="0"/>
      <p:bldP spid="10284" grpId="0"/>
      <p:bldP spid="102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5">
            <a:extLst>
              <a:ext uri="{FF2B5EF4-FFF2-40B4-BE49-F238E27FC236}">
                <a16:creationId xmlns:a16="http://schemas.microsoft.com/office/drawing/2014/main" id="{6F85CA5A-1C5A-4951-B594-344C314E14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1828801"/>
            <a:ext cx="685800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/>
            <a:endParaRPr lang="en-AU" altLang="en-US">
              <a:solidFill>
                <a:prstClr val="black"/>
              </a:solidFill>
            </a:endParaRPr>
          </a:p>
        </p:txBody>
      </p:sp>
      <p:sp>
        <p:nvSpPr>
          <p:cNvPr id="16387" name="Line 6">
            <a:extLst>
              <a:ext uri="{FF2B5EF4-FFF2-40B4-BE49-F238E27FC236}">
                <a16:creationId xmlns:a16="http://schemas.microsoft.com/office/drawing/2014/main" id="{DD249253-A04C-4A19-A8DB-CC28CD1A96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3225" y="1828800"/>
            <a:ext cx="1588" cy="1428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6388" name="Line 7">
            <a:extLst>
              <a:ext uri="{FF2B5EF4-FFF2-40B4-BE49-F238E27FC236}">
                <a16:creationId xmlns:a16="http://schemas.microsoft.com/office/drawing/2014/main" id="{6CE07A3C-8F48-421F-A886-8499DE672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3226" y="3257550"/>
            <a:ext cx="1571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6389" name="Line 8">
            <a:extLst>
              <a:ext uri="{FF2B5EF4-FFF2-40B4-BE49-F238E27FC236}">
                <a16:creationId xmlns:a16="http://schemas.microsoft.com/office/drawing/2014/main" id="{9540878A-AE39-4AD4-A225-AA9663F4CE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57975" y="1828800"/>
            <a:ext cx="1588" cy="1428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6390" name="Line 9">
            <a:extLst>
              <a:ext uri="{FF2B5EF4-FFF2-40B4-BE49-F238E27FC236}">
                <a16:creationId xmlns:a16="http://schemas.microsoft.com/office/drawing/2014/main" id="{921699F8-E40D-425A-AC06-151ADDDB97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7976" y="3257550"/>
            <a:ext cx="1571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6391" name="Line 10">
            <a:extLst>
              <a:ext uri="{FF2B5EF4-FFF2-40B4-BE49-F238E27FC236}">
                <a16:creationId xmlns:a16="http://schemas.microsoft.com/office/drawing/2014/main" id="{2D442E53-A886-43D2-8C79-FB8F4EFC24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4267201"/>
            <a:ext cx="1588" cy="1427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6392" name="Line 11">
            <a:extLst>
              <a:ext uri="{FF2B5EF4-FFF2-40B4-BE49-F238E27FC236}">
                <a16:creationId xmlns:a16="http://schemas.microsoft.com/office/drawing/2014/main" id="{19A94694-2FCB-47D2-85B7-B08C278E7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1" y="5715000"/>
            <a:ext cx="1571625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6393" name="Line 12">
            <a:extLst>
              <a:ext uri="{FF2B5EF4-FFF2-40B4-BE49-F238E27FC236}">
                <a16:creationId xmlns:a16="http://schemas.microsoft.com/office/drawing/2014/main" id="{ED99E29B-A29D-45B3-8813-BD5D7435FA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4267201"/>
            <a:ext cx="1588" cy="1427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6394" name="Line 13">
            <a:extLst>
              <a:ext uri="{FF2B5EF4-FFF2-40B4-BE49-F238E27FC236}">
                <a16:creationId xmlns:a16="http://schemas.microsoft.com/office/drawing/2014/main" id="{C78274A4-79BC-45E2-93D2-179FFC323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1" y="5715000"/>
            <a:ext cx="1571625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6395" name="Rectangle 14">
            <a:extLst>
              <a:ext uri="{FF2B5EF4-FFF2-40B4-BE49-F238E27FC236}">
                <a16:creationId xmlns:a16="http://schemas.microsoft.com/office/drawing/2014/main" id="{71643690-3CB1-4948-A77A-829C9ECC3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29065"/>
            <a:ext cx="7924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/>
            <a:r>
              <a:rPr lang="en-US" altLang="en-US" sz="2400" b="1">
                <a:solidFill>
                  <a:prstClr val="black"/>
                </a:solidFill>
                <a:latin typeface="Batang" panose="020B0503020000020004" pitchFamily="18" charset="-127"/>
              </a:rPr>
              <a:t>If the data points are close to the line of best fit, it is said to have a ___________correlation. </a:t>
            </a:r>
          </a:p>
        </p:txBody>
      </p:sp>
      <p:sp>
        <p:nvSpPr>
          <p:cNvPr id="21519" name="Text Box 15">
            <a:extLst>
              <a:ext uri="{FF2B5EF4-FFF2-40B4-BE49-F238E27FC236}">
                <a16:creationId xmlns:a16="http://schemas.microsoft.com/office/drawing/2014/main" id="{D2733BA6-68F2-4F35-B8E5-AB4F1CC82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914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0000FF"/>
                </a:solidFill>
              </a:rPr>
              <a:t>strong</a:t>
            </a:r>
          </a:p>
        </p:txBody>
      </p:sp>
      <p:graphicFrame>
        <p:nvGraphicFramePr>
          <p:cNvPr id="21520" name="Object 16">
            <a:extLst>
              <a:ext uri="{FF2B5EF4-FFF2-40B4-BE49-F238E27FC236}">
                <a16:creationId xmlns:a16="http://schemas.microsoft.com/office/drawing/2014/main" id="{37A4CCFA-B437-4E18-84F9-0A013A9165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1" y="2895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Equation" r:id="rId3" imgW="114102" imgH="126780" progId="Equation.DSMT4">
                  <p:embed/>
                </p:oleObj>
              </mc:Choice>
              <mc:Fallback>
                <p:oleObj name="Equation" r:id="rId3" imgW="114102" imgH="126780" progId="Equation.DSMT4">
                  <p:embed/>
                  <p:pic>
                    <p:nvPicPr>
                      <p:cNvPr id="21520" name="Object 16">
                        <a:extLst>
                          <a:ext uri="{FF2B5EF4-FFF2-40B4-BE49-F238E27FC236}">
                            <a16:creationId xmlns:a16="http://schemas.microsoft.com/office/drawing/2014/main" id="{37A4CCFA-B437-4E18-84F9-0A013A9165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2895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1" name="Object 17">
            <a:extLst>
              <a:ext uri="{FF2B5EF4-FFF2-40B4-BE49-F238E27FC236}">
                <a16:creationId xmlns:a16="http://schemas.microsoft.com/office/drawing/2014/main" id="{4253ECA3-40A8-4BD3-A1A2-4292C8AFD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2667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Equation" r:id="rId5" imgW="114102" imgH="126780" progId="Equation.DSMT4">
                  <p:embed/>
                </p:oleObj>
              </mc:Choice>
              <mc:Fallback>
                <p:oleObj name="Equation" r:id="rId5" imgW="114102" imgH="126780" progId="Equation.DSMT4">
                  <p:embed/>
                  <p:pic>
                    <p:nvPicPr>
                      <p:cNvPr id="21521" name="Object 17">
                        <a:extLst>
                          <a:ext uri="{FF2B5EF4-FFF2-40B4-BE49-F238E27FC236}">
                            <a16:creationId xmlns:a16="http://schemas.microsoft.com/office/drawing/2014/main" id="{4253ECA3-40A8-4BD3-A1A2-4292C8AFD9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2667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2" name="Object 18">
            <a:extLst>
              <a:ext uri="{FF2B5EF4-FFF2-40B4-BE49-F238E27FC236}">
                <a16:creationId xmlns:a16="http://schemas.microsoft.com/office/drawing/2014/main" id="{8017DB7E-746D-4C08-974A-612DCF12ED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1" y="2362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Equation" r:id="rId6" imgW="114102" imgH="126780" progId="Equation.DSMT4">
                  <p:embed/>
                </p:oleObj>
              </mc:Choice>
              <mc:Fallback>
                <p:oleObj name="Equation" r:id="rId6" imgW="114102" imgH="126780" progId="Equation.DSMT4">
                  <p:embed/>
                  <p:pic>
                    <p:nvPicPr>
                      <p:cNvPr id="21522" name="Object 18">
                        <a:extLst>
                          <a:ext uri="{FF2B5EF4-FFF2-40B4-BE49-F238E27FC236}">
                            <a16:creationId xmlns:a16="http://schemas.microsoft.com/office/drawing/2014/main" id="{8017DB7E-746D-4C08-974A-612DCF12ED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2362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19">
            <a:extLst>
              <a:ext uri="{FF2B5EF4-FFF2-40B4-BE49-F238E27FC236}">
                <a16:creationId xmlns:a16="http://schemas.microsoft.com/office/drawing/2014/main" id="{471C9739-8B44-4636-852A-FB6FA7D56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1" y="1981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Equation" r:id="rId7" imgW="114102" imgH="126780" progId="Equation.DSMT4">
                  <p:embed/>
                </p:oleObj>
              </mc:Choice>
              <mc:Fallback>
                <p:oleObj name="Equation" r:id="rId7" imgW="114102" imgH="126780" progId="Equation.DSMT4">
                  <p:embed/>
                  <p:pic>
                    <p:nvPicPr>
                      <p:cNvPr id="21523" name="Object 19">
                        <a:extLst>
                          <a:ext uri="{FF2B5EF4-FFF2-40B4-BE49-F238E27FC236}">
                            <a16:creationId xmlns:a16="http://schemas.microsoft.com/office/drawing/2014/main" id="{471C9739-8B44-4636-852A-FB6FA7D569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1981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4" name="Object 20">
            <a:extLst>
              <a:ext uri="{FF2B5EF4-FFF2-40B4-BE49-F238E27FC236}">
                <a16:creationId xmlns:a16="http://schemas.microsoft.com/office/drawing/2014/main" id="{3E63CFCA-E0DC-4EAA-B3B8-840AE2F62C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2209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Equation" r:id="rId8" imgW="114102" imgH="126780" progId="Equation.DSMT4">
                  <p:embed/>
                </p:oleObj>
              </mc:Choice>
              <mc:Fallback>
                <p:oleObj name="Equation" r:id="rId8" imgW="114102" imgH="126780" progId="Equation.DSMT4">
                  <p:embed/>
                  <p:pic>
                    <p:nvPicPr>
                      <p:cNvPr id="21524" name="Object 20">
                        <a:extLst>
                          <a:ext uri="{FF2B5EF4-FFF2-40B4-BE49-F238E27FC236}">
                            <a16:creationId xmlns:a16="http://schemas.microsoft.com/office/drawing/2014/main" id="{3E63CFCA-E0DC-4EAA-B3B8-840AE2F62C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2209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5" name="Object 21">
            <a:extLst>
              <a:ext uri="{FF2B5EF4-FFF2-40B4-BE49-F238E27FC236}">
                <a16:creationId xmlns:a16="http://schemas.microsoft.com/office/drawing/2014/main" id="{6D1E941C-B10D-4F47-8DE9-11AA70B59B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1" y="2209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Equation" r:id="rId9" imgW="114102" imgH="126780" progId="Equation.DSMT4">
                  <p:embed/>
                </p:oleObj>
              </mc:Choice>
              <mc:Fallback>
                <p:oleObj name="Equation" r:id="rId9" imgW="114102" imgH="126780" progId="Equation.DSMT4">
                  <p:embed/>
                  <p:pic>
                    <p:nvPicPr>
                      <p:cNvPr id="21525" name="Object 21">
                        <a:extLst>
                          <a:ext uri="{FF2B5EF4-FFF2-40B4-BE49-F238E27FC236}">
                            <a16:creationId xmlns:a16="http://schemas.microsoft.com/office/drawing/2014/main" id="{6D1E941C-B10D-4F47-8DE9-11AA70B59B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1" y="2209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7" name="Object 23">
            <a:extLst>
              <a:ext uri="{FF2B5EF4-FFF2-40B4-BE49-F238E27FC236}">
                <a16:creationId xmlns:a16="http://schemas.microsoft.com/office/drawing/2014/main" id="{1764D495-268D-4516-B98F-BCCA48B94F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1" y="1676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Equation" r:id="rId10" imgW="114102" imgH="126780" progId="Equation.DSMT4">
                  <p:embed/>
                </p:oleObj>
              </mc:Choice>
              <mc:Fallback>
                <p:oleObj name="Equation" r:id="rId10" imgW="114102" imgH="126780" progId="Equation.DSMT4">
                  <p:embed/>
                  <p:pic>
                    <p:nvPicPr>
                      <p:cNvPr id="21527" name="Object 23">
                        <a:extLst>
                          <a:ext uri="{FF2B5EF4-FFF2-40B4-BE49-F238E27FC236}">
                            <a16:creationId xmlns:a16="http://schemas.microsoft.com/office/drawing/2014/main" id="{1764D495-268D-4516-B98F-BCCA48B94F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1676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8" name="Object 24">
            <a:extLst>
              <a:ext uri="{FF2B5EF4-FFF2-40B4-BE49-F238E27FC236}">
                <a16:creationId xmlns:a16="http://schemas.microsoft.com/office/drawing/2014/main" id="{B9CD4F57-92CD-4F7D-A706-60C36FF2BE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1" y="2514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Equation" r:id="rId11" imgW="114102" imgH="126780" progId="Equation.DSMT4">
                  <p:embed/>
                </p:oleObj>
              </mc:Choice>
              <mc:Fallback>
                <p:oleObj name="Equation" r:id="rId11" imgW="114102" imgH="126780" progId="Equation.DSMT4">
                  <p:embed/>
                  <p:pic>
                    <p:nvPicPr>
                      <p:cNvPr id="21528" name="Object 24">
                        <a:extLst>
                          <a:ext uri="{FF2B5EF4-FFF2-40B4-BE49-F238E27FC236}">
                            <a16:creationId xmlns:a16="http://schemas.microsoft.com/office/drawing/2014/main" id="{B9CD4F57-92CD-4F7D-A706-60C36FF2BE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2514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25">
            <a:extLst>
              <a:ext uri="{FF2B5EF4-FFF2-40B4-BE49-F238E27FC236}">
                <a16:creationId xmlns:a16="http://schemas.microsoft.com/office/drawing/2014/main" id="{64CBBC5B-3071-4E61-8BDD-9047BD37D5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1" y="2514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Equation" r:id="rId12" imgW="114102" imgH="126780" progId="Equation.DSMT4">
                  <p:embed/>
                </p:oleObj>
              </mc:Choice>
              <mc:Fallback>
                <p:oleObj name="Equation" r:id="rId12" imgW="114102" imgH="126780" progId="Equation.DSMT4">
                  <p:embed/>
                  <p:pic>
                    <p:nvPicPr>
                      <p:cNvPr id="21529" name="Object 25">
                        <a:extLst>
                          <a:ext uri="{FF2B5EF4-FFF2-40B4-BE49-F238E27FC236}">
                            <a16:creationId xmlns:a16="http://schemas.microsoft.com/office/drawing/2014/main" id="{64CBBC5B-3071-4E61-8BDD-9047BD37D5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1" y="2514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0" name="Object 26">
            <a:extLst>
              <a:ext uri="{FF2B5EF4-FFF2-40B4-BE49-F238E27FC236}">
                <a16:creationId xmlns:a16="http://schemas.microsoft.com/office/drawing/2014/main" id="{75360CEF-B78A-489C-96CE-E34C0367B0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1" y="2286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Equation" r:id="rId13" imgW="114102" imgH="126780" progId="Equation.DSMT4">
                  <p:embed/>
                </p:oleObj>
              </mc:Choice>
              <mc:Fallback>
                <p:oleObj name="Equation" r:id="rId13" imgW="114102" imgH="126780" progId="Equation.DSMT4">
                  <p:embed/>
                  <p:pic>
                    <p:nvPicPr>
                      <p:cNvPr id="21530" name="Object 26">
                        <a:extLst>
                          <a:ext uri="{FF2B5EF4-FFF2-40B4-BE49-F238E27FC236}">
                            <a16:creationId xmlns:a16="http://schemas.microsoft.com/office/drawing/2014/main" id="{75360CEF-B78A-489C-96CE-E34C0367B0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1" y="2286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1" name="Object 27">
            <a:extLst>
              <a:ext uri="{FF2B5EF4-FFF2-40B4-BE49-F238E27FC236}">
                <a16:creationId xmlns:a16="http://schemas.microsoft.com/office/drawing/2014/main" id="{187372D2-1FFC-4E96-9D2B-43285DF8E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1" y="2057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Equation" r:id="rId14" imgW="114102" imgH="126780" progId="Equation.DSMT4">
                  <p:embed/>
                </p:oleObj>
              </mc:Choice>
              <mc:Fallback>
                <p:oleObj name="Equation" r:id="rId14" imgW="114102" imgH="126780" progId="Equation.DSMT4">
                  <p:embed/>
                  <p:pic>
                    <p:nvPicPr>
                      <p:cNvPr id="21531" name="Object 27">
                        <a:extLst>
                          <a:ext uri="{FF2B5EF4-FFF2-40B4-BE49-F238E27FC236}">
                            <a16:creationId xmlns:a16="http://schemas.microsoft.com/office/drawing/2014/main" id="{187372D2-1FFC-4E96-9D2B-43285DF8E9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2057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2" name="Object 28">
            <a:extLst>
              <a:ext uri="{FF2B5EF4-FFF2-40B4-BE49-F238E27FC236}">
                <a16:creationId xmlns:a16="http://schemas.microsoft.com/office/drawing/2014/main" id="{3B439196-3258-4F05-9B8C-BDE229A5B0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1" y="2133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Equation" r:id="rId15" imgW="114102" imgH="126780" progId="Equation.DSMT4">
                  <p:embed/>
                </p:oleObj>
              </mc:Choice>
              <mc:Fallback>
                <p:oleObj name="Equation" r:id="rId15" imgW="114102" imgH="126780" progId="Equation.DSMT4">
                  <p:embed/>
                  <p:pic>
                    <p:nvPicPr>
                      <p:cNvPr id="21532" name="Object 28">
                        <a:extLst>
                          <a:ext uri="{FF2B5EF4-FFF2-40B4-BE49-F238E27FC236}">
                            <a16:creationId xmlns:a16="http://schemas.microsoft.com/office/drawing/2014/main" id="{3B439196-3258-4F05-9B8C-BDE229A5B0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2133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3" name="Object 29">
            <a:extLst>
              <a:ext uri="{FF2B5EF4-FFF2-40B4-BE49-F238E27FC236}">
                <a16:creationId xmlns:a16="http://schemas.microsoft.com/office/drawing/2014/main" id="{7F7BEC69-CBA4-4CF3-8447-E4BC86D74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1" y="2133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Equation" r:id="rId16" imgW="114102" imgH="126780" progId="Equation.DSMT4">
                  <p:embed/>
                </p:oleObj>
              </mc:Choice>
              <mc:Fallback>
                <p:oleObj name="Equation" r:id="rId16" imgW="114102" imgH="126780" progId="Equation.DSMT4">
                  <p:embed/>
                  <p:pic>
                    <p:nvPicPr>
                      <p:cNvPr id="21533" name="Object 29">
                        <a:extLst>
                          <a:ext uri="{FF2B5EF4-FFF2-40B4-BE49-F238E27FC236}">
                            <a16:creationId xmlns:a16="http://schemas.microsoft.com/office/drawing/2014/main" id="{7F7BEC69-CBA4-4CF3-8447-E4BC86D741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1" y="2133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4" name="Object 30">
            <a:extLst>
              <a:ext uri="{FF2B5EF4-FFF2-40B4-BE49-F238E27FC236}">
                <a16:creationId xmlns:a16="http://schemas.microsoft.com/office/drawing/2014/main" id="{A2B06F11-37B4-489E-B6AC-0AF01DDBA7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1" y="2209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Equation" r:id="rId17" imgW="114102" imgH="126780" progId="Equation.DSMT4">
                  <p:embed/>
                </p:oleObj>
              </mc:Choice>
              <mc:Fallback>
                <p:oleObj name="Equation" r:id="rId17" imgW="114102" imgH="126780" progId="Equation.DSMT4">
                  <p:embed/>
                  <p:pic>
                    <p:nvPicPr>
                      <p:cNvPr id="21534" name="Object 30">
                        <a:extLst>
                          <a:ext uri="{FF2B5EF4-FFF2-40B4-BE49-F238E27FC236}">
                            <a16:creationId xmlns:a16="http://schemas.microsoft.com/office/drawing/2014/main" id="{A2B06F11-37B4-489E-B6AC-0AF01DDBA7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1" y="2209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5" name="Object 31">
            <a:extLst>
              <a:ext uri="{FF2B5EF4-FFF2-40B4-BE49-F238E27FC236}">
                <a16:creationId xmlns:a16="http://schemas.microsoft.com/office/drawing/2014/main" id="{FCE5F2B1-8C5F-4119-A83C-91C537E21A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1" y="1752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Equation" r:id="rId18" imgW="114102" imgH="126780" progId="Equation.DSMT4">
                  <p:embed/>
                </p:oleObj>
              </mc:Choice>
              <mc:Fallback>
                <p:oleObj name="Equation" r:id="rId18" imgW="114102" imgH="126780" progId="Equation.DSMT4">
                  <p:embed/>
                  <p:pic>
                    <p:nvPicPr>
                      <p:cNvPr id="21535" name="Object 31">
                        <a:extLst>
                          <a:ext uri="{FF2B5EF4-FFF2-40B4-BE49-F238E27FC236}">
                            <a16:creationId xmlns:a16="http://schemas.microsoft.com/office/drawing/2014/main" id="{FCE5F2B1-8C5F-4119-A83C-91C537E21A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1" y="1752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6" name="Object 32">
            <a:extLst>
              <a:ext uri="{FF2B5EF4-FFF2-40B4-BE49-F238E27FC236}">
                <a16:creationId xmlns:a16="http://schemas.microsoft.com/office/drawing/2014/main" id="{B7593FFC-6DBA-47E3-A423-1FCA29F671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5181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Equation" r:id="rId19" imgW="114102" imgH="126780" progId="Equation.DSMT4">
                  <p:embed/>
                </p:oleObj>
              </mc:Choice>
              <mc:Fallback>
                <p:oleObj name="Equation" r:id="rId19" imgW="114102" imgH="126780" progId="Equation.DSMT4">
                  <p:embed/>
                  <p:pic>
                    <p:nvPicPr>
                      <p:cNvPr id="21536" name="Object 32">
                        <a:extLst>
                          <a:ext uri="{FF2B5EF4-FFF2-40B4-BE49-F238E27FC236}">
                            <a16:creationId xmlns:a16="http://schemas.microsoft.com/office/drawing/2014/main" id="{B7593FFC-6DBA-47E3-A423-1FCA29F671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5181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7" name="Object 33">
            <a:extLst>
              <a:ext uri="{FF2B5EF4-FFF2-40B4-BE49-F238E27FC236}">
                <a16:creationId xmlns:a16="http://schemas.microsoft.com/office/drawing/2014/main" id="{45DCBD10-E7CD-49B6-BE46-D07DBFE7C3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1" y="4876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Equation" r:id="rId20" imgW="114102" imgH="126780" progId="Equation.DSMT4">
                  <p:embed/>
                </p:oleObj>
              </mc:Choice>
              <mc:Fallback>
                <p:oleObj name="Equation" r:id="rId20" imgW="114102" imgH="126780" progId="Equation.DSMT4">
                  <p:embed/>
                  <p:pic>
                    <p:nvPicPr>
                      <p:cNvPr id="21537" name="Object 33">
                        <a:extLst>
                          <a:ext uri="{FF2B5EF4-FFF2-40B4-BE49-F238E27FC236}">
                            <a16:creationId xmlns:a16="http://schemas.microsoft.com/office/drawing/2014/main" id="{45DCBD10-E7CD-49B6-BE46-D07DBFE7C3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4876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8" name="Object 34">
            <a:extLst>
              <a:ext uri="{FF2B5EF4-FFF2-40B4-BE49-F238E27FC236}">
                <a16:creationId xmlns:a16="http://schemas.microsoft.com/office/drawing/2014/main" id="{835C1961-5F05-497A-A8CE-B5AB594111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1" y="4648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Equation" r:id="rId21" imgW="114102" imgH="126780" progId="Equation.DSMT4">
                  <p:embed/>
                </p:oleObj>
              </mc:Choice>
              <mc:Fallback>
                <p:oleObj name="Equation" r:id="rId21" imgW="114102" imgH="126780" progId="Equation.DSMT4">
                  <p:embed/>
                  <p:pic>
                    <p:nvPicPr>
                      <p:cNvPr id="21538" name="Object 34">
                        <a:extLst>
                          <a:ext uri="{FF2B5EF4-FFF2-40B4-BE49-F238E27FC236}">
                            <a16:creationId xmlns:a16="http://schemas.microsoft.com/office/drawing/2014/main" id="{835C1961-5F05-497A-A8CE-B5AB594111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4648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9" name="Object 35">
            <a:extLst>
              <a:ext uri="{FF2B5EF4-FFF2-40B4-BE49-F238E27FC236}">
                <a16:creationId xmlns:a16="http://schemas.microsoft.com/office/drawing/2014/main" id="{768FB570-2AD7-4008-9F4F-B6569CE01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4648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Equation" r:id="rId22" imgW="114102" imgH="126780" progId="Equation.DSMT4">
                  <p:embed/>
                </p:oleObj>
              </mc:Choice>
              <mc:Fallback>
                <p:oleObj name="Equation" r:id="rId22" imgW="114102" imgH="126780" progId="Equation.DSMT4">
                  <p:embed/>
                  <p:pic>
                    <p:nvPicPr>
                      <p:cNvPr id="21539" name="Object 35">
                        <a:extLst>
                          <a:ext uri="{FF2B5EF4-FFF2-40B4-BE49-F238E27FC236}">
                            <a16:creationId xmlns:a16="http://schemas.microsoft.com/office/drawing/2014/main" id="{768FB570-2AD7-4008-9F4F-B6569CE01A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4648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0" name="Object 36">
            <a:extLst>
              <a:ext uri="{FF2B5EF4-FFF2-40B4-BE49-F238E27FC236}">
                <a16:creationId xmlns:a16="http://schemas.microsoft.com/office/drawing/2014/main" id="{803F00B8-D399-47BB-B103-6C05468DE1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1" y="5029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Equation" r:id="rId23" imgW="114102" imgH="126780" progId="Equation.DSMT4">
                  <p:embed/>
                </p:oleObj>
              </mc:Choice>
              <mc:Fallback>
                <p:oleObj name="Equation" r:id="rId23" imgW="114102" imgH="126780" progId="Equation.DSMT4">
                  <p:embed/>
                  <p:pic>
                    <p:nvPicPr>
                      <p:cNvPr id="21540" name="Object 36">
                        <a:extLst>
                          <a:ext uri="{FF2B5EF4-FFF2-40B4-BE49-F238E27FC236}">
                            <a16:creationId xmlns:a16="http://schemas.microsoft.com/office/drawing/2014/main" id="{803F00B8-D399-47BB-B103-6C05468DE1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1" y="5029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1" name="Object 37">
            <a:extLst>
              <a:ext uri="{FF2B5EF4-FFF2-40B4-BE49-F238E27FC236}">
                <a16:creationId xmlns:a16="http://schemas.microsoft.com/office/drawing/2014/main" id="{527FBB9B-C8E8-4A24-A9E8-28F036DDF7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1" y="4495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Equation" r:id="rId24" imgW="114102" imgH="126780" progId="Equation.DSMT4">
                  <p:embed/>
                </p:oleObj>
              </mc:Choice>
              <mc:Fallback>
                <p:oleObj name="Equation" r:id="rId24" imgW="114102" imgH="126780" progId="Equation.DSMT4">
                  <p:embed/>
                  <p:pic>
                    <p:nvPicPr>
                      <p:cNvPr id="21541" name="Object 37">
                        <a:extLst>
                          <a:ext uri="{FF2B5EF4-FFF2-40B4-BE49-F238E27FC236}">
                            <a16:creationId xmlns:a16="http://schemas.microsoft.com/office/drawing/2014/main" id="{527FBB9B-C8E8-4A24-A9E8-28F036DDF7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4495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2" name="Object 38">
            <a:extLst>
              <a:ext uri="{FF2B5EF4-FFF2-40B4-BE49-F238E27FC236}">
                <a16:creationId xmlns:a16="http://schemas.microsoft.com/office/drawing/2014/main" id="{C36A929B-29A4-4206-992C-33C14025CB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1" y="4648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Equation" r:id="rId25" imgW="114102" imgH="126780" progId="Equation.DSMT4">
                  <p:embed/>
                </p:oleObj>
              </mc:Choice>
              <mc:Fallback>
                <p:oleObj name="Equation" r:id="rId25" imgW="114102" imgH="126780" progId="Equation.DSMT4">
                  <p:embed/>
                  <p:pic>
                    <p:nvPicPr>
                      <p:cNvPr id="21542" name="Object 38">
                        <a:extLst>
                          <a:ext uri="{FF2B5EF4-FFF2-40B4-BE49-F238E27FC236}">
                            <a16:creationId xmlns:a16="http://schemas.microsoft.com/office/drawing/2014/main" id="{C36A929B-29A4-4206-992C-33C14025CB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4648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3" name="Object 39">
            <a:extLst>
              <a:ext uri="{FF2B5EF4-FFF2-40B4-BE49-F238E27FC236}">
                <a16:creationId xmlns:a16="http://schemas.microsoft.com/office/drawing/2014/main" id="{2625191F-B55B-4F6D-A883-C95E2E0301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1" y="5029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Equation" r:id="rId26" imgW="114102" imgH="126780" progId="Equation.DSMT4">
                  <p:embed/>
                </p:oleObj>
              </mc:Choice>
              <mc:Fallback>
                <p:oleObj name="Equation" r:id="rId26" imgW="114102" imgH="126780" progId="Equation.DSMT4">
                  <p:embed/>
                  <p:pic>
                    <p:nvPicPr>
                      <p:cNvPr id="21543" name="Object 39">
                        <a:extLst>
                          <a:ext uri="{FF2B5EF4-FFF2-40B4-BE49-F238E27FC236}">
                            <a16:creationId xmlns:a16="http://schemas.microsoft.com/office/drawing/2014/main" id="{2625191F-B55B-4F6D-A883-C95E2E0301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5029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4" name="Object 40">
            <a:extLst>
              <a:ext uri="{FF2B5EF4-FFF2-40B4-BE49-F238E27FC236}">
                <a16:creationId xmlns:a16="http://schemas.microsoft.com/office/drawing/2014/main" id="{35C2A74C-0272-462D-803C-036AB5A37E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1" y="5257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Equation" r:id="rId27" imgW="114102" imgH="126780" progId="Equation.DSMT4">
                  <p:embed/>
                </p:oleObj>
              </mc:Choice>
              <mc:Fallback>
                <p:oleObj name="Equation" r:id="rId27" imgW="114102" imgH="126780" progId="Equation.DSMT4">
                  <p:embed/>
                  <p:pic>
                    <p:nvPicPr>
                      <p:cNvPr id="21544" name="Object 40">
                        <a:extLst>
                          <a:ext uri="{FF2B5EF4-FFF2-40B4-BE49-F238E27FC236}">
                            <a16:creationId xmlns:a16="http://schemas.microsoft.com/office/drawing/2014/main" id="{35C2A74C-0272-462D-803C-036AB5A37E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5257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5" name="Object 41">
            <a:extLst>
              <a:ext uri="{FF2B5EF4-FFF2-40B4-BE49-F238E27FC236}">
                <a16:creationId xmlns:a16="http://schemas.microsoft.com/office/drawing/2014/main" id="{0BF8E06A-3636-4C1A-9A6C-D3733AC1B3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1" y="5029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Equation" r:id="rId28" imgW="114102" imgH="126780" progId="Equation.DSMT4">
                  <p:embed/>
                </p:oleObj>
              </mc:Choice>
              <mc:Fallback>
                <p:oleObj name="Equation" r:id="rId28" imgW="114102" imgH="126780" progId="Equation.DSMT4">
                  <p:embed/>
                  <p:pic>
                    <p:nvPicPr>
                      <p:cNvPr id="21545" name="Object 41">
                        <a:extLst>
                          <a:ext uri="{FF2B5EF4-FFF2-40B4-BE49-F238E27FC236}">
                            <a16:creationId xmlns:a16="http://schemas.microsoft.com/office/drawing/2014/main" id="{0BF8E06A-3636-4C1A-9A6C-D3733AC1B3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5029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6" name="Object 42">
            <a:extLst>
              <a:ext uri="{FF2B5EF4-FFF2-40B4-BE49-F238E27FC236}">
                <a16:creationId xmlns:a16="http://schemas.microsoft.com/office/drawing/2014/main" id="{FD890358-A59A-4ADA-82E6-A5FE14A519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1" y="4800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Equation" r:id="rId29" imgW="114102" imgH="126780" progId="Equation.DSMT4">
                  <p:embed/>
                </p:oleObj>
              </mc:Choice>
              <mc:Fallback>
                <p:oleObj name="Equation" r:id="rId29" imgW="114102" imgH="126780" progId="Equation.DSMT4">
                  <p:embed/>
                  <p:pic>
                    <p:nvPicPr>
                      <p:cNvPr id="21546" name="Object 42">
                        <a:extLst>
                          <a:ext uri="{FF2B5EF4-FFF2-40B4-BE49-F238E27FC236}">
                            <a16:creationId xmlns:a16="http://schemas.microsoft.com/office/drawing/2014/main" id="{FD890358-A59A-4ADA-82E6-A5FE14A519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1" y="4800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7" name="Object 43">
            <a:extLst>
              <a:ext uri="{FF2B5EF4-FFF2-40B4-BE49-F238E27FC236}">
                <a16:creationId xmlns:a16="http://schemas.microsoft.com/office/drawing/2014/main" id="{BAAB7B2C-8533-4D6D-A6A0-2CC9E554C0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1" y="4495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Equation" r:id="rId30" imgW="114102" imgH="126780" progId="Equation.DSMT4">
                  <p:embed/>
                </p:oleObj>
              </mc:Choice>
              <mc:Fallback>
                <p:oleObj name="Equation" r:id="rId30" imgW="114102" imgH="126780" progId="Equation.DSMT4">
                  <p:embed/>
                  <p:pic>
                    <p:nvPicPr>
                      <p:cNvPr id="21547" name="Object 43">
                        <a:extLst>
                          <a:ext uri="{FF2B5EF4-FFF2-40B4-BE49-F238E27FC236}">
                            <a16:creationId xmlns:a16="http://schemas.microsoft.com/office/drawing/2014/main" id="{BAAB7B2C-8533-4D6D-A6A0-2CC9E554C0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4495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8" name="Object 44">
            <a:extLst>
              <a:ext uri="{FF2B5EF4-FFF2-40B4-BE49-F238E27FC236}">
                <a16:creationId xmlns:a16="http://schemas.microsoft.com/office/drawing/2014/main" id="{8489579C-81F4-453E-97A6-4B97C0EB9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00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Equation" r:id="rId31" imgW="114102" imgH="126780" progId="Equation.DSMT4">
                  <p:embed/>
                </p:oleObj>
              </mc:Choice>
              <mc:Fallback>
                <p:oleObj name="Equation" r:id="rId31" imgW="114102" imgH="126780" progId="Equation.DSMT4">
                  <p:embed/>
                  <p:pic>
                    <p:nvPicPr>
                      <p:cNvPr id="21548" name="Object 44">
                        <a:extLst>
                          <a:ext uri="{FF2B5EF4-FFF2-40B4-BE49-F238E27FC236}">
                            <a16:creationId xmlns:a16="http://schemas.microsoft.com/office/drawing/2014/main" id="{8489579C-81F4-453E-97A6-4B97C0EB96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00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9" name="Object 45">
            <a:extLst>
              <a:ext uri="{FF2B5EF4-FFF2-40B4-BE49-F238E27FC236}">
                <a16:creationId xmlns:a16="http://schemas.microsoft.com/office/drawing/2014/main" id="{A1B10232-C7EE-4086-A2DA-C44CBAEC3F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1" y="4724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Equation" r:id="rId32" imgW="114102" imgH="126780" progId="Equation.DSMT4">
                  <p:embed/>
                </p:oleObj>
              </mc:Choice>
              <mc:Fallback>
                <p:oleObj name="Equation" r:id="rId32" imgW="114102" imgH="126780" progId="Equation.DSMT4">
                  <p:embed/>
                  <p:pic>
                    <p:nvPicPr>
                      <p:cNvPr id="21549" name="Object 45">
                        <a:extLst>
                          <a:ext uri="{FF2B5EF4-FFF2-40B4-BE49-F238E27FC236}">
                            <a16:creationId xmlns:a16="http://schemas.microsoft.com/office/drawing/2014/main" id="{A1B10232-C7EE-4086-A2DA-C44CBAEC3F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4724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0" name="Object 46">
            <a:extLst>
              <a:ext uri="{FF2B5EF4-FFF2-40B4-BE49-F238E27FC236}">
                <a16:creationId xmlns:a16="http://schemas.microsoft.com/office/drawing/2014/main" id="{D38F9241-0A2C-42B0-9C03-102B02C846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1" y="5105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Equation" r:id="rId33" imgW="114102" imgH="126780" progId="Equation.DSMT4">
                  <p:embed/>
                </p:oleObj>
              </mc:Choice>
              <mc:Fallback>
                <p:oleObj name="Equation" r:id="rId33" imgW="114102" imgH="126780" progId="Equation.DSMT4">
                  <p:embed/>
                  <p:pic>
                    <p:nvPicPr>
                      <p:cNvPr id="21550" name="Object 46">
                        <a:extLst>
                          <a:ext uri="{FF2B5EF4-FFF2-40B4-BE49-F238E27FC236}">
                            <a16:creationId xmlns:a16="http://schemas.microsoft.com/office/drawing/2014/main" id="{D38F9241-0A2C-42B0-9C03-102B02C846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1" y="5105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1" name="Object 47">
            <a:extLst>
              <a:ext uri="{FF2B5EF4-FFF2-40B4-BE49-F238E27FC236}">
                <a16:creationId xmlns:a16="http://schemas.microsoft.com/office/drawing/2014/main" id="{1A821D77-2743-4367-9737-E700800A96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1" y="4267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Equation" r:id="rId34" imgW="114102" imgH="126780" progId="Equation.DSMT4">
                  <p:embed/>
                </p:oleObj>
              </mc:Choice>
              <mc:Fallback>
                <p:oleObj name="Equation" r:id="rId34" imgW="114102" imgH="126780" progId="Equation.DSMT4">
                  <p:embed/>
                  <p:pic>
                    <p:nvPicPr>
                      <p:cNvPr id="21551" name="Object 47">
                        <a:extLst>
                          <a:ext uri="{FF2B5EF4-FFF2-40B4-BE49-F238E27FC236}">
                            <a16:creationId xmlns:a16="http://schemas.microsoft.com/office/drawing/2014/main" id="{1A821D77-2743-4367-9737-E700800A96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1" y="4267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5" name="Object 51">
            <a:extLst>
              <a:ext uri="{FF2B5EF4-FFF2-40B4-BE49-F238E27FC236}">
                <a16:creationId xmlns:a16="http://schemas.microsoft.com/office/drawing/2014/main" id="{BC5009FF-03DE-4B3E-B526-2442003945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2133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Equation" r:id="rId35" imgW="114102" imgH="126780" progId="Equation.DSMT4">
                  <p:embed/>
                </p:oleObj>
              </mc:Choice>
              <mc:Fallback>
                <p:oleObj name="Equation" r:id="rId35" imgW="114102" imgH="126780" progId="Equation.DSMT4">
                  <p:embed/>
                  <p:pic>
                    <p:nvPicPr>
                      <p:cNvPr id="21555" name="Object 51">
                        <a:extLst>
                          <a:ext uri="{FF2B5EF4-FFF2-40B4-BE49-F238E27FC236}">
                            <a16:creationId xmlns:a16="http://schemas.microsoft.com/office/drawing/2014/main" id="{BC5009FF-03DE-4B3E-B526-2442003945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2133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6" name="Object 52">
            <a:extLst>
              <a:ext uri="{FF2B5EF4-FFF2-40B4-BE49-F238E27FC236}">
                <a16:creationId xmlns:a16="http://schemas.microsoft.com/office/drawing/2014/main" id="{CC3E4DCE-8908-4B79-94BC-D92053189A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1" y="2286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Equation" r:id="rId36" imgW="114102" imgH="126780" progId="Equation.DSMT4">
                  <p:embed/>
                </p:oleObj>
              </mc:Choice>
              <mc:Fallback>
                <p:oleObj name="Equation" r:id="rId36" imgW="114102" imgH="126780" progId="Equation.DSMT4">
                  <p:embed/>
                  <p:pic>
                    <p:nvPicPr>
                      <p:cNvPr id="21556" name="Object 52">
                        <a:extLst>
                          <a:ext uri="{FF2B5EF4-FFF2-40B4-BE49-F238E27FC236}">
                            <a16:creationId xmlns:a16="http://schemas.microsoft.com/office/drawing/2014/main" id="{CC3E4DCE-8908-4B79-94BC-D92053189A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2286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7" name="Object 53">
            <a:extLst>
              <a:ext uri="{FF2B5EF4-FFF2-40B4-BE49-F238E27FC236}">
                <a16:creationId xmlns:a16="http://schemas.microsoft.com/office/drawing/2014/main" id="{F5513C41-8FDF-40E1-B829-589C70C041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1" y="2057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Equation" r:id="rId37" imgW="114102" imgH="126780" progId="Equation.DSMT4">
                  <p:embed/>
                </p:oleObj>
              </mc:Choice>
              <mc:Fallback>
                <p:oleObj name="Equation" r:id="rId37" imgW="114102" imgH="126780" progId="Equation.DSMT4">
                  <p:embed/>
                  <p:pic>
                    <p:nvPicPr>
                      <p:cNvPr id="21557" name="Object 53">
                        <a:extLst>
                          <a:ext uri="{FF2B5EF4-FFF2-40B4-BE49-F238E27FC236}">
                            <a16:creationId xmlns:a16="http://schemas.microsoft.com/office/drawing/2014/main" id="{F5513C41-8FDF-40E1-B829-589C70C041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2057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8" name="Object 54">
            <a:extLst>
              <a:ext uri="{FF2B5EF4-FFF2-40B4-BE49-F238E27FC236}">
                <a16:creationId xmlns:a16="http://schemas.microsoft.com/office/drawing/2014/main" id="{F435DFA0-3CF0-4401-84B2-92901B559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1" y="2743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Equation" r:id="rId38" imgW="114102" imgH="126780" progId="Equation.DSMT4">
                  <p:embed/>
                </p:oleObj>
              </mc:Choice>
              <mc:Fallback>
                <p:oleObj name="Equation" r:id="rId38" imgW="114102" imgH="126780" progId="Equation.DSMT4">
                  <p:embed/>
                  <p:pic>
                    <p:nvPicPr>
                      <p:cNvPr id="21558" name="Object 54">
                        <a:extLst>
                          <a:ext uri="{FF2B5EF4-FFF2-40B4-BE49-F238E27FC236}">
                            <a16:creationId xmlns:a16="http://schemas.microsoft.com/office/drawing/2014/main" id="{F435DFA0-3CF0-4401-84B2-92901B559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2743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9" name="Object 55">
            <a:extLst>
              <a:ext uri="{FF2B5EF4-FFF2-40B4-BE49-F238E27FC236}">
                <a16:creationId xmlns:a16="http://schemas.microsoft.com/office/drawing/2014/main" id="{ABC2B0C4-64E6-4332-B741-A6FCE93B81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1" y="2514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Equation" r:id="rId39" imgW="114102" imgH="126780" progId="Equation.DSMT4">
                  <p:embed/>
                </p:oleObj>
              </mc:Choice>
              <mc:Fallback>
                <p:oleObj name="Equation" r:id="rId39" imgW="114102" imgH="126780" progId="Equation.DSMT4">
                  <p:embed/>
                  <p:pic>
                    <p:nvPicPr>
                      <p:cNvPr id="21559" name="Object 55">
                        <a:extLst>
                          <a:ext uri="{FF2B5EF4-FFF2-40B4-BE49-F238E27FC236}">
                            <a16:creationId xmlns:a16="http://schemas.microsoft.com/office/drawing/2014/main" id="{ABC2B0C4-64E6-4332-B741-A6FCE93B81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2514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0" name="Object 56">
            <a:extLst>
              <a:ext uri="{FF2B5EF4-FFF2-40B4-BE49-F238E27FC236}">
                <a16:creationId xmlns:a16="http://schemas.microsoft.com/office/drawing/2014/main" id="{FA54A986-386E-4754-96FC-FCE836781B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3048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Equation" r:id="rId40" imgW="114102" imgH="126780" progId="Equation.DSMT4">
                  <p:embed/>
                </p:oleObj>
              </mc:Choice>
              <mc:Fallback>
                <p:oleObj name="Equation" r:id="rId40" imgW="114102" imgH="126780" progId="Equation.DSMT4">
                  <p:embed/>
                  <p:pic>
                    <p:nvPicPr>
                      <p:cNvPr id="21560" name="Object 56">
                        <a:extLst>
                          <a:ext uri="{FF2B5EF4-FFF2-40B4-BE49-F238E27FC236}">
                            <a16:creationId xmlns:a16="http://schemas.microsoft.com/office/drawing/2014/main" id="{FA54A986-386E-4754-96FC-FCE836781B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048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1" name="Object 57">
            <a:extLst>
              <a:ext uri="{FF2B5EF4-FFF2-40B4-BE49-F238E27FC236}">
                <a16:creationId xmlns:a16="http://schemas.microsoft.com/office/drawing/2014/main" id="{1414D299-BE55-4DAE-8BDB-C4CD0A870B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1" y="1981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Equation" r:id="rId41" imgW="114102" imgH="126780" progId="Equation.DSMT4">
                  <p:embed/>
                </p:oleObj>
              </mc:Choice>
              <mc:Fallback>
                <p:oleObj name="Equation" r:id="rId41" imgW="114102" imgH="126780" progId="Equation.DSMT4">
                  <p:embed/>
                  <p:pic>
                    <p:nvPicPr>
                      <p:cNvPr id="21561" name="Object 57">
                        <a:extLst>
                          <a:ext uri="{FF2B5EF4-FFF2-40B4-BE49-F238E27FC236}">
                            <a16:creationId xmlns:a16="http://schemas.microsoft.com/office/drawing/2014/main" id="{1414D299-BE55-4DAE-8BDB-C4CD0A870B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1981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2" name="Object 58">
            <a:extLst>
              <a:ext uri="{FF2B5EF4-FFF2-40B4-BE49-F238E27FC236}">
                <a16:creationId xmlns:a16="http://schemas.microsoft.com/office/drawing/2014/main" id="{6545C693-3E4F-4428-A317-DBC9FD345F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1" y="2438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Equation" r:id="rId42" imgW="114102" imgH="126780" progId="Equation.DSMT4">
                  <p:embed/>
                </p:oleObj>
              </mc:Choice>
              <mc:Fallback>
                <p:oleObj name="Equation" r:id="rId42" imgW="114102" imgH="126780" progId="Equation.DSMT4">
                  <p:embed/>
                  <p:pic>
                    <p:nvPicPr>
                      <p:cNvPr id="21562" name="Object 58">
                        <a:extLst>
                          <a:ext uri="{FF2B5EF4-FFF2-40B4-BE49-F238E27FC236}">
                            <a16:creationId xmlns:a16="http://schemas.microsoft.com/office/drawing/2014/main" id="{6545C693-3E4F-4428-A317-DBC9FD345F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2438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3" name="Object 59">
            <a:extLst>
              <a:ext uri="{FF2B5EF4-FFF2-40B4-BE49-F238E27FC236}">
                <a16:creationId xmlns:a16="http://schemas.microsoft.com/office/drawing/2014/main" id="{EC163729-C7B3-43AB-ACA7-C6D3CD70D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5334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Equation" r:id="rId43" imgW="114102" imgH="126780" progId="Equation.DSMT4">
                  <p:embed/>
                </p:oleObj>
              </mc:Choice>
              <mc:Fallback>
                <p:oleObj name="Equation" r:id="rId43" imgW="114102" imgH="126780" progId="Equation.DSMT4">
                  <p:embed/>
                  <p:pic>
                    <p:nvPicPr>
                      <p:cNvPr id="21563" name="Object 59">
                        <a:extLst>
                          <a:ext uri="{FF2B5EF4-FFF2-40B4-BE49-F238E27FC236}">
                            <a16:creationId xmlns:a16="http://schemas.microsoft.com/office/drawing/2014/main" id="{EC163729-C7B3-43AB-ACA7-C6D3CD70D8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5334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4" name="Object 60">
            <a:extLst>
              <a:ext uri="{FF2B5EF4-FFF2-40B4-BE49-F238E27FC236}">
                <a16:creationId xmlns:a16="http://schemas.microsoft.com/office/drawing/2014/main" id="{58C15757-72B2-4D94-A1FF-80C80FB403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4191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Equation" r:id="rId44" imgW="114102" imgH="126780" progId="Equation.DSMT4">
                  <p:embed/>
                </p:oleObj>
              </mc:Choice>
              <mc:Fallback>
                <p:oleObj name="Equation" r:id="rId44" imgW="114102" imgH="126780" progId="Equation.DSMT4">
                  <p:embed/>
                  <p:pic>
                    <p:nvPicPr>
                      <p:cNvPr id="21564" name="Object 60">
                        <a:extLst>
                          <a:ext uri="{FF2B5EF4-FFF2-40B4-BE49-F238E27FC236}">
                            <a16:creationId xmlns:a16="http://schemas.microsoft.com/office/drawing/2014/main" id="{58C15757-72B2-4D94-A1FF-80C80FB403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4191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5" name="Object 61">
            <a:extLst>
              <a:ext uri="{FF2B5EF4-FFF2-40B4-BE49-F238E27FC236}">
                <a16:creationId xmlns:a16="http://schemas.microsoft.com/office/drawing/2014/main" id="{873AC2E9-D46F-45A7-B803-01BD910AAA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1" y="5410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Equation" r:id="rId45" imgW="114102" imgH="126780" progId="Equation.DSMT4">
                  <p:embed/>
                </p:oleObj>
              </mc:Choice>
              <mc:Fallback>
                <p:oleObj name="Equation" r:id="rId45" imgW="114102" imgH="126780" progId="Equation.DSMT4">
                  <p:embed/>
                  <p:pic>
                    <p:nvPicPr>
                      <p:cNvPr id="21565" name="Object 61">
                        <a:extLst>
                          <a:ext uri="{FF2B5EF4-FFF2-40B4-BE49-F238E27FC236}">
                            <a16:creationId xmlns:a16="http://schemas.microsoft.com/office/drawing/2014/main" id="{873AC2E9-D46F-45A7-B803-01BD910AAA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5410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6" name="Object 62">
            <a:extLst>
              <a:ext uri="{FF2B5EF4-FFF2-40B4-BE49-F238E27FC236}">
                <a16:creationId xmlns:a16="http://schemas.microsoft.com/office/drawing/2014/main" id="{948F49A5-5E13-421E-B099-ABD2917570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1" y="4800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Equation" r:id="rId46" imgW="114102" imgH="126780" progId="Equation.DSMT4">
                  <p:embed/>
                </p:oleObj>
              </mc:Choice>
              <mc:Fallback>
                <p:oleObj name="Equation" r:id="rId46" imgW="114102" imgH="126780" progId="Equation.DSMT4">
                  <p:embed/>
                  <p:pic>
                    <p:nvPicPr>
                      <p:cNvPr id="21566" name="Object 62">
                        <a:extLst>
                          <a:ext uri="{FF2B5EF4-FFF2-40B4-BE49-F238E27FC236}">
                            <a16:creationId xmlns:a16="http://schemas.microsoft.com/office/drawing/2014/main" id="{948F49A5-5E13-421E-B099-ABD2917570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4800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7" name="Object 63">
            <a:extLst>
              <a:ext uri="{FF2B5EF4-FFF2-40B4-BE49-F238E27FC236}">
                <a16:creationId xmlns:a16="http://schemas.microsoft.com/office/drawing/2014/main" id="{6266AE0B-7F27-4C9F-8E84-735F82BA59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5105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Equation" r:id="rId47" imgW="114102" imgH="126780" progId="Equation.DSMT4">
                  <p:embed/>
                </p:oleObj>
              </mc:Choice>
              <mc:Fallback>
                <p:oleObj name="Equation" r:id="rId47" imgW="114102" imgH="126780" progId="Equation.DSMT4">
                  <p:embed/>
                  <p:pic>
                    <p:nvPicPr>
                      <p:cNvPr id="21567" name="Object 63">
                        <a:extLst>
                          <a:ext uri="{FF2B5EF4-FFF2-40B4-BE49-F238E27FC236}">
                            <a16:creationId xmlns:a16="http://schemas.microsoft.com/office/drawing/2014/main" id="{6266AE0B-7F27-4C9F-8E84-735F82BA59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5105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8" name="Object 64">
            <a:extLst>
              <a:ext uri="{FF2B5EF4-FFF2-40B4-BE49-F238E27FC236}">
                <a16:creationId xmlns:a16="http://schemas.microsoft.com/office/drawing/2014/main" id="{646AF946-83AA-462C-ADC7-217EB8336B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1" y="2057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Equation" r:id="rId48" imgW="114102" imgH="126780" progId="Equation.DSMT4">
                  <p:embed/>
                </p:oleObj>
              </mc:Choice>
              <mc:Fallback>
                <p:oleObj name="Equation" r:id="rId48" imgW="114102" imgH="126780" progId="Equation.DSMT4">
                  <p:embed/>
                  <p:pic>
                    <p:nvPicPr>
                      <p:cNvPr id="21568" name="Object 64">
                        <a:extLst>
                          <a:ext uri="{FF2B5EF4-FFF2-40B4-BE49-F238E27FC236}">
                            <a16:creationId xmlns:a16="http://schemas.microsoft.com/office/drawing/2014/main" id="{646AF946-83AA-462C-ADC7-217EB8336B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1" y="2057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9" name="Object 65">
            <a:extLst>
              <a:ext uri="{FF2B5EF4-FFF2-40B4-BE49-F238E27FC236}">
                <a16:creationId xmlns:a16="http://schemas.microsoft.com/office/drawing/2014/main" id="{1A125563-B751-429A-B8F8-BB0182A2C2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1" y="2667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Equation" r:id="rId49" imgW="114102" imgH="126780" progId="Equation.DSMT4">
                  <p:embed/>
                </p:oleObj>
              </mc:Choice>
              <mc:Fallback>
                <p:oleObj name="Equation" r:id="rId49" imgW="114102" imgH="126780" progId="Equation.DSMT4">
                  <p:embed/>
                  <p:pic>
                    <p:nvPicPr>
                      <p:cNvPr id="21569" name="Object 65">
                        <a:extLst>
                          <a:ext uri="{FF2B5EF4-FFF2-40B4-BE49-F238E27FC236}">
                            <a16:creationId xmlns:a16="http://schemas.microsoft.com/office/drawing/2014/main" id="{1A125563-B751-429A-B8F8-BB0182A2C2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1" y="2667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0" name="Object 66">
            <a:extLst>
              <a:ext uri="{FF2B5EF4-FFF2-40B4-BE49-F238E27FC236}">
                <a16:creationId xmlns:a16="http://schemas.microsoft.com/office/drawing/2014/main" id="{1C9C27C6-EE8F-4CC0-A6AA-717610109C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1" y="1905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Equation" r:id="rId50" imgW="114102" imgH="126780" progId="Equation.DSMT4">
                  <p:embed/>
                </p:oleObj>
              </mc:Choice>
              <mc:Fallback>
                <p:oleObj name="Equation" r:id="rId50" imgW="114102" imgH="126780" progId="Equation.DSMT4">
                  <p:embed/>
                  <p:pic>
                    <p:nvPicPr>
                      <p:cNvPr id="21570" name="Object 66">
                        <a:extLst>
                          <a:ext uri="{FF2B5EF4-FFF2-40B4-BE49-F238E27FC236}">
                            <a16:creationId xmlns:a16="http://schemas.microsoft.com/office/drawing/2014/main" id="{1C9C27C6-EE8F-4CC0-A6AA-717610109C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1905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1" name="Object 67">
            <a:extLst>
              <a:ext uri="{FF2B5EF4-FFF2-40B4-BE49-F238E27FC236}">
                <a16:creationId xmlns:a16="http://schemas.microsoft.com/office/drawing/2014/main" id="{6977A8CC-38B9-4A06-AF0D-0060794860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1" y="1828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Equation" r:id="rId51" imgW="114102" imgH="126780" progId="Equation.DSMT4">
                  <p:embed/>
                </p:oleObj>
              </mc:Choice>
              <mc:Fallback>
                <p:oleObj name="Equation" r:id="rId51" imgW="114102" imgH="126780" progId="Equation.DSMT4">
                  <p:embed/>
                  <p:pic>
                    <p:nvPicPr>
                      <p:cNvPr id="21571" name="Object 67">
                        <a:extLst>
                          <a:ext uri="{FF2B5EF4-FFF2-40B4-BE49-F238E27FC236}">
                            <a16:creationId xmlns:a16="http://schemas.microsoft.com/office/drawing/2014/main" id="{6977A8CC-38B9-4A06-AF0D-0060794860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1828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2" name="Object 68">
            <a:extLst>
              <a:ext uri="{FF2B5EF4-FFF2-40B4-BE49-F238E27FC236}">
                <a16:creationId xmlns:a16="http://schemas.microsoft.com/office/drawing/2014/main" id="{BFBC912C-47E4-48FF-9170-6C4D599BB9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1" y="1981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Equation" r:id="rId52" imgW="114102" imgH="126780" progId="Equation.DSMT4">
                  <p:embed/>
                </p:oleObj>
              </mc:Choice>
              <mc:Fallback>
                <p:oleObj name="Equation" r:id="rId52" imgW="114102" imgH="126780" progId="Equation.DSMT4">
                  <p:embed/>
                  <p:pic>
                    <p:nvPicPr>
                      <p:cNvPr id="21572" name="Object 68">
                        <a:extLst>
                          <a:ext uri="{FF2B5EF4-FFF2-40B4-BE49-F238E27FC236}">
                            <a16:creationId xmlns:a16="http://schemas.microsoft.com/office/drawing/2014/main" id="{BFBC912C-47E4-48FF-9170-6C4D599BB9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1981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3" name="Object 69">
            <a:extLst>
              <a:ext uri="{FF2B5EF4-FFF2-40B4-BE49-F238E27FC236}">
                <a16:creationId xmlns:a16="http://schemas.microsoft.com/office/drawing/2014/main" id="{38E3CE68-A5F3-4213-BF59-EB063AE448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1" y="2286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Equation" r:id="rId53" imgW="114102" imgH="126780" progId="Equation.DSMT4">
                  <p:embed/>
                </p:oleObj>
              </mc:Choice>
              <mc:Fallback>
                <p:oleObj name="Equation" r:id="rId53" imgW="114102" imgH="126780" progId="Equation.DSMT4">
                  <p:embed/>
                  <p:pic>
                    <p:nvPicPr>
                      <p:cNvPr id="21573" name="Object 69">
                        <a:extLst>
                          <a:ext uri="{FF2B5EF4-FFF2-40B4-BE49-F238E27FC236}">
                            <a16:creationId xmlns:a16="http://schemas.microsoft.com/office/drawing/2014/main" id="{38E3CE68-A5F3-4213-BF59-EB063AE448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2286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4" name="Object 70">
            <a:extLst>
              <a:ext uri="{FF2B5EF4-FFF2-40B4-BE49-F238E27FC236}">
                <a16:creationId xmlns:a16="http://schemas.microsoft.com/office/drawing/2014/main" id="{C7BE294E-6325-48E4-AAD0-74C14E512B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1" y="4953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Equation" r:id="rId54" imgW="114102" imgH="126780" progId="Equation.DSMT4">
                  <p:embed/>
                </p:oleObj>
              </mc:Choice>
              <mc:Fallback>
                <p:oleObj name="Equation" r:id="rId54" imgW="114102" imgH="126780" progId="Equation.DSMT4">
                  <p:embed/>
                  <p:pic>
                    <p:nvPicPr>
                      <p:cNvPr id="21574" name="Object 70">
                        <a:extLst>
                          <a:ext uri="{FF2B5EF4-FFF2-40B4-BE49-F238E27FC236}">
                            <a16:creationId xmlns:a16="http://schemas.microsoft.com/office/drawing/2014/main" id="{C7BE294E-6325-48E4-AAD0-74C14E512B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4953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5" name="Object 71">
            <a:extLst>
              <a:ext uri="{FF2B5EF4-FFF2-40B4-BE49-F238E27FC236}">
                <a16:creationId xmlns:a16="http://schemas.microsoft.com/office/drawing/2014/main" id="{BC5C7581-9A1F-46CA-9F71-77C7ECC9C6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1" y="4343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Equation" r:id="rId55" imgW="114102" imgH="126780" progId="Equation.DSMT4">
                  <p:embed/>
                </p:oleObj>
              </mc:Choice>
              <mc:Fallback>
                <p:oleObj name="Equation" r:id="rId55" imgW="114102" imgH="126780" progId="Equation.DSMT4">
                  <p:embed/>
                  <p:pic>
                    <p:nvPicPr>
                      <p:cNvPr id="21575" name="Object 71">
                        <a:extLst>
                          <a:ext uri="{FF2B5EF4-FFF2-40B4-BE49-F238E27FC236}">
                            <a16:creationId xmlns:a16="http://schemas.microsoft.com/office/drawing/2014/main" id="{BC5C7581-9A1F-46CA-9F71-77C7ECC9C6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4343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6" name="Object 72">
            <a:extLst>
              <a:ext uri="{FF2B5EF4-FFF2-40B4-BE49-F238E27FC236}">
                <a16:creationId xmlns:a16="http://schemas.microsoft.com/office/drawing/2014/main" id="{F5367027-0E3D-449D-998E-F1EBA27FCD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1" y="5334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Equation" r:id="rId56" imgW="114102" imgH="126780" progId="Equation.DSMT4">
                  <p:embed/>
                </p:oleObj>
              </mc:Choice>
              <mc:Fallback>
                <p:oleObj name="Equation" r:id="rId56" imgW="114102" imgH="126780" progId="Equation.DSMT4">
                  <p:embed/>
                  <p:pic>
                    <p:nvPicPr>
                      <p:cNvPr id="21576" name="Object 72">
                        <a:extLst>
                          <a:ext uri="{FF2B5EF4-FFF2-40B4-BE49-F238E27FC236}">
                            <a16:creationId xmlns:a16="http://schemas.microsoft.com/office/drawing/2014/main" id="{F5367027-0E3D-449D-998E-F1EBA27FC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5334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7" name="Text Box 73">
            <a:extLst>
              <a:ext uri="{FF2B5EF4-FFF2-40B4-BE49-F238E27FC236}">
                <a16:creationId xmlns:a16="http://schemas.microsoft.com/office/drawing/2014/main" id="{BBB73F63-9AC1-4349-8823-8E252454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429001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weak positive</a:t>
            </a:r>
          </a:p>
        </p:txBody>
      </p:sp>
      <p:sp>
        <p:nvSpPr>
          <p:cNvPr id="21578" name="Text Box 74">
            <a:extLst>
              <a:ext uri="{FF2B5EF4-FFF2-40B4-BE49-F238E27FC236}">
                <a16:creationId xmlns:a16="http://schemas.microsoft.com/office/drawing/2014/main" id="{C21A1A08-A85E-4267-9B71-513F23069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943601"/>
            <a:ext cx="190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weak negative</a:t>
            </a:r>
          </a:p>
        </p:txBody>
      </p:sp>
      <p:sp>
        <p:nvSpPr>
          <p:cNvPr id="21579" name="Text Box 75">
            <a:extLst>
              <a:ext uri="{FF2B5EF4-FFF2-40B4-BE49-F238E27FC236}">
                <a16:creationId xmlns:a16="http://schemas.microsoft.com/office/drawing/2014/main" id="{6E4E3186-FE10-49CC-99D0-28C46FF4A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867401"/>
            <a:ext cx="220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strong negative</a:t>
            </a:r>
          </a:p>
        </p:txBody>
      </p:sp>
      <p:sp>
        <p:nvSpPr>
          <p:cNvPr id="21580" name="Text Box 76">
            <a:extLst>
              <a:ext uri="{FF2B5EF4-FFF2-40B4-BE49-F238E27FC236}">
                <a16:creationId xmlns:a16="http://schemas.microsoft.com/office/drawing/2014/main" id="{BC0C120E-63EE-440C-89AA-3E4E5662E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352801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57200"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strong positive</a:t>
            </a:r>
          </a:p>
        </p:txBody>
      </p:sp>
      <p:sp>
        <p:nvSpPr>
          <p:cNvPr id="21581" name="Line 77">
            <a:extLst>
              <a:ext uri="{FF2B5EF4-FFF2-40B4-BE49-F238E27FC236}">
                <a16:creationId xmlns:a16="http://schemas.microsoft.com/office/drawing/2014/main" id="{53CF05D0-DBE4-41D6-8310-0EAC0683C1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1676400"/>
            <a:ext cx="1447800" cy="1524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21582" name="Line 78">
            <a:extLst>
              <a:ext uri="{FF2B5EF4-FFF2-40B4-BE49-F238E27FC236}">
                <a16:creationId xmlns:a16="http://schemas.microsoft.com/office/drawing/2014/main" id="{C914D348-121B-4F28-A214-3391D4FA22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1524000"/>
            <a:ext cx="1524000" cy="1295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21583" name="Line 79">
            <a:extLst>
              <a:ext uri="{FF2B5EF4-FFF2-40B4-BE49-F238E27FC236}">
                <a16:creationId xmlns:a16="http://schemas.microsoft.com/office/drawing/2014/main" id="{EEC31A3C-2916-45E3-A3DD-724273881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267200"/>
            <a:ext cx="838200" cy="1371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21584" name="Line 80">
            <a:extLst>
              <a:ext uri="{FF2B5EF4-FFF2-40B4-BE49-F238E27FC236}">
                <a16:creationId xmlns:a16="http://schemas.microsoft.com/office/drawing/2014/main" id="{594F5835-54B2-4F1E-BE1C-D38139466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4267200"/>
            <a:ext cx="1219200" cy="1295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57200"/>
            <a:endParaRPr lang="en-AU">
              <a:solidFill>
                <a:prstClr val="black"/>
              </a:solidFill>
              <a:latin typeface="Tw Cen MT" panose="020B06020201040206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1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1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1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1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1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1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1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1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1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1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1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1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1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1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1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1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1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21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1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1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1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1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1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1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1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1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1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21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21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21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1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21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21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21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1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1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1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1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21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1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21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21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1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21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21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21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21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21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21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21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2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21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21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9" grpId="0"/>
      <p:bldP spid="21577" grpId="0"/>
      <p:bldP spid="215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1" name="Group 207"/>
          <p:cNvGrpSpPr>
            <a:grpSpLocks/>
          </p:cNvGrpSpPr>
          <p:nvPr/>
        </p:nvGrpSpPr>
        <p:grpSpPr bwMode="auto">
          <a:xfrm>
            <a:off x="6826250" y="3711576"/>
            <a:ext cx="2730500" cy="1103313"/>
            <a:chOff x="3340" y="2338"/>
            <a:chExt cx="1720" cy="695"/>
          </a:xfrm>
        </p:grpSpPr>
        <p:sp>
          <p:nvSpPr>
            <p:cNvPr id="6342" name="Line 198"/>
            <p:cNvSpPr>
              <a:spLocks noChangeShapeType="1"/>
            </p:cNvSpPr>
            <p:nvPr/>
          </p:nvSpPr>
          <p:spPr bwMode="auto">
            <a:xfrm>
              <a:off x="4310" y="2504"/>
              <a:ext cx="0" cy="2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36" name="Line 192"/>
            <p:cNvSpPr>
              <a:spLocks noChangeShapeType="1"/>
            </p:cNvSpPr>
            <p:nvPr/>
          </p:nvSpPr>
          <p:spPr bwMode="auto">
            <a:xfrm flipH="1">
              <a:off x="3340" y="2338"/>
              <a:ext cx="0" cy="15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37" name="Line 193"/>
            <p:cNvSpPr>
              <a:spLocks noChangeShapeType="1"/>
            </p:cNvSpPr>
            <p:nvPr/>
          </p:nvSpPr>
          <p:spPr bwMode="auto">
            <a:xfrm>
              <a:off x="3702" y="2436"/>
              <a:ext cx="0" cy="17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41" name="Line 197"/>
            <p:cNvSpPr>
              <a:spLocks noChangeShapeType="1"/>
            </p:cNvSpPr>
            <p:nvPr/>
          </p:nvSpPr>
          <p:spPr bwMode="auto">
            <a:xfrm flipH="1">
              <a:off x="4003" y="2350"/>
              <a:ext cx="1" cy="35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43" name="Line 199"/>
            <p:cNvSpPr>
              <a:spLocks noChangeShapeType="1"/>
            </p:cNvSpPr>
            <p:nvPr/>
          </p:nvSpPr>
          <p:spPr bwMode="auto">
            <a:xfrm>
              <a:off x="4494" y="2782"/>
              <a:ext cx="0" cy="7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46" name="Line 202"/>
            <p:cNvSpPr>
              <a:spLocks noChangeShapeType="1"/>
            </p:cNvSpPr>
            <p:nvPr/>
          </p:nvSpPr>
          <p:spPr bwMode="auto">
            <a:xfrm flipH="1">
              <a:off x="5059" y="2816"/>
              <a:ext cx="1" cy="2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6273" name="Text Box 129" descr="Parchment"/>
          <p:cNvSpPr txBox="1">
            <a:spLocks noChangeArrowheads="1"/>
          </p:cNvSpPr>
          <p:nvPr/>
        </p:nvSpPr>
        <p:spPr bwMode="auto">
          <a:xfrm>
            <a:off x="1828800" y="1352550"/>
            <a:ext cx="8553450" cy="1206484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 sz="2000" dirty="0">
                <a:solidFill>
                  <a:prstClr val="black"/>
                </a:solidFill>
                <a:latin typeface="Calibri" panose="020F0502020204030204"/>
              </a:rPr>
              <a:t>A </a:t>
            </a:r>
            <a:r>
              <a:rPr lang="en-GB" altLang="x-none" sz="2000" dirty="0">
                <a:solidFill>
                  <a:srgbClr val="FF0000"/>
                </a:solidFill>
                <a:latin typeface="Calibri" panose="020F0502020204030204"/>
              </a:rPr>
              <a:t>line of best fit</a:t>
            </a:r>
            <a:r>
              <a:rPr lang="en-GB" altLang="x-none" sz="2000" dirty="0">
                <a:solidFill>
                  <a:prstClr val="black"/>
                </a:solidFill>
                <a:latin typeface="Calibri" panose="020F0502020204030204"/>
              </a:rPr>
              <a:t> is a straight line that best represents the data on a scatter plot. It allows us to</a:t>
            </a:r>
            <a:r>
              <a:rPr lang="en-US" altLang="x-none" sz="2000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marL="800100" lvl="1" indent="-342900">
              <a:lnSpc>
                <a:spcPct val="90000"/>
              </a:lnSpc>
              <a:buFont typeface="Arial" charset="0"/>
              <a:buChar char="•"/>
            </a:pPr>
            <a:r>
              <a:rPr lang="en-US" altLang="x-none" dirty="0">
                <a:solidFill>
                  <a:prstClr val="black"/>
                </a:solidFill>
                <a:latin typeface="Calibri" panose="020F0502020204030204"/>
              </a:rPr>
              <a:t>Understand the type and strength of the relationship between two sets of data</a:t>
            </a:r>
          </a:p>
          <a:p>
            <a:pPr marL="800100" lvl="1" indent="-342900">
              <a:lnSpc>
                <a:spcPct val="90000"/>
              </a:lnSpc>
              <a:buFont typeface="Arial" charset="0"/>
              <a:buChar char="•"/>
            </a:pPr>
            <a:r>
              <a:rPr lang="en-US" altLang="x-none" dirty="0">
                <a:solidFill>
                  <a:prstClr val="black"/>
                </a:solidFill>
                <a:latin typeface="Calibri" panose="020F0502020204030204"/>
              </a:rPr>
              <a:t>Predict missing Y values for given X values, or missing X values for given Y values</a:t>
            </a:r>
            <a:endParaRPr lang="en-GB" altLang="x-non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88" name="Freeform 144"/>
          <p:cNvSpPr>
            <a:spLocks/>
          </p:cNvSpPr>
          <p:nvPr/>
        </p:nvSpPr>
        <p:spPr bwMode="auto">
          <a:xfrm>
            <a:off x="1847850" y="2876550"/>
            <a:ext cx="3314700" cy="2743200"/>
          </a:xfrm>
          <a:custGeom>
            <a:avLst/>
            <a:gdLst>
              <a:gd name="T0" fmla="*/ 0 w 2088"/>
              <a:gd name="T1" fmla="*/ 1728 h 1728"/>
              <a:gd name="T2" fmla="*/ 2088 w 2088"/>
              <a:gd name="T3" fmla="*/ 0 h 172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88" h="1728">
                <a:moveTo>
                  <a:pt x="0" y="1728"/>
                </a:moveTo>
                <a:lnTo>
                  <a:pt x="2088" y="0"/>
                </a:lnTo>
              </a:path>
            </a:pathLst>
          </a:custGeom>
          <a:noFill/>
          <a:ln w="28575" cmpd="sng">
            <a:solidFill>
              <a:schemeClr val="accent2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308" name="Group 164"/>
          <p:cNvGrpSpPr>
            <a:grpSpLocks/>
          </p:cNvGrpSpPr>
          <p:nvPr/>
        </p:nvGrpSpPr>
        <p:grpSpPr bwMode="auto">
          <a:xfrm>
            <a:off x="2597150" y="3397250"/>
            <a:ext cx="1924050" cy="1879600"/>
            <a:chOff x="2044" y="2164"/>
            <a:chExt cx="1212" cy="1184"/>
          </a:xfrm>
        </p:grpSpPr>
        <p:sp>
          <p:nvSpPr>
            <p:cNvPr id="6291" name="Line 147"/>
            <p:cNvSpPr>
              <a:spLocks noChangeShapeType="1"/>
            </p:cNvSpPr>
            <p:nvPr/>
          </p:nvSpPr>
          <p:spPr bwMode="auto">
            <a:xfrm flipV="1">
              <a:off x="2968" y="2406"/>
              <a:ext cx="0" cy="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92" name="Line 148"/>
            <p:cNvSpPr>
              <a:spLocks noChangeShapeType="1"/>
            </p:cNvSpPr>
            <p:nvPr/>
          </p:nvSpPr>
          <p:spPr bwMode="auto">
            <a:xfrm flipV="1">
              <a:off x="3256" y="2164"/>
              <a:ext cx="0" cy="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93" name="Line 149"/>
            <p:cNvSpPr>
              <a:spLocks noChangeShapeType="1"/>
            </p:cNvSpPr>
            <p:nvPr/>
          </p:nvSpPr>
          <p:spPr bwMode="auto">
            <a:xfrm flipV="1">
              <a:off x="2740" y="2590"/>
              <a:ext cx="0" cy="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94" name="Line 150"/>
            <p:cNvSpPr>
              <a:spLocks noChangeShapeType="1"/>
            </p:cNvSpPr>
            <p:nvPr/>
          </p:nvSpPr>
          <p:spPr bwMode="auto">
            <a:xfrm flipV="1">
              <a:off x="2668" y="2658"/>
              <a:ext cx="0" cy="3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00" name="Line 156"/>
            <p:cNvSpPr>
              <a:spLocks noChangeShapeType="1"/>
            </p:cNvSpPr>
            <p:nvPr/>
          </p:nvSpPr>
          <p:spPr bwMode="auto">
            <a:xfrm flipV="1">
              <a:off x="2368" y="2904"/>
              <a:ext cx="0" cy="1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03" name="Line 159"/>
            <p:cNvSpPr>
              <a:spLocks noChangeShapeType="1"/>
            </p:cNvSpPr>
            <p:nvPr/>
          </p:nvSpPr>
          <p:spPr bwMode="auto">
            <a:xfrm flipV="1">
              <a:off x="2044" y="3170"/>
              <a:ext cx="0" cy="1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6305" name="Text Box 161" descr="Parchment"/>
          <p:cNvSpPr txBox="1">
            <a:spLocks noChangeArrowheads="1"/>
          </p:cNvSpPr>
          <p:nvPr/>
        </p:nvSpPr>
        <p:spPr bwMode="auto">
          <a:xfrm>
            <a:off x="1924050" y="5867400"/>
            <a:ext cx="8115300" cy="7112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 sz="2000" dirty="0">
                <a:solidFill>
                  <a:prstClr val="black"/>
                </a:solidFill>
                <a:latin typeface="Calibri" panose="020F0502020204030204"/>
              </a:rPr>
              <a:t>The </a:t>
            </a:r>
            <a:r>
              <a:rPr lang="en-GB" altLang="x-none" sz="2000" dirty="0">
                <a:solidFill>
                  <a:srgbClr val="FF0000"/>
                </a:solidFill>
                <a:latin typeface="Calibri" panose="020F0502020204030204"/>
              </a:rPr>
              <a:t>sum </a:t>
            </a:r>
            <a:r>
              <a:rPr lang="en-GB" altLang="x-none" sz="2000" dirty="0">
                <a:solidFill>
                  <a:prstClr val="black"/>
                </a:solidFill>
                <a:latin typeface="Calibri" panose="020F0502020204030204"/>
              </a:rPr>
              <a:t>of the </a:t>
            </a:r>
            <a:r>
              <a:rPr lang="en-GB" altLang="x-none" sz="2000" dirty="0">
                <a:solidFill>
                  <a:srgbClr val="ED7D31"/>
                </a:solidFill>
                <a:latin typeface="Calibri" panose="020F0502020204030204"/>
              </a:rPr>
              <a:t>vertical</a:t>
            </a:r>
            <a:r>
              <a:rPr lang="en-GB" altLang="x-none" sz="2000" dirty="0">
                <a:solidFill>
                  <a:prstClr val="black"/>
                </a:solidFill>
                <a:latin typeface="Calibri" panose="020F0502020204030204"/>
              </a:rPr>
              <a:t> distances above the line should be </a:t>
            </a:r>
            <a:r>
              <a:rPr lang="en-GB" altLang="x-none" sz="2000" dirty="0">
                <a:solidFill>
                  <a:srgbClr val="FF0000"/>
                </a:solidFill>
                <a:latin typeface="Calibri" panose="020F0502020204030204"/>
              </a:rPr>
              <a:t>roughly</a:t>
            </a:r>
            <a:r>
              <a:rPr lang="en-GB" altLang="x-none" sz="2000" dirty="0">
                <a:solidFill>
                  <a:prstClr val="black"/>
                </a:solidFill>
                <a:latin typeface="Calibri" panose="020F0502020204030204"/>
              </a:rPr>
              <a:t> the same as those below.</a:t>
            </a:r>
          </a:p>
        </p:txBody>
      </p:sp>
      <p:grpSp>
        <p:nvGrpSpPr>
          <p:cNvPr id="6307" name="Group 163"/>
          <p:cNvGrpSpPr>
            <a:grpSpLocks/>
          </p:cNvGrpSpPr>
          <p:nvPr/>
        </p:nvGrpSpPr>
        <p:grpSpPr bwMode="auto">
          <a:xfrm>
            <a:off x="2063751" y="3359151"/>
            <a:ext cx="2251075" cy="2079625"/>
            <a:chOff x="1708" y="2140"/>
            <a:chExt cx="1418" cy="1310"/>
          </a:xfrm>
        </p:grpSpPr>
        <p:sp>
          <p:nvSpPr>
            <p:cNvPr id="6289" name="Line 145"/>
            <p:cNvSpPr>
              <a:spLocks noChangeShapeType="1"/>
            </p:cNvSpPr>
            <p:nvPr/>
          </p:nvSpPr>
          <p:spPr bwMode="auto">
            <a:xfrm>
              <a:off x="3126" y="2140"/>
              <a:ext cx="0" cy="13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90" name="Line 146"/>
            <p:cNvSpPr>
              <a:spLocks noChangeShapeType="1"/>
            </p:cNvSpPr>
            <p:nvPr/>
          </p:nvSpPr>
          <p:spPr bwMode="auto">
            <a:xfrm>
              <a:off x="2874" y="2338"/>
              <a:ext cx="0" cy="1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95" name="Line 151"/>
            <p:cNvSpPr>
              <a:spLocks noChangeShapeType="1"/>
            </p:cNvSpPr>
            <p:nvPr/>
          </p:nvSpPr>
          <p:spPr bwMode="auto">
            <a:xfrm>
              <a:off x="2418" y="2494"/>
              <a:ext cx="0" cy="3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98" name="Line 154"/>
            <p:cNvSpPr>
              <a:spLocks noChangeShapeType="1"/>
            </p:cNvSpPr>
            <p:nvPr/>
          </p:nvSpPr>
          <p:spPr bwMode="auto">
            <a:xfrm>
              <a:off x="2298" y="2826"/>
              <a:ext cx="0" cy="1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01" name="Line 157"/>
            <p:cNvSpPr>
              <a:spLocks noChangeShapeType="1"/>
            </p:cNvSpPr>
            <p:nvPr/>
          </p:nvSpPr>
          <p:spPr bwMode="auto">
            <a:xfrm>
              <a:off x="1926" y="2886"/>
              <a:ext cx="0" cy="3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02" name="Line 158"/>
            <p:cNvSpPr>
              <a:spLocks noChangeShapeType="1"/>
            </p:cNvSpPr>
            <p:nvPr/>
          </p:nvSpPr>
          <p:spPr bwMode="auto">
            <a:xfrm>
              <a:off x="1708" y="3238"/>
              <a:ext cx="0" cy="2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6332" name="Line 188"/>
          <p:cNvSpPr>
            <a:spLocks noChangeShapeType="1"/>
          </p:cNvSpPr>
          <p:nvPr/>
        </p:nvSpPr>
        <p:spPr bwMode="auto">
          <a:xfrm>
            <a:off x="5735638" y="3633788"/>
            <a:ext cx="4629150" cy="14287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353" name="Group 209"/>
          <p:cNvGrpSpPr>
            <a:grpSpLocks/>
          </p:cNvGrpSpPr>
          <p:nvPr/>
        </p:nvGrpSpPr>
        <p:grpSpPr bwMode="auto">
          <a:xfrm>
            <a:off x="6159501" y="3760789"/>
            <a:ext cx="3622675" cy="1335087"/>
            <a:chOff x="2920" y="2369"/>
            <a:chExt cx="2282" cy="841"/>
          </a:xfrm>
        </p:grpSpPr>
        <p:sp>
          <p:nvSpPr>
            <p:cNvPr id="6338" name="Line 194"/>
            <p:cNvSpPr>
              <a:spLocks noChangeShapeType="1"/>
            </p:cNvSpPr>
            <p:nvPr/>
          </p:nvSpPr>
          <p:spPr bwMode="auto">
            <a:xfrm flipV="1">
              <a:off x="2920" y="2369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39" name="Line 195"/>
            <p:cNvSpPr>
              <a:spLocks noChangeShapeType="1"/>
            </p:cNvSpPr>
            <p:nvPr/>
          </p:nvSpPr>
          <p:spPr bwMode="auto">
            <a:xfrm flipV="1">
              <a:off x="3136" y="2437"/>
              <a:ext cx="1" cy="2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40" name="Line 196"/>
            <p:cNvSpPr>
              <a:spLocks noChangeShapeType="1"/>
            </p:cNvSpPr>
            <p:nvPr/>
          </p:nvSpPr>
          <p:spPr bwMode="auto">
            <a:xfrm flipV="1">
              <a:off x="3594" y="2573"/>
              <a:ext cx="0" cy="2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44" name="Line 200"/>
            <p:cNvSpPr>
              <a:spLocks noChangeShapeType="1"/>
            </p:cNvSpPr>
            <p:nvPr/>
          </p:nvSpPr>
          <p:spPr bwMode="auto">
            <a:xfrm flipV="1">
              <a:off x="4420" y="2834"/>
              <a:ext cx="0" cy="3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47" name="Line 203"/>
            <p:cNvSpPr>
              <a:spLocks noChangeShapeType="1"/>
            </p:cNvSpPr>
            <p:nvPr/>
          </p:nvSpPr>
          <p:spPr bwMode="auto">
            <a:xfrm flipH="1" flipV="1">
              <a:off x="5202" y="3076"/>
              <a:ext cx="0" cy="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45" name="Line 201"/>
            <p:cNvSpPr>
              <a:spLocks noChangeShapeType="1"/>
            </p:cNvSpPr>
            <p:nvPr/>
          </p:nvSpPr>
          <p:spPr bwMode="auto">
            <a:xfrm flipV="1">
              <a:off x="4866" y="297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358" name="Group 214"/>
          <p:cNvGrpSpPr>
            <a:grpSpLocks/>
          </p:cNvGrpSpPr>
          <p:nvPr/>
        </p:nvGrpSpPr>
        <p:grpSpPr bwMode="auto">
          <a:xfrm>
            <a:off x="2019300" y="571501"/>
            <a:ext cx="7810500" cy="4975225"/>
            <a:chOff x="312" y="360"/>
            <a:chExt cx="4920" cy="3134"/>
          </a:xfrm>
        </p:grpSpPr>
        <p:grpSp>
          <p:nvGrpSpPr>
            <p:cNvPr id="6352" name="Group 208"/>
            <p:cNvGrpSpPr>
              <a:grpSpLocks/>
            </p:cNvGrpSpPr>
            <p:nvPr/>
          </p:nvGrpSpPr>
          <p:grpSpPr bwMode="auto">
            <a:xfrm>
              <a:off x="312" y="360"/>
              <a:ext cx="4920" cy="3000"/>
              <a:chOff x="312" y="360"/>
              <a:chExt cx="4920" cy="3000"/>
            </a:xfrm>
          </p:grpSpPr>
          <p:grpSp>
            <p:nvGrpSpPr>
              <p:cNvPr id="6349" name="Group 205"/>
              <p:cNvGrpSpPr>
                <a:grpSpLocks/>
              </p:cNvGrpSpPr>
              <p:nvPr/>
            </p:nvGrpSpPr>
            <p:grpSpPr bwMode="auto">
              <a:xfrm>
                <a:off x="2892" y="2304"/>
                <a:ext cx="2340" cy="936"/>
                <a:chOff x="2892" y="2304"/>
                <a:chExt cx="2340" cy="936"/>
              </a:xfrm>
            </p:grpSpPr>
            <p:sp>
              <p:nvSpPr>
                <p:cNvPr id="6317" name="Oval 173"/>
                <p:cNvSpPr>
                  <a:spLocks noChangeArrowheads="1"/>
                </p:cNvSpPr>
                <p:nvPr/>
              </p:nvSpPr>
              <p:spPr bwMode="auto">
                <a:xfrm>
                  <a:off x="3564" y="278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18" name="Oval 174"/>
                <p:cNvSpPr>
                  <a:spLocks noChangeArrowheads="1"/>
                </p:cNvSpPr>
                <p:nvPr/>
              </p:nvSpPr>
              <p:spPr bwMode="auto">
                <a:xfrm>
                  <a:off x="4164" y="274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19" name="Oval 175"/>
                <p:cNvSpPr>
                  <a:spLocks noChangeArrowheads="1"/>
                </p:cNvSpPr>
                <p:nvPr/>
              </p:nvSpPr>
              <p:spPr bwMode="auto">
                <a:xfrm>
                  <a:off x="4836" y="308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20" name="Oval 176"/>
                <p:cNvSpPr>
                  <a:spLocks noChangeArrowheads="1"/>
                </p:cNvSpPr>
                <p:nvPr/>
              </p:nvSpPr>
              <p:spPr bwMode="auto">
                <a:xfrm>
                  <a:off x="3312" y="230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21" name="Oval 177"/>
                <p:cNvSpPr>
                  <a:spLocks noChangeArrowheads="1"/>
                </p:cNvSpPr>
                <p:nvPr/>
              </p:nvSpPr>
              <p:spPr bwMode="auto">
                <a:xfrm>
                  <a:off x="3108" y="2640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22" name="Oval 178"/>
                <p:cNvSpPr>
                  <a:spLocks noChangeArrowheads="1"/>
                </p:cNvSpPr>
                <p:nvPr/>
              </p:nvSpPr>
              <p:spPr bwMode="auto">
                <a:xfrm>
                  <a:off x="4464" y="274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23" name="Oval 179"/>
                <p:cNvSpPr>
                  <a:spLocks noChangeArrowheads="1"/>
                </p:cNvSpPr>
                <p:nvPr/>
              </p:nvSpPr>
              <p:spPr bwMode="auto">
                <a:xfrm>
                  <a:off x="3672" y="2400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24" name="Oval 180"/>
                <p:cNvSpPr>
                  <a:spLocks noChangeArrowheads="1"/>
                </p:cNvSpPr>
                <p:nvPr/>
              </p:nvSpPr>
              <p:spPr bwMode="auto">
                <a:xfrm>
                  <a:off x="4284" y="2472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25" name="Oval 181"/>
                <p:cNvSpPr>
                  <a:spLocks noChangeArrowheads="1"/>
                </p:cNvSpPr>
                <p:nvPr/>
              </p:nvSpPr>
              <p:spPr bwMode="auto">
                <a:xfrm>
                  <a:off x="4392" y="310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26" name="Oval 182"/>
                <p:cNvSpPr>
                  <a:spLocks noChangeArrowheads="1"/>
                </p:cNvSpPr>
                <p:nvPr/>
              </p:nvSpPr>
              <p:spPr bwMode="auto">
                <a:xfrm>
                  <a:off x="2892" y="2520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27" name="Oval 183"/>
                <p:cNvSpPr>
                  <a:spLocks noChangeArrowheads="1"/>
                </p:cNvSpPr>
                <p:nvPr/>
              </p:nvSpPr>
              <p:spPr bwMode="auto">
                <a:xfrm>
                  <a:off x="5028" y="278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28" name="Oval 184"/>
                <p:cNvSpPr>
                  <a:spLocks noChangeArrowheads="1"/>
                </p:cNvSpPr>
                <p:nvPr/>
              </p:nvSpPr>
              <p:spPr bwMode="auto">
                <a:xfrm>
                  <a:off x="3972" y="2316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29" name="Oval 185"/>
                <p:cNvSpPr>
                  <a:spLocks noChangeArrowheads="1"/>
                </p:cNvSpPr>
                <p:nvPr/>
              </p:nvSpPr>
              <p:spPr bwMode="auto">
                <a:xfrm>
                  <a:off x="5172" y="3180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330" name="Oval 186"/>
                <p:cNvSpPr>
                  <a:spLocks noChangeArrowheads="1"/>
                </p:cNvSpPr>
                <p:nvPr/>
              </p:nvSpPr>
              <p:spPr bwMode="auto">
                <a:xfrm>
                  <a:off x="3852" y="266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6272" name="Text Box 128" descr="Parchment"/>
              <p:cNvSpPr txBox="1">
                <a:spLocks noChangeArrowheads="1"/>
              </p:cNvSpPr>
              <p:nvPr/>
            </p:nvSpPr>
            <p:spPr bwMode="auto">
              <a:xfrm>
                <a:off x="924" y="360"/>
                <a:ext cx="3864" cy="291"/>
              </a:xfrm>
              <a:prstGeom prst="rect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 w="76200" cmpd="tri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GB" altLang="x-none" sz="2400">
                    <a:solidFill>
                      <a:prstClr val="black"/>
                    </a:solidFill>
                    <a:latin typeface="Calibri" panose="020F0502020204030204"/>
                  </a:rPr>
                  <a:t>Drawing a Line of Best Fit</a:t>
                </a:r>
              </a:p>
            </p:txBody>
          </p:sp>
          <p:grpSp>
            <p:nvGrpSpPr>
              <p:cNvPr id="6287" name="Group 143"/>
              <p:cNvGrpSpPr>
                <a:grpSpLocks/>
              </p:cNvGrpSpPr>
              <p:nvPr/>
            </p:nvGrpSpPr>
            <p:grpSpPr bwMode="auto">
              <a:xfrm>
                <a:off x="312" y="2088"/>
                <a:ext cx="1608" cy="1272"/>
                <a:chOff x="1380" y="2184"/>
                <a:chExt cx="1608" cy="1272"/>
              </a:xfrm>
            </p:grpSpPr>
            <p:sp>
              <p:nvSpPr>
                <p:cNvPr id="6274" name="Oval 130"/>
                <p:cNvSpPr>
                  <a:spLocks noChangeArrowheads="1"/>
                </p:cNvSpPr>
                <p:nvPr/>
              </p:nvSpPr>
              <p:spPr bwMode="auto">
                <a:xfrm>
                  <a:off x="2040" y="3132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75" name="Oval 131"/>
                <p:cNvSpPr>
                  <a:spLocks noChangeArrowheads="1"/>
                </p:cNvSpPr>
                <p:nvPr/>
              </p:nvSpPr>
              <p:spPr bwMode="auto">
                <a:xfrm>
                  <a:off x="2340" y="3012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76" name="Oval 132"/>
                <p:cNvSpPr>
                  <a:spLocks noChangeArrowheads="1"/>
                </p:cNvSpPr>
                <p:nvPr/>
              </p:nvSpPr>
              <p:spPr bwMode="auto">
                <a:xfrm>
                  <a:off x="2640" y="268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77" name="Oval 133"/>
                <p:cNvSpPr>
                  <a:spLocks noChangeArrowheads="1"/>
                </p:cNvSpPr>
                <p:nvPr/>
              </p:nvSpPr>
              <p:spPr bwMode="auto">
                <a:xfrm>
                  <a:off x="2088" y="2532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78" name="Oval 134"/>
                <p:cNvSpPr>
                  <a:spLocks noChangeArrowheads="1"/>
                </p:cNvSpPr>
                <p:nvPr/>
              </p:nvSpPr>
              <p:spPr bwMode="auto">
                <a:xfrm>
                  <a:off x="1596" y="292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79" name="Oval 135"/>
                <p:cNvSpPr>
                  <a:spLocks noChangeArrowheads="1"/>
                </p:cNvSpPr>
                <p:nvPr/>
              </p:nvSpPr>
              <p:spPr bwMode="auto">
                <a:xfrm>
                  <a:off x="1716" y="3396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80" name="Oval 136"/>
                <p:cNvSpPr>
                  <a:spLocks noChangeArrowheads="1"/>
                </p:cNvSpPr>
                <p:nvPr/>
              </p:nvSpPr>
              <p:spPr bwMode="auto">
                <a:xfrm>
                  <a:off x="1968" y="286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81" name="Oval 137"/>
                <p:cNvSpPr>
                  <a:spLocks noChangeArrowheads="1"/>
                </p:cNvSpPr>
                <p:nvPr/>
              </p:nvSpPr>
              <p:spPr bwMode="auto">
                <a:xfrm>
                  <a:off x="2412" y="272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83" name="Oval 139"/>
                <p:cNvSpPr>
                  <a:spLocks noChangeArrowheads="1"/>
                </p:cNvSpPr>
                <p:nvPr/>
              </p:nvSpPr>
              <p:spPr bwMode="auto">
                <a:xfrm>
                  <a:off x="2796" y="2184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84" name="Oval 140"/>
                <p:cNvSpPr>
                  <a:spLocks noChangeArrowheads="1"/>
                </p:cNvSpPr>
                <p:nvPr/>
              </p:nvSpPr>
              <p:spPr bwMode="auto">
                <a:xfrm>
                  <a:off x="1380" y="3276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85" name="Oval 141"/>
                <p:cNvSpPr>
                  <a:spLocks noChangeArrowheads="1"/>
                </p:cNvSpPr>
                <p:nvPr/>
              </p:nvSpPr>
              <p:spPr bwMode="auto">
                <a:xfrm>
                  <a:off x="2928" y="2448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286" name="Oval 142"/>
                <p:cNvSpPr>
                  <a:spLocks noChangeArrowheads="1"/>
                </p:cNvSpPr>
                <p:nvPr/>
              </p:nvSpPr>
              <p:spPr bwMode="auto">
                <a:xfrm>
                  <a:off x="2544" y="2376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6357" name="Group 213"/>
            <p:cNvGrpSpPr>
              <a:grpSpLocks/>
            </p:cNvGrpSpPr>
            <p:nvPr/>
          </p:nvGrpSpPr>
          <p:grpSpPr bwMode="auto">
            <a:xfrm>
              <a:off x="1543" y="2759"/>
              <a:ext cx="1817" cy="735"/>
              <a:chOff x="1543" y="2759"/>
              <a:chExt cx="1817" cy="735"/>
            </a:xfrm>
          </p:grpSpPr>
          <p:pic>
            <p:nvPicPr>
              <p:cNvPr id="6354" name="Picture 210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43" y="2853"/>
                <a:ext cx="1814" cy="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pic>
            <p:nvPicPr>
              <p:cNvPr id="6355" name="Picture 211" descr="Pencil 2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0" y="2759"/>
                <a:ext cx="474" cy="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56" name="Picture 212" descr="Eraser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7" y="2950"/>
                <a:ext cx="783" cy="5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6359" name="Rectangle 215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1905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6325193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27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6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6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"/>
                                        <p:tgtEl>
                                          <p:spTgt spid="6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3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"/>
                                        <p:tgtEl>
                                          <p:spTgt spid="630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"/>
                                        <p:tgtEl>
                                          <p:spTgt spid="6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3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3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3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3" grpId="0" build="p" animBg="1" autoUpdateAnimBg="0"/>
      <p:bldP spid="6288" grpId="0" animBg="1"/>
      <p:bldP spid="6305" grpId="0" build="p" animBg="1" autoUpdateAnimBg="0"/>
      <p:bldP spid="63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2" name="Group 2224"/>
          <p:cNvGrpSpPr>
            <a:grpSpLocks/>
          </p:cNvGrpSpPr>
          <p:nvPr/>
        </p:nvGrpSpPr>
        <p:grpSpPr bwMode="auto">
          <a:xfrm>
            <a:off x="2166938" y="342900"/>
            <a:ext cx="8139112" cy="6286500"/>
            <a:chOff x="405" y="216"/>
            <a:chExt cx="5127" cy="3960"/>
          </a:xfrm>
        </p:grpSpPr>
        <p:grpSp>
          <p:nvGrpSpPr>
            <p:cNvPr id="9377" name="Group 2209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9376" name="Group 2208"/>
              <p:cNvGrpSpPr>
                <a:grpSpLocks/>
              </p:cNvGrpSpPr>
              <p:nvPr/>
            </p:nvGrpSpPr>
            <p:grpSpPr bwMode="auto">
              <a:xfrm>
                <a:off x="477" y="1487"/>
                <a:ext cx="3204" cy="2689"/>
                <a:chOff x="405" y="1470"/>
                <a:chExt cx="3204" cy="2689"/>
              </a:xfrm>
            </p:grpSpPr>
            <p:sp>
              <p:nvSpPr>
                <p:cNvPr id="9283" name="Text Box 2115"/>
                <p:cNvSpPr txBox="1">
                  <a:spLocks noChangeArrowheads="1"/>
                </p:cNvSpPr>
                <p:nvPr/>
              </p:nvSpPr>
              <p:spPr bwMode="auto">
                <a:xfrm>
                  <a:off x="1131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4</a:t>
                  </a:r>
                </a:p>
              </p:txBody>
            </p:sp>
            <p:sp>
              <p:nvSpPr>
                <p:cNvPr id="9284" name="Text Box 2116"/>
                <p:cNvSpPr txBox="1">
                  <a:spLocks noChangeArrowheads="1"/>
                </p:cNvSpPr>
                <p:nvPr/>
              </p:nvSpPr>
              <p:spPr bwMode="auto">
                <a:xfrm>
                  <a:off x="1395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5</a:t>
                  </a:r>
                </a:p>
              </p:txBody>
            </p:sp>
            <p:sp>
              <p:nvSpPr>
                <p:cNvPr id="9286" name="Text Box 2118"/>
                <p:cNvSpPr txBox="1">
                  <a:spLocks noChangeArrowheads="1"/>
                </p:cNvSpPr>
                <p:nvPr/>
              </p:nvSpPr>
              <p:spPr bwMode="auto">
                <a:xfrm>
                  <a:off x="1659" y="3747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6</a:t>
                  </a:r>
                </a:p>
              </p:txBody>
            </p:sp>
            <p:sp>
              <p:nvSpPr>
                <p:cNvPr id="9287" name="Text Box 2119"/>
                <p:cNvSpPr txBox="1">
                  <a:spLocks noChangeArrowheads="1"/>
                </p:cNvSpPr>
                <p:nvPr/>
              </p:nvSpPr>
              <p:spPr bwMode="auto">
                <a:xfrm>
                  <a:off x="1869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7</a:t>
                  </a:r>
                </a:p>
              </p:txBody>
            </p:sp>
            <p:sp>
              <p:nvSpPr>
                <p:cNvPr id="9288" name="Text Box 2120"/>
                <p:cNvSpPr txBox="1">
                  <a:spLocks noChangeArrowheads="1"/>
                </p:cNvSpPr>
                <p:nvPr/>
              </p:nvSpPr>
              <p:spPr bwMode="auto">
                <a:xfrm>
                  <a:off x="2125" y="3743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8</a:t>
                  </a:r>
                </a:p>
              </p:txBody>
            </p:sp>
            <p:sp>
              <p:nvSpPr>
                <p:cNvPr id="9289" name="Text Box 2121"/>
                <p:cNvSpPr txBox="1">
                  <a:spLocks noChangeArrowheads="1"/>
                </p:cNvSpPr>
                <p:nvPr/>
              </p:nvSpPr>
              <p:spPr bwMode="auto">
                <a:xfrm>
                  <a:off x="2365" y="3739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9</a:t>
                  </a:r>
                </a:p>
              </p:txBody>
            </p:sp>
            <p:sp>
              <p:nvSpPr>
                <p:cNvPr id="9290" name="Text Box 2122"/>
                <p:cNvSpPr txBox="1">
                  <a:spLocks noChangeArrowheads="1"/>
                </p:cNvSpPr>
                <p:nvPr/>
              </p:nvSpPr>
              <p:spPr bwMode="auto">
                <a:xfrm>
                  <a:off x="2561" y="374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10</a:t>
                  </a:r>
                </a:p>
              </p:txBody>
            </p:sp>
            <p:sp>
              <p:nvSpPr>
                <p:cNvPr id="9291" name="Text Box 2123"/>
                <p:cNvSpPr txBox="1">
                  <a:spLocks noChangeArrowheads="1"/>
                </p:cNvSpPr>
                <p:nvPr/>
              </p:nvSpPr>
              <p:spPr bwMode="auto">
                <a:xfrm>
                  <a:off x="2809" y="3751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11</a:t>
                  </a:r>
                </a:p>
              </p:txBody>
            </p:sp>
            <p:sp>
              <p:nvSpPr>
                <p:cNvPr id="9292" name="Text Box 2124"/>
                <p:cNvSpPr txBox="1">
                  <a:spLocks noChangeArrowheads="1"/>
                </p:cNvSpPr>
                <p:nvPr/>
              </p:nvSpPr>
              <p:spPr bwMode="auto">
                <a:xfrm>
                  <a:off x="3033" y="374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12</a:t>
                  </a:r>
                </a:p>
              </p:txBody>
            </p:sp>
            <p:sp>
              <p:nvSpPr>
                <p:cNvPr id="9293" name="Text Box 2125"/>
                <p:cNvSpPr txBox="1">
                  <a:spLocks noChangeArrowheads="1"/>
                </p:cNvSpPr>
                <p:nvPr/>
              </p:nvSpPr>
              <p:spPr bwMode="auto">
                <a:xfrm>
                  <a:off x="3281" y="374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13</a:t>
                  </a:r>
                </a:p>
              </p:txBody>
            </p:sp>
            <p:sp>
              <p:nvSpPr>
                <p:cNvPr id="9294" name="Text Box 2126"/>
                <p:cNvSpPr txBox="1">
                  <a:spLocks noChangeArrowheads="1"/>
                </p:cNvSpPr>
                <p:nvPr/>
              </p:nvSpPr>
              <p:spPr bwMode="auto">
                <a:xfrm>
                  <a:off x="1731" y="3909"/>
                  <a:ext cx="97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srgbClr val="ED7D31"/>
                      </a:solidFill>
                      <a:latin typeface="Calibri" panose="020F0502020204030204"/>
                    </a:rPr>
                    <a:t>Shoe Size</a:t>
                  </a:r>
                </a:p>
              </p:txBody>
            </p:sp>
            <p:sp>
              <p:nvSpPr>
                <p:cNvPr id="9295" name="Text Box 2127"/>
                <p:cNvSpPr txBox="1">
                  <a:spLocks noChangeArrowheads="1"/>
                </p:cNvSpPr>
                <p:nvPr/>
              </p:nvSpPr>
              <p:spPr bwMode="auto">
                <a:xfrm>
                  <a:off x="675" y="337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60</a:t>
                  </a:r>
                </a:p>
              </p:txBody>
            </p:sp>
            <p:sp>
              <p:nvSpPr>
                <p:cNvPr id="9297" name="Text Box 2129"/>
                <p:cNvSpPr txBox="1">
                  <a:spLocks noChangeArrowheads="1"/>
                </p:cNvSpPr>
                <p:nvPr/>
              </p:nvSpPr>
              <p:spPr bwMode="auto">
                <a:xfrm>
                  <a:off x="675" y="3125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65</a:t>
                  </a:r>
                </a:p>
              </p:txBody>
            </p:sp>
            <p:sp>
              <p:nvSpPr>
                <p:cNvPr id="9298" name="Text Box 2130"/>
                <p:cNvSpPr txBox="1">
                  <a:spLocks noChangeArrowheads="1"/>
                </p:cNvSpPr>
                <p:nvPr/>
              </p:nvSpPr>
              <p:spPr bwMode="auto">
                <a:xfrm>
                  <a:off x="663" y="289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70</a:t>
                  </a:r>
                </a:p>
              </p:txBody>
            </p:sp>
            <p:sp>
              <p:nvSpPr>
                <p:cNvPr id="9299" name="Text Box 2131"/>
                <p:cNvSpPr txBox="1">
                  <a:spLocks noChangeArrowheads="1"/>
                </p:cNvSpPr>
                <p:nvPr/>
              </p:nvSpPr>
              <p:spPr bwMode="auto">
                <a:xfrm>
                  <a:off x="667" y="265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75</a:t>
                  </a:r>
                </a:p>
              </p:txBody>
            </p:sp>
            <p:sp>
              <p:nvSpPr>
                <p:cNvPr id="9300" name="Text Box 2132"/>
                <p:cNvSpPr txBox="1">
                  <a:spLocks noChangeArrowheads="1"/>
                </p:cNvSpPr>
                <p:nvPr/>
              </p:nvSpPr>
              <p:spPr bwMode="auto">
                <a:xfrm>
                  <a:off x="683" y="239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80</a:t>
                  </a:r>
                </a:p>
              </p:txBody>
            </p:sp>
            <p:sp>
              <p:nvSpPr>
                <p:cNvPr id="9301" name="Text Box 2133"/>
                <p:cNvSpPr txBox="1">
                  <a:spLocks noChangeArrowheads="1"/>
                </p:cNvSpPr>
                <p:nvPr/>
              </p:nvSpPr>
              <p:spPr bwMode="auto">
                <a:xfrm>
                  <a:off x="679" y="2169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85</a:t>
                  </a:r>
                </a:p>
              </p:txBody>
            </p:sp>
            <p:sp>
              <p:nvSpPr>
                <p:cNvPr id="9302" name="Text Box 2134"/>
                <p:cNvSpPr txBox="1">
                  <a:spLocks noChangeArrowheads="1"/>
                </p:cNvSpPr>
                <p:nvPr/>
              </p:nvSpPr>
              <p:spPr bwMode="auto">
                <a:xfrm>
                  <a:off x="671" y="193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90</a:t>
                  </a:r>
                </a:p>
              </p:txBody>
            </p:sp>
            <p:sp>
              <p:nvSpPr>
                <p:cNvPr id="9303" name="Text Box 2135"/>
                <p:cNvSpPr txBox="1">
                  <a:spLocks noChangeArrowheads="1"/>
                </p:cNvSpPr>
                <p:nvPr/>
              </p:nvSpPr>
              <p:spPr bwMode="auto">
                <a:xfrm>
                  <a:off x="675" y="1681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95</a:t>
                  </a:r>
                </a:p>
              </p:txBody>
            </p:sp>
            <p:grpSp>
              <p:nvGrpSpPr>
                <p:cNvPr id="9324" name="Group 2156"/>
                <p:cNvGrpSpPr>
                  <a:grpSpLocks/>
                </p:cNvGrpSpPr>
                <p:nvPr/>
              </p:nvGrpSpPr>
              <p:grpSpPr bwMode="auto">
                <a:xfrm>
                  <a:off x="1017" y="1574"/>
                  <a:ext cx="2411" cy="2169"/>
                  <a:chOff x="1349" y="1496"/>
                  <a:chExt cx="2411" cy="2169"/>
                </a:xfrm>
              </p:grpSpPr>
              <p:sp>
                <p:nvSpPr>
                  <p:cNvPr id="9170" name="Rectangle 2002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71" name="Rectangle 2003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72" name="Rectangle 2004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73" name="Rectangle 2005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74" name="Rectangle 2006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3424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75" name="Rectangle 2007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76" name="Rectangle 2008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77" name="Rectangle 2009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78" name="Rectangle 2010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79" name="Rectangle 2011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82" name="Rectangle 201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83" name="Rectangle 201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84" name="Rectangle 201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85" name="Rectangle 201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86" name="Rectangle 201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3183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87" name="Rectangle 201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88" name="Rectangle 202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89" name="Rectangle 202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90" name="Rectangle 202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91" name="Rectangle 202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93" name="Rectangle 2025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94" name="Rectangle 2026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95" name="Rectangle 2027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96" name="Rectangle 2028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97" name="Rectangle 2029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942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98" name="Rectangle 2030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199" name="Rectangle 2031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00" name="Rectangle 2032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01" name="Rectangle 2033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02" name="Rectangle 2034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04" name="Rectangle 2036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05" name="Rectangle 2037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06" name="Rectangle 2038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07" name="Rectangle 2039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08" name="Rectangle 2040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700"/>
                    <a:ext cx="242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09" name="Rectangle 2041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10" name="Rectangle 2042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11" name="Rectangle 2043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12" name="Rectangle 2044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13" name="Rectangle 2045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15" name="Rectangle 2047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16" name="Rectangle 2048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17" name="Rectangle 2049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18" name="Rectangle 2050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19" name="Rectangle 2051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460"/>
                    <a:ext cx="242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20" name="Rectangle 2052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21" name="Rectangle 2053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22" name="Rectangle 2054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23" name="Rectangle 2055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24" name="Rectangle 2056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26" name="Rectangle 2058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27" name="Rectangle 2059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28" name="Rectangle 2060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29" name="Rectangle 2061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30" name="Rectangle 2062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219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31" name="Rectangle 2063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32" name="Rectangle 2064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33" name="Rectangle 2065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34" name="Rectangle 2066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35" name="Rectangle 2067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37" name="Rectangle 2069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38" name="Rectangle 2070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39" name="Rectangle 2071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40" name="Rectangle 2072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41" name="Rectangle 2073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977"/>
                    <a:ext cx="242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42" name="Rectangle 2074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43" name="Rectangle 2075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44" name="Rectangle 2076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45" name="Rectangle 2077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46" name="Rectangle 2078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48" name="Rectangle 2080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49" name="Rectangle 2081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50" name="Rectangle 2082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51" name="Rectangle 2083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52" name="Rectangle 2084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737"/>
                    <a:ext cx="242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53" name="Rectangle 2085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54" name="Rectangle 2086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55" name="Rectangle 2087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56" name="Rectangle 2088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257" name="Rectangle 2089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305" name="Rectangle 2137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306" name="Rectangle 2138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307" name="Rectangle 2139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308" name="Rectangle 2140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309" name="Rectangle 2141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496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310" name="Rectangle 2142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311" name="Rectangle 2143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312" name="Rectangle 2144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313" name="Rectangle 2145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9314" name="Rectangle 2146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9315" name="Text Box 2147"/>
                <p:cNvSpPr txBox="1">
                  <a:spLocks noChangeArrowheads="1"/>
                </p:cNvSpPr>
                <p:nvPr/>
              </p:nvSpPr>
              <p:spPr bwMode="auto">
                <a:xfrm>
                  <a:off x="647" y="1470"/>
                  <a:ext cx="44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100</a:t>
                  </a:r>
                </a:p>
              </p:txBody>
            </p:sp>
            <p:sp>
              <p:nvSpPr>
                <p:cNvPr id="9316" name="Text Box 2148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42" y="2600"/>
                  <a:ext cx="97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altLang="x-none" sz="2000">
                      <a:solidFill>
                        <a:srgbClr val="ED7D31"/>
                      </a:solidFill>
                      <a:latin typeface="Calibri" panose="020F0502020204030204"/>
                    </a:rPr>
                    <a:t>Mass (kg)</a:t>
                  </a:r>
                </a:p>
              </p:txBody>
            </p:sp>
            <p:sp>
              <p:nvSpPr>
                <p:cNvPr id="9325" name="Line 2157"/>
                <p:cNvSpPr>
                  <a:spLocks noChangeShapeType="1"/>
                </p:cNvSpPr>
                <p:nvPr/>
              </p:nvSpPr>
              <p:spPr bwMode="auto">
                <a:xfrm>
                  <a:off x="1017" y="3743"/>
                  <a:ext cx="241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282" name="Line 2114"/>
                <p:cNvSpPr>
                  <a:spLocks noChangeShapeType="1"/>
                </p:cNvSpPr>
                <p:nvPr/>
              </p:nvSpPr>
              <p:spPr bwMode="auto">
                <a:xfrm>
                  <a:off x="1017" y="1582"/>
                  <a:ext cx="0" cy="216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9328" name="Text Box 2160" descr="Parchment"/>
              <p:cNvSpPr txBox="1">
                <a:spLocks noChangeArrowheads="1"/>
              </p:cNvSpPr>
              <p:nvPr/>
            </p:nvSpPr>
            <p:spPr bwMode="auto">
              <a:xfrm>
                <a:off x="444" y="216"/>
                <a:ext cx="5088" cy="446"/>
              </a:xfrm>
              <a:prstGeom prst="rect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 sz="2000" b="1">
                    <a:solidFill>
                      <a:prstClr val="black"/>
                    </a:solidFill>
                    <a:latin typeface="Calibri" panose="020F0502020204030204"/>
                  </a:rPr>
                  <a:t>(1).</a:t>
                </a:r>
                <a:r>
                  <a:rPr lang="en-GB" altLang="x-none" sz="2000">
                    <a:solidFill>
                      <a:prstClr val="black"/>
                    </a:solidFill>
                    <a:latin typeface="Calibri" panose="020F0502020204030204"/>
                  </a:rPr>
                  <a:t> The table below shows the shoe size and mass of 10 men.</a:t>
                </a:r>
              </a:p>
              <a:p>
                <a:r>
                  <a:rPr lang="en-GB" altLang="x-none" sz="2000">
                    <a:solidFill>
                      <a:srgbClr val="FF0000"/>
                    </a:solidFill>
                    <a:latin typeface="Calibri" panose="020F0502020204030204"/>
                  </a:rPr>
                  <a:t>(a)</a:t>
                </a:r>
                <a:r>
                  <a:rPr lang="en-GB" altLang="x-none" sz="2000">
                    <a:solidFill>
                      <a:prstClr val="black"/>
                    </a:solidFill>
                    <a:latin typeface="Calibri" panose="020F0502020204030204"/>
                  </a:rPr>
                  <a:t> Plot a </a:t>
                </a:r>
                <a:r>
                  <a:rPr lang="en-GB" altLang="x-none" sz="2000">
                    <a:solidFill>
                      <a:srgbClr val="ED7D31"/>
                    </a:solidFill>
                    <a:latin typeface="Calibri" panose="020F0502020204030204"/>
                  </a:rPr>
                  <a:t>scatter graph</a:t>
                </a:r>
                <a:r>
                  <a:rPr lang="en-GB" altLang="x-none" sz="2000">
                    <a:solidFill>
                      <a:prstClr val="black"/>
                    </a:solidFill>
                    <a:latin typeface="Calibri" panose="020F0502020204030204"/>
                  </a:rPr>
                  <a:t> for this data and draw a </a:t>
                </a:r>
                <a:r>
                  <a:rPr lang="en-GB" altLang="x-none" sz="2000">
                    <a:solidFill>
                      <a:srgbClr val="ED7D31"/>
                    </a:solidFill>
                    <a:latin typeface="Calibri" panose="020F0502020204030204"/>
                  </a:rPr>
                  <a:t>line of best fit.</a:t>
                </a:r>
              </a:p>
            </p:txBody>
          </p:sp>
          <p:sp>
            <p:nvSpPr>
              <p:cNvPr id="9351" name="Rectangle 2183"/>
              <p:cNvSpPr>
                <a:spLocks noChangeArrowheads="1"/>
              </p:cNvSpPr>
              <p:nvPr/>
            </p:nvSpPr>
            <p:spPr bwMode="auto">
              <a:xfrm>
                <a:off x="5066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80</a:t>
                </a:r>
              </a:p>
            </p:txBody>
          </p:sp>
          <p:sp>
            <p:nvSpPr>
              <p:cNvPr id="9350" name="Rectangle 2182"/>
              <p:cNvSpPr>
                <a:spLocks noChangeArrowheads="1"/>
              </p:cNvSpPr>
              <p:nvPr/>
            </p:nvSpPr>
            <p:spPr bwMode="auto">
              <a:xfrm>
                <a:off x="4600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74</a:t>
                </a:r>
              </a:p>
            </p:txBody>
          </p:sp>
          <p:sp>
            <p:nvSpPr>
              <p:cNvPr id="9349" name="Rectangle 2181"/>
              <p:cNvSpPr>
                <a:spLocks noChangeArrowheads="1"/>
              </p:cNvSpPr>
              <p:nvPr/>
            </p:nvSpPr>
            <p:spPr bwMode="auto">
              <a:xfrm>
                <a:off x="4134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88</a:t>
                </a:r>
              </a:p>
            </p:txBody>
          </p:sp>
          <p:sp>
            <p:nvSpPr>
              <p:cNvPr id="9348" name="Rectangle 2180"/>
              <p:cNvSpPr>
                <a:spLocks noChangeArrowheads="1"/>
              </p:cNvSpPr>
              <p:nvPr/>
            </p:nvSpPr>
            <p:spPr bwMode="auto">
              <a:xfrm>
                <a:off x="3668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76</a:t>
                </a:r>
              </a:p>
            </p:txBody>
          </p:sp>
          <p:sp>
            <p:nvSpPr>
              <p:cNvPr id="9347" name="Rectangle 2179"/>
              <p:cNvSpPr>
                <a:spLocks noChangeArrowheads="1"/>
              </p:cNvSpPr>
              <p:nvPr/>
            </p:nvSpPr>
            <p:spPr bwMode="auto">
              <a:xfrm>
                <a:off x="3202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78</a:t>
                </a:r>
              </a:p>
            </p:txBody>
          </p:sp>
          <p:sp>
            <p:nvSpPr>
              <p:cNvPr id="9346" name="Rectangle 2178"/>
              <p:cNvSpPr>
                <a:spLocks noChangeArrowheads="1"/>
              </p:cNvSpPr>
              <p:nvPr/>
            </p:nvSpPr>
            <p:spPr bwMode="auto">
              <a:xfrm>
                <a:off x="2735" y="1129"/>
                <a:ext cx="46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78</a:t>
                </a:r>
              </a:p>
            </p:txBody>
          </p:sp>
          <p:sp>
            <p:nvSpPr>
              <p:cNvPr id="9345" name="Rectangle 2177"/>
              <p:cNvSpPr>
                <a:spLocks noChangeArrowheads="1"/>
              </p:cNvSpPr>
              <p:nvPr/>
            </p:nvSpPr>
            <p:spPr bwMode="auto">
              <a:xfrm>
                <a:off x="2269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92</a:t>
                </a:r>
              </a:p>
            </p:txBody>
          </p:sp>
          <p:sp>
            <p:nvSpPr>
              <p:cNvPr id="9344" name="Rectangle 2176"/>
              <p:cNvSpPr>
                <a:spLocks noChangeArrowheads="1"/>
              </p:cNvSpPr>
              <p:nvPr/>
            </p:nvSpPr>
            <p:spPr bwMode="auto">
              <a:xfrm>
                <a:off x="1803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68</a:t>
                </a:r>
              </a:p>
            </p:txBody>
          </p:sp>
          <p:sp>
            <p:nvSpPr>
              <p:cNvPr id="9343" name="Rectangle 2175"/>
              <p:cNvSpPr>
                <a:spLocks noChangeArrowheads="1"/>
              </p:cNvSpPr>
              <p:nvPr/>
            </p:nvSpPr>
            <p:spPr bwMode="auto">
              <a:xfrm>
                <a:off x="1337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97</a:t>
                </a:r>
              </a:p>
            </p:txBody>
          </p:sp>
          <p:sp>
            <p:nvSpPr>
              <p:cNvPr id="9342" name="Rectangle 2174"/>
              <p:cNvSpPr>
                <a:spLocks noChangeArrowheads="1"/>
              </p:cNvSpPr>
              <p:nvPr/>
            </p:nvSpPr>
            <p:spPr bwMode="auto">
              <a:xfrm>
                <a:off x="871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65</a:t>
                </a:r>
              </a:p>
            </p:txBody>
          </p:sp>
          <p:sp>
            <p:nvSpPr>
              <p:cNvPr id="9341" name="Rectangle 2173"/>
              <p:cNvSpPr>
                <a:spLocks noChangeArrowheads="1"/>
              </p:cNvSpPr>
              <p:nvPr/>
            </p:nvSpPr>
            <p:spPr bwMode="auto">
              <a:xfrm>
                <a:off x="405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buNone/>
                </a:pPr>
                <a:r>
                  <a:rPr lang="en-GB" altLang="x-none" sz="1800">
                    <a:solidFill>
                      <a:srgbClr val="ED7D31"/>
                    </a:solidFill>
                    <a:latin typeface="Comic Sans MS" charset="0"/>
                  </a:rPr>
                  <a:t>Mass</a:t>
                </a:r>
              </a:p>
            </p:txBody>
          </p:sp>
          <p:sp>
            <p:nvSpPr>
              <p:cNvPr id="9340" name="Rectangle 2172"/>
              <p:cNvSpPr>
                <a:spLocks noChangeArrowheads="1"/>
              </p:cNvSpPr>
              <p:nvPr/>
            </p:nvSpPr>
            <p:spPr bwMode="auto">
              <a:xfrm>
                <a:off x="5066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8</a:t>
                </a:r>
              </a:p>
            </p:txBody>
          </p:sp>
          <p:sp>
            <p:nvSpPr>
              <p:cNvPr id="9339" name="Rectangle 2171"/>
              <p:cNvSpPr>
                <a:spLocks noChangeArrowheads="1"/>
              </p:cNvSpPr>
              <p:nvPr/>
            </p:nvSpPr>
            <p:spPr bwMode="auto">
              <a:xfrm>
                <a:off x="4600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6</a:t>
                </a:r>
              </a:p>
            </p:txBody>
          </p:sp>
          <p:sp>
            <p:nvSpPr>
              <p:cNvPr id="9338" name="Rectangle 2170"/>
              <p:cNvSpPr>
                <a:spLocks noChangeArrowheads="1"/>
              </p:cNvSpPr>
              <p:nvPr/>
            </p:nvSpPr>
            <p:spPr bwMode="auto">
              <a:xfrm>
                <a:off x="4134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11</a:t>
                </a:r>
              </a:p>
            </p:txBody>
          </p:sp>
          <p:sp>
            <p:nvSpPr>
              <p:cNvPr id="9337" name="Rectangle 2169"/>
              <p:cNvSpPr>
                <a:spLocks noChangeArrowheads="1"/>
              </p:cNvSpPr>
              <p:nvPr/>
            </p:nvSpPr>
            <p:spPr bwMode="auto">
              <a:xfrm>
                <a:off x="3668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8</a:t>
                </a:r>
              </a:p>
            </p:txBody>
          </p:sp>
          <p:sp>
            <p:nvSpPr>
              <p:cNvPr id="9336" name="Rectangle 2168"/>
              <p:cNvSpPr>
                <a:spLocks noChangeArrowheads="1"/>
              </p:cNvSpPr>
              <p:nvPr/>
            </p:nvSpPr>
            <p:spPr bwMode="auto">
              <a:xfrm>
                <a:off x="3202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9</a:t>
                </a:r>
              </a:p>
            </p:txBody>
          </p:sp>
          <p:sp>
            <p:nvSpPr>
              <p:cNvPr id="9335" name="Rectangle 2167"/>
              <p:cNvSpPr>
                <a:spLocks noChangeArrowheads="1"/>
              </p:cNvSpPr>
              <p:nvPr/>
            </p:nvSpPr>
            <p:spPr bwMode="auto">
              <a:xfrm>
                <a:off x="2735" y="880"/>
                <a:ext cx="46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10</a:t>
                </a:r>
              </a:p>
            </p:txBody>
          </p:sp>
          <p:sp>
            <p:nvSpPr>
              <p:cNvPr id="9334" name="Rectangle 2166"/>
              <p:cNvSpPr>
                <a:spLocks noChangeArrowheads="1"/>
              </p:cNvSpPr>
              <p:nvPr/>
            </p:nvSpPr>
            <p:spPr bwMode="auto">
              <a:xfrm>
                <a:off x="2269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10</a:t>
                </a:r>
              </a:p>
            </p:txBody>
          </p:sp>
          <p:sp>
            <p:nvSpPr>
              <p:cNvPr id="9333" name="Rectangle 2165"/>
              <p:cNvSpPr>
                <a:spLocks noChangeArrowheads="1"/>
              </p:cNvSpPr>
              <p:nvPr/>
            </p:nvSpPr>
            <p:spPr bwMode="auto">
              <a:xfrm>
                <a:off x="1803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7</a:t>
                </a:r>
              </a:p>
            </p:txBody>
          </p:sp>
          <p:sp>
            <p:nvSpPr>
              <p:cNvPr id="9332" name="Rectangle 2164"/>
              <p:cNvSpPr>
                <a:spLocks noChangeArrowheads="1"/>
              </p:cNvSpPr>
              <p:nvPr/>
            </p:nvSpPr>
            <p:spPr bwMode="auto">
              <a:xfrm>
                <a:off x="1337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12</a:t>
                </a:r>
              </a:p>
            </p:txBody>
          </p:sp>
          <p:sp>
            <p:nvSpPr>
              <p:cNvPr id="9331" name="Rectangle 2163"/>
              <p:cNvSpPr>
                <a:spLocks noChangeArrowheads="1"/>
              </p:cNvSpPr>
              <p:nvPr/>
            </p:nvSpPr>
            <p:spPr bwMode="auto">
              <a:xfrm>
                <a:off x="871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5</a:t>
                </a:r>
              </a:p>
            </p:txBody>
          </p:sp>
          <p:sp>
            <p:nvSpPr>
              <p:cNvPr id="9330" name="Rectangle 2162"/>
              <p:cNvSpPr>
                <a:spLocks noChangeArrowheads="1"/>
              </p:cNvSpPr>
              <p:nvPr/>
            </p:nvSpPr>
            <p:spPr bwMode="auto">
              <a:xfrm>
                <a:off x="405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buNone/>
                </a:pPr>
                <a:r>
                  <a:rPr lang="en-GB" altLang="x-none" sz="1800">
                    <a:solidFill>
                      <a:srgbClr val="ED7D31"/>
                    </a:solidFill>
                    <a:latin typeface="Comic Sans MS" charset="0"/>
                  </a:rPr>
                  <a:t>Size</a:t>
                </a:r>
              </a:p>
            </p:txBody>
          </p:sp>
          <p:sp>
            <p:nvSpPr>
              <p:cNvPr id="9352" name="Line 2184"/>
              <p:cNvSpPr>
                <a:spLocks noChangeShapeType="1"/>
              </p:cNvSpPr>
              <p:nvPr/>
            </p:nvSpPr>
            <p:spPr bwMode="auto">
              <a:xfrm>
                <a:off x="405" y="880"/>
                <a:ext cx="512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53" name="Line 2185"/>
              <p:cNvSpPr>
                <a:spLocks noChangeShapeType="1"/>
              </p:cNvSpPr>
              <p:nvPr/>
            </p:nvSpPr>
            <p:spPr bwMode="auto">
              <a:xfrm>
                <a:off x="405" y="1129"/>
                <a:ext cx="51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54" name="Line 2186"/>
              <p:cNvSpPr>
                <a:spLocks noChangeShapeType="1"/>
              </p:cNvSpPr>
              <p:nvPr/>
            </p:nvSpPr>
            <p:spPr bwMode="auto">
              <a:xfrm>
                <a:off x="405" y="1378"/>
                <a:ext cx="512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55" name="Line 2187"/>
              <p:cNvSpPr>
                <a:spLocks noChangeShapeType="1"/>
              </p:cNvSpPr>
              <p:nvPr/>
            </p:nvSpPr>
            <p:spPr bwMode="auto">
              <a:xfrm>
                <a:off x="405" y="880"/>
                <a:ext cx="0" cy="49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56" name="Line 2188"/>
              <p:cNvSpPr>
                <a:spLocks noChangeShapeType="1"/>
              </p:cNvSpPr>
              <p:nvPr/>
            </p:nvSpPr>
            <p:spPr bwMode="auto">
              <a:xfrm>
                <a:off x="871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57" name="Line 2189"/>
              <p:cNvSpPr>
                <a:spLocks noChangeShapeType="1"/>
              </p:cNvSpPr>
              <p:nvPr/>
            </p:nvSpPr>
            <p:spPr bwMode="auto">
              <a:xfrm>
                <a:off x="1337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58" name="Line 2190"/>
              <p:cNvSpPr>
                <a:spLocks noChangeShapeType="1"/>
              </p:cNvSpPr>
              <p:nvPr/>
            </p:nvSpPr>
            <p:spPr bwMode="auto">
              <a:xfrm>
                <a:off x="1803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59" name="Line 2191"/>
              <p:cNvSpPr>
                <a:spLocks noChangeShapeType="1"/>
              </p:cNvSpPr>
              <p:nvPr/>
            </p:nvSpPr>
            <p:spPr bwMode="auto">
              <a:xfrm>
                <a:off x="2269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60" name="Line 2192"/>
              <p:cNvSpPr>
                <a:spLocks noChangeShapeType="1"/>
              </p:cNvSpPr>
              <p:nvPr/>
            </p:nvSpPr>
            <p:spPr bwMode="auto">
              <a:xfrm>
                <a:off x="2735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61" name="Line 2193"/>
              <p:cNvSpPr>
                <a:spLocks noChangeShapeType="1"/>
              </p:cNvSpPr>
              <p:nvPr/>
            </p:nvSpPr>
            <p:spPr bwMode="auto">
              <a:xfrm>
                <a:off x="3202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62" name="Line 2194"/>
              <p:cNvSpPr>
                <a:spLocks noChangeShapeType="1"/>
              </p:cNvSpPr>
              <p:nvPr/>
            </p:nvSpPr>
            <p:spPr bwMode="auto">
              <a:xfrm>
                <a:off x="3668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63" name="Line 2195"/>
              <p:cNvSpPr>
                <a:spLocks noChangeShapeType="1"/>
              </p:cNvSpPr>
              <p:nvPr/>
            </p:nvSpPr>
            <p:spPr bwMode="auto">
              <a:xfrm>
                <a:off x="4134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64" name="Line 2196"/>
              <p:cNvSpPr>
                <a:spLocks noChangeShapeType="1"/>
              </p:cNvSpPr>
              <p:nvPr/>
            </p:nvSpPr>
            <p:spPr bwMode="auto">
              <a:xfrm>
                <a:off x="4600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65" name="Line 2197"/>
              <p:cNvSpPr>
                <a:spLocks noChangeShapeType="1"/>
              </p:cNvSpPr>
              <p:nvPr/>
            </p:nvSpPr>
            <p:spPr bwMode="auto">
              <a:xfrm>
                <a:off x="5066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66" name="Line 2198"/>
              <p:cNvSpPr>
                <a:spLocks noChangeShapeType="1"/>
              </p:cNvSpPr>
              <p:nvPr/>
            </p:nvSpPr>
            <p:spPr bwMode="auto">
              <a:xfrm>
                <a:off x="5532" y="880"/>
                <a:ext cx="0" cy="49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9391" name="Group 2223"/>
            <p:cNvGrpSpPr>
              <a:grpSpLocks/>
            </p:cNvGrpSpPr>
            <p:nvPr/>
          </p:nvGrpSpPr>
          <p:grpSpPr bwMode="auto">
            <a:xfrm>
              <a:off x="1049" y="3519"/>
              <a:ext cx="281" cy="281"/>
              <a:chOff x="854" y="3609"/>
              <a:chExt cx="281" cy="281"/>
            </a:xfrm>
          </p:grpSpPr>
          <p:grpSp>
            <p:nvGrpSpPr>
              <p:cNvPr id="9390" name="Group 2222"/>
              <p:cNvGrpSpPr>
                <a:grpSpLocks/>
              </p:cNvGrpSpPr>
              <p:nvPr/>
            </p:nvGrpSpPr>
            <p:grpSpPr bwMode="auto">
              <a:xfrm>
                <a:off x="891" y="3616"/>
                <a:ext cx="244" cy="274"/>
                <a:chOff x="891" y="3616"/>
                <a:chExt cx="244" cy="274"/>
              </a:xfrm>
            </p:grpSpPr>
            <p:sp>
              <p:nvSpPr>
                <p:cNvPr id="9385" name="Line 2217"/>
                <p:cNvSpPr>
                  <a:spLocks noChangeShapeType="1"/>
                </p:cNvSpPr>
                <p:nvPr/>
              </p:nvSpPr>
              <p:spPr bwMode="auto">
                <a:xfrm>
                  <a:off x="900" y="3852"/>
                  <a:ext cx="234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386" name="Freeform 2218"/>
                <p:cNvSpPr>
                  <a:spLocks/>
                </p:cNvSpPr>
                <p:nvPr/>
              </p:nvSpPr>
              <p:spPr bwMode="auto">
                <a:xfrm>
                  <a:off x="892" y="3806"/>
                  <a:ext cx="243" cy="84"/>
                </a:xfrm>
                <a:custGeom>
                  <a:avLst/>
                  <a:gdLst>
                    <a:gd name="T0" fmla="*/ 0 w 243"/>
                    <a:gd name="T1" fmla="*/ 48 h 84"/>
                    <a:gd name="T2" fmla="*/ 97 w 243"/>
                    <a:gd name="T3" fmla="*/ 48 h 84"/>
                    <a:gd name="T4" fmla="*/ 120 w 243"/>
                    <a:gd name="T5" fmla="*/ 0 h 84"/>
                    <a:gd name="T6" fmla="*/ 154 w 243"/>
                    <a:gd name="T7" fmla="*/ 84 h 84"/>
                    <a:gd name="T8" fmla="*/ 175 w 243"/>
                    <a:gd name="T9" fmla="*/ 44 h 84"/>
                    <a:gd name="T10" fmla="*/ 243 w 243"/>
                    <a:gd name="T11" fmla="*/ 44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84">
                      <a:moveTo>
                        <a:pt x="0" y="48"/>
                      </a:moveTo>
                      <a:lnTo>
                        <a:pt x="97" y="48"/>
                      </a:lnTo>
                      <a:lnTo>
                        <a:pt x="120" y="0"/>
                      </a:lnTo>
                      <a:lnTo>
                        <a:pt x="154" y="84"/>
                      </a:lnTo>
                      <a:lnTo>
                        <a:pt x="175" y="44"/>
                      </a:lnTo>
                      <a:lnTo>
                        <a:pt x="243" y="44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387" name="Line 2219"/>
                <p:cNvSpPr>
                  <a:spLocks noChangeShapeType="1"/>
                </p:cNvSpPr>
                <p:nvPr/>
              </p:nvSpPr>
              <p:spPr bwMode="auto">
                <a:xfrm rot="5400000">
                  <a:off x="774" y="3733"/>
                  <a:ext cx="234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9388" name="Freeform 2220"/>
              <p:cNvSpPr>
                <a:spLocks/>
              </p:cNvSpPr>
              <p:nvPr/>
            </p:nvSpPr>
            <p:spPr bwMode="auto">
              <a:xfrm rot="5400000">
                <a:off x="774" y="3689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9373" name="Rectangle 2205"/>
          <p:cNvSpPr>
            <a:spLocks noChangeArrowheads="1"/>
          </p:cNvSpPr>
          <p:nvPr/>
        </p:nvSpPr>
        <p:spPr bwMode="auto">
          <a:xfrm>
            <a:off x="2921000" y="140335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74" name="Oval 2206"/>
          <p:cNvSpPr>
            <a:spLocks noChangeArrowheads="1"/>
          </p:cNvSpPr>
          <p:nvPr/>
        </p:nvSpPr>
        <p:spPr bwMode="auto">
          <a:xfrm>
            <a:off x="3981450" y="5176838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78" name="Rectangle 2210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383" name="Group 2215"/>
          <p:cNvGrpSpPr>
            <a:grpSpLocks/>
          </p:cNvGrpSpPr>
          <p:nvPr/>
        </p:nvGrpSpPr>
        <p:grpSpPr bwMode="auto">
          <a:xfrm>
            <a:off x="2228850" y="323850"/>
            <a:ext cx="8077200" cy="965200"/>
            <a:chOff x="444" y="204"/>
            <a:chExt cx="5088" cy="608"/>
          </a:xfrm>
        </p:grpSpPr>
        <p:sp>
          <p:nvSpPr>
            <p:cNvPr id="9381" name="Rectangle 2213" descr="Parchment"/>
            <p:cNvSpPr>
              <a:spLocks noChangeArrowheads="1"/>
            </p:cNvSpPr>
            <p:nvPr/>
          </p:nvSpPr>
          <p:spPr bwMode="auto">
            <a:xfrm>
              <a:off x="444" y="204"/>
              <a:ext cx="5088" cy="552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382" name="Text Box 2214"/>
            <p:cNvSpPr txBox="1">
              <a:spLocks noChangeArrowheads="1"/>
            </p:cNvSpPr>
            <p:nvPr/>
          </p:nvSpPr>
          <p:spPr bwMode="auto">
            <a:xfrm>
              <a:off x="636" y="216"/>
              <a:ext cx="474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altLang="x-none" sz="2800">
                  <a:solidFill>
                    <a:srgbClr val="ED7D31"/>
                  </a:solidFill>
                  <a:latin typeface="Calibri" panose="020F0502020204030204"/>
                </a:rPr>
                <a:t>Plotting the data points/Drawing a line of best fit/Answering questions.</a:t>
              </a:r>
            </a:p>
          </p:txBody>
        </p:sp>
      </p:grpSp>
      <p:sp>
        <p:nvSpPr>
          <p:cNvPr id="9393" name="Rectangle 2225"/>
          <p:cNvSpPr>
            <a:spLocks noGrp="1" noChangeArrowheads="1"/>
          </p:cNvSpPr>
          <p:nvPr>
            <p:ph type="title" idx="4294967295"/>
          </p:nvPr>
        </p:nvSpPr>
        <p:spPr>
          <a:xfrm>
            <a:off x="7658100" y="5638800"/>
            <a:ext cx="2781300" cy="876300"/>
          </a:xfrm>
        </p:spPr>
        <p:txBody>
          <a:bodyPr/>
          <a:lstStyle/>
          <a:p>
            <a:r>
              <a:rPr lang="en-GB" altLang="x-none">
                <a:solidFill>
                  <a:schemeClr val="bg1"/>
                </a:solidFill>
              </a:rPr>
              <a:t>Question 1</a:t>
            </a:r>
          </a:p>
        </p:txBody>
      </p:sp>
    </p:spTree>
    <p:extLst>
      <p:ext uri="{BB962C8B-B14F-4D97-AF65-F5344CB8AC3E}">
        <p14:creationId xmlns:p14="http://schemas.microsoft.com/office/powerpoint/2010/main" val="106879821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73" grpId="0" animBg="1"/>
      <p:bldP spid="937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87" name="Group 159"/>
          <p:cNvGrpSpPr>
            <a:grpSpLocks/>
          </p:cNvGrpSpPr>
          <p:nvPr/>
        </p:nvGrpSpPr>
        <p:grpSpPr bwMode="auto">
          <a:xfrm>
            <a:off x="2166938" y="342900"/>
            <a:ext cx="8139112" cy="6286500"/>
            <a:chOff x="405" y="216"/>
            <a:chExt cx="5127" cy="3960"/>
          </a:xfrm>
        </p:grpSpPr>
        <p:grpSp>
          <p:nvGrpSpPr>
            <p:cNvPr id="22530" name="Group 2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22531" name="Group 3"/>
              <p:cNvGrpSpPr>
                <a:grpSpLocks/>
              </p:cNvGrpSpPr>
              <p:nvPr/>
            </p:nvGrpSpPr>
            <p:grpSpPr bwMode="auto">
              <a:xfrm>
                <a:off x="477" y="1487"/>
                <a:ext cx="3204" cy="2689"/>
                <a:chOff x="405" y="1470"/>
                <a:chExt cx="3204" cy="2689"/>
              </a:xfrm>
            </p:grpSpPr>
            <p:sp>
              <p:nvSpPr>
                <p:cNvPr id="22532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1131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4</a:t>
                  </a:r>
                </a:p>
              </p:txBody>
            </p:sp>
            <p:sp>
              <p:nvSpPr>
                <p:cNvPr id="22533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395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5</a:t>
                  </a:r>
                </a:p>
              </p:txBody>
            </p:sp>
            <p:sp>
              <p:nvSpPr>
                <p:cNvPr id="2253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659" y="3747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6</a:t>
                  </a:r>
                </a:p>
              </p:txBody>
            </p:sp>
            <p:sp>
              <p:nvSpPr>
                <p:cNvPr id="2253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869" y="3751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7</a:t>
                  </a:r>
                </a:p>
              </p:txBody>
            </p:sp>
            <p:sp>
              <p:nvSpPr>
                <p:cNvPr id="2253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125" y="3743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8</a:t>
                  </a:r>
                </a:p>
              </p:txBody>
            </p:sp>
            <p:sp>
              <p:nvSpPr>
                <p:cNvPr id="2253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365" y="3739"/>
                  <a:ext cx="2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9</a:t>
                  </a:r>
                </a:p>
              </p:txBody>
            </p:sp>
            <p:sp>
              <p:nvSpPr>
                <p:cNvPr id="2253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561" y="374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10</a:t>
                  </a:r>
                </a:p>
              </p:txBody>
            </p:sp>
            <p:sp>
              <p:nvSpPr>
                <p:cNvPr id="22539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809" y="3751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11</a:t>
                  </a:r>
                </a:p>
              </p:txBody>
            </p:sp>
            <p:sp>
              <p:nvSpPr>
                <p:cNvPr id="2254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033" y="374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12</a:t>
                  </a:r>
                </a:p>
              </p:txBody>
            </p:sp>
            <p:sp>
              <p:nvSpPr>
                <p:cNvPr id="2254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281" y="374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13</a:t>
                  </a:r>
                </a:p>
              </p:txBody>
            </p:sp>
            <p:sp>
              <p:nvSpPr>
                <p:cNvPr id="2254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731" y="3909"/>
                  <a:ext cx="97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srgbClr val="ED7D31"/>
                      </a:solidFill>
                      <a:latin typeface="Calibri" panose="020F0502020204030204"/>
                    </a:rPr>
                    <a:t>Shoe Size</a:t>
                  </a:r>
                </a:p>
              </p:txBody>
            </p:sp>
            <p:sp>
              <p:nvSpPr>
                <p:cNvPr id="2254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675" y="337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60</a:t>
                  </a:r>
                </a:p>
              </p:txBody>
            </p:sp>
            <p:sp>
              <p:nvSpPr>
                <p:cNvPr id="22544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675" y="3125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65</a:t>
                  </a:r>
                </a:p>
              </p:txBody>
            </p:sp>
            <p:sp>
              <p:nvSpPr>
                <p:cNvPr id="2254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663" y="289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70</a:t>
                  </a:r>
                </a:p>
              </p:txBody>
            </p:sp>
            <p:sp>
              <p:nvSpPr>
                <p:cNvPr id="22546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667" y="2657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75</a:t>
                  </a:r>
                </a:p>
              </p:txBody>
            </p:sp>
            <p:sp>
              <p:nvSpPr>
                <p:cNvPr id="22547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683" y="239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80</a:t>
                  </a:r>
                </a:p>
              </p:txBody>
            </p:sp>
            <p:sp>
              <p:nvSpPr>
                <p:cNvPr id="22548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679" y="2169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85</a:t>
                  </a:r>
                </a:p>
              </p:txBody>
            </p:sp>
            <p:sp>
              <p:nvSpPr>
                <p:cNvPr id="2254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671" y="1933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90</a:t>
                  </a:r>
                </a:p>
              </p:txBody>
            </p:sp>
            <p:sp>
              <p:nvSpPr>
                <p:cNvPr id="22550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675" y="1681"/>
                  <a:ext cx="3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95</a:t>
                  </a:r>
                </a:p>
              </p:txBody>
            </p:sp>
            <p:grpSp>
              <p:nvGrpSpPr>
                <p:cNvPr id="22551" name="Group 23"/>
                <p:cNvGrpSpPr>
                  <a:grpSpLocks/>
                </p:cNvGrpSpPr>
                <p:nvPr/>
              </p:nvGrpSpPr>
              <p:grpSpPr bwMode="auto">
                <a:xfrm>
                  <a:off x="1017" y="1574"/>
                  <a:ext cx="2411" cy="2169"/>
                  <a:chOff x="1349" y="1496"/>
                  <a:chExt cx="2411" cy="2169"/>
                </a:xfrm>
              </p:grpSpPr>
              <p:sp>
                <p:nvSpPr>
                  <p:cNvPr id="22552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53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5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55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56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3424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5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58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59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60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61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3424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62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63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64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65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66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3183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67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68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69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70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71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3183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72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73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74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75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76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942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77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78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79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80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81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942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82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83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84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85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86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700"/>
                    <a:ext cx="242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87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88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89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90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91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700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92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93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94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95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96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460"/>
                    <a:ext cx="242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97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98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599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00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01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460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02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03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04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05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06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2219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07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08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09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10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11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2219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12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13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14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15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16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977"/>
                    <a:ext cx="242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17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18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19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20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21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977"/>
                    <a:ext cx="241" cy="242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22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23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24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25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26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737"/>
                    <a:ext cx="242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27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28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29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30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31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737"/>
                    <a:ext cx="241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32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33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34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1831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35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2072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36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2313" y="1496"/>
                    <a:ext cx="242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37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2555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38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2796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39" name="Rectangle 111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40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641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3519" y="1496"/>
                    <a:ext cx="241" cy="241"/>
                  </a:xfrm>
                  <a:prstGeom prst="rect">
                    <a:avLst/>
                  </a:prstGeom>
                  <a:noFill/>
                  <a:ln w="9525">
                    <a:solidFill>
                      <a:srgbClr val="C0C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22642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647" y="1470"/>
                  <a:ext cx="44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100</a:t>
                  </a:r>
                </a:p>
              </p:txBody>
            </p:sp>
            <p:sp>
              <p:nvSpPr>
                <p:cNvPr id="22643" name="Text Box 115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42" y="2600"/>
                  <a:ext cx="97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altLang="x-none" sz="2000">
                      <a:solidFill>
                        <a:srgbClr val="ED7D31"/>
                      </a:solidFill>
                      <a:latin typeface="Calibri" panose="020F0502020204030204"/>
                    </a:rPr>
                    <a:t>Mass (kg)</a:t>
                  </a:r>
                </a:p>
              </p:txBody>
            </p:sp>
            <p:sp>
              <p:nvSpPr>
                <p:cNvPr id="22644" name="Line 116"/>
                <p:cNvSpPr>
                  <a:spLocks noChangeShapeType="1"/>
                </p:cNvSpPr>
                <p:nvPr/>
              </p:nvSpPr>
              <p:spPr bwMode="auto">
                <a:xfrm>
                  <a:off x="1017" y="3743"/>
                  <a:ext cx="241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2645" name="Line 117"/>
                <p:cNvSpPr>
                  <a:spLocks noChangeShapeType="1"/>
                </p:cNvSpPr>
                <p:nvPr/>
              </p:nvSpPr>
              <p:spPr bwMode="auto">
                <a:xfrm>
                  <a:off x="1017" y="1582"/>
                  <a:ext cx="0" cy="216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2646" name="Text Box 118" descr="Parchment"/>
              <p:cNvSpPr txBox="1">
                <a:spLocks noChangeArrowheads="1"/>
              </p:cNvSpPr>
              <p:nvPr/>
            </p:nvSpPr>
            <p:spPr bwMode="auto">
              <a:xfrm>
                <a:off x="444" y="216"/>
                <a:ext cx="5088" cy="446"/>
              </a:xfrm>
              <a:prstGeom prst="rect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altLang="x-none" sz="2000" b="1">
                    <a:solidFill>
                      <a:srgbClr val="44546A"/>
                    </a:solidFill>
                    <a:latin typeface="Calibri" panose="020F0502020204030204"/>
                  </a:rPr>
                  <a:t>(1).</a:t>
                </a:r>
                <a:r>
                  <a:rPr lang="en-GB" altLang="x-none" sz="2000">
                    <a:solidFill>
                      <a:prstClr val="black"/>
                    </a:solidFill>
                    <a:latin typeface="Calibri" panose="020F0502020204030204"/>
                  </a:rPr>
                  <a:t> The table below shows the shoe size and mass of 10 men.</a:t>
                </a:r>
              </a:p>
              <a:p>
                <a:r>
                  <a:rPr lang="en-GB" altLang="x-none" sz="2000">
                    <a:solidFill>
                      <a:srgbClr val="FF0000"/>
                    </a:solidFill>
                    <a:latin typeface="Calibri" panose="020F0502020204030204"/>
                  </a:rPr>
                  <a:t>(a)</a:t>
                </a:r>
                <a:r>
                  <a:rPr lang="en-GB" altLang="x-none" sz="2000">
                    <a:solidFill>
                      <a:prstClr val="black"/>
                    </a:solidFill>
                    <a:latin typeface="Calibri" panose="020F0502020204030204"/>
                  </a:rPr>
                  <a:t> Plot a </a:t>
                </a:r>
                <a:r>
                  <a:rPr lang="en-GB" altLang="x-none" sz="2000">
                    <a:solidFill>
                      <a:srgbClr val="ED7D31"/>
                    </a:solidFill>
                    <a:latin typeface="Calibri" panose="020F0502020204030204"/>
                  </a:rPr>
                  <a:t>scatter graph</a:t>
                </a:r>
                <a:r>
                  <a:rPr lang="en-GB" altLang="x-none" sz="2000">
                    <a:solidFill>
                      <a:prstClr val="black"/>
                    </a:solidFill>
                    <a:latin typeface="Calibri" panose="020F0502020204030204"/>
                  </a:rPr>
                  <a:t> for this data and draw a </a:t>
                </a:r>
                <a:r>
                  <a:rPr lang="en-GB" altLang="x-none" sz="2000">
                    <a:solidFill>
                      <a:srgbClr val="ED7D31"/>
                    </a:solidFill>
                    <a:latin typeface="Calibri" panose="020F0502020204030204"/>
                  </a:rPr>
                  <a:t>line of best fit.</a:t>
                </a:r>
              </a:p>
            </p:txBody>
          </p:sp>
          <p:sp>
            <p:nvSpPr>
              <p:cNvPr id="22647" name="Rectangle 119"/>
              <p:cNvSpPr>
                <a:spLocks noChangeArrowheads="1"/>
              </p:cNvSpPr>
              <p:nvPr/>
            </p:nvSpPr>
            <p:spPr bwMode="auto">
              <a:xfrm>
                <a:off x="5066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80</a:t>
                </a:r>
              </a:p>
            </p:txBody>
          </p:sp>
          <p:sp>
            <p:nvSpPr>
              <p:cNvPr id="22648" name="Rectangle 120"/>
              <p:cNvSpPr>
                <a:spLocks noChangeArrowheads="1"/>
              </p:cNvSpPr>
              <p:nvPr/>
            </p:nvSpPr>
            <p:spPr bwMode="auto">
              <a:xfrm>
                <a:off x="4600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74</a:t>
                </a:r>
              </a:p>
            </p:txBody>
          </p:sp>
          <p:sp>
            <p:nvSpPr>
              <p:cNvPr id="22649" name="Rectangle 121"/>
              <p:cNvSpPr>
                <a:spLocks noChangeArrowheads="1"/>
              </p:cNvSpPr>
              <p:nvPr/>
            </p:nvSpPr>
            <p:spPr bwMode="auto">
              <a:xfrm>
                <a:off x="4134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88</a:t>
                </a:r>
              </a:p>
            </p:txBody>
          </p:sp>
          <p:sp>
            <p:nvSpPr>
              <p:cNvPr id="22650" name="Rectangle 122"/>
              <p:cNvSpPr>
                <a:spLocks noChangeArrowheads="1"/>
              </p:cNvSpPr>
              <p:nvPr/>
            </p:nvSpPr>
            <p:spPr bwMode="auto">
              <a:xfrm>
                <a:off x="3668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76</a:t>
                </a:r>
              </a:p>
            </p:txBody>
          </p:sp>
          <p:sp>
            <p:nvSpPr>
              <p:cNvPr id="22651" name="Rectangle 123"/>
              <p:cNvSpPr>
                <a:spLocks noChangeArrowheads="1"/>
              </p:cNvSpPr>
              <p:nvPr/>
            </p:nvSpPr>
            <p:spPr bwMode="auto">
              <a:xfrm>
                <a:off x="3202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78</a:t>
                </a:r>
              </a:p>
            </p:txBody>
          </p:sp>
          <p:sp>
            <p:nvSpPr>
              <p:cNvPr id="22652" name="Rectangle 124"/>
              <p:cNvSpPr>
                <a:spLocks noChangeArrowheads="1"/>
              </p:cNvSpPr>
              <p:nvPr/>
            </p:nvSpPr>
            <p:spPr bwMode="auto">
              <a:xfrm>
                <a:off x="2735" y="1129"/>
                <a:ext cx="46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78</a:t>
                </a:r>
              </a:p>
            </p:txBody>
          </p:sp>
          <p:sp>
            <p:nvSpPr>
              <p:cNvPr id="22653" name="Rectangle 125"/>
              <p:cNvSpPr>
                <a:spLocks noChangeArrowheads="1"/>
              </p:cNvSpPr>
              <p:nvPr/>
            </p:nvSpPr>
            <p:spPr bwMode="auto">
              <a:xfrm>
                <a:off x="2269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92</a:t>
                </a:r>
              </a:p>
            </p:txBody>
          </p:sp>
          <p:sp>
            <p:nvSpPr>
              <p:cNvPr id="22654" name="Rectangle 126"/>
              <p:cNvSpPr>
                <a:spLocks noChangeArrowheads="1"/>
              </p:cNvSpPr>
              <p:nvPr/>
            </p:nvSpPr>
            <p:spPr bwMode="auto">
              <a:xfrm>
                <a:off x="1803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68</a:t>
                </a:r>
              </a:p>
            </p:txBody>
          </p:sp>
          <p:sp>
            <p:nvSpPr>
              <p:cNvPr id="22655" name="Rectangle 127"/>
              <p:cNvSpPr>
                <a:spLocks noChangeArrowheads="1"/>
              </p:cNvSpPr>
              <p:nvPr/>
            </p:nvSpPr>
            <p:spPr bwMode="auto">
              <a:xfrm>
                <a:off x="1337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97</a:t>
                </a:r>
              </a:p>
            </p:txBody>
          </p:sp>
          <p:sp>
            <p:nvSpPr>
              <p:cNvPr id="22656" name="Rectangle 128"/>
              <p:cNvSpPr>
                <a:spLocks noChangeArrowheads="1"/>
              </p:cNvSpPr>
              <p:nvPr/>
            </p:nvSpPr>
            <p:spPr bwMode="auto">
              <a:xfrm>
                <a:off x="871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65</a:t>
                </a:r>
              </a:p>
            </p:txBody>
          </p:sp>
          <p:sp>
            <p:nvSpPr>
              <p:cNvPr id="22657" name="Rectangle 129"/>
              <p:cNvSpPr>
                <a:spLocks noChangeArrowheads="1"/>
              </p:cNvSpPr>
              <p:nvPr/>
            </p:nvSpPr>
            <p:spPr bwMode="auto">
              <a:xfrm>
                <a:off x="405" y="1129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buNone/>
                </a:pPr>
                <a:r>
                  <a:rPr lang="en-GB" altLang="x-none" sz="1800">
                    <a:solidFill>
                      <a:srgbClr val="ED7D31"/>
                    </a:solidFill>
                    <a:latin typeface="Comic Sans MS" charset="0"/>
                  </a:rPr>
                  <a:t>Mass</a:t>
                </a:r>
              </a:p>
            </p:txBody>
          </p:sp>
          <p:sp>
            <p:nvSpPr>
              <p:cNvPr id="22658" name="Rectangle 130"/>
              <p:cNvSpPr>
                <a:spLocks noChangeArrowheads="1"/>
              </p:cNvSpPr>
              <p:nvPr/>
            </p:nvSpPr>
            <p:spPr bwMode="auto">
              <a:xfrm>
                <a:off x="5066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8</a:t>
                </a:r>
              </a:p>
            </p:txBody>
          </p:sp>
          <p:sp>
            <p:nvSpPr>
              <p:cNvPr id="22659" name="Rectangle 131"/>
              <p:cNvSpPr>
                <a:spLocks noChangeArrowheads="1"/>
              </p:cNvSpPr>
              <p:nvPr/>
            </p:nvSpPr>
            <p:spPr bwMode="auto">
              <a:xfrm>
                <a:off x="4600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6</a:t>
                </a:r>
              </a:p>
            </p:txBody>
          </p:sp>
          <p:sp>
            <p:nvSpPr>
              <p:cNvPr id="22660" name="Rectangle 132"/>
              <p:cNvSpPr>
                <a:spLocks noChangeArrowheads="1"/>
              </p:cNvSpPr>
              <p:nvPr/>
            </p:nvSpPr>
            <p:spPr bwMode="auto">
              <a:xfrm>
                <a:off x="4134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11</a:t>
                </a:r>
              </a:p>
            </p:txBody>
          </p:sp>
          <p:sp>
            <p:nvSpPr>
              <p:cNvPr id="22661" name="Rectangle 133"/>
              <p:cNvSpPr>
                <a:spLocks noChangeArrowheads="1"/>
              </p:cNvSpPr>
              <p:nvPr/>
            </p:nvSpPr>
            <p:spPr bwMode="auto">
              <a:xfrm>
                <a:off x="3668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8</a:t>
                </a:r>
              </a:p>
            </p:txBody>
          </p:sp>
          <p:sp>
            <p:nvSpPr>
              <p:cNvPr id="22662" name="Rectangle 134"/>
              <p:cNvSpPr>
                <a:spLocks noChangeArrowheads="1"/>
              </p:cNvSpPr>
              <p:nvPr/>
            </p:nvSpPr>
            <p:spPr bwMode="auto">
              <a:xfrm>
                <a:off x="3202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9</a:t>
                </a:r>
              </a:p>
            </p:txBody>
          </p:sp>
          <p:sp>
            <p:nvSpPr>
              <p:cNvPr id="22663" name="Rectangle 135"/>
              <p:cNvSpPr>
                <a:spLocks noChangeArrowheads="1"/>
              </p:cNvSpPr>
              <p:nvPr/>
            </p:nvSpPr>
            <p:spPr bwMode="auto">
              <a:xfrm>
                <a:off x="2735" y="880"/>
                <a:ext cx="46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10</a:t>
                </a:r>
              </a:p>
            </p:txBody>
          </p:sp>
          <p:sp>
            <p:nvSpPr>
              <p:cNvPr id="22664" name="Rectangle 136"/>
              <p:cNvSpPr>
                <a:spLocks noChangeArrowheads="1"/>
              </p:cNvSpPr>
              <p:nvPr/>
            </p:nvSpPr>
            <p:spPr bwMode="auto">
              <a:xfrm>
                <a:off x="2269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10</a:t>
                </a:r>
              </a:p>
            </p:txBody>
          </p:sp>
          <p:sp>
            <p:nvSpPr>
              <p:cNvPr id="22665" name="Rectangle 137"/>
              <p:cNvSpPr>
                <a:spLocks noChangeArrowheads="1"/>
              </p:cNvSpPr>
              <p:nvPr/>
            </p:nvSpPr>
            <p:spPr bwMode="auto">
              <a:xfrm>
                <a:off x="1803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7</a:t>
                </a:r>
              </a:p>
            </p:txBody>
          </p:sp>
          <p:sp>
            <p:nvSpPr>
              <p:cNvPr id="22666" name="Rectangle 138"/>
              <p:cNvSpPr>
                <a:spLocks noChangeArrowheads="1"/>
              </p:cNvSpPr>
              <p:nvPr/>
            </p:nvSpPr>
            <p:spPr bwMode="auto">
              <a:xfrm>
                <a:off x="1337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12</a:t>
                </a:r>
              </a:p>
            </p:txBody>
          </p:sp>
          <p:sp>
            <p:nvSpPr>
              <p:cNvPr id="22667" name="Rectangle 139"/>
              <p:cNvSpPr>
                <a:spLocks noChangeArrowheads="1"/>
              </p:cNvSpPr>
              <p:nvPr/>
            </p:nvSpPr>
            <p:spPr bwMode="auto">
              <a:xfrm>
                <a:off x="871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algn="ctr">
                  <a:buNone/>
                </a:pPr>
                <a:r>
                  <a:rPr lang="en-GB" altLang="x-none" sz="2000">
                    <a:solidFill>
                      <a:prstClr val="black"/>
                    </a:solidFill>
                    <a:latin typeface="Comic Sans MS" charset="0"/>
                  </a:rPr>
                  <a:t>5</a:t>
                </a:r>
              </a:p>
            </p:txBody>
          </p:sp>
          <p:sp>
            <p:nvSpPr>
              <p:cNvPr id="22668" name="Rectangle 140"/>
              <p:cNvSpPr>
                <a:spLocks noChangeArrowheads="1"/>
              </p:cNvSpPr>
              <p:nvPr/>
            </p:nvSpPr>
            <p:spPr bwMode="auto">
              <a:xfrm>
                <a:off x="405" y="880"/>
                <a:ext cx="46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3pPr>
                <a:lvl4pPr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charset="0"/>
                  </a:defRPr>
                </a:lvl4pPr>
                <a:lvl5pPr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buNone/>
                </a:pPr>
                <a:r>
                  <a:rPr lang="en-GB" altLang="x-none" sz="1800">
                    <a:solidFill>
                      <a:srgbClr val="ED7D31"/>
                    </a:solidFill>
                    <a:latin typeface="Comic Sans MS" charset="0"/>
                  </a:rPr>
                  <a:t>Size</a:t>
                </a:r>
              </a:p>
            </p:txBody>
          </p:sp>
          <p:sp>
            <p:nvSpPr>
              <p:cNvPr id="22669" name="Line 141"/>
              <p:cNvSpPr>
                <a:spLocks noChangeShapeType="1"/>
              </p:cNvSpPr>
              <p:nvPr/>
            </p:nvSpPr>
            <p:spPr bwMode="auto">
              <a:xfrm>
                <a:off x="405" y="880"/>
                <a:ext cx="512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70" name="Line 142"/>
              <p:cNvSpPr>
                <a:spLocks noChangeShapeType="1"/>
              </p:cNvSpPr>
              <p:nvPr/>
            </p:nvSpPr>
            <p:spPr bwMode="auto">
              <a:xfrm>
                <a:off x="405" y="1129"/>
                <a:ext cx="51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71" name="Line 143"/>
              <p:cNvSpPr>
                <a:spLocks noChangeShapeType="1"/>
              </p:cNvSpPr>
              <p:nvPr/>
            </p:nvSpPr>
            <p:spPr bwMode="auto">
              <a:xfrm>
                <a:off x="405" y="1378"/>
                <a:ext cx="512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72" name="Line 144"/>
              <p:cNvSpPr>
                <a:spLocks noChangeShapeType="1"/>
              </p:cNvSpPr>
              <p:nvPr/>
            </p:nvSpPr>
            <p:spPr bwMode="auto">
              <a:xfrm>
                <a:off x="405" y="880"/>
                <a:ext cx="0" cy="49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73" name="Line 145"/>
              <p:cNvSpPr>
                <a:spLocks noChangeShapeType="1"/>
              </p:cNvSpPr>
              <p:nvPr/>
            </p:nvSpPr>
            <p:spPr bwMode="auto">
              <a:xfrm>
                <a:off x="871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74" name="Line 146"/>
              <p:cNvSpPr>
                <a:spLocks noChangeShapeType="1"/>
              </p:cNvSpPr>
              <p:nvPr/>
            </p:nvSpPr>
            <p:spPr bwMode="auto">
              <a:xfrm>
                <a:off x="1337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75" name="Line 147"/>
              <p:cNvSpPr>
                <a:spLocks noChangeShapeType="1"/>
              </p:cNvSpPr>
              <p:nvPr/>
            </p:nvSpPr>
            <p:spPr bwMode="auto">
              <a:xfrm>
                <a:off x="1803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76" name="Line 148"/>
              <p:cNvSpPr>
                <a:spLocks noChangeShapeType="1"/>
              </p:cNvSpPr>
              <p:nvPr/>
            </p:nvSpPr>
            <p:spPr bwMode="auto">
              <a:xfrm>
                <a:off x="2269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77" name="Line 149"/>
              <p:cNvSpPr>
                <a:spLocks noChangeShapeType="1"/>
              </p:cNvSpPr>
              <p:nvPr/>
            </p:nvSpPr>
            <p:spPr bwMode="auto">
              <a:xfrm>
                <a:off x="2735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78" name="Line 150"/>
              <p:cNvSpPr>
                <a:spLocks noChangeShapeType="1"/>
              </p:cNvSpPr>
              <p:nvPr/>
            </p:nvSpPr>
            <p:spPr bwMode="auto">
              <a:xfrm>
                <a:off x="3202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79" name="Line 151"/>
              <p:cNvSpPr>
                <a:spLocks noChangeShapeType="1"/>
              </p:cNvSpPr>
              <p:nvPr/>
            </p:nvSpPr>
            <p:spPr bwMode="auto">
              <a:xfrm>
                <a:off x="3668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80" name="Line 152"/>
              <p:cNvSpPr>
                <a:spLocks noChangeShapeType="1"/>
              </p:cNvSpPr>
              <p:nvPr/>
            </p:nvSpPr>
            <p:spPr bwMode="auto">
              <a:xfrm>
                <a:off x="4134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81" name="Line 153"/>
              <p:cNvSpPr>
                <a:spLocks noChangeShapeType="1"/>
              </p:cNvSpPr>
              <p:nvPr/>
            </p:nvSpPr>
            <p:spPr bwMode="auto">
              <a:xfrm>
                <a:off x="4600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82" name="Line 154"/>
              <p:cNvSpPr>
                <a:spLocks noChangeShapeType="1"/>
              </p:cNvSpPr>
              <p:nvPr/>
            </p:nvSpPr>
            <p:spPr bwMode="auto">
              <a:xfrm>
                <a:off x="5066" y="880"/>
                <a:ext cx="0" cy="4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83" name="Line 155"/>
              <p:cNvSpPr>
                <a:spLocks noChangeShapeType="1"/>
              </p:cNvSpPr>
              <p:nvPr/>
            </p:nvSpPr>
            <p:spPr bwMode="auto">
              <a:xfrm>
                <a:off x="5532" y="880"/>
                <a:ext cx="0" cy="49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2685" name="Oval 157"/>
            <p:cNvSpPr>
              <a:spLocks noChangeArrowheads="1"/>
            </p:cNvSpPr>
            <p:nvPr/>
          </p:nvSpPr>
          <p:spPr bwMode="auto">
            <a:xfrm>
              <a:off x="1548" y="3261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2684" name="Rectangle 156"/>
          <p:cNvSpPr>
            <a:spLocks noChangeArrowheads="1"/>
          </p:cNvSpPr>
          <p:nvPr/>
        </p:nvSpPr>
        <p:spPr bwMode="auto">
          <a:xfrm>
            <a:off x="3629025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686" name="Oval 158"/>
          <p:cNvSpPr>
            <a:spLocks noChangeArrowheads="1"/>
          </p:cNvSpPr>
          <p:nvPr/>
        </p:nvSpPr>
        <p:spPr bwMode="auto">
          <a:xfrm>
            <a:off x="6667500" y="2716213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689" name="Rectangle 161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2708" name="Group 180"/>
          <p:cNvGrpSpPr>
            <a:grpSpLocks/>
          </p:cNvGrpSpPr>
          <p:nvPr/>
        </p:nvGrpSpPr>
        <p:grpSpPr bwMode="auto">
          <a:xfrm>
            <a:off x="3189289" y="5586414"/>
            <a:ext cx="446087" cy="446087"/>
            <a:chOff x="854" y="3609"/>
            <a:chExt cx="281" cy="281"/>
          </a:xfrm>
        </p:grpSpPr>
        <p:grpSp>
          <p:nvGrpSpPr>
            <p:cNvPr id="22709" name="Group 181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22710" name="Line 182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711" name="Freeform 183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712" name="Line 184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2713" name="Freeform 185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8443225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6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8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13" name="Group 161"/>
          <p:cNvGrpSpPr>
            <a:grpSpLocks/>
          </p:cNvGrpSpPr>
          <p:nvPr/>
        </p:nvGrpSpPr>
        <p:grpSpPr bwMode="auto">
          <a:xfrm>
            <a:off x="2166938" y="342900"/>
            <a:ext cx="8139112" cy="6286500"/>
            <a:chOff x="405" y="216"/>
            <a:chExt cx="5127" cy="3960"/>
          </a:xfrm>
        </p:grpSpPr>
        <p:grpSp>
          <p:nvGrpSpPr>
            <p:cNvPr id="23554" name="Group 2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23555" name="Group 3"/>
              <p:cNvGrpSpPr>
                <a:grpSpLocks/>
              </p:cNvGrpSpPr>
              <p:nvPr/>
            </p:nvGrpSpPr>
            <p:grpSpPr bwMode="auto">
              <a:xfrm>
                <a:off x="405" y="216"/>
                <a:ext cx="5127" cy="3960"/>
                <a:chOff x="405" y="216"/>
                <a:chExt cx="5127" cy="3960"/>
              </a:xfrm>
            </p:grpSpPr>
            <p:grpSp>
              <p:nvGrpSpPr>
                <p:cNvPr id="23556" name="Group 4"/>
                <p:cNvGrpSpPr>
                  <a:grpSpLocks/>
                </p:cNvGrpSpPr>
                <p:nvPr/>
              </p:nvGrpSpPr>
              <p:grpSpPr bwMode="auto">
                <a:xfrm>
                  <a:off x="477" y="1487"/>
                  <a:ext cx="3204" cy="2689"/>
                  <a:chOff x="405" y="1470"/>
                  <a:chExt cx="3204" cy="2689"/>
                </a:xfrm>
              </p:grpSpPr>
              <p:sp>
                <p:nvSpPr>
                  <p:cNvPr id="23557" name="Text Box 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31" y="3751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4</a:t>
                    </a:r>
                  </a:p>
                </p:txBody>
              </p:sp>
              <p:sp>
                <p:nvSpPr>
                  <p:cNvPr id="23558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95" y="3751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5</a:t>
                    </a:r>
                  </a:p>
                </p:txBody>
              </p:sp>
              <p:sp>
                <p:nvSpPr>
                  <p:cNvPr id="23559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9" y="3747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6</a:t>
                    </a:r>
                  </a:p>
                </p:txBody>
              </p:sp>
              <p:sp>
                <p:nvSpPr>
                  <p:cNvPr id="23560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69" y="3751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7</a:t>
                    </a:r>
                  </a:p>
                </p:txBody>
              </p:sp>
              <p:sp>
                <p:nvSpPr>
                  <p:cNvPr id="23561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5" y="3743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8</a:t>
                    </a:r>
                  </a:p>
                </p:txBody>
              </p:sp>
              <p:sp>
                <p:nvSpPr>
                  <p:cNvPr id="23562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5" y="3739"/>
                    <a:ext cx="2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9</a:t>
                    </a:r>
                  </a:p>
                </p:txBody>
              </p:sp>
              <p:sp>
                <p:nvSpPr>
                  <p:cNvPr id="23563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61" y="3743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10</a:t>
                    </a:r>
                  </a:p>
                </p:txBody>
              </p:sp>
              <p:sp>
                <p:nvSpPr>
                  <p:cNvPr id="23564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09" y="3751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11</a:t>
                    </a:r>
                  </a:p>
                </p:txBody>
              </p:sp>
              <p:sp>
                <p:nvSpPr>
                  <p:cNvPr id="23565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33" y="3747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12</a:t>
                    </a:r>
                  </a:p>
                </p:txBody>
              </p:sp>
              <p:sp>
                <p:nvSpPr>
                  <p:cNvPr id="23566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81" y="3743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13</a:t>
                    </a:r>
                  </a:p>
                </p:txBody>
              </p:sp>
              <p:sp>
                <p:nvSpPr>
                  <p:cNvPr id="23567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31" y="3909"/>
                    <a:ext cx="97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srgbClr val="ED7D31"/>
                        </a:solidFill>
                        <a:latin typeface="Calibri" panose="020F0502020204030204"/>
                      </a:rPr>
                      <a:t>Shoe Size</a:t>
                    </a:r>
                  </a:p>
                </p:txBody>
              </p:sp>
              <p:sp>
                <p:nvSpPr>
                  <p:cNvPr id="23568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5" y="3377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60</a:t>
                    </a:r>
                  </a:p>
                </p:txBody>
              </p:sp>
              <p:sp>
                <p:nvSpPr>
                  <p:cNvPr id="23569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5" y="3125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65</a:t>
                    </a:r>
                  </a:p>
                </p:txBody>
              </p:sp>
              <p:sp>
                <p:nvSpPr>
                  <p:cNvPr id="23570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3" y="2893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70</a:t>
                    </a:r>
                  </a:p>
                </p:txBody>
              </p:sp>
              <p:sp>
                <p:nvSpPr>
                  <p:cNvPr id="23571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7" y="2657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75</a:t>
                    </a:r>
                  </a:p>
                </p:txBody>
              </p:sp>
              <p:sp>
                <p:nvSpPr>
                  <p:cNvPr id="23572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3" y="2393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80</a:t>
                    </a:r>
                  </a:p>
                </p:txBody>
              </p:sp>
              <p:sp>
                <p:nvSpPr>
                  <p:cNvPr id="23573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9" y="2169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85</a:t>
                    </a:r>
                  </a:p>
                </p:txBody>
              </p:sp>
              <p:sp>
                <p:nvSpPr>
                  <p:cNvPr id="23574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1" y="1933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90</a:t>
                    </a:r>
                  </a:p>
                </p:txBody>
              </p:sp>
              <p:sp>
                <p:nvSpPr>
                  <p:cNvPr id="23575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5" y="1681"/>
                    <a:ext cx="3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95</a:t>
                    </a:r>
                  </a:p>
                </p:txBody>
              </p:sp>
              <p:grpSp>
                <p:nvGrpSpPr>
                  <p:cNvPr id="23576" name="Group 24"/>
                  <p:cNvGrpSpPr>
                    <a:grpSpLocks/>
                  </p:cNvGrpSpPr>
                  <p:nvPr/>
                </p:nvGrpSpPr>
                <p:grpSpPr bwMode="auto">
                  <a:xfrm>
                    <a:off x="1017" y="1574"/>
                    <a:ext cx="2411" cy="2169"/>
                    <a:chOff x="1349" y="1496"/>
                    <a:chExt cx="2411" cy="2169"/>
                  </a:xfrm>
                </p:grpSpPr>
                <p:sp>
                  <p:nvSpPr>
                    <p:cNvPr id="23577" name="Rectangle 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78" name="Rectangle 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79" name="Rectangle 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80" name="Rectangle 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81" name="Rectangle 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3424"/>
                      <a:ext cx="242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82" name="Rectangle 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83" name="Rectangle 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84" name="Rectangle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85" name="Rectangle 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86" name="Rectangle 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3424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87" name="Rectangle 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88" name="Rectangle 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89" name="Rectangle 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90" name="Rectangle 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91" name="Rectangle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3183"/>
                      <a:ext cx="242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92" name="Rectangle 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93" name="Rectangle 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94" name="Rectangle 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95" name="Rectangle 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96" name="Rectangle 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3183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97" name="Rectangle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98" name="Rectangle 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599" name="Rectangle 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00" name="Rectangle 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01" name="Rectangle 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2942"/>
                      <a:ext cx="242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02" name="Rectangle 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03" name="Rectangle 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04" name="Rectangle 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05" name="Rectangle 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06" name="Rectangle 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2942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07" name="Rectangle 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08" name="Rectangle 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09" name="Rectangle 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10" name="Rectangle 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11" name="Rectangle 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2700"/>
                      <a:ext cx="242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12" name="Rectangle 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13" name="Rectangle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14" name="Rectangle 6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15" name="Rectangle 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16" name="Rectangle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2700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17" name="Rectangle 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18" name="Rectangle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19" name="Rectangle 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20" name="Rectangle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21" name="Rectangle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2460"/>
                      <a:ext cx="242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22" name="Rectangle 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23" name="Rectangle 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24" name="Rectangle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25" name="Rectangle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26" name="Rectangle 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2460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27" name="Rectangle 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28" name="Rectangle 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29" name="Rectangle 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30" name="Rectangle 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31" name="Rectangle 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2219"/>
                      <a:ext cx="242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32" name="Rectangle 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33" name="Rectangle 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34" name="Rectangle 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35" name="Rectangl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36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2219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37" name="Rectangle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38" name="Rectangle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39" name="Rectangle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40" name="Rectangle 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41" name="Rectangle 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1977"/>
                      <a:ext cx="242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42" name="Rectangle 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43" name="Rectangle 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44" name="Rectangle 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45" name="Rectangle 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46" name="Rectangle 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1977"/>
                      <a:ext cx="241" cy="242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47" name="Rectangle 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48" name="Rectangle 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49" name="Rectangle 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50" name="Rectangle 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51" name="Rectangle 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1737"/>
                      <a:ext cx="242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52" name="Rectangle 1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53" name="Rectangle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54" name="Rectangle 1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55" name="Rectangle 1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56" name="Rectangle 1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1737"/>
                      <a:ext cx="241" cy="24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57" name="Rectangle 1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49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58" name="Rectangle 1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0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59" name="Rectangle 1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1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60" name="Rectangle 1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2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61" name="Rectangle 1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13" y="1496"/>
                      <a:ext cx="242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62" name="Rectangle 1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55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63" name="Rectangle 1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96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64" name="Rectangle 1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7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65" name="Rectangle 1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8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3666" name="Rectangle 1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19" y="1496"/>
                      <a:ext cx="241" cy="241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  <p:sp>
                <p:nvSpPr>
                  <p:cNvPr id="23667" name="Text Box 1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47" y="1470"/>
                    <a:ext cx="449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100</a:t>
                    </a:r>
                  </a:p>
                </p:txBody>
              </p:sp>
              <p:sp>
                <p:nvSpPr>
                  <p:cNvPr id="23668" name="Text Box 116"/>
                  <p:cNvSpPr txBox="1">
                    <a:spLocks noChangeArrowheads="1"/>
                  </p:cNvSpPr>
                  <p:nvPr/>
                </p:nvSpPr>
                <p:spPr bwMode="auto">
                  <a:xfrm rot="-5400000">
                    <a:off x="42" y="2600"/>
                    <a:ext cx="97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altLang="x-none" sz="2000">
                        <a:solidFill>
                          <a:srgbClr val="ED7D31"/>
                        </a:solidFill>
                        <a:latin typeface="Calibri" panose="020F0502020204030204"/>
                      </a:rPr>
                      <a:t>Mass (kg)</a:t>
                    </a:r>
                  </a:p>
                </p:txBody>
              </p:sp>
              <p:sp>
                <p:nvSpPr>
                  <p:cNvPr id="23669" name="Line 117"/>
                  <p:cNvSpPr>
                    <a:spLocks noChangeShapeType="1"/>
                  </p:cNvSpPr>
                  <p:nvPr/>
                </p:nvSpPr>
                <p:spPr bwMode="auto">
                  <a:xfrm>
                    <a:off x="1017" y="3743"/>
                    <a:ext cx="241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3670" name="Line 118"/>
                  <p:cNvSpPr>
                    <a:spLocks noChangeShapeType="1"/>
                  </p:cNvSpPr>
                  <p:nvPr/>
                </p:nvSpPr>
                <p:spPr bwMode="auto">
                  <a:xfrm>
                    <a:off x="1017" y="1582"/>
                    <a:ext cx="0" cy="2169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23671" name="Text Box 119" descr="Parchment"/>
                <p:cNvSpPr txBox="1">
                  <a:spLocks noChangeArrowheads="1"/>
                </p:cNvSpPr>
                <p:nvPr/>
              </p:nvSpPr>
              <p:spPr bwMode="auto">
                <a:xfrm>
                  <a:off x="444" y="216"/>
                  <a:ext cx="5088" cy="446"/>
                </a:xfrm>
                <a:prstGeom prst="rect">
                  <a:avLst/>
                </a:prstGeom>
                <a:blipFill dpi="0" rotWithShape="0">
                  <a:blip r:embed="rId4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altLang="x-none" sz="2000" b="1">
                      <a:solidFill>
                        <a:prstClr val="black"/>
                      </a:solidFill>
                      <a:latin typeface="Calibri" panose="020F0502020204030204"/>
                    </a:rPr>
                    <a:t>(1).</a:t>
                  </a:r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 The table below shows the shoe size and mass of 10 men.</a:t>
                  </a:r>
                </a:p>
                <a:p>
                  <a:r>
                    <a:rPr lang="en-GB" altLang="x-none" sz="2000">
                      <a:solidFill>
                        <a:srgbClr val="FF0000"/>
                      </a:solidFill>
                      <a:latin typeface="Calibri" panose="020F0502020204030204"/>
                    </a:rPr>
                    <a:t>(a)</a:t>
                  </a:r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 Plot a </a:t>
                  </a:r>
                  <a:r>
                    <a:rPr lang="en-GB" altLang="x-none" sz="2000">
                      <a:solidFill>
                        <a:srgbClr val="ED7D31"/>
                      </a:solidFill>
                      <a:latin typeface="Calibri" panose="020F0502020204030204"/>
                    </a:rPr>
                    <a:t>scatter graph</a:t>
                  </a:r>
                  <a:r>
                    <a:rPr lang="en-GB" altLang="x-none" sz="2000">
                      <a:solidFill>
                        <a:prstClr val="black"/>
                      </a:solidFill>
                      <a:latin typeface="Calibri" panose="020F0502020204030204"/>
                    </a:rPr>
                    <a:t> for this data and draw a </a:t>
                  </a:r>
                  <a:r>
                    <a:rPr lang="en-GB" altLang="x-none" sz="2000">
                      <a:solidFill>
                        <a:srgbClr val="ED7D31"/>
                      </a:solidFill>
                      <a:latin typeface="Calibri" panose="020F0502020204030204"/>
                    </a:rPr>
                    <a:t>line of best fit.</a:t>
                  </a:r>
                </a:p>
              </p:txBody>
            </p:sp>
            <p:sp>
              <p:nvSpPr>
                <p:cNvPr id="23672" name="Rectangle 120"/>
                <p:cNvSpPr>
                  <a:spLocks noChangeArrowheads="1"/>
                </p:cNvSpPr>
                <p:nvPr/>
              </p:nvSpPr>
              <p:spPr bwMode="auto">
                <a:xfrm>
                  <a:off x="5066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80</a:t>
                  </a:r>
                </a:p>
              </p:txBody>
            </p:sp>
            <p:sp>
              <p:nvSpPr>
                <p:cNvPr id="23673" name="Rectangle 121"/>
                <p:cNvSpPr>
                  <a:spLocks noChangeArrowheads="1"/>
                </p:cNvSpPr>
                <p:nvPr/>
              </p:nvSpPr>
              <p:spPr bwMode="auto">
                <a:xfrm>
                  <a:off x="4600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74</a:t>
                  </a:r>
                </a:p>
              </p:txBody>
            </p:sp>
            <p:sp>
              <p:nvSpPr>
                <p:cNvPr id="23674" name="Rectangle 122"/>
                <p:cNvSpPr>
                  <a:spLocks noChangeArrowheads="1"/>
                </p:cNvSpPr>
                <p:nvPr/>
              </p:nvSpPr>
              <p:spPr bwMode="auto">
                <a:xfrm>
                  <a:off x="4134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88</a:t>
                  </a:r>
                </a:p>
              </p:txBody>
            </p:sp>
            <p:sp>
              <p:nvSpPr>
                <p:cNvPr id="23675" name="Rectangle 123"/>
                <p:cNvSpPr>
                  <a:spLocks noChangeArrowheads="1"/>
                </p:cNvSpPr>
                <p:nvPr/>
              </p:nvSpPr>
              <p:spPr bwMode="auto">
                <a:xfrm>
                  <a:off x="3668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76</a:t>
                  </a:r>
                </a:p>
              </p:txBody>
            </p:sp>
            <p:sp>
              <p:nvSpPr>
                <p:cNvPr id="23676" name="Rectangle 124"/>
                <p:cNvSpPr>
                  <a:spLocks noChangeArrowheads="1"/>
                </p:cNvSpPr>
                <p:nvPr/>
              </p:nvSpPr>
              <p:spPr bwMode="auto">
                <a:xfrm>
                  <a:off x="3202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78</a:t>
                  </a:r>
                </a:p>
              </p:txBody>
            </p:sp>
            <p:sp>
              <p:nvSpPr>
                <p:cNvPr id="23677" name="Rectangle 125"/>
                <p:cNvSpPr>
                  <a:spLocks noChangeArrowheads="1"/>
                </p:cNvSpPr>
                <p:nvPr/>
              </p:nvSpPr>
              <p:spPr bwMode="auto">
                <a:xfrm>
                  <a:off x="2735" y="1129"/>
                  <a:ext cx="46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78</a:t>
                  </a:r>
                </a:p>
              </p:txBody>
            </p:sp>
            <p:sp>
              <p:nvSpPr>
                <p:cNvPr id="23678" name="Rectangle 126"/>
                <p:cNvSpPr>
                  <a:spLocks noChangeArrowheads="1"/>
                </p:cNvSpPr>
                <p:nvPr/>
              </p:nvSpPr>
              <p:spPr bwMode="auto">
                <a:xfrm>
                  <a:off x="2269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92</a:t>
                  </a:r>
                </a:p>
              </p:txBody>
            </p:sp>
            <p:sp>
              <p:nvSpPr>
                <p:cNvPr id="23679" name="Rectangle 127"/>
                <p:cNvSpPr>
                  <a:spLocks noChangeArrowheads="1"/>
                </p:cNvSpPr>
                <p:nvPr/>
              </p:nvSpPr>
              <p:spPr bwMode="auto">
                <a:xfrm>
                  <a:off x="1803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68</a:t>
                  </a:r>
                </a:p>
              </p:txBody>
            </p:sp>
            <p:sp>
              <p:nvSpPr>
                <p:cNvPr id="23680" name="Rectangle 128"/>
                <p:cNvSpPr>
                  <a:spLocks noChangeArrowheads="1"/>
                </p:cNvSpPr>
                <p:nvPr/>
              </p:nvSpPr>
              <p:spPr bwMode="auto">
                <a:xfrm>
                  <a:off x="1337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97</a:t>
                  </a:r>
                </a:p>
              </p:txBody>
            </p:sp>
            <p:sp>
              <p:nvSpPr>
                <p:cNvPr id="23681" name="Rectangle 129"/>
                <p:cNvSpPr>
                  <a:spLocks noChangeArrowheads="1"/>
                </p:cNvSpPr>
                <p:nvPr/>
              </p:nvSpPr>
              <p:spPr bwMode="auto">
                <a:xfrm>
                  <a:off x="871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65</a:t>
                  </a:r>
                </a:p>
              </p:txBody>
            </p:sp>
            <p:sp>
              <p:nvSpPr>
                <p:cNvPr id="23682" name="Rectangle 130"/>
                <p:cNvSpPr>
                  <a:spLocks noChangeArrowheads="1"/>
                </p:cNvSpPr>
                <p:nvPr/>
              </p:nvSpPr>
              <p:spPr bwMode="auto">
                <a:xfrm>
                  <a:off x="405" y="1129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>
                    <a:buNone/>
                  </a:pPr>
                  <a:r>
                    <a:rPr lang="en-GB" altLang="x-none" sz="1800">
                      <a:solidFill>
                        <a:srgbClr val="ED7D31"/>
                      </a:solidFill>
                      <a:latin typeface="Comic Sans MS" charset="0"/>
                    </a:rPr>
                    <a:t>Mass</a:t>
                  </a:r>
                </a:p>
              </p:txBody>
            </p:sp>
            <p:sp>
              <p:nvSpPr>
                <p:cNvPr id="23683" name="Rectangle 131"/>
                <p:cNvSpPr>
                  <a:spLocks noChangeArrowheads="1"/>
                </p:cNvSpPr>
                <p:nvPr/>
              </p:nvSpPr>
              <p:spPr bwMode="auto">
                <a:xfrm>
                  <a:off x="5066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8</a:t>
                  </a:r>
                </a:p>
              </p:txBody>
            </p:sp>
            <p:sp>
              <p:nvSpPr>
                <p:cNvPr id="23684" name="Rectangle 132"/>
                <p:cNvSpPr>
                  <a:spLocks noChangeArrowheads="1"/>
                </p:cNvSpPr>
                <p:nvPr/>
              </p:nvSpPr>
              <p:spPr bwMode="auto">
                <a:xfrm>
                  <a:off x="4600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6</a:t>
                  </a:r>
                </a:p>
              </p:txBody>
            </p:sp>
            <p:sp>
              <p:nvSpPr>
                <p:cNvPr id="23685" name="Rectangle 133"/>
                <p:cNvSpPr>
                  <a:spLocks noChangeArrowheads="1"/>
                </p:cNvSpPr>
                <p:nvPr/>
              </p:nvSpPr>
              <p:spPr bwMode="auto">
                <a:xfrm>
                  <a:off x="4134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11</a:t>
                  </a:r>
                </a:p>
              </p:txBody>
            </p:sp>
            <p:sp>
              <p:nvSpPr>
                <p:cNvPr id="23686" name="Rectangle 134"/>
                <p:cNvSpPr>
                  <a:spLocks noChangeArrowheads="1"/>
                </p:cNvSpPr>
                <p:nvPr/>
              </p:nvSpPr>
              <p:spPr bwMode="auto">
                <a:xfrm>
                  <a:off x="3668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8</a:t>
                  </a:r>
                </a:p>
              </p:txBody>
            </p:sp>
            <p:sp>
              <p:nvSpPr>
                <p:cNvPr id="23687" name="Rectangle 135"/>
                <p:cNvSpPr>
                  <a:spLocks noChangeArrowheads="1"/>
                </p:cNvSpPr>
                <p:nvPr/>
              </p:nvSpPr>
              <p:spPr bwMode="auto">
                <a:xfrm>
                  <a:off x="3202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9</a:t>
                  </a:r>
                </a:p>
              </p:txBody>
            </p:sp>
            <p:sp>
              <p:nvSpPr>
                <p:cNvPr id="23688" name="Rectangle 136"/>
                <p:cNvSpPr>
                  <a:spLocks noChangeArrowheads="1"/>
                </p:cNvSpPr>
                <p:nvPr/>
              </p:nvSpPr>
              <p:spPr bwMode="auto">
                <a:xfrm>
                  <a:off x="2735" y="880"/>
                  <a:ext cx="46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10</a:t>
                  </a:r>
                </a:p>
              </p:txBody>
            </p:sp>
            <p:sp>
              <p:nvSpPr>
                <p:cNvPr id="23689" name="Rectangle 137"/>
                <p:cNvSpPr>
                  <a:spLocks noChangeArrowheads="1"/>
                </p:cNvSpPr>
                <p:nvPr/>
              </p:nvSpPr>
              <p:spPr bwMode="auto">
                <a:xfrm>
                  <a:off x="2269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10</a:t>
                  </a:r>
                </a:p>
              </p:txBody>
            </p:sp>
            <p:sp>
              <p:nvSpPr>
                <p:cNvPr id="23690" name="Rectangle 138"/>
                <p:cNvSpPr>
                  <a:spLocks noChangeArrowheads="1"/>
                </p:cNvSpPr>
                <p:nvPr/>
              </p:nvSpPr>
              <p:spPr bwMode="auto">
                <a:xfrm>
                  <a:off x="1803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7</a:t>
                  </a:r>
                </a:p>
              </p:txBody>
            </p:sp>
            <p:sp>
              <p:nvSpPr>
                <p:cNvPr id="23691" name="Rectangle 139"/>
                <p:cNvSpPr>
                  <a:spLocks noChangeArrowheads="1"/>
                </p:cNvSpPr>
                <p:nvPr/>
              </p:nvSpPr>
              <p:spPr bwMode="auto">
                <a:xfrm>
                  <a:off x="1337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12</a:t>
                  </a:r>
                </a:p>
              </p:txBody>
            </p:sp>
            <p:sp>
              <p:nvSpPr>
                <p:cNvPr id="23692" name="Rectangle 140"/>
                <p:cNvSpPr>
                  <a:spLocks noChangeArrowheads="1"/>
                </p:cNvSpPr>
                <p:nvPr/>
              </p:nvSpPr>
              <p:spPr bwMode="auto">
                <a:xfrm>
                  <a:off x="871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 algn="ctr">
                    <a:buNone/>
                  </a:pPr>
                  <a:r>
                    <a:rPr lang="en-GB" altLang="x-none" sz="2000">
                      <a:solidFill>
                        <a:prstClr val="black"/>
                      </a:solidFill>
                      <a:latin typeface="Comic Sans MS" charset="0"/>
                    </a:rPr>
                    <a:t>5</a:t>
                  </a:r>
                </a:p>
              </p:txBody>
            </p:sp>
            <p:sp>
              <p:nvSpPr>
                <p:cNvPr id="23693" name="Rectangle 141"/>
                <p:cNvSpPr>
                  <a:spLocks noChangeArrowheads="1"/>
                </p:cNvSpPr>
                <p:nvPr/>
              </p:nvSpPr>
              <p:spPr bwMode="auto">
                <a:xfrm>
                  <a:off x="405" y="880"/>
                  <a:ext cx="46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Times New Roman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Times New Roman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Times New Roman" charset="0"/>
                    </a:defRPr>
                  </a:lvl9pPr>
                </a:lstStyle>
                <a:p>
                  <a:pPr>
                    <a:buNone/>
                  </a:pPr>
                  <a:r>
                    <a:rPr lang="en-GB" altLang="x-none" sz="1800">
                      <a:solidFill>
                        <a:srgbClr val="ED7D31"/>
                      </a:solidFill>
                      <a:latin typeface="Comic Sans MS" charset="0"/>
                    </a:rPr>
                    <a:t>Size</a:t>
                  </a:r>
                </a:p>
              </p:txBody>
            </p:sp>
            <p:sp>
              <p:nvSpPr>
                <p:cNvPr id="23694" name="Line 142"/>
                <p:cNvSpPr>
                  <a:spLocks noChangeShapeType="1"/>
                </p:cNvSpPr>
                <p:nvPr/>
              </p:nvSpPr>
              <p:spPr bwMode="auto">
                <a:xfrm>
                  <a:off x="405" y="880"/>
                  <a:ext cx="5127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695" name="Line 143"/>
                <p:cNvSpPr>
                  <a:spLocks noChangeShapeType="1"/>
                </p:cNvSpPr>
                <p:nvPr/>
              </p:nvSpPr>
              <p:spPr bwMode="auto">
                <a:xfrm>
                  <a:off x="405" y="1129"/>
                  <a:ext cx="512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696" name="Line 144"/>
                <p:cNvSpPr>
                  <a:spLocks noChangeShapeType="1"/>
                </p:cNvSpPr>
                <p:nvPr/>
              </p:nvSpPr>
              <p:spPr bwMode="auto">
                <a:xfrm>
                  <a:off x="405" y="1378"/>
                  <a:ext cx="5127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697" name="Line 145"/>
                <p:cNvSpPr>
                  <a:spLocks noChangeShapeType="1"/>
                </p:cNvSpPr>
                <p:nvPr/>
              </p:nvSpPr>
              <p:spPr bwMode="auto">
                <a:xfrm>
                  <a:off x="405" y="880"/>
                  <a:ext cx="0" cy="49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698" name="Line 146"/>
                <p:cNvSpPr>
                  <a:spLocks noChangeShapeType="1"/>
                </p:cNvSpPr>
                <p:nvPr/>
              </p:nvSpPr>
              <p:spPr bwMode="auto">
                <a:xfrm>
                  <a:off x="871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699" name="Line 147"/>
                <p:cNvSpPr>
                  <a:spLocks noChangeShapeType="1"/>
                </p:cNvSpPr>
                <p:nvPr/>
              </p:nvSpPr>
              <p:spPr bwMode="auto">
                <a:xfrm>
                  <a:off x="1337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700" name="Line 148"/>
                <p:cNvSpPr>
                  <a:spLocks noChangeShapeType="1"/>
                </p:cNvSpPr>
                <p:nvPr/>
              </p:nvSpPr>
              <p:spPr bwMode="auto">
                <a:xfrm>
                  <a:off x="1803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701" name="Line 149"/>
                <p:cNvSpPr>
                  <a:spLocks noChangeShapeType="1"/>
                </p:cNvSpPr>
                <p:nvPr/>
              </p:nvSpPr>
              <p:spPr bwMode="auto">
                <a:xfrm>
                  <a:off x="2269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702" name="Line 150"/>
                <p:cNvSpPr>
                  <a:spLocks noChangeShapeType="1"/>
                </p:cNvSpPr>
                <p:nvPr/>
              </p:nvSpPr>
              <p:spPr bwMode="auto">
                <a:xfrm>
                  <a:off x="2735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703" name="Line 151"/>
                <p:cNvSpPr>
                  <a:spLocks noChangeShapeType="1"/>
                </p:cNvSpPr>
                <p:nvPr/>
              </p:nvSpPr>
              <p:spPr bwMode="auto">
                <a:xfrm>
                  <a:off x="3202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704" name="Line 152"/>
                <p:cNvSpPr>
                  <a:spLocks noChangeShapeType="1"/>
                </p:cNvSpPr>
                <p:nvPr/>
              </p:nvSpPr>
              <p:spPr bwMode="auto">
                <a:xfrm>
                  <a:off x="3668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705" name="Line 153"/>
                <p:cNvSpPr>
                  <a:spLocks noChangeShapeType="1"/>
                </p:cNvSpPr>
                <p:nvPr/>
              </p:nvSpPr>
              <p:spPr bwMode="auto">
                <a:xfrm>
                  <a:off x="4134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706" name="Line 154"/>
                <p:cNvSpPr>
                  <a:spLocks noChangeShapeType="1"/>
                </p:cNvSpPr>
                <p:nvPr/>
              </p:nvSpPr>
              <p:spPr bwMode="auto">
                <a:xfrm>
                  <a:off x="4600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707" name="Line 155"/>
                <p:cNvSpPr>
                  <a:spLocks noChangeShapeType="1"/>
                </p:cNvSpPr>
                <p:nvPr/>
              </p:nvSpPr>
              <p:spPr bwMode="auto">
                <a:xfrm>
                  <a:off x="5066" y="880"/>
                  <a:ext cx="0" cy="4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708" name="Line 156"/>
                <p:cNvSpPr>
                  <a:spLocks noChangeShapeType="1"/>
                </p:cNvSpPr>
                <p:nvPr/>
              </p:nvSpPr>
              <p:spPr bwMode="auto">
                <a:xfrm>
                  <a:off x="5532" y="880"/>
                  <a:ext cx="0" cy="49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3709" name="Oval 157"/>
              <p:cNvSpPr>
                <a:spLocks noChangeArrowheads="1"/>
              </p:cNvSpPr>
              <p:nvPr/>
            </p:nvSpPr>
            <p:spPr bwMode="auto">
              <a:xfrm>
                <a:off x="1548" y="3261"/>
                <a:ext cx="44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3711" name="Oval 159"/>
            <p:cNvSpPr>
              <a:spLocks noChangeArrowheads="1"/>
            </p:cNvSpPr>
            <p:nvPr/>
          </p:nvSpPr>
          <p:spPr bwMode="auto">
            <a:xfrm>
              <a:off x="3240" y="1711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3710" name="Rectangle 158"/>
          <p:cNvSpPr>
            <a:spLocks noChangeArrowheads="1"/>
          </p:cNvSpPr>
          <p:nvPr/>
        </p:nvSpPr>
        <p:spPr bwMode="auto">
          <a:xfrm>
            <a:off x="4391025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712" name="Oval 160"/>
          <p:cNvSpPr>
            <a:spLocks noChangeArrowheads="1"/>
          </p:cNvSpPr>
          <p:nvPr/>
        </p:nvSpPr>
        <p:spPr bwMode="auto">
          <a:xfrm>
            <a:off x="4749800" y="4916488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714" name="Rectangle 162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3722" name="Group 170"/>
          <p:cNvGrpSpPr>
            <a:grpSpLocks/>
          </p:cNvGrpSpPr>
          <p:nvPr/>
        </p:nvGrpSpPr>
        <p:grpSpPr bwMode="auto">
          <a:xfrm>
            <a:off x="3189289" y="5586414"/>
            <a:ext cx="446087" cy="446087"/>
            <a:chOff x="854" y="3609"/>
            <a:chExt cx="281" cy="281"/>
          </a:xfrm>
        </p:grpSpPr>
        <p:grpSp>
          <p:nvGrpSpPr>
            <p:cNvPr id="23723" name="Group 171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23724" name="Line 172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725" name="Freeform 173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726" name="Line 174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3727" name="Freeform 175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0265140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7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00" name="Group 324"/>
          <p:cNvGrpSpPr>
            <a:grpSpLocks/>
          </p:cNvGrpSpPr>
          <p:nvPr/>
        </p:nvGrpSpPr>
        <p:grpSpPr bwMode="auto">
          <a:xfrm>
            <a:off x="2166938" y="342900"/>
            <a:ext cx="8139112" cy="6286500"/>
            <a:chOff x="405" y="216"/>
            <a:chExt cx="5127" cy="3960"/>
          </a:xfrm>
        </p:grpSpPr>
        <p:grpSp>
          <p:nvGrpSpPr>
            <p:cNvPr id="24739" name="Group 163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24740" name="Group 164"/>
              <p:cNvGrpSpPr>
                <a:grpSpLocks/>
              </p:cNvGrpSpPr>
              <p:nvPr/>
            </p:nvGrpSpPr>
            <p:grpSpPr bwMode="auto">
              <a:xfrm>
                <a:off x="405" y="216"/>
                <a:ext cx="5127" cy="3960"/>
                <a:chOff x="405" y="216"/>
                <a:chExt cx="5127" cy="3960"/>
              </a:xfrm>
            </p:grpSpPr>
            <p:grpSp>
              <p:nvGrpSpPr>
                <p:cNvPr id="24741" name="Group 165"/>
                <p:cNvGrpSpPr>
                  <a:grpSpLocks/>
                </p:cNvGrpSpPr>
                <p:nvPr/>
              </p:nvGrpSpPr>
              <p:grpSpPr bwMode="auto">
                <a:xfrm>
                  <a:off x="405" y="216"/>
                  <a:ext cx="5127" cy="3960"/>
                  <a:chOff x="405" y="216"/>
                  <a:chExt cx="5127" cy="3960"/>
                </a:xfrm>
              </p:grpSpPr>
              <p:grpSp>
                <p:nvGrpSpPr>
                  <p:cNvPr id="24742" name="Group 166"/>
                  <p:cNvGrpSpPr>
                    <a:grpSpLocks/>
                  </p:cNvGrpSpPr>
                  <p:nvPr/>
                </p:nvGrpSpPr>
                <p:grpSpPr bwMode="auto">
                  <a:xfrm>
                    <a:off x="477" y="1487"/>
                    <a:ext cx="3204" cy="2689"/>
                    <a:chOff x="405" y="1470"/>
                    <a:chExt cx="3204" cy="2689"/>
                  </a:xfrm>
                </p:grpSpPr>
                <p:sp>
                  <p:nvSpPr>
                    <p:cNvPr id="24743" name="Text Box 16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31" y="3751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4</a:t>
                      </a:r>
                    </a:p>
                  </p:txBody>
                </p:sp>
                <p:sp>
                  <p:nvSpPr>
                    <p:cNvPr id="24744" name="Text Box 16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5" y="3751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5</a:t>
                      </a:r>
                    </a:p>
                  </p:txBody>
                </p:sp>
                <p:sp>
                  <p:nvSpPr>
                    <p:cNvPr id="24745" name="Text Box 16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59" y="3747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6</a:t>
                      </a:r>
                    </a:p>
                  </p:txBody>
                </p:sp>
                <p:sp>
                  <p:nvSpPr>
                    <p:cNvPr id="24746" name="Text Box 17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869" y="3751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7</a:t>
                      </a:r>
                    </a:p>
                  </p:txBody>
                </p:sp>
                <p:sp>
                  <p:nvSpPr>
                    <p:cNvPr id="24747" name="Text Box 17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25" y="3743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8</a:t>
                      </a:r>
                    </a:p>
                  </p:txBody>
                </p:sp>
                <p:sp>
                  <p:nvSpPr>
                    <p:cNvPr id="24748" name="Text Box 17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65" y="3739"/>
                      <a:ext cx="26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9</a:t>
                      </a:r>
                    </a:p>
                  </p:txBody>
                </p:sp>
                <p:sp>
                  <p:nvSpPr>
                    <p:cNvPr id="24749" name="Text Box 17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61" y="3743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10</a:t>
                      </a:r>
                    </a:p>
                  </p:txBody>
                </p:sp>
                <p:sp>
                  <p:nvSpPr>
                    <p:cNvPr id="24750" name="Text Box 17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09" y="3751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11</a:t>
                      </a:r>
                    </a:p>
                  </p:txBody>
                </p:sp>
                <p:sp>
                  <p:nvSpPr>
                    <p:cNvPr id="24751" name="Text Box 17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33" y="3747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12</a:t>
                      </a:r>
                    </a:p>
                  </p:txBody>
                </p:sp>
                <p:sp>
                  <p:nvSpPr>
                    <p:cNvPr id="24752" name="Text Box 17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81" y="3743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13</a:t>
                      </a:r>
                    </a:p>
                  </p:txBody>
                </p:sp>
                <p:sp>
                  <p:nvSpPr>
                    <p:cNvPr id="24753" name="Text Box 17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731" y="3909"/>
                      <a:ext cx="97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srgbClr val="ED7D31"/>
                          </a:solidFill>
                          <a:latin typeface="Calibri" panose="020F0502020204030204"/>
                        </a:rPr>
                        <a:t>Shoe Size</a:t>
                      </a:r>
                    </a:p>
                  </p:txBody>
                </p:sp>
                <p:sp>
                  <p:nvSpPr>
                    <p:cNvPr id="24754" name="Text Box 17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5" y="3377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60</a:t>
                      </a:r>
                    </a:p>
                  </p:txBody>
                </p:sp>
                <p:sp>
                  <p:nvSpPr>
                    <p:cNvPr id="24755" name="Text Box 17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5" y="3125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65</a:t>
                      </a:r>
                    </a:p>
                  </p:txBody>
                </p:sp>
                <p:sp>
                  <p:nvSpPr>
                    <p:cNvPr id="24756" name="Text Box 18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63" y="2893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70</a:t>
                      </a:r>
                    </a:p>
                  </p:txBody>
                </p:sp>
                <p:sp>
                  <p:nvSpPr>
                    <p:cNvPr id="24757" name="Text Box 18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67" y="2657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75</a:t>
                      </a:r>
                    </a:p>
                  </p:txBody>
                </p:sp>
                <p:sp>
                  <p:nvSpPr>
                    <p:cNvPr id="24758" name="Text Box 18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83" y="2393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80</a:t>
                      </a:r>
                    </a:p>
                  </p:txBody>
                </p:sp>
                <p:sp>
                  <p:nvSpPr>
                    <p:cNvPr id="24759" name="Text Box 18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9" y="2169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85</a:t>
                      </a:r>
                    </a:p>
                  </p:txBody>
                </p:sp>
                <p:sp>
                  <p:nvSpPr>
                    <p:cNvPr id="24760" name="Text Box 18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1" y="1933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90</a:t>
                      </a:r>
                    </a:p>
                  </p:txBody>
                </p:sp>
                <p:sp>
                  <p:nvSpPr>
                    <p:cNvPr id="24761" name="Text Box 18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5" y="1681"/>
                      <a:ext cx="3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95</a:t>
                      </a:r>
                    </a:p>
                  </p:txBody>
                </p:sp>
                <p:grpSp>
                  <p:nvGrpSpPr>
                    <p:cNvPr id="24762" name="Group 18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17" y="1574"/>
                      <a:ext cx="2411" cy="2169"/>
                      <a:chOff x="1349" y="1496"/>
                      <a:chExt cx="2411" cy="2169"/>
                    </a:xfrm>
                  </p:grpSpPr>
                  <p:sp>
                    <p:nvSpPr>
                      <p:cNvPr id="24763" name="Rectangle 18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64" name="Rectangle 18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65" name="Rectangle 18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66" name="Rectangle 19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67" name="Rectangle 19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3424"/>
                        <a:ext cx="242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68" name="Rectangle 19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69" name="Rectangle 19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70" name="Rectangle 19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71" name="Rectangle 19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72" name="Rectangle 19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3424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73" name="Rectangle 19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74" name="Rectangle 19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75" name="Rectangle 19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76" name="Rectangle 20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77" name="Rectangle 20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3183"/>
                        <a:ext cx="242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78" name="Rectangle 20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79" name="Rectangle 20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80" name="Rectangle 20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81" name="Rectangle 20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82" name="Rectangle 20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3183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83" name="Rectangle 20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84" name="Rectangle 20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85" name="Rectangle 20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86" name="Rectangle 21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87" name="Rectangle 21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2942"/>
                        <a:ext cx="242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88" name="Rectangle 21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89" name="Rectangle 2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90" name="Rectangle 21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91" name="Rectangle 21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92" name="Rectangle 2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2942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93" name="Rectangle 2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94" name="Rectangle 2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95" name="Rectangle 2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96" name="Rectangle 2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97" name="Rectangle 2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2700"/>
                        <a:ext cx="242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98" name="Rectangle 2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799" name="Rectangle 2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00" name="Rectangle 2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01" name="Rectangle 2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02" name="Rectangle 2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2700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03" name="Rectangle 22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04" name="Rectangle 2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05" name="Rectangle 2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06" name="Rectangle 23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07" name="Rectangle 2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2460"/>
                        <a:ext cx="242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08" name="Rectangle 23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09" name="Rectangle 23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10" name="Rectangle 2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11" name="Rectangle 2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12" name="Rectangle 23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2460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13" name="Rectangle 23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14" name="Rectangle 2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15" name="Rectangle 2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16" name="Rectangle 24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17" name="Rectangle 24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2219"/>
                        <a:ext cx="242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18" name="Rectangle 24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19" name="Rectangle 24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20" name="Rectangle 24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21" name="Rectangle 24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22" name="Rectangle 24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2219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23" name="Rectangle 24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24" name="Rectangle 24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25" name="Rectangle 24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26" name="Rectangle 25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27" name="Rectangle 25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1977"/>
                        <a:ext cx="242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28" name="Rectangle 25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29" name="Rectangle 25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30" name="Rectangle 25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31" name="Rectangle 25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32" name="Rectangle 25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1977"/>
                        <a:ext cx="241" cy="24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33" name="Rectangle 25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34" name="Rectangle 25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35" name="Rectangle 25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36" name="Rectangle 26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37" name="Rectangle 26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1737"/>
                        <a:ext cx="242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38" name="Rectangle 26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39" name="Rectangle 2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40" name="Rectangle 26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41" name="Rectangle 2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42" name="Rectangle 26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1737"/>
                        <a:ext cx="241" cy="24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43" name="Rectangle 26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49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44" name="Rectangle 26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90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45" name="Rectangle 2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1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46" name="Rectangle 27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72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47" name="Rectangle 27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3" y="1496"/>
                        <a:ext cx="242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48" name="Rectangle 27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55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49" name="Rectangle 27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6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50" name="Rectangle 27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37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51" name="Rectangle 27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78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4852" name="Rectangle 27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19" y="1496"/>
                        <a:ext cx="241" cy="24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</p:grpSp>
                <p:sp>
                  <p:nvSpPr>
                    <p:cNvPr id="24853" name="Text Box 27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47" y="1470"/>
                      <a:ext cx="449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100</a:t>
                      </a:r>
                    </a:p>
                  </p:txBody>
                </p:sp>
                <p:sp>
                  <p:nvSpPr>
                    <p:cNvPr id="24854" name="Text Box 278"/>
                    <p:cNvSpPr txBox="1">
                      <a:spLocks noChangeArrowheads="1"/>
                    </p:cNvSpPr>
                    <p:nvPr/>
                  </p:nvSpPr>
                  <p:spPr bwMode="auto">
                    <a:xfrm rot="-5400000">
                      <a:off x="42" y="2600"/>
                      <a:ext cx="97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algn="ctr"/>
                      <a:r>
                        <a:rPr lang="en-GB" altLang="x-none" sz="2000">
                          <a:solidFill>
                            <a:srgbClr val="ED7D31"/>
                          </a:solidFill>
                          <a:latin typeface="Calibri" panose="020F0502020204030204"/>
                        </a:rPr>
                        <a:t>Mass (kg)</a:t>
                      </a:r>
                    </a:p>
                  </p:txBody>
                </p:sp>
                <p:sp>
                  <p:nvSpPr>
                    <p:cNvPr id="24855" name="Line 2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17" y="3743"/>
                      <a:ext cx="2411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4856" name="Line 28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17" y="1582"/>
                      <a:ext cx="0" cy="2169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  <p:sp>
                <p:nvSpPr>
                  <p:cNvPr id="24857" name="Text Box 281" descr="Parchment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4" y="216"/>
                    <a:ext cx="5088" cy="446"/>
                  </a:xfrm>
                  <a:prstGeom prst="rect">
                    <a:avLst/>
                  </a:prstGeom>
                  <a:blipFill dpi="0" rotWithShape="0">
                    <a:blip r:embed="rId4"/>
                    <a:srcRect/>
                    <a:tile tx="0" ty="0" sx="100000" sy="100000" flip="none" algn="tl"/>
                  </a:blip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GB" altLang="x-none" sz="2000" b="1">
                        <a:solidFill>
                          <a:prstClr val="black"/>
                        </a:solidFill>
                        <a:latin typeface="Calibri" panose="020F0502020204030204"/>
                      </a:rPr>
                      <a:t>(1).</a:t>
                    </a:r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 The table below shows the shoe size and mass of 10 men.</a:t>
                    </a:r>
                  </a:p>
                  <a:p>
                    <a:r>
                      <a:rPr lang="en-GB" altLang="x-none" sz="2000">
                        <a:solidFill>
                          <a:srgbClr val="FF0000"/>
                        </a:solidFill>
                        <a:latin typeface="Calibri" panose="020F0502020204030204"/>
                      </a:rPr>
                      <a:t>(a)</a:t>
                    </a:r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 Plot a </a:t>
                    </a:r>
                    <a:r>
                      <a:rPr lang="en-GB" altLang="x-none" sz="2000">
                        <a:solidFill>
                          <a:srgbClr val="ED7D31"/>
                        </a:solidFill>
                        <a:latin typeface="Calibri" panose="020F0502020204030204"/>
                      </a:rPr>
                      <a:t>scatter graph</a:t>
                    </a:r>
                    <a:r>
                      <a:rPr lang="en-GB" altLang="x-none" sz="2000">
                        <a:solidFill>
                          <a:prstClr val="black"/>
                        </a:solidFill>
                        <a:latin typeface="Calibri" panose="020F0502020204030204"/>
                      </a:rPr>
                      <a:t> for this data and draw a </a:t>
                    </a:r>
                    <a:r>
                      <a:rPr lang="en-GB" altLang="x-none" sz="2000">
                        <a:solidFill>
                          <a:srgbClr val="ED7D31"/>
                        </a:solidFill>
                        <a:latin typeface="Calibri" panose="020F0502020204030204"/>
                      </a:rPr>
                      <a:t>line of best fit.</a:t>
                    </a:r>
                  </a:p>
                </p:txBody>
              </p:sp>
              <p:sp>
                <p:nvSpPr>
                  <p:cNvPr id="24858" name="Rectangle 282"/>
                  <p:cNvSpPr>
                    <a:spLocks noChangeArrowheads="1"/>
                  </p:cNvSpPr>
                  <p:nvPr/>
                </p:nvSpPr>
                <p:spPr bwMode="auto">
                  <a:xfrm>
                    <a:off x="5066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80</a:t>
                    </a:r>
                  </a:p>
                </p:txBody>
              </p:sp>
              <p:sp>
                <p:nvSpPr>
                  <p:cNvPr id="24859" name="Rectangle 283"/>
                  <p:cNvSpPr>
                    <a:spLocks noChangeArrowheads="1"/>
                  </p:cNvSpPr>
                  <p:nvPr/>
                </p:nvSpPr>
                <p:spPr bwMode="auto">
                  <a:xfrm>
                    <a:off x="4600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74</a:t>
                    </a:r>
                  </a:p>
                </p:txBody>
              </p:sp>
              <p:sp>
                <p:nvSpPr>
                  <p:cNvPr id="24860" name="Rectangle 284"/>
                  <p:cNvSpPr>
                    <a:spLocks noChangeArrowheads="1"/>
                  </p:cNvSpPr>
                  <p:nvPr/>
                </p:nvSpPr>
                <p:spPr bwMode="auto">
                  <a:xfrm>
                    <a:off x="4134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88</a:t>
                    </a:r>
                  </a:p>
                </p:txBody>
              </p:sp>
              <p:sp>
                <p:nvSpPr>
                  <p:cNvPr id="24861" name="Rectangle 285"/>
                  <p:cNvSpPr>
                    <a:spLocks noChangeArrowheads="1"/>
                  </p:cNvSpPr>
                  <p:nvPr/>
                </p:nvSpPr>
                <p:spPr bwMode="auto">
                  <a:xfrm>
                    <a:off x="3668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76</a:t>
                    </a:r>
                  </a:p>
                </p:txBody>
              </p:sp>
              <p:sp>
                <p:nvSpPr>
                  <p:cNvPr id="24862" name="Rectangle 286"/>
                  <p:cNvSpPr>
                    <a:spLocks noChangeArrowheads="1"/>
                  </p:cNvSpPr>
                  <p:nvPr/>
                </p:nvSpPr>
                <p:spPr bwMode="auto">
                  <a:xfrm>
                    <a:off x="3202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78</a:t>
                    </a:r>
                  </a:p>
                </p:txBody>
              </p:sp>
              <p:sp>
                <p:nvSpPr>
                  <p:cNvPr id="24863" name="Rectangle 287"/>
                  <p:cNvSpPr>
                    <a:spLocks noChangeArrowheads="1"/>
                  </p:cNvSpPr>
                  <p:nvPr/>
                </p:nvSpPr>
                <p:spPr bwMode="auto">
                  <a:xfrm>
                    <a:off x="2735" y="1129"/>
                    <a:ext cx="46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78</a:t>
                    </a:r>
                  </a:p>
                </p:txBody>
              </p:sp>
              <p:sp>
                <p:nvSpPr>
                  <p:cNvPr id="24864" name="Rectangle 288"/>
                  <p:cNvSpPr>
                    <a:spLocks noChangeArrowheads="1"/>
                  </p:cNvSpPr>
                  <p:nvPr/>
                </p:nvSpPr>
                <p:spPr bwMode="auto">
                  <a:xfrm>
                    <a:off x="2269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92</a:t>
                    </a:r>
                  </a:p>
                </p:txBody>
              </p:sp>
              <p:sp>
                <p:nvSpPr>
                  <p:cNvPr id="24865" name="Rectangle 289"/>
                  <p:cNvSpPr>
                    <a:spLocks noChangeArrowheads="1"/>
                  </p:cNvSpPr>
                  <p:nvPr/>
                </p:nvSpPr>
                <p:spPr bwMode="auto">
                  <a:xfrm>
                    <a:off x="1803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68</a:t>
                    </a:r>
                  </a:p>
                </p:txBody>
              </p:sp>
              <p:sp>
                <p:nvSpPr>
                  <p:cNvPr id="24866" name="Rectangle 290"/>
                  <p:cNvSpPr>
                    <a:spLocks noChangeArrowheads="1"/>
                  </p:cNvSpPr>
                  <p:nvPr/>
                </p:nvSpPr>
                <p:spPr bwMode="auto">
                  <a:xfrm>
                    <a:off x="1337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97</a:t>
                    </a:r>
                  </a:p>
                </p:txBody>
              </p:sp>
              <p:sp>
                <p:nvSpPr>
                  <p:cNvPr id="24867" name="Rectangle 291"/>
                  <p:cNvSpPr>
                    <a:spLocks noChangeArrowheads="1"/>
                  </p:cNvSpPr>
                  <p:nvPr/>
                </p:nvSpPr>
                <p:spPr bwMode="auto">
                  <a:xfrm>
                    <a:off x="871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65</a:t>
                    </a:r>
                  </a:p>
                </p:txBody>
              </p:sp>
              <p:sp>
                <p:nvSpPr>
                  <p:cNvPr id="24868" name="Rectangle 292"/>
                  <p:cNvSpPr>
                    <a:spLocks noChangeArrowheads="1"/>
                  </p:cNvSpPr>
                  <p:nvPr/>
                </p:nvSpPr>
                <p:spPr bwMode="auto">
                  <a:xfrm>
                    <a:off x="405" y="1129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>
                      <a:buNone/>
                    </a:pPr>
                    <a:r>
                      <a:rPr lang="en-GB" altLang="x-none" sz="1800">
                        <a:solidFill>
                          <a:srgbClr val="ED7D31"/>
                        </a:solidFill>
                        <a:latin typeface="Comic Sans MS" charset="0"/>
                      </a:rPr>
                      <a:t>Mass</a:t>
                    </a:r>
                  </a:p>
                </p:txBody>
              </p:sp>
              <p:sp>
                <p:nvSpPr>
                  <p:cNvPr id="24869" name="Rectangle 293"/>
                  <p:cNvSpPr>
                    <a:spLocks noChangeArrowheads="1"/>
                  </p:cNvSpPr>
                  <p:nvPr/>
                </p:nvSpPr>
                <p:spPr bwMode="auto">
                  <a:xfrm>
                    <a:off x="5066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8</a:t>
                    </a:r>
                  </a:p>
                </p:txBody>
              </p:sp>
              <p:sp>
                <p:nvSpPr>
                  <p:cNvPr id="24870" name="Rectangle 294"/>
                  <p:cNvSpPr>
                    <a:spLocks noChangeArrowheads="1"/>
                  </p:cNvSpPr>
                  <p:nvPr/>
                </p:nvSpPr>
                <p:spPr bwMode="auto">
                  <a:xfrm>
                    <a:off x="4600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6</a:t>
                    </a:r>
                  </a:p>
                </p:txBody>
              </p:sp>
              <p:sp>
                <p:nvSpPr>
                  <p:cNvPr id="24871" name="Rectangle 295"/>
                  <p:cNvSpPr>
                    <a:spLocks noChangeArrowheads="1"/>
                  </p:cNvSpPr>
                  <p:nvPr/>
                </p:nvSpPr>
                <p:spPr bwMode="auto">
                  <a:xfrm>
                    <a:off x="4134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11</a:t>
                    </a:r>
                  </a:p>
                </p:txBody>
              </p:sp>
              <p:sp>
                <p:nvSpPr>
                  <p:cNvPr id="24872" name="Rectangle 296"/>
                  <p:cNvSpPr>
                    <a:spLocks noChangeArrowheads="1"/>
                  </p:cNvSpPr>
                  <p:nvPr/>
                </p:nvSpPr>
                <p:spPr bwMode="auto">
                  <a:xfrm>
                    <a:off x="3668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8</a:t>
                    </a:r>
                  </a:p>
                </p:txBody>
              </p:sp>
              <p:sp>
                <p:nvSpPr>
                  <p:cNvPr id="24873" name="Rectangle 297"/>
                  <p:cNvSpPr>
                    <a:spLocks noChangeArrowheads="1"/>
                  </p:cNvSpPr>
                  <p:nvPr/>
                </p:nvSpPr>
                <p:spPr bwMode="auto">
                  <a:xfrm>
                    <a:off x="3202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9</a:t>
                    </a:r>
                  </a:p>
                </p:txBody>
              </p:sp>
              <p:sp>
                <p:nvSpPr>
                  <p:cNvPr id="24874" name="Rectangle 298"/>
                  <p:cNvSpPr>
                    <a:spLocks noChangeArrowheads="1"/>
                  </p:cNvSpPr>
                  <p:nvPr/>
                </p:nvSpPr>
                <p:spPr bwMode="auto">
                  <a:xfrm>
                    <a:off x="2735" y="880"/>
                    <a:ext cx="46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10</a:t>
                    </a:r>
                  </a:p>
                </p:txBody>
              </p:sp>
              <p:sp>
                <p:nvSpPr>
                  <p:cNvPr id="24875" name="Rectangle 299"/>
                  <p:cNvSpPr>
                    <a:spLocks noChangeArrowheads="1"/>
                  </p:cNvSpPr>
                  <p:nvPr/>
                </p:nvSpPr>
                <p:spPr bwMode="auto">
                  <a:xfrm>
                    <a:off x="2269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10</a:t>
                    </a:r>
                  </a:p>
                </p:txBody>
              </p:sp>
              <p:sp>
                <p:nvSpPr>
                  <p:cNvPr id="24876" name="Rectangle 300"/>
                  <p:cNvSpPr>
                    <a:spLocks noChangeArrowheads="1"/>
                  </p:cNvSpPr>
                  <p:nvPr/>
                </p:nvSpPr>
                <p:spPr bwMode="auto">
                  <a:xfrm>
                    <a:off x="1803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7</a:t>
                    </a:r>
                  </a:p>
                </p:txBody>
              </p:sp>
              <p:sp>
                <p:nvSpPr>
                  <p:cNvPr id="24877" name="Rectangle 301"/>
                  <p:cNvSpPr>
                    <a:spLocks noChangeArrowheads="1"/>
                  </p:cNvSpPr>
                  <p:nvPr/>
                </p:nvSpPr>
                <p:spPr bwMode="auto">
                  <a:xfrm>
                    <a:off x="1337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12</a:t>
                    </a:r>
                  </a:p>
                </p:txBody>
              </p:sp>
              <p:sp>
                <p:nvSpPr>
                  <p:cNvPr id="24878" name="Rectangle 302"/>
                  <p:cNvSpPr>
                    <a:spLocks noChangeArrowheads="1"/>
                  </p:cNvSpPr>
                  <p:nvPr/>
                </p:nvSpPr>
                <p:spPr bwMode="auto">
                  <a:xfrm>
                    <a:off x="871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 algn="ctr">
                      <a:buNone/>
                    </a:pPr>
                    <a:r>
                      <a:rPr lang="en-GB" altLang="x-none" sz="2000">
                        <a:solidFill>
                          <a:prstClr val="black"/>
                        </a:solidFill>
                        <a:latin typeface="Comic Sans MS" charset="0"/>
                      </a:rPr>
                      <a:t>5</a:t>
                    </a:r>
                  </a:p>
                </p:txBody>
              </p:sp>
              <p:sp>
                <p:nvSpPr>
                  <p:cNvPr id="24879" name="Rectangle 303"/>
                  <p:cNvSpPr>
                    <a:spLocks noChangeArrowheads="1"/>
                  </p:cNvSpPr>
                  <p:nvPr/>
                </p:nvSpPr>
                <p:spPr bwMode="auto">
                  <a:xfrm>
                    <a:off x="405" y="880"/>
                    <a:ext cx="46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Times New Roman" charset="0"/>
                      </a:defRPr>
                    </a:lvl1pPr>
                    <a:lvl2pPr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Times New Roman" charset="0"/>
                      </a:defRPr>
                    </a:lvl2pPr>
                    <a:lvl3pPr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Times New Roman" charset="0"/>
                      </a:defRPr>
                    </a:lvl3pPr>
                    <a:lvl4pPr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4pPr>
                    <a:lvl5pPr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Times New Roman" charset="0"/>
                      </a:defRPr>
                    </a:lvl9pPr>
                  </a:lstStyle>
                  <a:p>
                    <a:pPr>
                      <a:buNone/>
                    </a:pPr>
                    <a:r>
                      <a:rPr lang="en-GB" altLang="x-none" sz="1800">
                        <a:solidFill>
                          <a:srgbClr val="ED7D31"/>
                        </a:solidFill>
                        <a:latin typeface="Comic Sans MS" charset="0"/>
                      </a:rPr>
                      <a:t>Size</a:t>
                    </a:r>
                  </a:p>
                </p:txBody>
              </p:sp>
              <p:sp>
                <p:nvSpPr>
                  <p:cNvPr id="24880" name="Line 304"/>
                  <p:cNvSpPr>
                    <a:spLocks noChangeShapeType="1"/>
                  </p:cNvSpPr>
                  <p:nvPr/>
                </p:nvSpPr>
                <p:spPr bwMode="auto">
                  <a:xfrm>
                    <a:off x="405" y="880"/>
                    <a:ext cx="5127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81" name="Line 305"/>
                  <p:cNvSpPr>
                    <a:spLocks noChangeShapeType="1"/>
                  </p:cNvSpPr>
                  <p:nvPr/>
                </p:nvSpPr>
                <p:spPr bwMode="auto">
                  <a:xfrm>
                    <a:off x="405" y="1129"/>
                    <a:ext cx="5127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82" name="Line 306"/>
                  <p:cNvSpPr>
                    <a:spLocks noChangeShapeType="1"/>
                  </p:cNvSpPr>
                  <p:nvPr/>
                </p:nvSpPr>
                <p:spPr bwMode="auto">
                  <a:xfrm>
                    <a:off x="405" y="1378"/>
                    <a:ext cx="5127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83" name="Line 307"/>
                  <p:cNvSpPr>
                    <a:spLocks noChangeShapeType="1"/>
                  </p:cNvSpPr>
                  <p:nvPr/>
                </p:nvSpPr>
                <p:spPr bwMode="auto">
                  <a:xfrm>
                    <a:off x="405" y="880"/>
                    <a:ext cx="0" cy="498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84" name="Line 308"/>
                  <p:cNvSpPr>
                    <a:spLocks noChangeShapeType="1"/>
                  </p:cNvSpPr>
                  <p:nvPr/>
                </p:nvSpPr>
                <p:spPr bwMode="auto">
                  <a:xfrm>
                    <a:off x="871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85" name="Line 309"/>
                  <p:cNvSpPr>
                    <a:spLocks noChangeShapeType="1"/>
                  </p:cNvSpPr>
                  <p:nvPr/>
                </p:nvSpPr>
                <p:spPr bwMode="auto">
                  <a:xfrm>
                    <a:off x="1337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86" name="Line 310"/>
                  <p:cNvSpPr>
                    <a:spLocks noChangeShapeType="1"/>
                  </p:cNvSpPr>
                  <p:nvPr/>
                </p:nvSpPr>
                <p:spPr bwMode="auto">
                  <a:xfrm>
                    <a:off x="1803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87" name="Line 311"/>
                  <p:cNvSpPr>
                    <a:spLocks noChangeShapeType="1"/>
                  </p:cNvSpPr>
                  <p:nvPr/>
                </p:nvSpPr>
                <p:spPr bwMode="auto">
                  <a:xfrm>
                    <a:off x="2269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88" name="Line 312"/>
                  <p:cNvSpPr>
                    <a:spLocks noChangeShapeType="1"/>
                  </p:cNvSpPr>
                  <p:nvPr/>
                </p:nvSpPr>
                <p:spPr bwMode="auto">
                  <a:xfrm>
                    <a:off x="2735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89" name="Line 313"/>
                  <p:cNvSpPr>
                    <a:spLocks noChangeShapeType="1"/>
                  </p:cNvSpPr>
                  <p:nvPr/>
                </p:nvSpPr>
                <p:spPr bwMode="auto">
                  <a:xfrm>
                    <a:off x="3202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90" name="Line 314"/>
                  <p:cNvSpPr>
                    <a:spLocks noChangeShapeType="1"/>
                  </p:cNvSpPr>
                  <p:nvPr/>
                </p:nvSpPr>
                <p:spPr bwMode="auto">
                  <a:xfrm>
                    <a:off x="3668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91" name="Line 315"/>
                  <p:cNvSpPr>
                    <a:spLocks noChangeShapeType="1"/>
                  </p:cNvSpPr>
                  <p:nvPr/>
                </p:nvSpPr>
                <p:spPr bwMode="auto">
                  <a:xfrm>
                    <a:off x="4134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92" name="Line 316"/>
                  <p:cNvSpPr>
                    <a:spLocks noChangeShapeType="1"/>
                  </p:cNvSpPr>
                  <p:nvPr/>
                </p:nvSpPr>
                <p:spPr bwMode="auto">
                  <a:xfrm>
                    <a:off x="4600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93" name="Line 317"/>
                  <p:cNvSpPr>
                    <a:spLocks noChangeShapeType="1"/>
                  </p:cNvSpPr>
                  <p:nvPr/>
                </p:nvSpPr>
                <p:spPr bwMode="auto">
                  <a:xfrm>
                    <a:off x="5066" y="880"/>
                    <a:ext cx="0" cy="49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4894" name="Line 318"/>
                  <p:cNvSpPr>
                    <a:spLocks noChangeShapeType="1"/>
                  </p:cNvSpPr>
                  <p:nvPr/>
                </p:nvSpPr>
                <p:spPr bwMode="auto">
                  <a:xfrm>
                    <a:off x="5532" y="880"/>
                    <a:ext cx="0" cy="498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24895" name="Oval 319"/>
                <p:cNvSpPr>
                  <a:spLocks noChangeArrowheads="1"/>
                </p:cNvSpPr>
                <p:nvPr/>
              </p:nvSpPr>
              <p:spPr bwMode="auto">
                <a:xfrm>
                  <a:off x="1548" y="3261"/>
                  <a:ext cx="44" cy="4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4896" name="Oval 320"/>
              <p:cNvSpPr>
                <a:spLocks noChangeArrowheads="1"/>
              </p:cNvSpPr>
              <p:nvPr/>
            </p:nvSpPr>
            <p:spPr bwMode="auto">
              <a:xfrm>
                <a:off x="3240" y="1711"/>
                <a:ext cx="44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4898" name="Oval 322"/>
            <p:cNvSpPr>
              <a:spLocks noChangeArrowheads="1"/>
            </p:cNvSpPr>
            <p:nvPr/>
          </p:nvSpPr>
          <p:spPr bwMode="auto">
            <a:xfrm>
              <a:off x="2032" y="3097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4897" name="Rectangle 321"/>
          <p:cNvSpPr>
            <a:spLocks noChangeArrowheads="1"/>
          </p:cNvSpPr>
          <p:nvPr/>
        </p:nvSpPr>
        <p:spPr bwMode="auto">
          <a:xfrm>
            <a:off x="5124450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899" name="Oval 323"/>
          <p:cNvSpPr>
            <a:spLocks noChangeArrowheads="1"/>
          </p:cNvSpPr>
          <p:nvPr/>
        </p:nvSpPr>
        <p:spPr bwMode="auto">
          <a:xfrm>
            <a:off x="5894388" y="3087688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901" name="Rectangle 325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4902" name="Group 326"/>
          <p:cNvGrpSpPr>
            <a:grpSpLocks/>
          </p:cNvGrpSpPr>
          <p:nvPr/>
        </p:nvGrpSpPr>
        <p:grpSpPr bwMode="auto">
          <a:xfrm>
            <a:off x="3189289" y="5586414"/>
            <a:ext cx="446087" cy="446087"/>
            <a:chOff x="854" y="3609"/>
            <a:chExt cx="281" cy="281"/>
          </a:xfrm>
        </p:grpSpPr>
        <p:grpSp>
          <p:nvGrpSpPr>
            <p:cNvPr id="24903" name="Group 327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24904" name="Line 328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905" name="Freeform 329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906" name="Line 330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4907" name="Freeform 331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0708553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9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26" name="Group 326"/>
          <p:cNvGrpSpPr>
            <a:grpSpLocks/>
          </p:cNvGrpSpPr>
          <p:nvPr/>
        </p:nvGrpSpPr>
        <p:grpSpPr bwMode="auto">
          <a:xfrm>
            <a:off x="2166938" y="342900"/>
            <a:ext cx="8139112" cy="6286500"/>
            <a:chOff x="405" y="216"/>
            <a:chExt cx="5127" cy="3960"/>
          </a:xfrm>
        </p:grpSpPr>
        <p:grpSp>
          <p:nvGrpSpPr>
            <p:cNvPr id="25763" name="Group 163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25764" name="Group 164"/>
              <p:cNvGrpSpPr>
                <a:grpSpLocks/>
              </p:cNvGrpSpPr>
              <p:nvPr/>
            </p:nvGrpSpPr>
            <p:grpSpPr bwMode="auto">
              <a:xfrm>
                <a:off x="405" y="216"/>
                <a:ext cx="5127" cy="3960"/>
                <a:chOff x="405" y="216"/>
                <a:chExt cx="5127" cy="3960"/>
              </a:xfrm>
            </p:grpSpPr>
            <p:grpSp>
              <p:nvGrpSpPr>
                <p:cNvPr id="25765" name="Group 165"/>
                <p:cNvGrpSpPr>
                  <a:grpSpLocks/>
                </p:cNvGrpSpPr>
                <p:nvPr/>
              </p:nvGrpSpPr>
              <p:grpSpPr bwMode="auto">
                <a:xfrm>
                  <a:off x="405" y="216"/>
                  <a:ext cx="5127" cy="3960"/>
                  <a:chOff x="405" y="216"/>
                  <a:chExt cx="5127" cy="3960"/>
                </a:xfrm>
              </p:grpSpPr>
              <p:grpSp>
                <p:nvGrpSpPr>
                  <p:cNvPr id="25766" name="Group 166"/>
                  <p:cNvGrpSpPr>
                    <a:grpSpLocks/>
                  </p:cNvGrpSpPr>
                  <p:nvPr/>
                </p:nvGrpSpPr>
                <p:grpSpPr bwMode="auto">
                  <a:xfrm>
                    <a:off x="405" y="216"/>
                    <a:ext cx="5127" cy="3960"/>
                    <a:chOff x="405" y="216"/>
                    <a:chExt cx="5127" cy="3960"/>
                  </a:xfrm>
                </p:grpSpPr>
                <p:grpSp>
                  <p:nvGrpSpPr>
                    <p:cNvPr id="25767" name="Group 1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7" y="1487"/>
                      <a:ext cx="3204" cy="2689"/>
                      <a:chOff x="405" y="1470"/>
                      <a:chExt cx="3204" cy="2689"/>
                    </a:xfrm>
                  </p:grpSpPr>
                  <p:sp>
                    <p:nvSpPr>
                      <p:cNvPr id="25768" name="Text Box 16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131" y="3751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5769" name="Text Box 16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95" y="3751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770" name="Text Box 17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659" y="3747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771" name="Text Box 17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69" y="3751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5772" name="Text Box 17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125" y="3743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5773" name="Text Box 17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365" y="3739"/>
                        <a:ext cx="264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5774" name="Text Box 17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561" y="3743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10</a:t>
                        </a:r>
                      </a:p>
                    </p:txBody>
                  </p:sp>
                  <p:sp>
                    <p:nvSpPr>
                      <p:cNvPr id="25775" name="Text Box 17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09" y="3751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11</a:t>
                        </a:r>
                      </a:p>
                    </p:txBody>
                  </p:sp>
                  <p:sp>
                    <p:nvSpPr>
                      <p:cNvPr id="25776" name="Text Box 17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033" y="3747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12</a:t>
                        </a:r>
                      </a:p>
                    </p:txBody>
                  </p:sp>
                  <p:sp>
                    <p:nvSpPr>
                      <p:cNvPr id="25777" name="Text Box 17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281" y="3743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13</a:t>
                        </a:r>
                      </a:p>
                    </p:txBody>
                  </p:sp>
                  <p:sp>
                    <p:nvSpPr>
                      <p:cNvPr id="25778" name="Text Box 17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731" y="3909"/>
                        <a:ext cx="976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srgbClr val="ED7D31"/>
                            </a:solidFill>
                            <a:latin typeface="Calibri" panose="020F0502020204030204"/>
                          </a:rPr>
                          <a:t>Shoe Size</a:t>
                        </a:r>
                      </a:p>
                    </p:txBody>
                  </p:sp>
                  <p:sp>
                    <p:nvSpPr>
                      <p:cNvPr id="25779" name="Text Box 17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75" y="3377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60</a:t>
                        </a:r>
                      </a:p>
                    </p:txBody>
                  </p:sp>
                  <p:sp>
                    <p:nvSpPr>
                      <p:cNvPr id="25780" name="Text Box 18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75" y="3125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65</a:t>
                        </a:r>
                      </a:p>
                    </p:txBody>
                  </p:sp>
                  <p:sp>
                    <p:nvSpPr>
                      <p:cNvPr id="25781" name="Text Box 18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63" y="2893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70</a:t>
                        </a:r>
                      </a:p>
                    </p:txBody>
                  </p:sp>
                  <p:sp>
                    <p:nvSpPr>
                      <p:cNvPr id="25782" name="Text Box 18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67" y="2657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75</a:t>
                        </a:r>
                      </a:p>
                    </p:txBody>
                  </p:sp>
                  <p:sp>
                    <p:nvSpPr>
                      <p:cNvPr id="25783" name="Text Box 18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83" y="2393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80</a:t>
                        </a:r>
                      </a:p>
                    </p:txBody>
                  </p:sp>
                  <p:sp>
                    <p:nvSpPr>
                      <p:cNvPr id="25784" name="Text Box 18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79" y="2169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85</a:t>
                        </a:r>
                      </a:p>
                    </p:txBody>
                  </p:sp>
                  <p:sp>
                    <p:nvSpPr>
                      <p:cNvPr id="25785" name="Text Box 18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71" y="1933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90</a:t>
                        </a:r>
                      </a:p>
                    </p:txBody>
                  </p:sp>
                  <p:sp>
                    <p:nvSpPr>
                      <p:cNvPr id="25786" name="Text Box 18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75" y="1681"/>
                        <a:ext cx="3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95</a:t>
                        </a:r>
                      </a:p>
                    </p:txBody>
                  </p:sp>
                  <p:grpSp>
                    <p:nvGrpSpPr>
                      <p:cNvPr id="25787" name="Group 18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017" y="1574"/>
                        <a:ext cx="2411" cy="2169"/>
                        <a:chOff x="1349" y="1496"/>
                        <a:chExt cx="2411" cy="2169"/>
                      </a:xfrm>
                    </p:grpSpPr>
                    <p:sp>
                      <p:nvSpPr>
                        <p:cNvPr id="25788" name="Rectangle 18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789" name="Rectangle 18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790" name="Rectangle 19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791" name="Rectangle 19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792" name="Rectangle 19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3424"/>
                          <a:ext cx="242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793" name="Rectangle 19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794" name="Rectangle 19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795" name="Rectangle 19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796" name="Rectangle 19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797" name="Rectangle 19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3424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798" name="Rectangle 19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799" name="Rectangle 19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00" name="Rectangle 20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01" name="Rectangle 20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02" name="Rectangle 2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3183"/>
                          <a:ext cx="242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03" name="Rectangle 20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04" name="Rectangle 20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05" name="Rectangle 20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06" name="Rectangle 20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07" name="Rectangle 20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3183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08" name="Rectangle 20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09" name="Rectangle 20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10" name="Rectangle 21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11" name="Rectangle 21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12" name="Rectangle 21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2942"/>
                          <a:ext cx="242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13" name="Rectangle 2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14" name="Rectangle 2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15" name="Rectangle 2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16" name="Rectangle 2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17" name="Rectangle 2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2942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18" name="Rectangle 2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19" name="Rectangle 2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20" name="Rectangle 22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21" name="Rectangle 22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22" name="Rectangle 22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2700"/>
                          <a:ext cx="242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23" name="Rectangle 22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24" name="Rectangle 2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25" name="Rectangle 2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26" name="Rectangle 22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27" name="Rectangle 2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2700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28" name="Rectangle 22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29" name="Rectangle 2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30" name="Rectangle 2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31" name="Rectangle 23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32" name="Rectangle 2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2460"/>
                          <a:ext cx="242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33" name="Rectangle 23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34" name="Rectangle 23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35" name="Rectangle 2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36" name="Rectangle 23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37" name="Rectangle 2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2460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38" name="Rectangle 2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39" name="Rectangle 23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40" name="Rectangle 2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41" name="Rectangle 24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42" name="Rectangle 24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2219"/>
                          <a:ext cx="242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43" name="Rectangle 2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44" name="Rectangle 24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45" name="Rectangle 24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46" name="Rectangle 24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47" name="Rectangle 24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2219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48" name="Rectangle 24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49" name="Rectangle 24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50" name="Rectangle 25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51" name="Rectangle 25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52" name="Rectangle 25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1977"/>
                          <a:ext cx="242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53" name="Rectangle 25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54" name="Rectangle 25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55" name="Rectangle 25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56" name="Rectangle 25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57" name="Rectangle 25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1977"/>
                          <a:ext cx="241" cy="24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58" name="Rectangle 25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59" name="Rectangle 25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60" name="Rectangle 26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61" name="Rectangle 26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62" name="Rectangle 26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1737"/>
                          <a:ext cx="242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63" name="Rectangle 26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64" name="Rectangle 26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65" name="Rectangle 26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66" name="Rectangle 26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67" name="Rectangle 26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1737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68" name="Rectangle 26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49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69" name="Rectangle 26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90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70" name="Rectangle 27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31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71" name="Rectangle 27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72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72" name="Rectangle 27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13" y="1496"/>
                          <a:ext cx="242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73" name="Rectangle 27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55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74" name="Rectangle 27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96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75" name="Rectangle 27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7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76" name="Rectangle 27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78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5877" name="Rectangle 27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19" y="1496"/>
                          <a:ext cx="241" cy="2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C0C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</p:grpSp>
                  <p:sp>
                    <p:nvSpPr>
                      <p:cNvPr id="25878" name="Text Box 27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47" y="1470"/>
                        <a:ext cx="449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100</a:t>
                        </a:r>
                      </a:p>
                    </p:txBody>
                  </p:sp>
                  <p:sp>
                    <p:nvSpPr>
                      <p:cNvPr id="25879" name="Text Box 27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 rot="-5400000">
                        <a:off x="42" y="2600"/>
                        <a:ext cx="976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pPr algn="ctr"/>
                        <a:r>
                          <a:rPr lang="en-GB" altLang="x-none" sz="2000">
                            <a:solidFill>
                              <a:srgbClr val="ED7D31"/>
                            </a:solidFill>
                            <a:latin typeface="Calibri" panose="020F0502020204030204"/>
                          </a:rPr>
                          <a:t>Mass (kg)</a:t>
                        </a:r>
                      </a:p>
                    </p:txBody>
                  </p:sp>
                  <p:sp>
                    <p:nvSpPr>
                      <p:cNvPr id="25880" name="Line 28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17" y="3743"/>
                        <a:ext cx="2411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5881" name="Line 28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17" y="1582"/>
                        <a:ext cx="0" cy="2169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</p:grpSp>
                <p:sp>
                  <p:nvSpPr>
                    <p:cNvPr id="25882" name="Text Box 282" descr="Parchment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44" y="216"/>
                      <a:ext cx="5088" cy="446"/>
                    </a:xfrm>
                    <a:prstGeom prst="rect">
                      <a:avLst/>
                    </a:prstGeom>
                    <a:blipFill dpi="0" rotWithShape="0">
                      <a:blip r:embed="rId4"/>
                      <a:srcRect/>
                      <a:tile tx="0" ty="0" sx="100000" sy="100000" flip="none" algn="tl"/>
                    </a:blip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r>
                        <a:rPr lang="en-GB" altLang="x-none" sz="2000" b="1">
                          <a:solidFill>
                            <a:srgbClr val="44546A"/>
                          </a:solidFill>
                          <a:latin typeface="Calibri" panose="020F0502020204030204"/>
                        </a:rPr>
                        <a:t>(1).</a:t>
                      </a: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 The table below shows the shoe size and mass of 10 men.</a:t>
                      </a:r>
                    </a:p>
                    <a:p>
                      <a:r>
                        <a:rPr lang="en-GB" altLang="x-none" sz="2000">
                          <a:solidFill>
                            <a:srgbClr val="FF0000"/>
                          </a:solidFill>
                          <a:latin typeface="Calibri" panose="020F0502020204030204"/>
                        </a:rPr>
                        <a:t>(a)</a:t>
                      </a: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 Plot a </a:t>
                      </a:r>
                      <a:r>
                        <a:rPr lang="en-GB" altLang="x-none" sz="2000">
                          <a:solidFill>
                            <a:srgbClr val="ED7D31"/>
                          </a:solidFill>
                          <a:latin typeface="Calibri" panose="020F0502020204030204"/>
                        </a:rPr>
                        <a:t>scatter graph</a:t>
                      </a: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alibri" panose="020F0502020204030204"/>
                        </a:rPr>
                        <a:t> for this data and draw a </a:t>
                      </a:r>
                      <a:r>
                        <a:rPr lang="en-GB" altLang="x-none" sz="2000">
                          <a:solidFill>
                            <a:srgbClr val="ED7D31"/>
                          </a:solidFill>
                          <a:latin typeface="Calibri" panose="020F0502020204030204"/>
                        </a:rPr>
                        <a:t>line of best fit.</a:t>
                      </a:r>
                    </a:p>
                  </p:txBody>
                </p:sp>
                <p:sp>
                  <p:nvSpPr>
                    <p:cNvPr id="25883" name="Rectangle 2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6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80</a:t>
                      </a:r>
                    </a:p>
                  </p:txBody>
                </p:sp>
                <p:sp>
                  <p:nvSpPr>
                    <p:cNvPr id="25884" name="Rectangle 2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00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74</a:t>
                      </a:r>
                    </a:p>
                  </p:txBody>
                </p:sp>
                <p:sp>
                  <p:nvSpPr>
                    <p:cNvPr id="25885" name="Rectangle 2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34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88</a:t>
                      </a:r>
                    </a:p>
                  </p:txBody>
                </p:sp>
                <p:sp>
                  <p:nvSpPr>
                    <p:cNvPr id="25886" name="Rectangle 2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68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76</a:t>
                      </a:r>
                    </a:p>
                  </p:txBody>
                </p:sp>
                <p:sp>
                  <p:nvSpPr>
                    <p:cNvPr id="25887" name="Rectangle 2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2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78</a:t>
                      </a:r>
                    </a:p>
                  </p:txBody>
                </p:sp>
                <p:sp>
                  <p:nvSpPr>
                    <p:cNvPr id="25888" name="Rectangle 2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35" y="1129"/>
                      <a:ext cx="467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78</a:t>
                      </a:r>
                    </a:p>
                  </p:txBody>
                </p:sp>
                <p:sp>
                  <p:nvSpPr>
                    <p:cNvPr id="25889" name="Rectangle 2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9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92</a:t>
                      </a:r>
                    </a:p>
                  </p:txBody>
                </p:sp>
                <p:sp>
                  <p:nvSpPr>
                    <p:cNvPr id="25890" name="Rectangle 2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03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68</a:t>
                      </a:r>
                    </a:p>
                  </p:txBody>
                </p:sp>
                <p:sp>
                  <p:nvSpPr>
                    <p:cNvPr id="25891" name="Rectangle 2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37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97</a:t>
                      </a:r>
                    </a:p>
                  </p:txBody>
                </p:sp>
                <p:sp>
                  <p:nvSpPr>
                    <p:cNvPr id="25892" name="Rectangle 2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1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65</a:t>
                      </a:r>
                    </a:p>
                  </p:txBody>
                </p:sp>
                <p:sp>
                  <p:nvSpPr>
                    <p:cNvPr id="25893" name="Rectangle 2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" y="1129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GB" altLang="x-none" sz="1800">
                          <a:solidFill>
                            <a:srgbClr val="ED7D31"/>
                          </a:solidFill>
                          <a:latin typeface="Comic Sans MS" charset="0"/>
                        </a:rPr>
                        <a:t>Mass</a:t>
                      </a:r>
                    </a:p>
                  </p:txBody>
                </p:sp>
                <p:sp>
                  <p:nvSpPr>
                    <p:cNvPr id="25894" name="Rectangle 2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66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8</a:t>
                      </a:r>
                    </a:p>
                  </p:txBody>
                </p:sp>
                <p:sp>
                  <p:nvSpPr>
                    <p:cNvPr id="25895" name="Rectangle 2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00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6</a:t>
                      </a:r>
                    </a:p>
                  </p:txBody>
                </p:sp>
                <p:sp>
                  <p:nvSpPr>
                    <p:cNvPr id="25896" name="Rectangle 2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34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11</a:t>
                      </a:r>
                    </a:p>
                  </p:txBody>
                </p:sp>
                <p:sp>
                  <p:nvSpPr>
                    <p:cNvPr id="25897" name="Rectangle 2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68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8</a:t>
                      </a:r>
                    </a:p>
                  </p:txBody>
                </p:sp>
                <p:sp>
                  <p:nvSpPr>
                    <p:cNvPr id="25898" name="Rectangle 2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2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9</a:t>
                      </a:r>
                    </a:p>
                  </p:txBody>
                </p:sp>
                <p:sp>
                  <p:nvSpPr>
                    <p:cNvPr id="25899" name="Rectangle 2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35" y="880"/>
                      <a:ext cx="467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10</a:t>
                      </a:r>
                    </a:p>
                  </p:txBody>
                </p:sp>
                <p:sp>
                  <p:nvSpPr>
                    <p:cNvPr id="25900" name="Rectangle 3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9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10</a:t>
                      </a:r>
                    </a:p>
                  </p:txBody>
                </p:sp>
                <p:sp>
                  <p:nvSpPr>
                    <p:cNvPr id="25901" name="Rectangle 3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03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7</a:t>
                      </a:r>
                    </a:p>
                  </p:txBody>
                </p:sp>
                <p:sp>
                  <p:nvSpPr>
                    <p:cNvPr id="25902" name="Rectangle 3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37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12</a:t>
                      </a:r>
                    </a:p>
                  </p:txBody>
                </p:sp>
                <p:sp>
                  <p:nvSpPr>
                    <p:cNvPr id="25903" name="Rectangle 3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1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GB" altLang="x-none" sz="2000">
                          <a:solidFill>
                            <a:prstClr val="black"/>
                          </a:solidFill>
                          <a:latin typeface="Comic Sans MS" charset="0"/>
                        </a:rPr>
                        <a:t>5</a:t>
                      </a:r>
                    </a:p>
                  </p:txBody>
                </p:sp>
                <p:sp>
                  <p:nvSpPr>
                    <p:cNvPr id="25904" name="Rectangle 3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5" y="880"/>
                      <a:ext cx="466" cy="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GB" altLang="x-none" sz="1800">
                          <a:solidFill>
                            <a:srgbClr val="ED7D31"/>
                          </a:solidFill>
                          <a:latin typeface="Comic Sans MS" charset="0"/>
                        </a:rPr>
                        <a:t>Size</a:t>
                      </a:r>
                    </a:p>
                  </p:txBody>
                </p:sp>
                <p:sp>
                  <p:nvSpPr>
                    <p:cNvPr id="25905" name="Line 30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5" y="880"/>
                      <a:ext cx="5127" cy="0"/>
                    </a:xfrm>
                    <a:prstGeom prst="line">
                      <a:avLst/>
                    </a:prstGeom>
                    <a:noFill/>
                    <a:ln w="28575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06" name="Line 3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5" y="1129"/>
                      <a:ext cx="5127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07" name="Line 3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5" y="1378"/>
                      <a:ext cx="5127" cy="0"/>
                    </a:xfrm>
                    <a:prstGeom prst="line">
                      <a:avLst/>
                    </a:prstGeom>
                    <a:noFill/>
                    <a:ln w="28575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08" name="Line 30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5" y="880"/>
                      <a:ext cx="0" cy="498"/>
                    </a:xfrm>
                    <a:prstGeom prst="line">
                      <a:avLst/>
                    </a:prstGeom>
                    <a:noFill/>
                    <a:ln w="28575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09" name="Line 3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71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10" name="Line 3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37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11" name="Line 3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03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12" name="Line 3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69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13" name="Line 3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35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14" name="Line 3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02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15" name="Line 3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68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16" name="Line 3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34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17" name="Line 3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00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18" name="Line 3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066" y="880"/>
                      <a:ext cx="0" cy="49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25919" name="Line 3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532" y="880"/>
                      <a:ext cx="0" cy="498"/>
                    </a:xfrm>
                    <a:prstGeom prst="line">
                      <a:avLst/>
                    </a:prstGeom>
                    <a:noFill/>
                    <a:ln w="28575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  <p:sp>
                <p:nvSpPr>
                  <p:cNvPr id="25920" name="Oval 320"/>
                  <p:cNvSpPr>
                    <a:spLocks noChangeArrowheads="1"/>
                  </p:cNvSpPr>
                  <p:nvPr/>
                </p:nvSpPr>
                <p:spPr bwMode="auto">
                  <a:xfrm>
                    <a:off x="1548" y="3261"/>
                    <a:ext cx="44" cy="44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25921" name="Oval 321"/>
                <p:cNvSpPr>
                  <a:spLocks noChangeArrowheads="1"/>
                </p:cNvSpPr>
                <p:nvPr/>
              </p:nvSpPr>
              <p:spPr bwMode="auto">
                <a:xfrm>
                  <a:off x="3240" y="1711"/>
                  <a:ext cx="44" cy="4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5922" name="Oval 322"/>
              <p:cNvSpPr>
                <a:spLocks noChangeArrowheads="1"/>
              </p:cNvSpPr>
              <p:nvPr/>
            </p:nvSpPr>
            <p:spPr bwMode="auto">
              <a:xfrm>
                <a:off x="2032" y="3097"/>
                <a:ext cx="44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5924" name="Oval 324"/>
            <p:cNvSpPr>
              <a:spLocks noChangeArrowheads="1"/>
            </p:cNvSpPr>
            <p:nvPr/>
          </p:nvSpPr>
          <p:spPr bwMode="auto">
            <a:xfrm>
              <a:off x="2753" y="1945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5923" name="Rectangle 323"/>
          <p:cNvSpPr>
            <a:spLocks noChangeArrowheads="1"/>
          </p:cNvSpPr>
          <p:nvPr/>
        </p:nvSpPr>
        <p:spPr bwMode="auto">
          <a:xfrm>
            <a:off x="5867400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925" name="Oval 325"/>
          <p:cNvSpPr>
            <a:spLocks noChangeArrowheads="1"/>
          </p:cNvSpPr>
          <p:nvPr/>
        </p:nvSpPr>
        <p:spPr bwMode="auto">
          <a:xfrm>
            <a:off x="5897563" y="4149725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927" name="Rectangle 327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5928" name="Group 328"/>
          <p:cNvGrpSpPr>
            <a:grpSpLocks/>
          </p:cNvGrpSpPr>
          <p:nvPr/>
        </p:nvGrpSpPr>
        <p:grpSpPr bwMode="auto">
          <a:xfrm>
            <a:off x="3189289" y="5586414"/>
            <a:ext cx="446087" cy="446087"/>
            <a:chOff x="854" y="3609"/>
            <a:chExt cx="281" cy="281"/>
          </a:xfrm>
        </p:grpSpPr>
        <p:grpSp>
          <p:nvGrpSpPr>
            <p:cNvPr id="25929" name="Group 329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25930" name="Line 330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931" name="Freeform 331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932" name="Line 332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5933" name="Freeform 333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017834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91" name="Group 167"/>
          <p:cNvGrpSpPr>
            <a:grpSpLocks/>
          </p:cNvGrpSpPr>
          <p:nvPr/>
        </p:nvGrpSpPr>
        <p:grpSpPr bwMode="auto">
          <a:xfrm>
            <a:off x="2166938" y="342900"/>
            <a:ext cx="8139112" cy="6286500"/>
            <a:chOff x="405" y="216"/>
            <a:chExt cx="5127" cy="3960"/>
          </a:xfrm>
        </p:grpSpPr>
        <p:grpSp>
          <p:nvGrpSpPr>
            <p:cNvPr id="26626" name="Group 2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26627" name="Group 3"/>
              <p:cNvGrpSpPr>
                <a:grpSpLocks/>
              </p:cNvGrpSpPr>
              <p:nvPr/>
            </p:nvGrpSpPr>
            <p:grpSpPr bwMode="auto">
              <a:xfrm>
                <a:off x="405" y="216"/>
                <a:ext cx="5127" cy="3960"/>
                <a:chOff x="405" y="216"/>
                <a:chExt cx="5127" cy="3960"/>
              </a:xfrm>
            </p:grpSpPr>
            <p:grpSp>
              <p:nvGrpSpPr>
                <p:cNvPr id="26628" name="Group 4"/>
                <p:cNvGrpSpPr>
                  <a:grpSpLocks/>
                </p:cNvGrpSpPr>
                <p:nvPr/>
              </p:nvGrpSpPr>
              <p:grpSpPr bwMode="auto">
                <a:xfrm>
                  <a:off x="405" y="216"/>
                  <a:ext cx="5127" cy="3960"/>
                  <a:chOff x="405" y="216"/>
                  <a:chExt cx="5127" cy="3960"/>
                </a:xfrm>
              </p:grpSpPr>
              <p:grpSp>
                <p:nvGrpSpPr>
                  <p:cNvPr id="26629" name="Group 5"/>
                  <p:cNvGrpSpPr>
                    <a:grpSpLocks/>
                  </p:cNvGrpSpPr>
                  <p:nvPr/>
                </p:nvGrpSpPr>
                <p:grpSpPr bwMode="auto">
                  <a:xfrm>
                    <a:off x="405" y="216"/>
                    <a:ext cx="5127" cy="3960"/>
                    <a:chOff x="405" y="216"/>
                    <a:chExt cx="5127" cy="3960"/>
                  </a:xfrm>
                </p:grpSpPr>
                <p:grpSp>
                  <p:nvGrpSpPr>
                    <p:cNvPr id="26630" name="Group 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5" y="216"/>
                      <a:ext cx="5127" cy="3960"/>
                      <a:chOff x="405" y="216"/>
                      <a:chExt cx="5127" cy="3960"/>
                    </a:xfrm>
                  </p:grpSpPr>
                  <p:grpSp>
                    <p:nvGrpSpPr>
                      <p:cNvPr id="26631" name="Group 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77" y="1487"/>
                        <a:ext cx="3204" cy="2689"/>
                        <a:chOff x="405" y="1470"/>
                        <a:chExt cx="3204" cy="2689"/>
                      </a:xfrm>
                    </p:grpSpPr>
                    <p:sp>
                      <p:nvSpPr>
                        <p:cNvPr id="26632" name="Text Box 8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31" y="3751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4</a:t>
                          </a:r>
                        </a:p>
                      </p:txBody>
                    </p:sp>
                    <p:sp>
                      <p:nvSpPr>
                        <p:cNvPr id="26633" name="Text Box 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95" y="3751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5</a:t>
                          </a:r>
                        </a:p>
                      </p:txBody>
                    </p:sp>
                    <p:sp>
                      <p:nvSpPr>
                        <p:cNvPr id="26634" name="Text Box 10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659" y="3747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6</a:t>
                          </a:r>
                        </a:p>
                      </p:txBody>
                    </p:sp>
                    <p:sp>
                      <p:nvSpPr>
                        <p:cNvPr id="26635" name="Text Box 1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69" y="3751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7</a:t>
                          </a:r>
                        </a:p>
                      </p:txBody>
                    </p:sp>
                    <p:sp>
                      <p:nvSpPr>
                        <p:cNvPr id="26636" name="Text Box 12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125" y="3743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8</a:t>
                          </a:r>
                        </a:p>
                      </p:txBody>
                    </p:sp>
                    <p:sp>
                      <p:nvSpPr>
                        <p:cNvPr id="26637" name="Text Box 13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65" y="3739"/>
                          <a:ext cx="26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9</a:t>
                          </a:r>
                        </a:p>
                      </p:txBody>
                    </p:sp>
                    <p:sp>
                      <p:nvSpPr>
                        <p:cNvPr id="26638" name="Text Box 14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61" y="3743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10</a:t>
                          </a:r>
                        </a:p>
                      </p:txBody>
                    </p:sp>
                    <p:sp>
                      <p:nvSpPr>
                        <p:cNvPr id="26639" name="Text Box 15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09" y="3751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11</a:t>
                          </a:r>
                        </a:p>
                      </p:txBody>
                    </p:sp>
                    <p:sp>
                      <p:nvSpPr>
                        <p:cNvPr id="26640" name="Text Box 16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33" y="3747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12</a:t>
                          </a:r>
                        </a:p>
                      </p:txBody>
                    </p:sp>
                    <p:sp>
                      <p:nvSpPr>
                        <p:cNvPr id="26641" name="Text Box 17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281" y="3743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13</a:t>
                          </a:r>
                        </a:p>
                      </p:txBody>
                    </p:sp>
                    <p:sp>
                      <p:nvSpPr>
                        <p:cNvPr id="26642" name="Text Box 18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31" y="3909"/>
                          <a:ext cx="976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srgbClr val="ED7D31"/>
                              </a:solidFill>
                              <a:latin typeface="Calibri" panose="020F0502020204030204"/>
                            </a:rPr>
                            <a:t>Shoe Size</a:t>
                          </a:r>
                        </a:p>
                      </p:txBody>
                    </p:sp>
                    <p:sp>
                      <p:nvSpPr>
                        <p:cNvPr id="26643" name="Text Box 1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5" y="3377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60</a:t>
                          </a:r>
                        </a:p>
                      </p:txBody>
                    </p:sp>
                    <p:sp>
                      <p:nvSpPr>
                        <p:cNvPr id="26644" name="Text Box 20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5" y="3125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65</a:t>
                          </a:r>
                        </a:p>
                      </p:txBody>
                    </p:sp>
                    <p:sp>
                      <p:nvSpPr>
                        <p:cNvPr id="26645" name="Text Box 2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63" y="2893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70</a:t>
                          </a:r>
                        </a:p>
                      </p:txBody>
                    </p:sp>
                    <p:sp>
                      <p:nvSpPr>
                        <p:cNvPr id="26646" name="Text Box 22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67" y="2657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75</a:t>
                          </a:r>
                        </a:p>
                      </p:txBody>
                    </p:sp>
                    <p:sp>
                      <p:nvSpPr>
                        <p:cNvPr id="26647" name="Text Box 23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83" y="2393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80</a:t>
                          </a:r>
                        </a:p>
                      </p:txBody>
                    </p:sp>
                    <p:sp>
                      <p:nvSpPr>
                        <p:cNvPr id="26648" name="Text Box 24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9" y="2169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85</a:t>
                          </a:r>
                        </a:p>
                      </p:txBody>
                    </p:sp>
                    <p:sp>
                      <p:nvSpPr>
                        <p:cNvPr id="26649" name="Text Box 25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1" y="1933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90</a:t>
                          </a:r>
                        </a:p>
                      </p:txBody>
                    </p:sp>
                    <p:sp>
                      <p:nvSpPr>
                        <p:cNvPr id="26650" name="Text Box 26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5" y="1681"/>
                          <a:ext cx="32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95</a:t>
                          </a:r>
                        </a:p>
                      </p:txBody>
                    </p:sp>
                    <p:grpSp>
                      <p:nvGrpSpPr>
                        <p:cNvPr id="26651" name="Group 2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017" y="1574"/>
                          <a:ext cx="2411" cy="2169"/>
                          <a:chOff x="1349" y="1496"/>
                          <a:chExt cx="2411" cy="2169"/>
                        </a:xfrm>
                      </p:grpSpPr>
                      <p:sp>
                        <p:nvSpPr>
                          <p:cNvPr id="26652" name="Rectangle 2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53" name="Rectangle 2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54" name="Rectangle 3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55" name="Rectangle 3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56" name="Rectangle 3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3424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57" name="Rectangle 3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58" name="Rectangle 3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59" name="Rectangle 3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60" name="Rectangle 3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61" name="Rectangle 3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3424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62" name="Rectangle 3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63" name="Rectangle 3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64" name="Rectangle 4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65" name="Rectangle 4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66" name="Rectangle 4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3183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67" name="Rectangle 4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68" name="Rectangle 4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69" name="Rectangle 4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70" name="Rectangle 4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71" name="Rectangle 4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3183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72" name="Rectangle 4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73" name="Rectangle 4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74" name="Rectangle 5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75" name="Rectangle 5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76" name="Rectangle 5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2942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77" name="Rectangle 5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78" name="Rectangle 5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79" name="Rectangle 5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80" name="Rectangle 5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81" name="Rectangle 5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2942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82" name="Rectangle 5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83" name="Rectangle 5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84" name="Rectangle 6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85" name="Rectangle 6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86" name="Rectangle 6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2700"/>
                            <a:ext cx="242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87" name="Rectangle 6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88" name="Rectangle 6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89" name="Rectangle 6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90" name="Rectangle 6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91" name="Rectangle 6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2700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92" name="Rectangle 6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93" name="Rectangle 6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94" name="Rectangle 7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95" name="Rectangle 7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96" name="Rectangle 7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2460"/>
                            <a:ext cx="242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97" name="Rectangle 7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98" name="Rectangle 7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699" name="Rectangle 7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00" name="Rectangle 7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01" name="Rectangle 7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2460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02" name="Rectangle 7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03" name="Rectangle 7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04" name="Rectangle 8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05" name="Rectangle 8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06" name="Rectangle 8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2219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07" name="Rectangle 8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08" name="Rectangle 8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09" name="Rectangle 8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10" name="Rectangle 8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11" name="Rectangle 8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2219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12" name="Rectangle 8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13" name="Rectangle 8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14" name="Rectangle 9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15" name="Rectangle 9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16" name="Rectangle 9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1977"/>
                            <a:ext cx="242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17" name="Rectangle 9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18" name="Rectangle 9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19" name="Rectangle 9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20" name="Rectangle 9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21" name="Rectangle 9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1977"/>
                            <a:ext cx="241" cy="2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22" name="Rectangle 9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23" name="Rectangle 9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24" name="Rectangle 10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25" name="Rectangle 10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26" name="Rectangle 10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1737"/>
                            <a:ext cx="242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27" name="Rectangle 10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28" name="Rectangle 10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29" name="Rectangle 10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30" name="Rectangle 10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31" name="Rectangle 10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1737"/>
                            <a:ext cx="241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32" name="Rectangle 10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49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33" name="Rectangle 10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0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34" name="Rectangle 11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31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35" name="Rectangle 11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72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36" name="Rectangle 11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13" y="1496"/>
                            <a:ext cx="242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37" name="Rectangle 11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55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38" name="Rectangle 11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96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39" name="Rectangle 11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37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40" name="Rectangle 11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78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26741" name="Rectangle 11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519" y="1496"/>
                            <a:ext cx="241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</p:grpSp>
                    <p:sp>
                      <p:nvSpPr>
                        <p:cNvPr id="26742" name="Text Box 118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47" y="1470"/>
                          <a:ext cx="449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r>
                            <a:rPr lang="en-GB" altLang="x-none" sz="200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a:t>100</a:t>
                          </a:r>
                        </a:p>
                      </p:txBody>
                    </p:sp>
                    <p:sp>
                      <p:nvSpPr>
                        <p:cNvPr id="26743" name="Text Box 11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 rot="-5400000">
                          <a:off x="42" y="2600"/>
                          <a:ext cx="976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pPr algn="ctr"/>
                          <a:r>
                            <a:rPr lang="en-GB" altLang="x-none" sz="2000">
                              <a:solidFill>
                                <a:srgbClr val="ED7D31"/>
                              </a:solidFill>
                              <a:latin typeface="Calibri" panose="020F0502020204030204"/>
                            </a:rPr>
                            <a:t>Mass (kg)</a:t>
                          </a:r>
                        </a:p>
                      </p:txBody>
                    </p:sp>
                    <p:sp>
                      <p:nvSpPr>
                        <p:cNvPr id="26744" name="Line 12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017" y="3743"/>
                          <a:ext cx="2411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  <p:sp>
                      <p:nvSpPr>
                        <p:cNvPr id="26745" name="Line 12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017" y="1582"/>
                          <a:ext cx="0" cy="2169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</p:grpSp>
                  <p:sp>
                    <p:nvSpPr>
                      <p:cNvPr id="26746" name="Text Box 122" descr="Parchment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44" y="216"/>
                        <a:ext cx="5088" cy="446"/>
                      </a:xfrm>
                      <a:prstGeom prst="rect">
                        <a:avLst/>
                      </a:prstGeom>
                      <a:blipFill dpi="0" rotWithShape="0">
                        <a:blip r:embed="rId4"/>
                        <a:srcRect/>
                        <a:tile tx="0" ty="0" sx="100000" sy="100000" flip="none" algn="tl"/>
                      </a:blip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GB" altLang="x-none" sz="2000" b="1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(1).</a:t>
                        </a: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 The table below shows the shoe size and mass of 10 men.</a:t>
                        </a:r>
                      </a:p>
                      <a:p>
                        <a:r>
                          <a:rPr lang="en-GB" altLang="x-none" sz="2000">
                            <a:solidFill>
                              <a:srgbClr val="FF0000"/>
                            </a:solidFill>
                            <a:latin typeface="Calibri" panose="020F0502020204030204"/>
                          </a:rPr>
                          <a:t>(a)</a:t>
                        </a: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 Plot a </a:t>
                        </a:r>
                        <a:r>
                          <a:rPr lang="en-GB" altLang="x-none" sz="2000">
                            <a:solidFill>
                              <a:srgbClr val="ED7D31"/>
                            </a:solidFill>
                            <a:latin typeface="Calibri" panose="020F0502020204030204"/>
                          </a:rPr>
                          <a:t>scatter graph</a:t>
                        </a: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alibri" panose="020F0502020204030204"/>
                          </a:rPr>
                          <a:t> for this data and draw a </a:t>
                        </a:r>
                        <a:r>
                          <a:rPr lang="en-GB" altLang="x-none" sz="2000">
                            <a:solidFill>
                              <a:srgbClr val="ED7D31"/>
                            </a:solidFill>
                            <a:latin typeface="Calibri" panose="020F0502020204030204"/>
                          </a:rPr>
                          <a:t>line of best fit.</a:t>
                        </a:r>
                      </a:p>
                    </p:txBody>
                  </p:sp>
                  <p:sp>
                    <p:nvSpPr>
                      <p:cNvPr id="26747" name="Rectangle 1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66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80</a:t>
                        </a:r>
                      </a:p>
                    </p:txBody>
                  </p:sp>
                  <p:sp>
                    <p:nvSpPr>
                      <p:cNvPr id="26748" name="Rectangle 1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600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74</a:t>
                        </a:r>
                      </a:p>
                    </p:txBody>
                  </p:sp>
                  <p:sp>
                    <p:nvSpPr>
                      <p:cNvPr id="26749" name="Rectangle 1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34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88</a:t>
                        </a:r>
                      </a:p>
                    </p:txBody>
                  </p:sp>
                  <p:sp>
                    <p:nvSpPr>
                      <p:cNvPr id="26750" name="Rectangle 1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68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76</a:t>
                        </a:r>
                      </a:p>
                    </p:txBody>
                  </p:sp>
                  <p:sp>
                    <p:nvSpPr>
                      <p:cNvPr id="26751" name="Rectangle 12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02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78</a:t>
                        </a:r>
                      </a:p>
                    </p:txBody>
                  </p:sp>
                  <p:sp>
                    <p:nvSpPr>
                      <p:cNvPr id="26752" name="Rectangle 1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35" y="1129"/>
                        <a:ext cx="467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78</a:t>
                        </a:r>
                      </a:p>
                    </p:txBody>
                  </p:sp>
                  <p:sp>
                    <p:nvSpPr>
                      <p:cNvPr id="26753" name="Rectangle 1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269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92</a:t>
                        </a:r>
                      </a:p>
                    </p:txBody>
                  </p:sp>
                  <p:sp>
                    <p:nvSpPr>
                      <p:cNvPr id="26754" name="Rectangle 13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03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68</a:t>
                        </a:r>
                      </a:p>
                    </p:txBody>
                  </p:sp>
                  <p:sp>
                    <p:nvSpPr>
                      <p:cNvPr id="26755" name="Rectangle 1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37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97</a:t>
                        </a:r>
                      </a:p>
                    </p:txBody>
                  </p:sp>
                  <p:sp>
                    <p:nvSpPr>
                      <p:cNvPr id="26756" name="Rectangle 13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71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65</a:t>
                        </a:r>
                      </a:p>
                    </p:txBody>
                  </p:sp>
                  <p:sp>
                    <p:nvSpPr>
                      <p:cNvPr id="26757" name="Rectangle 13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5" y="1129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>
                          <a:buNone/>
                        </a:pPr>
                        <a:r>
                          <a:rPr lang="en-GB" altLang="x-none" sz="1800">
                            <a:solidFill>
                              <a:srgbClr val="ED7D31"/>
                            </a:solidFill>
                            <a:latin typeface="Comic Sans MS" charset="0"/>
                          </a:rPr>
                          <a:t>Mass</a:t>
                        </a:r>
                      </a:p>
                    </p:txBody>
                  </p:sp>
                  <p:sp>
                    <p:nvSpPr>
                      <p:cNvPr id="26758" name="Rectangle 1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66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759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600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6760" name="Rectangle 13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34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11</a:t>
                        </a:r>
                      </a:p>
                    </p:txBody>
                  </p:sp>
                  <p:sp>
                    <p:nvSpPr>
                      <p:cNvPr id="26761" name="Rectangle 13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68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762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02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6763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35" y="880"/>
                        <a:ext cx="467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10</a:t>
                        </a:r>
                      </a:p>
                    </p:txBody>
                  </p:sp>
                  <p:sp>
                    <p:nvSpPr>
                      <p:cNvPr id="26764" name="Rectangle 14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269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10</a:t>
                        </a:r>
                      </a:p>
                    </p:txBody>
                  </p:sp>
                  <p:sp>
                    <p:nvSpPr>
                      <p:cNvPr id="26765" name="Rectangle 14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03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766" name="Rectangle 14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37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12</a:t>
                        </a:r>
                      </a:p>
                    </p:txBody>
                  </p:sp>
                  <p:sp>
                    <p:nvSpPr>
                      <p:cNvPr id="26767" name="Rectangle 14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71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algn="ctr">
                          <a:buNone/>
                        </a:pPr>
                        <a:r>
                          <a:rPr lang="en-GB" altLang="x-none" sz="2000">
                            <a:solidFill>
                              <a:prstClr val="black"/>
                            </a:solidFill>
                            <a:latin typeface="Comic Sans MS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6768" name="Rectangle 14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5" y="880"/>
                        <a:ext cx="466" cy="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1pPr>
                        <a:lvl2pPr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2pPr>
                        <a:lvl3pPr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3pPr>
                        <a:lvl4pPr>
                          <a:spcBef>
                            <a:spcPct val="20000"/>
                          </a:spcBef>
                          <a:buChar char="–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>
                          <a:spcBef>
                            <a:spcPct val="20000"/>
                          </a:spcBef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>
                          <a:buNone/>
                        </a:pPr>
                        <a:r>
                          <a:rPr lang="en-GB" altLang="x-none" sz="1800">
                            <a:solidFill>
                              <a:srgbClr val="ED7D31"/>
                            </a:solidFill>
                            <a:latin typeface="Comic Sans MS" charset="0"/>
                          </a:rPr>
                          <a:t>Size</a:t>
                        </a:r>
                      </a:p>
                    </p:txBody>
                  </p:sp>
                  <p:sp>
                    <p:nvSpPr>
                      <p:cNvPr id="26769" name="Line 14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5" y="880"/>
                        <a:ext cx="5127" cy="0"/>
                      </a:xfrm>
                      <a:prstGeom prst="line">
                        <a:avLst/>
                      </a:prstGeom>
                      <a:noFill/>
                      <a:ln w="28575" cap="sq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70" name="Line 14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5" y="1129"/>
                        <a:ext cx="5127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71" name="Line 14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5" y="1378"/>
                        <a:ext cx="5127" cy="0"/>
                      </a:xfrm>
                      <a:prstGeom prst="line">
                        <a:avLst/>
                      </a:prstGeom>
                      <a:noFill/>
                      <a:ln w="28575" cap="sq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72" name="Line 14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5" y="880"/>
                        <a:ext cx="0" cy="498"/>
                      </a:xfrm>
                      <a:prstGeom prst="line">
                        <a:avLst/>
                      </a:prstGeom>
                      <a:noFill/>
                      <a:ln w="28575" cap="sq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73" name="Line 14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71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74" name="Line 15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337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75" name="Line 15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03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76" name="Line 15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69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77" name="Line 15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735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78" name="Line 15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202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79" name="Line 15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68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80" name="Line 15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134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81" name="Line 15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600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82" name="Line 15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066" y="880"/>
                        <a:ext cx="0" cy="49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  <p:sp>
                    <p:nvSpPr>
                      <p:cNvPr id="26783" name="Line 15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532" y="880"/>
                        <a:ext cx="0" cy="498"/>
                      </a:xfrm>
                      <a:prstGeom prst="line">
                        <a:avLst/>
                      </a:prstGeom>
                      <a:noFill/>
                      <a:ln w="28575" cap="sq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</p:grpSp>
                <p:sp>
                  <p:nvSpPr>
                    <p:cNvPr id="26784" name="Oval 1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48" y="3261"/>
                      <a:ext cx="44" cy="44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  <p:sp>
                <p:nvSpPr>
                  <p:cNvPr id="26785" name="Oval 161"/>
                  <p:cNvSpPr>
                    <a:spLocks noChangeArrowheads="1"/>
                  </p:cNvSpPr>
                  <p:nvPr/>
                </p:nvSpPr>
                <p:spPr bwMode="auto">
                  <a:xfrm>
                    <a:off x="3240" y="1711"/>
                    <a:ext cx="44" cy="44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26786" name="Oval 162"/>
                <p:cNvSpPr>
                  <a:spLocks noChangeArrowheads="1"/>
                </p:cNvSpPr>
                <p:nvPr/>
              </p:nvSpPr>
              <p:spPr bwMode="auto">
                <a:xfrm>
                  <a:off x="2032" y="3097"/>
                  <a:ext cx="44" cy="4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6787" name="Oval 163"/>
              <p:cNvSpPr>
                <a:spLocks noChangeArrowheads="1"/>
              </p:cNvSpPr>
              <p:nvPr/>
            </p:nvSpPr>
            <p:spPr bwMode="auto">
              <a:xfrm>
                <a:off x="2753" y="1945"/>
                <a:ext cx="44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6789" name="Oval 165"/>
            <p:cNvSpPr>
              <a:spLocks noChangeArrowheads="1"/>
            </p:cNvSpPr>
            <p:nvPr/>
          </p:nvSpPr>
          <p:spPr bwMode="auto">
            <a:xfrm>
              <a:off x="2755" y="2614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6788" name="Rectangle 164"/>
          <p:cNvSpPr>
            <a:spLocks noChangeArrowheads="1"/>
          </p:cNvSpPr>
          <p:nvPr/>
        </p:nvSpPr>
        <p:spPr bwMode="auto">
          <a:xfrm>
            <a:off x="6610350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790" name="Oval 166"/>
          <p:cNvSpPr>
            <a:spLocks noChangeArrowheads="1"/>
          </p:cNvSpPr>
          <p:nvPr/>
        </p:nvSpPr>
        <p:spPr bwMode="auto">
          <a:xfrm>
            <a:off x="5514975" y="4146550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792" name="Rectangle 168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6793" name="Group 169"/>
          <p:cNvGrpSpPr>
            <a:grpSpLocks/>
          </p:cNvGrpSpPr>
          <p:nvPr/>
        </p:nvGrpSpPr>
        <p:grpSpPr bwMode="auto">
          <a:xfrm>
            <a:off x="3189289" y="5586414"/>
            <a:ext cx="446087" cy="446087"/>
            <a:chOff x="854" y="3609"/>
            <a:chExt cx="281" cy="281"/>
          </a:xfrm>
        </p:grpSpPr>
        <p:grpSp>
          <p:nvGrpSpPr>
            <p:cNvPr id="26794" name="Group 170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26795" name="Line 171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6796" name="Freeform 172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6797" name="Line 173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6798" name="Freeform 174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7277592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7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9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95" name="Group 175"/>
          <p:cNvGrpSpPr>
            <a:grpSpLocks/>
          </p:cNvGrpSpPr>
          <p:nvPr/>
        </p:nvGrpSpPr>
        <p:grpSpPr bwMode="auto">
          <a:xfrm>
            <a:off x="2166938" y="342900"/>
            <a:ext cx="8139112" cy="6286500"/>
            <a:chOff x="405" y="216"/>
            <a:chExt cx="5127" cy="3960"/>
          </a:xfrm>
        </p:grpSpPr>
        <p:grpSp>
          <p:nvGrpSpPr>
            <p:cNvPr id="30722" name="Group 2"/>
            <p:cNvGrpSpPr>
              <a:grpSpLocks/>
            </p:cNvGrpSpPr>
            <p:nvPr/>
          </p:nvGrpSpPr>
          <p:grpSpPr bwMode="auto">
            <a:xfrm>
              <a:off x="405" y="216"/>
              <a:ext cx="5127" cy="3960"/>
              <a:chOff x="405" y="216"/>
              <a:chExt cx="5127" cy="3960"/>
            </a:xfrm>
          </p:grpSpPr>
          <p:grpSp>
            <p:nvGrpSpPr>
              <p:cNvPr id="30723" name="Group 3"/>
              <p:cNvGrpSpPr>
                <a:grpSpLocks/>
              </p:cNvGrpSpPr>
              <p:nvPr/>
            </p:nvGrpSpPr>
            <p:grpSpPr bwMode="auto">
              <a:xfrm>
                <a:off x="405" y="216"/>
                <a:ext cx="5127" cy="3960"/>
                <a:chOff x="405" y="216"/>
                <a:chExt cx="5127" cy="3960"/>
              </a:xfrm>
            </p:grpSpPr>
            <p:grpSp>
              <p:nvGrpSpPr>
                <p:cNvPr id="30724" name="Group 4"/>
                <p:cNvGrpSpPr>
                  <a:grpSpLocks/>
                </p:cNvGrpSpPr>
                <p:nvPr/>
              </p:nvGrpSpPr>
              <p:grpSpPr bwMode="auto">
                <a:xfrm>
                  <a:off x="405" y="216"/>
                  <a:ext cx="5127" cy="3960"/>
                  <a:chOff x="405" y="216"/>
                  <a:chExt cx="5127" cy="3960"/>
                </a:xfrm>
              </p:grpSpPr>
              <p:grpSp>
                <p:nvGrpSpPr>
                  <p:cNvPr id="30725" name="Group 5"/>
                  <p:cNvGrpSpPr>
                    <a:grpSpLocks/>
                  </p:cNvGrpSpPr>
                  <p:nvPr/>
                </p:nvGrpSpPr>
                <p:grpSpPr bwMode="auto">
                  <a:xfrm>
                    <a:off x="405" y="216"/>
                    <a:ext cx="5127" cy="3960"/>
                    <a:chOff x="405" y="216"/>
                    <a:chExt cx="5127" cy="3960"/>
                  </a:xfrm>
                </p:grpSpPr>
                <p:grpSp>
                  <p:nvGrpSpPr>
                    <p:cNvPr id="30726" name="Group 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5" y="216"/>
                      <a:ext cx="5127" cy="3960"/>
                      <a:chOff x="405" y="216"/>
                      <a:chExt cx="5127" cy="3960"/>
                    </a:xfrm>
                  </p:grpSpPr>
                  <p:grpSp>
                    <p:nvGrpSpPr>
                      <p:cNvPr id="30727" name="Group 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05" y="216"/>
                        <a:ext cx="5127" cy="3960"/>
                        <a:chOff x="405" y="216"/>
                        <a:chExt cx="5127" cy="3960"/>
                      </a:xfrm>
                    </p:grpSpPr>
                    <p:grpSp>
                      <p:nvGrpSpPr>
                        <p:cNvPr id="30728" name="Group 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05" y="216"/>
                          <a:ext cx="5127" cy="3960"/>
                          <a:chOff x="405" y="216"/>
                          <a:chExt cx="5127" cy="3960"/>
                        </a:xfrm>
                      </p:grpSpPr>
                      <p:grpSp>
                        <p:nvGrpSpPr>
                          <p:cNvPr id="30729" name="Group 9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05" y="216"/>
                            <a:ext cx="5127" cy="3960"/>
                            <a:chOff x="405" y="216"/>
                            <a:chExt cx="5127" cy="3960"/>
                          </a:xfrm>
                        </p:grpSpPr>
                        <p:grpSp>
                          <p:nvGrpSpPr>
                            <p:cNvPr id="30730" name="Group 10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05" y="216"/>
                              <a:ext cx="5127" cy="3960"/>
                              <a:chOff x="405" y="216"/>
                              <a:chExt cx="5127" cy="3960"/>
                            </a:xfrm>
                          </p:grpSpPr>
                          <p:grpSp>
                            <p:nvGrpSpPr>
                              <p:cNvPr id="30731" name="Group 11"/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477" y="1487"/>
                                <a:ext cx="3204" cy="2689"/>
                                <a:chOff x="405" y="1470"/>
                                <a:chExt cx="3204" cy="2689"/>
                              </a:xfrm>
                            </p:grpSpPr>
                            <p:sp>
                              <p:nvSpPr>
                                <p:cNvPr id="30732" name="Text Box 1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131" y="3751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4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3" name="Text Box 13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395" y="3751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5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4" name="Text Box 14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659" y="3747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6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5" name="Text Box 15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869" y="3751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7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6" name="Text Box 16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125" y="3743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8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7" name="Text Box 17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365" y="3739"/>
                                  <a:ext cx="264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9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8" name="Text Box 18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561" y="3743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10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39" name="Text Box 19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809" y="3751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11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0" name="Text Box 20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033" y="3747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12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1" name="Text Box 21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281" y="3743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13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2" name="Text Box 2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731" y="3909"/>
                                  <a:ext cx="976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srgbClr val="ED7D31"/>
                                      </a:solidFill>
                                      <a:latin typeface="Calibri" panose="020F0502020204030204"/>
                                    </a:rPr>
                                    <a:t>Shoe Size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3" name="Text Box 23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75" y="3377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60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4" name="Text Box 24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75" y="3125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65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5" name="Text Box 25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63" y="2893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70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6" name="Text Box 26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67" y="2657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75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7" name="Text Box 27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83" y="2393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80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8" name="Text Box 28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79" y="2169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85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49" name="Text Box 29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71" y="1933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90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750" name="Text Box 30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75" y="1681"/>
                                  <a:ext cx="328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95</a:t>
                                  </a:r>
                                </a:p>
                              </p:txBody>
                            </p:sp>
                            <p:grpSp>
                              <p:nvGrpSpPr>
                                <p:cNvPr id="30751" name="Group 31"/>
                                <p:cNvGrpSpPr>
                                  <a:grpSpLocks/>
                                </p:cNvGrpSpPr>
                                <p:nvPr/>
                              </p:nvGrpSpPr>
                              <p:grpSpPr bwMode="auto">
                                <a:xfrm>
                                  <a:off x="1017" y="1574"/>
                                  <a:ext cx="2411" cy="2169"/>
                                  <a:chOff x="1349" y="1496"/>
                                  <a:chExt cx="2411" cy="2169"/>
                                </a:xfrm>
                              </p:grpSpPr>
                              <p:sp>
                                <p:nvSpPr>
                                  <p:cNvPr id="30752" name="Rectangle 3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53" name="Rectangle 3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54" name="Rectangle 3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55" name="Rectangle 3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56" name="Rectangle 3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3424"/>
                                    <a:ext cx="242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57" name="Rectangle 3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58" name="Rectangle 3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59" name="Rectangle 3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60" name="Rectangle 4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61" name="Rectangle 4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3424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62" name="Rectangle 4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63" name="Rectangle 4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64" name="Rectangle 4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65" name="Rectangle 4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66" name="Rectangle 4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3183"/>
                                    <a:ext cx="242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67" name="Rectangle 4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68" name="Rectangle 4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69" name="Rectangle 4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70" name="Rectangle 5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71" name="Rectangle 5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3183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72" name="Rectangle 5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73" name="Rectangle 5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74" name="Rectangle 5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75" name="Rectangle 5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76" name="Rectangle 5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2942"/>
                                    <a:ext cx="242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77" name="Rectangle 5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78" name="Rectangle 5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79" name="Rectangle 5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80" name="Rectangle 6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81" name="Rectangle 6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2942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82" name="Rectangle 6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83" name="Rectangle 6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84" name="Rectangle 6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85" name="Rectangle 6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86" name="Rectangle 6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2700"/>
                                    <a:ext cx="242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87" name="Rectangle 6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88" name="Rectangle 6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89" name="Rectangle 6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90" name="Rectangle 7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91" name="Rectangle 7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2700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92" name="Rectangle 7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93" name="Rectangle 7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94" name="Rectangle 7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95" name="Rectangle 7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96" name="Rectangle 7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2460"/>
                                    <a:ext cx="242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97" name="Rectangle 7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98" name="Rectangle 7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799" name="Rectangle 7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00" name="Rectangle 8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01" name="Rectangle 8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2460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02" name="Rectangle 8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03" name="Rectangle 8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04" name="Rectangle 8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05" name="Rectangle 8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06" name="Rectangle 8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2219"/>
                                    <a:ext cx="242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07" name="Rectangle 8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08" name="Rectangle 8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09" name="Rectangle 8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10" name="Rectangle 9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11" name="Rectangle 9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2219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12" name="Rectangle 9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13" name="Rectangle 9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14" name="Rectangle 9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15" name="Rectangle 9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16" name="Rectangle 9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1977"/>
                                    <a:ext cx="242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17" name="Rectangle 9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18" name="Rectangle 9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19" name="Rectangle 9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20" name="Rectangle 10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21" name="Rectangle 10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1977"/>
                                    <a:ext cx="241" cy="24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22" name="Rectangle 10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23" name="Rectangle 10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24" name="Rectangle 10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25" name="Rectangle 10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26" name="Rectangle 10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1737"/>
                                    <a:ext cx="242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27" name="Rectangle 10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28" name="Rectangle 10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29" name="Rectangle 10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30" name="Rectangle 11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31" name="Rectangle 11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1737"/>
                                    <a:ext cx="241" cy="24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32" name="Rectangle 112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349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33" name="Rectangle 11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590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34" name="Rectangle 114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831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35" name="Rectangle 115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72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36" name="Rectangle 11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313" y="1496"/>
                                    <a:ext cx="242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37" name="Rectangle 117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555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38" name="Rectangle 118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796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39" name="Rectangle 119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037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40" name="Rectangle 120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278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0841" name="Rectangle 121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3519" y="1496"/>
                                    <a:ext cx="241" cy="24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C0C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chemeClr val="accent1"/>
                                        </a:solidFill>
                                      </a14:hiddenFill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blurRad="63500" dist="38099" dir="2700000" algn="ctr" rotWithShape="0">
                                            <a:schemeClr val="bg2">
                                              <a:alpha val="74998"/>
                                            </a:schemeClr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  <p:txBody>
                                  <a:bodyPr wrap="none" anchor="ctr"/>
                                  <a:lstStyle/>
                                  <a:p>
                                    <a:endParaRPr lang="en-US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30842" name="Text Box 12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47" y="1470"/>
                                  <a:ext cx="449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r>
                                    <a:rPr lang="en-GB" altLang="x-none" sz="2000">
                                      <a:solidFill>
                                        <a:prstClr val="black"/>
                                      </a:solidFill>
                                      <a:latin typeface="Calibri" panose="020F0502020204030204"/>
                                    </a:rPr>
                                    <a:t>100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843" name="Text Box 123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 rot="-5400000">
                                  <a:off x="42" y="2600"/>
                                  <a:ext cx="976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chemeClr val="tx1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>
                                  <a:spAutoFit/>
                                </a:bodyPr>
                                <a:lstStyle/>
                                <a:p>
                                  <a:pPr algn="ctr"/>
                                  <a:r>
                                    <a:rPr lang="en-GB" altLang="x-none" sz="2000">
                                      <a:solidFill>
                                        <a:srgbClr val="ED7D31"/>
                                      </a:solidFill>
                                      <a:latin typeface="Calibri" panose="020F0502020204030204"/>
                                    </a:rPr>
                                    <a:t>Mass (kg)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0844" name="Line 124"/>
                                <p:cNvSpPr>
                                  <a:spLocks noChangeShapeType="1"/>
                                </p:cNvSpPr>
                                <p:nvPr/>
                              </p:nvSpPr>
                              <p:spPr bwMode="auto">
                                <a:xfrm>
                                  <a:off x="1017" y="3743"/>
                                  <a:ext cx="2411" cy="0"/>
                                </a:xfrm>
                                <a:prstGeom prst="line">
                                  <a:avLst/>
                                </a:prstGeom>
                                <a:noFill/>
                                <a:ln w="28575">
                                  <a:solidFill>
                                    <a:schemeClr val="tx1"/>
                                  </a:solidFill>
                                  <a:round/>
                                  <a:headEnd/>
                                  <a:tailEnd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noFill/>
                                    </a14:hiddenFill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/>
                                <a:lstStyle/>
                                <a:p>
                                  <a:endParaRPr lang="en-US">
                                    <a:solidFill>
                                      <a:prstClr val="black"/>
                                    </a:solidFill>
                                    <a:latin typeface="Calibri" panose="020F0502020204030204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0845" name="Line 125"/>
                                <p:cNvSpPr>
                                  <a:spLocks noChangeShapeType="1"/>
                                </p:cNvSpPr>
                                <p:nvPr/>
                              </p:nvSpPr>
                              <p:spPr bwMode="auto">
                                <a:xfrm>
                                  <a:off x="1017" y="1582"/>
                                  <a:ext cx="0" cy="2169"/>
                                </a:xfrm>
                                <a:prstGeom prst="line">
                                  <a:avLst/>
                                </a:prstGeom>
                                <a:noFill/>
                                <a:ln w="28575">
                                  <a:solidFill>
                                    <a:schemeClr val="tx1"/>
                                  </a:solidFill>
                                  <a:round/>
                                  <a:headEnd/>
                                  <a:tailEnd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noFill/>
                                    </a14:hiddenFill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blurRad="63500" dist="38099" dir="2700000" algn="ctr" rotWithShape="0">
                                          <a:schemeClr val="bg2">
                                            <a:alpha val="74998"/>
                                          </a:scheme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  <p:txBody>
                                <a:bodyPr/>
                                <a:lstStyle/>
                                <a:p>
                                  <a:endParaRPr lang="en-US">
                                    <a:solidFill>
                                      <a:prstClr val="black"/>
                                    </a:solidFill>
                                    <a:latin typeface="Calibri" panose="020F0502020204030204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30846" name="Text Box 126" descr="Parchment"/>
                              <p:cNvSpPr txBox="1"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44" y="216"/>
                                <a:ext cx="5088" cy="446"/>
                              </a:xfrm>
                              <a:prstGeom prst="rect">
                                <a:avLst/>
                              </a:prstGeom>
                              <a:blipFill dpi="0" rotWithShape="0">
                                <a:blip r:embed="rId5"/>
                                <a:srcRect/>
                                <a:tile tx="0" ty="0" sx="100000" sy="100000" flip="none" algn="tl"/>
                              </a:blipFill>
                              <a:ln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ffectLst/>
                              <a:extLs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>
                                <a:spAutoFit/>
                              </a:bodyPr>
                              <a:lstStyle/>
                              <a:p>
                                <a:r>
                                  <a:rPr lang="en-GB" altLang="x-none" sz="2000" b="1">
                                    <a:solidFill>
                                      <a:prstClr val="black"/>
                                    </a:solidFill>
                                    <a:latin typeface="Calibri" panose="020F0502020204030204"/>
                                  </a:rPr>
                                  <a:t>(1).</a:t>
                                </a: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alibri" panose="020F0502020204030204"/>
                                  </a:rPr>
                                  <a:t> The table below shows the shoe size and mass of 10 men.</a:t>
                                </a:r>
                              </a:p>
                              <a:p>
                                <a:r>
                                  <a:rPr lang="en-GB" altLang="x-none" sz="2000">
                                    <a:solidFill>
                                      <a:srgbClr val="FF0000"/>
                                    </a:solidFill>
                                    <a:latin typeface="Calibri" panose="020F0502020204030204"/>
                                  </a:rPr>
                                  <a:t>(a)</a:t>
                                </a: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alibri" panose="020F0502020204030204"/>
                                  </a:rPr>
                                  <a:t> Plot a </a:t>
                                </a:r>
                                <a:r>
                                  <a:rPr lang="en-GB" altLang="x-none" sz="2000">
                                    <a:solidFill>
                                      <a:srgbClr val="ED7D31"/>
                                    </a:solidFill>
                                    <a:latin typeface="Calibri" panose="020F0502020204030204"/>
                                  </a:rPr>
                                  <a:t>scatter graph</a:t>
                                </a: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alibri" panose="020F0502020204030204"/>
                                  </a:rPr>
                                  <a:t> for this data and draw a </a:t>
                                </a:r>
                                <a:r>
                                  <a:rPr lang="en-GB" altLang="x-none" sz="2000">
                                    <a:solidFill>
                                      <a:srgbClr val="ED7D31"/>
                                    </a:solidFill>
                                    <a:latin typeface="Calibri" panose="020F0502020204030204"/>
                                  </a:rPr>
                                  <a:t>line of best fit.</a:t>
                                </a:r>
                              </a:p>
                            </p:txBody>
                          </p:sp>
                          <p:sp>
                            <p:nvSpPr>
                              <p:cNvPr id="30847" name="Rectangle 127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5066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80</a:t>
                                </a:r>
                              </a:p>
                            </p:txBody>
                          </p:sp>
                          <p:sp>
                            <p:nvSpPr>
                              <p:cNvPr id="30848" name="Rectangle 128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600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74</a:t>
                                </a:r>
                              </a:p>
                            </p:txBody>
                          </p:sp>
                          <p:sp>
                            <p:nvSpPr>
                              <p:cNvPr id="30849" name="Rectangle 129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134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88</a:t>
                                </a:r>
                              </a:p>
                            </p:txBody>
                          </p:sp>
                          <p:sp>
                            <p:nvSpPr>
                              <p:cNvPr id="30850" name="Rectangle 130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668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76</a:t>
                                </a:r>
                              </a:p>
                            </p:txBody>
                          </p:sp>
                          <p:sp>
                            <p:nvSpPr>
                              <p:cNvPr id="30851" name="Rectangle 131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202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78</a:t>
                                </a:r>
                              </a:p>
                            </p:txBody>
                          </p:sp>
                          <p:sp>
                            <p:nvSpPr>
                              <p:cNvPr id="30852" name="Rectangle 132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735" y="1129"/>
                                <a:ext cx="467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78</a:t>
                                </a:r>
                              </a:p>
                            </p:txBody>
                          </p:sp>
                          <p:sp>
                            <p:nvSpPr>
                              <p:cNvPr id="30853" name="Rectangle 133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269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92</a:t>
                                </a:r>
                              </a:p>
                            </p:txBody>
                          </p:sp>
                          <p:sp>
                            <p:nvSpPr>
                              <p:cNvPr id="30854" name="Rectangle 134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803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68</a:t>
                                </a:r>
                              </a:p>
                            </p:txBody>
                          </p:sp>
                          <p:sp>
                            <p:nvSpPr>
                              <p:cNvPr id="30855" name="Rectangle 135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337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97</a:t>
                                </a:r>
                              </a:p>
                            </p:txBody>
                          </p:sp>
                          <p:sp>
                            <p:nvSpPr>
                              <p:cNvPr id="30856" name="Rectangle 136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871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65</a:t>
                                </a:r>
                              </a:p>
                            </p:txBody>
                          </p:sp>
                          <p:sp>
                            <p:nvSpPr>
                              <p:cNvPr id="30857" name="Rectangle 137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05" y="1129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>
                                  <a:buNone/>
                                </a:pPr>
                                <a:r>
                                  <a:rPr lang="en-GB" altLang="x-none" sz="1800">
                                    <a:solidFill>
                                      <a:srgbClr val="ED7D31"/>
                                    </a:solidFill>
                                    <a:latin typeface="Comic Sans MS" charset="0"/>
                                  </a:rPr>
                                  <a:t>Mass</a:t>
                                </a:r>
                              </a:p>
                            </p:txBody>
                          </p:sp>
                          <p:sp>
                            <p:nvSpPr>
                              <p:cNvPr id="30858" name="Rectangle 138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5066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8</a:t>
                                </a:r>
                              </a:p>
                            </p:txBody>
                          </p:sp>
                          <p:sp>
                            <p:nvSpPr>
                              <p:cNvPr id="30859" name="Rectangle 139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600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6</a:t>
                                </a:r>
                              </a:p>
                            </p:txBody>
                          </p:sp>
                          <p:sp>
                            <p:nvSpPr>
                              <p:cNvPr id="30860" name="Rectangle 140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134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11</a:t>
                                </a:r>
                              </a:p>
                            </p:txBody>
                          </p:sp>
                          <p:sp>
                            <p:nvSpPr>
                              <p:cNvPr id="30861" name="Rectangle 141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668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8</a:t>
                                </a:r>
                              </a:p>
                            </p:txBody>
                          </p:sp>
                          <p:sp>
                            <p:nvSpPr>
                              <p:cNvPr id="30862" name="Rectangle 142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202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9</a:t>
                                </a:r>
                              </a:p>
                            </p:txBody>
                          </p:sp>
                          <p:sp>
                            <p:nvSpPr>
                              <p:cNvPr id="30863" name="Rectangle 143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735" y="880"/>
                                <a:ext cx="467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10</a:t>
                                </a:r>
                              </a:p>
                            </p:txBody>
                          </p:sp>
                          <p:sp>
                            <p:nvSpPr>
                              <p:cNvPr id="30864" name="Rectangle 144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269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10</a:t>
                                </a:r>
                              </a:p>
                            </p:txBody>
                          </p:sp>
                          <p:sp>
                            <p:nvSpPr>
                              <p:cNvPr id="30865" name="Rectangle 145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803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7</a:t>
                                </a:r>
                              </a:p>
                            </p:txBody>
                          </p:sp>
                          <p:sp>
                            <p:nvSpPr>
                              <p:cNvPr id="30866" name="Rectangle 146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337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12</a:t>
                                </a:r>
                              </a:p>
                            </p:txBody>
                          </p:sp>
                          <p:sp>
                            <p:nvSpPr>
                              <p:cNvPr id="30867" name="Rectangle 147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871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 algn="ctr">
                                  <a:buNone/>
                                </a:pPr>
                                <a:r>
                                  <a:rPr lang="en-GB" altLang="x-none" sz="2000">
                                    <a:solidFill>
                                      <a:prstClr val="black"/>
                                    </a:solidFill>
                                    <a:latin typeface="Comic Sans MS" charset="0"/>
                                  </a:rPr>
                                  <a:t>5</a:t>
                                </a:r>
                              </a:p>
                            </p:txBody>
                          </p:sp>
                          <p:sp>
                            <p:nvSpPr>
                              <p:cNvPr id="30868" name="Rectangle 148"/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05" y="880"/>
                                <a:ext cx="466" cy="24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har char="•"/>
                                  <a:defRPr sz="28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1pPr>
                                <a:lvl2pPr>
                                  <a:spcBef>
                                    <a:spcPct val="20000"/>
                                  </a:spcBef>
                                  <a:buChar char="–"/>
                                  <a:defRPr sz="24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2pPr>
                                <a:lvl3pPr>
                                  <a:spcBef>
                                    <a:spcPct val="20000"/>
                                  </a:spcBef>
                                  <a:buChar char="•"/>
                                  <a:defRPr sz="2000"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3pPr>
                                <a:lvl4pPr>
                                  <a:spcBef>
                                    <a:spcPct val="20000"/>
                                  </a:spcBef>
                                  <a:buChar char="–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4pPr>
                                <a:lvl5pPr>
                                  <a:spcBef>
                                    <a:spcPct val="20000"/>
                                  </a:spcBef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5pPr>
                                <a:lvl6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6pPr>
                                <a:lvl7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7pPr>
                                <a:lvl8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8pPr>
                                <a:lvl9pPr fontAlgn="base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Char char="»"/>
                                  <a:defRPr>
                                    <a:solidFill>
                                      <a:schemeClr val="tx1"/>
                                    </a:solidFill>
                                    <a:latin typeface="Times New Roman" charset="0"/>
                                  </a:defRPr>
                                </a:lvl9pPr>
                              </a:lstStyle>
                              <a:p>
                                <a:pPr>
                                  <a:buNone/>
                                </a:pPr>
                                <a:r>
                                  <a:rPr lang="en-GB" altLang="x-none" sz="1800">
                                    <a:solidFill>
                                      <a:srgbClr val="ED7D31"/>
                                    </a:solidFill>
                                    <a:latin typeface="Comic Sans MS" charset="0"/>
                                  </a:rPr>
                                  <a:t>Size</a:t>
                                </a:r>
                              </a:p>
                            </p:txBody>
                          </p:sp>
                          <p:sp>
                            <p:nvSpPr>
                              <p:cNvPr id="30869" name="Line 149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05" y="880"/>
                                <a:ext cx="5127" cy="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sq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70" name="Line 150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05" y="1129"/>
                                <a:ext cx="5127" cy="0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71" name="Line 151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05" y="1378"/>
                                <a:ext cx="5127" cy="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sq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72" name="Line 152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05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28575" cap="sq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73" name="Line 153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871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74" name="Line 154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1337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75" name="Line 155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1803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76" name="Line 156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2269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77" name="Line 157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2735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78" name="Line 158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202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79" name="Line 159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668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80" name="Line 160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134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81" name="Line 161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600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82" name="Line 162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5066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30883" name="Line 163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5532" y="880"/>
                                <a:ext cx="0" cy="498"/>
                              </a:xfrm>
                              <a:prstGeom prst="line">
                                <a:avLst/>
                              </a:prstGeom>
                              <a:noFill/>
                              <a:ln w="28575" cap="sq">
                                <a:solidFill>
                                  <a:schemeClr val="tx1"/>
                                </a:solidFill>
                                <a:round/>
                                <a:headEnd/>
                                <a:tailEnd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blurRad="63500" dist="38099" dir="2700000" algn="ctr" rotWithShape="0">
                                        <a:schemeClr val="bg2">
                                          <a:alpha val="74998"/>
                                        </a:scheme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30884" name="Oval 164"/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548" y="3261"/>
                              <a:ext cx="44" cy="44"/>
                            </a:xfrm>
                            <a:prstGeom prst="ellipse">
                              <a:avLst/>
                            </a:prstGeom>
                            <a:solidFill>
                              <a:schemeClr val="tx1"/>
                            </a:solidFill>
                            <a:ln w="9525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ffectLst/>
                            <a:extLs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blurRad="63500" dist="38099" dir="2700000" algn="ctr" rotWithShape="0">
                                      <a:schemeClr val="bg2">
                                        <a:alpha val="74998"/>
                                      </a:scheme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0885" name="Oval 16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40" y="1711"/>
                            <a:ext cx="44" cy="44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>
                              <a:solidFill>
                                <a:prstClr val="black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</p:grpSp>
                    <p:sp>
                      <p:nvSpPr>
                        <p:cNvPr id="30886" name="Oval 16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32" y="3097"/>
                          <a:ext cx="44" cy="44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>
                            <a:solidFill>
                              <a:prstClr val="black"/>
                            </a:solidFill>
                            <a:latin typeface="Calibri" panose="020F0502020204030204"/>
                          </a:endParaRPr>
                        </a:p>
                      </p:txBody>
                    </p:sp>
                  </p:grpSp>
                  <p:sp>
                    <p:nvSpPr>
                      <p:cNvPr id="30887" name="Oval 16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53" y="1945"/>
                        <a:ext cx="44" cy="44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  <a:latin typeface="Calibri" panose="020F0502020204030204"/>
                        </a:endParaRPr>
                      </a:p>
                    </p:txBody>
                  </p:sp>
                </p:grpSp>
                <p:sp>
                  <p:nvSpPr>
                    <p:cNvPr id="30888" name="Oval 1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55" y="2614"/>
                      <a:ext cx="44" cy="44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  <p:sp>
                <p:nvSpPr>
                  <p:cNvPr id="30889" name="Oval 169"/>
                  <p:cNvSpPr>
                    <a:spLocks noChangeArrowheads="1"/>
                  </p:cNvSpPr>
                  <p:nvPr/>
                </p:nvSpPr>
                <p:spPr bwMode="auto">
                  <a:xfrm>
                    <a:off x="2514" y="2612"/>
                    <a:ext cx="44" cy="44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30890" name="Oval 170"/>
                <p:cNvSpPr>
                  <a:spLocks noChangeArrowheads="1"/>
                </p:cNvSpPr>
                <p:nvPr/>
              </p:nvSpPr>
              <p:spPr bwMode="auto">
                <a:xfrm>
                  <a:off x="2274" y="2717"/>
                  <a:ext cx="44" cy="4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30891" name="Oval 171"/>
              <p:cNvSpPr>
                <a:spLocks noChangeArrowheads="1"/>
              </p:cNvSpPr>
              <p:nvPr/>
            </p:nvSpPr>
            <p:spPr bwMode="auto">
              <a:xfrm>
                <a:off x="2995" y="2134"/>
                <a:ext cx="44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0893" name="Oval 173"/>
            <p:cNvSpPr>
              <a:spLocks noChangeArrowheads="1"/>
            </p:cNvSpPr>
            <p:nvPr/>
          </p:nvSpPr>
          <p:spPr bwMode="auto">
            <a:xfrm>
              <a:off x="1790" y="2821"/>
              <a:ext cx="44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0892" name="Rectangle 172"/>
          <p:cNvSpPr>
            <a:spLocks noChangeArrowheads="1"/>
          </p:cNvSpPr>
          <p:nvPr/>
        </p:nvSpPr>
        <p:spPr bwMode="auto">
          <a:xfrm>
            <a:off x="9563100" y="1384300"/>
            <a:ext cx="736600" cy="8064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894" name="Oval 174"/>
          <p:cNvSpPr>
            <a:spLocks noChangeArrowheads="1"/>
          </p:cNvSpPr>
          <p:nvPr/>
        </p:nvSpPr>
        <p:spPr bwMode="auto">
          <a:xfrm>
            <a:off x="5124450" y="4021138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897" name="Line 177"/>
          <p:cNvSpPr>
            <a:spLocks noChangeShapeType="1"/>
          </p:cNvSpPr>
          <p:nvPr/>
        </p:nvSpPr>
        <p:spPr bwMode="auto">
          <a:xfrm flipV="1">
            <a:off x="3600450" y="2667000"/>
            <a:ext cx="3600450" cy="28384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898" name="Text Box 178" descr="Parchment"/>
          <p:cNvSpPr txBox="1">
            <a:spLocks noChangeArrowheads="1"/>
          </p:cNvSpPr>
          <p:nvPr/>
        </p:nvSpPr>
        <p:spPr bwMode="auto">
          <a:xfrm>
            <a:off x="7191376" y="3749675"/>
            <a:ext cx="3267075" cy="202565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95300" indent="-4953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952500" indent="-4953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409700" indent="-4953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866900" indent="-4953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324100" indent="-4953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81300" indent="-4953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38500" indent="-4953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95700" indent="-4953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52900" indent="-4953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x-none" sz="1800">
                <a:solidFill>
                  <a:srgbClr val="FF0000"/>
                </a:solidFill>
                <a:latin typeface="Comic Sans MS" charset="0"/>
              </a:rPr>
              <a:t>(c)</a:t>
            </a:r>
            <a:r>
              <a:rPr lang="en-GB" altLang="x-none" sz="1800">
                <a:solidFill>
                  <a:prstClr val="black"/>
                </a:solidFill>
                <a:latin typeface="Comic Sans MS" charset="0"/>
              </a:rPr>
              <a:t> Use your line of best fit to estimate:</a:t>
            </a:r>
          </a:p>
          <a:p>
            <a:pPr>
              <a:spcBef>
                <a:spcPct val="50000"/>
              </a:spcBef>
              <a:buFontTx/>
              <a:buAutoNum type="romanLcParenBoth"/>
            </a:pPr>
            <a:r>
              <a:rPr lang="en-GB" altLang="x-none" sz="1800">
                <a:solidFill>
                  <a:prstClr val="black"/>
                </a:solidFill>
                <a:latin typeface="Comic Sans MS" charset="0"/>
              </a:rPr>
              <a:t>The mass of a man with shoe size </a:t>
            </a:r>
            <a:r>
              <a:rPr lang="en-GB" altLang="x-none" sz="1800">
                <a:solidFill>
                  <a:srgbClr val="ED7D31"/>
                </a:solidFill>
                <a:latin typeface="Comic Sans MS" charset="0"/>
              </a:rPr>
              <a:t>10½.</a:t>
            </a:r>
            <a:r>
              <a:rPr lang="en-GB" altLang="x-none" sz="1800">
                <a:solidFill>
                  <a:prstClr val="black"/>
                </a:solidFill>
                <a:latin typeface="Comic Sans MS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GB" altLang="x-none" sz="1800">
                <a:solidFill>
                  <a:prstClr val="black"/>
                </a:solidFill>
                <a:latin typeface="Comic Sans MS" charset="0"/>
              </a:rPr>
              <a:t>(ii) The shoe size of a man with a mass of </a:t>
            </a:r>
            <a:r>
              <a:rPr lang="en-GB" altLang="x-none" sz="1800">
                <a:solidFill>
                  <a:srgbClr val="ED7D31"/>
                </a:solidFill>
                <a:latin typeface="Comic Sans MS" charset="0"/>
              </a:rPr>
              <a:t>69 kg.</a:t>
            </a:r>
          </a:p>
        </p:txBody>
      </p:sp>
      <p:sp>
        <p:nvSpPr>
          <p:cNvPr id="30899" name="Line 179"/>
          <p:cNvSpPr>
            <a:spLocks noChangeShapeType="1"/>
          </p:cNvSpPr>
          <p:nvPr/>
        </p:nvSpPr>
        <p:spPr bwMode="auto">
          <a:xfrm flipV="1">
            <a:off x="6124575" y="3495676"/>
            <a:ext cx="0" cy="24669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0902" name="Group 182"/>
          <p:cNvGrpSpPr>
            <a:grpSpLocks/>
          </p:cNvGrpSpPr>
          <p:nvPr/>
        </p:nvGrpSpPr>
        <p:grpSpPr bwMode="auto">
          <a:xfrm>
            <a:off x="3248026" y="3035301"/>
            <a:ext cx="2886075" cy="460375"/>
            <a:chOff x="1086" y="1912"/>
            <a:chExt cx="1818" cy="290"/>
          </a:xfrm>
        </p:grpSpPr>
        <p:sp>
          <p:nvSpPr>
            <p:cNvPr id="30900" name="Line 180"/>
            <p:cNvSpPr>
              <a:spLocks noChangeShapeType="1"/>
            </p:cNvSpPr>
            <p:nvPr/>
          </p:nvSpPr>
          <p:spPr bwMode="auto">
            <a:xfrm flipH="1">
              <a:off x="1086" y="2202"/>
              <a:ext cx="18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901" name="Text Box 181"/>
            <p:cNvSpPr txBox="1">
              <a:spLocks noChangeArrowheads="1"/>
            </p:cNvSpPr>
            <p:nvPr/>
          </p:nvSpPr>
          <p:spPr bwMode="auto">
            <a:xfrm>
              <a:off x="1180" y="1912"/>
              <a:ext cx="584" cy="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altLang="x-none" sz="2000">
                  <a:solidFill>
                    <a:srgbClr val="FFFFCC"/>
                  </a:solidFill>
                  <a:latin typeface="Calibri" panose="020F0502020204030204"/>
                </a:rPr>
                <a:t>87 kg</a:t>
              </a:r>
            </a:p>
          </p:txBody>
        </p:sp>
      </p:grpSp>
      <p:sp>
        <p:nvSpPr>
          <p:cNvPr id="30903" name="Line 183"/>
          <p:cNvSpPr>
            <a:spLocks noChangeShapeType="1"/>
          </p:cNvSpPr>
          <p:nvPr/>
        </p:nvSpPr>
        <p:spPr bwMode="auto">
          <a:xfrm>
            <a:off x="3257550" y="4876800"/>
            <a:ext cx="11430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0907" name="Group 187"/>
          <p:cNvGrpSpPr>
            <a:grpSpLocks/>
          </p:cNvGrpSpPr>
          <p:nvPr/>
        </p:nvGrpSpPr>
        <p:grpSpPr bwMode="auto">
          <a:xfrm>
            <a:off x="4400550" y="4889500"/>
            <a:ext cx="1092200" cy="1073150"/>
            <a:chOff x="1812" y="3080"/>
            <a:chExt cx="688" cy="676"/>
          </a:xfrm>
        </p:grpSpPr>
        <p:sp>
          <p:nvSpPr>
            <p:cNvPr id="30904" name="Line 184"/>
            <p:cNvSpPr>
              <a:spLocks noChangeShapeType="1"/>
            </p:cNvSpPr>
            <p:nvPr/>
          </p:nvSpPr>
          <p:spPr bwMode="auto">
            <a:xfrm>
              <a:off x="1812" y="3080"/>
              <a:ext cx="0" cy="6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906" name="Text Box 186"/>
            <p:cNvSpPr txBox="1">
              <a:spLocks noChangeArrowheads="1"/>
            </p:cNvSpPr>
            <p:nvPr/>
          </p:nvSpPr>
          <p:spPr bwMode="auto">
            <a:xfrm>
              <a:off x="1836" y="3268"/>
              <a:ext cx="664" cy="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altLang="x-none" sz="2000">
                  <a:solidFill>
                    <a:srgbClr val="FFFFCC"/>
                  </a:solidFill>
                  <a:latin typeface="Calibri" panose="020F0502020204030204"/>
                </a:rPr>
                <a:t>Size 6</a:t>
              </a:r>
            </a:p>
          </p:txBody>
        </p:sp>
      </p:grpSp>
      <p:grpSp>
        <p:nvGrpSpPr>
          <p:cNvPr id="30921" name="Group 201"/>
          <p:cNvGrpSpPr>
            <a:grpSpLocks/>
          </p:cNvGrpSpPr>
          <p:nvPr/>
        </p:nvGrpSpPr>
        <p:grpSpPr bwMode="auto">
          <a:xfrm>
            <a:off x="7178676" y="2625725"/>
            <a:ext cx="3267075" cy="3949700"/>
            <a:chOff x="3562" y="1654"/>
            <a:chExt cx="2058" cy="2488"/>
          </a:xfrm>
        </p:grpSpPr>
        <p:sp>
          <p:nvSpPr>
            <p:cNvPr id="30896" name="Text Box 176" descr="Parchment"/>
            <p:cNvSpPr txBox="1">
              <a:spLocks noChangeArrowheads="1"/>
            </p:cNvSpPr>
            <p:nvPr/>
          </p:nvSpPr>
          <p:spPr bwMode="auto">
            <a:xfrm>
              <a:off x="3562" y="1654"/>
              <a:ext cx="2058" cy="407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altLang="x-none">
                  <a:solidFill>
                    <a:srgbClr val="FF0000"/>
                  </a:solidFill>
                  <a:latin typeface="Calibri" panose="020F0502020204030204"/>
                </a:rPr>
                <a:t>(b)</a:t>
              </a:r>
              <a:r>
                <a:rPr lang="en-GB" altLang="x-none">
                  <a:solidFill>
                    <a:prstClr val="black"/>
                  </a:solidFill>
                  <a:latin typeface="Calibri" panose="020F0502020204030204"/>
                </a:rPr>
                <a:t> Draw a line of best fit and comment on the correlation.</a:t>
              </a:r>
            </a:p>
          </p:txBody>
        </p:sp>
        <p:grpSp>
          <p:nvGrpSpPr>
            <p:cNvPr id="30908" name="Group 188"/>
            <p:cNvGrpSpPr>
              <a:grpSpLocks/>
            </p:cNvGrpSpPr>
            <p:nvPr/>
          </p:nvGrpSpPr>
          <p:grpSpPr bwMode="auto">
            <a:xfrm>
              <a:off x="4003" y="3755"/>
              <a:ext cx="1277" cy="387"/>
              <a:chOff x="1543" y="2759"/>
              <a:chExt cx="1817" cy="735"/>
            </a:xfrm>
          </p:grpSpPr>
          <p:pic>
            <p:nvPicPr>
              <p:cNvPr id="30909" name="Picture 189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43" y="2853"/>
                <a:ext cx="1814" cy="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pic>
            <p:nvPicPr>
              <p:cNvPr id="30910" name="Picture 190" descr="Pencil 2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0" y="2759"/>
                <a:ext cx="474" cy="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911" name="Picture 191" descr="Eraser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7" y="2950"/>
                <a:ext cx="783" cy="5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0912" name="Rectangle 192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190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0914" name="Group 194"/>
          <p:cNvGrpSpPr>
            <a:grpSpLocks/>
          </p:cNvGrpSpPr>
          <p:nvPr/>
        </p:nvGrpSpPr>
        <p:grpSpPr bwMode="auto">
          <a:xfrm>
            <a:off x="3189289" y="5586414"/>
            <a:ext cx="446087" cy="446087"/>
            <a:chOff x="854" y="3609"/>
            <a:chExt cx="281" cy="281"/>
          </a:xfrm>
        </p:grpSpPr>
        <p:grpSp>
          <p:nvGrpSpPr>
            <p:cNvPr id="30915" name="Group 195"/>
            <p:cNvGrpSpPr>
              <a:grpSpLocks/>
            </p:cNvGrpSpPr>
            <p:nvPr/>
          </p:nvGrpSpPr>
          <p:grpSpPr bwMode="auto">
            <a:xfrm>
              <a:off x="891" y="3616"/>
              <a:ext cx="244" cy="274"/>
              <a:chOff x="891" y="3616"/>
              <a:chExt cx="244" cy="274"/>
            </a:xfrm>
          </p:grpSpPr>
          <p:sp>
            <p:nvSpPr>
              <p:cNvPr id="30916" name="Line 196"/>
              <p:cNvSpPr>
                <a:spLocks noChangeShapeType="1"/>
              </p:cNvSpPr>
              <p:nvPr/>
            </p:nvSpPr>
            <p:spPr bwMode="auto">
              <a:xfrm>
                <a:off x="900" y="3852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0917" name="Freeform 197"/>
              <p:cNvSpPr>
                <a:spLocks/>
              </p:cNvSpPr>
              <p:nvPr/>
            </p:nvSpPr>
            <p:spPr bwMode="auto">
              <a:xfrm>
                <a:off x="892" y="3806"/>
                <a:ext cx="243" cy="84"/>
              </a:xfrm>
              <a:custGeom>
                <a:avLst/>
                <a:gdLst>
                  <a:gd name="T0" fmla="*/ 0 w 243"/>
                  <a:gd name="T1" fmla="*/ 48 h 84"/>
                  <a:gd name="T2" fmla="*/ 97 w 243"/>
                  <a:gd name="T3" fmla="*/ 48 h 84"/>
                  <a:gd name="T4" fmla="*/ 120 w 243"/>
                  <a:gd name="T5" fmla="*/ 0 h 84"/>
                  <a:gd name="T6" fmla="*/ 154 w 243"/>
                  <a:gd name="T7" fmla="*/ 84 h 84"/>
                  <a:gd name="T8" fmla="*/ 175 w 243"/>
                  <a:gd name="T9" fmla="*/ 44 h 84"/>
                  <a:gd name="T10" fmla="*/ 243 w 243"/>
                  <a:gd name="T11" fmla="*/ 4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84">
                    <a:moveTo>
                      <a:pt x="0" y="48"/>
                    </a:moveTo>
                    <a:lnTo>
                      <a:pt x="97" y="48"/>
                    </a:lnTo>
                    <a:lnTo>
                      <a:pt x="120" y="0"/>
                    </a:lnTo>
                    <a:lnTo>
                      <a:pt x="154" y="84"/>
                    </a:lnTo>
                    <a:lnTo>
                      <a:pt x="175" y="44"/>
                    </a:lnTo>
                    <a:lnTo>
                      <a:pt x="243" y="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0918" name="Line 198"/>
              <p:cNvSpPr>
                <a:spLocks noChangeShapeType="1"/>
              </p:cNvSpPr>
              <p:nvPr/>
            </p:nvSpPr>
            <p:spPr bwMode="auto">
              <a:xfrm rot="5400000">
                <a:off x="774" y="3733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0919" name="Freeform 199"/>
            <p:cNvSpPr>
              <a:spLocks/>
            </p:cNvSpPr>
            <p:nvPr/>
          </p:nvSpPr>
          <p:spPr bwMode="auto">
            <a:xfrm rot="5400000">
              <a:off x="774" y="3689"/>
              <a:ext cx="243" cy="84"/>
            </a:xfrm>
            <a:custGeom>
              <a:avLst/>
              <a:gdLst>
                <a:gd name="T0" fmla="*/ 0 w 243"/>
                <a:gd name="T1" fmla="*/ 48 h 84"/>
                <a:gd name="T2" fmla="*/ 97 w 243"/>
                <a:gd name="T3" fmla="*/ 48 h 84"/>
                <a:gd name="T4" fmla="*/ 120 w 243"/>
                <a:gd name="T5" fmla="*/ 0 h 84"/>
                <a:gd name="T6" fmla="*/ 154 w 243"/>
                <a:gd name="T7" fmla="*/ 84 h 84"/>
                <a:gd name="T8" fmla="*/ 175 w 243"/>
                <a:gd name="T9" fmla="*/ 44 h 84"/>
                <a:gd name="T10" fmla="*/ 243 w 243"/>
                <a:gd name="T11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84">
                  <a:moveTo>
                    <a:pt x="0" y="48"/>
                  </a:moveTo>
                  <a:lnTo>
                    <a:pt x="97" y="48"/>
                  </a:lnTo>
                  <a:lnTo>
                    <a:pt x="120" y="0"/>
                  </a:lnTo>
                  <a:lnTo>
                    <a:pt x="154" y="84"/>
                  </a:lnTo>
                  <a:lnTo>
                    <a:pt x="175" y="44"/>
                  </a:lnTo>
                  <a:lnTo>
                    <a:pt x="243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0922" name="Text Box 202"/>
          <p:cNvSpPr txBox="1">
            <a:spLocks noChangeArrowheads="1"/>
          </p:cNvSpPr>
          <p:nvPr/>
        </p:nvSpPr>
        <p:spPr bwMode="auto">
          <a:xfrm>
            <a:off x="8686800" y="3105150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x-none" sz="2400">
                <a:solidFill>
                  <a:srgbClr val="ED7D31"/>
                </a:solidFill>
                <a:latin typeface="Calibri" panose="020F0502020204030204"/>
              </a:rPr>
              <a:t>Positive</a:t>
            </a:r>
          </a:p>
        </p:txBody>
      </p:sp>
    </p:spTree>
    <p:extLst>
      <p:ext uri="{BB962C8B-B14F-4D97-AF65-F5344CB8AC3E}">
        <p14:creationId xmlns:p14="http://schemas.microsoft.com/office/powerpoint/2010/main" val="818517932"/>
      </p:ext>
    </p:extLst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8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08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3089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3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3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3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0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0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09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94" grpId="0" animBg="1"/>
      <p:bldP spid="30897" grpId="0" animBg="1"/>
      <p:bldP spid="30898" grpId="0" build="p" animBg="1" autoUpdateAnimBg="0"/>
      <p:bldP spid="30899" grpId="0" animBg="1"/>
      <p:bldP spid="30903" grpId="0" animBg="1"/>
      <p:bldP spid="30922" grpId="0" autoUpdateAnimBg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1023</Words>
  <Application>Microsoft Office PowerPoint</Application>
  <PresentationFormat>Widescreen</PresentationFormat>
  <Paragraphs>390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Batang</vt:lpstr>
      <vt:lpstr>Arial</vt:lpstr>
      <vt:lpstr>Arial Black</vt:lpstr>
      <vt:lpstr>Calibri</vt:lpstr>
      <vt:lpstr>Calibri Light</vt:lpstr>
      <vt:lpstr>Comic Sans MS</vt:lpstr>
      <vt:lpstr>Tw Cen MT</vt:lpstr>
      <vt:lpstr>Tw Cen MT Condensed</vt:lpstr>
      <vt:lpstr>Wingdings 3</vt:lpstr>
      <vt:lpstr>Office Theme</vt:lpstr>
      <vt:lpstr>Integral</vt:lpstr>
      <vt:lpstr>1_Office Theme</vt:lpstr>
      <vt:lpstr>Equation</vt:lpstr>
      <vt:lpstr>Interpreting Scatter Plots and Line of Best Fit  EQ: How do I draw a line of best fit?</vt:lpstr>
      <vt:lpstr>PowerPoint Presentation</vt:lpstr>
      <vt:lpstr>Positive Correlation</vt:lpstr>
      <vt:lpstr>Negative Correlation</vt:lpstr>
      <vt:lpstr>No Correlation</vt:lpstr>
      <vt:lpstr>PowerPoint Presentation</vt:lpstr>
      <vt:lpstr>PowerPoint Presentation</vt:lpstr>
      <vt:lpstr>PowerPoint Presentation</vt:lpstr>
      <vt:lpstr>Question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MANSFIELD Martin [Baldivis Secondary College]</dc:creator>
  <cp:lastModifiedBy>MANSFIELD Martin [Baldivis Secondary College]</cp:lastModifiedBy>
  <cp:revision>3</cp:revision>
  <dcterms:created xsi:type="dcterms:W3CDTF">2020-10-20T00:46:42Z</dcterms:created>
  <dcterms:modified xsi:type="dcterms:W3CDTF">2020-10-20T01:13:42Z</dcterms:modified>
</cp:coreProperties>
</file>
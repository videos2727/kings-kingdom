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9"/>
  </p:notesMasterIdLst>
  <p:handoutMasterIdLst>
    <p:handoutMasterId r:id="rId20"/>
  </p:handoutMasterIdLst>
  <p:sldIdLst>
    <p:sldId id="258" r:id="rId5"/>
    <p:sldId id="344" r:id="rId6"/>
    <p:sldId id="343" r:id="rId7"/>
    <p:sldId id="268" r:id="rId8"/>
    <p:sldId id="345" r:id="rId9"/>
    <p:sldId id="346" r:id="rId10"/>
    <p:sldId id="347" r:id="rId11"/>
    <p:sldId id="350" r:id="rId12"/>
    <p:sldId id="349" r:id="rId13"/>
    <p:sldId id="348" r:id="rId14"/>
    <p:sldId id="351" r:id="rId15"/>
    <p:sldId id="340" r:id="rId16"/>
    <p:sldId id="352" r:id="rId17"/>
    <p:sldId id="329" r:id="rId18"/>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7" autoAdjust="0"/>
    <p:restoredTop sz="90026"/>
  </p:normalViewPr>
  <p:slideViewPr>
    <p:cSldViewPr snapToGrid="0">
      <p:cViewPr varScale="1">
        <p:scale>
          <a:sx n="77" d="100"/>
          <a:sy n="77" d="100"/>
        </p:scale>
        <p:origin x="1258" y="67"/>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CEEBDA6D-DC69-4DCE-BAF7-6763517D3376}" type="datetimeFigureOut">
              <a:rPr lang="en-US"/>
              <a:t>10/12/2020</a:t>
            </a:fld>
            <a:endParaRPr/>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237F6C43-988E-4257-9A1C-C162EF036D58}" type="datetimeFigureOut">
              <a:rPr lang="en-US"/>
              <a:t>10/12/2020</a:t>
            </a:fld>
            <a:endParaRPr/>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notes: Students are creating a post-it note histogram.</a:t>
            </a:r>
            <a:r>
              <a:rPr lang="en-US" baseline="0" dirty="0"/>
              <a:t>  You can do this survey with anything else you might want (</a:t>
            </a:r>
            <a:r>
              <a:rPr lang="en-US" baseline="0" dirty="0" err="1"/>
              <a:t>instagram</a:t>
            </a:r>
            <a:r>
              <a:rPr lang="en-US" baseline="0" dirty="0"/>
              <a:t> followers, </a:t>
            </a:r>
            <a:r>
              <a:rPr lang="en-US" baseline="0" dirty="0" err="1"/>
              <a:t>favourite</a:t>
            </a:r>
            <a:r>
              <a:rPr lang="en-US" baseline="0" dirty="0"/>
              <a:t> </a:t>
            </a:r>
            <a:r>
              <a:rPr lang="en-US" baseline="0" dirty="0" err="1"/>
              <a:t>colours</a:t>
            </a:r>
            <a:r>
              <a:rPr lang="en-US" baseline="0" dirty="0"/>
              <a:t>, etc...)</a:t>
            </a:r>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3</a:t>
            </a:fld>
            <a:endParaRPr lang="uk-UA"/>
          </a:p>
        </p:txBody>
      </p:sp>
    </p:spTree>
    <p:extLst>
      <p:ext uri="{BB962C8B-B14F-4D97-AF65-F5344CB8AC3E}">
        <p14:creationId xmlns:p14="http://schemas.microsoft.com/office/powerpoint/2010/main" val="81570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12</a:t>
            </a:fld>
            <a:endParaRPr lang="uk-UA"/>
          </a:p>
        </p:txBody>
      </p:sp>
    </p:spTree>
    <p:extLst>
      <p:ext uri="{BB962C8B-B14F-4D97-AF65-F5344CB8AC3E}">
        <p14:creationId xmlns:p14="http://schemas.microsoft.com/office/powerpoint/2010/main" val="16096828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t>Click to edit Master title style</a:t>
            </a: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1" name="Date Placeholder 10"/>
          <p:cNvSpPr>
            <a:spLocks noGrp="1"/>
          </p:cNvSpPr>
          <p:nvPr>
            <p:ph type="dt" sz="half" idx="10"/>
          </p:nvPr>
        </p:nvSpPr>
        <p:spPr/>
        <p:txBody>
          <a:bodyPr/>
          <a:lstStyle/>
          <a:p>
            <a:fld id="{2CCFE9AC-F15C-4FA0-A6F1-298829FA691D}" type="datetimeFigureOut">
              <a:rPr lang="en-US"/>
              <a:t>10/12/2020</a:t>
            </a:fld>
            <a:endParaRPr/>
          </a:p>
        </p:txBody>
      </p:sp>
      <p:sp>
        <p:nvSpPr>
          <p:cNvPr id="12" name="Footer Placeholder 11"/>
          <p:cNvSpPr>
            <a:spLocks noGrp="1"/>
          </p:cNvSpPr>
          <p:nvPr>
            <p:ph type="ftr" sz="quarter" idx="11"/>
          </p:nvPr>
        </p:nvSpPr>
        <p:spPr/>
        <p:txBody>
          <a:bodyPr/>
          <a:lstStyle/>
          <a:p>
            <a:endParaRPr/>
          </a:p>
        </p:txBody>
      </p:sp>
      <p:sp>
        <p:nvSpPr>
          <p:cNvPr id="13" name="Slide Number Placeholder 12"/>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2CCFE9AC-F15C-4FA0-A6F1-298829FA691D}" type="datetimeFigureOut">
              <a:rPr lang="en-US"/>
              <a:t>10/12/2020</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t>Click to edit Master title style</a:t>
            </a: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2CCFE9AC-F15C-4FA0-A6F1-298829FA691D}" type="datetimeFigureOut">
              <a:rPr lang="en-US"/>
              <a:t>10/12/2020</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280160" y="2194560"/>
            <a:ext cx="4489704" cy="3986784"/>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415368" y="2194560"/>
            <a:ext cx="4493424" cy="3986784"/>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2CCFE9AC-F15C-4FA0-A6F1-298829FA691D}" type="datetimeFigureOut">
              <a:rPr lang="en-US"/>
              <a:t>10/12/2020</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280160" y="2743194"/>
            <a:ext cx="4489704" cy="3433769"/>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2CCFE9AC-F15C-4FA0-A6F1-298829FA691D}" type="datetimeFigureOut">
              <a:rPr lang="en-US"/>
              <a:t>10/12/2020</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2CCFE9AC-F15C-4FA0-A6F1-298829FA691D}" type="datetimeFigureOut">
              <a:rPr lang="en-US"/>
              <a:t>10/12/2020</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10/12/2020</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t>Click to edit Master title style</a:t>
            </a:r>
          </a:p>
        </p:txBody>
      </p:sp>
      <p:sp>
        <p:nvSpPr>
          <p:cNvPr id="3" name="Content Placeholder 2"/>
          <p:cNvSpPr>
            <a:spLocks noGrp="1"/>
          </p:cNvSpPr>
          <p:nvPr>
            <p:ph idx="1"/>
          </p:nvPr>
        </p:nvSpPr>
        <p:spPr>
          <a:xfrm>
            <a:off x="5518896" y="2465294"/>
            <a:ext cx="5389895" cy="4392706"/>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10/12/2020</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t>Click to edit Master title style</a:t>
            </a:r>
          </a:p>
        </p:txBody>
      </p:sp>
      <p:sp>
        <p:nvSpPr>
          <p:cNvPr id="3" name="Picture Placeholder 2"/>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10/12/2020</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2CCFE9AC-F15C-4FA0-A6F1-298829FA691D}" type="datetimeFigureOut">
              <a:rPr lang="en-US"/>
              <a:t>10/12/2020</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378199" y="462249"/>
            <a:ext cx="9693088" cy="5714714"/>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10/12/2020</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266348" y="462249"/>
            <a:ext cx="1370886" cy="5714714"/>
          </a:xfrm>
        </p:spPr>
        <p:txBody>
          <a:bodyPr vert="eaVert"/>
          <a:lstStyle/>
          <a:p>
            <a:r>
              <a:t>Click to edit Master title style</a:t>
            </a: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t>Click to edit Master title style</a:t>
            </a:r>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a:t>
            </a:r>
          </a:p>
          <a:p>
            <a:pPr lvl="6"/>
            <a:r>
              <a:t>Seventh</a:t>
            </a:r>
          </a:p>
          <a:p>
            <a:pPr lvl="7"/>
            <a:r>
              <a:t>Eighth</a:t>
            </a:r>
          </a:p>
          <a:p>
            <a:pPr lvl="8"/>
            <a:r>
              <a:t>Ninth</a:t>
            </a:r>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CFE9AC-F15C-4FA0-A6F1-298829FA691D}" type="datetimeFigureOut">
              <a:rPr lang="en-US"/>
              <a:t>10/12/2020</a:t>
            </a:fld>
            <a:endParaRPr/>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66BE7-899D-4075-917F-DBDE33B6B692}" type="slidenum">
              <a:rPr/>
              <a:t>‹#›</a:t>
            </a:fld>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Statistical Analysis</a:t>
            </a:r>
          </a:p>
        </p:txBody>
      </p:sp>
      <p:sp>
        <p:nvSpPr>
          <p:cNvPr id="3" name="Subtitle 2"/>
          <p:cNvSpPr>
            <a:spLocks noGrp="1"/>
          </p:cNvSpPr>
          <p:nvPr>
            <p:ph type="subTitle" idx="1"/>
          </p:nvPr>
        </p:nvSpPr>
        <p:spPr>
          <a:xfrm>
            <a:off x="2816352" y="4596384"/>
            <a:ext cx="9375647" cy="826516"/>
          </a:xfrm>
        </p:spPr>
        <p:txBody>
          <a:bodyPr>
            <a:noAutofit/>
          </a:bodyPr>
          <a:lstStyle/>
          <a:p>
            <a:r>
              <a:rPr lang="en-US" sz="2000" dirty="0"/>
              <a:t>Topic: Histograms</a:t>
            </a:r>
          </a:p>
          <a:p>
            <a:r>
              <a:rPr lang="en-US" sz="2000" dirty="0"/>
              <a:t>EQ: What can the shape of a histogram tell us about it?</a:t>
            </a:r>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181" y="575731"/>
            <a:ext cx="8229600" cy="1143000"/>
          </a:xfrm>
        </p:spPr>
        <p:txBody>
          <a:bodyPr/>
          <a:lstStyle/>
          <a:p>
            <a:r>
              <a:rPr lang="en-GB" dirty="0"/>
              <a:t>Starter - Back to Back Stem Plot</a:t>
            </a:r>
          </a:p>
        </p:txBody>
      </p:sp>
      <p:graphicFrame>
        <p:nvGraphicFramePr>
          <p:cNvPr id="6" name="Table 5"/>
          <p:cNvGraphicFramePr>
            <a:graphicFrameLocks noGrp="1"/>
          </p:cNvGraphicFramePr>
          <p:nvPr>
            <p:extLst>
              <p:ext uri="{D42A27DB-BD31-4B8C-83A1-F6EECF244321}">
                <p14:modId xmlns:p14="http://schemas.microsoft.com/office/powerpoint/2010/main" val="438427304"/>
              </p:ext>
            </p:extLst>
          </p:nvPr>
        </p:nvGraphicFramePr>
        <p:xfrm>
          <a:off x="2668116" y="1990774"/>
          <a:ext cx="5372100" cy="2427986"/>
        </p:xfrm>
        <a:graphic>
          <a:graphicData uri="http://schemas.openxmlformats.org/drawingml/2006/table">
            <a:tbl>
              <a:tblPr/>
              <a:tblGrid>
                <a:gridCol w="2537460">
                  <a:extLst>
                    <a:ext uri="{9D8B030D-6E8A-4147-A177-3AD203B41FA5}">
                      <a16:colId xmlns:a16="http://schemas.microsoft.com/office/drawing/2014/main" val="20000"/>
                    </a:ext>
                  </a:extLst>
                </a:gridCol>
                <a:gridCol w="179705">
                  <a:extLst>
                    <a:ext uri="{9D8B030D-6E8A-4147-A177-3AD203B41FA5}">
                      <a16:colId xmlns:a16="http://schemas.microsoft.com/office/drawing/2014/main" val="20001"/>
                    </a:ext>
                  </a:extLst>
                </a:gridCol>
                <a:gridCol w="368935">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0">
                <a:tc>
                  <a:txBody>
                    <a:bodyPr/>
                    <a:lstStyle/>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endParaRPr lang="en-GB" sz="1600" dirty="0">
                        <a:latin typeface="+mn-lt"/>
                        <a:ea typeface="Times New Roman"/>
                      </a:endParaRPr>
                    </a:p>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                            8  7 </a:t>
                      </a:r>
                    </a:p>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                         4  2  0</a:t>
                      </a:r>
                    </a:p>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                      9  8  6  5 </a:t>
                      </a:r>
                    </a:p>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                   4  4  4  3  1</a:t>
                      </a:r>
                    </a:p>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                                6</a:t>
                      </a: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endParaRPr lang="en-GB" sz="1600">
                        <a:latin typeface="+mn-lt"/>
                        <a:ea typeface="Times New Roman"/>
                      </a:endParaRP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a:latin typeface="+mn-lt"/>
                          <a:ea typeface="Times New Roman"/>
                        </a:rPr>
                        <a:t>                              </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a:latin typeface="+mn-lt"/>
                          <a:ea typeface="Times New Roman"/>
                        </a:rPr>
                        <a:t>                          </a:t>
                      </a: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2</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3</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4</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5</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6</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7</a:t>
                      </a: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3   4   4</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6   6   7   8   8   9</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0   0   0   1   2</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5</a:t>
                      </a: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0"/>
                  </a:ext>
                </a:extLst>
              </a:tr>
            </a:tbl>
          </a:graphicData>
        </a:graphic>
      </p:graphicFrame>
      <p:sp>
        <p:nvSpPr>
          <p:cNvPr id="1026" name="Rectangle 2"/>
          <p:cNvSpPr>
            <a:spLocks noChangeArrowheads="1"/>
          </p:cNvSpPr>
          <p:nvPr/>
        </p:nvSpPr>
        <p:spPr bwMode="auto">
          <a:xfrm>
            <a:off x="8129426" y="3470272"/>
            <a:ext cx="2627784"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b="1" dirty="0">
                <a:ea typeface="Times New Roman" pitchFamily="18" charset="0"/>
                <a:cs typeface="Arial" pitchFamily="34" charset="0"/>
              </a:rPr>
              <a:t>Key:</a:t>
            </a:r>
            <a:endParaRPr lang="en-GB" dirty="0">
              <a:ea typeface="Times New Roman" pitchFamily="18" charset="0"/>
              <a:cs typeface="Arial" pitchFamily="34" charset="0"/>
            </a:endParaRPr>
          </a:p>
          <a:p>
            <a:pPr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dirty="0">
                <a:ea typeface="Times New Roman" pitchFamily="18" charset="0"/>
                <a:cs typeface="Arial" pitchFamily="34" charset="0"/>
              </a:rPr>
              <a:t>   2  |  3 means 23 km/h</a:t>
            </a:r>
            <a:r>
              <a:rPr lang="en-GB" dirty="0">
                <a:cs typeface="Arial" pitchFamily="34" charset="0"/>
              </a:rPr>
              <a:t> </a:t>
            </a:r>
          </a:p>
        </p:txBody>
      </p:sp>
      <p:sp>
        <p:nvSpPr>
          <p:cNvPr id="1027" name="Rectangle 3"/>
          <p:cNvSpPr>
            <a:spLocks noChangeArrowheads="1"/>
          </p:cNvSpPr>
          <p:nvPr/>
        </p:nvSpPr>
        <p:spPr bwMode="auto">
          <a:xfrm>
            <a:off x="245329" y="4457283"/>
            <a:ext cx="11753384"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indent="-457200" fontAlgn="base">
              <a:spcBef>
                <a:spcPct val="0"/>
              </a:spcBef>
              <a:spcAft>
                <a:spcPct val="0"/>
              </a:spcAft>
              <a:buFont typeface="+mj-lt"/>
              <a:buAutoNum type="alphaLcParen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Lst>
            </a:pPr>
            <a:r>
              <a:rPr lang="en-GB" sz="2400" dirty="0">
                <a:ea typeface="Times New Roman" pitchFamily="18" charset="0"/>
                <a:cs typeface="Arial" pitchFamily="34" charset="0"/>
              </a:rPr>
              <a:t>Suppose that the above presented data is taken from two different roads, what conclusions could you make about the two roads?</a:t>
            </a:r>
          </a:p>
          <a:p>
            <a:pPr marL="457200" indent="-457200" fontAlgn="base">
              <a:spcBef>
                <a:spcPct val="0"/>
              </a:spcBef>
              <a:spcAft>
                <a:spcPct val="0"/>
              </a:spcAft>
              <a:buFont typeface="+mj-lt"/>
              <a:buAutoNum type="alphaLcParen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Lst>
            </a:pPr>
            <a:endParaRPr lang="en-GB" sz="2400" dirty="0">
              <a:cs typeface="Arial" pitchFamily="34" charset="0"/>
            </a:endParaRPr>
          </a:p>
          <a:p>
            <a:pPr marL="457200" indent="-457200" eaLnBrk="0" fontAlgn="base" hangingPunct="0">
              <a:spcBef>
                <a:spcPct val="0"/>
              </a:spcBef>
              <a:spcAft>
                <a:spcPct val="0"/>
              </a:spcAft>
              <a:buFont typeface="+mj-lt"/>
              <a:buAutoNum type="alphaLcParen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Lst>
            </a:pPr>
            <a:r>
              <a:rPr lang="en-GB" sz="2400" dirty="0">
                <a:ea typeface="Times New Roman" pitchFamily="18" charset="0"/>
                <a:cs typeface="Arial" pitchFamily="34" charset="0"/>
              </a:rPr>
              <a:t>Now suppose the above presented data was for the SAME road. Using your analysis, what might have happened on this road? Try to come up with as many different possibilities.</a:t>
            </a:r>
            <a:endParaRPr lang="en-GB" sz="2400" dirty="0">
              <a:cs typeface="Arial" pitchFamily="34" charset="0"/>
            </a:endParaRPr>
          </a:p>
        </p:txBody>
      </p:sp>
    </p:spTree>
    <p:extLst>
      <p:ext uri="{BB962C8B-B14F-4D97-AF65-F5344CB8AC3E}">
        <p14:creationId xmlns:p14="http://schemas.microsoft.com/office/powerpoint/2010/main" val="1805003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fade">
                                      <p:cBhvr>
                                        <p:cTn id="7" dur="1000"/>
                                        <p:tgtEl>
                                          <p:spTgt spid="1027">
                                            <p:txEl>
                                              <p:pRg st="0" end="0"/>
                                            </p:txEl>
                                          </p:spTgt>
                                        </p:tgtEl>
                                      </p:cBhvr>
                                    </p:animEffect>
                                    <p:anim calcmode="lin" valueType="num">
                                      <p:cBhvr>
                                        <p:cTn id="8" dur="1000" fill="hold"/>
                                        <p:tgtEl>
                                          <p:spTgt spid="102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7">
                                            <p:txEl>
                                              <p:pRg st="2" end="2"/>
                                            </p:txEl>
                                          </p:spTgt>
                                        </p:tgtEl>
                                        <p:attrNameLst>
                                          <p:attrName>style.visibility</p:attrName>
                                        </p:attrNameLst>
                                      </p:cBhvr>
                                      <p:to>
                                        <p:strVal val="visible"/>
                                      </p:to>
                                    </p:set>
                                    <p:animEffect transition="in" filter="fade">
                                      <p:cBhvr>
                                        <p:cTn id="14" dur="1000"/>
                                        <p:tgtEl>
                                          <p:spTgt spid="1027">
                                            <p:txEl>
                                              <p:pRg st="2" end="2"/>
                                            </p:txEl>
                                          </p:spTgt>
                                        </p:tgtEl>
                                      </p:cBhvr>
                                    </p:animEffect>
                                    <p:anim calcmode="lin" valueType="num">
                                      <p:cBhvr>
                                        <p:cTn id="15" dur="1000" fill="hold"/>
                                        <p:tgtEl>
                                          <p:spTgt spid="102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2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43" y="444041"/>
            <a:ext cx="11231508" cy="1329004"/>
          </a:xfrm>
        </p:spPr>
        <p:txBody>
          <a:bodyPr/>
          <a:lstStyle/>
          <a:p>
            <a:r>
              <a:rPr lang="en-US" dirty="0"/>
              <a:t>Starter Activity </a:t>
            </a:r>
            <a:r>
              <a:rPr lang="mr-IN" dirty="0"/>
              <a:t>–</a:t>
            </a:r>
            <a:r>
              <a:rPr lang="en-US" dirty="0"/>
              <a:t> Post-it note histogram</a:t>
            </a:r>
          </a:p>
        </p:txBody>
      </p:sp>
      <p:sp>
        <p:nvSpPr>
          <p:cNvPr id="3" name="TextBox 2"/>
          <p:cNvSpPr txBox="1"/>
          <p:nvPr/>
        </p:nvSpPr>
        <p:spPr>
          <a:xfrm>
            <a:off x="367990" y="2230244"/>
            <a:ext cx="10883590" cy="2677656"/>
          </a:xfrm>
          <a:prstGeom prst="rect">
            <a:avLst/>
          </a:prstGeom>
          <a:noFill/>
        </p:spPr>
        <p:txBody>
          <a:bodyPr wrap="square" rtlCol="0">
            <a:spAutoFit/>
          </a:bodyPr>
          <a:lstStyle/>
          <a:p>
            <a:pPr marL="285750" indent="-285750">
              <a:buFont typeface="Arial" charset="0"/>
              <a:buChar char="•"/>
            </a:pPr>
            <a:r>
              <a:rPr lang="en-US" sz="2400" dirty="0"/>
              <a:t>On the board there is a graph, with the x-axis going up in increments of 2, ending with 12: 0-2, 2-4, 4-6, 6-8, 8-10, 10-12</a:t>
            </a:r>
          </a:p>
          <a:p>
            <a:pPr marL="285750" indent="-285750">
              <a:buFont typeface="Arial" charset="0"/>
              <a:buChar char="•"/>
            </a:pPr>
            <a:endParaRPr lang="en-US" sz="2400" dirty="0"/>
          </a:p>
          <a:p>
            <a:pPr marL="285750" indent="-285750">
              <a:buFont typeface="Arial" charset="0"/>
              <a:buChar char="•"/>
            </a:pPr>
            <a:r>
              <a:rPr lang="en-US" sz="2400" dirty="0"/>
              <a:t>On your Post-It note, write the number of hours of sleep you get at night.</a:t>
            </a:r>
          </a:p>
          <a:p>
            <a:pPr marL="285750" indent="-285750">
              <a:buFont typeface="Arial" charset="0"/>
              <a:buChar char="•"/>
            </a:pPr>
            <a:endParaRPr lang="en-US" sz="2400" dirty="0"/>
          </a:p>
          <a:p>
            <a:pPr marL="285750" indent="-285750">
              <a:buFont typeface="Arial" charset="0"/>
              <a:buChar char="•"/>
            </a:pPr>
            <a:r>
              <a:rPr lang="en-US" sz="2400" dirty="0"/>
              <a:t>Pin your Post-It note to the graph on the board, in the appropriate column, creating a histogram</a:t>
            </a:r>
          </a:p>
        </p:txBody>
      </p:sp>
      <p:sp>
        <p:nvSpPr>
          <p:cNvPr id="4" name="TextBox 3"/>
          <p:cNvSpPr txBox="1"/>
          <p:nvPr/>
        </p:nvSpPr>
        <p:spPr>
          <a:xfrm>
            <a:off x="367990" y="5365099"/>
            <a:ext cx="11508059" cy="830997"/>
          </a:xfrm>
          <a:prstGeom prst="rect">
            <a:avLst/>
          </a:prstGeom>
          <a:noFill/>
        </p:spPr>
        <p:txBody>
          <a:bodyPr wrap="square" rtlCol="0">
            <a:spAutoFit/>
          </a:bodyPr>
          <a:lstStyle/>
          <a:p>
            <a:pPr marL="285750" indent="-285750">
              <a:buFont typeface="Arial" charset="0"/>
              <a:buChar char="•"/>
            </a:pPr>
            <a:r>
              <a:rPr lang="en-US" sz="2400" dirty="0"/>
              <a:t>Looking at our histogram, how would we describe the shape of it? Are there any clusters of data points? Where is the median of the data?</a:t>
            </a:r>
          </a:p>
        </p:txBody>
      </p:sp>
    </p:spTree>
    <p:extLst>
      <p:ext uri="{BB962C8B-B14F-4D97-AF65-F5344CB8AC3E}">
        <p14:creationId xmlns:p14="http://schemas.microsoft.com/office/powerpoint/2010/main" val="85279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5998464"/>
            <a:ext cx="12192000"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0" y="5998464"/>
            <a:ext cx="1455463" cy="461665"/>
          </a:xfrm>
          <a:prstGeom prst="rect">
            <a:avLst/>
          </a:prstGeom>
          <a:noFill/>
        </p:spPr>
        <p:txBody>
          <a:bodyPr wrap="none" rtlCol="0">
            <a:spAutoFit/>
          </a:bodyPr>
          <a:lstStyle/>
          <a:p>
            <a:r>
              <a:rPr lang="en-US" sz="2400" dirty="0"/>
              <a:t>Summary:</a:t>
            </a:r>
          </a:p>
        </p:txBody>
      </p:sp>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a:t>Histograms</a:t>
            </a:r>
            <a:br>
              <a:rPr lang="en-US" dirty="0"/>
            </a:br>
            <a:r>
              <a:rPr lang="en-US" dirty="0"/>
              <a:t>EQ: </a:t>
            </a:r>
            <a:r>
              <a:rPr lang="en-US" sz="2900" dirty="0"/>
              <a:t>What can the shape of a histogram tell us about it? </a:t>
            </a:r>
          </a:p>
        </p:txBody>
      </p:sp>
    </p:spTree>
    <p:extLst>
      <p:ext uri="{BB962C8B-B14F-4D97-AF65-F5344CB8AC3E}">
        <p14:creationId xmlns:p14="http://schemas.microsoft.com/office/powerpoint/2010/main" val="42187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a:t>Histograms</a:t>
            </a:r>
            <a:br>
              <a:rPr lang="en-US" dirty="0"/>
            </a:br>
            <a:r>
              <a:rPr lang="en-US" dirty="0"/>
              <a:t>EQ: </a:t>
            </a:r>
            <a:r>
              <a:rPr lang="en-US" sz="2900" dirty="0"/>
              <a:t>What can the shape of a histogram tell us about it? </a:t>
            </a:r>
          </a:p>
        </p:txBody>
      </p:sp>
      <p:sp>
        <p:nvSpPr>
          <p:cNvPr id="2" name="TextBox 1"/>
          <p:cNvSpPr txBox="1"/>
          <p:nvPr/>
        </p:nvSpPr>
        <p:spPr>
          <a:xfrm>
            <a:off x="103782" y="1914145"/>
            <a:ext cx="11984435" cy="1200329"/>
          </a:xfrm>
          <a:prstGeom prst="rect">
            <a:avLst/>
          </a:prstGeom>
          <a:noFill/>
        </p:spPr>
        <p:txBody>
          <a:bodyPr wrap="square" rtlCol="0">
            <a:spAutoFit/>
          </a:bodyPr>
          <a:lstStyle/>
          <a:p>
            <a:r>
              <a:rPr lang="en-US" sz="2400" u="sng" dirty="0"/>
              <a:t>Using a curve to represent the data</a:t>
            </a:r>
            <a:r>
              <a:rPr lang="en-US" sz="2400" dirty="0"/>
              <a:t>:</a:t>
            </a:r>
          </a:p>
          <a:p>
            <a:r>
              <a:rPr lang="en-US" sz="2400" dirty="0"/>
              <a:t>When there is an overall pattern to the data, we can draw a smooth curve through the histogram to represent the data. Here are 3 examples: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99" y="3237919"/>
            <a:ext cx="10058400" cy="3695934"/>
          </a:xfrm>
          <a:prstGeom prst="rect">
            <a:avLst/>
          </a:prstGeom>
        </p:spPr>
      </p:pic>
    </p:spTree>
    <p:extLst>
      <p:ext uri="{BB962C8B-B14F-4D97-AF65-F5344CB8AC3E}">
        <p14:creationId xmlns:p14="http://schemas.microsoft.com/office/powerpoint/2010/main" val="65314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a:t>Example</a:t>
            </a:r>
            <a:endParaRPr lang="en-US" sz="29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4240" y="3584936"/>
            <a:ext cx="4740848" cy="307054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188" y="1902988"/>
            <a:ext cx="5090668" cy="3054401"/>
          </a:xfrm>
          <a:prstGeom prst="rect">
            <a:avLst/>
          </a:prstGeom>
        </p:spPr>
      </p:pic>
      <p:sp>
        <p:nvSpPr>
          <p:cNvPr id="6" name="TextBox 5"/>
          <p:cNvSpPr txBox="1"/>
          <p:nvPr/>
        </p:nvSpPr>
        <p:spPr>
          <a:xfrm>
            <a:off x="5437632" y="1790700"/>
            <a:ext cx="6851904" cy="1569660"/>
          </a:xfrm>
          <a:prstGeom prst="rect">
            <a:avLst/>
          </a:prstGeom>
          <a:noFill/>
        </p:spPr>
        <p:txBody>
          <a:bodyPr wrap="square" rtlCol="0">
            <a:spAutoFit/>
          </a:bodyPr>
          <a:lstStyle/>
          <a:p>
            <a:r>
              <a:rPr lang="en-US" sz="2400" b="1" dirty="0"/>
              <a:t>Solution</a:t>
            </a:r>
            <a:r>
              <a:rPr lang="en-US" sz="2400" dirty="0"/>
              <a:t>: Locate the center and re-arrange the heights of the column to form a smooth hump for the top of the curve. Then symmetrically flatten out the curve on both sides</a:t>
            </a: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6168" y="3472648"/>
            <a:ext cx="8027930" cy="2293694"/>
          </a:xfrm>
          <a:prstGeom prst="rect">
            <a:avLst/>
          </a:prstGeom>
        </p:spPr>
      </p:pic>
    </p:spTree>
    <p:extLst>
      <p:ext uri="{BB962C8B-B14F-4D97-AF65-F5344CB8AC3E}">
        <p14:creationId xmlns:p14="http://schemas.microsoft.com/office/powerpoint/2010/main" val="1650171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a:t>Histograms</a:t>
            </a:r>
            <a:br>
              <a:rPr lang="en-US" dirty="0"/>
            </a:br>
            <a:r>
              <a:rPr lang="en-US" dirty="0"/>
              <a:t>EQ: </a:t>
            </a:r>
            <a:r>
              <a:rPr lang="en-US" sz="2900" dirty="0"/>
              <a:t>What can the shape of a histogram tell us about it? </a:t>
            </a:r>
          </a:p>
        </p:txBody>
      </p:sp>
      <p:sp>
        <p:nvSpPr>
          <p:cNvPr id="2" name="TextBox 1"/>
          <p:cNvSpPr txBox="1"/>
          <p:nvPr/>
        </p:nvSpPr>
        <p:spPr>
          <a:xfrm>
            <a:off x="2011680" y="3194304"/>
            <a:ext cx="6461641" cy="584775"/>
          </a:xfrm>
          <a:prstGeom prst="rect">
            <a:avLst/>
          </a:prstGeom>
          <a:noFill/>
        </p:spPr>
        <p:txBody>
          <a:bodyPr wrap="none" rtlCol="0">
            <a:spAutoFit/>
          </a:bodyPr>
          <a:lstStyle/>
          <a:p>
            <a:pPr marL="285750" indent="-285750">
              <a:buFont typeface="Arial" charset="0"/>
              <a:buChar char="•"/>
            </a:pPr>
            <a:r>
              <a:rPr lang="en-US" sz="3200" dirty="0"/>
              <a:t>Complete Page 1 of your Worksheet</a:t>
            </a:r>
          </a:p>
        </p:txBody>
      </p:sp>
    </p:spTree>
    <p:extLst>
      <p:ext uri="{BB962C8B-B14F-4D97-AF65-F5344CB8AC3E}">
        <p14:creationId xmlns:p14="http://schemas.microsoft.com/office/powerpoint/2010/main" val="1825658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sz="3200" dirty="0"/>
              <a:t>The shape of a distribution:</a:t>
            </a:r>
          </a:p>
        </p:txBody>
      </p:sp>
      <p:sp>
        <p:nvSpPr>
          <p:cNvPr id="2" name="TextBox 1"/>
          <p:cNvSpPr txBox="1"/>
          <p:nvPr/>
        </p:nvSpPr>
        <p:spPr>
          <a:xfrm>
            <a:off x="103632" y="1889760"/>
            <a:ext cx="11984736" cy="1569660"/>
          </a:xfrm>
          <a:prstGeom prst="rect">
            <a:avLst/>
          </a:prstGeom>
          <a:noFill/>
        </p:spPr>
        <p:txBody>
          <a:bodyPr wrap="square" rtlCol="0">
            <a:spAutoFit/>
          </a:bodyPr>
          <a:lstStyle/>
          <a:p>
            <a:r>
              <a:rPr lang="en-US" sz="2400" b="1" u="sng" dirty="0"/>
              <a:t>Skewed distributions: </a:t>
            </a:r>
          </a:p>
          <a:p>
            <a:r>
              <a:rPr lang="en-US" sz="2400" dirty="0"/>
              <a:t>Histograms are rarely the perfect bell curve of the normal shape. When data is not symmetrical</a:t>
            </a:r>
          </a:p>
          <a:p>
            <a:r>
              <a:rPr lang="en-US" sz="2400" dirty="0"/>
              <a:t>but pushed to one side, it is said to be </a:t>
            </a:r>
            <a:r>
              <a:rPr lang="en-US" sz="2400" b="1" i="1" dirty="0"/>
              <a:t>skewed</a:t>
            </a:r>
            <a:r>
              <a:rPr lang="en-US" sz="2400" dirty="0"/>
              <a:t>. We can identify the type of skew by looking at </a:t>
            </a:r>
          </a:p>
          <a:p>
            <a:r>
              <a:rPr lang="en-US" sz="2400" dirty="0"/>
              <a:t>the ‘tail’ of the curve.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6368" y="3721608"/>
            <a:ext cx="3700272" cy="159784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988" y="3721608"/>
            <a:ext cx="3839972" cy="1647697"/>
          </a:xfrm>
          <a:prstGeom prst="rect">
            <a:avLst/>
          </a:prstGeom>
        </p:spPr>
      </p:pic>
      <p:sp>
        <p:nvSpPr>
          <p:cNvPr id="5" name="TextBox 4"/>
          <p:cNvSpPr txBox="1"/>
          <p:nvPr/>
        </p:nvSpPr>
        <p:spPr>
          <a:xfrm>
            <a:off x="6755059" y="5531164"/>
            <a:ext cx="5333309" cy="1200329"/>
          </a:xfrm>
          <a:prstGeom prst="rect">
            <a:avLst/>
          </a:prstGeom>
          <a:noFill/>
        </p:spPr>
        <p:txBody>
          <a:bodyPr wrap="square" rtlCol="0">
            <a:spAutoFit/>
          </a:bodyPr>
          <a:lstStyle/>
          <a:p>
            <a:r>
              <a:rPr lang="en-US" dirty="0"/>
              <a:t>Here the tail is on the right, so the data are</a:t>
            </a:r>
          </a:p>
          <a:p>
            <a:r>
              <a:rPr lang="en-US" b="1" i="1" dirty="0"/>
              <a:t>positively</a:t>
            </a:r>
            <a:r>
              <a:rPr lang="en-US" dirty="0"/>
              <a:t> skewed. This could represent house prices in a small country town. Lots of moderate prices and a few high prices for bigger houses or farms.</a:t>
            </a:r>
          </a:p>
        </p:txBody>
      </p:sp>
      <p:sp>
        <p:nvSpPr>
          <p:cNvPr id="7" name="TextBox 6"/>
          <p:cNvSpPr txBox="1"/>
          <p:nvPr/>
        </p:nvSpPr>
        <p:spPr>
          <a:xfrm>
            <a:off x="195763" y="5604899"/>
            <a:ext cx="5772221" cy="1200329"/>
          </a:xfrm>
          <a:prstGeom prst="rect">
            <a:avLst/>
          </a:prstGeom>
          <a:noFill/>
        </p:spPr>
        <p:txBody>
          <a:bodyPr wrap="none" rtlCol="0">
            <a:spAutoFit/>
          </a:bodyPr>
          <a:lstStyle/>
          <a:p>
            <a:r>
              <a:rPr lang="en-US" dirty="0"/>
              <a:t>Here the tail is on the left, so the data are</a:t>
            </a:r>
          </a:p>
          <a:p>
            <a:r>
              <a:rPr lang="en-US" b="1" i="1" dirty="0"/>
              <a:t>negatively</a:t>
            </a:r>
            <a:r>
              <a:rPr lang="en-US" dirty="0"/>
              <a:t> skewed. This could represent marks scored by</a:t>
            </a:r>
          </a:p>
          <a:p>
            <a:r>
              <a:rPr lang="en-US" dirty="0"/>
              <a:t>students on an easy test. Most students scored high marks, </a:t>
            </a:r>
          </a:p>
          <a:p>
            <a:r>
              <a:rPr lang="en-US" dirty="0"/>
              <a:t>while relatively few scored low.</a:t>
            </a:r>
          </a:p>
        </p:txBody>
      </p:sp>
    </p:spTree>
    <p:extLst>
      <p:ext uri="{BB962C8B-B14F-4D97-AF65-F5344CB8AC3E}">
        <p14:creationId xmlns:p14="http://schemas.microsoft.com/office/powerpoint/2010/main" val="1177851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a:t>Histograms</a:t>
            </a:r>
            <a:br>
              <a:rPr lang="en-US" dirty="0"/>
            </a:br>
            <a:r>
              <a:rPr lang="en-US" dirty="0"/>
              <a:t>EQ: </a:t>
            </a:r>
            <a:r>
              <a:rPr lang="en-US" sz="2900" dirty="0"/>
              <a:t>What can the shape of a histogram tell us about it? </a:t>
            </a:r>
          </a:p>
        </p:txBody>
      </p:sp>
      <p:sp>
        <p:nvSpPr>
          <p:cNvPr id="3" name="TextBox 2"/>
          <p:cNvSpPr txBox="1"/>
          <p:nvPr/>
        </p:nvSpPr>
        <p:spPr>
          <a:xfrm>
            <a:off x="103632" y="1914144"/>
            <a:ext cx="11984736" cy="1569660"/>
          </a:xfrm>
          <a:prstGeom prst="rect">
            <a:avLst/>
          </a:prstGeom>
          <a:noFill/>
        </p:spPr>
        <p:txBody>
          <a:bodyPr wrap="square" rtlCol="0">
            <a:spAutoFit/>
          </a:bodyPr>
          <a:lstStyle/>
          <a:p>
            <a:r>
              <a:rPr lang="en-US" sz="2400" b="1" u="sng" dirty="0"/>
              <a:t>Uniform distributions: </a:t>
            </a:r>
          </a:p>
          <a:p>
            <a:r>
              <a:rPr lang="en-US" sz="2400" dirty="0"/>
              <a:t>If we roll a normal die many times, each of the possible six numbers should appear roughly the same number of times, giving a </a:t>
            </a:r>
            <a:r>
              <a:rPr lang="en-US" sz="2400" b="1" i="1" dirty="0"/>
              <a:t>uniform</a:t>
            </a:r>
            <a:r>
              <a:rPr lang="en-US" sz="2400" dirty="0"/>
              <a:t> distribution. The scores are evenly distributed and its graph is close to one big rectangle.</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32" y="3800796"/>
            <a:ext cx="3657600" cy="2616200"/>
          </a:xfrm>
          <a:prstGeom prst="rect">
            <a:avLst/>
          </a:prstGeom>
        </p:spPr>
      </p:pic>
      <p:sp>
        <p:nvSpPr>
          <p:cNvPr id="5" name="TextBox 4"/>
          <p:cNvSpPr txBox="1"/>
          <p:nvPr/>
        </p:nvSpPr>
        <p:spPr>
          <a:xfrm>
            <a:off x="103632" y="1935420"/>
            <a:ext cx="11984736" cy="1569660"/>
          </a:xfrm>
          <a:prstGeom prst="rect">
            <a:avLst/>
          </a:prstGeom>
          <a:solidFill>
            <a:schemeClr val="bg1"/>
          </a:solidFill>
        </p:spPr>
        <p:txBody>
          <a:bodyPr wrap="square" rtlCol="0">
            <a:spAutoFit/>
          </a:bodyPr>
          <a:lstStyle/>
          <a:p>
            <a:r>
              <a:rPr lang="en-US" sz="2400" b="1" u="sng" dirty="0"/>
              <a:t>Bimodal distributions: </a:t>
            </a:r>
          </a:p>
          <a:p>
            <a:r>
              <a:rPr lang="en-US" sz="2400" dirty="0"/>
              <a:t>If a graph or curve has two distinct peaks, it is said to have </a:t>
            </a:r>
            <a:r>
              <a:rPr lang="en-US" sz="2400" b="1" i="1" dirty="0"/>
              <a:t>bimodal</a:t>
            </a:r>
            <a:r>
              <a:rPr lang="en-US" sz="2400" dirty="0"/>
              <a:t> distribution. If there is only one peak, it’s called a </a:t>
            </a:r>
            <a:r>
              <a:rPr lang="en-US" sz="2400" b="1" i="1" dirty="0"/>
              <a:t>unimodal</a:t>
            </a:r>
            <a:r>
              <a:rPr lang="en-US" sz="2400" dirty="0"/>
              <a:t> distribution. An example of this may be a graph representing the days traffic. When might the two peaks occur?</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1075" y="3306864"/>
            <a:ext cx="3505709" cy="3293580"/>
          </a:xfrm>
          <a:prstGeom prst="rect">
            <a:avLst/>
          </a:prstGeom>
        </p:spPr>
      </p:pic>
    </p:spTree>
    <p:extLst>
      <p:ext uri="{BB962C8B-B14F-4D97-AF65-F5344CB8AC3E}">
        <p14:creationId xmlns:p14="http://schemas.microsoft.com/office/powerpoint/2010/main" val="93524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a:t>Example</a:t>
            </a:r>
            <a:endParaRPr lang="en-US" sz="29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0458" y="1980568"/>
            <a:ext cx="8096648" cy="3111376"/>
          </a:xfrm>
          <a:prstGeom prst="rect">
            <a:avLst/>
          </a:prstGeom>
        </p:spPr>
      </p:pic>
      <p:sp>
        <p:nvSpPr>
          <p:cNvPr id="4" name="TextBox 3"/>
          <p:cNvSpPr txBox="1"/>
          <p:nvPr/>
        </p:nvSpPr>
        <p:spPr>
          <a:xfrm>
            <a:off x="195072" y="5272296"/>
            <a:ext cx="11570208" cy="830997"/>
          </a:xfrm>
          <a:prstGeom prst="rect">
            <a:avLst/>
          </a:prstGeom>
          <a:noFill/>
        </p:spPr>
        <p:txBody>
          <a:bodyPr wrap="square" rtlCol="0">
            <a:spAutoFit/>
          </a:bodyPr>
          <a:lstStyle/>
          <a:p>
            <a:r>
              <a:rPr lang="en-US" sz="2400" dirty="0"/>
              <a:t>The distribution is not symmetrical, so it is skewed. The tail points to the right, so it is positively skewed. There are peaks at ages 20 and 40, so the distribution is also bimodal.</a:t>
            </a:r>
          </a:p>
        </p:txBody>
      </p:sp>
      <p:sp>
        <p:nvSpPr>
          <p:cNvPr id="8" name="TextBox 7"/>
          <p:cNvSpPr txBox="1"/>
          <p:nvPr/>
        </p:nvSpPr>
        <p:spPr>
          <a:xfrm>
            <a:off x="195072" y="6283645"/>
            <a:ext cx="7408503" cy="461665"/>
          </a:xfrm>
          <a:prstGeom prst="rect">
            <a:avLst/>
          </a:prstGeom>
          <a:noFill/>
        </p:spPr>
        <p:txBody>
          <a:bodyPr wrap="none" rtlCol="0">
            <a:spAutoFit/>
          </a:bodyPr>
          <a:lstStyle/>
          <a:p>
            <a:r>
              <a:rPr lang="en-US" sz="2400" dirty="0"/>
              <a:t>Answer: The distribution is positively skewed and bimodal</a:t>
            </a:r>
          </a:p>
        </p:txBody>
      </p:sp>
    </p:spTree>
    <p:extLst>
      <p:ext uri="{BB962C8B-B14F-4D97-AF65-F5344CB8AC3E}">
        <p14:creationId xmlns:p14="http://schemas.microsoft.com/office/powerpoint/2010/main" val="2092519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a:t>Guided Practice</a:t>
            </a:r>
            <a:endParaRPr lang="en-US" sz="29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 y="1889760"/>
            <a:ext cx="6903353" cy="4968240"/>
          </a:xfrm>
          <a:prstGeom prst="rect">
            <a:avLst/>
          </a:prstGeom>
        </p:spPr>
      </p:pic>
      <p:sp>
        <p:nvSpPr>
          <p:cNvPr id="3" name="TextBox 2"/>
          <p:cNvSpPr txBox="1"/>
          <p:nvPr/>
        </p:nvSpPr>
        <p:spPr>
          <a:xfrm>
            <a:off x="8253984" y="2279904"/>
            <a:ext cx="3133344" cy="1384995"/>
          </a:xfrm>
          <a:prstGeom prst="rect">
            <a:avLst/>
          </a:prstGeom>
          <a:noFill/>
        </p:spPr>
        <p:txBody>
          <a:bodyPr wrap="square" rtlCol="0">
            <a:spAutoFit/>
          </a:bodyPr>
          <a:lstStyle/>
          <a:p>
            <a:pPr algn="ctr"/>
            <a:r>
              <a:rPr lang="en-US" sz="2800"/>
              <a:t>*Which </a:t>
            </a:r>
            <a:r>
              <a:rPr lang="en-US" sz="2800" dirty="0"/>
              <a:t>of these </a:t>
            </a:r>
            <a:r>
              <a:rPr lang="en-US" sz="2800"/>
              <a:t>graphs are </a:t>
            </a:r>
            <a:r>
              <a:rPr lang="en-US" sz="2800" dirty="0"/>
              <a:t>unimodal? </a:t>
            </a:r>
          </a:p>
        </p:txBody>
      </p:sp>
    </p:spTree>
    <p:extLst>
      <p:ext uri="{BB962C8B-B14F-4D97-AF65-F5344CB8AC3E}">
        <p14:creationId xmlns:p14="http://schemas.microsoft.com/office/powerpoint/2010/main" val="90534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sp>
        <p:nvSpPr>
          <p:cNvPr id="4" name="TextBox 3"/>
          <p:cNvSpPr txBox="1"/>
          <p:nvPr/>
        </p:nvSpPr>
        <p:spPr>
          <a:xfrm>
            <a:off x="719329" y="2390934"/>
            <a:ext cx="11026648" cy="1200329"/>
          </a:xfrm>
          <a:prstGeom prst="rect">
            <a:avLst/>
          </a:prstGeom>
          <a:noFill/>
        </p:spPr>
        <p:txBody>
          <a:bodyPr wrap="square" rtlCol="0">
            <a:spAutoFit/>
          </a:bodyPr>
          <a:lstStyle/>
          <a:p>
            <a:pPr marL="285750" indent="-285750">
              <a:buFont typeface="Arial" charset="0"/>
              <a:buChar char="•"/>
            </a:pPr>
            <a:r>
              <a:rPr lang="en-US" sz="3600" dirty="0"/>
              <a:t>Complete Page 2 of your Worksheet</a:t>
            </a:r>
          </a:p>
          <a:p>
            <a:pPr marL="285750" indent="-285750">
              <a:buFont typeface="Arial" charset="0"/>
              <a:buChar char="•"/>
            </a:pPr>
            <a:endParaRPr lang="en-US" sz="3600" dirty="0"/>
          </a:p>
        </p:txBody>
      </p:sp>
      <p:sp>
        <p:nvSpPr>
          <p:cNvPr id="6" name="Title 1">
            <a:extLst>
              <a:ext uri="{FF2B5EF4-FFF2-40B4-BE49-F238E27FC236}">
                <a16:creationId xmlns:a16="http://schemas.microsoft.com/office/drawing/2014/main" id="{B454B20A-3848-4712-9EC6-88AF3E430C3B}"/>
              </a:ext>
            </a:extLst>
          </p:cNvPr>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a:t>Histograms</a:t>
            </a:r>
            <a:br>
              <a:rPr lang="en-US" dirty="0"/>
            </a:br>
            <a:r>
              <a:rPr lang="en-US" dirty="0"/>
              <a:t>EQ: </a:t>
            </a:r>
            <a:r>
              <a:rPr lang="en-US" sz="2900" dirty="0"/>
              <a:t>What can the shape of a histogram tell us about it? </a:t>
            </a:r>
          </a:p>
        </p:txBody>
      </p:sp>
    </p:spTree>
    <p:extLst>
      <p:ext uri="{BB962C8B-B14F-4D97-AF65-F5344CB8AC3E}">
        <p14:creationId xmlns:p14="http://schemas.microsoft.com/office/powerpoint/2010/main" val="160073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242A7-123D-47EB-BEC2-76290885FD6D}"/>
              </a:ext>
            </a:extLst>
          </p:cNvPr>
          <p:cNvSpPr>
            <a:spLocks noGrp="1"/>
          </p:cNvSpPr>
          <p:nvPr>
            <p:ph type="title"/>
          </p:nvPr>
        </p:nvSpPr>
        <p:spPr/>
        <p:txBody>
          <a:bodyPr/>
          <a:lstStyle/>
          <a:p>
            <a:r>
              <a:rPr lang="en-AU" dirty="0"/>
              <a:t>Answers</a:t>
            </a:r>
          </a:p>
        </p:txBody>
      </p:sp>
      <p:pic>
        <p:nvPicPr>
          <p:cNvPr id="3" name="Picture 2">
            <a:extLst>
              <a:ext uri="{FF2B5EF4-FFF2-40B4-BE49-F238E27FC236}">
                <a16:creationId xmlns:a16="http://schemas.microsoft.com/office/drawing/2014/main" id="{93C89DF0-4172-4895-88FD-1251BE230C19}"/>
              </a:ext>
            </a:extLst>
          </p:cNvPr>
          <p:cNvPicPr>
            <a:picLocks noChangeAspect="1"/>
          </p:cNvPicPr>
          <p:nvPr/>
        </p:nvPicPr>
        <p:blipFill rotWithShape="1">
          <a:blip r:embed="rId2"/>
          <a:srcRect l="-119" t="20087" r="119" b="32134"/>
          <a:stretch/>
        </p:blipFill>
        <p:spPr>
          <a:xfrm>
            <a:off x="1587188" y="2007704"/>
            <a:ext cx="8332064" cy="4263887"/>
          </a:xfrm>
          <a:prstGeom prst="rect">
            <a:avLst/>
          </a:prstGeom>
        </p:spPr>
      </p:pic>
    </p:spTree>
    <p:extLst>
      <p:ext uri="{BB962C8B-B14F-4D97-AF65-F5344CB8AC3E}">
        <p14:creationId xmlns:p14="http://schemas.microsoft.com/office/powerpoint/2010/main" val="2880306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sz="3600" dirty="0"/>
              <a:t>  Exit Pass </a:t>
            </a:r>
            <a:r>
              <a:rPr lang="mr-IN" sz="3600" dirty="0"/>
              <a:t>–</a:t>
            </a:r>
            <a:r>
              <a:rPr lang="en-US" sz="3600" dirty="0"/>
              <a:t> Do all except #3 (we’ll get to that later)</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1571" y="1876044"/>
            <a:ext cx="9054741" cy="4889361"/>
          </a:xfrm>
          <a:prstGeom prst="rect">
            <a:avLst/>
          </a:prstGeom>
        </p:spPr>
      </p:pic>
    </p:spTree>
    <p:extLst>
      <p:ext uri="{BB962C8B-B14F-4D97-AF65-F5344CB8AC3E}">
        <p14:creationId xmlns:p14="http://schemas.microsoft.com/office/powerpoint/2010/main" val="15217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ucation_16x9.potx" id="{AA5F22BC-61EA-4F01-AB22-75117871E196}" vid="{BD0EB374-1DDC-4F15-88A9-D386288C58A6}"/>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141aba3b8f8cb7f331be6546df69db50">
  <xsd:schema xmlns:xsd="http://www.w3.org/2001/XMLSchema" xmlns:xs="http://www.w3.org/2001/XMLSchema" xmlns:p="http://schemas.microsoft.com/office/2006/metadata/properties" targetNamespace="http://schemas.microsoft.com/office/2006/metadata/properties" ma:root="true" ma:fieldsID="f8e4ef66d87525153bd8907774ed28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96FEF9-821E-45A6-82F2-0B1CE4CD8C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1BC99BC-3A63-4255-9D4F-38C5B80A3193}">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www.w3.org/XML/1998/namespace"/>
    <ds:schemaRef ds:uri="http://purl.org/dc/term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9F7A874A-6E55-415B-9061-8B2D43DC2F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681</Words>
  <Application>Microsoft Office PowerPoint</Application>
  <PresentationFormat>Widescreen</PresentationFormat>
  <Paragraphs>73</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Education 16x9</vt:lpstr>
      <vt:lpstr>Statistical Analysis</vt:lpstr>
      <vt:lpstr>Starter - Back to Back Stem Plot</vt:lpstr>
      <vt:lpstr>Starter Activity – Post-it note histogram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Answers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2012-09-21T18:31:34Z</dcterms:created>
  <dcterms:modified xsi:type="dcterms:W3CDTF">2020-10-12T10:03:16Z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
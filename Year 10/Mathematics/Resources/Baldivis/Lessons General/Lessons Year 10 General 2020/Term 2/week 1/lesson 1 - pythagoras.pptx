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64" r:id="rId3"/>
    <p:sldId id="265" r:id="rId4"/>
    <p:sldId id="267" r:id="rId5"/>
    <p:sldId id="268" r:id="rId6"/>
    <p:sldId id="269" r:id="rId7"/>
    <p:sldId id="27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5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004ED939-D8F6-4B20-8F05-CE65450F8062}" type="datetimeFigureOut">
              <a:rPr lang="en-AU" smtClean="0"/>
              <a:t>6/04/2020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508884B-1492-4425-9107-49256D48207C}" type="slidenum">
              <a:rPr lang="en-AU" smtClean="0"/>
              <a:t>‹#›</a:t>
            </a:fld>
            <a:endParaRPr lang="en-AU"/>
          </a:p>
        </p:txBody>
      </p:sp>
    </p:spTree>
    <p:extLst>
      <p:ext uri="{BB962C8B-B14F-4D97-AF65-F5344CB8AC3E}">
        <p14:creationId xmlns:p14="http://schemas.microsoft.com/office/powerpoint/2010/main" val="835742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04ED939-D8F6-4B20-8F05-CE65450F8062}" type="datetimeFigureOut">
              <a:rPr lang="en-AU" smtClean="0"/>
              <a:t>6/04/2020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508884B-1492-4425-9107-49256D48207C}" type="slidenum">
              <a:rPr lang="en-AU" smtClean="0"/>
              <a:t>‹#›</a:t>
            </a:fld>
            <a:endParaRPr lang="en-AU"/>
          </a:p>
        </p:txBody>
      </p:sp>
    </p:spTree>
    <p:extLst>
      <p:ext uri="{BB962C8B-B14F-4D97-AF65-F5344CB8AC3E}">
        <p14:creationId xmlns:p14="http://schemas.microsoft.com/office/powerpoint/2010/main" val="3184972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04ED939-D8F6-4B20-8F05-CE65450F8062}" type="datetimeFigureOut">
              <a:rPr lang="en-AU" smtClean="0"/>
              <a:t>6/04/2020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508884B-1492-4425-9107-49256D48207C}" type="slidenum">
              <a:rPr lang="en-AU" smtClean="0"/>
              <a:t>‹#›</a:t>
            </a:fld>
            <a:endParaRPr lang="en-AU"/>
          </a:p>
        </p:txBody>
      </p:sp>
    </p:spTree>
    <p:extLst>
      <p:ext uri="{BB962C8B-B14F-4D97-AF65-F5344CB8AC3E}">
        <p14:creationId xmlns:p14="http://schemas.microsoft.com/office/powerpoint/2010/main" val="1021168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004ED939-D8F6-4B20-8F05-CE65450F8062}" type="datetimeFigureOut">
              <a:rPr lang="en-AU" smtClean="0"/>
              <a:t>6/04/2020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508884B-1492-4425-9107-49256D48207C}" type="slidenum">
              <a:rPr lang="en-AU" smtClean="0"/>
              <a:t>‹#›</a:t>
            </a:fld>
            <a:endParaRPr lang="en-AU"/>
          </a:p>
        </p:txBody>
      </p:sp>
    </p:spTree>
    <p:extLst>
      <p:ext uri="{BB962C8B-B14F-4D97-AF65-F5344CB8AC3E}">
        <p14:creationId xmlns:p14="http://schemas.microsoft.com/office/powerpoint/2010/main" val="4075927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004ED939-D8F6-4B20-8F05-CE65450F8062}" type="datetimeFigureOut">
              <a:rPr lang="en-AU" smtClean="0"/>
              <a:t>6/04/2020</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5508884B-1492-4425-9107-49256D48207C}" type="slidenum">
              <a:rPr lang="en-AU" smtClean="0"/>
              <a:t>‹#›</a:t>
            </a:fld>
            <a:endParaRPr lang="en-AU"/>
          </a:p>
        </p:txBody>
      </p:sp>
    </p:spTree>
    <p:extLst>
      <p:ext uri="{BB962C8B-B14F-4D97-AF65-F5344CB8AC3E}">
        <p14:creationId xmlns:p14="http://schemas.microsoft.com/office/powerpoint/2010/main" val="793303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004ED939-D8F6-4B20-8F05-CE65450F8062}" type="datetimeFigureOut">
              <a:rPr lang="en-AU" smtClean="0"/>
              <a:t>6/04/2020</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5508884B-1492-4425-9107-49256D48207C}" type="slidenum">
              <a:rPr lang="en-AU" smtClean="0"/>
              <a:t>‹#›</a:t>
            </a:fld>
            <a:endParaRPr lang="en-AU"/>
          </a:p>
        </p:txBody>
      </p:sp>
    </p:spTree>
    <p:extLst>
      <p:ext uri="{BB962C8B-B14F-4D97-AF65-F5344CB8AC3E}">
        <p14:creationId xmlns:p14="http://schemas.microsoft.com/office/powerpoint/2010/main" val="527008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4ED939-D8F6-4B20-8F05-CE65450F8062}" type="datetimeFigureOut">
              <a:rPr lang="en-AU" smtClean="0"/>
              <a:t>6/04/2020</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5508884B-1492-4425-9107-49256D48207C}" type="slidenum">
              <a:rPr lang="en-AU" smtClean="0"/>
              <a:t>‹#›</a:t>
            </a:fld>
            <a:endParaRPr lang="en-AU"/>
          </a:p>
        </p:txBody>
      </p:sp>
    </p:spTree>
    <p:extLst>
      <p:ext uri="{BB962C8B-B14F-4D97-AF65-F5344CB8AC3E}">
        <p14:creationId xmlns:p14="http://schemas.microsoft.com/office/powerpoint/2010/main" val="1150142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04ED939-D8F6-4B20-8F05-CE65450F8062}" type="datetimeFigureOut">
              <a:rPr lang="en-AU" smtClean="0"/>
              <a:t>6/04/2020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508884B-1492-4425-9107-49256D48207C}" type="slidenum">
              <a:rPr lang="en-AU" smtClean="0"/>
              <a:t>‹#›</a:t>
            </a:fld>
            <a:endParaRPr lang="en-AU"/>
          </a:p>
        </p:txBody>
      </p:sp>
    </p:spTree>
    <p:extLst>
      <p:ext uri="{BB962C8B-B14F-4D97-AF65-F5344CB8AC3E}">
        <p14:creationId xmlns:p14="http://schemas.microsoft.com/office/powerpoint/2010/main" val="254014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04ED939-D8F6-4B20-8F05-CE65450F8062}" type="datetimeFigureOut">
              <a:rPr lang="en-AU" smtClean="0"/>
              <a:t>6/04/2020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508884B-1492-4425-9107-49256D48207C}" type="slidenum">
              <a:rPr lang="en-AU" smtClean="0"/>
              <a:t>‹#›</a:t>
            </a:fld>
            <a:endParaRPr lang="en-AU"/>
          </a:p>
        </p:txBody>
      </p:sp>
    </p:spTree>
    <p:extLst>
      <p:ext uri="{BB962C8B-B14F-4D97-AF65-F5344CB8AC3E}">
        <p14:creationId xmlns:p14="http://schemas.microsoft.com/office/powerpoint/2010/main" val="3172086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04ED939-D8F6-4B20-8F05-CE65450F8062}" type="datetimeFigureOut">
              <a:rPr lang="en-AU" smtClean="0"/>
              <a:t>6/04/2020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508884B-1492-4425-9107-49256D48207C}" type="slidenum">
              <a:rPr lang="en-AU" smtClean="0"/>
              <a:t>‹#›</a:t>
            </a:fld>
            <a:endParaRPr lang="en-AU"/>
          </a:p>
        </p:txBody>
      </p:sp>
    </p:spTree>
    <p:extLst>
      <p:ext uri="{BB962C8B-B14F-4D97-AF65-F5344CB8AC3E}">
        <p14:creationId xmlns:p14="http://schemas.microsoft.com/office/powerpoint/2010/main" val="2888612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04ED939-D8F6-4B20-8F05-CE65450F8062}" type="datetimeFigureOut">
              <a:rPr lang="en-AU" smtClean="0"/>
              <a:t>6/04/2020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508884B-1492-4425-9107-49256D48207C}" type="slidenum">
              <a:rPr lang="en-AU" smtClean="0"/>
              <a:t>‹#›</a:t>
            </a:fld>
            <a:endParaRPr lang="en-AU"/>
          </a:p>
        </p:txBody>
      </p:sp>
    </p:spTree>
    <p:extLst>
      <p:ext uri="{BB962C8B-B14F-4D97-AF65-F5344CB8AC3E}">
        <p14:creationId xmlns:p14="http://schemas.microsoft.com/office/powerpoint/2010/main" val="4110776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4ED939-D8F6-4B20-8F05-CE65450F8062}" type="datetimeFigureOut">
              <a:rPr lang="en-AU" smtClean="0"/>
              <a:t>6/04/2020</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08884B-1492-4425-9107-49256D48207C}" type="slidenum">
              <a:rPr lang="en-AU" smtClean="0"/>
              <a:t>‹#›</a:t>
            </a:fld>
            <a:endParaRPr lang="en-AU"/>
          </a:p>
        </p:txBody>
      </p:sp>
    </p:spTree>
    <p:extLst>
      <p:ext uri="{BB962C8B-B14F-4D97-AF65-F5344CB8AC3E}">
        <p14:creationId xmlns:p14="http://schemas.microsoft.com/office/powerpoint/2010/main" val="26480763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655203"/>
            <a:ext cx="12192000" cy="9235"/>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0" y="1168380"/>
            <a:ext cx="12256655" cy="9598"/>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684655" y="1185627"/>
            <a:ext cx="8678" cy="5672373"/>
          </a:xfrm>
          <a:prstGeom prst="line">
            <a:avLst/>
          </a:prstGeom>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255036" y="151261"/>
            <a:ext cx="2023631" cy="375552"/>
          </a:xfrm>
          <a:prstGeom prst="rect">
            <a:avLst/>
          </a:prstGeom>
        </p:spPr>
        <p:txBody>
          <a:bodyPr wrap="none">
            <a:spAutoFit/>
          </a:bodyPr>
          <a:lstStyle/>
          <a:p>
            <a:pPr marL="71755" marR="71755">
              <a:lnSpc>
                <a:spcPct val="107000"/>
              </a:lnSpc>
              <a:spcAft>
                <a:spcPts val="800"/>
              </a:spcAft>
            </a:pPr>
            <a:r>
              <a:rPr lang="en-AU" dirty="0">
                <a:latin typeface="Calibri" panose="020F0502020204030204" pitchFamily="34" charset="0"/>
                <a:ea typeface="Calibri" panose="020F0502020204030204" pitchFamily="34" charset="0"/>
                <a:cs typeface="Times New Roman" panose="02020603050405020304" pitchFamily="18" charset="0"/>
              </a:rPr>
              <a:t>Topic:  </a:t>
            </a:r>
            <a:r>
              <a:rPr lang="en-AU" dirty="0" smtClean="0">
                <a:latin typeface="Calibri" panose="020F0502020204030204" pitchFamily="34" charset="0"/>
                <a:ea typeface="Calibri" panose="020F0502020204030204" pitchFamily="34" charset="0"/>
                <a:cs typeface="Times New Roman" panose="02020603050405020304" pitchFamily="18" charset="0"/>
              </a:rPr>
              <a:t>Pythagoras</a:t>
            </a:r>
            <a:endParaRPr lang="en-AU" dirty="0">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8" name="Table 7"/>
          <p:cNvGraphicFramePr>
            <a:graphicFrameLocks noGrp="1"/>
          </p:cNvGraphicFramePr>
          <p:nvPr>
            <p:extLst>
              <p:ext uri="{D42A27DB-BD31-4B8C-83A1-F6EECF244321}">
                <p14:modId xmlns:p14="http://schemas.microsoft.com/office/powerpoint/2010/main" val="1188273714"/>
              </p:ext>
            </p:extLst>
          </p:nvPr>
        </p:nvGraphicFramePr>
        <p:xfrm>
          <a:off x="75334" y="664438"/>
          <a:ext cx="10177030" cy="503942"/>
        </p:xfrm>
        <a:graphic>
          <a:graphicData uri="http://schemas.openxmlformats.org/drawingml/2006/table">
            <a:tbl>
              <a:tblPr firstRow="1" firstCol="1" bandRow="1">
                <a:tableStyleId>{5C22544A-7EE6-4342-B048-85BDC9FD1C3A}</a:tableStyleId>
              </a:tblPr>
              <a:tblGrid>
                <a:gridCol w="10177030">
                  <a:extLst>
                    <a:ext uri="{9D8B030D-6E8A-4147-A177-3AD203B41FA5}">
                      <a16:colId xmlns:a16="http://schemas.microsoft.com/office/drawing/2014/main" val="2931469201"/>
                    </a:ext>
                  </a:extLst>
                </a:gridCol>
              </a:tblGrid>
              <a:tr h="503942">
                <a:tc>
                  <a:txBody>
                    <a:bodyPr/>
                    <a:lstStyle/>
                    <a:p>
                      <a:pPr>
                        <a:lnSpc>
                          <a:spcPct val="107000"/>
                        </a:lnSpc>
                        <a:spcAft>
                          <a:spcPts val="800"/>
                        </a:spcAft>
                      </a:pPr>
                      <a:r>
                        <a:rPr lang="en-AU" sz="2400" b="0" dirty="0">
                          <a:solidFill>
                            <a:schemeClr val="tx1"/>
                          </a:solidFill>
                          <a:effectLst/>
                        </a:rPr>
                        <a:t>EQ: </a:t>
                      </a:r>
                      <a:r>
                        <a:rPr lang="en-AU" sz="2400" b="0" dirty="0" smtClean="0">
                          <a:solidFill>
                            <a:schemeClr val="tx1"/>
                          </a:solidFill>
                          <a:effectLst/>
                        </a:rPr>
                        <a:t>what is</a:t>
                      </a:r>
                      <a:r>
                        <a:rPr lang="en-AU" sz="2400" b="0" baseline="0" dirty="0" smtClean="0">
                          <a:solidFill>
                            <a:schemeClr val="tx1"/>
                          </a:solidFill>
                          <a:effectLst/>
                        </a:rPr>
                        <a:t> special about right-angled triangles?</a:t>
                      </a:r>
                      <a:endParaRPr lang="en-AU" sz="2400" b="0" dirty="0">
                        <a:solidFill>
                          <a:schemeClr val="tx1"/>
                        </a:solidFill>
                        <a:effectLst/>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64641878"/>
                  </a:ext>
                </a:extLst>
              </a:tr>
            </a:tbl>
          </a:graphicData>
        </a:graphic>
      </p:graphicFrame>
      <p:sp>
        <p:nvSpPr>
          <p:cNvPr id="9" name="Title 1"/>
          <p:cNvSpPr>
            <a:spLocks noGrp="1"/>
          </p:cNvSpPr>
          <p:nvPr>
            <p:ph type="title"/>
          </p:nvPr>
        </p:nvSpPr>
        <p:spPr>
          <a:xfrm>
            <a:off x="3149600" y="1388862"/>
            <a:ext cx="7772400" cy="1143000"/>
          </a:xfrm>
        </p:spPr>
        <p:txBody>
          <a:bodyPr/>
          <a:lstStyle/>
          <a:p>
            <a:r>
              <a:rPr lang="en-GB" altLang="en-US" dirty="0" smtClean="0"/>
              <a:t>Pythagoras’ Theorem</a:t>
            </a:r>
          </a:p>
        </p:txBody>
      </p:sp>
      <p:pic>
        <p:nvPicPr>
          <p:cNvPr id="10" name="Content Placeholder 3" descr="bd10877_"/>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026570" y="2629766"/>
            <a:ext cx="2705100" cy="3810000"/>
          </a:xfrm>
          <a:noFill/>
        </p:spPr>
      </p:pic>
      <p:sp>
        <p:nvSpPr>
          <p:cNvPr id="11" name="TextBox 4"/>
          <p:cNvSpPr txBox="1">
            <a:spLocks noChangeArrowheads="1"/>
          </p:cNvSpPr>
          <p:nvPr/>
        </p:nvSpPr>
        <p:spPr bwMode="auto">
          <a:xfrm>
            <a:off x="6414511" y="3045402"/>
            <a:ext cx="5400675"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800" dirty="0"/>
              <a:t>Pythagoras discovered that for any right angled triangle, the area of the square drawn on the hypotenuse (the longest side, opposite the right angle) is equal to the sum of the areas of the squares drawn on the other two sides.</a:t>
            </a:r>
          </a:p>
        </p:txBody>
      </p:sp>
    </p:spTree>
    <p:extLst>
      <p:ext uri="{BB962C8B-B14F-4D97-AF65-F5344CB8AC3E}">
        <p14:creationId xmlns:p14="http://schemas.microsoft.com/office/powerpoint/2010/main" val="30023924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655203"/>
            <a:ext cx="12192000" cy="9235"/>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0" y="1168380"/>
            <a:ext cx="12256655" cy="9598"/>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684655" y="1185627"/>
            <a:ext cx="8678" cy="5672373"/>
          </a:xfrm>
          <a:prstGeom prst="line">
            <a:avLst/>
          </a:prstGeom>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255036" y="151261"/>
            <a:ext cx="2023631" cy="375552"/>
          </a:xfrm>
          <a:prstGeom prst="rect">
            <a:avLst/>
          </a:prstGeom>
        </p:spPr>
        <p:txBody>
          <a:bodyPr wrap="none">
            <a:spAutoFit/>
          </a:bodyPr>
          <a:lstStyle/>
          <a:p>
            <a:pPr marL="71755" marR="71755">
              <a:lnSpc>
                <a:spcPct val="107000"/>
              </a:lnSpc>
              <a:spcAft>
                <a:spcPts val="800"/>
              </a:spcAft>
            </a:pPr>
            <a:r>
              <a:rPr lang="en-AU" dirty="0">
                <a:latin typeface="Calibri" panose="020F0502020204030204" pitchFamily="34" charset="0"/>
                <a:ea typeface="Calibri" panose="020F0502020204030204" pitchFamily="34" charset="0"/>
                <a:cs typeface="Times New Roman" panose="02020603050405020304" pitchFamily="18" charset="0"/>
              </a:rPr>
              <a:t>Topic:  </a:t>
            </a:r>
            <a:r>
              <a:rPr lang="en-AU" dirty="0" smtClean="0">
                <a:latin typeface="Calibri" panose="020F0502020204030204" pitchFamily="34" charset="0"/>
                <a:ea typeface="Calibri" panose="020F0502020204030204" pitchFamily="34" charset="0"/>
                <a:cs typeface="Times New Roman" panose="02020603050405020304" pitchFamily="18" charset="0"/>
              </a:rPr>
              <a:t>Pythagoras</a:t>
            </a:r>
            <a:endParaRPr lang="en-AU" dirty="0">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8" name="Table 7"/>
          <p:cNvGraphicFramePr>
            <a:graphicFrameLocks noGrp="1"/>
          </p:cNvGraphicFramePr>
          <p:nvPr/>
        </p:nvGraphicFramePr>
        <p:xfrm>
          <a:off x="75334" y="664438"/>
          <a:ext cx="10177030" cy="503942"/>
        </p:xfrm>
        <a:graphic>
          <a:graphicData uri="http://schemas.openxmlformats.org/drawingml/2006/table">
            <a:tbl>
              <a:tblPr firstRow="1" firstCol="1" bandRow="1">
                <a:tableStyleId>{5C22544A-7EE6-4342-B048-85BDC9FD1C3A}</a:tableStyleId>
              </a:tblPr>
              <a:tblGrid>
                <a:gridCol w="10177030">
                  <a:extLst>
                    <a:ext uri="{9D8B030D-6E8A-4147-A177-3AD203B41FA5}">
                      <a16:colId xmlns:a16="http://schemas.microsoft.com/office/drawing/2014/main" val="2931469201"/>
                    </a:ext>
                  </a:extLst>
                </a:gridCol>
              </a:tblGrid>
              <a:tr h="503942">
                <a:tc>
                  <a:txBody>
                    <a:bodyPr/>
                    <a:lstStyle/>
                    <a:p>
                      <a:pPr>
                        <a:lnSpc>
                          <a:spcPct val="107000"/>
                        </a:lnSpc>
                        <a:spcAft>
                          <a:spcPts val="800"/>
                        </a:spcAft>
                      </a:pPr>
                      <a:r>
                        <a:rPr lang="en-AU" sz="2400" b="0" dirty="0">
                          <a:solidFill>
                            <a:schemeClr val="tx1"/>
                          </a:solidFill>
                          <a:effectLst/>
                        </a:rPr>
                        <a:t>EQ: </a:t>
                      </a:r>
                      <a:r>
                        <a:rPr lang="en-AU" sz="2400" b="0" dirty="0" smtClean="0">
                          <a:solidFill>
                            <a:schemeClr val="tx1"/>
                          </a:solidFill>
                          <a:effectLst/>
                        </a:rPr>
                        <a:t>what is</a:t>
                      </a:r>
                      <a:r>
                        <a:rPr lang="en-AU" sz="2400" b="0" baseline="0" dirty="0" smtClean="0">
                          <a:solidFill>
                            <a:schemeClr val="tx1"/>
                          </a:solidFill>
                          <a:effectLst/>
                        </a:rPr>
                        <a:t> special about right-angled triangles?</a:t>
                      </a:r>
                      <a:endParaRPr lang="en-AU" sz="2400" b="0" dirty="0">
                        <a:solidFill>
                          <a:schemeClr val="tx1"/>
                        </a:solidFill>
                        <a:effectLst/>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64641878"/>
                  </a:ext>
                </a:extLst>
              </a:tr>
            </a:tbl>
          </a:graphicData>
        </a:graphic>
      </p:graphicFrame>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l="19923" t="21655" r="23907" b="17314"/>
          <a:stretch>
            <a:fillRect/>
          </a:stretch>
        </p:blipFill>
        <p:spPr bwMode="auto">
          <a:xfrm>
            <a:off x="2187142" y="1353704"/>
            <a:ext cx="8369300" cy="511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042984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655203"/>
            <a:ext cx="12192000" cy="9235"/>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0" y="1168380"/>
            <a:ext cx="12256655" cy="9598"/>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684655" y="1185627"/>
            <a:ext cx="8678" cy="5672373"/>
          </a:xfrm>
          <a:prstGeom prst="line">
            <a:avLst/>
          </a:prstGeom>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255036" y="151261"/>
            <a:ext cx="2023631" cy="375552"/>
          </a:xfrm>
          <a:prstGeom prst="rect">
            <a:avLst/>
          </a:prstGeom>
        </p:spPr>
        <p:txBody>
          <a:bodyPr wrap="none">
            <a:spAutoFit/>
          </a:bodyPr>
          <a:lstStyle/>
          <a:p>
            <a:pPr marL="71755" marR="71755">
              <a:lnSpc>
                <a:spcPct val="107000"/>
              </a:lnSpc>
              <a:spcAft>
                <a:spcPts val="800"/>
              </a:spcAft>
            </a:pPr>
            <a:r>
              <a:rPr lang="en-AU" dirty="0">
                <a:latin typeface="Calibri" panose="020F0502020204030204" pitchFamily="34" charset="0"/>
                <a:ea typeface="Calibri" panose="020F0502020204030204" pitchFamily="34" charset="0"/>
                <a:cs typeface="Times New Roman" panose="02020603050405020304" pitchFamily="18" charset="0"/>
              </a:rPr>
              <a:t>Topic:  </a:t>
            </a:r>
            <a:r>
              <a:rPr lang="en-AU" dirty="0" smtClean="0">
                <a:latin typeface="Calibri" panose="020F0502020204030204" pitchFamily="34" charset="0"/>
                <a:ea typeface="Calibri" panose="020F0502020204030204" pitchFamily="34" charset="0"/>
                <a:cs typeface="Times New Roman" panose="02020603050405020304" pitchFamily="18" charset="0"/>
              </a:rPr>
              <a:t>Pythagoras</a:t>
            </a:r>
            <a:endParaRPr lang="en-AU" dirty="0">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8" name="Table 7"/>
          <p:cNvGraphicFramePr>
            <a:graphicFrameLocks noGrp="1"/>
          </p:cNvGraphicFramePr>
          <p:nvPr/>
        </p:nvGraphicFramePr>
        <p:xfrm>
          <a:off x="75334" y="664438"/>
          <a:ext cx="10177030" cy="503942"/>
        </p:xfrm>
        <a:graphic>
          <a:graphicData uri="http://schemas.openxmlformats.org/drawingml/2006/table">
            <a:tbl>
              <a:tblPr firstRow="1" firstCol="1" bandRow="1">
                <a:tableStyleId>{5C22544A-7EE6-4342-B048-85BDC9FD1C3A}</a:tableStyleId>
              </a:tblPr>
              <a:tblGrid>
                <a:gridCol w="10177030">
                  <a:extLst>
                    <a:ext uri="{9D8B030D-6E8A-4147-A177-3AD203B41FA5}">
                      <a16:colId xmlns:a16="http://schemas.microsoft.com/office/drawing/2014/main" val="2931469201"/>
                    </a:ext>
                  </a:extLst>
                </a:gridCol>
              </a:tblGrid>
              <a:tr h="503942">
                <a:tc>
                  <a:txBody>
                    <a:bodyPr/>
                    <a:lstStyle/>
                    <a:p>
                      <a:pPr>
                        <a:lnSpc>
                          <a:spcPct val="107000"/>
                        </a:lnSpc>
                        <a:spcAft>
                          <a:spcPts val="800"/>
                        </a:spcAft>
                      </a:pPr>
                      <a:r>
                        <a:rPr lang="en-AU" sz="2400" b="0" dirty="0">
                          <a:solidFill>
                            <a:schemeClr val="tx1"/>
                          </a:solidFill>
                          <a:effectLst/>
                        </a:rPr>
                        <a:t>EQ: </a:t>
                      </a:r>
                      <a:r>
                        <a:rPr lang="en-AU" sz="2400" b="0" dirty="0" smtClean="0">
                          <a:solidFill>
                            <a:schemeClr val="tx1"/>
                          </a:solidFill>
                          <a:effectLst/>
                        </a:rPr>
                        <a:t>what is</a:t>
                      </a:r>
                      <a:r>
                        <a:rPr lang="en-AU" sz="2400" b="0" baseline="0" dirty="0" smtClean="0">
                          <a:solidFill>
                            <a:schemeClr val="tx1"/>
                          </a:solidFill>
                          <a:effectLst/>
                        </a:rPr>
                        <a:t> special about right-angled triangles?</a:t>
                      </a:r>
                      <a:endParaRPr lang="en-AU" sz="2400" b="0" dirty="0">
                        <a:solidFill>
                          <a:schemeClr val="tx1"/>
                        </a:solidFill>
                        <a:effectLst/>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64641878"/>
                  </a:ext>
                </a:extLst>
              </a:tr>
            </a:tbl>
          </a:graphicData>
        </a:graphic>
      </p:graphicFrame>
      <p:sp>
        <p:nvSpPr>
          <p:cNvPr id="18" name="Right Triangle 17"/>
          <p:cNvSpPr/>
          <p:nvPr/>
        </p:nvSpPr>
        <p:spPr>
          <a:xfrm>
            <a:off x="2615768" y="1470602"/>
            <a:ext cx="3384550" cy="4392613"/>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a:p>
        </p:txBody>
      </p:sp>
      <p:sp>
        <p:nvSpPr>
          <p:cNvPr id="19" name="Rectangle 18"/>
          <p:cNvSpPr/>
          <p:nvPr/>
        </p:nvSpPr>
        <p:spPr>
          <a:xfrm>
            <a:off x="2615768" y="5502852"/>
            <a:ext cx="360362" cy="3603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a:p>
        </p:txBody>
      </p:sp>
      <p:sp>
        <p:nvSpPr>
          <p:cNvPr id="20" name="TextBox 5"/>
          <p:cNvSpPr txBox="1">
            <a:spLocks noChangeArrowheads="1"/>
          </p:cNvSpPr>
          <p:nvPr/>
        </p:nvSpPr>
        <p:spPr bwMode="auto">
          <a:xfrm>
            <a:off x="2110943" y="3413702"/>
            <a:ext cx="6492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800"/>
              <a:t>a</a:t>
            </a:r>
          </a:p>
        </p:txBody>
      </p:sp>
      <p:sp>
        <p:nvSpPr>
          <p:cNvPr id="21" name="TextBox 6"/>
          <p:cNvSpPr txBox="1">
            <a:spLocks noChangeArrowheads="1"/>
          </p:cNvSpPr>
          <p:nvPr/>
        </p:nvSpPr>
        <p:spPr bwMode="auto">
          <a:xfrm>
            <a:off x="3839730" y="5863215"/>
            <a:ext cx="6477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800"/>
              <a:t>b</a:t>
            </a:r>
          </a:p>
        </p:txBody>
      </p:sp>
      <p:sp>
        <p:nvSpPr>
          <p:cNvPr id="22" name="TextBox 7"/>
          <p:cNvSpPr txBox="1">
            <a:spLocks noChangeArrowheads="1"/>
          </p:cNvSpPr>
          <p:nvPr/>
        </p:nvSpPr>
        <p:spPr bwMode="auto">
          <a:xfrm>
            <a:off x="4342968" y="3270827"/>
            <a:ext cx="64928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800"/>
              <a:t>c</a:t>
            </a:r>
          </a:p>
        </p:txBody>
      </p:sp>
      <p:cxnSp>
        <p:nvCxnSpPr>
          <p:cNvPr id="23" name="Straight Arrow Connector 22"/>
          <p:cNvCxnSpPr/>
          <p:nvPr/>
        </p:nvCxnSpPr>
        <p:spPr>
          <a:xfrm flipH="1">
            <a:off x="4200093" y="1902402"/>
            <a:ext cx="287337" cy="136842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4" name="TextBox 23"/>
          <p:cNvSpPr txBox="1"/>
          <p:nvPr/>
        </p:nvSpPr>
        <p:spPr>
          <a:xfrm>
            <a:off x="4055630" y="1470602"/>
            <a:ext cx="2232025" cy="522288"/>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fontAlgn="auto">
              <a:spcBef>
                <a:spcPts val="0"/>
              </a:spcBef>
              <a:spcAft>
                <a:spcPts val="0"/>
              </a:spcAft>
              <a:defRPr/>
            </a:pPr>
            <a:r>
              <a:rPr lang="en-GB" sz="2800" dirty="0"/>
              <a:t>Hypotenuse</a:t>
            </a:r>
          </a:p>
        </p:txBody>
      </p:sp>
      <p:sp>
        <p:nvSpPr>
          <p:cNvPr id="25" name="Cloud 24"/>
          <p:cNvSpPr/>
          <p:nvPr/>
        </p:nvSpPr>
        <p:spPr>
          <a:xfrm rot="576829">
            <a:off x="5476443" y="2402465"/>
            <a:ext cx="4497387" cy="2736850"/>
          </a:xfrm>
          <a:prstGeom prst="cloud">
            <a:avLst/>
          </a:prstGeom>
          <a:ln w="57150"/>
        </p:spPr>
        <p:style>
          <a:lnRef idx="2">
            <a:schemeClr val="accent4"/>
          </a:lnRef>
          <a:fillRef idx="1">
            <a:schemeClr val="lt1"/>
          </a:fillRef>
          <a:effectRef idx="0">
            <a:schemeClr val="accent4"/>
          </a:effectRef>
          <a:fontRef idx="minor">
            <a:schemeClr val="dk1"/>
          </a:fontRef>
        </p:style>
        <p:txBody>
          <a:bodyPr anchor="ctr"/>
          <a:lstStyle/>
          <a:p>
            <a:pPr algn="ctr" fontAlgn="auto">
              <a:spcBef>
                <a:spcPts val="0"/>
              </a:spcBef>
              <a:spcAft>
                <a:spcPts val="0"/>
              </a:spcAft>
              <a:defRPr/>
            </a:pPr>
            <a:endParaRPr lang="en-GB"/>
          </a:p>
        </p:txBody>
      </p:sp>
      <p:sp>
        <p:nvSpPr>
          <p:cNvPr id="26" name="TextBox 13"/>
          <p:cNvSpPr txBox="1">
            <a:spLocks noChangeArrowheads="1"/>
          </p:cNvSpPr>
          <p:nvPr/>
        </p:nvSpPr>
        <p:spPr bwMode="auto">
          <a:xfrm>
            <a:off x="6071755" y="3197802"/>
            <a:ext cx="345598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4800"/>
              <a:t>a</a:t>
            </a:r>
            <a:r>
              <a:rPr lang="en-GB" altLang="en-US" sz="4800" baseline="30000"/>
              <a:t>2</a:t>
            </a:r>
            <a:r>
              <a:rPr lang="en-GB" altLang="en-US" sz="4800"/>
              <a:t> + b</a:t>
            </a:r>
            <a:r>
              <a:rPr lang="en-GB" altLang="en-US" sz="4800" baseline="30000"/>
              <a:t>2</a:t>
            </a:r>
            <a:r>
              <a:rPr lang="en-GB" altLang="en-US" sz="4800"/>
              <a:t> = c</a:t>
            </a:r>
            <a:r>
              <a:rPr lang="en-GB" altLang="en-US" sz="4800" baseline="30000"/>
              <a:t>2</a:t>
            </a:r>
          </a:p>
        </p:txBody>
      </p:sp>
    </p:spTree>
    <p:extLst>
      <p:ext uri="{BB962C8B-B14F-4D97-AF65-F5344CB8AC3E}">
        <p14:creationId xmlns:p14="http://schemas.microsoft.com/office/powerpoint/2010/main" val="6784699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GB" altLang="en-US" sz="3200"/>
              <a:t>We can use Pythagoras’ theorem to work out the missing side of triangles…</a:t>
            </a:r>
          </a:p>
        </p:txBody>
      </p:sp>
      <p:sp>
        <p:nvSpPr>
          <p:cNvPr id="12291" name="Content Placeholder 2"/>
          <p:cNvSpPr>
            <a:spLocks noGrp="1"/>
          </p:cNvSpPr>
          <p:nvPr>
            <p:ph sz="quarter" idx="1"/>
          </p:nvPr>
        </p:nvSpPr>
        <p:spPr>
          <a:xfrm>
            <a:off x="2438400" y="1700214"/>
            <a:ext cx="7772400" cy="4319587"/>
          </a:xfrm>
        </p:spPr>
        <p:txBody>
          <a:bodyPr/>
          <a:lstStyle/>
          <a:p>
            <a:r>
              <a:rPr lang="en-GB" altLang="en-US" dirty="0" smtClean="0"/>
              <a:t>Find the missing side, ‘x’</a:t>
            </a:r>
          </a:p>
        </p:txBody>
      </p:sp>
      <p:sp>
        <p:nvSpPr>
          <p:cNvPr id="4" name="Right Triangle 3"/>
          <p:cNvSpPr/>
          <p:nvPr/>
        </p:nvSpPr>
        <p:spPr>
          <a:xfrm>
            <a:off x="3143250" y="2420938"/>
            <a:ext cx="2808288" cy="3313112"/>
          </a:xfrm>
          <a:prstGeom prst="rtTriangl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endParaRPr lang="en-GB"/>
          </a:p>
        </p:txBody>
      </p:sp>
      <p:sp>
        <p:nvSpPr>
          <p:cNvPr id="5" name="Rectangle 4"/>
          <p:cNvSpPr/>
          <p:nvPr/>
        </p:nvSpPr>
        <p:spPr>
          <a:xfrm>
            <a:off x="3143250" y="5402264"/>
            <a:ext cx="306388" cy="331787"/>
          </a:xfrm>
          <a:prstGeom prst="rect">
            <a:avLst/>
          </a:prstGeom>
        </p:spPr>
        <p:style>
          <a:lnRef idx="2">
            <a:schemeClr val="accent3"/>
          </a:lnRef>
          <a:fillRef idx="1">
            <a:schemeClr val="lt1"/>
          </a:fillRef>
          <a:effectRef idx="0">
            <a:schemeClr val="accent3"/>
          </a:effectRef>
          <a:fontRef idx="minor">
            <a:schemeClr val="dk1"/>
          </a:fontRef>
        </p:style>
        <p:txBody>
          <a:bodyPr anchor="ctr"/>
          <a:lstStyle/>
          <a:p>
            <a:pPr algn="ctr">
              <a:defRPr/>
            </a:pPr>
            <a:endParaRPr lang="en-GB"/>
          </a:p>
        </p:txBody>
      </p:sp>
      <p:sp>
        <p:nvSpPr>
          <p:cNvPr id="12294" name="TextBox 3"/>
          <p:cNvSpPr txBox="1">
            <a:spLocks noChangeArrowheads="1"/>
          </p:cNvSpPr>
          <p:nvPr/>
        </p:nvSpPr>
        <p:spPr bwMode="auto">
          <a:xfrm>
            <a:off x="4079875" y="5732464"/>
            <a:ext cx="1276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800"/>
              <a:t>6cm</a:t>
            </a:r>
            <a:endParaRPr lang="en-GB" altLang="en-US" sz="3600"/>
          </a:p>
        </p:txBody>
      </p:sp>
      <p:sp>
        <p:nvSpPr>
          <p:cNvPr id="12295" name="TextBox 4"/>
          <p:cNvSpPr txBox="1">
            <a:spLocks noChangeArrowheads="1"/>
          </p:cNvSpPr>
          <p:nvPr/>
        </p:nvSpPr>
        <p:spPr bwMode="auto">
          <a:xfrm>
            <a:off x="2279651" y="3789364"/>
            <a:ext cx="86836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800"/>
              <a:t>8cm</a:t>
            </a:r>
          </a:p>
        </p:txBody>
      </p:sp>
      <p:sp>
        <p:nvSpPr>
          <p:cNvPr id="12296" name="TextBox 5"/>
          <p:cNvSpPr txBox="1">
            <a:spLocks noChangeArrowheads="1"/>
          </p:cNvSpPr>
          <p:nvPr/>
        </p:nvSpPr>
        <p:spPr bwMode="auto">
          <a:xfrm>
            <a:off x="4440238" y="3500439"/>
            <a:ext cx="1295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800" i="1"/>
              <a:t>x</a:t>
            </a:r>
            <a:r>
              <a:rPr lang="en-GB" altLang="en-US" sz="2800"/>
              <a:t> cm</a:t>
            </a:r>
            <a:endParaRPr lang="en-GB" altLang="en-US" sz="2800" i="1"/>
          </a:p>
        </p:txBody>
      </p:sp>
      <p:sp>
        <p:nvSpPr>
          <p:cNvPr id="10" name="Rectangle 9"/>
          <p:cNvSpPr/>
          <p:nvPr/>
        </p:nvSpPr>
        <p:spPr>
          <a:xfrm>
            <a:off x="7680326" y="2060575"/>
            <a:ext cx="1749197" cy="523220"/>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GB" sz="2800" dirty="0"/>
              <a:t>a</a:t>
            </a:r>
            <a:r>
              <a:rPr lang="en-GB" sz="2800" baseline="30000" dirty="0"/>
              <a:t>2</a:t>
            </a:r>
            <a:r>
              <a:rPr lang="en-GB" sz="2800" dirty="0"/>
              <a:t> + b</a:t>
            </a:r>
            <a:r>
              <a:rPr lang="en-GB" sz="2800" baseline="30000" dirty="0"/>
              <a:t>2</a:t>
            </a:r>
            <a:r>
              <a:rPr lang="en-GB" sz="2800" dirty="0"/>
              <a:t> = c</a:t>
            </a:r>
            <a:r>
              <a:rPr lang="en-GB" sz="2800" baseline="30000" dirty="0"/>
              <a:t>2</a:t>
            </a:r>
            <a:endParaRPr lang="en-GB" sz="2800" baseline="30000" dirty="0"/>
          </a:p>
        </p:txBody>
      </p:sp>
      <p:sp>
        <p:nvSpPr>
          <p:cNvPr id="11" name="TextBox 10"/>
          <p:cNvSpPr txBox="1">
            <a:spLocks noChangeArrowheads="1"/>
          </p:cNvSpPr>
          <p:nvPr/>
        </p:nvSpPr>
        <p:spPr bwMode="auto">
          <a:xfrm>
            <a:off x="4440238" y="3068639"/>
            <a:ext cx="6477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3200">
                <a:solidFill>
                  <a:schemeClr val="accent1"/>
                </a:solidFill>
              </a:rPr>
              <a:t>c</a:t>
            </a:r>
          </a:p>
        </p:txBody>
      </p:sp>
      <p:sp>
        <p:nvSpPr>
          <p:cNvPr id="12" name="TextBox 11"/>
          <p:cNvSpPr txBox="1">
            <a:spLocks noChangeArrowheads="1"/>
          </p:cNvSpPr>
          <p:nvPr/>
        </p:nvSpPr>
        <p:spPr bwMode="auto">
          <a:xfrm>
            <a:off x="2424113" y="3357563"/>
            <a:ext cx="6477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3200">
                <a:solidFill>
                  <a:schemeClr val="accent1"/>
                </a:solidFill>
              </a:rPr>
              <a:t>a</a:t>
            </a:r>
          </a:p>
        </p:txBody>
      </p:sp>
      <p:sp>
        <p:nvSpPr>
          <p:cNvPr id="13" name="TextBox 12"/>
          <p:cNvSpPr txBox="1">
            <a:spLocks noChangeArrowheads="1"/>
          </p:cNvSpPr>
          <p:nvPr/>
        </p:nvSpPr>
        <p:spPr bwMode="auto">
          <a:xfrm>
            <a:off x="4943475" y="5805488"/>
            <a:ext cx="6477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3200">
                <a:solidFill>
                  <a:schemeClr val="accent1"/>
                </a:solidFill>
              </a:rPr>
              <a:t>b</a:t>
            </a:r>
          </a:p>
        </p:txBody>
      </p:sp>
      <p:sp>
        <p:nvSpPr>
          <p:cNvPr id="14" name="TextBox 13"/>
          <p:cNvSpPr txBox="1">
            <a:spLocks noChangeArrowheads="1"/>
          </p:cNvSpPr>
          <p:nvPr/>
        </p:nvSpPr>
        <p:spPr bwMode="auto">
          <a:xfrm>
            <a:off x="6816726" y="2997200"/>
            <a:ext cx="208756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800"/>
              <a:t>8</a:t>
            </a:r>
            <a:r>
              <a:rPr lang="en-GB" altLang="en-US" sz="2800" baseline="30000"/>
              <a:t>2 </a:t>
            </a:r>
            <a:r>
              <a:rPr lang="en-GB" altLang="en-US" sz="2800"/>
              <a:t>+ 6</a:t>
            </a:r>
            <a:r>
              <a:rPr lang="en-GB" altLang="en-US" sz="2800" baseline="30000"/>
              <a:t>2 </a:t>
            </a:r>
            <a:r>
              <a:rPr lang="en-GB" altLang="en-US" sz="2800"/>
              <a:t>= x</a:t>
            </a:r>
            <a:r>
              <a:rPr lang="en-GB" altLang="en-US" sz="2800" baseline="30000"/>
              <a:t>2</a:t>
            </a:r>
            <a:endParaRPr lang="en-GB" altLang="en-US" sz="2800"/>
          </a:p>
        </p:txBody>
      </p:sp>
      <p:sp>
        <p:nvSpPr>
          <p:cNvPr id="15" name="TextBox 14"/>
          <p:cNvSpPr txBox="1">
            <a:spLocks noChangeArrowheads="1"/>
          </p:cNvSpPr>
          <p:nvPr/>
        </p:nvSpPr>
        <p:spPr bwMode="auto">
          <a:xfrm>
            <a:off x="6816726" y="3573464"/>
            <a:ext cx="2879725"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800"/>
              <a:t>64</a:t>
            </a:r>
            <a:r>
              <a:rPr lang="en-GB" altLang="en-US" sz="2800" baseline="30000"/>
              <a:t> </a:t>
            </a:r>
            <a:r>
              <a:rPr lang="en-GB" altLang="en-US" sz="2800"/>
              <a:t>+ 36</a:t>
            </a:r>
            <a:r>
              <a:rPr lang="en-GB" altLang="en-US" sz="2800" baseline="30000"/>
              <a:t> </a:t>
            </a:r>
            <a:r>
              <a:rPr lang="en-GB" altLang="en-US" sz="2800"/>
              <a:t>= x</a:t>
            </a:r>
            <a:r>
              <a:rPr lang="en-GB" altLang="en-US" sz="2800" baseline="30000"/>
              <a:t>2</a:t>
            </a:r>
          </a:p>
          <a:p>
            <a:endParaRPr lang="en-GB" altLang="en-US" sz="2800" baseline="30000"/>
          </a:p>
          <a:p>
            <a:r>
              <a:rPr lang="en-GB" altLang="en-US" sz="2800"/>
              <a:t>100 = x</a:t>
            </a:r>
            <a:r>
              <a:rPr lang="en-GB" altLang="en-US" sz="2800" baseline="30000"/>
              <a:t>2</a:t>
            </a:r>
            <a:endParaRPr lang="en-GB" altLang="en-US" sz="2800"/>
          </a:p>
        </p:txBody>
      </p:sp>
      <p:sp>
        <p:nvSpPr>
          <p:cNvPr id="16" name="TextBox 15"/>
          <p:cNvSpPr txBox="1">
            <a:spLocks noChangeArrowheads="1"/>
          </p:cNvSpPr>
          <p:nvPr/>
        </p:nvSpPr>
        <p:spPr bwMode="auto">
          <a:xfrm>
            <a:off x="6816726" y="4941888"/>
            <a:ext cx="2519363"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800" dirty="0"/>
              <a:t>x = √100</a:t>
            </a:r>
          </a:p>
          <a:p>
            <a:endParaRPr lang="en-GB" altLang="en-US" sz="2800" dirty="0"/>
          </a:p>
          <a:p>
            <a:r>
              <a:rPr lang="en-GB" altLang="en-US" sz="2800" dirty="0"/>
              <a:t>x = 10 cm</a:t>
            </a:r>
          </a:p>
        </p:txBody>
      </p:sp>
    </p:spTree>
    <p:extLst>
      <p:ext uri="{BB962C8B-B14F-4D97-AF65-F5344CB8AC3E}">
        <p14:creationId xmlns:p14="http://schemas.microsoft.com/office/powerpoint/2010/main" val="20483528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p:bldP spid="13" grpId="0"/>
      <p:bldP spid="14" grpId="0"/>
      <p:bldP spid="15"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992313" y="0"/>
            <a:ext cx="7772400" cy="1143000"/>
          </a:xfrm>
        </p:spPr>
        <p:txBody>
          <a:bodyPr/>
          <a:lstStyle/>
          <a:p>
            <a:r>
              <a:rPr lang="en-GB" altLang="en-US" smtClean="0"/>
              <a:t>Find the missing side ‘x’</a:t>
            </a:r>
          </a:p>
        </p:txBody>
      </p:sp>
      <p:pic>
        <p:nvPicPr>
          <p:cNvPr id="13315" name="Picture 2" descr="http://www.veryicon.com/icon/png/Business/Finance/Calculato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17291">
            <a:off x="9215438" y="282575"/>
            <a:ext cx="1358900"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ight Triangle 4"/>
          <p:cNvSpPr/>
          <p:nvPr/>
        </p:nvSpPr>
        <p:spPr>
          <a:xfrm>
            <a:off x="3143250" y="1484314"/>
            <a:ext cx="1511300" cy="4321175"/>
          </a:xfrm>
          <a:prstGeom prst="rtTriangl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endParaRPr lang="en-GB"/>
          </a:p>
        </p:txBody>
      </p:sp>
      <p:sp>
        <p:nvSpPr>
          <p:cNvPr id="6" name="Rectangle 5"/>
          <p:cNvSpPr/>
          <p:nvPr/>
        </p:nvSpPr>
        <p:spPr>
          <a:xfrm>
            <a:off x="3143250" y="5373688"/>
            <a:ext cx="431800" cy="431800"/>
          </a:xfrm>
          <a:prstGeom prst="rect">
            <a:avLst/>
          </a:prstGeom>
        </p:spPr>
        <p:style>
          <a:lnRef idx="2">
            <a:schemeClr val="accent3"/>
          </a:lnRef>
          <a:fillRef idx="1">
            <a:schemeClr val="lt1"/>
          </a:fillRef>
          <a:effectRef idx="0">
            <a:schemeClr val="accent3"/>
          </a:effectRef>
          <a:fontRef idx="minor">
            <a:schemeClr val="dk1"/>
          </a:fontRef>
        </p:style>
        <p:txBody>
          <a:bodyPr anchor="ctr"/>
          <a:lstStyle/>
          <a:p>
            <a:pPr algn="ctr">
              <a:defRPr/>
            </a:pPr>
            <a:endParaRPr lang="en-GB"/>
          </a:p>
        </p:txBody>
      </p:sp>
      <p:sp>
        <p:nvSpPr>
          <p:cNvPr id="13318" name="TextBox 3"/>
          <p:cNvSpPr txBox="1">
            <a:spLocks noChangeArrowheads="1"/>
          </p:cNvSpPr>
          <p:nvPr/>
        </p:nvSpPr>
        <p:spPr bwMode="auto">
          <a:xfrm>
            <a:off x="3359151" y="5805489"/>
            <a:ext cx="1800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800"/>
              <a:t>4cm</a:t>
            </a:r>
          </a:p>
        </p:txBody>
      </p:sp>
      <p:sp>
        <p:nvSpPr>
          <p:cNvPr id="13319" name="TextBox 4"/>
          <p:cNvSpPr txBox="1">
            <a:spLocks noChangeArrowheads="1"/>
          </p:cNvSpPr>
          <p:nvPr/>
        </p:nvSpPr>
        <p:spPr bwMode="auto">
          <a:xfrm>
            <a:off x="2135188" y="3213101"/>
            <a:ext cx="14414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800"/>
              <a:t>17cm</a:t>
            </a:r>
          </a:p>
        </p:txBody>
      </p:sp>
      <p:sp>
        <p:nvSpPr>
          <p:cNvPr id="13320" name="TextBox 5"/>
          <p:cNvSpPr txBox="1">
            <a:spLocks noChangeArrowheads="1"/>
          </p:cNvSpPr>
          <p:nvPr/>
        </p:nvSpPr>
        <p:spPr bwMode="auto">
          <a:xfrm>
            <a:off x="3935413" y="3429001"/>
            <a:ext cx="1295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800" i="1"/>
              <a:t>x</a:t>
            </a:r>
            <a:r>
              <a:rPr lang="en-GB" altLang="en-US" sz="2800"/>
              <a:t> cm</a:t>
            </a:r>
            <a:endParaRPr lang="en-GB" altLang="en-US" sz="2800" i="1"/>
          </a:p>
        </p:txBody>
      </p:sp>
      <p:sp>
        <p:nvSpPr>
          <p:cNvPr id="10" name="Rectangle 9"/>
          <p:cNvSpPr/>
          <p:nvPr/>
        </p:nvSpPr>
        <p:spPr>
          <a:xfrm>
            <a:off x="5303839" y="1773238"/>
            <a:ext cx="1749197" cy="523220"/>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GB" sz="2800" dirty="0"/>
              <a:t>a</a:t>
            </a:r>
            <a:r>
              <a:rPr lang="en-GB" sz="2800" baseline="30000" dirty="0"/>
              <a:t>2</a:t>
            </a:r>
            <a:r>
              <a:rPr lang="en-GB" sz="2800" dirty="0"/>
              <a:t> + b</a:t>
            </a:r>
            <a:r>
              <a:rPr lang="en-GB" sz="2800" baseline="30000" dirty="0"/>
              <a:t>2</a:t>
            </a:r>
            <a:r>
              <a:rPr lang="en-GB" sz="2800" dirty="0"/>
              <a:t> = c</a:t>
            </a:r>
            <a:r>
              <a:rPr lang="en-GB" sz="2800" baseline="30000" dirty="0"/>
              <a:t>2</a:t>
            </a:r>
            <a:endParaRPr lang="en-GB" sz="2800" baseline="30000" dirty="0"/>
          </a:p>
        </p:txBody>
      </p:sp>
      <p:sp>
        <p:nvSpPr>
          <p:cNvPr id="11" name="TextBox 10"/>
          <p:cNvSpPr txBox="1">
            <a:spLocks noChangeArrowheads="1"/>
          </p:cNvSpPr>
          <p:nvPr/>
        </p:nvSpPr>
        <p:spPr bwMode="auto">
          <a:xfrm>
            <a:off x="4079875" y="3068639"/>
            <a:ext cx="6477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3200">
                <a:solidFill>
                  <a:schemeClr val="accent1"/>
                </a:solidFill>
              </a:rPr>
              <a:t>c</a:t>
            </a:r>
          </a:p>
        </p:txBody>
      </p:sp>
      <p:sp>
        <p:nvSpPr>
          <p:cNvPr id="12" name="TextBox 11"/>
          <p:cNvSpPr txBox="1">
            <a:spLocks noChangeArrowheads="1"/>
          </p:cNvSpPr>
          <p:nvPr/>
        </p:nvSpPr>
        <p:spPr bwMode="auto">
          <a:xfrm>
            <a:off x="2424113" y="3716339"/>
            <a:ext cx="6477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3200">
                <a:solidFill>
                  <a:schemeClr val="accent1"/>
                </a:solidFill>
              </a:rPr>
              <a:t>a</a:t>
            </a:r>
          </a:p>
        </p:txBody>
      </p:sp>
      <p:sp>
        <p:nvSpPr>
          <p:cNvPr id="13" name="TextBox 12"/>
          <p:cNvSpPr txBox="1">
            <a:spLocks noChangeArrowheads="1"/>
          </p:cNvSpPr>
          <p:nvPr/>
        </p:nvSpPr>
        <p:spPr bwMode="auto">
          <a:xfrm>
            <a:off x="4151314" y="5949950"/>
            <a:ext cx="6492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3200">
                <a:solidFill>
                  <a:schemeClr val="accent1"/>
                </a:solidFill>
              </a:rPr>
              <a:t>b</a:t>
            </a:r>
          </a:p>
        </p:txBody>
      </p:sp>
      <p:sp>
        <p:nvSpPr>
          <p:cNvPr id="14" name="TextBox 13"/>
          <p:cNvSpPr txBox="1">
            <a:spLocks noChangeArrowheads="1"/>
          </p:cNvSpPr>
          <p:nvPr/>
        </p:nvSpPr>
        <p:spPr bwMode="auto">
          <a:xfrm>
            <a:off x="6167438" y="2708276"/>
            <a:ext cx="27368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800"/>
              <a:t>17</a:t>
            </a:r>
            <a:r>
              <a:rPr lang="en-GB" altLang="en-US" sz="2800" baseline="30000"/>
              <a:t>2 </a:t>
            </a:r>
            <a:r>
              <a:rPr lang="en-GB" altLang="en-US" sz="2800"/>
              <a:t>+ 4</a:t>
            </a:r>
            <a:r>
              <a:rPr lang="en-GB" altLang="en-US" sz="2800" baseline="30000"/>
              <a:t>2 </a:t>
            </a:r>
            <a:r>
              <a:rPr lang="en-GB" altLang="en-US" sz="2800"/>
              <a:t>= x</a:t>
            </a:r>
            <a:r>
              <a:rPr lang="en-GB" altLang="en-US" sz="2800" baseline="30000"/>
              <a:t>2</a:t>
            </a:r>
            <a:endParaRPr lang="en-GB" altLang="en-US" sz="2800"/>
          </a:p>
        </p:txBody>
      </p:sp>
      <p:sp>
        <p:nvSpPr>
          <p:cNvPr id="15" name="TextBox 14"/>
          <p:cNvSpPr txBox="1">
            <a:spLocks noChangeArrowheads="1"/>
          </p:cNvSpPr>
          <p:nvPr/>
        </p:nvSpPr>
        <p:spPr bwMode="auto">
          <a:xfrm>
            <a:off x="6240464" y="3357564"/>
            <a:ext cx="2879725"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800"/>
              <a:t>289</a:t>
            </a:r>
            <a:r>
              <a:rPr lang="en-GB" altLang="en-US" sz="2800" baseline="30000"/>
              <a:t> </a:t>
            </a:r>
            <a:r>
              <a:rPr lang="en-GB" altLang="en-US" sz="2800"/>
              <a:t>+ 16</a:t>
            </a:r>
            <a:r>
              <a:rPr lang="en-GB" altLang="en-US" sz="2800" baseline="30000"/>
              <a:t> </a:t>
            </a:r>
            <a:r>
              <a:rPr lang="en-GB" altLang="en-US" sz="2800"/>
              <a:t>= x</a:t>
            </a:r>
            <a:r>
              <a:rPr lang="en-GB" altLang="en-US" sz="2800" baseline="30000"/>
              <a:t>2</a:t>
            </a:r>
          </a:p>
          <a:p>
            <a:endParaRPr lang="en-GB" altLang="en-US" sz="2800" baseline="30000"/>
          </a:p>
          <a:p>
            <a:r>
              <a:rPr lang="en-GB" altLang="en-US" sz="2800"/>
              <a:t>305 = x</a:t>
            </a:r>
            <a:r>
              <a:rPr lang="en-GB" altLang="en-US" sz="2800" baseline="30000"/>
              <a:t>2</a:t>
            </a:r>
            <a:endParaRPr lang="en-GB" altLang="en-US" sz="2800"/>
          </a:p>
        </p:txBody>
      </p:sp>
      <p:sp>
        <p:nvSpPr>
          <p:cNvPr id="16" name="TextBox 15"/>
          <p:cNvSpPr txBox="1">
            <a:spLocks noChangeArrowheads="1"/>
          </p:cNvSpPr>
          <p:nvPr/>
        </p:nvSpPr>
        <p:spPr bwMode="auto">
          <a:xfrm>
            <a:off x="6311901" y="4797425"/>
            <a:ext cx="385127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800"/>
              <a:t>x = √305</a:t>
            </a:r>
          </a:p>
          <a:p>
            <a:endParaRPr lang="en-GB" altLang="en-US" sz="2800"/>
          </a:p>
          <a:p>
            <a:r>
              <a:rPr lang="en-GB" altLang="en-US" sz="2800"/>
              <a:t>x = 17.5 cm (to 1 d.p.)</a:t>
            </a:r>
          </a:p>
        </p:txBody>
      </p:sp>
    </p:spTree>
    <p:extLst>
      <p:ext uri="{BB962C8B-B14F-4D97-AF65-F5344CB8AC3E}">
        <p14:creationId xmlns:p14="http://schemas.microsoft.com/office/powerpoint/2010/main" val="19393403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p:bldP spid="13" grpId="0"/>
      <p:bldP spid="14" grpId="0"/>
      <p:bldP spid="15"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2495550" y="260351"/>
            <a:ext cx="7772400" cy="1012825"/>
          </a:xfrm>
        </p:spPr>
        <p:txBody>
          <a:bodyPr/>
          <a:lstStyle/>
          <a:p>
            <a:r>
              <a:rPr lang="en-GB" altLang="en-US" smtClean="0"/>
              <a:t>Find the missing side ‘x’</a:t>
            </a:r>
          </a:p>
        </p:txBody>
      </p:sp>
      <p:sp>
        <p:nvSpPr>
          <p:cNvPr id="4" name="Right Triangle 3"/>
          <p:cNvSpPr/>
          <p:nvPr/>
        </p:nvSpPr>
        <p:spPr>
          <a:xfrm>
            <a:off x="3432175" y="1989138"/>
            <a:ext cx="3024188" cy="3529012"/>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GB"/>
          </a:p>
        </p:txBody>
      </p:sp>
      <p:sp>
        <p:nvSpPr>
          <p:cNvPr id="5" name="Rectangle 4"/>
          <p:cNvSpPr/>
          <p:nvPr/>
        </p:nvSpPr>
        <p:spPr>
          <a:xfrm>
            <a:off x="3432176" y="5157788"/>
            <a:ext cx="360363" cy="360362"/>
          </a:xfrm>
          <a:prstGeom prst="rect">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GB"/>
          </a:p>
        </p:txBody>
      </p:sp>
      <p:sp>
        <p:nvSpPr>
          <p:cNvPr id="14341" name="TextBox 3"/>
          <p:cNvSpPr txBox="1">
            <a:spLocks noChangeArrowheads="1"/>
          </p:cNvSpPr>
          <p:nvPr/>
        </p:nvSpPr>
        <p:spPr bwMode="auto">
          <a:xfrm>
            <a:off x="5016500" y="3430589"/>
            <a:ext cx="21605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400"/>
              <a:t>13cm</a:t>
            </a:r>
          </a:p>
        </p:txBody>
      </p:sp>
      <p:sp>
        <p:nvSpPr>
          <p:cNvPr id="14342" name="TextBox 4"/>
          <p:cNvSpPr txBox="1">
            <a:spLocks noChangeArrowheads="1"/>
          </p:cNvSpPr>
          <p:nvPr/>
        </p:nvSpPr>
        <p:spPr bwMode="auto">
          <a:xfrm>
            <a:off x="2497138" y="3646489"/>
            <a:ext cx="2159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400"/>
              <a:t>12cm</a:t>
            </a:r>
          </a:p>
        </p:txBody>
      </p:sp>
      <p:sp>
        <p:nvSpPr>
          <p:cNvPr id="14343" name="TextBox 5"/>
          <p:cNvSpPr txBox="1">
            <a:spLocks noChangeArrowheads="1"/>
          </p:cNvSpPr>
          <p:nvPr/>
        </p:nvSpPr>
        <p:spPr bwMode="auto">
          <a:xfrm>
            <a:off x="4368800" y="5518151"/>
            <a:ext cx="21605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400" i="1"/>
              <a:t>x</a:t>
            </a:r>
            <a:r>
              <a:rPr lang="en-GB" altLang="en-US" sz="2400"/>
              <a:t> cm</a:t>
            </a:r>
          </a:p>
        </p:txBody>
      </p:sp>
      <p:sp>
        <p:nvSpPr>
          <p:cNvPr id="10" name="Rectangle 9"/>
          <p:cNvSpPr/>
          <p:nvPr/>
        </p:nvSpPr>
        <p:spPr>
          <a:xfrm>
            <a:off x="5808664" y="1557338"/>
            <a:ext cx="1749197" cy="523220"/>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GB" sz="2800" dirty="0"/>
              <a:t>a</a:t>
            </a:r>
            <a:r>
              <a:rPr lang="en-GB" sz="2800" baseline="30000" dirty="0"/>
              <a:t>2</a:t>
            </a:r>
            <a:r>
              <a:rPr lang="en-GB" sz="2800" dirty="0"/>
              <a:t> + b</a:t>
            </a:r>
            <a:r>
              <a:rPr lang="en-GB" sz="2800" baseline="30000" dirty="0"/>
              <a:t>2</a:t>
            </a:r>
            <a:r>
              <a:rPr lang="en-GB" sz="2800" dirty="0"/>
              <a:t> = c</a:t>
            </a:r>
            <a:r>
              <a:rPr lang="en-GB" sz="2800" baseline="30000" dirty="0"/>
              <a:t>2</a:t>
            </a:r>
            <a:endParaRPr lang="en-GB" sz="2800" baseline="30000" dirty="0"/>
          </a:p>
        </p:txBody>
      </p:sp>
      <p:sp>
        <p:nvSpPr>
          <p:cNvPr id="11" name="TextBox 10"/>
          <p:cNvSpPr txBox="1">
            <a:spLocks noChangeArrowheads="1"/>
          </p:cNvSpPr>
          <p:nvPr/>
        </p:nvSpPr>
        <p:spPr bwMode="auto">
          <a:xfrm>
            <a:off x="4583114" y="2852738"/>
            <a:ext cx="6492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3200">
                <a:solidFill>
                  <a:schemeClr val="accent1"/>
                </a:solidFill>
              </a:rPr>
              <a:t>c</a:t>
            </a:r>
          </a:p>
        </p:txBody>
      </p:sp>
      <p:sp>
        <p:nvSpPr>
          <p:cNvPr id="12" name="TextBox 11"/>
          <p:cNvSpPr txBox="1">
            <a:spLocks noChangeArrowheads="1"/>
          </p:cNvSpPr>
          <p:nvPr/>
        </p:nvSpPr>
        <p:spPr bwMode="auto">
          <a:xfrm>
            <a:off x="2855913" y="3284539"/>
            <a:ext cx="6477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3200">
                <a:solidFill>
                  <a:schemeClr val="accent1"/>
                </a:solidFill>
              </a:rPr>
              <a:t>a</a:t>
            </a:r>
          </a:p>
        </p:txBody>
      </p:sp>
      <p:sp>
        <p:nvSpPr>
          <p:cNvPr id="13" name="TextBox 12"/>
          <p:cNvSpPr txBox="1">
            <a:spLocks noChangeArrowheads="1"/>
          </p:cNvSpPr>
          <p:nvPr/>
        </p:nvSpPr>
        <p:spPr bwMode="auto">
          <a:xfrm>
            <a:off x="5159375" y="5589588"/>
            <a:ext cx="6492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3200">
                <a:solidFill>
                  <a:schemeClr val="accent1"/>
                </a:solidFill>
              </a:rPr>
              <a:t>b</a:t>
            </a:r>
          </a:p>
        </p:txBody>
      </p:sp>
      <p:sp>
        <p:nvSpPr>
          <p:cNvPr id="14" name="TextBox 13"/>
          <p:cNvSpPr txBox="1">
            <a:spLocks noChangeArrowheads="1"/>
          </p:cNvSpPr>
          <p:nvPr/>
        </p:nvSpPr>
        <p:spPr bwMode="auto">
          <a:xfrm>
            <a:off x="6816725" y="2565400"/>
            <a:ext cx="30241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800"/>
              <a:t>12</a:t>
            </a:r>
            <a:r>
              <a:rPr lang="en-GB" altLang="en-US" sz="2800" baseline="30000"/>
              <a:t>2 </a:t>
            </a:r>
            <a:r>
              <a:rPr lang="en-GB" altLang="en-US" sz="2800"/>
              <a:t>+ x</a:t>
            </a:r>
            <a:r>
              <a:rPr lang="en-GB" altLang="en-US" sz="2800" baseline="30000"/>
              <a:t>2 </a:t>
            </a:r>
            <a:r>
              <a:rPr lang="en-GB" altLang="en-US" sz="2800"/>
              <a:t>= 13</a:t>
            </a:r>
            <a:r>
              <a:rPr lang="en-GB" altLang="en-US" sz="2800" baseline="30000"/>
              <a:t>2</a:t>
            </a:r>
            <a:endParaRPr lang="en-GB" altLang="en-US" sz="2800"/>
          </a:p>
        </p:txBody>
      </p:sp>
      <p:sp>
        <p:nvSpPr>
          <p:cNvPr id="15" name="TextBox 14"/>
          <p:cNvSpPr txBox="1">
            <a:spLocks noChangeArrowheads="1"/>
          </p:cNvSpPr>
          <p:nvPr/>
        </p:nvSpPr>
        <p:spPr bwMode="auto">
          <a:xfrm>
            <a:off x="6816726" y="3213100"/>
            <a:ext cx="2879725" cy="167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800"/>
              <a:t>144 + x</a:t>
            </a:r>
            <a:r>
              <a:rPr lang="en-GB" altLang="en-US" sz="2800" baseline="30000"/>
              <a:t>2 </a:t>
            </a:r>
            <a:r>
              <a:rPr lang="en-GB" altLang="en-US" sz="2800"/>
              <a:t>= 169</a:t>
            </a:r>
            <a:endParaRPr lang="en-GB" altLang="en-US" sz="2800" baseline="30000"/>
          </a:p>
          <a:p>
            <a:endParaRPr lang="en-GB" altLang="en-US" sz="2800" baseline="30000"/>
          </a:p>
          <a:p>
            <a:r>
              <a:rPr lang="en-GB" altLang="en-US" sz="2800"/>
              <a:t>x</a:t>
            </a:r>
            <a:r>
              <a:rPr lang="en-GB" altLang="en-US" sz="2800" baseline="30000"/>
              <a:t>2 </a:t>
            </a:r>
            <a:r>
              <a:rPr lang="en-GB" altLang="en-US" sz="2800"/>
              <a:t>= 169 – 144</a:t>
            </a:r>
          </a:p>
          <a:p>
            <a:r>
              <a:rPr lang="en-GB" altLang="en-US" sz="2800"/>
              <a:t>    = 25</a:t>
            </a:r>
          </a:p>
        </p:txBody>
      </p:sp>
      <p:sp>
        <p:nvSpPr>
          <p:cNvPr id="16" name="TextBox 15"/>
          <p:cNvSpPr txBox="1">
            <a:spLocks noChangeArrowheads="1"/>
          </p:cNvSpPr>
          <p:nvPr/>
        </p:nvSpPr>
        <p:spPr bwMode="auto">
          <a:xfrm>
            <a:off x="6816726" y="4941888"/>
            <a:ext cx="2519363"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800"/>
              <a:t>x = √25</a:t>
            </a:r>
          </a:p>
          <a:p>
            <a:endParaRPr lang="en-GB" altLang="en-US" sz="2800"/>
          </a:p>
          <a:p>
            <a:r>
              <a:rPr lang="en-GB" altLang="en-US" sz="2800"/>
              <a:t>x = 5 cm</a:t>
            </a:r>
          </a:p>
        </p:txBody>
      </p:sp>
    </p:spTree>
    <p:extLst>
      <p:ext uri="{BB962C8B-B14F-4D97-AF65-F5344CB8AC3E}">
        <p14:creationId xmlns:p14="http://schemas.microsoft.com/office/powerpoint/2010/main" val="4223200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5">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p:bldP spid="13" grpId="0"/>
      <p:bldP spid="14"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ight Triangle 16"/>
          <p:cNvSpPr/>
          <p:nvPr/>
        </p:nvSpPr>
        <p:spPr>
          <a:xfrm>
            <a:off x="3432175" y="1989138"/>
            <a:ext cx="3024188" cy="3529012"/>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GB"/>
          </a:p>
        </p:txBody>
      </p:sp>
      <p:sp>
        <p:nvSpPr>
          <p:cNvPr id="15363" name="Title 1"/>
          <p:cNvSpPr>
            <a:spLocks noGrp="1"/>
          </p:cNvSpPr>
          <p:nvPr>
            <p:ph type="title"/>
          </p:nvPr>
        </p:nvSpPr>
        <p:spPr>
          <a:xfrm>
            <a:off x="2495550" y="260351"/>
            <a:ext cx="7772400" cy="1012825"/>
          </a:xfrm>
        </p:spPr>
        <p:txBody>
          <a:bodyPr/>
          <a:lstStyle/>
          <a:p>
            <a:r>
              <a:rPr lang="en-GB" altLang="en-US" smtClean="0"/>
              <a:t>Find the missing side ‘x’</a:t>
            </a:r>
          </a:p>
        </p:txBody>
      </p:sp>
      <p:sp>
        <p:nvSpPr>
          <p:cNvPr id="6" name="Rectangle 5"/>
          <p:cNvSpPr/>
          <p:nvPr/>
        </p:nvSpPr>
        <p:spPr>
          <a:xfrm>
            <a:off x="3432176" y="5157788"/>
            <a:ext cx="360363" cy="360362"/>
          </a:xfrm>
          <a:prstGeom prst="rect">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GB"/>
          </a:p>
        </p:txBody>
      </p:sp>
      <p:sp>
        <p:nvSpPr>
          <p:cNvPr id="10" name="Rectangle 9"/>
          <p:cNvSpPr/>
          <p:nvPr/>
        </p:nvSpPr>
        <p:spPr>
          <a:xfrm>
            <a:off x="5808664" y="1557338"/>
            <a:ext cx="1749197" cy="523220"/>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GB" sz="2800" dirty="0"/>
              <a:t>a</a:t>
            </a:r>
            <a:r>
              <a:rPr lang="en-GB" sz="2800" baseline="30000" dirty="0"/>
              <a:t>2</a:t>
            </a:r>
            <a:r>
              <a:rPr lang="en-GB" sz="2800" dirty="0"/>
              <a:t> + b</a:t>
            </a:r>
            <a:r>
              <a:rPr lang="en-GB" sz="2800" baseline="30000" dirty="0"/>
              <a:t>2</a:t>
            </a:r>
            <a:r>
              <a:rPr lang="en-GB" sz="2800" dirty="0"/>
              <a:t> = c</a:t>
            </a:r>
            <a:r>
              <a:rPr lang="en-GB" sz="2800" baseline="30000" dirty="0"/>
              <a:t>2</a:t>
            </a:r>
            <a:endParaRPr lang="en-GB" sz="2800" baseline="30000" dirty="0"/>
          </a:p>
        </p:txBody>
      </p:sp>
      <p:sp>
        <p:nvSpPr>
          <p:cNvPr id="11" name="TextBox 10"/>
          <p:cNvSpPr txBox="1">
            <a:spLocks noChangeArrowheads="1"/>
          </p:cNvSpPr>
          <p:nvPr/>
        </p:nvSpPr>
        <p:spPr bwMode="auto">
          <a:xfrm>
            <a:off x="4583114" y="2852738"/>
            <a:ext cx="6492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3200">
                <a:solidFill>
                  <a:schemeClr val="accent1"/>
                </a:solidFill>
              </a:rPr>
              <a:t>c</a:t>
            </a:r>
          </a:p>
        </p:txBody>
      </p:sp>
      <p:sp>
        <p:nvSpPr>
          <p:cNvPr id="12" name="TextBox 11"/>
          <p:cNvSpPr txBox="1">
            <a:spLocks noChangeArrowheads="1"/>
          </p:cNvSpPr>
          <p:nvPr/>
        </p:nvSpPr>
        <p:spPr bwMode="auto">
          <a:xfrm>
            <a:off x="2855913" y="3284539"/>
            <a:ext cx="6477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3200">
                <a:solidFill>
                  <a:schemeClr val="accent1"/>
                </a:solidFill>
              </a:rPr>
              <a:t>a</a:t>
            </a:r>
          </a:p>
        </p:txBody>
      </p:sp>
      <p:sp>
        <p:nvSpPr>
          <p:cNvPr id="13" name="TextBox 12"/>
          <p:cNvSpPr txBox="1">
            <a:spLocks noChangeArrowheads="1"/>
          </p:cNvSpPr>
          <p:nvPr/>
        </p:nvSpPr>
        <p:spPr bwMode="auto">
          <a:xfrm>
            <a:off x="5159375" y="5589588"/>
            <a:ext cx="6492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3200">
                <a:solidFill>
                  <a:schemeClr val="accent1"/>
                </a:solidFill>
              </a:rPr>
              <a:t>b</a:t>
            </a:r>
          </a:p>
        </p:txBody>
      </p:sp>
      <p:sp>
        <p:nvSpPr>
          <p:cNvPr id="14" name="TextBox 13"/>
          <p:cNvSpPr txBox="1">
            <a:spLocks noChangeArrowheads="1"/>
          </p:cNvSpPr>
          <p:nvPr/>
        </p:nvSpPr>
        <p:spPr bwMode="auto">
          <a:xfrm>
            <a:off x="6816725" y="2565400"/>
            <a:ext cx="30241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800"/>
              <a:t>x</a:t>
            </a:r>
            <a:r>
              <a:rPr lang="en-GB" altLang="en-US" sz="2800" baseline="30000"/>
              <a:t>2 </a:t>
            </a:r>
            <a:r>
              <a:rPr lang="en-GB" altLang="en-US" sz="2800"/>
              <a:t>+ 6</a:t>
            </a:r>
            <a:r>
              <a:rPr lang="en-GB" altLang="en-US" sz="2800" baseline="30000"/>
              <a:t>2</a:t>
            </a:r>
            <a:r>
              <a:rPr lang="en-GB" altLang="en-US" sz="2800"/>
              <a:t> = 9</a:t>
            </a:r>
            <a:r>
              <a:rPr lang="en-GB" altLang="en-US" sz="2800" baseline="30000"/>
              <a:t>2</a:t>
            </a:r>
            <a:endParaRPr lang="en-GB" altLang="en-US" sz="2800"/>
          </a:p>
        </p:txBody>
      </p:sp>
      <p:sp>
        <p:nvSpPr>
          <p:cNvPr id="15" name="TextBox 14"/>
          <p:cNvSpPr txBox="1">
            <a:spLocks noChangeArrowheads="1"/>
          </p:cNvSpPr>
          <p:nvPr/>
        </p:nvSpPr>
        <p:spPr bwMode="auto">
          <a:xfrm>
            <a:off x="6816726" y="3213100"/>
            <a:ext cx="2879725" cy="167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800"/>
              <a:t>x</a:t>
            </a:r>
            <a:r>
              <a:rPr lang="en-GB" altLang="en-US" sz="2800" baseline="30000"/>
              <a:t>2 </a:t>
            </a:r>
            <a:r>
              <a:rPr lang="en-GB" altLang="en-US" sz="2800"/>
              <a:t>+ 36 = 81</a:t>
            </a:r>
            <a:endParaRPr lang="en-GB" altLang="en-US" sz="2800" baseline="30000"/>
          </a:p>
          <a:p>
            <a:endParaRPr lang="en-GB" altLang="en-US" sz="2800" baseline="30000"/>
          </a:p>
          <a:p>
            <a:r>
              <a:rPr lang="en-GB" altLang="en-US" sz="2800"/>
              <a:t>x</a:t>
            </a:r>
            <a:r>
              <a:rPr lang="en-GB" altLang="en-US" sz="2800" baseline="30000"/>
              <a:t>2 </a:t>
            </a:r>
            <a:r>
              <a:rPr lang="en-GB" altLang="en-US" sz="2800"/>
              <a:t>= 81 – 36</a:t>
            </a:r>
          </a:p>
          <a:p>
            <a:r>
              <a:rPr lang="en-GB" altLang="en-US" sz="2800"/>
              <a:t>    = 45</a:t>
            </a:r>
          </a:p>
        </p:txBody>
      </p:sp>
      <p:sp>
        <p:nvSpPr>
          <p:cNvPr id="16" name="TextBox 15"/>
          <p:cNvSpPr txBox="1">
            <a:spLocks noChangeArrowheads="1"/>
          </p:cNvSpPr>
          <p:nvPr/>
        </p:nvSpPr>
        <p:spPr bwMode="auto">
          <a:xfrm>
            <a:off x="6816726" y="4941888"/>
            <a:ext cx="385127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800"/>
              <a:t>x = √45</a:t>
            </a:r>
          </a:p>
          <a:p>
            <a:endParaRPr lang="en-GB" altLang="en-US" sz="2800"/>
          </a:p>
          <a:p>
            <a:r>
              <a:rPr lang="en-GB" altLang="en-US" sz="2800"/>
              <a:t>x = 6.7 mm (to 1 d.p.)</a:t>
            </a:r>
          </a:p>
        </p:txBody>
      </p:sp>
      <p:sp>
        <p:nvSpPr>
          <p:cNvPr id="15372" name="TextBox 3"/>
          <p:cNvSpPr txBox="1">
            <a:spLocks noChangeArrowheads="1"/>
          </p:cNvSpPr>
          <p:nvPr/>
        </p:nvSpPr>
        <p:spPr bwMode="auto">
          <a:xfrm>
            <a:off x="5016500" y="3430589"/>
            <a:ext cx="21605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400"/>
              <a:t>9mm</a:t>
            </a:r>
          </a:p>
        </p:txBody>
      </p:sp>
      <p:sp>
        <p:nvSpPr>
          <p:cNvPr id="15373" name="TextBox 4"/>
          <p:cNvSpPr txBox="1">
            <a:spLocks noChangeArrowheads="1"/>
          </p:cNvSpPr>
          <p:nvPr/>
        </p:nvSpPr>
        <p:spPr bwMode="auto">
          <a:xfrm>
            <a:off x="4224339" y="5518151"/>
            <a:ext cx="21605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400"/>
              <a:t>6mm</a:t>
            </a:r>
          </a:p>
        </p:txBody>
      </p:sp>
      <p:sp>
        <p:nvSpPr>
          <p:cNvPr id="15374" name="TextBox 5"/>
          <p:cNvSpPr txBox="1">
            <a:spLocks noChangeArrowheads="1"/>
          </p:cNvSpPr>
          <p:nvPr/>
        </p:nvSpPr>
        <p:spPr bwMode="auto">
          <a:xfrm>
            <a:off x="2568575" y="3717926"/>
            <a:ext cx="21605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fontAlgn="base">
              <a:spcBef>
                <a:spcPct val="0"/>
              </a:spcBef>
              <a:spcAft>
                <a:spcPct val="0"/>
              </a:spcAft>
              <a:defRPr>
                <a:solidFill>
                  <a:schemeClr val="tx1"/>
                </a:solidFill>
                <a:latin typeface="Comic Sans MS" panose="030F0702030302020204" pitchFamily="66" charset="0"/>
              </a:defRPr>
            </a:lvl6pPr>
            <a:lvl7pPr marL="2971800" indent="-228600" fontAlgn="base">
              <a:spcBef>
                <a:spcPct val="0"/>
              </a:spcBef>
              <a:spcAft>
                <a:spcPct val="0"/>
              </a:spcAft>
              <a:defRPr>
                <a:solidFill>
                  <a:schemeClr val="tx1"/>
                </a:solidFill>
                <a:latin typeface="Comic Sans MS" panose="030F0702030302020204" pitchFamily="66" charset="0"/>
              </a:defRPr>
            </a:lvl7pPr>
            <a:lvl8pPr marL="3429000" indent="-228600" fontAlgn="base">
              <a:spcBef>
                <a:spcPct val="0"/>
              </a:spcBef>
              <a:spcAft>
                <a:spcPct val="0"/>
              </a:spcAft>
              <a:defRPr>
                <a:solidFill>
                  <a:schemeClr val="tx1"/>
                </a:solidFill>
                <a:latin typeface="Comic Sans MS" panose="030F0702030302020204" pitchFamily="66" charset="0"/>
              </a:defRPr>
            </a:lvl8pPr>
            <a:lvl9pPr marL="3886200" indent="-228600" fontAlgn="base">
              <a:spcBef>
                <a:spcPct val="0"/>
              </a:spcBef>
              <a:spcAft>
                <a:spcPct val="0"/>
              </a:spcAft>
              <a:defRPr>
                <a:solidFill>
                  <a:schemeClr val="tx1"/>
                </a:solidFill>
                <a:latin typeface="Comic Sans MS" panose="030F0702030302020204" pitchFamily="66" charset="0"/>
              </a:defRPr>
            </a:lvl9pPr>
          </a:lstStyle>
          <a:p>
            <a:r>
              <a:rPr lang="en-GB" altLang="en-US" sz="2400" i="1"/>
              <a:t>x</a:t>
            </a:r>
            <a:r>
              <a:rPr lang="en-GB" altLang="en-US" sz="2400"/>
              <a:t> mm</a:t>
            </a:r>
          </a:p>
        </p:txBody>
      </p:sp>
      <p:pic>
        <p:nvPicPr>
          <p:cNvPr id="15375" name="Picture 2" descr="http://www.veryicon.com/icon/png/Business/Finance/Calculato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17291">
            <a:off x="9215438" y="282575"/>
            <a:ext cx="1358900"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871225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p:bldP spid="13" grpId="0"/>
      <p:bldP spid="14" grpId="0"/>
      <p:bldP spid="15" grpId="0"/>
      <p:bldP spid="1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290</Words>
  <Application>Microsoft Office PowerPoint</Application>
  <PresentationFormat>Widescreen</PresentationFormat>
  <Paragraphs>76</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Comic Sans MS</vt:lpstr>
      <vt:lpstr>Times New Roman</vt:lpstr>
      <vt:lpstr>Office Theme</vt:lpstr>
      <vt:lpstr>Pythagoras’ Theorem</vt:lpstr>
      <vt:lpstr>PowerPoint Presentation</vt:lpstr>
      <vt:lpstr>PowerPoint Presentation</vt:lpstr>
      <vt:lpstr>We can use Pythagoras’ theorem to work out the missing side of triangles…</vt:lpstr>
      <vt:lpstr>Find the missing side ‘x’</vt:lpstr>
      <vt:lpstr>Find the missing side ‘x’</vt:lpstr>
      <vt:lpstr>Find the missing side ‘x’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D'SOUZA Jillian [Baldivis Secondary College]</dc:creator>
  <cp:lastModifiedBy>D'SOUZA Jillian [Baldivis Secondary College]</cp:lastModifiedBy>
  <cp:revision>6</cp:revision>
  <dcterms:created xsi:type="dcterms:W3CDTF">2020-04-06T03:13:32Z</dcterms:created>
  <dcterms:modified xsi:type="dcterms:W3CDTF">2020-04-06T03:45:43Z</dcterms:modified>
</cp:coreProperties>
</file>
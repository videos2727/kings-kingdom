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9" r:id="rId3"/>
    <p:sldId id="269" r:id="rId4"/>
    <p:sldId id="270" r:id="rId5"/>
    <p:sldId id="273" r:id="rId6"/>
    <p:sldId id="274" r:id="rId7"/>
    <p:sldId id="271" r:id="rId8"/>
    <p:sldId id="275" r:id="rId9"/>
    <p:sldId id="276" r:id="rId10"/>
    <p:sldId id="272" r:id="rId11"/>
    <p:sldId id="277" r:id="rId12"/>
    <p:sldId id="278" r:id="rId13"/>
    <p:sldId id="282" r:id="rId14"/>
    <p:sldId id="280" r:id="rId15"/>
    <p:sldId id="281" r:id="rId16"/>
    <p:sldId id="264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FF"/>
    <a:srgbClr val="CCFFFF"/>
    <a:srgbClr val="CDD5FF"/>
    <a:srgbClr val="99FFCC"/>
    <a:srgbClr val="FFFFCC"/>
    <a:srgbClr val="FFFF99"/>
    <a:srgbClr val="66FFFF"/>
    <a:srgbClr val="6699FF"/>
    <a:srgbClr val="000066"/>
    <a:srgbClr val="99CC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494" autoAdjust="0"/>
    <p:restoredTop sz="94139" autoAdjust="0"/>
  </p:normalViewPr>
  <p:slideViewPr>
    <p:cSldViewPr snapToGrid="0">
      <p:cViewPr>
        <p:scale>
          <a:sx n="80" d="100"/>
          <a:sy n="80" d="100"/>
        </p:scale>
        <p:origin x="-127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B06B6-AFC6-4DF6-AF13-447355A9C5F3}" type="datetimeFigureOut">
              <a:rPr lang="en-GB" smtClean="0"/>
              <a:pPr/>
              <a:t>21/01/2013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E5566-5AAF-437C-8BB8-D652994C4395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C54B06B6-AFC6-4DF6-AF13-447355A9C5F3}" type="datetimeFigureOut">
              <a:rPr lang="en-GB" smtClean="0"/>
              <a:pPr/>
              <a:t>21/01/2013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</a:defRPr>
            </a:lvl1pPr>
          </a:lstStyle>
          <a:p>
            <a:fld id="{D87E5566-5AAF-437C-8BB8-D652994C4395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571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251520" y="6273316"/>
            <a:ext cx="8568952" cy="405336"/>
            <a:chOff x="251520" y="6273316"/>
            <a:chExt cx="8568952" cy="405336"/>
          </a:xfrm>
        </p:grpSpPr>
        <p:sp>
          <p:nvSpPr>
            <p:cNvPr id="10" name="Rounded Rectangle 9"/>
            <p:cNvSpPr/>
            <p:nvPr/>
          </p:nvSpPr>
          <p:spPr>
            <a:xfrm>
              <a:off x="251520" y="6273316"/>
              <a:ext cx="8568952" cy="404664"/>
            </a:xfrm>
            <a:prstGeom prst="roundRect">
              <a:avLst>
                <a:gd name="adj" fmla="val 50000"/>
              </a:avLst>
            </a:prstGeom>
            <a:solidFill>
              <a:srgbClr val="99CCFF"/>
            </a:solidFill>
            <a:ln w="1270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7564" y="6309320"/>
              <a:ext cx="62286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dirty="0" smtClean="0">
                  <a:latin typeface="Arial" pitchFamily="34" charset="0"/>
                  <a:cs typeface="Arial" pitchFamily="34" charset="0"/>
                </a:rPr>
                <a:t>-  MATHS TOPICS  HIGH  -</a:t>
              </a:r>
              <a:endParaRPr lang="en-GB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7524" y="6306784"/>
              <a:ext cx="337728" cy="337728"/>
            </a:xfrm>
            <a:prstGeom prst="ellipse">
              <a:avLst/>
            </a:prstGeom>
            <a:solidFill>
              <a:srgbClr val="6699FF"/>
            </a:solidFill>
            <a:ln w="63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0374" y="6321760"/>
              <a:ext cx="252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876256" y="6309320"/>
              <a:ext cx="1836204" cy="332656"/>
            </a:xfrm>
            <a:prstGeom prst="roundRect">
              <a:avLst>
                <a:gd name="adj" fmla="val 50000"/>
              </a:avLst>
            </a:prstGeom>
            <a:solidFill>
              <a:srgbClr val="6699FF"/>
            </a:solidFill>
            <a:ln w="1270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2270" y="6337149"/>
              <a:ext cx="15841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©  </a:t>
              </a:r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B. Taylor 2013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773578" y="764704"/>
            <a:ext cx="7596844" cy="4644516"/>
          </a:xfrm>
          <a:prstGeom prst="roundRect">
            <a:avLst>
              <a:gd name="adj" fmla="val 15239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016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3588" y="1271082"/>
            <a:ext cx="7416824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500" b="1" dirty="0" smtClean="0">
                <a:latin typeface="Arial" pitchFamily="34" charset="0"/>
                <a:cs typeface="Arial" pitchFamily="34" charset="0"/>
              </a:rPr>
              <a:t>Averages:</a:t>
            </a:r>
          </a:p>
          <a:p>
            <a:pPr algn="ctr"/>
            <a:r>
              <a:rPr lang="en-GB" sz="2000" b="1" dirty="0" smtClean="0">
                <a:latin typeface="Arial" pitchFamily="34" charset="0"/>
                <a:cs typeface="Arial" pitchFamily="34" charset="0"/>
              </a:rPr>
              <a:t>Mode, Median</a:t>
            </a:r>
          </a:p>
          <a:p>
            <a:pPr algn="ctr"/>
            <a:r>
              <a:rPr lang="en-GB" sz="2000" b="1" dirty="0" smtClean="0">
                <a:latin typeface="Arial" pitchFamily="34" charset="0"/>
                <a:cs typeface="Arial" pitchFamily="34" charset="0"/>
              </a:rPr>
              <a:t>and Mean</a:t>
            </a:r>
          </a:p>
          <a:p>
            <a:pPr algn="ctr"/>
            <a:endParaRPr lang="en-GB" sz="30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GB" sz="4500" b="1" dirty="0" smtClean="0">
                <a:latin typeface="Arial" pitchFamily="34" charset="0"/>
                <a:cs typeface="Arial" pitchFamily="34" charset="0"/>
              </a:rPr>
              <a:t>Range</a:t>
            </a:r>
            <a:endParaRPr lang="en-GB" sz="45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7" name="Group 23"/>
          <p:cNvGrpSpPr/>
          <p:nvPr/>
        </p:nvGrpSpPr>
        <p:grpSpPr>
          <a:xfrm>
            <a:off x="904203" y="4066211"/>
            <a:ext cx="1212384" cy="1212384"/>
            <a:chOff x="323528" y="1556792"/>
            <a:chExt cx="2223864" cy="2223864"/>
          </a:xfrm>
        </p:grpSpPr>
        <p:sp>
          <p:nvSpPr>
            <p:cNvPr id="18" name="Oval 17"/>
            <p:cNvSpPr/>
            <p:nvPr/>
          </p:nvSpPr>
          <p:spPr>
            <a:xfrm>
              <a:off x="323528" y="1556792"/>
              <a:ext cx="2223864" cy="22238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9" name="Group 27"/>
            <p:cNvGrpSpPr/>
            <p:nvPr/>
          </p:nvGrpSpPr>
          <p:grpSpPr>
            <a:xfrm>
              <a:off x="539552" y="1851547"/>
              <a:ext cx="1856283" cy="1717277"/>
              <a:chOff x="579748" y="1855739"/>
              <a:chExt cx="1856283" cy="1717277"/>
            </a:xfrm>
          </p:grpSpPr>
          <p:sp>
            <p:nvSpPr>
              <p:cNvPr id="20" name="Hexagon 19"/>
              <p:cNvSpPr/>
              <p:nvPr/>
            </p:nvSpPr>
            <p:spPr>
              <a:xfrm>
                <a:off x="1145239" y="1855739"/>
                <a:ext cx="1044118" cy="900104"/>
              </a:xfrm>
              <a:prstGeom prst="hexagon">
                <a:avLst/>
              </a:prstGeom>
              <a:solidFill>
                <a:srgbClr val="99FF66"/>
              </a:solidFill>
              <a:ln w="28575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Octagon 20"/>
              <p:cNvSpPr/>
              <p:nvPr/>
            </p:nvSpPr>
            <p:spPr>
              <a:xfrm>
                <a:off x="579748" y="1993032"/>
                <a:ext cx="1008112" cy="1008112"/>
              </a:xfrm>
              <a:prstGeom prst="octagon">
                <a:avLst/>
              </a:prstGeom>
              <a:solidFill>
                <a:srgbClr val="FFFF66"/>
              </a:solidFill>
              <a:ln w="28575"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Decagon 21"/>
              <p:cNvSpPr/>
              <p:nvPr/>
            </p:nvSpPr>
            <p:spPr>
              <a:xfrm>
                <a:off x="863588" y="2528900"/>
                <a:ext cx="1044116" cy="1044116"/>
              </a:xfrm>
              <a:prstGeom prst="decagon">
                <a:avLst/>
              </a:prstGeom>
              <a:solidFill>
                <a:srgbClr val="FF9999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3" name="Regular Pentagon 22"/>
              <p:cNvSpPr/>
              <p:nvPr/>
            </p:nvSpPr>
            <p:spPr>
              <a:xfrm>
                <a:off x="1463923" y="2301144"/>
                <a:ext cx="972108" cy="972110"/>
              </a:xfrm>
              <a:prstGeom prst="pentagon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430" name="Group 429"/>
          <p:cNvGrpSpPr/>
          <p:nvPr/>
        </p:nvGrpSpPr>
        <p:grpSpPr>
          <a:xfrm>
            <a:off x="404805" y="2990506"/>
            <a:ext cx="2461224" cy="2632375"/>
            <a:chOff x="6027683" y="3876379"/>
            <a:chExt cx="2820960" cy="710682"/>
          </a:xfrm>
        </p:grpSpPr>
        <p:sp>
          <p:nvSpPr>
            <p:cNvPr id="423" name="Rounded Rectangle 422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055767" y="3899885"/>
              <a:ext cx="2764792" cy="299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most common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 value or item in a list.</a:t>
              </a:r>
            </a:p>
          </p:txBody>
        </p:sp>
      </p:grpSp>
      <p:grpSp>
        <p:nvGrpSpPr>
          <p:cNvPr id="271" name="Group 270"/>
          <p:cNvGrpSpPr/>
          <p:nvPr/>
        </p:nvGrpSpPr>
        <p:grpSpPr>
          <a:xfrm>
            <a:off x="6084552" y="1421647"/>
            <a:ext cx="2820960" cy="1323833"/>
            <a:chOff x="6084552" y="1421647"/>
            <a:chExt cx="2820960" cy="1323833"/>
          </a:xfrm>
        </p:grpSpPr>
        <p:sp>
          <p:nvSpPr>
            <p:cNvPr id="260" name="Down Arrow 259"/>
            <p:cNvSpPr/>
            <p:nvPr/>
          </p:nvSpPr>
          <p:spPr>
            <a:xfrm>
              <a:off x="652604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6" name="Rounded Rectangle 255"/>
            <p:cNvSpPr/>
            <p:nvPr/>
          </p:nvSpPr>
          <p:spPr>
            <a:xfrm>
              <a:off x="608455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11263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73" name="Group 272"/>
          <p:cNvGrpSpPr/>
          <p:nvPr/>
        </p:nvGrpSpPr>
        <p:grpSpPr>
          <a:xfrm>
            <a:off x="3162792" y="1421647"/>
            <a:ext cx="2820960" cy="1323833"/>
            <a:chOff x="3162792" y="1421647"/>
            <a:chExt cx="2820960" cy="1323833"/>
          </a:xfrm>
        </p:grpSpPr>
        <p:sp>
          <p:nvSpPr>
            <p:cNvPr id="259" name="Down Arrow 258"/>
            <p:cNvSpPr/>
            <p:nvPr/>
          </p:nvSpPr>
          <p:spPr>
            <a:xfrm>
              <a:off x="360428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316279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319087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MEDIAN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72" name="Group 271"/>
          <p:cNvGrpSpPr/>
          <p:nvPr/>
        </p:nvGrpSpPr>
        <p:grpSpPr>
          <a:xfrm>
            <a:off x="241032" y="1421647"/>
            <a:ext cx="2820960" cy="1323833"/>
            <a:chOff x="241032" y="1421647"/>
            <a:chExt cx="2820960" cy="1323833"/>
          </a:xfrm>
        </p:grpSpPr>
        <p:sp>
          <p:nvSpPr>
            <p:cNvPr id="258" name="Down Arrow 257"/>
            <p:cNvSpPr/>
            <p:nvPr/>
          </p:nvSpPr>
          <p:spPr>
            <a:xfrm>
              <a:off x="68252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24103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26911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MODE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64" name="Group 263"/>
          <p:cNvGrpSpPr/>
          <p:nvPr/>
        </p:nvGrpSpPr>
        <p:grpSpPr>
          <a:xfrm>
            <a:off x="3342660" y="2990506"/>
            <a:ext cx="2461224" cy="2632375"/>
            <a:chOff x="6027683" y="3876379"/>
            <a:chExt cx="2820960" cy="710682"/>
          </a:xfrm>
        </p:grpSpPr>
        <p:sp>
          <p:nvSpPr>
            <p:cNvPr id="265" name="Rounded Rectangle 264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6055767" y="3899885"/>
              <a:ext cx="2764792" cy="4819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middle number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, when the list is written in order of size.</a:t>
              </a:r>
            </a:p>
          </p:txBody>
        </p:sp>
      </p:grpSp>
      <p:grpSp>
        <p:nvGrpSpPr>
          <p:cNvPr id="267" name="Group 266"/>
          <p:cNvGrpSpPr/>
          <p:nvPr/>
        </p:nvGrpSpPr>
        <p:grpSpPr>
          <a:xfrm>
            <a:off x="6264420" y="2990507"/>
            <a:ext cx="2461224" cy="2632375"/>
            <a:chOff x="6027683" y="3876379"/>
            <a:chExt cx="2820960" cy="710682"/>
          </a:xfrm>
        </p:grpSpPr>
        <p:sp>
          <p:nvSpPr>
            <p:cNvPr id="268" name="Rounded Rectangle 267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2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055767" y="3899885"/>
              <a:ext cx="2764792" cy="6647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To find the mean,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add the numbers together 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and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divide by how many numbers there are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sp>
        <p:nvSpPr>
          <p:cNvPr id="270" name="TextBox 269"/>
          <p:cNvSpPr txBox="1"/>
          <p:nvPr/>
        </p:nvSpPr>
        <p:spPr>
          <a:xfrm>
            <a:off x="193343" y="5717538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 will look at examples of calculating these averages.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9" grpId="0"/>
      <p:bldP spid="2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429"/>
          <p:cNvGrpSpPr/>
          <p:nvPr/>
        </p:nvGrpSpPr>
        <p:grpSpPr>
          <a:xfrm>
            <a:off x="404805" y="2990506"/>
            <a:ext cx="2461224" cy="2632375"/>
            <a:chOff x="6027683" y="3876379"/>
            <a:chExt cx="2820960" cy="710682"/>
          </a:xfrm>
        </p:grpSpPr>
        <p:sp>
          <p:nvSpPr>
            <p:cNvPr id="423" name="Rounded Rectangle 422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055767" y="3899885"/>
              <a:ext cx="2764792" cy="299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most common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 value or item in a list.</a:t>
              </a:r>
            </a:p>
          </p:txBody>
        </p:sp>
      </p:grp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MODE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6" name="Group 35"/>
          <p:cNvGrpSpPr/>
          <p:nvPr/>
        </p:nvGrpSpPr>
        <p:grpSpPr>
          <a:xfrm>
            <a:off x="3162792" y="1421647"/>
            <a:ext cx="5742720" cy="4201235"/>
            <a:chOff x="3162792" y="1421647"/>
            <a:chExt cx="5742720" cy="4201235"/>
          </a:xfrm>
        </p:grpSpPr>
        <p:sp>
          <p:nvSpPr>
            <p:cNvPr id="260" name="Down Arrow 259"/>
            <p:cNvSpPr/>
            <p:nvPr/>
          </p:nvSpPr>
          <p:spPr>
            <a:xfrm>
              <a:off x="652604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6" name="Rounded Rectangle 255"/>
            <p:cNvSpPr/>
            <p:nvPr/>
          </p:nvSpPr>
          <p:spPr>
            <a:xfrm>
              <a:off x="608455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11263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9" name="Down Arrow 258"/>
            <p:cNvSpPr/>
            <p:nvPr/>
          </p:nvSpPr>
          <p:spPr>
            <a:xfrm>
              <a:off x="360428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316279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319087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MEDIAN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5" name="Rounded Rectangle 264"/>
            <p:cNvSpPr/>
            <p:nvPr/>
          </p:nvSpPr>
          <p:spPr>
            <a:xfrm>
              <a:off x="3342660" y="2990506"/>
              <a:ext cx="2461224" cy="2632375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6" name="TextBox 265"/>
            <p:cNvSpPr txBox="1"/>
            <p:nvPr/>
          </p:nvSpPr>
          <p:spPr>
            <a:xfrm>
              <a:off x="3367163" y="3077573"/>
              <a:ext cx="2412219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middle number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, when the list is written in order of size.</a:t>
              </a:r>
            </a:p>
          </p:txBody>
        </p:sp>
        <p:sp>
          <p:nvSpPr>
            <p:cNvPr id="268" name="Rounded Rectangle 267"/>
            <p:cNvSpPr/>
            <p:nvPr/>
          </p:nvSpPr>
          <p:spPr>
            <a:xfrm>
              <a:off x="6264420" y="2990507"/>
              <a:ext cx="2461224" cy="2632375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69" name="TextBox 268"/>
            <p:cNvSpPr txBox="1"/>
            <p:nvPr/>
          </p:nvSpPr>
          <p:spPr>
            <a:xfrm>
              <a:off x="6288923" y="3077570"/>
              <a:ext cx="2412219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To find the mean,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add the numbers together 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and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divide by how many numbers there are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.</a:t>
              </a:r>
            </a:p>
          </p:txBody>
        </p:sp>
      </p:grpSp>
      <p:sp>
        <p:nvSpPr>
          <p:cNvPr id="270" name="TextBox 269"/>
          <p:cNvSpPr txBox="1"/>
          <p:nvPr/>
        </p:nvSpPr>
        <p:spPr>
          <a:xfrm>
            <a:off x="193343" y="5717538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We will look at examples of calculating these averages.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27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85647" y="3253584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429"/>
          <p:cNvGrpSpPr/>
          <p:nvPr/>
        </p:nvGrpSpPr>
        <p:grpSpPr>
          <a:xfrm>
            <a:off x="404805" y="2990506"/>
            <a:ext cx="2461224" cy="2632375"/>
            <a:chOff x="6027683" y="3876379"/>
            <a:chExt cx="2820960" cy="710682"/>
          </a:xfrm>
        </p:grpSpPr>
        <p:sp>
          <p:nvSpPr>
            <p:cNvPr id="423" name="Rounded Rectangle 422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055767" y="3899885"/>
              <a:ext cx="2764792" cy="299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most common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 value or item in a list.</a:t>
              </a:r>
            </a:p>
          </p:txBody>
        </p:sp>
      </p:grp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MODE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1: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mode of: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2, 3, 3, 4, 5, 5, 5, 6, 7, 7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There are more 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5</a:t>
            </a:r>
            <a:r>
              <a:rPr lang="en-GB" sz="2000" dirty="0" smtClean="0">
                <a:latin typeface="Arial" pitchFamily="34" charset="0"/>
                <a:cs typeface="Arial" pitchFamily="34" charset="0"/>
              </a:rPr>
              <a:t>s than any other number, so: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3316538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5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mode</a:t>
            </a:r>
          </a:p>
        </p:txBody>
      </p:sp>
      <p:sp>
        <p:nvSpPr>
          <p:cNvPr id="21" name="Oval 20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4" grpId="0"/>
      <p:bldP spid="35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85647" y="3253583"/>
            <a:ext cx="4189863" cy="1283175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429"/>
          <p:cNvGrpSpPr/>
          <p:nvPr/>
        </p:nvGrpSpPr>
        <p:grpSpPr>
          <a:xfrm>
            <a:off x="404805" y="2990506"/>
            <a:ext cx="2461224" cy="2632375"/>
            <a:chOff x="6027683" y="3876379"/>
            <a:chExt cx="2820960" cy="710682"/>
          </a:xfrm>
        </p:grpSpPr>
        <p:sp>
          <p:nvSpPr>
            <p:cNvPr id="423" name="Rounded Rectangle 422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055767" y="3899885"/>
              <a:ext cx="2764792" cy="299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most common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 value or item in a list.</a:t>
              </a:r>
            </a:p>
          </p:txBody>
        </p:sp>
      </p:grp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MODE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mode of: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7, 11, 11, 16, 18, 18, 21, 25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Arial" pitchFamily="34" charset="0"/>
                <a:cs typeface="Arial" pitchFamily="34" charset="0"/>
              </a:rPr>
              <a:t>11</a:t>
            </a:r>
            <a:r>
              <a:rPr lang="en-GB" sz="2000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18</a:t>
            </a:r>
            <a:r>
              <a:rPr lang="en-GB" sz="2000" dirty="0" smtClean="0">
                <a:latin typeface="Arial" pitchFamily="34" charset="0"/>
                <a:cs typeface="Arial" pitchFamily="34" charset="0"/>
              </a:rPr>
              <a:t> are equally more common, so: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3356561"/>
            <a:ext cx="395785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11 and 18</a:t>
            </a:r>
          </a:p>
          <a:p>
            <a:pPr algn="ctr"/>
            <a:r>
              <a:rPr lang="en-GB" sz="3200" dirty="0" smtClean="0">
                <a:latin typeface="Arial" pitchFamily="34" charset="0"/>
                <a:cs typeface="Arial" pitchFamily="34" charset="0"/>
              </a:rPr>
              <a:t>are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mode</a:t>
            </a:r>
          </a:p>
        </p:txBody>
      </p:sp>
      <p:sp>
        <p:nvSpPr>
          <p:cNvPr id="21" name="Oval 20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4" grpId="0"/>
      <p:bldP spid="3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85647" y="3262947"/>
            <a:ext cx="4189863" cy="669026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429"/>
          <p:cNvGrpSpPr/>
          <p:nvPr/>
        </p:nvGrpSpPr>
        <p:grpSpPr>
          <a:xfrm>
            <a:off x="404805" y="2990506"/>
            <a:ext cx="2461224" cy="2632375"/>
            <a:chOff x="6027683" y="3876379"/>
            <a:chExt cx="2820960" cy="710682"/>
          </a:xfrm>
        </p:grpSpPr>
        <p:sp>
          <p:nvSpPr>
            <p:cNvPr id="423" name="Rounded Rectangle 422"/>
            <p:cNvSpPr/>
            <p:nvPr/>
          </p:nvSpPr>
          <p:spPr>
            <a:xfrm>
              <a:off x="6027683" y="3876379"/>
              <a:ext cx="2820960" cy="710682"/>
            </a:xfrm>
            <a:prstGeom prst="roundRect">
              <a:avLst>
                <a:gd name="adj" fmla="val 15090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6055767" y="3899885"/>
              <a:ext cx="2764792" cy="299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This is the </a:t>
              </a:r>
              <a:r>
                <a:rPr lang="en-GB" sz="2200" b="1" dirty="0" smtClean="0">
                  <a:latin typeface="Arial" pitchFamily="34" charset="0"/>
                  <a:cs typeface="Arial" pitchFamily="34" charset="0"/>
                </a:rPr>
                <a:t>most common</a:t>
              </a:r>
              <a:r>
                <a:rPr lang="en-GB" sz="2200" dirty="0" smtClean="0">
                  <a:latin typeface="Arial" pitchFamily="34" charset="0"/>
                  <a:cs typeface="Arial" pitchFamily="34" charset="0"/>
                </a:rPr>
                <a:t> value or item in a list.</a:t>
              </a:r>
            </a:p>
          </p:txBody>
        </p:sp>
      </p:grp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MODE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3: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mode of: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3, 4, 6, 9, 15, 18, 25, 34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Arial" pitchFamily="34" charset="0"/>
                <a:cs typeface="Arial" pitchFamily="34" charset="0"/>
              </a:rPr>
              <a:t>All the numbers </a:t>
            </a:r>
            <a:r>
              <a:rPr lang="en-GB" sz="2000" dirty="0" smtClean="0">
                <a:latin typeface="Arial" pitchFamily="34" charset="0"/>
                <a:cs typeface="Arial" pitchFamily="34" charset="0"/>
              </a:rPr>
              <a:t>are equally common, so: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3305073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dirty="0" smtClean="0">
                <a:latin typeface="Arial" pitchFamily="34" charset="0"/>
                <a:cs typeface="Arial" pitchFamily="34" charset="0"/>
              </a:rPr>
              <a:t>There is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no mode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5647" y="4020125"/>
            <a:ext cx="4189863" cy="1283175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47145" y="4123103"/>
            <a:ext cx="386686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All the numbers</a:t>
            </a:r>
          </a:p>
          <a:p>
            <a:pPr algn="ctr"/>
            <a:r>
              <a:rPr lang="en-GB" sz="3200" dirty="0" smtClean="0">
                <a:latin typeface="Arial" pitchFamily="34" charset="0"/>
                <a:cs typeface="Arial" pitchFamily="34" charset="0"/>
              </a:rPr>
              <a:t>are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84475" y="4153881"/>
            <a:ext cx="13875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latin typeface="Arial" pitchFamily="34" charset="0"/>
                <a:cs typeface="Arial" pitchFamily="34" charset="0"/>
              </a:rPr>
              <a:t>Or we could say:</a:t>
            </a:r>
            <a:endParaRPr lang="en-GB" sz="20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4" grpId="0"/>
      <p:bldP spid="35" grpId="0"/>
      <p:bldP spid="16" grpId="0"/>
      <p:bldP spid="17" grpId="0"/>
      <p:bldP spid="18" grpId="0"/>
      <p:bldP spid="19" grpId="0"/>
      <p:bldP spid="21" grpId="0" animBg="1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This is the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middle number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, when the list is written in order of size.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MEDIAN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1: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median of: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5, 7, 11, 16, 15, 21, 26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The numbers are in order, so: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15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3762" y="2810550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5, 7, 11, 15, 16, 21, 26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266296" y="2825776"/>
            <a:ext cx="1350335" cy="1535983"/>
            <a:chOff x="5266296" y="2825776"/>
            <a:chExt cx="1350335" cy="1535983"/>
          </a:xfrm>
        </p:grpSpPr>
        <p:sp>
          <p:nvSpPr>
            <p:cNvPr id="21" name="Up Arrow 20"/>
            <p:cNvSpPr/>
            <p:nvPr/>
          </p:nvSpPr>
          <p:spPr>
            <a:xfrm>
              <a:off x="5702231" y="336361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66296" y="3838539"/>
              <a:ext cx="13503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middle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702231" y="282577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5" name="Oval 24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/>
      <p:bldP spid="418" grpId="0"/>
      <p:bldP spid="34" grpId="0"/>
      <p:bldP spid="35" grpId="0"/>
      <p:bldP spid="15" grpId="0" animBg="1"/>
      <p:bldP spid="16" grpId="0"/>
      <p:bldP spid="17" grpId="0"/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This is the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middle number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, when the list is written in order of size.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MEDIAN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median of: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55, 43, 29, 22, 49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Put the numbers in order: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43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3762" y="2810550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22, 29, 43, 49, 55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5097410" y="2825776"/>
            <a:ext cx="1350335" cy="1535983"/>
            <a:chOff x="5278171" y="2825776"/>
            <a:chExt cx="1350335" cy="1535983"/>
          </a:xfrm>
        </p:grpSpPr>
        <p:sp>
          <p:nvSpPr>
            <p:cNvPr id="21" name="Up Arrow 20"/>
            <p:cNvSpPr/>
            <p:nvPr/>
          </p:nvSpPr>
          <p:spPr>
            <a:xfrm>
              <a:off x="5714106" y="336361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78171" y="3838539"/>
              <a:ext cx="13503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middle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714106" y="282577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5" name="Oval 24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15" grpId="0" animBg="1"/>
      <p:bldP spid="16" grpId="0"/>
      <p:bldP spid="17" grpId="0"/>
      <p:bldP spid="18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This is the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middle number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, when the list is written in order of size.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MEDIAN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3: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median of: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22, 8, 15, 27, 9, 18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6034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Put the numbers in order: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smtClean="0">
                <a:latin typeface="Arial" pitchFamily="34" charset="0"/>
                <a:cs typeface="Arial" pitchFamily="34" charset="0"/>
              </a:rPr>
              <a:t>16.5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median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3762" y="2810550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8, 9, 15, 18, 22, 27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5037338" y="2825776"/>
            <a:ext cx="1350335" cy="1535983"/>
            <a:chOff x="5218099" y="2825776"/>
            <a:chExt cx="1350335" cy="1535983"/>
          </a:xfrm>
        </p:grpSpPr>
        <p:sp>
          <p:nvSpPr>
            <p:cNvPr id="21" name="Up Arrow 20"/>
            <p:cNvSpPr/>
            <p:nvPr/>
          </p:nvSpPr>
          <p:spPr>
            <a:xfrm>
              <a:off x="5654034" y="336361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218099" y="3838539"/>
              <a:ext cx="13503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8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middle</a:t>
              </a:r>
            </a:p>
          </p:txBody>
        </p:sp>
        <p:sp>
          <p:nvSpPr>
            <p:cNvPr id="23" name="Oval 22"/>
            <p:cNvSpPr/>
            <p:nvPr/>
          </p:nvSpPr>
          <p:spPr>
            <a:xfrm>
              <a:off x="5351006" y="2825776"/>
              <a:ext cx="1084520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3168501" y="3293076"/>
            <a:ext cx="1679943" cy="1435396"/>
            <a:chOff x="3168501" y="3388076"/>
            <a:chExt cx="1679943" cy="1435396"/>
          </a:xfrm>
        </p:grpSpPr>
        <p:sp>
          <p:nvSpPr>
            <p:cNvPr id="28" name="16-Point Star 27"/>
            <p:cNvSpPr/>
            <p:nvPr/>
          </p:nvSpPr>
          <p:spPr>
            <a:xfrm>
              <a:off x="3290774" y="3388076"/>
              <a:ext cx="1435396" cy="1435396"/>
            </a:xfrm>
            <a:prstGeom prst="star16">
              <a:avLst/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168501" y="3505610"/>
              <a:ext cx="167994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There are </a:t>
              </a:r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two numbers in the middle</a:t>
              </a:r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, so to find the median, </a:t>
              </a:r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add these together, then divide by 2.</a:t>
              </a:r>
            </a:p>
          </p:txBody>
        </p:sp>
      </p:grpSp>
      <p:sp>
        <p:nvSpPr>
          <p:cNvPr id="30" name="Rounded Rectangle 29"/>
          <p:cNvSpPr/>
          <p:nvPr/>
        </p:nvSpPr>
        <p:spPr>
          <a:xfrm>
            <a:off x="6389680" y="3371222"/>
            <a:ext cx="2465027" cy="1070149"/>
          </a:xfrm>
          <a:prstGeom prst="roundRect">
            <a:avLst>
              <a:gd name="adj" fmla="val 16461"/>
            </a:avLst>
          </a:prstGeom>
          <a:solidFill>
            <a:schemeClr val="bg1">
              <a:lumMod val="8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06826" y="3397589"/>
            <a:ext cx="22307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 smtClean="0">
                <a:latin typeface="Arial" pitchFamily="34" charset="0"/>
                <a:cs typeface="Arial" pitchFamily="34" charset="0"/>
              </a:rPr>
              <a:t>15  +  18  =  </a:t>
            </a:r>
            <a:r>
              <a:rPr lang="en-GB" sz="22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310" y="3925673"/>
            <a:ext cx="23917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33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  ÷  2  =  16.5</a:t>
            </a:r>
          </a:p>
        </p:txBody>
      </p:sp>
      <p:sp>
        <p:nvSpPr>
          <p:cNvPr id="31" name="Oval 30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15" grpId="0" animBg="1"/>
      <p:bldP spid="16" grpId="0"/>
      <p:bldP spid="17" grpId="0"/>
      <p:bldP spid="18" grpId="0"/>
      <p:bldP spid="19" grpId="0"/>
      <p:bldP spid="20" grpId="0"/>
      <p:bldP spid="30" grpId="0" animBg="1"/>
      <p:bldP spid="26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To find the mean,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add the numbers together 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divide by how many numbers there are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1: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mean of: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6, 11, 14, 19, 22, 24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762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Add the numbers: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3762" y="2912736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>
                <a:latin typeface="Arial" pitchFamily="34" charset="0"/>
                <a:cs typeface="Arial" pitchFamily="34" charset="0"/>
              </a:rPr>
              <a:t>6 + 11 + 14 + 19 + 22 + 24   =   </a:t>
            </a:r>
            <a:r>
              <a:rPr lang="en-GB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4696" y="3790507"/>
            <a:ext cx="305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96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÷    </a:t>
            </a:r>
            <a:r>
              <a:rPr lang="en-GB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=    16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16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mean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3279916" y="3279914"/>
            <a:ext cx="2206487" cy="1421296"/>
            <a:chOff x="3279916" y="3279914"/>
            <a:chExt cx="2206487" cy="1421296"/>
          </a:xfrm>
        </p:grpSpPr>
        <p:grpSp>
          <p:nvGrpSpPr>
            <p:cNvPr id="25" name="Group 24"/>
            <p:cNvGrpSpPr/>
            <p:nvPr/>
          </p:nvGrpSpPr>
          <p:grpSpPr>
            <a:xfrm>
              <a:off x="3279916" y="3279914"/>
              <a:ext cx="2206487" cy="1421296"/>
              <a:chOff x="3538330" y="3279914"/>
              <a:chExt cx="2206487" cy="142129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3687418" y="3279914"/>
                <a:ext cx="1421296" cy="1421296"/>
              </a:xfrm>
              <a:prstGeom prst="ellipse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Right Arrow 23"/>
              <p:cNvSpPr/>
              <p:nvPr/>
            </p:nvSpPr>
            <p:spPr>
              <a:xfrm>
                <a:off x="3538330" y="3655117"/>
                <a:ext cx="2206487" cy="670891"/>
              </a:xfrm>
              <a:prstGeom prst="rightArrow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301130" y="3482731"/>
              <a:ext cx="167837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Arial" pitchFamily="34" charset="0"/>
                  <a:cs typeface="Arial" pitchFamily="34" charset="0"/>
                </a:rPr>
                <a:t>There are </a:t>
              </a:r>
              <a:r>
                <a:rPr lang="en-GB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SIX</a:t>
              </a:r>
              <a:r>
                <a:rPr lang="en-GB" dirty="0" smtClean="0">
                  <a:latin typeface="Arial" pitchFamily="34" charset="0"/>
                  <a:cs typeface="Arial" pitchFamily="34" charset="0"/>
                </a:rPr>
                <a:t> numbers,</a:t>
              </a:r>
            </a:p>
            <a:p>
              <a:pPr algn="ctr"/>
              <a:r>
                <a:rPr lang="en-GB" dirty="0" smtClean="0">
                  <a:latin typeface="Arial" pitchFamily="34" charset="0"/>
                  <a:cs typeface="Arial" pitchFamily="34" charset="0"/>
                </a:rPr>
                <a:t>so divide by</a:t>
              </a:r>
            </a:p>
            <a:p>
              <a:pPr algn="ctr"/>
              <a:r>
                <a:rPr lang="en-GB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6</a:t>
              </a:r>
              <a:r>
                <a:rPr lang="en-GB" dirty="0" smtClean="0">
                  <a:latin typeface="Arial" pitchFamily="34" charset="0"/>
                  <a:cs typeface="Arial" pitchFamily="34" charset="0"/>
                </a:rPr>
                <a:t>:</a:t>
              </a:r>
            </a:p>
          </p:txBody>
        </p:sp>
      </p:grpSp>
      <p:sp>
        <p:nvSpPr>
          <p:cNvPr id="27" name="Oval 26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" grpId="0"/>
      <p:bldP spid="418" grpId="0"/>
      <p:bldP spid="34" grpId="0"/>
      <p:bldP spid="35" grpId="0"/>
      <p:bldP spid="15" grpId="0"/>
      <p:bldP spid="16" grpId="0"/>
      <p:bldP spid="17" grpId="0"/>
      <p:bldP spid="18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To find the mean,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add the numbers together 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divide by how many numbers there are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mean of: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3762" y="1791536"/>
            <a:ext cx="4312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b="1" dirty="0" smtClean="0">
                <a:latin typeface="Arial" pitchFamily="34" charset="0"/>
                <a:cs typeface="Arial" pitchFamily="34" charset="0"/>
              </a:rPr>
              <a:t>2.5,  1.7,  8.4,  3.7,  2.6,  7.4,  7.3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762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Add the numbers: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3761" y="2912736"/>
            <a:ext cx="438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latin typeface="Arial" pitchFamily="34" charset="0"/>
                <a:cs typeface="Arial" pitchFamily="34" charset="0"/>
              </a:rPr>
              <a:t>2.5 + 1.7 + 8.4 + 3.7 + 2.6 + 7.4 + 7.3  =  </a:t>
            </a:r>
            <a:r>
              <a:rPr lang="en-GB" sz="1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33.6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4696" y="3790507"/>
            <a:ext cx="305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33.6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÷    </a:t>
            </a:r>
            <a:r>
              <a:rPr lang="en-GB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=    4.8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4.8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mean</a:t>
            </a:r>
          </a:p>
        </p:txBody>
      </p:sp>
      <p:grpSp>
        <p:nvGrpSpPr>
          <p:cNvPr id="2" name="Group 27"/>
          <p:cNvGrpSpPr/>
          <p:nvPr/>
        </p:nvGrpSpPr>
        <p:grpSpPr>
          <a:xfrm>
            <a:off x="3260035" y="3279914"/>
            <a:ext cx="2226368" cy="1421296"/>
            <a:chOff x="3260035" y="3279914"/>
            <a:chExt cx="2226368" cy="1421296"/>
          </a:xfrm>
        </p:grpSpPr>
        <p:grpSp>
          <p:nvGrpSpPr>
            <p:cNvPr id="3" name="Group 24"/>
            <p:cNvGrpSpPr/>
            <p:nvPr/>
          </p:nvGrpSpPr>
          <p:grpSpPr>
            <a:xfrm>
              <a:off x="3279916" y="3279914"/>
              <a:ext cx="2206487" cy="1421296"/>
              <a:chOff x="3538330" y="3279914"/>
              <a:chExt cx="2206487" cy="142129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3687418" y="3279914"/>
                <a:ext cx="1421296" cy="1421296"/>
              </a:xfrm>
              <a:prstGeom prst="ellipse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Right Arrow 23"/>
              <p:cNvSpPr/>
              <p:nvPr/>
            </p:nvSpPr>
            <p:spPr>
              <a:xfrm>
                <a:off x="3538330" y="3655117"/>
                <a:ext cx="2206487" cy="670891"/>
              </a:xfrm>
              <a:prstGeom prst="rightArrow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260035" y="3387731"/>
              <a:ext cx="19083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smtClean="0">
                  <a:latin typeface="Arial" pitchFamily="34" charset="0"/>
                  <a:cs typeface="Arial" pitchFamily="34" charset="0"/>
                </a:rPr>
                <a:t>There are </a:t>
              </a:r>
              <a:r>
                <a:rPr lang="en-GB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SEVEN</a:t>
              </a:r>
              <a:r>
                <a:rPr lang="en-GB" dirty="0" smtClean="0">
                  <a:latin typeface="Arial" pitchFamily="34" charset="0"/>
                  <a:cs typeface="Arial" pitchFamily="34" charset="0"/>
                </a:rPr>
                <a:t> numbers,</a:t>
              </a:r>
            </a:p>
            <a:p>
              <a:pPr algn="ctr"/>
              <a:r>
                <a:rPr lang="en-GB" dirty="0" smtClean="0">
                  <a:latin typeface="Arial" pitchFamily="34" charset="0"/>
                  <a:cs typeface="Arial" pitchFamily="34" charset="0"/>
                </a:rPr>
                <a:t>so divide by </a:t>
              </a:r>
              <a:r>
                <a:rPr lang="en-GB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7</a:t>
              </a:r>
              <a:r>
                <a:rPr lang="en-GB" dirty="0" smtClean="0">
                  <a:latin typeface="Arial" pitchFamily="34" charset="0"/>
                  <a:cs typeface="Arial" pitchFamily="34" charset="0"/>
                </a:rPr>
                <a:t>:</a:t>
              </a:r>
            </a:p>
          </p:txBody>
        </p:sp>
      </p:grpSp>
      <p:sp>
        <p:nvSpPr>
          <p:cNvPr id="27" name="Oval 26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15" grpId="0"/>
      <p:bldP spid="16" grpId="0"/>
      <p:bldP spid="17" grpId="0"/>
      <p:bldP spid="18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An average is a value chosen to represent a set of data.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are various ways of choosing an average.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To find the mean,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add the numbers together 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and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divide by how many numbers there are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MEAN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3: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mean of: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105,  292,  345,  627,  319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762" y="2479644"/>
            <a:ext cx="43126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Add the numbers: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3761" y="2912736"/>
            <a:ext cx="43818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latin typeface="Arial" pitchFamily="34" charset="0"/>
                <a:cs typeface="Arial" pitchFamily="34" charset="0"/>
              </a:rPr>
              <a:t>105 + 292 + 345 + 627 + 319   =   </a:t>
            </a:r>
            <a:r>
              <a:rPr lang="en-GB" sz="16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1688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4696" y="3790507"/>
            <a:ext cx="30517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1688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÷    </a:t>
            </a:r>
            <a:r>
              <a:rPr lang="en-GB" sz="2000" b="1" dirty="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5</a:t>
            </a:r>
            <a:r>
              <a:rPr lang="en-GB" sz="2000" b="1" dirty="0" smtClean="0">
                <a:latin typeface="Arial" pitchFamily="34" charset="0"/>
                <a:cs typeface="Arial" pitchFamily="34" charset="0"/>
              </a:rPr>
              <a:t>    =    337.6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85647" y="4793598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1653" y="4856552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337.6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mean</a:t>
            </a:r>
          </a:p>
        </p:txBody>
      </p:sp>
      <p:grpSp>
        <p:nvGrpSpPr>
          <p:cNvPr id="2" name="Group 27"/>
          <p:cNvGrpSpPr/>
          <p:nvPr/>
        </p:nvGrpSpPr>
        <p:grpSpPr>
          <a:xfrm>
            <a:off x="3260035" y="3279914"/>
            <a:ext cx="2226368" cy="1421296"/>
            <a:chOff x="3260035" y="3279914"/>
            <a:chExt cx="2226368" cy="1421296"/>
          </a:xfrm>
        </p:grpSpPr>
        <p:grpSp>
          <p:nvGrpSpPr>
            <p:cNvPr id="3" name="Group 24"/>
            <p:cNvGrpSpPr/>
            <p:nvPr/>
          </p:nvGrpSpPr>
          <p:grpSpPr>
            <a:xfrm>
              <a:off x="3279916" y="3279914"/>
              <a:ext cx="2206487" cy="1421296"/>
              <a:chOff x="3538330" y="3279914"/>
              <a:chExt cx="2206487" cy="142129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3687418" y="3279914"/>
                <a:ext cx="1421296" cy="1421296"/>
              </a:xfrm>
              <a:prstGeom prst="ellipse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4" name="Right Arrow 23"/>
              <p:cNvSpPr/>
              <p:nvPr/>
            </p:nvSpPr>
            <p:spPr>
              <a:xfrm>
                <a:off x="3538330" y="3655117"/>
                <a:ext cx="2206487" cy="670891"/>
              </a:xfrm>
              <a:prstGeom prst="rightArrow">
                <a:avLst/>
              </a:prstGeom>
              <a:solidFill>
                <a:srgbClr val="CC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3260035" y="3482731"/>
              <a:ext cx="190831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There are </a:t>
              </a:r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FIVE</a:t>
              </a:r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 numbers,</a:t>
              </a:r>
            </a:p>
            <a:p>
              <a:pPr algn="ctr"/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so divide by </a:t>
              </a:r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5</a:t>
              </a:r>
              <a:r>
                <a:rPr lang="en-GB" sz="2000" dirty="0" smtClean="0">
                  <a:latin typeface="Arial" pitchFamily="34" charset="0"/>
                  <a:cs typeface="Arial" pitchFamily="34" charset="0"/>
                </a:rPr>
                <a:t>:</a:t>
              </a:r>
            </a:p>
          </p:txBody>
        </p:sp>
      </p:grpSp>
      <p:sp>
        <p:nvSpPr>
          <p:cNvPr id="27" name="Oval 26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15" grpId="0"/>
      <p:bldP spid="16" grpId="0"/>
      <p:bldP spid="17" grpId="0"/>
      <p:bldP spid="18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70827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Averages:  Mode, Median and Mean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Advantages and disadvantages of each type of average.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" name="Group 270"/>
          <p:cNvGrpSpPr/>
          <p:nvPr/>
        </p:nvGrpSpPr>
        <p:grpSpPr>
          <a:xfrm>
            <a:off x="6120177" y="780777"/>
            <a:ext cx="2820960" cy="1323833"/>
            <a:chOff x="6084552" y="1421647"/>
            <a:chExt cx="2820960" cy="1323833"/>
          </a:xfrm>
        </p:grpSpPr>
        <p:sp>
          <p:nvSpPr>
            <p:cNvPr id="260" name="Down Arrow 259"/>
            <p:cNvSpPr/>
            <p:nvPr/>
          </p:nvSpPr>
          <p:spPr>
            <a:xfrm>
              <a:off x="652604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6" name="Rounded Rectangle 255"/>
            <p:cNvSpPr/>
            <p:nvPr/>
          </p:nvSpPr>
          <p:spPr>
            <a:xfrm>
              <a:off x="608455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7" name="TextBox 256"/>
            <p:cNvSpPr txBox="1"/>
            <p:nvPr/>
          </p:nvSpPr>
          <p:spPr>
            <a:xfrm>
              <a:off x="611263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4" name="Group 272"/>
          <p:cNvGrpSpPr/>
          <p:nvPr/>
        </p:nvGrpSpPr>
        <p:grpSpPr>
          <a:xfrm>
            <a:off x="3198417" y="780777"/>
            <a:ext cx="2820960" cy="1323833"/>
            <a:chOff x="3162792" y="1421647"/>
            <a:chExt cx="2820960" cy="1323833"/>
          </a:xfrm>
        </p:grpSpPr>
        <p:sp>
          <p:nvSpPr>
            <p:cNvPr id="259" name="Down Arrow 258"/>
            <p:cNvSpPr/>
            <p:nvPr/>
          </p:nvSpPr>
          <p:spPr>
            <a:xfrm>
              <a:off x="360428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3" name="Rounded Rectangle 252"/>
            <p:cNvSpPr/>
            <p:nvPr/>
          </p:nvSpPr>
          <p:spPr>
            <a:xfrm>
              <a:off x="316279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54" name="TextBox 253"/>
            <p:cNvSpPr txBox="1"/>
            <p:nvPr/>
          </p:nvSpPr>
          <p:spPr>
            <a:xfrm>
              <a:off x="319087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MEDIAN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6" name="Group 271"/>
          <p:cNvGrpSpPr/>
          <p:nvPr/>
        </p:nvGrpSpPr>
        <p:grpSpPr>
          <a:xfrm>
            <a:off x="276657" y="780777"/>
            <a:ext cx="2820960" cy="1323833"/>
            <a:chOff x="241032" y="1421647"/>
            <a:chExt cx="2820960" cy="1323833"/>
          </a:xfrm>
        </p:grpSpPr>
        <p:sp>
          <p:nvSpPr>
            <p:cNvPr id="258" name="Down Arrow 257"/>
            <p:cNvSpPr/>
            <p:nvPr/>
          </p:nvSpPr>
          <p:spPr>
            <a:xfrm>
              <a:off x="682521" y="1421647"/>
              <a:ext cx="1937982" cy="1323833"/>
            </a:xfrm>
            <a:prstGeom prst="downArrow">
              <a:avLst>
                <a:gd name="adj1" fmla="val 50000"/>
                <a:gd name="adj2" fmla="val 26068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241032" y="1594228"/>
              <a:ext cx="2820960" cy="710682"/>
            </a:xfrm>
            <a:prstGeom prst="roundRect">
              <a:avLst>
                <a:gd name="adj" fmla="val 36125"/>
              </a:avLst>
            </a:prstGeom>
            <a:gradFill flip="none" rotWithShape="1">
              <a:gsLst>
                <a:gs pos="0">
                  <a:srgbClr val="3366FF">
                    <a:tint val="66000"/>
                    <a:satMod val="160000"/>
                  </a:srgbClr>
                </a:gs>
                <a:gs pos="50000">
                  <a:srgbClr val="3366FF">
                    <a:tint val="44500"/>
                    <a:satMod val="160000"/>
                  </a:srgbClr>
                </a:gs>
                <a:gs pos="100000">
                  <a:srgbClr val="3366FF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269116" y="1626404"/>
              <a:ext cx="27647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600" b="1" i="1" dirty="0" smtClean="0">
                  <a:latin typeface="Arial" pitchFamily="34" charset="0"/>
                  <a:cs typeface="Arial" pitchFamily="34" charset="0"/>
                </a:rPr>
                <a:t>MODE</a:t>
              </a:r>
              <a:endParaRPr lang="en-GB" sz="3600" b="1" dirty="0" smtClean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29" name="Oval 28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423" name="Rounded Rectangle 422"/>
          <p:cNvSpPr/>
          <p:nvPr/>
        </p:nvSpPr>
        <p:spPr>
          <a:xfrm>
            <a:off x="456525" y="2198904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81028" y="2210922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Advantages</a:t>
            </a:r>
          </a:p>
        </p:txBody>
      </p:sp>
      <p:sp>
        <p:nvSpPr>
          <p:cNvPr id="265" name="Rounded Rectangle 264"/>
          <p:cNvSpPr/>
          <p:nvPr/>
        </p:nvSpPr>
        <p:spPr>
          <a:xfrm>
            <a:off x="3378285" y="2198904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3402788" y="2210922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Advantages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6300045" y="2198905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269" name="TextBox 268"/>
          <p:cNvSpPr txBox="1"/>
          <p:nvPr/>
        </p:nvSpPr>
        <p:spPr>
          <a:xfrm>
            <a:off x="6324548" y="2210920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Advantages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028" y="2564414"/>
            <a:ext cx="241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It is easy to obtain.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2788" y="2564414"/>
            <a:ext cx="24122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It is easy to obtain.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02788" y="3225562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It is not affected by extreme values.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4548" y="2564414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All data values are taken into account.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4548" y="3225562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Usually gives a good overall picture of the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028" y="3225562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It is always one of the values in the list.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6525" y="4251349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81028" y="4263367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Disadvantages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78285" y="4251349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402788" y="4263367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Disadvantages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0045" y="4251350"/>
            <a:ext cx="2461224" cy="18980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24548" y="4263365"/>
            <a:ext cx="2412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Disadvantages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028" y="4616859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Sometimes there is more than one, or no mode.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02788" y="4616859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May not be a good representative.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02788" y="5278007"/>
            <a:ext cx="2412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GB" sz="1600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24548" y="4616859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Can be more difficult to calculate.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324548" y="5278007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It is affected by extreme values.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028" y="5278007"/>
            <a:ext cx="24122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>
                <a:latin typeface="Arial" pitchFamily="34" charset="0"/>
                <a:cs typeface="Arial" pitchFamily="34" charset="0"/>
              </a:rPr>
              <a:t>May not be a good representative.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23" grpId="0" animBg="1"/>
      <p:bldP spid="424" grpId="0"/>
      <p:bldP spid="265" grpId="0" animBg="1"/>
      <p:bldP spid="266" grpId="0"/>
      <p:bldP spid="268" grpId="0" animBg="1"/>
      <p:bldP spid="269" grpId="0"/>
      <p:bldP spid="31" grpId="0"/>
      <p:bldP spid="32" grpId="0"/>
      <p:bldP spid="33" grpId="0"/>
      <p:bldP spid="34" grpId="0"/>
      <p:bldP spid="35" grpId="0"/>
      <p:bldP spid="36" grpId="0"/>
      <p:bldP spid="52" grpId="0" animBg="1"/>
      <p:bldP spid="53" grpId="0"/>
      <p:bldP spid="54" grpId="0" animBg="1"/>
      <p:bldP spid="55" grpId="0"/>
      <p:bldP spid="56" grpId="0" animBg="1"/>
      <p:bldP spid="57" grpId="0"/>
      <p:bldP spid="58" grpId="0"/>
      <p:bldP spid="59" grpId="0"/>
      <p:bldP spid="61" grpId="0"/>
      <p:bldP spid="62" grpId="0"/>
      <p:bldP spid="6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85647" y="4678623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Range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The RANGE is not an average.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It is a measure of how spread out the data is.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To find the range, we do:</a:t>
            </a:r>
          </a:p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biggest number minus</a:t>
            </a:r>
          </a:p>
          <a:p>
            <a:pPr algn="ctr"/>
            <a:r>
              <a:rPr lang="en-GB" sz="2200" b="1" dirty="0" smtClean="0">
                <a:latin typeface="Arial" pitchFamily="34" charset="0"/>
                <a:cs typeface="Arial" pitchFamily="34" charset="0"/>
              </a:rPr>
              <a:t>smallest number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RANGE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1: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range of: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8,  15,  6,  5,  8,  7,  3,  9,  12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2009" y="3287170"/>
            <a:ext cx="3325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biggest   –   smallest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4741577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12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range</a:t>
            </a:r>
          </a:p>
        </p:txBody>
      </p:sp>
      <p:grpSp>
        <p:nvGrpSpPr>
          <p:cNvPr id="30" name="Group 29"/>
          <p:cNvGrpSpPr/>
          <p:nvPr/>
        </p:nvGrpSpPr>
        <p:grpSpPr>
          <a:xfrm>
            <a:off x="4506275" y="1790644"/>
            <a:ext cx="1350335" cy="1412873"/>
            <a:chOff x="5349421" y="2849526"/>
            <a:chExt cx="1350335" cy="1412873"/>
          </a:xfrm>
        </p:grpSpPr>
        <p:sp>
          <p:nvSpPr>
            <p:cNvPr id="31" name="Up Arrow 30"/>
            <p:cNvSpPr/>
            <p:nvPr/>
          </p:nvSpPr>
          <p:spPr>
            <a:xfrm>
              <a:off x="5785356" y="338736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49421" y="3862289"/>
              <a:ext cx="1350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biggest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5785356" y="284952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689356" y="1790644"/>
            <a:ext cx="1350335" cy="1412873"/>
            <a:chOff x="5349421" y="2849526"/>
            <a:chExt cx="1350335" cy="1412873"/>
          </a:xfrm>
        </p:grpSpPr>
        <p:sp>
          <p:nvSpPr>
            <p:cNvPr id="38" name="Up Arrow 37"/>
            <p:cNvSpPr/>
            <p:nvPr/>
          </p:nvSpPr>
          <p:spPr>
            <a:xfrm>
              <a:off x="5785356" y="338736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49421" y="3862289"/>
              <a:ext cx="1350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smallest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785356" y="284952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694053" y="3760204"/>
            <a:ext cx="308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=     15   -  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53" y="4233238"/>
            <a:ext cx="28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=     12   </a:t>
            </a:r>
          </a:p>
        </p:txBody>
      </p:sp>
      <p:sp>
        <p:nvSpPr>
          <p:cNvPr id="43" name="Oval 42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3" grpId="0"/>
      <p:bldP spid="9" grpId="0"/>
      <p:bldP spid="424" grpId="0"/>
      <p:bldP spid="418" grpId="0"/>
      <p:bldP spid="34" grpId="0"/>
      <p:bldP spid="35" grpId="0"/>
      <p:bldP spid="16" grpId="0"/>
      <p:bldP spid="17" grpId="0"/>
      <p:bldP spid="18" grpId="0"/>
      <p:bldP spid="19" grpId="0"/>
      <p:bldP spid="41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136667" y="1286811"/>
            <a:ext cx="5802652" cy="4322419"/>
          </a:xfrm>
          <a:prstGeom prst="roundRect">
            <a:avLst>
              <a:gd name="adj" fmla="val 5934"/>
            </a:avLst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585647" y="4678623"/>
            <a:ext cx="4189863" cy="710682"/>
          </a:xfrm>
          <a:prstGeom prst="roundRect">
            <a:avLst>
              <a:gd name="adj" fmla="val 18842"/>
            </a:avLst>
          </a:prstGeom>
          <a:gradFill flip="none" rotWithShape="1">
            <a:gsLst>
              <a:gs pos="0">
                <a:srgbClr val="CDD5FF"/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1520" y="6273316"/>
            <a:ext cx="8568952" cy="404664"/>
          </a:xfrm>
          <a:prstGeom prst="roundRect">
            <a:avLst>
              <a:gd name="adj" fmla="val 50000"/>
            </a:avLst>
          </a:prstGeom>
          <a:solidFill>
            <a:srgbClr val="99CCFF"/>
          </a:solidFill>
          <a:ln w="127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7564" y="6309320"/>
            <a:ext cx="802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>
                <a:latin typeface="Arial" pitchFamily="34" charset="0"/>
                <a:cs typeface="Arial" pitchFamily="34" charset="0"/>
              </a:rPr>
              <a:t>Range</a:t>
            </a:r>
            <a:endParaRPr lang="en-GB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2011" y="260648"/>
            <a:ext cx="8720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latin typeface="Arial" pitchFamily="34" charset="0"/>
                <a:cs typeface="Arial" pitchFamily="34" charset="0"/>
              </a:rPr>
              <a:t>The RANGE is not an average.</a:t>
            </a:r>
            <a:endParaRPr lang="en-GB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4716" y="774773"/>
            <a:ext cx="8707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It is a measure of how spread out the data is.</a:t>
            </a:r>
            <a:endParaRPr lang="en-GB" sz="20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3" name="Rounded Rectangle 422"/>
          <p:cNvSpPr/>
          <p:nvPr/>
        </p:nvSpPr>
        <p:spPr>
          <a:xfrm>
            <a:off x="404805" y="2990506"/>
            <a:ext cx="2461224" cy="2632375"/>
          </a:xfrm>
          <a:prstGeom prst="roundRect">
            <a:avLst>
              <a:gd name="adj" fmla="val 15090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>
              <a:latin typeface="Arial" pitchFamily="34" charset="0"/>
              <a:cs typeface="Arial" pitchFamily="34" charset="0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429308" y="3077573"/>
            <a:ext cx="241221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To find the range, we do:</a:t>
            </a:r>
          </a:p>
          <a:p>
            <a:pPr algn="ctr"/>
            <a:r>
              <a:rPr lang="en-GB" sz="22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GB" sz="2200" b="1" dirty="0" smtClean="0">
                <a:latin typeface="Arial" pitchFamily="34" charset="0"/>
                <a:cs typeface="Arial" pitchFamily="34" charset="0"/>
              </a:rPr>
              <a:t>biggest number minus</a:t>
            </a:r>
          </a:p>
          <a:p>
            <a:pPr algn="ctr"/>
            <a:r>
              <a:rPr lang="en-GB" sz="2200" b="1" dirty="0" smtClean="0">
                <a:latin typeface="Arial" pitchFamily="34" charset="0"/>
                <a:cs typeface="Arial" pitchFamily="34" charset="0"/>
              </a:rPr>
              <a:t>smallest number</a:t>
            </a:r>
            <a:r>
              <a:rPr lang="en-GB" sz="2200" dirty="0" smtClean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258" name="Down Arrow 257"/>
          <p:cNvSpPr/>
          <p:nvPr/>
        </p:nvSpPr>
        <p:spPr>
          <a:xfrm>
            <a:off x="682521" y="1421647"/>
            <a:ext cx="1937982" cy="1323833"/>
          </a:xfrm>
          <a:prstGeom prst="downArrow">
            <a:avLst>
              <a:gd name="adj1" fmla="val 50000"/>
              <a:gd name="adj2" fmla="val 26068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22" name="Rounded Rectangle 421"/>
          <p:cNvSpPr/>
          <p:nvPr/>
        </p:nvSpPr>
        <p:spPr>
          <a:xfrm>
            <a:off x="241032" y="1594228"/>
            <a:ext cx="2820960" cy="710682"/>
          </a:xfrm>
          <a:prstGeom prst="roundRect">
            <a:avLst>
              <a:gd name="adj" fmla="val 36125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269116" y="1626404"/>
            <a:ext cx="2764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i="1" dirty="0" smtClean="0">
                <a:latin typeface="Arial" pitchFamily="34" charset="0"/>
                <a:cs typeface="Arial" pitchFamily="34" charset="0"/>
              </a:rPr>
              <a:t>RANGE</a:t>
            </a:r>
            <a:endParaRPr lang="en-GB" sz="3600" b="1" dirty="0" smtClean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80013" y="1366176"/>
            <a:ext cx="14284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Example 2: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3762" y="1366176"/>
            <a:ext cx="43126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latin typeface="Arial" pitchFamily="34" charset="0"/>
                <a:cs typeface="Arial" pitchFamily="34" charset="0"/>
              </a:rPr>
              <a:t>Find the range of: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3762" y="1791536"/>
            <a:ext cx="4312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19,  21,  17,  36,  37,  44, 31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82285" y="2479644"/>
            <a:ext cx="1428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Arial" pitchFamily="34" charset="0"/>
                <a:cs typeface="Arial" pitchFamily="34" charset="0"/>
              </a:rPr>
              <a:t>Answer: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2009" y="3287170"/>
            <a:ext cx="33250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biggest   –   smallest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1653" y="4741577"/>
            <a:ext cx="39578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latin typeface="Arial" pitchFamily="34" charset="0"/>
                <a:cs typeface="Arial" pitchFamily="34" charset="0"/>
              </a:rPr>
              <a:t>27 </a:t>
            </a:r>
            <a:r>
              <a:rPr lang="en-GB" sz="3200" dirty="0" smtClean="0">
                <a:latin typeface="Arial" pitchFamily="34" charset="0"/>
                <a:cs typeface="Arial" pitchFamily="34" charset="0"/>
              </a:rPr>
              <a:t>is the </a:t>
            </a:r>
            <a:r>
              <a:rPr lang="en-GB" sz="3200" b="1" dirty="0" smtClean="0">
                <a:latin typeface="Arial" pitchFamily="34" charset="0"/>
                <a:cs typeface="Arial" pitchFamily="34" charset="0"/>
              </a:rPr>
              <a:t>range</a:t>
            </a:r>
          </a:p>
        </p:txBody>
      </p:sp>
      <p:grpSp>
        <p:nvGrpSpPr>
          <p:cNvPr id="2" name="Group 29"/>
          <p:cNvGrpSpPr/>
          <p:nvPr/>
        </p:nvGrpSpPr>
        <p:grpSpPr>
          <a:xfrm>
            <a:off x="7035723" y="1790644"/>
            <a:ext cx="1350335" cy="1412873"/>
            <a:chOff x="5349421" y="2849526"/>
            <a:chExt cx="1350335" cy="1412873"/>
          </a:xfrm>
        </p:grpSpPr>
        <p:sp>
          <p:nvSpPr>
            <p:cNvPr id="31" name="Up Arrow 30"/>
            <p:cNvSpPr/>
            <p:nvPr/>
          </p:nvSpPr>
          <p:spPr>
            <a:xfrm>
              <a:off x="5785356" y="338736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349421" y="3862289"/>
              <a:ext cx="1350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biggest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5785356" y="284952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3" name="Group 36"/>
          <p:cNvGrpSpPr/>
          <p:nvPr/>
        </p:nvGrpSpPr>
        <p:grpSpPr>
          <a:xfrm>
            <a:off x="5255690" y="1790644"/>
            <a:ext cx="1350335" cy="1412873"/>
            <a:chOff x="5349421" y="2849526"/>
            <a:chExt cx="1350335" cy="1412873"/>
          </a:xfrm>
        </p:grpSpPr>
        <p:sp>
          <p:nvSpPr>
            <p:cNvPr id="38" name="Up Arrow 37"/>
            <p:cNvSpPr/>
            <p:nvPr/>
          </p:nvSpPr>
          <p:spPr>
            <a:xfrm>
              <a:off x="5785356" y="3387365"/>
              <a:ext cx="478465" cy="457204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349421" y="3862289"/>
              <a:ext cx="135033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b="1" dirty="0" smtClean="0">
                  <a:solidFill>
                    <a:srgbClr val="0070C0"/>
                  </a:solidFill>
                  <a:latin typeface="Arial" pitchFamily="34" charset="0"/>
                  <a:cs typeface="Arial" pitchFamily="34" charset="0"/>
                </a:rPr>
                <a:t>smallest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785356" y="2849526"/>
              <a:ext cx="478465" cy="478465"/>
            </a:xfrm>
            <a:prstGeom prst="ellipse">
              <a:avLst/>
            </a:prstGeom>
            <a:noFill/>
            <a:ln w="571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4694053" y="3760204"/>
            <a:ext cx="30842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=     44   -   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4053" y="4233238"/>
            <a:ext cx="28843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 smtClean="0">
                <a:latin typeface="Arial" pitchFamily="34" charset="0"/>
                <a:cs typeface="Arial" pitchFamily="34" charset="0"/>
              </a:rPr>
              <a:t>=     27   </a:t>
            </a:r>
          </a:p>
        </p:txBody>
      </p:sp>
      <p:sp>
        <p:nvSpPr>
          <p:cNvPr id="30" name="Oval 29"/>
          <p:cNvSpPr/>
          <p:nvPr/>
        </p:nvSpPr>
        <p:spPr>
          <a:xfrm>
            <a:off x="287524" y="6306784"/>
            <a:ext cx="337728" cy="337728"/>
          </a:xfrm>
          <a:prstGeom prst="ellipse">
            <a:avLst/>
          </a:prstGeom>
          <a:solidFill>
            <a:srgbClr val="6699FF"/>
          </a:solidFill>
          <a:ln w="63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30374" y="6321760"/>
            <a:ext cx="2520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000066"/>
                </a:solidFill>
                <a:latin typeface="Arial" pitchFamily="34" charset="0"/>
                <a:cs typeface="Arial" pitchFamily="34" charset="0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34" grpId="0"/>
      <p:bldP spid="35" grpId="0"/>
      <p:bldP spid="16" grpId="0"/>
      <p:bldP spid="17" grpId="0"/>
      <p:bldP spid="18" grpId="0"/>
      <p:bldP spid="19" grpId="0"/>
      <p:bldP spid="41" grpId="0"/>
      <p:bldP spid="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125760" y="94320"/>
            <a:ext cx="8892480" cy="6669360"/>
          </a:xfrm>
          <a:prstGeom prst="roundRect">
            <a:avLst>
              <a:gd name="adj" fmla="val 4645"/>
            </a:avLst>
          </a:prstGeom>
          <a:solidFill>
            <a:srgbClr val="CCECFF"/>
          </a:solidFill>
          <a:ln w="5715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251520" y="6273316"/>
            <a:ext cx="8568952" cy="405336"/>
            <a:chOff x="251520" y="6273316"/>
            <a:chExt cx="8568952" cy="405336"/>
          </a:xfrm>
        </p:grpSpPr>
        <p:sp>
          <p:nvSpPr>
            <p:cNvPr id="10" name="Rounded Rectangle 9"/>
            <p:cNvSpPr/>
            <p:nvPr/>
          </p:nvSpPr>
          <p:spPr>
            <a:xfrm>
              <a:off x="251520" y="6273316"/>
              <a:ext cx="8568952" cy="404664"/>
            </a:xfrm>
            <a:prstGeom prst="roundRect">
              <a:avLst>
                <a:gd name="adj" fmla="val 50000"/>
              </a:avLst>
            </a:prstGeom>
            <a:solidFill>
              <a:srgbClr val="99CCFF"/>
            </a:solidFill>
            <a:ln w="1270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7564" y="6309320"/>
              <a:ext cx="622869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b="1" smtClean="0">
                  <a:latin typeface="Arial" pitchFamily="34" charset="0"/>
                  <a:cs typeface="Arial" pitchFamily="34" charset="0"/>
                </a:rPr>
                <a:t>-  MATHS TOPICS  HIGH  -</a:t>
              </a:r>
              <a:endParaRPr lang="en-GB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287524" y="6306784"/>
              <a:ext cx="337728" cy="337728"/>
            </a:xfrm>
            <a:prstGeom prst="ellipse">
              <a:avLst/>
            </a:prstGeom>
            <a:solidFill>
              <a:srgbClr val="6699FF"/>
            </a:solidFill>
            <a:ln w="635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0374" y="6321760"/>
              <a:ext cx="25202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400" b="1" dirty="0">
                  <a:solidFill>
                    <a:srgbClr val="000066"/>
                  </a:solidFill>
                  <a:latin typeface="Arial" pitchFamily="34" charset="0"/>
                  <a:cs typeface="Arial" pitchFamily="34" charset="0"/>
                </a:rPr>
                <a:t>D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6876256" y="6309320"/>
              <a:ext cx="1836204" cy="332656"/>
            </a:xfrm>
            <a:prstGeom prst="roundRect">
              <a:avLst>
                <a:gd name="adj" fmla="val 50000"/>
              </a:avLst>
            </a:prstGeom>
            <a:solidFill>
              <a:srgbClr val="6699FF"/>
            </a:solidFill>
            <a:ln w="12700"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2270" y="6337149"/>
              <a:ext cx="15841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200" dirty="0" smtClean="0">
                  <a:latin typeface="Arial" pitchFamily="34" charset="0"/>
                  <a:cs typeface="Arial" pitchFamily="34" charset="0"/>
                </a:rPr>
                <a:t>©  </a:t>
              </a:r>
              <a:r>
                <a:rPr lang="en-GB" sz="1200" b="1" dirty="0" smtClean="0">
                  <a:latin typeface="Arial" pitchFamily="34" charset="0"/>
                  <a:cs typeface="Arial" pitchFamily="34" charset="0"/>
                </a:rPr>
                <a:t>B. Taylor 2013</a:t>
              </a:r>
              <a:endParaRPr lang="en-GB" sz="1200" b="1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773578" y="764704"/>
            <a:ext cx="7596844" cy="4644516"/>
          </a:xfrm>
          <a:prstGeom prst="roundRect">
            <a:avLst>
              <a:gd name="adj" fmla="val 15239"/>
            </a:avLst>
          </a:prstGeom>
          <a:gradFill flip="none" rotWithShape="1">
            <a:gsLst>
              <a:gs pos="0">
                <a:srgbClr val="3366FF">
                  <a:tint val="66000"/>
                  <a:satMod val="160000"/>
                </a:srgbClr>
              </a:gs>
              <a:gs pos="50000">
                <a:srgbClr val="3366FF">
                  <a:tint val="44500"/>
                  <a:satMod val="160000"/>
                </a:srgbClr>
              </a:gs>
              <a:gs pos="100000">
                <a:srgbClr val="3366FF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101600">
            <a:solidFill>
              <a:srgbClr val="33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6" name="Group 23"/>
          <p:cNvGrpSpPr/>
          <p:nvPr/>
        </p:nvGrpSpPr>
        <p:grpSpPr>
          <a:xfrm>
            <a:off x="904203" y="4066211"/>
            <a:ext cx="1212384" cy="1212384"/>
            <a:chOff x="323528" y="1556792"/>
            <a:chExt cx="2223864" cy="2223864"/>
          </a:xfrm>
        </p:grpSpPr>
        <p:sp>
          <p:nvSpPr>
            <p:cNvPr id="17" name="Oval 16"/>
            <p:cNvSpPr/>
            <p:nvPr/>
          </p:nvSpPr>
          <p:spPr>
            <a:xfrm>
              <a:off x="323528" y="1556792"/>
              <a:ext cx="2223864" cy="222386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8" name="Group 27"/>
            <p:cNvGrpSpPr/>
            <p:nvPr/>
          </p:nvGrpSpPr>
          <p:grpSpPr>
            <a:xfrm>
              <a:off x="539552" y="1851547"/>
              <a:ext cx="1856283" cy="1717277"/>
              <a:chOff x="579748" y="1855739"/>
              <a:chExt cx="1856283" cy="1717277"/>
            </a:xfrm>
          </p:grpSpPr>
          <p:sp>
            <p:nvSpPr>
              <p:cNvPr id="19" name="Hexagon 18"/>
              <p:cNvSpPr/>
              <p:nvPr/>
            </p:nvSpPr>
            <p:spPr>
              <a:xfrm>
                <a:off x="1145239" y="1855739"/>
                <a:ext cx="1044118" cy="900104"/>
              </a:xfrm>
              <a:prstGeom prst="hexagon">
                <a:avLst/>
              </a:prstGeom>
              <a:solidFill>
                <a:srgbClr val="99FF66"/>
              </a:solidFill>
              <a:ln w="28575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0" name="Octagon 19"/>
              <p:cNvSpPr/>
              <p:nvPr/>
            </p:nvSpPr>
            <p:spPr>
              <a:xfrm>
                <a:off x="579748" y="1993032"/>
                <a:ext cx="1008112" cy="1008112"/>
              </a:xfrm>
              <a:prstGeom prst="octagon">
                <a:avLst/>
              </a:prstGeom>
              <a:solidFill>
                <a:srgbClr val="FFFF66"/>
              </a:solidFill>
              <a:ln w="28575">
                <a:solidFill>
                  <a:srgbClr val="FF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1" name="Decagon 20"/>
              <p:cNvSpPr/>
              <p:nvPr/>
            </p:nvSpPr>
            <p:spPr>
              <a:xfrm>
                <a:off x="863588" y="2528900"/>
                <a:ext cx="1044116" cy="1044116"/>
              </a:xfrm>
              <a:prstGeom prst="decagon">
                <a:avLst/>
              </a:prstGeom>
              <a:solidFill>
                <a:srgbClr val="FF9999"/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22" name="Regular Pentagon 21"/>
              <p:cNvSpPr/>
              <p:nvPr/>
            </p:nvSpPr>
            <p:spPr>
              <a:xfrm>
                <a:off x="1463923" y="2301144"/>
                <a:ext cx="972108" cy="972110"/>
              </a:xfrm>
              <a:prstGeom prst="pentagon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28575"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997</TotalTime>
  <Words>1362</Words>
  <Application>Microsoft Office PowerPoint</Application>
  <PresentationFormat>On-screen Show (4:3)</PresentationFormat>
  <Paragraphs>226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Brian</dc:creator>
  <cp:lastModifiedBy>Taylor</cp:lastModifiedBy>
  <cp:revision>123</cp:revision>
  <dcterms:created xsi:type="dcterms:W3CDTF">2010-11-29T19:11:46Z</dcterms:created>
  <dcterms:modified xsi:type="dcterms:W3CDTF">2013-01-21T14:22:22Z</dcterms:modified>
</cp:coreProperties>
</file>
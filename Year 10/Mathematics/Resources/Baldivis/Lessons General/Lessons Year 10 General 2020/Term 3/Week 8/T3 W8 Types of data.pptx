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0"/>
  </p:notesMasterIdLst>
  <p:handoutMasterIdLst>
    <p:handoutMasterId r:id="rId21"/>
  </p:handoutMasterIdLst>
  <p:sldIdLst>
    <p:sldId id="382" r:id="rId3"/>
    <p:sldId id="259" r:id="rId4"/>
    <p:sldId id="258" r:id="rId5"/>
    <p:sldId id="310" r:id="rId6"/>
    <p:sldId id="318" r:id="rId7"/>
    <p:sldId id="339" r:id="rId8"/>
    <p:sldId id="344" r:id="rId9"/>
    <p:sldId id="321" r:id="rId10"/>
    <p:sldId id="320" r:id="rId11"/>
    <p:sldId id="340" r:id="rId12"/>
    <p:sldId id="341" r:id="rId13"/>
    <p:sldId id="342" r:id="rId14"/>
    <p:sldId id="343" r:id="rId15"/>
    <p:sldId id="348" r:id="rId16"/>
    <p:sldId id="349" r:id="rId17"/>
    <p:sldId id="350" r:id="rId18"/>
    <p:sldId id="351"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35" autoAdjust="0"/>
    <p:restoredTop sz="92895" autoAdjust="0"/>
  </p:normalViewPr>
  <p:slideViewPr>
    <p:cSldViewPr>
      <p:cViewPr varScale="1">
        <p:scale>
          <a:sx n="79" d="100"/>
          <a:sy n="79" d="100"/>
        </p:scale>
        <p:origin x="1565" y="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4" y="0"/>
            <a:ext cx="2971800" cy="457200"/>
          </a:xfrm>
          <a:prstGeom prst="rect">
            <a:avLst/>
          </a:prstGeom>
        </p:spPr>
        <p:txBody>
          <a:bodyPr vert="horz" lIns="91440" tIns="45720" rIns="91440" bIns="45720" rtlCol="0"/>
          <a:lstStyle>
            <a:lvl1pPr algn="r">
              <a:defRPr sz="1200"/>
            </a:lvl1pPr>
          </a:lstStyle>
          <a:p>
            <a:fld id="{06D868F5-AF10-404C-9782-09F3F9026E2C}" type="datetimeFigureOut">
              <a:rPr lang="en-AU" smtClean="0"/>
              <a:t>10/09/2020</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4" y="8685213"/>
            <a:ext cx="2971800" cy="457200"/>
          </a:xfrm>
          <a:prstGeom prst="rect">
            <a:avLst/>
          </a:prstGeom>
        </p:spPr>
        <p:txBody>
          <a:bodyPr vert="horz" lIns="91440" tIns="45720" rIns="91440" bIns="45720" rtlCol="0" anchor="b"/>
          <a:lstStyle>
            <a:lvl1pPr algn="r">
              <a:defRPr sz="1200"/>
            </a:lvl1pPr>
          </a:lstStyle>
          <a:p>
            <a:fld id="{0E8BA743-15A1-4FCF-A6EE-E2354080B518}" type="slidenum">
              <a:rPr lang="en-AU" smtClean="0"/>
              <a:t>‹#›</a:t>
            </a:fld>
            <a:endParaRPr lang="en-AU"/>
          </a:p>
        </p:txBody>
      </p:sp>
    </p:spTree>
    <p:extLst>
      <p:ext uri="{BB962C8B-B14F-4D97-AF65-F5344CB8AC3E}">
        <p14:creationId xmlns:p14="http://schemas.microsoft.com/office/powerpoint/2010/main" val="1802322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B0AC81-BBAE-4CDF-838B-C02642A12DF8}" type="datetimeFigureOut">
              <a:rPr lang="en-AU" smtClean="0"/>
              <a:t>10/09/2020</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7593B73-52FF-4D75-B8A7-C486D077E4B1}" type="slidenum">
              <a:rPr lang="en-AU" smtClean="0"/>
              <a:t>‹#›</a:t>
            </a:fld>
            <a:endParaRPr lang="en-AU"/>
          </a:p>
        </p:txBody>
      </p:sp>
    </p:spTree>
    <p:extLst>
      <p:ext uri="{BB962C8B-B14F-4D97-AF65-F5344CB8AC3E}">
        <p14:creationId xmlns:p14="http://schemas.microsoft.com/office/powerpoint/2010/main" val="3733316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642AD9-7489-4112-BCB1-EC4093B422E8}" type="slidenum">
              <a:rPr lang="en-US">
                <a:solidFill>
                  <a:prstClr val="black"/>
                </a:solidFill>
              </a:rPr>
              <a:pPr/>
              <a:t>8</a:t>
            </a:fld>
            <a:endParaRPr lang="en-US">
              <a:solidFill>
                <a:prstClr val="black"/>
              </a:solidFill>
            </a:endParaRPr>
          </a:p>
        </p:txBody>
      </p:sp>
      <p:sp>
        <p:nvSpPr>
          <p:cNvPr id="118786" name="Rectangle 2"/>
          <p:cNvSpPr>
            <a:spLocks noGrp="1" noRot="1" noChangeAspect="1" noChangeArrowheads="1" noTextEdit="1"/>
          </p:cNvSpPr>
          <p:nvPr>
            <p:ph type="sldImg"/>
          </p:nvPr>
        </p:nvSpPr>
        <p:spPr>
          <a:ln/>
        </p:spPr>
      </p:sp>
      <p:sp>
        <p:nvSpPr>
          <p:cNvPr id="118787" name="Rectangle 3"/>
          <p:cNvSpPr>
            <a:spLocks noGrp="1" noChangeArrowheads="1"/>
          </p:cNvSpPr>
          <p:nvPr>
            <p:ph type="body" idx="1"/>
          </p:nvPr>
        </p:nvSpPr>
        <p:spPr/>
        <p:txBody>
          <a:bodyPr/>
          <a:lstStyle/>
          <a:p>
            <a:r>
              <a:rPr lang="en-US" dirty="0"/>
              <a:t>A </a:t>
            </a:r>
            <a:r>
              <a:rPr lang="en-US" b="1" dirty="0"/>
              <a:t>nominal </a:t>
            </a:r>
            <a:r>
              <a:rPr lang="en-US" dirty="0"/>
              <a:t>variable is a categorical variable </a:t>
            </a:r>
            <a:r>
              <a:rPr lang="en-US" i="1" dirty="0"/>
              <a:t>without </a:t>
            </a:r>
            <a:r>
              <a:rPr lang="en-US" dirty="0"/>
              <a:t>any intrinsic order.  For example, say we have a variable called RESIDE that characterizes the part of the United States in which a person lives—the Northeast, the South, the Midwest, the Southwest, or the Northwest.  The categories of this variable have no numeric value or order.  Residence in the Northwest has no quantitative value compared to the Northeast.  Other examples of nominal variables include sex (male, female), nationality (American, Mexican, French), race/ethnicity (African American, Hispanic, White, Asian American), or favorite pet (dog, cat, fish, snake).</a:t>
            </a:r>
          </a:p>
          <a:p>
            <a:r>
              <a:rPr lang="en-US" dirty="0"/>
              <a:t>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03C5C7-02C4-41DE-B466-7598D5062A09}" type="slidenum">
              <a:rPr lang="en-US">
                <a:solidFill>
                  <a:prstClr val="black"/>
                </a:solidFill>
              </a:rPr>
              <a:pPr/>
              <a:t>9</a:t>
            </a:fld>
            <a:endParaRPr lang="en-US">
              <a:solidFill>
                <a:prstClr val="black"/>
              </a:solidFill>
            </a:endParaRPr>
          </a:p>
        </p:txBody>
      </p:sp>
      <p:sp>
        <p:nvSpPr>
          <p:cNvPr id="117762" name="Rectangle 2"/>
          <p:cNvSpPr>
            <a:spLocks noGrp="1" noRot="1" noChangeAspect="1" noChangeArrowheads="1" noTextEdit="1"/>
          </p:cNvSpPr>
          <p:nvPr>
            <p:ph type="sldImg"/>
          </p:nvPr>
        </p:nvSpPr>
        <p:spPr>
          <a:ln/>
        </p:spPr>
      </p:sp>
      <p:sp>
        <p:nvSpPr>
          <p:cNvPr id="117763" name="Rectangle 3"/>
          <p:cNvSpPr>
            <a:spLocks noGrp="1" noChangeArrowheads="1"/>
          </p:cNvSpPr>
          <p:nvPr>
            <p:ph type="body" idx="1"/>
          </p:nvPr>
        </p:nvSpPr>
        <p:spPr/>
        <p:txBody>
          <a:bodyPr/>
          <a:lstStyle/>
          <a:p>
            <a:r>
              <a:rPr lang="en-US" dirty="0"/>
              <a:t>An </a:t>
            </a:r>
            <a:r>
              <a:rPr lang="en-US" b="1" dirty="0"/>
              <a:t>ordinal </a:t>
            </a:r>
            <a:r>
              <a:rPr lang="en-US" dirty="0"/>
              <a:t>variable is any categorical variable with some intrinsic order or numeric value.  For example, we might  categorize information on the educational status of a group of people into a variable called EDUCATION.  One person may not have graduated from high school, another might have graduated from high school but received no further education, a third could have some college education or have received some other post-secondary training, and another might have graduated from college.  The education levels of all members of the group will fit neatly into these categories, and the categories have an intrinsic order.  A college graduate has more education than a high school graduate, and a high school graduate has more education than someone who did not graduate from high school. Thus as the categories go from 1 to 5, the level of education increases.  Other examples of ordinal variables are: </a:t>
            </a:r>
          </a:p>
          <a:p>
            <a:r>
              <a:rPr lang="en-US" dirty="0"/>
              <a:t>agreement (for example, strongly disagree, disagree, neutral, agree, strongly agree)</a:t>
            </a:r>
          </a:p>
          <a:p>
            <a:r>
              <a:rPr lang="en-US" dirty="0"/>
              <a:t>rating (for example, excellent, good, fair, poor)</a:t>
            </a:r>
          </a:p>
          <a:p>
            <a:r>
              <a:rPr lang="en-US" dirty="0"/>
              <a:t>frequency (for example, always, often, sometimes, never)</a:t>
            </a:r>
          </a:p>
          <a:p>
            <a:r>
              <a:rPr lang="en-US" dirty="0"/>
              <a:t>or any other scale (for example, “On a scale of 1 to 5, how much do you like peanuts?”)</a:t>
            </a:r>
          </a:p>
          <a:p>
            <a:r>
              <a:rPr lang="en-US" dirty="0"/>
              <a: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fld id="{A9A3DBD5-6DEA-494B-8C24-52740A26FDFF}" type="slidenum">
              <a:rPr lang="en-US">
                <a:latin typeface="Arial" charset="0"/>
              </a:rPr>
              <a:pPr eaLnBrk="1" hangingPunct="1"/>
              <a:t>11</a:t>
            </a:fld>
            <a:endParaRPr lang="en-US">
              <a:latin typeface="Arial" charset="0"/>
            </a:endParaRPr>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p:spPr>
        <p:txBody>
          <a:bodyPr/>
          <a:lstStyle/>
          <a:p>
            <a:pPr eaLnBrk="1" hangingPunct="1"/>
            <a:r>
              <a:rPr lang="en-US"/>
              <a:t>In practice, discrete variables taking </a:t>
            </a:r>
            <a:r>
              <a:rPr lang="en-US" i="1"/>
              <a:t>many</a:t>
            </a:r>
            <a:r>
              <a:rPr lang="en-US"/>
              <a:t> possible values (e.g., age) are treated as continuous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fld id="{BBE08C96-8BF9-4F9B-844A-7509CD778F24}" type="slidenum">
              <a:rPr lang="en-US">
                <a:latin typeface="Arial" charset="0"/>
              </a:rPr>
              <a:pPr eaLnBrk="1" hangingPunct="1"/>
              <a:t>12</a:t>
            </a:fld>
            <a:endParaRPr lang="en-US">
              <a:latin typeface="Arial" charset="0"/>
            </a:endParaRPr>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p:spPr>
        <p:txBody>
          <a:bodyPr/>
          <a:lstStyle/>
          <a:p>
            <a:pPr eaLnBrk="1" hangingPunct="1"/>
            <a:r>
              <a:rPr lang="en-US"/>
              <a:t>In practice, discrete variables taking </a:t>
            </a:r>
            <a:r>
              <a:rPr lang="en-US" i="1"/>
              <a:t>many</a:t>
            </a:r>
            <a:r>
              <a:rPr lang="en-US"/>
              <a:t> possible values (e.g., age) are treated as continuous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10/09/2020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43264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10/09/2020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8355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t>10/09/2020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18049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303B91B3-E50F-4EFF-8D5F-21DA810ECD9F}" type="datetimeFigureOut">
              <a:rPr lang="en-AU" smtClean="0"/>
              <a:t>10/09/2020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74259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303B91B3-E50F-4EFF-8D5F-21DA810ECD9F}" type="datetimeFigureOut">
              <a:rPr lang="en-AU" smtClean="0"/>
              <a:t>10/09/2020</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0071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303B91B3-E50F-4EFF-8D5F-21DA810ECD9F}" type="datetimeFigureOut">
              <a:rPr lang="en-AU" smtClean="0"/>
              <a:t>10/09/2020</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57723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t>10/09/2020</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91991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10/09/2020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818502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10/09/2020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383982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10/09/2020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09636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10/09/2020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8802157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098" name="Picture 2" descr="Bannerhea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6400" y="2514600"/>
            <a:ext cx="6478588" cy="3238500"/>
          </a:xfrm>
          <a:prstGeom prst="rect">
            <a:avLst/>
          </a:prstGeom>
          <a:noFill/>
          <a:extLst>
            <a:ext uri="{909E8E84-426E-40DD-AFC4-6F175D3DCCD1}">
              <a14:hiddenFill xmlns:a14="http://schemas.microsoft.com/office/drawing/2010/main">
                <a:solidFill>
                  <a:srgbClr val="FFFFFF"/>
                </a:solidFill>
              </a14:hiddenFill>
            </a:ext>
          </a:extLst>
        </p:spPr>
      </p:pic>
      <p:sp>
        <p:nvSpPr>
          <p:cNvPr id="4099" name="Rectangle 3"/>
          <p:cNvSpPr>
            <a:spLocks noGrp="1" noChangeArrowheads="1"/>
          </p:cNvSpPr>
          <p:nvPr>
            <p:ph type="ctrTitle"/>
          </p:nvPr>
        </p:nvSpPr>
        <p:spPr>
          <a:xfrm>
            <a:off x="990600" y="914400"/>
            <a:ext cx="7772400" cy="1462088"/>
          </a:xfrm>
        </p:spPr>
        <p:txBody>
          <a:bodyPr/>
          <a:lstStyle>
            <a:lvl1pPr>
              <a:defRPr/>
            </a:lvl1pPr>
          </a:lstStyle>
          <a:p>
            <a:pPr lvl="0"/>
            <a:r>
              <a:rPr lang="en-US" noProof="0"/>
              <a:t>Click to edit Master title style</a:t>
            </a:r>
          </a:p>
        </p:txBody>
      </p:sp>
      <p:sp>
        <p:nvSpPr>
          <p:cNvPr id="4100" name="Rectangle 4"/>
          <p:cNvSpPr>
            <a:spLocks noChangeArrowheads="1"/>
          </p:cNvSpPr>
          <p:nvPr/>
        </p:nvSpPr>
        <p:spPr bwMode="gray">
          <a:xfrm>
            <a:off x="3175" y="2590800"/>
            <a:ext cx="9140825" cy="76200"/>
          </a:xfrm>
          <a:prstGeom prst="rect">
            <a:avLst/>
          </a:prstGeom>
          <a:gradFill rotWithShape="0">
            <a:gsLst>
              <a:gs pos="0">
                <a:srgbClr val="3399FF"/>
              </a:gs>
              <a:gs pos="100000">
                <a:schemeClr val="bg1"/>
              </a:gs>
            </a:gsLst>
            <a:lin ang="0" scaled="1"/>
          </a:gradFill>
          <a:ln w="0">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4101" name="Line 5"/>
          <p:cNvSpPr>
            <a:spLocks noChangeShapeType="1"/>
          </p:cNvSpPr>
          <p:nvPr/>
        </p:nvSpPr>
        <p:spPr bwMode="auto">
          <a:xfrm>
            <a:off x="914400" y="914400"/>
            <a:ext cx="0" cy="4191000"/>
          </a:xfrm>
          <a:prstGeom prst="line">
            <a:avLst/>
          </a:prstGeom>
          <a:noFill/>
          <a:ln w="9525">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AU">
              <a:solidFill>
                <a:srgbClr val="000000"/>
              </a:solidFill>
              <a:latin typeface="Arial" charset="0"/>
            </a:endParaRPr>
          </a:p>
        </p:txBody>
      </p:sp>
      <p:grpSp>
        <p:nvGrpSpPr>
          <p:cNvPr id="4105" name="Group 9"/>
          <p:cNvGrpSpPr>
            <a:grpSpLocks/>
          </p:cNvGrpSpPr>
          <p:nvPr userDrawn="1"/>
        </p:nvGrpSpPr>
        <p:grpSpPr bwMode="auto">
          <a:xfrm>
            <a:off x="3581400" y="4495800"/>
            <a:ext cx="2743200" cy="1689100"/>
            <a:chOff x="23408640" y="24860250"/>
            <a:chExt cx="2171700" cy="1308609"/>
          </a:xfrm>
        </p:grpSpPr>
        <p:pic>
          <p:nvPicPr>
            <p:cNvPr id="4106" name="Picture 10" descr="NCCPHP_TM"/>
            <p:cNvPicPr>
              <a:picLocks noChangeAspect="1" noChangeArrowheads="1"/>
            </p:cNvPicPr>
            <p:nvPr/>
          </p:nvPicPr>
          <p:blipFill>
            <a:blip r:embed="rId3">
              <a:extLst>
                <a:ext uri="{28A0092B-C50C-407E-A947-70E740481C1C}">
                  <a14:useLocalDpi xmlns:a14="http://schemas.microsoft.com/office/drawing/2010/main" val="0"/>
                </a:ext>
              </a:extLst>
            </a:blip>
            <a:srcRect t="62128"/>
            <a:stretch>
              <a:fillRect/>
            </a:stretch>
          </p:blipFill>
          <p:spPr bwMode="auto">
            <a:xfrm>
              <a:off x="23408640" y="25594022"/>
              <a:ext cx="2171700" cy="574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pic>
        <p:pic>
          <p:nvPicPr>
            <p:cNvPr id="4107" name="Picture 11" descr="new SPH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495000" y="24860250"/>
              <a:ext cx="2000250" cy="682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pic>
      </p:grpSp>
    </p:spTree>
    <p:extLst>
      <p:ext uri="{BB962C8B-B14F-4D97-AF65-F5344CB8AC3E}">
        <p14:creationId xmlns:p14="http://schemas.microsoft.com/office/powerpoint/2010/main" val="1656813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5252702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4741583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3686985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9435981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6997623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904767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5086122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2573291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0762540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214313"/>
            <a:ext cx="1951038" cy="5918200"/>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1150938" y="214313"/>
            <a:ext cx="5700712" cy="5918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40384352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462087"/>
          </a:xfrm>
        </p:spPr>
        <p:txBody>
          <a:bodyPr/>
          <a:lstStyle/>
          <a:p>
            <a:r>
              <a:rPr lang="en-US"/>
              <a:t>Click to edit Master title style</a:t>
            </a:r>
            <a:endParaRPr lang="en-AU"/>
          </a:p>
        </p:txBody>
      </p:sp>
      <p:sp>
        <p:nvSpPr>
          <p:cNvPr id="3" name="Content Placeholder 2"/>
          <p:cNvSpPr>
            <a:spLocks noGrp="1"/>
          </p:cNvSpPr>
          <p:nvPr>
            <p:ph sz="quarter" idx="1"/>
          </p:nvPr>
        </p:nvSpPr>
        <p:spPr>
          <a:xfrm>
            <a:off x="1182688" y="2017713"/>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5145088" y="2017713"/>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half" idx="3"/>
          </p:nvPr>
        </p:nvSpPr>
        <p:spPr>
          <a:xfrm>
            <a:off x="1182688" y="4151313"/>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Date Placeholder 5"/>
          <p:cNvSpPr>
            <a:spLocks noGrp="1"/>
          </p:cNvSpPr>
          <p:nvPr>
            <p:ph type="dt" sz="half" idx="10"/>
          </p:nvPr>
        </p:nvSpPr>
        <p:spPr>
          <a:xfrm>
            <a:off x="1162050" y="6243638"/>
            <a:ext cx="1905000" cy="457200"/>
          </a:xfrm>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0647692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462087"/>
          </a:xfrm>
        </p:spPr>
        <p:txBody>
          <a:bodyPr/>
          <a:lstStyle/>
          <a:p>
            <a:r>
              <a:rPr lang="en-US"/>
              <a:t>Click to edit Master title style</a:t>
            </a:r>
            <a:endParaRPr lang="en-AU"/>
          </a:p>
        </p:txBody>
      </p:sp>
      <p:sp>
        <p:nvSpPr>
          <p:cNvPr id="3" name="Text Placeholder 2"/>
          <p:cNvSpPr>
            <a:spLocks noGrp="1"/>
          </p:cNvSpPr>
          <p:nvPr>
            <p:ph type="body" sz="half" idx="1"/>
          </p:nvPr>
        </p:nvSpPr>
        <p:spPr>
          <a:xfrm>
            <a:off x="11826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51450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a:xfrm>
            <a:off x="1162050" y="6243638"/>
            <a:ext cx="1905000" cy="457200"/>
          </a:xfrm>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749935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3.png"/><Relationship Id="rId2" Type="http://schemas.openxmlformats.org/officeDocument/2006/relationships/slideLayout" Target="../slideLayouts/slideLayout13.xml"/><Relationship Id="rId16"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B91B3-E50F-4EFF-8D5F-21DA810ECD9F}" type="datetimeFigureOut">
              <a:rPr lang="en-AU" smtClean="0"/>
              <a:t>10/09/2020</a:t>
            </a:fld>
            <a:endParaRPr lang="en-AU"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37BE4-3242-4672-8D3A-460DCD9877AE}" type="slidenum">
              <a:rPr lang="en-AU" smtClean="0"/>
              <a:t>‹#›</a:t>
            </a:fld>
            <a:endParaRPr lang="en-AU" dirty="0"/>
          </a:p>
        </p:txBody>
      </p:sp>
    </p:spTree>
    <p:extLst>
      <p:ext uri="{BB962C8B-B14F-4D97-AF65-F5344CB8AC3E}">
        <p14:creationId xmlns:p14="http://schemas.microsoft.com/office/powerpoint/2010/main" val="242866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Picture 2" descr="focus"/>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304800"/>
            <a:ext cx="1066800" cy="912813"/>
          </a:xfrm>
          <a:prstGeom prst="rect">
            <a:avLst/>
          </a:prstGeom>
          <a:noFill/>
          <a:extLst>
            <a:ext uri="{909E8E84-426E-40DD-AFC4-6F175D3DCCD1}">
              <a14:hiddenFill xmlns:a14="http://schemas.microsoft.com/office/drawing/2010/main">
                <a:solidFill>
                  <a:srgbClr val="FFFFFF"/>
                </a:solidFill>
              </a14:hiddenFill>
            </a:ext>
          </a:extLst>
        </p:spPr>
      </p:pic>
      <p:sp>
        <p:nvSpPr>
          <p:cNvPr id="3075" name="Rectangle 3"/>
          <p:cNvSpPr>
            <a:spLocks noGrp="1" noChangeArrowheads="1"/>
          </p:cNvSpPr>
          <p:nvPr>
            <p:ph type="title"/>
          </p:nvPr>
        </p:nvSpPr>
        <p:spPr bwMode="auto">
          <a:xfrm>
            <a:off x="1150938" y="214313"/>
            <a:ext cx="7793037" cy="14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3076" name="Rectangle 4"/>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7" name="Rectangle 5"/>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a:latin typeface="+mn-lt"/>
              </a:defRPr>
            </a:lvl1pPr>
          </a:lstStyle>
          <a:p>
            <a:pPr fontAlgn="base">
              <a:spcBef>
                <a:spcPct val="0"/>
              </a:spcBef>
              <a:spcAft>
                <a:spcPct val="0"/>
              </a:spcAft>
            </a:pPr>
            <a:endParaRPr lang="en-US">
              <a:solidFill>
                <a:srgbClr val="000000"/>
              </a:solidFill>
            </a:endParaRPr>
          </a:p>
        </p:txBody>
      </p:sp>
      <p:sp>
        <p:nvSpPr>
          <p:cNvPr id="3078" name="Rectangle 6"/>
          <p:cNvSpPr>
            <a:spLocks noChangeArrowheads="1"/>
          </p:cNvSpPr>
          <p:nvPr/>
        </p:nvSpPr>
        <p:spPr bwMode="gray">
          <a:xfrm>
            <a:off x="0" y="1676400"/>
            <a:ext cx="9140825" cy="76200"/>
          </a:xfrm>
          <a:prstGeom prst="rect">
            <a:avLst/>
          </a:prstGeom>
          <a:gradFill rotWithShape="0">
            <a:gsLst>
              <a:gs pos="0">
                <a:srgbClr val="3399FF"/>
              </a:gs>
              <a:gs pos="100000">
                <a:schemeClr val="bg1"/>
              </a:gs>
            </a:gsLst>
            <a:lin ang="0" scaled="1"/>
          </a:gradFill>
          <a:ln w="0">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3080" name="Line 8"/>
          <p:cNvSpPr>
            <a:spLocks noChangeShapeType="1"/>
          </p:cNvSpPr>
          <p:nvPr/>
        </p:nvSpPr>
        <p:spPr bwMode="auto">
          <a:xfrm>
            <a:off x="1066800" y="381000"/>
            <a:ext cx="0" cy="4648200"/>
          </a:xfrm>
          <a:prstGeom prst="line">
            <a:avLst/>
          </a:prstGeom>
          <a:noFill/>
          <a:ln w="9525">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AU">
              <a:solidFill>
                <a:srgbClr val="000000"/>
              </a:solidFill>
              <a:latin typeface="Arial" charset="0"/>
            </a:endParaRPr>
          </a:p>
        </p:txBody>
      </p:sp>
      <p:grpSp>
        <p:nvGrpSpPr>
          <p:cNvPr id="3082" name="Group 10"/>
          <p:cNvGrpSpPr>
            <a:grpSpLocks/>
          </p:cNvGrpSpPr>
          <p:nvPr userDrawn="1"/>
        </p:nvGrpSpPr>
        <p:grpSpPr bwMode="auto">
          <a:xfrm>
            <a:off x="7696200" y="5867400"/>
            <a:ext cx="1219200" cy="685800"/>
            <a:chOff x="23408640" y="24860250"/>
            <a:chExt cx="2171700" cy="1308609"/>
          </a:xfrm>
        </p:grpSpPr>
        <p:pic>
          <p:nvPicPr>
            <p:cNvPr id="3083" name="Picture 11" descr="NCCPHP_TM"/>
            <p:cNvPicPr>
              <a:picLocks noChangeAspect="1" noChangeArrowheads="1"/>
            </p:cNvPicPr>
            <p:nvPr/>
          </p:nvPicPr>
          <p:blipFill>
            <a:blip r:embed="rId16" cstate="print">
              <a:extLst>
                <a:ext uri="{28A0092B-C50C-407E-A947-70E740481C1C}">
                  <a14:useLocalDpi xmlns:a14="http://schemas.microsoft.com/office/drawing/2010/main" val="0"/>
                </a:ext>
              </a:extLst>
            </a:blip>
            <a:srcRect t="62128"/>
            <a:stretch>
              <a:fillRect/>
            </a:stretch>
          </p:blipFill>
          <p:spPr bwMode="auto">
            <a:xfrm>
              <a:off x="23408640" y="25594022"/>
              <a:ext cx="2171700" cy="574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pic>
        <p:pic>
          <p:nvPicPr>
            <p:cNvPr id="3084" name="Picture 12" descr="new SPH logo"/>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3495000" y="24860250"/>
              <a:ext cx="2000250" cy="682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pic>
      </p:grpSp>
    </p:spTree>
    <p:extLst>
      <p:ext uri="{BB962C8B-B14F-4D97-AF65-F5344CB8AC3E}">
        <p14:creationId xmlns:p14="http://schemas.microsoft.com/office/powerpoint/2010/main" val="40595543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fontAlgn="base">
        <a:spcBef>
          <a:spcPct val="0"/>
        </a:spcBef>
        <a:spcAft>
          <a:spcPct val="0"/>
        </a:spcAft>
        <a:defRPr sz="44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itchFamily="34" charset="0"/>
          <a:cs typeface="Arial" charset="0"/>
        </a:defRPr>
      </a:lvl2pPr>
      <a:lvl3pPr algn="l" rtl="0" fontAlgn="base">
        <a:spcBef>
          <a:spcPct val="0"/>
        </a:spcBef>
        <a:spcAft>
          <a:spcPct val="0"/>
        </a:spcAft>
        <a:defRPr sz="4400">
          <a:solidFill>
            <a:schemeClr val="tx2"/>
          </a:solidFill>
          <a:latin typeface="Tahoma" pitchFamily="34" charset="0"/>
          <a:cs typeface="Arial" charset="0"/>
        </a:defRPr>
      </a:lvl3pPr>
      <a:lvl4pPr algn="l" rtl="0" fontAlgn="base">
        <a:spcBef>
          <a:spcPct val="0"/>
        </a:spcBef>
        <a:spcAft>
          <a:spcPct val="0"/>
        </a:spcAft>
        <a:defRPr sz="4400">
          <a:solidFill>
            <a:schemeClr val="tx2"/>
          </a:solidFill>
          <a:latin typeface="Tahoma" pitchFamily="34" charset="0"/>
          <a:cs typeface="Arial" charset="0"/>
        </a:defRPr>
      </a:lvl4pPr>
      <a:lvl5pPr algn="l" rtl="0" fontAlgn="base">
        <a:spcBef>
          <a:spcPct val="0"/>
        </a:spcBef>
        <a:spcAft>
          <a:spcPct val="0"/>
        </a:spcAft>
        <a:defRPr sz="4400">
          <a:solidFill>
            <a:schemeClr val="tx2"/>
          </a:solidFill>
          <a:latin typeface="Tahoma" pitchFamily="34" charset="0"/>
          <a:cs typeface="Arial" charset="0"/>
        </a:defRPr>
      </a:lvl5pPr>
      <a:lvl6pPr marL="457200" algn="l" rtl="0" fontAlgn="base">
        <a:spcBef>
          <a:spcPct val="0"/>
        </a:spcBef>
        <a:spcAft>
          <a:spcPct val="0"/>
        </a:spcAft>
        <a:defRPr sz="4400">
          <a:solidFill>
            <a:schemeClr val="tx2"/>
          </a:solidFill>
          <a:latin typeface="Tahoma" pitchFamily="34" charset="0"/>
          <a:cs typeface="Arial" charset="0"/>
        </a:defRPr>
      </a:lvl6pPr>
      <a:lvl7pPr marL="914400" algn="l" rtl="0" fontAlgn="base">
        <a:spcBef>
          <a:spcPct val="0"/>
        </a:spcBef>
        <a:spcAft>
          <a:spcPct val="0"/>
        </a:spcAft>
        <a:defRPr sz="4400">
          <a:solidFill>
            <a:schemeClr val="tx2"/>
          </a:solidFill>
          <a:latin typeface="Tahoma" pitchFamily="34" charset="0"/>
          <a:cs typeface="Arial" charset="0"/>
        </a:defRPr>
      </a:lvl7pPr>
      <a:lvl8pPr marL="1371600" algn="l" rtl="0" fontAlgn="base">
        <a:spcBef>
          <a:spcPct val="0"/>
        </a:spcBef>
        <a:spcAft>
          <a:spcPct val="0"/>
        </a:spcAft>
        <a:defRPr sz="4400">
          <a:solidFill>
            <a:schemeClr val="tx2"/>
          </a:solidFill>
          <a:latin typeface="Tahoma" pitchFamily="34" charset="0"/>
          <a:cs typeface="Arial" charset="0"/>
        </a:defRPr>
      </a:lvl8pPr>
      <a:lvl9pPr marL="1828800" algn="l" rtl="0" fontAlgn="base">
        <a:spcBef>
          <a:spcPct val="0"/>
        </a:spcBef>
        <a:spcAft>
          <a:spcPct val="0"/>
        </a:spcAft>
        <a:defRPr sz="4400">
          <a:solidFill>
            <a:schemeClr val="tx2"/>
          </a:solidFill>
          <a:latin typeface="Tahoma" pitchFamily="34" charset="0"/>
          <a:cs typeface="Arial" charset="0"/>
        </a:defRPr>
      </a:lvl9pPr>
    </p:titleStyle>
    <p:body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cs typeface="+mn-cs"/>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cs typeface="+mn-cs"/>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cs typeface="+mn-cs"/>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32656"/>
            <a:ext cx="7772400" cy="1470025"/>
          </a:xfrm>
        </p:spPr>
        <p:txBody>
          <a:bodyPr/>
          <a:lstStyle/>
          <a:p>
            <a:r>
              <a:rPr lang="en-AU" dirty="0"/>
              <a:t>My Statistics</a:t>
            </a:r>
            <a:br>
              <a:rPr lang="en-AU" dirty="0"/>
            </a:br>
            <a:r>
              <a:rPr lang="en-AU" dirty="0"/>
              <a:t>Interactive Notebook</a:t>
            </a:r>
          </a:p>
        </p:txBody>
      </p:sp>
      <p:sp>
        <p:nvSpPr>
          <p:cNvPr id="3" name="Subtitle 2"/>
          <p:cNvSpPr>
            <a:spLocks noGrp="1"/>
          </p:cNvSpPr>
          <p:nvPr>
            <p:ph type="subTitle" idx="1"/>
          </p:nvPr>
        </p:nvSpPr>
        <p:spPr/>
        <p:txBody>
          <a:bodyPr>
            <a:normAutofit fontScale="85000" lnSpcReduction="20000"/>
          </a:bodyPr>
          <a:lstStyle/>
          <a:p>
            <a:pPr algn="l"/>
            <a:r>
              <a:rPr lang="en-AU" dirty="0"/>
              <a:t>Name </a:t>
            </a:r>
          </a:p>
          <a:p>
            <a:pPr algn="l"/>
            <a:r>
              <a:rPr lang="en-AU" dirty="0"/>
              <a:t>Class 10_6</a:t>
            </a:r>
          </a:p>
          <a:p>
            <a:pPr algn="l"/>
            <a:r>
              <a:rPr lang="en-AU" dirty="0"/>
              <a:t>Teacher Mrs </a:t>
            </a:r>
            <a:r>
              <a:rPr lang="en-AU" dirty="0" err="1"/>
              <a:t>Fraser-Jones</a:t>
            </a:r>
            <a:endParaRPr lang="en-AU" dirty="0"/>
          </a:p>
          <a:p>
            <a:pPr algn="l"/>
            <a:r>
              <a:rPr lang="en-AU" dirty="0"/>
              <a:t>Term 3 Semester 2</a:t>
            </a:r>
          </a:p>
        </p:txBody>
      </p:sp>
      <p:sp>
        <p:nvSpPr>
          <p:cNvPr id="13" name="TextBox 12"/>
          <p:cNvSpPr txBox="1"/>
          <p:nvPr/>
        </p:nvSpPr>
        <p:spPr>
          <a:xfrm>
            <a:off x="8748464" y="6488668"/>
            <a:ext cx="549775" cy="369332"/>
          </a:xfrm>
          <a:prstGeom prst="rect">
            <a:avLst/>
          </a:prstGeom>
          <a:noFill/>
        </p:spPr>
        <p:txBody>
          <a:bodyPr wrap="square" rtlCol="0">
            <a:spAutoFit/>
          </a:bodyPr>
          <a:lstStyle/>
          <a:p>
            <a:r>
              <a:rPr lang="en-AU" dirty="0"/>
              <a:t>1</a:t>
            </a:r>
          </a:p>
        </p:txBody>
      </p:sp>
    </p:spTree>
    <p:extLst>
      <p:ext uri="{BB962C8B-B14F-4D97-AF65-F5344CB8AC3E}">
        <p14:creationId xmlns:p14="http://schemas.microsoft.com/office/powerpoint/2010/main" val="2132804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a:t>2</a:t>
            </a:r>
          </a:p>
        </p:txBody>
      </p:sp>
      <p:sp>
        <p:nvSpPr>
          <p:cNvPr id="7" name="TextBox 6"/>
          <p:cNvSpPr txBox="1"/>
          <p:nvPr/>
        </p:nvSpPr>
        <p:spPr>
          <a:xfrm>
            <a:off x="8748464" y="6488668"/>
            <a:ext cx="549775" cy="369332"/>
          </a:xfrm>
          <a:prstGeom prst="rect">
            <a:avLst/>
          </a:prstGeom>
          <a:noFill/>
        </p:spPr>
        <p:txBody>
          <a:bodyPr wrap="square" rtlCol="0">
            <a:spAutoFit/>
          </a:bodyPr>
          <a:lstStyle/>
          <a:p>
            <a:r>
              <a:rPr lang="en-AU" dirty="0"/>
              <a:t>3</a:t>
            </a:r>
          </a:p>
        </p:txBody>
      </p:sp>
      <p:cxnSp>
        <p:nvCxnSpPr>
          <p:cNvPr id="9" name="Straight Connector 8"/>
          <p:cNvCxnSpPr/>
          <p:nvPr/>
        </p:nvCxnSpPr>
        <p:spPr>
          <a:xfrm>
            <a:off x="-143838"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1115616"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577648" y="5803"/>
            <a:ext cx="932050" cy="338554"/>
          </a:xfrm>
          <a:prstGeom prst="rect">
            <a:avLst/>
          </a:prstGeom>
          <a:noFill/>
        </p:spPr>
        <p:txBody>
          <a:bodyPr wrap="none" rtlCol="0">
            <a:spAutoFit/>
          </a:bodyPr>
          <a:lstStyle/>
          <a:p>
            <a:r>
              <a:rPr lang="en-AU" sz="1600" dirty="0"/>
              <a:t>Contents</a:t>
            </a:r>
          </a:p>
        </p:txBody>
      </p:sp>
      <p:sp>
        <p:nvSpPr>
          <p:cNvPr id="23" name="TextBox 22"/>
          <p:cNvSpPr txBox="1"/>
          <p:nvPr/>
        </p:nvSpPr>
        <p:spPr>
          <a:xfrm>
            <a:off x="223224" y="374467"/>
            <a:ext cx="580865" cy="338554"/>
          </a:xfrm>
          <a:prstGeom prst="rect">
            <a:avLst/>
          </a:prstGeom>
          <a:noFill/>
        </p:spPr>
        <p:txBody>
          <a:bodyPr wrap="none" rtlCol="0">
            <a:spAutoFit/>
          </a:bodyPr>
          <a:lstStyle/>
          <a:p>
            <a:r>
              <a:rPr lang="en-AU" sz="1600" dirty="0"/>
              <a:t>Page</a:t>
            </a:r>
          </a:p>
        </p:txBody>
      </p:sp>
      <p:cxnSp>
        <p:nvCxnSpPr>
          <p:cNvPr id="16" name="Straight Connector 15"/>
          <p:cNvCxnSpPr/>
          <p:nvPr/>
        </p:nvCxnSpPr>
        <p:spPr>
          <a:xfrm>
            <a:off x="2143810"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1403646" y="344357"/>
            <a:ext cx="576504" cy="338554"/>
          </a:xfrm>
          <a:prstGeom prst="rect">
            <a:avLst/>
          </a:prstGeom>
          <a:noFill/>
        </p:spPr>
        <p:txBody>
          <a:bodyPr wrap="none" rtlCol="0">
            <a:spAutoFit/>
          </a:bodyPr>
          <a:lstStyle/>
          <a:p>
            <a:r>
              <a:rPr lang="en-AU" sz="1600" dirty="0"/>
              <a:t>Date</a:t>
            </a:r>
          </a:p>
        </p:txBody>
      </p:sp>
      <p:sp>
        <p:nvSpPr>
          <p:cNvPr id="18" name="TextBox 17"/>
          <p:cNvSpPr txBox="1"/>
          <p:nvPr/>
        </p:nvSpPr>
        <p:spPr>
          <a:xfrm>
            <a:off x="2555776" y="344357"/>
            <a:ext cx="1398888" cy="338554"/>
          </a:xfrm>
          <a:prstGeom prst="rect">
            <a:avLst/>
          </a:prstGeom>
          <a:noFill/>
        </p:spPr>
        <p:txBody>
          <a:bodyPr wrap="square" rtlCol="0">
            <a:spAutoFit/>
          </a:bodyPr>
          <a:lstStyle/>
          <a:p>
            <a:r>
              <a:rPr lang="en-AU" sz="1600" dirty="0"/>
              <a:t>Description</a:t>
            </a:r>
          </a:p>
        </p:txBody>
      </p:sp>
      <p:sp>
        <p:nvSpPr>
          <p:cNvPr id="21" name="TextBox 20"/>
          <p:cNvSpPr txBox="1"/>
          <p:nvPr/>
        </p:nvSpPr>
        <p:spPr>
          <a:xfrm>
            <a:off x="5796136" y="66504"/>
            <a:ext cx="2592288" cy="338554"/>
          </a:xfrm>
          <a:prstGeom prst="rect">
            <a:avLst/>
          </a:prstGeom>
          <a:noFill/>
        </p:spPr>
        <p:txBody>
          <a:bodyPr wrap="square" rtlCol="0">
            <a:spAutoFit/>
          </a:bodyPr>
          <a:lstStyle/>
          <a:p>
            <a:r>
              <a:rPr lang="en-AU" sz="1600" dirty="0"/>
              <a:t>Glossary </a:t>
            </a:r>
          </a:p>
        </p:txBody>
      </p:sp>
      <p:cxnSp>
        <p:nvCxnSpPr>
          <p:cNvPr id="3" name="Straight Connector 2"/>
          <p:cNvCxnSpPr/>
          <p:nvPr/>
        </p:nvCxnSpPr>
        <p:spPr>
          <a:xfrm>
            <a:off x="4536085" y="3478696"/>
            <a:ext cx="4607915" cy="0"/>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5744132" y="3573016"/>
            <a:ext cx="2592288" cy="338554"/>
          </a:xfrm>
          <a:prstGeom prst="rect">
            <a:avLst/>
          </a:prstGeom>
          <a:noFill/>
        </p:spPr>
        <p:txBody>
          <a:bodyPr wrap="square" rtlCol="0">
            <a:spAutoFit/>
          </a:bodyPr>
          <a:lstStyle/>
          <a:p>
            <a:r>
              <a:rPr lang="en-AU" sz="1600" dirty="0"/>
              <a:t>Formula Page</a:t>
            </a:r>
          </a:p>
        </p:txBody>
      </p:sp>
    </p:spTree>
    <p:extLst>
      <p:ext uri="{BB962C8B-B14F-4D97-AF65-F5344CB8AC3E}">
        <p14:creationId xmlns:p14="http://schemas.microsoft.com/office/powerpoint/2010/main" val="1515457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a:t>4</a:t>
            </a:r>
          </a:p>
        </p:txBody>
      </p:sp>
      <p:sp>
        <p:nvSpPr>
          <p:cNvPr id="7" name="TextBox 6"/>
          <p:cNvSpPr txBox="1"/>
          <p:nvPr/>
        </p:nvSpPr>
        <p:spPr>
          <a:xfrm>
            <a:off x="8748463" y="6525528"/>
            <a:ext cx="549775" cy="369332"/>
          </a:xfrm>
          <a:prstGeom prst="rect">
            <a:avLst/>
          </a:prstGeom>
          <a:noFill/>
        </p:spPr>
        <p:txBody>
          <a:bodyPr wrap="square" rtlCol="0">
            <a:spAutoFit/>
          </a:bodyPr>
          <a:lstStyle/>
          <a:p>
            <a:r>
              <a:rPr lang="en-AU" dirty="0"/>
              <a:t>5</a:t>
            </a:r>
          </a:p>
        </p:txBody>
      </p:sp>
      <p:cxnSp>
        <p:nvCxnSpPr>
          <p:cNvPr id="9" name="Straight Connector 8"/>
          <p:cNvCxnSpPr/>
          <p:nvPr/>
        </p:nvCxnSpPr>
        <p:spPr>
          <a:xfrm>
            <a:off x="4500081"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4500081" y="1196752"/>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p:nvCxnSpPr>
        <p:spPr>
          <a:xfrm>
            <a:off x="4572089" y="5373216"/>
            <a:ext cx="472615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5868144" y="1196752"/>
            <a:ext cx="0" cy="4176464"/>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4533261" y="66690"/>
            <a:ext cx="431959" cy="553998"/>
          </a:xfrm>
          <a:prstGeom prst="rect">
            <a:avLst/>
          </a:prstGeom>
          <a:noFill/>
        </p:spPr>
        <p:txBody>
          <a:bodyPr wrap="square" rtlCol="0">
            <a:spAutoFit/>
          </a:bodyPr>
          <a:lstStyle/>
          <a:p>
            <a:r>
              <a:rPr lang="en-AU" sz="1000" dirty="0"/>
              <a:t>24</a:t>
            </a:r>
          </a:p>
          <a:p>
            <a:r>
              <a:rPr lang="en-AU" sz="1000" dirty="0"/>
              <a:t>7</a:t>
            </a:r>
          </a:p>
          <a:p>
            <a:r>
              <a:rPr lang="en-AU" sz="1000" dirty="0"/>
              <a:t>30</a:t>
            </a:r>
          </a:p>
        </p:txBody>
      </p:sp>
      <p:sp>
        <p:nvSpPr>
          <p:cNvPr id="20" name="TextBox 19"/>
          <p:cNvSpPr txBox="1"/>
          <p:nvPr/>
        </p:nvSpPr>
        <p:spPr>
          <a:xfrm>
            <a:off x="4572089" y="601548"/>
            <a:ext cx="1143262" cy="246221"/>
          </a:xfrm>
          <a:prstGeom prst="rect">
            <a:avLst/>
          </a:prstGeom>
          <a:noFill/>
        </p:spPr>
        <p:txBody>
          <a:bodyPr wrap="none" rtlCol="0">
            <a:spAutoFit/>
          </a:bodyPr>
          <a:lstStyle/>
          <a:p>
            <a:r>
              <a:rPr lang="en-AU" sz="1000" dirty="0"/>
              <a:t>Essential Question</a:t>
            </a:r>
          </a:p>
        </p:txBody>
      </p:sp>
      <p:sp>
        <p:nvSpPr>
          <p:cNvPr id="22" name="TextBox 21"/>
          <p:cNvSpPr txBox="1"/>
          <p:nvPr/>
        </p:nvSpPr>
        <p:spPr>
          <a:xfrm>
            <a:off x="5867750" y="1196751"/>
            <a:ext cx="492443" cy="246221"/>
          </a:xfrm>
          <a:prstGeom prst="rect">
            <a:avLst/>
          </a:prstGeom>
          <a:noFill/>
        </p:spPr>
        <p:txBody>
          <a:bodyPr wrap="none" rtlCol="0">
            <a:spAutoFit/>
          </a:bodyPr>
          <a:lstStyle/>
          <a:p>
            <a:r>
              <a:rPr lang="en-AU" sz="1000" dirty="0"/>
              <a:t>Notes</a:t>
            </a:r>
          </a:p>
        </p:txBody>
      </p:sp>
      <p:sp>
        <p:nvSpPr>
          <p:cNvPr id="23" name="TextBox 22"/>
          <p:cNvSpPr txBox="1"/>
          <p:nvPr/>
        </p:nvSpPr>
        <p:spPr>
          <a:xfrm>
            <a:off x="4521850" y="1196752"/>
            <a:ext cx="708848" cy="246221"/>
          </a:xfrm>
          <a:prstGeom prst="rect">
            <a:avLst/>
          </a:prstGeom>
          <a:noFill/>
        </p:spPr>
        <p:txBody>
          <a:bodyPr wrap="none" rtlCol="0">
            <a:spAutoFit/>
          </a:bodyPr>
          <a:lstStyle/>
          <a:p>
            <a:r>
              <a:rPr lang="en-AU" sz="1000" dirty="0"/>
              <a:t>Questions</a:t>
            </a:r>
          </a:p>
        </p:txBody>
      </p:sp>
      <p:sp>
        <p:nvSpPr>
          <p:cNvPr id="24" name="TextBox 23"/>
          <p:cNvSpPr txBox="1"/>
          <p:nvPr/>
        </p:nvSpPr>
        <p:spPr>
          <a:xfrm>
            <a:off x="4572089" y="5373216"/>
            <a:ext cx="679994" cy="246221"/>
          </a:xfrm>
          <a:prstGeom prst="rect">
            <a:avLst/>
          </a:prstGeom>
          <a:noFill/>
        </p:spPr>
        <p:txBody>
          <a:bodyPr wrap="none" rtlCol="0">
            <a:spAutoFit/>
          </a:bodyPr>
          <a:lstStyle/>
          <a:p>
            <a:r>
              <a:rPr lang="en-AU" sz="1000" dirty="0"/>
              <a:t>Summary</a:t>
            </a:r>
          </a:p>
        </p:txBody>
      </p:sp>
      <p:sp>
        <p:nvSpPr>
          <p:cNvPr id="25" name="TextBox 24"/>
          <p:cNvSpPr txBox="1"/>
          <p:nvPr/>
        </p:nvSpPr>
        <p:spPr>
          <a:xfrm>
            <a:off x="151246" y="142494"/>
            <a:ext cx="671081" cy="369332"/>
          </a:xfrm>
          <a:prstGeom prst="rect">
            <a:avLst/>
          </a:prstGeom>
          <a:noFill/>
        </p:spPr>
        <p:txBody>
          <a:bodyPr wrap="none" rtlCol="0">
            <a:spAutoFit/>
          </a:bodyPr>
          <a:lstStyle/>
          <a:p>
            <a:r>
              <a:rPr lang="en-AU" dirty="0"/>
              <a:t>Tasks</a:t>
            </a:r>
          </a:p>
        </p:txBody>
      </p:sp>
    </p:spTree>
    <p:extLst>
      <p:ext uri="{BB962C8B-B14F-4D97-AF65-F5344CB8AC3E}">
        <p14:creationId xmlns:p14="http://schemas.microsoft.com/office/powerpoint/2010/main" val="2216532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669535" y="410095"/>
            <a:ext cx="939809" cy="523220"/>
          </a:xfrm>
          <a:prstGeom prst="rect">
            <a:avLst/>
          </a:prstGeom>
          <a:noFill/>
        </p:spPr>
        <p:txBody>
          <a:bodyPr wrap="none" rtlCol="0">
            <a:spAutoFit/>
          </a:bodyPr>
          <a:lstStyle/>
          <a:p>
            <a:r>
              <a:rPr lang="en-AU" sz="2800" dirty="0"/>
              <a:t>Topic</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3" y="1063436"/>
            <a:ext cx="8903837" cy="461665"/>
          </a:xfrm>
          <a:prstGeom prst="rect">
            <a:avLst/>
          </a:prstGeom>
          <a:noFill/>
        </p:spPr>
        <p:txBody>
          <a:bodyPr wrap="square" rtlCol="0">
            <a:spAutoFit/>
          </a:bodyPr>
          <a:lstStyle/>
          <a:p>
            <a:r>
              <a:rPr lang="en-AU" sz="2400" dirty="0"/>
              <a:t>EQ – How do I calculate the standard deviation?</a:t>
            </a:r>
          </a:p>
        </p:txBody>
      </p:sp>
      <p:sp>
        <p:nvSpPr>
          <p:cNvPr id="3" name="TextBox 2"/>
          <p:cNvSpPr txBox="1"/>
          <p:nvPr/>
        </p:nvSpPr>
        <p:spPr>
          <a:xfrm>
            <a:off x="1763688" y="410095"/>
            <a:ext cx="5040560" cy="523220"/>
          </a:xfrm>
          <a:prstGeom prst="rect">
            <a:avLst/>
          </a:prstGeom>
          <a:noFill/>
        </p:spPr>
        <p:txBody>
          <a:bodyPr wrap="square" rtlCol="0">
            <a:spAutoFit/>
          </a:bodyPr>
          <a:lstStyle/>
          <a:p>
            <a:r>
              <a:rPr lang="en-AU" sz="2800" dirty="0"/>
              <a:t>Data</a:t>
            </a:r>
          </a:p>
        </p:txBody>
      </p:sp>
      <p:cxnSp>
        <p:nvCxnSpPr>
          <p:cNvPr id="16" name="Straight Connector 15"/>
          <p:cNvCxnSpPr/>
          <p:nvPr/>
        </p:nvCxnSpPr>
        <p:spPr>
          <a:xfrm>
            <a:off x="8072438" y="4171950"/>
            <a:ext cx="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7752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411760"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669535" y="410095"/>
            <a:ext cx="939809" cy="523220"/>
          </a:xfrm>
          <a:prstGeom prst="rect">
            <a:avLst/>
          </a:prstGeom>
          <a:noFill/>
        </p:spPr>
        <p:txBody>
          <a:bodyPr wrap="none" rtlCol="0">
            <a:spAutoFit/>
          </a:bodyPr>
          <a:lstStyle/>
          <a:p>
            <a:r>
              <a:rPr lang="en-AU" sz="2800" dirty="0"/>
              <a:t>Topic</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3" y="1063436"/>
            <a:ext cx="8903837" cy="461665"/>
          </a:xfrm>
          <a:prstGeom prst="rect">
            <a:avLst/>
          </a:prstGeom>
          <a:noFill/>
        </p:spPr>
        <p:txBody>
          <a:bodyPr wrap="square" rtlCol="0">
            <a:spAutoFit/>
          </a:bodyPr>
          <a:lstStyle/>
          <a:p>
            <a:r>
              <a:rPr lang="en-AU" sz="2400" dirty="0"/>
              <a:t>EQ – What are the types of data?</a:t>
            </a:r>
          </a:p>
        </p:txBody>
      </p:sp>
      <p:sp>
        <p:nvSpPr>
          <p:cNvPr id="3" name="TextBox 2"/>
          <p:cNvSpPr txBox="1"/>
          <p:nvPr/>
        </p:nvSpPr>
        <p:spPr>
          <a:xfrm>
            <a:off x="1763688" y="410095"/>
            <a:ext cx="5040560" cy="523220"/>
          </a:xfrm>
          <a:prstGeom prst="rect">
            <a:avLst/>
          </a:prstGeom>
          <a:noFill/>
        </p:spPr>
        <p:txBody>
          <a:bodyPr wrap="square" rtlCol="0">
            <a:spAutoFit/>
          </a:bodyPr>
          <a:lstStyle/>
          <a:p>
            <a:r>
              <a:rPr lang="en-AU" sz="2800" dirty="0"/>
              <a:t>Data</a:t>
            </a:r>
          </a:p>
        </p:txBody>
      </p:sp>
      <p:sp>
        <p:nvSpPr>
          <p:cNvPr id="5" name="TextBox 4"/>
          <p:cNvSpPr txBox="1"/>
          <p:nvPr/>
        </p:nvSpPr>
        <p:spPr>
          <a:xfrm>
            <a:off x="2412198" y="1944539"/>
            <a:ext cx="1515873" cy="369332"/>
          </a:xfrm>
          <a:prstGeom prst="rect">
            <a:avLst/>
          </a:prstGeom>
          <a:noFill/>
        </p:spPr>
        <p:txBody>
          <a:bodyPr wrap="square" rtlCol="0">
            <a:spAutoFit/>
          </a:bodyPr>
          <a:lstStyle/>
          <a:p>
            <a:r>
              <a:rPr lang="en-AU" u="sng" dirty="0"/>
              <a:t>Types of data:</a:t>
            </a:r>
          </a:p>
        </p:txBody>
      </p:sp>
      <p:cxnSp>
        <p:nvCxnSpPr>
          <p:cNvPr id="16" name="Straight Connector 15"/>
          <p:cNvCxnSpPr/>
          <p:nvPr/>
        </p:nvCxnSpPr>
        <p:spPr>
          <a:xfrm>
            <a:off x="7797552" y="466269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537950" y="2273554"/>
            <a:ext cx="6210514" cy="2585323"/>
          </a:xfrm>
          <a:prstGeom prst="rect">
            <a:avLst/>
          </a:prstGeom>
          <a:noFill/>
        </p:spPr>
        <p:txBody>
          <a:bodyPr wrap="square" rtlCol="0">
            <a:spAutoFit/>
          </a:bodyPr>
          <a:lstStyle/>
          <a:p>
            <a:r>
              <a:rPr lang="en-AU" i="1" dirty="0"/>
              <a:t>Primary</a:t>
            </a:r>
            <a:r>
              <a:rPr lang="en-AU" dirty="0"/>
              <a:t>: 		data we collect ourselves</a:t>
            </a:r>
          </a:p>
          <a:p>
            <a:r>
              <a:rPr lang="en-AU" i="1" dirty="0"/>
              <a:t>Secondary</a:t>
            </a:r>
            <a:r>
              <a:rPr lang="en-AU" dirty="0"/>
              <a:t>: 	data collected by others</a:t>
            </a:r>
          </a:p>
          <a:p>
            <a:endParaRPr lang="en-AU" dirty="0"/>
          </a:p>
          <a:p>
            <a:endParaRPr lang="en-AU" dirty="0"/>
          </a:p>
          <a:p>
            <a:r>
              <a:rPr lang="en-AU" u="sng" dirty="0"/>
              <a:t>Types of Variables</a:t>
            </a:r>
          </a:p>
          <a:p>
            <a:r>
              <a:rPr lang="en-US" i="1" dirty="0"/>
              <a:t>Categorical </a:t>
            </a:r>
            <a:r>
              <a:rPr lang="en-US" dirty="0"/>
              <a:t>(also called </a:t>
            </a:r>
            <a:r>
              <a:rPr lang="en-US" i="1" dirty="0"/>
              <a:t>qualitative</a:t>
            </a:r>
            <a:r>
              <a:rPr lang="en-US" dirty="0"/>
              <a:t>)</a:t>
            </a:r>
          </a:p>
          <a:p>
            <a:r>
              <a:rPr lang="en-US" i="1" dirty="0"/>
              <a:t>Numerical (also called quantitative) </a:t>
            </a:r>
          </a:p>
          <a:p>
            <a:endParaRPr lang="en-AU" i="1" dirty="0"/>
          </a:p>
          <a:p>
            <a:endParaRPr lang="en-AU" i="1" dirty="0"/>
          </a:p>
        </p:txBody>
      </p:sp>
    </p:spTree>
    <p:extLst>
      <p:ext uri="{BB962C8B-B14F-4D97-AF65-F5344CB8AC3E}">
        <p14:creationId xmlns:p14="http://schemas.microsoft.com/office/powerpoint/2010/main" val="3532376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5"/>
          <p:cNvSpPr>
            <a:spLocks noGrp="1" noChangeArrowheads="1"/>
          </p:cNvSpPr>
          <p:nvPr>
            <p:ph type="title"/>
          </p:nvPr>
        </p:nvSpPr>
        <p:spPr>
          <a:xfrm>
            <a:off x="457200" y="76200"/>
            <a:ext cx="8229600" cy="1066800"/>
          </a:xfrm>
        </p:spPr>
        <p:txBody>
          <a:bodyPr/>
          <a:lstStyle/>
          <a:p>
            <a:pPr eaLnBrk="1" hangingPunct="1"/>
            <a:r>
              <a:rPr lang="en-US" sz="4000" b="1"/>
              <a:t>Categorical variable</a:t>
            </a:r>
            <a:r>
              <a:rPr lang="en-US" sz="4000"/>
              <a:t>s</a:t>
            </a:r>
          </a:p>
        </p:txBody>
      </p:sp>
      <p:sp>
        <p:nvSpPr>
          <p:cNvPr id="18438" name="Rectangle 6"/>
          <p:cNvSpPr>
            <a:spLocks noGrp="1" noChangeArrowheads="1"/>
          </p:cNvSpPr>
          <p:nvPr>
            <p:ph type="body" idx="1"/>
          </p:nvPr>
        </p:nvSpPr>
        <p:spPr>
          <a:xfrm>
            <a:off x="-33338" y="1219200"/>
            <a:ext cx="9144001" cy="5105400"/>
          </a:xfrm>
        </p:spPr>
        <p:txBody>
          <a:bodyPr>
            <a:normAutofit/>
          </a:bodyPr>
          <a:lstStyle/>
          <a:p>
            <a:pPr eaLnBrk="1" hangingPunct="1">
              <a:defRPr/>
            </a:pPr>
            <a:r>
              <a:rPr lang="en-US" sz="2800" b="1" dirty="0"/>
              <a:t>Places information into categories</a:t>
            </a:r>
          </a:p>
          <a:p>
            <a:pPr marL="0" indent="0" eaLnBrk="1" hangingPunct="1">
              <a:buNone/>
              <a:defRPr/>
            </a:pPr>
            <a:endParaRPr lang="en-US" sz="2800" b="1" dirty="0"/>
          </a:p>
          <a:p>
            <a:pPr marL="0" indent="0" eaLnBrk="1" hangingPunct="1">
              <a:buFontTx/>
              <a:buNone/>
              <a:defRPr/>
            </a:pPr>
            <a:endParaRPr lang="en-US" sz="2800" b="1" dirty="0"/>
          </a:p>
          <a:p>
            <a:pPr eaLnBrk="1" hangingPunct="1">
              <a:buFontTx/>
              <a:buNone/>
              <a:defRPr/>
            </a:pPr>
            <a:r>
              <a:rPr lang="en-US" sz="2800" b="1" dirty="0"/>
              <a:t>Examples</a:t>
            </a:r>
            <a:r>
              <a:rPr lang="en-US" sz="2800" dirty="0"/>
              <a:t>:</a:t>
            </a:r>
          </a:p>
          <a:p>
            <a:pPr eaLnBrk="1" hangingPunct="1">
              <a:buFontTx/>
              <a:buNone/>
              <a:defRPr/>
            </a:pPr>
            <a:r>
              <a:rPr lang="en-US" sz="2800" dirty="0"/>
              <a:t>Type of car you drive (Holden, Ford, </a:t>
            </a:r>
            <a:r>
              <a:rPr lang="en-US" sz="2800" dirty="0" err="1"/>
              <a:t>Mitsubish</a:t>
            </a:r>
            <a:r>
              <a:rPr lang="en-US" sz="2800" dirty="0"/>
              <a:t>, </a:t>
            </a:r>
            <a:r>
              <a:rPr lang="en-US" sz="2800" dirty="0" err="1"/>
              <a:t>etc</a:t>
            </a:r>
            <a:r>
              <a:rPr lang="en-US" sz="2800" dirty="0"/>
              <a:t>)</a:t>
            </a:r>
          </a:p>
          <a:p>
            <a:pPr eaLnBrk="1" hangingPunct="1">
              <a:buFontTx/>
              <a:buNone/>
              <a:defRPr/>
            </a:pPr>
            <a:r>
              <a:rPr lang="en-US" sz="2800" dirty="0"/>
              <a:t>Political party identification (</a:t>
            </a:r>
            <a:r>
              <a:rPr lang="en-US" sz="2800" dirty="0" err="1"/>
              <a:t>Labour</a:t>
            </a:r>
            <a:r>
              <a:rPr lang="en-US" sz="2800" dirty="0"/>
              <a:t>, Coalition, Greens, </a:t>
            </a:r>
            <a:r>
              <a:rPr lang="en-US" sz="2800" dirty="0" err="1"/>
              <a:t>etc</a:t>
            </a:r>
            <a:r>
              <a:rPr lang="en-US" sz="2800" dirty="0"/>
              <a:t>)</a:t>
            </a:r>
          </a:p>
          <a:p>
            <a:pPr eaLnBrk="1" hangingPunct="1">
              <a:buFontTx/>
              <a:buNone/>
              <a:defRPr/>
            </a:pPr>
            <a:r>
              <a:rPr lang="en-US" sz="2800" dirty="0"/>
              <a:t>Vegetarian? (yes, no)</a:t>
            </a:r>
          </a:p>
          <a:p>
            <a:pPr eaLnBrk="1" hangingPunct="1">
              <a:buFontTx/>
              <a:buNone/>
              <a:defRPr/>
            </a:pPr>
            <a:r>
              <a:rPr lang="en-US" sz="2800" dirty="0"/>
              <a:t>Sex (Male, Female)</a:t>
            </a:r>
          </a:p>
          <a:p>
            <a:pPr marL="342900" lvl="1" indent="-342900">
              <a:buNone/>
              <a:defRPr/>
            </a:pPr>
            <a:r>
              <a:rPr lang="en-US" dirty="0"/>
              <a:t>Rating (excellent, good, fair, poor)</a:t>
            </a:r>
          </a:p>
        </p:txBody>
      </p:sp>
    </p:spTree>
    <p:extLst>
      <p:ext uri="{BB962C8B-B14F-4D97-AF65-F5344CB8AC3E}">
        <p14:creationId xmlns:p14="http://schemas.microsoft.com/office/powerpoint/2010/main" val="3331382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sp>
        <p:nvSpPr>
          <p:cNvPr id="8" name="TextBox 7"/>
          <p:cNvSpPr txBox="1"/>
          <p:nvPr/>
        </p:nvSpPr>
        <p:spPr>
          <a:xfrm>
            <a:off x="3716221" y="1628800"/>
            <a:ext cx="2160240" cy="369332"/>
          </a:xfrm>
          <a:prstGeom prst="rect">
            <a:avLst/>
          </a:prstGeom>
          <a:noFill/>
          <a:ln w="28575">
            <a:solidFill>
              <a:schemeClr val="tx1">
                <a:lumMod val="95000"/>
                <a:lumOff val="5000"/>
              </a:schemeClr>
            </a:solidFill>
          </a:ln>
        </p:spPr>
        <p:txBody>
          <a:bodyPr wrap="square" rtlCol="0">
            <a:spAutoFit/>
          </a:bodyPr>
          <a:lstStyle/>
          <a:p>
            <a:r>
              <a:rPr lang="en-AU" dirty="0"/>
              <a:t>Categorical Variables</a:t>
            </a:r>
          </a:p>
        </p:txBody>
      </p:sp>
      <p:sp>
        <p:nvSpPr>
          <p:cNvPr id="13" name="TextBox 12"/>
          <p:cNvSpPr txBox="1"/>
          <p:nvPr/>
        </p:nvSpPr>
        <p:spPr>
          <a:xfrm>
            <a:off x="1704826" y="2509644"/>
            <a:ext cx="2952328" cy="923330"/>
          </a:xfrm>
          <a:prstGeom prst="rect">
            <a:avLst/>
          </a:prstGeom>
          <a:noFill/>
          <a:ln w="28575">
            <a:solidFill>
              <a:schemeClr val="tx1"/>
            </a:solidFill>
          </a:ln>
        </p:spPr>
        <p:txBody>
          <a:bodyPr wrap="square" rtlCol="0">
            <a:spAutoFit/>
          </a:bodyPr>
          <a:lstStyle/>
          <a:p>
            <a:pPr algn="ctr"/>
            <a:r>
              <a:rPr lang="en-AU" b="1" dirty="0"/>
              <a:t>Nominal</a:t>
            </a:r>
          </a:p>
          <a:p>
            <a:r>
              <a:rPr lang="en-AU" dirty="0"/>
              <a:t>Based purely on the names of various categories, no order</a:t>
            </a:r>
          </a:p>
        </p:txBody>
      </p:sp>
      <p:sp>
        <p:nvSpPr>
          <p:cNvPr id="19" name="TextBox 18"/>
          <p:cNvSpPr txBox="1"/>
          <p:nvPr/>
        </p:nvSpPr>
        <p:spPr>
          <a:xfrm>
            <a:off x="5076055" y="2509644"/>
            <a:ext cx="3024337" cy="1477328"/>
          </a:xfrm>
          <a:prstGeom prst="rect">
            <a:avLst/>
          </a:prstGeom>
          <a:noFill/>
          <a:ln w="28575">
            <a:solidFill>
              <a:schemeClr val="tx1"/>
            </a:solidFill>
          </a:ln>
        </p:spPr>
        <p:txBody>
          <a:bodyPr wrap="square" rtlCol="0">
            <a:spAutoFit/>
          </a:bodyPr>
          <a:lstStyle/>
          <a:p>
            <a:pPr algn="ctr"/>
            <a:r>
              <a:rPr lang="en-AU" b="1" dirty="0"/>
              <a:t>Ordinal</a:t>
            </a:r>
          </a:p>
          <a:p>
            <a:r>
              <a:rPr lang="en-AU" dirty="0"/>
              <a:t>Names of the categories (labels) suggest a natural order, but does not represent a measurement.</a:t>
            </a:r>
          </a:p>
        </p:txBody>
      </p:sp>
      <p:cxnSp>
        <p:nvCxnSpPr>
          <p:cNvPr id="16" name="Straight Connector 15"/>
          <p:cNvCxnSpPr/>
          <p:nvPr/>
        </p:nvCxnSpPr>
        <p:spPr>
          <a:xfrm>
            <a:off x="6717432" y="181243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a:endCxn id="19" idx="0"/>
          </p:cNvCxnSpPr>
          <p:nvPr/>
        </p:nvCxnSpPr>
        <p:spPr>
          <a:xfrm>
            <a:off x="4657154" y="1998132"/>
            <a:ext cx="1931070" cy="51151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3180990" y="1998132"/>
            <a:ext cx="1476164" cy="51151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3508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normAutofit fontScale="90000"/>
          </a:bodyPr>
          <a:lstStyle/>
          <a:p>
            <a:r>
              <a:rPr lang="en-US" sz="4000"/>
              <a:t>Categorical Variables:</a:t>
            </a:r>
            <a:br>
              <a:rPr lang="en-US" sz="4000"/>
            </a:br>
            <a:r>
              <a:rPr lang="en-US" sz="3600"/>
              <a:t>Nominal Variables</a:t>
            </a:r>
          </a:p>
        </p:txBody>
      </p:sp>
      <p:sp>
        <p:nvSpPr>
          <p:cNvPr id="115715" name="Rectangle 3"/>
          <p:cNvSpPr>
            <a:spLocks noGrp="1" noChangeArrowheads="1"/>
          </p:cNvSpPr>
          <p:nvPr>
            <p:ph idx="1"/>
          </p:nvPr>
        </p:nvSpPr>
        <p:spPr/>
        <p:txBody>
          <a:bodyPr/>
          <a:lstStyle/>
          <a:p>
            <a:pPr>
              <a:lnSpc>
                <a:spcPct val="90000"/>
              </a:lnSpc>
            </a:pPr>
            <a:r>
              <a:rPr lang="en-US" sz="2800" dirty="0"/>
              <a:t>Nominal variable – a categorical variable </a:t>
            </a:r>
            <a:r>
              <a:rPr lang="en-US" sz="2800" i="1" dirty="0"/>
              <a:t>without</a:t>
            </a:r>
            <a:r>
              <a:rPr lang="en-US" sz="2800" dirty="0"/>
              <a:t> an intrinsic order</a:t>
            </a:r>
          </a:p>
          <a:p>
            <a:pPr>
              <a:lnSpc>
                <a:spcPct val="90000"/>
              </a:lnSpc>
            </a:pPr>
            <a:r>
              <a:rPr lang="en-US" sz="2800" dirty="0"/>
              <a:t>Examples of nominal variables:</a:t>
            </a:r>
          </a:p>
          <a:p>
            <a:pPr lvl="1">
              <a:lnSpc>
                <a:spcPct val="90000"/>
              </a:lnSpc>
            </a:pPr>
            <a:r>
              <a:rPr lang="en-US" sz="2400" dirty="0"/>
              <a:t>Where a person lives in the Australia (Northeast, South, West, etc.)</a:t>
            </a:r>
          </a:p>
          <a:p>
            <a:pPr lvl="1">
              <a:lnSpc>
                <a:spcPct val="90000"/>
              </a:lnSpc>
            </a:pPr>
            <a:r>
              <a:rPr lang="en-US" sz="2400" dirty="0"/>
              <a:t>Sex (male, female)</a:t>
            </a:r>
          </a:p>
          <a:p>
            <a:pPr lvl="1">
              <a:lnSpc>
                <a:spcPct val="90000"/>
              </a:lnSpc>
            </a:pPr>
            <a:r>
              <a:rPr lang="en-US" sz="2400" dirty="0"/>
              <a:t>Nationality (Australian, Mexican, French)</a:t>
            </a:r>
          </a:p>
          <a:p>
            <a:pPr lvl="1">
              <a:lnSpc>
                <a:spcPct val="90000"/>
              </a:lnSpc>
            </a:pPr>
            <a:r>
              <a:rPr lang="en-US" sz="2400" dirty="0"/>
              <a:t>Race/ethnicity (African American, Hispanic, Asian American)</a:t>
            </a:r>
          </a:p>
          <a:p>
            <a:pPr lvl="1">
              <a:lnSpc>
                <a:spcPct val="90000"/>
              </a:lnSpc>
            </a:pPr>
            <a:r>
              <a:rPr lang="en-US" sz="2400" dirty="0"/>
              <a:t>Favorite pet (dog, cat, fish, snake)</a:t>
            </a:r>
          </a:p>
        </p:txBody>
      </p:sp>
    </p:spTree>
    <p:extLst>
      <p:ext uri="{BB962C8B-B14F-4D97-AF65-F5344CB8AC3E}">
        <p14:creationId xmlns:p14="http://schemas.microsoft.com/office/powerpoint/2010/main" val="4154539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normAutofit fontScale="90000"/>
          </a:bodyPr>
          <a:lstStyle/>
          <a:p>
            <a:r>
              <a:rPr lang="en-US" sz="4000"/>
              <a:t>Categorical Variables:</a:t>
            </a:r>
            <a:br>
              <a:rPr lang="en-US" sz="4000"/>
            </a:br>
            <a:r>
              <a:rPr lang="en-US" sz="3600"/>
              <a:t>Ordinal Variables</a:t>
            </a:r>
          </a:p>
        </p:txBody>
      </p:sp>
      <p:sp>
        <p:nvSpPr>
          <p:cNvPr id="114691" name="Rectangle 3"/>
          <p:cNvSpPr>
            <a:spLocks noGrp="1" noChangeArrowheads="1"/>
          </p:cNvSpPr>
          <p:nvPr>
            <p:ph idx="1"/>
          </p:nvPr>
        </p:nvSpPr>
        <p:spPr/>
        <p:txBody>
          <a:bodyPr/>
          <a:lstStyle/>
          <a:p>
            <a:pPr>
              <a:lnSpc>
                <a:spcPct val="90000"/>
              </a:lnSpc>
            </a:pPr>
            <a:r>
              <a:rPr lang="en-US" sz="2800" dirty="0"/>
              <a:t>Ordinal variable—a categorical variable with some intrinsic order or numeric value</a:t>
            </a:r>
          </a:p>
          <a:p>
            <a:pPr>
              <a:lnSpc>
                <a:spcPct val="90000"/>
              </a:lnSpc>
            </a:pPr>
            <a:r>
              <a:rPr lang="en-US" sz="2800" dirty="0"/>
              <a:t>Examples of ordinal variables:</a:t>
            </a:r>
          </a:p>
          <a:p>
            <a:pPr lvl="1">
              <a:lnSpc>
                <a:spcPct val="90000"/>
              </a:lnSpc>
            </a:pPr>
            <a:r>
              <a:rPr lang="en-US" sz="2400" dirty="0"/>
              <a:t>Education (no high school degree, HS degree, some University, University degree)</a:t>
            </a:r>
          </a:p>
          <a:p>
            <a:pPr lvl="1">
              <a:lnSpc>
                <a:spcPct val="90000"/>
              </a:lnSpc>
            </a:pPr>
            <a:r>
              <a:rPr lang="en-US" sz="2400" dirty="0"/>
              <a:t>Agreement (strongly disagree, disagree, neutral, agree, strongly agree)</a:t>
            </a:r>
          </a:p>
          <a:p>
            <a:pPr lvl="1">
              <a:lnSpc>
                <a:spcPct val="90000"/>
              </a:lnSpc>
            </a:pPr>
            <a:r>
              <a:rPr lang="en-US" sz="2400" dirty="0"/>
              <a:t>Frequency (always, often, sometimes, never)</a:t>
            </a:r>
          </a:p>
          <a:p>
            <a:pPr lvl="1">
              <a:lnSpc>
                <a:spcPct val="90000"/>
              </a:lnSpc>
            </a:pPr>
            <a:r>
              <a:rPr lang="en-US" sz="2400" dirty="0"/>
              <a:t>Any other scale (“On a scale of 1 to 5...”)</a:t>
            </a:r>
          </a:p>
        </p:txBody>
      </p:sp>
    </p:spTree>
    <p:extLst>
      <p:ext uri="{BB962C8B-B14F-4D97-AF65-F5344CB8AC3E}">
        <p14:creationId xmlns:p14="http://schemas.microsoft.com/office/powerpoint/2010/main" val="249562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304800" y="76200"/>
            <a:ext cx="8610600" cy="838200"/>
          </a:xfrm>
        </p:spPr>
        <p:txBody>
          <a:bodyPr/>
          <a:lstStyle/>
          <a:p>
            <a:pPr eaLnBrk="1" hangingPunct="1"/>
            <a:r>
              <a:rPr lang="en-US" sz="4000" b="1"/>
              <a:t>Numerical (Quantitative) Variable</a:t>
            </a:r>
            <a:r>
              <a:rPr lang="en-US" sz="4000"/>
              <a:t>s</a:t>
            </a:r>
          </a:p>
        </p:txBody>
      </p:sp>
      <p:sp>
        <p:nvSpPr>
          <p:cNvPr id="22531" name="Rectangle 3"/>
          <p:cNvSpPr>
            <a:spLocks noGrp="1" noChangeArrowheads="1"/>
          </p:cNvSpPr>
          <p:nvPr>
            <p:ph type="body" idx="1"/>
          </p:nvPr>
        </p:nvSpPr>
        <p:spPr>
          <a:xfrm>
            <a:off x="304800" y="990600"/>
            <a:ext cx="8229600" cy="5638800"/>
          </a:xfrm>
        </p:spPr>
        <p:txBody>
          <a:bodyPr>
            <a:normAutofit lnSpcReduction="10000"/>
          </a:bodyPr>
          <a:lstStyle/>
          <a:p>
            <a:pPr eaLnBrk="1" hangingPunct="1">
              <a:buFontTx/>
              <a:buChar char="-"/>
              <a:defRPr/>
            </a:pPr>
            <a:r>
              <a:rPr lang="en-US" sz="2800" b="1" dirty="0"/>
              <a:t>A variable that quantifies an element of a population.</a:t>
            </a:r>
          </a:p>
          <a:p>
            <a:pPr eaLnBrk="1" hangingPunct="1">
              <a:buFontTx/>
              <a:buChar char="-"/>
              <a:defRPr/>
            </a:pPr>
            <a:r>
              <a:rPr lang="en-US" sz="2800" b="1" dirty="0"/>
              <a:t>When a response to a question is numerical.</a:t>
            </a:r>
          </a:p>
          <a:p>
            <a:pPr eaLnBrk="1" hangingPunct="1">
              <a:buFontTx/>
              <a:buChar char="-"/>
              <a:defRPr/>
            </a:pPr>
            <a:r>
              <a:rPr lang="en-US" sz="2800" b="1" dirty="0"/>
              <a:t>Indicates a size or amount not just a number</a:t>
            </a:r>
          </a:p>
          <a:p>
            <a:pPr marL="0" indent="0" eaLnBrk="1" hangingPunct="1">
              <a:lnSpc>
                <a:spcPct val="90000"/>
              </a:lnSpc>
              <a:buFontTx/>
              <a:buNone/>
              <a:defRPr/>
            </a:pPr>
            <a:endParaRPr lang="en-US" sz="2800" b="1" dirty="0"/>
          </a:p>
          <a:p>
            <a:pPr eaLnBrk="1" hangingPunct="1">
              <a:lnSpc>
                <a:spcPct val="90000"/>
              </a:lnSpc>
              <a:buFontTx/>
              <a:buNone/>
              <a:defRPr/>
            </a:pPr>
            <a:r>
              <a:rPr lang="en-US" sz="2800" b="1" dirty="0"/>
              <a:t>Examples:</a:t>
            </a:r>
          </a:p>
          <a:p>
            <a:pPr eaLnBrk="1" hangingPunct="1">
              <a:lnSpc>
                <a:spcPct val="90000"/>
              </a:lnSpc>
              <a:defRPr/>
            </a:pPr>
            <a:r>
              <a:rPr lang="en-US" sz="2800" dirty="0"/>
              <a:t>Age</a:t>
            </a:r>
          </a:p>
          <a:p>
            <a:pPr eaLnBrk="1" hangingPunct="1">
              <a:lnSpc>
                <a:spcPct val="90000"/>
              </a:lnSpc>
              <a:defRPr/>
            </a:pPr>
            <a:r>
              <a:rPr lang="en-US" sz="2800" dirty="0"/>
              <a:t>Height</a:t>
            </a:r>
            <a:endParaRPr lang="en-US" sz="2800" baseline="30000" dirty="0"/>
          </a:p>
          <a:p>
            <a:pPr eaLnBrk="1" hangingPunct="1">
              <a:lnSpc>
                <a:spcPct val="90000"/>
              </a:lnSpc>
              <a:defRPr/>
            </a:pPr>
            <a:r>
              <a:rPr lang="en-US" sz="2800" dirty="0"/>
              <a:t>Annual income </a:t>
            </a:r>
          </a:p>
          <a:p>
            <a:pPr eaLnBrk="1" hangingPunct="1">
              <a:lnSpc>
                <a:spcPct val="90000"/>
              </a:lnSpc>
              <a:defRPr/>
            </a:pPr>
            <a:r>
              <a:rPr lang="en-US" sz="2800" dirty="0"/>
              <a:t>Time spent on Internet yesterday</a:t>
            </a:r>
          </a:p>
          <a:p>
            <a:pPr eaLnBrk="1" hangingPunct="1">
              <a:lnSpc>
                <a:spcPct val="90000"/>
              </a:lnSpc>
              <a:defRPr/>
            </a:pPr>
            <a:r>
              <a:rPr lang="en-US" sz="2800" dirty="0"/>
              <a:t>People in your house</a:t>
            </a:r>
          </a:p>
          <a:p>
            <a:pPr eaLnBrk="1" hangingPunct="1">
              <a:lnSpc>
                <a:spcPct val="90000"/>
              </a:lnSpc>
              <a:defRPr/>
            </a:pPr>
            <a:r>
              <a:rPr lang="en-US" sz="2800" dirty="0"/>
              <a:t>Number of pets</a:t>
            </a:r>
          </a:p>
        </p:txBody>
      </p:sp>
    </p:spTree>
    <p:extLst>
      <p:ext uri="{BB962C8B-B14F-4D97-AF65-F5344CB8AC3E}">
        <p14:creationId xmlns:p14="http://schemas.microsoft.com/office/powerpoint/2010/main" val="4138122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304800" y="0"/>
            <a:ext cx="8229600" cy="1143000"/>
          </a:xfrm>
        </p:spPr>
        <p:txBody>
          <a:bodyPr/>
          <a:lstStyle/>
          <a:p>
            <a:pPr eaLnBrk="1" hangingPunct="1"/>
            <a:r>
              <a:rPr lang="en-US" sz="4000" b="1"/>
              <a:t>Discrete Variable</a:t>
            </a:r>
          </a:p>
        </p:txBody>
      </p:sp>
      <p:sp>
        <p:nvSpPr>
          <p:cNvPr id="25603" name="Rectangle 3"/>
          <p:cNvSpPr>
            <a:spLocks noGrp="1" noChangeArrowheads="1"/>
          </p:cNvSpPr>
          <p:nvPr>
            <p:ph type="body" idx="4294967295"/>
          </p:nvPr>
        </p:nvSpPr>
        <p:spPr>
          <a:xfrm>
            <a:off x="381000" y="1219200"/>
            <a:ext cx="8458200" cy="4525963"/>
          </a:xfrm>
        </p:spPr>
        <p:txBody>
          <a:bodyPr/>
          <a:lstStyle/>
          <a:p>
            <a:pPr eaLnBrk="1" hangingPunct="1">
              <a:lnSpc>
                <a:spcPct val="80000"/>
              </a:lnSpc>
              <a:buFontTx/>
              <a:buChar char="-"/>
              <a:defRPr/>
            </a:pPr>
            <a:r>
              <a:rPr lang="en-US" sz="2800" b="1" dirty="0"/>
              <a:t>Data can only have particular values. </a:t>
            </a:r>
          </a:p>
          <a:p>
            <a:pPr eaLnBrk="1" hangingPunct="1">
              <a:lnSpc>
                <a:spcPct val="80000"/>
              </a:lnSpc>
              <a:buFontTx/>
              <a:buChar char="-"/>
              <a:defRPr/>
            </a:pPr>
            <a:r>
              <a:rPr lang="en-US" sz="2800" b="1" dirty="0">
                <a:latin typeface="+mj-lt"/>
                <a:cs typeface="Times New Roman" pitchFamily="18" charset="0"/>
              </a:rPr>
              <a:t>In most cases the vales are whole numbers.</a:t>
            </a:r>
          </a:p>
          <a:p>
            <a:pPr marL="0" indent="0" eaLnBrk="1" hangingPunct="1">
              <a:lnSpc>
                <a:spcPct val="90000"/>
              </a:lnSpc>
              <a:buFontTx/>
              <a:buNone/>
              <a:defRPr/>
            </a:pPr>
            <a:endParaRPr lang="en-US" sz="2800" dirty="0">
              <a:latin typeface="+mj-lt"/>
              <a:cs typeface="Times New Roman" pitchFamily="18" charset="0"/>
            </a:endParaRPr>
          </a:p>
          <a:p>
            <a:pPr marL="0" indent="0" eaLnBrk="1" hangingPunct="1">
              <a:lnSpc>
                <a:spcPct val="90000"/>
              </a:lnSpc>
              <a:buFontTx/>
              <a:buNone/>
              <a:defRPr/>
            </a:pPr>
            <a:r>
              <a:rPr lang="en-US" sz="2800" dirty="0">
                <a:latin typeface="+mj-lt"/>
                <a:cs typeface="Times New Roman" pitchFamily="18" charset="0"/>
              </a:rPr>
              <a:t>Examples:</a:t>
            </a:r>
          </a:p>
          <a:p>
            <a:pPr eaLnBrk="1" hangingPunct="1">
              <a:lnSpc>
                <a:spcPct val="90000"/>
              </a:lnSpc>
              <a:defRPr/>
            </a:pPr>
            <a:r>
              <a:rPr lang="en-US" sz="2800" dirty="0">
                <a:latin typeface="+mj-lt"/>
                <a:cs typeface="Times New Roman" pitchFamily="18" charset="0"/>
              </a:rPr>
              <a:t>Number of siblings </a:t>
            </a:r>
          </a:p>
          <a:p>
            <a:pPr eaLnBrk="1" hangingPunct="1">
              <a:lnSpc>
                <a:spcPct val="90000"/>
              </a:lnSpc>
              <a:defRPr/>
            </a:pPr>
            <a:r>
              <a:rPr lang="en-US" sz="2800" dirty="0">
                <a:latin typeface="+mj-lt"/>
                <a:cs typeface="Times New Roman" pitchFamily="18" charset="0"/>
              </a:rPr>
              <a:t>Number of students in the class</a:t>
            </a:r>
          </a:p>
          <a:p>
            <a:pPr eaLnBrk="1" hangingPunct="1">
              <a:lnSpc>
                <a:spcPct val="90000"/>
              </a:lnSpc>
              <a:defRPr/>
            </a:pPr>
            <a:r>
              <a:rPr lang="en-US" sz="2800" dirty="0"/>
              <a:t>Number of e-mail messages sent in previous day</a:t>
            </a:r>
          </a:p>
          <a:p>
            <a:pPr eaLnBrk="1" hangingPunct="1">
              <a:lnSpc>
                <a:spcPct val="80000"/>
              </a:lnSpc>
              <a:buFontTx/>
              <a:buNone/>
              <a:defRPr/>
            </a:pPr>
            <a:endParaRPr lang="en-US" sz="2800" dirty="0"/>
          </a:p>
          <a:p>
            <a:pPr eaLnBrk="1" hangingPunct="1">
              <a:lnSpc>
                <a:spcPct val="80000"/>
              </a:lnSpc>
              <a:buFontTx/>
              <a:buNone/>
              <a:defRPr/>
            </a:pPr>
            <a:endParaRPr lang="en-US" sz="2800" dirty="0"/>
          </a:p>
        </p:txBody>
      </p:sp>
    </p:spTree>
    <p:extLst>
      <p:ext uri="{BB962C8B-B14F-4D97-AF65-F5344CB8AC3E}">
        <p14:creationId xmlns:p14="http://schemas.microsoft.com/office/powerpoint/2010/main" val="2111822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304800" y="0"/>
            <a:ext cx="8229600" cy="1143000"/>
          </a:xfrm>
        </p:spPr>
        <p:txBody>
          <a:bodyPr/>
          <a:lstStyle/>
          <a:p>
            <a:pPr eaLnBrk="1" hangingPunct="1"/>
            <a:r>
              <a:rPr lang="en-US" sz="4000" b="1"/>
              <a:t>Continuous Variables</a:t>
            </a:r>
          </a:p>
        </p:txBody>
      </p:sp>
      <p:sp>
        <p:nvSpPr>
          <p:cNvPr id="6147" name="Rectangle 3"/>
          <p:cNvSpPr>
            <a:spLocks noGrp="1" noChangeArrowheads="1"/>
          </p:cNvSpPr>
          <p:nvPr>
            <p:ph type="body" idx="4294967295"/>
          </p:nvPr>
        </p:nvSpPr>
        <p:spPr>
          <a:xfrm>
            <a:off x="381000" y="1066800"/>
            <a:ext cx="8229600" cy="4525963"/>
          </a:xfrm>
        </p:spPr>
        <p:txBody>
          <a:bodyPr/>
          <a:lstStyle/>
          <a:p>
            <a:pPr eaLnBrk="1" hangingPunct="1">
              <a:lnSpc>
                <a:spcPct val="90000"/>
              </a:lnSpc>
              <a:buFontTx/>
              <a:buChar char="-"/>
            </a:pPr>
            <a:r>
              <a:rPr lang="en-US" sz="2800" b="1" dirty="0"/>
              <a:t>Infinite continuum of possible values </a:t>
            </a:r>
          </a:p>
          <a:p>
            <a:pPr eaLnBrk="1" hangingPunct="1">
              <a:lnSpc>
                <a:spcPct val="90000"/>
              </a:lnSpc>
              <a:buFontTx/>
              <a:buChar char="-"/>
            </a:pPr>
            <a:r>
              <a:rPr lang="en-US" sz="2800" b="1" dirty="0">
                <a:cs typeface="Times New Roman" pitchFamily="18" charset="0"/>
              </a:rPr>
              <a:t>Reflects a measurement; the number</a:t>
            </a:r>
            <a:r>
              <a:rPr lang="en-US" sz="2800" b="1" dirty="0"/>
              <a:t> </a:t>
            </a:r>
            <a:r>
              <a:rPr lang="en-US" sz="2800" b="1" dirty="0">
                <a:cs typeface="Times New Roman" pitchFamily="18" charset="0"/>
              </a:rPr>
              <a:t>of  decimal places depends on the precision of the measuring device.</a:t>
            </a:r>
          </a:p>
          <a:p>
            <a:pPr eaLnBrk="1" hangingPunct="1">
              <a:lnSpc>
                <a:spcPct val="80000"/>
              </a:lnSpc>
              <a:buFontTx/>
              <a:buNone/>
            </a:pPr>
            <a:endParaRPr lang="en-US" sz="2800" dirty="0"/>
          </a:p>
          <a:p>
            <a:pPr eaLnBrk="1" hangingPunct="1">
              <a:lnSpc>
                <a:spcPct val="80000"/>
              </a:lnSpc>
              <a:buFontTx/>
              <a:buNone/>
            </a:pPr>
            <a:r>
              <a:rPr lang="en-US" sz="2800" b="1" dirty="0"/>
              <a:t>Example</a:t>
            </a:r>
            <a:r>
              <a:rPr lang="en-US" sz="2800" dirty="0"/>
              <a:t>: </a:t>
            </a:r>
          </a:p>
          <a:p>
            <a:pPr eaLnBrk="1" hangingPunct="1">
              <a:lnSpc>
                <a:spcPct val="80000"/>
              </a:lnSpc>
            </a:pPr>
            <a:r>
              <a:rPr lang="en-US" sz="2800" dirty="0"/>
              <a:t>Amount of time spent on Internet in previous day</a:t>
            </a:r>
          </a:p>
          <a:p>
            <a:pPr eaLnBrk="1" hangingPunct="1">
              <a:lnSpc>
                <a:spcPct val="80000"/>
              </a:lnSpc>
            </a:pPr>
            <a:r>
              <a:rPr lang="en-US" sz="2800" dirty="0"/>
              <a:t>Persons height</a:t>
            </a:r>
          </a:p>
          <a:p>
            <a:pPr eaLnBrk="1" hangingPunct="1">
              <a:lnSpc>
                <a:spcPct val="80000"/>
              </a:lnSpc>
            </a:pPr>
            <a:r>
              <a:rPr lang="en-US" sz="2800" dirty="0"/>
              <a:t>Time in a race</a:t>
            </a:r>
          </a:p>
          <a:p>
            <a:pPr eaLnBrk="1" hangingPunct="1">
              <a:lnSpc>
                <a:spcPct val="80000"/>
              </a:lnSpc>
              <a:buFontTx/>
              <a:buNone/>
            </a:pPr>
            <a:endParaRPr lang="en-US" sz="2800" dirty="0"/>
          </a:p>
        </p:txBody>
      </p:sp>
    </p:spTree>
    <p:extLst>
      <p:ext uri="{BB962C8B-B14F-4D97-AF65-F5344CB8AC3E}">
        <p14:creationId xmlns:p14="http://schemas.microsoft.com/office/powerpoint/2010/main" val="2171200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idx="1"/>
          </p:nvPr>
        </p:nvSpPr>
        <p:spPr>
          <a:xfrm>
            <a:off x="685800" y="457200"/>
            <a:ext cx="7772400" cy="5943600"/>
          </a:xfrm>
        </p:spPr>
        <p:txBody>
          <a:bodyPr/>
          <a:lstStyle/>
          <a:p>
            <a:pPr marL="0" indent="0" defTabSz="919163" eaLnBrk="1" hangingPunct="1">
              <a:buFontTx/>
              <a:buNone/>
            </a:pPr>
            <a:endParaRPr lang="en-US" sz="2000"/>
          </a:p>
          <a:p>
            <a:pPr marL="0" indent="0" defTabSz="919163" eaLnBrk="1" hangingPunct="1">
              <a:buFontTx/>
              <a:buNone/>
            </a:pPr>
            <a:endParaRPr lang="en-US" sz="2400"/>
          </a:p>
          <a:p>
            <a:pPr marL="0" indent="0" defTabSz="919163" eaLnBrk="1" hangingPunct="1">
              <a:buFontTx/>
              <a:buNone/>
            </a:pPr>
            <a:endParaRPr lang="en-US" sz="2000"/>
          </a:p>
          <a:p>
            <a:pPr marL="0" indent="0" defTabSz="919163" eaLnBrk="1" hangingPunct="1">
              <a:buFontTx/>
              <a:buNone/>
            </a:pPr>
            <a:r>
              <a:rPr lang="en-US" sz="2400"/>
              <a:t>					                  Nominal</a:t>
            </a:r>
          </a:p>
          <a:p>
            <a:pPr marL="0" indent="0" defTabSz="919163" eaLnBrk="1" hangingPunct="1">
              <a:buFontTx/>
              <a:buNone/>
            </a:pPr>
            <a:r>
              <a:rPr lang="en-US" sz="2400"/>
              <a:t>		Categorical/Qualitative		</a:t>
            </a:r>
          </a:p>
          <a:p>
            <a:pPr marL="0" indent="0" defTabSz="919163" eaLnBrk="1" hangingPunct="1">
              <a:buFontTx/>
              <a:buNone/>
            </a:pPr>
            <a:r>
              <a:rPr lang="en-US" sz="2400"/>
              <a:t>					                  Ordinal</a:t>
            </a:r>
          </a:p>
          <a:p>
            <a:pPr marL="0" indent="0" defTabSz="919163" eaLnBrk="1" hangingPunct="1">
              <a:buFontTx/>
              <a:buNone/>
            </a:pPr>
            <a:r>
              <a:rPr lang="en-US" sz="2400"/>
              <a:t>Variable</a:t>
            </a:r>
          </a:p>
          <a:p>
            <a:pPr marL="0" indent="0" defTabSz="919163" eaLnBrk="1" hangingPunct="1">
              <a:buFontTx/>
              <a:buNone/>
            </a:pPr>
            <a:r>
              <a:rPr lang="en-US" sz="2400"/>
              <a:t>					                 Discrete</a:t>
            </a:r>
          </a:p>
          <a:p>
            <a:pPr marL="0" indent="0" defTabSz="919163" eaLnBrk="1" hangingPunct="1">
              <a:buFontTx/>
              <a:buNone/>
            </a:pPr>
            <a:r>
              <a:rPr lang="en-US" sz="2400"/>
              <a:t>		Numerical/Quantitative</a:t>
            </a:r>
          </a:p>
          <a:p>
            <a:pPr marL="0" indent="0" defTabSz="919163" eaLnBrk="1" hangingPunct="1">
              <a:buFontTx/>
              <a:buNone/>
            </a:pPr>
            <a:r>
              <a:rPr lang="en-US" sz="2400"/>
              <a:t>					                 Continuous</a:t>
            </a:r>
          </a:p>
          <a:p>
            <a:pPr marL="0" indent="0" defTabSz="919163" eaLnBrk="1" hangingPunct="1">
              <a:buFontTx/>
              <a:buNone/>
            </a:pPr>
            <a:endParaRPr lang="en-US" sz="2400"/>
          </a:p>
        </p:txBody>
      </p:sp>
      <p:sp>
        <p:nvSpPr>
          <p:cNvPr id="7171" name="Line 3"/>
          <p:cNvSpPr>
            <a:spLocks noChangeShapeType="1"/>
          </p:cNvSpPr>
          <p:nvPr/>
        </p:nvSpPr>
        <p:spPr bwMode="auto">
          <a:xfrm flipV="1">
            <a:off x="1905000" y="2362200"/>
            <a:ext cx="609600" cy="914400"/>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7172" name="Line 4"/>
          <p:cNvSpPr>
            <a:spLocks noChangeShapeType="1"/>
          </p:cNvSpPr>
          <p:nvPr/>
        </p:nvSpPr>
        <p:spPr bwMode="auto">
          <a:xfrm>
            <a:off x="1905000" y="3276600"/>
            <a:ext cx="609600" cy="838200"/>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7173" name="Line 5"/>
          <p:cNvSpPr>
            <a:spLocks noChangeShapeType="1"/>
          </p:cNvSpPr>
          <p:nvPr/>
        </p:nvSpPr>
        <p:spPr bwMode="auto">
          <a:xfrm flipV="1">
            <a:off x="5638800" y="1905000"/>
            <a:ext cx="1219200" cy="457200"/>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7174" name="Line 6"/>
          <p:cNvSpPr>
            <a:spLocks noChangeShapeType="1"/>
          </p:cNvSpPr>
          <p:nvPr/>
        </p:nvSpPr>
        <p:spPr bwMode="auto">
          <a:xfrm>
            <a:off x="5638800" y="2362200"/>
            <a:ext cx="1219200" cy="381000"/>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7175" name="Line 7"/>
          <p:cNvSpPr>
            <a:spLocks noChangeShapeType="1"/>
          </p:cNvSpPr>
          <p:nvPr/>
        </p:nvSpPr>
        <p:spPr bwMode="auto">
          <a:xfrm flipV="1">
            <a:off x="5715000" y="3632200"/>
            <a:ext cx="1066800" cy="457200"/>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7176" name="Line 8"/>
          <p:cNvSpPr>
            <a:spLocks noChangeShapeType="1"/>
          </p:cNvSpPr>
          <p:nvPr/>
        </p:nvSpPr>
        <p:spPr bwMode="auto">
          <a:xfrm>
            <a:off x="5715000" y="4089400"/>
            <a:ext cx="1066800" cy="381000"/>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Tree>
    <p:extLst>
      <p:ext uri="{BB962C8B-B14F-4D97-AF65-F5344CB8AC3E}">
        <p14:creationId xmlns:p14="http://schemas.microsoft.com/office/powerpoint/2010/main" val="1198414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t>Median</a:t>
            </a:r>
          </a:p>
        </p:txBody>
      </p:sp>
      <p:sp>
        <p:nvSpPr>
          <p:cNvPr id="11267" name="Rectangle 3"/>
          <p:cNvSpPr>
            <a:spLocks noGrp="1" noChangeArrowheads="1"/>
          </p:cNvSpPr>
          <p:nvPr>
            <p:ph idx="1"/>
          </p:nvPr>
        </p:nvSpPr>
        <p:spPr/>
        <p:txBody>
          <a:bodyPr/>
          <a:lstStyle/>
          <a:p>
            <a:r>
              <a:rPr lang="en-US"/>
              <a:t>Another name for 50th percentile.</a:t>
            </a:r>
          </a:p>
          <a:p>
            <a:r>
              <a:rPr lang="en-US"/>
              <a:t>Appropriate for describing numerical data.</a:t>
            </a:r>
          </a:p>
          <a:p>
            <a:r>
              <a:rPr lang="en-US"/>
              <a:t>“</a:t>
            </a:r>
            <a:r>
              <a:rPr lang="en-US" b="1"/>
              <a:t>Robust to outliers</a:t>
            </a:r>
            <a:r>
              <a:rPr lang="en-US"/>
              <a:t>,” that is, not affected much by unusual values.</a:t>
            </a:r>
          </a:p>
        </p:txBody>
      </p:sp>
    </p:spTree>
    <p:extLst>
      <p:ext uri="{BB962C8B-B14F-4D97-AF65-F5344CB8AC3E}">
        <p14:creationId xmlns:p14="http://schemas.microsoft.com/office/powerpoint/2010/main" val="17452219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6"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11267">
                                            <p:txEl>
                                              <p:pRg st="1" end="1"/>
                                            </p:txEl>
                                          </p:spTgt>
                                        </p:tgtEl>
                                        <p:attrNameLst>
                                          <p:attrName>style.visibility</p:attrName>
                                        </p:attrNameLst>
                                      </p:cBhvr>
                                      <p:to>
                                        <p:strVal val="visible"/>
                                      </p:to>
                                    </p:set>
                                    <p:anim calcmode="lin" valueType="num">
                                      <p:cBhvr additive="base">
                                        <p:cTn id="13" dur="500" fill="hold"/>
                                        <p:tgtEl>
                                          <p:spTgt spid="1126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12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6" fill="hold" grpId="0" nodeType="clickEffect">
                                  <p:stCondLst>
                                    <p:cond delay="0"/>
                                  </p:stCondLst>
                                  <p:childTnLst>
                                    <p:set>
                                      <p:cBhvr>
                                        <p:cTn id="18" dur="1" fill="hold">
                                          <p:stCondLst>
                                            <p:cond delay="0"/>
                                          </p:stCondLst>
                                        </p:cTn>
                                        <p:tgtEl>
                                          <p:spTgt spid="11267">
                                            <p:txEl>
                                              <p:pRg st="2" end="2"/>
                                            </p:txEl>
                                          </p:spTgt>
                                        </p:tgtEl>
                                        <p:attrNameLst>
                                          <p:attrName>style.visibility</p:attrName>
                                        </p:attrNameLst>
                                      </p:cBhvr>
                                      <p:to>
                                        <p:strVal val="visible"/>
                                      </p:to>
                                    </p:set>
                                    <p:anim calcmode="lin" valueType="num">
                                      <p:cBhvr additive="base">
                                        <p:cTn id="19" dur="500" fill="hold"/>
                                        <p:tgtEl>
                                          <p:spTgt spid="1126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126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t>Calculating Median</a:t>
            </a:r>
          </a:p>
        </p:txBody>
      </p:sp>
      <p:sp>
        <p:nvSpPr>
          <p:cNvPr id="28675" name="Text Box 3"/>
          <p:cNvSpPr txBox="1">
            <a:spLocks noChangeArrowheads="1"/>
          </p:cNvSpPr>
          <p:nvPr/>
        </p:nvSpPr>
        <p:spPr bwMode="auto">
          <a:xfrm>
            <a:off x="609600" y="1905000"/>
            <a:ext cx="6781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3200"/>
              <a:t>Order data from smallest to largest.</a:t>
            </a:r>
            <a:endParaRPr lang="en-US"/>
          </a:p>
        </p:txBody>
      </p:sp>
      <p:sp>
        <p:nvSpPr>
          <p:cNvPr id="28676" name="Text Box 4"/>
          <p:cNvSpPr txBox="1">
            <a:spLocks noChangeArrowheads="1"/>
          </p:cNvSpPr>
          <p:nvPr/>
        </p:nvSpPr>
        <p:spPr bwMode="auto">
          <a:xfrm>
            <a:off x="609600" y="2590800"/>
            <a:ext cx="7772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3200"/>
              <a:t>If </a:t>
            </a:r>
            <a:r>
              <a:rPr lang="en-US" sz="3200" b="1"/>
              <a:t>odd</a:t>
            </a:r>
            <a:r>
              <a:rPr lang="en-US" sz="3200"/>
              <a:t> number of data points, the median is the middle value.</a:t>
            </a:r>
          </a:p>
        </p:txBody>
      </p:sp>
      <p:sp>
        <p:nvSpPr>
          <p:cNvPr id="28677" name="Text Box 5"/>
          <p:cNvSpPr txBox="1">
            <a:spLocks noChangeArrowheads="1"/>
          </p:cNvSpPr>
          <p:nvPr/>
        </p:nvSpPr>
        <p:spPr bwMode="auto">
          <a:xfrm>
            <a:off x="609600" y="3810000"/>
            <a:ext cx="8153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3200"/>
              <a:t>Data (# of classes skipped):  </a:t>
            </a:r>
            <a:r>
              <a:rPr lang="en-US" sz="3200" b="1">
                <a:latin typeface="Courier New" pitchFamily="49" charset="0"/>
              </a:rPr>
              <a:t>2  8  3  4  1</a:t>
            </a:r>
            <a:endParaRPr lang="en-US"/>
          </a:p>
        </p:txBody>
      </p:sp>
      <p:sp>
        <p:nvSpPr>
          <p:cNvPr id="28678" name="Text Box 6"/>
          <p:cNvSpPr txBox="1">
            <a:spLocks noChangeArrowheads="1"/>
          </p:cNvSpPr>
          <p:nvPr/>
        </p:nvSpPr>
        <p:spPr bwMode="auto">
          <a:xfrm>
            <a:off x="609600" y="4648200"/>
            <a:ext cx="8153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3200"/>
              <a:t>Ordered Data:  </a:t>
            </a:r>
            <a:r>
              <a:rPr lang="en-US" sz="3200" b="1">
                <a:latin typeface="Courier New" pitchFamily="49" charset="0"/>
              </a:rPr>
              <a:t>1</a:t>
            </a:r>
            <a:r>
              <a:rPr lang="en-US" sz="3200">
                <a:latin typeface="Courier New" pitchFamily="49" charset="0"/>
              </a:rPr>
              <a:t>  </a:t>
            </a:r>
            <a:r>
              <a:rPr lang="en-US" sz="3200" b="1">
                <a:latin typeface="Courier New" pitchFamily="49" charset="0"/>
              </a:rPr>
              <a:t>2  3  4  8</a:t>
            </a:r>
            <a:endParaRPr lang="en-US">
              <a:latin typeface="Courier New" pitchFamily="49" charset="0"/>
            </a:endParaRPr>
          </a:p>
        </p:txBody>
      </p:sp>
      <p:sp>
        <p:nvSpPr>
          <p:cNvPr id="28682" name="Line 10"/>
          <p:cNvSpPr>
            <a:spLocks noChangeShapeType="1"/>
          </p:cNvSpPr>
          <p:nvPr/>
        </p:nvSpPr>
        <p:spPr bwMode="auto">
          <a:xfrm flipV="1">
            <a:off x="4800600" y="5257800"/>
            <a:ext cx="0" cy="609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8683" name="Text Box 11"/>
          <p:cNvSpPr txBox="1">
            <a:spLocks noChangeArrowheads="1"/>
          </p:cNvSpPr>
          <p:nvPr/>
        </p:nvSpPr>
        <p:spPr bwMode="auto">
          <a:xfrm>
            <a:off x="4114800" y="5943600"/>
            <a:ext cx="1752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3200" b="1">
                <a:solidFill>
                  <a:schemeClr val="hlink"/>
                </a:solidFill>
              </a:rPr>
              <a:t>Median</a:t>
            </a:r>
          </a:p>
        </p:txBody>
      </p:sp>
    </p:spTree>
    <p:extLst>
      <p:ext uri="{BB962C8B-B14F-4D97-AF65-F5344CB8AC3E}">
        <p14:creationId xmlns:p14="http://schemas.microsoft.com/office/powerpoint/2010/main" val="37789414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5"/>
                                        </p:tgtEl>
                                        <p:attrNameLst>
                                          <p:attrName>style.visibility</p:attrName>
                                        </p:attrNameLst>
                                      </p:cBhvr>
                                      <p:to>
                                        <p:strVal val="visible"/>
                                      </p:to>
                                    </p:set>
                                    <p:anim calcmode="lin" valueType="num">
                                      <p:cBhvr additive="base">
                                        <p:cTn id="7" dur="500" fill="hold"/>
                                        <p:tgtEl>
                                          <p:spTgt spid="28675"/>
                                        </p:tgtEl>
                                        <p:attrNameLst>
                                          <p:attrName>ppt_x</p:attrName>
                                        </p:attrNameLst>
                                      </p:cBhvr>
                                      <p:tavLst>
                                        <p:tav tm="0">
                                          <p:val>
                                            <p:strVal val="#ppt_x"/>
                                          </p:val>
                                        </p:tav>
                                        <p:tav tm="100000">
                                          <p:val>
                                            <p:strVal val="#ppt_x"/>
                                          </p:val>
                                        </p:tav>
                                      </p:tavLst>
                                    </p:anim>
                                    <p:anim calcmode="lin" valueType="num">
                                      <p:cBhvr additive="base">
                                        <p:cTn id="8" dur="500" fill="hold"/>
                                        <p:tgtEl>
                                          <p:spTgt spid="2867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676"/>
                                        </p:tgtEl>
                                        <p:attrNameLst>
                                          <p:attrName>style.visibility</p:attrName>
                                        </p:attrNameLst>
                                      </p:cBhvr>
                                      <p:to>
                                        <p:strVal val="visible"/>
                                      </p:to>
                                    </p:set>
                                    <p:anim calcmode="lin" valueType="num">
                                      <p:cBhvr additive="base">
                                        <p:cTn id="13" dur="500" fill="hold"/>
                                        <p:tgtEl>
                                          <p:spTgt spid="28676"/>
                                        </p:tgtEl>
                                        <p:attrNameLst>
                                          <p:attrName>ppt_x</p:attrName>
                                        </p:attrNameLst>
                                      </p:cBhvr>
                                      <p:tavLst>
                                        <p:tav tm="0">
                                          <p:val>
                                            <p:strVal val="#ppt_x"/>
                                          </p:val>
                                        </p:tav>
                                        <p:tav tm="100000">
                                          <p:val>
                                            <p:strVal val="#ppt_x"/>
                                          </p:val>
                                        </p:tav>
                                      </p:tavLst>
                                    </p:anim>
                                    <p:anim calcmode="lin" valueType="num">
                                      <p:cBhvr additive="base">
                                        <p:cTn id="14" dur="500" fill="hold"/>
                                        <p:tgtEl>
                                          <p:spTgt spid="2867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5" fill="hold" grpId="0" nodeType="clickEffect">
                                  <p:stCondLst>
                                    <p:cond delay="0"/>
                                  </p:stCondLst>
                                  <p:childTnLst>
                                    <p:set>
                                      <p:cBhvr>
                                        <p:cTn id="18" dur="1" fill="hold">
                                          <p:stCondLst>
                                            <p:cond delay="0"/>
                                          </p:stCondLst>
                                        </p:cTn>
                                        <p:tgtEl>
                                          <p:spTgt spid="28677"/>
                                        </p:tgtEl>
                                        <p:attrNameLst>
                                          <p:attrName>style.visibility</p:attrName>
                                        </p:attrNameLst>
                                      </p:cBhvr>
                                      <p:to>
                                        <p:strVal val="visible"/>
                                      </p:to>
                                    </p:set>
                                    <p:animEffect transition="in" filter="blinds(vertical)">
                                      <p:cBhvr>
                                        <p:cTn id="19" dur="500"/>
                                        <p:tgtEl>
                                          <p:spTgt spid="2867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5" fill="hold" grpId="0" nodeType="clickEffect">
                                  <p:stCondLst>
                                    <p:cond delay="0"/>
                                  </p:stCondLst>
                                  <p:childTnLst>
                                    <p:set>
                                      <p:cBhvr>
                                        <p:cTn id="23" dur="1" fill="hold">
                                          <p:stCondLst>
                                            <p:cond delay="0"/>
                                          </p:stCondLst>
                                        </p:cTn>
                                        <p:tgtEl>
                                          <p:spTgt spid="28678"/>
                                        </p:tgtEl>
                                        <p:attrNameLst>
                                          <p:attrName>style.visibility</p:attrName>
                                        </p:attrNameLst>
                                      </p:cBhvr>
                                      <p:to>
                                        <p:strVal val="visible"/>
                                      </p:to>
                                    </p:set>
                                    <p:animEffect transition="in" filter="blinds(vertical)">
                                      <p:cBhvr>
                                        <p:cTn id="24" dur="500"/>
                                        <p:tgtEl>
                                          <p:spTgt spid="2867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8682"/>
                                        </p:tgtEl>
                                        <p:attrNameLst>
                                          <p:attrName>style.visibility</p:attrName>
                                        </p:attrNameLst>
                                      </p:cBhvr>
                                      <p:to>
                                        <p:strVal val="visible"/>
                                      </p:to>
                                    </p:set>
                                    <p:anim calcmode="lin" valueType="num">
                                      <p:cBhvr additive="base">
                                        <p:cTn id="29" dur="500" fill="hold"/>
                                        <p:tgtEl>
                                          <p:spTgt spid="28682"/>
                                        </p:tgtEl>
                                        <p:attrNameLst>
                                          <p:attrName>ppt_x</p:attrName>
                                        </p:attrNameLst>
                                      </p:cBhvr>
                                      <p:tavLst>
                                        <p:tav tm="0">
                                          <p:val>
                                            <p:strVal val="#ppt_x"/>
                                          </p:val>
                                        </p:tav>
                                        <p:tav tm="100000">
                                          <p:val>
                                            <p:strVal val="#ppt_x"/>
                                          </p:val>
                                        </p:tav>
                                      </p:tavLst>
                                    </p:anim>
                                    <p:anim calcmode="lin" valueType="num">
                                      <p:cBhvr additive="base">
                                        <p:cTn id="30" dur="500" fill="hold"/>
                                        <p:tgtEl>
                                          <p:spTgt spid="28682"/>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8683"/>
                                        </p:tgtEl>
                                        <p:attrNameLst>
                                          <p:attrName>style.visibility</p:attrName>
                                        </p:attrNameLst>
                                      </p:cBhvr>
                                      <p:to>
                                        <p:strVal val="visible"/>
                                      </p:to>
                                    </p:set>
                                    <p:anim calcmode="lin" valueType="num">
                                      <p:cBhvr additive="base">
                                        <p:cTn id="35" dur="500" fill="hold"/>
                                        <p:tgtEl>
                                          <p:spTgt spid="28683"/>
                                        </p:tgtEl>
                                        <p:attrNameLst>
                                          <p:attrName>ppt_x</p:attrName>
                                        </p:attrNameLst>
                                      </p:cBhvr>
                                      <p:tavLst>
                                        <p:tav tm="0">
                                          <p:val>
                                            <p:strVal val="#ppt_x"/>
                                          </p:val>
                                        </p:tav>
                                        <p:tav tm="100000">
                                          <p:val>
                                            <p:strVal val="#ppt_x"/>
                                          </p:val>
                                        </p:tav>
                                      </p:tavLst>
                                    </p:anim>
                                    <p:anim calcmode="lin" valueType="num">
                                      <p:cBhvr additive="base">
                                        <p:cTn id="36" dur="500" fill="hold"/>
                                        <p:tgtEl>
                                          <p:spTgt spid="286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autoUpdateAnimBg="0"/>
      <p:bldP spid="28676" grpId="0" autoUpdateAnimBg="0"/>
      <p:bldP spid="28677" grpId="0" autoUpdateAnimBg="0"/>
      <p:bldP spid="28678" grpId="0" autoUpdateAnimBg="0"/>
      <p:bldP spid="28682" grpId="0" animBg="1"/>
      <p:bldP spid="28683"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t>Calculating Median</a:t>
            </a:r>
          </a:p>
        </p:txBody>
      </p:sp>
      <p:sp>
        <p:nvSpPr>
          <p:cNvPr id="30723" name="Text Box 3"/>
          <p:cNvSpPr txBox="1">
            <a:spLocks noChangeArrowheads="1"/>
          </p:cNvSpPr>
          <p:nvPr/>
        </p:nvSpPr>
        <p:spPr bwMode="auto">
          <a:xfrm>
            <a:off x="609600" y="1905000"/>
            <a:ext cx="6781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3200"/>
              <a:t>Order data from smallest to largest.</a:t>
            </a:r>
            <a:endParaRPr lang="en-US"/>
          </a:p>
        </p:txBody>
      </p:sp>
      <p:sp>
        <p:nvSpPr>
          <p:cNvPr id="30724" name="Text Box 4"/>
          <p:cNvSpPr txBox="1">
            <a:spLocks noChangeArrowheads="1"/>
          </p:cNvSpPr>
          <p:nvPr/>
        </p:nvSpPr>
        <p:spPr bwMode="auto">
          <a:xfrm>
            <a:off x="609600" y="2590800"/>
            <a:ext cx="7772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3200"/>
              <a:t>If </a:t>
            </a:r>
            <a:r>
              <a:rPr lang="en-US" sz="3200" b="1"/>
              <a:t>even</a:t>
            </a:r>
            <a:r>
              <a:rPr lang="en-US" sz="3200"/>
              <a:t> number of data points, the median is the average of the two middle values.</a:t>
            </a:r>
          </a:p>
        </p:txBody>
      </p:sp>
      <p:sp>
        <p:nvSpPr>
          <p:cNvPr id="30725" name="Text Box 5"/>
          <p:cNvSpPr txBox="1">
            <a:spLocks noChangeArrowheads="1"/>
          </p:cNvSpPr>
          <p:nvPr/>
        </p:nvSpPr>
        <p:spPr bwMode="auto">
          <a:xfrm>
            <a:off x="609600" y="3810000"/>
            <a:ext cx="8153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3200"/>
              <a:t>Data (# of classes skipped):  </a:t>
            </a:r>
            <a:r>
              <a:rPr lang="en-US" sz="3200" b="1">
                <a:latin typeface="Courier New" pitchFamily="49" charset="0"/>
              </a:rPr>
              <a:t>2 8 3 4 1 8</a:t>
            </a:r>
            <a:endParaRPr lang="en-US"/>
          </a:p>
        </p:txBody>
      </p:sp>
      <p:sp>
        <p:nvSpPr>
          <p:cNvPr id="30726" name="Text Box 6"/>
          <p:cNvSpPr txBox="1">
            <a:spLocks noChangeArrowheads="1"/>
          </p:cNvSpPr>
          <p:nvPr/>
        </p:nvSpPr>
        <p:spPr bwMode="auto">
          <a:xfrm>
            <a:off x="609600" y="4648200"/>
            <a:ext cx="8153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3200"/>
              <a:t>Ordered Data:  </a:t>
            </a:r>
            <a:r>
              <a:rPr lang="en-US" sz="3200" b="1">
                <a:latin typeface="Courier New" pitchFamily="49" charset="0"/>
              </a:rPr>
              <a:t>1</a:t>
            </a:r>
            <a:r>
              <a:rPr lang="en-US" sz="3200">
                <a:latin typeface="Courier New" pitchFamily="49" charset="0"/>
              </a:rPr>
              <a:t>  </a:t>
            </a:r>
            <a:r>
              <a:rPr lang="en-US" sz="3200" b="1">
                <a:latin typeface="Courier New" pitchFamily="49" charset="0"/>
              </a:rPr>
              <a:t>2  3  4  8  8</a:t>
            </a:r>
            <a:endParaRPr lang="en-US">
              <a:latin typeface="Courier New" pitchFamily="49" charset="0"/>
            </a:endParaRPr>
          </a:p>
        </p:txBody>
      </p:sp>
      <p:sp>
        <p:nvSpPr>
          <p:cNvPr id="30728" name="Text Box 8"/>
          <p:cNvSpPr txBox="1">
            <a:spLocks noChangeArrowheads="1"/>
          </p:cNvSpPr>
          <p:nvPr/>
        </p:nvSpPr>
        <p:spPr bwMode="auto">
          <a:xfrm>
            <a:off x="4495800" y="5943600"/>
            <a:ext cx="4267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3200" b="1">
                <a:solidFill>
                  <a:schemeClr val="hlink"/>
                </a:solidFill>
              </a:rPr>
              <a:t>Median </a:t>
            </a:r>
            <a:r>
              <a:rPr lang="en-US" sz="3200"/>
              <a:t>= (3+4)/2 = 3.5</a:t>
            </a:r>
            <a:r>
              <a:rPr lang="en-US" sz="3200" b="1">
                <a:solidFill>
                  <a:schemeClr val="hlink"/>
                </a:solidFill>
              </a:rPr>
              <a:t> </a:t>
            </a:r>
          </a:p>
        </p:txBody>
      </p:sp>
      <p:sp>
        <p:nvSpPr>
          <p:cNvPr id="30731" name="Line 11"/>
          <p:cNvSpPr>
            <a:spLocks noChangeShapeType="1"/>
          </p:cNvSpPr>
          <p:nvPr/>
        </p:nvSpPr>
        <p:spPr bwMode="auto">
          <a:xfrm flipH="1" flipV="1">
            <a:off x="4876800" y="5105400"/>
            <a:ext cx="304800" cy="685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32" name="Line 12"/>
          <p:cNvSpPr>
            <a:spLocks noChangeShapeType="1"/>
          </p:cNvSpPr>
          <p:nvPr/>
        </p:nvSpPr>
        <p:spPr bwMode="auto">
          <a:xfrm flipV="1">
            <a:off x="5181600" y="5105400"/>
            <a:ext cx="304800" cy="685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Tree>
    <p:extLst>
      <p:ext uri="{BB962C8B-B14F-4D97-AF65-F5344CB8AC3E}">
        <p14:creationId xmlns:p14="http://schemas.microsoft.com/office/powerpoint/2010/main" val="16748569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3"/>
                                        </p:tgtEl>
                                        <p:attrNameLst>
                                          <p:attrName>style.visibility</p:attrName>
                                        </p:attrNameLst>
                                      </p:cBhvr>
                                      <p:to>
                                        <p:strVal val="visible"/>
                                      </p:to>
                                    </p:set>
                                    <p:anim calcmode="lin" valueType="num">
                                      <p:cBhvr additive="base">
                                        <p:cTn id="7" dur="500" fill="hold"/>
                                        <p:tgtEl>
                                          <p:spTgt spid="30723"/>
                                        </p:tgtEl>
                                        <p:attrNameLst>
                                          <p:attrName>ppt_x</p:attrName>
                                        </p:attrNameLst>
                                      </p:cBhvr>
                                      <p:tavLst>
                                        <p:tav tm="0">
                                          <p:val>
                                            <p:strVal val="#ppt_x"/>
                                          </p:val>
                                        </p:tav>
                                        <p:tav tm="100000">
                                          <p:val>
                                            <p:strVal val="#ppt_x"/>
                                          </p:val>
                                        </p:tav>
                                      </p:tavLst>
                                    </p:anim>
                                    <p:anim calcmode="lin" valueType="num">
                                      <p:cBhvr additive="base">
                                        <p:cTn id="8" dur="500" fill="hold"/>
                                        <p:tgtEl>
                                          <p:spTgt spid="3072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724"/>
                                        </p:tgtEl>
                                        <p:attrNameLst>
                                          <p:attrName>style.visibility</p:attrName>
                                        </p:attrNameLst>
                                      </p:cBhvr>
                                      <p:to>
                                        <p:strVal val="visible"/>
                                      </p:to>
                                    </p:set>
                                    <p:anim calcmode="lin" valueType="num">
                                      <p:cBhvr additive="base">
                                        <p:cTn id="13" dur="500" fill="hold"/>
                                        <p:tgtEl>
                                          <p:spTgt spid="30724"/>
                                        </p:tgtEl>
                                        <p:attrNameLst>
                                          <p:attrName>ppt_x</p:attrName>
                                        </p:attrNameLst>
                                      </p:cBhvr>
                                      <p:tavLst>
                                        <p:tav tm="0">
                                          <p:val>
                                            <p:strVal val="#ppt_x"/>
                                          </p:val>
                                        </p:tav>
                                        <p:tav tm="100000">
                                          <p:val>
                                            <p:strVal val="#ppt_x"/>
                                          </p:val>
                                        </p:tav>
                                      </p:tavLst>
                                    </p:anim>
                                    <p:anim calcmode="lin" valueType="num">
                                      <p:cBhvr additive="base">
                                        <p:cTn id="14" dur="500" fill="hold"/>
                                        <p:tgtEl>
                                          <p:spTgt spid="3072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5" fill="hold" grpId="0" nodeType="clickEffect">
                                  <p:stCondLst>
                                    <p:cond delay="0"/>
                                  </p:stCondLst>
                                  <p:childTnLst>
                                    <p:set>
                                      <p:cBhvr>
                                        <p:cTn id="18" dur="1" fill="hold">
                                          <p:stCondLst>
                                            <p:cond delay="0"/>
                                          </p:stCondLst>
                                        </p:cTn>
                                        <p:tgtEl>
                                          <p:spTgt spid="30725"/>
                                        </p:tgtEl>
                                        <p:attrNameLst>
                                          <p:attrName>style.visibility</p:attrName>
                                        </p:attrNameLst>
                                      </p:cBhvr>
                                      <p:to>
                                        <p:strVal val="visible"/>
                                      </p:to>
                                    </p:set>
                                    <p:animEffect transition="in" filter="blinds(vertical)">
                                      <p:cBhvr>
                                        <p:cTn id="19" dur="500"/>
                                        <p:tgtEl>
                                          <p:spTgt spid="3072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5" fill="hold" grpId="0" nodeType="clickEffect">
                                  <p:stCondLst>
                                    <p:cond delay="0"/>
                                  </p:stCondLst>
                                  <p:childTnLst>
                                    <p:set>
                                      <p:cBhvr>
                                        <p:cTn id="23" dur="1" fill="hold">
                                          <p:stCondLst>
                                            <p:cond delay="0"/>
                                          </p:stCondLst>
                                        </p:cTn>
                                        <p:tgtEl>
                                          <p:spTgt spid="30726"/>
                                        </p:tgtEl>
                                        <p:attrNameLst>
                                          <p:attrName>style.visibility</p:attrName>
                                        </p:attrNameLst>
                                      </p:cBhvr>
                                      <p:to>
                                        <p:strVal val="visible"/>
                                      </p:to>
                                    </p:set>
                                    <p:animEffect transition="in" filter="blinds(vertical)">
                                      <p:cBhvr>
                                        <p:cTn id="24" dur="500"/>
                                        <p:tgtEl>
                                          <p:spTgt spid="3072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0731"/>
                                        </p:tgtEl>
                                        <p:attrNameLst>
                                          <p:attrName>style.visibility</p:attrName>
                                        </p:attrNameLst>
                                      </p:cBhvr>
                                      <p:to>
                                        <p:strVal val="visible"/>
                                      </p:to>
                                    </p:set>
                                    <p:anim calcmode="lin" valueType="num">
                                      <p:cBhvr additive="base">
                                        <p:cTn id="29" dur="500" fill="hold"/>
                                        <p:tgtEl>
                                          <p:spTgt spid="30731"/>
                                        </p:tgtEl>
                                        <p:attrNameLst>
                                          <p:attrName>ppt_x</p:attrName>
                                        </p:attrNameLst>
                                      </p:cBhvr>
                                      <p:tavLst>
                                        <p:tav tm="0">
                                          <p:val>
                                            <p:strVal val="#ppt_x"/>
                                          </p:val>
                                        </p:tav>
                                        <p:tav tm="100000">
                                          <p:val>
                                            <p:strVal val="#ppt_x"/>
                                          </p:val>
                                        </p:tav>
                                      </p:tavLst>
                                    </p:anim>
                                    <p:anim calcmode="lin" valueType="num">
                                      <p:cBhvr additive="base">
                                        <p:cTn id="30" dur="500" fill="hold"/>
                                        <p:tgtEl>
                                          <p:spTgt spid="30731"/>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0732"/>
                                        </p:tgtEl>
                                        <p:attrNameLst>
                                          <p:attrName>style.visibility</p:attrName>
                                        </p:attrNameLst>
                                      </p:cBhvr>
                                      <p:to>
                                        <p:strVal val="visible"/>
                                      </p:to>
                                    </p:set>
                                    <p:anim calcmode="lin" valueType="num">
                                      <p:cBhvr additive="base">
                                        <p:cTn id="35" dur="500" fill="hold"/>
                                        <p:tgtEl>
                                          <p:spTgt spid="30732"/>
                                        </p:tgtEl>
                                        <p:attrNameLst>
                                          <p:attrName>ppt_x</p:attrName>
                                        </p:attrNameLst>
                                      </p:cBhvr>
                                      <p:tavLst>
                                        <p:tav tm="0">
                                          <p:val>
                                            <p:strVal val="#ppt_x"/>
                                          </p:val>
                                        </p:tav>
                                        <p:tav tm="100000">
                                          <p:val>
                                            <p:strVal val="#ppt_x"/>
                                          </p:val>
                                        </p:tav>
                                      </p:tavLst>
                                    </p:anim>
                                    <p:anim calcmode="lin" valueType="num">
                                      <p:cBhvr additive="base">
                                        <p:cTn id="36" dur="500" fill="hold"/>
                                        <p:tgtEl>
                                          <p:spTgt spid="30732"/>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0728"/>
                                        </p:tgtEl>
                                        <p:attrNameLst>
                                          <p:attrName>style.visibility</p:attrName>
                                        </p:attrNameLst>
                                      </p:cBhvr>
                                      <p:to>
                                        <p:strVal val="visible"/>
                                      </p:to>
                                    </p:set>
                                    <p:anim calcmode="lin" valueType="num">
                                      <p:cBhvr additive="base">
                                        <p:cTn id="41" dur="500" fill="hold"/>
                                        <p:tgtEl>
                                          <p:spTgt spid="30728"/>
                                        </p:tgtEl>
                                        <p:attrNameLst>
                                          <p:attrName>ppt_x</p:attrName>
                                        </p:attrNameLst>
                                      </p:cBhvr>
                                      <p:tavLst>
                                        <p:tav tm="0">
                                          <p:val>
                                            <p:strVal val="#ppt_x"/>
                                          </p:val>
                                        </p:tav>
                                        <p:tav tm="100000">
                                          <p:val>
                                            <p:strVal val="#ppt_x"/>
                                          </p:val>
                                        </p:tav>
                                      </p:tavLst>
                                    </p:anim>
                                    <p:anim calcmode="lin" valueType="num">
                                      <p:cBhvr additive="base">
                                        <p:cTn id="42" dur="500" fill="hold"/>
                                        <p:tgtEl>
                                          <p:spTgt spid="307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autoUpdateAnimBg="0"/>
      <p:bldP spid="30724" grpId="0" autoUpdateAnimBg="0"/>
      <p:bldP spid="30725" grpId="0" autoUpdateAnimBg="0"/>
      <p:bldP spid="30726" grpId="0" autoUpdateAnimBg="0"/>
      <p:bldP spid="30728" grpId="0" autoUpdateAnimBg="0"/>
      <p:bldP spid="30731" grpId="0" animBg="1"/>
      <p:bldP spid="30732"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1026"/>
          <p:cNvSpPr>
            <a:spLocks noGrp="1" noChangeArrowheads="1"/>
          </p:cNvSpPr>
          <p:nvPr>
            <p:ph type="title"/>
          </p:nvPr>
        </p:nvSpPr>
        <p:spPr/>
        <p:txBody>
          <a:bodyPr/>
          <a:lstStyle/>
          <a:p>
            <a:r>
              <a:rPr lang="en-US"/>
              <a:t>Mode</a:t>
            </a:r>
          </a:p>
        </p:txBody>
      </p:sp>
      <p:sp>
        <p:nvSpPr>
          <p:cNvPr id="16387" name="Rectangle 1027"/>
          <p:cNvSpPr>
            <a:spLocks noGrp="1" noChangeArrowheads="1"/>
          </p:cNvSpPr>
          <p:nvPr>
            <p:ph idx="1"/>
          </p:nvPr>
        </p:nvSpPr>
        <p:spPr/>
        <p:txBody>
          <a:bodyPr/>
          <a:lstStyle/>
          <a:p>
            <a:r>
              <a:rPr lang="en-US" dirty="0"/>
              <a:t>The value that occurs most frequently.</a:t>
            </a:r>
          </a:p>
          <a:p>
            <a:r>
              <a:rPr lang="en-US" dirty="0"/>
              <a:t>One data set can have many modes. </a:t>
            </a:r>
          </a:p>
          <a:p>
            <a:pPr marL="0" indent="0">
              <a:buNone/>
            </a:pPr>
            <a:r>
              <a:rPr lang="en-US" dirty="0"/>
              <a:t>   - 2 modes is Bimodal</a:t>
            </a:r>
          </a:p>
          <a:p>
            <a:pPr marL="0" indent="0">
              <a:buNone/>
            </a:pPr>
            <a:r>
              <a:rPr lang="en-US" dirty="0"/>
              <a:t>   - more than 2 modes is multimodal</a:t>
            </a:r>
          </a:p>
          <a:p>
            <a:r>
              <a:rPr lang="en-US" dirty="0"/>
              <a:t>Appropriate for all types of data, but most useful for categorical data or discrete data with only a few number of possible values.</a:t>
            </a:r>
          </a:p>
        </p:txBody>
      </p:sp>
    </p:spTree>
    <p:extLst>
      <p:ext uri="{BB962C8B-B14F-4D97-AF65-F5344CB8AC3E}">
        <p14:creationId xmlns:p14="http://schemas.microsoft.com/office/powerpoint/2010/main" val="11380725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2" fill="hold" grpId="0" nodeType="clickEffect">
                                  <p:stCondLst>
                                    <p:cond delay="0"/>
                                  </p:stCondLst>
                                  <p:childTnLst>
                                    <p:set>
                                      <p:cBhvr>
                                        <p:cTn id="12" dur="1" fill="hold">
                                          <p:stCondLst>
                                            <p:cond delay="0"/>
                                          </p:stCondLst>
                                        </p:cTn>
                                        <p:tgtEl>
                                          <p:spTgt spid="16387">
                                            <p:txEl>
                                              <p:pRg st="1" end="1"/>
                                            </p:txEl>
                                          </p:spTgt>
                                        </p:tgtEl>
                                        <p:attrNameLst>
                                          <p:attrName>style.visibility</p:attrName>
                                        </p:attrNameLst>
                                      </p:cBhvr>
                                      <p:to>
                                        <p:strVal val="visible"/>
                                      </p:to>
                                    </p:set>
                                    <p:anim calcmode="lin" valueType="num">
                                      <p:cBhvr additive="base">
                                        <p:cTn id="13" dur="500" fill="hold"/>
                                        <p:tgtEl>
                                          <p:spTgt spid="1638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3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16387">
                                            <p:txEl>
                                              <p:pRg st="2" end="2"/>
                                            </p:txEl>
                                          </p:spTgt>
                                        </p:tgtEl>
                                        <p:attrNameLst>
                                          <p:attrName>style.visibility</p:attrName>
                                        </p:attrNameLst>
                                      </p:cBhvr>
                                      <p:to>
                                        <p:strVal val="visible"/>
                                      </p:to>
                                    </p:set>
                                    <p:anim calcmode="lin" valueType="num">
                                      <p:cBhvr additive="base">
                                        <p:cTn id="19" dur="500" fill="hold"/>
                                        <p:tgtEl>
                                          <p:spTgt spid="1638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3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2" fill="hold" grpId="0" nodeType="clickEffect">
                                  <p:stCondLst>
                                    <p:cond delay="0"/>
                                  </p:stCondLst>
                                  <p:childTnLst>
                                    <p:set>
                                      <p:cBhvr>
                                        <p:cTn id="24" dur="1" fill="hold">
                                          <p:stCondLst>
                                            <p:cond delay="0"/>
                                          </p:stCondLst>
                                        </p:cTn>
                                        <p:tgtEl>
                                          <p:spTgt spid="16387">
                                            <p:txEl>
                                              <p:pRg st="3" end="3"/>
                                            </p:txEl>
                                          </p:spTgt>
                                        </p:tgtEl>
                                        <p:attrNameLst>
                                          <p:attrName>style.visibility</p:attrName>
                                        </p:attrNameLst>
                                      </p:cBhvr>
                                      <p:to>
                                        <p:strVal val="visible"/>
                                      </p:to>
                                    </p:set>
                                    <p:anim calcmode="lin" valueType="num">
                                      <p:cBhvr additive="base">
                                        <p:cTn id="25" dur="500" fill="hold"/>
                                        <p:tgtEl>
                                          <p:spTgt spid="1638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63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12" fill="hold" grpId="0" nodeType="clickEffect">
                                  <p:stCondLst>
                                    <p:cond delay="0"/>
                                  </p:stCondLst>
                                  <p:childTnLst>
                                    <p:set>
                                      <p:cBhvr>
                                        <p:cTn id="30" dur="1" fill="hold">
                                          <p:stCondLst>
                                            <p:cond delay="0"/>
                                          </p:stCondLst>
                                        </p:cTn>
                                        <p:tgtEl>
                                          <p:spTgt spid="16387">
                                            <p:txEl>
                                              <p:pRg st="4" end="4"/>
                                            </p:txEl>
                                          </p:spTgt>
                                        </p:tgtEl>
                                        <p:attrNameLst>
                                          <p:attrName>style.visibility</p:attrName>
                                        </p:attrNameLst>
                                      </p:cBhvr>
                                      <p:to>
                                        <p:strVal val="visible"/>
                                      </p:to>
                                    </p:set>
                                    <p:anim calcmode="lin" valueType="num">
                                      <p:cBhvr additive="base">
                                        <p:cTn id="31" dur="500" fill="hold"/>
                                        <p:tgtEl>
                                          <p:spTgt spid="1638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638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autoUpdateAnimBg="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1059</TotalTime>
  <Words>1100</Words>
  <Application>Microsoft Office PowerPoint</Application>
  <PresentationFormat>On-screen Show (4:3)</PresentationFormat>
  <Paragraphs>153</Paragraphs>
  <Slides>17</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Arial</vt:lpstr>
      <vt:lpstr>Calibri</vt:lpstr>
      <vt:lpstr>Courier New</vt:lpstr>
      <vt:lpstr>Tahoma</vt:lpstr>
      <vt:lpstr>Times New Roman</vt:lpstr>
      <vt:lpstr>Wingdings</vt:lpstr>
      <vt:lpstr>Office Theme</vt:lpstr>
      <vt:lpstr>Blends</vt:lpstr>
      <vt:lpstr>My Statistics Interactive Notebook</vt:lpstr>
      <vt:lpstr>PowerPoint Presentation</vt:lpstr>
      <vt:lpstr>PowerPoint Presentation</vt:lpstr>
      <vt:lpstr>PowerPoint Presentation</vt:lpstr>
      <vt:lpstr>PowerPoint Presentation</vt:lpstr>
      <vt:lpstr>Categorical variables</vt:lpstr>
      <vt:lpstr>PowerPoint Presentation</vt:lpstr>
      <vt:lpstr>Categorical Variables: Nominal Variables</vt:lpstr>
      <vt:lpstr>Categorical Variables: Ordinal Variables</vt:lpstr>
      <vt:lpstr>Numerical (Quantitative) Variables</vt:lpstr>
      <vt:lpstr>Discrete Variable</vt:lpstr>
      <vt:lpstr>Continuous Variables</vt:lpstr>
      <vt:lpstr>PowerPoint Presentation</vt:lpstr>
      <vt:lpstr>Median</vt:lpstr>
      <vt:lpstr>Calculating Median</vt:lpstr>
      <vt:lpstr>Calculating Median</vt:lpstr>
      <vt:lpstr>Mode</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Venn Diagrams</dc:title>
  <dc:creator>RUST Joanne</dc:creator>
  <cp:lastModifiedBy>Hamilton Stott</cp:lastModifiedBy>
  <cp:revision>78</cp:revision>
  <cp:lastPrinted>2016-06-14T01:22:32Z</cp:lastPrinted>
  <dcterms:created xsi:type="dcterms:W3CDTF">2014-05-14T02:58:57Z</dcterms:created>
  <dcterms:modified xsi:type="dcterms:W3CDTF">2020-09-10T02:12:51Z</dcterms:modified>
</cp:coreProperties>
</file>
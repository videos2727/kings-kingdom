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av" ContentType="audio/x-wav"/>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9" r:id="rId2"/>
  </p:sldMasterIdLst>
  <p:handoutMasterIdLst>
    <p:handoutMasterId r:id="rId24"/>
  </p:handoutMasterIdLst>
  <p:sldIdLst>
    <p:sldId id="256" r:id="rId3"/>
    <p:sldId id="268" r:id="rId4"/>
    <p:sldId id="269" r:id="rId5"/>
    <p:sldId id="270" r:id="rId6"/>
    <p:sldId id="271" r:id="rId7"/>
    <p:sldId id="259" r:id="rId8"/>
    <p:sldId id="260" r:id="rId9"/>
    <p:sldId id="261" r:id="rId10"/>
    <p:sldId id="262" r:id="rId11"/>
    <p:sldId id="263" r:id="rId12"/>
    <p:sldId id="264" r:id="rId13"/>
    <p:sldId id="265" r:id="rId14"/>
    <p:sldId id="266" r:id="rId15"/>
    <p:sldId id="257" r:id="rId16"/>
    <p:sldId id="272" r:id="rId17"/>
    <p:sldId id="267" r:id="rId18"/>
    <p:sldId id="275" r:id="rId19"/>
    <p:sldId id="276" r:id="rId20"/>
    <p:sldId id="273" r:id="rId21"/>
    <p:sldId id="277" r:id="rId22"/>
    <p:sldId id="274" r:id="rId23"/>
  </p:sldIdLst>
  <p:sldSz cx="9144000" cy="6858000" type="screen4x3"/>
  <p:notesSz cx="6797675" cy="9926638"/>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n-ea"/>
        <a:cs typeface="+mn-cs"/>
      </a:defRPr>
    </a:lvl5pPr>
    <a:lvl6pPr marL="2286000" algn="l" defTabSz="914400" rtl="0" eaLnBrk="1" latinLnBrk="0" hangingPunct="1">
      <a:defRPr sz="2400" kern="1200">
        <a:solidFill>
          <a:schemeClr val="tx1"/>
        </a:solidFill>
        <a:latin typeface="Times New Roman" panose="02020603050405020304" pitchFamily="18" charset="0"/>
        <a:ea typeface="+mn-ea"/>
        <a:cs typeface="+mn-cs"/>
      </a:defRPr>
    </a:lvl6pPr>
    <a:lvl7pPr marL="2743200" algn="l" defTabSz="914400" rtl="0" eaLnBrk="1" latinLnBrk="0" hangingPunct="1">
      <a:defRPr sz="2400" kern="1200">
        <a:solidFill>
          <a:schemeClr val="tx1"/>
        </a:solidFill>
        <a:latin typeface="Times New Roman" panose="02020603050405020304" pitchFamily="18" charset="0"/>
        <a:ea typeface="+mn-ea"/>
        <a:cs typeface="+mn-cs"/>
      </a:defRPr>
    </a:lvl7pPr>
    <a:lvl8pPr marL="3200400" algn="l" defTabSz="914400" rtl="0" eaLnBrk="1" latinLnBrk="0" hangingPunct="1">
      <a:defRPr sz="2400" kern="1200">
        <a:solidFill>
          <a:schemeClr val="tx1"/>
        </a:solidFill>
        <a:latin typeface="Times New Roman" panose="02020603050405020304" pitchFamily="18" charset="0"/>
        <a:ea typeface="+mn-ea"/>
        <a:cs typeface="+mn-cs"/>
      </a:defRPr>
    </a:lvl8pPr>
    <a:lvl9pPr marL="3657600" algn="l" defTabSz="914400" rtl="0" eaLnBrk="1" latinLnBrk="0" hangingPunct="1">
      <a:defRPr sz="2400" kern="12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80" d="100"/>
          <a:sy n="80" d="100"/>
        </p:scale>
        <p:origin x="-1522" y="-1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1.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0261A52-B51B-417B-A659-88578A2A07DA}"/>
              </a:ext>
            </a:extLst>
          </p:cNvPr>
          <p:cNvSpPr>
            <a:spLocks noGrp="1"/>
          </p:cNvSpPr>
          <p:nvPr>
            <p:ph type="hdr" sz="quarter"/>
          </p:nvPr>
        </p:nvSpPr>
        <p:spPr>
          <a:xfrm>
            <a:off x="0" y="0"/>
            <a:ext cx="2946400" cy="496888"/>
          </a:xfrm>
          <a:prstGeom prst="rect">
            <a:avLst/>
          </a:prstGeom>
        </p:spPr>
        <p:txBody>
          <a:bodyPr vert="horz" lIns="91440" tIns="45720" rIns="91440" bIns="45720" rtlCol="0"/>
          <a:lstStyle>
            <a:lvl1pPr algn="l">
              <a:defRPr sz="1200" smtClean="0"/>
            </a:lvl1pPr>
          </a:lstStyle>
          <a:p>
            <a:pPr>
              <a:defRPr/>
            </a:pPr>
            <a:endParaRPr lang="en-AU"/>
          </a:p>
        </p:txBody>
      </p:sp>
      <p:sp>
        <p:nvSpPr>
          <p:cNvPr id="3" name="Date Placeholder 2">
            <a:extLst>
              <a:ext uri="{FF2B5EF4-FFF2-40B4-BE49-F238E27FC236}">
                <a16:creationId xmlns:a16="http://schemas.microsoft.com/office/drawing/2014/main" id="{9A8D061A-606E-40F2-A63F-80134DF0B8A5}"/>
              </a:ext>
            </a:extLst>
          </p:cNvPr>
          <p:cNvSpPr>
            <a:spLocks noGrp="1"/>
          </p:cNvSpPr>
          <p:nvPr>
            <p:ph type="dt" sz="quarter" idx="1"/>
          </p:nvPr>
        </p:nvSpPr>
        <p:spPr>
          <a:xfrm>
            <a:off x="3849688" y="0"/>
            <a:ext cx="2946400" cy="496888"/>
          </a:xfrm>
          <a:prstGeom prst="rect">
            <a:avLst/>
          </a:prstGeom>
        </p:spPr>
        <p:txBody>
          <a:bodyPr vert="horz" lIns="91440" tIns="45720" rIns="91440" bIns="45720" rtlCol="0"/>
          <a:lstStyle>
            <a:lvl1pPr algn="r">
              <a:defRPr sz="1200" smtClean="0"/>
            </a:lvl1pPr>
          </a:lstStyle>
          <a:p>
            <a:pPr>
              <a:defRPr/>
            </a:pPr>
            <a:fld id="{42066A04-E9B8-4CDE-B5C0-8E7272CF3BF2}" type="datetimeFigureOut">
              <a:rPr lang="en-AU"/>
              <a:pPr>
                <a:defRPr/>
              </a:pPr>
              <a:t>9/09/2020</a:t>
            </a:fld>
            <a:endParaRPr lang="en-AU"/>
          </a:p>
        </p:txBody>
      </p:sp>
      <p:sp>
        <p:nvSpPr>
          <p:cNvPr id="4" name="Footer Placeholder 3">
            <a:extLst>
              <a:ext uri="{FF2B5EF4-FFF2-40B4-BE49-F238E27FC236}">
                <a16:creationId xmlns:a16="http://schemas.microsoft.com/office/drawing/2014/main" id="{229AEEAA-F9EF-46D7-BE8B-DC28A7AF1134}"/>
              </a:ext>
            </a:extLst>
          </p:cNvPr>
          <p:cNvSpPr>
            <a:spLocks noGrp="1"/>
          </p:cNvSpPr>
          <p:nvPr>
            <p:ph type="ftr" sz="quarter" idx="2"/>
          </p:nvPr>
        </p:nvSpPr>
        <p:spPr>
          <a:xfrm>
            <a:off x="0" y="9428163"/>
            <a:ext cx="2946400" cy="496887"/>
          </a:xfrm>
          <a:prstGeom prst="rect">
            <a:avLst/>
          </a:prstGeom>
        </p:spPr>
        <p:txBody>
          <a:bodyPr vert="horz" lIns="91440" tIns="45720" rIns="91440" bIns="45720" rtlCol="0" anchor="b"/>
          <a:lstStyle>
            <a:lvl1pPr algn="l">
              <a:defRPr sz="1200" smtClean="0"/>
            </a:lvl1pPr>
          </a:lstStyle>
          <a:p>
            <a:pPr>
              <a:defRPr/>
            </a:pPr>
            <a:endParaRPr lang="en-AU"/>
          </a:p>
        </p:txBody>
      </p:sp>
      <p:sp>
        <p:nvSpPr>
          <p:cNvPr id="5" name="Slide Number Placeholder 4">
            <a:extLst>
              <a:ext uri="{FF2B5EF4-FFF2-40B4-BE49-F238E27FC236}">
                <a16:creationId xmlns:a16="http://schemas.microsoft.com/office/drawing/2014/main" id="{0D72FC1B-2D5B-4009-A413-41A9C48355EB}"/>
              </a:ext>
            </a:extLst>
          </p:cNvPr>
          <p:cNvSpPr>
            <a:spLocks noGrp="1"/>
          </p:cNvSpPr>
          <p:nvPr>
            <p:ph type="sldNum" sz="quarter" idx="3"/>
          </p:nvPr>
        </p:nvSpPr>
        <p:spPr>
          <a:xfrm>
            <a:off x="3849688" y="9428163"/>
            <a:ext cx="2946400" cy="4968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576531B5-8847-4448-992E-397678363E51}" type="slidenum">
              <a:rPr lang="en-AU" altLang="en-US"/>
              <a:pPr/>
              <a:t>‹#›</a:t>
            </a:fld>
            <a:endParaRPr lang="en-AU" altLang="en-US"/>
          </a:p>
        </p:txBody>
      </p:sp>
    </p:spTree>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FF4C0CDD-A89B-46BC-9F1E-6D9CFF44646C}"/>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E5238B3E-0D1B-49BE-AC06-89F35DAEC0CC}"/>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FB5B144-A0BE-4337-B243-DA4D813230D5}"/>
              </a:ext>
            </a:extLst>
          </p:cNvPr>
          <p:cNvSpPr>
            <a:spLocks noGrp="1"/>
          </p:cNvSpPr>
          <p:nvPr>
            <p:ph type="sldNum" sz="quarter" idx="12"/>
          </p:nvPr>
        </p:nvSpPr>
        <p:spPr/>
        <p:txBody>
          <a:bodyPr/>
          <a:lstStyle>
            <a:lvl1pPr>
              <a:defRPr/>
            </a:lvl1pPr>
          </a:lstStyle>
          <a:p>
            <a:fld id="{CA906AFB-8C58-426F-A129-A4E8C492FFBF}" type="slidenum">
              <a:rPr lang="en-US" altLang="en-US"/>
              <a:pPr/>
              <a:t>‹#›</a:t>
            </a:fld>
            <a:endParaRPr lang="en-US" altLang="en-US"/>
          </a:p>
        </p:txBody>
      </p:sp>
    </p:spTree>
    <p:extLst>
      <p:ext uri="{BB962C8B-B14F-4D97-AF65-F5344CB8AC3E}">
        <p14:creationId xmlns:p14="http://schemas.microsoft.com/office/powerpoint/2010/main" val="22335452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7AB1E1B-197F-43DA-85C8-95B297D8A487}"/>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EF422D5D-7DF0-4789-BA65-4A2824D26B9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962C86E-2F4C-4C2D-8179-8368D979BB03}"/>
              </a:ext>
            </a:extLst>
          </p:cNvPr>
          <p:cNvSpPr>
            <a:spLocks noGrp="1"/>
          </p:cNvSpPr>
          <p:nvPr>
            <p:ph type="sldNum" sz="quarter" idx="12"/>
          </p:nvPr>
        </p:nvSpPr>
        <p:spPr/>
        <p:txBody>
          <a:bodyPr/>
          <a:lstStyle>
            <a:lvl1pPr>
              <a:defRPr/>
            </a:lvl1pPr>
          </a:lstStyle>
          <a:p>
            <a:fld id="{2AC5AEC8-1C89-4432-8628-2C22E4DF51B7}" type="slidenum">
              <a:rPr lang="en-US" altLang="en-US"/>
              <a:pPr/>
              <a:t>‹#›</a:t>
            </a:fld>
            <a:endParaRPr lang="en-US" altLang="en-US"/>
          </a:p>
        </p:txBody>
      </p:sp>
    </p:spTree>
    <p:extLst>
      <p:ext uri="{BB962C8B-B14F-4D97-AF65-F5344CB8AC3E}">
        <p14:creationId xmlns:p14="http://schemas.microsoft.com/office/powerpoint/2010/main" val="4265270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0744E64-FAE9-45BA-B13D-9C0648194891}"/>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E0A3ED74-FAD7-4816-8167-645F922236F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0A1FCD1-E2E8-42DC-BC8D-325B56161406}"/>
              </a:ext>
            </a:extLst>
          </p:cNvPr>
          <p:cNvSpPr>
            <a:spLocks noGrp="1"/>
          </p:cNvSpPr>
          <p:nvPr>
            <p:ph type="sldNum" sz="quarter" idx="12"/>
          </p:nvPr>
        </p:nvSpPr>
        <p:spPr/>
        <p:txBody>
          <a:bodyPr/>
          <a:lstStyle>
            <a:lvl1pPr>
              <a:defRPr/>
            </a:lvl1pPr>
          </a:lstStyle>
          <a:p>
            <a:fld id="{2A0120F8-A0D5-4588-8963-FC19AFA159BB}" type="slidenum">
              <a:rPr lang="en-US" altLang="en-US"/>
              <a:pPr/>
              <a:t>‹#›</a:t>
            </a:fld>
            <a:endParaRPr lang="en-US" altLang="en-US"/>
          </a:p>
        </p:txBody>
      </p:sp>
    </p:spTree>
    <p:extLst>
      <p:ext uri="{BB962C8B-B14F-4D97-AF65-F5344CB8AC3E}">
        <p14:creationId xmlns:p14="http://schemas.microsoft.com/office/powerpoint/2010/main" val="3533946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3">
            <a:extLst>
              <a:ext uri="{FF2B5EF4-FFF2-40B4-BE49-F238E27FC236}">
                <a16:creationId xmlns:a16="http://schemas.microsoft.com/office/drawing/2014/main" id="{DFA12EB5-1BC4-4497-9A12-D52797167499}"/>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BF3E0EE0-6804-4112-AA2A-22FAC6CF9195}"/>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C47DEF3F-689C-4CA7-8057-C05953AB0776}"/>
              </a:ext>
            </a:extLst>
          </p:cNvPr>
          <p:cNvSpPr>
            <a:spLocks noGrp="1"/>
          </p:cNvSpPr>
          <p:nvPr>
            <p:ph type="sldNum" sz="quarter" idx="12"/>
          </p:nvPr>
        </p:nvSpPr>
        <p:spPr/>
        <p:txBody>
          <a:bodyPr/>
          <a:lstStyle>
            <a:lvl1pPr>
              <a:defRPr/>
            </a:lvl1pPr>
          </a:lstStyle>
          <a:p>
            <a:fld id="{926D28AC-2F07-49D9-B187-F4912A467378}" type="slidenum">
              <a:rPr lang="en-US" altLang="en-US"/>
              <a:pPr/>
              <a:t>‹#›</a:t>
            </a:fld>
            <a:endParaRPr lang="en-US" altLang="en-US"/>
          </a:p>
        </p:txBody>
      </p:sp>
    </p:spTree>
    <p:extLst>
      <p:ext uri="{BB962C8B-B14F-4D97-AF65-F5344CB8AC3E}">
        <p14:creationId xmlns:p14="http://schemas.microsoft.com/office/powerpoint/2010/main" val="17696698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3">
            <a:extLst>
              <a:ext uri="{FF2B5EF4-FFF2-40B4-BE49-F238E27FC236}">
                <a16:creationId xmlns:a16="http://schemas.microsoft.com/office/drawing/2014/main" id="{0F6C415E-69C2-4248-A466-3804311723B1}"/>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3F1A0702-79E0-4979-8474-FBD7E071B919}"/>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F8F52798-082E-47E5-A375-BBCA6E81046C}"/>
              </a:ext>
            </a:extLst>
          </p:cNvPr>
          <p:cNvSpPr>
            <a:spLocks noGrp="1"/>
          </p:cNvSpPr>
          <p:nvPr>
            <p:ph type="sldNum" sz="quarter" idx="12"/>
          </p:nvPr>
        </p:nvSpPr>
        <p:spPr/>
        <p:txBody>
          <a:bodyPr/>
          <a:lstStyle>
            <a:lvl1pPr>
              <a:defRPr/>
            </a:lvl1pPr>
          </a:lstStyle>
          <a:p>
            <a:fld id="{C0DE7F8C-902A-4A1A-8F32-D1881FBE9664}" type="slidenum">
              <a:rPr lang="en-US" altLang="en-US"/>
              <a:pPr/>
              <a:t>‹#›</a:t>
            </a:fld>
            <a:endParaRPr lang="en-US" altLang="en-US"/>
          </a:p>
        </p:txBody>
      </p:sp>
    </p:spTree>
    <p:extLst>
      <p:ext uri="{BB962C8B-B14F-4D97-AF65-F5344CB8AC3E}">
        <p14:creationId xmlns:p14="http://schemas.microsoft.com/office/powerpoint/2010/main" val="42744098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3">
            <a:extLst>
              <a:ext uri="{FF2B5EF4-FFF2-40B4-BE49-F238E27FC236}">
                <a16:creationId xmlns:a16="http://schemas.microsoft.com/office/drawing/2014/main" id="{0F91CCC5-3410-4058-AD98-C3416194FEFE}"/>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7EC3BC50-A2F5-457E-AB3B-16020352696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6EDE6C6F-D2CD-4D78-90A1-03C95EBC1FC0}"/>
              </a:ext>
            </a:extLst>
          </p:cNvPr>
          <p:cNvSpPr>
            <a:spLocks noGrp="1"/>
          </p:cNvSpPr>
          <p:nvPr>
            <p:ph type="sldNum" sz="quarter" idx="12"/>
          </p:nvPr>
        </p:nvSpPr>
        <p:spPr/>
        <p:txBody>
          <a:bodyPr/>
          <a:lstStyle>
            <a:lvl1pPr>
              <a:defRPr/>
            </a:lvl1pPr>
          </a:lstStyle>
          <a:p>
            <a:fld id="{E2A87386-C197-44AB-8936-C77B76CEA0C5}" type="slidenum">
              <a:rPr lang="en-US" altLang="en-US"/>
              <a:pPr/>
              <a:t>‹#›</a:t>
            </a:fld>
            <a:endParaRPr lang="en-US" altLang="en-US"/>
          </a:p>
        </p:txBody>
      </p:sp>
    </p:spTree>
    <p:extLst>
      <p:ext uri="{BB962C8B-B14F-4D97-AF65-F5344CB8AC3E}">
        <p14:creationId xmlns:p14="http://schemas.microsoft.com/office/powerpoint/2010/main" val="30458477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5E675A3F-D851-43FD-9AF0-3C680DE8BED9}"/>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ACFDA9B2-F39B-4D9D-AADC-D7D73AC37A7E}"/>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CA835FF6-3F60-499E-B032-778CA290B42A}"/>
              </a:ext>
            </a:extLst>
          </p:cNvPr>
          <p:cNvSpPr>
            <a:spLocks noGrp="1"/>
          </p:cNvSpPr>
          <p:nvPr>
            <p:ph type="sldNum" sz="quarter" idx="12"/>
          </p:nvPr>
        </p:nvSpPr>
        <p:spPr/>
        <p:txBody>
          <a:bodyPr/>
          <a:lstStyle>
            <a:lvl1pPr>
              <a:defRPr/>
            </a:lvl1pPr>
          </a:lstStyle>
          <a:p>
            <a:fld id="{F631610B-3A97-4BAF-83AA-19F4DFEA5D20}" type="slidenum">
              <a:rPr lang="en-US" altLang="en-US"/>
              <a:pPr/>
              <a:t>‹#›</a:t>
            </a:fld>
            <a:endParaRPr lang="en-US" altLang="en-US"/>
          </a:p>
        </p:txBody>
      </p:sp>
    </p:spTree>
    <p:extLst>
      <p:ext uri="{BB962C8B-B14F-4D97-AF65-F5344CB8AC3E}">
        <p14:creationId xmlns:p14="http://schemas.microsoft.com/office/powerpoint/2010/main" val="2136917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0244F38F-CFCC-4A32-A4B7-9FD0BF52336C}"/>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180395B2-F13B-4728-BF5D-41841260AF0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D83ED7B-623E-49A7-BF70-604D1E65B2A4}"/>
              </a:ext>
            </a:extLst>
          </p:cNvPr>
          <p:cNvSpPr>
            <a:spLocks noGrp="1"/>
          </p:cNvSpPr>
          <p:nvPr>
            <p:ph type="sldNum" sz="quarter" idx="12"/>
          </p:nvPr>
        </p:nvSpPr>
        <p:spPr/>
        <p:txBody>
          <a:bodyPr/>
          <a:lstStyle>
            <a:lvl1pPr>
              <a:defRPr/>
            </a:lvl1pPr>
          </a:lstStyle>
          <a:p>
            <a:fld id="{A1E4F8F1-ADF7-4063-8981-AF7D97182928}" type="slidenum">
              <a:rPr lang="en-US" altLang="en-US"/>
              <a:pPr/>
              <a:t>‹#›</a:t>
            </a:fld>
            <a:endParaRPr lang="en-US" altLang="en-US"/>
          </a:p>
        </p:txBody>
      </p:sp>
    </p:spTree>
    <p:extLst>
      <p:ext uri="{BB962C8B-B14F-4D97-AF65-F5344CB8AC3E}">
        <p14:creationId xmlns:p14="http://schemas.microsoft.com/office/powerpoint/2010/main" val="149472433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AU"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ED7F0676-3C26-41B3-B7B6-4A756D5EFEB3}"/>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4C28ECF1-1DCF-40A6-961A-F9387C5EAE20}"/>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C3D7760-9EBF-4A96-95E2-3A27371519B9}"/>
              </a:ext>
            </a:extLst>
          </p:cNvPr>
          <p:cNvSpPr>
            <a:spLocks noGrp="1"/>
          </p:cNvSpPr>
          <p:nvPr>
            <p:ph type="sldNum" sz="quarter" idx="12"/>
          </p:nvPr>
        </p:nvSpPr>
        <p:spPr/>
        <p:txBody>
          <a:bodyPr/>
          <a:lstStyle>
            <a:lvl1pPr>
              <a:defRPr/>
            </a:lvl1pPr>
          </a:lstStyle>
          <a:p>
            <a:fld id="{40C08EF3-8A11-44DB-8DCE-E476239A4874}" type="slidenum">
              <a:rPr lang="en-US" altLang="en-US"/>
              <a:pPr/>
              <a:t>‹#›</a:t>
            </a:fld>
            <a:endParaRPr lang="en-US" altLang="en-US"/>
          </a:p>
        </p:txBody>
      </p:sp>
    </p:spTree>
    <p:extLst>
      <p:ext uri="{BB962C8B-B14F-4D97-AF65-F5344CB8AC3E}">
        <p14:creationId xmlns:p14="http://schemas.microsoft.com/office/powerpoint/2010/main" val="8292070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DC94AFA1-9F41-40A7-A86C-50C7AB32CA87}"/>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8D58FB79-13DB-45F5-8720-7145F38762B8}"/>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FDCA84E-72C4-4F07-8DBC-B8DA35D00286}"/>
              </a:ext>
            </a:extLst>
          </p:cNvPr>
          <p:cNvSpPr>
            <a:spLocks noGrp="1"/>
          </p:cNvSpPr>
          <p:nvPr>
            <p:ph type="sldNum" sz="quarter" idx="12"/>
          </p:nvPr>
        </p:nvSpPr>
        <p:spPr/>
        <p:txBody>
          <a:bodyPr/>
          <a:lstStyle>
            <a:lvl1pPr>
              <a:defRPr/>
            </a:lvl1pPr>
          </a:lstStyle>
          <a:p>
            <a:fld id="{28B09BA2-FB8F-4BB9-8BC1-DC0250178DE4}" type="slidenum">
              <a:rPr lang="en-US" altLang="en-US"/>
              <a:pPr/>
              <a:t>‹#›</a:t>
            </a:fld>
            <a:endParaRPr lang="en-US" altLang="en-US"/>
          </a:p>
        </p:txBody>
      </p:sp>
    </p:spTree>
    <p:extLst>
      <p:ext uri="{BB962C8B-B14F-4D97-AF65-F5344CB8AC3E}">
        <p14:creationId xmlns:p14="http://schemas.microsoft.com/office/powerpoint/2010/main" val="2053940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CF81DC39-FFBC-4757-A759-6EEE9C1EBB1D}"/>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3EBC0019-D454-4B75-B571-2C0918AAED7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B1E7ADC0-9F0B-43A8-807E-9ABA19FD1CA5}"/>
              </a:ext>
            </a:extLst>
          </p:cNvPr>
          <p:cNvSpPr>
            <a:spLocks noGrp="1"/>
          </p:cNvSpPr>
          <p:nvPr>
            <p:ph type="sldNum" sz="quarter" idx="12"/>
          </p:nvPr>
        </p:nvSpPr>
        <p:spPr/>
        <p:txBody>
          <a:bodyPr/>
          <a:lstStyle>
            <a:lvl1pPr>
              <a:defRPr/>
            </a:lvl1pPr>
          </a:lstStyle>
          <a:p>
            <a:fld id="{A10D80DD-AFDE-4B45-8C1E-48E9145F2E99}" type="slidenum">
              <a:rPr lang="en-US" altLang="en-US"/>
              <a:pPr/>
              <a:t>‹#›</a:t>
            </a:fld>
            <a:endParaRPr lang="en-US" altLang="en-US"/>
          </a:p>
        </p:txBody>
      </p:sp>
    </p:spTree>
    <p:extLst>
      <p:ext uri="{BB962C8B-B14F-4D97-AF65-F5344CB8AC3E}">
        <p14:creationId xmlns:p14="http://schemas.microsoft.com/office/powerpoint/2010/main" val="15498986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7030A0">
            <a:alpha val="34901"/>
          </a:srgbClr>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EF4DF4A8-C9A8-4F00-9F61-8DC20B313435}"/>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AU" altLang="en-US"/>
          </a:p>
        </p:txBody>
      </p:sp>
      <p:sp>
        <p:nvSpPr>
          <p:cNvPr id="1027" name="Text Placeholder 2">
            <a:extLst>
              <a:ext uri="{FF2B5EF4-FFF2-40B4-BE49-F238E27FC236}">
                <a16:creationId xmlns:a16="http://schemas.microsoft.com/office/drawing/2014/main" id="{C98DAD98-437A-4ECD-A756-BBF09EA75E6E}"/>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AU" altLang="en-US"/>
          </a:p>
        </p:txBody>
      </p:sp>
      <p:sp>
        <p:nvSpPr>
          <p:cNvPr id="4" name="Date Placeholder 3">
            <a:extLst>
              <a:ext uri="{FF2B5EF4-FFF2-40B4-BE49-F238E27FC236}">
                <a16:creationId xmlns:a16="http://schemas.microsoft.com/office/drawing/2014/main" id="{8F696A4A-22E6-45F5-9874-7EC55DCEC453}"/>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endParaRPr lang="en-US"/>
          </a:p>
        </p:txBody>
      </p:sp>
      <p:sp>
        <p:nvSpPr>
          <p:cNvPr id="5" name="Footer Placeholder 4">
            <a:extLst>
              <a:ext uri="{FF2B5EF4-FFF2-40B4-BE49-F238E27FC236}">
                <a16:creationId xmlns:a16="http://schemas.microsoft.com/office/drawing/2014/main" id="{7D8DC0BD-64DD-491B-AB91-D516C4D21E82}"/>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a:extLst>
              <a:ext uri="{FF2B5EF4-FFF2-40B4-BE49-F238E27FC236}">
                <a16:creationId xmlns:a16="http://schemas.microsoft.com/office/drawing/2014/main" id="{BC7E381E-4815-446E-A074-6CBC506A9B5D}"/>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6E1B9B96-261D-4F95-9DDD-A77A58AD45DE}"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750" r:id="rId1"/>
    <p:sldLayoutId id="2147483751" r:id="rId2"/>
    <p:sldLayoutId id="2147483752" r:id="rId3"/>
    <p:sldLayoutId id="2147483753" r:id="rId4"/>
    <p:sldLayoutId id="2147483754" r:id="rId5"/>
    <p:sldLayoutId id="2147483755" r:id="rId6"/>
    <p:sldLayoutId id="2147483756" r:id="rId7"/>
    <p:sldLayoutId id="2147483757" r:id="rId8"/>
    <p:sldLayoutId id="2147483758" r:id="rId9"/>
    <p:sldLayoutId id="2147483759" r:id="rId10"/>
    <p:sldLayoutId id="2147483760" r:id="rId11"/>
  </p:sldLayoutIdLst>
  <p:txStyles>
    <p:titleStyle>
      <a:lvl1pPr algn="ctr" rtl="0" fontAlgn="base">
        <a:spcBef>
          <a:spcPct val="0"/>
        </a:spcBef>
        <a:spcAft>
          <a:spcPct val="0"/>
        </a:spcAft>
        <a:defRPr sz="4400" kern="1200">
          <a:solidFill>
            <a:schemeClr val="tx1"/>
          </a:solidFill>
          <a:latin typeface="+mj-lt"/>
          <a:ea typeface="+mj-ea"/>
          <a:cs typeface="+mj-cs"/>
        </a:defRPr>
      </a:lvl1pPr>
      <a:lvl2pPr algn="ctr" rtl="0" fontAlgn="base">
        <a:spcBef>
          <a:spcPct val="0"/>
        </a:spcBef>
        <a:spcAft>
          <a:spcPct val="0"/>
        </a:spcAft>
        <a:defRPr sz="4400">
          <a:solidFill>
            <a:schemeClr val="tx1"/>
          </a:solidFill>
          <a:latin typeface="Calibri" panose="020F0502020204030204" pitchFamily="34" charset="0"/>
        </a:defRPr>
      </a:lvl2pPr>
      <a:lvl3pPr algn="ctr" rtl="0" fontAlgn="base">
        <a:spcBef>
          <a:spcPct val="0"/>
        </a:spcBef>
        <a:spcAft>
          <a:spcPct val="0"/>
        </a:spcAft>
        <a:defRPr sz="4400">
          <a:solidFill>
            <a:schemeClr val="tx1"/>
          </a:solidFill>
          <a:latin typeface="Calibri" panose="020F0502020204030204" pitchFamily="34" charset="0"/>
        </a:defRPr>
      </a:lvl3pPr>
      <a:lvl4pPr algn="ctr" rtl="0" fontAlgn="base">
        <a:spcBef>
          <a:spcPct val="0"/>
        </a:spcBef>
        <a:spcAft>
          <a:spcPct val="0"/>
        </a:spcAft>
        <a:defRPr sz="4400">
          <a:solidFill>
            <a:schemeClr val="tx1"/>
          </a:solidFill>
          <a:latin typeface="Calibri" panose="020F0502020204030204" pitchFamily="34" charset="0"/>
        </a:defRPr>
      </a:lvl4pPr>
      <a:lvl5pPr algn="ctr" rtl="0" fontAlgn="base">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fontAlgn="base">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fontAlgn="base">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fontAlgn="base">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fontAlgn="base">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audio" Target="../media/audio1.wav"/><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869A4CBB-D134-4D3A-B993-BD82DDEEA501}"/>
              </a:ext>
            </a:extLst>
          </p:cNvPr>
          <p:cNvSpPr>
            <a:spLocks noGrp="1" noChangeArrowheads="1"/>
          </p:cNvSpPr>
          <p:nvPr>
            <p:ph type="ctrTitle"/>
          </p:nvPr>
        </p:nvSpPr>
        <p:spPr>
          <a:xfrm>
            <a:off x="1219200" y="304800"/>
            <a:ext cx="8075613" cy="1524000"/>
          </a:xfrm>
        </p:spPr>
        <p:txBody>
          <a:bodyPr/>
          <a:lstStyle/>
          <a:p>
            <a:r>
              <a:rPr lang="en-US" altLang="en-US"/>
              <a:t>Box-and-Whisker Plots</a:t>
            </a:r>
          </a:p>
        </p:txBody>
      </p:sp>
      <p:sp>
        <p:nvSpPr>
          <p:cNvPr id="2051" name="AutoShape 6">
            <a:extLst>
              <a:ext uri="{FF2B5EF4-FFF2-40B4-BE49-F238E27FC236}">
                <a16:creationId xmlns:a16="http://schemas.microsoft.com/office/drawing/2014/main" id="{E4855ABF-D185-4655-AFD2-0149F176F498}"/>
              </a:ext>
            </a:extLst>
          </p:cNvPr>
          <p:cNvSpPr>
            <a:spLocks noChangeArrowheads="1"/>
          </p:cNvSpPr>
          <p:nvPr/>
        </p:nvSpPr>
        <p:spPr bwMode="auto">
          <a:xfrm>
            <a:off x="3505200" y="4114800"/>
            <a:ext cx="2514600" cy="1752600"/>
          </a:xfrm>
          <a:prstGeom prst="cube">
            <a:avLst>
              <a:gd name="adj" fmla="val 25000"/>
            </a:avLst>
          </a:prstGeom>
          <a:solidFill>
            <a:srgbClr val="993366"/>
          </a:solidFill>
          <a:ln w="25400" cap="sq">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pic>
        <p:nvPicPr>
          <p:cNvPr id="2052" name="Picture 4" descr="MCj04260320000[1]">
            <a:extLst>
              <a:ext uri="{FF2B5EF4-FFF2-40B4-BE49-F238E27FC236}">
                <a16:creationId xmlns:a16="http://schemas.microsoft.com/office/drawing/2014/main" id="{868EC9F5-C3C0-483E-9350-2586E0073D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7200" y="2822575"/>
            <a:ext cx="1339850" cy="197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7E63373C-6C66-4CB3-B907-B1147065CD1D}"/>
              </a:ext>
            </a:extLst>
          </p:cNvPr>
          <p:cNvSpPr>
            <a:spLocks noGrp="1" noChangeArrowheads="1"/>
          </p:cNvSpPr>
          <p:nvPr>
            <p:ph type="title"/>
          </p:nvPr>
        </p:nvSpPr>
        <p:spPr>
          <a:xfrm>
            <a:off x="609600" y="1219200"/>
            <a:ext cx="8382000" cy="4343400"/>
          </a:xfrm>
        </p:spPr>
        <p:txBody>
          <a:bodyPr rtlCol="0">
            <a:normAutofit fontScale="90000"/>
          </a:bodyPr>
          <a:lstStyle/>
          <a:p>
            <a:pPr fontAlgn="auto">
              <a:spcAft>
                <a:spcPts val="0"/>
              </a:spcAft>
              <a:defRPr/>
            </a:pPr>
            <a:r>
              <a:rPr lang="en-US" altLang="en-US" dirty="0">
                <a:latin typeface="+mn-lt"/>
              </a:rPr>
              <a:t>A </a:t>
            </a:r>
            <a:r>
              <a:rPr lang="en-US" altLang="en-US" dirty="0">
                <a:solidFill>
                  <a:srgbClr val="CC0099"/>
                </a:solidFill>
                <a:latin typeface="+mn-lt"/>
              </a:rPr>
              <a:t>box plot </a:t>
            </a:r>
            <a:r>
              <a:rPr lang="en-US" altLang="en-US" dirty="0">
                <a:latin typeface="+mn-lt"/>
              </a:rPr>
              <a:t>summarizes data using the median, upper (Q3) and lower (Q1) quartiles, and the extreme (least and greatest) values.  It allows you to see important characteristics of the data at a glance.</a:t>
            </a:r>
          </a:p>
        </p:txBody>
      </p:sp>
      <p:sp>
        <p:nvSpPr>
          <p:cNvPr id="3075" name="Rectangle 1">
            <a:extLst>
              <a:ext uri="{FF2B5EF4-FFF2-40B4-BE49-F238E27FC236}">
                <a16:creationId xmlns:a16="http://schemas.microsoft.com/office/drawing/2014/main" id="{01CA18AB-9820-4E25-A9A8-C3B3379FE809}"/>
              </a:ext>
            </a:extLst>
          </p:cNvPr>
          <p:cNvSpPr>
            <a:spLocks noChangeArrowheads="1"/>
          </p:cNvSpPr>
          <p:nvPr/>
        </p:nvSpPr>
        <p:spPr bwMode="auto">
          <a:xfrm>
            <a:off x="1066800" y="304800"/>
            <a:ext cx="7894638"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r>
              <a:rPr lang="en-US" altLang="en-US" sz="6000" b="1"/>
              <a:t>Box and Whisker Plots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67586">
                                            <p:txEl>
                                              <p:pRg st="0" end="0"/>
                                            </p:txEl>
                                          </p:spTgt>
                                        </p:tgtEl>
                                        <p:attrNameLst>
                                          <p:attrName>style.visibility</p:attrName>
                                        </p:attrNameLst>
                                      </p:cBhvr>
                                      <p:to>
                                        <p:strVal val="visible"/>
                                      </p:to>
                                    </p:set>
                                    <p:animEffect transition="in" filter="dissolve">
                                      <p:cBhvr>
                                        <p:cTn id="7" dur="500"/>
                                        <p:tgtEl>
                                          <p:spTgt spid="6758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glass.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86"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a:extLst>
              <a:ext uri="{FF2B5EF4-FFF2-40B4-BE49-F238E27FC236}">
                <a16:creationId xmlns:a16="http://schemas.microsoft.com/office/drawing/2014/main" id="{916B51C1-707B-4CD1-B0CD-2095396632FA}"/>
              </a:ext>
            </a:extLst>
          </p:cNvPr>
          <p:cNvSpPr>
            <a:spLocks noGrp="1" noChangeArrowheads="1"/>
          </p:cNvSpPr>
          <p:nvPr>
            <p:ph type="title"/>
          </p:nvPr>
        </p:nvSpPr>
        <p:spPr>
          <a:xfrm>
            <a:off x="1066800" y="228600"/>
            <a:ext cx="7467600" cy="1143000"/>
          </a:xfrm>
        </p:spPr>
        <p:txBody>
          <a:bodyPr rtlCol="0">
            <a:normAutofit fontScale="90000"/>
          </a:bodyPr>
          <a:lstStyle/>
          <a:p>
            <a:pPr fontAlgn="auto">
              <a:spcAft>
                <a:spcPts val="0"/>
              </a:spcAft>
              <a:defRPr/>
            </a:pPr>
            <a:r>
              <a:rPr lang="en-US" sz="6000"/>
              <a:t>The 5 Number Summary</a:t>
            </a:r>
          </a:p>
        </p:txBody>
      </p:sp>
      <p:sp>
        <p:nvSpPr>
          <p:cNvPr id="3080" name="Rectangle 8">
            <a:extLst>
              <a:ext uri="{FF2B5EF4-FFF2-40B4-BE49-F238E27FC236}">
                <a16:creationId xmlns:a16="http://schemas.microsoft.com/office/drawing/2014/main" id="{974873B1-CE3E-4C94-BC37-DA88CD550BCF}"/>
              </a:ext>
            </a:extLst>
          </p:cNvPr>
          <p:cNvSpPr>
            <a:spLocks noGrp="1" noChangeArrowheads="1"/>
          </p:cNvSpPr>
          <p:nvPr>
            <p:ph idx="1"/>
          </p:nvPr>
        </p:nvSpPr>
        <p:spPr>
          <a:xfrm>
            <a:off x="228600" y="1371600"/>
            <a:ext cx="8610600" cy="4114800"/>
          </a:xfrm>
        </p:spPr>
        <p:txBody>
          <a:bodyPr rtlCol="0">
            <a:normAutofit fontScale="92500" lnSpcReduction="10000"/>
          </a:bodyPr>
          <a:lstStyle/>
          <a:p>
            <a:pPr fontAlgn="auto">
              <a:spcAft>
                <a:spcPts val="0"/>
              </a:spcAft>
              <a:defRPr/>
            </a:pPr>
            <a:r>
              <a:rPr lang="en-US" dirty="0"/>
              <a:t>The five number summary is another name for the visual representation of the </a:t>
            </a:r>
            <a:r>
              <a:rPr lang="en-US" b="1" dirty="0">
                <a:solidFill>
                  <a:srgbClr val="CC0099"/>
                </a:solidFill>
              </a:rPr>
              <a:t>box and whisker plot. </a:t>
            </a:r>
          </a:p>
          <a:p>
            <a:pPr fontAlgn="auto">
              <a:spcAft>
                <a:spcPts val="0"/>
              </a:spcAft>
              <a:defRPr/>
            </a:pPr>
            <a:endParaRPr lang="en-US" dirty="0"/>
          </a:p>
          <a:p>
            <a:pPr fontAlgn="auto">
              <a:spcAft>
                <a:spcPts val="0"/>
              </a:spcAft>
              <a:defRPr/>
            </a:pPr>
            <a:r>
              <a:rPr lang="en-US" dirty="0"/>
              <a:t>The five number summary consist of :</a:t>
            </a:r>
          </a:p>
          <a:p>
            <a:pPr lvl="1" fontAlgn="auto">
              <a:spcAft>
                <a:spcPts val="0"/>
              </a:spcAft>
              <a:buClr>
                <a:srgbClr val="CC0099"/>
              </a:buClr>
              <a:defRPr/>
            </a:pPr>
            <a:r>
              <a:rPr lang="en-US" dirty="0"/>
              <a:t>The median ( 2</a:t>
            </a:r>
            <a:r>
              <a:rPr lang="en-US" baseline="30000" dirty="0"/>
              <a:t>nd</a:t>
            </a:r>
            <a:r>
              <a:rPr lang="en-US" dirty="0"/>
              <a:t> quartile)</a:t>
            </a:r>
          </a:p>
          <a:p>
            <a:pPr lvl="1" fontAlgn="auto">
              <a:spcAft>
                <a:spcPts val="0"/>
              </a:spcAft>
              <a:buClr>
                <a:srgbClr val="CC0099"/>
              </a:buClr>
              <a:defRPr/>
            </a:pPr>
            <a:r>
              <a:rPr lang="en-US" dirty="0"/>
              <a:t>The 1</a:t>
            </a:r>
            <a:r>
              <a:rPr lang="en-US" baseline="30000" dirty="0"/>
              <a:t>st</a:t>
            </a:r>
            <a:r>
              <a:rPr lang="en-US" dirty="0"/>
              <a:t> quartile/Lower Quartile</a:t>
            </a:r>
          </a:p>
          <a:p>
            <a:pPr lvl="1" fontAlgn="auto">
              <a:spcAft>
                <a:spcPts val="0"/>
              </a:spcAft>
              <a:buClr>
                <a:srgbClr val="CC0099"/>
              </a:buClr>
              <a:defRPr/>
            </a:pPr>
            <a:r>
              <a:rPr lang="en-US" dirty="0"/>
              <a:t>The 3</a:t>
            </a:r>
            <a:r>
              <a:rPr lang="en-US" baseline="30000" dirty="0"/>
              <a:t>rd</a:t>
            </a:r>
            <a:r>
              <a:rPr lang="en-US" dirty="0"/>
              <a:t> quartile/Upper Quartile</a:t>
            </a:r>
          </a:p>
          <a:p>
            <a:pPr lvl="1" fontAlgn="auto">
              <a:spcAft>
                <a:spcPts val="0"/>
              </a:spcAft>
              <a:buClr>
                <a:srgbClr val="CC0099"/>
              </a:buClr>
              <a:defRPr/>
            </a:pPr>
            <a:r>
              <a:rPr lang="en-US" dirty="0"/>
              <a:t>The maximum value in a data set</a:t>
            </a:r>
          </a:p>
          <a:p>
            <a:pPr lvl="1" fontAlgn="auto">
              <a:spcAft>
                <a:spcPts val="0"/>
              </a:spcAft>
              <a:buClr>
                <a:srgbClr val="CC0099"/>
              </a:buClr>
              <a:defRPr/>
            </a:pPr>
            <a:r>
              <a:rPr lang="en-US" dirty="0"/>
              <a:t>The minimum value in a data set</a:t>
            </a:r>
          </a:p>
          <a:p>
            <a:pPr lvl="1" fontAlgn="auto">
              <a:spcAft>
                <a:spcPts val="0"/>
              </a:spcAft>
              <a:defRPr/>
            </a:pPr>
            <a:endParaRPr lang="en-US" dirty="0"/>
          </a:p>
          <a:p>
            <a:pPr lvl="1" fontAlgn="auto">
              <a:spcAft>
                <a:spcPts val="0"/>
              </a:spcAft>
              <a:defRPr/>
            </a:pPr>
            <a:endParaRPr lang="en-US" dirty="0"/>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80">
                                            <p:txEl>
                                              <p:pRg st="0" end="0"/>
                                            </p:txEl>
                                          </p:spTgt>
                                        </p:tgtEl>
                                        <p:attrNameLst>
                                          <p:attrName>style.visibility</p:attrName>
                                        </p:attrNameLst>
                                      </p:cBhvr>
                                      <p:to>
                                        <p:strVal val="visible"/>
                                      </p:to>
                                    </p:set>
                                    <p:anim calcmode="lin" valueType="num">
                                      <p:cBhvr additive="base">
                                        <p:cTn id="7" dur="500" fill="hold"/>
                                        <p:tgtEl>
                                          <p:spTgt spid="308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08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080">
                                            <p:txEl>
                                              <p:pRg st="2" end="2"/>
                                            </p:txEl>
                                          </p:spTgt>
                                        </p:tgtEl>
                                        <p:attrNameLst>
                                          <p:attrName>style.visibility</p:attrName>
                                        </p:attrNameLst>
                                      </p:cBhvr>
                                      <p:to>
                                        <p:strVal val="visible"/>
                                      </p:to>
                                    </p:set>
                                    <p:anim calcmode="lin" valueType="num">
                                      <p:cBhvr additive="base">
                                        <p:cTn id="13" dur="500" fill="hold"/>
                                        <p:tgtEl>
                                          <p:spTgt spid="3080">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80">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080">
                                            <p:txEl>
                                              <p:pRg st="3" end="3"/>
                                            </p:txEl>
                                          </p:spTgt>
                                        </p:tgtEl>
                                        <p:attrNameLst>
                                          <p:attrName>style.visibility</p:attrName>
                                        </p:attrNameLst>
                                      </p:cBhvr>
                                      <p:to>
                                        <p:strVal val="visible"/>
                                      </p:to>
                                    </p:set>
                                    <p:anim calcmode="lin" valueType="num">
                                      <p:cBhvr additive="base">
                                        <p:cTn id="19" dur="500" fill="hold"/>
                                        <p:tgtEl>
                                          <p:spTgt spid="3080">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80">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080">
                                            <p:txEl>
                                              <p:pRg st="4" end="4"/>
                                            </p:txEl>
                                          </p:spTgt>
                                        </p:tgtEl>
                                        <p:attrNameLst>
                                          <p:attrName>style.visibility</p:attrName>
                                        </p:attrNameLst>
                                      </p:cBhvr>
                                      <p:to>
                                        <p:strVal val="visible"/>
                                      </p:to>
                                    </p:set>
                                    <p:anim calcmode="lin" valueType="num">
                                      <p:cBhvr additive="base">
                                        <p:cTn id="25" dur="500" fill="hold"/>
                                        <p:tgtEl>
                                          <p:spTgt spid="3080">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80">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3080">
                                            <p:txEl>
                                              <p:pRg st="5" end="5"/>
                                            </p:txEl>
                                          </p:spTgt>
                                        </p:tgtEl>
                                        <p:attrNameLst>
                                          <p:attrName>style.visibility</p:attrName>
                                        </p:attrNameLst>
                                      </p:cBhvr>
                                      <p:to>
                                        <p:strVal val="visible"/>
                                      </p:to>
                                    </p:set>
                                    <p:anim calcmode="lin" valueType="num">
                                      <p:cBhvr additive="base">
                                        <p:cTn id="31" dur="500" fill="hold"/>
                                        <p:tgtEl>
                                          <p:spTgt spid="3080">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080">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3080">
                                            <p:txEl>
                                              <p:pRg st="6" end="6"/>
                                            </p:txEl>
                                          </p:spTgt>
                                        </p:tgtEl>
                                        <p:attrNameLst>
                                          <p:attrName>style.visibility</p:attrName>
                                        </p:attrNameLst>
                                      </p:cBhvr>
                                      <p:to>
                                        <p:strVal val="visible"/>
                                      </p:to>
                                    </p:set>
                                    <p:anim calcmode="lin" valueType="num">
                                      <p:cBhvr additive="base">
                                        <p:cTn id="37" dur="500" fill="hold"/>
                                        <p:tgtEl>
                                          <p:spTgt spid="3080">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080">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3080">
                                            <p:txEl>
                                              <p:pRg st="7" end="7"/>
                                            </p:txEl>
                                          </p:spTgt>
                                        </p:tgtEl>
                                        <p:attrNameLst>
                                          <p:attrName>style.visibility</p:attrName>
                                        </p:attrNameLst>
                                      </p:cBhvr>
                                      <p:to>
                                        <p:strVal val="visible"/>
                                      </p:to>
                                    </p:set>
                                    <p:anim calcmode="lin" valueType="num">
                                      <p:cBhvr additive="base">
                                        <p:cTn id="43" dur="500" fill="hold"/>
                                        <p:tgtEl>
                                          <p:spTgt spid="3080">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080">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405" name="Group 117">
            <a:extLst>
              <a:ext uri="{FF2B5EF4-FFF2-40B4-BE49-F238E27FC236}">
                <a16:creationId xmlns:a16="http://schemas.microsoft.com/office/drawing/2014/main" id="{66782A2B-01C8-4CB0-ACDA-8E17F590F6D6}"/>
              </a:ext>
            </a:extLst>
          </p:cNvPr>
          <p:cNvGrpSpPr>
            <a:grpSpLocks/>
          </p:cNvGrpSpPr>
          <p:nvPr/>
        </p:nvGrpSpPr>
        <p:grpSpPr bwMode="auto">
          <a:xfrm>
            <a:off x="4354513" y="3538538"/>
            <a:ext cx="1023937" cy="765175"/>
            <a:chOff x="2570" y="1846"/>
            <a:chExt cx="645" cy="482"/>
          </a:xfrm>
        </p:grpSpPr>
        <p:sp>
          <p:nvSpPr>
            <p:cNvPr id="5164" name="Line 37">
              <a:extLst>
                <a:ext uri="{FF2B5EF4-FFF2-40B4-BE49-F238E27FC236}">
                  <a16:creationId xmlns:a16="http://schemas.microsoft.com/office/drawing/2014/main" id="{727FA3A6-FA2C-418D-8AE7-37B565A369D1}"/>
                </a:ext>
              </a:extLst>
            </p:cNvPr>
            <p:cNvSpPr>
              <a:spLocks noChangeShapeType="1"/>
            </p:cNvSpPr>
            <p:nvPr/>
          </p:nvSpPr>
          <p:spPr bwMode="auto">
            <a:xfrm flipV="1">
              <a:off x="2893" y="2082"/>
              <a:ext cx="0" cy="24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65" name="Text Box 98">
              <a:extLst>
                <a:ext uri="{FF2B5EF4-FFF2-40B4-BE49-F238E27FC236}">
                  <a16:creationId xmlns:a16="http://schemas.microsoft.com/office/drawing/2014/main" id="{9DA4947F-02C4-4B2F-B3FA-1439FBD79609}"/>
                </a:ext>
              </a:extLst>
            </p:cNvPr>
            <p:cNvSpPr txBox="1">
              <a:spLocks noChangeArrowheads="1"/>
            </p:cNvSpPr>
            <p:nvPr/>
          </p:nvSpPr>
          <p:spPr bwMode="auto">
            <a:xfrm>
              <a:off x="2570" y="1846"/>
              <a:ext cx="64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latin typeface="Comic Sans MS" panose="030F0702030302020204" pitchFamily="66" charset="0"/>
                </a:rPr>
                <a:t>Median</a:t>
              </a:r>
            </a:p>
          </p:txBody>
        </p:sp>
      </p:grpSp>
      <p:sp>
        <p:nvSpPr>
          <p:cNvPr id="12387" name="Text Box 99">
            <a:extLst>
              <a:ext uri="{FF2B5EF4-FFF2-40B4-BE49-F238E27FC236}">
                <a16:creationId xmlns:a16="http://schemas.microsoft.com/office/drawing/2014/main" id="{41FEFE7B-9BDC-42E8-A074-F720AFD3B3A2}"/>
              </a:ext>
            </a:extLst>
          </p:cNvPr>
          <p:cNvSpPr txBox="1">
            <a:spLocks noChangeArrowheads="1"/>
          </p:cNvSpPr>
          <p:nvPr/>
        </p:nvSpPr>
        <p:spPr bwMode="auto">
          <a:xfrm>
            <a:off x="2192338" y="2974975"/>
            <a:ext cx="1023937" cy="9540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GB" altLang="en-US" sz="1600" b="1">
                <a:latin typeface="Comic Sans MS" panose="030F0702030302020204" pitchFamily="66" charset="0"/>
              </a:rPr>
              <a:t>Lower Quartile</a:t>
            </a:r>
          </a:p>
          <a:p>
            <a:pPr algn="ctr" eaLnBrk="1" hangingPunct="1">
              <a:spcBef>
                <a:spcPct val="50000"/>
              </a:spcBef>
            </a:pPr>
            <a:r>
              <a:rPr lang="en-GB" altLang="en-US" sz="1600" b="1">
                <a:latin typeface="Comic Sans MS" panose="030F0702030302020204" pitchFamily="66" charset="0"/>
              </a:rPr>
              <a:t>(Q1)</a:t>
            </a:r>
          </a:p>
        </p:txBody>
      </p:sp>
      <p:sp>
        <p:nvSpPr>
          <p:cNvPr id="12388" name="Text Box 100">
            <a:extLst>
              <a:ext uri="{FF2B5EF4-FFF2-40B4-BE49-F238E27FC236}">
                <a16:creationId xmlns:a16="http://schemas.microsoft.com/office/drawing/2014/main" id="{05BE9F77-9A40-483F-BCF5-88FEFBC48041}"/>
              </a:ext>
            </a:extLst>
          </p:cNvPr>
          <p:cNvSpPr txBox="1">
            <a:spLocks noChangeArrowheads="1"/>
          </p:cNvSpPr>
          <p:nvPr/>
        </p:nvSpPr>
        <p:spPr bwMode="auto">
          <a:xfrm>
            <a:off x="5346700" y="3098800"/>
            <a:ext cx="1023938" cy="830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GB" altLang="en-US" sz="1600" b="1">
                <a:latin typeface="Comic Sans MS" panose="030F0702030302020204" pitchFamily="66" charset="0"/>
              </a:rPr>
              <a:t>Upper Quartile (Q3)</a:t>
            </a:r>
          </a:p>
        </p:txBody>
      </p:sp>
      <p:sp>
        <p:nvSpPr>
          <p:cNvPr id="12389" name="Text Box 101">
            <a:extLst>
              <a:ext uri="{FF2B5EF4-FFF2-40B4-BE49-F238E27FC236}">
                <a16:creationId xmlns:a16="http://schemas.microsoft.com/office/drawing/2014/main" id="{10531911-971E-4105-BA7C-9EF2AF3827D8}"/>
              </a:ext>
            </a:extLst>
          </p:cNvPr>
          <p:cNvSpPr txBox="1">
            <a:spLocks noChangeArrowheads="1"/>
          </p:cNvSpPr>
          <p:nvPr/>
        </p:nvSpPr>
        <p:spPr bwMode="auto">
          <a:xfrm>
            <a:off x="760413" y="3486150"/>
            <a:ext cx="1023937"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GB" altLang="en-US" sz="1600" b="1">
                <a:latin typeface="Comic Sans MS" panose="030F0702030302020204" pitchFamily="66" charset="0"/>
              </a:rPr>
              <a:t>Lowest Value</a:t>
            </a:r>
          </a:p>
        </p:txBody>
      </p:sp>
      <p:sp>
        <p:nvSpPr>
          <p:cNvPr id="12390" name="Text Box 102">
            <a:extLst>
              <a:ext uri="{FF2B5EF4-FFF2-40B4-BE49-F238E27FC236}">
                <a16:creationId xmlns:a16="http://schemas.microsoft.com/office/drawing/2014/main" id="{89188A7B-0A41-4EBD-9B27-1A8E4DA49711}"/>
              </a:ext>
            </a:extLst>
          </p:cNvPr>
          <p:cNvSpPr txBox="1">
            <a:spLocks noChangeArrowheads="1"/>
          </p:cNvSpPr>
          <p:nvPr/>
        </p:nvSpPr>
        <p:spPr bwMode="auto">
          <a:xfrm>
            <a:off x="7715250" y="3498850"/>
            <a:ext cx="1023938"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GB" altLang="en-US" sz="1600" b="1">
                <a:latin typeface="Comic Sans MS" panose="030F0702030302020204" pitchFamily="66" charset="0"/>
              </a:rPr>
              <a:t>Highest Value</a:t>
            </a:r>
          </a:p>
        </p:txBody>
      </p:sp>
      <p:grpSp>
        <p:nvGrpSpPr>
          <p:cNvPr id="12403" name="Group 115">
            <a:extLst>
              <a:ext uri="{FF2B5EF4-FFF2-40B4-BE49-F238E27FC236}">
                <a16:creationId xmlns:a16="http://schemas.microsoft.com/office/drawing/2014/main" id="{0EB3786D-6528-405B-9BC2-EEF5AD3EC48E}"/>
              </a:ext>
            </a:extLst>
          </p:cNvPr>
          <p:cNvGrpSpPr>
            <a:grpSpLocks/>
          </p:cNvGrpSpPr>
          <p:nvPr/>
        </p:nvGrpSpPr>
        <p:grpSpPr bwMode="auto">
          <a:xfrm>
            <a:off x="2751138" y="3929063"/>
            <a:ext cx="3065462" cy="390525"/>
            <a:chOff x="1521" y="2082"/>
            <a:chExt cx="1931" cy="246"/>
          </a:xfrm>
        </p:grpSpPr>
        <p:sp>
          <p:nvSpPr>
            <p:cNvPr id="5162" name="Rectangle 38">
              <a:extLst>
                <a:ext uri="{FF2B5EF4-FFF2-40B4-BE49-F238E27FC236}">
                  <a16:creationId xmlns:a16="http://schemas.microsoft.com/office/drawing/2014/main" id="{9DF66DD4-8459-4EB0-BD33-521A0A207F20}"/>
                </a:ext>
              </a:extLst>
            </p:cNvPr>
            <p:cNvSpPr>
              <a:spLocks noChangeArrowheads="1"/>
            </p:cNvSpPr>
            <p:nvPr/>
          </p:nvSpPr>
          <p:spPr bwMode="auto">
            <a:xfrm>
              <a:off x="1521" y="2082"/>
              <a:ext cx="1931" cy="246"/>
            </a:xfrm>
            <a:prstGeom prst="rect">
              <a:avLst/>
            </a:prstGeom>
            <a:noFill/>
            <a:ln w="381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sp>
          <p:nvSpPr>
            <p:cNvPr id="5163" name="Text Box 104">
              <a:extLst>
                <a:ext uri="{FF2B5EF4-FFF2-40B4-BE49-F238E27FC236}">
                  <a16:creationId xmlns:a16="http://schemas.microsoft.com/office/drawing/2014/main" id="{0F514B00-54BD-4A9C-958B-071B7C998242}"/>
                </a:ext>
              </a:extLst>
            </p:cNvPr>
            <p:cNvSpPr txBox="1">
              <a:spLocks noChangeArrowheads="1"/>
            </p:cNvSpPr>
            <p:nvPr/>
          </p:nvSpPr>
          <p:spPr bwMode="auto">
            <a:xfrm>
              <a:off x="2141" y="2106"/>
              <a:ext cx="64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CC0099"/>
                  </a:solidFill>
                  <a:latin typeface="Comic Sans MS" panose="030F0702030302020204" pitchFamily="66" charset="0"/>
                </a:rPr>
                <a:t>Box</a:t>
              </a:r>
            </a:p>
          </p:txBody>
        </p:sp>
      </p:grpSp>
      <p:grpSp>
        <p:nvGrpSpPr>
          <p:cNvPr id="12404" name="Group 116">
            <a:extLst>
              <a:ext uri="{FF2B5EF4-FFF2-40B4-BE49-F238E27FC236}">
                <a16:creationId xmlns:a16="http://schemas.microsoft.com/office/drawing/2014/main" id="{014BAB2A-E8FF-497C-84CB-DA4C7DB51671}"/>
              </a:ext>
            </a:extLst>
          </p:cNvPr>
          <p:cNvGrpSpPr>
            <a:grpSpLocks/>
          </p:cNvGrpSpPr>
          <p:nvPr/>
        </p:nvGrpSpPr>
        <p:grpSpPr bwMode="auto">
          <a:xfrm>
            <a:off x="1254125" y="3843338"/>
            <a:ext cx="7051675" cy="454025"/>
            <a:chOff x="591" y="2016"/>
            <a:chExt cx="4442" cy="286"/>
          </a:xfrm>
        </p:grpSpPr>
        <p:grpSp>
          <p:nvGrpSpPr>
            <p:cNvPr id="5154" name="Group 39">
              <a:extLst>
                <a:ext uri="{FF2B5EF4-FFF2-40B4-BE49-F238E27FC236}">
                  <a16:creationId xmlns:a16="http://schemas.microsoft.com/office/drawing/2014/main" id="{46F4F183-2CA4-41FB-ADF8-C7EE9A9D54D7}"/>
                </a:ext>
              </a:extLst>
            </p:cNvPr>
            <p:cNvGrpSpPr>
              <a:grpSpLocks/>
            </p:cNvGrpSpPr>
            <p:nvPr/>
          </p:nvGrpSpPr>
          <p:grpSpPr bwMode="auto">
            <a:xfrm>
              <a:off x="591" y="2132"/>
              <a:ext cx="944" cy="152"/>
              <a:chOff x="1342" y="3458"/>
              <a:chExt cx="617" cy="152"/>
            </a:xfrm>
          </p:grpSpPr>
          <p:sp>
            <p:nvSpPr>
              <p:cNvPr id="5160" name="Line 40">
                <a:extLst>
                  <a:ext uri="{FF2B5EF4-FFF2-40B4-BE49-F238E27FC236}">
                    <a16:creationId xmlns:a16="http://schemas.microsoft.com/office/drawing/2014/main" id="{8C41BEC8-BC58-49EC-86A9-1B65F6185034}"/>
                  </a:ext>
                </a:extLst>
              </p:cNvPr>
              <p:cNvSpPr>
                <a:spLocks noChangeShapeType="1"/>
              </p:cNvSpPr>
              <p:nvPr/>
            </p:nvSpPr>
            <p:spPr bwMode="auto">
              <a:xfrm>
                <a:off x="1342" y="3536"/>
                <a:ext cx="617" cy="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61" name="Line 41">
                <a:extLst>
                  <a:ext uri="{FF2B5EF4-FFF2-40B4-BE49-F238E27FC236}">
                    <a16:creationId xmlns:a16="http://schemas.microsoft.com/office/drawing/2014/main" id="{553A28FF-4CDB-4CDB-ACFC-133B8BF061AD}"/>
                  </a:ext>
                </a:extLst>
              </p:cNvPr>
              <p:cNvSpPr>
                <a:spLocks noChangeShapeType="1"/>
              </p:cNvSpPr>
              <p:nvPr/>
            </p:nvSpPr>
            <p:spPr bwMode="auto">
              <a:xfrm>
                <a:off x="1342" y="3458"/>
                <a:ext cx="0" cy="152"/>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5155" name="Group 42">
              <a:extLst>
                <a:ext uri="{FF2B5EF4-FFF2-40B4-BE49-F238E27FC236}">
                  <a16:creationId xmlns:a16="http://schemas.microsoft.com/office/drawing/2014/main" id="{FC99A1D8-3A7E-48C2-B680-3FD6B72A0384}"/>
                </a:ext>
              </a:extLst>
            </p:cNvPr>
            <p:cNvGrpSpPr>
              <a:grpSpLocks/>
            </p:cNvGrpSpPr>
            <p:nvPr/>
          </p:nvGrpSpPr>
          <p:grpSpPr bwMode="auto">
            <a:xfrm>
              <a:off x="3452" y="2126"/>
              <a:ext cx="1581" cy="176"/>
              <a:chOff x="3140" y="3452"/>
              <a:chExt cx="990" cy="176"/>
            </a:xfrm>
          </p:grpSpPr>
          <p:sp>
            <p:nvSpPr>
              <p:cNvPr id="5158" name="Line 43">
                <a:extLst>
                  <a:ext uri="{FF2B5EF4-FFF2-40B4-BE49-F238E27FC236}">
                    <a16:creationId xmlns:a16="http://schemas.microsoft.com/office/drawing/2014/main" id="{78203776-40A3-4E03-BFF0-B12D30BF9849}"/>
                  </a:ext>
                </a:extLst>
              </p:cNvPr>
              <p:cNvSpPr>
                <a:spLocks noChangeShapeType="1"/>
              </p:cNvSpPr>
              <p:nvPr/>
            </p:nvSpPr>
            <p:spPr bwMode="auto">
              <a:xfrm>
                <a:off x="3140" y="3540"/>
                <a:ext cx="99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59" name="Line 44">
                <a:extLst>
                  <a:ext uri="{FF2B5EF4-FFF2-40B4-BE49-F238E27FC236}">
                    <a16:creationId xmlns:a16="http://schemas.microsoft.com/office/drawing/2014/main" id="{DB4EBD81-C824-44C7-9108-86FB8F570FB5}"/>
                  </a:ext>
                </a:extLst>
              </p:cNvPr>
              <p:cNvSpPr>
                <a:spLocks noChangeShapeType="1"/>
              </p:cNvSpPr>
              <p:nvPr/>
            </p:nvSpPr>
            <p:spPr bwMode="auto">
              <a:xfrm>
                <a:off x="4130" y="3452"/>
                <a:ext cx="0" cy="176"/>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5156" name="Text Box 105">
              <a:extLst>
                <a:ext uri="{FF2B5EF4-FFF2-40B4-BE49-F238E27FC236}">
                  <a16:creationId xmlns:a16="http://schemas.microsoft.com/office/drawing/2014/main" id="{080D7708-969A-4B52-BD7C-D080B2257DF0}"/>
                </a:ext>
              </a:extLst>
            </p:cNvPr>
            <p:cNvSpPr txBox="1">
              <a:spLocks noChangeArrowheads="1"/>
            </p:cNvSpPr>
            <p:nvPr/>
          </p:nvSpPr>
          <p:spPr bwMode="auto">
            <a:xfrm>
              <a:off x="3927" y="2028"/>
              <a:ext cx="64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CC0099"/>
                  </a:solidFill>
                  <a:latin typeface="Comic Sans MS" panose="030F0702030302020204" pitchFamily="66" charset="0"/>
                </a:rPr>
                <a:t>Whisker</a:t>
              </a:r>
            </a:p>
          </p:txBody>
        </p:sp>
        <p:sp>
          <p:nvSpPr>
            <p:cNvPr id="5157" name="Text Box 106">
              <a:extLst>
                <a:ext uri="{FF2B5EF4-FFF2-40B4-BE49-F238E27FC236}">
                  <a16:creationId xmlns:a16="http://schemas.microsoft.com/office/drawing/2014/main" id="{3B85421C-E8C8-46CB-8472-7E2796A29CFB}"/>
                </a:ext>
              </a:extLst>
            </p:cNvPr>
            <p:cNvSpPr txBox="1">
              <a:spLocks noChangeArrowheads="1"/>
            </p:cNvSpPr>
            <p:nvPr/>
          </p:nvSpPr>
          <p:spPr bwMode="auto">
            <a:xfrm>
              <a:off x="802" y="2016"/>
              <a:ext cx="645" cy="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1600" b="1">
                  <a:solidFill>
                    <a:srgbClr val="CC0099"/>
                  </a:solidFill>
                  <a:latin typeface="Comic Sans MS" panose="030F0702030302020204" pitchFamily="66" charset="0"/>
                </a:rPr>
                <a:t>Whisker</a:t>
              </a:r>
            </a:p>
          </p:txBody>
        </p:sp>
      </p:grpSp>
      <p:grpSp>
        <p:nvGrpSpPr>
          <p:cNvPr id="12407" name="Group 119">
            <a:extLst>
              <a:ext uri="{FF2B5EF4-FFF2-40B4-BE49-F238E27FC236}">
                <a16:creationId xmlns:a16="http://schemas.microsoft.com/office/drawing/2014/main" id="{5D5839AC-753B-43AC-BBED-15386873FCA8}"/>
              </a:ext>
            </a:extLst>
          </p:cNvPr>
          <p:cNvGrpSpPr>
            <a:grpSpLocks/>
          </p:cNvGrpSpPr>
          <p:nvPr/>
        </p:nvGrpSpPr>
        <p:grpSpPr bwMode="auto">
          <a:xfrm>
            <a:off x="760413" y="838200"/>
            <a:ext cx="7953375" cy="2457450"/>
            <a:chOff x="401" y="1262"/>
            <a:chExt cx="5010" cy="1548"/>
          </a:xfrm>
        </p:grpSpPr>
        <p:sp>
          <p:nvSpPr>
            <p:cNvPr id="5152" name="Text Box 111">
              <a:extLst>
                <a:ext uri="{FF2B5EF4-FFF2-40B4-BE49-F238E27FC236}">
                  <a16:creationId xmlns:a16="http://schemas.microsoft.com/office/drawing/2014/main" id="{0836360D-03E3-46BC-9DE8-91CA17A11259}"/>
                </a:ext>
              </a:extLst>
            </p:cNvPr>
            <p:cNvSpPr txBox="1">
              <a:spLocks noChangeArrowheads="1"/>
            </p:cNvSpPr>
            <p:nvPr/>
          </p:nvSpPr>
          <p:spPr bwMode="auto">
            <a:xfrm>
              <a:off x="537" y="1262"/>
              <a:ext cx="4558" cy="60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spcBef>
                  <a:spcPct val="50000"/>
                </a:spcBef>
              </a:pPr>
              <a:r>
                <a:rPr lang="en-GB" altLang="en-US" sz="2800" b="1">
                  <a:latin typeface="Comic Sans MS" panose="030F0702030302020204" pitchFamily="66" charset="0"/>
                </a:rPr>
                <a:t>Anatomy of a Box and Whisker Diagram.</a:t>
              </a:r>
            </a:p>
          </p:txBody>
        </p:sp>
        <p:sp>
          <p:nvSpPr>
            <p:cNvPr id="5153" name="Rectangle 118">
              <a:extLst>
                <a:ext uri="{FF2B5EF4-FFF2-40B4-BE49-F238E27FC236}">
                  <a16:creationId xmlns:a16="http://schemas.microsoft.com/office/drawing/2014/main" id="{A30A5F94-4F0C-4BF6-B869-D05C3EA1E4A5}"/>
                </a:ext>
              </a:extLst>
            </p:cNvPr>
            <p:cNvSpPr>
              <a:spLocks noChangeArrowheads="1"/>
            </p:cNvSpPr>
            <p:nvPr/>
          </p:nvSpPr>
          <p:spPr bwMode="auto">
            <a:xfrm>
              <a:off x="401" y="1296"/>
              <a:ext cx="5010" cy="15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endParaRPr lang="en-US" altLang="en-US"/>
            </a:p>
          </p:txBody>
        </p:sp>
      </p:grpSp>
      <p:sp>
        <p:nvSpPr>
          <p:cNvPr id="5130" name="Rectangle 120">
            <a:extLst>
              <a:ext uri="{FF2B5EF4-FFF2-40B4-BE49-F238E27FC236}">
                <a16:creationId xmlns:a16="http://schemas.microsoft.com/office/drawing/2014/main" id="{E37BD78A-A838-4738-8B82-25615D1FE3CC}"/>
              </a:ext>
            </a:extLst>
          </p:cNvPr>
          <p:cNvSpPr>
            <a:spLocks noGrp="1" noChangeArrowheads="1"/>
          </p:cNvSpPr>
          <p:nvPr>
            <p:ph type="title" idx="4294967295"/>
          </p:nvPr>
        </p:nvSpPr>
        <p:spPr>
          <a:xfrm>
            <a:off x="7658100" y="6000750"/>
            <a:ext cx="1485900" cy="628650"/>
          </a:xfrm>
        </p:spPr>
        <p:txBody>
          <a:bodyPr/>
          <a:lstStyle/>
          <a:p>
            <a:r>
              <a:rPr lang="en-GB" altLang="en-US" sz="2400">
                <a:solidFill>
                  <a:schemeClr val="bg1"/>
                </a:solidFill>
              </a:rPr>
              <a:t>Box Plots</a:t>
            </a:r>
          </a:p>
        </p:txBody>
      </p:sp>
      <p:grpSp>
        <p:nvGrpSpPr>
          <p:cNvPr id="5131" name="Group 7">
            <a:extLst>
              <a:ext uri="{FF2B5EF4-FFF2-40B4-BE49-F238E27FC236}">
                <a16:creationId xmlns:a16="http://schemas.microsoft.com/office/drawing/2014/main" id="{BCE682C1-07E9-4126-94A9-6BC43AC0C6CD}"/>
              </a:ext>
            </a:extLst>
          </p:cNvPr>
          <p:cNvGrpSpPr>
            <a:grpSpLocks/>
          </p:cNvGrpSpPr>
          <p:nvPr/>
        </p:nvGrpSpPr>
        <p:grpSpPr bwMode="auto">
          <a:xfrm>
            <a:off x="838200" y="4572000"/>
            <a:ext cx="8237538" cy="679450"/>
            <a:chOff x="838200" y="4572000"/>
            <a:chExt cx="8237538" cy="679458"/>
          </a:xfrm>
        </p:grpSpPr>
        <p:grpSp>
          <p:nvGrpSpPr>
            <p:cNvPr id="5132" name="Group 18">
              <a:extLst>
                <a:ext uri="{FF2B5EF4-FFF2-40B4-BE49-F238E27FC236}">
                  <a16:creationId xmlns:a16="http://schemas.microsoft.com/office/drawing/2014/main" id="{057729F1-F65C-45E1-BC33-4DACB1B8CA08}"/>
                </a:ext>
              </a:extLst>
            </p:cNvPr>
            <p:cNvGrpSpPr>
              <a:grpSpLocks/>
            </p:cNvGrpSpPr>
            <p:nvPr/>
          </p:nvGrpSpPr>
          <p:grpSpPr bwMode="auto">
            <a:xfrm>
              <a:off x="1036638" y="4824420"/>
              <a:ext cx="8039100" cy="427038"/>
              <a:chOff x="1267" y="3867"/>
              <a:chExt cx="3171" cy="269"/>
            </a:xfrm>
          </p:grpSpPr>
          <p:sp>
            <p:nvSpPr>
              <p:cNvPr id="5143" name="Text Box 28">
                <a:extLst>
                  <a:ext uri="{FF2B5EF4-FFF2-40B4-BE49-F238E27FC236}">
                    <a16:creationId xmlns:a16="http://schemas.microsoft.com/office/drawing/2014/main" id="{72793FFD-D959-4DF3-A29F-CC4AA0C4E93D}"/>
                  </a:ext>
                </a:extLst>
              </p:cNvPr>
              <p:cNvSpPr txBox="1">
                <a:spLocks noChangeArrowheads="1"/>
              </p:cNvSpPr>
              <p:nvPr/>
            </p:nvSpPr>
            <p:spPr bwMode="auto">
              <a:xfrm>
                <a:off x="1267" y="3867"/>
                <a:ext cx="24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200">
                    <a:latin typeface="Comic Sans MS" panose="030F0702030302020204" pitchFamily="66" charset="0"/>
                  </a:rPr>
                  <a:t>4</a:t>
                </a:r>
              </a:p>
            </p:txBody>
          </p:sp>
          <p:sp>
            <p:nvSpPr>
              <p:cNvPr id="5144" name="Text Box 29">
                <a:extLst>
                  <a:ext uri="{FF2B5EF4-FFF2-40B4-BE49-F238E27FC236}">
                    <a16:creationId xmlns:a16="http://schemas.microsoft.com/office/drawing/2014/main" id="{74DB6D0E-29D1-40DE-8653-9EF71E4F269B}"/>
                  </a:ext>
                </a:extLst>
              </p:cNvPr>
              <p:cNvSpPr txBox="1">
                <a:spLocks noChangeArrowheads="1"/>
              </p:cNvSpPr>
              <p:nvPr/>
            </p:nvSpPr>
            <p:spPr bwMode="auto">
              <a:xfrm>
                <a:off x="1603" y="3867"/>
                <a:ext cx="24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200">
                    <a:latin typeface="Comic Sans MS" panose="030F0702030302020204" pitchFamily="66" charset="0"/>
                  </a:rPr>
                  <a:t>5</a:t>
                </a:r>
              </a:p>
            </p:txBody>
          </p:sp>
          <p:sp>
            <p:nvSpPr>
              <p:cNvPr id="5145" name="Text Box 30">
                <a:extLst>
                  <a:ext uri="{FF2B5EF4-FFF2-40B4-BE49-F238E27FC236}">
                    <a16:creationId xmlns:a16="http://schemas.microsoft.com/office/drawing/2014/main" id="{C2607F51-F96E-4EB9-8D3F-64698860EEDB}"/>
                  </a:ext>
                </a:extLst>
              </p:cNvPr>
              <p:cNvSpPr txBox="1">
                <a:spLocks noChangeArrowheads="1"/>
              </p:cNvSpPr>
              <p:nvPr/>
            </p:nvSpPr>
            <p:spPr bwMode="auto">
              <a:xfrm>
                <a:off x="1959" y="3867"/>
                <a:ext cx="24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200">
                    <a:latin typeface="Comic Sans MS" panose="030F0702030302020204" pitchFamily="66" charset="0"/>
                  </a:rPr>
                  <a:t>6</a:t>
                </a:r>
              </a:p>
            </p:txBody>
          </p:sp>
          <p:sp>
            <p:nvSpPr>
              <p:cNvPr id="5146" name="Text Box 31">
                <a:extLst>
                  <a:ext uri="{FF2B5EF4-FFF2-40B4-BE49-F238E27FC236}">
                    <a16:creationId xmlns:a16="http://schemas.microsoft.com/office/drawing/2014/main" id="{3B77E248-C937-4F07-B0BC-62C7D3E1369C}"/>
                  </a:ext>
                </a:extLst>
              </p:cNvPr>
              <p:cNvSpPr txBox="1">
                <a:spLocks noChangeArrowheads="1"/>
              </p:cNvSpPr>
              <p:nvPr/>
            </p:nvSpPr>
            <p:spPr bwMode="auto">
              <a:xfrm>
                <a:off x="2319" y="3867"/>
                <a:ext cx="24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200">
                    <a:latin typeface="Comic Sans MS" panose="030F0702030302020204" pitchFamily="66" charset="0"/>
                  </a:rPr>
                  <a:t>7</a:t>
                </a:r>
              </a:p>
            </p:txBody>
          </p:sp>
          <p:sp>
            <p:nvSpPr>
              <p:cNvPr id="5147" name="Text Box 32">
                <a:extLst>
                  <a:ext uri="{FF2B5EF4-FFF2-40B4-BE49-F238E27FC236}">
                    <a16:creationId xmlns:a16="http://schemas.microsoft.com/office/drawing/2014/main" id="{FFFD0948-F1F3-49A7-91F9-D686715E93F1}"/>
                  </a:ext>
                </a:extLst>
              </p:cNvPr>
              <p:cNvSpPr txBox="1">
                <a:spLocks noChangeArrowheads="1"/>
              </p:cNvSpPr>
              <p:nvPr/>
            </p:nvSpPr>
            <p:spPr bwMode="auto">
              <a:xfrm>
                <a:off x="2670" y="3867"/>
                <a:ext cx="24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200">
                    <a:latin typeface="Comic Sans MS" panose="030F0702030302020204" pitchFamily="66" charset="0"/>
                  </a:rPr>
                  <a:t>8</a:t>
                </a:r>
              </a:p>
            </p:txBody>
          </p:sp>
          <p:sp>
            <p:nvSpPr>
              <p:cNvPr id="5148" name="Text Box 33">
                <a:extLst>
                  <a:ext uri="{FF2B5EF4-FFF2-40B4-BE49-F238E27FC236}">
                    <a16:creationId xmlns:a16="http://schemas.microsoft.com/office/drawing/2014/main" id="{10AE200D-9A5C-413B-AD1E-EE737EC9664C}"/>
                  </a:ext>
                </a:extLst>
              </p:cNvPr>
              <p:cNvSpPr txBox="1">
                <a:spLocks noChangeArrowheads="1"/>
              </p:cNvSpPr>
              <p:nvPr/>
            </p:nvSpPr>
            <p:spPr bwMode="auto">
              <a:xfrm>
                <a:off x="3009" y="3867"/>
                <a:ext cx="240"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200">
                    <a:latin typeface="Comic Sans MS" panose="030F0702030302020204" pitchFamily="66" charset="0"/>
                  </a:rPr>
                  <a:t>9</a:t>
                </a:r>
              </a:p>
            </p:txBody>
          </p:sp>
          <p:sp>
            <p:nvSpPr>
              <p:cNvPr id="5149" name="Text Box 34">
                <a:extLst>
                  <a:ext uri="{FF2B5EF4-FFF2-40B4-BE49-F238E27FC236}">
                    <a16:creationId xmlns:a16="http://schemas.microsoft.com/office/drawing/2014/main" id="{200F6759-9A24-4ED3-9BD8-3D49A6DE1F20}"/>
                  </a:ext>
                </a:extLst>
              </p:cNvPr>
              <p:cNvSpPr txBox="1">
                <a:spLocks noChangeArrowheads="1"/>
              </p:cNvSpPr>
              <p:nvPr/>
            </p:nvSpPr>
            <p:spPr bwMode="auto">
              <a:xfrm>
                <a:off x="3371" y="3867"/>
                <a:ext cx="385"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200">
                    <a:latin typeface="Comic Sans MS" panose="030F0702030302020204" pitchFamily="66" charset="0"/>
                  </a:rPr>
                  <a:t>10</a:t>
                </a:r>
              </a:p>
            </p:txBody>
          </p:sp>
          <p:sp>
            <p:nvSpPr>
              <p:cNvPr id="5150" name="Text Box 35">
                <a:extLst>
                  <a:ext uri="{FF2B5EF4-FFF2-40B4-BE49-F238E27FC236}">
                    <a16:creationId xmlns:a16="http://schemas.microsoft.com/office/drawing/2014/main" id="{5361C425-CD52-483E-8799-7DE33B70859F}"/>
                  </a:ext>
                </a:extLst>
              </p:cNvPr>
              <p:cNvSpPr txBox="1">
                <a:spLocks noChangeArrowheads="1"/>
              </p:cNvSpPr>
              <p:nvPr/>
            </p:nvSpPr>
            <p:spPr bwMode="auto">
              <a:xfrm>
                <a:off x="3697" y="3867"/>
                <a:ext cx="385"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200">
                    <a:latin typeface="Comic Sans MS" panose="030F0702030302020204" pitchFamily="66" charset="0"/>
                  </a:rPr>
                  <a:t>11</a:t>
                </a:r>
              </a:p>
            </p:txBody>
          </p:sp>
          <p:sp>
            <p:nvSpPr>
              <p:cNvPr id="5151" name="Text Box 36">
                <a:extLst>
                  <a:ext uri="{FF2B5EF4-FFF2-40B4-BE49-F238E27FC236}">
                    <a16:creationId xmlns:a16="http://schemas.microsoft.com/office/drawing/2014/main" id="{EC91FC18-6BDF-45D9-8A71-E00B3793928E}"/>
                  </a:ext>
                </a:extLst>
              </p:cNvPr>
              <p:cNvSpPr txBox="1">
                <a:spLocks noChangeArrowheads="1"/>
              </p:cNvSpPr>
              <p:nvPr/>
            </p:nvSpPr>
            <p:spPr bwMode="auto">
              <a:xfrm>
                <a:off x="4053" y="3867"/>
                <a:ext cx="385"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spcBef>
                    <a:spcPct val="50000"/>
                  </a:spcBef>
                </a:pPr>
                <a:r>
                  <a:rPr lang="en-GB" altLang="en-US" sz="2200">
                    <a:latin typeface="Comic Sans MS" panose="030F0702030302020204" pitchFamily="66" charset="0"/>
                  </a:rPr>
                  <a:t>12</a:t>
                </a:r>
              </a:p>
            </p:txBody>
          </p:sp>
        </p:grpSp>
        <p:cxnSp>
          <p:nvCxnSpPr>
            <p:cNvPr id="5133" name="Straight Connector 2">
              <a:extLst>
                <a:ext uri="{FF2B5EF4-FFF2-40B4-BE49-F238E27FC236}">
                  <a16:creationId xmlns:a16="http://schemas.microsoft.com/office/drawing/2014/main" id="{31AA4B4C-849C-44D1-B882-6793087225EE}"/>
                </a:ext>
              </a:extLst>
            </p:cNvPr>
            <p:cNvCxnSpPr>
              <a:cxnSpLocks noChangeShapeType="1"/>
            </p:cNvCxnSpPr>
            <p:nvPr/>
          </p:nvCxnSpPr>
          <p:spPr bwMode="auto">
            <a:xfrm>
              <a:off x="838200" y="4724400"/>
              <a:ext cx="7875588" cy="0"/>
            </a:xfrm>
            <a:prstGeom prst="line">
              <a:avLst/>
            </a:prstGeom>
            <a:noFill/>
            <a:ln w="12700" cap="sq" algn="ctr">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34" name="Straight Connector 6">
              <a:extLst>
                <a:ext uri="{FF2B5EF4-FFF2-40B4-BE49-F238E27FC236}">
                  <a16:creationId xmlns:a16="http://schemas.microsoft.com/office/drawing/2014/main" id="{DBA8CED5-95CB-4938-9360-5248FB5F0A25}"/>
                </a:ext>
              </a:extLst>
            </p:cNvPr>
            <p:cNvCxnSpPr>
              <a:cxnSpLocks noChangeShapeType="1"/>
            </p:cNvCxnSpPr>
            <p:nvPr/>
          </p:nvCxnSpPr>
          <p:spPr bwMode="auto">
            <a:xfrm>
              <a:off x="1252857" y="4606954"/>
              <a:ext cx="0" cy="252420"/>
            </a:xfrm>
            <a:prstGeom prst="line">
              <a:avLst/>
            </a:prstGeom>
            <a:noFill/>
            <a:ln w="12700" cap="sq" algn="ctr">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35" name="Straight Connector 63">
              <a:extLst>
                <a:ext uri="{FF2B5EF4-FFF2-40B4-BE49-F238E27FC236}">
                  <a16:creationId xmlns:a16="http://schemas.microsoft.com/office/drawing/2014/main" id="{ED5958A7-51EA-4615-A3A4-DE207001876E}"/>
                </a:ext>
              </a:extLst>
            </p:cNvPr>
            <p:cNvCxnSpPr>
              <a:cxnSpLocks noChangeShapeType="1"/>
            </p:cNvCxnSpPr>
            <p:nvPr/>
          </p:nvCxnSpPr>
          <p:spPr bwMode="auto">
            <a:xfrm>
              <a:off x="2056606" y="4610125"/>
              <a:ext cx="0" cy="252420"/>
            </a:xfrm>
            <a:prstGeom prst="line">
              <a:avLst/>
            </a:prstGeom>
            <a:noFill/>
            <a:ln w="12700" cap="sq" algn="ctr">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36" name="Straight Connector 64">
              <a:extLst>
                <a:ext uri="{FF2B5EF4-FFF2-40B4-BE49-F238E27FC236}">
                  <a16:creationId xmlns:a16="http://schemas.microsoft.com/office/drawing/2014/main" id="{8206E322-1E39-49F5-ADF6-06CC31B4A017}"/>
                </a:ext>
              </a:extLst>
            </p:cNvPr>
            <p:cNvCxnSpPr>
              <a:cxnSpLocks noChangeShapeType="1"/>
            </p:cNvCxnSpPr>
            <p:nvPr/>
          </p:nvCxnSpPr>
          <p:spPr bwMode="auto">
            <a:xfrm>
              <a:off x="2971800" y="4587106"/>
              <a:ext cx="0" cy="252420"/>
            </a:xfrm>
            <a:prstGeom prst="line">
              <a:avLst/>
            </a:prstGeom>
            <a:noFill/>
            <a:ln w="12700" cap="sq" algn="ctr">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37" name="Straight Connector 65">
              <a:extLst>
                <a:ext uri="{FF2B5EF4-FFF2-40B4-BE49-F238E27FC236}">
                  <a16:creationId xmlns:a16="http://schemas.microsoft.com/office/drawing/2014/main" id="{D369F9D6-FFB9-4C14-99A5-5C74E52C179D}"/>
                </a:ext>
              </a:extLst>
            </p:cNvPr>
            <p:cNvCxnSpPr>
              <a:cxnSpLocks noChangeShapeType="1"/>
            </p:cNvCxnSpPr>
            <p:nvPr/>
          </p:nvCxnSpPr>
          <p:spPr bwMode="auto">
            <a:xfrm>
              <a:off x="3886200" y="4606954"/>
              <a:ext cx="0" cy="252420"/>
            </a:xfrm>
            <a:prstGeom prst="line">
              <a:avLst/>
            </a:prstGeom>
            <a:noFill/>
            <a:ln w="12700" cap="sq" algn="ctr">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38" name="Straight Connector 66">
              <a:extLst>
                <a:ext uri="{FF2B5EF4-FFF2-40B4-BE49-F238E27FC236}">
                  <a16:creationId xmlns:a16="http://schemas.microsoft.com/office/drawing/2014/main" id="{4D83EFBD-5614-46C5-83FC-D8EC889730E6}"/>
                </a:ext>
              </a:extLst>
            </p:cNvPr>
            <p:cNvCxnSpPr>
              <a:cxnSpLocks noChangeShapeType="1"/>
            </p:cNvCxnSpPr>
            <p:nvPr/>
          </p:nvCxnSpPr>
          <p:spPr bwMode="auto">
            <a:xfrm>
              <a:off x="4737100" y="4574421"/>
              <a:ext cx="0" cy="252420"/>
            </a:xfrm>
            <a:prstGeom prst="line">
              <a:avLst/>
            </a:prstGeom>
            <a:noFill/>
            <a:ln w="12700" cap="sq" algn="ctr">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39" name="Straight Connector 67">
              <a:extLst>
                <a:ext uri="{FF2B5EF4-FFF2-40B4-BE49-F238E27FC236}">
                  <a16:creationId xmlns:a16="http://schemas.microsoft.com/office/drawing/2014/main" id="{A1BCDEC9-90A6-4C7A-BB15-F7838DFD2448}"/>
                </a:ext>
              </a:extLst>
            </p:cNvPr>
            <p:cNvCxnSpPr>
              <a:cxnSpLocks noChangeShapeType="1"/>
            </p:cNvCxnSpPr>
            <p:nvPr/>
          </p:nvCxnSpPr>
          <p:spPr bwMode="auto">
            <a:xfrm>
              <a:off x="5638800" y="4572000"/>
              <a:ext cx="0" cy="252420"/>
            </a:xfrm>
            <a:prstGeom prst="line">
              <a:avLst/>
            </a:prstGeom>
            <a:noFill/>
            <a:ln w="12700" cap="sq" algn="ctr">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40" name="Straight Connector 68">
              <a:extLst>
                <a:ext uri="{FF2B5EF4-FFF2-40B4-BE49-F238E27FC236}">
                  <a16:creationId xmlns:a16="http://schemas.microsoft.com/office/drawing/2014/main" id="{2677D163-0304-45B6-BEB2-6D690634BBDC}"/>
                </a:ext>
              </a:extLst>
            </p:cNvPr>
            <p:cNvCxnSpPr>
              <a:cxnSpLocks noChangeShapeType="1"/>
            </p:cNvCxnSpPr>
            <p:nvPr/>
          </p:nvCxnSpPr>
          <p:spPr bwMode="auto">
            <a:xfrm>
              <a:off x="6579488" y="4598190"/>
              <a:ext cx="0" cy="252420"/>
            </a:xfrm>
            <a:prstGeom prst="line">
              <a:avLst/>
            </a:prstGeom>
            <a:noFill/>
            <a:ln w="12700" cap="sq" algn="ctr">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41" name="Straight Connector 69">
              <a:extLst>
                <a:ext uri="{FF2B5EF4-FFF2-40B4-BE49-F238E27FC236}">
                  <a16:creationId xmlns:a16="http://schemas.microsoft.com/office/drawing/2014/main" id="{A03B6838-517B-432E-A907-69B291425B47}"/>
                </a:ext>
              </a:extLst>
            </p:cNvPr>
            <p:cNvCxnSpPr>
              <a:cxnSpLocks noChangeShapeType="1"/>
            </p:cNvCxnSpPr>
            <p:nvPr/>
          </p:nvCxnSpPr>
          <p:spPr bwMode="auto">
            <a:xfrm>
              <a:off x="7391400" y="4611148"/>
              <a:ext cx="0" cy="252420"/>
            </a:xfrm>
            <a:prstGeom prst="line">
              <a:avLst/>
            </a:prstGeom>
            <a:noFill/>
            <a:ln w="12700" cap="sq" algn="ctr">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5142" name="Straight Connector 70">
              <a:extLst>
                <a:ext uri="{FF2B5EF4-FFF2-40B4-BE49-F238E27FC236}">
                  <a16:creationId xmlns:a16="http://schemas.microsoft.com/office/drawing/2014/main" id="{50A1B3FE-9215-4548-8917-B462822A4D56}"/>
                </a:ext>
              </a:extLst>
            </p:cNvPr>
            <p:cNvCxnSpPr>
              <a:cxnSpLocks noChangeShapeType="1"/>
            </p:cNvCxnSpPr>
            <p:nvPr/>
          </p:nvCxnSpPr>
          <p:spPr bwMode="auto">
            <a:xfrm>
              <a:off x="8305800" y="4585981"/>
              <a:ext cx="0" cy="252420"/>
            </a:xfrm>
            <a:prstGeom prst="line">
              <a:avLst/>
            </a:prstGeom>
            <a:noFill/>
            <a:ln w="12700" cap="sq" algn="ctr">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407"/>
                                        </p:tgtEl>
                                        <p:attrNameLst>
                                          <p:attrName>style.visibility</p:attrName>
                                        </p:attrNameLst>
                                      </p:cBhvr>
                                      <p:to>
                                        <p:strVal val="visible"/>
                                      </p:to>
                                    </p:set>
                                    <p:animEffect transition="in" filter="wipe(left)">
                                      <p:cBhvr>
                                        <p:cTn id="7" dur="500"/>
                                        <p:tgtEl>
                                          <p:spTgt spid="124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403"/>
                                        </p:tgtEl>
                                        <p:attrNameLst>
                                          <p:attrName>style.visibility</p:attrName>
                                        </p:attrNameLst>
                                      </p:cBhvr>
                                      <p:to>
                                        <p:strVal val="visible"/>
                                      </p:to>
                                    </p:set>
                                    <p:animEffect transition="in" filter="wipe(left)">
                                      <p:cBhvr>
                                        <p:cTn id="12" dur="500"/>
                                        <p:tgtEl>
                                          <p:spTgt spid="1240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32" fill="hold" nodeType="clickEffect">
                                  <p:stCondLst>
                                    <p:cond delay="0"/>
                                  </p:stCondLst>
                                  <p:childTnLst>
                                    <p:set>
                                      <p:cBhvr>
                                        <p:cTn id="16" dur="1" fill="hold">
                                          <p:stCondLst>
                                            <p:cond delay="0"/>
                                          </p:stCondLst>
                                        </p:cTn>
                                        <p:tgtEl>
                                          <p:spTgt spid="12404"/>
                                        </p:tgtEl>
                                        <p:attrNameLst>
                                          <p:attrName>style.visibility</p:attrName>
                                        </p:attrNameLst>
                                      </p:cBhvr>
                                      <p:to>
                                        <p:strVal val="visible"/>
                                      </p:to>
                                    </p:set>
                                    <p:animEffect transition="in" filter="box(out)">
                                      <p:cBhvr>
                                        <p:cTn id="17" dur="500"/>
                                        <p:tgtEl>
                                          <p:spTgt spid="124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nodeType="clickEffect">
                                  <p:stCondLst>
                                    <p:cond delay="0"/>
                                  </p:stCondLst>
                                  <p:childTnLst>
                                    <p:set>
                                      <p:cBhvr>
                                        <p:cTn id="21" dur="1" fill="hold">
                                          <p:stCondLst>
                                            <p:cond delay="0"/>
                                          </p:stCondLst>
                                        </p:cTn>
                                        <p:tgtEl>
                                          <p:spTgt spid="12405"/>
                                        </p:tgtEl>
                                        <p:attrNameLst>
                                          <p:attrName>style.visibility</p:attrName>
                                        </p:attrNameLst>
                                      </p:cBhvr>
                                      <p:to>
                                        <p:strVal val="visible"/>
                                      </p:to>
                                    </p:set>
                                    <p:animEffect transition="in" filter="wipe(up)">
                                      <p:cBhvr>
                                        <p:cTn id="22" dur="500"/>
                                        <p:tgtEl>
                                          <p:spTgt spid="1240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2387"/>
                                        </p:tgtEl>
                                        <p:attrNameLst>
                                          <p:attrName>style.visibility</p:attrName>
                                        </p:attrNameLst>
                                      </p:cBhvr>
                                      <p:to>
                                        <p:strVal val="visible"/>
                                      </p:to>
                                    </p:set>
                                    <p:animEffect transition="in" filter="dissolve">
                                      <p:cBhvr>
                                        <p:cTn id="27" dur="500"/>
                                        <p:tgtEl>
                                          <p:spTgt spid="1238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12388"/>
                                        </p:tgtEl>
                                        <p:attrNameLst>
                                          <p:attrName>style.visibility</p:attrName>
                                        </p:attrNameLst>
                                      </p:cBhvr>
                                      <p:to>
                                        <p:strVal val="visible"/>
                                      </p:to>
                                    </p:set>
                                    <p:animEffect transition="in" filter="dissolve">
                                      <p:cBhvr>
                                        <p:cTn id="32" dur="500"/>
                                        <p:tgtEl>
                                          <p:spTgt spid="1238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12389"/>
                                        </p:tgtEl>
                                        <p:attrNameLst>
                                          <p:attrName>style.visibility</p:attrName>
                                        </p:attrNameLst>
                                      </p:cBhvr>
                                      <p:to>
                                        <p:strVal val="visible"/>
                                      </p:to>
                                    </p:set>
                                    <p:animEffect transition="in" filter="dissolve">
                                      <p:cBhvr>
                                        <p:cTn id="37" dur="500"/>
                                        <p:tgtEl>
                                          <p:spTgt spid="1238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2390"/>
                                        </p:tgtEl>
                                        <p:attrNameLst>
                                          <p:attrName>style.visibility</p:attrName>
                                        </p:attrNameLst>
                                      </p:cBhvr>
                                      <p:to>
                                        <p:strVal val="visible"/>
                                      </p:to>
                                    </p:set>
                                    <p:animEffect transition="in" filter="dissolve">
                                      <p:cBhvr>
                                        <p:cTn id="42" dur="500"/>
                                        <p:tgtEl>
                                          <p:spTgt spid="123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87" grpId="0" autoUpdateAnimBg="0"/>
      <p:bldP spid="12388" grpId="0" autoUpdateAnimBg="0"/>
      <p:bldP spid="12389" grpId="0" autoUpdateAnimBg="0"/>
      <p:bldP spid="12390"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20C7DDA5-F4D0-44F5-9A07-466E9C2271D4}"/>
              </a:ext>
            </a:extLst>
          </p:cNvPr>
          <p:cNvSpPr>
            <a:spLocks noGrp="1" noChangeArrowheads="1"/>
          </p:cNvSpPr>
          <p:nvPr>
            <p:ph type="title"/>
          </p:nvPr>
        </p:nvSpPr>
        <p:spPr>
          <a:xfrm>
            <a:off x="1143000" y="609600"/>
            <a:ext cx="7772400" cy="1143000"/>
          </a:xfrm>
        </p:spPr>
        <p:txBody>
          <a:bodyPr/>
          <a:lstStyle/>
          <a:p>
            <a:r>
              <a:rPr lang="en-US" altLang="en-US" sz="4000"/>
              <a:t>Analyzing a Box-and-Whisker Plot</a:t>
            </a:r>
          </a:p>
        </p:txBody>
      </p:sp>
      <p:sp>
        <p:nvSpPr>
          <p:cNvPr id="6147" name="Rectangle 17">
            <a:extLst>
              <a:ext uri="{FF2B5EF4-FFF2-40B4-BE49-F238E27FC236}">
                <a16:creationId xmlns:a16="http://schemas.microsoft.com/office/drawing/2014/main" id="{C1D3C6E2-5779-4431-9BB3-6595DC037B28}"/>
              </a:ext>
            </a:extLst>
          </p:cNvPr>
          <p:cNvSpPr>
            <a:spLocks noChangeArrowheads="1"/>
          </p:cNvSpPr>
          <p:nvPr/>
        </p:nvSpPr>
        <p:spPr bwMode="auto">
          <a:xfrm>
            <a:off x="501650" y="1917700"/>
            <a:ext cx="8391525" cy="4675188"/>
          </a:xfrm>
          <a:prstGeom prst="rect">
            <a:avLst/>
          </a:prstGeom>
          <a:solidFill>
            <a:schemeClr val="tx2">
              <a:alpha val="39999"/>
            </a:schemeClr>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AU" altLang="en-US"/>
          </a:p>
        </p:txBody>
      </p:sp>
      <p:grpSp>
        <p:nvGrpSpPr>
          <p:cNvPr id="6148" name="Group 18">
            <a:extLst>
              <a:ext uri="{FF2B5EF4-FFF2-40B4-BE49-F238E27FC236}">
                <a16:creationId xmlns:a16="http://schemas.microsoft.com/office/drawing/2014/main" id="{91C85B91-C190-4EC7-8D42-FE93D4EB8816}"/>
              </a:ext>
            </a:extLst>
          </p:cNvPr>
          <p:cNvGrpSpPr>
            <a:grpSpLocks noChangeAspect="1"/>
          </p:cNvGrpSpPr>
          <p:nvPr/>
        </p:nvGrpSpPr>
        <p:grpSpPr bwMode="auto">
          <a:xfrm>
            <a:off x="741363" y="2924175"/>
            <a:ext cx="8021637" cy="1765300"/>
            <a:chOff x="2582" y="7082"/>
            <a:chExt cx="7027" cy="1171"/>
          </a:xfrm>
        </p:grpSpPr>
        <p:sp>
          <p:nvSpPr>
            <p:cNvPr id="6161" name="AutoShape 19">
              <a:extLst>
                <a:ext uri="{FF2B5EF4-FFF2-40B4-BE49-F238E27FC236}">
                  <a16:creationId xmlns:a16="http://schemas.microsoft.com/office/drawing/2014/main" id="{B8D73E45-0C46-41B5-9C06-39099FD519B3}"/>
                </a:ext>
              </a:extLst>
            </p:cNvPr>
            <p:cNvSpPr>
              <a:spLocks noChangeAspect="1" noChangeArrowheads="1"/>
            </p:cNvSpPr>
            <p:nvPr/>
          </p:nvSpPr>
          <p:spPr bwMode="auto">
            <a:xfrm>
              <a:off x="2582" y="7082"/>
              <a:ext cx="7027" cy="1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AU" altLang="en-US"/>
            </a:p>
          </p:txBody>
        </p:sp>
        <p:sp>
          <p:nvSpPr>
            <p:cNvPr id="6162" name="Line 20">
              <a:extLst>
                <a:ext uri="{FF2B5EF4-FFF2-40B4-BE49-F238E27FC236}">
                  <a16:creationId xmlns:a16="http://schemas.microsoft.com/office/drawing/2014/main" id="{BFC961D7-EDF8-453F-86E4-FC81F2CD242D}"/>
                </a:ext>
              </a:extLst>
            </p:cNvPr>
            <p:cNvSpPr>
              <a:spLocks noChangeShapeType="1"/>
            </p:cNvSpPr>
            <p:nvPr/>
          </p:nvSpPr>
          <p:spPr bwMode="auto">
            <a:xfrm flipV="1">
              <a:off x="2582" y="8252"/>
              <a:ext cx="7027" cy="1"/>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163" name="Rectangle 21">
              <a:extLst>
                <a:ext uri="{FF2B5EF4-FFF2-40B4-BE49-F238E27FC236}">
                  <a16:creationId xmlns:a16="http://schemas.microsoft.com/office/drawing/2014/main" id="{8392D02E-AC87-49A0-9A1F-A23293B6E146}"/>
                </a:ext>
              </a:extLst>
            </p:cNvPr>
            <p:cNvSpPr>
              <a:spLocks noChangeArrowheads="1"/>
            </p:cNvSpPr>
            <p:nvPr/>
          </p:nvSpPr>
          <p:spPr bwMode="auto">
            <a:xfrm>
              <a:off x="5081" y="7609"/>
              <a:ext cx="2074" cy="444"/>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AU" altLang="en-US"/>
            </a:p>
          </p:txBody>
        </p:sp>
        <p:sp>
          <p:nvSpPr>
            <p:cNvPr id="6164" name="Line 22">
              <a:extLst>
                <a:ext uri="{FF2B5EF4-FFF2-40B4-BE49-F238E27FC236}">
                  <a16:creationId xmlns:a16="http://schemas.microsoft.com/office/drawing/2014/main" id="{5FC1E7F9-15D6-4A68-98FD-10142C5059AC}"/>
                </a:ext>
              </a:extLst>
            </p:cNvPr>
            <p:cNvSpPr>
              <a:spLocks noChangeShapeType="1"/>
            </p:cNvSpPr>
            <p:nvPr/>
          </p:nvSpPr>
          <p:spPr bwMode="auto">
            <a:xfrm flipV="1">
              <a:off x="5606" y="7600"/>
              <a:ext cx="0" cy="45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5" name="Line 23">
              <a:extLst>
                <a:ext uri="{FF2B5EF4-FFF2-40B4-BE49-F238E27FC236}">
                  <a16:creationId xmlns:a16="http://schemas.microsoft.com/office/drawing/2014/main" id="{2908B90C-B51F-4A78-B030-8752E62C1C08}"/>
                </a:ext>
              </a:extLst>
            </p:cNvPr>
            <p:cNvSpPr>
              <a:spLocks noChangeShapeType="1"/>
            </p:cNvSpPr>
            <p:nvPr/>
          </p:nvSpPr>
          <p:spPr bwMode="auto">
            <a:xfrm flipH="1">
              <a:off x="3088" y="7808"/>
              <a:ext cx="19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6" name="Line 24">
              <a:extLst>
                <a:ext uri="{FF2B5EF4-FFF2-40B4-BE49-F238E27FC236}">
                  <a16:creationId xmlns:a16="http://schemas.microsoft.com/office/drawing/2014/main" id="{B38E93AD-7399-46E3-810A-7A87FB976973}"/>
                </a:ext>
              </a:extLst>
            </p:cNvPr>
            <p:cNvSpPr>
              <a:spLocks noChangeShapeType="1"/>
            </p:cNvSpPr>
            <p:nvPr/>
          </p:nvSpPr>
          <p:spPr bwMode="auto">
            <a:xfrm flipH="1" flipV="1">
              <a:off x="3079" y="7663"/>
              <a:ext cx="1" cy="2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7" name="Line 25">
              <a:extLst>
                <a:ext uri="{FF2B5EF4-FFF2-40B4-BE49-F238E27FC236}">
                  <a16:creationId xmlns:a16="http://schemas.microsoft.com/office/drawing/2014/main" id="{D12D1B79-65CE-4A0E-80AC-ED6A9EBA3DE2}"/>
                </a:ext>
              </a:extLst>
            </p:cNvPr>
            <p:cNvSpPr>
              <a:spLocks noChangeShapeType="1"/>
            </p:cNvSpPr>
            <p:nvPr/>
          </p:nvSpPr>
          <p:spPr bwMode="auto">
            <a:xfrm>
              <a:off x="7164" y="7799"/>
              <a:ext cx="139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68" name="Line 26">
              <a:extLst>
                <a:ext uri="{FF2B5EF4-FFF2-40B4-BE49-F238E27FC236}">
                  <a16:creationId xmlns:a16="http://schemas.microsoft.com/office/drawing/2014/main" id="{03081DE6-51EB-4454-8839-F1B082B5C99C}"/>
                </a:ext>
              </a:extLst>
            </p:cNvPr>
            <p:cNvSpPr>
              <a:spLocks noChangeShapeType="1"/>
            </p:cNvSpPr>
            <p:nvPr/>
          </p:nvSpPr>
          <p:spPr bwMode="auto">
            <a:xfrm flipV="1">
              <a:off x="8577" y="7636"/>
              <a:ext cx="1" cy="3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8399" name="Text Box 31">
            <a:extLst>
              <a:ext uri="{FF2B5EF4-FFF2-40B4-BE49-F238E27FC236}">
                <a16:creationId xmlns:a16="http://schemas.microsoft.com/office/drawing/2014/main" id="{A2DCFBB3-1855-4582-9186-2769C1898D1A}"/>
              </a:ext>
            </a:extLst>
          </p:cNvPr>
          <p:cNvSpPr txBox="1">
            <a:spLocks noChangeArrowheads="1"/>
          </p:cNvSpPr>
          <p:nvPr/>
        </p:nvSpPr>
        <p:spPr bwMode="auto">
          <a:xfrm>
            <a:off x="3417888" y="2982913"/>
            <a:ext cx="973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a:solidFill>
                  <a:srgbClr val="06060A"/>
                </a:solidFill>
              </a:rPr>
              <a:t>25%</a:t>
            </a:r>
          </a:p>
        </p:txBody>
      </p:sp>
      <p:sp>
        <p:nvSpPr>
          <p:cNvPr id="58400" name="Text Box 32">
            <a:extLst>
              <a:ext uri="{FF2B5EF4-FFF2-40B4-BE49-F238E27FC236}">
                <a16:creationId xmlns:a16="http://schemas.microsoft.com/office/drawing/2014/main" id="{87A0836A-E57C-45A0-A1BF-7A2D8590D7AC}"/>
              </a:ext>
            </a:extLst>
          </p:cNvPr>
          <p:cNvSpPr txBox="1">
            <a:spLocks noChangeArrowheads="1"/>
          </p:cNvSpPr>
          <p:nvPr/>
        </p:nvSpPr>
        <p:spPr bwMode="auto">
          <a:xfrm>
            <a:off x="1616075" y="3259138"/>
            <a:ext cx="89852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a:solidFill>
                  <a:srgbClr val="06060A"/>
                </a:solidFill>
              </a:rPr>
              <a:t>25%</a:t>
            </a:r>
          </a:p>
        </p:txBody>
      </p:sp>
      <p:sp>
        <p:nvSpPr>
          <p:cNvPr id="58401" name="Text Box 33">
            <a:extLst>
              <a:ext uri="{FF2B5EF4-FFF2-40B4-BE49-F238E27FC236}">
                <a16:creationId xmlns:a16="http://schemas.microsoft.com/office/drawing/2014/main" id="{52155821-8268-4250-95F9-1BC1F1CA6AB5}"/>
              </a:ext>
            </a:extLst>
          </p:cNvPr>
          <p:cNvSpPr txBox="1">
            <a:spLocks noChangeArrowheads="1"/>
          </p:cNvSpPr>
          <p:nvPr/>
        </p:nvSpPr>
        <p:spPr bwMode="auto">
          <a:xfrm>
            <a:off x="6396038" y="3357563"/>
            <a:ext cx="9731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a:solidFill>
                  <a:srgbClr val="06060A"/>
                </a:solidFill>
              </a:rPr>
              <a:t>25%</a:t>
            </a:r>
          </a:p>
        </p:txBody>
      </p:sp>
      <p:sp>
        <p:nvSpPr>
          <p:cNvPr id="58402" name="Text Box 34">
            <a:extLst>
              <a:ext uri="{FF2B5EF4-FFF2-40B4-BE49-F238E27FC236}">
                <a16:creationId xmlns:a16="http://schemas.microsoft.com/office/drawing/2014/main" id="{4BACF772-056E-4AB8-A2F3-FBFDDC45E2BB}"/>
              </a:ext>
            </a:extLst>
          </p:cNvPr>
          <p:cNvSpPr txBox="1">
            <a:spLocks noChangeArrowheads="1"/>
          </p:cNvSpPr>
          <p:nvPr/>
        </p:nvSpPr>
        <p:spPr bwMode="auto">
          <a:xfrm>
            <a:off x="5127625" y="3078163"/>
            <a:ext cx="973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a:solidFill>
                  <a:srgbClr val="06060A"/>
                </a:solidFill>
              </a:rPr>
              <a:t>25%</a:t>
            </a:r>
          </a:p>
        </p:txBody>
      </p:sp>
      <p:sp>
        <p:nvSpPr>
          <p:cNvPr id="58403" name="AutoShape 35">
            <a:extLst>
              <a:ext uri="{FF2B5EF4-FFF2-40B4-BE49-F238E27FC236}">
                <a16:creationId xmlns:a16="http://schemas.microsoft.com/office/drawing/2014/main" id="{C37032C3-BD91-4222-95D9-936F4BC5175A}"/>
              </a:ext>
            </a:extLst>
          </p:cNvPr>
          <p:cNvSpPr>
            <a:spLocks/>
          </p:cNvSpPr>
          <p:nvPr/>
        </p:nvSpPr>
        <p:spPr bwMode="auto">
          <a:xfrm rot="-5400000">
            <a:off x="5110162" y="3281363"/>
            <a:ext cx="1552575" cy="3397250"/>
          </a:xfrm>
          <a:prstGeom prst="leftBrace">
            <a:avLst>
              <a:gd name="adj1" fmla="val 18234"/>
              <a:gd name="adj2" fmla="val 51894"/>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AU" altLang="en-US"/>
          </a:p>
        </p:txBody>
      </p:sp>
      <p:sp>
        <p:nvSpPr>
          <p:cNvPr id="58404" name="AutoShape 36">
            <a:extLst>
              <a:ext uri="{FF2B5EF4-FFF2-40B4-BE49-F238E27FC236}">
                <a16:creationId xmlns:a16="http://schemas.microsoft.com/office/drawing/2014/main" id="{8034BBEF-2D65-4EB8-8E11-D789471B16D7}"/>
              </a:ext>
            </a:extLst>
          </p:cNvPr>
          <p:cNvSpPr>
            <a:spLocks/>
          </p:cNvSpPr>
          <p:nvPr/>
        </p:nvSpPr>
        <p:spPr bwMode="auto">
          <a:xfrm rot="-5400000">
            <a:off x="1966119" y="3574256"/>
            <a:ext cx="1552575" cy="2881313"/>
          </a:xfrm>
          <a:prstGeom prst="leftBrace">
            <a:avLst>
              <a:gd name="adj1" fmla="val 15465"/>
              <a:gd name="adj2" fmla="val 51894"/>
            </a:avLst>
          </a:prstGeom>
          <a:noFill/>
          <a:ln w="38100">
            <a:solidFill>
              <a:srgbClr val="FF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AU" altLang="en-US"/>
          </a:p>
        </p:txBody>
      </p:sp>
      <p:sp>
        <p:nvSpPr>
          <p:cNvPr id="58405" name="Text Box 37">
            <a:extLst>
              <a:ext uri="{FF2B5EF4-FFF2-40B4-BE49-F238E27FC236}">
                <a16:creationId xmlns:a16="http://schemas.microsoft.com/office/drawing/2014/main" id="{CAE006D9-2469-42BA-87FB-9B308E618E5D}"/>
              </a:ext>
            </a:extLst>
          </p:cNvPr>
          <p:cNvSpPr txBox="1">
            <a:spLocks noChangeArrowheads="1"/>
          </p:cNvSpPr>
          <p:nvPr/>
        </p:nvSpPr>
        <p:spPr bwMode="auto">
          <a:xfrm>
            <a:off x="5619750" y="5722938"/>
            <a:ext cx="973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a:solidFill>
                  <a:srgbClr val="06060A"/>
                </a:solidFill>
              </a:rPr>
              <a:t>50%</a:t>
            </a:r>
          </a:p>
        </p:txBody>
      </p:sp>
      <p:sp>
        <p:nvSpPr>
          <p:cNvPr id="58406" name="Text Box 38">
            <a:extLst>
              <a:ext uri="{FF2B5EF4-FFF2-40B4-BE49-F238E27FC236}">
                <a16:creationId xmlns:a16="http://schemas.microsoft.com/office/drawing/2014/main" id="{53C60976-4C20-4557-8532-7B593FC10CD9}"/>
              </a:ext>
            </a:extLst>
          </p:cNvPr>
          <p:cNvSpPr txBox="1">
            <a:spLocks noChangeArrowheads="1"/>
          </p:cNvSpPr>
          <p:nvPr/>
        </p:nvSpPr>
        <p:spPr bwMode="auto">
          <a:xfrm>
            <a:off x="2463800" y="5708650"/>
            <a:ext cx="97313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spcBef>
                <a:spcPct val="50000"/>
              </a:spcBef>
            </a:pPr>
            <a:r>
              <a:rPr lang="en-US" altLang="en-US">
                <a:solidFill>
                  <a:srgbClr val="06060A"/>
                </a:solidFill>
              </a:rPr>
              <a:t>50%</a:t>
            </a:r>
          </a:p>
        </p:txBody>
      </p:sp>
      <p:sp>
        <p:nvSpPr>
          <p:cNvPr id="6157" name="Line 39">
            <a:extLst>
              <a:ext uri="{FF2B5EF4-FFF2-40B4-BE49-F238E27FC236}">
                <a16:creationId xmlns:a16="http://schemas.microsoft.com/office/drawing/2014/main" id="{4F70FE19-D0F4-4178-B2F1-90859C082B9F}"/>
              </a:ext>
            </a:extLst>
          </p:cNvPr>
          <p:cNvSpPr>
            <a:spLocks noChangeShapeType="1"/>
          </p:cNvSpPr>
          <p:nvPr/>
        </p:nvSpPr>
        <p:spPr bwMode="auto">
          <a:xfrm>
            <a:off x="2065338" y="3687763"/>
            <a:ext cx="103187" cy="338137"/>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8" name="Line 40">
            <a:extLst>
              <a:ext uri="{FF2B5EF4-FFF2-40B4-BE49-F238E27FC236}">
                <a16:creationId xmlns:a16="http://schemas.microsoft.com/office/drawing/2014/main" id="{906D4DB7-F59C-481E-91FB-CE0B97C6D441}"/>
              </a:ext>
            </a:extLst>
          </p:cNvPr>
          <p:cNvSpPr>
            <a:spLocks noChangeShapeType="1"/>
          </p:cNvSpPr>
          <p:nvPr/>
        </p:nvSpPr>
        <p:spPr bwMode="auto">
          <a:xfrm>
            <a:off x="6597650" y="3706813"/>
            <a:ext cx="103188" cy="284162"/>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9" name="Line 41">
            <a:extLst>
              <a:ext uri="{FF2B5EF4-FFF2-40B4-BE49-F238E27FC236}">
                <a16:creationId xmlns:a16="http://schemas.microsoft.com/office/drawing/2014/main" id="{D68DD735-CC7E-49B8-9E1B-6B58F41DDD5C}"/>
              </a:ext>
            </a:extLst>
          </p:cNvPr>
          <p:cNvSpPr>
            <a:spLocks noChangeShapeType="1"/>
          </p:cNvSpPr>
          <p:nvPr/>
        </p:nvSpPr>
        <p:spPr bwMode="auto">
          <a:xfrm>
            <a:off x="5335588" y="3446463"/>
            <a:ext cx="103187" cy="241300"/>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60" name="Line 42">
            <a:extLst>
              <a:ext uri="{FF2B5EF4-FFF2-40B4-BE49-F238E27FC236}">
                <a16:creationId xmlns:a16="http://schemas.microsoft.com/office/drawing/2014/main" id="{183A1CFD-47C5-4084-8FB5-A83F854A58D3}"/>
              </a:ext>
            </a:extLst>
          </p:cNvPr>
          <p:cNvSpPr>
            <a:spLocks noChangeShapeType="1"/>
          </p:cNvSpPr>
          <p:nvPr/>
        </p:nvSpPr>
        <p:spPr bwMode="auto">
          <a:xfrm>
            <a:off x="3775075" y="3333750"/>
            <a:ext cx="103188" cy="338138"/>
          </a:xfrm>
          <a:prstGeom prst="line">
            <a:avLst/>
          </a:prstGeom>
          <a:noFill/>
          <a:ln w="9525">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8404"/>
                                        </p:tgtEl>
                                        <p:attrNameLst>
                                          <p:attrName>style.visibility</p:attrName>
                                        </p:attrNameLst>
                                      </p:cBhvr>
                                      <p:to>
                                        <p:strVal val="visible"/>
                                      </p:to>
                                    </p:set>
                                    <p:animEffect transition="in" filter="dissolve">
                                      <p:cBhvr>
                                        <p:cTn id="7" dur="500"/>
                                        <p:tgtEl>
                                          <p:spTgt spid="58404"/>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8403"/>
                                        </p:tgtEl>
                                        <p:attrNameLst>
                                          <p:attrName>style.visibility</p:attrName>
                                        </p:attrNameLst>
                                      </p:cBhvr>
                                      <p:to>
                                        <p:strVal val="visible"/>
                                      </p:to>
                                    </p:set>
                                    <p:animEffect transition="in" filter="dissolve">
                                      <p:cBhvr>
                                        <p:cTn id="10" dur="500"/>
                                        <p:tgtEl>
                                          <p:spTgt spid="58403"/>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9" presetClass="entr" presetSubtype="0" fill="hold" grpId="0" nodeType="clickEffect">
                                  <p:stCondLst>
                                    <p:cond delay="0"/>
                                  </p:stCondLst>
                                  <p:childTnLst>
                                    <p:set>
                                      <p:cBhvr>
                                        <p:cTn id="14" dur="1" fill="hold">
                                          <p:stCondLst>
                                            <p:cond delay="0"/>
                                          </p:stCondLst>
                                        </p:cTn>
                                        <p:tgtEl>
                                          <p:spTgt spid="58406"/>
                                        </p:tgtEl>
                                        <p:attrNameLst>
                                          <p:attrName>style.visibility</p:attrName>
                                        </p:attrNameLst>
                                      </p:cBhvr>
                                      <p:to>
                                        <p:strVal val="visible"/>
                                      </p:to>
                                    </p:set>
                                    <p:animEffect transition="in" filter="dissolve">
                                      <p:cBhvr>
                                        <p:cTn id="15" dur="500"/>
                                        <p:tgtEl>
                                          <p:spTgt spid="58406"/>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8405"/>
                                        </p:tgtEl>
                                        <p:attrNameLst>
                                          <p:attrName>style.visibility</p:attrName>
                                        </p:attrNameLst>
                                      </p:cBhvr>
                                      <p:to>
                                        <p:strVal val="visible"/>
                                      </p:to>
                                    </p:set>
                                    <p:animEffect transition="in" filter="dissolve">
                                      <p:cBhvr>
                                        <p:cTn id="18" dur="500"/>
                                        <p:tgtEl>
                                          <p:spTgt spid="58405"/>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58401"/>
                                        </p:tgtEl>
                                        <p:attrNameLst>
                                          <p:attrName>style.visibility</p:attrName>
                                        </p:attrNameLst>
                                      </p:cBhvr>
                                      <p:to>
                                        <p:strVal val="visible"/>
                                      </p:to>
                                    </p:set>
                                    <p:animEffect transition="in" filter="dissolve">
                                      <p:cBhvr>
                                        <p:cTn id="23" dur="500"/>
                                        <p:tgtEl>
                                          <p:spTgt spid="58401"/>
                                        </p:tgtEl>
                                      </p:cBhvr>
                                    </p:animEffect>
                                  </p:childTnLst>
                                </p:cTn>
                              </p:par>
                              <p:par>
                                <p:cTn id="24" presetID="9" presetClass="entr" presetSubtype="0" fill="hold" grpId="0" nodeType="withEffect">
                                  <p:stCondLst>
                                    <p:cond delay="0"/>
                                  </p:stCondLst>
                                  <p:childTnLst>
                                    <p:set>
                                      <p:cBhvr>
                                        <p:cTn id="25" dur="1" fill="hold">
                                          <p:stCondLst>
                                            <p:cond delay="0"/>
                                          </p:stCondLst>
                                        </p:cTn>
                                        <p:tgtEl>
                                          <p:spTgt spid="58402"/>
                                        </p:tgtEl>
                                        <p:attrNameLst>
                                          <p:attrName>style.visibility</p:attrName>
                                        </p:attrNameLst>
                                      </p:cBhvr>
                                      <p:to>
                                        <p:strVal val="visible"/>
                                      </p:to>
                                    </p:set>
                                    <p:animEffect transition="in" filter="dissolve">
                                      <p:cBhvr>
                                        <p:cTn id="26" dur="500"/>
                                        <p:tgtEl>
                                          <p:spTgt spid="58402"/>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9" presetClass="entr" presetSubtype="0" fill="hold" grpId="0" nodeType="clickEffect">
                                  <p:stCondLst>
                                    <p:cond delay="0"/>
                                  </p:stCondLst>
                                  <p:childTnLst>
                                    <p:set>
                                      <p:cBhvr>
                                        <p:cTn id="30" dur="1" fill="hold">
                                          <p:stCondLst>
                                            <p:cond delay="0"/>
                                          </p:stCondLst>
                                        </p:cTn>
                                        <p:tgtEl>
                                          <p:spTgt spid="58399"/>
                                        </p:tgtEl>
                                        <p:attrNameLst>
                                          <p:attrName>style.visibility</p:attrName>
                                        </p:attrNameLst>
                                      </p:cBhvr>
                                      <p:to>
                                        <p:strVal val="visible"/>
                                      </p:to>
                                    </p:set>
                                    <p:animEffect transition="in" filter="dissolve">
                                      <p:cBhvr>
                                        <p:cTn id="31" dur="500"/>
                                        <p:tgtEl>
                                          <p:spTgt spid="58399"/>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58400"/>
                                        </p:tgtEl>
                                        <p:attrNameLst>
                                          <p:attrName>style.visibility</p:attrName>
                                        </p:attrNameLst>
                                      </p:cBhvr>
                                      <p:to>
                                        <p:strVal val="visible"/>
                                      </p:to>
                                    </p:set>
                                    <p:animEffect transition="in" filter="dissolve">
                                      <p:cBhvr>
                                        <p:cTn id="34" dur="500"/>
                                        <p:tgtEl>
                                          <p:spTgt spid="584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399" grpId="0"/>
      <p:bldP spid="58400" grpId="0"/>
      <p:bldP spid="58401" grpId="0"/>
      <p:bldP spid="58402" grpId="0"/>
      <p:bldP spid="58403" grpId="0" animBg="1"/>
      <p:bldP spid="58404" grpId="0" animBg="1"/>
      <p:bldP spid="58405" grpId="0"/>
      <p:bldP spid="5840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AC425BE-7792-4066-9BD3-2B6B56BB8C26}"/>
              </a:ext>
            </a:extLst>
          </p:cNvPr>
          <p:cNvSpPr>
            <a:spLocks noGrp="1" noChangeArrowheads="1"/>
          </p:cNvSpPr>
          <p:nvPr>
            <p:ph type="title"/>
          </p:nvPr>
        </p:nvSpPr>
        <p:spPr>
          <a:xfrm>
            <a:off x="0" y="0"/>
            <a:ext cx="6096000" cy="1143000"/>
          </a:xfrm>
        </p:spPr>
        <p:txBody>
          <a:bodyPr/>
          <a:lstStyle/>
          <a:p>
            <a:r>
              <a:rPr lang="en-US" altLang="en-US"/>
              <a:t>Step 1 – Order Numbers</a:t>
            </a:r>
          </a:p>
        </p:txBody>
      </p:sp>
      <p:sp>
        <p:nvSpPr>
          <p:cNvPr id="8195" name="Rectangle 3">
            <a:extLst>
              <a:ext uri="{FF2B5EF4-FFF2-40B4-BE49-F238E27FC236}">
                <a16:creationId xmlns:a16="http://schemas.microsoft.com/office/drawing/2014/main" id="{12364CBE-453E-4475-BA7A-D9BE222D0B0E}"/>
              </a:ext>
            </a:extLst>
          </p:cNvPr>
          <p:cNvSpPr>
            <a:spLocks noGrp="1" noChangeArrowheads="1"/>
          </p:cNvSpPr>
          <p:nvPr>
            <p:ph idx="1"/>
          </p:nvPr>
        </p:nvSpPr>
        <p:spPr>
          <a:xfrm>
            <a:off x="2667000" y="2590800"/>
            <a:ext cx="6096000" cy="990600"/>
          </a:xfrm>
        </p:spPr>
        <p:txBody>
          <a:bodyPr rtlCol="0">
            <a:normAutofit lnSpcReduction="10000"/>
          </a:bodyPr>
          <a:lstStyle/>
          <a:p>
            <a:pPr fontAlgn="auto">
              <a:spcAft>
                <a:spcPts val="0"/>
              </a:spcAft>
              <a:buFont typeface="Wingdings" pitchFamily="2" charset="2"/>
              <a:buNone/>
              <a:defRPr/>
            </a:pPr>
            <a:r>
              <a:rPr lang="en-US" altLang="en-US"/>
              <a:t>1. Order the set of numbers from least to greatest</a:t>
            </a:r>
          </a:p>
        </p:txBody>
      </p:sp>
      <p:pic>
        <p:nvPicPr>
          <p:cNvPr id="7172" name="Picture 5" descr="boxdata1">
            <a:extLst>
              <a:ext uri="{FF2B5EF4-FFF2-40B4-BE49-F238E27FC236}">
                <a16:creationId xmlns:a16="http://schemas.microsoft.com/office/drawing/2014/main" id="{AD6CCADD-3964-4A98-A54D-168AAE23CE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1447800"/>
            <a:ext cx="89154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9" name="Picture 7" descr="boxdata2">
            <a:extLst>
              <a:ext uri="{FF2B5EF4-FFF2-40B4-BE49-F238E27FC236}">
                <a16:creationId xmlns:a16="http://schemas.microsoft.com/office/drawing/2014/main" id="{B9270B96-A8D7-463D-A140-40756A4C50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 y="4117975"/>
            <a:ext cx="8839200"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3319"/>
                                        </p:tgtEl>
                                        <p:attrNameLst>
                                          <p:attrName>style.visibility</p:attrName>
                                        </p:attrNameLst>
                                      </p:cBhvr>
                                      <p:to>
                                        <p:strVal val="visible"/>
                                      </p:to>
                                    </p:set>
                                    <p:animEffect transition="in" filter="randombar(horizontal)">
                                      <p:cBhvr>
                                        <p:cTn id="7" dur="500"/>
                                        <p:tgtEl>
                                          <p:spTgt spid="133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a:extLst>
              <a:ext uri="{FF2B5EF4-FFF2-40B4-BE49-F238E27FC236}">
                <a16:creationId xmlns:a16="http://schemas.microsoft.com/office/drawing/2014/main" id="{D9C81BD9-9390-4F0D-9B3D-DA7016484CA4}"/>
              </a:ext>
            </a:extLst>
          </p:cNvPr>
          <p:cNvSpPr>
            <a:spLocks noGrp="1" noChangeArrowheads="1"/>
          </p:cNvSpPr>
          <p:nvPr>
            <p:ph type="title"/>
          </p:nvPr>
        </p:nvSpPr>
        <p:spPr>
          <a:xfrm>
            <a:off x="0" y="0"/>
            <a:ext cx="6096000" cy="1143000"/>
          </a:xfrm>
          <a:noFill/>
        </p:spPr>
        <p:txBody>
          <a:bodyPr/>
          <a:lstStyle/>
          <a:p>
            <a:r>
              <a:rPr lang="en-US" altLang="en-US"/>
              <a:t>Step 2 – Find the Median</a:t>
            </a:r>
          </a:p>
        </p:txBody>
      </p:sp>
      <p:sp>
        <p:nvSpPr>
          <p:cNvPr id="9218" name="Rectangle 3">
            <a:extLst>
              <a:ext uri="{FF2B5EF4-FFF2-40B4-BE49-F238E27FC236}">
                <a16:creationId xmlns:a16="http://schemas.microsoft.com/office/drawing/2014/main" id="{136C3B4E-51BA-43E7-88AD-DD2E5A9F7524}"/>
              </a:ext>
            </a:extLst>
          </p:cNvPr>
          <p:cNvSpPr>
            <a:spLocks noGrp="1" noChangeArrowheads="1"/>
          </p:cNvSpPr>
          <p:nvPr>
            <p:ph idx="1"/>
          </p:nvPr>
        </p:nvSpPr>
        <p:spPr>
          <a:xfrm>
            <a:off x="3048000" y="4648200"/>
            <a:ext cx="6096000" cy="2209800"/>
          </a:xfrm>
        </p:spPr>
        <p:txBody>
          <a:bodyPr rtlCol="0">
            <a:normAutofit lnSpcReduction="10000"/>
          </a:bodyPr>
          <a:lstStyle/>
          <a:p>
            <a:pPr fontAlgn="auto">
              <a:lnSpc>
                <a:spcPct val="90000"/>
              </a:lnSpc>
              <a:spcAft>
                <a:spcPts val="0"/>
              </a:spcAft>
              <a:buFont typeface="Wingdings" pitchFamily="2" charset="2"/>
              <a:buNone/>
              <a:defRPr/>
            </a:pPr>
            <a:r>
              <a:rPr lang="en-US" altLang="en-US"/>
              <a:t>2. Find the </a:t>
            </a:r>
            <a:r>
              <a:rPr lang="en-US" altLang="en-US" b="1"/>
              <a:t>median</a:t>
            </a:r>
            <a:r>
              <a:rPr lang="en-US" altLang="en-US"/>
              <a:t>. The median is the middle number. If the data has two middle numbers, find the mean of the two numbers. What is the median?</a:t>
            </a:r>
          </a:p>
        </p:txBody>
      </p:sp>
      <p:pic>
        <p:nvPicPr>
          <p:cNvPr id="14341" name="Picture 5" descr="boxdata2">
            <a:extLst>
              <a:ext uri="{FF2B5EF4-FFF2-40B4-BE49-F238E27FC236}">
                <a16:creationId xmlns:a16="http://schemas.microsoft.com/office/drawing/2014/main" id="{E64A4903-E69F-4612-8E5A-207096090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295400"/>
            <a:ext cx="8839200" cy="1023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3" name="Picture 7" descr="boxdata2b">
            <a:extLst>
              <a:ext uri="{FF2B5EF4-FFF2-40B4-BE49-F238E27FC236}">
                <a16:creationId xmlns:a16="http://schemas.microsoft.com/office/drawing/2014/main" id="{AEF2D082-9F2F-40E5-B4EB-E5CA4E1F81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 y="1017588"/>
            <a:ext cx="8686800" cy="339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14341"/>
                                        </p:tgtEl>
                                      </p:cBhvr>
                                    </p:animEffect>
                                    <p:set>
                                      <p:cBhvr>
                                        <p:cTn id="7" dur="1" fill="hold">
                                          <p:stCondLst>
                                            <p:cond delay="499"/>
                                          </p:stCondLst>
                                        </p:cTn>
                                        <p:tgtEl>
                                          <p:spTgt spid="14341"/>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14343"/>
                                        </p:tgtEl>
                                        <p:attrNameLst>
                                          <p:attrName>style.visibility</p:attrName>
                                        </p:attrNameLst>
                                      </p:cBhvr>
                                      <p:to>
                                        <p:strVal val="visible"/>
                                      </p:to>
                                    </p:set>
                                    <p:animEffect transition="in" filter="dissolve">
                                      <p:cBhvr>
                                        <p:cTn id="10" dur="500"/>
                                        <p:tgtEl>
                                          <p:spTgt spid="14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4">
            <a:extLst>
              <a:ext uri="{FF2B5EF4-FFF2-40B4-BE49-F238E27FC236}">
                <a16:creationId xmlns:a16="http://schemas.microsoft.com/office/drawing/2014/main" id="{7AFC79B2-480D-4667-89E3-4D1543ECC530}"/>
              </a:ext>
            </a:extLst>
          </p:cNvPr>
          <p:cNvSpPr>
            <a:spLocks noGrp="1" noChangeArrowheads="1"/>
          </p:cNvSpPr>
          <p:nvPr>
            <p:ph type="title"/>
          </p:nvPr>
        </p:nvSpPr>
        <p:spPr>
          <a:xfrm>
            <a:off x="0" y="0"/>
            <a:ext cx="9144000" cy="1143000"/>
          </a:xfrm>
          <a:noFill/>
        </p:spPr>
        <p:txBody>
          <a:bodyPr/>
          <a:lstStyle/>
          <a:p>
            <a:r>
              <a:rPr lang="en-US" altLang="en-US"/>
              <a:t>Step 3 – Upper &amp; Lower Quartiles</a:t>
            </a:r>
          </a:p>
        </p:txBody>
      </p:sp>
      <p:sp>
        <p:nvSpPr>
          <p:cNvPr id="10242" name="Rectangle 3">
            <a:extLst>
              <a:ext uri="{FF2B5EF4-FFF2-40B4-BE49-F238E27FC236}">
                <a16:creationId xmlns:a16="http://schemas.microsoft.com/office/drawing/2014/main" id="{5611CF74-6363-4F77-95FC-46253F8811CA}"/>
              </a:ext>
            </a:extLst>
          </p:cNvPr>
          <p:cNvSpPr>
            <a:spLocks noGrp="1" noChangeArrowheads="1"/>
          </p:cNvSpPr>
          <p:nvPr>
            <p:ph idx="1"/>
          </p:nvPr>
        </p:nvSpPr>
        <p:spPr>
          <a:xfrm>
            <a:off x="2819400" y="4724400"/>
            <a:ext cx="6096000" cy="1981200"/>
          </a:xfrm>
        </p:spPr>
        <p:txBody>
          <a:bodyPr rtlCol="0">
            <a:normAutofit lnSpcReduction="10000"/>
          </a:bodyPr>
          <a:lstStyle/>
          <a:p>
            <a:pPr fontAlgn="auto">
              <a:spcAft>
                <a:spcPts val="0"/>
              </a:spcAft>
              <a:buFont typeface="Wingdings" pitchFamily="2" charset="2"/>
              <a:buNone/>
              <a:defRPr/>
            </a:pPr>
            <a:r>
              <a:rPr lang="en-US" altLang="en-US"/>
              <a:t>3. Find the </a:t>
            </a:r>
            <a:r>
              <a:rPr lang="en-US" altLang="en-US" b="1"/>
              <a:t>lower and upper medians or quartiles</a:t>
            </a:r>
            <a:r>
              <a:rPr lang="en-US" altLang="en-US"/>
              <a:t>. These are the middle numbers on each side of the median. What are they?</a:t>
            </a:r>
          </a:p>
        </p:txBody>
      </p:sp>
      <p:pic>
        <p:nvPicPr>
          <p:cNvPr id="15365" name="Picture 5" descr="boxdata2b">
            <a:extLst>
              <a:ext uri="{FF2B5EF4-FFF2-40B4-BE49-F238E27FC236}">
                <a16:creationId xmlns:a16="http://schemas.microsoft.com/office/drawing/2014/main" id="{22FE8EA6-8AEC-47C9-AF84-DD6733960F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017588"/>
            <a:ext cx="8686800" cy="3395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7" name="Picture 7" descr="boxdata3">
            <a:extLst>
              <a:ext uri="{FF2B5EF4-FFF2-40B4-BE49-F238E27FC236}">
                <a16:creationId xmlns:a16="http://schemas.microsoft.com/office/drawing/2014/main" id="{35F49B78-7D67-4F43-8363-3AF5C68E6B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20750"/>
            <a:ext cx="8610600" cy="336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xit" presetSubtype="4" fill="hold" nodeType="clickEffect">
                                  <p:stCondLst>
                                    <p:cond delay="0"/>
                                  </p:stCondLst>
                                  <p:childTnLst>
                                    <p:anim calcmode="lin" valueType="num">
                                      <p:cBhvr additive="base">
                                        <p:cTn id="6" dur="500"/>
                                        <p:tgtEl>
                                          <p:spTgt spid="15365"/>
                                        </p:tgtEl>
                                        <p:attrNameLst>
                                          <p:attrName>ppt_x</p:attrName>
                                        </p:attrNameLst>
                                      </p:cBhvr>
                                      <p:tavLst>
                                        <p:tav tm="0">
                                          <p:val>
                                            <p:strVal val="ppt_x"/>
                                          </p:val>
                                        </p:tav>
                                        <p:tav tm="100000">
                                          <p:val>
                                            <p:strVal val="ppt_x"/>
                                          </p:val>
                                        </p:tav>
                                      </p:tavLst>
                                    </p:anim>
                                    <p:anim calcmode="lin" valueType="num">
                                      <p:cBhvr additive="base">
                                        <p:cTn id="7" dur="500"/>
                                        <p:tgtEl>
                                          <p:spTgt spid="15365"/>
                                        </p:tgtEl>
                                        <p:attrNameLst>
                                          <p:attrName>ppt_y</p:attrName>
                                        </p:attrNameLst>
                                      </p:cBhvr>
                                      <p:tavLst>
                                        <p:tav tm="0">
                                          <p:val>
                                            <p:strVal val="ppt_y"/>
                                          </p:val>
                                        </p:tav>
                                        <p:tav tm="100000">
                                          <p:val>
                                            <p:strVal val="1+ppt_h/2"/>
                                          </p:val>
                                        </p:tav>
                                      </p:tavLst>
                                    </p:anim>
                                    <p:set>
                                      <p:cBhvr>
                                        <p:cTn id="8" dur="1" fill="hold">
                                          <p:stCondLst>
                                            <p:cond delay="499"/>
                                          </p:stCondLst>
                                        </p:cTn>
                                        <p:tgtEl>
                                          <p:spTgt spid="15365"/>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5367"/>
                                        </p:tgtEl>
                                        <p:attrNameLst>
                                          <p:attrName>style.visibility</p:attrName>
                                        </p:attrNameLst>
                                      </p:cBhvr>
                                      <p:to>
                                        <p:strVal val="visible"/>
                                      </p:to>
                                    </p:set>
                                    <p:anim calcmode="lin" valueType="num">
                                      <p:cBhvr additive="base">
                                        <p:cTn id="13" dur="500" fill="hold"/>
                                        <p:tgtEl>
                                          <p:spTgt spid="15367"/>
                                        </p:tgtEl>
                                        <p:attrNameLst>
                                          <p:attrName>ppt_x</p:attrName>
                                        </p:attrNameLst>
                                      </p:cBhvr>
                                      <p:tavLst>
                                        <p:tav tm="0">
                                          <p:val>
                                            <p:strVal val="#ppt_x"/>
                                          </p:val>
                                        </p:tav>
                                        <p:tav tm="100000">
                                          <p:val>
                                            <p:strVal val="#ppt_x"/>
                                          </p:val>
                                        </p:tav>
                                      </p:tavLst>
                                    </p:anim>
                                    <p:anim calcmode="lin" valueType="num">
                                      <p:cBhvr additive="base">
                                        <p:cTn id="14" dur="500" fill="hold"/>
                                        <p:tgtEl>
                                          <p:spTgt spid="1536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4">
            <a:extLst>
              <a:ext uri="{FF2B5EF4-FFF2-40B4-BE49-F238E27FC236}">
                <a16:creationId xmlns:a16="http://schemas.microsoft.com/office/drawing/2014/main" id="{04381481-BA18-4F28-9DD3-AA3481C88F0F}"/>
              </a:ext>
            </a:extLst>
          </p:cNvPr>
          <p:cNvSpPr>
            <a:spLocks noGrp="1" noChangeArrowheads="1"/>
          </p:cNvSpPr>
          <p:nvPr>
            <p:ph type="title"/>
          </p:nvPr>
        </p:nvSpPr>
        <p:spPr>
          <a:xfrm>
            <a:off x="0" y="0"/>
            <a:ext cx="8153400" cy="1143000"/>
          </a:xfrm>
          <a:noFill/>
        </p:spPr>
        <p:txBody>
          <a:bodyPr/>
          <a:lstStyle/>
          <a:p>
            <a:r>
              <a:rPr lang="en-US" altLang="en-US"/>
              <a:t>Step 4 – Draw a Number Line</a:t>
            </a:r>
          </a:p>
        </p:txBody>
      </p:sp>
      <p:sp>
        <p:nvSpPr>
          <p:cNvPr id="11266" name="Rectangle 3">
            <a:extLst>
              <a:ext uri="{FF2B5EF4-FFF2-40B4-BE49-F238E27FC236}">
                <a16:creationId xmlns:a16="http://schemas.microsoft.com/office/drawing/2014/main" id="{499503A9-A612-41A3-A0F1-BC416054743A}"/>
              </a:ext>
            </a:extLst>
          </p:cNvPr>
          <p:cNvSpPr>
            <a:spLocks noGrp="1" noChangeArrowheads="1"/>
          </p:cNvSpPr>
          <p:nvPr>
            <p:ph idx="1"/>
          </p:nvPr>
        </p:nvSpPr>
        <p:spPr>
          <a:xfrm>
            <a:off x="2286000" y="1066800"/>
            <a:ext cx="6324600" cy="3200400"/>
          </a:xfrm>
        </p:spPr>
        <p:txBody>
          <a:bodyPr rtlCol="0">
            <a:normAutofit lnSpcReduction="10000"/>
          </a:bodyPr>
          <a:lstStyle/>
          <a:p>
            <a:pPr fontAlgn="auto">
              <a:lnSpc>
                <a:spcPct val="80000"/>
              </a:lnSpc>
              <a:spcAft>
                <a:spcPts val="0"/>
              </a:spcAft>
              <a:buFont typeface="Wingdings" pitchFamily="2" charset="2"/>
              <a:buNone/>
              <a:defRPr/>
            </a:pPr>
            <a:r>
              <a:rPr lang="en-US" altLang="en-US" sz="2000"/>
              <a:t>	</a:t>
            </a:r>
            <a:r>
              <a:rPr lang="en-US" altLang="en-US"/>
              <a:t>Now you are ready to construct the actual box &amp; whisker graph. First you will need to draw an ordinary number line that extends far enough in both directions to include all the numbers in your data:</a:t>
            </a:r>
            <a:br>
              <a:rPr lang="en-US" altLang="en-US"/>
            </a:br>
            <a:endParaRPr lang="en-US" altLang="en-US"/>
          </a:p>
        </p:txBody>
      </p:sp>
      <p:pic>
        <p:nvPicPr>
          <p:cNvPr id="16390" name="Picture 6" descr="boxdata3b">
            <a:extLst>
              <a:ext uri="{FF2B5EF4-FFF2-40B4-BE49-F238E27FC236}">
                <a16:creationId xmlns:a16="http://schemas.microsoft.com/office/drawing/2014/main" id="{2E0C5159-B94C-4FEF-A507-B1FCF0B8D8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4075113"/>
            <a:ext cx="9144000" cy="148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7" presetClass="entr" presetSubtype="8" fill="hold" nodeType="clickEffect">
                                  <p:stCondLst>
                                    <p:cond delay="0"/>
                                  </p:stCondLst>
                                  <p:childTnLst>
                                    <p:set>
                                      <p:cBhvr>
                                        <p:cTn id="6" dur="1" fill="hold">
                                          <p:stCondLst>
                                            <p:cond delay="0"/>
                                          </p:stCondLst>
                                        </p:cTn>
                                        <p:tgtEl>
                                          <p:spTgt spid="16390"/>
                                        </p:tgtEl>
                                        <p:attrNameLst>
                                          <p:attrName>style.visibility</p:attrName>
                                        </p:attrNameLst>
                                      </p:cBhvr>
                                      <p:to>
                                        <p:strVal val="visible"/>
                                      </p:to>
                                    </p:set>
                                    <p:anim calcmode="lin" valueType="num">
                                      <p:cBhvr additive="base">
                                        <p:cTn id="7" dur="2000" fill="hold"/>
                                        <p:tgtEl>
                                          <p:spTgt spid="16390"/>
                                        </p:tgtEl>
                                        <p:attrNameLst>
                                          <p:attrName>ppt_x</p:attrName>
                                        </p:attrNameLst>
                                      </p:cBhvr>
                                      <p:tavLst>
                                        <p:tav tm="0">
                                          <p:val>
                                            <p:strVal val="0-#ppt_w/2"/>
                                          </p:val>
                                        </p:tav>
                                        <p:tav tm="100000">
                                          <p:val>
                                            <p:strVal val="#ppt_x"/>
                                          </p:val>
                                        </p:tav>
                                      </p:tavLst>
                                    </p:anim>
                                    <p:anim calcmode="lin" valueType="num">
                                      <p:cBhvr additive="base">
                                        <p:cTn id="8" dur="2000" fill="hold"/>
                                        <p:tgtEl>
                                          <p:spTgt spid="1639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4">
            <a:extLst>
              <a:ext uri="{FF2B5EF4-FFF2-40B4-BE49-F238E27FC236}">
                <a16:creationId xmlns:a16="http://schemas.microsoft.com/office/drawing/2014/main" id="{86A579C9-A5F4-4779-B3A5-2CBA9DBB149A}"/>
              </a:ext>
            </a:extLst>
          </p:cNvPr>
          <p:cNvSpPr>
            <a:spLocks noGrp="1" noChangeArrowheads="1"/>
          </p:cNvSpPr>
          <p:nvPr>
            <p:ph type="title"/>
          </p:nvPr>
        </p:nvSpPr>
        <p:spPr>
          <a:xfrm>
            <a:off x="0" y="0"/>
            <a:ext cx="6096000" cy="1143000"/>
          </a:xfrm>
          <a:noFill/>
        </p:spPr>
        <p:txBody>
          <a:bodyPr/>
          <a:lstStyle/>
          <a:p>
            <a:r>
              <a:rPr lang="en-US" altLang="en-US"/>
              <a:t>Step 5 – Draw the Parts</a:t>
            </a:r>
          </a:p>
        </p:txBody>
      </p:sp>
      <p:sp>
        <p:nvSpPr>
          <p:cNvPr id="11267" name="Rectangle 3">
            <a:extLst>
              <a:ext uri="{FF2B5EF4-FFF2-40B4-BE49-F238E27FC236}">
                <a16:creationId xmlns:a16="http://schemas.microsoft.com/office/drawing/2014/main" id="{8224DEDA-E8FF-4824-A22D-8AF7944227D6}"/>
              </a:ext>
            </a:extLst>
          </p:cNvPr>
          <p:cNvSpPr>
            <a:spLocks noGrp="1" noChangeArrowheads="1"/>
          </p:cNvSpPr>
          <p:nvPr>
            <p:ph idx="1"/>
          </p:nvPr>
        </p:nvSpPr>
        <p:spPr>
          <a:xfrm>
            <a:off x="2057400" y="838200"/>
            <a:ext cx="6629400" cy="2286000"/>
          </a:xfrm>
        </p:spPr>
        <p:txBody>
          <a:bodyPr/>
          <a:lstStyle/>
          <a:p>
            <a:pPr>
              <a:buFont typeface="Wingdings" panose="05000000000000000000" pitchFamily="2" charset="2"/>
              <a:buNone/>
            </a:pPr>
            <a:r>
              <a:rPr lang="en-US" altLang="en-US"/>
              <a:t>	Locate the main </a:t>
            </a:r>
            <a:r>
              <a:rPr lang="en-US" altLang="en-US" b="1"/>
              <a:t>median</a:t>
            </a:r>
            <a:r>
              <a:rPr lang="en-US" altLang="en-US"/>
              <a:t> </a:t>
            </a:r>
            <a:r>
              <a:rPr lang="en-US" altLang="en-US" b="1"/>
              <a:t>12</a:t>
            </a:r>
            <a:r>
              <a:rPr lang="en-US" altLang="en-US"/>
              <a:t> using a vertical line just above your number line:</a:t>
            </a:r>
            <a:br>
              <a:rPr lang="en-US" altLang="en-US"/>
            </a:br>
            <a:endParaRPr lang="en-US" altLang="en-US"/>
          </a:p>
        </p:txBody>
      </p:sp>
      <p:pic>
        <p:nvPicPr>
          <p:cNvPr id="17414" name="Picture 6" descr="boxdata4">
            <a:extLst>
              <a:ext uri="{FF2B5EF4-FFF2-40B4-BE49-F238E27FC236}">
                <a16:creationId xmlns:a16="http://schemas.microsoft.com/office/drawing/2014/main" id="{2340D740-3147-48E2-AD87-5FAF470790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943225"/>
            <a:ext cx="914400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10" fill="hold" nodeType="clickEffect">
                                  <p:stCondLst>
                                    <p:cond delay="0"/>
                                  </p:stCondLst>
                                  <p:childTnLst>
                                    <p:set>
                                      <p:cBhvr>
                                        <p:cTn id="6" dur="1" fill="hold">
                                          <p:stCondLst>
                                            <p:cond delay="0"/>
                                          </p:stCondLst>
                                        </p:cTn>
                                        <p:tgtEl>
                                          <p:spTgt spid="17414"/>
                                        </p:tgtEl>
                                        <p:attrNameLst>
                                          <p:attrName>style.visibility</p:attrName>
                                        </p:attrNameLst>
                                      </p:cBhvr>
                                      <p:to>
                                        <p:strVal val="visible"/>
                                      </p:to>
                                    </p:set>
                                    <p:animEffect transition="in" filter="randombar(horizontal)">
                                      <p:cBhvr>
                                        <p:cTn id="7" dur="1000"/>
                                        <p:tgtEl>
                                          <p:spTgt spid="17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
            <a:extLst>
              <a:ext uri="{FF2B5EF4-FFF2-40B4-BE49-F238E27FC236}">
                <a16:creationId xmlns:a16="http://schemas.microsoft.com/office/drawing/2014/main" id="{75C4B98A-1D60-4267-A7AA-742F822502D2}"/>
              </a:ext>
            </a:extLst>
          </p:cNvPr>
          <p:cNvSpPr>
            <a:spLocks noGrp="1" noChangeArrowheads="1"/>
          </p:cNvSpPr>
          <p:nvPr>
            <p:ph idx="1"/>
          </p:nvPr>
        </p:nvSpPr>
        <p:spPr>
          <a:xfrm>
            <a:off x="2286000" y="1066800"/>
            <a:ext cx="6096000" cy="1905000"/>
          </a:xfrm>
        </p:spPr>
        <p:txBody>
          <a:bodyPr/>
          <a:lstStyle/>
          <a:p>
            <a:pPr>
              <a:lnSpc>
                <a:spcPct val="90000"/>
              </a:lnSpc>
              <a:buFont typeface="Wingdings" panose="05000000000000000000" pitchFamily="2" charset="2"/>
              <a:buNone/>
            </a:pPr>
            <a:r>
              <a:rPr lang="en-US" altLang="en-US"/>
              <a:t>	Locate the </a:t>
            </a:r>
            <a:r>
              <a:rPr lang="en-US" altLang="en-US" b="1"/>
              <a:t>lower median</a:t>
            </a:r>
            <a:r>
              <a:rPr lang="en-US" altLang="en-US"/>
              <a:t> </a:t>
            </a:r>
            <a:r>
              <a:rPr lang="en-US" altLang="en-US" b="1"/>
              <a:t>8.5</a:t>
            </a:r>
            <a:r>
              <a:rPr lang="en-US" altLang="en-US"/>
              <a:t> and the </a:t>
            </a:r>
            <a:r>
              <a:rPr lang="en-US" altLang="en-US" b="1"/>
              <a:t>upper median</a:t>
            </a:r>
            <a:r>
              <a:rPr lang="en-US" altLang="en-US"/>
              <a:t> </a:t>
            </a:r>
            <a:r>
              <a:rPr lang="en-US" altLang="en-US" b="1"/>
              <a:t>14</a:t>
            </a:r>
            <a:r>
              <a:rPr lang="en-US" altLang="en-US"/>
              <a:t> with similar vertical lines:</a:t>
            </a:r>
            <a:br>
              <a:rPr lang="en-US" altLang="en-US"/>
            </a:br>
            <a:endParaRPr lang="en-US" altLang="en-US"/>
          </a:p>
        </p:txBody>
      </p:sp>
      <p:pic>
        <p:nvPicPr>
          <p:cNvPr id="18437" name="Picture 5" descr="boxdata4">
            <a:extLst>
              <a:ext uri="{FF2B5EF4-FFF2-40B4-BE49-F238E27FC236}">
                <a16:creationId xmlns:a16="http://schemas.microsoft.com/office/drawing/2014/main" id="{EFCD71E0-3841-4DB7-A546-E3D79F7BE7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943225"/>
            <a:ext cx="914400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9" name="Picture 7" descr="boxdata5">
            <a:extLst>
              <a:ext uri="{FF2B5EF4-FFF2-40B4-BE49-F238E27FC236}">
                <a16:creationId xmlns:a16="http://schemas.microsoft.com/office/drawing/2014/main" id="{024A9D31-8073-4980-88AB-378972200BB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95600"/>
            <a:ext cx="914400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3" name="Rectangle 8">
            <a:extLst>
              <a:ext uri="{FF2B5EF4-FFF2-40B4-BE49-F238E27FC236}">
                <a16:creationId xmlns:a16="http://schemas.microsoft.com/office/drawing/2014/main" id="{79B818EA-74AA-4124-A214-BFF97F51D217}"/>
              </a:ext>
            </a:extLst>
          </p:cNvPr>
          <p:cNvSpPr>
            <a:spLocks noChangeArrowheads="1"/>
          </p:cNvSpPr>
          <p:nvPr/>
        </p:nvSpPr>
        <p:spPr bwMode="auto">
          <a:xfrm>
            <a:off x="0" y="0"/>
            <a:ext cx="6096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7" rIns="92075" bIns="46037"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lnSpc>
                <a:spcPct val="70000"/>
              </a:lnSpc>
            </a:pPr>
            <a:r>
              <a:rPr lang="en-US" altLang="en-US" sz="4800" b="1">
                <a:solidFill>
                  <a:schemeClr val="tx2"/>
                </a:solidFill>
                <a:latin typeface="Arial Narrow" panose="020B0606020202030204" pitchFamily="34" charset="0"/>
              </a:rPr>
              <a:t>Step 5 – Draw the Parts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18437"/>
                                        </p:tgtEl>
                                      </p:cBhvr>
                                    </p:animEffect>
                                    <p:set>
                                      <p:cBhvr>
                                        <p:cTn id="7" dur="1" fill="hold">
                                          <p:stCondLst>
                                            <p:cond delay="499"/>
                                          </p:stCondLst>
                                        </p:cTn>
                                        <p:tgtEl>
                                          <p:spTgt spid="18437"/>
                                        </p:tgtEl>
                                        <p:attrNameLst>
                                          <p:attrName>style.visibility</p:attrName>
                                        </p:attrNameLst>
                                      </p:cBhvr>
                                      <p:to>
                                        <p:strVal val="hidden"/>
                                      </p:to>
                                    </p:set>
                                  </p:childTnLst>
                                </p:cTn>
                              </p:par>
                              <p:par>
                                <p:cTn id="8" presetID="9" presetClass="entr" presetSubtype="0" fill="hold" nodeType="withEffect">
                                  <p:stCondLst>
                                    <p:cond delay="0"/>
                                  </p:stCondLst>
                                  <p:childTnLst>
                                    <p:set>
                                      <p:cBhvr>
                                        <p:cTn id="9" dur="1" fill="hold">
                                          <p:stCondLst>
                                            <p:cond delay="0"/>
                                          </p:stCondLst>
                                        </p:cTn>
                                        <p:tgtEl>
                                          <p:spTgt spid="18439"/>
                                        </p:tgtEl>
                                        <p:attrNameLst>
                                          <p:attrName>style.visibility</p:attrName>
                                        </p:attrNameLst>
                                      </p:cBhvr>
                                      <p:to>
                                        <p:strVal val="visible"/>
                                      </p:to>
                                    </p:set>
                                    <p:animEffect transition="in" filter="dissolve">
                                      <p:cBhvr>
                                        <p:cTn id="10" dur="500"/>
                                        <p:tgtEl>
                                          <p:spTgt spid="184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9C079300-AD12-4FEE-AAA0-D5B9905CF1A2}"/>
              </a:ext>
            </a:extLst>
          </p:cNvPr>
          <p:cNvSpPr>
            <a:spLocks noGrp="1" noChangeArrowheads="1"/>
          </p:cNvSpPr>
          <p:nvPr>
            <p:ph idx="1"/>
          </p:nvPr>
        </p:nvSpPr>
        <p:spPr>
          <a:xfrm>
            <a:off x="2362200" y="838200"/>
            <a:ext cx="6096000" cy="1828800"/>
          </a:xfrm>
        </p:spPr>
        <p:txBody>
          <a:bodyPr rtlCol="0">
            <a:normAutofit fontScale="92500" lnSpcReduction="10000"/>
          </a:bodyPr>
          <a:lstStyle/>
          <a:p>
            <a:pPr fontAlgn="auto">
              <a:spcAft>
                <a:spcPts val="0"/>
              </a:spcAft>
              <a:defRPr/>
            </a:pPr>
            <a:r>
              <a:rPr lang="en-US" altLang="en-US"/>
              <a:t>Next, draw a box using the lower and upper median lines as endpoints:</a:t>
            </a:r>
            <a:br>
              <a:rPr lang="en-US" altLang="en-US"/>
            </a:br>
            <a:endParaRPr lang="en-US" altLang="en-US"/>
          </a:p>
        </p:txBody>
      </p:sp>
      <p:pic>
        <p:nvPicPr>
          <p:cNvPr id="19461" name="Picture 5" descr="boxdata5">
            <a:extLst>
              <a:ext uri="{FF2B5EF4-FFF2-40B4-BE49-F238E27FC236}">
                <a16:creationId xmlns:a16="http://schemas.microsoft.com/office/drawing/2014/main" id="{2930B917-AB12-4676-95FD-3FB43691A6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895600"/>
            <a:ext cx="9144000" cy="254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463" name="Picture 7" descr="boxdata6">
            <a:extLst>
              <a:ext uri="{FF2B5EF4-FFF2-40B4-BE49-F238E27FC236}">
                <a16:creationId xmlns:a16="http://schemas.microsoft.com/office/drawing/2014/main" id="{579F4FC5-8800-4914-8FCF-090573B658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65438"/>
            <a:ext cx="9144000" cy="25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7" name="Rectangle 8">
            <a:extLst>
              <a:ext uri="{FF2B5EF4-FFF2-40B4-BE49-F238E27FC236}">
                <a16:creationId xmlns:a16="http://schemas.microsoft.com/office/drawing/2014/main" id="{5C6420B1-BFAF-4422-B91F-D165C41992DF}"/>
              </a:ext>
            </a:extLst>
          </p:cNvPr>
          <p:cNvSpPr>
            <a:spLocks noChangeArrowheads="1"/>
          </p:cNvSpPr>
          <p:nvPr/>
        </p:nvSpPr>
        <p:spPr bwMode="auto">
          <a:xfrm>
            <a:off x="0" y="0"/>
            <a:ext cx="60960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7" rIns="92075" bIns="46037"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lnSpc>
                <a:spcPct val="70000"/>
              </a:lnSpc>
            </a:pPr>
            <a:r>
              <a:rPr lang="en-US" altLang="en-US" sz="4800" b="1">
                <a:solidFill>
                  <a:schemeClr val="tx2"/>
                </a:solidFill>
                <a:latin typeface="Arial Narrow" panose="020B0606020202030204" pitchFamily="34" charset="0"/>
              </a:rPr>
              <a:t>Step 5 – Draw the Parts</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xit" presetSubtype="16" fill="hold" nodeType="clickEffect">
                                  <p:stCondLst>
                                    <p:cond delay="0"/>
                                  </p:stCondLst>
                                  <p:childTnLst>
                                    <p:animEffect transition="out" filter="box(in)">
                                      <p:cBhvr>
                                        <p:cTn id="6" dur="500"/>
                                        <p:tgtEl>
                                          <p:spTgt spid="19461"/>
                                        </p:tgtEl>
                                      </p:cBhvr>
                                    </p:animEffect>
                                    <p:set>
                                      <p:cBhvr>
                                        <p:cTn id="7" dur="1" fill="hold">
                                          <p:stCondLst>
                                            <p:cond delay="499"/>
                                          </p:stCondLst>
                                        </p:cTn>
                                        <p:tgtEl>
                                          <p:spTgt spid="19461"/>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nodeType="clickEffect">
                                  <p:stCondLst>
                                    <p:cond delay="0"/>
                                  </p:stCondLst>
                                  <p:childTnLst>
                                    <p:set>
                                      <p:cBhvr>
                                        <p:cTn id="11" dur="1" fill="hold">
                                          <p:stCondLst>
                                            <p:cond delay="0"/>
                                          </p:stCondLst>
                                        </p:cTn>
                                        <p:tgtEl>
                                          <p:spTgt spid="19463"/>
                                        </p:tgtEl>
                                        <p:attrNameLst>
                                          <p:attrName>style.visibility</p:attrName>
                                        </p:attrNameLst>
                                      </p:cBhvr>
                                      <p:to>
                                        <p:strVal val="visible"/>
                                      </p:to>
                                    </p:set>
                                    <p:animEffect transition="in" filter="box(out)">
                                      <p:cBhvr>
                                        <p:cTn id="12" dur="500"/>
                                        <p:tgtEl>
                                          <p:spTgt spid="194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9">
            <a:extLst>
              <a:ext uri="{FF2B5EF4-FFF2-40B4-BE49-F238E27FC236}">
                <a16:creationId xmlns:a16="http://schemas.microsoft.com/office/drawing/2014/main" id="{F670712A-43FD-4250-87FE-B2999DC338BE}"/>
              </a:ext>
            </a:extLst>
          </p:cNvPr>
          <p:cNvSpPr>
            <a:spLocks noGrp="1" noChangeArrowheads="1"/>
          </p:cNvSpPr>
          <p:nvPr>
            <p:ph type="title"/>
          </p:nvPr>
        </p:nvSpPr>
        <p:spPr>
          <a:xfrm>
            <a:off x="0" y="0"/>
            <a:ext cx="6096000" cy="1143000"/>
          </a:xfrm>
          <a:noFill/>
        </p:spPr>
        <p:txBody>
          <a:bodyPr/>
          <a:lstStyle/>
          <a:p>
            <a:r>
              <a:rPr lang="en-US" altLang="en-US"/>
              <a:t>Step 5 – Draw the Parts</a:t>
            </a:r>
          </a:p>
        </p:txBody>
      </p:sp>
      <p:sp>
        <p:nvSpPr>
          <p:cNvPr id="14339" name="Rectangle 3">
            <a:extLst>
              <a:ext uri="{FF2B5EF4-FFF2-40B4-BE49-F238E27FC236}">
                <a16:creationId xmlns:a16="http://schemas.microsoft.com/office/drawing/2014/main" id="{B6F59C09-56E2-416B-863E-8A5BB55283A0}"/>
              </a:ext>
            </a:extLst>
          </p:cNvPr>
          <p:cNvSpPr>
            <a:spLocks noGrp="1" noChangeArrowheads="1"/>
          </p:cNvSpPr>
          <p:nvPr>
            <p:ph idx="1"/>
          </p:nvPr>
        </p:nvSpPr>
        <p:spPr>
          <a:xfrm>
            <a:off x="1905000" y="914400"/>
            <a:ext cx="6629400" cy="2667000"/>
          </a:xfrm>
        </p:spPr>
        <p:txBody>
          <a:bodyPr/>
          <a:lstStyle/>
          <a:p>
            <a:pPr>
              <a:buFont typeface="Wingdings" panose="05000000000000000000" pitchFamily="2" charset="2"/>
              <a:buNone/>
            </a:pPr>
            <a:r>
              <a:rPr lang="en-US" altLang="en-US"/>
              <a:t>	Finally, the </a:t>
            </a:r>
            <a:r>
              <a:rPr lang="en-US" altLang="en-US" b="1"/>
              <a:t>whiskers</a:t>
            </a:r>
            <a:r>
              <a:rPr lang="en-US" altLang="en-US"/>
              <a:t> extend out to the data's smallest number </a:t>
            </a:r>
            <a:r>
              <a:rPr lang="en-US" altLang="en-US" b="1"/>
              <a:t>5</a:t>
            </a:r>
            <a:r>
              <a:rPr lang="en-US" altLang="en-US"/>
              <a:t> and largest number </a:t>
            </a:r>
            <a:r>
              <a:rPr lang="en-US" altLang="en-US" b="1"/>
              <a:t>20</a:t>
            </a:r>
            <a:r>
              <a:rPr lang="en-US" altLang="en-US"/>
              <a:t>:</a:t>
            </a:r>
            <a:br>
              <a:rPr lang="en-US" altLang="en-US"/>
            </a:br>
            <a:endParaRPr lang="en-US" altLang="en-US"/>
          </a:p>
        </p:txBody>
      </p:sp>
      <p:pic>
        <p:nvPicPr>
          <p:cNvPr id="20485" name="Picture 5" descr="boxdata6">
            <a:extLst>
              <a:ext uri="{FF2B5EF4-FFF2-40B4-BE49-F238E27FC236}">
                <a16:creationId xmlns:a16="http://schemas.microsoft.com/office/drawing/2014/main" id="{07CF0FFE-1910-444D-B081-B7CB4DE0A6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2865438"/>
            <a:ext cx="9144000" cy="25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7" name="Picture 7" descr="boxdata7">
            <a:extLst>
              <a:ext uri="{FF2B5EF4-FFF2-40B4-BE49-F238E27FC236}">
                <a16:creationId xmlns:a16="http://schemas.microsoft.com/office/drawing/2014/main" id="{ED17555F-219C-4997-BADF-24D52E3898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2865438"/>
            <a:ext cx="9144000" cy="2544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xit" presetSubtype="10" fill="hold" nodeType="clickEffect">
                                  <p:stCondLst>
                                    <p:cond delay="0"/>
                                  </p:stCondLst>
                                  <p:childTnLst>
                                    <p:animEffect transition="out" filter="checkerboard(across)">
                                      <p:cBhvr>
                                        <p:cTn id="6" dur="500"/>
                                        <p:tgtEl>
                                          <p:spTgt spid="20485"/>
                                        </p:tgtEl>
                                      </p:cBhvr>
                                    </p:animEffect>
                                    <p:set>
                                      <p:cBhvr>
                                        <p:cTn id="7" dur="1" fill="hold">
                                          <p:stCondLst>
                                            <p:cond delay="499"/>
                                          </p:stCondLst>
                                        </p:cTn>
                                        <p:tgtEl>
                                          <p:spTgt spid="20485"/>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20487"/>
                                        </p:tgtEl>
                                        <p:attrNameLst>
                                          <p:attrName>style.visibility</p:attrName>
                                        </p:attrNameLst>
                                      </p:cBhvr>
                                      <p:to>
                                        <p:strVal val="visible"/>
                                      </p:to>
                                    </p:set>
                                    <p:animEffect transition="in" filter="checkerboard(across)">
                                      <p:cBhvr>
                                        <p:cTn id="12" dur="500"/>
                                        <p:tgtEl>
                                          <p:spTgt spid="2048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CD2D2F12-C49D-4939-8F95-D71521D7B2E8}"/>
              </a:ext>
            </a:extLst>
          </p:cNvPr>
          <p:cNvSpPr>
            <a:spLocks noGrp="1" noChangeArrowheads="1"/>
          </p:cNvSpPr>
          <p:nvPr>
            <p:ph type="title"/>
          </p:nvPr>
        </p:nvSpPr>
        <p:spPr>
          <a:xfrm>
            <a:off x="0" y="76200"/>
            <a:ext cx="9144000" cy="1143000"/>
          </a:xfrm>
        </p:spPr>
        <p:txBody>
          <a:bodyPr rtlCol="0">
            <a:normAutofit fontScale="90000"/>
          </a:bodyPr>
          <a:lstStyle/>
          <a:p>
            <a:pPr fontAlgn="auto">
              <a:spcAft>
                <a:spcPts val="0"/>
              </a:spcAft>
              <a:defRPr/>
            </a:pPr>
            <a:r>
              <a:rPr lang="en-US" altLang="en-US"/>
              <a:t>Step 6 - Label the Parts of a Box-and-Whisker Plot</a:t>
            </a:r>
          </a:p>
        </p:txBody>
      </p:sp>
      <p:pic>
        <p:nvPicPr>
          <p:cNvPr id="15363" name="Picture 16" descr="boxdata7">
            <a:extLst>
              <a:ext uri="{FF2B5EF4-FFF2-40B4-BE49-F238E27FC236}">
                <a16:creationId xmlns:a16="http://schemas.microsoft.com/office/drawing/2014/main" id="{29E5A199-83FC-40FD-8850-D2C199AB17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3276600"/>
            <a:ext cx="9144000" cy="254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AutoShape 17">
            <a:extLst>
              <a:ext uri="{FF2B5EF4-FFF2-40B4-BE49-F238E27FC236}">
                <a16:creationId xmlns:a16="http://schemas.microsoft.com/office/drawing/2014/main" id="{EBEBE5AA-1E6D-4B5D-BCEC-4EAFCDB64415}"/>
              </a:ext>
            </a:extLst>
          </p:cNvPr>
          <p:cNvSpPr>
            <a:spLocks noChangeArrowheads="1"/>
          </p:cNvSpPr>
          <p:nvPr/>
        </p:nvSpPr>
        <p:spPr bwMode="auto">
          <a:xfrm>
            <a:off x="3886200" y="2209800"/>
            <a:ext cx="685800" cy="1295400"/>
          </a:xfrm>
          <a:prstGeom prst="downArrow">
            <a:avLst>
              <a:gd name="adj1" fmla="val 50000"/>
              <a:gd name="adj2" fmla="val 47222"/>
            </a:avLst>
          </a:prstGeom>
          <a:solidFill>
            <a:schemeClr val="accent2"/>
          </a:solidFill>
          <a:ln w="12700" cap="sq">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b="1"/>
              <a:t>1</a:t>
            </a:r>
          </a:p>
        </p:txBody>
      </p:sp>
      <p:sp>
        <p:nvSpPr>
          <p:cNvPr id="15365" name="AutoShape 18">
            <a:extLst>
              <a:ext uri="{FF2B5EF4-FFF2-40B4-BE49-F238E27FC236}">
                <a16:creationId xmlns:a16="http://schemas.microsoft.com/office/drawing/2014/main" id="{9BA352FB-9F76-43DB-AAB6-20CF238729C9}"/>
              </a:ext>
            </a:extLst>
          </p:cNvPr>
          <p:cNvSpPr>
            <a:spLocks noChangeArrowheads="1"/>
          </p:cNvSpPr>
          <p:nvPr/>
        </p:nvSpPr>
        <p:spPr bwMode="auto">
          <a:xfrm>
            <a:off x="4800600" y="2209800"/>
            <a:ext cx="685800" cy="1295400"/>
          </a:xfrm>
          <a:prstGeom prst="downArrow">
            <a:avLst>
              <a:gd name="adj1" fmla="val 50000"/>
              <a:gd name="adj2" fmla="val 47222"/>
            </a:avLst>
          </a:prstGeom>
          <a:solidFill>
            <a:schemeClr val="hlink"/>
          </a:solidFill>
          <a:ln w="12700" cap="sq">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b="1"/>
              <a:t>2</a:t>
            </a:r>
          </a:p>
        </p:txBody>
      </p:sp>
      <p:sp>
        <p:nvSpPr>
          <p:cNvPr id="15366" name="AutoShape 19">
            <a:extLst>
              <a:ext uri="{FF2B5EF4-FFF2-40B4-BE49-F238E27FC236}">
                <a16:creationId xmlns:a16="http://schemas.microsoft.com/office/drawing/2014/main" id="{F9EB970B-F48F-4212-A826-09C6CADE8185}"/>
              </a:ext>
            </a:extLst>
          </p:cNvPr>
          <p:cNvSpPr>
            <a:spLocks noChangeArrowheads="1"/>
          </p:cNvSpPr>
          <p:nvPr/>
        </p:nvSpPr>
        <p:spPr bwMode="auto">
          <a:xfrm>
            <a:off x="2133600" y="2209800"/>
            <a:ext cx="685800" cy="1295400"/>
          </a:xfrm>
          <a:prstGeom prst="downArrow">
            <a:avLst>
              <a:gd name="adj1" fmla="val 50000"/>
              <a:gd name="adj2" fmla="val 47222"/>
            </a:avLst>
          </a:prstGeom>
          <a:solidFill>
            <a:schemeClr val="hlink"/>
          </a:solidFill>
          <a:ln w="12700" cap="sq">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b="1"/>
              <a:t>3</a:t>
            </a:r>
          </a:p>
        </p:txBody>
      </p:sp>
      <p:sp>
        <p:nvSpPr>
          <p:cNvPr id="15367" name="AutoShape 20">
            <a:extLst>
              <a:ext uri="{FF2B5EF4-FFF2-40B4-BE49-F238E27FC236}">
                <a16:creationId xmlns:a16="http://schemas.microsoft.com/office/drawing/2014/main" id="{042E3A27-C20E-4478-BB1E-ACEAF35E0C9E}"/>
              </a:ext>
            </a:extLst>
          </p:cNvPr>
          <p:cNvSpPr>
            <a:spLocks noChangeArrowheads="1"/>
          </p:cNvSpPr>
          <p:nvPr/>
        </p:nvSpPr>
        <p:spPr bwMode="auto">
          <a:xfrm>
            <a:off x="7543800" y="2667000"/>
            <a:ext cx="685800" cy="1295400"/>
          </a:xfrm>
          <a:prstGeom prst="downArrow">
            <a:avLst>
              <a:gd name="adj1" fmla="val 50000"/>
              <a:gd name="adj2" fmla="val 47222"/>
            </a:avLst>
          </a:prstGeom>
          <a:solidFill>
            <a:schemeClr val="accent1"/>
          </a:solidFill>
          <a:ln w="12700" cap="sq">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b="1"/>
              <a:t>5</a:t>
            </a:r>
          </a:p>
        </p:txBody>
      </p:sp>
      <p:sp>
        <p:nvSpPr>
          <p:cNvPr id="15368" name="AutoShape 21">
            <a:extLst>
              <a:ext uri="{FF2B5EF4-FFF2-40B4-BE49-F238E27FC236}">
                <a16:creationId xmlns:a16="http://schemas.microsoft.com/office/drawing/2014/main" id="{4D640498-D1F5-44B0-A3E1-5790607E11F4}"/>
              </a:ext>
            </a:extLst>
          </p:cNvPr>
          <p:cNvSpPr>
            <a:spLocks noChangeArrowheads="1"/>
          </p:cNvSpPr>
          <p:nvPr/>
        </p:nvSpPr>
        <p:spPr bwMode="auto">
          <a:xfrm>
            <a:off x="533400" y="2667000"/>
            <a:ext cx="685800" cy="1295400"/>
          </a:xfrm>
          <a:prstGeom prst="downArrow">
            <a:avLst>
              <a:gd name="adj1" fmla="val 50000"/>
              <a:gd name="adj2" fmla="val 47222"/>
            </a:avLst>
          </a:prstGeom>
          <a:solidFill>
            <a:schemeClr val="accent1"/>
          </a:solidFill>
          <a:ln w="12700" cap="sq">
            <a:solidFill>
              <a:schemeClr val="tx1"/>
            </a:solidFill>
            <a:miter lim="800000"/>
            <a:headEnd type="none" w="sm" len="sm"/>
            <a:tailEnd type="none" w="sm" len="sm"/>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b="1"/>
              <a:t>4</a:t>
            </a:r>
          </a:p>
        </p:txBody>
      </p:sp>
      <p:sp>
        <p:nvSpPr>
          <p:cNvPr id="15369" name="Text Box 22">
            <a:extLst>
              <a:ext uri="{FF2B5EF4-FFF2-40B4-BE49-F238E27FC236}">
                <a16:creationId xmlns:a16="http://schemas.microsoft.com/office/drawing/2014/main" id="{596B4FBB-6936-469C-AEC9-B8F4BCCFE641}"/>
              </a:ext>
            </a:extLst>
          </p:cNvPr>
          <p:cNvSpPr txBox="1">
            <a:spLocks noChangeArrowheads="1"/>
          </p:cNvSpPr>
          <p:nvPr/>
        </p:nvSpPr>
        <p:spPr bwMode="auto">
          <a:xfrm>
            <a:off x="173038" y="6126163"/>
            <a:ext cx="8818562"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3200" b="1">
                <a:latin typeface="Tahoma" panose="020B0604030504040204" pitchFamily="34" charset="0"/>
              </a:rPr>
              <a:t>Name the parts of a Box-and-Whisker Plot</a:t>
            </a:r>
          </a:p>
        </p:txBody>
      </p:sp>
      <p:sp>
        <p:nvSpPr>
          <p:cNvPr id="3095" name="Text Box 23">
            <a:extLst>
              <a:ext uri="{FF2B5EF4-FFF2-40B4-BE49-F238E27FC236}">
                <a16:creationId xmlns:a16="http://schemas.microsoft.com/office/drawing/2014/main" id="{27BAD630-0126-4A2B-ACAD-D12C9CC09290}"/>
              </a:ext>
            </a:extLst>
          </p:cNvPr>
          <p:cNvSpPr txBox="1">
            <a:spLocks noChangeArrowheads="1"/>
          </p:cNvSpPr>
          <p:nvPr/>
        </p:nvSpPr>
        <p:spPr bwMode="auto">
          <a:xfrm>
            <a:off x="3617913" y="1828800"/>
            <a:ext cx="1182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t>Median</a:t>
            </a:r>
          </a:p>
        </p:txBody>
      </p:sp>
      <p:sp>
        <p:nvSpPr>
          <p:cNvPr id="3096" name="Text Box 24">
            <a:extLst>
              <a:ext uri="{FF2B5EF4-FFF2-40B4-BE49-F238E27FC236}">
                <a16:creationId xmlns:a16="http://schemas.microsoft.com/office/drawing/2014/main" id="{5D2A55DE-5EBA-47AB-8F50-559A6846123F}"/>
              </a:ext>
            </a:extLst>
          </p:cNvPr>
          <p:cNvSpPr txBox="1">
            <a:spLocks noChangeArrowheads="1"/>
          </p:cNvSpPr>
          <p:nvPr/>
        </p:nvSpPr>
        <p:spPr bwMode="auto">
          <a:xfrm>
            <a:off x="5029200" y="1828800"/>
            <a:ext cx="21891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t>Upper Quartile</a:t>
            </a:r>
          </a:p>
        </p:txBody>
      </p:sp>
      <p:sp>
        <p:nvSpPr>
          <p:cNvPr id="3097" name="Text Box 25">
            <a:extLst>
              <a:ext uri="{FF2B5EF4-FFF2-40B4-BE49-F238E27FC236}">
                <a16:creationId xmlns:a16="http://schemas.microsoft.com/office/drawing/2014/main" id="{148BF4F2-9909-46D0-B90C-754FE61DDEB8}"/>
              </a:ext>
            </a:extLst>
          </p:cNvPr>
          <p:cNvSpPr txBox="1">
            <a:spLocks noChangeArrowheads="1"/>
          </p:cNvSpPr>
          <p:nvPr/>
        </p:nvSpPr>
        <p:spPr bwMode="auto">
          <a:xfrm>
            <a:off x="1376363" y="1752600"/>
            <a:ext cx="22050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t>Lower Quartile</a:t>
            </a:r>
          </a:p>
        </p:txBody>
      </p:sp>
      <p:sp>
        <p:nvSpPr>
          <p:cNvPr id="3098" name="Text Box 26">
            <a:extLst>
              <a:ext uri="{FF2B5EF4-FFF2-40B4-BE49-F238E27FC236}">
                <a16:creationId xmlns:a16="http://schemas.microsoft.com/office/drawing/2014/main" id="{6188AC26-FA97-46D1-8747-9E1439D9FAF7}"/>
              </a:ext>
            </a:extLst>
          </p:cNvPr>
          <p:cNvSpPr txBox="1">
            <a:spLocks noChangeArrowheads="1"/>
          </p:cNvSpPr>
          <p:nvPr/>
        </p:nvSpPr>
        <p:spPr bwMode="auto">
          <a:xfrm>
            <a:off x="76200" y="2209800"/>
            <a:ext cx="22225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t>Lower Extreme</a:t>
            </a:r>
          </a:p>
        </p:txBody>
      </p:sp>
      <p:sp>
        <p:nvSpPr>
          <p:cNvPr id="3099" name="Text Box 27">
            <a:extLst>
              <a:ext uri="{FF2B5EF4-FFF2-40B4-BE49-F238E27FC236}">
                <a16:creationId xmlns:a16="http://schemas.microsoft.com/office/drawing/2014/main" id="{9131C33B-3FD4-4FA0-9669-8DB00D8B6F4B}"/>
              </a:ext>
            </a:extLst>
          </p:cNvPr>
          <p:cNvSpPr txBox="1">
            <a:spLocks noChangeArrowheads="1"/>
          </p:cNvSpPr>
          <p:nvPr/>
        </p:nvSpPr>
        <p:spPr bwMode="auto">
          <a:xfrm>
            <a:off x="6934200" y="2209800"/>
            <a:ext cx="22066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b="1"/>
              <a:t>Upper Extreme</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095"/>
                                        </p:tgtEl>
                                        <p:attrNameLst>
                                          <p:attrName>style.visibility</p:attrName>
                                        </p:attrNameLst>
                                      </p:cBhvr>
                                      <p:to>
                                        <p:strVal val="visible"/>
                                      </p:to>
                                    </p:set>
                                    <p:animEffect transition="in" filter="blinds(horizontal)">
                                      <p:cBhvr>
                                        <p:cTn id="7" dur="500"/>
                                        <p:tgtEl>
                                          <p:spTgt spid="30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096"/>
                                        </p:tgtEl>
                                        <p:attrNameLst>
                                          <p:attrName>style.visibility</p:attrName>
                                        </p:attrNameLst>
                                      </p:cBhvr>
                                      <p:to>
                                        <p:strVal val="visible"/>
                                      </p:to>
                                    </p:set>
                                    <p:animEffect transition="in" filter="box(in)">
                                      <p:cBhvr>
                                        <p:cTn id="12" dur="500"/>
                                        <p:tgtEl>
                                          <p:spTgt spid="309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3097"/>
                                        </p:tgtEl>
                                        <p:attrNameLst>
                                          <p:attrName>style.visibility</p:attrName>
                                        </p:attrNameLst>
                                      </p:cBhvr>
                                      <p:to>
                                        <p:strVal val="visible"/>
                                      </p:to>
                                    </p:set>
                                    <p:animEffect transition="in" filter="checkerboard(across)">
                                      <p:cBhvr>
                                        <p:cTn id="17" dur="500"/>
                                        <p:tgtEl>
                                          <p:spTgt spid="309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3098"/>
                                        </p:tgtEl>
                                        <p:attrNameLst>
                                          <p:attrName>style.visibility</p:attrName>
                                        </p:attrNameLst>
                                      </p:cBhvr>
                                      <p:to>
                                        <p:strVal val="visible"/>
                                      </p:to>
                                    </p:set>
                                    <p:anim calcmode="lin" valueType="num">
                                      <p:cBhvr additive="base">
                                        <p:cTn id="22" dur="500" fill="hold"/>
                                        <p:tgtEl>
                                          <p:spTgt spid="3098"/>
                                        </p:tgtEl>
                                        <p:attrNameLst>
                                          <p:attrName>ppt_x</p:attrName>
                                        </p:attrNameLst>
                                      </p:cBhvr>
                                      <p:tavLst>
                                        <p:tav tm="0">
                                          <p:val>
                                            <p:strVal val="#ppt_x"/>
                                          </p:val>
                                        </p:tav>
                                        <p:tav tm="100000">
                                          <p:val>
                                            <p:strVal val="#ppt_x"/>
                                          </p:val>
                                        </p:tav>
                                      </p:tavLst>
                                    </p:anim>
                                    <p:anim calcmode="lin" valueType="num">
                                      <p:cBhvr additive="base">
                                        <p:cTn id="23" dur="500" fill="hold"/>
                                        <p:tgtEl>
                                          <p:spTgt spid="3098"/>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9" presetClass="entr" presetSubtype="0" fill="hold" grpId="0" nodeType="clickEffect">
                                  <p:stCondLst>
                                    <p:cond delay="0"/>
                                  </p:stCondLst>
                                  <p:childTnLst>
                                    <p:set>
                                      <p:cBhvr>
                                        <p:cTn id="27" dur="1" fill="hold">
                                          <p:stCondLst>
                                            <p:cond delay="0"/>
                                          </p:stCondLst>
                                        </p:cTn>
                                        <p:tgtEl>
                                          <p:spTgt spid="3099"/>
                                        </p:tgtEl>
                                        <p:attrNameLst>
                                          <p:attrName>style.visibility</p:attrName>
                                        </p:attrNameLst>
                                      </p:cBhvr>
                                      <p:to>
                                        <p:strVal val="visible"/>
                                      </p:to>
                                    </p:set>
                                    <p:animEffect transition="in" filter="dissolve">
                                      <p:cBhvr>
                                        <p:cTn id="28" dur="500"/>
                                        <p:tgtEl>
                                          <p:spTgt spid="30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95" grpId="0"/>
      <p:bldP spid="3096" grpId="0"/>
      <p:bldP spid="3097" grpId="0"/>
      <p:bldP spid="3098" grpId="0"/>
      <p:bldP spid="309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75FB2D31-AF52-4724-A8FC-81CE76B0FC3E}"/>
              </a:ext>
            </a:extLst>
          </p:cNvPr>
          <p:cNvSpPr>
            <a:spLocks noGrp="1" noChangeArrowheads="1"/>
          </p:cNvSpPr>
          <p:nvPr>
            <p:ph type="title"/>
          </p:nvPr>
        </p:nvSpPr>
        <p:spPr>
          <a:xfrm>
            <a:off x="990600" y="381000"/>
            <a:ext cx="7566025" cy="1143000"/>
          </a:xfrm>
        </p:spPr>
        <p:txBody>
          <a:bodyPr rtlCol="0">
            <a:normAutofit fontScale="90000"/>
          </a:bodyPr>
          <a:lstStyle/>
          <a:p>
            <a:pPr fontAlgn="auto">
              <a:spcAft>
                <a:spcPts val="0"/>
              </a:spcAft>
              <a:defRPr/>
            </a:pPr>
            <a:r>
              <a:rPr lang="en-US" sz="4000"/>
              <a:t>How to find the: Inter-Quartile Range</a:t>
            </a:r>
          </a:p>
        </p:txBody>
      </p:sp>
      <p:sp>
        <p:nvSpPr>
          <p:cNvPr id="61443" name="Rectangle 3">
            <a:extLst>
              <a:ext uri="{FF2B5EF4-FFF2-40B4-BE49-F238E27FC236}">
                <a16:creationId xmlns:a16="http://schemas.microsoft.com/office/drawing/2014/main" id="{FF037BD1-332A-4866-96E4-A325776566E9}"/>
              </a:ext>
            </a:extLst>
          </p:cNvPr>
          <p:cNvSpPr>
            <a:spLocks noGrp="1" noChangeArrowheads="1"/>
          </p:cNvSpPr>
          <p:nvPr>
            <p:ph idx="1"/>
          </p:nvPr>
        </p:nvSpPr>
        <p:spPr>
          <a:xfrm>
            <a:off x="441325" y="1301750"/>
            <a:ext cx="8458200" cy="1517650"/>
          </a:xfrm>
        </p:spPr>
        <p:txBody>
          <a:bodyPr/>
          <a:lstStyle/>
          <a:p>
            <a:r>
              <a:rPr lang="en-US" altLang="en-US" sz="2400"/>
              <a:t>Inter-Quartile Range – the difference between the upper and lower quartile of a set of data.</a:t>
            </a:r>
          </a:p>
          <a:p>
            <a:r>
              <a:rPr lang="en-US" altLang="en-US" sz="2400"/>
              <a:t>Inter-Quartile Range = Upper Quartile – Lower Quartile</a:t>
            </a:r>
          </a:p>
          <a:p>
            <a:pPr>
              <a:buFont typeface="Wingdings" panose="05000000000000000000" pitchFamily="2" charset="2"/>
              <a:buNone/>
            </a:pPr>
            <a:endParaRPr lang="en-US" altLang="en-US" sz="2400"/>
          </a:p>
          <a:p>
            <a:pPr>
              <a:buFont typeface="Wingdings" panose="05000000000000000000" pitchFamily="2" charset="2"/>
              <a:buNone/>
            </a:pPr>
            <a:endParaRPr lang="en-US" altLang="en-US" sz="2400"/>
          </a:p>
        </p:txBody>
      </p:sp>
      <p:sp>
        <p:nvSpPr>
          <p:cNvPr id="61453" name="Rectangle 13">
            <a:extLst>
              <a:ext uri="{FF2B5EF4-FFF2-40B4-BE49-F238E27FC236}">
                <a16:creationId xmlns:a16="http://schemas.microsoft.com/office/drawing/2014/main" id="{8B4902C0-8ABB-4087-AD2C-00A7B0D8FB41}"/>
              </a:ext>
            </a:extLst>
          </p:cNvPr>
          <p:cNvSpPr>
            <a:spLocks noChangeArrowheads="1"/>
          </p:cNvSpPr>
          <p:nvPr/>
        </p:nvSpPr>
        <p:spPr bwMode="auto">
          <a:xfrm>
            <a:off x="288925" y="2971800"/>
            <a:ext cx="8550275" cy="3597275"/>
          </a:xfrm>
          <a:prstGeom prst="rect">
            <a:avLst/>
          </a:prstGeom>
          <a:solidFill>
            <a:schemeClr val="tx2">
              <a:alpha val="52156"/>
            </a:schemeClr>
          </a:solidFill>
          <a:ln w="9525">
            <a:solidFill>
              <a:schemeClr val="tx1"/>
            </a:solidFill>
            <a:miter lim="800000"/>
            <a:headEnd/>
            <a:tailEnd/>
          </a:ln>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AU" altLang="en-US"/>
          </a:p>
        </p:txBody>
      </p:sp>
      <p:grpSp>
        <p:nvGrpSpPr>
          <p:cNvPr id="61454" name="Group 14">
            <a:extLst>
              <a:ext uri="{FF2B5EF4-FFF2-40B4-BE49-F238E27FC236}">
                <a16:creationId xmlns:a16="http://schemas.microsoft.com/office/drawing/2014/main" id="{6C5FF289-8107-4528-BCBF-ADE6736AB601}"/>
              </a:ext>
            </a:extLst>
          </p:cNvPr>
          <p:cNvGrpSpPr>
            <a:grpSpLocks noChangeAspect="1"/>
          </p:cNvGrpSpPr>
          <p:nvPr/>
        </p:nvGrpSpPr>
        <p:grpSpPr bwMode="auto">
          <a:xfrm>
            <a:off x="690563" y="4903788"/>
            <a:ext cx="7959725" cy="887412"/>
            <a:chOff x="2582" y="7472"/>
            <a:chExt cx="7027" cy="781"/>
          </a:xfrm>
        </p:grpSpPr>
        <p:sp>
          <p:nvSpPr>
            <p:cNvPr id="16394" name="AutoShape 15">
              <a:extLst>
                <a:ext uri="{FF2B5EF4-FFF2-40B4-BE49-F238E27FC236}">
                  <a16:creationId xmlns:a16="http://schemas.microsoft.com/office/drawing/2014/main" id="{9A5D02F5-B166-49F2-A4CD-181B09586CED}"/>
                </a:ext>
              </a:extLst>
            </p:cNvPr>
            <p:cNvSpPr>
              <a:spLocks noChangeAspect="1" noChangeArrowheads="1"/>
            </p:cNvSpPr>
            <p:nvPr/>
          </p:nvSpPr>
          <p:spPr bwMode="auto">
            <a:xfrm>
              <a:off x="2582" y="7472"/>
              <a:ext cx="7027" cy="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AU" altLang="en-US"/>
            </a:p>
          </p:txBody>
        </p:sp>
        <p:sp>
          <p:nvSpPr>
            <p:cNvPr id="16395" name="Line 16">
              <a:extLst>
                <a:ext uri="{FF2B5EF4-FFF2-40B4-BE49-F238E27FC236}">
                  <a16:creationId xmlns:a16="http://schemas.microsoft.com/office/drawing/2014/main" id="{993C2E0D-40AC-4E43-B3F1-3606A25B7D0A}"/>
                </a:ext>
              </a:extLst>
            </p:cNvPr>
            <p:cNvSpPr>
              <a:spLocks noChangeShapeType="1"/>
            </p:cNvSpPr>
            <p:nvPr/>
          </p:nvSpPr>
          <p:spPr bwMode="auto">
            <a:xfrm flipV="1">
              <a:off x="2582" y="8252"/>
              <a:ext cx="7027" cy="1"/>
            </a:xfrm>
            <a:prstGeom prst="line">
              <a:avLst/>
            </a:prstGeom>
            <a:noFill/>
            <a:ln w="9525">
              <a:solidFill>
                <a:srgbClr val="000000"/>
              </a:solidFill>
              <a:round/>
              <a:headEnd type="arrow" w="med" len="med"/>
              <a:tailEnd type="arrow" w="med" len="med"/>
            </a:ln>
            <a:extLst>
              <a:ext uri="{909E8E84-426E-40DD-AFC4-6F175D3DCCD1}">
                <a14:hiddenFill xmlns:a14="http://schemas.microsoft.com/office/drawing/2010/main">
                  <a:noFill/>
                </a14:hiddenFill>
              </a:ext>
            </a:extLst>
          </p:spPr>
          <p:txBody>
            <a:bodyPr/>
            <a:lstStyle/>
            <a:p>
              <a:endParaRPr lang="en-US"/>
            </a:p>
          </p:txBody>
        </p:sp>
        <p:sp>
          <p:nvSpPr>
            <p:cNvPr id="16396" name="Rectangle 17">
              <a:extLst>
                <a:ext uri="{FF2B5EF4-FFF2-40B4-BE49-F238E27FC236}">
                  <a16:creationId xmlns:a16="http://schemas.microsoft.com/office/drawing/2014/main" id="{593E29B1-1F2C-4500-B170-00C741DD9DEC}"/>
                </a:ext>
              </a:extLst>
            </p:cNvPr>
            <p:cNvSpPr>
              <a:spLocks noChangeArrowheads="1"/>
            </p:cNvSpPr>
            <p:nvPr/>
          </p:nvSpPr>
          <p:spPr bwMode="auto">
            <a:xfrm>
              <a:off x="5081" y="7609"/>
              <a:ext cx="2074" cy="444"/>
            </a:xfrm>
            <a:prstGeom prst="rect">
              <a:avLst/>
            </a:prstGeom>
            <a:solidFill>
              <a:srgbClr val="FFFFFF"/>
            </a:solidFill>
            <a:ln w="9525">
              <a:solidFill>
                <a:srgbClr val="000000"/>
              </a:solidFill>
              <a:miter lim="800000"/>
              <a:headEnd/>
              <a:tailEnd/>
            </a:ln>
          </p:spPr>
          <p:txBody>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AU" altLang="en-US"/>
            </a:p>
          </p:txBody>
        </p:sp>
        <p:sp>
          <p:nvSpPr>
            <p:cNvPr id="16397" name="Line 18">
              <a:extLst>
                <a:ext uri="{FF2B5EF4-FFF2-40B4-BE49-F238E27FC236}">
                  <a16:creationId xmlns:a16="http://schemas.microsoft.com/office/drawing/2014/main" id="{AF18D4E0-FB26-47D8-8E4A-ECE9C72A4A1B}"/>
                </a:ext>
              </a:extLst>
            </p:cNvPr>
            <p:cNvSpPr>
              <a:spLocks noChangeShapeType="1"/>
            </p:cNvSpPr>
            <p:nvPr/>
          </p:nvSpPr>
          <p:spPr bwMode="auto">
            <a:xfrm flipV="1">
              <a:off x="5606" y="7600"/>
              <a:ext cx="0" cy="453"/>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8" name="Line 19">
              <a:extLst>
                <a:ext uri="{FF2B5EF4-FFF2-40B4-BE49-F238E27FC236}">
                  <a16:creationId xmlns:a16="http://schemas.microsoft.com/office/drawing/2014/main" id="{14D3DC3B-D34D-4F49-A21D-F4089A2508D7}"/>
                </a:ext>
              </a:extLst>
            </p:cNvPr>
            <p:cNvSpPr>
              <a:spLocks noChangeShapeType="1"/>
            </p:cNvSpPr>
            <p:nvPr/>
          </p:nvSpPr>
          <p:spPr bwMode="auto">
            <a:xfrm flipH="1">
              <a:off x="3088" y="7808"/>
              <a:ext cx="1993"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9" name="Line 20">
              <a:extLst>
                <a:ext uri="{FF2B5EF4-FFF2-40B4-BE49-F238E27FC236}">
                  <a16:creationId xmlns:a16="http://schemas.microsoft.com/office/drawing/2014/main" id="{4009D422-D89E-448B-8865-73AB3A4A4C2A}"/>
                </a:ext>
              </a:extLst>
            </p:cNvPr>
            <p:cNvSpPr>
              <a:spLocks noChangeShapeType="1"/>
            </p:cNvSpPr>
            <p:nvPr/>
          </p:nvSpPr>
          <p:spPr bwMode="auto">
            <a:xfrm flipH="1" flipV="1">
              <a:off x="3079" y="7663"/>
              <a:ext cx="1" cy="29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0" name="Line 21">
              <a:extLst>
                <a:ext uri="{FF2B5EF4-FFF2-40B4-BE49-F238E27FC236}">
                  <a16:creationId xmlns:a16="http://schemas.microsoft.com/office/drawing/2014/main" id="{F7B3EB09-A3D6-49A8-BDD9-485C06C8B8A6}"/>
                </a:ext>
              </a:extLst>
            </p:cNvPr>
            <p:cNvSpPr>
              <a:spLocks noChangeShapeType="1"/>
            </p:cNvSpPr>
            <p:nvPr/>
          </p:nvSpPr>
          <p:spPr bwMode="auto">
            <a:xfrm>
              <a:off x="7164" y="7799"/>
              <a:ext cx="1395" cy="0"/>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401" name="Line 22">
              <a:extLst>
                <a:ext uri="{FF2B5EF4-FFF2-40B4-BE49-F238E27FC236}">
                  <a16:creationId xmlns:a16="http://schemas.microsoft.com/office/drawing/2014/main" id="{896E997F-684E-4340-96B9-5BC30DF405F8}"/>
                </a:ext>
              </a:extLst>
            </p:cNvPr>
            <p:cNvSpPr>
              <a:spLocks noChangeShapeType="1"/>
            </p:cNvSpPr>
            <p:nvPr/>
          </p:nvSpPr>
          <p:spPr bwMode="auto">
            <a:xfrm flipV="1">
              <a:off x="8577" y="7636"/>
              <a:ext cx="1" cy="308"/>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6390" name="Rectangle 32">
            <a:extLst>
              <a:ext uri="{FF2B5EF4-FFF2-40B4-BE49-F238E27FC236}">
                <a16:creationId xmlns:a16="http://schemas.microsoft.com/office/drawing/2014/main" id="{5D35751A-BF4E-4F15-A059-B0ED81321015}"/>
              </a:ext>
            </a:extLst>
          </p:cNvPr>
          <p:cNvSpPr>
            <a:spLocks noChangeArrowheads="1"/>
          </p:cNvSpPr>
          <p:nvPr/>
        </p:nvSpPr>
        <p:spPr bwMode="auto">
          <a:xfrm>
            <a:off x="0" y="2986088"/>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AU" altLang="en-US"/>
          </a:p>
        </p:txBody>
      </p:sp>
      <p:sp>
        <p:nvSpPr>
          <p:cNvPr id="61473" name="Rectangle 33">
            <a:extLst>
              <a:ext uri="{FF2B5EF4-FFF2-40B4-BE49-F238E27FC236}">
                <a16:creationId xmlns:a16="http://schemas.microsoft.com/office/drawing/2014/main" id="{96219B5D-1DA9-4B4F-8FCF-1CCBB161B540}"/>
              </a:ext>
            </a:extLst>
          </p:cNvPr>
          <p:cNvSpPr>
            <a:spLocks noChangeArrowheads="1"/>
          </p:cNvSpPr>
          <p:nvPr/>
        </p:nvSpPr>
        <p:spPr bwMode="auto">
          <a:xfrm>
            <a:off x="555625" y="3094038"/>
            <a:ext cx="800100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algn="ctr" eaLnBrk="1" hangingPunct="1"/>
            <a:r>
              <a:rPr lang="en-US" altLang="en-US" i="1">
                <a:solidFill>
                  <a:srgbClr val="06060A"/>
                </a:solidFill>
                <a:cs typeface="Times New Roman" panose="02020603050405020304" pitchFamily="18" charset="0"/>
              </a:rPr>
              <a:t>Show where you could find the inter-quartile range on the </a:t>
            </a:r>
          </a:p>
          <a:p>
            <a:pPr algn="ctr" eaLnBrk="1" hangingPunct="1"/>
            <a:r>
              <a:rPr lang="en-US" altLang="en-US" i="1">
                <a:solidFill>
                  <a:srgbClr val="06060A"/>
                </a:solidFill>
                <a:cs typeface="Times New Roman" panose="02020603050405020304" pitchFamily="18" charset="0"/>
              </a:rPr>
              <a:t>box-and-whisker plot below:</a:t>
            </a:r>
            <a:endParaRPr lang="en-US" altLang="en-US">
              <a:solidFill>
                <a:srgbClr val="06060A"/>
              </a:solidFill>
            </a:endParaRPr>
          </a:p>
        </p:txBody>
      </p:sp>
      <p:sp>
        <p:nvSpPr>
          <p:cNvPr id="61476" name="AutoShape 36">
            <a:extLst>
              <a:ext uri="{FF2B5EF4-FFF2-40B4-BE49-F238E27FC236}">
                <a16:creationId xmlns:a16="http://schemas.microsoft.com/office/drawing/2014/main" id="{DF2E5E46-9032-4C87-8D4F-F59F2EC8A280}"/>
              </a:ext>
            </a:extLst>
          </p:cNvPr>
          <p:cNvSpPr>
            <a:spLocks/>
          </p:cNvSpPr>
          <p:nvPr/>
        </p:nvSpPr>
        <p:spPr bwMode="auto">
          <a:xfrm rot="5400000">
            <a:off x="4489450" y="3662363"/>
            <a:ext cx="396875" cy="2317750"/>
          </a:xfrm>
          <a:prstGeom prst="leftBrace">
            <a:avLst>
              <a:gd name="adj1" fmla="val 48667"/>
              <a:gd name="adj2" fmla="val 50000"/>
            </a:avLst>
          </a:prstGeom>
          <a:noFill/>
          <a:ln w="38100">
            <a:solidFill>
              <a:srgbClr val="000000"/>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endParaRPr lang="en-AU" altLang="en-US"/>
          </a:p>
        </p:txBody>
      </p:sp>
      <p:sp>
        <p:nvSpPr>
          <p:cNvPr id="61477" name="Text Box 37">
            <a:extLst>
              <a:ext uri="{FF2B5EF4-FFF2-40B4-BE49-F238E27FC236}">
                <a16:creationId xmlns:a16="http://schemas.microsoft.com/office/drawing/2014/main" id="{6A52DE6D-9BD4-4525-B0F3-49AC6FF1F05F}"/>
              </a:ext>
            </a:extLst>
          </p:cNvPr>
          <p:cNvSpPr txBox="1">
            <a:spLocks noChangeArrowheads="1"/>
          </p:cNvSpPr>
          <p:nvPr/>
        </p:nvSpPr>
        <p:spPr bwMode="auto">
          <a:xfrm>
            <a:off x="3000375" y="4251325"/>
            <a:ext cx="4238625"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sz="2400">
                <a:solidFill>
                  <a:schemeClr val="tx1"/>
                </a:solidFill>
                <a:latin typeface="Times New Roman" pitchFamily="18" charset="0"/>
              </a:defRPr>
            </a:lvl1pPr>
            <a:lvl2pPr marL="742950" indent="-285750">
              <a:defRPr sz="2400">
                <a:solidFill>
                  <a:schemeClr val="tx1"/>
                </a:solidFill>
                <a:latin typeface="Times New Roman" pitchFamily="18" charset="0"/>
              </a:defRPr>
            </a:lvl2pPr>
            <a:lvl3pPr marL="1143000" indent="-228600">
              <a:defRPr sz="2400">
                <a:solidFill>
                  <a:schemeClr val="tx1"/>
                </a:solidFill>
                <a:latin typeface="Times New Roman" pitchFamily="18" charset="0"/>
              </a:defRPr>
            </a:lvl3pPr>
            <a:lvl4pPr marL="1600200" indent="-228600">
              <a:defRPr sz="2400">
                <a:solidFill>
                  <a:schemeClr val="tx1"/>
                </a:solidFill>
                <a:latin typeface="Times New Roman" pitchFamily="18" charset="0"/>
              </a:defRPr>
            </a:lvl4pPr>
            <a:lvl5pPr marL="2057400" indent="-228600">
              <a:defRPr sz="2400">
                <a:solidFill>
                  <a:schemeClr val="tx1"/>
                </a:solidFill>
                <a:latin typeface="Times New Roman" pitchFamily="18" charset="0"/>
              </a:defRPr>
            </a:lvl5pPr>
            <a:lvl6pPr marL="2514600" indent="-228600" eaLnBrk="0" fontAlgn="base" hangingPunct="0">
              <a:spcBef>
                <a:spcPct val="0"/>
              </a:spcBef>
              <a:spcAft>
                <a:spcPct val="0"/>
              </a:spcAft>
              <a:defRPr sz="2400">
                <a:solidFill>
                  <a:schemeClr val="tx1"/>
                </a:solidFill>
                <a:latin typeface="Times New Roman" pitchFamily="18" charset="0"/>
              </a:defRPr>
            </a:lvl6pPr>
            <a:lvl7pPr marL="2971800" indent="-228600" eaLnBrk="0" fontAlgn="base" hangingPunct="0">
              <a:spcBef>
                <a:spcPct val="0"/>
              </a:spcBef>
              <a:spcAft>
                <a:spcPct val="0"/>
              </a:spcAft>
              <a:defRPr sz="2400">
                <a:solidFill>
                  <a:schemeClr val="tx1"/>
                </a:solidFill>
                <a:latin typeface="Times New Roman" pitchFamily="18" charset="0"/>
              </a:defRPr>
            </a:lvl7pPr>
            <a:lvl8pPr marL="3429000" indent="-228600" eaLnBrk="0" fontAlgn="base" hangingPunct="0">
              <a:spcBef>
                <a:spcPct val="0"/>
              </a:spcBef>
              <a:spcAft>
                <a:spcPct val="0"/>
              </a:spcAft>
              <a:defRPr sz="2400">
                <a:solidFill>
                  <a:schemeClr val="tx1"/>
                </a:solidFill>
                <a:latin typeface="Times New Roman" pitchFamily="18" charset="0"/>
              </a:defRPr>
            </a:lvl8pPr>
            <a:lvl9pPr marL="3886200" indent="-228600" eaLnBrk="0" fontAlgn="base" hangingPunct="0">
              <a:spcBef>
                <a:spcPct val="0"/>
              </a:spcBef>
              <a:spcAft>
                <a:spcPct val="0"/>
              </a:spcAft>
              <a:defRPr sz="2400">
                <a:solidFill>
                  <a:schemeClr val="tx1"/>
                </a:solidFill>
                <a:latin typeface="Times New Roman" pitchFamily="18" charset="0"/>
              </a:defRPr>
            </a:lvl9pPr>
          </a:lstStyle>
          <a:p>
            <a:pPr>
              <a:spcBef>
                <a:spcPct val="50000"/>
              </a:spcBef>
              <a:defRPr/>
            </a:pPr>
            <a:r>
              <a:rPr lang="en-US" sz="2000" b="1">
                <a:solidFill>
                  <a:schemeClr val="tx1">
                    <a:lumMod val="95000"/>
                    <a:lumOff val="5000"/>
                  </a:schemeClr>
                </a:solidFill>
              </a:rPr>
              <a:t>INTER-QUARTILE RANGE</a:t>
            </a:r>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61443">
                                            <p:txEl>
                                              <p:pRg st="0" end="0"/>
                                            </p:txEl>
                                          </p:spTgt>
                                        </p:tgtEl>
                                        <p:attrNameLst>
                                          <p:attrName>style.visibility</p:attrName>
                                        </p:attrNameLst>
                                      </p:cBhvr>
                                      <p:to>
                                        <p:strVal val="visible"/>
                                      </p:to>
                                    </p:set>
                                    <p:animEffect transition="in" filter="checkerboard(across)">
                                      <p:cBhvr>
                                        <p:cTn id="7" dur="500"/>
                                        <p:tgtEl>
                                          <p:spTgt spid="6144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nodeType="clickEffect">
                                  <p:stCondLst>
                                    <p:cond delay="0"/>
                                  </p:stCondLst>
                                  <p:childTnLst>
                                    <p:set>
                                      <p:cBhvr>
                                        <p:cTn id="11" dur="1" fill="hold">
                                          <p:stCondLst>
                                            <p:cond delay="0"/>
                                          </p:stCondLst>
                                        </p:cTn>
                                        <p:tgtEl>
                                          <p:spTgt spid="61443">
                                            <p:txEl>
                                              <p:pRg st="1" end="1"/>
                                            </p:txEl>
                                          </p:spTgt>
                                        </p:tgtEl>
                                        <p:attrNameLst>
                                          <p:attrName>style.visibility</p:attrName>
                                        </p:attrNameLst>
                                      </p:cBhvr>
                                      <p:to>
                                        <p:strVal val="visible"/>
                                      </p:to>
                                    </p:set>
                                    <p:animEffect transition="in" filter="checkerboard(across)">
                                      <p:cBhvr>
                                        <p:cTn id="12" dur="500"/>
                                        <p:tgtEl>
                                          <p:spTgt spid="6144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61453"/>
                                        </p:tgtEl>
                                        <p:attrNameLst>
                                          <p:attrName>style.visibility</p:attrName>
                                        </p:attrNameLst>
                                      </p:cBhvr>
                                      <p:to>
                                        <p:strVal val="visible"/>
                                      </p:to>
                                    </p:set>
                                    <p:animEffect transition="in" filter="dissolve">
                                      <p:cBhvr>
                                        <p:cTn id="17" dur="500"/>
                                        <p:tgtEl>
                                          <p:spTgt spid="61453"/>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61473"/>
                                        </p:tgtEl>
                                        <p:attrNameLst>
                                          <p:attrName>style.visibility</p:attrName>
                                        </p:attrNameLst>
                                      </p:cBhvr>
                                      <p:to>
                                        <p:strVal val="visible"/>
                                      </p:to>
                                    </p:set>
                                    <p:animEffect transition="in" filter="dissolve">
                                      <p:cBhvr>
                                        <p:cTn id="20" dur="500"/>
                                        <p:tgtEl>
                                          <p:spTgt spid="61473"/>
                                        </p:tgtEl>
                                      </p:cBhvr>
                                    </p:animEffect>
                                  </p:childTnLst>
                                </p:cTn>
                              </p:par>
                              <p:par>
                                <p:cTn id="21" presetID="9" presetClass="entr" presetSubtype="0" fill="hold" nodeType="withEffect">
                                  <p:stCondLst>
                                    <p:cond delay="0"/>
                                  </p:stCondLst>
                                  <p:childTnLst>
                                    <p:set>
                                      <p:cBhvr>
                                        <p:cTn id="22" dur="1" fill="hold">
                                          <p:stCondLst>
                                            <p:cond delay="0"/>
                                          </p:stCondLst>
                                        </p:cTn>
                                        <p:tgtEl>
                                          <p:spTgt spid="61454"/>
                                        </p:tgtEl>
                                        <p:attrNameLst>
                                          <p:attrName>style.visibility</p:attrName>
                                        </p:attrNameLst>
                                      </p:cBhvr>
                                      <p:to>
                                        <p:strVal val="visible"/>
                                      </p:to>
                                    </p:set>
                                    <p:animEffect transition="in" filter="dissolve">
                                      <p:cBhvr>
                                        <p:cTn id="23" dur="500"/>
                                        <p:tgtEl>
                                          <p:spTgt spid="6145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0" presetClass="entr" presetSubtype="0" fill="hold" grpId="0" nodeType="clickEffect">
                                  <p:stCondLst>
                                    <p:cond delay="0"/>
                                  </p:stCondLst>
                                  <p:childTnLst>
                                    <p:set>
                                      <p:cBhvr>
                                        <p:cTn id="27" dur="1" fill="hold">
                                          <p:stCondLst>
                                            <p:cond delay="0"/>
                                          </p:stCondLst>
                                        </p:cTn>
                                        <p:tgtEl>
                                          <p:spTgt spid="61477"/>
                                        </p:tgtEl>
                                        <p:attrNameLst>
                                          <p:attrName>style.visibility</p:attrName>
                                        </p:attrNameLst>
                                      </p:cBhvr>
                                      <p:to>
                                        <p:strVal val="visible"/>
                                      </p:to>
                                    </p:set>
                                    <p:animEffect transition="in" filter="fade">
                                      <p:cBhvr>
                                        <p:cTn id="28" dur="800" decel="100000"/>
                                        <p:tgtEl>
                                          <p:spTgt spid="61477"/>
                                        </p:tgtEl>
                                      </p:cBhvr>
                                    </p:animEffect>
                                    <p:anim calcmode="lin" valueType="num">
                                      <p:cBhvr>
                                        <p:cTn id="29" dur="800" decel="100000" fill="hold"/>
                                        <p:tgtEl>
                                          <p:spTgt spid="61477"/>
                                        </p:tgtEl>
                                        <p:attrNameLst>
                                          <p:attrName>style.rotation</p:attrName>
                                        </p:attrNameLst>
                                      </p:cBhvr>
                                      <p:tavLst>
                                        <p:tav tm="0">
                                          <p:val>
                                            <p:fltVal val="-90"/>
                                          </p:val>
                                        </p:tav>
                                        <p:tav tm="100000">
                                          <p:val>
                                            <p:fltVal val="0"/>
                                          </p:val>
                                        </p:tav>
                                      </p:tavLst>
                                    </p:anim>
                                    <p:anim calcmode="lin" valueType="num">
                                      <p:cBhvr>
                                        <p:cTn id="30" dur="800" decel="100000" fill="hold"/>
                                        <p:tgtEl>
                                          <p:spTgt spid="61477"/>
                                        </p:tgtEl>
                                        <p:attrNameLst>
                                          <p:attrName>ppt_x</p:attrName>
                                        </p:attrNameLst>
                                      </p:cBhvr>
                                      <p:tavLst>
                                        <p:tav tm="0">
                                          <p:val>
                                            <p:strVal val="#ppt_x+0.4"/>
                                          </p:val>
                                        </p:tav>
                                        <p:tav tm="100000">
                                          <p:val>
                                            <p:strVal val="#ppt_x-0.05"/>
                                          </p:val>
                                        </p:tav>
                                      </p:tavLst>
                                    </p:anim>
                                    <p:anim calcmode="lin" valueType="num">
                                      <p:cBhvr>
                                        <p:cTn id="31" dur="800" decel="100000" fill="hold"/>
                                        <p:tgtEl>
                                          <p:spTgt spid="61477"/>
                                        </p:tgtEl>
                                        <p:attrNameLst>
                                          <p:attrName>ppt_y</p:attrName>
                                        </p:attrNameLst>
                                      </p:cBhvr>
                                      <p:tavLst>
                                        <p:tav tm="0">
                                          <p:val>
                                            <p:strVal val="#ppt_y-0.4"/>
                                          </p:val>
                                        </p:tav>
                                        <p:tav tm="100000">
                                          <p:val>
                                            <p:strVal val="#ppt_y+0.1"/>
                                          </p:val>
                                        </p:tav>
                                      </p:tavLst>
                                    </p:anim>
                                    <p:anim calcmode="lin" valueType="num">
                                      <p:cBhvr>
                                        <p:cTn id="32" dur="200" accel="100000" fill="hold">
                                          <p:stCondLst>
                                            <p:cond delay="800"/>
                                          </p:stCondLst>
                                        </p:cTn>
                                        <p:tgtEl>
                                          <p:spTgt spid="61477"/>
                                        </p:tgtEl>
                                        <p:attrNameLst>
                                          <p:attrName>ppt_x</p:attrName>
                                        </p:attrNameLst>
                                      </p:cBhvr>
                                      <p:tavLst>
                                        <p:tav tm="0">
                                          <p:val>
                                            <p:strVal val="#ppt_x-0.05"/>
                                          </p:val>
                                        </p:tav>
                                        <p:tav tm="100000">
                                          <p:val>
                                            <p:strVal val="#ppt_x"/>
                                          </p:val>
                                        </p:tav>
                                      </p:tavLst>
                                    </p:anim>
                                    <p:anim calcmode="lin" valueType="num">
                                      <p:cBhvr>
                                        <p:cTn id="33" dur="200" accel="100000" fill="hold">
                                          <p:stCondLst>
                                            <p:cond delay="800"/>
                                          </p:stCondLst>
                                        </p:cTn>
                                        <p:tgtEl>
                                          <p:spTgt spid="61477"/>
                                        </p:tgtEl>
                                        <p:attrNameLst>
                                          <p:attrName>ppt_y</p:attrName>
                                        </p:attrNameLst>
                                      </p:cBhvr>
                                      <p:tavLst>
                                        <p:tav tm="0">
                                          <p:val>
                                            <p:strVal val="#ppt_y+0.1"/>
                                          </p:val>
                                        </p:tav>
                                        <p:tav tm="100000">
                                          <p:val>
                                            <p:strVal val="#ppt_y"/>
                                          </p:val>
                                        </p:tav>
                                      </p:tavLst>
                                    </p:anim>
                                  </p:childTnLst>
                                </p:cTn>
                              </p:par>
                              <p:par>
                                <p:cTn id="34" presetID="30" presetClass="entr" presetSubtype="0" fill="hold" grpId="0" nodeType="withEffect">
                                  <p:stCondLst>
                                    <p:cond delay="0"/>
                                  </p:stCondLst>
                                  <p:childTnLst>
                                    <p:set>
                                      <p:cBhvr>
                                        <p:cTn id="35" dur="1" fill="hold">
                                          <p:stCondLst>
                                            <p:cond delay="0"/>
                                          </p:stCondLst>
                                        </p:cTn>
                                        <p:tgtEl>
                                          <p:spTgt spid="61476"/>
                                        </p:tgtEl>
                                        <p:attrNameLst>
                                          <p:attrName>style.visibility</p:attrName>
                                        </p:attrNameLst>
                                      </p:cBhvr>
                                      <p:to>
                                        <p:strVal val="visible"/>
                                      </p:to>
                                    </p:set>
                                    <p:animEffect transition="in" filter="fade">
                                      <p:cBhvr>
                                        <p:cTn id="36" dur="800" decel="100000"/>
                                        <p:tgtEl>
                                          <p:spTgt spid="61476"/>
                                        </p:tgtEl>
                                      </p:cBhvr>
                                    </p:animEffect>
                                    <p:anim calcmode="lin" valueType="num">
                                      <p:cBhvr>
                                        <p:cTn id="37" dur="800" decel="100000" fill="hold"/>
                                        <p:tgtEl>
                                          <p:spTgt spid="61476"/>
                                        </p:tgtEl>
                                        <p:attrNameLst>
                                          <p:attrName>style.rotation</p:attrName>
                                        </p:attrNameLst>
                                      </p:cBhvr>
                                      <p:tavLst>
                                        <p:tav tm="0">
                                          <p:val>
                                            <p:fltVal val="-90"/>
                                          </p:val>
                                        </p:tav>
                                        <p:tav tm="100000">
                                          <p:val>
                                            <p:fltVal val="0"/>
                                          </p:val>
                                        </p:tav>
                                      </p:tavLst>
                                    </p:anim>
                                    <p:anim calcmode="lin" valueType="num">
                                      <p:cBhvr>
                                        <p:cTn id="38" dur="800" decel="100000" fill="hold"/>
                                        <p:tgtEl>
                                          <p:spTgt spid="61476"/>
                                        </p:tgtEl>
                                        <p:attrNameLst>
                                          <p:attrName>ppt_x</p:attrName>
                                        </p:attrNameLst>
                                      </p:cBhvr>
                                      <p:tavLst>
                                        <p:tav tm="0">
                                          <p:val>
                                            <p:strVal val="#ppt_x+0.4"/>
                                          </p:val>
                                        </p:tav>
                                        <p:tav tm="100000">
                                          <p:val>
                                            <p:strVal val="#ppt_x-0.05"/>
                                          </p:val>
                                        </p:tav>
                                      </p:tavLst>
                                    </p:anim>
                                    <p:anim calcmode="lin" valueType="num">
                                      <p:cBhvr>
                                        <p:cTn id="39" dur="800" decel="100000" fill="hold"/>
                                        <p:tgtEl>
                                          <p:spTgt spid="61476"/>
                                        </p:tgtEl>
                                        <p:attrNameLst>
                                          <p:attrName>ppt_y</p:attrName>
                                        </p:attrNameLst>
                                      </p:cBhvr>
                                      <p:tavLst>
                                        <p:tav tm="0">
                                          <p:val>
                                            <p:strVal val="#ppt_y-0.4"/>
                                          </p:val>
                                        </p:tav>
                                        <p:tav tm="100000">
                                          <p:val>
                                            <p:strVal val="#ppt_y+0.1"/>
                                          </p:val>
                                        </p:tav>
                                      </p:tavLst>
                                    </p:anim>
                                    <p:anim calcmode="lin" valueType="num">
                                      <p:cBhvr>
                                        <p:cTn id="40" dur="200" accel="100000" fill="hold">
                                          <p:stCondLst>
                                            <p:cond delay="800"/>
                                          </p:stCondLst>
                                        </p:cTn>
                                        <p:tgtEl>
                                          <p:spTgt spid="61476"/>
                                        </p:tgtEl>
                                        <p:attrNameLst>
                                          <p:attrName>ppt_x</p:attrName>
                                        </p:attrNameLst>
                                      </p:cBhvr>
                                      <p:tavLst>
                                        <p:tav tm="0">
                                          <p:val>
                                            <p:strVal val="#ppt_x-0.05"/>
                                          </p:val>
                                        </p:tav>
                                        <p:tav tm="100000">
                                          <p:val>
                                            <p:strVal val="#ppt_x"/>
                                          </p:val>
                                        </p:tav>
                                      </p:tavLst>
                                    </p:anim>
                                    <p:anim calcmode="lin" valueType="num">
                                      <p:cBhvr>
                                        <p:cTn id="41" dur="200" accel="100000" fill="hold">
                                          <p:stCondLst>
                                            <p:cond delay="800"/>
                                          </p:stCondLst>
                                        </p:cTn>
                                        <p:tgtEl>
                                          <p:spTgt spid="61476"/>
                                        </p:tgtEl>
                                        <p:attrNameLst>
                                          <p:attrName>ppt_y</p:attrName>
                                        </p:attrNameLst>
                                      </p:cBhvr>
                                      <p:tavLst>
                                        <p:tav tm="0">
                                          <p:val>
                                            <p:strVal val="#ppt_y+0.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53" grpId="0" animBg="1"/>
      <p:bldP spid="61473" grpId="0"/>
      <p:bldP spid="61476" grpId="0" animBg="1"/>
      <p:bldP spid="6147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C03FD6EC-C533-4F6F-8CDB-8359B7697E3B}"/>
              </a:ext>
            </a:extLst>
          </p:cNvPr>
          <p:cNvSpPr>
            <a:spLocks noGrp="1" noChangeArrowheads="1"/>
          </p:cNvSpPr>
          <p:nvPr>
            <p:ph type="title"/>
          </p:nvPr>
        </p:nvSpPr>
        <p:spPr>
          <a:xfrm>
            <a:off x="0" y="0"/>
            <a:ext cx="6096000" cy="1143000"/>
          </a:xfrm>
        </p:spPr>
        <p:txBody>
          <a:bodyPr/>
          <a:lstStyle/>
          <a:p>
            <a:r>
              <a:rPr lang="en-US" altLang="en-US"/>
              <a:t>Interquartile Range</a:t>
            </a:r>
          </a:p>
        </p:txBody>
      </p:sp>
      <p:sp>
        <p:nvSpPr>
          <p:cNvPr id="17411" name="Rectangle 3">
            <a:extLst>
              <a:ext uri="{FF2B5EF4-FFF2-40B4-BE49-F238E27FC236}">
                <a16:creationId xmlns:a16="http://schemas.microsoft.com/office/drawing/2014/main" id="{D853FFA0-7A83-4ED4-97E3-E441DE09E095}"/>
              </a:ext>
            </a:extLst>
          </p:cNvPr>
          <p:cNvSpPr>
            <a:spLocks noGrp="1" noChangeArrowheads="1"/>
          </p:cNvSpPr>
          <p:nvPr>
            <p:ph idx="1"/>
          </p:nvPr>
        </p:nvSpPr>
        <p:spPr>
          <a:xfrm>
            <a:off x="533400" y="1066800"/>
            <a:ext cx="8001000" cy="4114800"/>
          </a:xfrm>
        </p:spPr>
        <p:txBody>
          <a:bodyPr/>
          <a:lstStyle/>
          <a:p>
            <a:pPr>
              <a:buFont typeface="Wingdings" panose="05000000000000000000" pitchFamily="2" charset="2"/>
              <a:buNone/>
            </a:pPr>
            <a:r>
              <a:rPr lang="en-US" altLang="en-US"/>
              <a:t>	</a:t>
            </a:r>
            <a:r>
              <a:rPr lang="en-US" altLang="en-US" sz="3600"/>
              <a:t>The interquartile range is the difference between the upper quartile and the lower quartile. </a:t>
            </a:r>
          </a:p>
          <a:p>
            <a:pPr>
              <a:buFont typeface="Wingdings" panose="05000000000000000000" pitchFamily="2" charset="2"/>
              <a:buNone/>
            </a:pPr>
            <a:endParaRPr lang="en-US" altLang="en-US" sz="3600"/>
          </a:p>
        </p:txBody>
      </p:sp>
      <p:sp>
        <p:nvSpPr>
          <p:cNvPr id="21508" name="Text Box 4">
            <a:extLst>
              <a:ext uri="{FF2B5EF4-FFF2-40B4-BE49-F238E27FC236}">
                <a16:creationId xmlns:a16="http://schemas.microsoft.com/office/drawing/2014/main" id="{53257B45-925E-4B19-8E5B-208FD80EE504}"/>
              </a:ext>
            </a:extLst>
          </p:cNvPr>
          <p:cNvSpPr txBox="1">
            <a:spLocks noChangeArrowheads="1"/>
          </p:cNvSpPr>
          <p:nvPr/>
        </p:nvSpPr>
        <p:spPr bwMode="auto">
          <a:xfrm>
            <a:off x="3429000" y="4114800"/>
            <a:ext cx="33004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5400" b="1">
                <a:latin typeface="Bradley Hand ITC" panose="03070402050302030203" pitchFamily="66" charset="0"/>
              </a:rPr>
              <a:t>14 – 8.5 =</a:t>
            </a:r>
          </a:p>
        </p:txBody>
      </p:sp>
      <p:sp>
        <p:nvSpPr>
          <p:cNvPr id="21510" name="Text Box 6">
            <a:extLst>
              <a:ext uri="{FF2B5EF4-FFF2-40B4-BE49-F238E27FC236}">
                <a16:creationId xmlns:a16="http://schemas.microsoft.com/office/drawing/2014/main" id="{FEE1CAD6-206C-4226-8A2B-8396B518AC87}"/>
              </a:ext>
            </a:extLst>
          </p:cNvPr>
          <p:cNvSpPr txBox="1">
            <a:spLocks noChangeArrowheads="1"/>
          </p:cNvSpPr>
          <p:nvPr/>
        </p:nvSpPr>
        <p:spPr bwMode="auto">
          <a:xfrm>
            <a:off x="6705600" y="4114800"/>
            <a:ext cx="1139825"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wrap="none">
            <a:spAutoFit/>
          </a:bodyPr>
          <a:lstStyle>
            <a:lvl1pPr>
              <a:defRPr sz="2400">
                <a:solidFill>
                  <a:schemeClr val="tx1"/>
                </a:solidFill>
                <a:latin typeface="Times New Roman" panose="02020603050405020304" pitchFamily="18" charset="0"/>
              </a:defRPr>
            </a:lvl1pPr>
            <a:lvl2pPr marL="742950" indent="-285750">
              <a:defRPr sz="2400">
                <a:solidFill>
                  <a:schemeClr val="tx1"/>
                </a:solidFill>
                <a:latin typeface="Times New Roman" panose="02020603050405020304" pitchFamily="18" charset="0"/>
              </a:defRPr>
            </a:lvl2pPr>
            <a:lvl3pPr marL="1143000" indent="-228600">
              <a:defRPr sz="2400">
                <a:solidFill>
                  <a:schemeClr val="tx1"/>
                </a:solidFill>
                <a:latin typeface="Times New Roman" panose="02020603050405020304" pitchFamily="18" charset="0"/>
              </a:defRPr>
            </a:lvl3pPr>
            <a:lvl4pPr marL="1600200" indent="-228600">
              <a:defRPr sz="2400">
                <a:solidFill>
                  <a:schemeClr val="tx1"/>
                </a:solidFill>
                <a:latin typeface="Times New Roman" panose="02020603050405020304" pitchFamily="18" charset="0"/>
              </a:defRPr>
            </a:lvl4pPr>
            <a:lvl5pPr marL="2057400" indent="-228600">
              <a:defRPr sz="24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defRPr>
            </a:lvl9pPr>
          </a:lstStyle>
          <a:p>
            <a:pPr eaLnBrk="1" hangingPunct="1"/>
            <a:r>
              <a:rPr lang="en-US" altLang="en-US" sz="5400" b="1">
                <a:solidFill>
                  <a:srgbClr val="FFFF00"/>
                </a:solidFill>
                <a:latin typeface="Bradley Hand ITC" panose="03070402050302030203" pitchFamily="66" charset="0"/>
              </a:rPr>
              <a:t>5.5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21508"/>
                                        </p:tgtEl>
                                        <p:attrNameLst>
                                          <p:attrName>style.visibility</p:attrName>
                                        </p:attrNameLst>
                                      </p:cBhvr>
                                      <p:to>
                                        <p:strVal val="visible"/>
                                      </p:to>
                                    </p:set>
                                    <p:animEffect transition="in" filter="wipe(down)">
                                      <p:cBhvr>
                                        <p:cTn id="7" dur="580">
                                          <p:stCondLst>
                                            <p:cond delay="0"/>
                                          </p:stCondLst>
                                        </p:cTn>
                                        <p:tgtEl>
                                          <p:spTgt spid="21508"/>
                                        </p:tgtEl>
                                      </p:cBhvr>
                                    </p:animEffect>
                                    <p:anim calcmode="lin" valueType="num">
                                      <p:cBhvr>
                                        <p:cTn id="8" dur="1822" tmFilter="0,0; 0.14,0.36; 0.43,0.73; 0.71,0.91; 1.0,1.0">
                                          <p:stCondLst>
                                            <p:cond delay="0"/>
                                          </p:stCondLst>
                                        </p:cTn>
                                        <p:tgtEl>
                                          <p:spTgt spid="21508"/>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1508"/>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1508"/>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1508"/>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1508"/>
                                        </p:tgtEl>
                                        <p:attrNameLst>
                                          <p:attrName>ppt_y</p:attrName>
                                        </p:attrNameLst>
                                      </p:cBhvr>
                                      <p:tavLst>
                                        <p:tav tm="0" fmla="#ppt_y-sin(pi*$)/81">
                                          <p:val>
                                            <p:fltVal val="0"/>
                                          </p:val>
                                        </p:tav>
                                        <p:tav tm="100000">
                                          <p:val>
                                            <p:fltVal val="1"/>
                                          </p:val>
                                        </p:tav>
                                      </p:tavLst>
                                    </p:anim>
                                    <p:animScale>
                                      <p:cBhvr>
                                        <p:cTn id="13" dur="26">
                                          <p:stCondLst>
                                            <p:cond delay="650"/>
                                          </p:stCondLst>
                                        </p:cTn>
                                        <p:tgtEl>
                                          <p:spTgt spid="21508"/>
                                        </p:tgtEl>
                                      </p:cBhvr>
                                      <p:to x="100000" y="60000"/>
                                    </p:animScale>
                                    <p:animScale>
                                      <p:cBhvr>
                                        <p:cTn id="14" dur="166" decel="50000">
                                          <p:stCondLst>
                                            <p:cond delay="676"/>
                                          </p:stCondLst>
                                        </p:cTn>
                                        <p:tgtEl>
                                          <p:spTgt spid="21508"/>
                                        </p:tgtEl>
                                      </p:cBhvr>
                                      <p:to x="100000" y="100000"/>
                                    </p:animScale>
                                    <p:animScale>
                                      <p:cBhvr>
                                        <p:cTn id="15" dur="26">
                                          <p:stCondLst>
                                            <p:cond delay="1312"/>
                                          </p:stCondLst>
                                        </p:cTn>
                                        <p:tgtEl>
                                          <p:spTgt spid="21508"/>
                                        </p:tgtEl>
                                      </p:cBhvr>
                                      <p:to x="100000" y="80000"/>
                                    </p:animScale>
                                    <p:animScale>
                                      <p:cBhvr>
                                        <p:cTn id="16" dur="166" decel="50000">
                                          <p:stCondLst>
                                            <p:cond delay="1338"/>
                                          </p:stCondLst>
                                        </p:cTn>
                                        <p:tgtEl>
                                          <p:spTgt spid="21508"/>
                                        </p:tgtEl>
                                      </p:cBhvr>
                                      <p:to x="100000" y="100000"/>
                                    </p:animScale>
                                    <p:animScale>
                                      <p:cBhvr>
                                        <p:cTn id="17" dur="26">
                                          <p:stCondLst>
                                            <p:cond delay="1642"/>
                                          </p:stCondLst>
                                        </p:cTn>
                                        <p:tgtEl>
                                          <p:spTgt spid="21508"/>
                                        </p:tgtEl>
                                      </p:cBhvr>
                                      <p:to x="100000" y="90000"/>
                                    </p:animScale>
                                    <p:animScale>
                                      <p:cBhvr>
                                        <p:cTn id="18" dur="166" decel="50000">
                                          <p:stCondLst>
                                            <p:cond delay="1668"/>
                                          </p:stCondLst>
                                        </p:cTn>
                                        <p:tgtEl>
                                          <p:spTgt spid="21508"/>
                                        </p:tgtEl>
                                      </p:cBhvr>
                                      <p:to x="100000" y="100000"/>
                                    </p:animScale>
                                    <p:animScale>
                                      <p:cBhvr>
                                        <p:cTn id="19" dur="26">
                                          <p:stCondLst>
                                            <p:cond delay="1808"/>
                                          </p:stCondLst>
                                        </p:cTn>
                                        <p:tgtEl>
                                          <p:spTgt spid="21508"/>
                                        </p:tgtEl>
                                      </p:cBhvr>
                                      <p:to x="100000" y="95000"/>
                                    </p:animScale>
                                    <p:animScale>
                                      <p:cBhvr>
                                        <p:cTn id="20" dur="166" decel="50000">
                                          <p:stCondLst>
                                            <p:cond delay="1834"/>
                                          </p:stCondLst>
                                        </p:cTn>
                                        <p:tgtEl>
                                          <p:spTgt spid="21508"/>
                                        </p:tgtEl>
                                      </p:cBhvr>
                                      <p:to x="100000" y="100000"/>
                                    </p:animScale>
                                  </p:childTnLst>
                                </p:cTn>
                              </p:par>
                            </p:childTnLst>
                          </p:cTn>
                        </p:par>
                      </p:childTnLst>
                    </p:cTn>
                  </p:par>
                  <p:par>
                    <p:cTn id="21" fill="hold" nodeType="clickPar">
                      <p:stCondLst>
                        <p:cond delay="indefinite"/>
                      </p:stCondLst>
                      <p:childTnLst>
                        <p:par>
                          <p:cTn id="22" fill="hold" nodeType="withGroup">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1510"/>
                                        </p:tgtEl>
                                        <p:attrNameLst>
                                          <p:attrName>style.visibility</p:attrName>
                                        </p:attrNameLst>
                                      </p:cBhvr>
                                      <p:to>
                                        <p:strVal val="visible"/>
                                      </p:to>
                                    </p:set>
                                    <p:animEffect transition="in" filter="wipe(down)">
                                      <p:cBhvr>
                                        <p:cTn id="25" dur="580">
                                          <p:stCondLst>
                                            <p:cond delay="0"/>
                                          </p:stCondLst>
                                        </p:cTn>
                                        <p:tgtEl>
                                          <p:spTgt spid="21510"/>
                                        </p:tgtEl>
                                      </p:cBhvr>
                                    </p:animEffect>
                                    <p:anim calcmode="lin" valueType="num">
                                      <p:cBhvr>
                                        <p:cTn id="26" dur="1822" tmFilter="0,0; 0.14,0.36; 0.43,0.73; 0.71,0.91; 1.0,1.0">
                                          <p:stCondLst>
                                            <p:cond delay="0"/>
                                          </p:stCondLst>
                                        </p:cTn>
                                        <p:tgtEl>
                                          <p:spTgt spid="21510"/>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1510"/>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1510"/>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1510"/>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1510"/>
                                        </p:tgtEl>
                                        <p:attrNameLst>
                                          <p:attrName>ppt_y</p:attrName>
                                        </p:attrNameLst>
                                      </p:cBhvr>
                                      <p:tavLst>
                                        <p:tav tm="0" fmla="#ppt_y-sin(pi*$)/81">
                                          <p:val>
                                            <p:fltVal val="0"/>
                                          </p:val>
                                        </p:tav>
                                        <p:tav tm="100000">
                                          <p:val>
                                            <p:fltVal val="1"/>
                                          </p:val>
                                        </p:tav>
                                      </p:tavLst>
                                    </p:anim>
                                    <p:animScale>
                                      <p:cBhvr>
                                        <p:cTn id="31" dur="26">
                                          <p:stCondLst>
                                            <p:cond delay="650"/>
                                          </p:stCondLst>
                                        </p:cTn>
                                        <p:tgtEl>
                                          <p:spTgt spid="21510"/>
                                        </p:tgtEl>
                                      </p:cBhvr>
                                      <p:to x="100000" y="60000"/>
                                    </p:animScale>
                                    <p:animScale>
                                      <p:cBhvr>
                                        <p:cTn id="32" dur="166" decel="50000">
                                          <p:stCondLst>
                                            <p:cond delay="676"/>
                                          </p:stCondLst>
                                        </p:cTn>
                                        <p:tgtEl>
                                          <p:spTgt spid="21510"/>
                                        </p:tgtEl>
                                      </p:cBhvr>
                                      <p:to x="100000" y="100000"/>
                                    </p:animScale>
                                    <p:animScale>
                                      <p:cBhvr>
                                        <p:cTn id="33" dur="26">
                                          <p:stCondLst>
                                            <p:cond delay="1312"/>
                                          </p:stCondLst>
                                        </p:cTn>
                                        <p:tgtEl>
                                          <p:spTgt spid="21510"/>
                                        </p:tgtEl>
                                      </p:cBhvr>
                                      <p:to x="100000" y="80000"/>
                                    </p:animScale>
                                    <p:animScale>
                                      <p:cBhvr>
                                        <p:cTn id="34" dur="166" decel="50000">
                                          <p:stCondLst>
                                            <p:cond delay="1338"/>
                                          </p:stCondLst>
                                        </p:cTn>
                                        <p:tgtEl>
                                          <p:spTgt spid="21510"/>
                                        </p:tgtEl>
                                      </p:cBhvr>
                                      <p:to x="100000" y="100000"/>
                                    </p:animScale>
                                    <p:animScale>
                                      <p:cBhvr>
                                        <p:cTn id="35" dur="26">
                                          <p:stCondLst>
                                            <p:cond delay="1642"/>
                                          </p:stCondLst>
                                        </p:cTn>
                                        <p:tgtEl>
                                          <p:spTgt spid="21510"/>
                                        </p:tgtEl>
                                      </p:cBhvr>
                                      <p:to x="100000" y="90000"/>
                                    </p:animScale>
                                    <p:animScale>
                                      <p:cBhvr>
                                        <p:cTn id="36" dur="166" decel="50000">
                                          <p:stCondLst>
                                            <p:cond delay="1668"/>
                                          </p:stCondLst>
                                        </p:cTn>
                                        <p:tgtEl>
                                          <p:spTgt spid="21510"/>
                                        </p:tgtEl>
                                      </p:cBhvr>
                                      <p:to x="100000" y="100000"/>
                                    </p:animScale>
                                    <p:animScale>
                                      <p:cBhvr>
                                        <p:cTn id="37" dur="26">
                                          <p:stCondLst>
                                            <p:cond delay="1808"/>
                                          </p:stCondLst>
                                        </p:cTn>
                                        <p:tgtEl>
                                          <p:spTgt spid="21510"/>
                                        </p:tgtEl>
                                      </p:cBhvr>
                                      <p:to x="100000" y="95000"/>
                                    </p:animScale>
                                    <p:animScale>
                                      <p:cBhvr>
                                        <p:cTn id="38" dur="166" decel="50000">
                                          <p:stCondLst>
                                            <p:cond delay="1834"/>
                                          </p:stCondLst>
                                        </p:cTn>
                                        <p:tgtEl>
                                          <p:spTgt spid="215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8" grpId="0"/>
      <p:bldP spid="21510"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38A1A3D5-AFD3-479B-881A-3FBA8D0C370F}"/>
              </a:ext>
            </a:extLst>
          </p:cNvPr>
          <p:cNvSpPr>
            <a:spLocks noGrp="1"/>
          </p:cNvSpPr>
          <p:nvPr>
            <p:ph type="title"/>
          </p:nvPr>
        </p:nvSpPr>
        <p:spPr>
          <a:xfrm>
            <a:off x="395288" y="-100013"/>
            <a:ext cx="8229600" cy="1143001"/>
          </a:xfrm>
        </p:spPr>
        <p:txBody>
          <a:bodyPr/>
          <a:lstStyle/>
          <a:p>
            <a:r>
              <a:rPr lang="en-AU" altLang="en-US" b="1" u="sng"/>
              <a:t>Shape</a:t>
            </a:r>
          </a:p>
        </p:txBody>
      </p:sp>
      <p:sp>
        <p:nvSpPr>
          <p:cNvPr id="3" name="Content Placeholder 2">
            <a:extLst>
              <a:ext uri="{FF2B5EF4-FFF2-40B4-BE49-F238E27FC236}">
                <a16:creationId xmlns:a16="http://schemas.microsoft.com/office/drawing/2014/main" id="{59474ADE-7EC5-44FB-9E77-1D4D39C0DF29}"/>
              </a:ext>
            </a:extLst>
          </p:cNvPr>
          <p:cNvSpPr>
            <a:spLocks noGrp="1"/>
          </p:cNvSpPr>
          <p:nvPr>
            <p:ph idx="1"/>
          </p:nvPr>
        </p:nvSpPr>
        <p:spPr>
          <a:xfrm>
            <a:off x="395288" y="908050"/>
            <a:ext cx="8229600" cy="5400675"/>
          </a:xfrm>
        </p:spPr>
        <p:txBody>
          <a:bodyPr rtlCol="0">
            <a:normAutofit fontScale="92500" lnSpcReduction="20000"/>
          </a:bodyPr>
          <a:lstStyle/>
          <a:p>
            <a:pPr fontAlgn="auto">
              <a:spcAft>
                <a:spcPts val="0"/>
              </a:spcAft>
              <a:defRPr/>
            </a:pPr>
            <a:r>
              <a:rPr lang="en-AU" b="1" dirty="0"/>
              <a:t>Symmetry</a:t>
            </a:r>
            <a:r>
              <a:rPr lang="en-AU" dirty="0"/>
              <a:t>: Is the shape of the distribution </a:t>
            </a:r>
            <a:r>
              <a:rPr lang="en-AU" b="1" dirty="0"/>
              <a:t>symmetric</a:t>
            </a:r>
            <a:r>
              <a:rPr lang="en-AU" dirty="0"/>
              <a:t>, that is, is the shape similar either side of a central axis (like a mirror image)? Or is the shape </a:t>
            </a:r>
            <a:r>
              <a:rPr lang="en-AU" b="1" dirty="0"/>
              <a:t>skewed</a:t>
            </a:r>
            <a:r>
              <a:rPr lang="en-AU" dirty="0"/>
              <a:t>, that is, asymmetric?</a:t>
            </a:r>
          </a:p>
          <a:p>
            <a:pPr fontAlgn="auto">
              <a:spcAft>
                <a:spcPts val="0"/>
              </a:spcAft>
              <a:defRPr/>
            </a:pPr>
            <a:endParaRPr lang="en-AU" b="1" dirty="0"/>
          </a:p>
          <a:p>
            <a:pPr fontAlgn="auto">
              <a:spcAft>
                <a:spcPts val="0"/>
              </a:spcAft>
              <a:defRPr/>
            </a:pPr>
            <a:r>
              <a:rPr lang="en-AU" b="1" dirty="0"/>
              <a:t>Number of peaks</a:t>
            </a:r>
            <a:r>
              <a:rPr lang="en-AU" dirty="0"/>
              <a:t>: Distributions can have few or many peaks. Distributions with one clear peak are called </a:t>
            </a:r>
            <a:r>
              <a:rPr lang="en-AU" b="1" dirty="0" err="1"/>
              <a:t>unimodal</a:t>
            </a:r>
            <a:r>
              <a:rPr lang="en-AU" b="1" dirty="0"/>
              <a:t> (one mode)</a:t>
            </a:r>
            <a:r>
              <a:rPr lang="en-AU" dirty="0"/>
              <a:t>, and distributions with two clear peaks are called </a:t>
            </a:r>
            <a:r>
              <a:rPr lang="en-AU" b="1" dirty="0"/>
              <a:t>bimodal (two modes)</a:t>
            </a:r>
            <a:r>
              <a:rPr lang="en-AU" dirty="0"/>
              <a:t>. Distributions with more than two clear peaks are called </a:t>
            </a:r>
            <a:r>
              <a:rPr lang="en-AU" b="1" dirty="0"/>
              <a:t>multimodal</a:t>
            </a:r>
            <a:r>
              <a:rPr lang="en-AU" dirty="0"/>
              <a:t> (</a:t>
            </a:r>
            <a:r>
              <a:rPr lang="en-AU" b="1" dirty="0"/>
              <a:t>three or more modes). </a:t>
            </a:r>
            <a:r>
              <a:rPr lang="en-AU" dirty="0"/>
              <a:t>When a symmetric distribution has a single peak at the </a:t>
            </a:r>
            <a:r>
              <a:rPr lang="en-AU" dirty="0" err="1"/>
              <a:t>center</a:t>
            </a:r>
            <a:r>
              <a:rPr lang="en-AU" dirty="0"/>
              <a:t>, it is referred to as </a:t>
            </a:r>
            <a:r>
              <a:rPr lang="en-AU" b="1" dirty="0"/>
              <a:t>bell-shaped</a:t>
            </a:r>
            <a:r>
              <a:rPr lang="en-AU"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39427A0D-92A4-488E-BA77-0F271EE84647}"/>
              </a:ext>
            </a:extLst>
          </p:cNvPr>
          <p:cNvSpPr>
            <a:spLocks noGrp="1"/>
          </p:cNvSpPr>
          <p:nvPr>
            <p:ph type="title"/>
          </p:nvPr>
        </p:nvSpPr>
        <p:spPr>
          <a:xfrm>
            <a:off x="395288" y="-100013"/>
            <a:ext cx="8229600" cy="1143001"/>
          </a:xfrm>
        </p:spPr>
        <p:txBody>
          <a:bodyPr/>
          <a:lstStyle/>
          <a:p>
            <a:r>
              <a:rPr lang="en-AU" altLang="en-US" b="1" u="sng"/>
              <a:t>Shape</a:t>
            </a:r>
          </a:p>
        </p:txBody>
      </p:sp>
      <p:sp>
        <p:nvSpPr>
          <p:cNvPr id="3" name="Content Placeholder 2">
            <a:extLst>
              <a:ext uri="{FF2B5EF4-FFF2-40B4-BE49-F238E27FC236}">
                <a16:creationId xmlns:a16="http://schemas.microsoft.com/office/drawing/2014/main" id="{9F49F9AD-37C8-44BF-A15F-AB34C80C8B35}"/>
              </a:ext>
            </a:extLst>
          </p:cNvPr>
          <p:cNvSpPr>
            <a:spLocks noGrp="1"/>
          </p:cNvSpPr>
          <p:nvPr>
            <p:ph idx="1"/>
          </p:nvPr>
        </p:nvSpPr>
        <p:spPr>
          <a:xfrm>
            <a:off x="395288" y="908050"/>
            <a:ext cx="8229600" cy="5400675"/>
          </a:xfrm>
        </p:spPr>
        <p:txBody>
          <a:bodyPr rtlCol="0">
            <a:normAutofit fontScale="92500" lnSpcReduction="20000"/>
          </a:bodyPr>
          <a:lstStyle/>
          <a:p>
            <a:pPr fontAlgn="auto">
              <a:spcAft>
                <a:spcPts val="0"/>
              </a:spcAft>
              <a:defRPr/>
            </a:pPr>
            <a:r>
              <a:rPr lang="en-AU" b="1" dirty="0"/>
              <a:t>Skewness:</a:t>
            </a:r>
            <a:r>
              <a:rPr lang="en-AU" dirty="0"/>
              <a:t> When they are displayed graphically, some distributions have many more observations on one side of the graph than the other. Distributions with fewer observations on the right (toward higher values) are said to be </a:t>
            </a:r>
            <a:r>
              <a:rPr lang="en-AU" b="1" dirty="0"/>
              <a:t>skewed right</a:t>
            </a:r>
            <a:r>
              <a:rPr lang="en-AU" dirty="0"/>
              <a:t>; and distributions with fewer observations on the left (toward lower values) are said to be </a:t>
            </a:r>
            <a:r>
              <a:rPr lang="en-AU" b="1" dirty="0"/>
              <a:t>skewed left</a:t>
            </a:r>
            <a:r>
              <a:rPr lang="en-AU" dirty="0"/>
              <a:t>.</a:t>
            </a:r>
          </a:p>
          <a:p>
            <a:pPr fontAlgn="auto">
              <a:spcAft>
                <a:spcPts val="0"/>
              </a:spcAft>
              <a:defRPr/>
            </a:pPr>
            <a:endParaRPr lang="en-AU" b="1" dirty="0"/>
          </a:p>
          <a:p>
            <a:pPr fontAlgn="auto">
              <a:spcAft>
                <a:spcPts val="0"/>
              </a:spcAft>
              <a:defRPr/>
            </a:pPr>
            <a:r>
              <a:rPr lang="en-AU" b="1" dirty="0"/>
              <a:t>Uniform:</a:t>
            </a:r>
            <a:r>
              <a:rPr lang="en-AU" dirty="0"/>
              <a:t> When the observations in a set of data are equally spread across the range of the distribution, the distribution is called a </a:t>
            </a:r>
            <a:r>
              <a:rPr lang="en-AU" b="1" dirty="0"/>
              <a:t>uniform distribution</a:t>
            </a:r>
            <a:r>
              <a:rPr lang="en-AU" dirty="0"/>
              <a:t>. A uniform distribution has no clear peaks.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a:extLst>
              <a:ext uri="{FF2B5EF4-FFF2-40B4-BE49-F238E27FC236}">
                <a16:creationId xmlns:a16="http://schemas.microsoft.com/office/drawing/2014/main" id="{30373FAE-7756-4C04-AFA7-1D094B7613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831" t="39444" r="30505" b="38750"/>
          <a:stretch>
            <a:fillRect/>
          </a:stretch>
        </p:blipFill>
        <p:spPr bwMode="auto">
          <a:xfrm>
            <a:off x="457200" y="1447800"/>
            <a:ext cx="8337550" cy="2514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2">
            <a:extLst>
              <a:ext uri="{FF2B5EF4-FFF2-40B4-BE49-F238E27FC236}">
                <a16:creationId xmlns:a16="http://schemas.microsoft.com/office/drawing/2014/main" id="{298FABCF-3E94-4CBC-B820-D10B774295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9541" t="40817" r="32806" b="32788"/>
          <a:stretch>
            <a:fillRect/>
          </a:stretch>
        </p:blipFill>
        <p:spPr bwMode="auto">
          <a:xfrm>
            <a:off x="539750" y="1557338"/>
            <a:ext cx="7923213" cy="3124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0" name="Picture 2">
            <a:extLst>
              <a:ext uri="{FF2B5EF4-FFF2-40B4-BE49-F238E27FC236}">
                <a16:creationId xmlns:a16="http://schemas.microsoft.com/office/drawing/2014/main" id="{48D3489A-A3F8-4A53-BD01-9CCE9F9C6E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3126" t="15971" r="38281" b="35834"/>
          <a:stretch>
            <a:fillRect/>
          </a:stretch>
        </p:blipFill>
        <p:spPr bwMode="auto">
          <a:xfrm>
            <a:off x="152400" y="914400"/>
            <a:ext cx="8878888" cy="495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cap="sq">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ELIMITERS" val="3.1"/>
</p:tagLst>
</file>

<file path=ppt/tags/tag2.xml><?xml version="1.0" encoding="utf-8"?>
<p:tagLst xmlns:a="http://schemas.openxmlformats.org/drawingml/2006/main" xmlns:r="http://schemas.openxmlformats.org/officeDocument/2006/relationships" xmlns:p="http://schemas.openxmlformats.org/presentationml/2006/main">
  <p:tag name="DELIMITERS" val="3.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1AD66E5C295CB48A4A69F2975E7881E" ma:contentTypeVersion="0" ma:contentTypeDescription="Create a new document." ma:contentTypeScope="" ma:versionID="b0069be014559c7f6e0e321dc3e15f1c">
  <xsd:schema xmlns:xsd="http://www.w3.org/2001/XMLSchema" xmlns:p="http://schemas.microsoft.com/office/2006/metadata/properties" targetNamespace="http://schemas.microsoft.com/office/2006/metadata/properties" ma:root="true" ma:fieldsID="4aeb20c0e3442673af7ee10786458764">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office/internal/2005/internalDocumentation"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ma:readOnly="tru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lastPrinted" minOccurs="0" maxOccurs="1" type="xsd:dateTime"/>
        <xsd:element name="contentStatus" minOccurs="0" maxOccurs="1" type="xsd:string"/>
      </xsd:all>
    </xsd:complexType>
  </xsd:schema>
</ct:contentTypeSchema>
</file>

<file path=customXml/itemProps1.xml><?xml version="1.0" encoding="utf-8"?>
<ds:datastoreItem xmlns:ds="http://schemas.openxmlformats.org/officeDocument/2006/customXml" ds:itemID="{103F33CF-A557-4FC4-9141-063F64D62FB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office/internal/2005/internalDocumentation"/>
  </ds:schemaRefs>
</ds:datastoreItem>
</file>

<file path=docProps/app.xml><?xml version="1.0" encoding="utf-8"?>
<Properties xmlns="http://schemas.openxmlformats.org/officeDocument/2006/extended-properties" xmlns:vt="http://schemas.openxmlformats.org/officeDocument/2006/docPropsVTypes">
  <Template/>
  <TotalTime>774</TotalTime>
  <Words>518</Words>
  <Application>Microsoft Office PowerPoint</Application>
  <PresentationFormat>On-screen Show (4:3)</PresentationFormat>
  <Paragraphs>85</Paragraphs>
  <Slides>21</Slides>
  <Notes>0</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Box-and-Whisker Plots</vt:lpstr>
      <vt:lpstr>A box plot summarizes data using the median, upper (Q3) and lower (Q1) quartiles, and the extreme (least and greatest) values.  It allows you to see important characteristics of the data at a glance.</vt:lpstr>
      <vt:lpstr>The 5 Number Summary</vt:lpstr>
      <vt:lpstr>Box Plots</vt:lpstr>
      <vt:lpstr>Analyzing a Box-and-Whisker Plot</vt:lpstr>
      <vt:lpstr>Step 1 – Order Numbers</vt:lpstr>
      <vt:lpstr>Step 2 – Find the Median</vt:lpstr>
      <vt:lpstr>Step 3 – Upper &amp; Lower Quartiles</vt:lpstr>
      <vt:lpstr>Step 4 – Draw a Number Line</vt:lpstr>
      <vt:lpstr>Step 5 – Draw the Parts</vt:lpstr>
      <vt:lpstr>PowerPoint Presentation</vt:lpstr>
      <vt:lpstr>PowerPoint Presentation</vt:lpstr>
      <vt:lpstr>Step 5 – Draw the Parts</vt:lpstr>
      <vt:lpstr>Step 6 - Label the Parts of a Box-and-Whisker Plot</vt:lpstr>
      <vt:lpstr>How to find the: Inter-Quartile Range</vt:lpstr>
      <vt:lpstr>Interquartile Range</vt:lpstr>
      <vt:lpstr>Shape</vt:lpstr>
      <vt:lpstr>Shape</vt:lpstr>
      <vt:lpstr>PowerPoint Presentation</vt:lpstr>
      <vt:lpstr>PowerPoint Presentation</vt:lpstr>
      <vt:lpstr>PowerPoint Presentation</vt:lpstr>
    </vt:vector>
  </TitlesOfParts>
  <Company>ccps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mcconaheyr</dc:creator>
  <cp:lastModifiedBy>FRASER-JONES Laura</cp:lastModifiedBy>
  <cp:revision>26</cp:revision>
  <cp:lastPrinted>2016-08-17T01:30:07Z</cp:lastPrinted>
  <dcterms:created xsi:type="dcterms:W3CDTF">2007-08-28T13:29:25Z</dcterms:created>
  <dcterms:modified xsi:type="dcterms:W3CDTF">2020-09-10T03:34:06Z</dcterms:modified>
</cp:coreProperties>
</file>
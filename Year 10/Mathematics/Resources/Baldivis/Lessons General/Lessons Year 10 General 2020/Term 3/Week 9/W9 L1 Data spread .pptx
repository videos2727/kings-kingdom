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9" r:id="rId4"/>
    <p:sldId id="269" r:id="rId5"/>
    <p:sldId id="272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68" r:id="rId14"/>
    <p:sldId id="274" r:id="rId15"/>
    <p:sldId id="270" r:id="rId16"/>
    <p:sldId id="271" r:id="rId17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56" autoAdjust="0"/>
    <p:restoredTop sz="94617" autoAdjust="0"/>
  </p:normalViewPr>
  <p:slideViewPr>
    <p:cSldViewPr>
      <p:cViewPr varScale="1">
        <p:scale>
          <a:sx n="100" d="100"/>
          <a:sy n="100" d="100"/>
        </p:scale>
        <p:origin x="106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561DDC-5327-634A-948C-8F1DA07938DD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69808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7C2106-0E2B-6A44-A04E-4D35E94D8C19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010708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9A53AD-716A-AA47-B8EE-7233BFA07FFD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38611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7FA55C-E6E8-7F48-BCF9-F70A950741B2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83285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26CDBA-67E0-3643-98EE-92970B0D1C8D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33535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B8F7BA-4D57-B640-847D-46170811E424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4269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0F19FA-CEED-3F4D-9522-4111EBFA268F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370655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FE664E-BFF8-504B-8996-7FF33C8B3047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905185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4BC7D0-6F97-0348-BEEC-62506EC5D797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468530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BF2E99-136F-1C4C-A8E8-2957846B661B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555566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886DD5-E443-654B-86C4-2445A380210C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52596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x-none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x-none"/>
              <a:t>Haga clic para modificar el estilo de texto del patrón</a:t>
            </a:r>
          </a:p>
          <a:p>
            <a:pPr lvl="1"/>
            <a:r>
              <a:rPr lang="es-ES" altLang="x-none"/>
              <a:t>Segundo nivel</a:t>
            </a:r>
          </a:p>
          <a:p>
            <a:pPr lvl="2"/>
            <a:r>
              <a:rPr lang="es-ES" altLang="x-none"/>
              <a:t>Tercer nivel</a:t>
            </a:r>
          </a:p>
          <a:p>
            <a:pPr lvl="3"/>
            <a:r>
              <a:rPr lang="es-ES" altLang="x-none"/>
              <a:t>Cuarto nivel</a:t>
            </a:r>
          </a:p>
          <a:p>
            <a:pPr lvl="4"/>
            <a:r>
              <a:rPr lang="es-ES" altLang="x-none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 altLang="x-non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 altLang="x-non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7408608-F8D2-0F4E-878C-15ABD4F80B65}" type="slidenum">
              <a:rPr lang="es-ES" altLang="x-none"/>
              <a:pPr/>
              <a:t>‹#›</a:t>
            </a:fld>
            <a:endParaRPr lang="es-E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bs.gov.au/websitedbs/a3121120.nsf/home/statistical+language+-+statistical+language+glossary#Quantitative%20dat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684213" y="5157788"/>
            <a:ext cx="77724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s-ES" altLang="x-none" dirty="0" err="1">
                <a:solidFill>
                  <a:schemeClr val="tx1"/>
                </a:solidFill>
              </a:rPr>
              <a:t>Topic</a:t>
            </a:r>
            <a:r>
              <a:rPr lang="es-ES" altLang="x-none">
                <a:solidFill>
                  <a:schemeClr val="tx1"/>
                </a:solidFill>
              </a:rPr>
              <a:t>: </a:t>
            </a:r>
            <a:r>
              <a:rPr lang="es-ES" altLang="x-none" err="1">
                <a:solidFill>
                  <a:schemeClr val="tx1"/>
                </a:solidFill>
              </a:rPr>
              <a:t>Statistics</a:t>
            </a:r>
            <a:r>
              <a:rPr lang="es-ES" altLang="x-none">
                <a:solidFill>
                  <a:schemeClr val="tx1"/>
                </a:solidFill>
              </a:rPr>
              <a:t> &amp; Data</a:t>
            </a:r>
          </a:p>
          <a:p>
            <a:r>
              <a:rPr lang="es-ES" altLang="x-none" err="1">
                <a:solidFill>
                  <a:schemeClr val="tx1"/>
                </a:solidFill>
              </a:rPr>
              <a:t>Measure</a:t>
            </a:r>
            <a:r>
              <a:rPr lang="es-ES" altLang="x-none">
                <a:solidFill>
                  <a:schemeClr val="tx1"/>
                </a:solidFill>
              </a:rPr>
              <a:t> of Spread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403350" y="2276475"/>
            <a:ext cx="64008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algn="ctr">
              <a:spcBef>
                <a:spcPct val="20000"/>
              </a:spcBef>
              <a:defRPr sz="3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algn="ctr">
              <a:spcBef>
                <a:spcPct val="20000"/>
              </a:spcBef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endParaRPr lang="x-none" altLang="x-non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9600" cy="1143000"/>
          </a:xfrm>
        </p:spPr>
        <p:txBody>
          <a:bodyPr/>
          <a:lstStyle/>
          <a:p>
            <a:r>
              <a:rPr lang="es-UY" altLang="x-none" u="sng">
                <a:solidFill>
                  <a:schemeClr val="tx1"/>
                </a:solidFill>
              </a:rPr>
              <a:t>Warm up</a:t>
            </a:r>
            <a:endParaRPr lang="es-ES" altLang="x-none" u="sng">
              <a:solidFill>
                <a:schemeClr val="tx1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06759"/>
            <a:ext cx="8229600" cy="1717228"/>
          </a:xfrm>
        </p:spPr>
        <p:txBody>
          <a:bodyPr/>
          <a:lstStyle/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A real estate agent tells you that the median house price for a suburb in 2012 was 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$753 000 and the mean was $948 000.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altLang="x-none"/>
          </a:p>
        </p:txBody>
      </p:sp>
      <p:sp>
        <p:nvSpPr>
          <p:cNvPr id="2" name="TextBox 1"/>
          <p:cNvSpPr txBox="1"/>
          <p:nvPr/>
        </p:nvSpPr>
        <p:spPr>
          <a:xfrm>
            <a:off x="468313" y="3565200"/>
            <a:ext cx="67335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Is it possible for the median and the mean to differ by so much? </a:t>
            </a:r>
          </a:p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6169" y="4205280"/>
            <a:ext cx="5698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Under what circumstances could this occur? Discuss.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22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14694" y="1237206"/>
            <a:ext cx="8229600" cy="1143000"/>
          </a:xfrm>
        </p:spPr>
        <p:txBody>
          <a:bodyPr/>
          <a:lstStyle/>
          <a:p>
            <a:r>
              <a:rPr lang="es-UY" altLang="x-none" sz="3200" dirty="0">
                <a:solidFill>
                  <a:schemeClr val="tx1"/>
                </a:solidFill>
              </a:rPr>
              <a:t>EQ:What are some important measure when looking at data analysis</a:t>
            </a:r>
            <a:r>
              <a:rPr lang="es-UY" sz="3200" b="1" dirty="0"/>
              <a:t>?</a:t>
            </a:r>
            <a:r>
              <a:rPr lang="es-UY" sz="3200" dirty="0"/>
              <a:t> </a:t>
            </a:r>
            <a:br>
              <a:rPr lang="es-UY" dirty="0"/>
            </a:br>
            <a:r>
              <a:rPr lang="es-UY" altLang="x-none" dirty="0">
                <a:solidFill>
                  <a:schemeClr val="tx1"/>
                </a:solidFill>
              </a:rPr>
              <a:t> </a:t>
            </a:r>
            <a:endParaRPr lang="es-ES" altLang="x-none" dirty="0">
              <a:solidFill>
                <a:schemeClr val="tx1"/>
              </a:solidFill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349311" y="239871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s-UY" sz="4000" b="1" u="sng" dirty="0">
                <a:solidFill>
                  <a:schemeClr val="tx1"/>
                </a:solidFill>
              </a:rPr>
              <a:t>Note Taking:</a:t>
            </a:r>
            <a:br>
              <a:rPr lang="es-UY" sz="4000" b="1" u="sng" dirty="0"/>
            </a:br>
            <a:r>
              <a:rPr lang="es-UY" altLang="x-none" dirty="0">
                <a:solidFill>
                  <a:schemeClr val="tx1"/>
                </a:solidFill>
              </a:rPr>
              <a:t> </a:t>
            </a:r>
            <a:endParaRPr lang="es-ES" altLang="x-none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419871" y="2095589"/>
            <a:ext cx="548980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333333"/>
                </a:solidFill>
              </a:rPr>
              <a:t>Measures of spread describe how similar or varied the set of observed values are for a particular </a:t>
            </a:r>
            <a:r>
              <a:rPr lang="en-US" b="1" dirty="0">
                <a:solidFill>
                  <a:srgbClr val="934E9C"/>
                </a:solidFill>
              </a:rPr>
              <a:t>set of data.</a:t>
            </a:r>
            <a:r>
              <a:rPr lang="en-US" dirty="0">
                <a:solidFill>
                  <a:srgbClr val="333333"/>
                </a:solidFill>
              </a:rPr>
              <a:t> </a:t>
            </a:r>
          </a:p>
          <a:p>
            <a:endParaRPr lang="en-US" dirty="0">
              <a:solidFill>
                <a:srgbClr val="333333"/>
              </a:solidFill>
            </a:endParaRPr>
          </a:p>
          <a:p>
            <a:r>
              <a:rPr lang="en-US" dirty="0">
                <a:solidFill>
                  <a:srgbClr val="333333"/>
                </a:solidFill>
              </a:rPr>
              <a:t>Measures of spread include the range, quartiles and the interquartile range, variance and standard deviation.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49311" y="2090172"/>
            <a:ext cx="2332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What are measures of spread?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23528" y="548680"/>
            <a:ext cx="2332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When can we measure spread?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347864" y="578416"/>
            <a:ext cx="548980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spread of the values can be measured for </a:t>
            </a:r>
            <a:r>
              <a:rPr lang="en-US" dirty="0">
                <a:hlinkClick r:id="rId2"/>
              </a:rPr>
              <a:t>quantitative data</a:t>
            </a:r>
            <a:r>
              <a:rPr lang="en-US" dirty="0"/>
              <a:t>, as the variables are numeric and can be arranged into a logical order with a low end value and a high end value.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3528" y="2636912"/>
            <a:ext cx="1800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What is the Range?  </a:t>
            </a:r>
            <a:endParaRPr lang="en-US" b="1" dirty="0"/>
          </a:p>
        </p:txBody>
      </p:sp>
      <p:sp>
        <p:nvSpPr>
          <p:cNvPr id="7" name="Rectangle 6"/>
          <p:cNvSpPr/>
          <p:nvPr/>
        </p:nvSpPr>
        <p:spPr>
          <a:xfrm>
            <a:off x="3347864" y="2511028"/>
            <a:ext cx="54898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</a:rPr>
              <a:t>Range is the most common measure of spread.</a:t>
            </a:r>
          </a:p>
          <a:p>
            <a:r>
              <a:rPr lang="en-US" dirty="0">
                <a:solidFill>
                  <a:srgbClr val="333333"/>
                </a:solidFill>
              </a:rPr>
              <a:t>The range is the difference between the smallest value and the largest value in a dataset.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415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404665"/>
            <a:ext cx="8136904" cy="30975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388" y="908720"/>
            <a:ext cx="3759200" cy="774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800" y="3035300"/>
            <a:ext cx="3708400" cy="787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438" y="4221088"/>
            <a:ext cx="6769100" cy="368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182" y="2066295"/>
            <a:ext cx="66421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70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24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7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Quartiles and Outliers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EQ:What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are some important measure when looking at data analysis? 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2035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What are quartiles?</a:t>
            </a:r>
          </a:p>
        </p:txBody>
      </p:sp>
    </p:spTree>
    <p:extLst>
      <p:ext uri="{BB962C8B-B14F-4D97-AF65-F5344CB8AC3E}">
        <p14:creationId xmlns:p14="http://schemas.microsoft.com/office/powerpoint/2010/main" val="574533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24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7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Quartiles and Outliers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2035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What are quartiles?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9879" y="2200972"/>
            <a:ext cx="5680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Quartiles are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the three values that separate the scores when a set of ordered data is divided into four equal parts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UY" altLang="x-none" sz="2400" dirty="0" err="1">
                <a:solidFill>
                  <a:schemeClr val="tx1"/>
                </a:solidFill>
              </a:rPr>
              <a:t>EQ:What</a:t>
            </a:r>
            <a:r>
              <a:rPr lang="es-UY" altLang="x-none" sz="2400" dirty="0">
                <a:solidFill>
                  <a:schemeClr val="tx1"/>
                </a:solidFill>
              </a:rPr>
              <a:t> are </a:t>
            </a:r>
            <a:r>
              <a:rPr lang="es-UY" altLang="x-none" sz="2400" dirty="0" err="1">
                <a:solidFill>
                  <a:schemeClr val="tx1"/>
                </a:solidFill>
              </a:rPr>
              <a:t>some</a:t>
            </a:r>
            <a:r>
              <a:rPr lang="es-UY" altLang="x-none" sz="2400" dirty="0">
                <a:solidFill>
                  <a:schemeClr val="tx1"/>
                </a:solidFill>
              </a:rPr>
              <a:t> </a:t>
            </a:r>
            <a:r>
              <a:rPr lang="es-UY" altLang="x-none" sz="2400" dirty="0" err="1">
                <a:solidFill>
                  <a:schemeClr val="tx1"/>
                </a:solidFill>
              </a:rPr>
              <a:t>important</a:t>
            </a:r>
            <a:r>
              <a:rPr lang="es-UY" altLang="x-none" sz="2400" dirty="0">
                <a:solidFill>
                  <a:schemeClr val="tx1"/>
                </a:solidFill>
              </a:rPr>
              <a:t> </a:t>
            </a:r>
            <a:r>
              <a:rPr lang="es-UY" altLang="x-none" sz="2400" dirty="0" err="1">
                <a:solidFill>
                  <a:schemeClr val="tx1"/>
                </a:solidFill>
              </a:rPr>
              <a:t>measure</a:t>
            </a:r>
            <a:r>
              <a:rPr lang="es-UY" altLang="x-none" sz="2400" dirty="0">
                <a:solidFill>
                  <a:schemeClr val="tx1"/>
                </a:solidFill>
              </a:rPr>
              <a:t> </a:t>
            </a:r>
            <a:r>
              <a:rPr lang="es-UY" altLang="x-none" sz="2400" dirty="0" err="1">
                <a:solidFill>
                  <a:schemeClr val="tx1"/>
                </a:solidFill>
              </a:rPr>
              <a:t>when</a:t>
            </a:r>
            <a:r>
              <a:rPr lang="es-UY" altLang="x-none" sz="2400" dirty="0">
                <a:solidFill>
                  <a:schemeClr val="tx1"/>
                </a:solidFill>
              </a:rPr>
              <a:t> </a:t>
            </a:r>
            <a:r>
              <a:rPr lang="es-UY" altLang="x-none" sz="2400" dirty="0" err="1">
                <a:solidFill>
                  <a:schemeClr val="tx1"/>
                </a:solidFill>
              </a:rPr>
              <a:t>looking</a:t>
            </a:r>
            <a:r>
              <a:rPr lang="es-UY" altLang="x-none" sz="2400" dirty="0">
                <a:solidFill>
                  <a:schemeClr val="tx1"/>
                </a:solidFill>
              </a:rPr>
              <a:t> at data </a:t>
            </a:r>
            <a:r>
              <a:rPr lang="es-UY" altLang="x-none" sz="2400" dirty="0" err="1">
                <a:solidFill>
                  <a:schemeClr val="tx1"/>
                </a:solidFill>
              </a:rPr>
              <a:t>analysis</a:t>
            </a:r>
            <a:r>
              <a:rPr lang="es-UY" sz="2400" b="1" dirty="0"/>
              <a:t>?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267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24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7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Quartiles and Outliers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2035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What are quartiles?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9879" y="2200972"/>
            <a:ext cx="5680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Quartiles are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the three values that separate the scores when a set of ordered data is divided into four equal parts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60415" y="3139803"/>
            <a:ext cx="5738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If data are placed in order, then the </a:t>
            </a: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median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is the middle number in the data set.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514" y="1095127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EQ:What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are some important measure when looking at data analysis? 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535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24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7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Quartiles and Outliers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0415" y="3929321"/>
            <a:ext cx="5738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The lower quartile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is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centre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point to the lower half of the data.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2035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What are quartiles?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9879" y="2200972"/>
            <a:ext cx="5680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Quartiles are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the three values that separate the scores when a set of ordered data is divided into four equal parts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60415" y="3139803"/>
            <a:ext cx="5738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If data are placed in order, then the </a:t>
            </a: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median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is the middle number in the data set.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UY" altLang="x-none" sz="2400" dirty="0" err="1">
                <a:solidFill>
                  <a:schemeClr val="tx1"/>
                </a:solidFill>
              </a:rPr>
              <a:t>EQ:What</a:t>
            </a:r>
            <a:r>
              <a:rPr lang="es-UY" altLang="x-none" sz="2400" dirty="0">
                <a:solidFill>
                  <a:schemeClr val="tx1"/>
                </a:solidFill>
              </a:rPr>
              <a:t> are </a:t>
            </a:r>
            <a:r>
              <a:rPr lang="es-UY" altLang="x-none" sz="2400" dirty="0" err="1">
                <a:solidFill>
                  <a:schemeClr val="tx1"/>
                </a:solidFill>
              </a:rPr>
              <a:t>some</a:t>
            </a:r>
            <a:r>
              <a:rPr lang="es-UY" altLang="x-none" sz="2400" dirty="0">
                <a:solidFill>
                  <a:schemeClr val="tx1"/>
                </a:solidFill>
              </a:rPr>
              <a:t> </a:t>
            </a:r>
            <a:r>
              <a:rPr lang="es-UY" altLang="x-none" sz="2400" dirty="0" err="1">
                <a:solidFill>
                  <a:schemeClr val="tx1"/>
                </a:solidFill>
              </a:rPr>
              <a:t>important</a:t>
            </a:r>
            <a:r>
              <a:rPr lang="es-UY" altLang="x-none" sz="2400" dirty="0">
                <a:solidFill>
                  <a:schemeClr val="tx1"/>
                </a:solidFill>
              </a:rPr>
              <a:t> </a:t>
            </a:r>
            <a:r>
              <a:rPr lang="es-UY" altLang="x-none" sz="2400" dirty="0" err="1">
                <a:solidFill>
                  <a:schemeClr val="tx1"/>
                </a:solidFill>
              </a:rPr>
              <a:t>measure</a:t>
            </a:r>
            <a:r>
              <a:rPr lang="es-UY" altLang="x-none" sz="2400" dirty="0">
                <a:solidFill>
                  <a:schemeClr val="tx1"/>
                </a:solidFill>
              </a:rPr>
              <a:t> </a:t>
            </a:r>
            <a:r>
              <a:rPr lang="es-UY" altLang="x-none" sz="2400" dirty="0" err="1">
                <a:solidFill>
                  <a:schemeClr val="tx1"/>
                </a:solidFill>
              </a:rPr>
              <a:t>when</a:t>
            </a:r>
            <a:r>
              <a:rPr lang="es-UY" altLang="x-none" sz="2400" dirty="0">
                <a:solidFill>
                  <a:schemeClr val="tx1"/>
                </a:solidFill>
              </a:rPr>
              <a:t> </a:t>
            </a:r>
            <a:r>
              <a:rPr lang="es-UY" altLang="x-none" sz="2400" dirty="0" err="1">
                <a:solidFill>
                  <a:schemeClr val="tx1"/>
                </a:solidFill>
              </a:rPr>
              <a:t>looking</a:t>
            </a:r>
            <a:r>
              <a:rPr lang="es-UY" altLang="x-none" sz="2400" dirty="0">
                <a:solidFill>
                  <a:schemeClr val="tx1"/>
                </a:solidFill>
              </a:rPr>
              <a:t> at data </a:t>
            </a:r>
            <a:r>
              <a:rPr lang="es-UY" altLang="x-none" sz="2400" dirty="0" err="1">
                <a:solidFill>
                  <a:schemeClr val="tx1"/>
                </a:solidFill>
              </a:rPr>
              <a:t>analysis</a:t>
            </a:r>
            <a:r>
              <a:rPr lang="es-UY" sz="2400" b="1" dirty="0"/>
              <a:t>?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09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24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7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Quartiles and Outliers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0415" y="3929321"/>
            <a:ext cx="5738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The lower quartile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is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centre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point to the lower half of the data.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7536" y="4819534"/>
            <a:ext cx="57901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The </a:t>
            </a: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upper quartile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is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centre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point  in the upper half of the data.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2035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What are quartiles?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9879" y="2200972"/>
            <a:ext cx="5680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Quartiles are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the three values that separate the scores when a set of ordered data is divided into four equal parts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60415" y="3139803"/>
            <a:ext cx="5738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If data are placed in order, then the </a:t>
            </a: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median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is the middle number in the data set.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EQ:What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are some important measure when looking at data analysis? 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102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24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7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Quartiles and Outliers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519" y="2253770"/>
            <a:ext cx="2540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What is the interquartile range?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2986" y="2200972"/>
            <a:ext cx="4968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A measure of spread giving the difference between the upper and lower quartiles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2162" y="2923605"/>
            <a:ext cx="3683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IQR = upper quartile – lower quartile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= Q3 – Q1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EQ:What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are some important measure when looking at data analysis? 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328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24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7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Quartiles and Outliers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519" y="2253770"/>
            <a:ext cx="2540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What is the interquartile range?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2986" y="2200972"/>
            <a:ext cx="4968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A measure of spread giving the difference between the upper and lower quartiles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519" y="4287029"/>
            <a:ext cx="254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What is an outlier?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2162" y="2923605"/>
            <a:ext cx="3683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IQR = upper quartile – lower quartile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= Q3 – Q1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EQ:What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are some important measure when looking at data analysis? 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694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24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7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Quartiles and Outliers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519" y="2253770"/>
            <a:ext cx="2540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What is the interquartile range?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2986" y="2200972"/>
            <a:ext cx="4968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A measure of spread giving the difference between the upper and lower quartiles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519" y="3919118"/>
            <a:ext cx="254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What is an outlier?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149" y="3820255"/>
            <a:ext cx="59335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Any value that is much larger or much smaller than the rest of the data in a set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162162" y="2923605"/>
            <a:ext cx="3683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IQR = upper quartile – lower quartile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= Q3 – Q1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025096" y="4550028"/>
            <a:ext cx="37733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A data point is an outlier if it is either: 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Less than Q1-1.5 x IQR or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Greater than Q3 + 1.5 × IQR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EQ:What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are some important measure when looking at data analysis? 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7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24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7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165610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Quartiles and Outliers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EQ – How do I calculate a Five Figure Summary?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35" y="2136892"/>
            <a:ext cx="2633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What is a five number summary?</a:t>
            </a:r>
          </a:p>
        </p:txBody>
      </p:sp>
    </p:spTree>
    <p:extLst>
      <p:ext uri="{BB962C8B-B14F-4D97-AF65-F5344CB8AC3E}">
        <p14:creationId xmlns:p14="http://schemas.microsoft.com/office/powerpoint/2010/main" val="1175787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24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7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165610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Quartiles and Outliers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EQ – How do I calculate a Five Figure Summary?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35" y="2136892"/>
            <a:ext cx="2633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What is a five number summary?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0721" y="2085531"/>
            <a:ext cx="48095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A set of numbers that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summarise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a set of data: the minimum score, first quartile, median, third quartile and maximum score </a:t>
            </a:r>
          </a:p>
        </p:txBody>
      </p:sp>
    </p:spTree>
    <p:extLst>
      <p:ext uri="{BB962C8B-B14F-4D97-AF65-F5344CB8AC3E}">
        <p14:creationId xmlns:p14="http://schemas.microsoft.com/office/powerpoint/2010/main" val="315639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24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7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165610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Quartiles and Outliers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EQ – How do I calculate a Five Figure Summary?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35" y="2136892"/>
            <a:ext cx="2633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What is a five number summary?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0721" y="2085531"/>
            <a:ext cx="48095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A set of numbers that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summarise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a set of data: the minimum score, first quartile, median, third quartile and maximum score 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582" y="3942190"/>
            <a:ext cx="7379197" cy="198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502123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636" id="{DF23AC15-5DF4-914A-AB3D-EFCE691C88C2}" vid="{2458D6BE-EF50-064C-AB0E-3A0D1802B5C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636</Template>
  <TotalTime>403</TotalTime>
  <Words>842</Words>
  <Application>Microsoft Office PowerPoint</Application>
  <PresentationFormat>On-screen Show (4:3)</PresentationFormat>
  <Paragraphs>133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Diseño predeterminado</vt:lpstr>
      <vt:lpstr>PowerPoint Presentation</vt:lpstr>
      <vt:lpstr>Warm up</vt:lpstr>
      <vt:lpstr>EQ:What are some important measure when looking at data analysis?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 Farmer</dc:creator>
  <cp:lastModifiedBy>Hamilton Stott</cp:lastModifiedBy>
  <cp:revision>22</cp:revision>
  <dcterms:created xsi:type="dcterms:W3CDTF">2017-06-07T03:32:40Z</dcterms:created>
  <dcterms:modified xsi:type="dcterms:W3CDTF">2020-09-20T03:36:59Z</dcterms:modified>
</cp:coreProperties>
</file>
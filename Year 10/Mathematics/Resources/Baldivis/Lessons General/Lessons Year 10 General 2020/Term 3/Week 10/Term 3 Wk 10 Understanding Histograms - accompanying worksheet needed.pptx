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97D94F-051C-471F-8D9A-D19A027C05F6}" type="datetimeFigureOut">
              <a:rPr lang="en-AU" smtClean="0"/>
              <a:t>25/09/2020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24A80-4D04-465C-A29A-CF94471269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0364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6DE00-3598-450D-9FD4-B3F4D33F029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760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 through with class piece by piece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6DE00-3598-450D-9FD4-B3F4D33F029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935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1221E5-7225-48EB-A4EE-420E7BFCF7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685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778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1590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401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39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166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172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149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88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829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649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419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911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074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90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3560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2" y="209502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16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4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48627" lvl="0" indent="-396230" rtl="0">
              <a:spcBef>
                <a:spcPts val="72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1pPr>
            <a:lvl2pPr marL="1097254" lvl="1" indent="-39623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2pPr>
            <a:lvl3pPr marL="1645879" lvl="2" indent="-39623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3pPr>
            <a:lvl4pPr marL="2194505" lvl="3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4pPr>
            <a:lvl5pPr marL="2743132" lvl="4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5pPr>
            <a:lvl6pPr marL="3291758" lvl="5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6pPr>
            <a:lvl7pPr marL="3840384" lvl="6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7pPr>
            <a:lvl8pPr marL="4389011" lvl="7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8pPr>
            <a:lvl9pPr marL="4937636" lvl="8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48627" lvl="0" indent="-396230" rtl="0">
              <a:spcBef>
                <a:spcPts val="72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1pPr>
            <a:lvl2pPr marL="1097254" lvl="1" indent="-39623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2pPr>
            <a:lvl3pPr marL="1645879" lvl="2" indent="-39623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3pPr>
            <a:lvl4pPr marL="2194505" lvl="3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4pPr>
            <a:lvl5pPr marL="2743132" lvl="4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5pPr>
            <a:lvl6pPr marL="3291758" lvl="5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6pPr>
            <a:lvl7pPr marL="3840384" lvl="6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7pPr>
            <a:lvl8pPr marL="4389011" lvl="7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8pPr>
            <a:lvl9pPr marL="4937636" lvl="8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48627" lvl="0" indent="-396230" rtl="0">
              <a:spcBef>
                <a:spcPts val="72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1pPr>
            <a:lvl2pPr marL="1097254" lvl="1" indent="-39623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2pPr>
            <a:lvl3pPr marL="1645879" lvl="2" indent="-39623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1920"/>
            </a:lvl3pPr>
            <a:lvl4pPr marL="2194505" lvl="3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4pPr>
            <a:lvl5pPr marL="2743132" lvl="4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5pPr>
            <a:lvl6pPr marL="3291758" lvl="5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6pPr>
            <a:lvl7pPr marL="3840384" lvl="6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7pPr>
            <a:lvl8pPr marL="4389011" lvl="7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8pPr>
            <a:lvl9pPr marL="4937636" lvl="8" indent="-396230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192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4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3465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4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548627" lvl="0" indent="-441949">
              <a:spcBef>
                <a:spcPts val="72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097254" lvl="1" indent="-441949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645879" lvl="2" indent="-441949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194505" lvl="3" indent="-441949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2743132" lvl="4" indent="-441949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291758" lvl="5" indent="-441949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3840384" lvl="6" indent="-441949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389011" lvl="7" indent="-441949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4937636" lvl="8" indent="-441949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4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2" y="167602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160"/>
          </a:p>
        </p:txBody>
      </p:sp>
    </p:spTree>
    <p:extLst>
      <p:ext uri="{BB962C8B-B14F-4D97-AF65-F5344CB8AC3E}">
        <p14:creationId xmlns:p14="http://schemas.microsoft.com/office/powerpoint/2010/main" val="149797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25/09/2020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21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36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91436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20" indent="-285738" algn="l" defTabSz="91436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0" algn="l" defTabSz="91436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0" algn="l" defTabSz="91436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7" indent="-228590" algn="l" defTabSz="91436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0" algn="l" defTabSz="9143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9143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9143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9143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hyperlink" Target="http://www.mathsisfun.com/data/standard-normal-distribution.html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2701" y="1355170"/>
            <a:ext cx="9073008" cy="3637919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ctr" defTabSz="1097280"/>
            <a:r>
              <a:rPr lang="en-AU" sz="11520" dirty="0">
                <a:solidFill>
                  <a:prstClr val="black"/>
                </a:solidFill>
                <a:latin typeface="Calibri"/>
              </a:rPr>
              <a:t>Understanding</a:t>
            </a:r>
          </a:p>
          <a:p>
            <a:pPr algn="ctr" defTabSz="1097280"/>
            <a:r>
              <a:rPr lang="en-AU" sz="11520" dirty="0">
                <a:solidFill>
                  <a:prstClr val="black"/>
                </a:solidFill>
                <a:latin typeface="Calibri"/>
              </a:rPr>
              <a:t>Histograms</a:t>
            </a:r>
          </a:p>
        </p:txBody>
      </p:sp>
    </p:spTree>
    <p:extLst>
      <p:ext uri="{BB962C8B-B14F-4D97-AF65-F5344CB8AC3E}">
        <p14:creationId xmlns:p14="http://schemas.microsoft.com/office/powerpoint/2010/main" val="146974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37505" y="7007126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609600" y="946274"/>
            <a:ext cx="10972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09600" y="1543568"/>
            <a:ext cx="10972800" cy="902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015" y="9704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pPr defTabSz="1097280"/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pPr defTabSz="1097280"/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125599" y="155259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67092" y="242270"/>
            <a:ext cx="1900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97280"/>
            <a:r>
              <a:rPr lang="en-AU" sz="2800" dirty="0">
                <a:solidFill>
                  <a:prstClr val="black"/>
                </a:solidFill>
                <a:latin typeface="Calibri"/>
              </a:rPr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5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400" dirty="0">
                <a:solidFill>
                  <a:prstClr val="black"/>
                </a:solidFill>
                <a:latin typeface="Calibri"/>
              </a:rPr>
              <a:t>EQ – What steps do I follow to create a histogram?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771" y="2177193"/>
            <a:ext cx="5443846" cy="2362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564963" y="4578108"/>
            <a:ext cx="134934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97280"/>
            <a:r>
              <a:rPr lang="en-AU" sz="1920" dirty="0">
                <a:solidFill>
                  <a:prstClr val="black"/>
                </a:solidFill>
                <a:latin typeface="Calibri"/>
              </a:rPr>
              <a:t>Height (cm)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4911109" y="3033457"/>
            <a:ext cx="126738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1920" dirty="0">
                <a:solidFill>
                  <a:prstClr val="black"/>
                </a:solidFill>
                <a:latin typeface="Calibri"/>
              </a:rPr>
              <a:t>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1235" y="1807861"/>
            <a:ext cx="258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97280"/>
            <a:r>
              <a:rPr lang="en-AU" u="sng" dirty="0">
                <a:solidFill>
                  <a:prstClr val="black"/>
                </a:solidFill>
                <a:latin typeface="Calibri"/>
              </a:rPr>
              <a:t>Heights of students in 8-7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6820" y="180786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97280"/>
            <a:r>
              <a:rPr lang="en-AU" dirty="0">
                <a:solidFill>
                  <a:srgbClr val="FF0000"/>
                </a:solidFill>
                <a:latin typeface="Calibri"/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0287" y="4801285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97280"/>
            <a:r>
              <a:rPr lang="en-AU" dirty="0">
                <a:solidFill>
                  <a:srgbClr val="FF0000"/>
                </a:solidFill>
                <a:latin typeface="Calibri"/>
              </a:rPr>
              <a:t>Labels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5493562" y="4001703"/>
            <a:ext cx="170390" cy="7995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</p:cNvCxnSpPr>
          <p:nvPr/>
        </p:nvCxnSpPr>
        <p:spPr>
          <a:xfrm flipV="1">
            <a:off x="6258584" y="4801286"/>
            <a:ext cx="1086521" cy="1939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12603" y="501138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dirty="0">
                <a:solidFill>
                  <a:srgbClr val="FF0000"/>
                </a:solidFill>
                <a:latin typeface="Calibri"/>
              </a:rPr>
              <a:t>Scale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9696441" y="4402551"/>
            <a:ext cx="373186" cy="6088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45106" y="3059905"/>
            <a:ext cx="161806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defTabSz="1097280"/>
            <a:r>
              <a:rPr lang="en-AU" dirty="0">
                <a:solidFill>
                  <a:srgbClr val="FF0000"/>
                </a:solidFill>
                <a:latin typeface="Calibri"/>
              </a:rPr>
              <a:t>No Gaps between the columns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3435089" y="5542549"/>
            <a:ext cx="6981391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dirty="0">
                <a:solidFill>
                  <a:prstClr val="black"/>
                </a:solidFill>
                <a:latin typeface="Calibri"/>
              </a:rPr>
              <a:t>How the data looks in a histogram is important and can be described in main ways </a:t>
            </a:r>
          </a:p>
        </p:txBody>
      </p:sp>
      <p:sp>
        <p:nvSpPr>
          <p:cNvPr id="3" name="TextBox 2"/>
          <p:cNvSpPr txBox="1"/>
          <p:nvPr/>
        </p:nvSpPr>
        <p:spPr>
          <a:xfrm rot="20018026">
            <a:off x="1689335" y="1977979"/>
            <a:ext cx="2773463" cy="363791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 defTabSz="1097280"/>
            <a:r>
              <a:rPr lang="en-AU" sz="5760" dirty="0">
                <a:solidFill>
                  <a:srgbClr val="FF0000"/>
                </a:solidFill>
                <a:latin typeface="Calibri"/>
              </a:rPr>
              <a:t>We drew this last </a:t>
            </a:r>
          </a:p>
          <a:p>
            <a:pPr algn="ctr" defTabSz="1097280"/>
            <a:r>
              <a:rPr lang="en-AU" sz="5760" dirty="0">
                <a:solidFill>
                  <a:srgbClr val="FF0000"/>
                </a:solidFill>
                <a:latin typeface="Calibri"/>
              </a:rPr>
              <a:t>lesson!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9160414" y="2046446"/>
            <a:ext cx="53715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05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68" y="2598847"/>
            <a:ext cx="1514311" cy="13581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3347" y="2558723"/>
            <a:ext cx="5273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b="1" dirty="0">
                <a:solidFill>
                  <a:prstClr val="black"/>
                </a:solidFill>
                <a:latin typeface="Calibri"/>
              </a:rPr>
              <a:t>Negative Skew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The long "tail" is on the negative or left side 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the peak.  The mean is also on the left of the peak. The Median is closer to the peak and the mode is at the peak.</a:t>
            </a:r>
          </a:p>
          <a:p>
            <a:pPr defTabSz="1097280"/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654" y="4052567"/>
            <a:ext cx="1687540" cy="1260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3346" y="4052568"/>
            <a:ext cx="54890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b="1" dirty="0">
                <a:solidFill>
                  <a:prstClr val="black"/>
                </a:solidFill>
                <a:latin typeface="Calibri"/>
              </a:rPr>
              <a:t>Positive Skew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The long tail is on the positive or right 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side of the peak.  The mean is also on the right of the peak value.  The median will be close to the peak and the mode is at the peak</a:t>
            </a:r>
          </a:p>
          <a:p>
            <a:pPr defTabSz="1097280"/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09691" y="1258542"/>
            <a:ext cx="5073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b="1" dirty="0">
                <a:solidFill>
                  <a:prstClr val="black"/>
                </a:solidFill>
                <a:latin typeface="Calibri"/>
              </a:rPr>
              <a:t>Normal Distribution – Not skewed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A </a:t>
            </a:r>
            <a:r>
              <a:rPr lang="en-AU" dirty="0">
                <a:solidFill>
                  <a:prstClr val="black"/>
                </a:solidFill>
                <a:latin typeface="Calibri"/>
                <a:hlinkClick r:id="rId5"/>
              </a:rPr>
              <a:t>Normal Distribution</a:t>
            </a:r>
            <a:r>
              <a:rPr lang="en-AU" dirty="0">
                <a:solidFill>
                  <a:prstClr val="black"/>
                </a:solidFill>
                <a:latin typeface="Calibri"/>
              </a:rPr>
              <a:t> is not skewed. 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It is perfectly symmetrical and the Mean, mode and median are all exactly at the peak.</a:t>
            </a:r>
          </a:p>
          <a:p>
            <a:pPr defTabSz="1097280"/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Line 2"/>
          <p:cNvSpPr/>
          <p:nvPr/>
        </p:nvSpPr>
        <p:spPr>
          <a:xfrm flipV="1">
            <a:off x="609600" y="744558"/>
            <a:ext cx="10972800" cy="21172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" name="Line 3"/>
          <p:cNvSpPr/>
          <p:nvPr/>
        </p:nvSpPr>
        <p:spPr>
          <a:xfrm flipV="1">
            <a:off x="609600" y="1102744"/>
            <a:ext cx="10972800" cy="76204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4" name="CustomShape 4"/>
          <p:cNvSpPr/>
          <p:nvPr/>
        </p:nvSpPr>
        <p:spPr>
          <a:xfrm>
            <a:off x="666104" y="-40175"/>
            <a:ext cx="575640" cy="82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defTabSz="1097280"/>
            <a:r>
              <a:rPr lang="en-AU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24</a:t>
            </a:r>
            <a:endParaRPr lang="en-AU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defTabSz="1097280"/>
            <a:r>
              <a:rPr lang="en-AU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r>
            <a:endParaRPr lang="en-AU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defTabSz="1097280"/>
            <a:r>
              <a:rPr lang="en-AU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30</a:t>
            </a:r>
            <a:endParaRPr lang="en-AU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Line 5"/>
          <p:cNvSpPr/>
          <p:nvPr/>
        </p:nvSpPr>
        <p:spPr>
          <a:xfrm>
            <a:off x="3313372" y="1198270"/>
            <a:ext cx="43506" cy="5548049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6" name="CustomShape 6"/>
          <p:cNvSpPr/>
          <p:nvPr/>
        </p:nvSpPr>
        <p:spPr>
          <a:xfrm>
            <a:off x="9585149" y="-61906"/>
            <a:ext cx="158364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defTabSz="1097280"/>
            <a:r>
              <a:rPr lang="en-AU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Date</a:t>
            </a:r>
            <a:endParaRPr lang="en-AU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8"/>
          <p:cNvSpPr/>
          <p:nvPr/>
        </p:nvSpPr>
        <p:spPr>
          <a:xfrm>
            <a:off x="2110716" y="780265"/>
            <a:ext cx="8137440" cy="821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defTabSz="1097280"/>
            <a:r>
              <a:rPr lang="en-AU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EQ – How do we describe data distribution. </a:t>
            </a:r>
            <a:endParaRPr lang="en-AU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9"/>
          <p:cNvSpPr/>
          <p:nvPr/>
        </p:nvSpPr>
        <p:spPr>
          <a:xfrm>
            <a:off x="2600974" y="187930"/>
            <a:ext cx="5036400" cy="57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defTabSz="1097280"/>
            <a:r>
              <a:rPr lang="en-AU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Topic  -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1643" y="5527523"/>
            <a:ext cx="52913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97280"/>
            <a:r>
              <a:rPr lang="en-AU" b="1" dirty="0">
                <a:solidFill>
                  <a:prstClr val="black"/>
                </a:solidFill>
                <a:latin typeface="Calibri"/>
              </a:rPr>
              <a:t>Bimodal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Bimodal means it has 2 modes.  </a:t>
            </a:r>
          </a:p>
          <a:p>
            <a:pPr defTabSz="1097280"/>
            <a:r>
              <a:rPr lang="en-AU" dirty="0">
                <a:solidFill>
                  <a:prstClr val="black"/>
                </a:solidFill>
                <a:latin typeface="Calibri"/>
              </a:rPr>
              <a:t>On a graph it has 2 peaks which are its 2 modal values.</a:t>
            </a:r>
          </a:p>
          <a:p>
            <a:pPr defTabSz="1097280"/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D9323-39FB-4B3E-A8B3-438797578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46" y="5504195"/>
            <a:ext cx="2108597" cy="11053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E74403-47A9-4F7B-A82F-E64A32C2EE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743" y="1402241"/>
            <a:ext cx="1974502" cy="120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4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11031" y="1055525"/>
            <a:ext cx="10969943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1029" y="300936"/>
            <a:ext cx="51832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714"/>
            <a:r>
              <a:rPr lang="en-AU" sz="144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822714"/>
            <a:r>
              <a:rPr lang="en-AU" sz="144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822714"/>
            <a:r>
              <a:rPr lang="en-AU" sz="144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272375" y="1511695"/>
            <a:ext cx="0" cy="500340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9352" y="405782"/>
            <a:ext cx="5545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22714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 with histograms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9067" y="467092"/>
            <a:ext cx="834172" cy="42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714"/>
            <a:r>
              <a:rPr lang="en-AU" sz="215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779815"/>
            <a:ext cx="1661345" cy="1089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714"/>
            <a:r>
              <a:rPr lang="en-US" sz="215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</a:t>
            </a:r>
            <a:r>
              <a:rPr lang="en-US" sz="2159" b="1" dirty="0" err="1">
                <a:solidFill>
                  <a:prstClr val="black"/>
                </a:solidFill>
                <a:latin typeface="Fragment Core" panose="02000504040000020003" pitchFamily="50" charset="0"/>
              </a:rPr>
              <a:t>analyse</a:t>
            </a:r>
            <a:r>
              <a:rPr lang="en-US" sz="2159" b="1" dirty="0">
                <a:solidFill>
                  <a:prstClr val="black"/>
                </a:solidFill>
                <a:latin typeface="Fragment Core" panose="02000504040000020003" pitchFamily="50" charset="0"/>
              </a:rPr>
              <a:t> a graph?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1" y="1042879"/>
            <a:ext cx="954686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714"/>
            <a:r>
              <a:rPr lang="en-AU" sz="252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 from histograms?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611031" y="1511696"/>
            <a:ext cx="10969943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5BB7640-0BB5-4606-957A-3739AB76B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65" y="1727982"/>
            <a:ext cx="9087956" cy="34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2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1CAEFB-FEF9-4AAA-BAFD-8E3D1FEA8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60" y="1203026"/>
            <a:ext cx="8657384" cy="483069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020" y="478794"/>
            <a:ext cx="7747523" cy="1163725"/>
          </a:xfrm>
        </p:spPr>
        <p:txBody>
          <a:bodyPr>
            <a:normAutofit/>
          </a:bodyPr>
          <a:lstStyle/>
          <a:p>
            <a:pPr algn="r"/>
            <a:r>
              <a:rPr lang="en-AU" sz="486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486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97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C9D8-9F92-43E0-8CFC-85956B37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384" y="4623875"/>
            <a:ext cx="10025869" cy="837402"/>
          </a:xfrm>
        </p:spPr>
        <p:txBody>
          <a:bodyPr spcFirstLastPara="1" vert="horz" wrap="square" lIns="82296" tIns="41148" rIns="82296" bIns="41148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860">
                <a:solidFill>
                  <a:srgbClr val="FFFFFF"/>
                </a:solidFill>
              </a:rPr>
              <a:t>Histograms with outliers</a:t>
            </a:r>
          </a:p>
        </p:txBody>
      </p:sp>
      <p:sp>
        <p:nvSpPr>
          <p:cNvPr id="5" name="AutoShape 6" descr="Image result for histogram examples with outliers">
            <a:extLst>
              <a:ext uri="{FF2B5EF4-FFF2-40B4-BE49-F238E27FC236}">
                <a16:creationId xmlns:a16="http://schemas.microsoft.com/office/drawing/2014/main" id="{00095030-D566-4858-A688-CD4FD1CA3F6E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1981199" y="5272276"/>
            <a:ext cx="8229600" cy="37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spcFirstLastPara="1" vert="horz" wrap="square" lIns="82296" tIns="41148" rIns="82296" bIns="4114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900"/>
              </a:spcBef>
              <a:buNone/>
            </a:pPr>
            <a:r>
              <a:rPr lang="en-US" sz="5280" dirty="0"/>
              <a:t>One bar will be very far away</a:t>
            </a:r>
          </a:p>
        </p:txBody>
      </p:sp>
      <p:pic>
        <p:nvPicPr>
          <p:cNvPr id="1026" name="Picture 2" descr="Image result for histogram examples with outliers">
            <a:extLst>
              <a:ext uri="{FF2B5EF4-FFF2-40B4-BE49-F238E27FC236}">
                <a16:creationId xmlns:a16="http://schemas.microsoft.com/office/drawing/2014/main" id="{3CFA84A7-5434-4AAA-A576-593B15D00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6" y="738605"/>
            <a:ext cx="4910326" cy="336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DDC165-2A73-4F44-96CB-DB83033C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9" y="773838"/>
            <a:ext cx="4910326" cy="32899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17617" y="4320273"/>
            <a:ext cx="7328353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97280"/>
            <a:r>
              <a:rPr lang="en-US" sz="5280" dirty="0">
                <a:solidFill>
                  <a:prstClr val="black"/>
                </a:solidFill>
                <a:latin typeface="Calibri"/>
              </a:rPr>
              <a:t>How do we spot outliers? </a:t>
            </a:r>
            <a:endParaRPr lang="en-AU" sz="528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201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3597206"/>
            <a:ext cx="10241280" cy="3028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89" y="461925"/>
            <a:ext cx="9932670" cy="29375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51373" y="4897950"/>
            <a:ext cx="95586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8819" y="4423180"/>
            <a:ext cx="216024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565" y="1182351"/>
            <a:ext cx="216024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4685" y="1608632"/>
            <a:ext cx="108012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5349" y="2062067"/>
            <a:ext cx="120973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1819" y="5330012"/>
            <a:ext cx="216024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199661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978" y="600890"/>
            <a:ext cx="9778144" cy="30340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77" y="3765598"/>
            <a:ext cx="9544050" cy="2423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229" y="5305969"/>
            <a:ext cx="139630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8819" y="4423180"/>
            <a:ext cx="216024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bimodal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2963" y="1409453"/>
            <a:ext cx="274122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 smtClean="0">
                <a:solidFill>
                  <a:prstClr val="black"/>
                </a:solidFill>
                <a:latin typeface="Calibri"/>
              </a:rPr>
              <a:t>symmetrical</a:t>
            </a:r>
            <a:endParaRPr lang="en-AU" sz="288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58476" y="2287901"/>
            <a:ext cx="108012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2650" y="2715213"/>
            <a:ext cx="120973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/>
            <a:r>
              <a:rPr lang="en-AU" sz="2880" b="1" dirty="0">
                <a:solidFill>
                  <a:prstClr val="black"/>
                </a:solidFill>
                <a:latin typeface="Calibri"/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7091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2435" y="1527989"/>
            <a:ext cx="60486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7280"/>
            <a:r>
              <a:rPr lang="en-AU" sz="9600" b="1" dirty="0">
                <a:solidFill>
                  <a:prstClr val="black"/>
                </a:solidFill>
                <a:latin typeface="Calibri"/>
              </a:rPr>
              <a:t>Extension Questions</a:t>
            </a:r>
          </a:p>
        </p:txBody>
      </p:sp>
    </p:spTree>
    <p:extLst>
      <p:ext uri="{BB962C8B-B14F-4D97-AF65-F5344CB8AC3E}">
        <p14:creationId xmlns:p14="http://schemas.microsoft.com/office/powerpoint/2010/main" val="293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287" y="342901"/>
            <a:ext cx="7747523" cy="1163725"/>
          </a:xfrm>
        </p:spPr>
        <p:txBody>
          <a:bodyPr>
            <a:normAutofit/>
          </a:bodyPr>
          <a:lstStyle/>
          <a:p>
            <a:pPr algn="r"/>
            <a:r>
              <a:rPr lang="en-AU" sz="486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486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307BBB-840C-4B26-B14D-36D4A234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88244"/>
            <a:ext cx="10972800" cy="408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2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287" y="342901"/>
            <a:ext cx="7747523" cy="1163725"/>
          </a:xfrm>
        </p:spPr>
        <p:txBody>
          <a:bodyPr>
            <a:normAutofit/>
          </a:bodyPr>
          <a:lstStyle/>
          <a:p>
            <a:pPr algn="r"/>
            <a:r>
              <a:rPr lang="en-AU" sz="486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486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E49CA-94DC-4E1B-A4BE-B266AA59E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3842"/>
            <a:ext cx="10972800" cy="44644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1224B7-30D3-4963-94B3-5B5D3E2E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125" y="423592"/>
            <a:ext cx="2334942" cy="89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6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287" y="342901"/>
            <a:ext cx="7747523" cy="1163725"/>
          </a:xfrm>
        </p:spPr>
        <p:txBody>
          <a:bodyPr>
            <a:normAutofit/>
          </a:bodyPr>
          <a:lstStyle/>
          <a:p>
            <a:pPr algn="r"/>
            <a:r>
              <a:rPr lang="en-AU" sz="486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486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1D075A-D245-4277-BA9D-978E92A12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98028"/>
            <a:ext cx="10972800" cy="4497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856BB-875B-4D8D-966C-938CA094F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577" y="377547"/>
            <a:ext cx="2558892" cy="98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1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283</Words>
  <Application>Microsoft Office PowerPoint</Application>
  <PresentationFormat>Widescreen</PresentationFormat>
  <Paragraphs>68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Fragment Core</vt:lpstr>
      <vt:lpstr>1_Office Theme</vt:lpstr>
      <vt:lpstr>PowerPoint Presentation</vt:lpstr>
      <vt:lpstr>PowerPoint Presentation</vt:lpstr>
      <vt:lpstr>PowerPoint Presentation</vt:lpstr>
      <vt:lpstr>PowerPoint Presentation</vt:lpstr>
      <vt:lpstr>Practice</vt:lpstr>
      <vt:lpstr>Histograms with outliers</vt:lpstr>
      <vt:lpstr>PowerPoint Presentation</vt:lpstr>
      <vt:lpstr>PowerPoint Presentation</vt:lpstr>
      <vt:lpstr>PowerPoint Presentation</vt:lpstr>
      <vt:lpstr>Task</vt:lpstr>
      <vt:lpstr>Task</vt:lpstr>
      <vt:lpstr>Task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MANSFIELD Martin [Baldivis Secondary College]</dc:creator>
  <cp:lastModifiedBy>MANSFIELD Martin [Baldivis Secondary College]</cp:lastModifiedBy>
  <cp:revision>2</cp:revision>
  <dcterms:created xsi:type="dcterms:W3CDTF">2020-09-23T03:53:50Z</dcterms:created>
  <dcterms:modified xsi:type="dcterms:W3CDTF">2020-09-25T06:47:03Z</dcterms:modified>
</cp:coreProperties>
</file>
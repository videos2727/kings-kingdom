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1" r:id="rId2"/>
    <p:sldId id="345" r:id="rId3"/>
    <p:sldId id="354" r:id="rId4"/>
    <p:sldId id="337" r:id="rId5"/>
    <p:sldId id="358" r:id="rId6"/>
    <p:sldId id="344" r:id="rId7"/>
    <p:sldId id="334" r:id="rId8"/>
    <p:sldId id="336" r:id="rId9"/>
    <p:sldId id="339" r:id="rId10"/>
    <p:sldId id="338" r:id="rId11"/>
    <p:sldId id="329" r:id="rId12"/>
    <p:sldId id="347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41" autoAdjust="0"/>
    <p:restoredTop sz="89850" autoAdjust="0"/>
  </p:normalViewPr>
  <p:slideViewPr>
    <p:cSldViewPr>
      <p:cViewPr varScale="1">
        <p:scale>
          <a:sx n="87" d="100"/>
          <a:sy n="87" d="100"/>
        </p:scale>
        <p:origin x="912" y="6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/>
              <a:t>iler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82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4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7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Histograms display </a:t>
            </a:r>
            <a:r>
              <a:rPr lang="en-AU" b="1" dirty="0"/>
              <a:t>continuous numerical </a:t>
            </a:r>
            <a:r>
              <a:rPr lang="en-AU" dirty="0"/>
              <a:t>data without any </a:t>
            </a:r>
            <a:r>
              <a:rPr lang="en-AU" b="1" dirty="0"/>
              <a:t>gaps</a:t>
            </a:r>
            <a:r>
              <a:rPr lang="en-AU" dirty="0"/>
              <a:t>. To create histograms we need to decide on appropriate </a:t>
            </a:r>
            <a:r>
              <a:rPr lang="en-AU" b="1" dirty="0"/>
              <a:t>class width sizes </a:t>
            </a:r>
            <a:r>
              <a:rPr lang="en-AU" dirty="0"/>
              <a:t>and then create a </a:t>
            </a:r>
            <a:r>
              <a:rPr lang="en-AU" b="1" dirty="0"/>
              <a:t>frequency</a:t>
            </a:r>
            <a:r>
              <a:rPr lang="en-AU" dirty="0"/>
              <a:t> table.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1998AB-7CBF-4657-BBB5-55646DC3695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821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647056" y="100420"/>
            <a:ext cx="8496944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AU" sz="2400" b="1" u="sng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Question </a:t>
            </a:r>
            <a:r>
              <a:rPr lang="en-AU" sz="2400" b="1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1 </a:t>
            </a:r>
          </a:p>
          <a:p>
            <a:endParaRPr lang="en-AU" sz="2400" b="1" dirty="0" smtClean="0"/>
          </a:p>
          <a:p>
            <a:r>
              <a:rPr lang="en-AU" sz="2400" b="1" dirty="0" smtClean="0"/>
              <a:t>A </a:t>
            </a:r>
            <a:r>
              <a:rPr lang="en-AU" sz="2400" b="1" dirty="0"/>
              <a:t>class of students has measured their heights.</a:t>
            </a:r>
          </a:p>
          <a:p>
            <a:endParaRPr lang="en-AU" sz="2400" dirty="0"/>
          </a:p>
          <a:p>
            <a:r>
              <a:rPr lang="en-AU" sz="2400" dirty="0" smtClean="0"/>
              <a:t>	146</a:t>
            </a:r>
            <a:r>
              <a:rPr lang="en-AU" sz="2400" dirty="0"/>
              <a:t>, 148, 151, 153, 153, 154, </a:t>
            </a:r>
            <a:r>
              <a:rPr lang="en-AU" sz="2400" dirty="0" smtClean="0"/>
              <a:t>154, </a:t>
            </a:r>
            <a:r>
              <a:rPr lang="en-AU" sz="2400" dirty="0"/>
              <a:t>156, 156, 156, </a:t>
            </a:r>
            <a:endParaRPr lang="en-AU" sz="2400" dirty="0" smtClean="0"/>
          </a:p>
          <a:p>
            <a:r>
              <a:rPr lang="en-AU" sz="2400" dirty="0" smtClean="0"/>
              <a:t>	157</a:t>
            </a:r>
            <a:r>
              <a:rPr lang="en-AU" sz="2400" dirty="0"/>
              <a:t>, 157, 159, 162, 162, </a:t>
            </a:r>
            <a:r>
              <a:rPr lang="en-AU" sz="2400" dirty="0" smtClean="0"/>
              <a:t>163, </a:t>
            </a:r>
            <a:r>
              <a:rPr lang="en-AU" sz="2400" dirty="0"/>
              <a:t>163, 164, 164, 165, </a:t>
            </a:r>
            <a:endParaRPr lang="en-AU" sz="2400" dirty="0" smtClean="0"/>
          </a:p>
          <a:p>
            <a:r>
              <a:rPr lang="en-AU" sz="2400" dirty="0" smtClean="0"/>
              <a:t>	165</a:t>
            </a:r>
            <a:r>
              <a:rPr lang="en-AU" sz="2400" dirty="0"/>
              <a:t>, 168, 168, 173, 174, 177, 181. </a:t>
            </a:r>
          </a:p>
          <a:p>
            <a:endParaRPr lang="en-AU" sz="2400" b="1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  <a:p>
            <a:r>
              <a:rPr lang="en-AU" sz="2400" b="1" dirty="0" smtClean="0"/>
              <a:t>Calculate  </a:t>
            </a:r>
            <a:r>
              <a:rPr lang="en-AU" sz="2400" b="1" dirty="0"/>
              <a:t>the mean, mode, median and range?</a:t>
            </a:r>
          </a:p>
          <a:p>
            <a:endParaRPr lang="en-AU" sz="2400" b="1" dirty="0"/>
          </a:p>
          <a:p>
            <a:r>
              <a:rPr lang="en-AU" sz="2400" b="1" dirty="0" smtClean="0"/>
              <a:t>How could we present this information diagrammatically?</a:t>
            </a:r>
          </a:p>
          <a:p>
            <a:endParaRPr lang="en-AU" sz="2400" b="1" dirty="0" smtClean="0"/>
          </a:p>
          <a:p>
            <a:r>
              <a:rPr lang="en-AU" sz="2400" b="1" dirty="0" smtClean="0"/>
              <a:t>With a partner, name five types of graphs you might see in advertising.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390457" y="1633364"/>
            <a:ext cx="836506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sz="2800" dirty="0"/>
          </a:p>
          <a:p>
            <a:r>
              <a:rPr lang="en-AU" sz="2800" dirty="0"/>
              <a:t>Mean = 	  </a:t>
            </a:r>
            <a:r>
              <a:rPr lang="en-AU" sz="2800" dirty="0" smtClean="0"/>
              <a:t>4349 / 27 = 161.07 (2.d.p.) </a:t>
            </a:r>
            <a:endParaRPr lang="en-AU" sz="2800" dirty="0"/>
          </a:p>
          <a:p>
            <a:r>
              <a:rPr lang="en-AU" sz="2800" dirty="0"/>
              <a:t>Mode =	  156</a:t>
            </a:r>
          </a:p>
          <a:p>
            <a:r>
              <a:rPr lang="en-AU" sz="2800" dirty="0"/>
              <a:t>Median =  </a:t>
            </a:r>
            <a:r>
              <a:rPr lang="en-AU" sz="2800" dirty="0" smtClean="0"/>
              <a:t>      162</a:t>
            </a:r>
            <a:endParaRPr lang="en-AU" sz="2800" dirty="0"/>
          </a:p>
          <a:p>
            <a:r>
              <a:rPr lang="en-AU" sz="2800" dirty="0"/>
              <a:t>Range = 	  </a:t>
            </a:r>
            <a:r>
              <a:rPr lang="en-AU" sz="2800" dirty="0" smtClean="0"/>
              <a:t>181 – 146 = 35</a:t>
            </a:r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 smtClean="0"/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611560" y="193204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u="sng" dirty="0" smtClean="0"/>
              <a:t>Mean</a:t>
            </a:r>
          </a:p>
          <a:p>
            <a:pPr algn="ctr"/>
            <a:endParaRPr lang="en-AU" sz="2800" u="sng" dirty="0"/>
          </a:p>
          <a:p>
            <a:pPr algn="ctr"/>
            <a:r>
              <a:rPr lang="en-AU" sz="2800" dirty="0" smtClean="0"/>
              <a:t>“Add them all up and divide by how many there are”</a:t>
            </a:r>
          </a:p>
          <a:p>
            <a:pPr algn="ctr"/>
            <a:endParaRPr lang="en-AU" sz="2800" dirty="0"/>
          </a:p>
          <a:p>
            <a:pPr algn="ctr"/>
            <a:endParaRPr lang="en-AU" sz="2800" dirty="0"/>
          </a:p>
          <a:p>
            <a:pPr algn="ctr"/>
            <a:endParaRPr lang="en-AU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583501" y="202503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u="sng" dirty="0" smtClean="0"/>
              <a:t>Mode</a:t>
            </a:r>
          </a:p>
          <a:p>
            <a:pPr algn="ctr"/>
            <a:endParaRPr lang="en-AU" sz="2800" u="sng" dirty="0" smtClean="0"/>
          </a:p>
          <a:p>
            <a:pPr algn="ctr"/>
            <a:r>
              <a:rPr lang="en-AU" sz="2800" dirty="0" smtClean="0"/>
              <a:t>“Most common number”</a:t>
            </a:r>
          </a:p>
          <a:p>
            <a:pPr algn="ctr"/>
            <a:endParaRPr lang="en-AU" sz="2800" dirty="0"/>
          </a:p>
          <a:p>
            <a:pPr algn="ctr"/>
            <a:endParaRPr lang="en-AU" sz="2800" dirty="0"/>
          </a:p>
          <a:p>
            <a:pPr algn="ctr"/>
            <a:endParaRPr lang="en-AU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571667" y="183905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u="sng" dirty="0" smtClean="0"/>
              <a:t>Median</a:t>
            </a:r>
          </a:p>
          <a:p>
            <a:pPr algn="ctr"/>
            <a:endParaRPr lang="en-AU" sz="2800" u="sng" dirty="0"/>
          </a:p>
          <a:p>
            <a:pPr algn="ctr"/>
            <a:r>
              <a:rPr lang="en-AU" sz="2800" dirty="0" smtClean="0"/>
              <a:t>“Put them in order and find the middle”</a:t>
            </a:r>
          </a:p>
          <a:p>
            <a:pPr algn="ctr"/>
            <a:endParaRPr lang="en-AU" sz="2800" dirty="0"/>
          </a:p>
          <a:p>
            <a:pPr algn="ctr"/>
            <a:endParaRPr lang="en-AU" sz="2800" dirty="0"/>
          </a:p>
          <a:p>
            <a:pPr algn="ctr"/>
            <a:endParaRPr lang="en-AU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571667" y="202503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u="sng" dirty="0" smtClean="0"/>
              <a:t>Range</a:t>
            </a:r>
          </a:p>
          <a:p>
            <a:pPr algn="ctr"/>
            <a:endParaRPr lang="en-AU" sz="2800" u="sng" dirty="0"/>
          </a:p>
          <a:p>
            <a:pPr algn="ctr"/>
            <a:r>
              <a:rPr lang="en-AU" sz="2800" dirty="0" smtClean="0"/>
              <a:t>“Biggest take away the smallest”</a:t>
            </a:r>
          </a:p>
          <a:p>
            <a:pPr algn="ctr"/>
            <a:endParaRPr lang="en-AU" sz="2800" dirty="0"/>
          </a:p>
          <a:p>
            <a:pPr algn="ctr"/>
            <a:endParaRPr lang="en-AU" sz="2800" dirty="0"/>
          </a:p>
          <a:p>
            <a:pPr algn="ctr"/>
            <a:endParaRPr lang="en-AU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660992" y="663868"/>
            <a:ext cx="79208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 smtClean="0"/>
              <a:t>What type of graphs do you know?</a:t>
            </a:r>
          </a:p>
          <a:p>
            <a:pPr algn="ctr"/>
            <a:endParaRPr lang="en-AU" sz="2800" dirty="0"/>
          </a:p>
          <a:p>
            <a:pPr algn="ctr"/>
            <a:endParaRPr lang="en-AU" sz="2800" dirty="0"/>
          </a:p>
          <a:p>
            <a:pPr algn="ctr"/>
            <a:endParaRPr lang="en-AU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438898" y="33226"/>
            <a:ext cx="8365067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 smtClean="0"/>
          </a:p>
          <a:p>
            <a:r>
              <a:rPr lang="en-AU" sz="2800" dirty="0" smtClean="0"/>
              <a:t>Pie Chart,  Line graph, Dot Plot, Scatter Plot, Histogram…</a:t>
            </a:r>
            <a:endParaRPr lang="en-AU" sz="6000" dirty="0" smtClean="0"/>
          </a:p>
          <a:p>
            <a:pPr algn="ctr"/>
            <a:endParaRPr lang="en-AU" sz="6000" dirty="0" smtClean="0"/>
          </a:p>
          <a:p>
            <a:pPr algn="ctr"/>
            <a:r>
              <a:rPr lang="en-AU" sz="6000" dirty="0" smtClean="0"/>
              <a:t>But wait… </a:t>
            </a:r>
          </a:p>
          <a:p>
            <a:pPr algn="ctr"/>
            <a:r>
              <a:rPr lang="en-AU" sz="6000" dirty="0" smtClean="0"/>
              <a:t>What is a Histogram?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0625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1935912"/>
            <a:ext cx="7344816" cy="193899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/>
            <a:r>
              <a:rPr lang="en-AU" sz="12000" dirty="0" smtClean="0"/>
              <a:t>Histograms</a:t>
            </a:r>
            <a:endParaRPr lang="en-AU" sz="12000" dirty="0"/>
          </a:p>
        </p:txBody>
      </p:sp>
    </p:spTree>
    <p:extLst>
      <p:ext uri="{BB962C8B-B14F-4D97-AF65-F5344CB8AC3E}">
        <p14:creationId xmlns:p14="http://schemas.microsoft.com/office/powerpoint/2010/main" val="147866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histograms. </a:t>
            </a:r>
          </a:p>
          <a:p>
            <a:r>
              <a:rPr lang="en-AU" sz="2000" dirty="0"/>
              <a:t>A histogram looks a lot like a column graph but there are a couple of key differences.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339752" y="1201316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220072" y="1141502"/>
            <a:ext cx="197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5146158" y="1604469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515296" y="1604469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868144" y="1604469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6082922" y="1629027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9668"/>
            <a:ext cx="2855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Data is </a:t>
            </a:r>
            <a:r>
              <a:rPr lang="en-AU" sz="2400" i="1" dirty="0"/>
              <a:t>categorical</a:t>
            </a:r>
            <a:r>
              <a:rPr lang="en-AU" sz="2400" dirty="0"/>
              <a:t>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772624" y="4365839"/>
            <a:ext cx="3897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Data is </a:t>
            </a:r>
            <a:r>
              <a:rPr lang="en-AU" sz="2400" i="1" dirty="0"/>
              <a:t>continuous numerical </a:t>
            </a:r>
            <a:r>
              <a:rPr lang="en-AU" sz="2400" dirty="0"/>
              <a:t>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6286088" y="3904346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409228"/>
            <a:ext cx="78488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Question </a:t>
            </a:r>
            <a:r>
              <a:rPr lang="en-AU" sz="2400" b="1" u="sng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2</a:t>
            </a:r>
            <a:endParaRPr lang="en-AU" sz="2400" b="1" u="sng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  <a:p>
            <a:endParaRPr lang="en-AU" sz="2400" b="1" dirty="0" smtClean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  <a:p>
            <a:r>
              <a:rPr lang="en-AU" sz="2400" dirty="0" smtClean="0"/>
              <a:t>A bar chart has ____________ between the columns while a </a:t>
            </a:r>
          </a:p>
          <a:p>
            <a:endParaRPr lang="en-AU" sz="2400" dirty="0"/>
          </a:p>
          <a:p>
            <a:r>
              <a:rPr lang="en-AU" sz="2400" dirty="0" smtClean="0"/>
              <a:t>Histogram _____________. A bar chart displays</a:t>
            </a:r>
          </a:p>
          <a:p>
            <a:endParaRPr lang="en-AU" sz="2400" dirty="0"/>
          </a:p>
          <a:p>
            <a:r>
              <a:rPr lang="en-AU" sz="2400" dirty="0" smtClean="0"/>
              <a:t>______________________ data while a histogram displays</a:t>
            </a:r>
          </a:p>
          <a:p>
            <a:endParaRPr lang="en-AU" sz="2400" dirty="0"/>
          </a:p>
          <a:p>
            <a:endParaRPr lang="en-AU" sz="2400" dirty="0" smtClean="0"/>
          </a:p>
          <a:p>
            <a:r>
              <a:rPr lang="en-AU" sz="2400" dirty="0" smtClean="0"/>
              <a:t>_________________________ data.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726683" y="357757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numerical</a:t>
            </a:r>
            <a:endParaRPr lang="en-A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357758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</a:t>
            </a:r>
            <a:r>
              <a:rPr lang="en-AU" sz="2400" b="1" dirty="0" smtClean="0"/>
              <a:t>ontinuous</a:t>
            </a:r>
            <a:endParaRPr lang="en-AU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105730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gaps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519772" y="1829383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d</a:t>
            </a:r>
            <a:r>
              <a:rPr lang="en-AU" sz="2400" b="1" dirty="0" smtClean="0"/>
              <a:t>oes not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19672" y="2539851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categorical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3557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83605" y="2309447"/>
            <a:ext cx="891073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Lets look at the data we used for the warm up.  </a:t>
            </a:r>
          </a:p>
          <a:p>
            <a:r>
              <a:rPr lang="en-AU" dirty="0"/>
              <a:t>146, 148, 151, 153, 153, 154, </a:t>
            </a:r>
            <a:r>
              <a:rPr lang="en-AU" dirty="0" smtClean="0"/>
              <a:t>154, </a:t>
            </a:r>
            <a:r>
              <a:rPr lang="en-AU" dirty="0"/>
              <a:t>156, 156, 156, 157, 159, 162, 162, </a:t>
            </a:r>
            <a:r>
              <a:rPr lang="en-AU" dirty="0" smtClean="0"/>
              <a:t>163, </a:t>
            </a:r>
            <a:r>
              <a:rPr lang="en-AU" dirty="0"/>
              <a:t>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The range was found to be 35.</a:t>
            </a:r>
          </a:p>
          <a:p>
            <a:endParaRPr lang="en-AU" dirty="0"/>
          </a:p>
          <a:p>
            <a:r>
              <a:rPr lang="en-AU" dirty="0"/>
              <a:t>I want to create a histogram with between 5 and 20 “classes” (or columns).  If you can choose a class width using a number that is easy to calculate with.  A class width of 10 creates only 4 classes, while a class width of 5 (starting at 145) creates 8 classes.  A class width of 2 is possible but will create 16 classes many of which will have only 1 or 2 results in them.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DFF95-20AF-4A7A-8B0A-FB79EA312255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87725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98267" y="2201557"/>
            <a:ext cx="869421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have decided to use class widths of 5.  Lets create a frequency table from our data.</a:t>
            </a:r>
          </a:p>
          <a:p>
            <a:r>
              <a:rPr lang="en-AU" dirty="0"/>
              <a:t>146, 148, 151, 153, 153, 154, </a:t>
            </a:r>
            <a:r>
              <a:rPr lang="en-AU" dirty="0" smtClean="0"/>
              <a:t>154, </a:t>
            </a:r>
            <a:r>
              <a:rPr lang="en-AU" dirty="0"/>
              <a:t>156, 156, 156, 157, 157, 159, 162, 162, </a:t>
            </a:r>
            <a:r>
              <a:rPr lang="en-AU" dirty="0" smtClean="0"/>
              <a:t>163, </a:t>
            </a:r>
            <a:r>
              <a:rPr lang="en-AU" dirty="0"/>
              <a:t>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145 – 149</a:t>
            </a:r>
          </a:p>
          <a:p>
            <a:r>
              <a:rPr lang="en-AU" dirty="0"/>
              <a:t>150 – 154 </a:t>
            </a:r>
          </a:p>
          <a:p>
            <a:r>
              <a:rPr lang="en-AU" dirty="0"/>
              <a:t>155 – 159 </a:t>
            </a:r>
          </a:p>
          <a:p>
            <a:r>
              <a:rPr lang="en-AU" dirty="0"/>
              <a:t>160 – 164 </a:t>
            </a:r>
          </a:p>
          <a:p>
            <a:r>
              <a:rPr lang="en-AU" dirty="0"/>
              <a:t>165 – 169 </a:t>
            </a:r>
          </a:p>
          <a:p>
            <a:r>
              <a:rPr lang="en-AU" dirty="0"/>
              <a:t>170 – 174 </a:t>
            </a:r>
          </a:p>
          <a:p>
            <a:r>
              <a:rPr lang="en-AU" dirty="0"/>
              <a:t>175 – 179 </a:t>
            </a:r>
          </a:p>
          <a:p>
            <a:r>
              <a:rPr lang="en-AU" dirty="0"/>
              <a:t>180 – 184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9CA59-A2F8-4BD5-8E8D-DCC0402C14EE}"/>
              </a:ext>
            </a:extLst>
          </p:cNvPr>
          <p:cNvSpPr txBox="1"/>
          <p:nvPr/>
        </p:nvSpPr>
        <p:spPr>
          <a:xfrm>
            <a:off x="1252779" y="3309553"/>
            <a:ext cx="2232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||                   = 2</a:t>
            </a:r>
          </a:p>
          <a:p>
            <a:r>
              <a:rPr lang="en-AU" strike="sngStrike" dirty="0"/>
              <a:t>||||</a:t>
            </a:r>
            <a:r>
              <a:rPr lang="en-AU" dirty="0"/>
              <a:t>               = 5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dirty="0"/>
              <a:t>||||               = 4</a:t>
            </a:r>
          </a:p>
          <a:p>
            <a:r>
              <a:rPr lang="en-AU" dirty="0"/>
              <a:t>||                   = 2</a:t>
            </a:r>
          </a:p>
          <a:p>
            <a:r>
              <a:rPr lang="en-AU" dirty="0"/>
              <a:t>|                     = 1</a:t>
            </a:r>
          </a:p>
          <a:p>
            <a:r>
              <a:rPr lang="en-AU" dirty="0"/>
              <a:t>|                    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03373-8416-4C8A-BE42-97E7BB8B1415}"/>
              </a:ext>
            </a:extLst>
          </p:cNvPr>
          <p:cNvSpPr txBox="1"/>
          <p:nvPr/>
        </p:nvSpPr>
        <p:spPr>
          <a:xfrm>
            <a:off x="125761" y="1502840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6256" y="3494219"/>
            <a:ext cx="4248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Question </a:t>
            </a:r>
            <a:r>
              <a:rPr lang="en-AU" sz="6000" b="1" u="sng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3 </a:t>
            </a:r>
            <a:endParaRPr lang="en-AU" sz="6000" b="1" u="sng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  <a:p>
            <a:endParaRPr lang="en-AU" sz="6000" dirty="0"/>
          </a:p>
        </p:txBody>
      </p:sp>
    </p:spTree>
    <p:extLst>
      <p:ext uri="{BB962C8B-B14F-4D97-AF65-F5344CB8AC3E}">
        <p14:creationId xmlns:p14="http://schemas.microsoft.com/office/powerpoint/2010/main" val="39867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endParaRPr lang="en-AU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1EEE4CC-3B53-40D8-A6C7-5C10A8B2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86385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8957B2-FECA-4832-8089-8B47FE9ECFF7}"/>
              </a:ext>
            </a:extLst>
          </p:cNvPr>
          <p:cNvSpPr txBox="1"/>
          <p:nvPr/>
        </p:nvSpPr>
        <p:spPr>
          <a:xfrm>
            <a:off x="4305072" y="4935439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4694F-E6A5-418A-B324-C9DB5D4EAAAC}"/>
              </a:ext>
            </a:extLst>
          </p:cNvPr>
          <p:cNvSpPr txBox="1"/>
          <p:nvPr/>
        </p:nvSpPr>
        <p:spPr>
          <a:xfrm>
            <a:off x="2093987" y="3100091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06A94B-4FDE-4101-A61B-EF7237735BDF}"/>
              </a:ext>
            </a:extLst>
          </p:cNvPr>
          <p:cNvSpPr/>
          <p:nvPr/>
        </p:nvSpPr>
        <p:spPr>
          <a:xfrm>
            <a:off x="2834284" y="2850433"/>
            <a:ext cx="4618036" cy="187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8B6F2-1E81-49CE-9361-ABE9A90B1B3F}"/>
              </a:ext>
            </a:extLst>
          </p:cNvPr>
          <p:cNvSpPr txBox="1"/>
          <p:nvPr/>
        </p:nvSpPr>
        <p:spPr>
          <a:xfrm>
            <a:off x="3105984" y="3274160"/>
            <a:ext cx="310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Our maximum frequency is 6 so our y axis must go to at least 6 and we use our class widths to determine the x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404FC-85A5-48F5-80A1-A4F700EDCF7E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36A00D-FBF6-4898-8952-79D2BAFF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46" y="2926697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89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FE347-3C80-4E8D-96D9-03AE5DCF3CDC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pPr marL="342900" indent="-342900">
              <a:buAutoNum type="arabicPeriod"/>
            </a:pPr>
            <a:r>
              <a:rPr lang="en-AU" dirty="0"/>
              <a:t>Use the frequency data from the frequency table to complete the graph and add a title.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6797062-D970-463E-A9A0-01134D541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94" y="3614301"/>
            <a:ext cx="3925483" cy="170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ACF6A3-09C4-4BE7-B90A-D83868A07B24}"/>
              </a:ext>
            </a:extLst>
          </p:cNvPr>
          <p:cNvSpPr txBox="1"/>
          <p:nvPr/>
        </p:nvSpPr>
        <p:spPr>
          <a:xfrm>
            <a:off x="4462857" y="5299491"/>
            <a:ext cx="817697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b="1" dirty="0"/>
              <a:t>Height(cm)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9F6EB-1312-4B73-A189-09CF4C7C4C39}"/>
              </a:ext>
            </a:extLst>
          </p:cNvPr>
          <p:cNvSpPr txBox="1"/>
          <p:nvPr/>
        </p:nvSpPr>
        <p:spPr>
          <a:xfrm rot="16200000">
            <a:off x="2647609" y="4064198"/>
            <a:ext cx="91389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b="1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E2AEDB-5599-4C42-B4B2-279CB559AADA}"/>
              </a:ext>
            </a:extLst>
          </p:cNvPr>
          <p:cNvSpPr txBox="1"/>
          <p:nvPr/>
        </p:nvSpPr>
        <p:spPr>
          <a:xfrm>
            <a:off x="3896302" y="3281769"/>
            <a:ext cx="228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u="sng" dirty="0"/>
              <a:t>Heights of </a:t>
            </a:r>
            <a:r>
              <a:rPr lang="en-AU" sz="1500" u="sng" dirty="0" smtClean="0"/>
              <a:t>students in 8 -7</a:t>
            </a:r>
            <a:endParaRPr lang="en-AU" sz="1500" u="sn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DCC1A-FBE9-41A1-8957-601AE6E4B0AD}"/>
              </a:ext>
            </a:extLst>
          </p:cNvPr>
          <p:cNvSpPr txBox="1"/>
          <p:nvPr/>
        </p:nvSpPr>
        <p:spPr>
          <a:xfrm>
            <a:off x="6296139" y="3173485"/>
            <a:ext cx="952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8180-0117-4B80-B864-F2DE71D43093}"/>
              </a:ext>
            </a:extLst>
          </p:cNvPr>
          <p:cNvSpPr txBox="1"/>
          <p:nvPr/>
        </p:nvSpPr>
        <p:spPr>
          <a:xfrm>
            <a:off x="2408036" y="5308595"/>
            <a:ext cx="9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878812" y="4637875"/>
            <a:ext cx="225743" cy="6533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B8019A-854D-4083-9754-FA38D6602FEB}"/>
              </a:ext>
            </a:extLst>
          </p:cNvPr>
          <p:cNvCxnSpPr>
            <a:cxnSpLocks/>
          </p:cNvCxnSpPr>
          <p:nvPr/>
        </p:nvCxnSpPr>
        <p:spPr>
          <a:xfrm flipV="1">
            <a:off x="3034772" y="5421245"/>
            <a:ext cx="1408281" cy="453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47EA3-3D54-4F54-A015-8FCEA326685D}"/>
              </a:ext>
            </a:extLst>
          </p:cNvPr>
          <p:cNvSpPr txBox="1"/>
          <p:nvPr/>
        </p:nvSpPr>
        <p:spPr>
          <a:xfrm>
            <a:off x="4332073" y="4212235"/>
            <a:ext cx="1166768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316CA8-FC41-4E09-BDF6-35AACDFD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5" y="3308750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</p:cNvCxnSpPr>
          <p:nvPr/>
        </p:nvCxnSpPr>
        <p:spPr>
          <a:xfrm flipH="1" flipV="1">
            <a:off x="6090543" y="3438063"/>
            <a:ext cx="509340" cy="105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2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8856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6307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80868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96666" y="1293825"/>
            <a:ext cx="0" cy="4500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1681" y="337220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95" y="886197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2354378" y="1769491"/>
            <a:ext cx="62500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800" dirty="0" smtClean="0"/>
              <a:t>Decide on the class width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800" dirty="0" smtClean="0"/>
              <a:t>Create a frequency table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800" dirty="0"/>
              <a:t>Use a ruler and </a:t>
            </a:r>
            <a:r>
              <a:rPr lang="en-AU" sz="2800" dirty="0" smtClean="0"/>
              <a:t>pencil to draw axes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800" dirty="0" smtClean="0"/>
              <a:t>Equal bar widths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800" dirty="0" smtClean="0"/>
              <a:t>No Gaps between bars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800" dirty="0" smtClean="0"/>
              <a:t>Title </a:t>
            </a:r>
            <a:r>
              <a:rPr lang="en-AU" sz="2800" dirty="0"/>
              <a:t>and </a:t>
            </a:r>
            <a:r>
              <a:rPr lang="en-AU" sz="2800" dirty="0" smtClean="0"/>
              <a:t>Labels</a:t>
            </a:r>
            <a:endParaRPr lang="en-AU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179512" y="1686417"/>
            <a:ext cx="16594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Key Points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2F2C01-060F-43EC-9303-7B4905DE55C0}"/>
              </a:ext>
            </a:extLst>
          </p:cNvPr>
          <p:cNvSpPr txBox="1"/>
          <p:nvPr/>
        </p:nvSpPr>
        <p:spPr>
          <a:xfrm>
            <a:off x="395536" y="193204"/>
            <a:ext cx="84969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Summary: </a:t>
            </a:r>
            <a:endParaRPr lang="en-AU" sz="2400" b="1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Histograms </a:t>
            </a:r>
            <a:r>
              <a:rPr kumimoji="0" lang="en-A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display  ______________</a:t>
            </a:r>
            <a:r>
              <a:rPr lang="en-AU" sz="2400" dirty="0" smtClean="0">
                <a:solidFill>
                  <a:prstClr val="black"/>
                </a:solidFill>
                <a:latin typeface="Calibri"/>
              </a:rPr>
              <a:t>  </a:t>
            </a:r>
            <a:r>
              <a:rPr kumimoji="0" lang="en-A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_______________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without any </a:t>
            </a:r>
            <a:r>
              <a:rPr kumimoji="0" lang="en-A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________.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To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create histograms we need to decide on appropriate _________________ and then create a ______________ table. </a:t>
            </a:r>
            <a:endParaRPr kumimoji="0" lang="en-AU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08104" y="225043"/>
            <a:ext cx="27416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Sentence Frame- </a:t>
            </a:r>
            <a:r>
              <a:rPr kumimoji="0" lang="en-US" sz="2000" b="1" i="0" u="none" strike="noStrike" kern="1200" cap="none" spc="0" normalizeH="0" baseline="0" noProof="0" dirty="0" smtClean="0">
                <a:ln w="22225">
                  <a:solidFill>
                    <a:srgbClr val="C0504D"/>
                  </a:solidFill>
                  <a:prstDash val="solid"/>
                </a:ln>
                <a:solidFill>
                  <a:srgbClr val="C0504D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</a:t>
            </a:r>
            <a:r>
              <a:rPr kumimoji="0" lang="en-US" sz="2000" b="0" i="0" u="none" strike="noStrike" kern="1200" cap="none" spc="0" normalizeH="0" baseline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ICOR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389" y="100581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numerical</a:t>
            </a:r>
            <a:endParaRPr lang="en-AU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100580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</a:t>
            </a:r>
            <a:r>
              <a:rPr lang="en-AU" sz="2400" b="1" dirty="0" smtClean="0"/>
              <a:t>ontinuous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267744" y="1563315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gaps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87624" y="3196121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</a:t>
            </a:r>
            <a:r>
              <a:rPr lang="en-AU" sz="2400" b="1" dirty="0" smtClean="0"/>
              <a:t>cale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580112" y="321754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f</a:t>
            </a:r>
            <a:r>
              <a:rPr lang="en-AU" sz="2400" b="1" dirty="0" smtClean="0"/>
              <a:t>requency</a:t>
            </a:r>
            <a:endParaRPr lang="en-A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03648" y="4128680"/>
            <a:ext cx="6336704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AU" b="1" u="sng" dirty="0">
                <a:solidFill>
                  <a:srgbClr val="FF0000"/>
                </a:solidFill>
              </a:rPr>
              <a:t>EXIT PASS</a:t>
            </a:r>
            <a:r>
              <a:rPr lang="en-AU" u="sng" dirty="0">
                <a:solidFill>
                  <a:srgbClr val="FF0000"/>
                </a:solidFill>
              </a:rPr>
              <a:t> 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AU" dirty="0">
                <a:solidFill>
                  <a:srgbClr val="FF0000"/>
                </a:solidFill>
              </a:rPr>
              <a:t>Completed summary allows you to leave the class.</a:t>
            </a:r>
          </a:p>
          <a:p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5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15911</TotalTime>
  <Words>1082</Words>
  <Application>Microsoft Office PowerPoint</Application>
  <PresentationFormat>On-screen Show (16:10)</PresentationFormat>
  <Paragraphs>209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MANSFIELD Martin [Baldivis Secondary College]</cp:lastModifiedBy>
  <cp:revision>143</cp:revision>
  <dcterms:created xsi:type="dcterms:W3CDTF">2014-05-14T02:58:57Z</dcterms:created>
  <dcterms:modified xsi:type="dcterms:W3CDTF">2020-09-24T08:52:19Z</dcterms:modified>
</cp:coreProperties>
</file>
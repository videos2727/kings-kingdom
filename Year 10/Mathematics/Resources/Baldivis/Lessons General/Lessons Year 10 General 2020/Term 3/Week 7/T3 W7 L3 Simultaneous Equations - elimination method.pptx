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32" r:id="rId2"/>
    <p:sldId id="344" r:id="rId3"/>
    <p:sldId id="345" r:id="rId4"/>
    <p:sldId id="346" r:id="rId5"/>
    <p:sldId id="347" r:id="rId6"/>
    <p:sldId id="348" r:id="rId7"/>
    <p:sldId id="352" r:id="rId8"/>
    <p:sldId id="351" r:id="rId9"/>
    <p:sldId id="349" r:id="rId10"/>
    <p:sldId id="343" r:id="rId11"/>
    <p:sldId id="291" r:id="rId12"/>
    <p:sldId id="353" r:id="rId13"/>
    <p:sldId id="354" r:id="rId14"/>
    <p:sldId id="355" r:id="rId15"/>
    <p:sldId id="356" r:id="rId16"/>
    <p:sldId id="357" r:id="rId17"/>
    <p:sldId id="358" r:id="rId18"/>
    <p:sldId id="359" r:id="rId19"/>
    <p:sldId id="360" r:id="rId20"/>
  </p:sldIdLst>
  <p:sldSz cx="9144000" cy="6858000" type="screen4x3"/>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C08514-7569-4345-97C6-9A4DE79B2BAA}" v="33" dt="2020-09-01T08:10:25.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2895" autoAdjust="0"/>
  </p:normalViewPr>
  <p:slideViewPr>
    <p:cSldViewPr>
      <p:cViewPr varScale="1">
        <p:scale>
          <a:sx n="98" d="100"/>
          <a:sy n="98" d="100"/>
        </p:scale>
        <p:origin x="128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657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48645" y="0"/>
            <a:ext cx="2944283" cy="496570"/>
          </a:xfrm>
          <a:prstGeom prst="rect">
            <a:avLst/>
          </a:prstGeom>
        </p:spPr>
        <p:txBody>
          <a:bodyPr vert="horz" lIns="91440" tIns="45720" rIns="91440" bIns="45720" rtlCol="0"/>
          <a:lstStyle>
            <a:lvl1pPr algn="r">
              <a:defRPr sz="1200"/>
            </a:lvl1pPr>
          </a:lstStyle>
          <a:p>
            <a:fld id="{D75AD73A-AE13-444E-A6A8-7967ABAB8119}" type="datetimeFigureOut">
              <a:rPr lang="en-AU" smtClean="0"/>
              <a:t>1/09/2020</a:t>
            </a:fld>
            <a:endParaRPr lang="en-AU"/>
          </a:p>
        </p:txBody>
      </p:sp>
      <p:sp>
        <p:nvSpPr>
          <p:cNvPr id="4" name="Slide Image Placeholder 3"/>
          <p:cNvSpPr>
            <a:spLocks noGrp="1" noRot="1" noChangeAspect="1"/>
          </p:cNvSpPr>
          <p:nvPr>
            <p:ph type="sldImg" idx="2"/>
          </p:nvPr>
        </p:nvSpPr>
        <p:spPr>
          <a:xfrm>
            <a:off x="914400" y="744538"/>
            <a:ext cx="4965700" cy="37242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450" y="4717415"/>
            <a:ext cx="5435600" cy="446913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33106"/>
            <a:ext cx="2944283" cy="49657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48645" y="9433106"/>
            <a:ext cx="2944283" cy="49657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1/09/2020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1/09/2020</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a:t>Simultaneous equations – elimination method</a:t>
            </a:r>
          </a:p>
        </p:txBody>
      </p:sp>
      <p:sp>
        <p:nvSpPr>
          <p:cNvPr id="21" name="TextBox 20"/>
          <p:cNvSpPr txBox="1"/>
          <p:nvPr/>
        </p:nvSpPr>
        <p:spPr>
          <a:xfrm>
            <a:off x="853480" y="1697610"/>
            <a:ext cx="7967736" cy="4893647"/>
          </a:xfrm>
          <a:prstGeom prst="rect">
            <a:avLst/>
          </a:prstGeom>
          <a:noFill/>
        </p:spPr>
        <p:txBody>
          <a:bodyPr wrap="square" rtlCol="0">
            <a:spAutoFit/>
          </a:bodyPr>
          <a:lstStyle/>
          <a:p>
            <a:r>
              <a:rPr lang="en-AU" sz="2400" dirty="0">
                <a:solidFill>
                  <a:schemeClr val="tx2">
                    <a:lumMod val="60000"/>
                    <a:lumOff val="40000"/>
                  </a:schemeClr>
                </a:solidFill>
              </a:rPr>
              <a:t>In the ‘elimination’ method for solving simultaneous equations, two equations are simplified by adding them or subtracting them. This eliminates one of the variables so that the other variable can be found.</a:t>
            </a:r>
          </a:p>
          <a:p>
            <a:endParaRPr lang="en-AU" sz="2400" dirty="0"/>
          </a:p>
          <a:p>
            <a:r>
              <a:rPr lang="en-AU" sz="2400" b="1" dirty="0"/>
              <a:t>Example </a:t>
            </a:r>
            <a:endParaRPr lang="en-AU" sz="2400" i="1" dirty="0"/>
          </a:p>
          <a:p>
            <a:r>
              <a:rPr lang="en-AU" sz="2400" i="1" dirty="0"/>
              <a:t>Consider these equations: </a:t>
            </a:r>
            <a:endParaRPr lang="en-AU" sz="2400" dirty="0"/>
          </a:p>
          <a:p>
            <a:r>
              <a:rPr lang="en-AU" sz="2400" dirty="0"/>
              <a:t>2</a:t>
            </a:r>
            <a:r>
              <a:rPr lang="en-AU" sz="2400" i="1" dirty="0"/>
              <a:t>x</a:t>
            </a:r>
            <a:r>
              <a:rPr lang="en-AU" sz="2400" dirty="0"/>
              <a:t> - 5</a:t>
            </a:r>
            <a:r>
              <a:rPr lang="en-AU" sz="2400" i="1" dirty="0"/>
              <a:t>y</a:t>
            </a:r>
            <a:r>
              <a:rPr lang="en-AU" sz="2400" dirty="0"/>
              <a:t>  =   1 </a:t>
            </a:r>
          </a:p>
          <a:p>
            <a:r>
              <a:rPr lang="en-AU" sz="2400" dirty="0"/>
              <a:t>3</a:t>
            </a:r>
            <a:r>
              <a:rPr lang="en-AU" sz="2400" i="1" dirty="0"/>
              <a:t>x</a:t>
            </a:r>
            <a:r>
              <a:rPr lang="en-AU" sz="2400" dirty="0"/>
              <a:t> + 5</a:t>
            </a:r>
            <a:r>
              <a:rPr lang="en-AU" sz="2400" i="1" dirty="0"/>
              <a:t>y</a:t>
            </a:r>
            <a:r>
              <a:rPr lang="en-AU" sz="2400" dirty="0"/>
              <a:t>  = 14 </a:t>
            </a:r>
          </a:p>
          <a:p>
            <a:endParaRPr lang="en-AU" sz="2400" dirty="0"/>
          </a:p>
          <a:p>
            <a:r>
              <a:rPr lang="en-AU" sz="2400" dirty="0">
                <a:solidFill>
                  <a:schemeClr val="tx2">
                    <a:lumMod val="60000"/>
                    <a:lumOff val="40000"/>
                  </a:schemeClr>
                </a:solidFill>
              </a:rPr>
              <a:t>The first equation contains a ‘-5</a:t>
            </a:r>
            <a:r>
              <a:rPr lang="en-AU" sz="2400" i="1" dirty="0">
                <a:solidFill>
                  <a:schemeClr val="tx2">
                    <a:lumMod val="60000"/>
                    <a:lumOff val="40000"/>
                  </a:schemeClr>
                </a:solidFill>
              </a:rPr>
              <a:t>y</a:t>
            </a:r>
            <a:r>
              <a:rPr lang="en-AU" sz="2400" dirty="0">
                <a:solidFill>
                  <a:schemeClr val="tx2">
                    <a:lumMod val="60000"/>
                    <a:lumOff val="40000"/>
                  </a:schemeClr>
                </a:solidFill>
              </a:rPr>
              <a:t>’ term, while the second equation contains a ‘+5</a:t>
            </a:r>
            <a:r>
              <a:rPr lang="en-AU" sz="2400" i="1" dirty="0">
                <a:solidFill>
                  <a:schemeClr val="tx2">
                    <a:lumMod val="60000"/>
                    <a:lumOff val="40000"/>
                  </a:schemeClr>
                </a:solidFill>
              </a:rPr>
              <a:t>y</a:t>
            </a:r>
            <a:r>
              <a:rPr lang="en-AU" sz="2400" dirty="0">
                <a:solidFill>
                  <a:schemeClr val="tx2">
                    <a:lumMod val="60000"/>
                    <a:lumOff val="40000"/>
                  </a:schemeClr>
                </a:solidFill>
              </a:rPr>
              <a:t>’ term. These two terms will cancel if added together, so we will add the equations to eliminate ‘</a:t>
            </a:r>
            <a:r>
              <a:rPr lang="en-AU" sz="2400" i="1" dirty="0">
                <a:solidFill>
                  <a:schemeClr val="tx2">
                    <a:lumMod val="60000"/>
                    <a:lumOff val="40000"/>
                  </a:schemeClr>
                </a:solidFill>
              </a:rPr>
              <a:t>y</a:t>
            </a:r>
            <a:r>
              <a:rPr lang="en-AU" sz="2400" dirty="0">
                <a:solidFill>
                  <a:schemeClr val="tx2">
                    <a:lumMod val="60000"/>
                    <a:lumOff val="40000"/>
                  </a:schemeClr>
                </a:solidFill>
              </a:rPr>
              <a:t>’.</a:t>
            </a:r>
          </a:p>
        </p:txBody>
      </p:sp>
    </p:spTree>
    <p:extLst>
      <p:ext uri="{BB962C8B-B14F-4D97-AF65-F5344CB8AC3E}">
        <p14:creationId xmlns:p14="http://schemas.microsoft.com/office/powerpoint/2010/main" val="358583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a:t>Simultaneous equations – elimination method</a:t>
            </a:r>
          </a:p>
        </p:txBody>
      </p:sp>
      <p:sp>
        <p:nvSpPr>
          <p:cNvPr id="21" name="TextBox 20"/>
          <p:cNvSpPr txBox="1"/>
          <p:nvPr/>
        </p:nvSpPr>
        <p:spPr>
          <a:xfrm>
            <a:off x="950025" y="1697610"/>
            <a:ext cx="7967736" cy="5262979"/>
          </a:xfrm>
          <a:prstGeom prst="rect">
            <a:avLst/>
          </a:prstGeom>
          <a:noFill/>
        </p:spPr>
        <p:txBody>
          <a:bodyPr wrap="square" rtlCol="0">
            <a:spAutoFit/>
          </a:bodyPr>
          <a:lstStyle/>
          <a:p>
            <a:r>
              <a:rPr lang="en-AU" sz="2400" dirty="0">
                <a:solidFill>
                  <a:schemeClr val="tx2">
                    <a:lumMod val="60000"/>
                    <a:lumOff val="40000"/>
                  </a:schemeClr>
                </a:solidFill>
              </a:rPr>
              <a:t>Step1: To add the equations, add the left side expressions and the right side expressions separately.</a:t>
            </a:r>
          </a:p>
          <a:p>
            <a:endParaRPr lang="en-AU" sz="2400" dirty="0"/>
          </a:p>
          <a:p>
            <a:r>
              <a:rPr lang="en-AU" sz="2400" dirty="0"/>
              <a:t>   2x – 5y = 1</a:t>
            </a:r>
          </a:p>
          <a:p>
            <a:r>
              <a:rPr lang="en-AU" sz="2400" dirty="0">
                <a:solidFill>
                  <a:srgbClr val="FF0000"/>
                </a:solidFill>
              </a:rPr>
              <a:t>+</a:t>
            </a:r>
            <a:r>
              <a:rPr lang="en-AU" sz="2400" dirty="0"/>
              <a:t> 3x + 5y = 14</a:t>
            </a:r>
          </a:p>
          <a:p>
            <a:r>
              <a:rPr lang="en-AU" sz="2400" dirty="0"/>
              <a:t>   5x          = 15        (÷5)</a:t>
            </a:r>
          </a:p>
          <a:p>
            <a:r>
              <a:rPr lang="en-AU" sz="2400" dirty="0"/>
              <a:t>              x = 3</a:t>
            </a:r>
          </a:p>
          <a:p>
            <a:endParaRPr lang="en-AU" sz="2400" dirty="0"/>
          </a:p>
          <a:p>
            <a:r>
              <a:rPr lang="en-AU" sz="2400" dirty="0">
                <a:solidFill>
                  <a:schemeClr val="tx2">
                    <a:lumMod val="60000"/>
                    <a:lumOff val="40000"/>
                  </a:schemeClr>
                </a:solidFill>
              </a:rPr>
              <a:t>Step 2: Substitute x = 3 into one of the equations</a:t>
            </a:r>
          </a:p>
          <a:p>
            <a:endParaRPr lang="en-AU" sz="2400" dirty="0"/>
          </a:p>
          <a:p>
            <a:r>
              <a:rPr lang="en-AU" sz="2400" dirty="0"/>
              <a:t>    2x – 5y = 1   (Substitute x)</a:t>
            </a:r>
          </a:p>
          <a:p>
            <a:endParaRPr lang="en-AU" sz="2400" dirty="0"/>
          </a:p>
          <a:p>
            <a:r>
              <a:rPr lang="en-AU" sz="2400" dirty="0"/>
              <a:t>2 </a:t>
            </a:r>
            <a:r>
              <a:rPr lang="en-AU" sz="2400" dirty="0">
                <a:sym typeface="Symbol"/>
              </a:rPr>
              <a:t> 3 - 5y = 1</a:t>
            </a:r>
            <a:endParaRPr lang="en-AU" sz="2400" dirty="0"/>
          </a:p>
          <a:p>
            <a:endParaRPr lang="en-AU" sz="2400" dirty="0"/>
          </a:p>
        </p:txBody>
      </p:sp>
      <p:cxnSp>
        <p:nvCxnSpPr>
          <p:cNvPr id="17" name="Straight Connector 16"/>
          <p:cNvCxnSpPr/>
          <p:nvPr/>
        </p:nvCxnSpPr>
        <p:spPr>
          <a:xfrm>
            <a:off x="1115616" y="3573016"/>
            <a:ext cx="16561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763688" y="2852936"/>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1799692" y="3284984"/>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10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a:t>Simultaneous equations – elimination method</a:t>
            </a:r>
          </a:p>
        </p:txBody>
      </p:sp>
      <p:sp>
        <p:nvSpPr>
          <p:cNvPr id="21" name="TextBox 20"/>
          <p:cNvSpPr txBox="1"/>
          <p:nvPr/>
        </p:nvSpPr>
        <p:spPr>
          <a:xfrm>
            <a:off x="950025" y="1697610"/>
            <a:ext cx="7967736" cy="2308324"/>
          </a:xfrm>
          <a:prstGeom prst="rect">
            <a:avLst/>
          </a:prstGeom>
          <a:noFill/>
        </p:spPr>
        <p:txBody>
          <a:bodyPr wrap="square" rtlCol="0">
            <a:spAutoFit/>
          </a:bodyPr>
          <a:lstStyle/>
          <a:p>
            <a:r>
              <a:rPr lang="en-AU" sz="2400" dirty="0">
                <a:sym typeface="Symbol"/>
              </a:rPr>
              <a:t>  6 - 5y = 1           (-6)</a:t>
            </a:r>
          </a:p>
          <a:p>
            <a:endParaRPr lang="en-AU" sz="2400" dirty="0">
              <a:sym typeface="Symbol"/>
            </a:endParaRPr>
          </a:p>
          <a:p>
            <a:r>
              <a:rPr lang="en-AU" sz="2400" dirty="0">
                <a:sym typeface="Symbol"/>
              </a:rPr>
              <a:t>       -5y = -5          (÷-5)</a:t>
            </a:r>
          </a:p>
          <a:p>
            <a:endParaRPr lang="en-AU" sz="2400" dirty="0">
              <a:sym typeface="Symbol"/>
            </a:endParaRPr>
          </a:p>
          <a:p>
            <a:r>
              <a:rPr lang="en-AU" sz="2400" dirty="0">
                <a:sym typeface="Symbol"/>
              </a:rPr>
              <a:t>          y = 1</a:t>
            </a:r>
            <a:endParaRPr lang="en-AU" sz="2400" dirty="0"/>
          </a:p>
          <a:p>
            <a:endParaRPr lang="en-AU" sz="2400" dirty="0"/>
          </a:p>
        </p:txBody>
      </p:sp>
      <p:sp>
        <p:nvSpPr>
          <p:cNvPr id="13" name="TextBox 12"/>
          <p:cNvSpPr txBox="1"/>
          <p:nvPr/>
        </p:nvSpPr>
        <p:spPr>
          <a:xfrm>
            <a:off x="755576" y="4000411"/>
            <a:ext cx="7704856" cy="3416320"/>
          </a:xfrm>
          <a:prstGeom prst="rect">
            <a:avLst/>
          </a:prstGeom>
          <a:noFill/>
        </p:spPr>
        <p:txBody>
          <a:bodyPr wrap="square" rtlCol="0">
            <a:spAutoFit/>
          </a:bodyPr>
          <a:lstStyle/>
          <a:p>
            <a:r>
              <a:rPr lang="en-AU" sz="2400" b="1" dirty="0"/>
              <a:t>Solution: </a:t>
            </a:r>
            <a:r>
              <a:rPr lang="en-AU" sz="2400" dirty="0"/>
              <a:t>x = 3, y = 1</a:t>
            </a:r>
            <a:endParaRPr lang="en-AU" sz="2400" b="1" dirty="0"/>
          </a:p>
          <a:p>
            <a:endParaRPr lang="en-AU" sz="2400" dirty="0"/>
          </a:p>
          <a:p>
            <a:r>
              <a:rPr lang="en-AU" sz="2400" b="1" dirty="0"/>
              <a:t>Check:</a:t>
            </a:r>
          </a:p>
          <a:p>
            <a:endParaRPr lang="en-AU" sz="2400" dirty="0"/>
          </a:p>
          <a:p>
            <a:r>
              <a:rPr lang="es-ES" sz="2400" dirty="0"/>
              <a:t>2 </a:t>
            </a:r>
            <a:r>
              <a:rPr lang="es-ES" sz="2400" dirty="0">
                <a:sym typeface="Symbol"/>
              </a:rPr>
              <a:t> 3</a:t>
            </a:r>
            <a:r>
              <a:rPr lang="es-ES" sz="2400" dirty="0"/>
              <a:t> - 5 </a:t>
            </a:r>
            <a:r>
              <a:rPr lang="es-ES" sz="2400" dirty="0">
                <a:sym typeface="Symbol"/>
              </a:rPr>
              <a:t> 1</a:t>
            </a:r>
            <a:r>
              <a:rPr lang="es-ES" sz="2400" dirty="0"/>
              <a:t> = 1 </a:t>
            </a:r>
            <a:r>
              <a:rPr lang="es-ES" sz="2400" dirty="0">
                <a:solidFill>
                  <a:srgbClr val="FF0000"/>
                </a:solidFill>
                <a:sym typeface="Wingdings 2"/>
              </a:rPr>
              <a:t></a:t>
            </a:r>
          </a:p>
          <a:p>
            <a:endParaRPr lang="es-ES" sz="2400" dirty="0">
              <a:solidFill>
                <a:srgbClr val="FF0000"/>
              </a:solidFill>
            </a:endParaRPr>
          </a:p>
          <a:p>
            <a:r>
              <a:rPr lang="es-ES" sz="2400" dirty="0"/>
              <a:t>3 </a:t>
            </a:r>
            <a:r>
              <a:rPr lang="es-ES" sz="2400" dirty="0">
                <a:sym typeface="Symbol"/>
              </a:rPr>
              <a:t> 3</a:t>
            </a:r>
            <a:r>
              <a:rPr lang="es-ES" sz="2400" dirty="0"/>
              <a:t> + 5 </a:t>
            </a:r>
            <a:r>
              <a:rPr lang="es-ES" sz="2400" dirty="0">
                <a:sym typeface="Symbol"/>
              </a:rPr>
              <a:t> 1</a:t>
            </a:r>
            <a:r>
              <a:rPr lang="es-ES" sz="2400" dirty="0"/>
              <a:t> = 14 </a:t>
            </a:r>
            <a:r>
              <a:rPr lang="es-ES" sz="2400" dirty="0">
                <a:solidFill>
                  <a:srgbClr val="FF0000"/>
                </a:solidFill>
                <a:sym typeface="Wingdings 2"/>
              </a:rPr>
              <a:t></a:t>
            </a:r>
            <a:endParaRPr lang="es-ES" sz="2400" dirty="0">
              <a:solidFill>
                <a:srgbClr val="FF0000"/>
              </a:solidFill>
            </a:endParaRPr>
          </a:p>
          <a:p>
            <a:endParaRPr lang="es-ES" sz="2400" dirty="0"/>
          </a:p>
          <a:p>
            <a:endParaRPr lang="en-AU" sz="2400" dirty="0"/>
          </a:p>
        </p:txBody>
      </p:sp>
    </p:spTree>
    <p:extLst>
      <p:ext uri="{BB962C8B-B14F-4D97-AF65-F5344CB8AC3E}">
        <p14:creationId xmlns:p14="http://schemas.microsoft.com/office/powerpoint/2010/main" val="219231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a:t>Simultaneous equations – elimination method</a:t>
            </a:r>
          </a:p>
        </p:txBody>
      </p:sp>
      <p:sp>
        <p:nvSpPr>
          <p:cNvPr id="21" name="TextBox 20"/>
          <p:cNvSpPr txBox="1"/>
          <p:nvPr/>
        </p:nvSpPr>
        <p:spPr>
          <a:xfrm>
            <a:off x="853480" y="1697610"/>
            <a:ext cx="7967736" cy="4154984"/>
          </a:xfrm>
          <a:prstGeom prst="rect">
            <a:avLst/>
          </a:prstGeom>
          <a:noFill/>
        </p:spPr>
        <p:txBody>
          <a:bodyPr wrap="square" rtlCol="0">
            <a:spAutoFit/>
          </a:bodyPr>
          <a:lstStyle/>
          <a:p>
            <a:r>
              <a:rPr lang="en-AU" sz="2400" dirty="0">
                <a:solidFill>
                  <a:schemeClr val="tx2">
                    <a:lumMod val="60000"/>
                    <a:lumOff val="40000"/>
                  </a:schemeClr>
                </a:solidFill>
              </a:rPr>
              <a:t>The elimination method will only work if you can eliminate one of the variables by adding or subtracting the equations as in example 1 above. But for many simultaneous equations, this is not the case.</a:t>
            </a:r>
          </a:p>
          <a:p>
            <a:endParaRPr lang="en-AU" sz="2400" dirty="0"/>
          </a:p>
          <a:p>
            <a:r>
              <a:rPr lang="en-AU" sz="2400" b="1" dirty="0"/>
              <a:t>Example 2</a:t>
            </a:r>
            <a:endParaRPr lang="en-AU" sz="2400" i="1" dirty="0"/>
          </a:p>
          <a:p>
            <a:r>
              <a:rPr lang="es-ES" sz="2400" dirty="0"/>
              <a:t>2</a:t>
            </a:r>
            <a:r>
              <a:rPr lang="es-ES" sz="2400" i="1" dirty="0"/>
              <a:t>x</a:t>
            </a:r>
            <a:r>
              <a:rPr lang="es-ES" sz="2400" dirty="0"/>
              <a:t> + 3</a:t>
            </a:r>
            <a:r>
              <a:rPr lang="es-ES" sz="2400" i="1" dirty="0"/>
              <a:t>y</a:t>
            </a:r>
            <a:r>
              <a:rPr lang="es-ES" sz="2400" dirty="0"/>
              <a:t>  =   4 </a:t>
            </a:r>
          </a:p>
          <a:p>
            <a:r>
              <a:rPr lang="es-ES" sz="2400" dirty="0"/>
              <a:t>  </a:t>
            </a:r>
            <a:r>
              <a:rPr lang="es-ES" sz="2400" i="1" dirty="0"/>
              <a:t>x</a:t>
            </a:r>
            <a:r>
              <a:rPr lang="es-ES" sz="2400" dirty="0"/>
              <a:t> - 2</a:t>
            </a:r>
            <a:r>
              <a:rPr lang="es-ES" sz="2400" i="1" dirty="0"/>
              <a:t>y</a:t>
            </a:r>
            <a:r>
              <a:rPr lang="es-ES" sz="2400" dirty="0"/>
              <a:t>  = -5 </a:t>
            </a:r>
          </a:p>
          <a:p>
            <a:endParaRPr lang="en-AU" sz="2400" dirty="0"/>
          </a:p>
          <a:p>
            <a:r>
              <a:rPr lang="en-AU" sz="2400" dirty="0">
                <a:solidFill>
                  <a:schemeClr val="tx2">
                    <a:lumMod val="60000"/>
                    <a:lumOff val="40000"/>
                  </a:schemeClr>
                </a:solidFill>
              </a:rPr>
              <a:t>Adding or subtracting these equations will not cancel out the ‘x’ or ‘y’ terms.</a:t>
            </a:r>
          </a:p>
        </p:txBody>
      </p:sp>
    </p:spTree>
    <p:extLst>
      <p:ext uri="{BB962C8B-B14F-4D97-AF65-F5344CB8AC3E}">
        <p14:creationId xmlns:p14="http://schemas.microsoft.com/office/powerpoint/2010/main" val="163243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a:t>Simultaneous equations – elimination method</a:t>
            </a:r>
          </a:p>
        </p:txBody>
      </p:sp>
      <p:sp>
        <p:nvSpPr>
          <p:cNvPr id="21" name="TextBox 20"/>
          <p:cNvSpPr txBox="1"/>
          <p:nvPr/>
        </p:nvSpPr>
        <p:spPr>
          <a:xfrm>
            <a:off x="852116" y="1624610"/>
            <a:ext cx="7967736" cy="4893647"/>
          </a:xfrm>
          <a:prstGeom prst="rect">
            <a:avLst/>
          </a:prstGeom>
          <a:noFill/>
        </p:spPr>
        <p:txBody>
          <a:bodyPr wrap="square" rtlCol="0">
            <a:spAutoFit/>
          </a:bodyPr>
          <a:lstStyle/>
          <a:p>
            <a:r>
              <a:rPr lang="en-AU" sz="2400" dirty="0">
                <a:solidFill>
                  <a:schemeClr val="tx2">
                    <a:lumMod val="60000"/>
                    <a:lumOff val="40000"/>
                  </a:schemeClr>
                </a:solidFill>
              </a:rPr>
              <a:t>Before using the elimination method you may have to </a:t>
            </a:r>
            <a:r>
              <a:rPr lang="en-AU" sz="2400" b="1" dirty="0">
                <a:solidFill>
                  <a:schemeClr val="tx2">
                    <a:lumMod val="60000"/>
                    <a:lumOff val="40000"/>
                  </a:schemeClr>
                </a:solidFill>
              </a:rPr>
              <a:t>multiply </a:t>
            </a:r>
            <a:r>
              <a:rPr lang="en-AU" sz="2400" dirty="0">
                <a:solidFill>
                  <a:schemeClr val="tx2">
                    <a:lumMod val="60000"/>
                    <a:lumOff val="40000"/>
                  </a:schemeClr>
                </a:solidFill>
              </a:rPr>
              <a:t>every term of one or both of the equations by some number so that equal terms can be eliminated.</a:t>
            </a:r>
          </a:p>
          <a:p>
            <a:endParaRPr lang="en-AU" sz="2400" dirty="0">
              <a:solidFill>
                <a:schemeClr val="tx2">
                  <a:lumMod val="60000"/>
                  <a:lumOff val="40000"/>
                </a:schemeClr>
              </a:solidFill>
            </a:endParaRPr>
          </a:p>
          <a:p>
            <a:r>
              <a:rPr lang="en-AU" sz="2400" dirty="0">
                <a:solidFill>
                  <a:schemeClr val="tx2">
                    <a:lumMod val="60000"/>
                    <a:lumOff val="40000"/>
                  </a:schemeClr>
                </a:solidFill>
              </a:rPr>
              <a:t>We could eliminate ‘</a:t>
            </a:r>
            <a:r>
              <a:rPr lang="en-AU" sz="2400" i="1" dirty="0">
                <a:solidFill>
                  <a:schemeClr val="tx2">
                    <a:lumMod val="60000"/>
                    <a:lumOff val="40000"/>
                  </a:schemeClr>
                </a:solidFill>
              </a:rPr>
              <a:t>x</a:t>
            </a:r>
            <a:r>
              <a:rPr lang="en-AU" sz="2400" dirty="0">
                <a:solidFill>
                  <a:schemeClr val="tx2">
                    <a:lumMod val="60000"/>
                    <a:lumOff val="40000"/>
                  </a:schemeClr>
                </a:solidFill>
              </a:rPr>
              <a:t>’ for this example if the second equation (</a:t>
            </a:r>
            <a:r>
              <a:rPr lang="es-ES" sz="2400" i="1" dirty="0">
                <a:solidFill>
                  <a:schemeClr val="tx2">
                    <a:lumMod val="60000"/>
                    <a:lumOff val="40000"/>
                  </a:schemeClr>
                </a:solidFill>
              </a:rPr>
              <a:t>x</a:t>
            </a:r>
            <a:r>
              <a:rPr lang="es-ES" sz="2400" dirty="0">
                <a:solidFill>
                  <a:schemeClr val="tx2">
                    <a:lumMod val="60000"/>
                    <a:lumOff val="40000"/>
                  </a:schemeClr>
                </a:solidFill>
              </a:rPr>
              <a:t> - 2</a:t>
            </a:r>
            <a:r>
              <a:rPr lang="es-ES" sz="2400" i="1" dirty="0">
                <a:solidFill>
                  <a:schemeClr val="tx2">
                    <a:lumMod val="60000"/>
                    <a:lumOff val="40000"/>
                  </a:schemeClr>
                </a:solidFill>
              </a:rPr>
              <a:t>y</a:t>
            </a:r>
            <a:r>
              <a:rPr lang="es-ES" sz="2400" dirty="0">
                <a:solidFill>
                  <a:schemeClr val="tx2">
                    <a:lumMod val="60000"/>
                    <a:lumOff val="40000"/>
                  </a:schemeClr>
                </a:solidFill>
              </a:rPr>
              <a:t>  = -5)</a:t>
            </a:r>
            <a:r>
              <a:rPr lang="en-AU" sz="2400" dirty="0">
                <a:solidFill>
                  <a:schemeClr val="tx2">
                    <a:lumMod val="60000"/>
                    <a:lumOff val="40000"/>
                  </a:schemeClr>
                </a:solidFill>
              </a:rPr>
              <a:t> had a ‘2</a:t>
            </a:r>
            <a:r>
              <a:rPr lang="en-AU" sz="2400" i="1" dirty="0">
                <a:solidFill>
                  <a:schemeClr val="tx2">
                    <a:lumMod val="60000"/>
                    <a:lumOff val="40000"/>
                  </a:schemeClr>
                </a:solidFill>
              </a:rPr>
              <a:t>x</a:t>
            </a:r>
            <a:r>
              <a:rPr lang="en-AU" sz="2400" dirty="0">
                <a:solidFill>
                  <a:schemeClr val="tx2">
                    <a:lumMod val="60000"/>
                    <a:lumOff val="40000"/>
                  </a:schemeClr>
                </a:solidFill>
              </a:rPr>
              <a:t>’ term instead of an ‘</a:t>
            </a:r>
            <a:r>
              <a:rPr lang="en-AU" sz="2400" i="1" dirty="0">
                <a:solidFill>
                  <a:schemeClr val="tx2">
                    <a:lumMod val="60000"/>
                    <a:lumOff val="40000"/>
                  </a:schemeClr>
                </a:solidFill>
              </a:rPr>
              <a:t>x</a:t>
            </a:r>
            <a:r>
              <a:rPr lang="en-AU" sz="2400" dirty="0">
                <a:solidFill>
                  <a:schemeClr val="tx2">
                    <a:lumMod val="60000"/>
                    <a:lumOff val="40000"/>
                  </a:schemeClr>
                </a:solidFill>
              </a:rPr>
              <a:t>’ term. By multiplying every term in the second equation by 2, the ‘</a:t>
            </a:r>
            <a:r>
              <a:rPr lang="en-AU" sz="2400" i="1" dirty="0">
                <a:solidFill>
                  <a:schemeClr val="tx2">
                    <a:lumMod val="60000"/>
                    <a:lumOff val="40000"/>
                  </a:schemeClr>
                </a:solidFill>
              </a:rPr>
              <a:t>x</a:t>
            </a:r>
            <a:r>
              <a:rPr lang="en-AU" sz="2400" dirty="0">
                <a:solidFill>
                  <a:schemeClr val="tx2">
                    <a:lumMod val="60000"/>
                    <a:lumOff val="40000"/>
                  </a:schemeClr>
                </a:solidFill>
              </a:rPr>
              <a:t>’ term will become ‘2</a:t>
            </a:r>
            <a:r>
              <a:rPr lang="en-AU" sz="2400" i="1" dirty="0">
                <a:solidFill>
                  <a:schemeClr val="tx2">
                    <a:lumMod val="60000"/>
                    <a:lumOff val="40000"/>
                  </a:schemeClr>
                </a:solidFill>
              </a:rPr>
              <a:t>x</a:t>
            </a:r>
            <a:r>
              <a:rPr lang="en-AU" sz="2400" dirty="0">
                <a:solidFill>
                  <a:schemeClr val="tx2">
                    <a:lumMod val="60000"/>
                    <a:lumOff val="40000"/>
                  </a:schemeClr>
                </a:solidFill>
              </a:rPr>
              <a:t>’, like this:</a:t>
            </a:r>
          </a:p>
          <a:p>
            <a:endParaRPr lang="en-AU" sz="2400" dirty="0"/>
          </a:p>
          <a:p>
            <a:r>
              <a:rPr lang="es-ES" sz="2400" dirty="0"/>
              <a:t>x </a:t>
            </a:r>
            <a:r>
              <a:rPr lang="es-ES" sz="2400" dirty="0">
                <a:solidFill>
                  <a:srgbClr val="00B050"/>
                </a:solidFill>
                <a:sym typeface="Symbol"/>
              </a:rPr>
              <a:t> </a:t>
            </a:r>
            <a:r>
              <a:rPr lang="es-ES" sz="2400" dirty="0">
                <a:solidFill>
                  <a:srgbClr val="00B050"/>
                </a:solidFill>
              </a:rPr>
              <a:t>2 </a:t>
            </a:r>
            <a:r>
              <a:rPr lang="es-ES" sz="2400" dirty="0"/>
              <a:t>- 2</a:t>
            </a:r>
            <a:r>
              <a:rPr lang="es-ES" sz="2400" i="1" dirty="0"/>
              <a:t>y</a:t>
            </a:r>
            <a:r>
              <a:rPr lang="es-ES" sz="2400" dirty="0"/>
              <a:t> </a:t>
            </a:r>
            <a:r>
              <a:rPr lang="es-ES" sz="2400" dirty="0">
                <a:solidFill>
                  <a:srgbClr val="00B050"/>
                </a:solidFill>
                <a:sym typeface="Symbol"/>
              </a:rPr>
              <a:t> </a:t>
            </a:r>
            <a:r>
              <a:rPr lang="es-ES" sz="2400" dirty="0">
                <a:solidFill>
                  <a:srgbClr val="00B050"/>
                </a:solidFill>
              </a:rPr>
              <a:t>2  </a:t>
            </a:r>
            <a:r>
              <a:rPr lang="es-ES" sz="2400" dirty="0"/>
              <a:t>= -5 </a:t>
            </a:r>
            <a:r>
              <a:rPr lang="es-ES" sz="2400" dirty="0">
                <a:solidFill>
                  <a:srgbClr val="00B050"/>
                </a:solidFill>
                <a:sym typeface="Symbol"/>
              </a:rPr>
              <a:t> </a:t>
            </a:r>
            <a:r>
              <a:rPr lang="es-ES" sz="2400" dirty="0">
                <a:solidFill>
                  <a:srgbClr val="00B050"/>
                </a:solidFill>
              </a:rPr>
              <a:t>2 </a:t>
            </a:r>
          </a:p>
          <a:p>
            <a:endParaRPr lang="es-ES" sz="2400" dirty="0">
              <a:solidFill>
                <a:srgbClr val="00B0F0"/>
              </a:solidFill>
            </a:endParaRPr>
          </a:p>
          <a:p>
            <a:r>
              <a:rPr lang="es-ES" sz="2400" dirty="0"/>
              <a:t>           2</a:t>
            </a:r>
            <a:r>
              <a:rPr lang="es-ES" sz="2400" i="1" dirty="0"/>
              <a:t>x</a:t>
            </a:r>
            <a:r>
              <a:rPr lang="es-ES" sz="2400" dirty="0"/>
              <a:t> - 4y  = -10 </a:t>
            </a:r>
          </a:p>
          <a:p>
            <a:endParaRPr lang="en-AU" sz="2400" dirty="0"/>
          </a:p>
        </p:txBody>
      </p:sp>
    </p:spTree>
    <p:extLst>
      <p:ext uri="{BB962C8B-B14F-4D97-AF65-F5344CB8AC3E}">
        <p14:creationId xmlns:p14="http://schemas.microsoft.com/office/powerpoint/2010/main" val="47433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821451"/>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4684" y="1360686"/>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46166"/>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360686"/>
            <a:ext cx="0" cy="5668714"/>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123090" y="901199"/>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a:t>Simultaneous equations – elimination method</a:t>
            </a:r>
          </a:p>
        </p:txBody>
      </p:sp>
      <p:sp>
        <p:nvSpPr>
          <p:cNvPr id="21" name="TextBox 20"/>
          <p:cNvSpPr txBox="1"/>
          <p:nvPr/>
        </p:nvSpPr>
        <p:spPr>
          <a:xfrm>
            <a:off x="950025" y="1397089"/>
            <a:ext cx="7967736" cy="5878532"/>
          </a:xfrm>
          <a:prstGeom prst="rect">
            <a:avLst/>
          </a:prstGeom>
          <a:noFill/>
        </p:spPr>
        <p:txBody>
          <a:bodyPr wrap="square" rtlCol="0">
            <a:spAutoFit/>
          </a:bodyPr>
          <a:lstStyle/>
          <a:p>
            <a:r>
              <a:rPr lang="en-AU" sz="2400" dirty="0">
                <a:solidFill>
                  <a:schemeClr val="tx2">
                    <a:lumMod val="60000"/>
                    <a:lumOff val="40000"/>
                  </a:schemeClr>
                </a:solidFill>
              </a:rPr>
              <a:t>Now the equations can be </a:t>
            </a:r>
            <a:r>
              <a:rPr lang="en-AU" sz="2400" b="1" dirty="0">
                <a:solidFill>
                  <a:schemeClr val="tx2">
                    <a:lumMod val="60000"/>
                    <a:lumOff val="40000"/>
                  </a:schemeClr>
                </a:solidFill>
              </a:rPr>
              <a:t>subtracted!</a:t>
            </a:r>
          </a:p>
          <a:p>
            <a:endParaRPr lang="en-AU" sz="2400" dirty="0">
              <a:solidFill>
                <a:schemeClr val="tx2">
                  <a:lumMod val="60000"/>
                  <a:lumOff val="40000"/>
                </a:schemeClr>
              </a:solidFill>
            </a:endParaRPr>
          </a:p>
          <a:p>
            <a:r>
              <a:rPr lang="en-AU" sz="2400" dirty="0">
                <a:solidFill>
                  <a:schemeClr val="tx2">
                    <a:lumMod val="60000"/>
                    <a:lumOff val="40000"/>
                  </a:schemeClr>
                </a:solidFill>
              </a:rPr>
              <a:t>Step1: To add the equations, add the left side expressions and the right side expressions separately.</a:t>
            </a:r>
          </a:p>
          <a:p>
            <a:endParaRPr lang="en-AU" sz="2400" dirty="0"/>
          </a:p>
          <a:p>
            <a:r>
              <a:rPr lang="en-AU" sz="2400" dirty="0"/>
              <a:t>   2x + 3y =    4</a:t>
            </a:r>
          </a:p>
          <a:p>
            <a:r>
              <a:rPr lang="en-AU" sz="2400" dirty="0">
                <a:solidFill>
                  <a:srgbClr val="FF0000"/>
                </a:solidFill>
              </a:rPr>
              <a:t>- </a:t>
            </a:r>
            <a:r>
              <a:rPr lang="en-AU" sz="2400" dirty="0"/>
              <a:t> 2x - 4y = </a:t>
            </a:r>
            <a:r>
              <a:rPr lang="en-AU" sz="2400" dirty="0">
                <a:solidFill>
                  <a:srgbClr val="FF0000"/>
                </a:solidFill>
              </a:rPr>
              <a:t>- </a:t>
            </a:r>
            <a:r>
              <a:rPr lang="en-AU" sz="2400" dirty="0"/>
              <a:t>-10</a:t>
            </a:r>
          </a:p>
          <a:p>
            <a:r>
              <a:rPr lang="en-AU" sz="2400" dirty="0"/>
              <a:t>           7y =   14        (÷7)</a:t>
            </a:r>
          </a:p>
          <a:p>
            <a:r>
              <a:rPr lang="en-AU" sz="2400" dirty="0"/>
              <a:t>              y = 2</a:t>
            </a:r>
          </a:p>
          <a:p>
            <a:endParaRPr lang="en-AU" dirty="0"/>
          </a:p>
          <a:p>
            <a:r>
              <a:rPr lang="en-AU" sz="2400" dirty="0">
                <a:solidFill>
                  <a:schemeClr val="tx2">
                    <a:lumMod val="60000"/>
                    <a:lumOff val="40000"/>
                  </a:schemeClr>
                </a:solidFill>
              </a:rPr>
              <a:t>Step 2: Substitute y = 2 into one of the equations</a:t>
            </a:r>
          </a:p>
          <a:p>
            <a:endParaRPr lang="en-AU" sz="2000" dirty="0"/>
          </a:p>
          <a:p>
            <a:r>
              <a:rPr lang="en-AU" sz="2400" dirty="0"/>
              <a:t>    2x + 3y = 4   (Substitute y)</a:t>
            </a:r>
          </a:p>
          <a:p>
            <a:endParaRPr lang="en-AU" sz="2000" dirty="0"/>
          </a:p>
          <a:p>
            <a:r>
              <a:rPr lang="en-AU" sz="2400" dirty="0"/>
              <a:t>2x</a:t>
            </a:r>
            <a:r>
              <a:rPr lang="en-AU" sz="2400" dirty="0">
                <a:sym typeface="Symbol"/>
              </a:rPr>
              <a:t> + 3  2 = 4</a:t>
            </a:r>
            <a:endParaRPr lang="en-AU" sz="2400" dirty="0"/>
          </a:p>
          <a:p>
            <a:endParaRPr lang="en-AU" sz="2400" dirty="0"/>
          </a:p>
        </p:txBody>
      </p:sp>
      <p:cxnSp>
        <p:nvCxnSpPr>
          <p:cNvPr id="17" name="Straight Connector 16"/>
          <p:cNvCxnSpPr/>
          <p:nvPr/>
        </p:nvCxnSpPr>
        <p:spPr>
          <a:xfrm>
            <a:off x="1115616" y="4064744"/>
            <a:ext cx="16561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1259632" y="3361184"/>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1259632" y="3729732"/>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0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21" name="TextBox 20"/>
          <p:cNvSpPr txBox="1"/>
          <p:nvPr/>
        </p:nvSpPr>
        <p:spPr>
          <a:xfrm>
            <a:off x="950025" y="1444308"/>
            <a:ext cx="7967736" cy="2677656"/>
          </a:xfrm>
          <a:prstGeom prst="rect">
            <a:avLst/>
          </a:prstGeom>
          <a:noFill/>
        </p:spPr>
        <p:txBody>
          <a:bodyPr wrap="square" rtlCol="0">
            <a:spAutoFit/>
          </a:bodyPr>
          <a:lstStyle/>
          <a:p>
            <a:r>
              <a:rPr lang="en-AU" sz="2400" dirty="0"/>
              <a:t>2x</a:t>
            </a:r>
            <a:r>
              <a:rPr lang="en-AU" sz="2400" dirty="0">
                <a:sym typeface="Symbol"/>
              </a:rPr>
              <a:t> + 3  2 = 4</a:t>
            </a:r>
            <a:endParaRPr lang="en-AU" sz="2400" dirty="0"/>
          </a:p>
          <a:p>
            <a:endParaRPr lang="en-AU" sz="2400" dirty="0"/>
          </a:p>
          <a:p>
            <a:r>
              <a:rPr lang="en-AU" sz="2400" dirty="0"/>
              <a:t>       2x + 6 = 4         (-6)</a:t>
            </a:r>
          </a:p>
          <a:p>
            <a:endParaRPr lang="en-AU" sz="2400" dirty="0"/>
          </a:p>
          <a:p>
            <a:r>
              <a:rPr lang="en-AU" sz="2400" dirty="0"/>
              <a:t>              2x = -2        (÷2)</a:t>
            </a:r>
          </a:p>
          <a:p>
            <a:endParaRPr lang="en-AU" sz="2400" dirty="0"/>
          </a:p>
          <a:p>
            <a:r>
              <a:rPr lang="en-AU" sz="2400" dirty="0"/>
              <a:t>                x = -1 </a:t>
            </a:r>
          </a:p>
        </p:txBody>
      </p:sp>
      <p:sp>
        <p:nvSpPr>
          <p:cNvPr id="13" name="TextBox 12"/>
          <p:cNvSpPr txBox="1"/>
          <p:nvPr/>
        </p:nvSpPr>
        <p:spPr>
          <a:xfrm>
            <a:off x="755576" y="4149080"/>
            <a:ext cx="7704856" cy="2523768"/>
          </a:xfrm>
          <a:prstGeom prst="rect">
            <a:avLst/>
          </a:prstGeom>
          <a:noFill/>
        </p:spPr>
        <p:txBody>
          <a:bodyPr wrap="square" rtlCol="0">
            <a:spAutoFit/>
          </a:bodyPr>
          <a:lstStyle/>
          <a:p>
            <a:r>
              <a:rPr lang="en-AU" sz="2400" b="1" dirty="0"/>
              <a:t>Solution: </a:t>
            </a:r>
            <a:r>
              <a:rPr lang="en-AU" sz="2400" dirty="0"/>
              <a:t>x = -1, y = 2</a:t>
            </a:r>
            <a:endParaRPr lang="en-AU" sz="2400" b="1" dirty="0"/>
          </a:p>
          <a:p>
            <a:endParaRPr lang="en-AU" sz="2400" dirty="0"/>
          </a:p>
          <a:p>
            <a:r>
              <a:rPr lang="en-AU" sz="2400" b="1" dirty="0"/>
              <a:t>Check:</a:t>
            </a:r>
          </a:p>
          <a:p>
            <a:endParaRPr lang="en-AU" dirty="0"/>
          </a:p>
          <a:p>
            <a:r>
              <a:rPr lang="es-ES" sz="2400" dirty="0"/>
              <a:t>2 </a:t>
            </a:r>
            <a:r>
              <a:rPr lang="es-ES" sz="2400" dirty="0">
                <a:sym typeface="Symbol"/>
              </a:rPr>
              <a:t> -1</a:t>
            </a:r>
            <a:r>
              <a:rPr lang="es-ES" sz="2400" dirty="0"/>
              <a:t> + 3 </a:t>
            </a:r>
            <a:r>
              <a:rPr lang="es-ES" sz="2400" dirty="0">
                <a:sym typeface="Symbol"/>
              </a:rPr>
              <a:t> 2</a:t>
            </a:r>
            <a:r>
              <a:rPr lang="es-ES" sz="2400" dirty="0"/>
              <a:t> = 4 </a:t>
            </a:r>
            <a:r>
              <a:rPr lang="es-ES" sz="2400" dirty="0">
                <a:solidFill>
                  <a:srgbClr val="FF0000"/>
                </a:solidFill>
                <a:sym typeface="Wingdings 2"/>
              </a:rPr>
              <a:t></a:t>
            </a:r>
          </a:p>
          <a:p>
            <a:endParaRPr lang="es-ES" dirty="0">
              <a:solidFill>
                <a:srgbClr val="FF0000"/>
              </a:solidFill>
            </a:endParaRPr>
          </a:p>
          <a:p>
            <a:r>
              <a:rPr lang="es-ES" sz="2400" dirty="0"/>
              <a:t>        -1 - 2 </a:t>
            </a:r>
            <a:r>
              <a:rPr lang="es-ES" sz="2400" dirty="0">
                <a:sym typeface="Symbol"/>
              </a:rPr>
              <a:t> 2</a:t>
            </a:r>
            <a:r>
              <a:rPr lang="es-ES" sz="2400" dirty="0"/>
              <a:t> = -5 </a:t>
            </a:r>
            <a:r>
              <a:rPr lang="es-ES" sz="2400" dirty="0">
                <a:solidFill>
                  <a:srgbClr val="FF0000"/>
                </a:solidFill>
                <a:sym typeface="Wingdings 2"/>
              </a:rPr>
              <a:t></a:t>
            </a:r>
            <a:endParaRPr lang="es-ES" sz="2400" dirty="0">
              <a:solidFill>
                <a:srgbClr val="FF0000"/>
              </a:solidFill>
            </a:endParaRPr>
          </a:p>
        </p:txBody>
      </p:sp>
    </p:spTree>
    <p:extLst>
      <p:ext uri="{BB962C8B-B14F-4D97-AF65-F5344CB8AC3E}">
        <p14:creationId xmlns:p14="http://schemas.microsoft.com/office/powerpoint/2010/main" val="123622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21" name="TextBox 20"/>
          <p:cNvSpPr txBox="1"/>
          <p:nvPr/>
        </p:nvSpPr>
        <p:spPr>
          <a:xfrm>
            <a:off x="750392" y="1277784"/>
            <a:ext cx="7967736" cy="6001643"/>
          </a:xfrm>
          <a:prstGeom prst="rect">
            <a:avLst/>
          </a:prstGeom>
          <a:noFill/>
        </p:spPr>
        <p:txBody>
          <a:bodyPr wrap="square" rtlCol="0">
            <a:spAutoFit/>
          </a:bodyPr>
          <a:lstStyle/>
          <a:p>
            <a:r>
              <a:rPr lang="en-US" sz="2400" dirty="0"/>
              <a:t>An amusement park charges admission plus a fee for each ride. Admission plus two rides costs $10. Admission plus ﬁve rides cost $16. What is the charge for admission and the cost of a ride?</a:t>
            </a:r>
          </a:p>
          <a:p>
            <a:r>
              <a:rPr lang="en-AU" sz="2400" dirty="0"/>
              <a:t>Admission = a         ride = r</a:t>
            </a:r>
          </a:p>
          <a:p>
            <a:endParaRPr lang="en-AU" sz="2400" dirty="0"/>
          </a:p>
          <a:p>
            <a:r>
              <a:rPr lang="en-AU" sz="2400" dirty="0"/>
              <a:t>       a + 2r = 10</a:t>
            </a:r>
          </a:p>
          <a:p>
            <a:r>
              <a:rPr lang="en-AU" sz="2400" dirty="0"/>
              <a:t>       a + 5r = 16</a:t>
            </a:r>
          </a:p>
          <a:p>
            <a:r>
              <a:rPr lang="en-AU" sz="2400" dirty="0"/>
              <a:t>            -3r = -6        (÷-3)</a:t>
            </a:r>
          </a:p>
          <a:p>
            <a:r>
              <a:rPr lang="en-AU" sz="2400" dirty="0"/>
              <a:t>                r = 2</a:t>
            </a:r>
          </a:p>
          <a:p>
            <a:endParaRPr lang="en-AU" sz="2400" dirty="0"/>
          </a:p>
          <a:p>
            <a:r>
              <a:rPr lang="en-AU" sz="2400" dirty="0"/>
              <a:t>     a + 2r = 10      (substitute r)</a:t>
            </a:r>
          </a:p>
          <a:p>
            <a:r>
              <a:rPr lang="en-AU" sz="2400" dirty="0"/>
              <a:t>a + 2 </a:t>
            </a:r>
            <a:r>
              <a:rPr lang="en-AU" sz="2400" dirty="0">
                <a:sym typeface="Symbol"/>
              </a:rPr>
              <a:t> 2 = 10</a:t>
            </a:r>
          </a:p>
          <a:p>
            <a:r>
              <a:rPr lang="en-AU" sz="2400" dirty="0">
                <a:sym typeface="Symbol"/>
              </a:rPr>
              <a:t>       a + 4 = 10      (-4)</a:t>
            </a:r>
          </a:p>
          <a:p>
            <a:r>
              <a:rPr lang="en-AU" sz="2400" dirty="0">
                <a:sym typeface="Symbol"/>
              </a:rPr>
              <a:t>              a = 6</a:t>
            </a:r>
            <a:endParaRPr lang="en-AU" sz="2400" dirty="0"/>
          </a:p>
          <a:p>
            <a:endParaRPr lang="en-AU" sz="2400" dirty="0"/>
          </a:p>
        </p:txBody>
      </p:sp>
      <p:cxnSp>
        <p:nvCxnSpPr>
          <p:cNvPr id="12" name="Straight Connector 11"/>
          <p:cNvCxnSpPr/>
          <p:nvPr/>
        </p:nvCxnSpPr>
        <p:spPr>
          <a:xfrm>
            <a:off x="1112244" y="4213299"/>
            <a:ext cx="16561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256260" y="3509739"/>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256260" y="3878287"/>
            <a:ext cx="288032" cy="2880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950025" y="4022303"/>
            <a:ext cx="16221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88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13" name="TextBox 12"/>
          <p:cNvSpPr txBox="1"/>
          <p:nvPr/>
        </p:nvSpPr>
        <p:spPr>
          <a:xfrm>
            <a:off x="755576" y="1286664"/>
            <a:ext cx="7704856" cy="2523768"/>
          </a:xfrm>
          <a:prstGeom prst="rect">
            <a:avLst/>
          </a:prstGeom>
          <a:noFill/>
        </p:spPr>
        <p:txBody>
          <a:bodyPr wrap="square" rtlCol="0">
            <a:spAutoFit/>
          </a:bodyPr>
          <a:lstStyle/>
          <a:p>
            <a:r>
              <a:rPr lang="en-AU" sz="2400" b="1" dirty="0"/>
              <a:t>Solution: </a:t>
            </a:r>
            <a:r>
              <a:rPr lang="en-AU" sz="2400" dirty="0"/>
              <a:t>a = $6, r = $2</a:t>
            </a:r>
            <a:endParaRPr lang="en-AU" sz="2400" b="1" dirty="0"/>
          </a:p>
          <a:p>
            <a:endParaRPr lang="en-AU" sz="2400" dirty="0"/>
          </a:p>
          <a:p>
            <a:r>
              <a:rPr lang="en-AU" sz="2400" b="1" dirty="0"/>
              <a:t>Check:</a:t>
            </a:r>
          </a:p>
          <a:p>
            <a:endParaRPr lang="en-AU" dirty="0"/>
          </a:p>
          <a:p>
            <a:r>
              <a:rPr lang="es-ES" sz="2400" dirty="0"/>
              <a:t>6 + 2 </a:t>
            </a:r>
            <a:r>
              <a:rPr lang="es-ES" sz="2400" dirty="0">
                <a:sym typeface="Symbol"/>
              </a:rPr>
              <a:t> 2</a:t>
            </a:r>
            <a:r>
              <a:rPr lang="es-ES" sz="2400" dirty="0"/>
              <a:t> = 4 </a:t>
            </a:r>
            <a:r>
              <a:rPr lang="es-ES" sz="2400" dirty="0">
                <a:solidFill>
                  <a:srgbClr val="FF0000"/>
                </a:solidFill>
                <a:sym typeface="Wingdings 2"/>
              </a:rPr>
              <a:t></a:t>
            </a:r>
          </a:p>
          <a:p>
            <a:endParaRPr lang="es-ES" dirty="0">
              <a:solidFill>
                <a:srgbClr val="FF0000"/>
              </a:solidFill>
            </a:endParaRPr>
          </a:p>
          <a:p>
            <a:r>
              <a:rPr lang="es-ES" sz="2400" dirty="0"/>
              <a:t>6+ 5 </a:t>
            </a:r>
            <a:r>
              <a:rPr lang="es-ES" sz="2400" dirty="0">
                <a:sym typeface="Symbol"/>
              </a:rPr>
              <a:t> 2</a:t>
            </a:r>
            <a:r>
              <a:rPr lang="es-ES" sz="2400" dirty="0"/>
              <a:t> = 16 </a:t>
            </a:r>
            <a:r>
              <a:rPr lang="es-ES" sz="2400" dirty="0">
                <a:solidFill>
                  <a:srgbClr val="FF0000"/>
                </a:solidFill>
                <a:sym typeface="Wingdings 2"/>
              </a:rPr>
              <a:t></a:t>
            </a:r>
            <a:endParaRPr lang="es-ES" sz="2400" dirty="0">
              <a:solidFill>
                <a:srgbClr val="FF0000"/>
              </a:solidFill>
            </a:endParaRPr>
          </a:p>
        </p:txBody>
      </p:sp>
      <p:sp>
        <p:nvSpPr>
          <p:cNvPr id="12" name="TextBox 11">
            <a:extLst>
              <a:ext uri="{FF2B5EF4-FFF2-40B4-BE49-F238E27FC236}">
                <a16:creationId xmlns:a16="http://schemas.microsoft.com/office/drawing/2014/main" id="{D5CA3040-BD2E-49FE-BEA2-B23CB3C84337}"/>
              </a:ext>
            </a:extLst>
          </p:cNvPr>
          <p:cNvSpPr txBox="1"/>
          <p:nvPr/>
        </p:nvSpPr>
        <p:spPr>
          <a:xfrm>
            <a:off x="3887924" y="4581128"/>
            <a:ext cx="2124231" cy="461665"/>
          </a:xfrm>
          <a:prstGeom prst="rect">
            <a:avLst/>
          </a:prstGeom>
          <a:noFill/>
        </p:spPr>
        <p:txBody>
          <a:bodyPr wrap="square" rtlCol="0">
            <a:spAutoFit/>
          </a:bodyPr>
          <a:lstStyle/>
          <a:p>
            <a:r>
              <a:rPr lang="en-AU" sz="2400" b="1" dirty="0"/>
              <a:t>Dwyer Ex 2.8</a:t>
            </a:r>
            <a:endParaRPr lang="es-ES" sz="2400" dirty="0">
              <a:solidFill>
                <a:srgbClr val="FF0000"/>
              </a:solidFill>
            </a:endParaRPr>
          </a:p>
        </p:txBody>
      </p:sp>
    </p:spTree>
    <p:extLst>
      <p:ext uri="{BB962C8B-B14F-4D97-AF65-F5344CB8AC3E}">
        <p14:creationId xmlns:p14="http://schemas.microsoft.com/office/powerpoint/2010/main" val="135217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Notes Review</a:t>
            </a:r>
          </a:p>
        </p:txBody>
      </p:sp>
      <p:sp>
        <p:nvSpPr>
          <p:cNvPr id="3" name="Content Placeholder 2"/>
          <p:cNvSpPr>
            <a:spLocks noGrp="1"/>
          </p:cNvSpPr>
          <p:nvPr>
            <p:ph idx="1"/>
          </p:nvPr>
        </p:nvSpPr>
        <p:spPr/>
        <p:txBody>
          <a:bodyPr>
            <a:normAutofit fontScale="92500" lnSpcReduction="20000"/>
          </a:bodyPr>
          <a:lstStyle/>
          <a:p>
            <a:r>
              <a:rPr lang="en-AU" dirty="0"/>
              <a:t>24, 7 ,30</a:t>
            </a:r>
          </a:p>
          <a:p>
            <a:r>
              <a:rPr lang="en-AU" dirty="0"/>
              <a:t>Date</a:t>
            </a:r>
          </a:p>
          <a:p>
            <a:r>
              <a:rPr lang="en-AU" dirty="0"/>
              <a:t>Title</a:t>
            </a:r>
          </a:p>
          <a:p>
            <a:r>
              <a:rPr lang="en-AU" dirty="0"/>
              <a:t>Essential question</a:t>
            </a:r>
          </a:p>
          <a:p>
            <a:r>
              <a:rPr lang="en-AU" dirty="0"/>
              <a:t>Notes complete </a:t>
            </a:r>
          </a:p>
          <a:p>
            <a:r>
              <a:rPr lang="en-AU" dirty="0"/>
              <a:t>Notes complete with colour and diagrams</a:t>
            </a:r>
          </a:p>
          <a:p>
            <a:r>
              <a:rPr lang="en-AU" dirty="0"/>
              <a:t>Questions completed</a:t>
            </a:r>
          </a:p>
          <a:p>
            <a:r>
              <a:rPr lang="en-AU" dirty="0"/>
              <a:t>Contents page filed in</a:t>
            </a:r>
          </a:p>
          <a:p>
            <a:r>
              <a:rPr lang="en-AU" dirty="0"/>
              <a:t>Formula page filled in</a:t>
            </a:r>
          </a:p>
          <a:p>
            <a:pPr marL="0" indent="0">
              <a:buNone/>
            </a:pPr>
            <a:endParaRPr lang="en-AU" dirty="0"/>
          </a:p>
          <a:p>
            <a:endParaRPr lang="en-AU" dirty="0"/>
          </a:p>
        </p:txBody>
      </p:sp>
    </p:spTree>
    <p:extLst>
      <p:ext uri="{BB962C8B-B14F-4D97-AF65-F5344CB8AC3E}">
        <p14:creationId xmlns:p14="http://schemas.microsoft.com/office/powerpoint/2010/main" val="181356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Homework</a:t>
            </a:r>
          </a:p>
        </p:txBody>
      </p:sp>
      <p:sp>
        <p:nvSpPr>
          <p:cNvPr id="3" name="Content Placeholder 2"/>
          <p:cNvSpPr>
            <a:spLocks noGrp="1"/>
          </p:cNvSpPr>
          <p:nvPr>
            <p:ph idx="1"/>
          </p:nvPr>
        </p:nvSpPr>
        <p:spPr/>
        <p:txBody>
          <a:bodyPr/>
          <a:lstStyle/>
          <a:p>
            <a:r>
              <a:rPr lang="en-AU" dirty="0"/>
              <a:t>Review your notes and write a summary answering the essential question. </a:t>
            </a:r>
          </a:p>
        </p:txBody>
      </p:sp>
    </p:spTree>
    <p:extLst>
      <p:ext uri="{BB962C8B-B14F-4D97-AF65-F5344CB8AC3E}">
        <p14:creationId xmlns:p14="http://schemas.microsoft.com/office/powerpoint/2010/main" val="76342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62880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628800"/>
            <a:ext cx="0" cy="54006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123090" y="1052736"/>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81577" y="298231"/>
            <a:ext cx="6913944" cy="523220"/>
          </a:xfrm>
          <a:prstGeom prst="rect">
            <a:avLst/>
          </a:prstGeom>
          <a:noFill/>
        </p:spPr>
        <p:txBody>
          <a:bodyPr wrap="none" rtlCol="0">
            <a:spAutoFit/>
          </a:bodyPr>
          <a:lstStyle/>
          <a:p>
            <a:r>
              <a:rPr lang="en-AU" sz="2800" dirty="0"/>
              <a:t>Simultaneous equations – elimination method</a:t>
            </a:r>
          </a:p>
        </p:txBody>
      </p:sp>
      <p:sp>
        <p:nvSpPr>
          <p:cNvPr id="12" name="Rounded Rectangle 49">
            <a:extLst>
              <a:ext uri="{FF2B5EF4-FFF2-40B4-BE49-F238E27FC236}">
                <a16:creationId xmlns:a16="http://schemas.microsoft.com/office/drawing/2014/main" id="{D3F32337-190D-421F-A424-805D60641B91}"/>
              </a:ext>
            </a:extLst>
          </p:cNvPr>
          <p:cNvSpPr/>
          <p:nvPr/>
        </p:nvSpPr>
        <p:spPr>
          <a:xfrm>
            <a:off x="323528" y="1540223"/>
            <a:ext cx="8697432" cy="2200940"/>
          </a:xfrm>
          <a:prstGeom prst="roundRect">
            <a:avLst>
              <a:gd name="adj" fmla="val 54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itchFamily="34" charset="0"/>
              <a:cs typeface="Arial" pitchFamily="34" charset="0"/>
            </a:endParaRPr>
          </a:p>
        </p:txBody>
      </p:sp>
      <p:sp>
        <p:nvSpPr>
          <p:cNvPr id="13" name="TextBox 12">
            <a:extLst>
              <a:ext uri="{FF2B5EF4-FFF2-40B4-BE49-F238E27FC236}">
                <a16:creationId xmlns:a16="http://schemas.microsoft.com/office/drawing/2014/main" id="{9CE9A84C-7D0F-4AE8-9AC4-F83D31249765}"/>
              </a:ext>
            </a:extLst>
          </p:cNvPr>
          <p:cNvSpPr txBox="1"/>
          <p:nvPr/>
        </p:nvSpPr>
        <p:spPr>
          <a:xfrm>
            <a:off x="1217020" y="3970989"/>
            <a:ext cx="6910448" cy="584775"/>
          </a:xfrm>
          <a:prstGeom prst="rect">
            <a:avLst/>
          </a:prstGeom>
          <a:noFill/>
        </p:spPr>
        <p:txBody>
          <a:bodyPr wrap="square" rtlCol="0">
            <a:spAutoFit/>
          </a:bodyPr>
          <a:lstStyle/>
          <a:p>
            <a:pPr algn="ctr"/>
            <a:r>
              <a:rPr lang="en-GB" sz="1600" b="1" dirty="0">
                <a:latin typeface="Arial" pitchFamily="34" charset="0"/>
                <a:cs typeface="Arial" pitchFamily="34" charset="0"/>
              </a:rPr>
              <a:t>Simultaneous equations can be written in different forms, and different methods for solving them exist.</a:t>
            </a:r>
            <a:endParaRPr lang="en-GB" sz="1600" b="1" i="1" dirty="0">
              <a:latin typeface="Arial" pitchFamily="34" charset="0"/>
              <a:cs typeface="Arial" pitchFamily="34" charset="0"/>
            </a:endParaRPr>
          </a:p>
        </p:txBody>
      </p:sp>
      <p:sp>
        <p:nvSpPr>
          <p:cNvPr id="14" name="TextBox 13">
            <a:extLst>
              <a:ext uri="{FF2B5EF4-FFF2-40B4-BE49-F238E27FC236}">
                <a16:creationId xmlns:a16="http://schemas.microsoft.com/office/drawing/2014/main" id="{47F9FD98-363A-4878-9D63-8105F1D7D77F}"/>
              </a:ext>
            </a:extLst>
          </p:cNvPr>
          <p:cNvSpPr txBox="1"/>
          <p:nvPr/>
        </p:nvSpPr>
        <p:spPr>
          <a:xfrm>
            <a:off x="1080569" y="3050687"/>
            <a:ext cx="7183350" cy="584775"/>
          </a:xfrm>
          <a:prstGeom prst="rect">
            <a:avLst/>
          </a:prstGeom>
          <a:noFill/>
        </p:spPr>
        <p:txBody>
          <a:bodyPr wrap="square" rtlCol="0">
            <a:spAutoFit/>
          </a:bodyPr>
          <a:lstStyle/>
          <a:p>
            <a:pPr algn="ctr"/>
            <a:r>
              <a:rPr lang="en-GB" sz="1600" b="1" dirty="0">
                <a:latin typeface="Arial" pitchFamily="34" charset="0"/>
                <a:cs typeface="Arial" pitchFamily="34" charset="0"/>
              </a:rPr>
              <a:t>In solving simultaneous equations the aim is to find the value for</a:t>
            </a:r>
          </a:p>
          <a:p>
            <a:pPr algn="ctr"/>
            <a:r>
              <a:rPr lang="en-GB" sz="1600" b="1" dirty="0">
                <a:solidFill>
                  <a:srgbClr val="FF0000"/>
                </a:solidFill>
                <a:latin typeface="Arial" pitchFamily="34" charset="0"/>
                <a:cs typeface="Arial" pitchFamily="34" charset="0"/>
              </a:rPr>
              <a:t>x</a:t>
            </a:r>
            <a:r>
              <a:rPr lang="en-GB" sz="1600" b="1" dirty="0">
                <a:latin typeface="Arial" pitchFamily="34" charset="0"/>
                <a:cs typeface="Arial" pitchFamily="34" charset="0"/>
              </a:rPr>
              <a:t> and the value for </a:t>
            </a:r>
            <a:r>
              <a:rPr lang="en-GB" sz="1600" b="1" dirty="0">
                <a:solidFill>
                  <a:srgbClr val="FF0000"/>
                </a:solidFill>
                <a:latin typeface="Arial" pitchFamily="34" charset="0"/>
                <a:cs typeface="Arial" pitchFamily="34" charset="0"/>
              </a:rPr>
              <a:t>y</a:t>
            </a:r>
            <a:r>
              <a:rPr lang="en-GB" sz="1600" b="1" dirty="0">
                <a:latin typeface="Arial" pitchFamily="34" charset="0"/>
                <a:cs typeface="Arial" pitchFamily="34" charset="0"/>
              </a:rPr>
              <a:t> which works in </a:t>
            </a:r>
            <a:r>
              <a:rPr lang="en-GB" sz="1600" b="1" dirty="0">
                <a:solidFill>
                  <a:srgbClr val="FF0000"/>
                </a:solidFill>
                <a:latin typeface="Arial" pitchFamily="34" charset="0"/>
                <a:cs typeface="Arial" pitchFamily="34" charset="0"/>
              </a:rPr>
              <a:t>BOTH</a:t>
            </a:r>
            <a:r>
              <a:rPr lang="en-GB" sz="1600" b="1" dirty="0">
                <a:latin typeface="Arial" pitchFamily="34" charset="0"/>
                <a:cs typeface="Arial" pitchFamily="34" charset="0"/>
              </a:rPr>
              <a:t> equations.</a:t>
            </a:r>
            <a:endParaRPr lang="en-GB" sz="1600" b="1" i="1" dirty="0">
              <a:latin typeface="Arial" pitchFamily="34" charset="0"/>
              <a:cs typeface="Arial" pitchFamily="34" charset="0"/>
            </a:endParaRPr>
          </a:p>
        </p:txBody>
      </p:sp>
      <p:sp>
        <p:nvSpPr>
          <p:cNvPr id="15" name="TextBox 14">
            <a:extLst>
              <a:ext uri="{FF2B5EF4-FFF2-40B4-BE49-F238E27FC236}">
                <a16:creationId xmlns:a16="http://schemas.microsoft.com/office/drawing/2014/main" id="{3ACAC61E-9B9A-4F6E-99F5-B4D8F3E91963}"/>
              </a:ext>
            </a:extLst>
          </p:cNvPr>
          <p:cNvSpPr txBox="1"/>
          <p:nvPr/>
        </p:nvSpPr>
        <p:spPr>
          <a:xfrm>
            <a:off x="725972" y="4644929"/>
            <a:ext cx="7892545" cy="338554"/>
          </a:xfrm>
          <a:prstGeom prst="rect">
            <a:avLst/>
          </a:prstGeom>
          <a:noFill/>
        </p:spPr>
        <p:txBody>
          <a:bodyPr wrap="square" rtlCol="0">
            <a:spAutoFit/>
          </a:bodyPr>
          <a:lstStyle/>
          <a:p>
            <a:pPr algn="ctr"/>
            <a:r>
              <a:rPr lang="en-GB" sz="1600" b="1" i="1" dirty="0">
                <a:solidFill>
                  <a:srgbClr val="FF0000"/>
                </a:solidFill>
                <a:latin typeface="Arial" pitchFamily="34" charset="0"/>
                <a:cs typeface="Arial" pitchFamily="34" charset="0"/>
              </a:rPr>
              <a:t>If both equations are written in the form:</a:t>
            </a:r>
          </a:p>
        </p:txBody>
      </p:sp>
      <p:sp>
        <p:nvSpPr>
          <p:cNvPr id="16" name="TextBox 15">
            <a:extLst>
              <a:ext uri="{FF2B5EF4-FFF2-40B4-BE49-F238E27FC236}">
                <a16:creationId xmlns:a16="http://schemas.microsoft.com/office/drawing/2014/main" id="{0095E7C7-274D-4075-8D2F-95A70C27B46A}"/>
              </a:ext>
            </a:extLst>
          </p:cNvPr>
          <p:cNvSpPr txBox="1"/>
          <p:nvPr/>
        </p:nvSpPr>
        <p:spPr>
          <a:xfrm>
            <a:off x="725972" y="5806192"/>
            <a:ext cx="7892545" cy="338554"/>
          </a:xfrm>
          <a:prstGeom prst="rect">
            <a:avLst/>
          </a:prstGeom>
          <a:noFill/>
        </p:spPr>
        <p:txBody>
          <a:bodyPr wrap="square" rtlCol="0">
            <a:spAutoFit/>
          </a:bodyPr>
          <a:lstStyle/>
          <a:p>
            <a:pPr algn="ctr"/>
            <a:r>
              <a:rPr lang="en-GB" sz="1600" b="1" dirty="0">
                <a:latin typeface="Arial" pitchFamily="34" charset="0"/>
                <a:cs typeface="Arial" pitchFamily="34" charset="0"/>
              </a:rPr>
              <a:t>Then solving the equations by elimination may be the easiest method.</a:t>
            </a:r>
          </a:p>
        </p:txBody>
      </p:sp>
      <p:grpSp>
        <p:nvGrpSpPr>
          <p:cNvPr id="17" name="Group 16">
            <a:extLst>
              <a:ext uri="{FF2B5EF4-FFF2-40B4-BE49-F238E27FC236}">
                <a16:creationId xmlns:a16="http://schemas.microsoft.com/office/drawing/2014/main" id="{0D251332-4B45-4229-8DD5-130585B5552E}"/>
              </a:ext>
            </a:extLst>
          </p:cNvPr>
          <p:cNvGrpSpPr/>
          <p:nvPr/>
        </p:nvGrpSpPr>
        <p:grpSpPr>
          <a:xfrm>
            <a:off x="663764" y="1752874"/>
            <a:ext cx="4167968" cy="1190847"/>
            <a:chOff x="563520" y="1095154"/>
            <a:chExt cx="4167968" cy="1190847"/>
          </a:xfrm>
        </p:grpSpPr>
        <p:sp>
          <p:nvSpPr>
            <p:cNvPr id="18" name="Pentagon 427">
              <a:extLst>
                <a:ext uri="{FF2B5EF4-FFF2-40B4-BE49-F238E27FC236}">
                  <a16:creationId xmlns:a16="http://schemas.microsoft.com/office/drawing/2014/main" id="{5F37E156-1DE5-47AB-9222-6CAFC2426FF2}"/>
                </a:ext>
              </a:extLst>
            </p:cNvPr>
            <p:cNvSpPr/>
            <p:nvPr/>
          </p:nvSpPr>
          <p:spPr>
            <a:xfrm>
              <a:off x="563525" y="1095154"/>
              <a:ext cx="4167963" cy="1190847"/>
            </a:xfrm>
            <a:prstGeom prst="homePlate">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itchFamily="34" charset="0"/>
                <a:cs typeface="Arial" pitchFamily="34" charset="0"/>
              </a:endParaRPr>
            </a:p>
          </p:txBody>
        </p:sp>
        <p:sp>
          <p:nvSpPr>
            <p:cNvPr id="19" name="TextBox 18">
              <a:extLst>
                <a:ext uri="{FF2B5EF4-FFF2-40B4-BE49-F238E27FC236}">
                  <a16:creationId xmlns:a16="http://schemas.microsoft.com/office/drawing/2014/main" id="{57986520-C917-4A8B-95D5-60B93735D015}"/>
                </a:ext>
              </a:extLst>
            </p:cNvPr>
            <p:cNvSpPr txBox="1"/>
            <p:nvPr/>
          </p:nvSpPr>
          <p:spPr>
            <a:xfrm>
              <a:off x="563520" y="1275079"/>
              <a:ext cx="3795824" cy="830997"/>
            </a:xfrm>
            <a:prstGeom prst="rect">
              <a:avLst/>
            </a:prstGeom>
            <a:noFill/>
          </p:spPr>
          <p:txBody>
            <a:bodyPr wrap="square" rtlCol="0">
              <a:spAutoFit/>
            </a:bodyPr>
            <a:lstStyle/>
            <a:p>
              <a:pPr algn="ctr"/>
              <a:r>
                <a:rPr lang="en-GB" sz="1600" dirty="0">
                  <a:latin typeface="Arial" pitchFamily="34" charset="0"/>
                  <a:cs typeface="Arial" pitchFamily="34" charset="0"/>
                </a:rPr>
                <a:t>Simultaneous equations involve </a:t>
              </a:r>
              <a:r>
                <a:rPr lang="en-GB" sz="1600" b="1" dirty="0">
                  <a:latin typeface="Arial" pitchFamily="34" charset="0"/>
                  <a:cs typeface="Arial" pitchFamily="34" charset="0"/>
                </a:rPr>
                <a:t>two equations</a:t>
              </a:r>
              <a:r>
                <a:rPr lang="en-GB" sz="1600" dirty="0">
                  <a:latin typeface="Arial" pitchFamily="34" charset="0"/>
                  <a:cs typeface="Arial" pitchFamily="34" charset="0"/>
                </a:rPr>
                <a:t>, each of which has </a:t>
              </a:r>
              <a:r>
                <a:rPr lang="en-GB" sz="1600" b="1" dirty="0">
                  <a:latin typeface="Arial" pitchFamily="34" charset="0"/>
                  <a:cs typeface="Arial" pitchFamily="34" charset="0"/>
                </a:rPr>
                <a:t>two unknown letters</a:t>
              </a:r>
              <a:r>
                <a:rPr lang="en-GB" sz="1600" dirty="0">
                  <a:latin typeface="Arial" pitchFamily="34" charset="0"/>
                  <a:cs typeface="Arial" pitchFamily="34" charset="0"/>
                </a:rPr>
                <a:t> (or variables).</a:t>
              </a:r>
              <a:endParaRPr lang="en-GB" sz="1600" i="1" dirty="0">
                <a:latin typeface="Arial" pitchFamily="34" charset="0"/>
                <a:cs typeface="Arial" pitchFamily="34" charset="0"/>
              </a:endParaRPr>
            </a:p>
          </p:txBody>
        </p:sp>
      </p:grpSp>
      <p:grpSp>
        <p:nvGrpSpPr>
          <p:cNvPr id="20" name="Group 19">
            <a:extLst>
              <a:ext uri="{FF2B5EF4-FFF2-40B4-BE49-F238E27FC236}">
                <a16:creationId xmlns:a16="http://schemas.microsoft.com/office/drawing/2014/main" id="{E10D4A31-5DCA-417B-8F10-AA6646CD37D2}"/>
              </a:ext>
            </a:extLst>
          </p:cNvPr>
          <p:cNvGrpSpPr/>
          <p:nvPr/>
        </p:nvGrpSpPr>
        <p:grpSpPr>
          <a:xfrm>
            <a:off x="5320831" y="1848566"/>
            <a:ext cx="3213505" cy="1073889"/>
            <a:chOff x="5220587" y="1190846"/>
            <a:chExt cx="3213505" cy="1073889"/>
          </a:xfrm>
        </p:grpSpPr>
        <p:sp>
          <p:nvSpPr>
            <p:cNvPr id="22" name="Rounded Rectangle 429">
              <a:extLst>
                <a:ext uri="{FF2B5EF4-FFF2-40B4-BE49-F238E27FC236}">
                  <a16:creationId xmlns:a16="http://schemas.microsoft.com/office/drawing/2014/main" id="{75DA9EFE-DC48-4B7A-97A5-FB161BE9067F}"/>
                </a:ext>
              </a:extLst>
            </p:cNvPr>
            <p:cNvSpPr/>
            <p:nvPr/>
          </p:nvSpPr>
          <p:spPr>
            <a:xfrm>
              <a:off x="5264353" y="1190846"/>
              <a:ext cx="3125972" cy="1073889"/>
            </a:xfrm>
            <a:prstGeom prst="roundRect">
              <a:avLst>
                <a:gd name="adj" fmla="val 25974"/>
              </a:avLst>
            </a:prstGeom>
            <a:solidFill>
              <a:srgbClr val="FFFF99"/>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itchFamily="34" charset="0"/>
                <a:cs typeface="Arial" pitchFamily="34" charset="0"/>
              </a:endParaRPr>
            </a:p>
          </p:txBody>
        </p:sp>
        <p:sp>
          <p:nvSpPr>
            <p:cNvPr id="23" name="TextBox 22">
              <a:extLst>
                <a:ext uri="{FF2B5EF4-FFF2-40B4-BE49-F238E27FC236}">
                  <a16:creationId xmlns:a16="http://schemas.microsoft.com/office/drawing/2014/main" id="{80E8EB08-0FDC-439B-A18A-C189972ED17F}"/>
                </a:ext>
              </a:extLst>
            </p:cNvPr>
            <p:cNvSpPr txBox="1"/>
            <p:nvPr/>
          </p:nvSpPr>
          <p:spPr>
            <a:xfrm>
              <a:off x="5220587" y="1358458"/>
              <a:ext cx="3213505" cy="738664"/>
            </a:xfrm>
            <a:prstGeom prst="rect">
              <a:avLst/>
            </a:prstGeom>
            <a:noFill/>
          </p:spPr>
          <p:txBody>
            <a:bodyPr wrap="square" rtlCol="0">
              <a:spAutoFit/>
            </a:bodyPr>
            <a:lstStyle/>
            <a:p>
              <a:pPr algn="ctr"/>
              <a:r>
                <a:rPr lang="en-GB" sz="1400" b="1" dirty="0">
                  <a:latin typeface="Arial" pitchFamily="34" charset="0"/>
                  <a:cs typeface="Arial" pitchFamily="34" charset="0"/>
                </a:rPr>
                <a:t>We often use the letters</a:t>
              </a:r>
            </a:p>
            <a:p>
              <a:pPr algn="ctr"/>
              <a:r>
                <a:rPr lang="en-GB" sz="1400" b="1" i="1" dirty="0">
                  <a:solidFill>
                    <a:srgbClr val="FF0000"/>
                  </a:solidFill>
                  <a:latin typeface="Arial" pitchFamily="34" charset="0"/>
                  <a:cs typeface="Arial" pitchFamily="34" charset="0"/>
                </a:rPr>
                <a:t>x</a:t>
              </a:r>
              <a:r>
                <a:rPr lang="en-GB" sz="1400" b="1" dirty="0">
                  <a:latin typeface="Arial" pitchFamily="34" charset="0"/>
                  <a:cs typeface="Arial" pitchFamily="34" charset="0"/>
                </a:rPr>
                <a:t> and </a:t>
              </a:r>
              <a:r>
                <a:rPr lang="en-GB" sz="1400" b="1" i="1" dirty="0">
                  <a:solidFill>
                    <a:srgbClr val="FF0000"/>
                  </a:solidFill>
                  <a:latin typeface="Arial" pitchFamily="34" charset="0"/>
                  <a:cs typeface="Arial" pitchFamily="34" charset="0"/>
                </a:rPr>
                <a:t>y</a:t>
              </a:r>
              <a:r>
                <a:rPr lang="en-GB" sz="1400" b="1" dirty="0">
                  <a:latin typeface="Arial" pitchFamily="34" charset="0"/>
                  <a:cs typeface="Arial" pitchFamily="34" charset="0"/>
                </a:rPr>
                <a:t> in the equations,</a:t>
              </a:r>
            </a:p>
            <a:p>
              <a:pPr algn="ctr"/>
              <a:r>
                <a:rPr lang="en-GB" sz="1400" dirty="0">
                  <a:latin typeface="Arial" pitchFamily="34" charset="0"/>
                  <a:cs typeface="Arial" pitchFamily="34" charset="0"/>
                </a:rPr>
                <a:t>(although any letters can be used).</a:t>
              </a:r>
              <a:endParaRPr lang="en-GB" sz="1400" i="1" dirty="0">
                <a:latin typeface="Arial" pitchFamily="34" charset="0"/>
                <a:cs typeface="Arial" pitchFamily="34" charset="0"/>
              </a:endParaRPr>
            </a:p>
          </p:txBody>
        </p:sp>
      </p:grpSp>
      <p:cxnSp>
        <p:nvCxnSpPr>
          <p:cNvPr id="24" name="Straight Connector 23">
            <a:extLst>
              <a:ext uri="{FF2B5EF4-FFF2-40B4-BE49-F238E27FC236}">
                <a16:creationId xmlns:a16="http://schemas.microsoft.com/office/drawing/2014/main" id="{2418647D-34AD-42B3-9B2A-814A28DBE869}"/>
              </a:ext>
            </a:extLst>
          </p:cNvPr>
          <p:cNvCxnSpPr/>
          <p:nvPr/>
        </p:nvCxnSpPr>
        <p:spPr>
          <a:xfrm>
            <a:off x="584026" y="5591211"/>
            <a:ext cx="8176437"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21B5B5F-63F1-4724-8EFE-A8A38276AF65}"/>
              </a:ext>
            </a:extLst>
          </p:cNvPr>
          <p:cNvSpPr txBox="1"/>
          <p:nvPr/>
        </p:nvSpPr>
        <p:spPr>
          <a:xfrm>
            <a:off x="803944" y="5059600"/>
            <a:ext cx="7892545" cy="461665"/>
          </a:xfrm>
          <a:prstGeom prst="rect">
            <a:avLst/>
          </a:prstGeom>
          <a:noFill/>
        </p:spPr>
        <p:txBody>
          <a:bodyPr wrap="square" rtlCol="0">
            <a:spAutoFit/>
          </a:bodyPr>
          <a:lstStyle/>
          <a:p>
            <a:pPr algn="ctr"/>
            <a:r>
              <a:rPr lang="en-GB" sz="2400" b="1" i="1" dirty="0" err="1">
                <a:solidFill>
                  <a:srgbClr val="FF0000"/>
                </a:solidFill>
                <a:latin typeface="Arial" pitchFamily="34" charset="0"/>
                <a:cs typeface="Arial" pitchFamily="34" charset="0"/>
              </a:rPr>
              <a:t>a</a:t>
            </a:r>
            <a:r>
              <a:rPr lang="en-GB" sz="2400" b="1" i="1" dirty="0" err="1">
                <a:latin typeface="Arial" pitchFamily="34" charset="0"/>
                <a:cs typeface="Arial" pitchFamily="34" charset="0"/>
              </a:rPr>
              <a:t>x</a:t>
            </a:r>
            <a:r>
              <a:rPr lang="en-GB" sz="2400" b="1" i="1" dirty="0">
                <a:latin typeface="Arial" pitchFamily="34" charset="0"/>
                <a:cs typeface="Arial" pitchFamily="34" charset="0"/>
              </a:rPr>
              <a:t>  +  </a:t>
            </a:r>
            <a:r>
              <a:rPr lang="en-GB" sz="2400" b="1" i="1" dirty="0">
                <a:solidFill>
                  <a:srgbClr val="FF0000"/>
                </a:solidFill>
                <a:latin typeface="Arial" pitchFamily="34" charset="0"/>
                <a:cs typeface="Arial" pitchFamily="34" charset="0"/>
              </a:rPr>
              <a:t>b</a:t>
            </a:r>
            <a:r>
              <a:rPr lang="en-GB" sz="2400" b="1" i="1" dirty="0">
                <a:latin typeface="Arial" pitchFamily="34" charset="0"/>
                <a:cs typeface="Arial" pitchFamily="34" charset="0"/>
              </a:rPr>
              <a:t>y   =   </a:t>
            </a:r>
            <a:r>
              <a:rPr lang="en-GB" sz="2400" b="1" i="1" dirty="0">
                <a:solidFill>
                  <a:srgbClr val="FF0000"/>
                </a:solidFill>
                <a:latin typeface="Arial" pitchFamily="34" charset="0"/>
                <a:cs typeface="Arial" pitchFamily="34" charset="0"/>
              </a:rPr>
              <a:t>c</a:t>
            </a:r>
          </a:p>
        </p:txBody>
      </p:sp>
      <p:sp>
        <p:nvSpPr>
          <p:cNvPr id="27" name="TextBox 26">
            <a:extLst>
              <a:ext uri="{FF2B5EF4-FFF2-40B4-BE49-F238E27FC236}">
                <a16:creationId xmlns:a16="http://schemas.microsoft.com/office/drawing/2014/main" id="{A0A896EF-9AAA-4205-AFED-CD315C3DC632}"/>
              </a:ext>
            </a:extLst>
          </p:cNvPr>
          <p:cNvSpPr txBox="1"/>
          <p:nvPr/>
        </p:nvSpPr>
        <p:spPr>
          <a:xfrm>
            <a:off x="772047" y="6192508"/>
            <a:ext cx="7892545" cy="338554"/>
          </a:xfrm>
          <a:prstGeom prst="rect">
            <a:avLst/>
          </a:prstGeom>
          <a:noFill/>
        </p:spPr>
        <p:txBody>
          <a:bodyPr wrap="square" rtlCol="0">
            <a:spAutoFit/>
          </a:bodyPr>
          <a:lstStyle/>
          <a:p>
            <a:pPr algn="ctr"/>
            <a:r>
              <a:rPr lang="en-GB" sz="1600" b="1" dirty="0">
                <a:latin typeface="Arial" pitchFamily="34" charset="0"/>
                <a:cs typeface="Arial" pitchFamily="34" charset="0"/>
              </a:rPr>
              <a:t>This is where we eliminate one of the letters by either adding or subtracting.</a:t>
            </a:r>
          </a:p>
        </p:txBody>
      </p:sp>
      <p:grpSp>
        <p:nvGrpSpPr>
          <p:cNvPr id="28" name="Group 27">
            <a:extLst>
              <a:ext uri="{FF2B5EF4-FFF2-40B4-BE49-F238E27FC236}">
                <a16:creationId xmlns:a16="http://schemas.microsoft.com/office/drawing/2014/main" id="{1E66BB62-494F-4862-906B-340A162FED9A}"/>
              </a:ext>
            </a:extLst>
          </p:cNvPr>
          <p:cNvGrpSpPr/>
          <p:nvPr/>
        </p:nvGrpSpPr>
        <p:grpSpPr>
          <a:xfrm>
            <a:off x="6042363" y="5095502"/>
            <a:ext cx="2927000" cy="389860"/>
            <a:chOff x="5264353" y="1190846"/>
            <a:chExt cx="2927000" cy="1073889"/>
          </a:xfrm>
        </p:grpSpPr>
        <p:sp>
          <p:nvSpPr>
            <p:cNvPr id="29" name="Rounded Rectangle 30">
              <a:extLst>
                <a:ext uri="{FF2B5EF4-FFF2-40B4-BE49-F238E27FC236}">
                  <a16:creationId xmlns:a16="http://schemas.microsoft.com/office/drawing/2014/main" id="{C76F2443-0006-40F0-AF37-81CA9D4CF70E}"/>
                </a:ext>
              </a:extLst>
            </p:cNvPr>
            <p:cNvSpPr/>
            <p:nvPr/>
          </p:nvSpPr>
          <p:spPr>
            <a:xfrm>
              <a:off x="5264353" y="1190846"/>
              <a:ext cx="2927000" cy="1073889"/>
            </a:xfrm>
            <a:prstGeom prst="roundRect">
              <a:avLst>
                <a:gd name="adj" fmla="val 25974"/>
              </a:avLst>
            </a:prstGeom>
            <a:solidFill>
              <a:srgbClr val="FFFF99"/>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itchFamily="34" charset="0"/>
                <a:cs typeface="Arial" pitchFamily="34" charset="0"/>
              </a:endParaRPr>
            </a:p>
          </p:txBody>
        </p:sp>
        <p:sp>
          <p:nvSpPr>
            <p:cNvPr id="30" name="TextBox 29">
              <a:extLst>
                <a:ext uri="{FF2B5EF4-FFF2-40B4-BE49-F238E27FC236}">
                  <a16:creationId xmlns:a16="http://schemas.microsoft.com/office/drawing/2014/main" id="{FEC7A175-2571-4D2E-B375-57A08351C566}"/>
                </a:ext>
              </a:extLst>
            </p:cNvPr>
            <p:cNvSpPr txBox="1"/>
            <p:nvPr/>
          </p:nvSpPr>
          <p:spPr>
            <a:xfrm>
              <a:off x="5339424" y="1303898"/>
              <a:ext cx="2776859" cy="847787"/>
            </a:xfrm>
            <a:prstGeom prst="rect">
              <a:avLst/>
            </a:prstGeom>
            <a:noFill/>
          </p:spPr>
          <p:txBody>
            <a:bodyPr wrap="square" rtlCol="0">
              <a:spAutoFit/>
            </a:bodyPr>
            <a:lstStyle/>
            <a:p>
              <a:pPr algn="ctr"/>
              <a:r>
                <a:rPr lang="en-GB" sz="1400" b="1" dirty="0">
                  <a:latin typeface="Arial" pitchFamily="34" charset="0"/>
                  <a:cs typeface="Arial" pitchFamily="34" charset="0"/>
                </a:rPr>
                <a:t>Where </a:t>
              </a:r>
              <a:r>
                <a:rPr lang="en-GB" sz="1400" b="1" i="1" dirty="0">
                  <a:solidFill>
                    <a:srgbClr val="FF0000"/>
                  </a:solidFill>
                  <a:latin typeface="Arial" pitchFamily="34" charset="0"/>
                  <a:cs typeface="Arial" pitchFamily="34" charset="0"/>
                </a:rPr>
                <a:t>a</a:t>
              </a:r>
              <a:r>
                <a:rPr lang="en-GB" sz="1400" b="1" dirty="0">
                  <a:latin typeface="Arial" pitchFamily="34" charset="0"/>
                  <a:cs typeface="Arial" pitchFamily="34" charset="0"/>
                </a:rPr>
                <a:t>, </a:t>
              </a:r>
              <a:r>
                <a:rPr lang="en-GB" sz="1400" b="1" i="1" dirty="0">
                  <a:solidFill>
                    <a:srgbClr val="FF0000"/>
                  </a:solidFill>
                  <a:latin typeface="Arial" pitchFamily="34" charset="0"/>
                  <a:cs typeface="Arial" pitchFamily="34" charset="0"/>
                </a:rPr>
                <a:t>b</a:t>
              </a:r>
              <a:r>
                <a:rPr lang="en-GB" sz="1400" b="1" dirty="0">
                  <a:latin typeface="Arial" pitchFamily="34" charset="0"/>
                  <a:cs typeface="Arial" pitchFamily="34" charset="0"/>
                </a:rPr>
                <a:t> and </a:t>
              </a:r>
              <a:r>
                <a:rPr lang="en-GB" sz="1400" b="1" i="1" dirty="0">
                  <a:solidFill>
                    <a:srgbClr val="FF0000"/>
                  </a:solidFill>
                  <a:latin typeface="Arial" pitchFamily="34" charset="0"/>
                  <a:cs typeface="Arial" pitchFamily="34" charset="0"/>
                </a:rPr>
                <a:t>c</a:t>
              </a:r>
              <a:r>
                <a:rPr lang="en-GB" sz="1400" b="1" dirty="0">
                  <a:latin typeface="Arial" pitchFamily="34" charset="0"/>
                  <a:cs typeface="Arial" pitchFamily="34" charset="0"/>
                </a:rPr>
                <a:t> are numbers</a:t>
              </a:r>
              <a:endParaRPr lang="en-GB" sz="1400" i="1" dirty="0">
                <a:latin typeface="Arial" pitchFamily="34" charset="0"/>
                <a:cs typeface="Arial" pitchFamily="34" charset="0"/>
              </a:endParaRPr>
            </a:p>
          </p:txBody>
        </p:sp>
      </p:grpSp>
    </p:spTree>
    <p:extLst>
      <p:ext uri="{BB962C8B-B14F-4D97-AF65-F5344CB8AC3E}">
        <p14:creationId xmlns:p14="http://schemas.microsoft.com/office/powerpoint/2010/main" val="412217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0"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p:cTn id="16" dur="500" fill="hold"/>
                                        <p:tgtEl>
                                          <p:spTgt spid="20"/>
                                        </p:tgtEl>
                                        <p:attrNameLst>
                                          <p:attrName>ppt_w</p:attrName>
                                        </p:attrNameLst>
                                      </p:cBhvr>
                                      <p:tavLst>
                                        <p:tav tm="0">
                                          <p:val>
                                            <p:fltVal val="0"/>
                                          </p:val>
                                        </p:tav>
                                        <p:tav tm="100000">
                                          <p:val>
                                            <p:strVal val="#ppt_w"/>
                                          </p:val>
                                        </p:tav>
                                      </p:tavLst>
                                    </p:anim>
                                    <p:anim calcmode="lin" valueType="num">
                                      <p:cBhvr>
                                        <p:cTn id="17" dur="500" fill="hold"/>
                                        <p:tgtEl>
                                          <p:spTgt spid="20"/>
                                        </p:tgtEl>
                                        <p:attrNameLst>
                                          <p:attrName>ppt_h</p:attrName>
                                        </p:attrNameLst>
                                      </p:cBhvr>
                                      <p:tavLst>
                                        <p:tav tm="0">
                                          <p:val>
                                            <p:fltVal val="0"/>
                                          </p:val>
                                        </p:tav>
                                        <p:tav tm="100000">
                                          <p:val>
                                            <p:strVal val="#ppt_h"/>
                                          </p:val>
                                        </p:tav>
                                      </p:tavLst>
                                    </p:anim>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p:cTn id="23" dur="500" fill="hold"/>
                                        <p:tgtEl>
                                          <p:spTgt spid="14"/>
                                        </p:tgtEl>
                                        <p:attrNameLst>
                                          <p:attrName>ppt_w</p:attrName>
                                        </p:attrNameLst>
                                      </p:cBhvr>
                                      <p:tavLst>
                                        <p:tav tm="0">
                                          <p:val>
                                            <p:fltVal val="0"/>
                                          </p:val>
                                        </p:tav>
                                        <p:tav tm="100000">
                                          <p:val>
                                            <p:strVal val="#ppt_w"/>
                                          </p:val>
                                        </p:tav>
                                      </p:tavLst>
                                    </p:anim>
                                    <p:anim calcmode="lin" valueType="num">
                                      <p:cBhvr>
                                        <p:cTn id="24" dur="500" fill="hold"/>
                                        <p:tgtEl>
                                          <p:spTgt spid="14"/>
                                        </p:tgtEl>
                                        <p:attrNameLst>
                                          <p:attrName>ppt_h</p:attrName>
                                        </p:attrNameLst>
                                      </p:cBhvr>
                                      <p:tavLst>
                                        <p:tav tm="0">
                                          <p:val>
                                            <p:fltVal val="0"/>
                                          </p:val>
                                        </p:tav>
                                        <p:tav tm="100000">
                                          <p:val>
                                            <p:strVal val="#ppt_h"/>
                                          </p:val>
                                        </p:tav>
                                      </p:tavLst>
                                    </p:anim>
                                    <p:animEffect transition="in" filter="fade">
                                      <p:cBhvr>
                                        <p:cTn id="25" dur="500"/>
                                        <p:tgtEl>
                                          <p:spTgt spid="14"/>
                                        </p:tgtEl>
                                      </p:cBhvr>
                                    </p:animEffect>
                                  </p:childTnLst>
                                </p:cTn>
                              </p:par>
                            </p:childTnLst>
                          </p:cTn>
                        </p:par>
                        <p:par>
                          <p:cTn id="26" fill="hold">
                            <p:stCondLst>
                              <p:cond delay="500"/>
                            </p:stCondLst>
                            <p:childTnLst>
                              <p:par>
                                <p:cTn id="27" presetID="53"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p:cTn id="43" dur="500" fill="hold"/>
                                        <p:tgtEl>
                                          <p:spTgt spid="26"/>
                                        </p:tgtEl>
                                        <p:attrNameLst>
                                          <p:attrName>ppt_w</p:attrName>
                                        </p:attrNameLst>
                                      </p:cBhvr>
                                      <p:tavLst>
                                        <p:tav tm="0">
                                          <p:val>
                                            <p:fltVal val="0"/>
                                          </p:val>
                                        </p:tav>
                                        <p:tav tm="100000">
                                          <p:val>
                                            <p:strVal val="#ppt_w"/>
                                          </p:val>
                                        </p:tav>
                                      </p:tavLst>
                                    </p:anim>
                                    <p:anim calcmode="lin" valueType="num">
                                      <p:cBhvr>
                                        <p:cTn id="44" dur="500" fill="hold"/>
                                        <p:tgtEl>
                                          <p:spTgt spid="26"/>
                                        </p:tgtEl>
                                        <p:attrNameLst>
                                          <p:attrName>ppt_h</p:attrName>
                                        </p:attrNameLst>
                                      </p:cBhvr>
                                      <p:tavLst>
                                        <p:tav tm="0">
                                          <p:val>
                                            <p:fltVal val="0"/>
                                          </p:val>
                                        </p:tav>
                                        <p:tav tm="100000">
                                          <p:val>
                                            <p:strVal val="#ppt_h"/>
                                          </p:val>
                                        </p:tav>
                                      </p:tavLst>
                                    </p:anim>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0" fill="hold" nodeType="clickEffect">
                                  <p:stCondLst>
                                    <p:cond delay="0"/>
                                  </p:stCondLst>
                                  <p:childTnLst>
                                    <p:set>
                                      <p:cBhvr>
                                        <p:cTn id="49" dur="1" fill="hold">
                                          <p:stCondLst>
                                            <p:cond delay="0"/>
                                          </p:stCondLst>
                                        </p:cTn>
                                        <p:tgtEl>
                                          <p:spTgt spid="28"/>
                                        </p:tgtEl>
                                        <p:attrNameLst>
                                          <p:attrName>style.visibility</p:attrName>
                                        </p:attrNameLst>
                                      </p:cBhvr>
                                      <p:to>
                                        <p:strVal val="visible"/>
                                      </p:to>
                                    </p:set>
                                    <p:anim calcmode="lin" valueType="num">
                                      <p:cBhvr>
                                        <p:cTn id="50" dur="500" fill="hold"/>
                                        <p:tgtEl>
                                          <p:spTgt spid="28"/>
                                        </p:tgtEl>
                                        <p:attrNameLst>
                                          <p:attrName>ppt_w</p:attrName>
                                        </p:attrNameLst>
                                      </p:cBhvr>
                                      <p:tavLst>
                                        <p:tav tm="0">
                                          <p:val>
                                            <p:fltVal val="0"/>
                                          </p:val>
                                        </p:tav>
                                        <p:tav tm="100000">
                                          <p:val>
                                            <p:strVal val="#ppt_w"/>
                                          </p:val>
                                        </p:tav>
                                      </p:tavLst>
                                    </p:anim>
                                    <p:anim calcmode="lin" valueType="num">
                                      <p:cBhvr>
                                        <p:cTn id="51" dur="500" fill="hold"/>
                                        <p:tgtEl>
                                          <p:spTgt spid="28"/>
                                        </p:tgtEl>
                                        <p:attrNameLst>
                                          <p:attrName>ppt_h</p:attrName>
                                        </p:attrNameLst>
                                      </p:cBhvr>
                                      <p:tavLst>
                                        <p:tav tm="0">
                                          <p:val>
                                            <p:fltVal val="0"/>
                                          </p:val>
                                        </p:tav>
                                        <p:tav tm="100000">
                                          <p:val>
                                            <p:strVal val="#ppt_h"/>
                                          </p:val>
                                        </p:tav>
                                      </p:tavLst>
                                    </p:anim>
                                    <p:animEffect transition="in" filter="fade">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17" presetClass="entr" presetSubtype="10" fill="hold" nodeType="click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p:cTn id="57" dur="500" fill="hold"/>
                                        <p:tgtEl>
                                          <p:spTgt spid="24"/>
                                        </p:tgtEl>
                                        <p:attrNameLst>
                                          <p:attrName>ppt_w</p:attrName>
                                        </p:attrNameLst>
                                      </p:cBhvr>
                                      <p:tavLst>
                                        <p:tav tm="0">
                                          <p:val>
                                            <p:fltVal val="0"/>
                                          </p:val>
                                        </p:tav>
                                        <p:tav tm="100000">
                                          <p:val>
                                            <p:strVal val="#ppt_w"/>
                                          </p:val>
                                        </p:tav>
                                      </p:tavLst>
                                    </p:anim>
                                    <p:anim calcmode="lin" valueType="num">
                                      <p:cBhvr>
                                        <p:cTn id="58" dur="500" fill="hold"/>
                                        <p:tgtEl>
                                          <p:spTgt spid="24"/>
                                        </p:tgtEl>
                                        <p:attrNameLst>
                                          <p:attrName>ppt_h</p:attrName>
                                        </p:attrNameLst>
                                      </p:cBhvr>
                                      <p:tavLst>
                                        <p:tav tm="0">
                                          <p:val>
                                            <p:strVal val="#ppt_h"/>
                                          </p:val>
                                        </p:tav>
                                        <p:tav tm="100000">
                                          <p:val>
                                            <p:strVal val="#ppt_h"/>
                                          </p:val>
                                        </p:tav>
                                      </p:tavLst>
                                    </p:anim>
                                  </p:childTnLst>
                                </p:cTn>
                              </p:par>
                            </p:childTnLst>
                          </p:cTn>
                        </p:par>
                        <p:par>
                          <p:cTn id="59" fill="hold">
                            <p:stCondLst>
                              <p:cond delay="500"/>
                            </p:stCondLst>
                            <p:childTnLst>
                              <p:par>
                                <p:cTn id="60" presetID="53" presetClass="entr" presetSubtype="0"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anim calcmode="lin" valueType="num">
                                      <p:cBhvr>
                                        <p:cTn id="69" dur="500" fill="hold"/>
                                        <p:tgtEl>
                                          <p:spTgt spid="27"/>
                                        </p:tgtEl>
                                        <p:attrNameLst>
                                          <p:attrName>ppt_w</p:attrName>
                                        </p:attrNameLst>
                                      </p:cBhvr>
                                      <p:tavLst>
                                        <p:tav tm="0">
                                          <p:val>
                                            <p:fltVal val="0"/>
                                          </p:val>
                                        </p:tav>
                                        <p:tav tm="100000">
                                          <p:val>
                                            <p:strVal val="#ppt_w"/>
                                          </p:val>
                                        </p:tav>
                                      </p:tavLst>
                                    </p:anim>
                                    <p:anim calcmode="lin" valueType="num">
                                      <p:cBhvr>
                                        <p:cTn id="70" dur="500" fill="hold"/>
                                        <p:tgtEl>
                                          <p:spTgt spid="27"/>
                                        </p:tgtEl>
                                        <p:attrNameLst>
                                          <p:attrName>ppt_h</p:attrName>
                                        </p:attrNameLst>
                                      </p:cBhvr>
                                      <p:tavLst>
                                        <p:tav tm="0">
                                          <p:val>
                                            <p:fltVal val="0"/>
                                          </p:val>
                                        </p:tav>
                                        <p:tav tm="100000">
                                          <p:val>
                                            <p:strVal val="#ppt_h"/>
                                          </p:val>
                                        </p:tav>
                                      </p:tavLst>
                                    </p:anim>
                                    <p:animEffect transition="in" filter="fade">
                                      <p:cBhvr>
                                        <p:cTn id="7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15" grpId="0"/>
      <p:bldP spid="16" grpId="0"/>
      <p:bldP spid="26" grpId="0"/>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12" name="TextBox 11">
            <a:extLst>
              <a:ext uri="{FF2B5EF4-FFF2-40B4-BE49-F238E27FC236}">
                <a16:creationId xmlns:a16="http://schemas.microsoft.com/office/drawing/2014/main" id="{7C7D2A7A-6485-45F1-B4D5-E63E4160444C}"/>
              </a:ext>
            </a:extLst>
          </p:cNvPr>
          <p:cNvSpPr txBox="1"/>
          <p:nvPr/>
        </p:nvSpPr>
        <p:spPr>
          <a:xfrm>
            <a:off x="632794" y="1370117"/>
            <a:ext cx="8632209" cy="338554"/>
          </a:xfrm>
          <a:prstGeom prst="rect">
            <a:avLst/>
          </a:prstGeom>
          <a:noFill/>
        </p:spPr>
        <p:txBody>
          <a:bodyPr wrap="square" rtlCol="0">
            <a:spAutoFit/>
          </a:bodyPr>
          <a:lstStyle/>
          <a:p>
            <a:pPr algn="ctr"/>
            <a:r>
              <a:rPr lang="en-GB" sz="1600" b="1" dirty="0">
                <a:latin typeface="Arial" pitchFamily="34" charset="0"/>
                <a:cs typeface="Arial" pitchFamily="34" charset="0"/>
              </a:rPr>
              <a:t>We need to have the same number in front of one of the letters in both equations.</a:t>
            </a:r>
            <a:endParaRPr lang="en-GB" sz="1600" b="1" i="1" dirty="0">
              <a:latin typeface="Arial" pitchFamily="34" charset="0"/>
              <a:cs typeface="Arial" pitchFamily="34" charset="0"/>
            </a:endParaRPr>
          </a:p>
        </p:txBody>
      </p:sp>
      <p:sp>
        <p:nvSpPr>
          <p:cNvPr id="14" name="TextBox 13">
            <a:extLst>
              <a:ext uri="{FF2B5EF4-FFF2-40B4-BE49-F238E27FC236}">
                <a16:creationId xmlns:a16="http://schemas.microsoft.com/office/drawing/2014/main" id="{26E7CC0C-1109-4BA8-A7D7-6E1E906C9709}"/>
              </a:ext>
            </a:extLst>
          </p:cNvPr>
          <p:cNvSpPr txBox="1"/>
          <p:nvPr/>
        </p:nvSpPr>
        <p:spPr>
          <a:xfrm>
            <a:off x="638387" y="1817777"/>
            <a:ext cx="3986661" cy="276999"/>
          </a:xfrm>
          <a:prstGeom prst="rect">
            <a:avLst/>
          </a:prstGeom>
          <a:noFill/>
        </p:spPr>
        <p:txBody>
          <a:bodyPr wrap="square" rtlCol="0">
            <a:spAutoFit/>
          </a:bodyPr>
          <a:lstStyle/>
          <a:p>
            <a:pPr algn="ctr"/>
            <a:r>
              <a:rPr lang="en-GB" sz="1200" b="1" dirty="0">
                <a:latin typeface="Arial" pitchFamily="34" charset="0"/>
                <a:cs typeface="Arial" pitchFamily="34" charset="0"/>
              </a:rPr>
              <a:t>Example 1:  Solve these simultaneous equations:</a:t>
            </a:r>
            <a:endParaRPr lang="en-GB" sz="1200" b="1" i="1" dirty="0">
              <a:latin typeface="Arial" pitchFamily="34" charset="0"/>
              <a:cs typeface="Arial" pitchFamily="34" charset="0"/>
            </a:endParaRPr>
          </a:p>
        </p:txBody>
      </p:sp>
      <p:sp>
        <p:nvSpPr>
          <p:cNvPr id="15" name="TextBox 14">
            <a:extLst>
              <a:ext uri="{FF2B5EF4-FFF2-40B4-BE49-F238E27FC236}">
                <a16:creationId xmlns:a16="http://schemas.microsoft.com/office/drawing/2014/main" id="{12898A0E-6BB0-458C-B96F-CB8BCAC52F24}"/>
              </a:ext>
            </a:extLst>
          </p:cNvPr>
          <p:cNvSpPr txBox="1"/>
          <p:nvPr/>
        </p:nvSpPr>
        <p:spPr>
          <a:xfrm>
            <a:off x="1026691" y="2172063"/>
            <a:ext cx="3062736" cy="400110"/>
          </a:xfrm>
          <a:prstGeom prst="rect">
            <a:avLst/>
          </a:prstGeom>
          <a:noFill/>
        </p:spPr>
        <p:txBody>
          <a:bodyPr wrap="square" rtlCol="0">
            <a:spAutoFit/>
          </a:bodyPr>
          <a:lstStyle/>
          <a:p>
            <a:r>
              <a:rPr lang="en-GB" sz="2000" b="1" dirty="0">
                <a:latin typeface="Arial" pitchFamily="34" charset="0"/>
                <a:cs typeface="Arial" pitchFamily="34" charset="0"/>
              </a:rPr>
              <a:t>5</a:t>
            </a:r>
            <a:r>
              <a:rPr lang="en-GB" sz="2000" b="1" i="1" dirty="0">
                <a:latin typeface="Arial" pitchFamily="34" charset="0"/>
                <a:cs typeface="Arial" pitchFamily="34" charset="0"/>
              </a:rPr>
              <a:t>x</a:t>
            </a:r>
            <a:r>
              <a:rPr lang="en-GB" sz="2000" b="1" dirty="0">
                <a:latin typeface="Arial" pitchFamily="34" charset="0"/>
                <a:cs typeface="Arial" pitchFamily="34" charset="0"/>
              </a:rPr>
              <a:t>  +  7</a:t>
            </a:r>
            <a:r>
              <a:rPr lang="en-GB" sz="2000" b="1" i="1" dirty="0">
                <a:latin typeface="Arial" pitchFamily="34" charset="0"/>
                <a:cs typeface="Arial" pitchFamily="34" charset="0"/>
              </a:rPr>
              <a:t>y</a:t>
            </a:r>
            <a:r>
              <a:rPr lang="en-GB" sz="2000" b="1" dirty="0">
                <a:latin typeface="Arial" pitchFamily="34" charset="0"/>
                <a:cs typeface="Arial" pitchFamily="34" charset="0"/>
              </a:rPr>
              <a:t>   =   68</a:t>
            </a:r>
          </a:p>
        </p:txBody>
      </p:sp>
      <p:sp>
        <p:nvSpPr>
          <p:cNvPr id="16" name="TextBox 15">
            <a:extLst>
              <a:ext uri="{FF2B5EF4-FFF2-40B4-BE49-F238E27FC236}">
                <a16:creationId xmlns:a16="http://schemas.microsoft.com/office/drawing/2014/main" id="{476275FB-8DB2-4CB8-8B38-D99E902806C9}"/>
              </a:ext>
            </a:extLst>
          </p:cNvPr>
          <p:cNvSpPr txBox="1"/>
          <p:nvPr/>
        </p:nvSpPr>
        <p:spPr>
          <a:xfrm>
            <a:off x="1026691" y="2514472"/>
            <a:ext cx="3062736" cy="400110"/>
          </a:xfrm>
          <a:prstGeom prst="rect">
            <a:avLst/>
          </a:prstGeom>
          <a:noFill/>
        </p:spPr>
        <p:txBody>
          <a:bodyPr wrap="square" rtlCol="0">
            <a:spAutoFit/>
          </a:bodyPr>
          <a:lstStyle/>
          <a:p>
            <a:r>
              <a:rPr lang="en-GB" sz="2000" b="1" dirty="0">
                <a:latin typeface="Arial" pitchFamily="34" charset="0"/>
                <a:cs typeface="Arial" pitchFamily="34" charset="0"/>
              </a:rPr>
              <a:t>2</a:t>
            </a:r>
            <a:r>
              <a:rPr lang="en-GB" sz="2000" b="1" i="1" dirty="0">
                <a:latin typeface="Arial" pitchFamily="34" charset="0"/>
                <a:cs typeface="Arial" pitchFamily="34" charset="0"/>
              </a:rPr>
              <a:t>x</a:t>
            </a:r>
            <a:r>
              <a:rPr lang="en-GB" sz="2000" b="1" dirty="0">
                <a:latin typeface="Arial" pitchFamily="34" charset="0"/>
                <a:cs typeface="Arial" pitchFamily="34" charset="0"/>
              </a:rPr>
              <a:t>  +  7</a:t>
            </a:r>
            <a:r>
              <a:rPr lang="en-GB" sz="2000" b="1" i="1" dirty="0">
                <a:latin typeface="Arial" pitchFamily="34" charset="0"/>
                <a:cs typeface="Arial" pitchFamily="34" charset="0"/>
              </a:rPr>
              <a:t>y</a:t>
            </a:r>
            <a:r>
              <a:rPr lang="en-GB" sz="2000" b="1" dirty="0">
                <a:latin typeface="Arial" pitchFamily="34" charset="0"/>
                <a:cs typeface="Arial" pitchFamily="34" charset="0"/>
              </a:rPr>
              <a:t>   =   44</a:t>
            </a:r>
          </a:p>
        </p:txBody>
      </p:sp>
      <p:grpSp>
        <p:nvGrpSpPr>
          <p:cNvPr id="17" name="Group 242">
            <a:extLst>
              <a:ext uri="{FF2B5EF4-FFF2-40B4-BE49-F238E27FC236}">
                <a16:creationId xmlns:a16="http://schemas.microsoft.com/office/drawing/2014/main" id="{65797504-9C39-46E2-ACA2-4FA2350FB137}"/>
              </a:ext>
            </a:extLst>
          </p:cNvPr>
          <p:cNvGrpSpPr/>
          <p:nvPr/>
        </p:nvGrpSpPr>
        <p:grpSpPr>
          <a:xfrm>
            <a:off x="5738415" y="1899365"/>
            <a:ext cx="3372591" cy="318155"/>
            <a:chOff x="5474525" y="1938441"/>
            <a:chExt cx="3372591" cy="391879"/>
          </a:xfrm>
        </p:grpSpPr>
        <p:sp>
          <p:nvSpPr>
            <p:cNvPr id="18" name="Rounded Rectangle 219">
              <a:extLst>
                <a:ext uri="{FF2B5EF4-FFF2-40B4-BE49-F238E27FC236}">
                  <a16:creationId xmlns:a16="http://schemas.microsoft.com/office/drawing/2014/main" id="{6B13BAA5-5CA9-4318-8D03-21A0A1B1936F}"/>
                </a:ext>
              </a:extLst>
            </p:cNvPr>
            <p:cNvSpPr/>
            <p:nvPr/>
          </p:nvSpPr>
          <p:spPr>
            <a:xfrm>
              <a:off x="5474525" y="1938441"/>
              <a:ext cx="3372591" cy="39187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19" name="TextBox 18">
              <a:extLst>
                <a:ext uri="{FF2B5EF4-FFF2-40B4-BE49-F238E27FC236}">
                  <a16:creationId xmlns:a16="http://schemas.microsoft.com/office/drawing/2014/main" id="{E56AE119-DFE2-4473-B8CD-2686E2108C9A}"/>
                </a:ext>
              </a:extLst>
            </p:cNvPr>
            <p:cNvSpPr txBox="1"/>
            <p:nvPr/>
          </p:nvSpPr>
          <p:spPr>
            <a:xfrm>
              <a:off x="5594268" y="1963787"/>
              <a:ext cx="3146960" cy="341186"/>
            </a:xfrm>
            <a:prstGeom prst="rect">
              <a:avLst/>
            </a:prstGeom>
            <a:noFill/>
          </p:spPr>
          <p:txBody>
            <a:bodyPr wrap="square" rtlCol="0">
              <a:spAutoFit/>
            </a:bodyPr>
            <a:lstStyle/>
            <a:p>
              <a:pPr algn="ctr"/>
              <a:r>
                <a:rPr lang="en-GB" sz="1200" b="1" dirty="0">
                  <a:latin typeface="Arial" pitchFamily="34" charset="0"/>
                  <a:cs typeface="Arial" pitchFamily="34" charset="0"/>
                </a:rPr>
                <a:t>First we label the equations  (1) and (2)</a:t>
              </a:r>
              <a:endParaRPr lang="en-GB" sz="1200" b="1" i="1" dirty="0">
                <a:latin typeface="Arial" pitchFamily="34" charset="0"/>
                <a:cs typeface="Arial" pitchFamily="34" charset="0"/>
              </a:endParaRPr>
            </a:p>
          </p:txBody>
        </p:sp>
      </p:grpSp>
      <p:cxnSp>
        <p:nvCxnSpPr>
          <p:cNvPr id="20" name="Straight Connector 19">
            <a:extLst>
              <a:ext uri="{FF2B5EF4-FFF2-40B4-BE49-F238E27FC236}">
                <a16:creationId xmlns:a16="http://schemas.microsoft.com/office/drawing/2014/main" id="{BF4224DC-C39E-48DF-AC87-FB9124A56C0B}"/>
              </a:ext>
            </a:extLst>
          </p:cNvPr>
          <p:cNvCxnSpPr/>
          <p:nvPr/>
        </p:nvCxnSpPr>
        <p:spPr>
          <a:xfrm>
            <a:off x="1037461" y="2936222"/>
            <a:ext cx="26363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1A6FE3D-E9AE-4182-8253-D6BF81DDF668}"/>
              </a:ext>
            </a:extLst>
          </p:cNvPr>
          <p:cNvSpPr txBox="1"/>
          <p:nvPr/>
        </p:nvSpPr>
        <p:spPr>
          <a:xfrm>
            <a:off x="3879744" y="2172063"/>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22" name="TextBox 21">
            <a:extLst>
              <a:ext uri="{FF2B5EF4-FFF2-40B4-BE49-F238E27FC236}">
                <a16:creationId xmlns:a16="http://schemas.microsoft.com/office/drawing/2014/main" id="{450B6319-1740-450F-A3D4-27AF2B5B5253}"/>
              </a:ext>
            </a:extLst>
          </p:cNvPr>
          <p:cNvSpPr txBox="1"/>
          <p:nvPr/>
        </p:nvSpPr>
        <p:spPr>
          <a:xfrm>
            <a:off x="3879744" y="2514472"/>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(2)</a:t>
            </a:r>
          </a:p>
        </p:txBody>
      </p:sp>
      <p:grpSp>
        <p:nvGrpSpPr>
          <p:cNvPr id="23" name="Group 249">
            <a:extLst>
              <a:ext uri="{FF2B5EF4-FFF2-40B4-BE49-F238E27FC236}">
                <a16:creationId xmlns:a16="http://schemas.microsoft.com/office/drawing/2014/main" id="{DFCDFB4C-1EB5-4CA8-A1BF-1EF5BADB6E53}"/>
              </a:ext>
            </a:extLst>
          </p:cNvPr>
          <p:cNvGrpSpPr/>
          <p:nvPr/>
        </p:nvGrpSpPr>
        <p:grpSpPr>
          <a:xfrm>
            <a:off x="5738415" y="2332946"/>
            <a:ext cx="3372591" cy="461665"/>
            <a:chOff x="5474525" y="1996718"/>
            <a:chExt cx="3372591" cy="699810"/>
          </a:xfrm>
        </p:grpSpPr>
        <p:sp>
          <p:nvSpPr>
            <p:cNvPr id="24" name="Rounded Rectangle 251">
              <a:extLst>
                <a:ext uri="{FF2B5EF4-FFF2-40B4-BE49-F238E27FC236}">
                  <a16:creationId xmlns:a16="http://schemas.microsoft.com/office/drawing/2014/main" id="{7FA299F4-8539-48B3-9EED-64F2C1984BC1}"/>
                </a:ext>
              </a:extLst>
            </p:cNvPr>
            <p:cNvSpPr/>
            <p:nvPr/>
          </p:nvSpPr>
          <p:spPr>
            <a:xfrm>
              <a:off x="5474525" y="2010227"/>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6" name="TextBox 25">
              <a:extLst>
                <a:ext uri="{FF2B5EF4-FFF2-40B4-BE49-F238E27FC236}">
                  <a16:creationId xmlns:a16="http://schemas.microsoft.com/office/drawing/2014/main" id="{CDD2FFBA-8CE7-4579-AB63-FC43636C8247}"/>
                </a:ext>
              </a:extLst>
            </p:cNvPr>
            <p:cNvSpPr txBox="1"/>
            <p:nvPr/>
          </p:nvSpPr>
          <p:spPr>
            <a:xfrm>
              <a:off x="5605153" y="1996718"/>
              <a:ext cx="3111335" cy="699810"/>
            </a:xfrm>
            <a:prstGeom prst="rect">
              <a:avLst/>
            </a:prstGeom>
            <a:noFill/>
          </p:spPr>
          <p:txBody>
            <a:bodyPr wrap="square" rtlCol="0">
              <a:spAutoFit/>
            </a:bodyPr>
            <a:lstStyle/>
            <a:p>
              <a:pPr algn="ctr"/>
              <a:r>
                <a:rPr lang="en-GB" sz="1200" b="1" dirty="0">
                  <a:latin typeface="Arial" pitchFamily="34" charset="0"/>
                  <a:cs typeface="Arial" pitchFamily="34" charset="0"/>
                </a:rPr>
                <a:t>The equations both have the same number in front of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sp>
        <p:nvSpPr>
          <p:cNvPr id="27" name="TextBox 26">
            <a:extLst>
              <a:ext uri="{FF2B5EF4-FFF2-40B4-BE49-F238E27FC236}">
                <a16:creationId xmlns:a16="http://schemas.microsoft.com/office/drawing/2014/main" id="{3015D45C-F346-438D-9AC1-377DC1EFC528}"/>
              </a:ext>
            </a:extLst>
          </p:cNvPr>
          <p:cNvSpPr txBox="1"/>
          <p:nvPr/>
        </p:nvSpPr>
        <p:spPr>
          <a:xfrm>
            <a:off x="1056383" y="3021524"/>
            <a:ext cx="919231" cy="400110"/>
          </a:xfrm>
          <a:prstGeom prst="rect">
            <a:avLst/>
          </a:prstGeom>
          <a:noFill/>
        </p:spPr>
        <p:txBody>
          <a:bodyPr wrap="square" rtlCol="0">
            <a:spAutoFit/>
          </a:bodyPr>
          <a:lstStyle/>
          <a:p>
            <a:r>
              <a:rPr lang="en-GB" sz="2000" b="1" dirty="0">
                <a:latin typeface="Arial" pitchFamily="34" charset="0"/>
                <a:cs typeface="Arial" pitchFamily="34" charset="0"/>
              </a:rPr>
              <a:t>3</a:t>
            </a:r>
            <a:r>
              <a:rPr lang="en-GB" sz="2000" b="1" i="1" dirty="0">
                <a:latin typeface="Arial" pitchFamily="34" charset="0"/>
                <a:cs typeface="Arial" pitchFamily="34" charset="0"/>
              </a:rPr>
              <a:t>x</a:t>
            </a:r>
          </a:p>
        </p:txBody>
      </p:sp>
      <p:sp>
        <p:nvSpPr>
          <p:cNvPr id="28" name="TextBox 27">
            <a:extLst>
              <a:ext uri="{FF2B5EF4-FFF2-40B4-BE49-F238E27FC236}">
                <a16:creationId xmlns:a16="http://schemas.microsoft.com/office/drawing/2014/main" id="{52819544-FC2D-4479-B945-65A0EFBEC11E}"/>
              </a:ext>
            </a:extLst>
          </p:cNvPr>
          <p:cNvSpPr txBox="1"/>
          <p:nvPr/>
        </p:nvSpPr>
        <p:spPr>
          <a:xfrm>
            <a:off x="2134739" y="3021524"/>
            <a:ext cx="1360597" cy="400110"/>
          </a:xfrm>
          <a:prstGeom prst="rect">
            <a:avLst/>
          </a:prstGeom>
          <a:noFill/>
        </p:spPr>
        <p:txBody>
          <a:bodyPr wrap="square" rtlCol="0">
            <a:spAutoFit/>
          </a:bodyPr>
          <a:lstStyle/>
          <a:p>
            <a:r>
              <a:rPr lang="en-GB" sz="2000" b="1" dirty="0">
                <a:latin typeface="Arial" pitchFamily="34" charset="0"/>
                <a:cs typeface="Arial" pitchFamily="34" charset="0"/>
              </a:rPr>
              <a:t>=   24</a:t>
            </a:r>
          </a:p>
        </p:txBody>
      </p:sp>
      <p:grpSp>
        <p:nvGrpSpPr>
          <p:cNvPr id="29" name="Group 431">
            <a:extLst>
              <a:ext uri="{FF2B5EF4-FFF2-40B4-BE49-F238E27FC236}">
                <a16:creationId xmlns:a16="http://schemas.microsoft.com/office/drawing/2014/main" id="{EFFCD024-70C7-46F9-AD23-35CE7E1CF0D4}"/>
              </a:ext>
            </a:extLst>
          </p:cNvPr>
          <p:cNvGrpSpPr/>
          <p:nvPr/>
        </p:nvGrpSpPr>
        <p:grpSpPr>
          <a:xfrm>
            <a:off x="5896969" y="2882149"/>
            <a:ext cx="3055482" cy="461665"/>
            <a:chOff x="5474525" y="2018373"/>
            <a:chExt cx="3372591" cy="699809"/>
          </a:xfrm>
        </p:grpSpPr>
        <p:sp>
          <p:nvSpPr>
            <p:cNvPr id="30" name="Rounded Rectangle 432">
              <a:extLst>
                <a:ext uri="{FF2B5EF4-FFF2-40B4-BE49-F238E27FC236}">
                  <a16:creationId xmlns:a16="http://schemas.microsoft.com/office/drawing/2014/main" id="{D5760CCF-8BB2-4A92-81B5-56C4B5EAE7A2}"/>
                </a:ext>
              </a:extLst>
            </p:cNvPr>
            <p:cNvSpPr/>
            <p:nvPr/>
          </p:nvSpPr>
          <p:spPr>
            <a:xfrm>
              <a:off x="5474525" y="2025460"/>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1" name="TextBox 30">
              <a:extLst>
                <a:ext uri="{FF2B5EF4-FFF2-40B4-BE49-F238E27FC236}">
                  <a16:creationId xmlns:a16="http://schemas.microsoft.com/office/drawing/2014/main" id="{E0E8BCB5-D4ED-488C-B34B-81B4CA5A6332}"/>
                </a:ext>
              </a:extLst>
            </p:cNvPr>
            <p:cNvSpPr txBox="1"/>
            <p:nvPr/>
          </p:nvSpPr>
          <p:spPr>
            <a:xfrm>
              <a:off x="5594059" y="2018373"/>
              <a:ext cx="3133523" cy="699809"/>
            </a:xfrm>
            <a:prstGeom prst="rect">
              <a:avLst/>
            </a:prstGeom>
            <a:noFill/>
          </p:spPr>
          <p:txBody>
            <a:bodyPr wrap="square" rtlCol="0">
              <a:spAutoFit/>
            </a:bodyPr>
            <a:lstStyle/>
            <a:p>
              <a:pPr algn="ctr"/>
              <a:r>
                <a:rPr lang="en-GB" sz="1200" b="1" dirty="0">
                  <a:latin typeface="Arial" pitchFamily="34" charset="0"/>
                  <a:cs typeface="Arial" pitchFamily="34" charset="0"/>
                </a:rPr>
                <a:t>So we SUBTRACT corresponding terms to eliminate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32" name="Group 434">
            <a:extLst>
              <a:ext uri="{FF2B5EF4-FFF2-40B4-BE49-F238E27FC236}">
                <a16:creationId xmlns:a16="http://schemas.microsoft.com/office/drawing/2014/main" id="{A5D8C75D-25C7-46D6-8929-A50D8F9DC3DA}"/>
              </a:ext>
            </a:extLst>
          </p:cNvPr>
          <p:cNvGrpSpPr/>
          <p:nvPr/>
        </p:nvGrpSpPr>
        <p:grpSpPr>
          <a:xfrm>
            <a:off x="5896969" y="3459925"/>
            <a:ext cx="3055482" cy="330999"/>
            <a:chOff x="5474525" y="1935097"/>
            <a:chExt cx="3372591" cy="431236"/>
          </a:xfrm>
        </p:grpSpPr>
        <p:sp>
          <p:nvSpPr>
            <p:cNvPr id="33" name="Rounded Rectangle 435">
              <a:extLst>
                <a:ext uri="{FF2B5EF4-FFF2-40B4-BE49-F238E27FC236}">
                  <a16:creationId xmlns:a16="http://schemas.microsoft.com/office/drawing/2014/main" id="{60B72847-CC65-43AC-9C16-80C87F553939}"/>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4" name="TextBox 33">
              <a:extLst>
                <a:ext uri="{FF2B5EF4-FFF2-40B4-BE49-F238E27FC236}">
                  <a16:creationId xmlns:a16="http://schemas.microsoft.com/office/drawing/2014/main" id="{018BC311-60B8-4896-921F-FA38CFEEABC5}"/>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Then divide both sides by 3.</a:t>
              </a:r>
              <a:endParaRPr lang="en-GB" sz="1200" b="1" i="1" dirty="0">
                <a:latin typeface="Arial" pitchFamily="34" charset="0"/>
                <a:cs typeface="Arial" pitchFamily="34" charset="0"/>
              </a:endParaRPr>
            </a:p>
          </p:txBody>
        </p:sp>
      </p:grpSp>
      <p:sp>
        <p:nvSpPr>
          <p:cNvPr id="35" name="TextBox 34">
            <a:extLst>
              <a:ext uri="{FF2B5EF4-FFF2-40B4-BE49-F238E27FC236}">
                <a16:creationId xmlns:a16="http://schemas.microsoft.com/office/drawing/2014/main" id="{DFF4E3F4-E117-451F-9EF1-83B938BE6E59}"/>
              </a:ext>
            </a:extLst>
          </p:cNvPr>
          <p:cNvSpPr txBox="1"/>
          <p:nvPr/>
        </p:nvSpPr>
        <p:spPr>
          <a:xfrm>
            <a:off x="1422540" y="3328310"/>
            <a:ext cx="2697684" cy="400110"/>
          </a:xfrm>
          <a:prstGeom prst="rect">
            <a:avLst/>
          </a:prstGeom>
          <a:noFill/>
        </p:spPr>
        <p:txBody>
          <a:bodyPr wrap="square" rtlCol="0">
            <a:spAutoFit/>
          </a:bodyPr>
          <a:lstStyle/>
          <a:p>
            <a:r>
              <a:rPr lang="en-GB" sz="2000" b="1" i="1" dirty="0">
                <a:latin typeface="Arial" pitchFamily="34" charset="0"/>
                <a:cs typeface="Arial" pitchFamily="34" charset="0"/>
              </a:rPr>
              <a:t>x</a:t>
            </a:r>
            <a:r>
              <a:rPr lang="en-GB" sz="2000" b="1" dirty="0">
                <a:latin typeface="Arial" pitchFamily="34" charset="0"/>
                <a:cs typeface="Arial" pitchFamily="34" charset="0"/>
              </a:rPr>
              <a:t>    =    24  ÷  3</a:t>
            </a:r>
          </a:p>
        </p:txBody>
      </p:sp>
      <p:cxnSp>
        <p:nvCxnSpPr>
          <p:cNvPr id="36" name="Straight Connector 35">
            <a:extLst>
              <a:ext uri="{FF2B5EF4-FFF2-40B4-BE49-F238E27FC236}">
                <a16:creationId xmlns:a16="http://schemas.microsoft.com/office/drawing/2014/main" id="{B2739B95-992C-4051-8E5C-09378FB550E7}"/>
              </a:ext>
            </a:extLst>
          </p:cNvPr>
          <p:cNvCxnSpPr/>
          <p:nvPr/>
        </p:nvCxnSpPr>
        <p:spPr>
          <a:xfrm>
            <a:off x="1047361" y="4391511"/>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37" name="Group 440">
            <a:extLst>
              <a:ext uri="{FF2B5EF4-FFF2-40B4-BE49-F238E27FC236}">
                <a16:creationId xmlns:a16="http://schemas.microsoft.com/office/drawing/2014/main" id="{04FAF51D-BA19-4540-9140-BDCC37CBB1BB}"/>
              </a:ext>
            </a:extLst>
          </p:cNvPr>
          <p:cNvGrpSpPr/>
          <p:nvPr/>
        </p:nvGrpSpPr>
        <p:grpSpPr>
          <a:xfrm>
            <a:off x="5896969" y="4404658"/>
            <a:ext cx="3055482" cy="330999"/>
            <a:chOff x="5474525" y="1935097"/>
            <a:chExt cx="3372591" cy="431236"/>
          </a:xfrm>
        </p:grpSpPr>
        <p:sp>
          <p:nvSpPr>
            <p:cNvPr id="38" name="Rounded Rectangle 441">
              <a:extLst>
                <a:ext uri="{FF2B5EF4-FFF2-40B4-BE49-F238E27FC236}">
                  <a16:creationId xmlns:a16="http://schemas.microsoft.com/office/drawing/2014/main" id="{118E55CD-C34D-4E7E-8BDF-BC0F67CF4C0C}"/>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9" name="TextBox 38">
              <a:extLst>
                <a:ext uri="{FF2B5EF4-FFF2-40B4-BE49-F238E27FC236}">
                  <a16:creationId xmlns:a16="http://schemas.microsoft.com/office/drawing/2014/main" id="{20CE2298-AFC2-470E-B680-CD41BCA84739}"/>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Now substitute for x = </a:t>
              </a:r>
              <a:r>
                <a:rPr lang="en-GB" sz="1200" b="1" dirty="0">
                  <a:solidFill>
                    <a:srgbClr val="C00000"/>
                  </a:solidFill>
                  <a:latin typeface="Arial" pitchFamily="34" charset="0"/>
                  <a:cs typeface="Arial" pitchFamily="34" charset="0"/>
                </a:rPr>
                <a:t>8</a:t>
              </a:r>
              <a:r>
                <a:rPr lang="en-GB" sz="1200" b="1" dirty="0">
                  <a:latin typeface="Arial" pitchFamily="34" charset="0"/>
                  <a:cs typeface="Arial" pitchFamily="34" charset="0"/>
                </a:rPr>
                <a:t> into (1).</a:t>
              </a:r>
              <a:endParaRPr lang="en-GB" sz="1200" b="1" i="1" dirty="0">
                <a:latin typeface="Arial" pitchFamily="34" charset="0"/>
                <a:cs typeface="Arial" pitchFamily="34" charset="0"/>
              </a:endParaRPr>
            </a:p>
          </p:txBody>
        </p:sp>
      </p:grpSp>
      <p:sp>
        <p:nvSpPr>
          <p:cNvPr id="40" name="TextBox 39">
            <a:extLst>
              <a:ext uri="{FF2B5EF4-FFF2-40B4-BE49-F238E27FC236}">
                <a16:creationId xmlns:a16="http://schemas.microsoft.com/office/drawing/2014/main" id="{42F7CD3A-826B-4892-BEF6-509B003E1639}"/>
              </a:ext>
            </a:extLst>
          </p:cNvPr>
          <p:cNvSpPr txBox="1"/>
          <p:nvPr/>
        </p:nvSpPr>
        <p:spPr>
          <a:xfrm>
            <a:off x="1131590" y="4383579"/>
            <a:ext cx="3062736" cy="400110"/>
          </a:xfrm>
          <a:prstGeom prst="rect">
            <a:avLst/>
          </a:prstGeom>
          <a:noFill/>
        </p:spPr>
        <p:txBody>
          <a:bodyPr wrap="square" rtlCol="0">
            <a:spAutoFit/>
          </a:bodyPr>
          <a:lstStyle/>
          <a:p>
            <a:r>
              <a:rPr lang="en-GB" sz="2000" b="1" dirty="0">
                <a:latin typeface="Arial" pitchFamily="34" charset="0"/>
                <a:cs typeface="Arial" pitchFamily="34" charset="0"/>
              </a:rPr>
              <a:t>5 </a:t>
            </a:r>
            <a:r>
              <a:rPr lang="en-GB" sz="2000" dirty="0">
                <a:latin typeface="Arial" pitchFamily="34" charset="0"/>
                <a:cs typeface="Arial" pitchFamily="34" charset="0"/>
              </a:rPr>
              <a:t>x</a:t>
            </a:r>
            <a:r>
              <a:rPr lang="en-GB" sz="2000" b="1" dirty="0">
                <a:latin typeface="Arial" pitchFamily="34" charset="0"/>
                <a:cs typeface="Arial" pitchFamily="34" charset="0"/>
              </a:rPr>
              <a:t> </a:t>
            </a:r>
            <a:r>
              <a:rPr lang="en-GB" sz="2000" b="1" dirty="0">
                <a:solidFill>
                  <a:srgbClr val="C00000"/>
                </a:solidFill>
                <a:latin typeface="Arial" pitchFamily="34" charset="0"/>
                <a:cs typeface="Arial" pitchFamily="34" charset="0"/>
              </a:rPr>
              <a:t>8</a:t>
            </a:r>
            <a:r>
              <a:rPr lang="en-GB" sz="2000" b="1" dirty="0">
                <a:latin typeface="Arial" pitchFamily="34" charset="0"/>
                <a:cs typeface="Arial" pitchFamily="34" charset="0"/>
              </a:rPr>
              <a:t>  +  7</a:t>
            </a:r>
            <a:r>
              <a:rPr lang="en-GB" sz="2000" b="1" i="1" dirty="0">
                <a:latin typeface="Arial" pitchFamily="34" charset="0"/>
                <a:cs typeface="Arial" pitchFamily="34" charset="0"/>
              </a:rPr>
              <a:t>y</a:t>
            </a:r>
            <a:r>
              <a:rPr lang="en-GB" sz="2000" b="1" dirty="0">
                <a:latin typeface="Arial" pitchFamily="34" charset="0"/>
                <a:cs typeface="Arial" pitchFamily="34" charset="0"/>
              </a:rPr>
              <a:t>   =   68</a:t>
            </a:r>
          </a:p>
        </p:txBody>
      </p:sp>
      <p:sp>
        <p:nvSpPr>
          <p:cNvPr id="41" name="TextBox 40">
            <a:extLst>
              <a:ext uri="{FF2B5EF4-FFF2-40B4-BE49-F238E27FC236}">
                <a16:creationId xmlns:a16="http://schemas.microsoft.com/office/drawing/2014/main" id="{794BA878-3EF5-4DB3-A926-1576C0DADCE5}"/>
              </a:ext>
            </a:extLst>
          </p:cNvPr>
          <p:cNvSpPr txBox="1"/>
          <p:nvPr/>
        </p:nvSpPr>
        <p:spPr>
          <a:xfrm>
            <a:off x="3879744" y="4383579"/>
            <a:ext cx="115487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42" name="TextBox 41">
            <a:extLst>
              <a:ext uri="{FF2B5EF4-FFF2-40B4-BE49-F238E27FC236}">
                <a16:creationId xmlns:a16="http://schemas.microsoft.com/office/drawing/2014/main" id="{7B7F6CBA-CA1D-485B-A627-B0ED55780390}"/>
              </a:ext>
            </a:extLst>
          </p:cNvPr>
          <p:cNvSpPr txBox="1"/>
          <p:nvPr/>
        </p:nvSpPr>
        <p:spPr>
          <a:xfrm>
            <a:off x="1200863" y="4693822"/>
            <a:ext cx="3062736" cy="400110"/>
          </a:xfrm>
          <a:prstGeom prst="rect">
            <a:avLst/>
          </a:prstGeom>
          <a:noFill/>
        </p:spPr>
        <p:txBody>
          <a:bodyPr wrap="square" rtlCol="0">
            <a:spAutoFit/>
          </a:bodyPr>
          <a:lstStyle/>
          <a:p>
            <a:r>
              <a:rPr lang="en-GB" sz="2000" b="1" dirty="0">
                <a:latin typeface="Arial" pitchFamily="34" charset="0"/>
                <a:cs typeface="Arial" pitchFamily="34" charset="0"/>
              </a:rPr>
              <a:t>40  +  7</a:t>
            </a:r>
            <a:r>
              <a:rPr lang="en-GB" sz="2000" b="1" i="1" dirty="0">
                <a:latin typeface="Arial" pitchFamily="34" charset="0"/>
                <a:cs typeface="Arial" pitchFamily="34" charset="0"/>
              </a:rPr>
              <a:t>y</a:t>
            </a:r>
            <a:r>
              <a:rPr lang="en-GB" sz="2000" b="1" dirty="0">
                <a:latin typeface="Arial" pitchFamily="34" charset="0"/>
                <a:cs typeface="Arial" pitchFamily="34" charset="0"/>
              </a:rPr>
              <a:t>   =   68</a:t>
            </a:r>
          </a:p>
        </p:txBody>
      </p:sp>
      <p:grpSp>
        <p:nvGrpSpPr>
          <p:cNvPr id="43" name="Group 446">
            <a:extLst>
              <a:ext uri="{FF2B5EF4-FFF2-40B4-BE49-F238E27FC236}">
                <a16:creationId xmlns:a16="http://schemas.microsoft.com/office/drawing/2014/main" id="{50198FCC-B517-4925-AB1B-6969E03CC659}"/>
              </a:ext>
            </a:extLst>
          </p:cNvPr>
          <p:cNvGrpSpPr/>
          <p:nvPr/>
        </p:nvGrpSpPr>
        <p:grpSpPr>
          <a:xfrm>
            <a:off x="5896969" y="4817741"/>
            <a:ext cx="3055482" cy="330999"/>
            <a:chOff x="5474525" y="1935097"/>
            <a:chExt cx="3372591" cy="431236"/>
          </a:xfrm>
        </p:grpSpPr>
        <p:sp>
          <p:nvSpPr>
            <p:cNvPr id="44" name="Rounded Rectangle 447">
              <a:extLst>
                <a:ext uri="{FF2B5EF4-FFF2-40B4-BE49-F238E27FC236}">
                  <a16:creationId xmlns:a16="http://schemas.microsoft.com/office/drawing/2014/main" id="{5705E0C0-8F26-4907-A229-66051665EC8D}"/>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5" name="TextBox 44">
              <a:extLst>
                <a:ext uri="{FF2B5EF4-FFF2-40B4-BE49-F238E27FC236}">
                  <a16:creationId xmlns:a16="http://schemas.microsoft.com/office/drawing/2014/main" id="{5B00B958-6A25-433B-8E5D-FFD56F95F724}"/>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Take 40 from both sides</a:t>
              </a:r>
              <a:endParaRPr lang="en-GB" sz="1200" b="1" i="1" dirty="0">
                <a:latin typeface="Arial" pitchFamily="34" charset="0"/>
                <a:cs typeface="Arial" pitchFamily="34" charset="0"/>
              </a:endParaRPr>
            </a:p>
          </p:txBody>
        </p:sp>
      </p:grpSp>
      <p:sp>
        <p:nvSpPr>
          <p:cNvPr id="46" name="TextBox 45">
            <a:extLst>
              <a:ext uri="{FF2B5EF4-FFF2-40B4-BE49-F238E27FC236}">
                <a16:creationId xmlns:a16="http://schemas.microsoft.com/office/drawing/2014/main" id="{C1C65A0C-59CB-4E5F-A791-3E96228BE2CC}"/>
              </a:ext>
            </a:extLst>
          </p:cNvPr>
          <p:cNvSpPr txBox="1"/>
          <p:nvPr/>
        </p:nvSpPr>
        <p:spPr>
          <a:xfrm>
            <a:off x="1293887" y="5004065"/>
            <a:ext cx="3062736" cy="400110"/>
          </a:xfrm>
          <a:prstGeom prst="rect">
            <a:avLst/>
          </a:prstGeom>
          <a:noFill/>
        </p:spPr>
        <p:txBody>
          <a:bodyPr wrap="square" rtlCol="0">
            <a:spAutoFit/>
          </a:bodyPr>
          <a:lstStyle/>
          <a:p>
            <a:r>
              <a:rPr lang="en-GB" sz="2000" b="1" dirty="0">
                <a:latin typeface="Arial" pitchFamily="34" charset="0"/>
                <a:cs typeface="Arial" pitchFamily="34" charset="0"/>
              </a:rPr>
              <a:t>7</a:t>
            </a:r>
            <a:r>
              <a:rPr lang="en-GB" sz="2000" b="1" i="1" dirty="0">
                <a:latin typeface="Arial" pitchFamily="34" charset="0"/>
                <a:cs typeface="Arial" pitchFamily="34" charset="0"/>
              </a:rPr>
              <a:t>y</a:t>
            </a:r>
            <a:r>
              <a:rPr lang="en-GB" sz="2000" b="1" dirty="0">
                <a:latin typeface="Arial" pitchFamily="34" charset="0"/>
                <a:cs typeface="Arial" pitchFamily="34" charset="0"/>
              </a:rPr>
              <a:t>   =   28</a:t>
            </a:r>
          </a:p>
        </p:txBody>
      </p:sp>
      <p:sp>
        <p:nvSpPr>
          <p:cNvPr id="47" name="TextBox 46">
            <a:extLst>
              <a:ext uri="{FF2B5EF4-FFF2-40B4-BE49-F238E27FC236}">
                <a16:creationId xmlns:a16="http://schemas.microsoft.com/office/drawing/2014/main" id="{B04CFECB-1D98-4FB8-AE18-4E0BF41C4BD9}"/>
              </a:ext>
            </a:extLst>
          </p:cNvPr>
          <p:cNvSpPr txBox="1"/>
          <p:nvPr/>
        </p:nvSpPr>
        <p:spPr>
          <a:xfrm>
            <a:off x="1375035" y="5314308"/>
            <a:ext cx="3062736" cy="400110"/>
          </a:xfrm>
          <a:prstGeom prst="rect">
            <a:avLst/>
          </a:prstGeom>
          <a:noFill/>
        </p:spPr>
        <p:txBody>
          <a:bodyPr wrap="square" rtlCol="0">
            <a:spAutoFit/>
          </a:bodyPr>
          <a:lstStyle/>
          <a:p>
            <a:r>
              <a:rPr lang="en-GB" sz="2000" b="1" i="1" dirty="0">
                <a:latin typeface="Arial" pitchFamily="34" charset="0"/>
                <a:cs typeface="Arial" pitchFamily="34" charset="0"/>
              </a:rPr>
              <a:t> y</a:t>
            </a:r>
            <a:r>
              <a:rPr lang="en-GB" sz="2000" b="1" dirty="0">
                <a:latin typeface="Arial" pitchFamily="34" charset="0"/>
                <a:cs typeface="Arial" pitchFamily="34" charset="0"/>
              </a:rPr>
              <a:t>   =   28  ÷  7</a:t>
            </a:r>
          </a:p>
        </p:txBody>
      </p:sp>
      <p:grpSp>
        <p:nvGrpSpPr>
          <p:cNvPr id="48" name="Group 451">
            <a:extLst>
              <a:ext uri="{FF2B5EF4-FFF2-40B4-BE49-F238E27FC236}">
                <a16:creationId xmlns:a16="http://schemas.microsoft.com/office/drawing/2014/main" id="{273BC807-F89F-4515-B06F-1300179E6F12}"/>
              </a:ext>
            </a:extLst>
          </p:cNvPr>
          <p:cNvGrpSpPr/>
          <p:nvPr/>
        </p:nvGrpSpPr>
        <p:grpSpPr>
          <a:xfrm>
            <a:off x="5896969" y="5230825"/>
            <a:ext cx="3055482" cy="330999"/>
            <a:chOff x="5474525" y="1935097"/>
            <a:chExt cx="3372591" cy="431236"/>
          </a:xfrm>
        </p:grpSpPr>
        <p:sp>
          <p:nvSpPr>
            <p:cNvPr id="49" name="Rounded Rectangle 452">
              <a:extLst>
                <a:ext uri="{FF2B5EF4-FFF2-40B4-BE49-F238E27FC236}">
                  <a16:creationId xmlns:a16="http://schemas.microsoft.com/office/drawing/2014/main" id="{890ED0D7-A781-4B43-803B-582D0B2CA93F}"/>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50" name="TextBox 49">
              <a:extLst>
                <a:ext uri="{FF2B5EF4-FFF2-40B4-BE49-F238E27FC236}">
                  <a16:creationId xmlns:a16="http://schemas.microsoft.com/office/drawing/2014/main" id="{3B5E53FA-28C3-4696-AA5E-A5F4F4B1A032}"/>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Divide both sides by 7 to give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51" name="Group 458">
            <a:extLst>
              <a:ext uri="{FF2B5EF4-FFF2-40B4-BE49-F238E27FC236}">
                <a16:creationId xmlns:a16="http://schemas.microsoft.com/office/drawing/2014/main" id="{F37E11A9-F353-4DA1-8409-99C5D9762DA9}"/>
              </a:ext>
            </a:extLst>
          </p:cNvPr>
          <p:cNvGrpSpPr/>
          <p:nvPr/>
        </p:nvGrpSpPr>
        <p:grpSpPr>
          <a:xfrm>
            <a:off x="1157948" y="3749697"/>
            <a:ext cx="1962150" cy="400110"/>
            <a:chOff x="742950" y="3773899"/>
            <a:chExt cx="1962150" cy="400110"/>
          </a:xfrm>
        </p:grpSpPr>
        <p:sp>
          <p:nvSpPr>
            <p:cNvPr id="52" name="Rounded Rectangle 457">
              <a:extLst>
                <a:ext uri="{FF2B5EF4-FFF2-40B4-BE49-F238E27FC236}">
                  <a16:creationId xmlns:a16="http://schemas.microsoft.com/office/drawing/2014/main" id="{1D056A57-C11D-4150-8CC4-D6A6C248A240}"/>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3" name="TextBox 52">
              <a:extLst>
                <a:ext uri="{FF2B5EF4-FFF2-40B4-BE49-F238E27FC236}">
                  <a16:creationId xmlns:a16="http://schemas.microsoft.com/office/drawing/2014/main" id="{2DB49250-2115-4D1A-8A19-E785A3C92B4A}"/>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x</a:t>
              </a:r>
              <a:r>
                <a:rPr lang="en-GB" sz="2000" b="1" dirty="0">
                  <a:latin typeface="Arial" pitchFamily="34" charset="0"/>
                  <a:cs typeface="Arial" pitchFamily="34" charset="0"/>
                </a:rPr>
                <a:t>    =    8</a:t>
              </a:r>
            </a:p>
          </p:txBody>
        </p:sp>
      </p:grpSp>
      <p:grpSp>
        <p:nvGrpSpPr>
          <p:cNvPr id="54" name="Group 459">
            <a:extLst>
              <a:ext uri="{FF2B5EF4-FFF2-40B4-BE49-F238E27FC236}">
                <a16:creationId xmlns:a16="http://schemas.microsoft.com/office/drawing/2014/main" id="{641DC71B-B308-4A32-8769-34A31553D4E6}"/>
              </a:ext>
            </a:extLst>
          </p:cNvPr>
          <p:cNvGrpSpPr/>
          <p:nvPr/>
        </p:nvGrpSpPr>
        <p:grpSpPr>
          <a:xfrm>
            <a:off x="1157948" y="5704588"/>
            <a:ext cx="1962150" cy="400110"/>
            <a:chOff x="742950" y="3773899"/>
            <a:chExt cx="1962150" cy="400110"/>
          </a:xfrm>
        </p:grpSpPr>
        <p:sp>
          <p:nvSpPr>
            <p:cNvPr id="55" name="Rounded Rectangle 460">
              <a:extLst>
                <a:ext uri="{FF2B5EF4-FFF2-40B4-BE49-F238E27FC236}">
                  <a16:creationId xmlns:a16="http://schemas.microsoft.com/office/drawing/2014/main" id="{B28C0E42-8DCD-49EE-B82B-4A052CFCEECC}"/>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6" name="TextBox 55">
              <a:extLst>
                <a:ext uri="{FF2B5EF4-FFF2-40B4-BE49-F238E27FC236}">
                  <a16:creationId xmlns:a16="http://schemas.microsoft.com/office/drawing/2014/main" id="{5859F1AC-AE12-4147-B34A-F60B940F8D45}"/>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y</a:t>
              </a:r>
              <a:r>
                <a:rPr lang="en-GB" sz="2000" b="1" dirty="0">
                  <a:latin typeface="Arial" pitchFamily="34" charset="0"/>
                  <a:cs typeface="Arial" pitchFamily="34" charset="0"/>
                </a:rPr>
                <a:t>    =    4</a:t>
              </a:r>
            </a:p>
          </p:txBody>
        </p:sp>
      </p:grpSp>
      <p:sp>
        <p:nvSpPr>
          <p:cNvPr id="57" name="Oval 56">
            <a:extLst>
              <a:ext uri="{FF2B5EF4-FFF2-40B4-BE49-F238E27FC236}">
                <a16:creationId xmlns:a16="http://schemas.microsoft.com/office/drawing/2014/main" id="{9E8F9962-04D2-492B-8742-C48DF23A8B58}"/>
              </a:ext>
            </a:extLst>
          </p:cNvPr>
          <p:cNvSpPr/>
          <p:nvPr/>
        </p:nvSpPr>
        <p:spPr>
          <a:xfrm>
            <a:off x="947917" y="2208605"/>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8" name="Oval 57">
            <a:extLst>
              <a:ext uri="{FF2B5EF4-FFF2-40B4-BE49-F238E27FC236}">
                <a16:creationId xmlns:a16="http://schemas.microsoft.com/office/drawing/2014/main" id="{12F98E98-FA85-4C68-8A1E-4F853CFF4A34}"/>
              </a:ext>
            </a:extLst>
          </p:cNvPr>
          <p:cNvSpPr/>
          <p:nvPr/>
        </p:nvSpPr>
        <p:spPr>
          <a:xfrm>
            <a:off x="947917" y="2553785"/>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9" name="Oval 58">
            <a:extLst>
              <a:ext uri="{FF2B5EF4-FFF2-40B4-BE49-F238E27FC236}">
                <a16:creationId xmlns:a16="http://schemas.microsoft.com/office/drawing/2014/main" id="{7C91042A-20E4-4BD0-88FF-498A02A497C0}"/>
              </a:ext>
            </a:extLst>
          </p:cNvPr>
          <p:cNvSpPr/>
          <p:nvPr/>
        </p:nvSpPr>
        <p:spPr>
          <a:xfrm>
            <a:off x="2500536" y="2208605"/>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0" name="Oval 59">
            <a:extLst>
              <a:ext uri="{FF2B5EF4-FFF2-40B4-BE49-F238E27FC236}">
                <a16:creationId xmlns:a16="http://schemas.microsoft.com/office/drawing/2014/main" id="{2CFFE816-E68F-4253-963F-D9B5680EFE5B}"/>
              </a:ext>
            </a:extLst>
          </p:cNvPr>
          <p:cNvSpPr/>
          <p:nvPr/>
        </p:nvSpPr>
        <p:spPr>
          <a:xfrm>
            <a:off x="2500536" y="2553785"/>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Tree>
    <p:extLst>
      <p:ext uri="{BB962C8B-B14F-4D97-AF65-F5344CB8AC3E}">
        <p14:creationId xmlns:p14="http://schemas.microsoft.com/office/powerpoint/2010/main" val="355631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par>
                          <p:cTn id="10" fill="hold">
                            <p:stCondLst>
                              <p:cond delay="500"/>
                            </p:stCondLst>
                            <p:childTnLst>
                              <p:par>
                                <p:cTn id="11" presetID="53"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ppt_w</p:attrName>
                                        </p:attrNameLst>
                                      </p:cBhvr>
                                      <p:tavLst>
                                        <p:tav tm="0">
                                          <p:val>
                                            <p:fltVal val="0"/>
                                          </p:val>
                                        </p:tav>
                                        <p:tav tm="100000">
                                          <p:val>
                                            <p:strVal val="#ppt_w"/>
                                          </p:val>
                                        </p:tav>
                                      </p:tavLst>
                                    </p:anim>
                                    <p:anim calcmode="lin" valueType="num">
                                      <p:cBhvr>
                                        <p:cTn id="14" dur="500" fill="hold"/>
                                        <p:tgtEl>
                                          <p:spTgt spid="14"/>
                                        </p:tgtEl>
                                        <p:attrNameLst>
                                          <p:attrName>ppt_h</p:attrName>
                                        </p:attrNameLst>
                                      </p:cBhvr>
                                      <p:tavLst>
                                        <p:tav tm="0">
                                          <p:val>
                                            <p:fltVal val="0"/>
                                          </p:val>
                                        </p:tav>
                                        <p:tav tm="100000">
                                          <p:val>
                                            <p:strVal val="#ppt_h"/>
                                          </p:val>
                                        </p:tav>
                                      </p:tavLst>
                                    </p:anim>
                                    <p:animEffect transition="in" filter="fade">
                                      <p:cBhvr>
                                        <p:cTn id="15" dur="500"/>
                                        <p:tgtEl>
                                          <p:spTgt spid="14"/>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1000"/>
                                        <p:tgtEl>
                                          <p:spTgt spid="15"/>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1000"/>
                                        <p:tgtEl>
                                          <p:spTgt spid="16"/>
                                        </p:tgtEl>
                                      </p:cBhvr>
                                    </p:animEffect>
                                  </p:childTnLst>
                                </p:cTn>
                              </p:par>
                            </p:childTnLst>
                          </p:cTn>
                        </p:par>
                        <p:par>
                          <p:cTn id="24" fill="hold">
                            <p:stCondLst>
                              <p:cond delay="3000"/>
                            </p:stCondLst>
                            <p:childTnLst>
                              <p:par>
                                <p:cTn id="25" presetID="22" presetClass="entr" presetSubtype="8"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p:cTn id="32" dur="500" fill="hold"/>
                                        <p:tgtEl>
                                          <p:spTgt spid="17"/>
                                        </p:tgtEl>
                                        <p:attrNameLst>
                                          <p:attrName>ppt_w</p:attrName>
                                        </p:attrNameLst>
                                      </p:cBhvr>
                                      <p:tavLst>
                                        <p:tav tm="0">
                                          <p:val>
                                            <p:fltVal val="0"/>
                                          </p:val>
                                        </p:tav>
                                        <p:tav tm="100000">
                                          <p:val>
                                            <p:strVal val="#ppt_w"/>
                                          </p:val>
                                        </p:tav>
                                      </p:tavLst>
                                    </p:anim>
                                    <p:anim calcmode="lin" valueType="num">
                                      <p:cBhvr>
                                        <p:cTn id="33" dur="500" fill="hold"/>
                                        <p:tgtEl>
                                          <p:spTgt spid="17"/>
                                        </p:tgtEl>
                                        <p:attrNameLst>
                                          <p:attrName>ppt_h</p:attrName>
                                        </p:attrNameLst>
                                      </p:cBhvr>
                                      <p:tavLst>
                                        <p:tav tm="0">
                                          <p:val>
                                            <p:fltVal val="0"/>
                                          </p:val>
                                        </p:tav>
                                        <p:tav tm="100000">
                                          <p:val>
                                            <p:strVal val="#ppt_h"/>
                                          </p:val>
                                        </p:tav>
                                      </p:tavLst>
                                    </p:anim>
                                    <p:animEffect transition="in" filter="fade">
                                      <p:cBhvr>
                                        <p:cTn id="34" dur="500"/>
                                        <p:tgtEl>
                                          <p:spTgt spid="17"/>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animEffect transition="in" filter="fade">
                                      <p:cBhvr>
                                        <p:cTn id="49" dur="500"/>
                                        <p:tgtEl>
                                          <p:spTgt spid="23"/>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0" fill="hold" nodeType="clickEffect">
                                  <p:stCondLst>
                                    <p:cond delay="0"/>
                                  </p:stCondLst>
                                  <p:childTnLst>
                                    <p:set>
                                      <p:cBhvr>
                                        <p:cTn id="53" dur="1" fill="hold">
                                          <p:stCondLst>
                                            <p:cond delay="0"/>
                                          </p:stCondLst>
                                        </p:cTn>
                                        <p:tgtEl>
                                          <p:spTgt spid="29"/>
                                        </p:tgtEl>
                                        <p:attrNameLst>
                                          <p:attrName>style.visibility</p:attrName>
                                        </p:attrNameLst>
                                      </p:cBhvr>
                                      <p:to>
                                        <p:strVal val="visible"/>
                                      </p:to>
                                    </p:set>
                                    <p:anim calcmode="lin" valueType="num">
                                      <p:cBhvr>
                                        <p:cTn id="54" dur="500" fill="hold"/>
                                        <p:tgtEl>
                                          <p:spTgt spid="29"/>
                                        </p:tgtEl>
                                        <p:attrNameLst>
                                          <p:attrName>ppt_w</p:attrName>
                                        </p:attrNameLst>
                                      </p:cBhvr>
                                      <p:tavLst>
                                        <p:tav tm="0">
                                          <p:val>
                                            <p:fltVal val="0"/>
                                          </p:val>
                                        </p:tav>
                                        <p:tav tm="100000">
                                          <p:val>
                                            <p:strVal val="#ppt_w"/>
                                          </p:val>
                                        </p:tav>
                                      </p:tavLst>
                                    </p:anim>
                                    <p:anim calcmode="lin" valueType="num">
                                      <p:cBhvr>
                                        <p:cTn id="55" dur="500" fill="hold"/>
                                        <p:tgtEl>
                                          <p:spTgt spid="29"/>
                                        </p:tgtEl>
                                        <p:attrNameLst>
                                          <p:attrName>ppt_h</p:attrName>
                                        </p:attrNameLst>
                                      </p:cBhvr>
                                      <p:tavLst>
                                        <p:tav tm="0">
                                          <p:val>
                                            <p:fltVal val="0"/>
                                          </p:val>
                                        </p:tav>
                                        <p:tav tm="100000">
                                          <p:val>
                                            <p:strVal val="#ppt_h"/>
                                          </p:val>
                                        </p:tav>
                                      </p:tavLst>
                                    </p:anim>
                                    <p:animEffect transition="in" filter="fade">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0" fill="hold" grpId="0" nodeType="clickEffect">
                                  <p:stCondLst>
                                    <p:cond delay="0"/>
                                  </p:stCondLst>
                                  <p:childTnLst>
                                    <p:set>
                                      <p:cBhvr>
                                        <p:cTn id="60" dur="1" fill="hold">
                                          <p:stCondLst>
                                            <p:cond delay="0"/>
                                          </p:stCondLst>
                                        </p:cTn>
                                        <p:tgtEl>
                                          <p:spTgt spid="57"/>
                                        </p:tgtEl>
                                        <p:attrNameLst>
                                          <p:attrName>style.visibility</p:attrName>
                                        </p:attrNameLst>
                                      </p:cBhvr>
                                      <p:to>
                                        <p:strVal val="visible"/>
                                      </p:to>
                                    </p:set>
                                    <p:anim calcmode="lin" valueType="num">
                                      <p:cBhvr>
                                        <p:cTn id="61" dur="1000" fill="hold"/>
                                        <p:tgtEl>
                                          <p:spTgt spid="57"/>
                                        </p:tgtEl>
                                        <p:attrNameLst>
                                          <p:attrName>ppt_w</p:attrName>
                                        </p:attrNameLst>
                                      </p:cBhvr>
                                      <p:tavLst>
                                        <p:tav tm="0">
                                          <p:val>
                                            <p:fltVal val="0"/>
                                          </p:val>
                                        </p:tav>
                                        <p:tav tm="100000">
                                          <p:val>
                                            <p:strVal val="#ppt_w"/>
                                          </p:val>
                                        </p:tav>
                                      </p:tavLst>
                                    </p:anim>
                                    <p:anim calcmode="lin" valueType="num">
                                      <p:cBhvr>
                                        <p:cTn id="62" dur="1000" fill="hold"/>
                                        <p:tgtEl>
                                          <p:spTgt spid="57"/>
                                        </p:tgtEl>
                                        <p:attrNameLst>
                                          <p:attrName>ppt_h</p:attrName>
                                        </p:attrNameLst>
                                      </p:cBhvr>
                                      <p:tavLst>
                                        <p:tav tm="0">
                                          <p:val>
                                            <p:fltVal val="0"/>
                                          </p:val>
                                        </p:tav>
                                        <p:tav tm="100000">
                                          <p:val>
                                            <p:strVal val="#ppt_h"/>
                                          </p:val>
                                        </p:tav>
                                      </p:tavLst>
                                    </p:anim>
                                    <p:animEffect transition="in" filter="fade">
                                      <p:cBhvr>
                                        <p:cTn id="63" dur="1000"/>
                                        <p:tgtEl>
                                          <p:spTgt spid="57"/>
                                        </p:tgtEl>
                                      </p:cBhvr>
                                    </p:animEffect>
                                  </p:childTnLst>
                                </p:cTn>
                              </p:par>
                            </p:childTnLst>
                          </p:cTn>
                        </p:par>
                        <p:par>
                          <p:cTn id="64" fill="hold">
                            <p:stCondLst>
                              <p:cond delay="1000"/>
                            </p:stCondLst>
                            <p:childTnLst>
                              <p:par>
                                <p:cTn id="65" presetID="53" presetClass="entr" presetSubtype="0" fill="hold" grpId="0" nodeType="afterEffect">
                                  <p:stCondLst>
                                    <p:cond delay="0"/>
                                  </p:stCondLst>
                                  <p:childTnLst>
                                    <p:set>
                                      <p:cBhvr>
                                        <p:cTn id="66" dur="1" fill="hold">
                                          <p:stCondLst>
                                            <p:cond delay="0"/>
                                          </p:stCondLst>
                                        </p:cTn>
                                        <p:tgtEl>
                                          <p:spTgt spid="58"/>
                                        </p:tgtEl>
                                        <p:attrNameLst>
                                          <p:attrName>style.visibility</p:attrName>
                                        </p:attrNameLst>
                                      </p:cBhvr>
                                      <p:to>
                                        <p:strVal val="visible"/>
                                      </p:to>
                                    </p:set>
                                    <p:anim calcmode="lin" valueType="num">
                                      <p:cBhvr>
                                        <p:cTn id="67" dur="1000" fill="hold"/>
                                        <p:tgtEl>
                                          <p:spTgt spid="58"/>
                                        </p:tgtEl>
                                        <p:attrNameLst>
                                          <p:attrName>ppt_w</p:attrName>
                                        </p:attrNameLst>
                                      </p:cBhvr>
                                      <p:tavLst>
                                        <p:tav tm="0">
                                          <p:val>
                                            <p:fltVal val="0"/>
                                          </p:val>
                                        </p:tav>
                                        <p:tav tm="100000">
                                          <p:val>
                                            <p:strVal val="#ppt_w"/>
                                          </p:val>
                                        </p:tav>
                                      </p:tavLst>
                                    </p:anim>
                                    <p:anim calcmode="lin" valueType="num">
                                      <p:cBhvr>
                                        <p:cTn id="68" dur="1000" fill="hold"/>
                                        <p:tgtEl>
                                          <p:spTgt spid="58"/>
                                        </p:tgtEl>
                                        <p:attrNameLst>
                                          <p:attrName>ppt_h</p:attrName>
                                        </p:attrNameLst>
                                      </p:cBhvr>
                                      <p:tavLst>
                                        <p:tav tm="0">
                                          <p:val>
                                            <p:fltVal val="0"/>
                                          </p:val>
                                        </p:tav>
                                        <p:tav tm="100000">
                                          <p:val>
                                            <p:strVal val="#ppt_h"/>
                                          </p:val>
                                        </p:tav>
                                      </p:tavLst>
                                    </p:anim>
                                    <p:animEffect transition="in" filter="fade">
                                      <p:cBhvr>
                                        <p:cTn id="69" dur="1000"/>
                                        <p:tgtEl>
                                          <p:spTgt spid="58"/>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wipe(left)">
                                      <p:cBhvr>
                                        <p:cTn id="74" dur="1000"/>
                                        <p:tgtEl>
                                          <p:spTgt spid="27"/>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0" fill="hold" grpId="0" nodeType="clickEffect">
                                  <p:stCondLst>
                                    <p:cond delay="0"/>
                                  </p:stCondLst>
                                  <p:childTnLst>
                                    <p:set>
                                      <p:cBhvr>
                                        <p:cTn id="78" dur="1" fill="hold">
                                          <p:stCondLst>
                                            <p:cond delay="0"/>
                                          </p:stCondLst>
                                        </p:cTn>
                                        <p:tgtEl>
                                          <p:spTgt spid="59"/>
                                        </p:tgtEl>
                                        <p:attrNameLst>
                                          <p:attrName>style.visibility</p:attrName>
                                        </p:attrNameLst>
                                      </p:cBhvr>
                                      <p:to>
                                        <p:strVal val="visible"/>
                                      </p:to>
                                    </p:set>
                                    <p:anim calcmode="lin" valueType="num">
                                      <p:cBhvr>
                                        <p:cTn id="79" dur="1000" fill="hold"/>
                                        <p:tgtEl>
                                          <p:spTgt spid="59"/>
                                        </p:tgtEl>
                                        <p:attrNameLst>
                                          <p:attrName>ppt_w</p:attrName>
                                        </p:attrNameLst>
                                      </p:cBhvr>
                                      <p:tavLst>
                                        <p:tav tm="0">
                                          <p:val>
                                            <p:fltVal val="0"/>
                                          </p:val>
                                        </p:tav>
                                        <p:tav tm="100000">
                                          <p:val>
                                            <p:strVal val="#ppt_w"/>
                                          </p:val>
                                        </p:tav>
                                      </p:tavLst>
                                    </p:anim>
                                    <p:anim calcmode="lin" valueType="num">
                                      <p:cBhvr>
                                        <p:cTn id="80" dur="1000" fill="hold"/>
                                        <p:tgtEl>
                                          <p:spTgt spid="59"/>
                                        </p:tgtEl>
                                        <p:attrNameLst>
                                          <p:attrName>ppt_h</p:attrName>
                                        </p:attrNameLst>
                                      </p:cBhvr>
                                      <p:tavLst>
                                        <p:tav tm="0">
                                          <p:val>
                                            <p:fltVal val="0"/>
                                          </p:val>
                                        </p:tav>
                                        <p:tav tm="100000">
                                          <p:val>
                                            <p:strVal val="#ppt_h"/>
                                          </p:val>
                                        </p:tav>
                                      </p:tavLst>
                                    </p:anim>
                                    <p:animEffect transition="in" filter="fade">
                                      <p:cBhvr>
                                        <p:cTn id="81" dur="1000"/>
                                        <p:tgtEl>
                                          <p:spTgt spid="59"/>
                                        </p:tgtEl>
                                      </p:cBhvr>
                                    </p:animEffect>
                                  </p:childTnLst>
                                </p:cTn>
                              </p:par>
                            </p:childTnLst>
                          </p:cTn>
                        </p:par>
                        <p:par>
                          <p:cTn id="82" fill="hold">
                            <p:stCondLst>
                              <p:cond delay="1000"/>
                            </p:stCondLst>
                            <p:childTnLst>
                              <p:par>
                                <p:cTn id="83" presetID="53" presetClass="entr" presetSubtype="0" fill="hold" grpId="0" nodeType="afterEffect">
                                  <p:stCondLst>
                                    <p:cond delay="0"/>
                                  </p:stCondLst>
                                  <p:childTnLst>
                                    <p:set>
                                      <p:cBhvr>
                                        <p:cTn id="84" dur="1" fill="hold">
                                          <p:stCondLst>
                                            <p:cond delay="0"/>
                                          </p:stCondLst>
                                        </p:cTn>
                                        <p:tgtEl>
                                          <p:spTgt spid="60"/>
                                        </p:tgtEl>
                                        <p:attrNameLst>
                                          <p:attrName>style.visibility</p:attrName>
                                        </p:attrNameLst>
                                      </p:cBhvr>
                                      <p:to>
                                        <p:strVal val="visible"/>
                                      </p:to>
                                    </p:set>
                                    <p:anim calcmode="lin" valueType="num">
                                      <p:cBhvr>
                                        <p:cTn id="85" dur="1000" fill="hold"/>
                                        <p:tgtEl>
                                          <p:spTgt spid="60"/>
                                        </p:tgtEl>
                                        <p:attrNameLst>
                                          <p:attrName>ppt_w</p:attrName>
                                        </p:attrNameLst>
                                      </p:cBhvr>
                                      <p:tavLst>
                                        <p:tav tm="0">
                                          <p:val>
                                            <p:fltVal val="0"/>
                                          </p:val>
                                        </p:tav>
                                        <p:tav tm="100000">
                                          <p:val>
                                            <p:strVal val="#ppt_w"/>
                                          </p:val>
                                        </p:tav>
                                      </p:tavLst>
                                    </p:anim>
                                    <p:anim calcmode="lin" valueType="num">
                                      <p:cBhvr>
                                        <p:cTn id="86" dur="1000" fill="hold"/>
                                        <p:tgtEl>
                                          <p:spTgt spid="60"/>
                                        </p:tgtEl>
                                        <p:attrNameLst>
                                          <p:attrName>ppt_h</p:attrName>
                                        </p:attrNameLst>
                                      </p:cBhvr>
                                      <p:tavLst>
                                        <p:tav tm="0">
                                          <p:val>
                                            <p:fltVal val="0"/>
                                          </p:val>
                                        </p:tav>
                                        <p:tav tm="100000">
                                          <p:val>
                                            <p:strVal val="#ppt_h"/>
                                          </p:val>
                                        </p:tav>
                                      </p:tavLst>
                                    </p:anim>
                                    <p:animEffect transition="in" filter="fade">
                                      <p:cBhvr>
                                        <p:cTn id="87" dur="1000"/>
                                        <p:tgtEl>
                                          <p:spTgt spid="6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wipe(left)">
                                      <p:cBhvr>
                                        <p:cTn id="92" dur="1000"/>
                                        <p:tgtEl>
                                          <p:spTgt spid="28"/>
                                        </p:tgtEl>
                                      </p:cBhvr>
                                    </p:animEffect>
                                  </p:childTnLst>
                                </p:cTn>
                              </p:par>
                            </p:childTnLst>
                          </p:cTn>
                        </p:par>
                      </p:childTnLst>
                    </p:cTn>
                  </p:par>
                  <p:par>
                    <p:cTn id="93" fill="hold">
                      <p:stCondLst>
                        <p:cond delay="indefinite"/>
                      </p:stCondLst>
                      <p:childTnLst>
                        <p:par>
                          <p:cTn id="94" fill="hold">
                            <p:stCondLst>
                              <p:cond delay="0"/>
                            </p:stCondLst>
                            <p:childTnLst>
                              <p:par>
                                <p:cTn id="95" presetID="53" presetClass="entr" presetSubtype="0" fill="hold" nodeType="clickEffect">
                                  <p:stCondLst>
                                    <p:cond delay="0"/>
                                  </p:stCondLst>
                                  <p:childTnLst>
                                    <p:set>
                                      <p:cBhvr>
                                        <p:cTn id="96" dur="1" fill="hold">
                                          <p:stCondLst>
                                            <p:cond delay="0"/>
                                          </p:stCondLst>
                                        </p:cTn>
                                        <p:tgtEl>
                                          <p:spTgt spid="32"/>
                                        </p:tgtEl>
                                        <p:attrNameLst>
                                          <p:attrName>style.visibility</p:attrName>
                                        </p:attrNameLst>
                                      </p:cBhvr>
                                      <p:to>
                                        <p:strVal val="visible"/>
                                      </p:to>
                                    </p:set>
                                    <p:anim calcmode="lin" valueType="num">
                                      <p:cBhvr>
                                        <p:cTn id="97" dur="500" fill="hold"/>
                                        <p:tgtEl>
                                          <p:spTgt spid="32"/>
                                        </p:tgtEl>
                                        <p:attrNameLst>
                                          <p:attrName>ppt_w</p:attrName>
                                        </p:attrNameLst>
                                      </p:cBhvr>
                                      <p:tavLst>
                                        <p:tav tm="0">
                                          <p:val>
                                            <p:fltVal val="0"/>
                                          </p:val>
                                        </p:tav>
                                        <p:tav tm="100000">
                                          <p:val>
                                            <p:strVal val="#ppt_w"/>
                                          </p:val>
                                        </p:tav>
                                      </p:tavLst>
                                    </p:anim>
                                    <p:anim calcmode="lin" valueType="num">
                                      <p:cBhvr>
                                        <p:cTn id="98" dur="500" fill="hold"/>
                                        <p:tgtEl>
                                          <p:spTgt spid="32"/>
                                        </p:tgtEl>
                                        <p:attrNameLst>
                                          <p:attrName>ppt_h</p:attrName>
                                        </p:attrNameLst>
                                      </p:cBhvr>
                                      <p:tavLst>
                                        <p:tav tm="0">
                                          <p:val>
                                            <p:fltVal val="0"/>
                                          </p:val>
                                        </p:tav>
                                        <p:tav tm="100000">
                                          <p:val>
                                            <p:strVal val="#ppt_h"/>
                                          </p:val>
                                        </p:tav>
                                      </p:tavLst>
                                    </p:anim>
                                    <p:animEffect transition="in" filter="fade">
                                      <p:cBhvr>
                                        <p:cTn id="99" dur="500"/>
                                        <p:tgtEl>
                                          <p:spTgt spid="32"/>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wipe(left)">
                                      <p:cBhvr>
                                        <p:cTn id="104" dur="1000"/>
                                        <p:tgtEl>
                                          <p:spTgt spid="35"/>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0" fill="hold" nodeType="clickEffect">
                                  <p:stCondLst>
                                    <p:cond delay="0"/>
                                  </p:stCondLst>
                                  <p:childTnLst>
                                    <p:set>
                                      <p:cBhvr>
                                        <p:cTn id="108" dur="1" fill="hold">
                                          <p:stCondLst>
                                            <p:cond delay="0"/>
                                          </p:stCondLst>
                                        </p:cTn>
                                        <p:tgtEl>
                                          <p:spTgt spid="51"/>
                                        </p:tgtEl>
                                        <p:attrNameLst>
                                          <p:attrName>style.visibility</p:attrName>
                                        </p:attrNameLst>
                                      </p:cBhvr>
                                      <p:to>
                                        <p:strVal val="visible"/>
                                      </p:to>
                                    </p:set>
                                    <p:anim calcmode="lin" valueType="num">
                                      <p:cBhvr>
                                        <p:cTn id="109" dur="500" fill="hold"/>
                                        <p:tgtEl>
                                          <p:spTgt spid="51"/>
                                        </p:tgtEl>
                                        <p:attrNameLst>
                                          <p:attrName>ppt_w</p:attrName>
                                        </p:attrNameLst>
                                      </p:cBhvr>
                                      <p:tavLst>
                                        <p:tav tm="0">
                                          <p:val>
                                            <p:fltVal val="0"/>
                                          </p:val>
                                        </p:tav>
                                        <p:tav tm="100000">
                                          <p:val>
                                            <p:strVal val="#ppt_w"/>
                                          </p:val>
                                        </p:tav>
                                      </p:tavLst>
                                    </p:anim>
                                    <p:anim calcmode="lin" valueType="num">
                                      <p:cBhvr>
                                        <p:cTn id="110" dur="500" fill="hold"/>
                                        <p:tgtEl>
                                          <p:spTgt spid="51"/>
                                        </p:tgtEl>
                                        <p:attrNameLst>
                                          <p:attrName>ppt_h</p:attrName>
                                        </p:attrNameLst>
                                      </p:cBhvr>
                                      <p:tavLst>
                                        <p:tav tm="0">
                                          <p:val>
                                            <p:fltVal val="0"/>
                                          </p:val>
                                        </p:tav>
                                        <p:tav tm="100000">
                                          <p:val>
                                            <p:strVal val="#ppt_h"/>
                                          </p:val>
                                        </p:tav>
                                      </p:tavLst>
                                    </p:anim>
                                    <p:animEffect transition="in" filter="fade">
                                      <p:cBhvr>
                                        <p:cTn id="111" dur="500"/>
                                        <p:tgtEl>
                                          <p:spTgt spid="51"/>
                                        </p:tgtEl>
                                      </p:cBhvr>
                                    </p:animEffec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36"/>
                                        </p:tgtEl>
                                        <p:attrNameLst>
                                          <p:attrName>style.visibility</p:attrName>
                                        </p:attrNameLst>
                                      </p:cBhvr>
                                      <p:to>
                                        <p:strVal val="visible"/>
                                      </p:to>
                                    </p:set>
                                    <p:animEffect transition="in" filter="wipe(left)">
                                      <p:cBhvr>
                                        <p:cTn id="115" dur="500"/>
                                        <p:tgtEl>
                                          <p:spTgt spid="36"/>
                                        </p:tgtEl>
                                      </p:cBhvr>
                                    </p:animEffect>
                                  </p:childTnLst>
                                </p:cTn>
                              </p:par>
                            </p:childTnLst>
                          </p:cTn>
                        </p:par>
                      </p:childTnLst>
                    </p:cTn>
                  </p:par>
                  <p:par>
                    <p:cTn id="116" fill="hold">
                      <p:stCondLst>
                        <p:cond delay="indefinite"/>
                      </p:stCondLst>
                      <p:childTnLst>
                        <p:par>
                          <p:cTn id="117" fill="hold">
                            <p:stCondLst>
                              <p:cond delay="0"/>
                            </p:stCondLst>
                            <p:childTnLst>
                              <p:par>
                                <p:cTn id="118" presetID="53" presetClass="entr" presetSubtype="0" fill="hold" nodeType="clickEffect">
                                  <p:stCondLst>
                                    <p:cond delay="0"/>
                                  </p:stCondLst>
                                  <p:childTnLst>
                                    <p:set>
                                      <p:cBhvr>
                                        <p:cTn id="119" dur="1" fill="hold">
                                          <p:stCondLst>
                                            <p:cond delay="0"/>
                                          </p:stCondLst>
                                        </p:cTn>
                                        <p:tgtEl>
                                          <p:spTgt spid="37"/>
                                        </p:tgtEl>
                                        <p:attrNameLst>
                                          <p:attrName>style.visibility</p:attrName>
                                        </p:attrNameLst>
                                      </p:cBhvr>
                                      <p:to>
                                        <p:strVal val="visible"/>
                                      </p:to>
                                    </p:set>
                                    <p:anim calcmode="lin" valueType="num">
                                      <p:cBhvr>
                                        <p:cTn id="120" dur="500" fill="hold"/>
                                        <p:tgtEl>
                                          <p:spTgt spid="37"/>
                                        </p:tgtEl>
                                        <p:attrNameLst>
                                          <p:attrName>ppt_w</p:attrName>
                                        </p:attrNameLst>
                                      </p:cBhvr>
                                      <p:tavLst>
                                        <p:tav tm="0">
                                          <p:val>
                                            <p:fltVal val="0"/>
                                          </p:val>
                                        </p:tav>
                                        <p:tav tm="100000">
                                          <p:val>
                                            <p:strVal val="#ppt_w"/>
                                          </p:val>
                                        </p:tav>
                                      </p:tavLst>
                                    </p:anim>
                                    <p:anim calcmode="lin" valueType="num">
                                      <p:cBhvr>
                                        <p:cTn id="121" dur="500" fill="hold"/>
                                        <p:tgtEl>
                                          <p:spTgt spid="37"/>
                                        </p:tgtEl>
                                        <p:attrNameLst>
                                          <p:attrName>ppt_h</p:attrName>
                                        </p:attrNameLst>
                                      </p:cBhvr>
                                      <p:tavLst>
                                        <p:tav tm="0">
                                          <p:val>
                                            <p:fltVal val="0"/>
                                          </p:val>
                                        </p:tav>
                                        <p:tav tm="100000">
                                          <p:val>
                                            <p:strVal val="#ppt_h"/>
                                          </p:val>
                                        </p:tav>
                                      </p:tavLst>
                                    </p:anim>
                                    <p:animEffect transition="in" filter="fade">
                                      <p:cBhvr>
                                        <p:cTn id="122" dur="500"/>
                                        <p:tgtEl>
                                          <p:spTgt spid="37"/>
                                        </p:tgtEl>
                                      </p:cBhvr>
                                    </p:animEffect>
                                  </p:childTnLst>
                                </p:cTn>
                              </p:par>
                            </p:childTnLst>
                          </p:cTn>
                        </p:par>
                        <p:par>
                          <p:cTn id="123" fill="hold">
                            <p:stCondLst>
                              <p:cond delay="500"/>
                            </p:stCondLst>
                            <p:childTnLst>
                              <p:par>
                                <p:cTn id="124" presetID="22" presetClass="entr" presetSubtype="8" fill="hold" grpId="0" nodeType="afterEffect">
                                  <p:stCondLst>
                                    <p:cond delay="0"/>
                                  </p:stCondLst>
                                  <p:childTnLst>
                                    <p:set>
                                      <p:cBhvr>
                                        <p:cTn id="125" dur="1" fill="hold">
                                          <p:stCondLst>
                                            <p:cond delay="0"/>
                                          </p:stCondLst>
                                        </p:cTn>
                                        <p:tgtEl>
                                          <p:spTgt spid="40"/>
                                        </p:tgtEl>
                                        <p:attrNameLst>
                                          <p:attrName>style.visibility</p:attrName>
                                        </p:attrNameLst>
                                      </p:cBhvr>
                                      <p:to>
                                        <p:strVal val="visible"/>
                                      </p:to>
                                    </p:set>
                                    <p:animEffect transition="in" filter="wipe(left)">
                                      <p:cBhvr>
                                        <p:cTn id="126" dur="1000"/>
                                        <p:tgtEl>
                                          <p:spTgt spid="40"/>
                                        </p:tgtEl>
                                      </p:cBhvr>
                                    </p:animEffect>
                                  </p:childTnLst>
                                </p:cTn>
                              </p:par>
                            </p:childTnLst>
                          </p:cTn>
                        </p:par>
                        <p:par>
                          <p:cTn id="127" fill="hold">
                            <p:stCondLst>
                              <p:cond delay="1500"/>
                            </p:stCondLst>
                            <p:childTnLst>
                              <p:par>
                                <p:cTn id="128" presetID="22" presetClass="entr" presetSubtype="8" fill="hold" grpId="0" nodeType="afterEffect">
                                  <p:stCondLst>
                                    <p:cond delay="0"/>
                                  </p:stCondLst>
                                  <p:childTnLst>
                                    <p:set>
                                      <p:cBhvr>
                                        <p:cTn id="129" dur="1" fill="hold">
                                          <p:stCondLst>
                                            <p:cond delay="0"/>
                                          </p:stCondLst>
                                        </p:cTn>
                                        <p:tgtEl>
                                          <p:spTgt spid="41"/>
                                        </p:tgtEl>
                                        <p:attrNameLst>
                                          <p:attrName>style.visibility</p:attrName>
                                        </p:attrNameLst>
                                      </p:cBhvr>
                                      <p:to>
                                        <p:strVal val="visible"/>
                                      </p:to>
                                    </p:set>
                                    <p:animEffect transition="in" filter="wipe(left)">
                                      <p:cBhvr>
                                        <p:cTn id="130" dur="1000"/>
                                        <p:tgtEl>
                                          <p:spTgt spid="41"/>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42"/>
                                        </p:tgtEl>
                                        <p:attrNameLst>
                                          <p:attrName>style.visibility</p:attrName>
                                        </p:attrNameLst>
                                      </p:cBhvr>
                                      <p:to>
                                        <p:strVal val="visible"/>
                                      </p:to>
                                    </p:set>
                                    <p:animEffect transition="in" filter="wipe(left)">
                                      <p:cBhvr>
                                        <p:cTn id="135" dur="1000"/>
                                        <p:tgtEl>
                                          <p:spTgt spid="42"/>
                                        </p:tgtEl>
                                      </p:cBhvr>
                                    </p:animEffect>
                                  </p:childTnLst>
                                </p:cTn>
                              </p:par>
                            </p:childTnLst>
                          </p:cTn>
                        </p:par>
                      </p:childTnLst>
                    </p:cTn>
                  </p:par>
                  <p:par>
                    <p:cTn id="136" fill="hold">
                      <p:stCondLst>
                        <p:cond delay="indefinite"/>
                      </p:stCondLst>
                      <p:childTnLst>
                        <p:par>
                          <p:cTn id="137" fill="hold">
                            <p:stCondLst>
                              <p:cond delay="0"/>
                            </p:stCondLst>
                            <p:childTnLst>
                              <p:par>
                                <p:cTn id="138" presetID="53" presetClass="entr" presetSubtype="0" fill="hold" nodeType="clickEffect">
                                  <p:stCondLst>
                                    <p:cond delay="0"/>
                                  </p:stCondLst>
                                  <p:childTnLst>
                                    <p:set>
                                      <p:cBhvr>
                                        <p:cTn id="139" dur="1" fill="hold">
                                          <p:stCondLst>
                                            <p:cond delay="0"/>
                                          </p:stCondLst>
                                        </p:cTn>
                                        <p:tgtEl>
                                          <p:spTgt spid="43"/>
                                        </p:tgtEl>
                                        <p:attrNameLst>
                                          <p:attrName>style.visibility</p:attrName>
                                        </p:attrNameLst>
                                      </p:cBhvr>
                                      <p:to>
                                        <p:strVal val="visible"/>
                                      </p:to>
                                    </p:set>
                                    <p:anim calcmode="lin" valueType="num">
                                      <p:cBhvr>
                                        <p:cTn id="140" dur="500" fill="hold"/>
                                        <p:tgtEl>
                                          <p:spTgt spid="43"/>
                                        </p:tgtEl>
                                        <p:attrNameLst>
                                          <p:attrName>ppt_w</p:attrName>
                                        </p:attrNameLst>
                                      </p:cBhvr>
                                      <p:tavLst>
                                        <p:tav tm="0">
                                          <p:val>
                                            <p:fltVal val="0"/>
                                          </p:val>
                                        </p:tav>
                                        <p:tav tm="100000">
                                          <p:val>
                                            <p:strVal val="#ppt_w"/>
                                          </p:val>
                                        </p:tav>
                                      </p:tavLst>
                                    </p:anim>
                                    <p:anim calcmode="lin" valueType="num">
                                      <p:cBhvr>
                                        <p:cTn id="141" dur="500" fill="hold"/>
                                        <p:tgtEl>
                                          <p:spTgt spid="43"/>
                                        </p:tgtEl>
                                        <p:attrNameLst>
                                          <p:attrName>ppt_h</p:attrName>
                                        </p:attrNameLst>
                                      </p:cBhvr>
                                      <p:tavLst>
                                        <p:tav tm="0">
                                          <p:val>
                                            <p:fltVal val="0"/>
                                          </p:val>
                                        </p:tav>
                                        <p:tav tm="100000">
                                          <p:val>
                                            <p:strVal val="#ppt_h"/>
                                          </p:val>
                                        </p:tav>
                                      </p:tavLst>
                                    </p:anim>
                                    <p:animEffect transition="in" filter="fade">
                                      <p:cBhvr>
                                        <p:cTn id="142" dur="500"/>
                                        <p:tgtEl>
                                          <p:spTgt spid="43"/>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46"/>
                                        </p:tgtEl>
                                        <p:attrNameLst>
                                          <p:attrName>style.visibility</p:attrName>
                                        </p:attrNameLst>
                                      </p:cBhvr>
                                      <p:to>
                                        <p:strVal val="visible"/>
                                      </p:to>
                                    </p:set>
                                    <p:animEffect transition="in" filter="wipe(left)">
                                      <p:cBhvr>
                                        <p:cTn id="147" dur="1000"/>
                                        <p:tgtEl>
                                          <p:spTgt spid="46"/>
                                        </p:tgtEl>
                                      </p:cBhvr>
                                    </p:animEffect>
                                  </p:childTnLst>
                                </p:cTn>
                              </p:par>
                            </p:childTnLst>
                          </p:cTn>
                        </p:par>
                      </p:childTnLst>
                    </p:cTn>
                  </p:par>
                  <p:par>
                    <p:cTn id="148" fill="hold">
                      <p:stCondLst>
                        <p:cond delay="indefinite"/>
                      </p:stCondLst>
                      <p:childTnLst>
                        <p:par>
                          <p:cTn id="149" fill="hold">
                            <p:stCondLst>
                              <p:cond delay="0"/>
                            </p:stCondLst>
                            <p:childTnLst>
                              <p:par>
                                <p:cTn id="150" presetID="53" presetClass="entr" presetSubtype="0" fill="hold" nodeType="clickEffect">
                                  <p:stCondLst>
                                    <p:cond delay="0"/>
                                  </p:stCondLst>
                                  <p:childTnLst>
                                    <p:set>
                                      <p:cBhvr>
                                        <p:cTn id="151" dur="1" fill="hold">
                                          <p:stCondLst>
                                            <p:cond delay="0"/>
                                          </p:stCondLst>
                                        </p:cTn>
                                        <p:tgtEl>
                                          <p:spTgt spid="48"/>
                                        </p:tgtEl>
                                        <p:attrNameLst>
                                          <p:attrName>style.visibility</p:attrName>
                                        </p:attrNameLst>
                                      </p:cBhvr>
                                      <p:to>
                                        <p:strVal val="visible"/>
                                      </p:to>
                                    </p:set>
                                    <p:anim calcmode="lin" valueType="num">
                                      <p:cBhvr>
                                        <p:cTn id="152" dur="500" fill="hold"/>
                                        <p:tgtEl>
                                          <p:spTgt spid="48"/>
                                        </p:tgtEl>
                                        <p:attrNameLst>
                                          <p:attrName>ppt_w</p:attrName>
                                        </p:attrNameLst>
                                      </p:cBhvr>
                                      <p:tavLst>
                                        <p:tav tm="0">
                                          <p:val>
                                            <p:fltVal val="0"/>
                                          </p:val>
                                        </p:tav>
                                        <p:tav tm="100000">
                                          <p:val>
                                            <p:strVal val="#ppt_w"/>
                                          </p:val>
                                        </p:tav>
                                      </p:tavLst>
                                    </p:anim>
                                    <p:anim calcmode="lin" valueType="num">
                                      <p:cBhvr>
                                        <p:cTn id="153" dur="500" fill="hold"/>
                                        <p:tgtEl>
                                          <p:spTgt spid="48"/>
                                        </p:tgtEl>
                                        <p:attrNameLst>
                                          <p:attrName>ppt_h</p:attrName>
                                        </p:attrNameLst>
                                      </p:cBhvr>
                                      <p:tavLst>
                                        <p:tav tm="0">
                                          <p:val>
                                            <p:fltVal val="0"/>
                                          </p:val>
                                        </p:tav>
                                        <p:tav tm="100000">
                                          <p:val>
                                            <p:strVal val="#ppt_h"/>
                                          </p:val>
                                        </p:tav>
                                      </p:tavLst>
                                    </p:anim>
                                    <p:animEffect transition="in" filter="fade">
                                      <p:cBhvr>
                                        <p:cTn id="154" dur="500"/>
                                        <p:tgtEl>
                                          <p:spTgt spid="48"/>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47"/>
                                        </p:tgtEl>
                                        <p:attrNameLst>
                                          <p:attrName>style.visibility</p:attrName>
                                        </p:attrNameLst>
                                      </p:cBhvr>
                                      <p:to>
                                        <p:strVal val="visible"/>
                                      </p:to>
                                    </p:set>
                                    <p:animEffect transition="in" filter="wipe(left)">
                                      <p:cBhvr>
                                        <p:cTn id="159" dur="1000"/>
                                        <p:tgtEl>
                                          <p:spTgt spid="47"/>
                                        </p:tgtEl>
                                      </p:cBhvr>
                                    </p:animEffect>
                                  </p:childTnLst>
                                </p:cTn>
                              </p:par>
                            </p:childTnLst>
                          </p:cTn>
                        </p:par>
                      </p:childTnLst>
                    </p:cTn>
                  </p:par>
                  <p:par>
                    <p:cTn id="160" fill="hold">
                      <p:stCondLst>
                        <p:cond delay="indefinite"/>
                      </p:stCondLst>
                      <p:childTnLst>
                        <p:par>
                          <p:cTn id="161" fill="hold">
                            <p:stCondLst>
                              <p:cond delay="0"/>
                            </p:stCondLst>
                            <p:childTnLst>
                              <p:par>
                                <p:cTn id="162" presetID="53" presetClass="entr" presetSubtype="0" fill="hold" nodeType="clickEffect">
                                  <p:stCondLst>
                                    <p:cond delay="0"/>
                                  </p:stCondLst>
                                  <p:childTnLst>
                                    <p:set>
                                      <p:cBhvr>
                                        <p:cTn id="163" dur="1" fill="hold">
                                          <p:stCondLst>
                                            <p:cond delay="0"/>
                                          </p:stCondLst>
                                        </p:cTn>
                                        <p:tgtEl>
                                          <p:spTgt spid="54"/>
                                        </p:tgtEl>
                                        <p:attrNameLst>
                                          <p:attrName>style.visibility</p:attrName>
                                        </p:attrNameLst>
                                      </p:cBhvr>
                                      <p:to>
                                        <p:strVal val="visible"/>
                                      </p:to>
                                    </p:set>
                                    <p:anim calcmode="lin" valueType="num">
                                      <p:cBhvr>
                                        <p:cTn id="164" dur="500" fill="hold"/>
                                        <p:tgtEl>
                                          <p:spTgt spid="54"/>
                                        </p:tgtEl>
                                        <p:attrNameLst>
                                          <p:attrName>ppt_w</p:attrName>
                                        </p:attrNameLst>
                                      </p:cBhvr>
                                      <p:tavLst>
                                        <p:tav tm="0">
                                          <p:val>
                                            <p:fltVal val="0"/>
                                          </p:val>
                                        </p:tav>
                                        <p:tav tm="100000">
                                          <p:val>
                                            <p:strVal val="#ppt_w"/>
                                          </p:val>
                                        </p:tav>
                                      </p:tavLst>
                                    </p:anim>
                                    <p:anim calcmode="lin" valueType="num">
                                      <p:cBhvr>
                                        <p:cTn id="165" dur="500" fill="hold"/>
                                        <p:tgtEl>
                                          <p:spTgt spid="54"/>
                                        </p:tgtEl>
                                        <p:attrNameLst>
                                          <p:attrName>ppt_h</p:attrName>
                                        </p:attrNameLst>
                                      </p:cBhvr>
                                      <p:tavLst>
                                        <p:tav tm="0">
                                          <p:val>
                                            <p:fltVal val="0"/>
                                          </p:val>
                                        </p:tav>
                                        <p:tav tm="100000">
                                          <p:val>
                                            <p:strVal val="#ppt_h"/>
                                          </p:val>
                                        </p:tav>
                                      </p:tavLst>
                                    </p:anim>
                                    <p:animEffect transition="in" filter="fade">
                                      <p:cBhvr>
                                        <p:cTn id="16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21" grpId="0"/>
      <p:bldP spid="22" grpId="0"/>
      <p:bldP spid="27" grpId="0"/>
      <p:bldP spid="28" grpId="0"/>
      <p:bldP spid="35" grpId="0"/>
      <p:bldP spid="40" grpId="0"/>
      <p:bldP spid="41" grpId="0"/>
      <p:bldP spid="42" grpId="0"/>
      <p:bldP spid="46" grpId="0"/>
      <p:bldP spid="47" grpId="0"/>
      <p:bldP spid="57" grpId="0" animBg="1"/>
      <p:bldP spid="58" grpId="0" animBg="1"/>
      <p:bldP spid="59" grpId="0" animBg="1"/>
      <p:bldP spid="6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12" name="TextBox 11">
            <a:extLst>
              <a:ext uri="{FF2B5EF4-FFF2-40B4-BE49-F238E27FC236}">
                <a16:creationId xmlns:a16="http://schemas.microsoft.com/office/drawing/2014/main" id="{2717F39B-A8F2-46C5-964F-E97A350C2A59}"/>
              </a:ext>
            </a:extLst>
          </p:cNvPr>
          <p:cNvSpPr txBox="1"/>
          <p:nvPr/>
        </p:nvSpPr>
        <p:spPr>
          <a:xfrm>
            <a:off x="585339" y="1455622"/>
            <a:ext cx="3986661" cy="276999"/>
          </a:xfrm>
          <a:prstGeom prst="rect">
            <a:avLst/>
          </a:prstGeom>
          <a:noFill/>
        </p:spPr>
        <p:txBody>
          <a:bodyPr wrap="square" rtlCol="0">
            <a:spAutoFit/>
          </a:bodyPr>
          <a:lstStyle/>
          <a:p>
            <a:pPr algn="ctr"/>
            <a:r>
              <a:rPr lang="en-GB" sz="1200" b="1" dirty="0">
                <a:latin typeface="Arial" pitchFamily="34" charset="0"/>
                <a:cs typeface="Arial" pitchFamily="34" charset="0"/>
              </a:rPr>
              <a:t>Example 2:  Solve these simultaneous equations:</a:t>
            </a:r>
            <a:endParaRPr lang="en-GB" sz="1200" b="1" i="1" dirty="0">
              <a:latin typeface="Arial" pitchFamily="34" charset="0"/>
              <a:cs typeface="Arial" pitchFamily="34" charset="0"/>
            </a:endParaRPr>
          </a:p>
        </p:txBody>
      </p:sp>
      <p:sp>
        <p:nvSpPr>
          <p:cNvPr id="13" name="TextBox 12">
            <a:extLst>
              <a:ext uri="{FF2B5EF4-FFF2-40B4-BE49-F238E27FC236}">
                <a16:creationId xmlns:a16="http://schemas.microsoft.com/office/drawing/2014/main" id="{191BE8BD-741E-4DD2-A1DC-8A2E8464B6B9}"/>
              </a:ext>
            </a:extLst>
          </p:cNvPr>
          <p:cNvSpPr txBox="1"/>
          <p:nvPr/>
        </p:nvSpPr>
        <p:spPr>
          <a:xfrm>
            <a:off x="973643" y="1809908"/>
            <a:ext cx="3062736" cy="400110"/>
          </a:xfrm>
          <a:prstGeom prst="rect">
            <a:avLst/>
          </a:prstGeom>
          <a:noFill/>
        </p:spPr>
        <p:txBody>
          <a:bodyPr wrap="square" rtlCol="0">
            <a:spAutoFit/>
          </a:bodyPr>
          <a:lstStyle/>
          <a:p>
            <a:r>
              <a:rPr lang="en-GB" sz="2000" b="1" dirty="0">
                <a:latin typeface="Arial" pitchFamily="34" charset="0"/>
                <a:cs typeface="Arial" pitchFamily="34" charset="0"/>
              </a:rPr>
              <a:t>  9</a:t>
            </a:r>
            <a:r>
              <a:rPr lang="en-GB" sz="2000" b="1" i="1" dirty="0">
                <a:latin typeface="Arial" pitchFamily="34" charset="0"/>
                <a:cs typeface="Arial" pitchFamily="34" charset="0"/>
              </a:rPr>
              <a:t>x</a:t>
            </a:r>
            <a:r>
              <a:rPr lang="en-GB" sz="2000" b="1" dirty="0">
                <a:latin typeface="Arial" pitchFamily="34" charset="0"/>
                <a:cs typeface="Arial" pitchFamily="34" charset="0"/>
              </a:rPr>
              <a:t>  +  4</a:t>
            </a:r>
            <a:r>
              <a:rPr lang="en-GB" sz="2000" b="1" i="1" dirty="0">
                <a:latin typeface="Arial" pitchFamily="34" charset="0"/>
                <a:cs typeface="Arial" pitchFamily="34" charset="0"/>
              </a:rPr>
              <a:t>y</a:t>
            </a:r>
            <a:r>
              <a:rPr lang="en-GB" sz="2000" b="1" dirty="0">
                <a:latin typeface="Arial" pitchFamily="34" charset="0"/>
                <a:cs typeface="Arial" pitchFamily="34" charset="0"/>
              </a:rPr>
              <a:t>  =   19</a:t>
            </a:r>
          </a:p>
        </p:txBody>
      </p:sp>
      <p:sp>
        <p:nvSpPr>
          <p:cNvPr id="14" name="TextBox 13">
            <a:extLst>
              <a:ext uri="{FF2B5EF4-FFF2-40B4-BE49-F238E27FC236}">
                <a16:creationId xmlns:a16="http://schemas.microsoft.com/office/drawing/2014/main" id="{5C26A356-7822-4569-86CA-9E09F186BDD7}"/>
              </a:ext>
            </a:extLst>
          </p:cNvPr>
          <p:cNvSpPr txBox="1"/>
          <p:nvPr/>
        </p:nvSpPr>
        <p:spPr>
          <a:xfrm>
            <a:off x="973643" y="2152317"/>
            <a:ext cx="3062736" cy="400110"/>
          </a:xfrm>
          <a:prstGeom prst="rect">
            <a:avLst/>
          </a:prstGeom>
          <a:noFill/>
        </p:spPr>
        <p:txBody>
          <a:bodyPr wrap="square" rtlCol="0">
            <a:spAutoFit/>
          </a:bodyPr>
          <a:lstStyle/>
          <a:p>
            <a:r>
              <a:rPr lang="en-GB" sz="2000" b="1" dirty="0">
                <a:latin typeface="Arial" pitchFamily="34" charset="0"/>
                <a:cs typeface="Arial" pitchFamily="34" charset="0"/>
              </a:rPr>
              <a:t>11</a:t>
            </a:r>
            <a:r>
              <a:rPr lang="en-GB" sz="2000" b="1" i="1" dirty="0">
                <a:latin typeface="Arial" pitchFamily="34" charset="0"/>
                <a:cs typeface="Arial" pitchFamily="34" charset="0"/>
              </a:rPr>
              <a:t>x</a:t>
            </a:r>
            <a:r>
              <a:rPr lang="en-GB" sz="2000" b="1" dirty="0">
                <a:latin typeface="Arial" pitchFamily="34" charset="0"/>
                <a:cs typeface="Arial" pitchFamily="34" charset="0"/>
              </a:rPr>
              <a:t>  -  4</a:t>
            </a:r>
            <a:r>
              <a:rPr lang="en-GB" sz="2000" b="1" i="1" dirty="0">
                <a:latin typeface="Arial" pitchFamily="34" charset="0"/>
                <a:cs typeface="Arial" pitchFamily="34" charset="0"/>
              </a:rPr>
              <a:t>y</a:t>
            </a:r>
            <a:r>
              <a:rPr lang="en-GB" sz="2000" b="1" dirty="0">
                <a:latin typeface="Arial" pitchFamily="34" charset="0"/>
                <a:cs typeface="Arial" pitchFamily="34" charset="0"/>
              </a:rPr>
              <a:t>   =   41</a:t>
            </a:r>
          </a:p>
        </p:txBody>
      </p:sp>
      <p:grpSp>
        <p:nvGrpSpPr>
          <p:cNvPr id="15" name="Group 242">
            <a:extLst>
              <a:ext uri="{FF2B5EF4-FFF2-40B4-BE49-F238E27FC236}">
                <a16:creationId xmlns:a16="http://schemas.microsoft.com/office/drawing/2014/main" id="{33F990F2-AF5E-4BA0-B45F-C4380A9DE469}"/>
              </a:ext>
            </a:extLst>
          </p:cNvPr>
          <p:cNvGrpSpPr/>
          <p:nvPr/>
        </p:nvGrpSpPr>
        <p:grpSpPr>
          <a:xfrm>
            <a:off x="5685367" y="1537210"/>
            <a:ext cx="3372591" cy="318155"/>
            <a:chOff x="5474525" y="1938441"/>
            <a:chExt cx="3372591" cy="391879"/>
          </a:xfrm>
        </p:grpSpPr>
        <p:sp>
          <p:nvSpPr>
            <p:cNvPr id="16" name="Rounded Rectangle 219">
              <a:extLst>
                <a:ext uri="{FF2B5EF4-FFF2-40B4-BE49-F238E27FC236}">
                  <a16:creationId xmlns:a16="http://schemas.microsoft.com/office/drawing/2014/main" id="{A21D3B39-3D26-4DE8-9A15-DD7911EAB44D}"/>
                </a:ext>
              </a:extLst>
            </p:cNvPr>
            <p:cNvSpPr/>
            <p:nvPr/>
          </p:nvSpPr>
          <p:spPr>
            <a:xfrm>
              <a:off x="5474525" y="1938441"/>
              <a:ext cx="3372591" cy="39187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17" name="TextBox 16">
              <a:extLst>
                <a:ext uri="{FF2B5EF4-FFF2-40B4-BE49-F238E27FC236}">
                  <a16:creationId xmlns:a16="http://schemas.microsoft.com/office/drawing/2014/main" id="{3DCB42B7-82DE-47BD-BC2C-EAB9AC22DE3C}"/>
                </a:ext>
              </a:extLst>
            </p:cNvPr>
            <p:cNvSpPr txBox="1"/>
            <p:nvPr/>
          </p:nvSpPr>
          <p:spPr>
            <a:xfrm>
              <a:off x="5594268" y="1963787"/>
              <a:ext cx="3146960" cy="341186"/>
            </a:xfrm>
            <a:prstGeom prst="rect">
              <a:avLst/>
            </a:prstGeom>
            <a:noFill/>
          </p:spPr>
          <p:txBody>
            <a:bodyPr wrap="square" rtlCol="0">
              <a:spAutoFit/>
            </a:bodyPr>
            <a:lstStyle/>
            <a:p>
              <a:pPr algn="ctr"/>
              <a:r>
                <a:rPr lang="en-GB" sz="1200" b="1" dirty="0">
                  <a:latin typeface="Arial" pitchFamily="34" charset="0"/>
                  <a:cs typeface="Arial" pitchFamily="34" charset="0"/>
                </a:rPr>
                <a:t>First we label the equations  (1) and (2)</a:t>
              </a:r>
              <a:endParaRPr lang="en-GB" sz="1200" b="1" i="1" dirty="0">
                <a:latin typeface="Arial" pitchFamily="34" charset="0"/>
                <a:cs typeface="Arial" pitchFamily="34" charset="0"/>
              </a:endParaRPr>
            </a:p>
          </p:txBody>
        </p:sp>
      </p:grpSp>
      <p:cxnSp>
        <p:nvCxnSpPr>
          <p:cNvPr id="18" name="Straight Connector 17">
            <a:extLst>
              <a:ext uri="{FF2B5EF4-FFF2-40B4-BE49-F238E27FC236}">
                <a16:creationId xmlns:a16="http://schemas.microsoft.com/office/drawing/2014/main" id="{A1A78886-8077-4EA0-A38A-869E35309B76}"/>
              </a:ext>
            </a:extLst>
          </p:cNvPr>
          <p:cNvCxnSpPr/>
          <p:nvPr/>
        </p:nvCxnSpPr>
        <p:spPr>
          <a:xfrm>
            <a:off x="984413" y="2574067"/>
            <a:ext cx="26363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BF0DE89-5115-4175-9610-96401E6F5650}"/>
              </a:ext>
            </a:extLst>
          </p:cNvPr>
          <p:cNvSpPr txBox="1"/>
          <p:nvPr/>
        </p:nvSpPr>
        <p:spPr>
          <a:xfrm>
            <a:off x="3826696" y="1809908"/>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20" name="TextBox 19">
            <a:extLst>
              <a:ext uri="{FF2B5EF4-FFF2-40B4-BE49-F238E27FC236}">
                <a16:creationId xmlns:a16="http://schemas.microsoft.com/office/drawing/2014/main" id="{046E01CC-AEA3-414D-80C8-93FB3B532910}"/>
              </a:ext>
            </a:extLst>
          </p:cNvPr>
          <p:cNvSpPr txBox="1"/>
          <p:nvPr/>
        </p:nvSpPr>
        <p:spPr>
          <a:xfrm>
            <a:off x="3826696" y="2152317"/>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(2)</a:t>
            </a:r>
          </a:p>
        </p:txBody>
      </p:sp>
      <p:grpSp>
        <p:nvGrpSpPr>
          <p:cNvPr id="21" name="Group 249">
            <a:extLst>
              <a:ext uri="{FF2B5EF4-FFF2-40B4-BE49-F238E27FC236}">
                <a16:creationId xmlns:a16="http://schemas.microsoft.com/office/drawing/2014/main" id="{9434C94F-B0A9-474D-B83C-A022ABEE85D1}"/>
              </a:ext>
            </a:extLst>
          </p:cNvPr>
          <p:cNvGrpSpPr/>
          <p:nvPr/>
        </p:nvGrpSpPr>
        <p:grpSpPr>
          <a:xfrm>
            <a:off x="5685367" y="1970791"/>
            <a:ext cx="3372591" cy="461665"/>
            <a:chOff x="5474525" y="1996718"/>
            <a:chExt cx="3372591" cy="699810"/>
          </a:xfrm>
        </p:grpSpPr>
        <p:sp>
          <p:nvSpPr>
            <p:cNvPr id="22" name="Rounded Rectangle 251">
              <a:extLst>
                <a:ext uri="{FF2B5EF4-FFF2-40B4-BE49-F238E27FC236}">
                  <a16:creationId xmlns:a16="http://schemas.microsoft.com/office/drawing/2014/main" id="{B3429F76-4E25-4EE1-B034-2792C65907EB}"/>
                </a:ext>
              </a:extLst>
            </p:cNvPr>
            <p:cNvSpPr/>
            <p:nvPr/>
          </p:nvSpPr>
          <p:spPr>
            <a:xfrm>
              <a:off x="5474525" y="2010227"/>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3" name="TextBox 22">
              <a:extLst>
                <a:ext uri="{FF2B5EF4-FFF2-40B4-BE49-F238E27FC236}">
                  <a16:creationId xmlns:a16="http://schemas.microsoft.com/office/drawing/2014/main" id="{9078754A-D393-445C-810D-DAEF8ADAFF78}"/>
                </a:ext>
              </a:extLst>
            </p:cNvPr>
            <p:cNvSpPr txBox="1"/>
            <p:nvPr/>
          </p:nvSpPr>
          <p:spPr>
            <a:xfrm>
              <a:off x="5605153" y="1996718"/>
              <a:ext cx="3111335" cy="699810"/>
            </a:xfrm>
            <a:prstGeom prst="rect">
              <a:avLst/>
            </a:prstGeom>
            <a:noFill/>
          </p:spPr>
          <p:txBody>
            <a:bodyPr wrap="square" rtlCol="0">
              <a:spAutoFit/>
            </a:bodyPr>
            <a:lstStyle/>
            <a:p>
              <a:pPr algn="ctr"/>
              <a:r>
                <a:rPr lang="en-GB" sz="1200" b="1" dirty="0">
                  <a:latin typeface="Arial" pitchFamily="34" charset="0"/>
                  <a:cs typeface="Arial" pitchFamily="34" charset="0"/>
                </a:rPr>
                <a:t>The equations both have the same number in front of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sp>
        <p:nvSpPr>
          <p:cNvPr id="24" name="TextBox 23">
            <a:extLst>
              <a:ext uri="{FF2B5EF4-FFF2-40B4-BE49-F238E27FC236}">
                <a16:creationId xmlns:a16="http://schemas.microsoft.com/office/drawing/2014/main" id="{09EE1A4B-4DE5-45AF-A415-C3C679A11120}"/>
              </a:ext>
            </a:extLst>
          </p:cNvPr>
          <p:cNvSpPr txBox="1"/>
          <p:nvPr/>
        </p:nvSpPr>
        <p:spPr>
          <a:xfrm>
            <a:off x="1003335" y="2659369"/>
            <a:ext cx="919231" cy="400110"/>
          </a:xfrm>
          <a:prstGeom prst="rect">
            <a:avLst/>
          </a:prstGeom>
          <a:noFill/>
        </p:spPr>
        <p:txBody>
          <a:bodyPr wrap="square" rtlCol="0">
            <a:spAutoFit/>
          </a:bodyPr>
          <a:lstStyle/>
          <a:p>
            <a:r>
              <a:rPr lang="en-GB" sz="2000" b="1" dirty="0">
                <a:latin typeface="Arial" pitchFamily="34" charset="0"/>
                <a:cs typeface="Arial" pitchFamily="34" charset="0"/>
              </a:rPr>
              <a:t>20</a:t>
            </a:r>
            <a:r>
              <a:rPr lang="en-GB" sz="2000" b="1" i="1" dirty="0">
                <a:latin typeface="Arial" pitchFamily="34" charset="0"/>
                <a:cs typeface="Arial" pitchFamily="34" charset="0"/>
              </a:rPr>
              <a:t>x</a:t>
            </a:r>
          </a:p>
        </p:txBody>
      </p:sp>
      <p:sp>
        <p:nvSpPr>
          <p:cNvPr id="26" name="TextBox 25">
            <a:extLst>
              <a:ext uri="{FF2B5EF4-FFF2-40B4-BE49-F238E27FC236}">
                <a16:creationId xmlns:a16="http://schemas.microsoft.com/office/drawing/2014/main" id="{62B88F51-72BB-4423-8ABF-540F8FA29921}"/>
              </a:ext>
            </a:extLst>
          </p:cNvPr>
          <p:cNvSpPr txBox="1"/>
          <p:nvPr/>
        </p:nvSpPr>
        <p:spPr>
          <a:xfrm>
            <a:off x="2081691" y="2659369"/>
            <a:ext cx="1360597" cy="400110"/>
          </a:xfrm>
          <a:prstGeom prst="rect">
            <a:avLst/>
          </a:prstGeom>
          <a:noFill/>
        </p:spPr>
        <p:txBody>
          <a:bodyPr wrap="square" rtlCol="0">
            <a:spAutoFit/>
          </a:bodyPr>
          <a:lstStyle/>
          <a:p>
            <a:r>
              <a:rPr lang="en-GB" sz="2000" b="1" dirty="0">
                <a:latin typeface="Arial" pitchFamily="34" charset="0"/>
                <a:cs typeface="Arial" pitchFamily="34" charset="0"/>
              </a:rPr>
              <a:t>=   60</a:t>
            </a:r>
          </a:p>
        </p:txBody>
      </p:sp>
      <p:grpSp>
        <p:nvGrpSpPr>
          <p:cNvPr id="27" name="Group 431">
            <a:extLst>
              <a:ext uri="{FF2B5EF4-FFF2-40B4-BE49-F238E27FC236}">
                <a16:creationId xmlns:a16="http://schemas.microsoft.com/office/drawing/2014/main" id="{C88EAFC0-3403-4618-A85A-B2BBEB7FE2BA}"/>
              </a:ext>
            </a:extLst>
          </p:cNvPr>
          <p:cNvGrpSpPr/>
          <p:nvPr/>
        </p:nvGrpSpPr>
        <p:grpSpPr>
          <a:xfrm>
            <a:off x="5843921" y="2519994"/>
            <a:ext cx="3055482" cy="461665"/>
            <a:chOff x="5474525" y="2018373"/>
            <a:chExt cx="3372591" cy="699809"/>
          </a:xfrm>
        </p:grpSpPr>
        <p:sp>
          <p:nvSpPr>
            <p:cNvPr id="28" name="Rounded Rectangle 432">
              <a:extLst>
                <a:ext uri="{FF2B5EF4-FFF2-40B4-BE49-F238E27FC236}">
                  <a16:creationId xmlns:a16="http://schemas.microsoft.com/office/drawing/2014/main" id="{EC4C267C-42E9-4EAA-8D2C-B065078B9CFB}"/>
                </a:ext>
              </a:extLst>
            </p:cNvPr>
            <p:cNvSpPr/>
            <p:nvPr/>
          </p:nvSpPr>
          <p:spPr>
            <a:xfrm>
              <a:off x="5474525" y="2025460"/>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9" name="TextBox 28">
              <a:extLst>
                <a:ext uri="{FF2B5EF4-FFF2-40B4-BE49-F238E27FC236}">
                  <a16:creationId xmlns:a16="http://schemas.microsoft.com/office/drawing/2014/main" id="{5EA09EA9-5C22-4C15-BCAA-233772ED00F5}"/>
                </a:ext>
              </a:extLst>
            </p:cNvPr>
            <p:cNvSpPr txBox="1"/>
            <p:nvPr/>
          </p:nvSpPr>
          <p:spPr>
            <a:xfrm>
              <a:off x="5594059" y="2018373"/>
              <a:ext cx="3133523" cy="699809"/>
            </a:xfrm>
            <a:prstGeom prst="rect">
              <a:avLst/>
            </a:prstGeom>
            <a:noFill/>
          </p:spPr>
          <p:txBody>
            <a:bodyPr wrap="square" rtlCol="0">
              <a:spAutoFit/>
            </a:bodyPr>
            <a:lstStyle/>
            <a:p>
              <a:pPr algn="ctr"/>
              <a:r>
                <a:rPr lang="en-GB" sz="1200" b="1" dirty="0">
                  <a:latin typeface="Arial" pitchFamily="34" charset="0"/>
                  <a:cs typeface="Arial" pitchFamily="34" charset="0"/>
                </a:rPr>
                <a:t>So we ADD corresponding terms to eliminate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30" name="Group 434">
            <a:extLst>
              <a:ext uri="{FF2B5EF4-FFF2-40B4-BE49-F238E27FC236}">
                <a16:creationId xmlns:a16="http://schemas.microsoft.com/office/drawing/2014/main" id="{369E91B3-1075-4CFD-8048-7A58283D321A}"/>
              </a:ext>
            </a:extLst>
          </p:cNvPr>
          <p:cNvGrpSpPr/>
          <p:nvPr/>
        </p:nvGrpSpPr>
        <p:grpSpPr>
          <a:xfrm>
            <a:off x="5843921" y="3097770"/>
            <a:ext cx="3055482" cy="330999"/>
            <a:chOff x="5474525" y="1935097"/>
            <a:chExt cx="3372591" cy="431236"/>
          </a:xfrm>
        </p:grpSpPr>
        <p:sp>
          <p:nvSpPr>
            <p:cNvPr id="31" name="Rounded Rectangle 435">
              <a:extLst>
                <a:ext uri="{FF2B5EF4-FFF2-40B4-BE49-F238E27FC236}">
                  <a16:creationId xmlns:a16="http://schemas.microsoft.com/office/drawing/2014/main" id="{96399380-A730-4B5D-AEF5-7499BE72FA45}"/>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2" name="TextBox 31">
              <a:extLst>
                <a:ext uri="{FF2B5EF4-FFF2-40B4-BE49-F238E27FC236}">
                  <a16:creationId xmlns:a16="http://schemas.microsoft.com/office/drawing/2014/main" id="{EB31847F-E699-4D92-A510-AD1AB97C2B23}"/>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Then divide both sides by 20.</a:t>
              </a:r>
              <a:endParaRPr lang="en-GB" sz="1200" b="1" i="1" dirty="0">
                <a:latin typeface="Arial" pitchFamily="34" charset="0"/>
                <a:cs typeface="Arial" pitchFamily="34" charset="0"/>
              </a:endParaRPr>
            </a:p>
          </p:txBody>
        </p:sp>
      </p:grpSp>
      <p:sp>
        <p:nvSpPr>
          <p:cNvPr id="33" name="TextBox 32">
            <a:extLst>
              <a:ext uri="{FF2B5EF4-FFF2-40B4-BE49-F238E27FC236}">
                <a16:creationId xmlns:a16="http://schemas.microsoft.com/office/drawing/2014/main" id="{2B93E48B-CEAF-4329-B019-7AF0EC63DBBB}"/>
              </a:ext>
            </a:extLst>
          </p:cNvPr>
          <p:cNvSpPr txBox="1"/>
          <p:nvPr/>
        </p:nvSpPr>
        <p:spPr>
          <a:xfrm>
            <a:off x="1369492" y="2966155"/>
            <a:ext cx="2697684" cy="400110"/>
          </a:xfrm>
          <a:prstGeom prst="rect">
            <a:avLst/>
          </a:prstGeom>
          <a:noFill/>
        </p:spPr>
        <p:txBody>
          <a:bodyPr wrap="square" rtlCol="0">
            <a:spAutoFit/>
          </a:bodyPr>
          <a:lstStyle/>
          <a:p>
            <a:r>
              <a:rPr lang="en-GB" sz="2000" b="1" i="1" dirty="0">
                <a:latin typeface="Arial" pitchFamily="34" charset="0"/>
                <a:cs typeface="Arial" pitchFamily="34" charset="0"/>
              </a:rPr>
              <a:t>x</a:t>
            </a:r>
            <a:r>
              <a:rPr lang="en-GB" sz="2000" b="1" dirty="0">
                <a:latin typeface="Arial" pitchFamily="34" charset="0"/>
                <a:cs typeface="Arial" pitchFamily="34" charset="0"/>
              </a:rPr>
              <a:t>    =    60  ÷  20</a:t>
            </a:r>
          </a:p>
        </p:txBody>
      </p:sp>
      <p:cxnSp>
        <p:nvCxnSpPr>
          <p:cNvPr id="34" name="Straight Connector 33">
            <a:extLst>
              <a:ext uri="{FF2B5EF4-FFF2-40B4-BE49-F238E27FC236}">
                <a16:creationId xmlns:a16="http://schemas.microsoft.com/office/drawing/2014/main" id="{F865A459-EF1F-4FFD-AA12-E18970961EA5}"/>
              </a:ext>
            </a:extLst>
          </p:cNvPr>
          <p:cNvCxnSpPr/>
          <p:nvPr/>
        </p:nvCxnSpPr>
        <p:spPr>
          <a:xfrm>
            <a:off x="994313" y="4029356"/>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35" name="Group 440">
            <a:extLst>
              <a:ext uri="{FF2B5EF4-FFF2-40B4-BE49-F238E27FC236}">
                <a16:creationId xmlns:a16="http://schemas.microsoft.com/office/drawing/2014/main" id="{E388BB41-9812-488B-A4D0-6B73C8519C32}"/>
              </a:ext>
            </a:extLst>
          </p:cNvPr>
          <p:cNvGrpSpPr/>
          <p:nvPr/>
        </p:nvGrpSpPr>
        <p:grpSpPr>
          <a:xfrm>
            <a:off x="5843921" y="4042503"/>
            <a:ext cx="3055482" cy="330999"/>
            <a:chOff x="5474525" y="1935097"/>
            <a:chExt cx="3372591" cy="431236"/>
          </a:xfrm>
        </p:grpSpPr>
        <p:sp>
          <p:nvSpPr>
            <p:cNvPr id="36" name="Rounded Rectangle 441">
              <a:extLst>
                <a:ext uri="{FF2B5EF4-FFF2-40B4-BE49-F238E27FC236}">
                  <a16:creationId xmlns:a16="http://schemas.microsoft.com/office/drawing/2014/main" id="{ECCA851F-0F29-4C63-9BC0-6E3F785DE2A9}"/>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7" name="TextBox 36">
              <a:extLst>
                <a:ext uri="{FF2B5EF4-FFF2-40B4-BE49-F238E27FC236}">
                  <a16:creationId xmlns:a16="http://schemas.microsoft.com/office/drawing/2014/main" id="{5327E376-8B13-4FBE-B7BC-FE8BE6FB4D42}"/>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Now substitute for x = </a:t>
              </a:r>
              <a:r>
                <a:rPr lang="en-GB" sz="1200" b="1" dirty="0">
                  <a:solidFill>
                    <a:srgbClr val="C00000"/>
                  </a:solidFill>
                  <a:latin typeface="Arial" pitchFamily="34" charset="0"/>
                  <a:cs typeface="Arial" pitchFamily="34" charset="0"/>
                </a:rPr>
                <a:t>3</a:t>
              </a:r>
              <a:r>
                <a:rPr lang="en-GB" sz="1200" b="1" dirty="0">
                  <a:latin typeface="Arial" pitchFamily="34" charset="0"/>
                  <a:cs typeface="Arial" pitchFamily="34" charset="0"/>
                </a:rPr>
                <a:t> into (1).</a:t>
              </a:r>
              <a:endParaRPr lang="en-GB" sz="1200" b="1" i="1" dirty="0">
                <a:latin typeface="Arial" pitchFamily="34" charset="0"/>
                <a:cs typeface="Arial" pitchFamily="34" charset="0"/>
              </a:endParaRPr>
            </a:p>
          </p:txBody>
        </p:sp>
      </p:grpSp>
      <p:sp>
        <p:nvSpPr>
          <p:cNvPr id="38" name="TextBox 37">
            <a:extLst>
              <a:ext uri="{FF2B5EF4-FFF2-40B4-BE49-F238E27FC236}">
                <a16:creationId xmlns:a16="http://schemas.microsoft.com/office/drawing/2014/main" id="{C1C6AC1F-67A3-4B4C-948E-20215605F71E}"/>
              </a:ext>
            </a:extLst>
          </p:cNvPr>
          <p:cNvSpPr txBox="1"/>
          <p:nvPr/>
        </p:nvSpPr>
        <p:spPr>
          <a:xfrm>
            <a:off x="1078542" y="4021424"/>
            <a:ext cx="3062736" cy="400110"/>
          </a:xfrm>
          <a:prstGeom prst="rect">
            <a:avLst/>
          </a:prstGeom>
          <a:noFill/>
        </p:spPr>
        <p:txBody>
          <a:bodyPr wrap="square" rtlCol="0">
            <a:spAutoFit/>
          </a:bodyPr>
          <a:lstStyle/>
          <a:p>
            <a:r>
              <a:rPr lang="en-GB" sz="2000" b="1" dirty="0">
                <a:latin typeface="Arial" pitchFamily="34" charset="0"/>
                <a:cs typeface="Arial" pitchFamily="34" charset="0"/>
              </a:rPr>
              <a:t>9 </a:t>
            </a:r>
            <a:r>
              <a:rPr lang="en-GB" sz="2000" dirty="0">
                <a:latin typeface="Arial" pitchFamily="34" charset="0"/>
                <a:cs typeface="Arial" pitchFamily="34" charset="0"/>
              </a:rPr>
              <a:t>x</a:t>
            </a:r>
            <a:r>
              <a:rPr lang="en-GB" sz="2000" b="1" dirty="0">
                <a:latin typeface="Arial" pitchFamily="34" charset="0"/>
                <a:cs typeface="Arial" pitchFamily="34" charset="0"/>
              </a:rPr>
              <a:t> </a:t>
            </a:r>
            <a:r>
              <a:rPr lang="en-GB" sz="2000" b="1" dirty="0">
                <a:solidFill>
                  <a:srgbClr val="C00000"/>
                </a:solidFill>
                <a:latin typeface="Arial" pitchFamily="34" charset="0"/>
                <a:cs typeface="Arial" pitchFamily="34" charset="0"/>
              </a:rPr>
              <a:t>3</a:t>
            </a:r>
            <a:r>
              <a:rPr lang="en-GB" sz="2000" b="1" dirty="0">
                <a:latin typeface="Arial" pitchFamily="34" charset="0"/>
                <a:cs typeface="Arial" pitchFamily="34" charset="0"/>
              </a:rPr>
              <a:t>  +  4</a:t>
            </a:r>
            <a:r>
              <a:rPr lang="en-GB" sz="2000" b="1" i="1" dirty="0">
                <a:latin typeface="Arial" pitchFamily="34" charset="0"/>
                <a:cs typeface="Arial" pitchFamily="34" charset="0"/>
              </a:rPr>
              <a:t>y</a:t>
            </a:r>
            <a:r>
              <a:rPr lang="en-GB" sz="2000" b="1" dirty="0">
                <a:latin typeface="Arial" pitchFamily="34" charset="0"/>
                <a:cs typeface="Arial" pitchFamily="34" charset="0"/>
              </a:rPr>
              <a:t>   =   19</a:t>
            </a:r>
          </a:p>
        </p:txBody>
      </p:sp>
      <p:sp>
        <p:nvSpPr>
          <p:cNvPr id="39" name="TextBox 38">
            <a:extLst>
              <a:ext uri="{FF2B5EF4-FFF2-40B4-BE49-F238E27FC236}">
                <a16:creationId xmlns:a16="http://schemas.microsoft.com/office/drawing/2014/main" id="{D8097833-F57D-4D19-A161-42739ADF8889}"/>
              </a:ext>
            </a:extLst>
          </p:cNvPr>
          <p:cNvSpPr txBox="1"/>
          <p:nvPr/>
        </p:nvSpPr>
        <p:spPr>
          <a:xfrm>
            <a:off x="3826696" y="4021424"/>
            <a:ext cx="115487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40" name="TextBox 39">
            <a:extLst>
              <a:ext uri="{FF2B5EF4-FFF2-40B4-BE49-F238E27FC236}">
                <a16:creationId xmlns:a16="http://schemas.microsoft.com/office/drawing/2014/main" id="{A0FDD011-09A7-430D-B15F-C17C719F6CD0}"/>
              </a:ext>
            </a:extLst>
          </p:cNvPr>
          <p:cNvSpPr txBox="1"/>
          <p:nvPr/>
        </p:nvSpPr>
        <p:spPr>
          <a:xfrm>
            <a:off x="1147815" y="4331667"/>
            <a:ext cx="3062736" cy="400110"/>
          </a:xfrm>
          <a:prstGeom prst="rect">
            <a:avLst/>
          </a:prstGeom>
          <a:noFill/>
        </p:spPr>
        <p:txBody>
          <a:bodyPr wrap="square" rtlCol="0">
            <a:spAutoFit/>
          </a:bodyPr>
          <a:lstStyle/>
          <a:p>
            <a:r>
              <a:rPr lang="en-GB" sz="2000" b="1" dirty="0">
                <a:latin typeface="Arial" pitchFamily="34" charset="0"/>
                <a:cs typeface="Arial" pitchFamily="34" charset="0"/>
              </a:rPr>
              <a:t>27  +  4</a:t>
            </a:r>
            <a:r>
              <a:rPr lang="en-GB" sz="2000" b="1" i="1" dirty="0">
                <a:latin typeface="Arial" pitchFamily="34" charset="0"/>
                <a:cs typeface="Arial" pitchFamily="34" charset="0"/>
              </a:rPr>
              <a:t>y</a:t>
            </a:r>
            <a:r>
              <a:rPr lang="en-GB" sz="2000" b="1" dirty="0">
                <a:latin typeface="Arial" pitchFamily="34" charset="0"/>
                <a:cs typeface="Arial" pitchFamily="34" charset="0"/>
              </a:rPr>
              <a:t>   =   19</a:t>
            </a:r>
          </a:p>
        </p:txBody>
      </p:sp>
      <p:grpSp>
        <p:nvGrpSpPr>
          <p:cNvPr id="41" name="Group 446">
            <a:extLst>
              <a:ext uri="{FF2B5EF4-FFF2-40B4-BE49-F238E27FC236}">
                <a16:creationId xmlns:a16="http://schemas.microsoft.com/office/drawing/2014/main" id="{F4B9916A-2EC2-4A45-A7AF-34465E230C47}"/>
              </a:ext>
            </a:extLst>
          </p:cNvPr>
          <p:cNvGrpSpPr/>
          <p:nvPr/>
        </p:nvGrpSpPr>
        <p:grpSpPr>
          <a:xfrm>
            <a:off x="5843921" y="4455586"/>
            <a:ext cx="3055482" cy="330999"/>
            <a:chOff x="5474525" y="1935097"/>
            <a:chExt cx="3372591" cy="431236"/>
          </a:xfrm>
        </p:grpSpPr>
        <p:sp>
          <p:nvSpPr>
            <p:cNvPr id="42" name="Rounded Rectangle 447">
              <a:extLst>
                <a:ext uri="{FF2B5EF4-FFF2-40B4-BE49-F238E27FC236}">
                  <a16:creationId xmlns:a16="http://schemas.microsoft.com/office/drawing/2014/main" id="{1B6A7EA1-A3E0-4F37-B4A7-3E16BE48CF9A}"/>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3" name="TextBox 42">
              <a:extLst>
                <a:ext uri="{FF2B5EF4-FFF2-40B4-BE49-F238E27FC236}">
                  <a16:creationId xmlns:a16="http://schemas.microsoft.com/office/drawing/2014/main" id="{526FADDC-C47F-45E2-B20D-2EC3BE6971B6}"/>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Take 27 from both sides</a:t>
              </a:r>
              <a:endParaRPr lang="en-GB" sz="1200" b="1" i="1" dirty="0">
                <a:latin typeface="Arial" pitchFamily="34" charset="0"/>
                <a:cs typeface="Arial" pitchFamily="34" charset="0"/>
              </a:endParaRPr>
            </a:p>
          </p:txBody>
        </p:sp>
      </p:grpSp>
      <p:sp>
        <p:nvSpPr>
          <p:cNvPr id="44" name="TextBox 43">
            <a:extLst>
              <a:ext uri="{FF2B5EF4-FFF2-40B4-BE49-F238E27FC236}">
                <a16:creationId xmlns:a16="http://schemas.microsoft.com/office/drawing/2014/main" id="{C21A3127-4AE6-4D21-B293-96980C603D69}"/>
              </a:ext>
            </a:extLst>
          </p:cNvPr>
          <p:cNvSpPr txBox="1"/>
          <p:nvPr/>
        </p:nvSpPr>
        <p:spPr>
          <a:xfrm>
            <a:off x="1240839" y="4641910"/>
            <a:ext cx="3062736" cy="400110"/>
          </a:xfrm>
          <a:prstGeom prst="rect">
            <a:avLst/>
          </a:prstGeom>
          <a:noFill/>
        </p:spPr>
        <p:txBody>
          <a:bodyPr wrap="square" rtlCol="0">
            <a:spAutoFit/>
          </a:bodyPr>
          <a:lstStyle/>
          <a:p>
            <a:r>
              <a:rPr lang="en-GB" sz="2000" b="1" dirty="0">
                <a:latin typeface="Arial" pitchFamily="34" charset="0"/>
                <a:cs typeface="Arial" pitchFamily="34" charset="0"/>
              </a:rPr>
              <a:t>4</a:t>
            </a:r>
            <a:r>
              <a:rPr lang="en-GB" sz="2000" b="1" i="1" dirty="0">
                <a:latin typeface="Arial" pitchFamily="34" charset="0"/>
                <a:cs typeface="Arial" pitchFamily="34" charset="0"/>
              </a:rPr>
              <a:t>y</a:t>
            </a:r>
            <a:r>
              <a:rPr lang="en-GB" sz="2000" b="1" dirty="0">
                <a:latin typeface="Arial" pitchFamily="34" charset="0"/>
                <a:cs typeface="Arial" pitchFamily="34" charset="0"/>
              </a:rPr>
              <a:t>   =   -8</a:t>
            </a:r>
          </a:p>
        </p:txBody>
      </p:sp>
      <p:sp>
        <p:nvSpPr>
          <p:cNvPr id="45" name="TextBox 44">
            <a:extLst>
              <a:ext uri="{FF2B5EF4-FFF2-40B4-BE49-F238E27FC236}">
                <a16:creationId xmlns:a16="http://schemas.microsoft.com/office/drawing/2014/main" id="{765D36B7-BDF3-4896-8948-79895514731D}"/>
              </a:ext>
            </a:extLst>
          </p:cNvPr>
          <p:cNvSpPr txBox="1"/>
          <p:nvPr/>
        </p:nvSpPr>
        <p:spPr>
          <a:xfrm>
            <a:off x="1321987" y="4952153"/>
            <a:ext cx="3062736" cy="400110"/>
          </a:xfrm>
          <a:prstGeom prst="rect">
            <a:avLst/>
          </a:prstGeom>
          <a:noFill/>
        </p:spPr>
        <p:txBody>
          <a:bodyPr wrap="square" rtlCol="0">
            <a:spAutoFit/>
          </a:bodyPr>
          <a:lstStyle/>
          <a:p>
            <a:r>
              <a:rPr lang="en-GB" sz="2000" b="1" i="1" dirty="0">
                <a:latin typeface="Arial" pitchFamily="34" charset="0"/>
                <a:cs typeface="Arial" pitchFamily="34" charset="0"/>
              </a:rPr>
              <a:t> y</a:t>
            </a:r>
            <a:r>
              <a:rPr lang="en-GB" sz="2000" b="1" dirty="0">
                <a:latin typeface="Arial" pitchFamily="34" charset="0"/>
                <a:cs typeface="Arial" pitchFamily="34" charset="0"/>
              </a:rPr>
              <a:t>   =   -8  ÷  2</a:t>
            </a:r>
          </a:p>
        </p:txBody>
      </p:sp>
      <p:grpSp>
        <p:nvGrpSpPr>
          <p:cNvPr id="46" name="Group 451">
            <a:extLst>
              <a:ext uri="{FF2B5EF4-FFF2-40B4-BE49-F238E27FC236}">
                <a16:creationId xmlns:a16="http://schemas.microsoft.com/office/drawing/2014/main" id="{80955DC8-C8B2-4B79-B08B-DA593DC9BC2C}"/>
              </a:ext>
            </a:extLst>
          </p:cNvPr>
          <p:cNvGrpSpPr/>
          <p:nvPr/>
        </p:nvGrpSpPr>
        <p:grpSpPr>
          <a:xfrm>
            <a:off x="5843921" y="4868670"/>
            <a:ext cx="3055482" cy="330999"/>
            <a:chOff x="5474525" y="1935097"/>
            <a:chExt cx="3372591" cy="431236"/>
          </a:xfrm>
        </p:grpSpPr>
        <p:sp>
          <p:nvSpPr>
            <p:cNvPr id="47" name="Rounded Rectangle 452">
              <a:extLst>
                <a:ext uri="{FF2B5EF4-FFF2-40B4-BE49-F238E27FC236}">
                  <a16:creationId xmlns:a16="http://schemas.microsoft.com/office/drawing/2014/main" id="{8B1D12B8-108A-4208-861F-72371EF50930}"/>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8" name="TextBox 47">
              <a:extLst>
                <a:ext uri="{FF2B5EF4-FFF2-40B4-BE49-F238E27FC236}">
                  <a16:creationId xmlns:a16="http://schemas.microsoft.com/office/drawing/2014/main" id="{36B3EE34-514E-42AC-89FE-DAE6A92EA9E0}"/>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Divide both sides by 4 to give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49" name="Group 458">
            <a:extLst>
              <a:ext uri="{FF2B5EF4-FFF2-40B4-BE49-F238E27FC236}">
                <a16:creationId xmlns:a16="http://schemas.microsoft.com/office/drawing/2014/main" id="{B90816A8-6F3E-4985-A887-759F93B13F87}"/>
              </a:ext>
            </a:extLst>
          </p:cNvPr>
          <p:cNvGrpSpPr/>
          <p:nvPr/>
        </p:nvGrpSpPr>
        <p:grpSpPr>
          <a:xfrm>
            <a:off x="1104900" y="3387542"/>
            <a:ext cx="1962150" cy="400110"/>
            <a:chOff x="742950" y="3773899"/>
            <a:chExt cx="1962150" cy="400110"/>
          </a:xfrm>
        </p:grpSpPr>
        <p:sp>
          <p:nvSpPr>
            <p:cNvPr id="50" name="Rounded Rectangle 457">
              <a:extLst>
                <a:ext uri="{FF2B5EF4-FFF2-40B4-BE49-F238E27FC236}">
                  <a16:creationId xmlns:a16="http://schemas.microsoft.com/office/drawing/2014/main" id="{BD75110F-1C66-466B-B5D6-15D7E39FEA37}"/>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1" name="TextBox 50">
              <a:extLst>
                <a:ext uri="{FF2B5EF4-FFF2-40B4-BE49-F238E27FC236}">
                  <a16:creationId xmlns:a16="http://schemas.microsoft.com/office/drawing/2014/main" id="{E19EFDD3-9458-466A-BB8B-4242CB6E2195}"/>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x</a:t>
              </a:r>
              <a:r>
                <a:rPr lang="en-GB" sz="2000" b="1" dirty="0">
                  <a:latin typeface="Arial" pitchFamily="34" charset="0"/>
                  <a:cs typeface="Arial" pitchFamily="34" charset="0"/>
                </a:rPr>
                <a:t>    =    3</a:t>
              </a:r>
            </a:p>
          </p:txBody>
        </p:sp>
      </p:grpSp>
      <p:grpSp>
        <p:nvGrpSpPr>
          <p:cNvPr id="52" name="Group 459">
            <a:extLst>
              <a:ext uri="{FF2B5EF4-FFF2-40B4-BE49-F238E27FC236}">
                <a16:creationId xmlns:a16="http://schemas.microsoft.com/office/drawing/2014/main" id="{6EC404DD-7E4F-4D5B-B9CD-C8B5D53AB65E}"/>
              </a:ext>
            </a:extLst>
          </p:cNvPr>
          <p:cNvGrpSpPr/>
          <p:nvPr/>
        </p:nvGrpSpPr>
        <p:grpSpPr>
          <a:xfrm>
            <a:off x="1104900" y="5342433"/>
            <a:ext cx="1962150" cy="400110"/>
            <a:chOff x="742950" y="3773899"/>
            <a:chExt cx="1962150" cy="400110"/>
          </a:xfrm>
        </p:grpSpPr>
        <p:sp>
          <p:nvSpPr>
            <p:cNvPr id="53" name="Rounded Rectangle 460">
              <a:extLst>
                <a:ext uri="{FF2B5EF4-FFF2-40B4-BE49-F238E27FC236}">
                  <a16:creationId xmlns:a16="http://schemas.microsoft.com/office/drawing/2014/main" id="{CBA4A0CC-EAF8-4540-8356-C36BAD99179C}"/>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4" name="TextBox 53">
              <a:extLst>
                <a:ext uri="{FF2B5EF4-FFF2-40B4-BE49-F238E27FC236}">
                  <a16:creationId xmlns:a16="http://schemas.microsoft.com/office/drawing/2014/main" id="{F1110933-226A-428B-A3B9-0FF36B4F5B68}"/>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y</a:t>
              </a:r>
              <a:r>
                <a:rPr lang="en-GB" sz="2000" b="1" dirty="0">
                  <a:latin typeface="Arial" pitchFamily="34" charset="0"/>
                  <a:cs typeface="Arial" pitchFamily="34" charset="0"/>
                </a:rPr>
                <a:t>    =    -2</a:t>
              </a:r>
            </a:p>
          </p:txBody>
        </p:sp>
      </p:grpSp>
      <p:sp>
        <p:nvSpPr>
          <p:cNvPr id="55" name="Oval 54">
            <a:extLst>
              <a:ext uri="{FF2B5EF4-FFF2-40B4-BE49-F238E27FC236}">
                <a16:creationId xmlns:a16="http://schemas.microsoft.com/office/drawing/2014/main" id="{7C54402B-4E7E-4577-8316-D09A79DBE833}"/>
              </a:ext>
            </a:extLst>
          </p:cNvPr>
          <p:cNvSpPr/>
          <p:nvPr/>
        </p:nvSpPr>
        <p:spPr>
          <a:xfrm>
            <a:off x="966119" y="1846450"/>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6" name="Oval 55">
            <a:extLst>
              <a:ext uri="{FF2B5EF4-FFF2-40B4-BE49-F238E27FC236}">
                <a16:creationId xmlns:a16="http://schemas.microsoft.com/office/drawing/2014/main" id="{42F4C439-2884-495A-984B-090CA94C78B0}"/>
              </a:ext>
            </a:extLst>
          </p:cNvPr>
          <p:cNvSpPr/>
          <p:nvPr/>
        </p:nvSpPr>
        <p:spPr>
          <a:xfrm>
            <a:off x="966119" y="2191630"/>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7" name="Oval 56">
            <a:extLst>
              <a:ext uri="{FF2B5EF4-FFF2-40B4-BE49-F238E27FC236}">
                <a16:creationId xmlns:a16="http://schemas.microsoft.com/office/drawing/2014/main" id="{45055F3A-A0AA-4257-9BC9-D2589C45480D}"/>
              </a:ext>
            </a:extLst>
          </p:cNvPr>
          <p:cNvSpPr/>
          <p:nvPr/>
        </p:nvSpPr>
        <p:spPr>
          <a:xfrm>
            <a:off x="2520677" y="1846450"/>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58" name="Oval 57">
            <a:extLst>
              <a:ext uri="{FF2B5EF4-FFF2-40B4-BE49-F238E27FC236}">
                <a16:creationId xmlns:a16="http://schemas.microsoft.com/office/drawing/2014/main" id="{7111D2EA-33B8-44A2-89ED-D281A65FDEA8}"/>
              </a:ext>
            </a:extLst>
          </p:cNvPr>
          <p:cNvSpPr/>
          <p:nvPr/>
        </p:nvSpPr>
        <p:spPr>
          <a:xfrm>
            <a:off x="2520677" y="2191630"/>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Tree>
    <p:extLst>
      <p:ext uri="{BB962C8B-B14F-4D97-AF65-F5344CB8AC3E}">
        <p14:creationId xmlns:p14="http://schemas.microsoft.com/office/powerpoint/2010/main" val="211075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10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1000"/>
                                        <p:tgtEl>
                                          <p:spTgt spid="14"/>
                                        </p:tgtEl>
                                      </p:cBhvr>
                                    </p:animEffect>
                                  </p:childTnLst>
                                </p:cTn>
                              </p:par>
                            </p:childTnLst>
                          </p:cTn>
                        </p:par>
                        <p:par>
                          <p:cTn id="18" fill="hold">
                            <p:stCondLst>
                              <p:cond delay="2500"/>
                            </p:stCondLst>
                            <p:childTnLst>
                              <p:par>
                                <p:cTn id="19" presetID="22" presetClass="entr" presetSubtype="8" fill="hold"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p:cTn id="41" dur="500" fill="hold"/>
                                        <p:tgtEl>
                                          <p:spTgt spid="21"/>
                                        </p:tgtEl>
                                        <p:attrNameLst>
                                          <p:attrName>ppt_w</p:attrName>
                                        </p:attrNameLst>
                                      </p:cBhvr>
                                      <p:tavLst>
                                        <p:tav tm="0">
                                          <p:val>
                                            <p:fltVal val="0"/>
                                          </p:val>
                                        </p:tav>
                                        <p:tav tm="100000">
                                          <p:val>
                                            <p:strVal val="#ppt_w"/>
                                          </p:val>
                                        </p:tav>
                                      </p:tavLst>
                                    </p:anim>
                                    <p:anim calcmode="lin" valueType="num">
                                      <p:cBhvr>
                                        <p:cTn id="42" dur="500" fill="hold"/>
                                        <p:tgtEl>
                                          <p:spTgt spid="21"/>
                                        </p:tgtEl>
                                        <p:attrNameLst>
                                          <p:attrName>ppt_h</p:attrName>
                                        </p:attrNameLst>
                                      </p:cBhvr>
                                      <p:tavLst>
                                        <p:tav tm="0">
                                          <p:val>
                                            <p:fltVal val="0"/>
                                          </p:val>
                                        </p:tav>
                                        <p:tav tm="100000">
                                          <p:val>
                                            <p:strVal val="#ppt_h"/>
                                          </p:val>
                                        </p:tav>
                                      </p:tavLst>
                                    </p:anim>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p:cTn id="48" dur="500" fill="hold"/>
                                        <p:tgtEl>
                                          <p:spTgt spid="27"/>
                                        </p:tgtEl>
                                        <p:attrNameLst>
                                          <p:attrName>ppt_w</p:attrName>
                                        </p:attrNameLst>
                                      </p:cBhvr>
                                      <p:tavLst>
                                        <p:tav tm="0">
                                          <p:val>
                                            <p:fltVal val="0"/>
                                          </p:val>
                                        </p:tav>
                                        <p:tav tm="100000">
                                          <p:val>
                                            <p:strVal val="#ppt_w"/>
                                          </p:val>
                                        </p:tav>
                                      </p:tavLst>
                                    </p:anim>
                                    <p:anim calcmode="lin" valueType="num">
                                      <p:cBhvr>
                                        <p:cTn id="49" dur="500" fill="hold"/>
                                        <p:tgtEl>
                                          <p:spTgt spid="27"/>
                                        </p:tgtEl>
                                        <p:attrNameLst>
                                          <p:attrName>ppt_h</p:attrName>
                                        </p:attrNameLst>
                                      </p:cBhvr>
                                      <p:tavLst>
                                        <p:tav tm="0">
                                          <p:val>
                                            <p:fltVal val="0"/>
                                          </p:val>
                                        </p:tav>
                                        <p:tav tm="100000">
                                          <p:val>
                                            <p:strVal val="#ppt_h"/>
                                          </p:val>
                                        </p:tav>
                                      </p:tavLst>
                                    </p:anim>
                                    <p:animEffect transition="in" filter="fade">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0"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anim calcmode="lin" valueType="num">
                                      <p:cBhvr>
                                        <p:cTn id="55" dur="1000" fill="hold"/>
                                        <p:tgtEl>
                                          <p:spTgt spid="55"/>
                                        </p:tgtEl>
                                        <p:attrNameLst>
                                          <p:attrName>ppt_w</p:attrName>
                                        </p:attrNameLst>
                                      </p:cBhvr>
                                      <p:tavLst>
                                        <p:tav tm="0">
                                          <p:val>
                                            <p:fltVal val="0"/>
                                          </p:val>
                                        </p:tav>
                                        <p:tav tm="100000">
                                          <p:val>
                                            <p:strVal val="#ppt_w"/>
                                          </p:val>
                                        </p:tav>
                                      </p:tavLst>
                                    </p:anim>
                                    <p:anim calcmode="lin" valueType="num">
                                      <p:cBhvr>
                                        <p:cTn id="56" dur="1000" fill="hold"/>
                                        <p:tgtEl>
                                          <p:spTgt spid="55"/>
                                        </p:tgtEl>
                                        <p:attrNameLst>
                                          <p:attrName>ppt_h</p:attrName>
                                        </p:attrNameLst>
                                      </p:cBhvr>
                                      <p:tavLst>
                                        <p:tav tm="0">
                                          <p:val>
                                            <p:fltVal val="0"/>
                                          </p:val>
                                        </p:tav>
                                        <p:tav tm="100000">
                                          <p:val>
                                            <p:strVal val="#ppt_h"/>
                                          </p:val>
                                        </p:tav>
                                      </p:tavLst>
                                    </p:anim>
                                    <p:animEffect transition="in" filter="fade">
                                      <p:cBhvr>
                                        <p:cTn id="57" dur="1000"/>
                                        <p:tgtEl>
                                          <p:spTgt spid="55"/>
                                        </p:tgtEl>
                                      </p:cBhvr>
                                    </p:animEffect>
                                  </p:childTnLst>
                                </p:cTn>
                              </p:par>
                            </p:childTnLst>
                          </p:cTn>
                        </p:par>
                        <p:par>
                          <p:cTn id="58" fill="hold">
                            <p:stCondLst>
                              <p:cond delay="1000"/>
                            </p:stCondLst>
                            <p:childTnLst>
                              <p:par>
                                <p:cTn id="59" presetID="53" presetClass="entr" presetSubtype="0" fill="hold" grpId="0" nodeType="afterEffect">
                                  <p:stCondLst>
                                    <p:cond delay="0"/>
                                  </p:stCondLst>
                                  <p:childTnLst>
                                    <p:set>
                                      <p:cBhvr>
                                        <p:cTn id="60" dur="1" fill="hold">
                                          <p:stCondLst>
                                            <p:cond delay="0"/>
                                          </p:stCondLst>
                                        </p:cTn>
                                        <p:tgtEl>
                                          <p:spTgt spid="56"/>
                                        </p:tgtEl>
                                        <p:attrNameLst>
                                          <p:attrName>style.visibility</p:attrName>
                                        </p:attrNameLst>
                                      </p:cBhvr>
                                      <p:to>
                                        <p:strVal val="visible"/>
                                      </p:to>
                                    </p:set>
                                    <p:anim calcmode="lin" valueType="num">
                                      <p:cBhvr>
                                        <p:cTn id="61" dur="1000" fill="hold"/>
                                        <p:tgtEl>
                                          <p:spTgt spid="56"/>
                                        </p:tgtEl>
                                        <p:attrNameLst>
                                          <p:attrName>ppt_w</p:attrName>
                                        </p:attrNameLst>
                                      </p:cBhvr>
                                      <p:tavLst>
                                        <p:tav tm="0">
                                          <p:val>
                                            <p:fltVal val="0"/>
                                          </p:val>
                                        </p:tav>
                                        <p:tav tm="100000">
                                          <p:val>
                                            <p:strVal val="#ppt_w"/>
                                          </p:val>
                                        </p:tav>
                                      </p:tavLst>
                                    </p:anim>
                                    <p:anim calcmode="lin" valueType="num">
                                      <p:cBhvr>
                                        <p:cTn id="62" dur="1000" fill="hold"/>
                                        <p:tgtEl>
                                          <p:spTgt spid="56"/>
                                        </p:tgtEl>
                                        <p:attrNameLst>
                                          <p:attrName>ppt_h</p:attrName>
                                        </p:attrNameLst>
                                      </p:cBhvr>
                                      <p:tavLst>
                                        <p:tav tm="0">
                                          <p:val>
                                            <p:fltVal val="0"/>
                                          </p:val>
                                        </p:tav>
                                        <p:tav tm="100000">
                                          <p:val>
                                            <p:strVal val="#ppt_h"/>
                                          </p:val>
                                        </p:tav>
                                      </p:tavLst>
                                    </p:anim>
                                    <p:animEffect transition="in" filter="fade">
                                      <p:cBhvr>
                                        <p:cTn id="63" dur="1000"/>
                                        <p:tgtEl>
                                          <p:spTgt spid="5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wipe(left)">
                                      <p:cBhvr>
                                        <p:cTn id="68" dur="1000"/>
                                        <p:tgtEl>
                                          <p:spTgt spid="24"/>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0" fill="hold" grpId="0" nodeType="clickEffect">
                                  <p:stCondLst>
                                    <p:cond delay="0"/>
                                  </p:stCondLst>
                                  <p:childTnLst>
                                    <p:set>
                                      <p:cBhvr>
                                        <p:cTn id="72" dur="1" fill="hold">
                                          <p:stCondLst>
                                            <p:cond delay="0"/>
                                          </p:stCondLst>
                                        </p:cTn>
                                        <p:tgtEl>
                                          <p:spTgt spid="57"/>
                                        </p:tgtEl>
                                        <p:attrNameLst>
                                          <p:attrName>style.visibility</p:attrName>
                                        </p:attrNameLst>
                                      </p:cBhvr>
                                      <p:to>
                                        <p:strVal val="visible"/>
                                      </p:to>
                                    </p:set>
                                    <p:anim calcmode="lin" valueType="num">
                                      <p:cBhvr>
                                        <p:cTn id="73" dur="1000" fill="hold"/>
                                        <p:tgtEl>
                                          <p:spTgt spid="57"/>
                                        </p:tgtEl>
                                        <p:attrNameLst>
                                          <p:attrName>ppt_w</p:attrName>
                                        </p:attrNameLst>
                                      </p:cBhvr>
                                      <p:tavLst>
                                        <p:tav tm="0">
                                          <p:val>
                                            <p:fltVal val="0"/>
                                          </p:val>
                                        </p:tav>
                                        <p:tav tm="100000">
                                          <p:val>
                                            <p:strVal val="#ppt_w"/>
                                          </p:val>
                                        </p:tav>
                                      </p:tavLst>
                                    </p:anim>
                                    <p:anim calcmode="lin" valueType="num">
                                      <p:cBhvr>
                                        <p:cTn id="74" dur="1000" fill="hold"/>
                                        <p:tgtEl>
                                          <p:spTgt spid="57"/>
                                        </p:tgtEl>
                                        <p:attrNameLst>
                                          <p:attrName>ppt_h</p:attrName>
                                        </p:attrNameLst>
                                      </p:cBhvr>
                                      <p:tavLst>
                                        <p:tav tm="0">
                                          <p:val>
                                            <p:fltVal val="0"/>
                                          </p:val>
                                        </p:tav>
                                        <p:tav tm="100000">
                                          <p:val>
                                            <p:strVal val="#ppt_h"/>
                                          </p:val>
                                        </p:tav>
                                      </p:tavLst>
                                    </p:anim>
                                    <p:animEffect transition="in" filter="fade">
                                      <p:cBhvr>
                                        <p:cTn id="75" dur="1000"/>
                                        <p:tgtEl>
                                          <p:spTgt spid="57"/>
                                        </p:tgtEl>
                                      </p:cBhvr>
                                    </p:animEffect>
                                  </p:childTnLst>
                                </p:cTn>
                              </p:par>
                            </p:childTnLst>
                          </p:cTn>
                        </p:par>
                        <p:par>
                          <p:cTn id="76" fill="hold">
                            <p:stCondLst>
                              <p:cond delay="1000"/>
                            </p:stCondLst>
                            <p:childTnLst>
                              <p:par>
                                <p:cTn id="77" presetID="53" presetClass="entr" presetSubtype="0" fill="hold" grpId="0" nodeType="afterEffect">
                                  <p:stCondLst>
                                    <p:cond delay="0"/>
                                  </p:stCondLst>
                                  <p:childTnLst>
                                    <p:set>
                                      <p:cBhvr>
                                        <p:cTn id="78" dur="1" fill="hold">
                                          <p:stCondLst>
                                            <p:cond delay="0"/>
                                          </p:stCondLst>
                                        </p:cTn>
                                        <p:tgtEl>
                                          <p:spTgt spid="58"/>
                                        </p:tgtEl>
                                        <p:attrNameLst>
                                          <p:attrName>style.visibility</p:attrName>
                                        </p:attrNameLst>
                                      </p:cBhvr>
                                      <p:to>
                                        <p:strVal val="visible"/>
                                      </p:to>
                                    </p:set>
                                    <p:anim calcmode="lin" valueType="num">
                                      <p:cBhvr>
                                        <p:cTn id="79" dur="1000" fill="hold"/>
                                        <p:tgtEl>
                                          <p:spTgt spid="58"/>
                                        </p:tgtEl>
                                        <p:attrNameLst>
                                          <p:attrName>ppt_w</p:attrName>
                                        </p:attrNameLst>
                                      </p:cBhvr>
                                      <p:tavLst>
                                        <p:tav tm="0">
                                          <p:val>
                                            <p:fltVal val="0"/>
                                          </p:val>
                                        </p:tav>
                                        <p:tav tm="100000">
                                          <p:val>
                                            <p:strVal val="#ppt_w"/>
                                          </p:val>
                                        </p:tav>
                                      </p:tavLst>
                                    </p:anim>
                                    <p:anim calcmode="lin" valueType="num">
                                      <p:cBhvr>
                                        <p:cTn id="80" dur="1000" fill="hold"/>
                                        <p:tgtEl>
                                          <p:spTgt spid="58"/>
                                        </p:tgtEl>
                                        <p:attrNameLst>
                                          <p:attrName>ppt_h</p:attrName>
                                        </p:attrNameLst>
                                      </p:cBhvr>
                                      <p:tavLst>
                                        <p:tav tm="0">
                                          <p:val>
                                            <p:fltVal val="0"/>
                                          </p:val>
                                        </p:tav>
                                        <p:tav tm="100000">
                                          <p:val>
                                            <p:strVal val="#ppt_h"/>
                                          </p:val>
                                        </p:tav>
                                      </p:tavLst>
                                    </p:anim>
                                    <p:animEffect transition="in" filter="fade">
                                      <p:cBhvr>
                                        <p:cTn id="81" dur="1000"/>
                                        <p:tgtEl>
                                          <p:spTgt spid="5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1000"/>
                                        <p:tgtEl>
                                          <p:spTgt spid="26"/>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0" fill="hold" nodeType="clickEffect">
                                  <p:stCondLst>
                                    <p:cond delay="0"/>
                                  </p:stCondLst>
                                  <p:childTnLst>
                                    <p:set>
                                      <p:cBhvr>
                                        <p:cTn id="90" dur="1" fill="hold">
                                          <p:stCondLst>
                                            <p:cond delay="0"/>
                                          </p:stCondLst>
                                        </p:cTn>
                                        <p:tgtEl>
                                          <p:spTgt spid="30"/>
                                        </p:tgtEl>
                                        <p:attrNameLst>
                                          <p:attrName>style.visibility</p:attrName>
                                        </p:attrNameLst>
                                      </p:cBhvr>
                                      <p:to>
                                        <p:strVal val="visible"/>
                                      </p:to>
                                    </p:set>
                                    <p:anim calcmode="lin" valueType="num">
                                      <p:cBhvr>
                                        <p:cTn id="91" dur="500" fill="hold"/>
                                        <p:tgtEl>
                                          <p:spTgt spid="30"/>
                                        </p:tgtEl>
                                        <p:attrNameLst>
                                          <p:attrName>ppt_w</p:attrName>
                                        </p:attrNameLst>
                                      </p:cBhvr>
                                      <p:tavLst>
                                        <p:tav tm="0">
                                          <p:val>
                                            <p:fltVal val="0"/>
                                          </p:val>
                                        </p:tav>
                                        <p:tav tm="100000">
                                          <p:val>
                                            <p:strVal val="#ppt_w"/>
                                          </p:val>
                                        </p:tav>
                                      </p:tavLst>
                                    </p:anim>
                                    <p:anim calcmode="lin" valueType="num">
                                      <p:cBhvr>
                                        <p:cTn id="92" dur="500" fill="hold"/>
                                        <p:tgtEl>
                                          <p:spTgt spid="30"/>
                                        </p:tgtEl>
                                        <p:attrNameLst>
                                          <p:attrName>ppt_h</p:attrName>
                                        </p:attrNameLst>
                                      </p:cBhvr>
                                      <p:tavLst>
                                        <p:tav tm="0">
                                          <p:val>
                                            <p:fltVal val="0"/>
                                          </p:val>
                                        </p:tav>
                                        <p:tav tm="100000">
                                          <p:val>
                                            <p:strVal val="#ppt_h"/>
                                          </p:val>
                                        </p:tav>
                                      </p:tavLst>
                                    </p:anim>
                                    <p:animEffect transition="in" filter="fade">
                                      <p:cBhvr>
                                        <p:cTn id="93" dur="500"/>
                                        <p:tgtEl>
                                          <p:spTgt spid="30"/>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wipe(left)">
                                      <p:cBhvr>
                                        <p:cTn id="98" dur="1000"/>
                                        <p:tgtEl>
                                          <p:spTgt spid="33"/>
                                        </p:tgtEl>
                                      </p:cBhvr>
                                    </p:animEffect>
                                  </p:childTnLst>
                                </p:cTn>
                              </p:par>
                            </p:childTnLst>
                          </p:cTn>
                        </p:par>
                      </p:childTnLst>
                    </p:cTn>
                  </p:par>
                  <p:par>
                    <p:cTn id="99" fill="hold">
                      <p:stCondLst>
                        <p:cond delay="indefinite"/>
                      </p:stCondLst>
                      <p:childTnLst>
                        <p:par>
                          <p:cTn id="100" fill="hold">
                            <p:stCondLst>
                              <p:cond delay="0"/>
                            </p:stCondLst>
                            <p:childTnLst>
                              <p:par>
                                <p:cTn id="101" presetID="53" presetClass="entr" presetSubtype="0" fill="hold" nodeType="clickEffect">
                                  <p:stCondLst>
                                    <p:cond delay="0"/>
                                  </p:stCondLst>
                                  <p:childTnLst>
                                    <p:set>
                                      <p:cBhvr>
                                        <p:cTn id="102" dur="1" fill="hold">
                                          <p:stCondLst>
                                            <p:cond delay="0"/>
                                          </p:stCondLst>
                                        </p:cTn>
                                        <p:tgtEl>
                                          <p:spTgt spid="49"/>
                                        </p:tgtEl>
                                        <p:attrNameLst>
                                          <p:attrName>style.visibility</p:attrName>
                                        </p:attrNameLst>
                                      </p:cBhvr>
                                      <p:to>
                                        <p:strVal val="visible"/>
                                      </p:to>
                                    </p:set>
                                    <p:anim calcmode="lin" valueType="num">
                                      <p:cBhvr>
                                        <p:cTn id="103" dur="500" fill="hold"/>
                                        <p:tgtEl>
                                          <p:spTgt spid="49"/>
                                        </p:tgtEl>
                                        <p:attrNameLst>
                                          <p:attrName>ppt_w</p:attrName>
                                        </p:attrNameLst>
                                      </p:cBhvr>
                                      <p:tavLst>
                                        <p:tav tm="0">
                                          <p:val>
                                            <p:fltVal val="0"/>
                                          </p:val>
                                        </p:tav>
                                        <p:tav tm="100000">
                                          <p:val>
                                            <p:strVal val="#ppt_w"/>
                                          </p:val>
                                        </p:tav>
                                      </p:tavLst>
                                    </p:anim>
                                    <p:anim calcmode="lin" valueType="num">
                                      <p:cBhvr>
                                        <p:cTn id="104" dur="500" fill="hold"/>
                                        <p:tgtEl>
                                          <p:spTgt spid="49"/>
                                        </p:tgtEl>
                                        <p:attrNameLst>
                                          <p:attrName>ppt_h</p:attrName>
                                        </p:attrNameLst>
                                      </p:cBhvr>
                                      <p:tavLst>
                                        <p:tav tm="0">
                                          <p:val>
                                            <p:fltVal val="0"/>
                                          </p:val>
                                        </p:tav>
                                        <p:tav tm="100000">
                                          <p:val>
                                            <p:strVal val="#ppt_h"/>
                                          </p:val>
                                        </p:tav>
                                      </p:tavLst>
                                    </p:anim>
                                    <p:animEffect transition="in" filter="fade">
                                      <p:cBhvr>
                                        <p:cTn id="105" dur="500"/>
                                        <p:tgtEl>
                                          <p:spTgt spid="49"/>
                                        </p:tgtEl>
                                      </p:cBhvr>
                                    </p:animEffect>
                                  </p:childTnLst>
                                </p:cTn>
                              </p:par>
                            </p:childTnLst>
                          </p:cTn>
                        </p:par>
                        <p:par>
                          <p:cTn id="106" fill="hold">
                            <p:stCondLst>
                              <p:cond delay="500"/>
                            </p:stCondLst>
                            <p:childTnLst>
                              <p:par>
                                <p:cTn id="107" presetID="22" presetClass="entr" presetSubtype="8" fill="hold" nodeType="after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wipe(left)">
                                      <p:cBhvr>
                                        <p:cTn id="109" dur="500"/>
                                        <p:tgtEl>
                                          <p:spTgt spid="34"/>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0" fill="hold" nodeType="clickEffect">
                                  <p:stCondLst>
                                    <p:cond delay="0"/>
                                  </p:stCondLst>
                                  <p:childTnLst>
                                    <p:set>
                                      <p:cBhvr>
                                        <p:cTn id="113" dur="1" fill="hold">
                                          <p:stCondLst>
                                            <p:cond delay="0"/>
                                          </p:stCondLst>
                                        </p:cTn>
                                        <p:tgtEl>
                                          <p:spTgt spid="35"/>
                                        </p:tgtEl>
                                        <p:attrNameLst>
                                          <p:attrName>style.visibility</p:attrName>
                                        </p:attrNameLst>
                                      </p:cBhvr>
                                      <p:to>
                                        <p:strVal val="visible"/>
                                      </p:to>
                                    </p:set>
                                    <p:anim calcmode="lin" valueType="num">
                                      <p:cBhvr>
                                        <p:cTn id="114" dur="500" fill="hold"/>
                                        <p:tgtEl>
                                          <p:spTgt spid="35"/>
                                        </p:tgtEl>
                                        <p:attrNameLst>
                                          <p:attrName>ppt_w</p:attrName>
                                        </p:attrNameLst>
                                      </p:cBhvr>
                                      <p:tavLst>
                                        <p:tav tm="0">
                                          <p:val>
                                            <p:fltVal val="0"/>
                                          </p:val>
                                        </p:tav>
                                        <p:tav tm="100000">
                                          <p:val>
                                            <p:strVal val="#ppt_w"/>
                                          </p:val>
                                        </p:tav>
                                      </p:tavLst>
                                    </p:anim>
                                    <p:anim calcmode="lin" valueType="num">
                                      <p:cBhvr>
                                        <p:cTn id="115" dur="500" fill="hold"/>
                                        <p:tgtEl>
                                          <p:spTgt spid="35"/>
                                        </p:tgtEl>
                                        <p:attrNameLst>
                                          <p:attrName>ppt_h</p:attrName>
                                        </p:attrNameLst>
                                      </p:cBhvr>
                                      <p:tavLst>
                                        <p:tav tm="0">
                                          <p:val>
                                            <p:fltVal val="0"/>
                                          </p:val>
                                        </p:tav>
                                        <p:tav tm="100000">
                                          <p:val>
                                            <p:strVal val="#ppt_h"/>
                                          </p:val>
                                        </p:tav>
                                      </p:tavLst>
                                    </p:anim>
                                    <p:animEffect transition="in" filter="fade">
                                      <p:cBhvr>
                                        <p:cTn id="116" dur="500"/>
                                        <p:tgtEl>
                                          <p:spTgt spid="35"/>
                                        </p:tgtEl>
                                      </p:cBhvr>
                                    </p:animEffect>
                                  </p:childTnLst>
                                </p:cTn>
                              </p:par>
                            </p:childTnLst>
                          </p:cTn>
                        </p:par>
                        <p:par>
                          <p:cTn id="117" fill="hold">
                            <p:stCondLst>
                              <p:cond delay="500"/>
                            </p:stCondLst>
                            <p:childTnLst>
                              <p:par>
                                <p:cTn id="118" presetID="22" presetClass="entr" presetSubtype="8" fill="hold" grpId="0" nodeType="after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wipe(left)">
                                      <p:cBhvr>
                                        <p:cTn id="120" dur="1000"/>
                                        <p:tgtEl>
                                          <p:spTgt spid="38"/>
                                        </p:tgtEl>
                                      </p:cBhvr>
                                    </p:animEffect>
                                  </p:childTnLst>
                                </p:cTn>
                              </p:par>
                            </p:childTnLst>
                          </p:cTn>
                        </p:par>
                        <p:par>
                          <p:cTn id="121" fill="hold">
                            <p:stCondLst>
                              <p:cond delay="1500"/>
                            </p:stCondLst>
                            <p:childTnLst>
                              <p:par>
                                <p:cTn id="122" presetID="22" presetClass="entr" presetSubtype="8" fill="hold" grpId="0" nodeType="afterEffect">
                                  <p:stCondLst>
                                    <p:cond delay="0"/>
                                  </p:stCondLst>
                                  <p:childTnLst>
                                    <p:set>
                                      <p:cBhvr>
                                        <p:cTn id="123" dur="1" fill="hold">
                                          <p:stCondLst>
                                            <p:cond delay="0"/>
                                          </p:stCondLst>
                                        </p:cTn>
                                        <p:tgtEl>
                                          <p:spTgt spid="39"/>
                                        </p:tgtEl>
                                        <p:attrNameLst>
                                          <p:attrName>style.visibility</p:attrName>
                                        </p:attrNameLst>
                                      </p:cBhvr>
                                      <p:to>
                                        <p:strVal val="visible"/>
                                      </p:to>
                                    </p:set>
                                    <p:animEffect transition="in" filter="wipe(left)">
                                      <p:cBhvr>
                                        <p:cTn id="124" dur="1000"/>
                                        <p:tgtEl>
                                          <p:spTgt spid="39"/>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wipe(left)">
                                      <p:cBhvr>
                                        <p:cTn id="129" dur="1000"/>
                                        <p:tgtEl>
                                          <p:spTgt spid="40"/>
                                        </p:tgtEl>
                                      </p:cBhvr>
                                    </p:animEffect>
                                  </p:childTnLst>
                                </p:cTn>
                              </p:par>
                            </p:childTnLst>
                          </p:cTn>
                        </p:par>
                      </p:childTnLst>
                    </p:cTn>
                  </p:par>
                  <p:par>
                    <p:cTn id="130" fill="hold">
                      <p:stCondLst>
                        <p:cond delay="indefinite"/>
                      </p:stCondLst>
                      <p:childTnLst>
                        <p:par>
                          <p:cTn id="131" fill="hold">
                            <p:stCondLst>
                              <p:cond delay="0"/>
                            </p:stCondLst>
                            <p:childTnLst>
                              <p:par>
                                <p:cTn id="132" presetID="53" presetClass="entr" presetSubtype="0" fill="hold" nodeType="clickEffect">
                                  <p:stCondLst>
                                    <p:cond delay="0"/>
                                  </p:stCondLst>
                                  <p:childTnLst>
                                    <p:set>
                                      <p:cBhvr>
                                        <p:cTn id="133" dur="1" fill="hold">
                                          <p:stCondLst>
                                            <p:cond delay="0"/>
                                          </p:stCondLst>
                                        </p:cTn>
                                        <p:tgtEl>
                                          <p:spTgt spid="41"/>
                                        </p:tgtEl>
                                        <p:attrNameLst>
                                          <p:attrName>style.visibility</p:attrName>
                                        </p:attrNameLst>
                                      </p:cBhvr>
                                      <p:to>
                                        <p:strVal val="visible"/>
                                      </p:to>
                                    </p:set>
                                    <p:anim calcmode="lin" valueType="num">
                                      <p:cBhvr>
                                        <p:cTn id="134" dur="500" fill="hold"/>
                                        <p:tgtEl>
                                          <p:spTgt spid="41"/>
                                        </p:tgtEl>
                                        <p:attrNameLst>
                                          <p:attrName>ppt_w</p:attrName>
                                        </p:attrNameLst>
                                      </p:cBhvr>
                                      <p:tavLst>
                                        <p:tav tm="0">
                                          <p:val>
                                            <p:fltVal val="0"/>
                                          </p:val>
                                        </p:tav>
                                        <p:tav tm="100000">
                                          <p:val>
                                            <p:strVal val="#ppt_w"/>
                                          </p:val>
                                        </p:tav>
                                      </p:tavLst>
                                    </p:anim>
                                    <p:anim calcmode="lin" valueType="num">
                                      <p:cBhvr>
                                        <p:cTn id="135" dur="500" fill="hold"/>
                                        <p:tgtEl>
                                          <p:spTgt spid="41"/>
                                        </p:tgtEl>
                                        <p:attrNameLst>
                                          <p:attrName>ppt_h</p:attrName>
                                        </p:attrNameLst>
                                      </p:cBhvr>
                                      <p:tavLst>
                                        <p:tav tm="0">
                                          <p:val>
                                            <p:fltVal val="0"/>
                                          </p:val>
                                        </p:tav>
                                        <p:tav tm="100000">
                                          <p:val>
                                            <p:strVal val="#ppt_h"/>
                                          </p:val>
                                        </p:tav>
                                      </p:tavLst>
                                    </p:anim>
                                    <p:animEffect transition="in" filter="fade">
                                      <p:cBhvr>
                                        <p:cTn id="136" dur="500"/>
                                        <p:tgtEl>
                                          <p:spTgt spid="41"/>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44"/>
                                        </p:tgtEl>
                                        <p:attrNameLst>
                                          <p:attrName>style.visibility</p:attrName>
                                        </p:attrNameLst>
                                      </p:cBhvr>
                                      <p:to>
                                        <p:strVal val="visible"/>
                                      </p:to>
                                    </p:set>
                                    <p:animEffect transition="in" filter="wipe(left)">
                                      <p:cBhvr>
                                        <p:cTn id="141" dur="1000"/>
                                        <p:tgtEl>
                                          <p:spTgt spid="44"/>
                                        </p:tgtEl>
                                      </p:cBhvr>
                                    </p:animEffect>
                                  </p:childTnLst>
                                </p:cTn>
                              </p:par>
                            </p:childTnLst>
                          </p:cTn>
                        </p:par>
                      </p:childTnLst>
                    </p:cTn>
                  </p:par>
                  <p:par>
                    <p:cTn id="142" fill="hold">
                      <p:stCondLst>
                        <p:cond delay="indefinite"/>
                      </p:stCondLst>
                      <p:childTnLst>
                        <p:par>
                          <p:cTn id="143" fill="hold">
                            <p:stCondLst>
                              <p:cond delay="0"/>
                            </p:stCondLst>
                            <p:childTnLst>
                              <p:par>
                                <p:cTn id="144" presetID="53" presetClass="entr" presetSubtype="0" fill="hold" nodeType="clickEffect">
                                  <p:stCondLst>
                                    <p:cond delay="0"/>
                                  </p:stCondLst>
                                  <p:childTnLst>
                                    <p:set>
                                      <p:cBhvr>
                                        <p:cTn id="145" dur="1" fill="hold">
                                          <p:stCondLst>
                                            <p:cond delay="0"/>
                                          </p:stCondLst>
                                        </p:cTn>
                                        <p:tgtEl>
                                          <p:spTgt spid="46"/>
                                        </p:tgtEl>
                                        <p:attrNameLst>
                                          <p:attrName>style.visibility</p:attrName>
                                        </p:attrNameLst>
                                      </p:cBhvr>
                                      <p:to>
                                        <p:strVal val="visible"/>
                                      </p:to>
                                    </p:set>
                                    <p:anim calcmode="lin" valueType="num">
                                      <p:cBhvr>
                                        <p:cTn id="146" dur="500" fill="hold"/>
                                        <p:tgtEl>
                                          <p:spTgt spid="46"/>
                                        </p:tgtEl>
                                        <p:attrNameLst>
                                          <p:attrName>ppt_w</p:attrName>
                                        </p:attrNameLst>
                                      </p:cBhvr>
                                      <p:tavLst>
                                        <p:tav tm="0">
                                          <p:val>
                                            <p:fltVal val="0"/>
                                          </p:val>
                                        </p:tav>
                                        <p:tav tm="100000">
                                          <p:val>
                                            <p:strVal val="#ppt_w"/>
                                          </p:val>
                                        </p:tav>
                                      </p:tavLst>
                                    </p:anim>
                                    <p:anim calcmode="lin" valueType="num">
                                      <p:cBhvr>
                                        <p:cTn id="147" dur="500" fill="hold"/>
                                        <p:tgtEl>
                                          <p:spTgt spid="46"/>
                                        </p:tgtEl>
                                        <p:attrNameLst>
                                          <p:attrName>ppt_h</p:attrName>
                                        </p:attrNameLst>
                                      </p:cBhvr>
                                      <p:tavLst>
                                        <p:tav tm="0">
                                          <p:val>
                                            <p:fltVal val="0"/>
                                          </p:val>
                                        </p:tav>
                                        <p:tav tm="100000">
                                          <p:val>
                                            <p:strVal val="#ppt_h"/>
                                          </p:val>
                                        </p:tav>
                                      </p:tavLst>
                                    </p:anim>
                                    <p:animEffect transition="in" filter="fade">
                                      <p:cBhvr>
                                        <p:cTn id="148" dur="500"/>
                                        <p:tgtEl>
                                          <p:spTgt spid="46"/>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45"/>
                                        </p:tgtEl>
                                        <p:attrNameLst>
                                          <p:attrName>style.visibility</p:attrName>
                                        </p:attrNameLst>
                                      </p:cBhvr>
                                      <p:to>
                                        <p:strVal val="visible"/>
                                      </p:to>
                                    </p:set>
                                    <p:animEffect transition="in" filter="wipe(left)">
                                      <p:cBhvr>
                                        <p:cTn id="153" dur="1000"/>
                                        <p:tgtEl>
                                          <p:spTgt spid="45"/>
                                        </p:tgtEl>
                                      </p:cBhvr>
                                    </p:animEffect>
                                  </p:childTnLst>
                                </p:cTn>
                              </p:par>
                            </p:childTnLst>
                          </p:cTn>
                        </p:par>
                      </p:childTnLst>
                    </p:cTn>
                  </p:par>
                  <p:par>
                    <p:cTn id="154" fill="hold">
                      <p:stCondLst>
                        <p:cond delay="indefinite"/>
                      </p:stCondLst>
                      <p:childTnLst>
                        <p:par>
                          <p:cTn id="155" fill="hold">
                            <p:stCondLst>
                              <p:cond delay="0"/>
                            </p:stCondLst>
                            <p:childTnLst>
                              <p:par>
                                <p:cTn id="156" presetID="53" presetClass="entr" presetSubtype="0" fill="hold" nodeType="clickEffect">
                                  <p:stCondLst>
                                    <p:cond delay="0"/>
                                  </p:stCondLst>
                                  <p:childTnLst>
                                    <p:set>
                                      <p:cBhvr>
                                        <p:cTn id="157" dur="1" fill="hold">
                                          <p:stCondLst>
                                            <p:cond delay="0"/>
                                          </p:stCondLst>
                                        </p:cTn>
                                        <p:tgtEl>
                                          <p:spTgt spid="52"/>
                                        </p:tgtEl>
                                        <p:attrNameLst>
                                          <p:attrName>style.visibility</p:attrName>
                                        </p:attrNameLst>
                                      </p:cBhvr>
                                      <p:to>
                                        <p:strVal val="visible"/>
                                      </p:to>
                                    </p:set>
                                    <p:anim calcmode="lin" valueType="num">
                                      <p:cBhvr>
                                        <p:cTn id="158" dur="500" fill="hold"/>
                                        <p:tgtEl>
                                          <p:spTgt spid="52"/>
                                        </p:tgtEl>
                                        <p:attrNameLst>
                                          <p:attrName>ppt_w</p:attrName>
                                        </p:attrNameLst>
                                      </p:cBhvr>
                                      <p:tavLst>
                                        <p:tav tm="0">
                                          <p:val>
                                            <p:fltVal val="0"/>
                                          </p:val>
                                        </p:tav>
                                        <p:tav tm="100000">
                                          <p:val>
                                            <p:strVal val="#ppt_w"/>
                                          </p:val>
                                        </p:tav>
                                      </p:tavLst>
                                    </p:anim>
                                    <p:anim calcmode="lin" valueType="num">
                                      <p:cBhvr>
                                        <p:cTn id="159" dur="500" fill="hold"/>
                                        <p:tgtEl>
                                          <p:spTgt spid="52"/>
                                        </p:tgtEl>
                                        <p:attrNameLst>
                                          <p:attrName>ppt_h</p:attrName>
                                        </p:attrNameLst>
                                      </p:cBhvr>
                                      <p:tavLst>
                                        <p:tav tm="0">
                                          <p:val>
                                            <p:fltVal val="0"/>
                                          </p:val>
                                        </p:tav>
                                        <p:tav tm="100000">
                                          <p:val>
                                            <p:strVal val="#ppt_h"/>
                                          </p:val>
                                        </p:tav>
                                      </p:tavLst>
                                    </p:anim>
                                    <p:animEffect transition="in" filter="fade">
                                      <p:cBhvr>
                                        <p:cTn id="16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9" grpId="0"/>
      <p:bldP spid="20" grpId="0"/>
      <p:bldP spid="24" grpId="0"/>
      <p:bldP spid="26" grpId="0"/>
      <p:bldP spid="33" grpId="0"/>
      <p:bldP spid="38" grpId="0"/>
      <p:bldP spid="39" grpId="0"/>
      <p:bldP spid="40" grpId="0"/>
      <p:bldP spid="44" grpId="0"/>
      <p:bldP spid="45" grpId="0"/>
      <p:bldP spid="55" grpId="0" animBg="1"/>
      <p:bldP spid="56" grpId="0" animBg="1"/>
      <p:bldP spid="57" grpId="0" animBg="1"/>
      <p:bldP spid="5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12" name="Rounded Rectangle 49">
            <a:extLst>
              <a:ext uri="{FF2B5EF4-FFF2-40B4-BE49-F238E27FC236}">
                <a16:creationId xmlns:a16="http://schemas.microsoft.com/office/drawing/2014/main" id="{35DFAE32-BDD2-43EA-8B01-C998D0CC2684}"/>
              </a:ext>
            </a:extLst>
          </p:cNvPr>
          <p:cNvSpPr/>
          <p:nvPr/>
        </p:nvSpPr>
        <p:spPr>
          <a:xfrm>
            <a:off x="467339" y="1421816"/>
            <a:ext cx="8697432" cy="5056621"/>
          </a:xfrm>
          <a:prstGeom prst="roundRect">
            <a:avLst>
              <a:gd name="adj" fmla="val 54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itchFamily="34" charset="0"/>
              <a:cs typeface="Arial" pitchFamily="34" charset="0"/>
            </a:endParaRPr>
          </a:p>
        </p:txBody>
      </p:sp>
      <p:sp>
        <p:nvSpPr>
          <p:cNvPr id="13" name="TextBox 12">
            <a:extLst>
              <a:ext uri="{FF2B5EF4-FFF2-40B4-BE49-F238E27FC236}">
                <a16:creationId xmlns:a16="http://schemas.microsoft.com/office/drawing/2014/main" id="{7594DCB6-45EA-4EF3-934D-09771677DE62}"/>
              </a:ext>
            </a:extLst>
          </p:cNvPr>
          <p:cNvSpPr txBox="1"/>
          <p:nvPr/>
        </p:nvSpPr>
        <p:spPr>
          <a:xfrm>
            <a:off x="505544" y="1470881"/>
            <a:ext cx="3986661" cy="276999"/>
          </a:xfrm>
          <a:prstGeom prst="rect">
            <a:avLst/>
          </a:prstGeom>
          <a:noFill/>
        </p:spPr>
        <p:txBody>
          <a:bodyPr wrap="square" rtlCol="0">
            <a:spAutoFit/>
          </a:bodyPr>
          <a:lstStyle/>
          <a:p>
            <a:pPr algn="ctr"/>
            <a:r>
              <a:rPr lang="en-GB" sz="1200" b="1" dirty="0">
                <a:latin typeface="Arial" pitchFamily="34" charset="0"/>
                <a:cs typeface="Arial" pitchFamily="34" charset="0"/>
              </a:rPr>
              <a:t>Example 3:  Solve these simultaneous equations:</a:t>
            </a:r>
            <a:endParaRPr lang="en-GB" sz="1200" b="1" i="1" dirty="0">
              <a:latin typeface="Arial" pitchFamily="34" charset="0"/>
              <a:cs typeface="Arial" pitchFamily="34" charset="0"/>
            </a:endParaRPr>
          </a:p>
        </p:txBody>
      </p:sp>
      <p:sp>
        <p:nvSpPr>
          <p:cNvPr id="14" name="TextBox 13">
            <a:extLst>
              <a:ext uri="{FF2B5EF4-FFF2-40B4-BE49-F238E27FC236}">
                <a16:creationId xmlns:a16="http://schemas.microsoft.com/office/drawing/2014/main" id="{61937D2E-BD25-47E4-8D27-2E761E485C98}"/>
              </a:ext>
            </a:extLst>
          </p:cNvPr>
          <p:cNvSpPr txBox="1"/>
          <p:nvPr/>
        </p:nvSpPr>
        <p:spPr>
          <a:xfrm>
            <a:off x="893848" y="1825167"/>
            <a:ext cx="3062736" cy="400110"/>
          </a:xfrm>
          <a:prstGeom prst="rect">
            <a:avLst/>
          </a:prstGeom>
          <a:noFill/>
        </p:spPr>
        <p:txBody>
          <a:bodyPr wrap="square" rtlCol="0">
            <a:spAutoFit/>
          </a:bodyPr>
          <a:lstStyle/>
          <a:p>
            <a:r>
              <a:rPr lang="en-GB" sz="2000" b="1" dirty="0">
                <a:latin typeface="Arial" pitchFamily="34" charset="0"/>
                <a:cs typeface="Arial" pitchFamily="34" charset="0"/>
              </a:rPr>
              <a:t>3</a:t>
            </a:r>
            <a:r>
              <a:rPr lang="en-GB" sz="2000" b="1" i="1" dirty="0">
                <a:latin typeface="Arial" pitchFamily="34" charset="0"/>
                <a:cs typeface="Arial" pitchFamily="34" charset="0"/>
              </a:rPr>
              <a:t>x</a:t>
            </a:r>
            <a:r>
              <a:rPr lang="en-GB" sz="2000" b="1" dirty="0">
                <a:latin typeface="Arial" pitchFamily="34" charset="0"/>
                <a:cs typeface="Arial" pitchFamily="34" charset="0"/>
              </a:rPr>
              <a:t>  +  5</a:t>
            </a:r>
            <a:r>
              <a:rPr lang="en-GB" sz="2000" b="1" i="1" dirty="0">
                <a:latin typeface="Arial" pitchFamily="34" charset="0"/>
                <a:cs typeface="Arial" pitchFamily="34" charset="0"/>
              </a:rPr>
              <a:t>y</a:t>
            </a:r>
            <a:r>
              <a:rPr lang="en-GB" sz="2000" b="1" dirty="0">
                <a:latin typeface="Arial" pitchFamily="34" charset="0"/>
                <a:cs typeface="Arial" pitchFamily="34" charset="0"/>
              </a:rPr>
              <a:t>   =   36</a:t>
            </a:r>
          </a:p>
        </p:txBody>
      </p:sp>
      <p:sp>
        <p:nvSpPr>
          <p:cNvPr id="15" name="TextBox 14">
            <a:extLst>
              <a:ext uri="{FF2B5EF4-FFF2-40B4-BE49-F238E27FC236}">
                <a16:creationId xmlns:a16="http://schemas.microsoft.com/office/drawing/2014/main" id="{400EFE3E-6654-47A8-B2F9-92A885C0759D}"/>
              </a:ext>
            </a:extLst>
          </p:cNvPr>
          <p:cNvSpPr txBox="1"/>
          <p:nvPr/>
        </p:nvSpPr>
        <p:spPr>
          <a:xfrm>
            <a:off x="893848" y="2167576"/>
            <a:ext cx="3062736" cy="400110"/>
          </a:xfrm>
          <a:prstGeom prst="rect">
            <a:avLst/>
          </a:prstGeom>
          <a:noFill/>
        </p:spPr>
        <p:txBody>
          <a:bodyPr wrap="square" rtlCol="0">
            <a:spAutoFit/>
          </a:bodyPr>
          <a:lstStyle/>
          <a:p>
            <a:r>
              <a:rPr lang="en-GB" sz="2000" b="1" dirty="0">
                <a:latin typeface="Arial" pitchFamily="34" charset="0"/>
                <a:cs typeface="Arial" pitchFamily="34" charset="0"/>
              </a:rPr>
              <a:t>4</a:t>
            </a:r>
            <a:r>
              <a:rPr lang="en-GB" sz="2000" b="1" i="1" dirty="0">
                <a:latin typeface="Arial" pitchFamily="34" charset="0"/>
                <a:cs typeface="Arial" pitchFamily="34" charset="0"/>
              </a:rPr>
              <a:t>x</a:t>
            </a:r>
            <a:r>
              <a:rPr lang="en-GB" sz="2000" b="1" dirty="0">
                <a:latin typeface="Arial" pitchFamily="34" charset="0"/>
                <a:cs typeface="Arial" pitchFamily="34" charset="0"/>
              </a:rPr>
              <a:t>  +  2</a:t>
            </a:r>
            <a:r>
              <a:rPr lang="en-GB" sz="2000" b="1" i="1" dirty="0">
                <a:latin typeface="Arial" pitchFamily="34" charset="0"/>
                <a:cs typeface="Arial" pitchFamily="34" charset="0"/>
              </a:rPr>
              <a:t>y</a:t>
            </a:r>
            <a:r>
              <a:rPr lang="en-GB" sz="2000" b="1" dirty="0">
                <a:latin typeface="Arial" pitchFamily="34" charset="0"/>
                <a:cs typeface="Arial" pitchFamily="34" charset="0"/>
              </a:rPr>
              <a:t>   =   20</a:t>
            </a:r>
          </a:p>
        </p:txBody>
      </p:sp>
      <p:grpSp>
        <p:nvGrpSpPr>
          <p:cNvPr id="16" name="Group 15">
            <a:extLst>
              <a:ext uri="{FF2B5EF4-FFF2-40B4-BE49-F238E27FC236}">
                <a16:creationId xmlns:a16="http://schemas.microsoft.com/office/drawing/2014/main" id="{A83E95DC-120E-4DC6-85A9-5B16CE026D81}"/>
              </a:ext>
            </a:extLst>
          </p:cNvPr>
          <p:cNvGrpSpPr/>
          <p:nvPr/>
        </p:nvGrpSpPr>
        <p:grpSpPr>
          <a:xfrm>
            <a:off x="5605572" y="1552469"/>
            <a:ext cx="3372591" cy="318155"/>
            <a:chOff x="5474525" y="1938441"/>
            <a:chExt cx="3372591" cy="391879"/>
          </a:xfrm>
        </p:grpSpPr>
        <p:sp>
          <p:nvSpPr>
            <p:cNvPr id="17" name="Rounded Rectangle 219">
              <a:extLst>
                <a:ext uri="{FF2B5EF4-FFF2-40B4-BE49-F238E27FC236}">
                  <a16:creationId xmlns:a16="http://schemas.microsoft.com/office/drawing/2014/main" id="{F40B5FDB-2B7B-4825-A562-771B8788D3AB}"/>
                </a:ext>
              </a:extLst>
            </p:cNvPr>
            <p:cNvSpPr/>
            <p:nvPr/>
          </p:nvSpPr>
          <p:spPr>
            <a:xfrm>
              <a:off x="5474525" y="1938441"/>
              <a:ext cx="3372591" cy="39187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18" name="TextBox 17">
              <a:extLst>
                <a:ext uri="{FF2B5EF4-FFF2-40B4-BE49-F238E27FC236}">
                  <a16:creationId xmlns:a16="http://schemas.microsoft.com/office/drawing/2014/main" id="{C34BBF08-54ED-447A-9AF7-7D3B868D8F2D}"/>
                </a:ext>
              </a:extLst>
            </p:cNvPr>
            <p:cNvSpPr txBox="1"/>
            <p:nvPr/>
          </p:nvSpPr>
          <p:spPr>
            <a:xfrm>
              <a:off x="5594268" y="1963787"/>
              <a:ext cx="3146960" cy="341186"/>
            </a:xfrm>
            <a:prstGeom prst="rect">
              <a:avLst/>
            </a:prstGeom>
            <a:noFill/>
          </p:spPr>
          <p:txBody>
            <a:bodyPr wrap="square" rtlCol="0">
              <a:spAutoFit/>
            </a:bodyPr>
            <a:lstStyle/>
            <a:p>
              <a:pPr algn="ctr"/>
              <a:r>
                <a:rPr lang="en-GB" sz="1200" b="1" dirty="0">
                  <a:latin typeface="Arial" pitchFamily="34" charset="0"/>
                  <a:cs typeface="Arial" pitchFamily="34" charset="0"/>
                </a:rPr>
                <a:t>First we label the equations  (1) and (2)</a:t>
              </a:r>
              <a:endParaRPr lang="en-GB" sz="1200" b="1" i="1" dirty="0">
                <a:latin typeface="Arial" pitchFamily="34" charset="0"/>
                <a:cs typeface="Arial" pitchFamily="34" charset="0"/>
              </a:endParaRPr>
            </a:p>
          </p:txBody>
        </p:sp>
      </p:grpSp>
      <p:cxnSp>
        <p:nvCxnSpPr>
          <p:cNvPr id="19" name="Straight Connector 18">
            <a:extLst>
              <a:ext uri="{FF2B5EF4-FFF2-40B4-BE49-F238E27FC236}">
                <a16:creationId xmlns:a16="http://schemas.microsoft.com/office/drawing/2014/main" id="{B68978F0-1033-404E-99CD-2BA1B7C82EEC}"/>
              </a:ext>
            </a:extLst>
          </p:cNvPr>
          <p:cNvCxnSpPr/>
          <p:nvPr/>
        </p:nvCxnSpPr>
        <p:spPr>
          <a:xfrm>
            <a:off x="904618" y="2589326"/>
            <a:ext cx="26363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A53C3D2-AD04-49DC-8884-4F4B9D3D99BC}"/>
              </a:ext>
            </a:extLst>
          </p:cNvPr>
          <p:cNvSpPr txBox="1"/>
          <p:nvPr/>
        </p:nvSpPr>
        <p:spPr>
          <a:xfrm>
            <a:off x="3746901" y="1825167"/>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21" name="TextBox 20">
            <a:extLst>
              <a:ext uri="{FF2B5EF4-FFF2-40B4-BE49-F238E27FC236}">
                <a16:creationId xmlns:a16="http://schemas.microsoft.com/office/drawing/2014/main" id="{0907C526-2332-4536-A119-31D75E55AE34}"/>
              </a:ext>
            </a:extLst>
          </p:cNvPr>
          <p:cNvSpPr txBox="1"/>
          <p:nvPr/>
        </p:nvSpPr>
        <p:spPr>
          <a:xfrm>
            <a:off x="3746901" y="2167576"/>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(2)</a:t>
            </a:r>
          </a:p>
        </p:txBody>
      </p:sp>
      <p:grpSp>
        <p:nvGrpSpPr>
          <p:cNvPr id="22" name="Group 21">
            <a:extLst>
              <a:ext uri="{FF2B5EF4-FFF2-40B4-BE49-F238E27FC236}">
                <a16:creationId xmlns:a16="http://schemas.microsoft.com/office/drawing/2014/main" id="{42A4E469-52DC-4EEF-B300-0671E99BAC89}"/>
              </a:ext>
            </a:extLst>
          </p:cNvPr>
          <p:cNvGrpSpPr/>
          <p:nvPr/>
        </p:nvGrpSpPr>
        <p:grpSpPr>
          <a:xfrm>
            <a:off x="5605572" y="1986049"/>
            <a:ext cx="3372591" cy="461665"/>
            <a:chOff x="5474525" y="1996717"/>
            <a:chExt cx="3372591" cy="699811"/>
          </a:xfrm>
        </p:grpSpPr>
        <p:sp>
          <p:nvSpPr>
            <p:cNvPr id="23" name="Rounded Rectangle 251">
              <a:extLst>
                <a:ext uri="{FF2B5EF4-FFF2-40B4-BE49-F238E27FC236}">
                  <a16:creationId xmlns:a16="http://schemas.microsoft.com/office/drawing/2014/main" id="{52CFF681-1AFB-4985-B1DA-B790EB4E7CEA}"/>
                </a:ext>
              </a:extLst>
            </p:cNvPr>
            <p:cNvSpPr/>
            <p:nvPr/>
          </p:nvSpPr>
          <p:spPr>
            <a:xfrm>
              <a:off x="5474525" y="2010227"/>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4" name="TextBox 23">
              <a:extLst>
                <a:ext uri="{FF2B5EF4-FFF2-40B4-BE49-F238E27FC236}">
                  <a16:creationId xmlns:a16="http://schemas.microsoft.com/office/drawing/2014/main" id="{5A067A5E-3F8B-4901-9797-DEAE6854E90F}"/>
                </a:ext>
              </a:extLst>
            </p:cNvPr>
            <p:cNvSpPr txBox="1"/>
            <p:nvPr/>
          </p:nvSpPr>
          <p:spPr>
            <a:xfrm>
              <a:off x="5605153" y="1996717"/>
              <a:ext cx="3111335" cy="699811"/>
            </a:xfrm>
            <a:prstGeom prst="rect">
              <a:avLst/>
            </a:prstGeom>
            <a:noFill/>
          </p:spPr>
          <p:txBody>
            <a:bodyPr wrap="square" rtlCol="0">
              <a:spAutoFit/>
            </a:bodyPr>
            <a:lstStyle/>
            <a:p>
              <a:pPr algn="ctr"/>
              <a:r>
                <a:rPr lang="en-GB" sz="1200" b="1" dirty="0">
                  <a:latin typeface="Arial" pitchFamily="34" charset="0"/>
                  <a:cs typeface="Arial" pitchFamily="34" charset="0"/>
                </a:rPr>
                <a:t>Now we will make the numbers in front of </a:t>
              </a:r>
              <a:r>
                <a:rPr lang="en-GB" sz="1200" b="1" i="1" dirty="0">
                  <a:latin typeface="Arial" pitchFamily="34" charset="0"/>
                  <a:cs typeface="Arial" pitchFamily="34" charset="0"/>
                </a:rPr>
                <a:t>y</a:t>
              </a:r>
              <a:r>
                <a:rPr lang="en-GB" sz="1200" b="1" dirty="0">
                  <a:latin typeface="Arial" pitchFamily="34" charset="0"/>
                  <a:cs typeface="Arial" pitchFamily="34" charset="0"/>
                </a:rPr>
                <a:t> the same in both equations.</a:t>
              </a:r>
              <a:endParaRPr lang="en-GB" sz="1200" b="1" i="1" dirty="0">
                <a:latin typeface="Arial" pitchFamily="34" charset="0"/>
                <a:cs typeface="Arial" pitchFamily="34" charset="0"/>
              </a:endParaRPr>
            </a:p>
          </p:txBody>
        </p:sp>
      </p:grpSp>
      <p:grpSp>
        <p:nvGrpSpPr>
          <p:cNvPr id="26" name="Group 25">
            <a:extLst>
              <a:ext uri="{FF2B5EF4-FFF2-40B4-BE49-F238E27FC236}">
                <a16:creationId xmlns:a16="http://schemas.microsoft.com/office/drawing/2014/main" id="{01B2A540-971B-4160-AC59-4B9CE832B049}"/>
              </a:ext>
            </a:extLst>
          </p:cNvPr>
          <p:cNvGrpSpPr/>
          <p:nvPr/>
        </p:nvGrpSpPr>
        <p:grpSpPr>
          <a:xfrm>
            <a:off x="5605572" y="2563073"/>
            <a:ext cx="3372591" cy="728541"/>
            <a:chOff x="5474525" y="1951939"/>
            <a:chExt cx="3372591" cy="870848"/>
          </a:xfrm>
        </p:grpSpPr>
        <p:sp>
          <p:nvSpPr>
            <p:cNvPr id="27" name="Rounded Rectangle 262">
              <a:extLst>
                <a:ext uri="{FF2B5EF4-FFF2-40B4-BE49-F238E27FC236}">
                  <a16:creationId xmlns:a16="http://schemas.microsoft.com/office/drawing/2014/main" id="{F5DEF7E6-814D-4C69-9E25-0A52CABEB9A3}"/>
                </a:ext>
              </a:extLst>
            </p:cNvPr>
            <p:cNvSpPr/>
            <p:nvPr/>
          </p:nvSpPr>
          <p:spPr>
            <a:xfrm>
              <a:off x="5474525" y="1951939"/>
              <a:ext cx="3372591" cy="870848"/>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8" name="TextBox 27">
              <a:extLst>
                <a:ext uri="{FF2B5EF4-FFF2-40B4-BE49-F238E27FC236}">
                  <a16:creationId xmlns:a16="http://schemas.microsoft.com/office/drawing/2014/main" id="{80C6043E-F340-4572-9F26-44701F96ED79}"/>
                </a:ext>
              </a:extLst>
            </p:cNvPr>
            <p:cNvSpPr txBox="1"/>
            <p:nvPr/>
          </p:nvSpPr>
          <p:spPr>
            <a:xfrm>
              <a:off x="5605153" y="2001073"/>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To do this, first we multiply every term in equation (1) by </a:t>
              </a:r>
              <a:r>
                <a:rPr lang="en-GB" sz="1200" b="1" dirty="0">
                  <a:solidFill>
                    <a:srgbClr val="C00000"/>
                  </a:solidFill>
                  <a:latin typeface="Arial" pitchFamily="34" charset="0"/>
                  <a:cs typeface="Arial" pitchFamily="34" charset="0"/>
                </a:rPr>
                <a:t>2</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2).</a:t>
              </a:r>
              <a:endParaRPr lang="en-GB" sz="1200" b="1" i="1" dirty="0">
                <a:latin typeface="Arial" pitchFamily="34" charset="0"/>
                <a:cs typeface="Arial" pitchFamily="34" charset="0"/>
              </a:endParaRPr>
            </a:p>
          </p:txBody>
        </p:sp>
      </p:grpSp>
      <p:sp>
        <p:nvSpPr>
          <p:cNvPr id="29" name="TextBox 28">
            <a:extLst>
              <a:ext uri="{FF2B5EF4-FFF2-40B4-BE49-F238E27FC236}">
                <a16:creationId xmlns:a16="http://schemas.microsoft.com/office/drawing/2014/main" id="{FEB6543D-E614-4434-8C7D-AF08B3603194}"/>
              </a:ext>
            </a:extLst>
          </p:cNvPr>
          <p:cNvSpPr txBox="1"/>
          <p:nvPr/>
        </p:nvSpPr>
        <p:spPr>
          <a:xfrm>
            <a:off x="903748" y="2616467"/>
            <a:ext cx="3062736" cy="400110"/>
          </a:xfrm>
          <a:prstGeom prst="rect">
            <a:avLst/>
          </a:prstGeom>
          <a:noFill/>
        </p:spPr>
        <p:txBody>
          <a:bodyPr wrap="square" rtlCol="0">
            <a:spAutoFit/>
          </a:bodyPr>
          <a:lstStyle/>
          <a:p>
            <a:r>
              <a:rPr lang="en-GB" sz="2000" b="1" dirty="0">
                <a:latin typeface="Arial" pitchFamily="34" charset="0"/>
                <a:cs typeface="Arial" pitchFamily="34" charset="0"/>
              </a:rPr>
              <a:t>   6</a:t>
            </a:r>
            <a:r>
              <a:rPr lang="en-GB" sz="2000" b="1" i="1" dirty="0">
                <a:latin typeface="Arial" pitchFamily="34" charset="0"/>
                <a:cs typeface="Arial" pitchFamily="34" charset="0"/>
              </a:rPr>
              <a:t>x</a:t>
            </a:r>
            <a:r>
              <a:rPr lang="en-GB" sz="2000" b="1" dirty="0">
                <a:latin typeface="Arial" pitchFamily="34" charset="0"/>
                <a:cs typeface="Arial" pitchFamily="34" charset="0"/>
              </a:rPr>
              <a:t>  +  10</a:t>
            </a:r>
            <a:r>
              <a:rPr lang="en-GB" sz="2000" b="1" i="1" dirty="0">
                <a:latin typeface="Arial" pitchFamily="34" charset="0"/>
                <a:cs typeface="Arial" pitchFamily="34" charset="0"/>
              </a:rPr>
              <a:t>y</a:t>
            </a:r>
            <a:r>
              <a:rPr lang="en-GB" sz="2000" b="1" dirty="0">
                <a:latin typeface="Arial" pitchFamily="34" charset="0"/>
                <a:cs typeface="Arial" pitchFamily="34" charset="0"/>
              </a:rPr>
              <a:t>   =      72</a:t>
            </a:r>
          </a:p>
        </p:txBody>
      </p:sp>
      <p:sp>
        <p:nvSpPr>
          <p:cNvPr id="30" name="TextBox 29">
            <a:extLst>
              <a:ext uri="{FF2B5EF4-FFF2-40B4-BE49-F238E27FC236}">
                <a16:creationId xmlns:a16="http://schemas.microsoft.com/office/drawing/2014/main" id="{C4757BA1-E86E-4943-8FCC-B9E86E4A515C}"/>
              </a:ext>
            </a:extLst>
          </p:cNvPr>
          <p:cNvSpPr txBox="1"/>
          <p:nvPr/>
        </p:nvSpPr>
        <p:spPr>
          <a:xfrm>
            <a:off x="949270" y="2958876"/>
            <a:ext cx="3062736" cy="400110"/>
          </a:xfrm>
          <a:prstGeom prst="rect">
            <a:avLst/>
          </a:prstGeom>
          <a:noFill/>
        </p:spPr>
        <p:txBody>
          <a:bodyPr wrap="square" rtlCol="0">
            <a:spAutoFit/>
          </a:bodyPr>
          <a:lstStyle/>
          <a:p>
            <a:r>
              <a:rPr lang="en-GB" sz="2000" b="1" dirty="0">
                <a:latin typeface="Arial" pitchFamily="34" charset="0"/>
                <a:cs typeface="Arial" pitchFamily="34" charset="0"/>
              </a:rPr>
              <a:t>20</a:t>
            </a:r>
            <a:r>
              <a:rPr lang="en-GB" sz="2000" b="1" i="1" dirty="0">
                <a:latin typeface="Arial" pitchFamily="34" charset="0"/>
                <a:cs typeface="Arial" pitchFamily="34" charset="0"/>
              </a:rPr>
              <a:t>x</a:t>
            </a:r>
            <a:r>
              <a:rPr lang="en-GB" sz="2000" b="1" dirty="0">
                <a:latin typeface="Arial" pitchFamily="34" charset="0"/>
                <a:cs typeface="Arial" pitchFamily="34" charset="0"/>
              </a:rPr>
              <a:t>  +  10</a:t>
            </a:r>
            <a:r>
              <a:rPr lang="en-GB" sz="2000" b="1" i="1" dirty="0">
                <a:latin typeface="Arial" pitchFamily="34" charset="0"/>
                <a:cs typeface="Arial" pitchFamily="34" charset="0"/>
              </a:rPr>
              <a:t>y</a:t>
            </a:r>
            <a:r>
              <a:rPr lang="en-GB" sz="2000" b="1" dirty="0">
                <a:latin typeface="Arial" pitchFamily="34" charset="0"/>
                <a:cs typeface="Arial" pitchFamily="34" charset="0"/>
              </a:rPr>
              <a:t>   =   100</a:t>
            </a:r>
          </a:p>
        </p:txBody>
      </p:sp>
      <p:cxnSp>
        <p:nvCxnSpPr>
          <p:cNvPr id="31" name="Straight Connector 30">
            <a:extLst>
              <a:ext uri="{FF2B5EF4-FFF2-40B4-BE49-F238E27FC236}">
                <a16:creationId xmlns:a16="http://schemas.microsoft.com/office/drawing/2014/main" id="{C710F796-E674-413B-889C-BA8999F94337}"/>
              </a:ext>
            </a:extLst>
          </p:cNvPr>
          <p:cNvCxnSpPr/>
          <p:nvPr/>
        </p:nvCxnSpPr>
        <p:spPr>
          <a:xfrm>
            <a:off x="914518" y="3377872"/>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CA42BB9-38DE-4D08-A190-6D5E61947123}"/>
              </a:ext>
            </a:extLst>
          </p:cNvPr>
          <p:cNvSpPr txBox="1"/>
          <p:nvPr/>
        </p:nvSpPr>
        <p:spPr>
          <a:xfrm>
            <a:off x="3746901" y="2616467"/>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C00000"/>
                </a:solidFill>
                <a:latin typeface="Arial" pitchFamily="34" charset="0"/>
                <a:cs typeface="Arial" pitchFamily="34" charset="0"/>
              </a:rPr>
              <a:t>2</a:t>
            </a:r>
            <a:r>
              <a:rPr lang="en-GB" sz="2000" b="1" dirty="0">
                <a:solidFill>
                  <a:srgbClr val="793905"/>
                </a:solidFill>
                <a:latin typeface="Arial" pitchFamily="34" charset="0"/>
                <a:cs typeface="Arial" pitchFamily="34" charset="0"/>
              </a:rPr>
              <a:t> x (1)</a:t>
            </a:r>
          </a:p>
        </p:txBody>
      </p:sp>
      <p:sp>
        <p:nvSpPr>
          <p:cNvPr id="33" name="TextBox 32">
            <a:extLst>
              <a:ext uri="{FF2B5EF4-FFF2-40B4-BE49-F238E27FC236}">
                <a16:creationId xmlns:a16="http://schemas.microsoft.com/office/drawing/2014/main" id="{E36B2F26-7CC8-488C-B392-ABEF8C0F6B9F}"/>
              </a:ext>
            </a:extLst>
          </p:cNvPr>
          <p:cNvSpPr txBox="1"/>
          <p:nvPr/>
        </p:nvSpPr>
        <p:spPr>
          <a:xfrm>
            <a:off x="3746901" y="2958876"/>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7030A0"/>
                </a:solidFill>
                <a:latin typeface="Arial" pitchFamily="34" charset="0"/>
                <a:cs typeface="Arial" pitchFamily="34" charset="0"/>
              </a:rPr>
              <a:t>5</a:t>
            </a:r>
            <a:r>
              <a:rPr lang="en-GB" sz="2000" b="1" dirty="0">
                <a:solidFill>
                  <a:srgbClr val="793905"/>
                </a:solidFill>
                <a:latin typeface="Arial" pitchFamily="34" charset="0"/>
                <a:cs typeface="Arial" pitchFamily="34" charset="0"/>
              </a:rPr>
              <a:t> x (2)</a:t>
            </a:r>
          </a:p>
        </p:txBody>
      </p:sp>
      <p:grpSp>
        <p:nvGrpSpPr>
          <p:cNvPr id="34" name="Group 33">
            <a:extLst>
              <a:ext uri="{FF2B5EF4-FFF2-40B4-BE49-F238E27FC236}">
                <a16:creationId xmlns:a16="http://schemas.microsoft.com/office/drawing/2014/main" id="{58E492F2-7CA3-4201-9DF0-4469DE91D51F}"/>
              </a:ext>
            </a:extLst>
          </p:cNvPr>
          <p:cNvGrpSpPr/>
          <p:nvPr/>
        </p:nvGrpSpPr>
        <p:grpSpPr>
          <a:xfrm>
            <a:off x="5605572" y="3383821"/>
            <a:ext cx="3372591" cy="728542"/>
            <a:chOff x="5474525" y="1951942"/>
            <a:chExt cx="3372591" cy="870849"/>
          </a:xfrm>
        </p:grpSpPr>
        <p:sp>
          <p:nvSpPr>
            <p:cNvPr id="35" name="Rounded Rectangle 270">
              <a:extLst>
                <a:ext uri="{FF2B5EF4-FFF2-40B4-BE49-F238E27FC236}">
                  <a16:creationId xmlns:a16="http://schemas.microsoft.com/office/drawing/2014/main" id="{3872E495-81E6-4F48-88FC-6E5523459FBE}"/>
                </a:ext>
              </a:extLst>
            </p:cNvPr>
            <p:cNvSpPr/>
            <p:nvPr/>
          </p:nvSpPr>
          <p:spPr>
            <a:xfrm>
              <a:off x="5474525" y="1951942"/>
              <a:ext cx="3372591" cy="87084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6" name="TextBox 35">
              <a:extLst>
                <a:ext uri="{FF2B5EF4-FFF2-40B4-BE49-F238E27FC236}">
                  <a16:creationId xmlns:a16="http://schemas.microsoft.com/office/drawing/2014/main" id="{C50E6938-23C1-4071-A174-59AD97D9ED1F}"/>
                </a:ext>
              </a:extLst>
            </p:cNvPr>
            <p:cNvSpPr txBox="1"/>
            <p:nvPr/>
          </p:nvSpPr>
          <p:spPr>
            <a:xfrm>
              <a:off x="5605153" y="2001077"/>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Next we multiply every term in equation (2) by </a:t>
              </a:r>
              <a:r>
                <a:rPr lang="en-GB" sz="1200" b="1" dirty="0">
                  <a:solidFill>
                    <a:srgbClr val="7030A0"/>
                  </a:solidFill>
                  <a:latin typeface="Arial" pitchFamily="34" charset="0"/>
                  <a:cs typeface="Arial" pitchFamily="34" charset="0"/>
                </a:rPr>
                <a:t>5</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1).</a:t>
              </a:r>
              <a:endParaRPr lang="en-GB" sz="1200" b="1" i="1" dirty="0">
                <a:latin typeface="Arial" pitchFamily="34" charset="0"/>
                <a:cs typeface="Arial" pitchFamily="34" charset="0"/>
              </a:endParaRPr>
            </a:p>
          </p:txBody>
        </p:sp>
      </p:grpSp>
      <p:sp>
        <p:nvSpPr>
          <p:cNvPr id="37" name="TextBox 36">
            <a:extLst>
              <a:ext uri="{FF2B5EF4-FFF2-40B4-BE49-F238E27FC236}">
                <a16:creationId xmlns:a16="http://schemas.microsoft.com/office/drawing/2014/main" id="{9E24C910-9B05-4126-BD46-DAB9BCB8F2D1}"/>
              </a:ext>
            </a:extLst>
          </p:cNvPr>
          <p:cNvSpPr txBox="1"/>
          <p:nvPr/>
        </p:nvSpPr>
        <p:spPr>
          <a:xfrm>
            <a:off x="923540" y="3387011"/>
            <a:ext cx="919231" cy="400110"/>
          </a:xfrm>
          <a:prstGeom prst="rect">
            <a:avLst/>
          </a:prstGeom>
          <a:noFill/>
        </p:spPr>
        <p:txBody>
          <a:bodyPr wrap="square" rtlCol="0">
            <a:spAutoFit/>
          </a:bodyPr>
          <a:lstStyle/>
          <a:p>
            <a:r>
              <a:rPr lang="en-GB" sz="2000" b="1" dirty="0">
                <a:latin typeface="Arial" pitchFamily="34" charset="0"/>
                <a:cs typeface="Arial" pitchFamily="34" charset="0"/>
              </a:rPr>
              <a:t>-14</a:t>
            </a:r>
            <a:r>
              <a:rPr lang="en-GB" sz="2000" b="1" i="1" dirty="0">
                <a:latin typeface="Arial" pitchFamily="34" charset="0"/>
                <a:cs typeface="Arial" pitchFamily="34" charset="0"/>
              </a:rPr>
              <a:t>x</a:t>
            </a:r>
          </a:p>
        </p:txBody>
      </p:sp>
      <p:sp>
        <p:nvSpPr>
          <p:cNvPr id="38" name="TextBox 37">
            <a:extLst>
              <a:ext uri="{FF2B5EF4-FFF2-40B4-BE49-F238E27FC236}">
                <a16:creationId xmlns:a16="http://schemas.microsoft.com/office/drawing/2014/main" id="{AB25F0C2-1946-4C49-A2C5-7FFBC437770B}"/>
              </a:ext>
            </a:extLst>
          </p:cNvPr>
          <p:cNvSpPr txBox="1"/>
          <p:nvPr/>
        </p:nvSpPr>
        <p:spPr>
          <a:xfrm>
            <a:off x="2352785" y="3387011"/>
            <a:ext cx="1360597" cy="400110"/>
          </a:xfrm>
          <a:prstGeom prst="rect">
            <a:avLst/>
          </a:prstGeom>
          <a:noFill/>
        </p:spPr>
        <p:txBody>
          <a:bodyPr wrap="square" rtlCol="0">
            <a:spAutoFit/>
          </a:bodyPr>
          <a:lstStyle/>
          <a:p>
            <a:r>
              <a:rPr lang="en-GB" sz="2000" b="1" dirty="0">
                <a:latin typeface="Arial" pitchFamily="34" charset="0"/>
                <a:cs typeface="Arial" pitchFamily="34" charset="0"/>
              </a:rPr>
              <a:t>=   -28</a:t>
            </a:r>
          </a:p>
        </p:txBody>
      </p:sp>
      <p:grpSp>
        <p:nvGrpSpPr>
          <p:cNvPr id="39" name="Group 38">
            <a:extLst>
              <a:ext uri="{FF2B5EF4-FFF2-40B4-BE49-F238E27FC236}">
                <a16:creationId xmlns:a16="http://schemas.microsoft.com/office/drawing/2014/main" id="{1A6CDBE2-D1BD-41DA-9FED-7FFA04711DC7}"/>
              </a:ext>
            </a:extLst>
          </p:cNvPr>
          <p:cNvGrpSpPr/>
          <p:nvPr/>
        </p:nvGrpSpPr>
        <p:grpSpPr>
          <a:xfrm>
            <a:off x="5764126" y="4242375"/>
            <a:ext cx="3055482" cy="461665"/>
            <a:chOff x="5474525" y="2011153"/>
            <a:chExt cx="3372591" cy="699809"/>
          </a:xfrm>
        </p:grpSpPr>
        <p:sp>
          <p:nvSpPr>
            <p:cNvPr id="40" name="Rounded Rectangle 432">
              <a:extLst>
                <a:ext uri="{FF2B5EF4-FFF2-40B4-BE49-F238E27FC236}">
                  <a16:creationId xmlns:a16="http://schemas.microsoft.com/office/drawing/2014/main" id="{190764BC-0D0A-4E60-9207-ADE5339C4899}"/>
                </a:ext>
              </a:extLst>
            </p:cNvPr>
            <p:cNvSpPr/>
            <p:nvPr/>
          </p:nvSpPr>
          <p:spPr>
            <a:xfrm>
              <a:off x="5474525" y="2025460"/>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1" name="TextBox 40">
              <a:extLst>
                <a:ext uri="{FF2B5EF4-FFF2-40B4-BE49-F238E27FC236}">
                  <a16:creationId xmlns:a16="http://schemas.microsoft.com/office/drawing/2014/main" id="{B70A9EB6-A524-435B-B76A-57313A2C492F}"/>
                </a:ext>
              </a:extLst>
            </p:cNvPr>
            <p:cNvSpPr txBox="1"/>
            <p:nvPr/>
          </p:nvSpPr>
          <p:spPr>
            <a:xfrm>
              <a:off x="5594059" y="2011153"/>
              <a:ext cx="3133523" cy="699809"/>
            </a:xfrm>
            <a:prstGeom prst="rect">
              <a:avLst/>
            </a:prstGeom>
            <a:noFill/>
          </p:spPr>
          <p:txBody>
            <a:bodyPr wrap="square" rtlCol="0">
              <a:spAutoFit/>
            </a:bodyPr>
            <a:lstStyle/>
            <a:p>
              <a:pPr algn="ctr"/>
              <a:r>
                <a:rPr lang="en-GB" sz="1200" b="1" dirty="0">
                  <a:latin typeface="Arial" pitchFamily="34" charset="0"/>
                  <a:cs typeface="Arial" pitchFamily="34" charset="0"/>
                </a:rPr>
                <a:t>Now we SUBTRACT corresponding terms to eliminate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42" name="Group 41">
            <a:extLst>
              <a:ext uri="{FF2B5EF4-FFF2-40B4-BE49-F238E27FC236}">
                <a16:creationId xmlns:a16="http://schemas.microsoft.com/office/drawing/2014/main" id="{C118EF59-93B8-49F0-8EC8-FCEE62F402E5}"/>
              </a:ext>
            </a:extLst>
          </p:cNvPr>
          <p:cNvGrpSpPr/>
          <p:nvPr/>
        </p:nvGrpSpPr>
        <p:grpSpPr>
          <a:xfrm>
            <a:off x="5764126" y="4824914"/>
            <a:ext cx="3055482" cy="330999"/>
            <a:chOff x="5474525" y="1935097"/>
            <a:chExt cx="3372591" cy="431236"/>
          </a:xfrm>
        </p:grpSpPr>
        <p:sp>
          <p:nvSpPr>
            <p:cNvPr id="43" name="Rounded Rectangle 435">
              <a:extLst>
                <a:ext uri="{FF2B5EF4-FFF2-40B4-BE49-F238E27FC236}">
                  <a16:creationId xmlns:a16="http://schemas.microsoft.com/office/drawing/2014/main" id="{0D50A07C-06FE-4BC2-9448-D6590C510A43}"/>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4" name="TextBox 43">
              <a:extLst>
                <a:ext uri="{FF2B5EF4-FFF2-40B4-BE49-F238E27FC236}">
                  <a16:creationId xmlns:a16="http://schemas.microsoft.com/office/drawing/2014/main" id="{CF1EA266-BD51-468C-964E-4073CCCC9926}"/>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Then divide both sides by -14.</a:t>
              </a:r>
              <a:endParaRPr lang="en-GB" sz="1200" b="1" i="1" dirty="0">
                <a:latin typeface="Arial" pitchFamily="34" charset="0"/>
                <a:cs typeface="Arial" pitchFamily="34" charset="0"/>
              </a:endParaRPr>
            </a:p>
          </p:txBody>
        </p:sp>
      </p:grpSp>
      <p:sp>
        <p:nvSpPr>
          <p:cNvPr id="45" name="TextBox 44">
            <a:extLst>
              <a:ext uri="{FF2B5EF4-FFF2-40B4-BE49-F238E27FC236}">
                <a16:creationId xmlns:a16="http://schemas.microsoft.com/office/drawing/2014/main" id="{6B45C6AA-D9B0-44B2-AD43-1DD988391F31}"/>
              </a:ext>
            </a:extLst>
          </p:cNvPr>
          <p:cNvSpPr txBox="1"/>
          <p:nvPr/>
        </p:nvSpPr>
        <p:spPr>
          <a:xfrm>
            <a:off x="1289697" y="3693797"/>
            <a:ext cx="2697684" cy="400110"/>
          </a:xfrm>
          <a:prstGeom prst="rect">
            <a:avLst/>
          </a:prstGeom>
          <a:noFill/>
        </p:spPr>
        <p:txBody>
          <a:bodyPr wrap="square" rtlCol="0">
            <a:spAutoFit/>
          </a:bodyPr>
          <a:lstStyle/>
          <a:p>
            <a:r>
              <a:rPr lang="en-GB" sz="2000" b="1" i="1" dirty="0">
                <a:latin typeface="Arial" pitchFamily="34" charset="0"/>
                <a:cs typeface="Arial" pitchFamily="34" charset="0"/>
              </a:rPr>
              <a:t>x</a:t>
            </a:r>
            <a:r>
              <a:rPr lang="en-GB" sz="2000" b="1" dirty="0">
                <a:latin typeface="Arial" pitchFamily="34" charset="0"/>
                <a:cs typeface="Arial" pitchFamily="34" charset="0"/>
              </a:rPr>
              <a:t>    =    -28  ÷  -14</a:t>
            </a:r>
          </a:p>
        </p:txBody>
      </p:sp>
      <p:cxnSp>
        <p:nvCxnSpPr>
          <p:cNvPr id="46" name="Straight Connector 45">
            <a:extLst>
              <a:ext uri="{FF2B5EF4-FFF2-40B4-BE49-F238E27FC236}">
                <a16:creationId xmlns:a16="http://schemas.microsoft.com/office/drawing/2014/main" id="{81DFBA5F-2160-4D59-A174-613EAE9316EF}"/>
              </a:ext>
            </a:extLst>
          </p:cNvPr>
          <p:cNvCxnSpPr/>
          <p:nvPr/>
        </p:nvCxnSpPr>
        <p:spPr>
          <a:xfrm>
            <a:off x="914518" y="4650668"/>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4923B49E-AE0F-4BFF-864E-2282BC6AA7A0}"/>
              </a:ext>
            </a:extLst>
          </p:cNvPr>
          <p:cNvGrpSpPr/>
          <p:nvPr/>
        </p:nvGrpSpPr>
        <p:grpSpPr>
          <a:xfrm>
            <a:off x="5764126" y="5237997"/>
            <a:ext cx="3055482" cy="330999"/>
            <a:chOff x="5474525" y="1935097"/>
            <a:chExt cx="3372591" cy="431236"/>
          </a:xfrm>
        </p:grpSpPr>
        <p:sp>
          <p:nvSpPr>
            <p:cNvPr id="48" name="Rounded Rectangle 441">
              <a:extLst>
                <a:ext uri="{FF2B5EF4-FFF2-40B4-BE49-F238E27FC236}">
                  <a16:creationId xmlns:a16="http://schemas.microsoft.com/office/drawing/2014/main" id="{CD7923D7-57E4-40E7-87C7-FB77DF2F4D52}"/>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9" name="TextBox 48">
              <a:extLst>
                <a:ext uri="{FF2B5EF4-FFF2-40B4-BE49-F238E27FC236}">
                  <a16:creationId xmlns:a16="http://schemas.microsoft.com/office/drawing/2014/main" id="{E002E1DC-2AAB-42F0-A2A4-DB48777EDE26}"/>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Now substitute for x = </a:t>
              </a:r>
              <a:r>
                <a:rPr lang="en-GB" sz="1200" b="1" dirty="0">
                  <a:solidFill>
                    <a:srgbClr val="C00000"/>
                  </a:solidFill>
                  <a:latin typeface="Arial" pitchFamily="34" charset="0"/>
                  <a:cs typeface="Arial" pitchFamily="34" charset="0"/>
                </a:rPr>
                <a:t>2</a:t>
              </a:r>
              <a:r>
                <a:rPr lang="en-GB" sz="1200" b="1" dirty="0">
                  <a:latin typeface="Arial" pitchFamily="34" charset="0"/>
                  <a:cs typeface="Arial" pitchFamily="34" charset="0"/>
                </a:rPr>
                <a:t> into (1).</a:t>
              </a:r>
              <a:endParaRPr lang="en-GB" sz="1200" b="1" i="1" dirty="0">
                <a:latin typeface="Arial" pitchFamily="34" charset="0"/>
                <a:cs typeface="Arial" pitchFamily="34" charset="0"/>
              </a:endParaRPr>
            </a:p>
          </p:txBody>
        </p:sp>
      </p:grpSp>
      <p:sp>
        <p:nvSpPr>
          <p:cNvPr id="50" name="TextBox 49">
            <a:extLst>
              <a:ext uri="{FF2B5EF4-FFF2-40B4-BE49-F238E27FC236}">
                <a16:creationId xmlns:a16="http://schemas.microsoft.com/office/drawing/2014/main" id="{DC57D3D5-D256-48C4-A409-97C414E93089}"/>
              </a:ext>
            </a:extLst>
          </p:cNvPr>
          <p:cNvSpPr txBox="1"/>
          <p:nvPr/>
        </p:nvSpPr>
        <p:spPr>
          <a:xfrm>
            <a:off x="998747" y="4642736"/>
            <a:ext cx="3062736" cy="400110"/>
          </a:xfrm>
          <a:prstGeom prst="rect">
            <a:avLst/>
          </a:prstGeom>
          <a:noFill/>
        </p:spPr>
        <p:txBody>
          <a:bodyPr wrap="square" rtlCol="0">
            <a:spAutoFit/>
          </a:bodyPr>
          <a:lstStyle/>
          <a:p>
            <a:r>
              <a:rPr lang="en-GB" sz="2000" b="1" dirty="0">
                <a:latin typeface="Arial" pitchFamily="34" charset="0"/>
                <a:cs typeface="Arial" pitchFamily="34" charset="0"/>
              </a:rPr>
              <a:t>3 </a:t>
            </a:r>
            <a:r>
              <a:rPr lang="en-GB" sz="2000" dirty="0">
                <a:latin typeface="Arial" pitchFamily="34" charset="0"/>
                <a:cs typeface="Arial" pitchFamily="34" charset="0"/>
              </a:rPr>
              <a:t>x</a:t>
            </a:r>
            <a:r>
              <a:rPr lang="en-GB" sz="2000" b="1" dirty="0">
                <a:latin typeface="Arial" pitchFamily="34" charset="0"/>
                <a:cs typeface="Arial" pitchFamily="34" charset="0"/>
              </a:rPr>
              <a:t> </a:t>
            </a:r>
            <a:r>
              <a:rPr lang="en-GB" sz="2000" b="1" dirty="0">
                <a:solidFill>
                  <a:srgbClr val="C00000"/>
                </a:solidFill>
                <a:latin typeface="Arial" pitchFamily="34" charset="0"/>
                <a:cs typeface="Arial" pitchFamily="34" charset="0"/>
              </a:rPr>
              <a:t>2</a:t>
            </a:r>
            <a:r>
              <a:rPr lang="en-GB" sz="2000" b="1" dirty="0">
                <a:latin typeface="Arial" pitchFamily="34" charset="0"/>
                <a:cs typeface="Arial" pitchFamily="34" charset="0"/>
              </a:rPr>
              <a:t>  +  5</a:t>
            </a:r>
            <a:r>
              <a:rPr lang="en-GB" sz="2000" b="1" i="1" dirty="0">
                <a:latin typeface="Arial" pitchFamily="34" charset="0"/>
                <a:cs typeface="Arial" pitchFamily="34" charset="0"/>
              </a:rPr>
              <a:t>y</a:t>
            </a:r>
            <a:r>
              <a:rPr lang="en-GB" sz="2000" b="1" dirty="0">
                <a:latin typeface="Arial" pitchFamily="34" charset="0"/>
                <a:cs typeface="Arial" pitchFamily="34" charset="0"/>
              </a:rPr>
              <a:t>   =   36</a:t>
            </a:r>
          </a:p>
        </p:txBody>
      </p:sp>
      <p:sp>
        <p:nvSpPr>
          <p:cNvPr id="51" name="TextBox 50">
            <a:extLst>
              <a:ext uri="{FF2B5EF4-FFF2-40B4-BE49-F238E27FC236}">
                <a16:creationId xmlns:a16="http://schemas.microsoft.com/office/drawing/2014/main" id="{53031A48-E696-47C8-882E-4151DFEADF17}"/>
              </a:ext>
            </a:extLst>
          </p:cNvPr>
          <p:cNvSpPr txBox="1"/>
          <p:nvPr/>
        </p:nvSpPr>
        <p:spPr>
          <a:xfrm>
            <a:off x="3746901" y="4642736"/>
            <a:ext cx="115487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52" name="TextBox 51">
            <a:extLst>
              <a:ext uri="{FF2B5EF4-FFF2-40B4-BE49-F238E27FC236}">
                <a16:creationId xmlns:a16="http://schemas.microsoft.com/office/drawing/2014/main" id="{546C0EBE-C44D-4194-A6FE-815583A365EE}"/>
              </a:ext>
            </a:extLst>
          </p:cNvPr>
          <p:cNvSpPr txBox="1"/>
          <p:nvPr/>
        </p:nvSpPr>
        <p:spPr>
          <a:xfrm>
            <a:off x="1068020" y="4952979"/>
            <a:ext cx="3062736" cy="400110"/>
          </a:xfrm>
          <a:prstGeom prst="rect">
            <a:avLst/>
          </a:prstGeom>
          <a:noFill/>
        </p:spPr>
        <p:txBody>
          <a:bodyPr wrap="square" rtlCol="0">
            <a:spAutoFit/>
          </a:bodyPr>
          <a:lstStyle/>
          <a:p>
            <a:r>
              <a:rPr lang="en-GB" sz="2000" b="1" dirty="0">
                <a:latin typeface="Arial" pitchFamily="34" charset="0"/>
                <a:cs typeface="Arial" pitchFamily="34" charset="0"/>
              </a:rPr>
              <a:t>6  +  5</a:t>
            </a:r>
            <a:r>
              <a:rPr lang="en-GB" sz="2000" b="1" i="1" dirty="0">
                <a:latin typeface="Arial" pitchFamily="34" charset="0"/>
                <a:cs typeface="Arial" pitchFamily="34" charset="0"/>
              </a:rPr>
              <a:t>y</a:t>
            </a:r>
            <a:r>
              <a:rPr lang="en-GB" sz="2000" b="1" dirty="0">
                <a:latin typeface="Arial" pitchFamily="34" charset="0"/>
                <a:cs typeface="Arial" pitchFamily="34" charset="0"/>
              </a:rPr>
              <a:t>   =   36</a:t>
            </a:r>
          </a:p>
        </p:txBody>
      </p:sp>
      <p:grpSp>
        <p:nvGrpSpPr>
          <p:cNvPr id="53" name="Group 52">
            <a:extLst>
              <a:ext uri="{FF2B5EF4-FFF2-40B4-BE49-F238E27FC236}">
                <a16:creationId xmlns:a16="http://schemas.microsoft.com/office/drawing/2014/main" id="{E88A421E-6612-49A4-BDD7-430DAFE55A5D}"/>
              </a:ext>
            </a:extLst>
          </p:cNvPr>
          <p:cNvGrpSpPr/>
          <p:nvPr/>
        </p:nvGrpSpPr>
        <p:grpSpPr>
          <a:xfrm>
            <a:off x="5764126" y="5651080"/>
            <a:ext cx="3055482" cy="330999"/>
            <a:chOff x="5474525" y="1935097"/>
            <a:chExt cx="3372591" cy="431236"/>
          </a:xfrm>
        </p:grpSpPr>
        <p:sp>
          <p:nvSpPr>
            <p:cNvPr id="54" name="Rounded Rectangle 447">
              <a:extLst>
                <a:ext uri="{FF2B5EF4-FFF2-40B4-BE49-F238E27FC236}">
                  <a16:creationId xmlns:a16="http://schemas.microsoft.com/office/drawing/2014/main" id="{DB43D756-A5F8-43E3-82B9-A2268F13934C}"/>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55" name="TextBox 54">
              <a:extLst>
                <a:ext uri="{FF2B5EF4-FFF2-40B4-BE49-F238E27FC236}">
                  <a16:creationId xmlns:a16="http://schemas.microsoft.com/office/drawing/2014/main" id="{ECFDA126-8741-45DF-A204-8F8B908A03D3}"/>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Take 6 from both sides</a:t>
              </a:r>
              <a:endParaRPr lang="en-GB" sz="1200" b="1" i="1" dirty="0">
                <a:latin typeface="Arial" pitchFamily="34" charset="0"/>
                <a:cs typeface="Arial" pitchFamily="34" charset="0"/>
              </a:endParaRPr>
            </a:p>
          </p:txBody>
        </p:sp>
      </p:grpSp>
      <p:sp>
        <p:nvSpPr>
          <p:cNvPr id="56" name="TextBox 55">
            <a:extLst>
              <a:ext uri="{FF2B5EF4-FFF2-40B4-BE49-F238E27FC236}">
                <a16:creationId xmlns:a16="http://schemas.microsoft.com/office/drawing/2014/main" id="{3D834C23-9511-4E58-976E-E6635A5F0653}"/>
              </a:ext>
            </a:extLst>
          </p:cNvPr>
          <p:cNvSpPr txBox="1"/>
          <p:nvPr/>
        </p:nvSpPr>
        <p:spPr>
          <a:xfrm>
            <a:off x="1161044" y="5263222"/>
            <a:ext cx="3062736" cy="400110"/>
          </a:xfrm>
          <a:prstGeom prst="rect">
            <a:avLst/>
          </a:prstGeom>
          <a:noFill/>
        </p:spPr>
        <p:txBody>
          <a:bodyPr wrap="square" rtlCol="0">
            <a:spAutoFit/>
          </a:bodyPr>
          <a:lstStyle/>
          <a:p>
            <a:r>
              <a:rPr lang="en-GB" sz="2000" b="1" dirty="0">
                <a:latin typeface="Arial" pitchFamily="34" charset="0"/>
                <a:cs typeface="Arial" pitchFamily="34" charset="0"/>
              </a:rPr>
              <a:t>5</a:t>
            </a:r>
            <a:r>
              <a:rPr lang="en-GB" sz="2000" b="1" i="1" dirty="0">
                <a:latin typeface="Arial" pitchFamily="34" charset="0"/>
                <a:cs typeface="Arial" pitchFamily="34" charset="0"/>
              </a:rPr>
              <a:t>y</a:t>
            </a:r>
            <a:r>
              <a:rPr lang="en-GB" sz="2000" b="1" dirty="0">
                <a:latin typeface="Arial" pitchFamily="34" charset="0"/>
                <a:cs typeface="Arial" pitchFamily="34" charset="0"/>
              </a:rPr>
              <a:t>   =   30</a:t>
            </a:r>
          </a:p>
        </p:txBody>
      </p:sp>
      <p:sp>
        <p:nvSpPr>
          <p:cNvPr id="57" name="TextBox 56">
            <a:extLst>
              <a:ext uri="{FF2B5EF4-FFF2-40B4-BE49-F238E27FC236}">
                <a16:creationId xmlns:a16="http://schemas.microsoft.com/office/drawing/2014/main" id="{2FE6C31B-63C7-4712-B534-FC77E5930304}"/>
              </a:ext>
            </a:extLst>
          </p:cNvPr>
          <p:cNvSpPr txBox="1"/>
          <p:nvPr/>
        </p:nvSpPr>
        <p:spPr>
          <a:xfrm>
            <a:off x="1242192" y="5573465"/>
            <a:ext cx="3062736" cy="400110"/>
          </a:xfrm>
          <a:prstGeom prst="rect">
            <a:avLst/>
          </a:prstGeom>
          <a:noFill/>
        </p:spPr>
        <p:txBody>
          <a:bodyPr wrap="square" rtlCol="0">
            <a:spAutoFit/>
          </a:bodyPr>
          <a:lstStyle/>
          <a:p>
            <a:r>
              <a:rPr lang="en-GB" sz="2000" b="1" i="1" dirty="0">
                <a:latin typeface="Arial" pitchFamily="34" charset="0"/>
                <a:cs typeface="Arial" pitchFamily="34" charset="0"/>
              </a:rPr>
              <a:t> y</a:t>
            </a:r>
            <a:r>
              <a:rPr lang="en-GB" sz="2000" b="1" dirty="0">
                <a:latin typeface="Arial" pitchFamily="34" charset="0"/>
                <a:cs typeface="Arial" pitchFamily="34" charset="0"/>
              </a:rPr>
              <a:t>   =   30  ÷  5</a:t>
            </a:r>
          </a:p>
        </p:txBody>
      </p:sp>
      <p:grpSp>
        <p:nvGrpSpPr>
          <p:cNvPr id="58" name="Group 57">
            <a:extLst>
              <a:ext uri="{FF2B5EF4-FFF2-40B4-BE49-F238E27FC236}">
                <a16:creationId xmlns:a16="http://schemas.microsoft.com/office/drawing/2014/main" id="{DA790FAD-7D76-4BA9-A344-8894ABF392AF}"/>
              </a:ext>
            </a:extLst>
          </p:cNvPr>
          <p:cNvGrpSpPr/>
          <p:nvPr/>
        </p:nvGrpSpPr>
        <p:grpSpPr>
          <a:xfrm>
            <a:off x="5764126" y="6064164"/>
            <a:ext cx="3055482" cy="330999"/>
            <a:chOff x="5474525" y="1935097"/>
            <a:chExt cx="3372591" cy="431236"/>
          </a:xfrm>
        </p:grpSpPr>
        <p:sp>
          <p:nvSpPr>
            <p:cNvPr id="59" name="Rounded Rectangle 452">
              <a:extLst>
                <a:ext uri="{FF2B5EF4-FFF2-40B4-BE49-F238E27FC236}">
                  <a16:creationId xmlns:a16="http://schemas.microsoft.com/office/drawing/2014/main" id="{9C3E6065-D60C-4389-BB47-D240B14EA966}"/>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60" name="TextBox 59">
              <a:extLst>
                <a:ext uri="{FF2B5EF4-FFF2-40B4-BE49-F238E27FC236}">
                  <a16:creationId xmlns:a16="http://schemas.microsoft.com/office/drawing/2014/main" id="{CB6BBE5A-22EF-4F88-B750-C0CD4637E28C}"/>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Divide both sides by 5 to give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61" name="Group 60">
            <a:extLst>
              <a:ext uri="{FF2B5EF4-FFF2-40B4-BE49-F238E27FC236}">
                <a16:creationId xmlns:a16="http://schemas.microsoft.com/office/drawing/2014/main" id="{0DC74604-BE0B-4924-BD22-FABFDF26989B}"/>
              </a:ext>
            </a:extLst>
          </p:cNvPr>
          <p:cNvGrpSpPr/>
          <p:nvPr/>
        </p:nvGrpSpPr>
        <p:grpSpPr>
          <a:xfrm>
            <a:off x="1025105" y="4115184"/>
            <a:ext cx="1962150" cy="400110"/>
            <a:chOff x="742950" y="3773899"/>
            <a:chExt cx="1962150" cy="400110"/>
          </a:xfrm>
        </p:grpSpPr>
        <p:sp>
          <p:nvSpPr>
            <p:cNvPr id="62" name="Rounded Rectangle 457">
              <a:extLst>
                <a:ext uri="{FF2B5EF4-FFF2-40B4-BE49-F238E27FC236}">
                  <a16:creationId xmlns:a16="http://schemas.microsoft.com/office/drawing/2014/main" id="{36742581-8EC6-4BA0-BBB3-3F6DA227396F}"/>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3" name="TextBox 62">
              <a:extLst>
                <a:ext uri="{FF2B5EF4-FFF2-40B4-BE49-F238E27FC236}">
                  <a16:creationId xmlns:a16="http://schemas.microsoft.com/office/drawing/2014/main" id="{1FEC1772-3618-479A-AF9B-597D814CADA2}"/>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x</a:t>
              </a:r>
              <a:r>
                <a:rPr lang="en-GB" sz="2000" b="1" dirty="0">
                  <a:latin typeface="Arial" pitchFamily="34" charset="0"/>
                  <a:cs typeface="Arial" pitchFamily="34" charset="0"/>
                </a:rPr>
                <a:t>    =    2</a:t>
              </a:r>
            </a:p>
          </p:txBody>
        </p:sp>
      </p:grpSp>
      <p:grpSp>
        <p:nvGrpSpPr>
          <p:cNvPr id="64" name="Group 63">
            <a:extLst>
              <a:ext uri="{FF2B5EF4-FFF2-40B4-BE49-F238E27FC236}">
                <a16:creationId xmlns:a16="http://schemas.microsoft.com/office/drawing/2014/main" id="{C2E91527-B3C3-4F6E-B58F-17E4962F58E6}"/>
              </a:ext>
            </a:extLst>
          </p:cNvPr>
          <p:cNvGrpSpPr/>
          <p:nvPr/>
        </p:nvGrpSpPr>
        <p:grpSpPr>
          <a:xfrm>
            <a:off x="1025105" y="5963745"/>
            <a:ext cx="1962150" cy="400110"/>
            <a:chOff x="742950" y="3773899"/>
            <a:chExt cx="1962150" cy="400110"/>
          </a:xfrm>
        </p:grpSpPr>
        <p:sp>
          <p:nvSpPr>
            <p:cNvPr id="65" name="Rounded Rectangle 460">
              <a:extLst>
                <a:ext uri="{FF2B5EF4-FFF2-40B4-BE49-F238E27FC236}">
                  <a16:creationId xmlns:a16="http://schemas.microsoft.com/office/drawing/2014/main" id="{E2715167-6B83-4B9F-9169-A916F610155C}"/>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6" name="TextBox 65">
              <a:extLst>
                <a:ext uri="{FF2B5EF4-FFF2-40B4-BE49-F238E27FC236}">
                  <a16:creationId xmlns:a16="http://schemas.microsoft.com/office/drawing/2014/main" id="{1F582362-E84F-49A6-915F-42BCFAECBE20}"/>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y</a:t>
              </a:r>
              <a:r>
                <a:rPr lang="en-GB" sz="2000" b="1" dirty="0">
                  <a:latin typeface="Arial" pitchFamily="34" charset="0"/>
                  <a:cs typeface="Arial" pitchFamily="34" charset="0"/>
                </a:rPr>
                <a:t>    =    6</a:t>
              </a:r>
            </a:p>
          </p:txBody>
        </p:sp>
      </p:grpSp>
      <p:sp>
        <p:nvSpPr>
          <p:cNvPr id="67" name="Oval 66">
            <a:extLst>
              <a:ext uri="{FF2B5EF4-FFF2-40B4-BE49-F238E27FC236}">
                <a16:creationId xmlns:a16="http://schemas.microsoft.com/office/drawing/2014/main" id="{63A7F951-A91B-4874-A390-E5A43A7447CF}"/>
              </a:ext>
            </a:extLst>
          </p:cNvPr>
          <p:cNvSpPr/>
          <p:nvPr/>
        </p:nvSpPr>
        <p:spPr>
          <a:xfrm>
            <a:off x="971388" y="2627285"/>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8" name="Oval 67">
            <a:extLst>
              <a:ext uri="{FF2B5EF4-FFF2-40B4-BE49-F238E27FC236}">
                <a16:creationId xmlns:a16="http://schemas.microsoft.com/office/drawing/2014/main" id="{F6749394-BCD0-4545-82FA-3F5F1FA23985}"/>
              </a:ext>
            </a:extLst>
          </p:cNvPr>
          <p:cNvSpPr/>
          <p:nvPr/>
        </p:nvSpPr>
        <p:spPr>
          <a:xfrm>
            <a:off x="971388" y="2972465"/>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9" name="Oval 68">
            <a:extLst>
              <a:ext uri="{FF2B5EF4-FFF2-40B4-BE49-F238E27FC236}">
                <a16:creationId xmlns:a16="http://schemas.microsoft.com/office/drawing/2014/main" id="{3ABD800B-D6CE-4C48-87F3-F7B9BA8A9443}"/>
              </a:ext>
            </a:extLst>
          </p:cNvPr>
          <p:cNvSpPr/>
          <p:nvPr/>
        </p:nvSpPr>
        <p:spPr>
          <a:xfrm>
            <a:off x="2804888" y="2627285"/>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70" name="Oval 69">
            <a:extLst>
              <a:ext uri="{FF2B5EF4-FFF2-40B4-BE49-F238E27FC236}">
                <a16:creationId xmlns:a16="http://schemas.microsoft.com/office/drawing/2014/main" id="{421856DF-2873-45B7-8DE6-A7F3DA03A134}"/>
              </a:ext>
            </a:extLst>
          </p:cNvPr>
          <p:cNvSpPr/>
          <p:nvPr/>
        </p:nvSpPr>
        <p:spPr>
          <a:xfrm>
            <a:off x="2804888" y="2972465"/>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Tree>
    <p:extLst>
      <p:ext uri="{BB962C8B-B14F-4D97-AF65-F5344CB8AC3E}">
        <p14:creationId xmlns:p14="http://schemas.microsoft.com/office/powerpoint/2010/main" val="164285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1000"/>
                                        <p:tgtEl>
                                          <p:spTgt spid="14"/>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1000"/>
                                        <p:tgtEl>
                                          <p:spTgt spid="15"/>
                                        </p:tgtEl>
                                      </p:cBhvr>
                                    </p:animEffect>
                                  </p:childTnLst>
                                </p:cTn>
                              </p:par>
                            </p:childTnLst>
                          </p:cTn>
                        </p:par>
                        <p:par>
                          <p:cTn id="18" fill="hold">
                            <p:stCondLst>
                              <p:cond delay="2500"/>
                            </p:stCondLst>
                            <p:childTnLst>
                              <p:par>
                                <p:cTn id="19" presetID="22" presetClass="entr" presetSubtype="8"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500" fill="hold"/>
                                        <p:tgtEl>
                                          <p:spTgt spid="16"/>
                                        </p:tgtEl>
                                        <p:attrNameLst>
                                          <p:attrName>ppt_w</p:attrName>
                                        </p:attrNameLst>
                                      </p:cBhvr>
                                      <p:tavLst>
                                        <p:tav tm="0">
                                          <p:val>
                                            <p:fltVal val="0"/>
                                          </p:val>
                                        </p:tav>
                                        <p:tav tm="100000">
                                          <p:val>
                                            <p:strVal val="#ppt_w"/>
                                          </p:val>
                                        </p:tav>
                                      </p:tavLst>
                                    </p:anim>
                                    <p:anim calcmode="lin" valueType="num">
                                      <p:cBhvr>
                                        <p:cTn id="27" dur="500" fill="hold"/>
                                        <p:tgtEl>
                                          <p:spTgt spid="16"/>
                                        </p:tgtEl>
                                        <p:attrNameLst>
                                          <p:attrName>ppt_h</p:attrName>
                                        </p:attrNameLst>
                                      </p:cBhvr>
                                      <p:tavLst>
                                        <p:tav tm="0">
                                          <p:val>
                                            <p:fltVal val="0"/>
                                          </p:val>
                                        </p:tav>
                                        <p:tav tm="100000">
                                          <p:val>
                                            <p:strVal val="#ppt_h"/>
                                          </p:val>
                                        </p:tav>
                                      </p:tavLst>
                                    </p:anim>
                                    <p:animEffect transition="in" filter="fade">
                                      <p:cBhvr>
                                        <p:cTn id="28" dur="500"/>
                                        <p:tgtEl>
                                          <p:spTgt spid="16"/>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animEffect transition="in" filter="fade">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1000"/>
                                        <p:tgtEl>
                                          <p:spTgt spid="29"/>
                                        </p:tgtEl>
                                      </p:cBhvr>
                                    </p:animEffect>
                                  </p:childTnLst>
                                </p:cTn>
                              </p:par>
                            </p:childTnLst>
                          </p:cTn>
                        </p:par>
                        <p:par>
                          <p:cTn id="55" fill="hold">
                            <p:stCondLst>
                              <p:cond delay="1500"/>
                            </p:stCondLst>
                            <p:childTnLst>
                              <p:par>
                                <p:cTn id="56" presetID="22" presetClass="entr" presetSubtype="8" fill="hold" grpId="0"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left)">
                                      <p:cBhvr>
                                        <p:cTn id="58" dur="10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anim calcmode="lin" valueType="num">
                                      <p:cBhvr>
                                        <p:cTn id="63" dur="500" fill="hold"/>
                                        <p:tgtEl>
                                          <p:spTgt spid="34"/>
                                        </p:tgtEl>
                                        <p:attrNameLst>
                                          <p:attrName>ppt_w</p:attrName>
                                        </p:attrNameLst>
                                      </p:cBhvr>
                                      <p:tavLst>
                                        <p:tav tm="0">
                                          <p:val>
                                            <p:fltVal val="0"/>
                                          </p:val>
                                        </p:tav>
                                        <p:tav tm="100000">
                                          <p:val>
                                            <p:strVal val="#ppt_w"/>
                                          </p:val>
                                        </p:tav>
                                      </p:tavLst>
                                    </p:anim>
                                    <p:anim calcmode="lin" valueType="num">
                                      <p:cBhvr>
                                        <p:cTn id="64" dur="500" fill="hold"/>
                                        <p:tgtEl>
                                          <p:spTgt spid="34"/>
                                        </p:tgtEl>
                                        <p:attrNameLst>
                                          <p:attrName>ppt_h</p:attrName>
                                        </p:attrNameLst>
                                      </p:cBhvr>
                                      <p:tavLst>
                                        <p:tav tm="0">
                                          <p:val>
                                            <p:fltVal val="0"/>
                                          </p:val>
                                        </p:tav>
                                        <p:tav tm="100000">
                                          <p:val>
                                            <p:strVal val="#ppt_h"/>
                                          </p:val>
                                        </p:tav>
                                      </p:tavLst>
                                    </p:anim>
                                    <p:animEffect transition="in" filter="fade">
                                      <p:cBhvr>
                                        <p:cTn id="65" dur="500"/>
                                        <p:tgtEl>
                                          <p:spTgt spid="34"/>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1000"/>
                                        <p:tgtEl>
                                          <p:spTgt spid="30"/>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left)">
                                      <p:cBhvr>
                                        <p:cTn id="73" dur="1000"/>
                                        <p:tgtEl>
                                          <p:spTgt spid="33"/>
                                        </p:tgtEl>
                                      </p:cBhvr>
                                    </p:animEffect>
                                  </p:childTnLst>
                                </p:cTn>
                              </p:par>
                            </p:childTnLst>
                          </p:cTn>
                        </p:par>
                        <p:par>
                          <p:cTn id="74" fill="hold">
                            <p:stCondLst>
                              <p:cond delay="2500"/>
                            </p:stCondLst>
                            <p:childTnLst>
                              <p:par>
                                <p:cTn id="75" presetID="22" presetClass="entr" presetSubtype="8" fill="hold" nodeType="after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0" fill="hold" nodeType="clickEffect">
                                  <p:stCondLst>
                                    <p:cond delay="0"/>
                                  </p:stCondLst>
                                  <p:childTnLst>
                                    <p:set>
                                      <p:cBhvr>
                                        <p:cTn id="81" dur="1" fill="hold">
                                          <p:stCondLst>
                                            <p:cond delay="0"/>
                                          </p:stCondLst>
                                        </p:cTn>
                                        <p:tgtEl>
                                          <p:spTgt spid="39"/>
                                        </p:tgtEl>
                                        <p:attrNameLst>
                                          <p:attrName>style.visibility</p:attrName>
                                        </p:attrNameLst>
                                      </p:cBhvr>
                                      <p:to>
                                        <p:strVal val="visible"/>
                                      </p:to>
                                    </p:set>
                                    <p:anim calcmode="lin" valueType="num">
                                      <p:cBhvr>
                                        <p:cTn id="82" dur="500" fill="hold"/>
                                        <p:tgtEl>
                                          <p:spTgt spid="39"/>
                                        </p:tgtEl>
                                        <p:attrNameLst>
                                          <p:attrName>ppt_w</p:attrName>
                                        </p:attrNameLst>
                                      </p:cBhvr>
                                      <p:tavLst>
                                        <p:tav tm="0">
                                          <p:val>
                                            <p:fltVal val="0"/>
                                          </p:val>
                                        </p:tav>
                                        <p:tav tm="100000">
                                          <p:val>
                                            <p:strVal val="#ppt_w"/>
                                          </p:val>
                                        </p:tav>
                                      </p:tavLst>
                                    </p:anim>
                                    <p:anim calcmode="lin" valueType="num">
                                      <p:cBhvr>
                                        <p:cTn id="83" dur="500" fill="hold"/>
                                        <p:tgtEl>
                                          <p:spTgt spid="39"/>
                                        </p:tgtEl>
                                        <p:attrNameLst>
                                          <p:attrName>ppt_h</p:attrName>
                                        </p:attrNameLst>
                                      </p:cBhvr>
                                      <p:tavLst>
                                        <p:tav tm="0">
                                          <p:val>
                                            <p:fltVal val="0"/>
                                          </p:val>
                                        </p:tav>
                                        <p:tav tm="100000">
                                          <p:val>
                                            <p:strVal val="#ppt_h"/>
                                          </p:val>
                                        </p:tav>
                                      </p:tavLst>
                                    </p:anim>
                                    <p:animEffect transition="in" filter="fade">
                                      <p:cBhvr>
                                        <p:cTn id="84" dur="500"/>
                                        <p:tgtEl>
                                          <p:spTgt spid="39"/>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0" fill="hold" grpId="0" nodeType="clickEffect">
                                  <p:stCondLst>
                                    <p:cond delay="0"/>
                                  </p:stCondLst>
                                  <p:childTnLst>
                                    <p:set>
                                      <p:cBhvr>
                                        <p:cTn id="88" dur="1" fill="hold">
                                          <p:stCondLst>
                                            <p:cond delay="0"/>
                                          </p:stCondLst>
                                        </p:cTn>
                                        <p:tgtEl>
                                          <p:spTgt spid="67"/>
                                        </p:tgtEl>
                                        <p:attrNameLst>
                                          <p:attrName>style.visibility</p:attrName>
                                        </p:attrNameLst>
                                      </p:cBhvr>
                                      <p:to>
                                        <p:strVal val="visible"/>
                                      </p:to>
                                    </p:set>
                                    <p:anim calcmode="lin" valueType="num">
                                      <p:cBhvr>
                                        <p:cTn id="89" dur="1000" fill="hold"/>
                                        <p:tgtEl>
                                          <p:spTgt spid="67"/>
                                        </p:tgtEl>
                                        <p:attrNameLst>
                                          <p:attrName>ppt_w</p:attrName>
                                        </p:attrNameLst>
                                      </p:cBhvr>
                                      <p:tavLst>
                                        <p:tav tm="0">
                                          <p:val>
                                            <p:fltVal val="0"/>
                                          </p:val>
                                        </p:tav>
                                        <p:tav tm="100000">
                                          <p:val>
                                            <p:strVal val="#ppt_w"/>
                                          </p:val>
                                        </p:tav>
                                      </p:tavLst>
                                    </p:anim>
                                    <p:anim calcmode="lin" valueType="num">
                                      <p:cBhvr>
                                        <p:cTn id="90" dur="1000" fill="hold"/>
                                        <p:tgtEl>
                                          <p:spTgt spid="67"/>
                                        </p:tgtEl>
                                        <p:attrNameLst>
                                          <p:attrName>ppt_h</p:attrName>
                                        </p:attrNameLst>
                                      </p:cBhvr>
                                      <p:tavLst>
                                        <p:tav tm="0">
                                          <p:val>
                                            <p:fltVal val="0"/>
                                          </p:val>
                                        </p:tav>
                                        <p:tav tm="100000">
                                          <p:val>
                                            <p:strVal val="#ppt_h"/>
                                          </p:val>
                                        </p:tav>
                                      </p:tavLst>
                                    </p:anim>
                                    <p:animEffect transition="in" filter="fade">
                                      <p:cBhvr>
                                        <p:cTn id="91" dur="1000"/>
                                        <p:tgtEl>
                                          <p:spTgt spid="67"/>
                                        </p:tgtEl>
                                      </p:cBhvr>
                                    </p:animEffect>
                                  </p:childTnLst>
                                </p:cTn>
                              </p:par>
                            </p:childTnLst>
                          </p:cTn>
                        </p:par>
                        <p:par>
                          <p:cTn id="92" fill="hold">
                            <p:stCondLst>
                              <p:cond delay="1000"/>
                            </p:stCondLst>
                            <p:childTnLst>
                              <p:par>
                                <p:cTn id="93" presetID="53" presetClass="entr" presetSubtype="0" fill="hold" grpId="0" nodeType="afterEffect">
                                  <p:stCondLst>
                                    <p:cond delay="0"/>
                                  </p:stCondLst>
                                  <p:childTnLst>
                                    <p:set>
                                      <p:cBhvr>
                                        <p:cTn id="94" dur="1" fill="hold">
                                          <p:stCondLst>
                                            <p:cond delay="0"/>
                                          </p:stCondLst>
                                        </p:cTn>
                                        <p:tgtEl>
                                          <p:spTgt spid="68"/>
                                        </p:tgtEl>
                                        <p:attrNameLst>
                                          <p:attrName>style.visibility</p:attrName>
                                        </p:attrNameLst>
                                      </p:cBhvr>
                                      <p:to>
                                        <p:strVal val="visible"/>
                                      </p:to>
                                    </p:set>
                                    <p:anim calcmode="lin" valueType="num">
                                      <p:cBhvr>
                                        <p:cTn id="95" dur="1000" fill="hold"/>
                                        <p:tgtEl>
                                          <p:spTgt spid="68"/>
                                        </p:tgtEl>
                                        <p:attrNameLst>
                                          <p:attrName>ppt_w</p:attrName>
                                        </p:attrNameLst>
                                      </p:cBhvr>
                                      <p:tavLst>
                                        <p:tav tm="0">
                                          <p:val>
                                            <p:fltVal val="0"/>
                                          </p:val>
                                        </p:tav>
                                        <p:tav tm="100000">
                                          <p:val>
                                            <p:strVal val="#ppt_w"/>
                                          </p:val>
                                        </p:tav>
                                      </p:tavLst>
                                    </p:anim>
                                    <p:anim calcmode="lin" valueType="num">
                                      <p:cBhvr>
                                        <p:cTn id="96" dur="1000" fill="hold"/>
                                        <p:tgtEl>
                                          <p:spTgt spid="68"/>
                                        </p:tgtEl>
                                        <p:attrNameLst>
                                          <p:attrName>ppt_h</p:attrName>
                                        </p:attrNameLst>
                                      </p:cBhvr>
                                      <p:tavLst>
                                        <p:tav tm="0">
                                          <p:val>
                                            <p:fltVal val="0"/>
                                          </p:val>
                                        </p:tav>
                                        <p:tav tm="100000">
                                          <p:val>
                                            <p:strVal val="#ppt_h"/>
                                          </p:val>
                                        </p:tav>
                                      </p:tavLst>
                                    </p:anim>
                                    <p:animEffect transition="in" filter="fade">
                                      <p:cBhvr>
                                        <p:cTn id="97" dur="1000"/>
                                        <p:tgtEl>
                                          <p:spTgt spid="6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wipe(left)">
                                      <p:cBhvr>
                                        <p:cTn id="102" dur="1000"/>
                                        <p:tgtEl>
                                          <p:spTgt spid="37"/>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0" fill="hold" grpId="0" nodeType="clickEffect">
                                  <p:stCondLst>
                                    <p:cond delay="0"/>
                                  </p:stCondLst>
                                  <p:childTnLst>
                                    <p:set>
                                      <p:cBhvr>
                                        <p:cTn id="106" dur="1" fill="hold">
                                          <p:stCondLst>
                                            <p:cond delay="0"/>
                                          </p:stCondLst>
                                        </p:cTn>
                                        <p:tgtEl>
                                          <p:spTgt spid="69"/>
                                        </p:tgtEl>
                                        <p:attrNameLst>
                                          <p:attrName>style.visibility</p:attrName>
                                        </p:attrNameLst>
                                      </p:cBhvr>
                                      <p:to>
                                        <p:strVal val="visible"/>
                                      </p:to>
                                    </p:set>
                                    <p:anim calcmode="lin" valueType="num">
                                      <p:cBhvr>
                                        <p:cTn id="107" dur="1000" fill="hold"/>
                                        <p:tgtEl>
                                          <p:spTgt spid="69"/>
                                        </p:tgtEl>
                                        <p:attrNameLst>
                                          <p:attrName>ppt_w</p:attrName>
                                        </p:attrNameLst>
                                      </p:cBhvr>
                                      <p:tavLst>
                                        <p:tav tm="0">
                                          <p:val>
                                            <p:fltVal val="0"/>
                                          </p:val>
                                        </p:tav>
                                        <p:tav tm="100000">
                                          <p:val>
                                            <p:strVal val="#ppt_w"/>
                                          </p:val>
                                        </p:tav>
                                      </p:tavLst>
                                    </p:anim>
                                    <p:anim calcmode="lin" valueType="num">
                                      <p:cBhvr>
                                        <p:cTn id="108" dur="1000" fill="hold"/>
                                        <p:tgtEl>
                                          <p:spTgt spid="69"/>
                                        </p:tgtEl>
                                        <p:attrNameLst>
                                          <p:attrName>ppt_h</p:attrName>
                                        </p:attrNameLst>
                                      </p:cBhvr>
                                      <p:tavLst>
                                        <p:tav tm="0">
                                          <p:val>
                                            <p:fltVal val="0"/>
                                          </p:val>
                                        </p:tav>
                                        <p:tav tm="100000">
                                          <p:val>
                                            <p:strVal val="#ppt_h"/>
                                          </p:val>
                                        </p:tav>
                                      </p:tavLst>
                                    </p:anim>
                                    <p:animEffect transition="in" filter="fade">
                                      <p:cBhvr>
                                        <p:cTn id="109" dur="1000"/>
                                        <p:tgtEl>
                                          <p:spTgt spid="69"/>
                                        </p:tgtEl>
                                      </p:cBhvr>
                                    </p:animEffect>
                                  </p:childTnLst>
                                </p:cTn>
                              </p:par>
                            </p:childTnLst>
                          </p:cTn>
                        </p:par>
                        <p:par>
                          <p:cTn id="110" fill="hold">
                            <p:stCondLst>
                              <p:cond delay="1000"/>
                            </p:stCondLst>
                            <p:childTnLst>
                              <p:par>
                                <p:cTn id="111" presetID="53" presetClass="entr" presetSubtype="0" fill="hold" grpId="0" nodeType="afterEffect">
                                  <p:stCondLst>
                                    <p:cond delay="0"/>
                                  </p:stCondLst>
                                  <p:childTnLst>
                                    <p:set>
                                      <p:cBhvr>
                                        <p:cTn id="112" dur="1" fill="hold">
                                          <p:stCondLst>
                                            <p:cond delay="0"/>
                                          </p:stCondLst>
                                        </p:cTn>
                                        <p:tgtEl>
                                          <p:spTgt spid="70"/>
                                        </p:tgtEl>
                                        <p:attrNameLst>
                                          <p:attrName>style.visibility</p:attrName>
                                        </p:attrNameLst>
                                      </p:cBhvr>
                                      <p:to>
                                        <p:strVal val="visible"/>
                                      </p:to>
                                    </p:set>
                                    <p:anim calcmode="lin" valueType="num">
                                      <p:cBhvr>
                                        <p:cTn id="113" dur="1000" fill="hold"/>
                                        <p:tgtEl>
                                          <p:spTgt spid="70"/>
                                        </p:tgtEl>
                                        <p:attrNameLst>
                                          <p:attrName>ppt_w</p:attrName>
                                        </p:attrNameLst>
                                      </p:cBhvr>
                                      <p:tavLst>
                                        <p:tav tm="0">
                                          <p:val>
                                            <p:fltVal val="0"/>
                                          </p:val>
                                        </p:tav>
                                        <p:tav tm="100000">
                                          <p:val>
                                            <p:strVal val="#ppt_w"/>
                                          </p:val>
                                        </p:tav>
                                      </p:tavLst>
                                    </p:anim>
                                    <p:anim calcmode="lin" valueType="num">
                                      <p:cBhvr>
                                        <p:cTn id="114" dur="1000" fill="hold"/>
                                        <p:tgtEl>
                                          <p:spTgt spid="70"/>
                                        </p:tgtEl>
                                        <p:attrNameLst>
                                          <p:attrName>ppt_h</p:attrName>
                                        </p:attrNameLst>
                                      </p:cBhvr>
                                      <p:tavLst>
                                        <p:tav tm="0">
                                          <p:val>
                                            <p:fltVal val="0"/>
                                          </p:val>
                                        </p:tav>
                                        <p:tav tm="100000">
                                          <p:val>
                                            <p:strVal val="#ppt_h"/>
                                          </p:val>
                                        </p:tav>
                                      </p:tavLst>
                                    </p:anim>
                                    <p:animEffect transition="in" filter="fade">
                                      <p:cBhvr>
                                        <p:cTn id="115" dur="1000"/>
                                        <p:tgtEl>
                                          <p:spTgt spid="70"/>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wipe(left)">
                                      <p:cBhvr>
                                        <p:cTn id="120" dur="1000"/>
                                        <p:tgtEl>
                                          <p:spTgt spid="38"/>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0" fill="hold" nodeType="clickEffect">
                                  <p:stCondLst>
                                    <p:cond delay="0"/>
                                  </p:stCondLst>
                                  <p:childTnLst>
                                    <p:set>
                                      <p:cBhvr>
                                        <p:cTn id="124" dur="1" fill="hold">
                                          <p:stCondLst>
                                            <p:cond delay="0"/>
                                          </p:stCondLst>
                                        </p:cTn>
                                        <p:tgtEl>
                                          <p:spTgt spid="42"/>
                                        </p:tgtEl>
                                        <p:attrNameLst>
                                          <p:attrName>style.visibility</p:attrName>
                                        </p:attrNameLst>
                                      </p:cBhvr>
                                      <p:to>
                                        <p:strVal val="visible"/>
                                      </p:to>
                                    </p:set>
                                    <p:anim calcmode="lin" valueType="num">
                                      <p:cBhvr>
                                        <p:cTn id="125" dur="500" fill="hold"/>
                                        <p:tgtEl>
                                          <p:spTgt spid="42"/>
                                        </p:tgtEl>
                                        <p:attrNameLst>
                                          <p:attrName>ppt_w</p:attrName>
                                        </p:attrNameLst>
                                      </p:cBhvr>
                                      <p:tavLst>
                                        <p:tav tm="0">
                                          <p:val>
                                            <p:fltVal val="0"/>
                                          </p:val>
                                        </p:tav>
                                        <p:tav tm="100000">
                                          <p:val>
                                            <p:strVal val="#ppt_w"/>
                                          </p:val>
                                        </p:tav>
                                      </p:tavLst>
                                    </p:anim>
                                    <p:anim calcmode="lin" valueType="num">
                                      <p:cBhvr>
                                        <p:cTn id="126" dur="500" fill="hold"/>
                                        <p:tgtEl>
                                          <p:spTgt spid="42"/>
                                        </p:tgtEl>
                                        <p:attrNameLst>
                                          <p:attrName>ppt_h</p:attrName>
                                        </p:attrNameLst>
                                      </p:cBhvr>
                                      <p:tavLst>
                                        <p:tav tm="0">
                                          <p:val>
                                            <p:fltVal val="0"/>
                                          </p:val>
                                        </p:tav>
                                        <p:tav tm="100000">
                                          <p:val>
                                            <p:strVal val="#ppt_h"/>
                                          </p:val>
                                        </p:tav>
                                      </p:tavLst>
                                    </p:anim>
                                    <p:animEffect transition="in" filter="fade">
                                      <p:cBhvr>
                                        <p:cTn id="127" dur="500"/>
                                        <p:tgtEl>
                                          <p:spTgt spid="42"/>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wipe(left)">
                                      <p:cBhvr>
                                        <p:cTn id="132" dur="1000"/>
                                        <p:tgtEl>
                                          <p:spTgt spid="45"/>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0" fill="hold" nodeType="clickEffect">
                                  <p:stCondLst>
                                    <p:cond delay="0"/>
                                  </p:stCondLst>
                                  <p:childTnLst>
                                    <p:set>
                                      <p:cBhvr>
                                        <p:cTn id="136" dur="1" fill="hold">
                                          <p:stCondLst>
                                            <p:cond delay="0"/>
                                          </p:stCondLst>
                                        </p:cTn>
                                        <p:tgtEl>
                                          <p:spTgt spid="61"/>
                                        </p:tgtEl>
                                        <p:attrNameLst>
                                          <p:attrName>style.visibility</p:attrName>
                                        </p:attrNameLst>
                                      </p:cBhvr>
                                      <p:to>
                                        <p:strVal val="visible"/>
                                      </p:to>
                                    </p:set>
                                    <p:anim calcmode="lin" valueType="num">
                                      <p:cBhvr>
                                        <p:cTn id="137" dur="500" fill="hold"/>
                                        <p:tgtEl>
                                          <p:spTgt spid="61"/>
                                        </p:tgtEl>
                                        <p:attrNameLst>
                                          <p:attrName>ppt_w</p:attrName>
                                        </p:attrNameLst>
                                      </p:cBhvr>
                                      <p:tavLst>
                                        <p:tav tm="0">
                                          <p:val>
                                            <p:fltVal val="0"/>
                                          </p:val>
                                        </p:tav>
                                        <p:tav tm="100000">
                                          <p:val>
                                            <p:strVal val="#ppt_w"/>
                                          </p:val>
                                        </p:tav>
                                      </p:tavLst>
                                    </p:anim>
                                    <p:anim calcmode="lin" valueType="num">
                                      <p:cBhvr>
                                        <p:cTn id="138" dur="500" fill="hold"/>
                                        <p:tgtEl>
                                          <p:spTgt spid="61"/>
                                        </p:tgtEl>
                                        <p:attrNameLst>
                                          <p:attrName>ppt_h</p:attrName>
                                        </p:attrNameLst>
                                      </p:cBhvr>
                                      <p:tavLst>
                                        <p:tav tm="0">
                                          <p:val>
                                            <p:fltVal val="0"/>
                                          </p:val>
                                        </p:tav>
                                        <p:tav tm="100000">
                                          <p:val>
                                            <p:strVal val="#ppt_h"/>
                                          </p:val>
                                        </p:tav>
                                      </p:tavLst>
                                    </p:anim>
                                    <p:animEffect transition="in" filter="fade">
                                      <p:cBhvr>
                                        <p:cTn id="139" dur="500"/>
                                        <p:tgtEl>
                                          <p:spTgt spid="61"/>
                                        </p:tgtEl>
                                      </p:cBhvr>
                                    </p:animEffect>
                                  </p:childTnLst>
                                </p:cTn>
                              </p:par>
                            </p:childTnLst>
                          </p:cTn>
                        </p:par>
                        <p:par>
                          <p:cTn id="140" fill="hold">
                            <p:stCondLst>
                              <p:cond delay="500"/>
                            </p:stCondLst>
                            <p:childTnLst>
                              <p:par>
                                <p:cTn id="141" presetID="22" presetClass="entr" presetSubtype="8" fill="hold" nodeType="afterEffect">
                                  <p:stCondLst>
                                    <p:cond delay="0"/>
                                  </p:stCondLst>
                                  <p:childTnLst>
                                    <p:set>
                                      <p:cBhvr>
                                        <p:cTn id="142" dur="1" fill="hold">
                                          <p:stCondLst>
                                            <p:cond delay="0"/>
                                          </p:stCondLst>
                                        </p:cTn>
                                        <p:tgtEl>
                                          <p:spTgt spid="46"/>
                                        </p:tgtEl>
                                        <p:attrNameLst>
                                          <p:attrName>style.visibility</p:attrName>
                                        </p:attrNameLst>
                                      </p:cBhvr>
                                      <p:to>
                                        <p:strVal val="visible"/>
                                      </p:to>
                                    </p:set>
                                    <p:animEffect transition="in" filter="wipe(left)">
                                      <p:cBhvr>
                                        <p:cTn id="143" dur="500"/>
                                        <p:tgtEl>
                                          <p:spTgt spid="46"/>
                                        </p:tgtEl>
                                      </p:cBhvr>
                                    </p:animEffect>
                                  </p:childTnLst>
                                </p:cTn>
                              </p:par>
                            </p:childTnLst>
                          </p:cTn>
                        </p:par>
                      </p:childTnLst>
                    </p:cTn>
                  </p:par>
                  <p:par>
                    <p:cTn id="144" fill="hold">
                      <p:stCondLst>
                        <p:cond delay="indefinite"/>
                      </p:stCondLst>
                      <p:childTnLst>
                        <p:par>
                          <p:cTn id="145" fill="hold">
                            <p:stCondLst>
                              <p:cond delay="0"/>
                            </p:stCondLst>
                            <p:childTnLst>
                              <p:par>
                                <p:cTn id="146" presetID="53" presetClass="entr" presetSubtype="0" fill="hold" nodeType="clickEffect">
                                  <p:stCondLst>
                                    <p:cond delay="0"/>
                                  </p:stCondLst>
                                  <p:childTnLst>
                                    <p:set>
                                      <p:cBhvr>
                                        <p:cTn id="147" dur="1" fill="hold">
                                          <p:stCondLst>
                                            <p:cond delay="0"/>
                                          </p:stCondLst>
                                        </p:cTn>
                                        <p:tgtEl>
                                          <p:spTgt spid="47"/>
                                        </p:tgtEl>
                                        <p:attrNameLst>
                                          <p:attrName>style.visibility</p:attrName>
                                        </p:attrNameLst>
                                      </p:cBhvr>
                                      <p:to>
                                        <p:strVal val="visible"/>
                                      </p:to>
                                    </p:set>
                                    <p:anim calcmode="lin" valueType="num">
                                      <p:cBhvr>
                                        <p:cTn id="148" dur="500" fill="hold"/>
                                        <p:tgtEl>
                                          <p:spTgt spid="47"/>
                                        </p:tgtEl>
                                        <p:attrNameLst>
                                          <p:attrName>ppt_w</p:attrName>
                                        </p:attrNameLst>
                                      </p:cBhvr>
                                      <p:tavLst>
                                        <p:tav tm="0">
                                          <p:val>
                                            <p:fltVal val="0"/>
                                          </p:val>
                                        </p:tav>
                                        <p:tav tm="100000">
                                          <p:val>
                                            <p:strVal val="#ppt_w"/>
                                          </p:val>
                                        </p:tav>
                                      </p:tavLst>
                                    </p:anim>
                                    <p:anim calcmode="lin" valueType="num">
                                      <p:cBhvr>
                                        <p:cTn id="149" dur="500" fill="hold"/>
                                        <p:tgtEl>
                                          <p:spTgt spid="47"/>
                                        </p:tgtEl>
                                        <p:attrNameLst>
                                          <p:attrName>ppt_h</p:attrName>
                                        </p:attrNameLst>
                                      </p:cBhvr>
                                      <p:tavLst>
                                        <p:tav tm="0">
                                          <p:val>
                                            <p:fltVal val="0"/>
                                          </p:val>
                                        </p:tav>
                                        <p:tav tm="100000">
                                          <p:val>
                                            <p:strVal val="#ppt_h"/>
                                          </p:val>
                                        </p:tav>
                                      </p:tavLst>
                                    </p:anim>
                                    <p:animEffect transition="in" filter="fade">
                                      <p:cBhvr>
                                        <p:cTn id="150" dur="500"/>
                                        <p:tgtEl>
                                          <p:spTgt spid="47"/>
                                        </p:tgtEl>
                                      </p:cBhvr>
                                    </p:animEffect>
                                  </p:childTnLst>
                                </p:cTn>
                              </p:par>
                            </p:childTnLst>
                          </p:cTn>
                        </p:par>
                        <p:par>
                          <p:cTn id="151" fill="hold">
                            <p:stCondLst>
                              <p:cond delay="500"/>
                            </p:stCondLst>
                            <p:childTnLst>
                              <p:par>
                                <p:cTn id="152" presetID="22" presetClass="entr" presetSubtype="8" fill="hold" grpId="0" nodeType="afterEffect">
                                  <p:stCondLst>
                                    <p:cond delay="0"/>
                                  </p:stCondLst>
                                  <p:childTnLst>
                                    <p:set>
                                      <p:cBhvr>
                                        <p:cTn id="153" dur="1" fill="hold">
                                          <p:stCondLst>
                                            <p:cond delay="0"/>
                                          </p:stCondLst>
                                        </p:cTn>
                                        <p:tgtEl>
                                          <p:spTgt spid="50"/>
                                        </p:tgtEl>
                                        <p:attrNameLst>
                                          <p:attrName>style.visibility</p:attrName>
                                        </p:attrNameLst>
                                      </p:cBhvr>
                                      <p:to>
                                        <p:strVal val="visible"/>
                                      </p:to>
                                    </p:set>
                                    <p:animEffect transition="in" filter="wipe(left)">
                                      <p:cBhvr>
                                        <p:cTn id="154" dur="1000"/>
                                        <p:tgtEl>
                                          <p:spTgt spid="50"/>
                                        </p:tgtEl>
                                      </p:cBhvr>
                                    </p:animEffect>
                                  </p:childTnLst>
                                </p:cTn>
                              </p:par>
                            </p:childTnLst>
                          </p:cTn>
                        </p:par>
                        <p:par>
                          <p:cTn id="155" fill="hold">
                            <p:stCondLst>
                              <p:cond delay="1500"/>
                            </p:stCondLst>
                            <p:childTnLst>
                              <p:par>
                                <p:cTn id="156" presetID="22" presetClass="entr" presetSubtype="8" fill="hold" grpId="0" nodeType="afterEffect">
                                  <p:stCondLst>
                                    <p:cond delay="0"/>
                                  </p:stCondLst>
                                  <p:childTnLst>
                                    <p:set>
                                      <p:cBhvr>
                                        <p:cTn id="157" dur="1" fill="hold">
                                          <p:stCondLst>
                                            <p:cond delay="0"/>
                                          </p:stCondLst>
                                        </p:cTn>
                                        <p:tgtEl>
                                          <p:spTgt spid="51"/>
                                        </p:tgtEl>
                                        <p:attrNameLst>
                                          <p:attrName>style.visibility</p:attrName>
                                        </p:attrNameLst>
                                      </p:cBhvr>
                                      <p:to>
                                        <p:strVal val="visible"/>
                                      </p:to>
                                    </p:set>
                                    <p:animEffect transition="in" filter="wipe(left)">
                                      <p:cBhvr>
                                        <p:cTn id="158" dur="1000"/>
                                        <p:tgtEl>
                                          <p:spTgt spid="51"/>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52"/>
                                        </p:tgtEl>
                                        <p:attrNameLst>
                                          <p:attrName>style.visibility</p:attrName>
                                        </p:attrNameLst>
                                      </p:cBhvr>
                                      <p:to>
                                        <p:strVal val="visible"/>
                                      </p:to>
                                    </p:set>
                                    <p:animEffect transition="in" filter="wipe(left)">
                                      <p:cBhvr>
                                        <p:cTn id="163" dur="1000"/>
                                        <p:tgtEl>
                                          <p:spTgt spid="52"/>
                                        </p:tgtEl>
                                      </p:cBhvr>
                                    </p:animEffect>
                                  </p:childTnLst>
                                </p:cTn>
                              </p:par>
                            </p:childTnLst>
                          </p:cTn>
                        </p:par>
                      </p:childTnLst>
                    </p:cTn>
                  </p:par>
                  <p:par>
                    <p:cTn id="164" fill="hold">
                      <p:stCondLst>
                        <p:cond delay="indefinite"/>
                      </p:stCondLst>
                      <p:childTnLst>
                        <p:par>
                          <p:cTn id="165" fill="hold">
                            <p:stCondLst>
                              <p:cond delay="0"/>
                            </p:stCondLst>
                            <p:childTnLst>
                              <p:par>
                                <p:cTn id="166" presetID="53" presetClass="entr" presetSubtype="0" fill="hold" nodeType="clickEffect">
                                  <p:stCondLst>
                                    <p:cond delay="0"/>
                                  </p:stCondLst>
                                  <p:childTnLst>
                                    <p:set>
                                      <p:cBhvr>
                                        <p:cTn id="167" dur="1" fill="hold">
                                          <p:stCondLst>
                                            <p:cond delay="0"/>
                                          </p:stCondLst>
                                        </p:cTn>
                                        <p:tgtEl>
                                          <p:spTgt spid="53"/>
                                        </p:tgtEl>
                                        <p:attrNameLst>
                                          <p:attrName>style.visibility</p:attrName>
                                        </p:attrNameLst>
                                      </p:cBhvr>
                                      <p:to>
                                        <p:strVal val="visible"/>
                                      </p:to>
                                    </p:set>
                                    <p:anim calcmode="lin" valueType="num">
                                      <p:cBhvr>
                                        <p:cTn id="168" dur="500" fill="hold"/>
                                        <p:tgtEl>
                                          <p:spTgt spid="53"/>
                                        </p:tgtEl>
                                        <p:attrNameLst>
                                          <p:attrName>ppt_w</p:attrName>
                                        </p:attrNameLst>
                                      </p:cBhvr>
                                      <p:tavLst>
                                        <p:tav tm="0">
                                          <p:val>
                                            <p:fltVal val="0"/>
                                          </p:val>
                                        </p:tav>
                                        <p:tav tm="100000">
                                          <p:val>
                                            <p:strVal val="#ppt_w"/>
                                          </p:val>
                                        </p:tav>
                                      </p:tavLst>
                                    </p:anim>
                                    <p:anim calcmode="lin" valueType="num">
                                      <p:cBhvr>
                                        <p:cTn id="169" dur="500" fill="hold"/>
                                        <p:tgtEl>
                                          <p:spTgt spid="53"/>
                                        </p:tgtEl>
                                        <p:attrNameLst>
                                          <p:attrName>ppt_h</p:attrName>
                                        </p:attrNameLst>
                                      </p:cBhvr>
                                      <p:tavLst>
                                        <p:tav tm="0">
                                          <p:val>
                                            <p:fltVal val="0"/>
                                          </p:val>
                                        </p:tav>
                                        <p:tav tm="100000">
                                          <p:val>
                                            <p:strVal val="#ppt_h"/>
                                          </p:val>
                                        </p:tav>
                                      </p:tavLst>
                                    </p:anim>
                                    <p:animEffect transition="in" filter="fade">
                                      <p:cBhvr>
                                        <p:cTn id="170" dur="500"/>
                                        <p:tgtEl>
                                          <p:spTgt spid="53"/>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56"/>
                                        </p:tgtEl>
                                        <p:attrNameLst>
                                          <p:attrName>style.visibility</p:attrName>
                                        </p:attrNameLst>
                                      </p:cBhvr>
                                      <p:to>
                                        <p:strVal val="visible"/>
                                      </p:to>
                                    </p:set>
                                    <p:animEffect transition="in" filter="wipe(left)">
                                      <p:cBhvr>
                                        <p:cTn id="175" dur="1000"/>
                                        <p:tgtEl>
                                          <p:spTgt spid="56"/>
                                        </p:tgtEl>
                                      </p:cBhvr>
                                    </p:animEffect>
                                  </p:childTnLst>
                                </p:cTn>
                              </p:par>
                            </p:childTnLst>
                          </p:cTn>
                        </p:par>
                      </p:childTnLst>
                    </p:cTn>
                  </p:par>
                  <p:par>
                    <p:cTn id="176" fill="hold">
                      <p:stCondLst>
                        <p:cond delay="indefinite"/>
                      </p:stCondLst>
                      <p:childTnLst>
                        <p:par>
                          <p:cTn id="177" fill="hold">
                            <p:stCondLst>
                              <p:cond delay="0"/>
                            </p:stCondLst>
                            <p:childTnLst>
                              <p:par>
                                <p:cTn id="178" presetID="53" presetClass="entr" presetSubtype="0" fill="hold" nodeType="clickEffect">
                                  <p:stCondLst>
                                    <p:cond delay="0"/>
                                  </p:stCondLst>
                                  <p:childTnLst>
                                    <p:set>
                                      <p:cBhvr>
                                        <p:cTn id="179" dur="1" fill="hold">
                                          <p:stCondLst>
                                            <p:cond delay="0"/>
                                          </p:stCondLst>
                                        </p:cTn>
                                        <p:tgtEl>
                                          <p:spTgt spid="58"/>
                                        </p:tgtEl>
                                        <p:attrNameLst>
                                          <p:attrName>style.visibility</p:attrName>
                                        </p:attrNameLst>
                                      </p:cBhvr>
                                      <p:to>
                                        <p:strVal val="visible"/>
                                      </p:to>
                                    </p:set>
                                    <p:anim calcmode="lin" valueType="num">
                                      <p:cBhvr>
                                        <p:cTn id="180" dur="500" fill="hold"/>
                                        <p:tgtEl>
                                          <p:spTgt spid="58"/>
                                        </p:tgtEl>
                                        <p:attrNameLst>
                                          <p:attrName>ppt_w</p:attrName>
                                        </p:attrNameLst>
                                      </p:cBhvr>
                                      <p:tavLst>
                                        <p:tav tm="0">
                                          <p:val>
                                            <p:fltVal val="0"/>
                                          </p:val>
                                        </p:tav>
                                        <p:tav tm="100000">
                                          <p:val>
                                            <p:strVal val="#ppt_w"/>
                                          </p:val>
                                        </p:tav>
                                      </p:tavLst>
                                    </p:anim>
                                    <p:anim calcmode="lin" valueType="num">
                                      <p:cBhvr>
                                        <p:cTn id="181" dur="500" fill="hold"/>
                                        <p:tgtEl>
                                          <p:spTgt spid="58"/>
                                        </p:tgtEl>
                                        <p:attrNameLst>
                                          <p:attrName>ppt_h</p:attrName>
                                        </p:attrNameLst>
                                      </p:cBhvr>
                                      <p:tavLst>
                                        <p:tav tm="0">
                                          <p:val>
                                            <p:fltVal val="0"/>
                                          </p:val>
                                        </p:tav>
                                        <p:tav tm="100000">
                                          <p:val>
                                            <p:strVal val="#ppt_h"/>
                                          </p:val>
                                        </p:tav>
                                      </p:tavLst>
                                    </p:anim>
                                    <p:animEffect transition="in" filter="fade">
                                      <p:cBhvr>
                                        <p:cTn id="182" dur="500"/>
                                        <p:tgtEl>
                                          <p:spTgt spid="58"/>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57"/>
                                        </p:tgtEl>
                                        <p:attrNameLst>
                                          <p:attrName>style.visibility</p:attrName>
                                        </p:attrNameLst>
                                      </p:cBhvr>
                                      <p:to>
                                        <p:strVal val="visible"/>
                                      </p:to>
                                    </p:set>
                                    <p:animEffect transition="in" filter="wipe(left)">
                                      <p:cBhvr>
                                        <p:cTn id="187" dur="1000"/>
                                        <p:tgtEl>
                                          <p:spTgt spid="57"/>
                                        </p:tgtEl>
                                      </p:cBhvr>
                                    </p:animEffect>
                                  </p:childTnLst>
                                </p:cTn>
                              </p:par>
                            </p:childTnLst>
                          </p:cTn>
                        </p:par>
                      </p:childTnLst>
                    </p:cTn>
                  </p:par>
                  <p:par>
                    <p:cTn id="188" fill="hold">
                      <p:stCondLst>
                        <p:cond delay="indefinite"/>
                      </p:stCondLst>
                      <p:childTnLst>
                        <p:par>
                          <p:cTn id="189" fill="hold">
                            <p:stCondLst>
                              <p:cond delay="0"/>
                            </p:stCondLst>
                            <p:childTnLst>
                              <p:par>
                                <p:cTn id="190" presetID="53" presetClass="entr" presetSubtype="0" fill="hold" nodeType="clickEffect">
                                  <p:stCondLst>
                                    <p:cond delay="0"/>
                                  </p:stCondLst>
                                  <p:childTnLst>
                                    <p:set>
                                      <p:cBhvr>
                                        <p:cTn id="191" dur="1" fill="hold">
                                          <p:stCondLst>
                                            <p:cond delay="0"/>
                                          </p:stCondLst>
                                        </p:cTn>
                                        <p:tgtEl>
                                          <p:spTgt spid="64"/>
                                        </p:tgtEl>
                                        <p:attrNameLst>
                                          <p:attrName>style.visibility</p:attrName>
                                        </p:attrNameLst>
                                      </p:cBhvr>
                                      <p:to>
                                        <p:strVal val="visible"/>
                                      </p:to>
                                    </p:set>
                                    <p:anim calcmode="lin" valueType="num">
                                      <p:cBhvr>
                                        <p:cTn id="192" dur="500" fill="hold"/>
                                        <p:tgtEl>
                                          <p:spTgt spid="64"/>
                                        </p:tgtEl>
                                        <p:attrNameLst>
                                          <p:attrName>ppt_w</p:attrName>
                                        </p:attrNameLst>
                                      </p:cBhvr>
                                      <p:tavLst>
                                        <p:tav tm="0">
                                          <p:val>
                                            <p:fltVal val="0"/>
                                          </p:val>
                                        </p:tav>
                                        <p:tav tm="100000">
                                          <p:val>
                                            <p:strVal val="#ppt_w"/>
                                          </p:val>
                                        </p:tav>
                                      </p:tavLst>
                                    </p:anim>
                                    <p:anim calcmode="lin" valueType="num">
                                      <p:cBhvr>
                                        <p:cTn id="193" dur="500" fill="hold"/>
                                        <p:tgtEl>
                                          <p:spTgt spid="64"/>
                                        </p:tgtEl>
                                        <p:attrNameLst>
                                          <p:attrName>ppt_h</p:attrName>
                                        </p:attrNameLst>
                                      </p:cBhvr>
                                      <p:tavLst>
                                        <p:tav tm="0">
                                          <p:val>
                                            <p:fltVal val="0"/>
                                          </p:val>
                                        </p:tav>
                                        <p:tav tm="100000">
                                          <p:val>
                                            <p:strVal val="#ppt_h"/>
                                          </p:val>
                                        </p:tav>
                                      </p:tavLst>
                                    </p:anim>
                                    <p:animEffect transition="in" filter="fade">
                                      <p:cBhvr>
                                        <p:cTn id="19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20" grpId="0"/>
      <p:bldP spid="21" grpId="0"/>
      <p:bldP spid="29" grpId="0"/>
      <p:bldP spid="30" grpId="0"/>
      <p:bldP spid="32" grpId="0"/>
      <p:bldP spid="33" grpId="0"/>
      <p:bldP spid="37" grpId="0"/>
      <p:bldP spid="38" grpId="0"/>
      <p:bldP spid="45" grpId="0"/>
      <p:bldP spid="50" grpId="0"/>
      <p:bldP spid="51" grpId="0"/>
      <p:bldP spid="52" grpId="0"/>
      <p:bldP spid="56" grpId="0"/>
      <p:bldP spid="57" grpId="0"/>
      <p:bldP spid="67" grpId="0" animBg="1"/>
      <p:bldP spid="68" grpId="0" animBg="1"/>
      <p:bldP spid="69" grpId="0" animBg="1"/>
      <p:bldP spid="7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12" name="Rounded Rectangle 49">
            <a:extLst>
              <a:ext uri="{FF2B5EF4-FFF2-40B4-BE49-F238E27FC236}">
                <a16:creationId xmlns:a16="http://schemas.microsoft.com/office/drawing/2014/main" id="{A3D3037C-50B8-4C0A-BD7A-230C3010B705}"/>
              </a:ext>
            </a:extLst>
          </p:cNvPr>
          <p:cNvSpPr/>
          <p:nvPr/>
        </p:nvSpPr>
        <p:spPr>
          <a:xfrm>
            <a:off x="421027" y="1503007"/>
            <a:ext cx="8697432" cy="5056621"/>
          </a:xfrm>
          <a:prstGeom prst="roundRect">
            <a:avLst>
              <a:gd name="adj" fmla="val 54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itchFamily="34" charset="0"/>
              <a:cs typeface="Arial" pitchFamily="34" charset="0"/>
            </a:endParaRPr>
          </a:p>
        </p:txBody>
      </p:sp>
      <p:sp>
        <p:nvSpPr>
          <p:cNvPr id="13" name="TextBox 12">
            <a:extLst>
              <a:ext uri="{FF2B5EF4-FFF2-40B4-BE49-F238E27FC236}">
                <a16:creationId xmlns:a16="http://schemas.microsoft.com/office/drawing/2014/main" id="{9B211B89-83BC-4AB3-AF4E-01008C0DFE91}"/>
              </a:ext>
            </a:extLst>
          </p:cNvPr>
          <p:cNvSpPr txBox="1"/>
          <p:nvPr/>
        </p:nvSpPr>
        <p:spPr>
          <a:xfrm>
            <a:off x="459232" y="1552072"/>
            <a:ext cx="3986661" cy="276999"/>
          </a:xfrm>
          <a:prstGeom prst="rect">
            <a:avLst/>
          </a:prstGeom>
          <a:noFill/>
        </p:spPr>
        <p:txBody>
          <a:bodyPr wrap="square" rtlCol="0">
            <a:spAutoFit/>
          </a:bodyPr>
          <a:lstStyle/>
          <a:p>
            <a:pPr algn="ctr"/>
            <a:r>
              <a:rPr lang="en-GB" sz="1200" b="1" dirty="0">
                <a:latin typeface="Arial" pitchFamily="34" charset="0"/>
                <a:cs typeface="Arial" pitchFamily="34" charset="0"/>
              </a:rPr>
              <a:t>Example 4:  Solve these simultaneous equations:</a:t>
            </a:r>
            <a:endParaRPr lang="en-GB" sz="1200" b="1" i="1" dirty="0">
              <a:latin typeface="Arial" pitchFamily="34" charset="0"/>
              <a:cs typeface="Arial" pitchFamily="34" charset="0"/>
            </a:endParaRPr>
          </a:p>
        </p:txBody>
      </p:sp>
      <p:sp>
        <p:nvSpPr>
          <p:cNvPr id="14" name="TextBox 13">
            <a:extLst>
              <a:ext uri="{FF2B5EF4-FFF2-40B4-BE49-F238E27FC236}">
                <a16:creationId xmlns:a16="http://schemas.microsoft.com/office/drawing/2014/main" id="{82AFA35A-A22B-4562-8459-57F1C76B99BC}"/>
              </a:ext>
            </a:extLst>
          </p:cNvPr>
          <p:cNvSpPr txBox="1"/>
          <p:nvPr/>
        </p:nvSpPr>
        <p:spPr>
          <a:xfrm>
            <a:off x="847536" y="1906358"/>
            <a:ext cx="3062736" cy="400110"/>
          </a:xfrm>
          <a:prstGeom prst="rect">
            <a:avLst/>
          </a:prstGeom>
          <a:noFill/>
        </p:spPr>
        <p:txBody>
          <a:bodyPr wrap="square" rtlCol="0">
            <a:spAutoFit/>
          </a:bodyPr>
          <a:lstStyle/>
          <a:p>
            <a:r>
              <a:rPr lang="en-GB" sz="2000" b="1" dirty="0">
                <a:latin typeface="Arial" pitchFamily="34" charset="0"/>
                <a:cs typeface="Arial" pitchFamily="34" charset="0"/>
              </a:rPr>
              <a:t>2</a:t>
            </a:r>
            <a:r>
              <a:rPr lang="en-GB" sz="2000" b="1" i="1" dirty="0">
                <a:latin typeface="Arial" pitchFamily="34" charset="0"/>
                <a:cs typeface="Arial" pitchFamily="34" charset="0"/>
              </a:rPr>
              <a:t>x</a:t>
            </a:r>
            <a:r>
              <a:rPr lang="en-GB" sz="2000" b="1" dirty="0">
                <a:latin typeface="Arial" pitchFamily="34" charset="0"/>
                <a:cs typeface="Arial" pitchFamily="34" charset="0"/>
              </a:rPr>
              <a:t>  +  7</a:t>
            </a:r>
            <a:r>
              <a:rPr lang="en-GB" sz="2000" b="1" i="1" dirty="0">
                <a:latin typeface="Arial" pitchFamily="34" charset="0"/>
                <a:cs typeface="Arial" pitchFamily="34" charset="0"/>
              </a:rPr>
              <a:t>y</a:t>
            </a:r>
            <a:r>
              <a:rPr lang="en-GB" sz="2000" b="1" dirty="0">
                <a:latin typeface="Arial" pitchFamily="34" charset="0"/>
                <a:cs typeface="Arial" pitchFamily="34" charset="0"/>
              </a:rPr>
              <a:t>   =   62</a:t>
            </a:r>
          </a:p>
        </p:txBody>
      </p:sp>
      <p:sp>
        <p:nvSpPr>
          <p:cNvPr id="15" name="TextBox 14">
            <a:extLst>
              <a:ext uri="{FF2B5EF4-FFF2-40B4-BE49-F238E27FC236}">
                <a16:creationId xmlns:a16="http://schemas.microsoft.com/office/drawing/2014/main" id="{8BD36A68-CEEE-4B40-842B-F1296B5F7F5D}"/>
              </a:ext>
            </a:extLst>
          </p:cNvPr>
          <p:cNvSpPr txBox="1"/>
          <p:nvPr/>
        </p:nvSpPr>
        <p:spPr>
          <a:xfrm>
            <a:off x="847536" y="2248767"/>
            <a:ext cx="3062736" cy="400110"/>
          </a:xfrm>
          <a:prstGeom prst="rect">
            <a:avLst/>
          </a:prstGeom>
          <a:noFill/>
        </p:spPr>
        <p:txBody>
          <a:bodyPr wrap="square" rtlCol="0">
            <a:spAutoFit/>
          </a:bodyPr>
          <a:lstStyle/>
          <a:p>
            <a:r>
              <a:rPr lang="en-GB" sz="2000" b="1" dirty="0">
                <a:latin typeface="Arial" pitchFamily="34" charset="0"/>
                <a:cs typeface="Arial" pitchFamily="34" charset="0"/>
              </a:rPr>
              <a:t>5</a:t>
            </a:r>
            <a:r>
              <a:rPr lang="en-GB" sz="2000" b="1" i="1" dirty="0">
                <a:latin typeface="Arial" pitchFamily="34" charset="0"/>
                <a:cs typeface="Arial" pitchFamily="34" charset="0"/>
              </a:rPr>
              <a:t>x</a:t>
            </a:r>
            <a:r>
              <a:rPr lang="en-GB" sz="2000" b="1" dirty="0">
                <a:latin typeface="Arial" pitchFamily="34" charset="0"/>
                <a:cs typeface="Arial" pitchFamily="34" charset="0"/>
              </a:rPr>
              <a:t>  +  4</a:t>
            </a:r>
            <a:r>
              <a:rPr lang="en-GB" sz="2000" b="1" i="1" dirty="0">
                <a:latin typeface="Arial" pitchFamily="34" charset="0"/>
                <a:cs typeface="Arial" pitchFamily="34" charset="0"/>
              </a:rPr>
              <a:t>y</a:t>
            </a:r>
            <a:r>
              <a:rPr lang="en-GB" sz="2000" b="1" dirty="0">
                <a:latin typeface="Arial" pitchFamily="34" charset="0"/>
                <a:cs typeface="Arial" pitchFamily="34" charset="0"/>
              </a:rPr>
              <a:t>   =   47</a:t>
            </a:r>
          </a:p>
        </p:txBody>
      </p:sp>
      <p:grpSp>
        <p:nvGrpSpPr>
          <p:cNvPr id="16" name="Group 242">
            <a:extLst>
              <a:ext uri="{FF2B5EF4-FFF2-40B4-BE49-F238E27FC236}">
                <a16:creationId xmlns:a16="http://schemas.microsoft.com/office/drawing/2014/main" id="{0753BC61-1C3B-4891-BBFD-0AF9805D9576}"/>
              </a:ext>
            </a:extLst>
          </p:cNvPr>
          <p:cNvGrpSpPr/>
          <p:nvPr/>
        </p:nvGrpSpPr>
        <p:grpSpPr>
          <a:xfrm>
            <a:off x="5559260" y="1633660"/>
            <a:ext cx="3372591" cy="318155"/>
            <a:chOff x="5474525" y="1938441"/>
            <a:chExt cx="3372591" cy="391879"/>
          </a:xfrm>
        </p:grpSpPr>
        <p:sp>
          <p:nvSpPr>
            <p:cNvPr id="17" name="Rounded Rectangle 219">
              <a:extLst>
                <a:ext uri="{FF2B5EF4-FFF2-40B4-BE49-F238E27FC236}">
                  <a16:creationId xmlns:a16="http://schemas.microsoft.com/office/drawing/2014/main" id="{32DF14B7-C833-4111-B3E7-A1F305BE429A}"/>
                </a:ext>
              </a:extLst>
            </p:cNvPr>
            <p:cNvSpPr/>
            <p:nvPr/>
          </p:nvSpPr>
          <p:spPr>
            <a:xfrm>
              <a:off x="5474525" y="1938441"/>
              <a:ext cx="3372591" cy="39187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18" name="TextBox 17">
              <a:extLst>
                <a:ext uri="{FF2B5EF4-FFF2-40B4-BE49-F238E27FC236}">
                  <a16:creationId xmlns:a16="http://schemas.microsoft.com/office/drawing/2014/main" id="{E5255391-3F64-4A58-9D32-CF5C5DF8D226}"/>
                </a:ext>
              </a:extLst>
            </p:cNvPr>
            <p:cNvSpPr txBox="1"/>
            <p:nvPr/>
          </p:nvSpPr>
          <p:spPr>
            <a:xfrm>
              <a:off x="5594268" y="1963787"/>
              <a:ext cx="3146960" cy="341186"/>
            </a:xfrm>
            <a:prstGeom prst="rect">
              <a:avLst/>
            </a:prstGeom>
            <a:noFill/>
          </p:spPr>
          <p:txBody>
            <a:bodyPr wrap="square" rtlCol="0">
              <a:spAutoFit/>
            </a:bodyPr>
            <a:lstStyle/>
            <a:p>
              <a:pPr algn="ctr"/>
              <a:r>
                <a:rPr lang="en-GB" sz="1200" b="1" dirty="0">
                  <a:latin typeface="Arial" pitchFamily="34" charset="0"/>
                  <a:cs typeface="Arial" pitchFamily="34" charset="0"/>
                </a:rPr>
                <a:t>First we label the equations  (1) and (2)</a:t>
              </a:r>
              <a:endParaRPr lang="en-GB" sz="1200" b="1" i="1" dirty="0">
                <a:latin typeface="Arial" pitchFamily="34" charset="0"/>
                <a:cs typeface="Arial" pitchFamily="34" charset="0"/>
              </a:endParaRPr>
            </a:p>
          </p:txBody>
        </p:sp>
      </p:grpSp>
      <p:cxnSp>
        <p:nvCxnSpPr>
          <p:cNvPr id="19" name="Straight Connector 18">
            <a:extLst>
              <a:ext uri="{FF2B5EF4-FFF2-40B4-BE49-F238E27FC236}">
                <a16:creationId xmlns:a16="http://schemas.microsoft.com/office/drawing/2014/main" id="{6A8108C4-28FA-41ED-885A-F57E7ED9C4E9}"/>
              </a:ext>
            </a:extLst>
          </p:cNvPr>
          <p:cNvCxnSpPr/>
          <p:nvPr/>
        </p:nvCxnSpPr>
        <p:spPr>
          <a:xfrm>
            <a:off x="858306" y="2670517"/>
            <a:ext cx="26363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4B96678-C15B-48A6-8D92-ACFBDF6AA850}"/>
              </a:ext>
            </a:extLst>
          </p:cNvPr>
          <p:cNvSpPr txBox="1"/>
          <p:nvPr/>
        </p:nvSpPr>
        <p:spPr>
          <a:xfrm>
            <a:off x="3700589" y="1906358"/>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21" name="TextBox 20">
            <a:extLst>
              <a:ext uri="{FF2B5EF4-FFF2-40B4-BE49-F238E27FC236}">
                <a16:creationId xmlns:a16="http://schemas.microsoft.com/office/drawing/2014/main" id="{1015C5ED-E916-41FB-A29F-8B8A40E785ED}"/>
              </a:ext>
            </a:extLst>
          </p:cNvPr>
          <p:cNvSpPr txBox="1"/>
          <p:nvPr/>
        </p:nvSpPr>
        <p:spPr>
          <a:xfrm>
            <a:off x="3700589" y="2248767"/>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(2)</a:t>
            </a:r>
          </a:p>
        </p:txBody>
      </p:sp>
      <p:grpSp>
        <p:nvGrpSpPr>
          <p:cNvPr id="22" name="Group 249">
            <a:extLst>
              <a:ext uri="{FF2B5EF4-FFF2-40B4-BE49-F238E27FC236}">
                <a16:creationId xmlns:a16="http://schemas.microsoft.com/office/drawing/2014/main" id="{F762E507-E91C-43EC-B53D-5C375F081FA3}"/>
              </a:ext>
            </a:extLst>
          </p:cNvPr>
          <p:cNvGrpSpPr/>
          <p:nvPr/>
        </p:nvGrpSpPr>
        <p:grpSpPr>
          <a:xfrm>
            <a:off x="5559260" y="2067240"/>
            <a:ext cx="3372591" cy="461665"/>
            <a:chOff x="5474525" y="1996717"/>
            <a:chExt cx="3372591" cy="699811"/>
          </a:xfrm>
        </p:grpSpPr>
        <p:sp>
          <p:nvSpPr>
            <p:cNvPr id="23" name="Rounded Rectangle 251">
              <a:extLst>
                <a:ext uri="{FF2B5EF4-FFF2-40B4-BE49-F238E27FC236}">
                  <a16:creationId xmlns:a16="http://schemas.microsoft.com/office/drawing/2014/main" id="{DC283B07-7329-4336-A875-22A89B9D9E4D}"/>
                </a:ext>
              </a:extLst>
            </p:cNvPr>
            <p:cNvSpPr/>
            <p:nvPr/>
          </p:nvSpPr>
          <p:spPr>
            <a:xfrm>
              <a:off x="5474525" y="2010227"/>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4" name="TextBox 23">
              <a:extLst>
                <a:ext uri="{FF2B5EF4-FFF2-40B4-BE49-F238E27FC236}">
                  <a16:creationId xmlns:a16="http://schemas.microsoft.com/office/drawing/2014/main" id="{574B9DD9-FED9-4DC2-9F9D-8E6900427C00}"/>
                </a:ext>
              </a:extLst>
            </p:cNvPr>
            <p:cNvSpPr txBox="1"/>
            <p:nvPr/>
          </p:nvSpPr>
          <p:spPr>
            <a:xfrm>
              <a:off x="5605153" y="1996717"/>
              <a:ext cx="3111335" cy="699811"/>
            </a:xfrm>
            <a:prstGeom prst="rect">
              <a:avLst/>
            </a:prstGeom>
            <a:noFill/>
          </p:spPr>
          <p:txBody>
            <a:bodyPr wrap="square" rtlCol="0">
              <a:spAutoFit/>
            </a:bodyPr>
            <a:lstStyle/>
            <a:p>
              <a:pPr algn="ctr"/>
              <a:r>
                <a:rPr lang="en-GB" sz="1200" b="1" dirty="0">
                  <a:latin typeface="Arial" pitchFamily="34" charset="0"/>
                  <a:cs typeface="Arial" pitchFamily="34" charset="0"/>
                </a:rPr>
                <a:t>Now we will make the numbers in front of </a:t>
              </a:r>
              <a:r>
                <a:rPr lang="en-GB" sz="1200" b="1" i="1" dirty="0">
                  <a:latin typeface="Arial" pitchFamily="34" charset="0"/>
                  <a:cs typeface="Arial" pitchFamily="34" charset="0"/>
                </a:rPr>
                <a:t>y</a:t>
              </a:r>
              <a:r>
                <a:rPr lang="en-GB" sz="1200" b="1" dirty="0">
                  <a:latin typeface="Arial" pitchFamily="34" charset="0"/>
                  <a:cs typeface="Arial" pitchFamily="34" charset="0"/>
                </a:rPr>
                <a:t> the same in both equations.</a:t>
              </a:r>
              <a:endParaRPr lang="en-GB" sz="1200" b="1" i="1" dirty="0">
                <a:latin typeface="Arial" pitchFamily="34" charset="0"/>
                <a:cs typeface="Arial" pitchFamily="34" charset="0"/>
              </a:endParaRPr>
            </a:p>
          </p:txBody>
        </p:sp>
      </p:grpSp>
      <p:grpSp>
        <p:nvGrpSpPr>
          <p:cNvPr id="26" name="Group 261">
            <a:extLst>
              <a:ext uri="{FF2B5EF4-FFF2-40B4-BE49-F238E27FC236}">
                <a16:creationId xmlns:a16="http://schemas.microsoft.com/office/drawing/2014/main" id="{E1948E54-C98C-48D6-BF6A-6A8C2457012B}"/>
              </a:ext>
            </a:extLst>
          </p:cNvPr>
          <p:cNvGrpSpPr/>
          <p:nvPr/>
        </p:nvGrpSpPr>
        <p:grpSpPr>
          <a:xfrm>
            <a:off x="5559260" y="2644264"/>
            <a:ext cx="3372591" cy="728541"/>
            <a:chOff x="5474525" y="1951939"/>
            <a:chExt cx="3372591" cy="870848"/>
          </a:xfrm>
        </p:grpSpPr>
        <p:sp>
          <p:nvSpPr>
            <p:cNvPr id="27" name="Rounded Rectangle 262">
              <a:extLst>
                <a:ext uri="{FF2B5EF4-FFF2-40B4-BE49-F238E27FC236}">
                  <a16:creationId xmlns:a16="http://schemas.microsoft.com/office/drawing/2014/main" id="{95C2389B-09CD-4E94-B084-2FDE5FC6B3CE}"/>
                </a:ext>
              </a:extLst>
            </p:cNvPr>
            <p:cNvSpPr/>
            <p:nvPr/>
          </p:nvSpPr>
          <p:spPr>
            <a:xfrm>
              <a:off x="5474525" y="1951939"/>
              <a:ext cx="3372591" cy="870848"/>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8" name="TextBox 27">
              <a:extLst>
                <a:ext uri="{FF2B5EF4-FFF2-40B4-BE49-F238E27FC236}">
                  <a16:creationId xmlns:a16="http://schemas.microsoft.com/office/drawing/2014/main" id="{F3AD84FE-D3BF-4372-AF82-8699947C0116}"/>
                </a:ext>
              </a:extLst>
            </p:cNvPr>
            <p:cNvSpPr txBox="1"/>
            <p:nvPr/>
          </p:nvSpPr>
          <p:spPr>
            <a:xfrm>
              <a:off x="5605153" y="2001073"/>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To do this, first we multiply every term in equation (1) by </a:t>
              </a:r>
              <a:r>
                <a:rPr lang="en-GB" sz="1200" b="1" dirty="0">
                  <a:solidFill>
                    <a:srgbClr val="C00000"/>
                  </a:solidFill>
                  <a:latin typeface="Arial" pitchFamily="34" charset="0"/>
                  <a:cs typeface="Arial" pitchFamily="34" charset="0"/>
                </a:rPr>
                <a:t>4</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2).</a:t>
              </a:r>
              <a:endParaRPr lang="en-GB" sz="1200" b="1" i="1" dirty="0">
                <a:latin typeface="Arial" pitchFamily="34" charset="0"/>
                <a:cs typeface="Arial" pitchFamily="34" charset="0"/>
              </a:endParaRPr>
            </a:p>
          </p:txBody>
        </p:sp>
      </p:grpSp>
      <p:sp>
        <p:nvSpPr>
          <p:cNvPr id="29" name="TextBox 28">
            <a:extLst>
              <a:ext uri="{FF2B5EF4-FFF2-40B4-BE49-F238E27FC236}">
                <a16:creationId xmlns:a16="http://schemas.microsoft.com/office/drawing/2014/main" id="{0815A5CC-822D-4682-93E8-8BC8C2798227}"/>
              </a:ext>
            </a:extLst>
          </p:cNvPr>
          <p:cNvSpPr txBox="1"/>
          <p:nvPr/>
        </p:nvSpPr>
        <p:spPr>
          <a:xfrm>
            <a:off x="857436" y="2697658"/>
            <a:ext cx="3062736" cy="400110"/>
          </a:xfrm>
          <a:prstGeom prst="rect">
            <a:avLst/>
          </a:prstGeom>
          <a:noFill/>
        </p:spPr>
        <p:txBody>
          <a:bodyPr wrap="square" rtlCol="0">
            <a:spAutoFit/>
          </a:bodyPr>
          <a:lstStyle/>
          <a:p>
            <a:r>
              <a:rPr lang="en-GB" sz="2000" b="1" dirty="0">
                <a:latin typeface="Arial" pitchFamily="34" charset="0"/>
                <a:cs typeface="Arial" pitchFamily="34" charset="0"/>
              </a:rPr>
              <a:t>   8</a:t>
            </a:r>
            <a:r>
              <a:rPr lang="en-GB" sz="2000" b="1" i="1" dirty="0">
                <a:latin typeface="Arial" pitchFamily="34" charset="0"/>
                <a:cs typeface="Arial" pitchFamily="34" charset="0"/>
              </a:rPr>
              <a:t>x</a:t>
            </a:r>
            <a:r>
              <a:rPr lang="en-GB" sz="2000" b="1" dirty="0">
                <a:latin typeface="Arial" pitchFamily="34" charset="0"/>
                <a:cs typeface="Arial" pitchFamily="34" charset="0"/>
              </a:rPr>
              <a:t>  +  28</a:t>
            </a:r>
            <a:r>
              <a:rPr lang="en-GB" sz="2000" b="1" i="1" dirty="0">
                <a:latin typeface="Arial" pitchFamily="34" charset="0"/>
                <a:cs typeface="Arial" pitchFamily="34" charset="0"/>
              </a:rPr>
              <a:t>y</a:t>
            </a:r>
            <a:r>
              <a:rPr lang="en-GB" sz="2000" b="1" dirty="0">
                <a:latin typeface="Arial" pitchFamily="34" charset="0"/>
                <a:cs typeface="Arial" pitchFamily="34" charset="0"/>
              </a:rPr>
              <a:t>   =   248</a:t>
            </a:r>
          </a:p>
        </p:txBody>
      </p:sp>
      <p:sp>
        <p:nvSpPr>
          <p:cNvPr id="30" name="TextBox 29">
            <a:extLst>
              <a:ext uri="{FF2B5EF4-FFF2-40B4-BE49-F238E27FC236}">
                <a16:creationId xmlns:a16="http://schemas.microsoft.com/office/drawing/2014/main" id="{BB0DB148-ECCD-40A1-B649-36D16E3214B9}"/>
              </a:ext>
            </a:extLst>
          </p:cNvPr>
          <p:cNvSpPr txBox="1"/>
          <p:nvPr/>
        </p:nvSpPr>
        <p:spPr>
          <a:xfrm>
            <a:off x="902958" y="3040067"/>
            <a:ext cx="3062736" cy="400110"/>
          </a:xfrm>
          <a:prstGeom prst="rect">
            <a:avLst/>
          </a:prstGeom>
          <a:noFill/>
        </p:spPr>
        <p:txBody>
          <a:bodyPr wrap="square" rtlCol="0">
            <a:spAutoFit/>
          </a:bodyPr>
          <a:lstStyle/>
          <a:p>
            <a:r>
              <a:rPr lang="en-GB" sz="2000" b="1" dirty="0">
                <a:latin typeface="Arial" pitchFamily="34" charset="0"/>
                <a:cs typeface="Arial" pitchFamily="34" charset="0"/>
              </a:rPr>
              <a:t>35</a:t>
            </a:r>
            <a:r>
              <a:rPr lang="en-GB" sz="2000" b="1" i="1" dirty="0">
                <a:latin typeface="Arial" pitchFamily="34" charset="0"/>
                <a:cs typeface="Arial" pitchFamily="34" charset="0"/>
              </a:rPr>
              <a:t>x</a:t>
            </a:r>
            <a:r>
              <a:rPr lang="en-GB" sz="2000" b="1" dirty="0">
                <a:latin typeface="Arial" pitchFamily="34" charset="0"/>
                <a:cs typeface="Arial" pitchFamily="34" charset="0"/>
              </a:rPr>
              <a:t>  +  28</a:t>
            </a:r>
            <a:r>
              <a:rPr lang="en-GB" sz="2000" b="1" i="1" dirty="0">
                <a:latin typeface="Arial" pitchFamily="34" charset="0"/>
                <a:cs typeface="Arial" pitchFamily="34" charset="0"/>
              </a:rPr>
              <a:t>y</a:t>
            </a:r>
            <a:r>
              <a:rPr lang="en-GB" sz="2000" b="1" dirty="0">
                <a:latin typeface="Arial" pitchFamily="34" charset="0"/>
                <a:cs typeface="Arial" pitchFamily="34" charset="0"/>
              </a:rPr>
              <a:t>   =   329</a:t>
            </a:r>
          </a:p>
        </p:txBody>
      </p:sp>
      <p:cxnSp>
        <p:nvCxnSpPr>
          <p:cNvPr id="31" name="Straight Connector 30">
            <a:extLst>
              <a:ext uri="{FF2B5EF4-FFF2-40B4-BE49-F238E27FC236}">
                <a16:creationId xmlns:a16="http://schemas.microsoft.com/office/drawing/2014/main" id="{8FE4FAF3-8A15-4E69-B9C7-3C7769D55733}"/>
              </a:ext>
            </a:extLst>
          </p:cNvPr>
          <p:cNvCxnSpPr/>
          <p:nvPr/>
        </p:nvCxnSpPr>
        <p:spPr>
          <a:xfrm>
            <a:off x="868206" y="3459063"/>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BDECCC7-E5AC-4908-9844-154A123F1B7A}"/>
              </a:ext>
            </a:extLst>
          </p:cNvPr>
          <p:cNvSpPr txBox="1"/>
          <p:nvPr/>
        </p:nvSpPr>
        <p:spPr>
          <a:xfrm>
            <a:off x="3700589" y="2697658"/>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C00000"/>
                </a:solidFill>
                <a:latin typeface="Arial" pitchFamily="34" charset="0"/>
                <a:cs typeface="Arial" pitchFamily="34" charset="0"/>
              </a:rPr>
              <a:t>4</a:t>
            </a:r>
            <a:r>
              <a:rPr lang="en-GB" sz="2000" b="1" dirty="0">
                <a:solidFill>
                  <a:srgbClr val="793905"/>
                </a:solidFill>
                <a:latin typeface="Arial" pitchFamily="34" charset="0"/>
                <a:cs typeface="Arial" pitchFamily="34" charset="0"/>
              </a:rPr>
              <a:t> x (1)</a:t>
            </a:r>
          </a:p>
        </p:txBody>
      </p:sp>
      <p:sp>
        <p:nvSpPr>
          <p:cNvPr id="33" name="TextBox 32">
            <a:extLst>
              <a:ext uri="{FF2B5EF4-FFF2-40B4-BE49-F238E27FC236}">
                <a16:creationId xmlns:a16="http://schemas.microsoft.com/office/drawing/2014/main" id="{605BCAC3-055A-41BE-90F2-022123DA5BBD}"/>
              </a:ext>
            </a:extLst>
          </p:cNvPr>
          <p:cNvSpPr txBox="1"/>
          <p:nvPr/>
        </p:nvSpPr>
        <p:spPr>
          <a:xfrm>
            <a:off x="3700589" y="3040067"/>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7030A0"/>
                </a:solidFill>
                <a:latin typeface="Arial" pitchFamily="34" charset="0"/>
                <a:cs typeface="Arial" pitchFamily="34" charset="0"/>
              </a:rPr>
              <a:t>7</a:t>
            </a:r>
            <a:r>
              <a:rPr lang="en-GB" sz="2000" b="1" dirty="0">
                <a:solidFill>
                  <a:srgbClr val="793905"/>
                </a:solidFill>
                <a:latin typeface="Arial" pitchFamily="34" charset="0"/>
                <a:cs typeface="Arial" pitchFamily="34" charset="0"/>
              </a:rPr>
              <a:t> x (2)</a:t>
            </a:r>
          </a:p>
        </p:txBody>
      </p:sp>
      <p:grpSp>
        <p:nvGrpSpPr>
          <p:cNvPr id="34" name="Group 269">
            <a:extLst>
              <a:ext uri="{FF2B5EF4-FFF2-40B4-BE49-F238E27FC236}">
                <a16:creationId xmlns:a16="http://schemas.microsoft.com/office/drawing/2014/main" id="{36804547-65B4-4D7F-973E-356CF926767B}"/>
              </a:ext>
            </a:extLst>
          </p:cNvPr>
          <p:cNvGrpSpPr/>
          <p:nvPr/>
        </p:nvGrpSpPr>
        <p:grpSpPr>
          <a:xfrm>
            <a:off x="5559260" y="3465012"/>
            <a:ext cx="3372591" cy="728542"/>
            <a:chOff x="5474525" y="1951942"/>
            <a:chExt cx="3372591" cy="870849"/>
          </a:xfrm>
        </p:grpSpPr>
        <p:sp>
          <p:nvSpPr>
            <p:cNvPr id="35" name="Rounded Rectangle 270">
              <a:extLst>
                <a:ext uri="{FF2B5EF4-FFF2-40B4-BE49-F238E27FC236}">
                  <a16:creationId xmlns:a16="http://schemas.microsoft.com/office/drawing/2014/main" id="{9DD1DD45-A592-4D5D-8DD7-831F80AD9A6F}"/>
                </a:ext>
              </a:extLst>
            </p:cNvPr>
            <p:cNvSpPr/>
            <p:nvPr/>
          </p:nvSpPr>
          <p:spPr>
            <a:xfrm>
              <a:off x="5474525" y="1951942"/>
              <a:ext cx="3372591" cy="87084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6" name="TextBox 35">
              <a:extLst>
                <a:ext uri="{FF2B5EF4-FFF2-40B4-BE49-F238E27FC236}">
                  <a16:creationId xmlns:a16="http://schemas.microsoft.com/office/drawing/2014/main" id="{6E6D421D-2971-48AC-B94F-766D373AA065}"/>
                </a:ext>
              </a:extLst>
            </p:cNvPr>
            <p:cNvSpPr txBox="1"/>
            <p:nvPr/>
          </p:nvSpPr>
          <p:spPr>
            <a:xfrm>
              <a:off x="5605153" y="2001077"/>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Next we multiply every term in equation (2) by </a:t>
              </a:r>
              <a:r>
                <a:rPr lang="en-GB" sz="1200" b="1" dirty="0">
                  <a:solidFill>
                    <a:srgbClr val="7030A0"/>
                  </a:solidFill>
                  <a:latin typeface="Arial" pitchFamily="34" charset="0"/>
                  <a:cs typeface="Arial" pitchFamily="34" charset="0"/>
                </a:rPr>
                <a:t>7</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1).</a:t>
              </a:r>
              <a:endParaRPr lang="en-GB" sz="1200" b="1" i="1" dirty="0">
                <a:latin typeface="Arial" pitchFamily="34" charset="0"/>
                <a:cs typeface="Arial" pitchFamily="34" charset="0"/>
              </a:endParaRPr>
            </a:p>
          </p:txBody>
        </p:sp>
      </p:grpSp>
      <p:sp>
        <p:nvSpPr>
          <p:cNvPr id="37" name="TextBox 36">
            <a:extLst>
              <a:ext uri="{FF2B5EF4-FFF2-40B4-BE49-F238E27FC236}">
                <a16:creationId xmlns:a16="http://schemas.microsoft.com/office/drawing/2014/main" id="{879E21F4-44E0-4ADF-9D57-4D2892AD5225}"/>
              </a:ext>
            </a:extLst>
          </p:cNvPr>
          <p:cNvSpPr txBox="1"/>
          <p:nvPr/>
        </p:nvSpPr>
        <p:spPr>
          <a:xfrm>
            <a:off x="877228" y="3468202"/>
            <a:ext cx="919231" cy="400110"/>
          </a:xfrm>
          <a:prstGeom prst="rect">
            <a:avLst/>
          </a:prstGeom>
          <a:noFill/>
        </p:spPr>
        <p:txBody>
          <a:bodyPr wrap="square" rtlCol="0">
            <a:spAutoFit/>
          </a:bodyPr>
          <a:lstStyle/>
          <a:p>
            <a:r>
              <a:rPr lang="en-GB" sz="2000" b="1" dirty="0">
                <a:latin typeface="Arial" pitchFamily="34" charset="0"/>
                <a:cs typeface="Arial" pitchFamily="34" charset="0"/>
              </a:rPr>
              <a:t>-27</a:t>
            </a:r>
            <a:r>
              <a:rPr lang="en-GB" sz="2000" b="1" i="1" dirty="0">
                <a:latin typeface="Arial" pitchFamily="34" charset="0"/>
                <a:cs typeface="Arial" pitchFamily="34" charset="0"/>
              </a:rPr>
              <a:t>x</a:t>
            </a:r>
          </a:p>
        </p:txBody>
      </p:sp>
      <p:sp>
        <p:nvSpPr>
          <p:cNvPr id="38" name="TextBox 37">
            <a:extLst>
              <a:ext uri="{FF2B5EF4-FFF2-40B4-BE49-F238E27FC236}">
                <a16:creationId xmlns:a16="http://schemas.microsoft.com/office/drawing/2014/main" id="{091E095D-6921-4133-AD12-CF965EDED3C7}"/>
              </a:ext>
            </a:extLst>
          </p:cNvPr>
          <p:cNvSpPr txBox="1"/>
          <p:nvPr/>
        </p:nvSpPr>
        <p:spPr>
          <a:xfrm>
            <a:off x="2306473" y="3468202"/>
            <a:ext cx="1360597" cy="400110"/>
          </a:xfrm>
          <a:prstGeom prst="rect">
            <a:avLst/>
          </a:prstGeom>
          <a:noFill/>
        </p:spPr>
        <p:txBody>
          <a:bodyPr wrap="square" rtlCol="0">
            <a:spAutoFit/>
          </a:bodyPr>
          <a:lstStyle/>
          <a:p>
            <a:r>
              <a:rPr lang="en-GB" sz="2000" b="1" dirty="0">
                <a:latin typeface="Arial" pitchFamily="34" charset="0"/>
                <a:cs typeface="Arial" pitchFamily="34" charset="0"/>
              </a:rPr>
              <a:t>=   -81</a:t>
            </a:r>
          </a:p>
        </p:txBody>
      </p:sp>
      <p:grpSp>
        <p:nvGrpSpPr>
          <p:cNvPr id="39" name="Group 431">
            <a:extLst>
              <a:ext uri="{FF2B5EF4-FFF2-40B4-BE49-F238E27FC236}">
                <a16:creationId xmlns:a16="http://schemas.microsoft.com/office/drawing/2014/main" id="{C2B7E619-BCCB-4D25-AB3D-DE4818A395C4}"/>
              </a:ext>
            </a:extLst>
          </p:cNvPr>
          <p:cNvGrpSpPr/>
          <p:nvPr/>
        </p:nvGrpSpPr>
        <p:grpSpPr>
          <a:xfrm>
            <a:off x="5717814" y="4323566"/>
            <a:ext cx="3055482" cy="461665"/>
            <a:chOff x="5474525" y="2011153"/>
            <a:chExt cx="3372591" cy="699809"/>
          </a:xfrm>
        </p:grpSpPr>
        <p:sp>
          <p:nvSpPr>
            <p:cNvPr id="40" name="Rounded Rectangle 432">
              <a:extLst>
                <a:ext uri="{FF2B5EF4-FFF2-40B4-BE49-F238E27FC236}">
                  <a16:creationId xmlns:a16="http://schemas.microsoft.com/office/drawing/2014/main" id="{85008F3D-FCFC-44E0-933A-DE67ACF50A23}"/>
                </a:ext>
              </a:extLst>
            </p:cNvPr>
            <p:cNvSpPr/>
            <p:nvPr/>
          </p:nvSpPr>
          <p:spPr>
            <a:xfrm>
              <a:off x="5474525" y="2025460"/>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1" name="TextBox 40">
              <a:extLst>
                <a:ext uri="{FF2B5EF4-FFF2-40B4-BE49-F238E27FC236}">
                  <a16:creationId xmlns:a16="http://schemas.microsoft.com/office/drawing/2014/main" id="{1886CC20-EF77-4AEC-A827-1F58EAB48FAF}"/>
                </a:ext>
              </a:extLst>
            </p:cNvPr>
            <p:cNvSpPr txBox="1"/>
            <p:nvPr/>
          </p:nvSpPr>
          <p:spPr>
            <a:xfrm>
              <a:off x="5594059" y="2011153"/>
              <a:ext cx="3133523" cy="699809"/>
            </a:xfrm>
            <a:prstGeom prst="rect">
              <a:avLst/>
            </a:prstGeom>
            <a:noFill/>
          </p:spPr>
          <p:txBody>
            <a:bodyPr wrap="square" rtlCol="0">
              <a:spAutoFit/>
            </a:bodyPr>
            <a:lstStyle/>
            <a:p>
              <a:pPr algn="ctr"/>
              <a:r>
                <a:rPr lang="en-GB" sz="1200" b="1" dirty="0">
                  <a:latin typeface="Arial" pitchFamily="34" charset="0"/>
                  <a:cs typeface="Arial" pitchFamily="34" charset="0"/>
                </a:rPr>
                <a:t>Now we SUBTRACT corresponding terms to eliminate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42" name="Group 434">
            <a:extLst>
              <a:ext uri="{FF2B5EF4-FFF2-40B4-BE49-F238E27FC236}">
                <a16:creationId xmlns:a16="http://schemas.microsoft.com/office/drawing/2014/main" id="{B10C8E69-8438-4BD5-BE5F-57C972323D4D}"/>
              </a:ext>
            </a:extLst>
          </p:cNvPr>
          <p:cNvGrpSpPr/>
          <p:nvPr/>
        </p:nvGrpSpPr>
        <p:grpSpPr>
          <a:xfrm>
            <a:off x="5717814" y="4906105"/>
            <a:ext cx="3055482" cy="330999"/>
            <a:chOff x="5474525" y="1935097"/>
            <a:chExt cx="3372591" cy="431236"/>
          </a:xfrm>
        </p:grpSpPr>
        <p:sp>
          <p:nvSpPr>
            <p:cNvPr id="43" name="Rounded Rectangle 435">
              <a:extLst>
                <a:ext uri="{FF2B5EF4-FFF2-40B4-BE49-F238E27FC236}">
                  <a16:creationId xmlns:a16="http://schemas.microsoft.com/office/drawing/2014/main" id="{4CAA7057-6980-4057-B3B9-0F3CB9065CD8}"/>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4" name="TextBox 43">
              <a:extLst>
                <a:ext uri="{FF2B5EF4-FFF2-40B4-BE49-F238E27FC236}">
                  <a16:creationId xmlns:a16="http://schemas.microsoft.com/office/drawing/2014/main" id="{57C5E711-56EC-4EB6-ACB3-2689591841A6}"/>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Then divide both sides by -27.</a:t>
              </a:r>
              <a:endParaRPr lang="en-GB" sz="1200" b="1" i="1" dirty="0">
                <a:latin typeface="Arial" pitchFamily="34" charset="0"/>
                <a:cs typeface="Arial" pitchFamily="34" charset="0"/>
              </a:endParaRPr>
            </a:p>
          </p:txBody>
        </p:sp>
      </p:grpSp>
      <p:sp>
        <p:nvSpPr>
          <p:cNvPr id="45" name="TextBox 44">
            <a:extLst>
              <a:ext uri="{FF2B5EF4-FFF2-40B4-BE49-F238E27FC236}">
                <a16:creationId xmlns:a16="http://schemas.microsoft.com/office/drawing/2014/main" id="{DEC6F72A-5F0C-44B2-A49D-5C33C1452397}"/>
              </a:ext>
            </a:extLst>
          </p:cNvPr>
          <p:cNvSpPr txBox="1"/>
          <p:nvPr/>
        </p:nvSpPr>
        <p:spPr>
          <a:xfrm>
            <a:off x="1243385" y="3774988"/>
            <a:ext cx="2697684" cy="400110"/>
          </a:xfrm>
          <a:prstGeom prst="rect">
            <a:avLst/>
          </a:prstGeom>
          <a:noFill/>
        </p:spPr>
        <p:txBody>
          <a:bodyPr wrap="square" rtlCol="0">
            <a:spAutoFit/>
          </a:bodyPr>
          <a:lstStyle/>
          <a:p>
            <a:r>
              <a:rPr lang="en-GB" sz="2000" b="1" i="1" dirty="0">
                <a:latin typeface="Arial" pitchFamily="34" charset="0"/>
                <a:cs typeface="Arial" pitchFamily="34" charset="0"/>
              </a:rPr>
              <a:t>x</a:t>
            </a:r>
            <a:r>
              <a:rPr lang="en-GB" sz="2000" b="1" dirty="0">
                <a:latin typeface="Arial" pitchFamily="34" charset="0"/>
                <a:cs typeface="Arial" pitchFamily="34" charset="0"/>
              </a:rPr>
              <a:t>    =    -81  ÷  -27</a:t>
            </a:r>
          </a:p>
        </p:txBody>
      </p:sp>
      <p:cxnSp>
        <p:nvCxnSpPr>
          <p:cNvPr id="46" name="Straight Connector 45">
            <a:extLst>
              <a:ext uri="{FF2B5EF4-FFF2-40B4-BE49-F238E27FC236}">
                <a16:creationId xmlns:a16="http://schemas.microsoft.com/office/drawing/2014/main" id="{60216706-BE20-4ED5-9BEE-227BE4729D9D}"/>
              </a:ext>
            </a:extLst>
          </p:cNvPr>
          <p:cNvCxnSpPr/>
          <p:nvPr/>
        </p:nvCxnSpPr>
        <p:spPr>
          <a:xfrm>
            <a:off x="868206" y="4731859"/>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47" name="Group 440">
            <a:extLst>
              <a:ext uri="{FF2B5EF4-FFF2-40B4-BE49-F238E27FC236}">
                <a16:creationId xmlns:a16="http://schemas.microsoft.com/office/drawing/2014/main" id="{45B0B905-B88C-45A3-A03C-E6944F4A5DFE}"/>
              </a:ext>
            </a:extLst>
          </p:cNvPr>
          <p:cNvGrpSpPr/>
          <p:nvPr/>
        </p:nvGrpSpPr>
        <p:grpSpPr>
          <a:xfrm>
            <a:off x="5717814" y="5319188"/>
            <a:ext cx="3055482" cy="330999"/>
            <a:chOff x="5474525" y="1935097"/>
            <a:chExt cx="3372591" cy="431236"/>
          </a:xfrm>
        </p:grpSpPr>
        <p:sp>
          <p:nvSpPr>
            <p:cNvPr id="48" name="Rounded Rectangle 441">
              <a:extLst>
                <a:ext uri="{FF2B5EF4-FFF2-40B4-BE49-F238E27FC236}">
                  <a16:creationId xmlns:a16="http://schemas.microsoft.com/office/drawing/2014/main" id="{3E9FE5FB-2027-4A7B-BA09-012B8B7CB74A}"/>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9" name="TextBox 48">
              <a:extLst>
                <a:ext uri="{FF2B5EF4-FFF2-40B4-BE49-F238E27FC236}">
                  <a16:creationId xmlns:a16="http://schemas.microsoft.com/office/drawing/2014/main" id="{6C0B93CC-4325-4E37-B394-C19D1CD773DC}"/>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Now substitute for x = </a:t>
              </a:r>
              <a:r>
                <a:rPr lang="en-GB" sz="1200" b="1" dirty="0">
                  <a:solidFill>
                    <a:srgbClr val="C00000"/>
                  </a:solidFill>
                  <a:latin typeface="Arial" pitchFamily="34" charset="0"/>
                  <a:cs typeface="Arial" pitchFamily="34" charset="0"/>
                </a:rPr>
                <a:t>3</a:t>
              </a:r>
              <a:r>
                <a:rPr lang="en-GB" sz="1200" b="1" dirty="0">
                  <a:latin typeface="Arial" pitchFamily="34" charset="0"/>
                  <a:cs typeface="Arial" pitchFamily="34" charset="0"/>
                </a:rPr>
                <a:t> into (1).</a:t>
              </a:r>
              <a:endParaRPr lang="en-GB" sz="1200" b="1" i="1" dirty="0">
                <a:latin typeface="Arial" pitchFamily="34" charset="0"/>
                <a:cs typeface="Arial" pitchFamily="34" charset="0"/>
              </a:endParaRPr>
            </a:p>
          </p:txBody>
        </p:sp>
      </p:grpSp>
      <p:sp>
        <p:nvSpPr>
          <p:cNvPr id="50" name="TextBox 49">
            <a:extLst>
              <a:ext uri="{FF2B5EF4-FFF2-40B4-BE49-F238E27FC236}">
                <a16:creationId xmlns:a16="http://schemas.microsoft.com/office/drawing/2014/main" id="{3BD13734-EBEA-4065-8CAD-6A10C0432F8A}"/>
              </a:ext>
            </a:extLst>
          </p:cNvPr>
          <p:cNvSpPr txBox="1"/>
          <p:nvPr/>
        </p:nvSpPr>
        <p:spPr>
          <a:xfrm>
            <a:off x="952435" y="4723927"/>
            <a:ext cx="3062736" cy="400110"/>
          </a:xfrm>
          <a:prstGeom prst="rect">
            <a:avLst/>
          </a:prstGeom>
          <a:noFill/>
        </p:spPr>
        <p:txBody>
          <a:bodyPr wrap="square" rtlCol="0">
            <a:spAutoFit/>
          </a:bodyPr>
          <a:lstStyle/>
          <a:p>
            <a:r>
              <a:rPr lang="en-GB" sz="2000" b="1" dirty="0">
                <a:latin typeface="Arial" pitchFamily="34" charset="0"/>
                <a:cs typeface="Arial" pitchFamily="34" charset="0"/>
              </a:rPr>
              <a:t>2 </a:t>
            </a:r>
            <a:r>
              <a:rPr lang="en-GB" sz="2000" dirty="0">
                <a:latin typeface="Arial" pitchFamily="34" charset="0"/>
                <a:cs typeface="Arial" pitchFamily="34" charset="0"/>
              </a:rPr>
              <a:t>x</a:t>
            </a:r>
            <a:r>
              <a:rPr lang="en-GB" sz="2000" b="1" dirty="0">
                <a:latin typeface="Arial" pitchFamily="34" charset="0"/>
                <a:cs typeface="Arial" pitchFamily="34" charset="0"/>
              </a:rPr>
              <a:t> </a:t>
            </a:r>
            <a:r>
              <a:rPr lang="en-GB" sz="2000" b="1" dirty="0">
                <a:solidFill>
                  <a:srgbClr val="C00000"/>
                </a:solidFill>
                <a:latin typeface="Arial" pitchFamily="34" charset="0"/>
                <a:cs typeface="Arial" pitchFamily="34" charset="0"/>
              </a:rPr>
              <a:t>3</a:t>
            </a:r>
            <a:r>
              <a:rPr lang="en-GB" sz="2000" b="1" dirty="0">
                <a:latin typeface="Arial" pitchFamily="34" charset="0"/>
                <a:cs typeface="Arial" pitchFamily="34" charset="0"/>
              </a:rPr>
              <a:t>  +  7</a:t>
            </a:r>
            <a:r>
              <a:rPr lang="en-GB" sz="2000" b="1" i="1" dirty="0">
                <a:latin typeface="Arial" pitchFamily="34" charset="0"/>
                <a:cs typeface="Arial" pitchFamily="34" charset="0"/>
              </a:rPr>
              <a:t>y</a:t>
            </a:r>
            <a:r>
              <a:rPr lang="en-GB" sz="2000" b="1" dirty="0">
                <a:latin typeface="Arial" pitchFamily="34" charset="0"/>
                <a:cs typeface="Arial" pitchFamily="34" charset="0"/>
              </a:rPr>
              <a:t>   =   62</a:t>
            </a:r>
          </a:p>
        </p:txBody>
      </p:sp>
      <p:sp>
        <p:nvSpPr>
          <p:cNvPr id="51" name="TextBox 50">
            <a:extLst>
              <a:ext uri="{FF2B5EF4-FFF2-40B4-BE49-F238E27FC236}">
                <a16:creationId xmlns:a16="http://schemas.microsoft.com/office/drawing/2014/main" id="{FF178E00-0576-4439-B481-D90EAD27F1BE}"/>
              </a:ext>
            </a:extLst>
          </p:cNvPr>
          <p:cNvSpPr txBox="1"/>
          <p:nvPr/>
        </p:nvSpPr>
        <p:spPr>
          <a:xfrm>
            <a:off x="3700589" y="4723927"/>
            <a:ext cx="115487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52" name="TextBox 51">
            <a:extLst>
              <a:ext uri="{FF2B5EF4-FFF2-40B4-BE49-F238E27FC236}">
                <a16:creationId xmlns:a16="http://schemas.microsoft.com/office/drawing/2014/main" id="{ACB3BE0B-ED22-46FD-BC33-5FEDA1557FD9}"/>
              </a:ext>
            </a:extLst>
          </p:cNvPr>
          <p:cNvSpPr txBox="1"/>
          <p:nvPr/>
        </p:nvSpPr>
        <p:spPr>
          <a:xfrm>
            <a:off x="1021708" y="5034170"/>
            <a:ext cx="3062736" cy="400110"/>
          </a:xfrm>
          <a:prstGeom prst="rect">
            <a:avLst/>
          </a:prstGeom>
          <a:noFill/>
        </p:spPr>
        <p:txBody>
          <a:bodyPr wrap="square" rtlCol="0">
            <a:spAutoFit/>
          </a:bodyPr>
          <a:lstStyle/>
          <a:p>
            <a:r>
              <a:rPr lang="en-GB" sz="2000" b="1" dirty="0">
                <a:latin typeface="Arial" pitchFamily="34" charset="0"/>
                <a:cs typeface="Arial" pitchFamily="34" charset="0"/>
              </a:rPr>
              <a:t>6  +  7</a:t>
            </a:r>
            <a:r>
              <a:rPr lang="en-GB" sz="2000" b="1" i="1" dirty="0">
                <a:latin typeface="Arial" pitchFamily="34" charset="0"/>
                <a:cs typeface="Arial" pitchFamily="34" charset="0"/>
              </a:rPr>
              <a:t>y</a:t>
            </a:r>
            <a:r>
              <a:rPr lang="en-GB" sz="2000" b="1" dirty="0">
                <a:latin typeface="Arial" pitchFamily="34" charset="0"/>
                <a:cs typeface="Arial" pitchFamily="34" charset="0"/>
              </a:rPr>
              <a:t>   =   62</a:t>
            </a:r>
          </a:p>
        </p:txBody>
      </p:sp>
      <p:grpSp>
        <p:nvGrpSpPr>
          <p:cNvPr id="53" name="Group 446">
            <a:extLst>
              <a:ext uri="{FF2B5EF4-FFF2-40B4-BE49-F238E27FC236}">
                <a16:creationId xmlns:a16="http://schemas.microsoft.com/office/drawing/2014/main" id="{9D72FAEC-C7C1-4229-A3DB-4430852A0D8A}"/>
              </a:ext>
            </a:extLst>
          </p:cNvPr>
          <p:cNvGrpSpPr/>
          <p:nvPr/>
        </p:nvGrpSpPr>
        <p:grpSpPr>
          <a:xfrm>
            <a:off x="5717814" y="5732271"/>
            <a:ext cx="3055482" cy="330999"/>
            <a:chOff x="5474525" y="1935097"/>
            <a:chExt cx="3372591" cy="431236"/>
          </a:xfrm>
        </p:grpSpPr>
        <p:sp>
          <p:nvSpPr>
            <p:cNvPr id="54" name="Rounded Rectangle 447">
              <a:extLst>
                <a:ext uri="{FF2B5EF4-FFF2-40B4-BE49-F238E27FC236}">
                  <a16:creationId xmlns:a16="http://schemas.microsoft.com/office/drawing/2014/main" id="{03E57560-8636-4AC3-8E36-206A77BFBFCC}"/>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55" name="TextBox 54">
              <a:extLst>
                <a:ext uri="{FF2B5EF4-FFF2-40B4-BE49-F238E27FC236}">
                  <a16:creationId xmlns:a16="http://schemas.microsoft.com/office/drawing/2014/main" id="{48193EF9-FF3E-4199-81EE-7CAC922B4583}"/>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Take 6 from both sides</a:t>
              </a:r>
              <a:endParaRPr lang="en-GB" sz="1200" b="1" i="1" dirty="0">
                <a:latin typeface="Arial" pitchFamily="34" charset="0"/>
                <a:cs typeface="Arial" pitchFamily="34" charset="0"/>
              </a:endParaRPr>
            </a:p>
          </p:txBody>
        </p:sp>
      </p:grpSp>
      <p:sp>
        <p:nvSpPr>
          <p:cNvPr id="56" name="TextBox 55">
            <a:extLst>
              <a:ext uri="{FF2B5EF4-FFF2-40B4-BE49-F238E27FC236}">
                <a16:creationId xmlns:a16="http://schemas.microsoft.com/office/drawing/2014/main" id="{A017C069-1145-4FC0-A750-9696BDA43753}"/>
              </a:ext>
            </a:extLst>
          </p:cNvPr>
          <p:cNvSpPr txBox="1"/>
          <p:nvPr/>
        </p:nvSpPr>
        <p:spPr>
          <a:xfrm>
            <a:off x="1114732" y="5344413"/>
            <a:ext cx="3062736" cy="400110"/>
          </a:xfrm>
          <a:prstGeom prst="rect">
            <a:avLst/>
          </a:prstGeom>
          <a:noFill/>
        </p:spPr>
        <p:txBody>
          <a:bodyPr wrap="square" rtlCol="0">
            <a:spAutoFit/>
          </a:bodyPr>
          <a:lstStyle/>
          <a:p>
            <a:r>
              <a:rPr lang="en-GB" sz="2000" b="1" dirty="0">
                <a:latin typeface="Arial" pitchFamily="34" charset="0"/>
                <a:cs typeface="Arial" pitchFamily="34" charset="0"/>
              </a:rPr>
              <a:t>7</a:t>
            </a:r>
            <a:r>
              <a:rPr lang="en-GB" sz="2000" b="1" i="1" dirty="0">
                <a:latin typeface="Arial" pitchFamily="34" charset="0"/>
                <a:cs typeface="Arial" pitchFamily="34" charset="0"/>
              </a:rPr>
              <a:t>y</a:t>
            </a:r>
            <a:r>
              <a:rPr lang="en-GB" sz="2000" b="1" dirty="0">
                <a:latin typeface="Arial" pitchFamily="34" charset="0"/>
                <a:cs typeface="Arial" pitchFamily="34" charset="0"/>
              </a:rPr>
              <a:t>   =   56</a:t>
            </a:r>
          </a:p>
        </p:txBody>
      </p:sp>
      <p:sp>
        <p:nvSpPr>
          <p:cNvPr id="57" name="TextBox 56">
            <a:extLst>
              <a:ext uri="{FF2B5EF4-FFF2-40B4-BE49-F238E27FC236}">
                <a16:creationId xmlns:a16="http://schemas.microsoft.com/office/drawing/2014/main" id="{F6796E48-9A2A-498F-8395-91779DC91DCA}"/>
              </a:ext>
            </a:extLst>
          </p:cNvPr>
          <p:cNvSpPr txBox="1"/>
          <p:nvPr/>
        </p:nvSpPr>
        <p:spPr>
          <a:xfrm>
            <a:off x="1195880" y="5654656"/>
            <a:ext cx="3062736" cy="400110"/>
          </a:xfrm>
          <a:prstGeom prst="rect">
            <a:avLst/>
          </a:prstGeom>
          <a:noFill/>
        </p:spPr>
        <p:txBody>
          <a:bodyPr wrap="square" rtlCol="0">
            <a:spAutoFit/>
          </a:bodyPr>
          <a:lstStyle/>
          <a:p>
            <a:r>
              <a:rPr lang="en-GB" sz="2000" b="1" i="1" dirty="0">
                <a:latin typeface="Arial" pitchFamily="34" charset="0"/>
                <a:cs typeface="Arial" pitchFamily="34" charset="0"/>
              </a:rPr>
              <a:t> y</a:t>
            </a:r>
            <a:r>
              <a:rPr lang="en-GB" sz="2000" b="1" dirty="0">
                <a:latin typeface="Arial" pitchFamily="34" charset="0"/>
                <a:cs typeface="Arial" pitchFamily="34" charset="0"/>
              </a:rPr>
              <a:t>   =   56  ÷  7</a:t>
            </a:r>
          </a:p>
        </p:txBody>
      </p:sp>
      <p:grpSp>
        <p:nvGrpSpPr>
          <p:cNvPr id="58" name="Group 451">
            <a:extLst>
              <a:ext uri="{FF2B5EF4-FFF2-40B4-BE49-F238E27FC236}">
                <a16:creationId xmlns:a16="http://schemas.microsoft.com/office/drawing/2014/main" id="{F4091D16-D7DF-40F9-960B-ACAC10BD9E40}"/>
              </a:ext>
            </a:extLst>
          </p:cNvPr>
          <p:cNvGrpSpPr/>
          <p:nvPr/>
        </p:nvGrpSpPr>
        <p:grpSpPr>
          <a:xfrm>
            <a:off x="5717814" y="6145355"/>
            <a:ext cx="3055482" cy="330999"/>
            <a:chOff x="5474525" y="1935097"/>
            <a:chExt cx="3372591" cy="431236"/>
          </a:xfrm>
        </p:grpSpPr>
        <p:sp>
          <p:nvSpPr>
            <p:cNvPr id="59" name="Rounded Rectangle 452">
              <a:extLst>
                <a:ext uri="{FF2B5EF4-FFF2-40B4-BE49-F238E27FC236}">
                  <a16:creationId xmlns:a16="http://schemas.microsoft.com/office/drawing/2014/main" id="{601EE59F-03B7-4849-9FAF-5F472E09A0E8}"/>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60" name="TextBox 59">
              <a:extLst>
                <a:ext uri="{FF2B5EF4-FFF2-40B4-BE49-F238E27FC236}">
                  <a16:creationId xmlns:a16="http://schemas.microsoft.com/office/drawing/2014/main" id="{1B2E086F-1A56-41C5-97E3-8115B312EC57}"/>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Divide both sides by 7 to give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61" name="Group 458">
            <a:extLst>
              <a:ext uri="{FF2B5EF4-FFF2-40B4-BE49-F238E27FC236}">
                <a16:creationId xmlns:a16="http://schemas.microsoft.com/office/drawing/2014/main" id="{3DE6410E-D0B1-42C6-B011-C2459D2F0BC6}"/>
              </a:ext>
            </a:extLst>
          </p:cNvPr>
          <p:cNvGrpSpPr/>
          <p:nvPr/>
        </p:nvGrpSpPr>
        <p:grpSpPr>
          <a:xfrm>
            <a:off x="978793" y="4196375"/>
            <a:ext cx="1962150" cy="400110"/>
            <a:chOff x="742950" y="3773899"/>
            <a:chExt cx="1962150" cy="400110"/>
          </a:xfrm>
        </p:grpSpPr>
        <p:sp>
          <p:nvSpPr>
            <p:cNvPr id="62" name="Rounded Rectangle 457">
              <a:extLst>
                <a:ext uri="{FF2B5EF4-FFF2-40B4-BE49-F238E27FC236}">
                  <a16:creationId xmlns:a16="http://schemas.microsoft.com/office/drawing/2014/main" id="{59781133-47DC-45B5-8000-D206413CBD12}"/>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3" name="TextBox 62">
              <a:extLst>
                <a:ext uri="{FF2B5EF4-FFF2-40B4-BE49-F238E27FC236}">
                  <a16:creationId xmlns:a16="http://schemas.microsoft.com/office/drawing/2014/main" id="{A8B136D7-00DC-4FBB-8C82-6CAF16BB2885}"/>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x</a:t>
              </a:r>
              <a:r>
                <a:rPr lang="en-GB" sz="2000" b="1" dirty="0">
                  <a:latin typeface="Arial" pitchFamily="34" charset="0"/>
                  <a:cs typeface="Arial" pitchFamily="34" charset="0"/>
                </a:rPr>
                <a:t>    =    3</a:t>
              </a:r>
            </a:p>
          </p:txBody>
        </p:sp>
      </p:grpSp>
      <p:grpSp>
        <p:nvGrpSpPr>
          <p:cNvPr id="64" name="Group 459">
            <a:extLst>
              <a:ext uri="{FF2B5EF4-FFF2-40B4-BE49-F238E27FC236}">
                <a16:creationId xmlns:a16="http://schemas.microsoft.com/office/drawing/2014/main" id="{D9FED948-943D-4086-A6CE-FFE4BF858BFC}"/>
              </a:ext>
            </a:extLst>
          </p:cNvPr>
          <p:cNvGrpSpPr/>
          <p:nvPr/>
        </p:nvGrpSpPr>
        <p:grpSpPr>
          <a:xfrm>
            <a:off x="978793" y="6044936"/>
            <a:ext cx="1962150" cy="400110"/>
            <a:chOff x="742950" y="3773899"/>
            <a:chExt cx="1962150" cy="400110"/>
          </a:xfrm>
        </p:grpSpPr>
        <p:sp>
          <p:nvSpPr>
            <p:cNvPr id="65" name="Rounded Rectangle 460">
              <a:extLst>
                <a:ext uri="{FF2B5EF4-FFF2-40B4-BE49-F238E27FC236}">
                  <a16:creationId xmlns:a16="http://schemas.microsoft.com/office/drawing/2014/main" id="{BBD0A7FB-A063-4ACE-AD3E-47BD1EB4D666}"/>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6" name="TextBox 65">
              <a:extLst>
                <a:ext uri="{FF2B5EF4-FFF2-40B4-BE49-F238E27FC236}">
                  <a16:creationId xmlns:a16="http://schemas.microsoft.com/office/drawing/2014/main" id="{960D2489-B51C-4BE2-B4B0-1537667331C7}"/>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y</a:t>
              </a:r>
              <a:r>
                <a:rPr lang="en-GB" sz="2000" b="1" dirty="0">
                  <a:latin typeface="Arial" pitchFamily="34" charset="0"/>
                  <a:cs typeface="Arial" pitchFamily="34" charset="0"/>
                </a:rPr>
                <a:t>    =    8</a:t>
              </a:r>
            </a:p>
          </p:txBody>
        </p:sp>
      </p:grpSp>
      <p:sp>
        <p:nvSpPr>
          <p:cNvPr id="67" name="Oval 66">
            <a:extLst>
              <a:ext uri="{FF2B5EF4-FFF2-40B4-BE49-F238E27FC236}">
                <a16:creationId xmlns:a16="http://schemas.microsoft.com/office/drawing/2014/main" id="{AF3F53C5-8363-4E95-AD85-9745E0C947CA}"/>
              </a:ext>
            </a:extLst>
          </p:cNvPr>
          <p:cNvSpPr/>
          <p:nvPr/>
        </p:nvSpPr>
        <p:spPr>
          <a:xfrm>
            <a:off x="925076" y="2708476"/>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8" name="Oval 67">
            <a:extLst>
              <a:ext uri="{FF2B5EF4-FFF2-40B4-BE49-F238E27FC236}">
                <a16:creationId xmlns:a16="http://schemas.microsoft.com/office/drawing/2014/main" id="{41467879-2CFD-4EAB-AD85-053D2D92CE16}"/>
              </a:ext>
            </a:extLst>
          </p:cNvPr>
          <p:cNvSpPr/>
          <p:nvPr/>
        </p:nvSpPr>
        <p:spPr>
          <a:xfrm>
            <a:off x="925076" y="3053656"/>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9" name="Oval 68">
            <a:extLst>
              <a:ext uri="{FF2B5EF4-FFF2-40B4-BE49-F238E27FC236}">
                <a16:creationId xmlns:a16="http://schemas.microsoft.com/office/drawing/2014/main" id="{F336B13E-84F4-41CE-AFBB-5F9F2024030B}"/>
              </a:ext>
            </a:extLst>
          </p:cNvPr>
          <p:cNvSpPr/>
          <p:nvPr/>
        </p:nvSpPr>
        <p:spPr>
          <a:xfrm>
            <a:off x="2705411" y="2708476"/>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70" name="Oval 69">
            <a:extLst>
              <a:ext uri="{FF2B5EF4-FFF2-40B4-BE49-F238E27FC236}">
                <a16:creationId xmlns:a16="http://schemas.microsoft.com/office/drawing/2014/main" id="{A72BDC43-158E-42DC-90A7-43C6EE84CDE3}"/>
              </a:ext>
            </a:extLst>
          </p:cNvPr>
          <p:cNvSpPr/>
          <p:nvPr/>
        </p:nvSpPr>
        <p:spPr>
          <a:xfrm>
            <a:off x="2705411" y="3053656"/>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Tree>
    <p:extLst>
      <p:ext uri="{BB962C8B-B14F-4D97-AF65-F5344CB8AC3E}">
        <p14:creationId xmlns:p14="http://schemas.microsoft.com/office/powerpoint/2010/main" val="258350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1000"/>
                                        <p:tgtEl>
                                          <p:spTgt spid="14"/>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1000"/>
                                        <p:tgtEl>
                                          <p:spTgt spid="15"/>
                                        </p:tgtEl>
                                      </p:cBhvr>
                                    </p:animEffect>
                                  </p:childTnLst>
                                </p:cTn>
                              </p:par>
                            </p:childTnLst>
                          </p:cTn>
                        </p:par>
                        <p:par>
                          <p:cTn id="18" fill="hold">
                            <p:stCondLst>
                              <p:cond delay="2500"/>
                            </p:stCondLst>
                            <p:childTnLst>
                              <p:par>
                                <p:cTn id="19" presetID="22" presetClass="entr" presetSubtype="8"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500" fill="hold"/>
                                        <p:tgtEl>
                                          <p:spTgt spid="16"/>
                                        </p:tgtEl>
                                        <p:attrNameLst>
                                          <p:attrName>ppt_w</p:attrName>
                                        </p:attrNameLst>
                                      </p:cBhvr>
                                      <p:tavLst>
                                        <p:tav tm="0">
                                          <p:val>
                                            <p:fltVal val="0"/>
                                          </p:val>
                                        </p:tav>
                                        <p:tav tm="100000">
                                          <p:val>
                                            <p:strVal val="#ppt_w"/>
                                          </p:val>
                                        </p:tav>
                                      </p:tavLst>
                                    </p:anim>
                                    <p:anim calcmode="lin" valueType="num">
                                      <p:cBhvr>
                                        <p:cTn id="27" dur="500" fill="hold"/>
                                        <p:tgtEl>
                                          <p:spTgt spid="16"/>
                                        </p:tgtEl>
                                        <p:attrNameLst>
                                          <p:attrName>ppt_h</p:attrName>
                                        </p:attrNameLst>
                                      </p:cBhvr>
                                      <p:tavLst>
                                        <p:tav tm="0">
                                          <p:val>
                                            <p:fltVal val="0"/>
                                          </p:val>
                                        </p:tav>
                                        <p:tav tm="100000">
                                          <p:val>
                                            <p:strVal val="#ppt_h"/>
                                          </p:val>
                                        </p:tav>
                                      </p:tavLst>
                                    </p:anim>
                                    <p:animEffect transition="in" filter="fade">
                                      <p:cBhvr>
                                        <p:cTn id="28" dur="500"/>
                                        <p:tgtEl>
                                          <p:spTgt spid="16"/>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animEffect transition="in" filter="fade">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1000"/>
                                        <p:tgtEl>
                                          <p:spTgt spid="29"/>
                                        </p:tgtEl>
                                      </p:cBhvr>
                                    </p:animEffect>
                                  </p:childTnLst>
                                </p:cTn>
                              </p:par>
                            </p:childTnLst>
                          </p:cTn>
                        </p:par>
                        <p:par>
                          <p:cTn id="55" fill="hold">
                            <p:stCondLst>
                              <p:cond delay="1500"/>
                            </p:stCondLst>
                            <p:childTnLst>
                              <p:par>
                                <p:cTn id="56" presetID="22" presetClass="entr" presetSubtype="8" fill="hold" grpId="0"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left)">
                                      <p:cBhvr>
                                        <p:cTn id="58" dur="10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anim calcmode="lin" valueType="num">
                                      <p:cBhvr>
                                        <p:cTn id="63" dur="500" fill="hold"/>
                                        <p:tgtEl>
                                          <p:spTgt spid="34"/>
                                        </p:tgtEl>
                                        <p:attrNameLst>
                                          <p:attrName>ppt_w</p:attrName>
                                        </p:attrNameLst>
                                      </p:cBhvr>
                                      <p:tavLst>
                                        <p:tav tm="0">
                                          <p:val>
                                            <p:fltVal val="0"/>
                                          </p:val>
                                        </p:tav>
                                        <p:tav tm="100000">
                                          <p:val>
                                            <p:strVal val="#ppt_w"/>
                                          </p:val>
                                        </p:tav>
                                      </p:tavLst>
                                    </p:anim>
                                    <p:anim calcmode="lin" valueType="num">
                                      <p:cBhvr>
                                        <p:cTn id="64" dur="500" fill="hold"/>
                                        <p:tgtEl>
                                          <p:spTgt spid="34"/>
                                        </p:tgtEl>
                                        <p:attrNameLst>
                                          <p:attrName>ppt_h</p:attrName>
                                        </p:attrNameLst>
                                      </p:cBhvr>
                                      <p:tavLst>
                                        <p:tav tm="0">
                                          <p:val>
                                            <p:fltVal val="0"/>
                                          </p:val>
                                        </p:tav>
                                        <p:tav tm="100000">
                                          <p:val>
                                            <p:strVal val="#ppt_h"/>
                                          </p:val>
                                        </p:tav>
                                      </p:tavLst>
                                    </p:anim>
                                    <p:animEffect transition="in" filter="fade">
                                      <p:cBhvr>
                                        <p:cTn id="65" dur="500"/>
                                        <p:tgtEl>
                                          <p:spTgt spid="34"/>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1000"/>
                                        <p:tgtEl>
                                          <p:spTgt spid="30"/>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left)">
                                      <p:cBhvr>
                                        <p:cTn id="73" dur="1000"/>
                                        <p:tgtEl>
                                          <p:spTgt spid="33"/>
                                        </p:tgtEl>
                                      </p:cBhvr>
                                    </p:animEffect>
                                  </p:childTnLst>
                                </p:cTn>
                              </p:par>
                            </p:childTnLst>
                          </p:cTn>
                        </p:par>
                        <p:par>
                          <p:cTn id="74" fill="hold">
                            <p:stCondLst>
                              <p:cond delay="2500"/>
                            </p:stCondLst>
                            <p:childTnLst>
                              <p:par>
                                <p:cTn id="75" presetID="22" presetClass="entr" presetSubtype="8" fill="hold" nodeType="after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0" fill="hold" nodeType="clickEffect">
                                  <p:stCondLst>
                                    <p:cond delay="0"/>
                                  </p:stCondLst>
                                  <p:childTnLst>
                                    <p:set>
                                      <p:cBhvr>
                                        <p:cTn id="81" dur="1" fill="hold">
                                          <p:stCondLst>
                                            <p:cond delay="0"/>
                                          </p:stCondLst>
                                        </p:cTn>
                                        <p:tgtEl>
                                          <p:spTgt spid="39"/>
                                        </p:tgtEl>
                                        <p:attrNameLst>
                                          <p:attrName>style.visibility</p:attrName>
                                        </p:attrNameLst>
                                      </p:cBhvr>
                                      <p:to>
                                        <p:strVal val="visible"/>
                                      </p:to>
                                    </p:set>
                                    <p:anim calcmode="lin" valueType="num">
                                      <p:cBhvr>
                                        <p:cTn id="82" dur="500" fill="hold"/>
                                        <p:tgtEl>
                                          <p:spTgt spid="39"/>
                                        </p:tgtEl>
                                        <p:attrNameLst>
                                          <p:attrName>ppt_w</p:attrName>
                                        </p:attrNameLst>
                                      </p:cBhvr>
                                      <p:tavLst>
                                        <p:tav tm="0">
                                          <p:val>
                                            <p:fltVal val="0"/>
                                          </p:val>
                                        </p:tav>
                                        <p:tav tm="100000">
                                          <p:val>
                                            <p:strVal val="#ppt_w"/>
                                          </p:val>
                                        </p:tav>
                                      </p:tavLst>
                                    </p:anim>
                                    <p:anim calcmode="lin" valueType="num">
                                      <p:cBhvr>
                                        <p:cTn id="83" dur="500" fill="hold"/>
                                        <p:tgtEl>
                                          <p:spTgt spid="39"/>
                                        </p:tgtEl>
                                        <p:attrNameLst>
                                          <p:attrName>ppt_h</p:attrName>
                                        </p:attrNameLst>
                                      </p:cBhvr>
                                      <p:tavLst>
                                        <p:tav tm="0">
                                          <p:val>
                                            <p:fltVal val="0"/>
                                          </p:val>
                                        </p:tav>
                                        <p:tav tm="100000">
                                          <p:val>
                                            <p:strVal val="#ppt_h"/>
                                          </p:val>
                                        </p:tav>
                                      </p:tavLst>
                                    </p:anim>
                                    <p:animEffect transition="in" filter="fade">
                                      <p:cBhvr>
                                        <p:cTn id="84" dur="500"/>
                                        <p:tgtEl>
                                          <p:spTgt spid="39"/>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0" fill="hold" grpId="0" nodeType="clickEffect">
                                  <p:stCondLst>
                                    <p:cond delay="0"/>
                                  </p:stCondLst>
                                  <p:childTnLst>
                                    <p:set>
                                      <p:cBhvr>
                                        <p:cTn id="88" dur="1" fill="hold">
                                          <p:stCondLst>
                                            <p:cond delay="0"/>
                                          </p:stCondLst>
                                        </p:cTn>
                                        <p:tgtEl>
                                          <p:spTgt spid="67"/>
                                        </p:tgtEl>
                                        <p:attrNameLst>
                                          <p:attrName>style.visibility</p:attrName>
                                        </p:attrNameLst>
                                      </p:cBhvr>
                                      <p:to>
                                        <p:strVal val="visible"/>
                                      </p:to>
                                    </p:set>
                                    <p:anim calcmode="lin" valueType="num">
                                      <p:cBhvr>
                                        <p:cTn id="89" dur="1000" fill="hold"/>
                                        <p:tgtEl>
                                          <p:spTgt spid="67"/>
                                        </p:tgtEl>
                                        <p:attrNameLst>
                                          <p:attrName>ppt_w</p:attrName>
                                        </p:attrNameLst>
                                      </p:cBhvr>
                                      <p:tavLst>
                                        <p:tav tm="0">
                                          <p:val>
                                            <p:fltVal val="0"/>
                                          </p:val>
                                        </p:tav>
                                        <p:tav tm="100000">
                                          <p:val>
                                            <p:strVal val="#ppt_w"/>
                                          </p:val>
                                        </p:tav>
                                      </p:tavLst>
                                    </p:anim>
                                    <p:anim calcmode="lin" valueType="num">
                                      <p:cBhvr>
                                        <p:cTn id="90" dur="1000" fill="hold"/>
                                        <p:tgtEl>
                                          <p:spTgt spid="67"/>
                                        </p:tgtEl>
                                        <p:attrNameLst>
                                          <p:attrName>ppt_h</p:attrName>
                                        </p:attrNameLst>
                                      </p:cBhvr>
                                      <p:tavLst>
                                        <p:tav tm="0">
                                          <p:val>
                                            <p:fltVal val="0"/>
                                          </p:val>
                                        </p:tav>
                                        <p:tav tm="100000">
                                          <p:val>
                                            <p:strVal val="#ppt_h"/>
                                          </p:val>
                                        </p:tav>
                                      </p:tavLst>
                                    </p:anim>
                                    <p:animEffect transition="in" filter="fade">
                                      <p:cBhvr>
                                        <p:cTn id="91" dur="1000"/>
                                        <p:tgtEl>
                                          <p:spTgt spid="67"/>
                                        </p:tgtEl>
                                      </p:cBhvr>
                                    </p:animEffect>
                                  </p:childTnLst>
                                </p:cTn>
                              </p:par>
                            </p:childTnLst>
                          </p:cTn>
                        </p:par>
                        <p:par>
                          <p:cTn id="92" fill="hold">
                            <p:stCondLst>
                              <p:cond delay="1000"/>
                            </p:stCondLst>
                            <p:childTnLst>
                              <p:par>
                                <p:cTn id="93" presetID="53" presetClass="entr" presetSubtype="0" fill="hold" grpId="0" nodeType="afterEffect">
                                  <p:stCondLst>
                                    <p:cond delay="0"/>
                                  </p:stCondLst>
                                  <p:childTnLst>
                                    <p:set>
                                      <p:cBhvr>
                                        <p:cTn id="94" dur="1" fill="hold">
                                          <p:stCondLst>
                                            <p:cond delay="0"/>
                                          </p:stCondLst>
                                        </p:cTn>
                                        <p:tgtEl>
                                          <p:spTgt spid="68"/>
                                        </p:tgtEl>
                                        <p:attrNameLst>
                                          <p:attrName>style.visibility</p:attrName>
                                        </p:attrNameLst>
                                      </p:cBhvr>
                                      <p:to>
                                        <p:strVal val="visible"/>
                                      </p:to>
                                    </p:set>
                                    <p:anim calcmode="lin" valueType="num">
                                      <p:cBhvr>
                                        <p:cTn id="95" dur="1000" fill="hold"/>
                                        <p:tgtEl>
                                          <p:spTgt spid="68"/>
                                        </p:tgtEl>
                                        <p:attrNameLst>
                                          <p:attrName>ppt_w</p:attrName>
                                        </p:attrNameLst>
                                      </p:cBhvr>
                                      <p:tavLst>
                                        <p:tav tm="0">
                                          <p:val>
                                            <p:fltVal val="0"/>
                                          </p:val>
                                        </p:tav>
                                        <p:tav tm="100000">
                                          <p:val>
                                            <p:strVal val="#ppt_w"/>
                                          </p:val>
                                        </p:tav>
                                      </p:tavLst>
                                    </p:anim>
                                    <p:anim calcmode="lin" valueType="num">
                                      <p:cBhvr>
                                        <p:cTn id="96" dur="1000" fill="hold"/>
                                        <p:tgtEl>
                                          <p:spTgt spid="68"/>
                                        </p:tgtEl>
                                        <p:attrNameLst>
                                          <p:attrName>ppt_h</p:attrName>
                                        </p:attrNameLst>
                                      </p:cBhvr>
                                      <p:tavLst>
                                        <p:tav tm="0">
                                          <p:val>
                                            <p:fltVal val="0"/>
                                          </p:val>
                                        </p:tav>
                                        <p:tav tm="100000">
                                          <p:val>
                                            <p:strVal val="#ppt_h"/>
                                          </p:val>
                                        </p:tav>
                                      </p:tavLst>
                                    </p:anim>
                                    <p:animEffect transition="in" filter="fade">
                                      <p:cBhvr>
                                        <p:cTn id="97" dur="1000"/>
                                        <p:tgtEl>
                                          <p:spTgt spid="6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wipe(left)">
                                      <p:cBhvr>
                                        <p:cTn id="102" dur="1000"/>
                                        <p:tgtEl>
                                          <p:spTgt spid="37"/>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0" fill="hold" grpId="0" nodeType="clickEffect">
                                  <p:stCondLst>
                                    <p:cond delay="0"/>
                                  </p:stCondLst>
                                  <p:childTnLst>
                                    <p:set>
                                      <p:cBhvr>
                                        <p:cTn id="106" dur="1" fill="hold">
                                          <p:stCondLst>
                                            <p:cond delay="0"/>
                                          </p:stCondLst>
                                        </p:cTn>
                                        <p:tgtEl>
                                          <p:spTgt spid="69"/>
                                        </p:tgtEl>
                                        <p:attrNameLst>
                                          <p:attrName>style.visibility</p:attrName>
                                        </p:attrNameLst>
                                      </p:cBhvr>
                                      <p:to>
                                        <p:strVal val="visible"/>
                                      </p:to>
                                    </p:set>
                                    <p:anim calcmode="lin" valueType="num">
                                      <p:cBhvr>
                                        <p:cTn id="107" dur="1000" fill="hold"/>
                                        <p:tgtEl>
                                          <p:spTgt spid="69"/>
                                        </p:tgtEl>
                                        <p:attrNameLst>
                                          <p:attrName>ppt_w</p:attrName>
                                        </p:attrNameLst>
                                      </p:cBhvr>
                                      <p:tavLst>
                                        <p:tav tm="0">
                                          <p:val>
                                            <p:fltVal val="0"/>
                                          </p:val>
                                        </p:tav>
                                        <p:tav tm="100000">
                                          <p:val>
                                            <p:strVal val="#ppt_w"/>
                                          </p:val>
                                        </p:tav>
                                      </p:tavLst>
                                    </p:anim>
                                    <p:anim calcmode="lin" valueType="num">
                                      <p:cBhvr>
                                        <p:cTn id="108" dur="1000" fill="hold"/>
                                        <p:tgtEl>
                                          <p:spTgt spid="69"/>
                                        </p:tgtEl>
                                        <p:attrNameLst>
                                          <p:attrName>ppt_h</p:attrName>
                                        </p:attrNameLst>
                                      </p:cBhvr>
                                      <p:tavLst>
                                        <p:tav tm="0">
                                          <p:val>
                                            <p:fltVal val="0"/>
                                          </p:val>
                                        </p:tav>
                                        <p:tav tm="100000">
                                          <p:val>
                                            <p:strVal val="#ppt_h"/>
                                          </p:val>
                                        </p:tav>
                                      </p:tavLst>
                                    </p:anim>
                                    <p:animEffect transition="in" filter="fade">
                                      <p:cBhvr>
                                        <p:cTn id="109" dur="1000"/>
                                        <p:tgtEl>
                                          <p:spTgt spid="69"/>
                                        </p:tgtEl>
                                      </p:cBhvr>
                                    </p:animEffect>
                                  </p:childTnLst>
                                </p:cTn>
                              </p:par>
                            </p:childTnLst>
                          </p:cTn>
                        </p:par>
                        <p:par>
                          <p:cTn id="110" fill="hold">
                            <p:stCondLst>
                              <p:cond delay="1000"/>
                            </p:stCondLst>
                            <p:childTnLst>
                              <p:par>
                                <p:cTn id="111" presetID="53" presetClass="entr" presetSubtype="0" fill="hold" grpId="0" nodeType="afterEffect">
                                  <p:stCondLst>
                                    <p:cond delay="0"/>
                                  </p:stCondLst>
                                  <p:childTnLst>
                                    <p:set>
                                      <p:cBhvr>
                                        <p:cTn id="112" dur="1" fill="hold">
                                          <p:stCondLst>
                                            <p:cond delay="0"/>
                                          </p:stCondLst>
                                        </p:cTn>
                                        <p:tgtEl>
                                          <p:spTgt spid="70"/>
                                        </p:tgtEl>
                                        <p:attrNameLst>
                                          <p:attrName>style.visibility</p:attrName>
                                        </p:attrNameLst>
                                      </p:cBhvr>
                                      <p:to>
                                        <p:strVal val="visible"/>
                                      </p:to>
                                    </p:set>
                                    <p:anim calcmode="lin" valueType="num">
                                      <p:cBhvr>
                                        <p:cTn id="113" dur="1000" fill="hold"/>
                                        <p:tgtEl>
                                          <p:spTgt spid="70"/>
                                        </p:tgtEl>
                                        <p:attrNameLst>
                                          <p:attrName>ppt_w</p:attrName>
                                        </p:attrNameLst>
                                      </p:cBhvr>
                                      <p:tavLst>
                                        <p:tav tm="0">
                                          <p:val>
                                            <p:fltVal val="0"/>
                                          </p:val>
                                        </p:tav>
                                        <p:tav tm="100000">
                                          <p:val>
                                            <p:strVal val="#ppt_w"/>
                                          </p:val>
                                        </p:tav>
                                      </p:tavLst>
                                    </p:anim>
                                    <p:anim calcmode="lin" valueType="num">
                                      <p:cBhvr>
                                        <p:cTn id="114" dur="1000" fill="hold"/>
                                        <p:tgtEl>
                                          <p:spTgt spid="70"/>
                                        </p:tgtEl>
                                        <p:attrNameLst>
                                          <p:attrName>ppt_h</p:attrName>
                                        </p:attrNameLst>
                                      </p:cBhvr>
                                      <p:tavLst>
                                        <p:tav tm="0">
                                          <p:val>
                                            <p:fltVal val="0"/>
                                          </p:val>
                                        </p:tav>
                                        <p:tav tm="100000">
                                          <p:val>
                                            <p:strVal val="#ppt_h"/>
                                          </p:val>
                                        </p:tav>
                                      </p:tavLst>
                                    </p:anim>
                                    <p:animEffect transition="in" filter="fade">
                                      <p:cBhvr>
                                        <p:cTn id="115" dur="1000"/>
                                        <p:tgtEl>
                                          <p:spTgt spid="70"/>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wipe(left)">
                                      <p:cBhvr>
                                        <p:cTn id="120" dur="1000"/>
                                        <p:tgtEl>
                                          <p:spTgt spid="38"/>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0" fill="hold" nodeType="clickEffect">
                                  <p:stCondLst>
                                    <p:cond delay="0"/>
                                  </p:stCondLst>
                                  <p:childTnLst>
                                    <p:set>
                                      <p:cBhvr>
                                        <p:cTn id="124" dur="1" fill="hold">
                                          <p:stCondLst>
                                            <p:cond delay="0"/>
                                          </p:stCondLst>
                                        </p:cTn>
                                        <p:tgtEl>
                                          <p:spTgt spid="42"/>
                                        </p:tgtEl>
                                        <p:attrNameLst>
                                          <p:attrName>style.visibility</p:attrName>
                                        </p:attrNameLst>
                                      </p:cBhvr>
                                      <p:to>
                                        <p:strVal val="visible"/>
                                      </p:to>
                                    </p:set>
                                    <p:anim calcmode="lin" valueType="num">
                                      <p:cBhvr>
                                        <p:cTn id="125" dur="500" fill="hold"/>
                                        <p:tgtEl>
                                          <p:spTgt spid="42"/>
                                        </p:tgtEl>
                                        <p:attrNameLst>
                                          <p:attrName>ppt_w</p:attrName>
                                        </p:attrNameLst>
                                      </p:cBhvr>
                                      <p:tavLst>
                                        <p:tav tm="0">
                                          <p:val>
                                            <p:fltVal val="0"/>
                                          </p:val>
                                        </p:tav>
                                        <p:tav tm="100000">
                                          <p:val>
                                            <p:strVal val="#ppt_w"/>
                                          </p:val>
                                        </p:tav>
                                      </p:tavLst>
                                    </p:anim>
                                    <p:anim calcmode="lin" valueType="num">
                                      <p:cBhvr>
                                        <p:cTn id="126" dur="500" fill="hold"/>
                                        <p:tgtEl>
                                          <p:spTgt spid="42"/>
                                        </p:tgtEl>
                                        <p:attrNameLst>
                                          <p:attrName>ppt_h</p:attrName>
                                        </p:attrNameLst>
                                      </p:cBhvr>
                                      <p:tavLst>
                                        <p:tav tm="0">
                                          <p:val>
                                            <p:fltVal val="0"/>
                                          </p:val>
                                        </p:tav>
                                        <p:tav tm="100000">
                                          <p:val>
                                            <p:strVal val="#ppt_h"/>
                                          </p:val>
                                        </p:tav>
                                      </p:tavLst>
                                    </p:anim>
                                    <p:animEffect transition="in" filter="fade">
                                      <p:cBhvr>
                                        <p:cTn id="127" dur="500"/>
                                        <p:tgtEl>
                                          <p:spTgt spid="42"/>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wipe(left)">
                                      <p:cBhvr>
                                        <p:cTn id="132" dur="1000"/>
                                        <p:tgtEl>
                                          <p:spTgt spid="45"/>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0" fill="hold" nodeType="clickEffect">
                                  <p:stCondLst>
                                    <p:cond delay="0"/>
                                  </p:stCondLst>
                                  <p:childTnLst>
                                    <p:set>
                                      <p:cBhvr>
                                        <p:cTn id="136" dur="1" fill="hold">
                                          <p:stCondLst>
                                            <p:cond delay="0"/>
                                          </p:stCondLst>
                                        </p:cTn>
                                        <p:tgtEl>
                                          <p:spTgt spid="61"/>
                                        </p:tgtEl>
                                        <p:attrNameLst>
                                          <p:attrName>style.visibility</p:attrName>
                                        </p:attrNameLst>
                                      </p:cBhvr>
                                      <p:to>
                                        <p:strVal val="visible"/>
                                      </p:to>
                                    </p:set>
                                    <p:anim calcmode="lin" valueType="num">
                                      <p:cBhvr>
                                        <p:cTn id="137" dur="500" fill="hold"/>
                                        <p:tgtEl>
                                          <p:spTgt spid="61"/>
                                        </p:tgtEl>
                                        <p:attrNameLst>
                                          <p:attrName>ppt_w</p:attrName>
                                        </p:attrNameLst>
                                      </p:cBhvr>
                                      <p:tavLst>
                                        <p:tav tm="0">
                                          <p:val>
                                            <p:fltVal val="0"/>
                                          </p:val>
                                        </p:tav>
                                        <p:tav tm="100000">
                                          <p:val>
                                            <p:strVal val="#ppt_w"/>
                                          </p:val>
                                        </p:tav>
                                      </p:tavLst>
                                    </p:anim>
                                    <p:anim calcmode="lin" valueType="num">
                                      <p:cBhvr>
                                        <p:cTn id="138" dur="500" fill="hold"/>
                                        <p:tgtEl>
                                          <p:spTgt spid="61"/>
                                        </p:tgtEl>
                                        <p:attrNameLst>
                                          <p:attrName>ppt_h</p:attrName>
                                        </p:attrNameLst>
                                      </p:cBhvr>
                                      <p:tavLst>
                                        <p:tav tm="0">
                                          <p:val>
                                            <p:fltVal val="0"/>
                                          </p:val>
                                        </p:tav>
                                        <p:tav tm="100000">
                                          <p:val>
                                            <p:strVal val="#ppt_h"/>
                                          </p:val>
                                        </p:tav>
                                      </p:tavLst>
                                    </p:anim>
                                    <p:animEffect transition="in" filter="fade">
                                      <p:cBhvr>
                                        <p:cTn id="139" dur="500"/>
                                        <p:tgtEl>
                                          <p:spTgt spid="61"/>
                                        </p:tgtEl>
                                      </p:cBhvr>
                                    </p:animEffect>
                                  </p:childTnLst>
                                </p:cTn>
                              </p:par>
                            </p:childTnLst>
                          </p:cTn>
                        </p:par>
                        <p:par>
                          <p:cTn id="140" fill="hold">
                            <p:stCondLst>
                              <p:cond delay="500"/>
                            </p:stCondLst>
                            <p:childTnLst>
                              <p:par>
                                <p:cTn id="141" presetID="22" presetClass="entr" presetSubtype="8" fill="hold" nodeType="afterEffect">
                                  <p:stCondLst>
                                    <p:cond delay="0"/>
                                  </p:stCondLst>
                                  <p:childTnLst>
                                    <p:set>
                                      <p:cBhvr>
                                        <p:cTn id="142" dur="1" fill="hold">
                                          <p:stCondLst>
                                            <p:cond delay="0"/>
                                          </p:stCondLst>
                                        </p:cTn>
                                        <p:tgtEl>
                                          <p:spTgt spid="46"/>
                                        </p:tgtEl>
                                        <p:attrNameLst>
                                          <p:attrName>style.visibility</p:attrName>
                                        </p:attrNameLst>
                                      </p:cBhvr>
                                      <p:to>
                                        <p:strVal val="visible"/>
                                      </p:to>
                                    </p:set>
                                    <p:animEffect transition="in" filter="wipe(left)">
                                      <p:cBhvr>
                                        <p:cTn id="143" dur="500"/>
                                        <p:tgtEl>
                                          <p:spTgt spid="46"/>
                                        </p:tgtEl>
                                      </p:cBhvr>
                                    </p:animEffect>
                                  </p:childTnLst>
                                </p:cTn>
                              </p:par>
                            </p:childTnLst>
                          </p:cTn>
                        </p:par>
                      </p:childTnLst>
                    </p:cTn>
                  </p:par>
                  <p:par>
                    <p:cTn id="144" fill="hold">
                      <p:stCondLst>
                        <p:cond delay="indefinite"/>
                      </p:stCondLst>
                      <p:childTnLst>
                        <p:par>
                          <p:cTn id="145" fill="hold">
                            <p:stCondLst>
                              <p:cond delay="0"/>
                            </p:stCondLst>
                            <p:childTnLst>
                              <p:par>
                                <p:cTn id="146" presetID="53" presetClass="entr" presetSubtype="0" fill="hold" nodeType="clickEffect">
                                  <p:stCondLst>
                                    <p:cond delay="0"/>
                                  </p:stCondLst>
                                  <p:childTnLst>
                                    <p:set>
                                      <p:cBhvr>
                                        <p:cTn id="147" dur="1" fill="hold">
                                          <p:stCondLst>
                                            <p:cond delay="0"/>
                                          </p:stCondLst>
                                        </p:cTn>
                                        <p:tgtEl>
                                          <p:spTgt spid="47"/>
                                        </p:tgtEl>
                                        <p:attrNameLst>
                                          <p:attrName>style.visibility</p:attrName>
                                        </p:attrNameLst>
                                      </p:cBhvr>
                                      <p:to>
                                        <p:strVal val="visible"/>
                                      </p:to>
                                    </p:set>
                                    <p:anim calcmode="lin" valueType="num">
                                      <p:cBhvr>
                                        <p:cTn id="148" dur="500" fill="hold"/>
                                        <p:tgtEl>
                                          <p:spTgt spid="47"/>
                                        </p:tgtEl>
                                        <p:attrNameLst>
                                          <p:attrName>ppt_w</p:attrName>
                                        </p:attrNameLst>
                                      </p:cBhvr>
                                      <p:tavLst>
                                        <p:tav tm="0">
                                          <p:val>
                                            <p:fltVal val="0"/>
                                          </p:val>
                                        </p:tav>
                                        <p:tav tm="100000">
                                          <p:val>
                                            <p:strVal val="#ppt_w"/>
                                          </p:val>
                                        </p:tav>
                                      </p:tavLst>
                                    </p:anim>
                                    <p:anim calcmode="lin" valueType="num">
                                      <p:cBhvr>
                                        <p:cTn id="149" dur="500" fill="hold"/>
                                        <p:tgtEl>
                                          <p:spTgt spid="47"/>
                                        </p:tgtEl>
                                        <p:attrNameLst>
                                          <p:attrName>ppt_h</p:attrName>
                                        </p:attrNameLst>
                                      </p:cBhvr>
                                      <p:tavLst>
                                        <p:tav tm="0">
                                          <p:val>
                                            <p:fltVal val="0"/>
                                          </p:val>
                                        </p:tav>
                                        <p:tav tm="100000">
                                          <p:val>
                                            <p:strVal val="#ppt_h"/>
                                          </p:val>
                                        </p:tav>
                                      </p:tavLst>
                                    </p:anim>
                                    <p:animEffect transition="in" filter="fade">
                                      <p:cBhvr>
                                        <p:cTn id="150" dur="500"/>
                                        <p:tgtEl>
                                          <p:spTgt spid="47"/>
                                        </p:tgtEl>
                                      </p:cBhvr>
                                    </p:animEffect>
                                  </p:childTnLst>
                                </p:cTn>
                              </p:par>
                            </p:childTnLst>
                          </p:cTn>
                        </p:par>
                        <p:par>
                          <p:cTn id="151" fill="hold">
                            <p:stCondLst>
                              <p:cond delay="500"/>
                            </p:stCondLst>
                            <p:childTnLst>
                              <p:par>
                                <p:cTn id="152" presetID="22" presetClass="entr" presetSubtype="8" fill="hold" grpId="0" nodeType="afterEffect">
                                  <p:stCondLst>
                                    <p:cond delay="0"/>
                                  </p:stCondLst>
                                  <p:childTnLst>
                                    <p:set>
                                      <p:cBhvr>
                                        <p:cTn id="153" dur="1" fill="hold">
                                          <p:stCondLst>
                                            <p:cond delay="0"/>
                                          </p:stCondLst>
                                        </p:cTn>
                                        <p:tgtEl>
                                          <p:spTgt spid="50"/>
                                        </p:tgtEl>
                                        <p:attrNameLst>
                                          <p:attrName>style.visibility</p:attrName>
                                        </p:attrNameLst>
                                      </p:cBhvr>
                                      <p:to>
                                        <p:strVal val="visible"/>
                                      </p:to>
                                    </p:set>
                                    <p:animEffect transition="in" filter="wipe(left)">
                                      <p:cBhvr>
                                        <p:cTn id="154" dur="1000"/>
                                        <p:tgtEl>
                                          <p:spTgt spid="50"/>
                                        </p:tgtEl>
                                      </p:cBhvr>
                                    </p:animEffect>
                                  </p:childTnLst>
                                </p:cTn>
                              </p:par>
                            </p:childTnLst>
                          </p:cTn>
                        </p:par>
                        <p:par>
                          <p:cTn id="155" fill="hold">
                            <p:stCondLst>
                              <p:cond delay="1500"/>
                            </p:stCondLst>
                            <p:childTnLst>
                              <p:par>
                                <p:cTn id="156" presetID="22" presetClass="entr" presetSubtype="8" fill="hold" grpId="0" nodeType="afterEffect">
                                  <p:stCondLst>
                                    <p:cond delay="0"/>
                                  </p:stCondLst>
                                  <p:childTnLst>
                                    <p:set>
                                      <p:cBhvr>
                                        <p:cTn id="157" dur="1" fill="hold">
                                          <p:stCondLst>
                                            <p:cond delay="0"/>
                                          </p:stCondLst>
                                        </p:cTn>
                                        <p:tgtEl>
                                          <p:spTgt spid="51"/>
                                        </p:tgtEl>
                                        <p:attrNameLst>
                                          <p:attrName>style.visibility</p:attrName>
                                        </p:attrNameLst>
                                      </p:cBhvr>
                                      <p:to>
                                        <p:strVal val="visible"/>
                                      </p:to>
                                    </p:set>
                                    <p:animEffect transition="in" filter="wipe(left)">
                                      <p:cBhvr>
                                        <p:cTn id="158" dur="1000"/>
                                        <p:tgtEl>
                                          <p:spTgt spid="51"/>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52"/>
                                        </p:tgtEl>
                                        <p:attrNameLst>
                                          <p:attrName>style.visibility</p:attrName>
                                        </p:attrNameLst>
                                      </p:cBhvr>
                                      <p:to>
                                        <p:strVal val="visible"/>
                                      </p:to>
                                    </p:set>
                                    <p:animEffect transition="in" filter="wipe(left)">
                                      <p:cBhvr>
                                        <p:cTn id="163" dur="1000"/>
                                        <p:tgtEl>
                                          <p:spTgt spid="52"/>
                                        </p:tgtEl>
                                      </p:cBhvr>
                                    </p:animEffect>
                                  </p:childTnLst>
                                </p:cTn>
                              </p:par>
                            </p:childTnLst>
                          </p:cTn>
                        </p:par>
                      </p:childTnLst>
                    </p:cTn>
                  </p:par>
                  <p:par>
                    <p:cTn id="164" fill="hold">
                      <p:stCondLst>
                        <p:cond delay="indefinite"/>
                      </p:stCondLst>
                      <p:childTnLst>
                        <p:par>
                          <p:cTn id="165" fill="hold">
                            <p:stCondLst>
                              <p:cond delay="0"/>
                            </p:stCondLst>
                            <p:childTnLst>
                              <p:par>
                                <p:cTn id="166" presetID="53" presetClass="entr" presetSubtype="0" fill="hold" nodeType="clickEffect">
                                  <p:stCondLst>
                                    <p:cond delay="0"/>
                                  </p:stCondLst>
                                  <p:childTnLst>
                                    <p:set>
                                      <p:cBhvr>
                                        <p:cTn id="167" dur="1" fill="hold">
                                          <p:stCondLst>
                                            <p:cond delay="0"/>
                                          </p:stCondLst>
                                        </p:cTn>
                                        <p:tgtEl>
                                          <p:spTgt spid="53"/>
                                        </p:tgtEl>
                                        <p:attrNameLst>
                                          <p:attrName>style.visibility</p:attrName>
                                        </p:attrNameLst>
                                      </p:cBhvr>
                                      <p:to>
                                        <p:strVal val="visible"/>
                                      </p:to>
                                    </p:set>
                                    <p:anim calcmode="lin" valueType="num">
                                      <p:cBhvr>
                                        <p:cTn id="168" dur="500" fill="hold"/>
                                        <p:tgtEl>
                                          <p:spTgt spid="53"/>
                                        </p:tgtEl>
                                        <p:attrNameLst>
                                          <p:attrName>ppt_w</p:attrName>
                                        </p:attrNameLst>
                                      </p:cBhvr>
                                      <p:tavLst>
                                        <p:tav tm="0">
                                          <p:val>
                                            <p:fltVal val="0"/>
                                          </p:val>
                                        </p:tav>
                                        <p:tav tm="100000">
                                          <p:val>
                                            <p:strVal val="#ppt_w"/>
                                          </p:val>
                                        </p:tav>
                                      </p:tavLst>
                                    </p:anim>
                                    <p:anim calcmode="lin" valueType="num">
                                      <p:cBhvr>
                                        <p:cTn id="169" dur="500" fill="hold"/>
                                        <p:tgtEl>
                                          <p:spTgt spid="53"/>
                                        </p:tgtEl>
                                        <p:attrNameLst>
                                          <p:attrName>ppt_h</p:attrName>
                                        </p:attrNameLst>
                                      </p:cBhvr>
                                      <p:tavLst>
                                        <p:tav tm="0">
                                          <p:val>
                                            <p:fltVal val="0"/>
                                          </p:val>
                                        </p:tav>
                                        <p:tav tm="100000">
                                          <p:val>
                                            <p:strVal val="#ppt_h"/>
                                          </p:val>
                                        </p:tav>
                                      </p:tavLst>
                                    </p:anim>
                                    <p:animEffect transition="in" filter="fade">
                                      <p:cBhvr>
                                        <p:cTn id="170" dur="500"/>
                                        <p:tgtEl>
                                          <p:spTgt spid="53"/>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56"/>
                                        </p:tgtEl>
                                        <p:attrNameLst>
                                          <p:attrName>style.visibility</p:attrName>
                                        </p:attrNameLst>
                                      </p:cBhvr>
                                      <p:to>
                                        <p:strVal val="visible"/>
                                      </p:to>
                                    </p:set>
                                    <p:animEffect transition="in" filter="wipe(left)">
                                      <p:cBhvr>
                                        <p:cTn id="175" dur="1000"/>
                                        <p:tgtEl>
                                          <p:spTgt spid="56"/>
                                        </p:tgtEl>
                                      </p:cBhvr>
                                    </p:animEffect>
                                  </p:childTnLst>
                                </p:cTn>
                              </p:par>
                            </p:childTnLst>
                          </p:cTn>
                        </p:par>
                      </p:childTnLst>
                    </p:cTn>
                  </p:par>
                  <p:par>
                    <p:cTn id="176" fill="hold">
                      <p:stCondLst>
                        <p:cond delay="indefinite"/>
                      </p:stCondLst>
                      <p:childTnLst>
                        <p:par>
                          <p:cTn id="177" fill="hold">
                            <p:stCondLst>
                              <p:cond delay="0"/>
                            </p:stCondLst>
                            <p:childTnLst>
                              <p:par>
                                <p:cTn id="178" presetID="53" presetClass="entr" presetSubtype="0" fill="hold" nodeType="clickEffect">
                                  <p:stCondLst>
                                    <p:cond delay="0"/>
                                  </p:stCondLst>
                                  <p:childTnLst>
                                    <p:set>
                                      <p:cBhvr>
                                        <p:cTn id="179" dur="1" fill="hold">
                                          <p:stCondLst>
                                            <p:cond delay="0"/>
                                          </p:stCondLst>
                                        </p:cTn>
                                        <p:tgtEl>
                                          <p:spTgt spid="58"/>
                                        </p:tgtEl>
                                        <p:attrNameLst>
                                          <p:attrName>style.visibility</p:attrName>
                                        </p:attrNameLst>
                                      </p:cBhvr>
                                      <p:to>
                                        <p:strVal val="visible"/>
                                      </p:to>
                                    </p:set>
                                    <p:anim calcmode="lin" valueType="num">
                                      <p:cBhvr>
                                        <p:cTn id="180" dur="500" fill="hold"/>
                                        <p:tgtEl>
                                          <p:spTgt spid="58"/>
                                        </p:tgtEl>
                                        <p:attrNameLst>
                                          <p:attrName>ppt_w</p:attrName>
                                        </p:attrNameLst>
                                      </p:cBhvr>
                                      <p:tavLst>
                                        <p:tav tm="0">
                                          <p:val>
                                            <p:fltVal val="0"/>
                                          </p:val>
                                        </p:tav>
                                        <p:tav tm="100000">
                                          <p:val>
                                            <p:strVal val="#ppt_w"/>
                                          </p:val>
                                        </p:tav>
                                      </p:tavLst>
                                    </p:anim>
                                    <p:anim calcmode="lin" valueType="num">
                                      <p:cBhvr>
                                        <p:cTn id="181" dur="500" fill="hold"/>
                                        <p:tgtEl>
                                          <p:spTgt spid="58"/>
                                        </p:tgtEl>
                                        <p:attrNameLst>
                                          <p:attrName>ppt_h</p:attrName>
                                        </p:attrNameLst>
                                      </p:cBhvr>
                                      <p:tavLst>
                                        <p:tav tm="0">
                                          <p:val>
                                            <p:fltVal val="0"/>
                                          </p:val>
                                        </p:tav>
                                        <p:tav tm="100000">
                                          <p:val>
                                            <p:strVal val="#ppt_h"/>
                                          </p:val>
                                        </p:tav>
                                      </p:tavLst>
                                    </p:anim>
                                    <p:animEffect transition="in" filter="fade">
                                      <p:cBhvr>
                                        <p:cTn id="182" dur="500"/>
                                        <p:tgtEl>
                                          <p:spTgt spid="58"/>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57"/>
                                        </p:tgtEl>
                                        <p:attrNameLst>
                                          <p:attrName>style.visibility</p:attrName>
                                        </p:attrNameLst>
                                      </p:cBhvr>
                                      <p:to>
                                        <p:strVal val="visible"/>
                                      </p:to>
                                    </p:set>
                                    <p:animEffect transition="in" filter="wipe(left)">
                                      <p:cBhvr>
                                        <p:cTn id="187" dur="1000"/>
                                        <p:tgtEl>
                                          <p:spTgt spid="57"/>
                                        </p:tgtEl>
                                      </p:cBhvr>
                                    </p:animEffect>
                                  </p:childTnLst>
                                </p:cTn>
                              </p:par>
                            </p:childTnLst>
                          </p:cTn>
                        </p:par>
                      </p:childTnLst>
                    </p:cTn>
                  </p:par>
                  <p:par>
                    <p:cTn id="188" fill="hold">
                      <p:stCondLst>
                        <p:cond delay="indefinite"/>
                      </p:stCondLst>
                      <p:childTnLst>
                        <p:par>
                          <p:cTn id="189" fill="hold">
                            <p:stCondLst>
                              <p:cond delay="0"/>
                            </p:stCondLst>
                            <p:childTnLst>
                              <p:par>
                                <p:cTn id="190" presetID="53" presetClass="entr" presetSubtype="0" fill="hold" nodeType="clickEffect">
                                  <p:stCondLst>
                                    <p:cond delay="0"/>
                                  </p:stCondLst>
                                  <p:childTnLst>
                                    <p:set>
                                      <p:cBhvr>
                                        <p:cTn id="191" dur="1" fill="hold">
                                          <p:stCondLst>
                                            <p:cond delay="0"/>
                                          </p:stCondLst>
                                        </p:cTn>
                                        <p:tgtEl>
                                          <p:spTgt spid="64"/>
                                        </p:tgtEl>
                                        <p:attrNameLst>
                                          <p:attrName>style.visibility</p:attrName>
                                        </p:attrNameLst>
                                      </p:cBhvr>
                                      <p:to>
                                        <p:strVal val="visible"/>
                                      </p:to>
                                    </p:set>
                                    <p:anim calcmode="lin" valueType="num">
                                      <p:cBhvr>
                                        <p:cTn id="192" dur="500" fill="hold"/>
                                        <p:tgtEl>
                                          <p:spTgt spid="64"/>
                                        </p:tgtEl>
                                        <p:attrNameLst>
                                          <p:attrName>ppt_w</p:attrName>
                                        </p:attrNameLst>
                                      </p:cBhvr>
                                      <p:tavLst>
                                        <p:tav tm="0">
                                          <p:val>
                                            <p:fltVal val="0"/>
                                          </p:val>
                                        </p:tav>
                                        <p:tav tm="100000">
                                          <p:val>
                                            <p:strVal val="#ppt_w"/>
                                          </p:val>
                                        </p:tav>
                                      </p:tavLst>
                                    </p:anim>
                                    <p:anim calcmode="lin" valueType="num">
                                      <p:cBhvr>
                                        <p:cTn id="193" dur="500" fill="hold"/>
                                        <p:tgtEl>
                                          <p:spTgt spid="64"/>
                                        </p:tgtEl>
                                        <p:attrNameLst>
                                          <p:attrName>ppt_h</p:attrName>
                                        </p:attrNameLst>
                                      </p:cBhvr>
                                      <p:tavLst>
                                        <p:tav tm="0">
                                          <p:val>
                                            <p:fltVal val="0"/>
                                          </p:val>
                                        </p:tav>
                                        <p:tav tm="100000">
                                          <p:val>
                                            <p:strVal val="#ppt_h"/>
                                          </p:val>
                                        </p:tav>
                                      </p:tavLst>
                                    </p:anim>
                                    <p:animEffect transition="in" filter="fade">
                                      <p:cBhvr>
                                        <p:cTn id="19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20" grpId="0"/>
      <p:bldP spid="21" grpId="0"/>
      <p:bldP spid="29" grpId="0"/>
      <p:bldP spid="30" grpId="0"/>
      <p:bldP spid="32" grpId="0"/>
      <p:bldP spid="33" grpId="0"/>
      <p:bldP spid="37" grpId="0"/>
      <p:bldP spid="38" grpId="0"/>
      <p:bldP spid="45" grpId="0"/>
      <p:bldP spid="50" grpId="0"/>
      <p:bldP spid="51" grpId="0"/>
      <p:bldP spid="52" grpId="0"/>
      <p:bldP spid="56" grpId="0"/>
      <p:bldP spid="57" grpId="0"/>
      <p:bldP spid="67" grpId="0" animBg="1"/>
      <p:bldP spid="68" grpId="0" animBg="1"/>
      <p:bldP spid="69" grpId="0" animBg="1"/>
      <p:bldP spid="7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12" name="TextBox 11">
            <a:extLst>
              <a:ext uri="{FF2B5EF4-FFF2-40B4-BE49-F238E27FC236}">
                <a16:creationId xmlns:a16="http://schemas.microsoft.com/office/drawing/2014/main" id="{A49734D9-A04E-4156-A319-EA0706175CD4}"/>
              </a:ext>
            </a:extLst>
          </p:cNvPr>
          <p:cNvSpPr txBox="1"/>
          <p:nvPr/>
        </p:nvSpPr>
        <p:spPr>
          <a:xfrm>
            <a:off x="890129" y="1724572"/>
            <a:ext cx="3062736" cy="400110"/>
          </a:xfrm>
          <a:prstGeom prst="rect">
            <a:avLst/>
          </a:prstGeom>
          <a:noFill/>
        </p:spPr>
        <p:txBody>
          <a:bodyPr wrap="square" rtlCol="0">
            <a:spAutoFit/>
          </a:bodyPr>
          <a:lstStyle/>
          <a:p>
            <a:r>
              <a:rPr lang="en-GB" sz="2000" b="1" dirty="0">
                <a:latin typeface="Arial" pitchFamily="34" charset="0"/>
                <a:cs typeface="Arial" pitchFamily="34" charset="0"/>
              </a:rPr>
              <a:t>8</a:t>
            </a:r>
            <a:r>
              <a:rPr lang="en-GB" sz="2000" b="1" i="1" dirty="0">
                <a:latin typeface="Arial" pitchFamily="34" charset="0"/>
                <a:cs typeface="Arial" pitchFamily="34" charset="0"/>
              </a:rPr>
              <a:t>x</a:t>
            </a:r>
            <a:r>
              <a:rPr lang="en-GB" sz="2000" b="1" dirty="0">
                <a:latin typeface="Arial" pitchFamily="34" charset="0"/>
                <a:cs typeface="Arial" pitchFamily="34" charset="0"/>
              </a:rPr>
              <a:t>  +  2</a:t>
            </a:r>
            <a:r>
              <a:rPr lang="en-GB" sz="2000" b="1" i="1" dirty="0">
                <a:latin typeface="Arial" pitchFamily="34" charset="0"/>
                <a:cs typeface="Arial" pitchFamily="34" charset="0"/>
              </a:rPr>
              <a:t>y</a:t>
            </a:r>
            <a:r>
              <a:rPr lang="en-GB" sz="2000" b="1" dirty="0">
                <a:latin typeface="Arial" pitchFamily="34" charset="0"/>
                <a:cs typeface="Arial" pitchFamily="34" charset="0"/>
              </a:rPr>
              <a:t>   =   76</a:t>
            </a:r>
          </a:p>
        </p:txBody>
      </p:sp>
      <p:sp>
        <p:nvSpPr>
          <p:cNvPr id="13" name="TextBox 12">
            <a:extLst>
              <a:ext uri="{FF2B5EF4-FFF2-40B4-BE49-F238E27FC236}">
                <a16:creationId xmlns:a16="http://schemas.microsoft.com/office/drawing/2014/main" id="{DAF50E1E-E1BD-4A48-A029-883F8418E587}"/>
              </a:ext>
            </a:extLst>
          </p:cNvPr>
          <p:cNvSpPr txBox="1"/>
          <p:nvPr/>
        </p:nvSpPr>
        <p:spPr>
          <a:xfrm>
            <a:off x="890129" y="2066981"/>
            <a:ext cx="3062736" cy="400110"/>
          </a:xfrm>
          <a:prstGeom prst="rect">
            <a:avLst/>
          </a:prstGeom>
          <a:noFill/>
        </p:spPr>
        <p:txBody>
          <a:bodyPr wrap="square" rtlCol="0">
            <a:spAutoFit/>
          </a:bodyPr>
          <a:lstStyle/>
          <a:p>
            <a:r>
              <a:rPr lang="en-GB" sz="2000" b="1" dirty="0">
                <a:latin typeface="Arial" pitchFamily="34" charset="0"/>
                <a:cs typeface="Arial" pitchFamily="34" charset="0"/>
              </a:rPr>
              <a:t>5</a:t>
            </a:r>
            <a:r>
              <a:rPr lang="en-GB" sz="2000" b="1" i="1" dirty="0">
                <a:latin typeface="Arial" pitchFamily="34" charset="0"/>
                <a:cs typeface="Arial" pitchFamily="34" charset="0"/>
              </a:rPr>
              <a:t>x</a:t>
            </a:r>
            <a:r>
              <a:rPr lang="en-GB" sz="2000" b="1" dirty="0">
                <a:latin typeface="Arial" pitchFamily="34" charset="0"/>
                <a:cs typeface="Arial" pitchFamily="34" charset="0"/>
              </a:rPr>
              <a:t>  -  3</a:t>
            </a:r>
            <a:r>
              <a:rPr lang="en-GB" sz="2000" b="1" i="1" dirty="0">
                <a:latin typeface="Arial" pitchFamily="34" charset="0"/>
                <a:cs typeface="Arial" pitchFamily="34" charset="0"/>
              </a:rPr>
              <a:t>y</a:t>
            </a:r>
            <a:r>
              <a:rPr lang="en-GB" sz="2000" b="1" dirty="0">
                <a:latin typeface="Arial" pitchFamily="34" charset="0"/>
                <a:cs typeface="Arial" pitchFamily="34" charset="0"/>
              </a:rPr>
              <a:t>    =   39</a:t>
            </a:r>
          </a:p>
        </p:txBody>
      </p:sp>
      <p:grpSp>
        <p:nvGrpSpPr>
          <p:cNvPr id="14" name="Group 242">
            <a:extLst>
              <a:ext uri="{FF2B5EF4-FFF2-40B4-BE49-F238E27FC236}">
                <a16:creationId xmlns:a16="http://schemas.microsoft.com/office/drawing/2014/main" id="{D67AEB4C-BB06-404B-B00C-6A2F24B76555}"/>
              </a:ext>
            </a:extLst>
          </p:cNvPr>
          <p:cNvGrpSpPr/>
          <p:nvPr/>
        </p:nvGrpSpPr>
        <p:grpSpPr>
          <a:xfrm>
            <a:off x="5601853" y="1451874"/>
            <a:ext cx="3372591" cy="318155"/>
            <a:chOff x="5474525" y="1938441"/>
            <a:chExt cx="3372591" cy="391879"/>
          </a:xfrm>
        </p:grpSpPr>
        <p:sp>
          <p:nvSpPr>
            <p:cNvPr id="15" name="Rounded Rectangle 219">
              <a:extLst>
                <a:ext uri="{FF2B5EF4-FFF2-40B4-BE49-F238E27FC236}">
                  <a16:creationId xmlns:a16="http://schemas.microsoft.com/office/drawing/2014/main" id="{FE15A261-5C05-4054-8E47-5C6B0698D963}"/>
                </a:ext>
              </a:extLst>
            </p:cNvPr>
            <p:cNvSpPr/>
            <p:nvPr/>
          </p:nvSpPr>
          <p:spPr>
            <a:xfrm>
              <a:off x="5474525" y="1938441"/>
              <a:ext cx="3372591" cy="39187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16" name="TextBox 15">
              <a:extLst>
                <a:ext uri="{FF2B5EF4-FFF2-40B4-BE49-F238E27FC236}">
                  <a16:creationId xmlns:a16="http://schemas.microsoft.com/office/drawing/2014/main" id="{42F71775-1643-4B32-9284-FDC9D875AE8F}"/>
                </a:ext>
              </a:extLst>
            </p:cNvPr>
            <p:cNvSpPr txBox="1"/>
            <p:nvPr/>
          </p:nvSpPr>
          <p:spPr>
            <a:xfrm>
              <a:off x="5594268" y="1963787"/>
              <a:ext cx="3146960" cy="341186"/>
            </a:xfrm>
            <a:prstGeom prst="rect">
              <a:avLst/>
            </a:prstGeom>
            <a:noFill/>
          </p:spPr>
          <p:txBody>
            <a:bodyPr wrap="square" rtlCol="0">
              <a:spAutoFit/>
            </a:bodyPr>
            <a:lstStyle/>
            <a:p>
              <a:pPr algn="ctr"/>
              <a:r>
                <a:rPr lang="en-GB" sz="1200" b="1" dirty="0">
                  <a:latin typeface="Arial" pitchFamily="34" charset="0"/>
                  <a:cs typeface="Arial" pitchFamily="34" charset="0"/>
                </a:rPr>
                <a:t>First we label the equations  (1) and (2)</a:t>
              </a:r>
              <a:endParaRPr lang="en-GB" sz="1200" b="1" i="1" dirty="0">
                <a:latin typeface="Arial" pitchFamily="34" charset="0"/>
                <a:cs typeface="Arial" pitchFamily="34" charset="0"/>
              </a:endParaRPr>
            </a:p>
          </p:txBody>
        </p:sp>
      </p:grpSp>
      <p:cxnSp>
        <p:nvCxnSpPr>
          <p:cNvPr id="17" name="Straight Connector 16">
            <a:extLst>
              <a:ext uri="{FF2B5EF4-FFF2-40B4-BE49-F238E27FC236}">
                <a16:creationId xmlns:a16="http://schemas.microsoft.com/office/drawing/2014/main" id="{11480F89-AF63-48A1-BDA2-1AE178B9C4BB}"/>
              </a:ext>
            </a:extLst>
          </p:cNvPr>
          <p:cNvCxnSpPr/>
          <p:nvPr/>
        </p:nvCxnSpPr>
        <p:spPr>
          <a:xfrm>
            <a:off x="900899" y="2488731"/>
            <a:ext cx="26363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BBF4C3D-A326-4856-9424-08DBB4771161}"/>
              </a:ext>
            </a:extLst>
          </p:cNvPr>
          <p:cNvSpPr txBox="1"/>
          <p:nvPr/>
        </p:nvSpPr>
        <p:spPr>
          <a:xfrm>
            <a:off x="3743182" y="1724572"/>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19" name="TextBox 18">
            <a:extLst>
              <a:ext uri="{FF2B5EF4-FFF2-40B4-BE49-F238E27FC236}">
                <a16:creationId xmlns:a16="http://schemas.microsoft.com/office/drawing/2014/main" id="{12587991-44ED-4123-8D34-B98DDA90DC27}"/>
              </a:ext>
            </a:extLst>
          </p:cNvPr>
          <p:cNvSpPr txBox="1"/>
          <p:nvPr/>
        </p:nvSpPr>
        <p:spPr>
          <a:xfrm>
            <a:off x="3743182" y="2066981"/>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(2)</a:t>
            </a:r>
          </a:p>
        </p:txBody>
      </p:sp>
      <p:grpSp>
        <p:nvGrpSpPr>
          <p:cNvPr id="20" name="Group 249">
            <a:extLst>
              <a:ext uri="{FF2B5EF4-FFF2-40B4-BE49-F238E27FC236}">
                <a16:creationId xmlns:a16="http://schemas.microsoft.com/office/drawing/2014/main" id="{21CB9AF1-90F6-43DD-9DE0-75FE9A438BF6}"/>
              </a:ext>
            </a:extLst>
          </p:cNvPr>
          <p:cNvGrpSpPr/>
          <p:nvPr/>
        </p:nvGrpSpPr>
        <p:grpSpPr>
          <a:xfrm>
            <a:off x="5601853" y="1885454"/>
            <a:ext cx="3372591" cy="461665"/>
            <a:chOff x="5474525" y="1996717"/>
            <a:chExt cx="3372591" cy="699811"/>
          </a:xfrm>
        </p:grpSpPr>
        <p:sp>
          <p:nvSpPr>
            <p:cNvPr id="21" name="Rounded Rectangle 251">
              <a:extLst>
                <a:ext uri="{FF2B5EF4-FFF2-40B4-BE49-F238E27FC236}">
                  <a16:creationId xmlns:a16="http://schemas.microsoft.com/office/drawing/2014/main" id="{682A8875-E36D-4932-88C2-CF5D5A284B55}"/>
                </a:ext>
              </a:extLst>
            </p:cNvPr>
            <p:cNvSpPr/>
            <p:nvPr/>
          </p:nvSpPr>
          <p:spPr>
            <a:xfrm>
              <a:off x="5474525" y="2010227"/>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2" name="TextBox 21">
              <a:extLst>
                <a:ext uri="{FF2B5EF4-FFF2-40B4-BE49-F238E27FC236}">
                  <a16:creationId xmlns:a16="http://schemas.microsoft.com/office/drawing/2014/main" id="{7E389175-32D9-482B-96C1-A1AEE04D68AB}"/>
                </a:ext>
              </a:extLst>
            </p:cNvPr>
            <p:cNvSpPr txBox="1"/>
            <p:nvPr/>
          </p:nvSpPr>
          <p:spPr>
            <a:xfrm>
              <a:off x="5605153" y="1996717"/>
              <a:ext cx="3111335" cy="699811"/>
            </a:xfrm>
            <a:prstGeom prst="rect">
              <a:avLst/>
            </a:prstGeom>
            <a:noFill/>
          </p:spPr>
          <p:txBody>
            <a:bodyPr wrap="square" rtlCol="0">
              <a:spAutoFit/>
            </a:bodyPr>
            <a:lstStyle/>
            <a:p>
              <a:pPr algn="ctr"/>
              <a:r>
                <a:rPr lang="en-GB" sz="1200" b="1" dirty="0">
                  <a:latin typeface="Arial" pitchFamily="34" charset="0"/>
                  <a:cs typeface="Arial" pitchFamily="34" charset="0"/>
                </a:rPr>
                <a:t>Now we will make the numbers in front of </a:t>
              </a:r>
              <a:r>
                <a:rPr lang="en-GB" sz="1200" b="1" i="1" dirty="0">
                  <a:latin typeface="Arial" pitchFamily="34" charset="0"/>
                  <a:cs typeface="Arial" pitchFamily="34" charset="0"/>
                </a:rPr>
                <a:t>y</a:t>
              </a:r>
              <a:r>
                <a:rPr lang="en-GB" sz="1200" b="1" dirty="0">
                  <a:latin typeface="Arial" pitchFamily="34" charset="0"/>
                  <a:cs typeface="Arial" pitchFamily="34" charset="0"/>
                </a:rPr>
                <a:t> the same in both equations.</a:t>
              </a:r>
              <a:endParaRPr lang="en-GB" sz="1200" b="1" i="1" dirty="0">
                <a:latin typeface="Arial" pitchFamily="34" charset="0"/>
                <a:cs typeface="Arial" pitchFamily="34" charset="0"/>
              </a:endParaRPr>
            </a:p>
          </p:txBody>
        </p:sp>
      </p:grpSp>
      <p:grpSp>
        <p:nvGrpSpPr>
          <p:cNvPr id="23" name="Group 261">
            <a:extLst>
              <a:ext uri="{FF2B5EF4-FFF2-40B4-BE49-F238E27FC236}">
                <a16:creationId xmlns:a16="http://schemas.microsoft.com/office/drawing/2014/main" id="{7010CE5F-DF27-4BFE-B0F3-FCB90673128B}"/>
              </a:ext>
            </a:extLst>
          </p:cNvPr>
          <p:cNvGrpSpPr/>
          <p:nvPr/>
        </p:nvGrpSpPr>
        <p:grpSpPr>
          <a:xfrm>
            <a:off x="5601853" y="2462478"/>
            <a:ext cx="3372591" cy="728541"/>
            <a:chOff x="5474525" y="1951939"/>
            <a:chExt cx="3372591" cy="870848"/>
          </a:xfrm>
        </p:grpSpPr>
        <p:sp>
          <p:nvSpPr>
            <p:cNvPr id="24" name="Rounded Rectangle 262">
              <a:extLst>
                <a:ext uri="{FF2B5EF4-FFF2-40B4-BE49-F238E27FC236}">
                  <a16:creationId xmlns:a16="http://schemas.microsoft.com/office/drawing/2014/main" id="{DD17A474-92EA-414E-80C4-652CA97D0C67}"/>
                </a:ext>
              </a:extLst>
            </p:cNvPr>
            <p:cNvSpPr/>
            <p:nvPr/>
          </p:nvSpPr>
          <p:spPr>
            <a:xfrm>
              <a:off x="5474525" y="1951939"/>
              <a:ext cx="3372591" cy="870848"/>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6" name="TextBox 25">
              <a:extLst>
                <a:ext uri="{FF2B5EF4-FFF2-40B4-BE49-F238E27FC236}">
                  <a16:creationId xmlns:a16="http://schemas.microsoft.com/office/drawing/2014/main" id="{43D3CCDD-1F9A-4133-8C24-0143EC6EC684}"/>
                </a:ext>
              </a:extLst>
            </p:cNvPr>
            <p:cNvSpPr txBox="1"/>
            <p:nvPr/>
          </p:nvSpPr>
          <p:spPr>
            <a:xfrm>
              <a:off x="5605153" y="2001073"/>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To do this, first we multiply every term in equation (1) by </a:t>
              </a:r>
              <a:r>
                <a:rPr lang="en-GB" sz="1200" b="1" dirty="0">
                  <a:solidFill>
                    <a:srgbClr val="C00000"/>
                  </a:solidFill>
                  <a:latin typeface="Arial" pitchFamily="34" charset="0"/>
                  <a:cs typeface="Arial" pitchFamily="34" charset="0"/>
                </a:rPr>
                <a:t>3</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2).</a:t>
              </a:r>
              <a:endParaRPr lang="en-GB" sz="1200" b="1" i="1" dirty="0">
                <a:latin typeface="Arial" pitchFamily="34" charset="0"/>
                <a:cs typeface="Arial" pitchFamily="34" charset="0"/>
              </a:endParaRPr>
            </a:p>
          </p:txBody>
        </p:sp>
      </p:grpSp>
      <p:sp>
        <p:nvSpPr>
          <p:cNvPr id="27" name="TextBox 26">
            <a:extLst>
              <a:ext uri="{FF2B5EF4-FFF2-40B4-BE49-F238E27FC236}">
                <a16:creationId xmlns:a16="http://schemas.microsoft.com/office/drawing/2014/main" id="{628DDF70-8BF7-49EA-9886-3E20C952A1C0}"/>
              </a:ext>
            </a:extLst>
          </p:cNvPr>
          <p:cNvSpPr txBox="1"/>
          <p:nvPr/>
        </p:nvSpPr>
        <p:spPr>
          <a:xfrm>
            <a:off x="900029" y="2515872"/>
            <a:ext cx="3062736" cy="400110"/>
          </a:xfrm>
          <a:prstGeom prst="rect">
            <a:avLst/>
          </a:prstGeom>
          <a:noFill/>
        </p:spPr>
        <p:txBody>
          <a:bodyPr wrap="square" rtlCol="0">
            <a:spAutoFit/>
          </a:bodyPr>
          <a:lstStyle/>
          <a:p>
            <a:r>
              <a:rPr lang="en-GB" sz="2000" b="1" dirty="0">
                <a:latin typeface="Arial" pitchFamily="34" charset="0"/>
                <a:cs typeface="Arial" pitchFamily="34" charset="0"/>
              </a:rPr>
              <a:t>24</a:t>
            </a:r>
            <a:r>
              <a:rPr lang="en-GB" sz="2000" b="1" i="1" dirty="0">
                <a:latin typeface="Arial" pitchFamily="34" charset="0"/>
                <a:cs typeface="Arial" pitchFamily="34" charset="0"/>
              </a:rPr>
              <a:t>x</a:t>
            </a:r>
            <a:r>
              <a:rPr lang="en-GB" sz="2000" b="1" dirty="0">
                <a:latin typeface="Arial" pitchFamily="34" charset="0"/>
                <a:cs typeface="Arial" pitchFamily="34" charset="0"/>
              </a:rPr>
              <a:t>   +    6</a:t>
            </a:r>
            <a:r>
              <a:rPr lang="en-GB" sz="2000" b="1" i="1" dirty="0">
                <a:latin typeface="Arial" pitchFamily="34" charset="0"/>
                <a:cs typeface="Arial" pitchFamily="34" charset="0"/>
              </a:rPr>
              <a:t>y</a:t>
            </a:r>
            <a:r>
              <a:rPr lang="en-GB" sz="2000" b="1" dirty="0">
                <a:latin typeface="Arial" pitchFamily="34" charset="0"/>
                <a:cs typeface="Arial" pitchFamily="34" charset="0"/>
              </a:rPr>
              <a:t>   =   228</a:t>
            </a:r>
          </a:p>
        </p:txBody>
      </p:sp>
      <p:sp>
        <p:nvSpPr>
          <p:cNvPr id="28" name="TextBox 27">
            <a:extLst>
              <a:ext uri="{FF2B5EF4-FFF2-40B4-BE49-F238E27FC236}">
                <a16:creationId xmlns:a16="http://schemas.microsoft.com/office/drawing/2014/main" id="{44217B28-1E70-488A-B11D-F8098B226C38}"/>
              </a:ext>
            </a:extLst>
          </p:cNvPr>
          <p:cNvSpPr txBox="1"/>
          <p:nvPr/>
        </p:nvSpPr>
        <p:spPr>
          <a:xfrm>
            <a:off x="945551" y="2858281"/>
            <a:ext cx="3062736" cy="400110"/>
          </a:xfrm>
          <a:prstGeom prst="rect">
            <a:avLst/>
          </a:prstGeom>
          <a:noFill/>
        </p:spPr>
        <p:txBody>
          <a:bodyPr wrap="square" rtlCol="0">
            <a:spAutoFit/>
          </a:bodyPr>
          <a:lstStyle/>
          <a:p>
            <a:r>
              <a:rPr lang="en-GB" sz="2000" b="1" dirty="0">
                <a:latin typeface="Arial" pitchFamily="34" charset="0"/>
                <a:cs typeface="Arial" pitchFamily="34" charset="0"/>
              </a:rPr>
              <a:t>10</a:t>
            </a:r>
            <a:r>
              <a:rPr lang="en-GB" sz="2000" b="1" i="1" dirty="0">
                <a:latin typeface="Arial" pitchFamily="34" charset="0"/>
                <a:cs typeface="Arial" pitchFamily="34" charset="0"/>
              </a:rPr>
              <a:t>x</a:t>
            </a:r>
            <a:r>
              <a:rPr lang="en-GB" sz="2000" b="1" dirty="0">
                <a:latin typeface="Arial" pitchFamily="34" charset="0"/>
                <a:cs typeface="Arial" pitchFamily="34" charset="0"/>
              </a:rPr>
              <a:t>   -    6</a:t>
            </a:r>
            <a:r>
              <a:rPr lang="en-GB" sz="2000" b="1" i="1" dirty="0">
                <a:latin typeface="Arial" pitchFamily="34" charset="0"/>
                <a:cs typeface="Arial" pitchFamily="34" charset="0"/>
              </a:rPr>
              <a:t>y</a:t>
            </a:r>
            <a:r>
              <a:rPr lang="en-GB" sz="2000" b="1" dirty="0">
                <a:latin typeface="Arial" pitchFamily="34" charset="0"/>
                <a:cs typeface="Arial" pitchFamily="34" charset="0"/>
              </a:rPr>
              <a:t>   =     78</a:t>
            </a:r>
          </a:p>
        </p:txBody>
      </p:sp>
      <p:cxnSp>
        <p:nvCxnSpPr>
          <p:cNvPr id="29" name="Straight Connector 28">
            <a:extLst>
              <a:ext uri="{FF2B5EF4-FFF2-40B4-BE49-F238E27FC236}">
                <a16:creationId xmlns:a16="http://schemas.microsoft.com/office/drawing/2014/main" id="{17FD321D-E06D-417F-A4FA-B5B3709866AF}"/>
              </a:ext>
            </a:extLst>
          </p:cNvPr>
          <p:cNvCxnSpPr/>
          <p:nvPr/>
        </p:nvCxnSpPr>
        <p:spPr>
          <a:xfrm>
            <a:off x="910799" y="3277277"/>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51EDB01-CBE9-4E35-BC43-4B5F767DB080}"/>
              </a:ext>
            </a:extLst>
          </p:cNvPr>
          <p:cNvSpPr txBox="1"/>
          <p:nvPr/>
        </p:nvSpPr>
        <p:spPr>
          <a:xfrm>
            <a:off x="3743182" y="2515872"/>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C00000"/>
                </a:solidFill>
                <a:latin typeface="Arial" pitchFamily="34" charset="0"/>
                <a:cs typeface="Arial" pitchFamily="34" charset="0"/>
              </a:rPr>
              <a:t>3</a:t>
            </a:r>
            <a:r>
              <a:rPr lang="en-GB" sz="2000" b="1" dirty="0">
                <a:solidFill>
                  <a:srgbClr val="793905"/>
                </a:solidFill>
                <a:latin typeface="Arial" pitchFamily="34" charset="0"/>
                <a:cs typeface="Arial" pitchFamily="34" charset="0"/>
              </a:rPr>
              <a:t> x (1)</a:t>
            </a:r>
          </a:p>
        </p:txBody>
      </p:sp>
      <p:sp>
        <p:nvSpPr>
          <p:cNvPr id="31" name="TextBox 30">
            <a:extLst>
              <a:ext uri="{FF2B5EF4-FFF2-40B4-BE49-F238E27FC236}">
                <a16:creationId xmlns:a16="http://schemas.microsoft.com/office/drawing/2014/main" id="{7FE3F9EC-5E54-48D3-A976-9039ED6140B2}"/>
              </a:ext>
            </a:extLst>
          </p:cNvPr>
          <p:cNvSpPr txBox="1"/>
          <p:nvPr/>
        </p:nvSpPr>
        <p:spPr>
          <a:xfrm>
            <a:off x="3743182" y="2858281"/>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7030A0"/>
                </a:solidFill>
                <a:latin typeface="Arial" pitchFamily="34" charset="0"/>
                <a:cs typeface="Arial" pitchFamily="34" charset="0"/>
              </a:rPr>
              <a:t>2</a:t>
            </a:r>
            <a:r>
              <a:rPr lang="en-GB" sz="2000" b="1" dirty="0">
                <a:solidFill>
                  <a:srgbClr val="793905"/>
                </a:solidFill>
                <a:latin typeface="Arial" pitchFamily="34" charset="0"/>
                <a:cs typeface="Arial" pitchFamily="34" charset="0"/>
              </a:rPr>
              <a:t> x (2)</a:t>
            </a:r>
          </a:p>
        </p:txBody>
      </p:sp>
      <p:grpSp>
        <p:nvGrpSpPr>
          <p:cNvPr id="32" name="Group 269">
            <a:extLst>
              <a:ext uri="{FF2B5EF4-FFF2-40B4-BE49-F238E27FC236}">
                <a16:creationId xmlns:a16="http://schemas.microsoft.com/office/drawing/2014/main" id="{27314353-DB45-4246-AC85-17A7A313A399}"/>
              </a:ext>
            </a:extLst>
          </p:cNvPr>
          <p:cNvGrpSpPr/>
          <p:nvPr/>
        </p:nvGrpSpPr>
        <p:grpSpPr>
          <a:xfrm>
            <a:off x="5601853" y="3283226"/>
            <a:ext cx="3372591" cy="728542"/>
            <a:chOff x="5474525" y="1951942"/>
            <a:chExt cx="3372591" cy="870849"/>
          </a:xfrm>
        </p:grpSpPr>
        <p:sp>
          <p:nvSpPr>
            <p:cNvPr id="33" name="Rounded Rectangle 270">
              <a:extLst>
                <a:ext uri="{FF2B5EF4-FFF2-40B4-BE49-F238E27FC236}">
                  <a16:creationId xmlns:a16="http://schemas.microsoft.com/office/drawing/2014/main" id="{D59BAB42-3B19-4B14-B8D7-D8F7C04E68F4}"/>
                </a:ext>
              </a:extLst>
            </p:cNvPr>
            <p:cNvSpPr/>
            <p:nvPr/>
          </p:nvSpPr>
          <p:spPr>
            <a:xfrm>
              <a:off x="5474525" y="1951942"/>
              <a:ext cx="3372591" cy="87084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4" name="TextBox 33">
              <a:extLst>
                <a:ext uri="{FF2B5EF4-FFF2-40B4-BE49-F238E27FC236}">
                  <a16:creationId xmlns:a16="http://schemas.microsoft.com/office/drawing/2014/main" id="{BFA4882D-E22B-4E19-B1FA-05F30C958246}"/>
                </a:ext>
              </a:extLst>
            </p:cNvPr>
            <p:cNvSpPr txBox="1"/>
            <p:nvPr/>
          </p:nvSpPr>
          <p:spPr>
            <a:xfrm>
              <a:off x="5605153" y="2001077"/>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Next we multiply every term in equation (2) by </a:t>
              </a:r>
              <a:r>
                <a:rPr lang="en-GB" sz="1200" b="1" dirty="0">
                  <a:solidFill>
                    <a:srgbClr val="7030A0"/>
                  </a:solidFill>
                  <a:latin typeface="Arial" pitchFamily="34" charset="0"/>
                  <a:cs typeface="Arial" pitchFamily="34" charset="0"/>
                </a:rPr>
                <a:t>2</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1).</a:t>
              </a:r>
              <a:endParaRPr lang="en-GB" sz="1200" b="1" i="1" dirty="0">
                <a:latin typeface="Arial" pitchFamily="34" charset="0"/>
                <a:cs typeface="Arial" pitchFamily="34" charset="0"/>
              </a:endParaRPr>
            </a:p>
          </p:txBody>
        </p:sp>
      </p:grpSp>
      <p:sp>
        <p:nvSpPr>
          <p:cNvPr id="35" name="TextBox 34">
            <a:extLst>
              <a:ext uri="{FF2B5EF4-FFF2-40B4-BE49-F238E27FC236}">
                <a16:creationId xmlns:a16="http://schemas.microsoft.com/office/drawing/2014/main" id="{E79E72E6-064B-4E43-B0FB-6DB387022418}"/>
              </a:ext>
            </a:extLst>
          </p:cNvPr>
          <p:cNvSpPr txBox="1"/>
          <p:nvPr/>
        </p:nvSpPr>
        <p:spPr>
          <a:xfrm>
            <a:off x="919821" y="3286416"/>
            <a:ext cx="919231" cy="400110"/>
          </a:xfrm>
          <a:prstGeom prst="rect">
            <a:avLst/>
          </a:prstGeom>
          <a:noFill/>
        </p:spPr>
        <p:txBody>
          <a:bodyPr wrap="square" rtlCol="0">
            <a:spAutoFit/>
          </a:bodyPr>
          <a:lstStyle/>
          <a:p>
            <a:r>
              <a:rPr lang="en-GB" sz="2000" b="1" dirty="0">
                <a:latin typeface="Arial" pitchFamily="34" charset="0"/>
                <a:cs typeface="Arial" pitchFamily="34" charset="0"/>
              </a:rPr>
              <a:t>34</a:t>
            </a:r>
            <a:r>
              <a:rPr lang="en-GB" sz="2000" b="1" i="1" dirty="0">
                <a:latin typeface="Arial" pitchFamily="34" charset="0"/>
                <a:cs typeface="Arial" pitchFamily="34" charset="0"/>
              </a:rPr>
              <a:t>x</a:t>
            </a:r>
          </a:p>
        </p:txBody>
      </p:sp>
      <p:sp>
        <p:nvSpPr>
          <p:cNvPr id="36" name="TextBox 35">
            <a:extLst>
              <a:ext uri="{FF2B5EF4-FFF2-40B4-BE49-F238E27FC236}">
                <a16:creationId xmlns:a16="http://schemas.microsoft.com/office/drawing/2014/main" id="{15252BB6-CBA9-4ADE-A793-2A6E937077DE}"/>
              </a:ext>
            </a:extLst>
          </p:cNvPr>
          <p:cNvSpPr txBox="1"/>
          <p:nvPr/>
        </p:nvSpPr>
        <p:spPr>
          <a:xfrm>
            <a:off x="2349066" y="3286416"/>
            <a:ext cx="1360597" cy="400110"/>
          </a:xfrm>
          <a:prstGeom prst="rect">
            <a:avLst/>
          </a:prstGeom>
          <a:noFill/>
        </p:spPr>
        <p:txBody>
          <a:bodyPr wrap="square" rtlCol="0">
            <a:spAutoFit/>
          </a:bodyPr>
          <a:lstStyle/>
          <a:p>
            <a:r>
              <a:rPr lang="en-GB" sz="2000" b="1" dirty="0">
                <a:latin typeface="Arial" pitchFamily="34" charset="0"/>
                <a:cs typeface="Arial" pitchFamily="34" charset="0"/>
              </a:rPr>
              <a:t>=   306</a:t>
            </a:r>
          </a:p>
        </p:txBody>
      </p:sp>
      <p:grpSp>
        <p:nvGrpSpPr>
          <p:cNvPr id="37" name="Group 431">
            <a:extLst>
              <a:ext uri="{FF2B5EF4-FFF2-40B4-BE49-F238E27FC236}">
                <a16:creationId xmlns:a16="http://schemas.microsoft.com/office/drawing/2014/main" id="{1E7C5CE7-5AB2-454A-8600-FD0DC199D511}"/>
              </a:ext>
            </a:extLst>
          </p:cNvPr>
          <p:cNvGrpSpPr/>
          <p:nvPr/>
        </p:nvGrpSpPr>
        <p:grpSpPr>
          <a:xfrm>
            <a:off x="5760407" y="4141780"/>
            <a:ext cx="3055482" cy="461665"/>
            <a:chOff x="5474525" y="2011153"/>
            <a:chExt cx="3372591" cy="699809"/>
          </a:xfrm>
        </p:grpSpPr>
        <p:sp>
          <p:nvSpPr>
            <p:cNvPr id="38" name="Rounded Rectangle 432">
              <a:extLst>
                <a:ext uri="{FF2B5EF4-FFF2-40B4-BE49-F238E27FC236}">
                  <a16:creationId xmlns:a16="http://schemas.microsoft.com/office/drawing/2014/main" id="{01BFFFBF-AE20-4911-BD58-2F6AB6133913}"/>
                </a:ext>
              </a:extLst>
            </p:cNvPr>
            <p:cNvSpPr/>
            <p:nvPr/>
          </p:nvSpPr>
          <p:spPr>
            <a:xfrm>
              <a:off x="5474525" y="2025460"/>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9" name="TextBox 38">
              <a:extLst>
                <a:ext uri="{FF2B5EF4-FFF2-40B4-BE49-F238E27FC236}">
                  <a16:creationId xmlns:a16="http://schemas.microsoft.com/office/drawing/2014/main" id="{C592B165-82A1-4434-A2E3-B2FAD9B2D6EE}"/>
                </a:ext>
              </a:extLst>
            </p:cNvPr>
            <p:cNvSpPr txBox="1"/>
            <p:nvPr/>
          </p:nvSpPr>
          <p:spPr>
            <a:xfrm>
              <a:off x="5594059" y="2011153"/>
              <a:ext cx="3133523" cy="699809"/>
            </a:xfrm>
            <a:prstGeom prst="rect">
              <a:avLst/>
            </a:prstGeom>
            <a:noFill/>
          </p:spPr>
          <p:txBody>
            <a:bodyPr wrap="square" rtlCol="0">
              <a:spAutoFit/>
            </a:bodyPr>
            <a:lstStyle/>
            <a:p>
              <a:pPr algn="ctr"/>
              <a:r>
                <a:rPr lang="en-GB" sz="1200" b="1" dirty="0">
                  <a:latin typeface="Arial" pitchFamily="34" charset="0"/>
                  <a:cs typeface="Arial" pitchFamily="34" charset="0"/>
                </a:rPr>
                <a:t>Now we ADD corresponding terms to eliminate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40" name="Group 434">
            <a:extLst>
              <a:ext uri="{FF2B5EF4-FFF2-40B4-BE49-F238E27FC236}">
                <a16:creationId xmlns:a16="http://schemas.microsoft.com/office/drawing/2014/main" id="{BC6A8DB3-3912-46DF-B6FE-18B6792B40FB}"/>
              </a:ext>
            </a:extLst>
          </p:cNvPr>
          <p:cNvGrpSpPr/>
          <p:nvPr/>
        </p:nvGrpSpPr>
        <p:grpSpPr>
          <a:xfrm>
            <a:off x="5760407" y="4724319"/>
            <a:ext cx="3055482" cy="330999"/>
            <a:chOff x="5474525" y="1935097"/>
            <a:chExt cx="3372591" cy="431236"/>
          </a:xfrm>
        </p:grpSpPr>
        <p:sp>
          <p:nvSpPr>
            <p:cNvPr id="41" name="Rounded Rectangle 435">
              <a:extLst>
                <a:ext uri="{FF2B5EF4-FFF2-40B4-BE49-F238E27FC236}">
                  <a16:creationId xmlns:a16="http://schemas.microsoft.com/office/drawing/2014/main" id="{D214F65A-BBF3-46AC-9B9C-E9C5C8C76786}"/>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2" name="TextBox 41">
              <a:extLst>
                <a:ext uri="{FF2B5EF4-FFF2-40B4-BE49-F238E27FC236}">
                  <a16:creationId xmlns:a16="http://schemas.microsoft.com/office/drawing/2014/main" id="{A3CB9654-9669-4488-A88D-98197602BB6B}"/>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Then divide both sides by 34.</a:t>
              </a:r>
              <a:endParaRPr lang="en-GB" sz="1200" b="1" i="1" dirty="0">
                <a:latin typeface="Arial" pitchFamily="34" charset="0"/>
                <a:cs typeface="Arial" pitchFamily="34" charset="0"/>
              </a:endParaRPr>
            </a:p>
          </p:txBody>
        </p:sp>
      </p:grpSp>
      <p:sp>
        <p:nvSpPr>
          <p:cNvPr id="43" name="TextBox 42">
            <a:extLst>
              <a:ext uri="{FF2B5EF4-FFF2-40B4-BE49-F238E27FC236}">
                <a16:creationId xmlns:a16="http://schemas.microsoft.com/office/drawing/2014/main" id="{C80A0ABA-228A-47F0-987E-8E74475457B1}"/>
              </a:ext>
            </a:extLst>
          </p:cNvPr>
          <p:cNvSpPr txBox="1"/>
          <p:nvPr/>
        </p:nvSpPr>
        <p:spPr>
          <a:xfrm>
            <a:off x="1285978" y="3593202"/>
            <a:ext cx="2697684" cy="400110"/>
          </a:xfrm>
          <a:prstGeom prst="rect">
            <a:avLst/>
          </a:prstGeom>
          <a:noFill/>
        </p:spPr>
        <p:txBody>
          <a:bodyPr wrap="square" rtlCol="0">
            <a:spAutoFit/>
          </a:bodyPr>
          <a:lstStyle/>
          <a:p>
            <a:r>
              <a:rPr lang="en-GB" sz="2000" b="1" i="1" dirty="0">
                <a:latin typeface="Arial" pitchFamily="34" charset="0"/>
                <a:cs typeface="Arial" pitchFamily="34" charset="0"/>
              </a:rPr>
              <a:t>x</a:t>
            </a:r>
            <a:r>
              <a:rPr lang="en-GB" sz="2000" b="1" dirty="0">
                <a:latin typeface="Arial" pitchFamily="34" charset="0"/>
                <a:cs typeface="Arial" pitchFamily="34" charset="0"/>
              </a:rPr>
              <a:t>    =    306  ÷  34</a:t>
            </a:r>
          </a:p>
        </p:txBody>
      </p:sp>
      <p:cxnSp>
        <p:nvCxnSpPr>
          <p:cNvPr id="44" name="Straight Connector 43">
            <a:extLst>
              <a:ext uri="{FF2B5EF4-FFF2-40B4-BE49-F238E27FC236}">
                <a16:creationId xmlns:a16="http://schemas.microsoft.com/office/drawing/2014/main" id="{3E4ACD2C-6892-4890-A563-2D2A8F795317}"/>
              </a:ext>
            </a:extLst>
          </p:cNvPr>
          <p:cNvCxnSpPr/>
          <p:nvPr/>
        </p:nvCxnSpPr>
        <p:spPr>
          <a:xfrm>
            <a:off x="910799" y="4550073"/>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45" name="Group 440">
            <a:extLst>
              <a:ext uri="{FF2B5EF4-FFF2-40B4-BE49-F238E27FC236}">
                <a16:creationId xmlns:a16="http://schemas.microsoft.com/office/drawing/2014/main" id="{AEBF3F82-78A7-4CCD-9E41-F55E5BDB9834}"/>
              </a:ext>
            </a:extLst>
          </p:cNvPr>
          <p:cNvGrpSpPr/>
          <p:nvPr/>
        </p:nvGrpSpPr>
        <p:grpSpPr>
          <a:xfrm>
            <a:off x="5760407" y="5137402"/>
            <a:ext cx="3055482" cy="330999"/>
            <a:chOff x="5474525" y="1935097"/>
            <a:chExt cx="3372591" cy="431236"/>
          </a:xfrm>
        </p:grpSpPr>
        <p:sp>
          <p:nvSpPr>
            <p:cNvPr id="46" name="Rounded Rectangle 441">
              <a:extLst>
                <a:ext uri="{FF2B5EF4-FFF2-40B4-BE49-F238E27FC236}">
                  <a16:creationId xmlns:a16="http://schemas.microsoft.com/office/drawing/2014/main" id="{62EDABA8-645F-40FF-9E79-64D27506D3E5}"/>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7" name="TextBox 46">
              <a:extLst>
                <a:ext uri="{FF2B5EF4-FFF2-40B4-BE49-F238E27FC236}">
                  <a16:creationId xmlns:a16="http://schemas.microsoft.com/office/drawing/2014/main" id="{2EEF7086-E08A-4FCD-BB3C-7730CF6EB4CD}"/>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Now substitute for x = </a:t>
              </a:r>
              <a:r>
                <a:rPr lang="en-GB" sz="1200" b="1" dirty="0">
                  <a:solidFill>
                    <a:srgbClr val="C00000"/>
                  </a:solidFill>
                  <a:latin typeface="Arial" pitchFamily="34" charset="0"/>
                  <a:cs typeface="Arial" pitchFamily="34" charset="0"/>
                </a:rPr>
                <a:t>9</a:t>
              </a:r>
              <a:r>
                <a:rPr lang="en-GB" sz="1200" b="1" dirty="0">
                  <a:latin typeface="Arial" pitchFamily="34" charset="0"/>
                  <a:cs typeface="Arial" pitchFamily="34" charset="0"/>
                </a:rPr>
                <a:t> into (1).</a:t>
              </a:r>
              <a:endParaRPr lang="en-GB" sz="1200" b="1" i="1" dirty="0">
                <a:latin typeface="Arial" pitchFamily="34" charset="0"/>
                <a:cs typeface="Arial" pitchFamily="34" charset="0"/>
              </a:endParaRPr>
            </a:p>
          </p:txBody>
        </p:sp>
      </p:grpSp>
      <p:sp>
        <p:nvSpPr>
          <p:cNvPr id="48" name="TextBox 47">
            <a:extLst>
              <a:ext uri="{FF2B5EF4-FFF2-40B4-BE49-F238E27FC236}">
                <a16:creationId xmlns:a16="http://schemas.microsoft.com/office/drawing/2014/main" id="{575DD98E-5D15-4BD9-BEAC-C7F3AE5B25AC}"/>
              </a:ext>
            </a:extLst>
          </p:cNvPr>
          <p:cNvSpPr txBox="1"/>
          <p:nvPr/>
        </p:nvSpPr>
        <p:spPr>
          <a:xfrm>
            <a:off x="995028" y="4542141"/>
            <a:ext cx="3062736" cy="400110"/>
          </a:xfrm>
          <a:prstGeom prst="rect">
            <a:avLst/>
          </a:prstGeom>
          <a:noFill/>
        </p:spPr>
        <p:txBody>
          <a:bodyPr wrap="square" rtlCol="0">
            <a:spAutoFit/>
          </a:bodyPr>
          <a:lstStyle/>
          <a:p>
            <a:r>
              <a:rPr lang="en-GB" sz="2000" b="1" dirty="0">
                <a:latin typeface="Arial" pitchFamily="34" charset="0"/>
                <a:cs typeface="Arial" pitchFamily="34" charset="0"/>
              </a:rPr>
              <a:t>8 </a:t>
            </a:r>
            <a:r>
              <a:rPr lang="en-GB" sz="2000" dirty="0">
                <a:latin typeface="Arial" pitchFamily="34" charset="0"/>
                <a:cs typeface="Arial" pitchFamily="34" charset="0"/>
              </a:rPr>
              <a:t>x</a:t>
            </a:r>
            <a:r>
              <a:rPr lang="en-GB" sz="2000" b="1" dirty="0">
                <a:latin typeface="Arial" pitchFamily="34" charset="0"/>
                <a:cs typeface="Arial" pitchFamily="34" charset="0"/>
              </a:rPr>
              <a:t> </a:t>
            </a:r>
            <a:r>
              <a:rPr lang="en-GB" sz="2000" b="1" dirty="0">
                <a:solidFill>
                  <a:srgbClr val="C00000"/>
                </a:solidFill>
                <a:latin typeface="Arial" pitchFamily="34" charset="0"/>
                <a:cs typeface="Arial" pitchFamily="34" charset="0"/>
              </a:rPr>
              <a:t>9</a:t>
            </a:r>
            <a:r>
              <a:rPr lang="en-GB" sz="2000" b="1" dirty="0">
                <a:latin typeface="Arial" pitchFamily="34" charset="0"/>
                <a:cs typeface="Arial" pitchFamily="34" charset="0"/>
              </a:rPr>
              <a:t>  +  2</a:t>
            </a:r>
            <a:r>
              <a:rPr lang="en-GB" sz="2000" b="1" i="1" dirty="0">
                <a:latin typeface="Arial" pitchFamily="34" charset="0"/>
                <a:cs typeface="Arial" pitchFamily="34" charset="0"/>
              </a:rPr>
              <a:t>y</a:t>
            </a:r>
            <a:r>
              <a:rPr lang="en-GB" sz="2000" b="1" dirty="0">
                <a:latin typeface="Arial" pitchFamily="34" charset="0"/>
                <a:cs typeface="Arial" pitchFamily="34" charset="0"/>
              </a:rPr>
              <a:t>   =   76</a:t>
            </a:r>
          </a:p>
        </p:txBody>
      </p:sp>
      <p:sp>
        <p:nvSpPr>
          <p:cNvPr id="49" name="TextBox 48">
            <a:extLst>
              <a:ext uri="{FF2B5EF4-FFF2-40B4-BE49-F238E27FC236}">
                <a16:creationId xmlns:a16="http://schemas.microsoft.com/office/drawing/2014/main" id="{B2D53104-C415-44F6-98ED-5684D3F529BC}"/>
              </a:ext>
            </a:extLst>
          </p:cNvPr>
          <p:cNvSpPr txBox="1"/>
          <p:nvPr/>
        </p:nvSpPr>
        <p:spPr>
          <a:xfrm>
            <a:off x="3743182" y="4542141"/>
            <a:ext cx="115487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50" name="TextBox 49">
            <a:extLst>
              <a:ext uri="{FF2B5EF4-FFF2-40B4-BE49-F238E27FC236}">
                <a16:creationId xmlns:a16="http://schemas.microsoft.com/office/drawing/2014/main" id="{9B7525BE-56A2-423B-B51E-83F5FF118922}"/>
              </a:ext>
            </a:extLst>
          </p:cNvPr>
          <p:cNvSpPr txBox="1"/>
          <p:nvPr/>
        </p:nvSpPr>
        <p:spPr>
          <a:xfrm>
            <a:off x="1064301" y="4852384"/>
            <a:ext cx="3062736" cy="400110"/>
          </a:xfrm>
          <a:prstGeom prst="rect">
            <a:avLst/>
          </a:prstGeom>
          <a:noFill/>
        </p:spPr>
        <p:txBody>
          <a:bodyPr wrap="square" rtlCol="0">
            <a:spAutoFit/>
          </a:bodyPr>
          <a:lstStyle/>
          <a:p>
            <a:r>
              <a:rPr lang="en-GB" sz="2000" b="1" dirty="0">
                <a:latin typeface="Arial" pitchFamily="34" charset="0"/>
                <a:cs typeface="Arial" pitchFamily="34" charset="0"/>
              </a:rPr>
              <a:t>72  +  2</a:t>
            </a:r>
            <a:r>
              <a:rPr lang="en-GB" sz="2000" b="1" i="1" dirty="0">
                <a:latin typeface="Arial" pitchFamily="34" charset="0"/>
                <a:cs typeface="Arial" pitchFamily="34" charset="0"/>
              </a:rPr>
              <a:t>y</a:t>
            </a:r>
            <a:r>
              <a:rPr lang="en-GB" sz="2000" b="1" dirty="0">
                <a:latin typeface="Arial" pitchFamily="34" charset="0"/>
                <a:cs typeface="Arial" pitchFamily="34" charset="0"/>
              </a:rPr>
              <a:t>   =   76</a:t>
            </a:r>
          </a:p>
        </p:txBody>
      </p:sp>
      <p:grpSp>
        <p:nvGrpSpPr>
          <p:cNvPr id="51" name="Group 446">
            <a:extLst>
              <a:ext uri="{FF2B5EF4-FFF2-40B4-BE49-F238E27FC236}">
                <a16:creationId xmlns:a16="http://schemas.microsoft.com/office/drawing/2014/main" id="{516FA0E4-87F9-422A-A6EB-A162ADF3193E}"/>
              </a:ext>
            </a:extLst>
          </p:cNvPr>
          <p:cNvGrpSpPr/>
          <p:nvPr/>
        </p:nvGrpSpPr>
        <p:grpSpPr>
          <a:xfrm>
            <a:off x="5760407" y="5550485"/>
            <a:ext cx="3055482" cy="330999"/>
            <a:chOff x="5474525" y="1935097"/>
            <a:chExt cx="3372591" cy="431236"/>
          </a:xfrm>
        </p:grpSpPr>
        <p:sp>
          <p:nvSpPr>
            <p:cNvPr id="52" name="Rounded Rectangle 447">
              <a:extLst>
                <a:ext uri="{FF2B5EF4-FFF2-40B4-BE49-F238E27FC236}">
                  <a16:creationId xmlns:a16="http://schemas.microsoft.com/office/drawing/2014/main" id="{8C90DCA5-3915-42A7-9A8D-D4CEAF0273F2}"/>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53" name="TextBox 52">
              <a:extLst>
                <a:ext uri="{FF2B5EF4-FFF2-40B4-BE49-F238E27FC236}">
                  <a16:creationId xmlns:a16="http://schemas.microsoft.com/office/drawing/2014/main" id="{A0ADEDD3-E6DF-4341-AA16-8511A3B82613}"/>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Take 72 from both sides</a:t>
              </a:r>
              <a:endParaRPr lang="en-GB" sz="1200" b="1" i="1" dirty="0">
                <a:latin typeface="Arial" pitchFamily="34" charset="0"/>
                <a:cs typeface="Arial" pitchFamily="34" charset="0"/>
              </a:endParaRPr>
            </a:p>
          </p:txBody>
        </p:sp>
      </p:grpSp>
      <p:sp>
        <p:nvSpPr>
          <p:cNvPr id="54" name="TextBox 53">
            <a:extLst>
              <a:ext uri="{FF2B5EF4-FFF2-40B4-BE49-F238E27FC236}">
                <a16:creationId xmlns:a16="http://schemas.microsoft.com/office/drawing/2014/main" id="{3C5A47B9-C052-4FBB-955F-6C369514581E}"/>
              </a:ext>
            </a:extLst>
          </p:cNvPr>
          <p:cNvSpPr txBox="1"/>
          <p:nvPr/>
        </p:nvSpPr>
        <p:spPr>
          <a:xfrm>
            <a:off x="1157325" y="5162627"/>
            <a:ext cx="3062736" cy="400110"/>
          </a:xfrm>
          <a:prstGeom prst="rect">
            <a:avLst/>
          </a:prstGeom>
          <a:noFill/>
        </p:spPr>
        <p:txBody>
          <a:bodyPr wrap="square" rtlCol="0">
            <a:spAutoFit/>
          </a:bodyPr>
          <a:lstStyle/>
          <a:p>
            <a:r>
              <a:rPr lang="en-GB" sz="2000" b="1" dirty="0">
                <a:latin typeface="Arial" pitchFamily="34" charset="0"/>
                <a:cs typeface="Arial" pitchFamily="34" charset="0"/>
              </a:rPr>
              <a:t>2</a:t>
            </a:r>
            <a:r>
              <a:rPr lang="en-GB" sz="2000" b="1" i="1" dirty="0">
                <a:latin typeface="Arial" pitchFamily="34" charset="0"/>
                <a:cs typeface="Arial" pitchFamily="34" charset="0"/>
              </a:rPr>
              <a:t>y</a:t>
            </a:r>
            <a:r>
              <a:rPr lang="en-GB" sz="2000" b="1" dirty="0">
                <a:latin typeface="Arial" pitchFamily="34" charset="0"/>
                <a:cs typeface="Arial" pitchFamily="34" charset="0"/>
              </a:rPr>
              <a:t>   =   4</a:t>
            </a:r>
          </a:p>
        </p:txBody>
      </p:sp>
      <p:sp>
        <p:nvSpPr>
          <p:cNvPr id="55" name="TextBox 54">
            <a:extLst>
              <a:ext uri="{FF2B5EF4-FFF2-40B4-BE49-F238E27FC236}">
                <a16:creationId xmlns:a16="http://schemas.microsoft.com/office/drawing/2014/main" id="{AC7BADA5-00F9-4B1A-806D-EC93301766E4}"/>
              </a:ext>
            </a:extLst>
          </p:cNvPr>
          <p:cNvSpPr txBox="1"/>
          <p:nvPr/>
        </p:nvSpPr>
        <p:spPr>
          <a:xfrm>
            <a:off x="1238473" y="5472870"/>
            <a:ext cx="3062736" cy="400110"/>
          </a:xfrm>
          <a:prstGeom prst="rect">
            <a:avLst/>
          </a:prstGeom>
          <a:noFill/>
        </p:spPr>
        <p:txBody>
          <a:bodyPr wrap="square" rtlCol="0">
            <a:spAutoFit/>
          </a:bodyPr>
          <a:lstStyle/>
          <a:p>
            <a:r>
              <a:rPr lang="en-GB" sz="2000" b="1" i="1" dirty="0">
                <a:latin typeface="Arial" pitchFamily="34" charset="0"/>
                <a:cs typeface="Arial" pitchFamily="34" charset="0"/>
              </a:rPr>
              <a:t> y</a:t>
            </a:r>
            <a:r>
              <a:rPr lang="en-GB" sz="2000" b="1" dirty="0">
                <a:latin typeface="Arial" pitchFamily="34" charset="0"/>
                <a:cs typeface="Arial" pitchFamily="34" charset="0"/>
              </a:rPr>
              <a:t>   =   4  ÷  2</a:t>
            </a:r>
          </a:p>
        </p:txBody>
      </p:sp>
      <p:grpSp>
        <p:nvGrpSpPr>
          <p:cNvPr id="56" name="Group 451">
            <a:extLst>
              <a:ext uri="{FF2B5EF4-FFF2-40B4-BE49-F238E27FC236}">
                <a16:creationId xmlns:a16="http://schemas.microsoft.com/office/drawing/2014/main" id="{7599D132-38C6-4572-8BFD-94BECD3D21CF}"/>
              </a:ext>
            </a:extLst>
          </p:cNvPr>
          <p:cNvGrpSpPr/>
          <p:nvPr/>
        </p:nvGrpSpPr>
        <p:grpSpPr>
          <a:xfrm>
            <a:off x="5760407" y="5963569"/>
            <a:ext cx="3055482" cy="330999"/>
            <a:chOff x="5474525" y="1935097"/>
            <a:chExt cx="3372591" cy="431236"/>
          </a:xfrm>
        </p:grpSpPr>
        <p:sp>
          <p:nvSpPr>
            <p:cNvPr id="57" name="Rounded Rectangle 452">
              <a:extLst>
                <a:ext uri="{FF2B5EF4-FFF2-40B4-BE49-F238E27FC236}">
                  <a16:creationId xmlns:a16="http://schemas.microsoft.com/office/drawing/2014/main" id="{C400D16D-41D5-43C1-877B-36CA3C6B4CE6}"/>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58" name="TextBox 57">
              <a:extLst>
                <a:ext uri="{FF2B5EF4-FFF2-40B4-BE49-F238E27FC236}">
                  <a16:creationId xmlns:a16="http://schemas.microsoft.com/office/drawing/2014/main" id="{8EF9FEA2-4338-4B4C-8BA3-3DCF51A5BDDC}"/>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Divide both sides by 2 to give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59" name="Group 458">
            <a:extLst>
              <a:ext uri="{FF2B5EF4-FFF2-40B4-BE49-F238E27FC236}">
                <a16:creationId xmlns:a16="http://schemas.microsoft.com/office/drawing/2014/main" id="{3B3990F2-1637-4F7A-B05A-01D6F733C2B6}"/>
              </a:ext>
            </a:extLst>
          </p:cNvPr>
          <p:cNvGrpSpPr/>
          <p:nvPr/>
        </p:nvGrpSpPr>
        <p:grpSpPr>
          <a:xfrm>
            <a:off x="1021386" y="4014589"/>
            <a:ext cx="1962150" cy="400110"/>
            <a:chOff x="742950" y="3773899"/>
            <a:chExt cx="1962150" cy="400110"/>
          </a:xfrm>
        </p:grpSpPr>
        <p:sp>
          <p:nvSpPr>
            <p:cNvPr id="60" name="Rounded Rectangle 457">
              <a:extLst>
                <a:ext uri="{FF2B5EF4-FFF2-40B4-BE49-F238E27FC236}">
                  <a16:creationId xmlns:a16="http://schemas.microsoft.com/office/drawing/2014/main" id="{26513B63-BFAE-4CF0-B651-F2EDF7C51BA7}"/>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1" name="TextBox 60">
              <a:extLst>
                <a:ext uri="{FF2B5EF4-FFF2-40B4-BE49-F238E27FC236}">
                  <a16:creationId xmlns:a16="http://schemas.microsoft.com/office/drawing/2014/main" id="{8F20DB72-C0C8-469B-B104-806BCF093C71}"/>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x</a:t>
              </a:r>
              <a:r>
                <a:rPr lang="en-GB" sz="2000" b="1" dirty="0">
                  <a:latin typeface="Arial" pitchFamily="34" charset="0"/>
                  <a:cs typeface="Arial" pitchFamily="34" charset="0"/>
                </a:rPr>
                <a:t>    =    9</a:t>
              </a:r>
            </a:p>
          </p:txBody>
        </p:sp>
      </p:grpSp>
      <p:grpSp>
        <p:nvGrpSpPr>
          <p:cNvPr id="62" name="Group 459">
            <a:extLst>
              <a:ext uri="{FF2B5EF4-FFF2-40B4-BE49-F238E27FC236}">
                <a16:creationId xmlns:a16="http://schemas.microsoft.com/office/drawing/2014/main" id="{9A586CB3-AE9C-4451-A56C-594232313D6D}"/>
              </a:ext>
            </a:extLst>
          </p:cNvPr>
          <p:cNvGrpSpPr/>
          <p:nvPr/>
        </p:nvGrpSpPr>
        <p:grpSpPr>
          <a:xfrm>
            <a:off x="1021386" y="5863150"/>
            <a:ext cx="1962150" cy="400110"/>
            <a:chOff x="742950" y="3773899"/>
            <a:chExt cx="1962150" cy="400110"/>
          </a:xfrm>
        </p:grpSpPr>
        <p:sp>
          <p:nvSpPr>
            <p:cNvPr id="63" name="Rounded Rectangle 460">
              <a:extLst>
                <a:ext uri="{FF2B5EF4-FFF2-40B4-BE49-F238E27FC236}">
                  <a16:creationId xmlns:a16="http://schemas.microsoft.com/office/drawing/2014/main" id="{892EF7FF-DC06-47DC-B540-DE1D18B553FA}"/>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4" name="TextBox 63">
              <a:extLst>
                <a:ext uri="{FF2B5EF4-FFF2-40B4-BE49-F238E27FC236}">
                  <a16:creationId xmlns:a16="http://schemas.microsoft.com/office/drawing/2014/main" id="{8EA9FE71-CA7E-48FC-A37D-67CE6F127C1D}"/>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y</a:t>
              </a:r>
              <a:r>
                <a:rPr lang="en-GB" sz="2000" b="1" dirty="0">
                  <a:latin typeface="Arial" pitchFamily="34" charset="0"/>
                  <a:cs typeface="Arial" pitchFamily="34" charset="0"/>
                </a:rPr>
                <a:t>    =    2</a:t>
              </a:r>
            </a:p>
          </p:txBody>
        </p:sp>
      </p:grpSp>
      <p:sp>
        <p:nvSpPr>
          <p:cNvPr id="65" name="Oval 64">
            <a:extLst>
              <a:ext uri="{FF2B5EF4-FFF2-40B4-BE49-F238E27FC236}">
                <a16:creationId xmlns:a16="http://schemas.microsoft.com/office/drawing/2014/main" id="{91442DAB-DAC1-4F9D-B672-5D8D74DC4583}"/>
              </a:ext>
            </a:extLst>
          </p:cNvPr>
          <p:cNvSpPr/>
          <p:nvPr/>
        </p:nvSpPr>
        <p:spPr>
          <a:xfrm>
            <a:off x="920169" y="2526690"/>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6" name="Oval 65">
            <a:extLst>
              <a:ext uri="{FF2B5EF4-FFF2-40B4-BE49-F238E27FC236}">
                <a16:creationId xmlns:a16="http://schemas.microsoft.com/office/drawing/2014/main" id="{C22A1BD9-AF2A-48D1-BA9D-71F4D8F949B7}"/>
              </a:ext>
            </a:extLst>
          </p:cNvPr>
          <p:cNvSpPr/>
          <p:nvPr/>
        </p:nvSpPr>
        <p:spPr>
          <a:xfrm>
            <a:off x="920169" y="2871870"/>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7" name="Oval 66">
            <a:extLst>
              <a:ext uri="{FF2B5EF4-FFF2-40B4-BE49-F238E27FC236}">
                <a16:creationId xmlns:a16="http://schemas.microsoft.com/office/drawing/2014/main" id="{C18C095D-B486-459F-A290-ECCFA99D8F56}"/>
              </a:ext>
            </a:extLst>
          </p:cNvPr>
          <p:cNvSpPr/>
          <p:nvPr/>
        </p:nvSpPr>
        <p:spPr>
          <a:xfrm>
            <a:off x="2758637" y="2526690"/>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8" name="Oval 67">
            <a:extLst>
              <a:ext uri="{FF2B5EF4-FFF2-40B4-BE49-F238E27FC236}">
                <a16:creationId xmlns:a16="http://schemas.microsoft.com/office/drawing/2014/main" id="{4FB727B3-84B9-4991-8ABC-4C8AA2CE7812}"/>
              </a:ext>
            </a:extLst>
          </p:cNvPr>
          <p:cNvSpPr/>
          <p:nvPr/>
        </p:nvSpPr>
        <p:spPr>
          <a:xfrm>
            <a:off x="2758637" y="2871870"/>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Tree>
    <p:extLst>
      <p:ext uri="{BB962C8B-B14F-4D97-AF65-F5344CB8AC3E}">
        <p14:creationId xmlns:p14="http://schemas.microsoft.com/office/powerpoint/2010/main" val="398453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000"/>
                                        <p:tgtEl>
                                          <p:spTgt spid="1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1000"/>
                                        <p:tgtEl>
                                          <p:spTgt spid="13"/>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p:cTn id="35" dur="500" fill="hold"/>
                                        <p:tgtEl>
                                          <p:spTgt spid="20"/>
                                        </p:tgtEl>
                                        <p:attrNameLst>
                                          <p:attrName>ppt_w</p:attrName>
                                        </p:attrNameLst>
                                      </p:cBhvr>
                                      <p:tavLst>
                                        <p:tav tm="0">
                                          <p:val>
                                            <p:fltVal val="0"/>
                                          </p:val>
                                        </p:tav>
                                        <p:tav tm="100000">
                                          <p:val>
                                            <p:strVal val="#ppt_w"/>
                                          </p:val>
                                        </p:tav>
                                      </p:tavLst>
                                    </p:anim>
                                    <p:anim calcmode="lin" valueType="num">
                                      <p:cBhvr>
                                        <p:cTn id="36" dur="500" fill="hold"/>
                                        <p:tgtEl>
                                          <p:spTgt spid="20"/>
                                        </p:tgtEl>
                                        <p:attrNameLst>
                                          <p:attrName>ppt_h</p:attrName>
                                        </p:attrNameLst>
                                      </p:cBhvr>
                                      <p:tavLst>
                                        <p:tav tm="0">
                                          <p:val>
                                            <p:fltVal val="0"/>
                                          </p:val>
                                        </p:tav>
                                        <p:tav tm="100000">
                                          <p:val>
                                            <p:strVal val="#ppt_h"/>
                                          </p:val>
                                        </p:tav>
                                      </p:tavLst>
                                    </p:anim>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left)">
                                      <p:cBhvr>
                                        <p:cTn id="48" dur="1000"/>
                                        <p:tgtEl>
                                          <p:spTgt spid="27"/>
                                        </p:tgtEl>
                                      </p:cBhvr>
                                    </p:animEffect>
                                  </p:childTnLst>
                                </p:cTn>
                              </p:par>
                            </p:childTnLst>
                          </p:cTn>
                        </p:par>
                        <p:par>
                          <p:cTn id="49" fill="hold">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10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0"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p:cTn id="57" dur="500" fill="hold"/>
                                        <p:tgtEl>
                                          <p:spTgt spid="32"/>
                                        </p:tgtEl>
                                        <p:attrNameLst>
                                          <p:attrName>ppt_w</p:attrName>
                                        </p:attrNameLst>
                                      </p:cBhvr>
                                      <p:tavLst>
                                        <p:tav tm="0">
                                          <p:val>
                                            <p:fltVal val="0"/>
                                          </p:val>
                                        </p:tav>
                                        <p:tav tm="100000">
                                          <p:val>
                                            <p:strVal val="#ppt_w"/>
                                          </p:val>
                                        </p:tav>
                                      </p:tavLst>
                                    </p:anim>
                                    <p:anim calcmode="lin" valueType="num">
                                      <p:cBhvr>
                                        <p:cTn id="58" dur="500" fill="hold"/>
                                        <p:tgtEl>
                                          <p:spTgt spid="32"/>
                                        </p:tgtEl>
                                        <p:attrNameLst>
                                          <p:attrName>ppt_h</p:attrName>
                                        </p:attrNameLst>
                                      </p:cBhvr>
                                      <p:tavLst>
                                        <p:tav tm="0">
                                          <p:val>
                                            <p:fltVal val="0"/>
                                          </p:val>
                                        </p:tav>
                                        <p:tav tm="100000">
                                          <p:val>
                                            <p:strVal val="#ppt_h"/>
                                          </p:val>
                                        </p:tav>
                                      </p:tavLst>
                                    </p:anim>
                                    <p:animEffect transition="in" filter="fade">
                                      <p:cBhvr>
                                        <p:cTn id="59" dur="500"/>
                                        <p:tgtEl>
                                          <p:spTgt spid="32"/>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left)">
                                      <p:cBhvr>
                                        <p:cTn id="63" dur="1000"/>
                                        <p:tgtEl>
                                          <p:spTgt spid="28"/>
                                        </p:tgtEl>
                                      </p:cBhvr>
                                    </p:animEffect>
                                  </p:childTnLst>
                                </p:cTn>
                              </p:par>
                            </p:childTnLst>
                          </p:cTn>
                        </p:par>
                        <p:par>
                          <p:cTn id="64" fill="hold">
                            <p:stCondLst>
                              <p:cond delay="1500"/>
                            </p:stCondLst>
                            <p:childTnLst>
                              <p:par>
                                <p:cTn id="65" presetID="22" presetClass="entr" presetSubtype="8" fill="hold" grpId="0"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left)">
                                      <p:cBhvr>
                                        <p:cTn id="67" dur="1000"/>
                                        <p:tgtEl>
                                          <p:spTgt spid="31"/>
                                        </p:tgtEl>
                                      </p:cBhvr>
                                    </p:animEffect>
                                  </p:childTnLst>
                                </p:cTn>
                              </p:par>
                            </p:childTnLst>
                          </p:cTn>
                        </p:par>
                        <p:par>
                          <p:cTn id="68" fill="hold">
                            <p:stCondLst>
                              <p:cond delay="2500"/>
                            </p:stCondLst>
                            <p:childTnLst>
                              <p:par>
                                <p:cTn id="69" presetID="22" presetClass="entr" presetSubtype="8" fill="hold" nodeType="after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wipe(left)">
                                      <p:cBhvr>
                                        <p:cTn id="71" dur="500"/>
                                        <p:tgtEl>
                                          <p:spTgt spid="29"/>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0" fill="hold" nodeType="clickEffect">
                                  <p:stCondLst>
                                    <p:cond delay="0"/>
                                  </p:stCondLst>
                                  <p:childTnLst>
                                    <p:set>
                                      <p:cBhvr>
                                        <p:cTn id="75" dur="1" fill="hold">
                                          <p:stCondLst>
                                            <p:cond delay="0"/>
                                          </p:stCondLst>
                                        </p:cTn>
                                        <p:tgtEl>
                                          <p:spTgt spid="37"/>
                                        </p:tgtEl>
                                        <p:attrNameLst>
                                          <p:attrName>style.visibility</p:attrName>
                                        </p:attrNameLst>
                                      </p:cBhvr>
                                      <p:to>
                                        <p:strVal val="visible"/>
                                      </p:to>
                                    </p:set>
                                    <p:anim calcmode="lin" valueType="num">
                                      <p:cBhvr>
                                        <p:cTn id="76" dur="500" fill="hold"/>
                                        <p:tgtEl>
                                          <p:spTgt spid="37"/>
                                        </p:tgtEl>
                                        <p:attrNameLst>
                                          <p:attrName>ppt_w</p:attrName>
                                        </p:attrNameLst>
                                      </p:cBhvr>
                                      <p:tavLst>
                                        <p:tav tm="0">
                                          <p:val>
                                            <p:fltVal val="0"/>
                                          </p:val>
                                        </p:tav>
                                        <p:tav tm="100000">
                                          <p:val>
                                            <p:strVal val="#ppt_w"/>
                                          </p:val>
                                        </p:tav>
                                      </p:tavLst>
                                    </p:anim>
                                    <p:anim calcmode="lin" valueType="num">
                                      <p:cBhvr>
                                        <p:cTn id="77" dur="500" fill="hold"/>
                                        <p:tgtEl>
                                          <p:spTgt spid="37"/>
                                        </p:tgtEl>
                                        <p:attrNameLst>
                                          <p:attrName>ppt_h</p:attrName>
                                        </p:attrNameLst>
                                      </p:cBhvr>
                                      <p:tavLst>
                                        <p:tav tm="0">
                                          <p:val>
                                            <p:fltVal val="0"/>
                                          </p:val>
                                        </p:tav>
                                        <p:tav tm="100000">
                                          <p:val>
                                            <p:strVal val="#ppt_h"/>
                                          </p:val>
                                        </p:tav>
                                      </p:tavLst>
                                    </p:anim>
                                    <p:animEffect transition="in" filter="fade">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0" fill="hold" grpId="0" nodeType="clickEffect">
                                  <p:stCondLst>
                                    <p:cond delay="0"/>
                                  </p:stCondLst>
                                  <p:childTnLst>
                                    <p:set>
                                      <p:cBhvr>
                                        <p:cTn id="82" dur="1" fill="hold">
                                          <p:stCondLst>
                                            <p:cond delay="0"/>
                                          </p:stCondLst>
                                        </p:cTn>
                                        <p:tgtEl>
                                          <p:spTgt spid="65"/>
                                        </p:tgtEl>
                                        <p:attrNameLst>
                                          <p:attrName>style.visibility</p:attrName>
                                        </p:attrNameLst>
                                      </p:cBhvr>
                                      <p:to>
                                        <p:strVal val="visible"/>
                                      </p:to>
                                    </p:set>
                                    <p:anim calcmode="lin" valueType="num">
                                      <p:cBhvr>
                                        <p:cTn id="83" dur="1000" fill="hold"/>
                                        <p:tgtEl>
                                          <p:spTgt spid="65"/>
                                        </p:tgtEl>
                                        <p:attrNameLst>
                                          <p:attrName>ppt_w</p:attrName>
                                        </p:attrNameLst>
                                      </p:cBhvr>
                                      <p:tavLst>
                                        <p:tav tm="0">
                                          <p:val>
                                            <p:fltVal val="0"/>
                                          </p:val>
                                        </p:tav>
                                        <p:tav tm="100000">
                                          <p:val>
                                            <p:strVal val="#ppt_w"/>
                                          </p:val>
                                        </p:tav>
                                      </p:tavLst>
                                    </p:anim>
                                    <p:anim calcmode="lin" valueType="num">
                                      <p:cBhvr>
                                        <p:cTn id="84" dur="1000" fill="hold"/>
                                        <p:tgtEl>
                                          <p:spTgt spid="65"/>
                                        </p:tgtEl>
                                        <p:attrNameLst>
                                          <p:attrName>ppt_h</p:attrName>
                                        </p:attrNameLst>
                                      </p:cBhvr>
                                      <p:tavLst>
                                        <p:tav tm="0">
                                          <p:val>
                                            <p:fltVal val="0"/>
                                          </p:val>
                                        </p:tav>
                                        <p:tav tm="100000">
                                          <p:val>
                                            <p:strVal val="#ppt_h"/>
                                          </p:val>
                                        </p:tav>
                                      </p:tavLst>
                                    </p:anim>
                                    <p:animEffect transition="in" filter="fade">
                                      <p:cBhvr>
                                        <p:cTn id="85" dur="1000"/>
                                        <p:tgtEl>
                                          <p:spTgt spid="65"/>
                                        </p:tgtEl>
                                      </p:cBhvr>
                                    </p:animEffect>
                                  </p:childTnLst>
                                </p:cTn>
                              </p:par>
                            </p:childTnLst>
                          </p:cTn>
                        </p:par>
                        <p:par>
                          <p:cTn id="86" fill="hold">
                            <p:stCondLst>
                              <p:cond delay="1000"/>
                            </p:stCondLst>
                            <p:childTnLst>
                              <p:par>
                                <p:cTn id="87" presetID="53" presetClass="entr" presetSubtype="0" fill="hold" grpId="0" nodeType="afterEffect">
                                  <p:stCondLst>
                                    <p:cond delay="0"/>
                                  </p:stCondLst>
                                  <p:childTnLst>
                                    <p:set>
                                      <p:cBhvr>
                                        <p:cTn id="88" dur="1" fill="hold">
                                          <p:stCondLst>
                                            <p:cond delay="0"/>
                                          </p:stCondLst>
                                        </p:cTn>
                                        <p:tgtEl>
                                          <p:spTgt spid="66"/>
                                        </p:tgtEl>
                                        <p:attrNameLst>
                                          <p:attrName>style.visibility</p:attrName>
                                        </p:attrNameLst>
                                      </p:cBhvr>
                                      <p:to>
                                        <p:strVal val="visible"/>
                                      </p:to>
                                    </p:set>
                                    <p:anim calcmode="lin" valueType="num">
                                      <p:cBhvr>
                                        <p:cTn id="89" dur="1000" fill="hold"/>
                                        <p:tgtEl>
                                          <p:spTgt spid="66"/>
                                        </p:tgtEl>
                                        <p:attrNameLst>
                                          <p:attrName>ppt_w</p:attrName>
                                        </p:attrNameLst>
                                      </p:cBhvr>
                                      <p:tavLst>
                                        <p:tav tm="0">
                                          <p:val>
                                            <p:fltVal val="0"/>
                                          </p:val>
                                        </p:tav>
                                        <p:tav tm="100000">
                                          <p:val>
                                            <p:strVal val="#ppt_w"/>
                                          </p:val>
                                        </p:tav>
                                      </p:tavLst>
                                    </p:anim>
                                    <p:anim calcmode="lin" valueType="num">
                                      <p:cBhvr>
                                        <p:cTn id="90" dur="1000" fill="hold"/>
                                        <p:tgtEl>
                                          <p:spTgt spid="66"/>
                                        </p:tgtEl>
                                        <p:attrNameLst>
                                          <p:attrName>ppt_h</p:attrName>
                                        </p:attrNameLst>
                                      </p:cBhvr>
                                      <p:tavLst>
                                        <p:tav tm="0">
                                          <p:val>
                                            <p:fltVal val="0"/>
                                          </p:val>
                                        </p:tav>
                                        <p:tav tm="100000">
                                          <p:val>
                                            <p:strVal val="#ppt_h"/>
                                          </p:val>
                                        </p:tav>
                                      </p:tavLst>
                                    </p:anim>
                                    <p:animEffect transition="in" filter="fade">
                                      <p:cBhvr>
                                        <p:cTn id="91" dur="1000"/>
                                        <p:tgtEl>
                                          <p:spTgt spid="6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wipe(left)">
                                      <p:cBhvr>
                                        <p:cTn id="96" dur="1000"/>
                                        <p:tgtEl>
                                          <p:spTgt spid="35"/>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0" fill="hold" grpId="0" nodeType="clickEffect">
                                  <p:stCondLst>
                                    <p:cond delay="0"/>
                                  </p:stCondLst>
                                  <p:childTnLst>
                                    <p:set>
                                      <p:cBhvr>
                                        <p:cTn id="100" dur="1" fill="hold">
                                          <p:stCondLst>
                                            <p:cond delay="0"/>
                                          </p:stCondLst>
                                        </p:cTn>
                                        <p:tgtEl>
                                          <p:spTgt spid="67"/>
                                        </p:tgtEl>
                                        <p:attrNameLst>
                                          <p:attrName>style.visibility</p:attrName>
                                        </p:attrNameLst>
                                      </p:cBhvr>
                                      <p:to>
                                        <p:strVal val="visible"/>
                                      </p:to>
                                    </p:set>
                                    <p:anim calcmode="lin" valueType="num">
                                      <p:cBhvr>
                                        <p:cTn id="101" dur="1000" fill="hold"/>
                                        <p:tgtEl>
                                          <p:spTgt spid="67"/>
                                        </p:tgtEl>
                                        <p:attrNameLst>
                                          <p:attrName>ppt_w</p:attrName>
                                        </p:attrNameLst>
                                      </p:cBhvr>
                                      <p:tavLst>
                                        <p:tav tm="0">
                                          <p:val>
                                            <p:fltVal val="0"/>
                                          </p:val>
                                        </p:tav>
                                        <p:tav tm="100000">
                                          <p:val>
                                            <p:strVal val="#ppt_w"/>
                                          </p:val>
                                        </p:tav>
                                      </p:tavLst>
                                    </p:anim>
                                    <p:anim calcmode="lin" valueType="num">
                                      <p:cBhvr>
                                        <p:cTn id="102" dur="1000" fill="hold"/>
                                        <p:tgtEl>
                                          <p:spTgt spid="67"/>
                                        </p:tgtEl>
                                        <p:attrNameLst>
                                          <p:attrName>ppt_h</p:attrName>
                                        </p:attrNameLst>
                                      </p:cBhvr>
                                      <p:tavLst>
                                        <p:tav tm="0">
                                          <p:val>
                                            <p:fltVal val="0"/>
                                          </p:val>
                                        </p:tav>
                                        <p:tav tm="100000">
                                          <p:val>
                                            <p:strVal val="#ppt_h"/>
                                          </p:val>
                                        </p:tav>
                                      </p:tavLst>
                                    </p:anim>
                                    <p:animEffect transition="in" filter="fade">
                                      <p:cBhvr>
                                        <p:cTn id="103" dur="1000"/>
                                        <p:tgtEl>
                                          <p:spTgt spid="67"/>
                                        </p:tgtEl>
                                      </p:cBhvr>
                                    </p:animEffect>
                                  </p:childTnLst>
                                </p:cTn>
                              </p:par>
                            </p:childTnLst>
                          </p:cTn>
                        </p:par>
                        <p:par>
                          <p:cTn id="104" fill="hold">
                            <p:stCondLst>
                              <p:cond delay="1000"/>
                            </p:stCondLst>
                            <p:childTnLst>
                              <p:par>
                                <p:cTn id="105" presetID="53" presetClass="entr" presetSubtype="0" fill="hold" grpId="0" nodeType="afterEffect">
                                  <p:stCondLst>
                                    <p:cond delay="0"/>
                                  </p:stCondLst>
                                  <p:childTnLst>
                                    <p:set>
                                      <p:cBhvr>
                                        <p:cTn id="106" dur="1" fill="hold">
                                          <p:stCondLst>
                                            <p:cond delay="0"/>
                                          </p:stCondLst>
                                        </p:cTn>
                                        <p:tgtEl>
                                          <p:spTgt spid="68"/>
                                        </p:tgtEl>
                                        <p:attrNameLst>
                                          <p:attrName>style.visibility</p:attrName>
                                        </p:attrNameLst>
                                      </p:cBhvr>
                                      <p:to>
                                        <p:strVal val="visible"/>
                                      </p:to>
                                    </p:set>
                                    <p:anim calcmode="lin" valueType="num">
                                      <p:cBhvr>
                                        <p:cTn id="107" dur="1000" fill="hold"/>
                                        <p:tgtEl>
                                          <p:spTgt spid="68"/>
                                        </p:tgtEl>
                                        <p:attrNameLst>
                                          <p:attrName>ppt_w</p:attrName>
                                        </p:attrNameLst>
                                      </p:cBhvr>
                                      <p:tavLst>
                                        <p:tav tm="0">
                                          <p:val>
                                            <p:fltVal val="0"/>
                                          </p:val>
                                        </p:tav>
                                        <p:tav tm="100000">
                                          <p:val>
                                            <p:strVal val="#ppt_w"/>
                                          </p:val>
                                        </p:tav>
                                      </p:tavLst>
                                    </p:anim>
                                    <p:anim calcmode="lin" valueType="num">
                                      <p:cBhvr>
                                        <p:cTn id="108" dur="1000" fill="hold"/>
                                        <p:tgtEl>
                                          <p:spTgt spid="68"/>
                                        </p:tgtEl>
                                        <p:attrNameLst>
                                          <p:attrName>ppt_h</p:attrName>
                                        </p:attrNameLst>
                                      </p:cBhvr>
                                      <p:tavLst>
                                        <p:tav tm="0">
                                          <p:val>
                                            <p:fltVal val="0"/>
                                          </p:val>
                                        </p:tav>
                                        <p:tav tm="100000">
                                          <p:val>
                                            <p:strVal val="#ppt_h"/>
                                          </p:val>
                                        </p:tav>
                                      </p:tavLst>
                                    </p:anim>
                                    <p:animEffect transition="in" filter="fade">
                                      <p:cBhvr>
                                        <p:cTn id="109" dur="1000"/>
                                        <p:tgtEl>
                                          <p:spTgt spid="68"/>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36"/>
                                        </p:tgtEl>
                                        <p:attrNameLst>
                                          <p:attrName>style.visibility</p:attrName>
                                        </p:attrNameLst>
                                      </p:cBhvr>
                                      <p:to>
                                        <p:strVal val="visible"/>
                                      </p:to>
                                    </p:set>
                                    <p:animEffect transition="in" filter="wipe(left)">
                                      <p:cBhvr>
                                        <p:cTn id="114" dur="1000"/>
                                        <p:tgtEl>
                                          <p:spTgt spid="36"/>
                                        </p:tgtEl>
                                      </p:cBhvr>
                                    </p:animEffect>
                                  </p:childTnLst>
                                </p:cTn>
                              </p:par>
                            </p:childTnLst>
                          </p:cTn>
                        </p:par>
                      </p:childTnLst>
                    </p:cTn>
                  </p:par>
                  <p:par>
                    <p:cTn id="115" fill="hold">
                      <p:stCondLst>
                        <p:cond delay="indefinite"/>
                      </p:stCondLst>
                      <p:childTnLst>
                        <p:par>
                          <p:cTn id="116" fill="hold">
                            <p:stCondLst>
                              <p:cond delay="0"/>
                            </p:stCondLst>
                            <p:childTnLst>
                              <p:par>
                                <p:cTn id="117" presetID="53" presetClass="entr" presetSubtype="0" fill="hold" nodeType="clickEffect">
                                  <p:stCondLst>
                                    <p:cond delay="0"/>
                                  </p:stCondLst>
                                  <p:childTnLst>
                                    <p:set>
                                      <p:cBhvr>
                                        <p:cTn id="118" dur="1" fill="hold">
                                          <p:stCondLst>
                                            <p:cond delay="0"/>
                                          </p:stCondLst>
                                        </p:cTn>
                                        <p:tgtEl>
                                          <p:spTgt spid="40"/>
                                        </p:tgtEl>
                                        <p:attrNameLst>
                                          <p:attrName>style.visibility</p:attrName>
                                        </p:attrNameLst>
                                      </p:cBhvr>
                                      <p:to>
                                        <p:strVal val="visible"/>
                                      </p:to>
                                    </p:set>
                                    <p:anim calcmode="lin" valueType="num">
                                      <p:cBhvr>
                                        <p:cTn id="119" dur="500" fill="hold"/>
                                        <p:tgtEl>
                                          <p:spTgt spid="40"/>
                                        </p:tgtEl>
                                        <p:attrNameLst>
                                          <p:attrName>ppt_w</p:attrName>
                                        </p:attrNameLst>
                                      </p:cBhvr>
                                      <p:tavLst>
                                        <p:tav tm="0">
                                          <p:val>
                                            <p:fltVal val="0"/>
                                          </p:val>
                                        </p:tav>
                                        <p:tav tm="100000">
                                          <p:val>
                                            <p:strVal val="#ppt_w"/>
                                          </p:val>
                                        </p:tav>
                                      </p:tavLst>
                                    </p:anim>
                                    <p:anim calcmode="lin" valueType="num">
                                      <p:cBhvr>
                                        <p:cTn id="120" dur="500" fill="hold"/>
                                        <p:tgtEl>
                                          <p:spTgt spid="40"/>
                                        </p:tgtEl>
                                        <p:attrNameLst>
                                          <p:attrName>ppt_h</p:attrName>
                                        </p:attrNameLst>
                                      </p:cBhvr>
                                      <p:tavLst>
                                        <p:tav tm="0">
                                          <p:val>
                                            <p:fltVal val="0"/>
                                          </p:val>
                                        </p:tav>
                                        <p:tav tm="100000">
                                          <p:val>
                                            <p:strVal val="#ppt_h"/>
                                          </p:val>
                                        </p:tav>
                                      </p:tavLst>
                                    </p:anim>
                                    <p:animEffect transition="in" filter="fade">
                                      <p:cBhvr>
                                        <p:cTn id="121" dur="500"/>
                                        <p:tgtEl>
                                          <p:spTgt spid="40"/>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wipe(left)">
                                      <p:cBhvr>
                                        <p:cTn id="126" dur="1000"/>
                                        <p:tgtEl>
                                          <p:spTgt spid="43"/>
                                        </p:tgtEl>
                                      </p:cBhvr>
                                    </p:animEffect>
                                  </p:childTnLst>
                                </p:cTn>
                              </p:par>
                            </p:childTnLst>
                          </p:cTn>
                        </p:par>
                      </p:childTnLst>
                    </p:cTn>
                  </p:par>
                  <p:par>
                    <p:cTn id="127" fill="hold">
                      <p:stCondLst>
                        <p:cond delay="indefinite"/>
                      </p:stCondLst>
                      <p:childTnLst>
                        <p:par>
                          <p:cTn id="128" fill="hold">
                            <p:stCondLst>
                              <p:cond delay="0"/>
                            </p:stCondLst>
                            <p:childTnLst>
                              <p:par>
                                <p:cTn id="129" presetID="53" presetClass="entr" presetSubtype="0" fill="hold" nodeType="clickEffect">
                                  <p:stCondLst>
                                    <p:cond delay="0"/>
                                  </p:stCondLst>
                                  <p:childTnLst>
                                    <p:set>
                                      <p:cBhvr>
                                        <p:cTn id="130" dur="1" fill="hold">
                                          <p:stCondLst>
                                            <p:cond delay="0"/>
                                          </p:stCondLst>
                                        </p:cTn>
                                        <p:tgtEl>
                                          <p:spTgt spid="59"/>
                                        </p:tgtEl>
                                        <p:attrNameLst>
                                          <p:attrName>style.visibility</p:attrName>
                                        </p:attrNameLst>
                                      </p:cBhvr>
                                      <p:to>
                                        <p:strVal val="visible"/>
                                      </p:to>
                                    </p:set>
                                    <p:anim calcmode="lin" valueType="num">
                                      <p:cBhvr>
                                        <p:cTn id="131" dur="500" fill="hold"/>
                                        <p:tgtEl>
                                          <p:spTgt spid="59"/>
                                        </p:tgtEl>
                                        <p:attrNameLst>
                                          <p:attrName>ppt_w</p:attrName>
                                        </p:attrNameLst>
                                      </p:cBhvr>
                                      <p:tavLst>
                                        <p:tav tm="0">
                                          <p:val>
                                            <p:fltVal val="0"/>
                                          </p:val>
                                        </p:tav>
                                        <p:tav tm="100000">
                                          <p:val>
                                            <p:strVal val="#ppt_w"/>
                                          </p:val>
                                        </p:tav>
                                      </p:tavLst>
                                    </p:anim>
                                    <p:anim calcmode="lin" valueType="num">
                                      <p:cBhvr>
                                        <p:cTn id="132" dur="500" fill="hold"/>
                                        <p:tgtEl>
                                          <p:spTgt spid="59"/>
                                        </p:tgtEl>
                                        <p:attrNameLst>
                                          <p:attrName>ppt_h</p:attrName>
                                        </p:attrNameLst>
                                      </p:cBhvr>
                                      <p:tavLst>
                                        <p:tav tm="0">
                                          <p:val>
                                            <p:fltVal val="0"/>
                                          </p:val>
                                        </p:tav>
                                        <p:tav tm="100000">
                                          <p:val>
                                            <p:strVal val="#ppt_h"/>
                                          </p:val>
                                        </p:tav>
                                      </p:tavLst>
                                    </p:anim>
                                    <p:animEffect transition="in" filter="fade">
                                      <p:cBhvr>
                                        <p:cTn id="133" dur="500"/>
                                        <p:tgtEl>
                                          <p:spTgt spid="59"/>
                                        </p:tgtEl>
                                      </p:cBhvr>
                                    </p:animEffect>
                                  </p:childTnLst>
                                </p:cTn>
                              </p:par>
                            </p:childTnLst>
                          </p:cTn>
                        </p:par>
                        <p:par>
                          <p:cTn id="134" fill="hold">
                            <p:stCondLst>
                              <p:cond delay="500"/>
                            </p:stCondLst>
                            <p:childTnLst>
                              <p:par>
                                <p:cTn id="135" presetID="22" presetClass="entr" presetSubtype="8" fill="hold" nodeType="afterEffect">
                                  <p:stCondLst>
                                    <p:cond delay="0"/>
                                  </p:stCondLst>
                                  <p:childTnLst>
                                    <p:set>
                                      <p:cBhvr>
                                        <p:cTn id="136" dur="1" fill="hold">
                                          <p:stCondLst>
                                            <p:cond delay="0"/>
                                          </p:stCondLst>
                                        </p:cTn>
                                        <p:tgtEl>
                                          <p:spTgt spid="44"/>
                                        </p:tgtEl>
                                        <p:attrNameLst>
                                          <p:attrName>style.visibility</p:attrName>
                                        </p:attrNameLst>
                                      </p:cBhvr>
                                      <p:to>
                                        <p:strVal val="visible"/>
                                      </p:to>
                                    </p:set>
                                    <p:animEffect transition="in" filter="wipe(left)">
                                      <p:cBhvr>
                                        <p:cTn id="137" dur="500"/>
                                        <p:tgtEl>
                                          <p:spTgt spid="44"/>
                                        </p:tgtEl>
                                      </p:cBhvr>
                                    </p:animEffect>
                                  </p:childTnLst>
                                </p:cTn>
                              </p:par>
                            </p:childTnLst>
                          </p:cTn>
                        </p:par>
                      </p:childTnLst>
                    </p:cTn>
                  </p:par>
                  <p:par>
                    <p:cTn id="138" fill="hold">
                      <p:stCondLst>
                        <p:cond delay="indefinite"/>
                      </p:stCondLst>
                      <p:childTnLst>
                        <p:par>
                          <p:cTn id="139" fill="hold">
                            <p:stCondLst>
                              <p:cond delay="0"/>
                            </p:stCondLst>
                            <p:childTnLst>
                              <p:par>
                                <p:cTn id="140" presetID="53" presetClass="entr" presetSubtype="0" fill="hold" nodeType="clickEffect">
                                  <p:stCondLst>
                                    <p:cond delay="0"/>
                                  </p:stCondLst>
                                  <p:childTnLst>
                                    <p:set>
                                      <p:cBhvr>
                                        <p:cTn id="141" dur="1" fill="hold">
                                          <p:stCondLst>
                                            <p:cond delay="0"/>
                                          </p:stCondLst>
                                        </p:cTn>
                                        <p:tgtEl>
                                          <p:spTgt spid="45"/>
                                        </p:tgtEl>
                                        <p:attrNameLst>
                                          <p:attrName>style.visibility</p:attrName>
                                        </p:attrNameLst>
                                      </p:cBhvr>
                                      <p:to>
                                        <p:strVal val="visible"/>
                                      </p:to>
                                    </p:set>
                                    <p:anim calcmode="lin" valueType="num">
                                      <p:cBhvr>
                                        <p:cTn id="142" dur="500" fill="hold"/>
                                        <p:tgtEl>
                                          <p:spTgt spid="45"/>
                                        </p:tgtEl>
                                        <p:attrNameLst>
                                          <p:attrName>ppt_w</p:attrName>
                                        </p:attrNameLst>
                                      </p:cBhvr>
                                      <p:tavLst>
                                        <p:tav tm="0">
                                          <p:val>
                                            <p:fltVal val="0"/>
                                          </p:val>
                                        </p:tav>
                                        <p:tav tm="100000">
                                          <p:val>
                                            <p:strVal val="#ppt_w"/>
                                          </p:val>
                                        </p:tav>
                                      </p:tavLst>
                                    </p:anim>
                                    <p:anim calcmode="lin" valueType="num">
                                      <p:cBhvr>
                                        <p:cTn id="143" dur="500" fill="hold"/>
                                        <p:tgtEl>
                                          <p:spTgt spid="45"/>
                                        </p:tgtEl>
                                        <p:attrNameLst>
                                          <p:attrName>ppt_h</p:attrName>
                                        </p:attrNameLst>
                                      </p:cBhvr>
                                      <p:tavLst>
                                        <p:tav tm="0">
                                          <p:val>
                                            <p:fltVal val="0"/>
                                          </p:val>
                                        </p:tav>
                                        <p:tav tm="100000">
                                          <p:val>
                                            <p:strVal val="#ppt_h"/>
                                          </p:val>
                                        </p:tav>
                                      </p:tavLst>
                                    </p:anim>
                                    <p:animEffect transition="in" filter="fade">
                                      <p:cBhvr>
                                        <p:cTn id="144" dur="500"/>
                                        <p:tgtEl>
                                          <p:spTgt spid="45"/>
                                        </p:tgtEl>
                                      </p:cBhvr>
                                    </p:animEffect>
                                  </p:childTnLst>
                                </p:cTn>
                              </p:par>
                            </p:childTnLst>
                          </p:cTn>
                        </p:par>
                        <p:par>
                          <p:cTn id="145" fill="hold">
                            <p:stCondLst>
                              <p:cond delay="500"/>
                            </p:stCondLst>
                            <p:childTnLst>
                              <p:par>
                                <p:cTn id="146" presetID="22" presetClass="entr" presetSubtype="8" fill="hold" grpId="0" nodeType="afterEffect">
                                  <p:stCondLst>
                                    <p:cond delay="0"/>
                                  </p:stCondLst>
                                  <p:childTnLst>
                                    <p:set>
                                      <p:cBhvr>
                                        <p:cTn id="147" dur="1" fill="hold">
                                          <p:stCondLst>
                                            <p:cond delay="0"/>
                                          </p:stCondLst>
                                        </p:cTn>
                                        <p:tgtEl>
                                          <p:spTgt spid="48"/>
                                        </p:tgtEl>
                                        <p:attrNameLst>
                                          <p:attrName>style.visibility</p:attrName>
                                        </p:attrNameLst>
                                      </p:cBhvr>
                                      <p:to>
                                        <p:strVal val="visible"/>
                                      </p:to>
                                    </p:set>
                                    <p:animEffect transition="in" filter="wipe(left)">
                                      <p:cBhvr>
                                        <p:cTn id="148" dur="1000"/>
                                        <p:tgtEl>
                                          <p:spTgt spid="48"/>
                                        </p:tgtEl>
                                      </p:cBhvr>
                                    </p:animEffect>
                                  </p:childTnLst>
                                </p:cTn>
                              </p:par>
                            </p:childTnLst>
                          </p:cTn>
                        </p:par>
                        <p:par>
                          <p:cTn id="149" fill="hold">
                            <p:stCondLst>
                              <p:cond delay="1500"/>
                            </p:stCondLst>
                            <p:childTnLst>
                              <p:par>
                                <p:cTn id="150" presetID="22" presetClass="entr" presetSubtype="8" fill="hold" grpId="0" nodeType="afterEffect">
                                  <p:stCondLst>
                                    <p:cond delay="0"/>
                                  </p:stCondLst>
                                  <p:childTnLst>
                                    <p:set>
                                      <p:cBhvr>
                                        <p:cTn id="151" dur="1" fill="hold">
                                          <p:stCondLst>
                                            <p:cond delay="0"/>
                                          </p:stCondLst>
                                        </p:cTn>
                                        <p:tgtEl>
                                          <p:spTgt spid="49"/>
                                        </p:tgtEl>
                                        <p:attrNameLst>
                                          <p:attrName>style.visibility</p:attrName>
                                        </p:attrNameLst>
                                      </p:cBhvr>
                                      <p:to>
                                        <p:strVal val="visible"/>
                                      </p:to>
                                    </p:set>
                                    <p:animEffect transition="in" filter="wipe(left)">
                                      <p:cBhvr>
                                        <p:cTn id="152" dur="1000"/>
                                        <p:tgtEl>
                                          <p:spTgt spid="49"/>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50"/>
                                        </p:tgtEl>
                                        <p:attrNameLst>
                                          <p:attrName>style.visibility</p:attrName>
                                        </p:attrNameLst>
                                      </p:cBhvr>
                                      <p:to>
                                        <p:strVal val="visible"/>
                                      </p:to>
                                    </p:set>
                                    <p:animEffect transition="in" filter="wipe(left)">
                                      <p:cBhvr>
                                        <p:cTn id="157" dur="1000"/>
                                        <p:tgtEl>
                                          <p:spTgt spid="50"/>
                                        </p:tgtEl>
                                      </p:cBhvr>
                                    </p:animEffect>
                                  </p:childTnLst>
                                </p:cTn>
                              </p:par>
                            </p:childTnLst>
                          </p:cTn>
                        </p:par>
                      </p:childTnLst>
                    </p:cTn>
                  </p:par>
                  <p:par>
                    <p:cTn id="158" fill="hold">
                      <p:stCondLst>
                        <p:cond delay="indefinite"/>
                      </p:stCondLst>
                      <p:childTnLst>
                        <p:par>
                          <p:cTn id="159" fill="hold">
                            <p:stCondLst>
                              <p:cond delay="0"/>
                            </p:stCondLst>
                            <p:childTnLst>
                              <p:par>
                                <p:cTn id="160" presetID="53" presetClass="entr" presetSubtype="0" fill="hold" nodeType="clickEffect">
                                  <p:stCondLst>
                                    <p:cond delay="0"/>
                                  </p:stCondLst>
                                  <p:childTnLst>
                                    <p:set>
                                      <p:cBhvr>
                                        <p:cTn id="161" dur="1" fill="hold">
                                          <p:stCondLst>
                                            <p:cond delay="0"/>
                                          </p:stCondLst>
                                        </p:cTn>
                                        <p:tgtEl>
                                          <p:spTgt spid="51"/>
                                        </p:tgtEl>
                                        <p:attrNameLst>
                                          <p:attrName>style.visibility</p:attrName>
                                        </p:attrNameLst>
                                      </p:cBhvr>
                                      <p:to>
                                        <p:strVal val="visible"/>
                                      </p:to>
                                    </p:set>
                                    <p:anim calcmode="lin" valueType="num">
                                      <p:cBhvr>
                                        <p:cTn id="162" dur="500" fill="hold"/>
                                        <p:tgtEl>
                                          <p:spTgt spid="51"/>
                                        </p:tgtEl>
                                        <p:attrNameLst>
                                          <p:attrName>ppt_w</p:attrName>
                                        </p:attrNameLst>
                                      </p:cBhvr>
                                      <p:tavLst>
                                        <p:tav tm="0">
                                          <p:val>
                                            <p:fltVal val="0"/>
                                          </p:val>
                                        </p:tav>
                                        <p:tav tm="100000">
                                          <p:val>
                                            <p:strVal val="#ppt_w"/>
                                          </p:val>
                                        </p:tav>
                                      </p:tavLst>
                                    </p:anim>
                                    <p:anim calcmode="lin" valueType="num">
                                      <p:cBhvr>
                                        <p:cTn id="163" dur="500" fill="hold"/>
                                        <p:tgtEl>
                                          <p:spTgt spid="51"/>
                                        </p:tgtEl>
                                        <p:attrNameLst>
                                          <p:attrName>ppt_h</p:attrName>
                                        </p:attrNameLst>
                                      </p:cBhvr>
                                      <p:tavLst>
                                        <p:tav tm="0">
                                          <p:val>
                                            <p:fltVal val="0"/>
                                          </p:val>
                                        </p:tav>
                                        <p:tav tm="100000">
                                          <p:val>
                                            <p:strVal val="#ppt_h"/>
                                          </p:val>
                                        </p:tav>
                                      </p:tavLst>
                                    </p:anim>
                                    <p:animEffect transition="in" filter="fade">
                                      <p:cBhvr>
                                        <p:cTn id="164" dur="500"/>
                                        <p:tgtEl>
                                          <p:spTgt spid="51"/>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54"/>
                                        </p:tgtEl>
                                        <p:attrNameLst>
                                          <p:attrName>style.visibility</p:attrName>
                                        </p:attrNameLst>
                                      </p:cBhvr>
                                      <p:to>
                                        <p:strVal val="visible"/>
                                      </p:to>
                                    </p:set>
                                    <p:animEffect transition="in" filter="wipe(left)">
                                      <p:cBhvr>
                                        <p:cTn id="169" dur="1000"/>
                                        <p:tgtEl>
                                          <p:spTgt spid="54"/>
                                        </p:tgtEl>
                                      </p:cBhvr>
                                    </p:animEffect>
                                  </p:childTnLst>
                                </p:cTn>
                              </p:par>
                            </p:childTnLst>
                          </p:cTn>
                        </p:par>
                      </p:childTnLst>
                    </p:cTn>
                  </p:par>
                  <p:par>
                    <p:cTn id="170" fill="hold">
                      <p:stCondLst>
                        <p:cond delay="indefinite"/>
                      </p:stCondLst>
                      <p:childTnLst>
                        <p:par>
                          <p:cTn id="171" fill="hold">
                            <p:stCondLst>
                              <p:cond delay="0"/>
                            </p:stCondLst>
                            <p:childTnLst>
                              <p:par>
                                <p:cTn id="172" presetID="53" presetClass="entr" presetSubtype="0" fill="hold" nodeType="clickEffect">
                                  <p:stCondLst>
                                    <p:cond delay="0"/>
                                  </p:stCondLst>
                                  <p:childTnLst>
                                    <p:set>
                                      <p:cBhvr>
                                        <p:cTn id="173" dur="1" fill="hold">
                                          <p:stCondLst>
                                            <p:cond delay="0"/>
                                          </p:stCondLst>
                                        </p:cTn>
                                        <p:tgtEl>
                                          <p:spTgt spid="56"/>
                                        </p:tgtEl>
                                        <p:attrNameLst>
                                          <p:attrName>style.visibility</p:attrName>
                                        </p:attrNameLst>
                                      </p:cBhvr>
                                      <p:to>
                                        <p:strVal val="visible"/>
                                      </p:to>
                                    </p:set>
                                    <p:anim calcmode="lin" valueType="num">
                                      <p:cBhvr>
                                        <p:cTn id="174" dur="500" fill="hold"/>
                                        <p:tgtEl>
                                          <p:spTgt spid="56"/>
                                        </p:tgtEl>
                                        <p:attrNameLst>
                                          <p:attrName>ppt_w</p:attrName>
                                        </p:attrNameLst>
                                      </p:cBhvr>
                                      <p:tavLst>
                                        <p:tav tm="0">
                                          <p:val>
                                            <p:fltVal val="0"/>
                                          </p:val>
                                        </p:tav>
                                        <p:tav tm="100000">
                                          <p:val>
                                            <p:strVal val="#ppt_w"/>
                                          </p:val>
                                        </p:tav>
                                      </p:tavLst>
                                    </p:anim>
                                    <p:anim calcmode="lin" valueType="num">
                                      <p:cBhvr>
                                        <p:cTn id="175" dur="500" fill="hold"/>
                                        <p:tgtEl>
                                          <p:spTgt spid="56"/>
                                        </p:tgtEl>
                                        <p:attrNameLst>
                                          <p:attrName>ppt_h</p:attrName>
                                        </p:attrNameLst>
                                      </p:cBhvr>
                                      <p:tavLst>
                                        <p:tav tm="0">
                                          <p:val>
                                            <p:fltVal val="0"/>
                                          </p:val>
                                        </p:tav>
                                        <p:tav tm="100000">
                                          <p:val>
                                            <p:strVal val="#ppt_h"/>
                                          </p:val>
                                        </p:tav>
                                      </p:tavLst>
                                    </p:anim>
                                    <p:animEffect transition="in" filter="fade">
                                      <p:cBhvr>
                                        <p:cTn id="176" dur="500"/>
                                        <p:tgtEl>
                                          <p:spTgt spid="56"/>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55"/>
                                        </p:tgtEl>
                                        <p:attrNameLst>
                                          <p:attrName>style.visibility</p:attrName>
                                        </p:attrNameLst>
                                      </p:cBhvr>
                                      <p:to>
                                        <p:strVal val="visible"/>
                                      </p:to>
                                    </p:set>
                                    <p:animEffect transition="in" filter="wipe(left)">
                                      <p:cBhvr>
                                        <p:cTn id="181" dur="1000"/>
                                        <p:tgtEl>
                                          <p:spTgt spid="55"/>
                                        </p:tgtEl>
                                      </p:cBhvr>
                                    </p:animEffect>
                                  </p:childTnLst>
                                </p:cTn>
                              </p:par>
                            </p:childTnLst>
                          </p:cTn>
                        </p:par>
                      </p:childTnLst>
                    </p:cTn>
                  </p:par>
                  <p:par>
                    <p:cTn id="182" fill="hold">
                      <p:stCondLst>
                        <p:cond delay="indefinite"/>
                      </p:stCondLst>
                      <p:childTnLst>
                        <p:par>
                          <p:cTn id="183" fill="hold">
                            <p:stCondLst>
                              <p:cond delay="0"/>
                            </p:stCondLst>
                            <p:childTnLst>
                              <p:par>
                                <p:cTn id="184" presetID="53" presetClass="entr" presetSubtype="0" fill="hold" nodeType="clickEffect">
                                  <p:stCondLst>
                                    <p:cond delay="0"/>
                                  </p:stCondLst>
                                  <p:childTnLst>
                                    <p:set>
                                      <p:cBhvr>
                                        <p:cTn id="185" dur="1" fill="hold">
                                          <p:stCondLst>
                                            <p:cond delay="0"/>
                                          </p:stCondLst>
                                        </p:cTn>
                                        <p:tgtEl>
                                          <p:spTgt spid="62"/>
                                        </p:tgtEl>
                                        <p:attrNameLst>
                                          <p:attrName>style.visibility</p:attrName>
                                        </p:attrNameLst>
                                      </p:cBhvr>
                                      <p:to>
                                        <p:strVal val="visible"/>
                                      </p:to>
                                    </p:set>
                                    <p:anim calcmode="lin" valueType="num">
                                      <p:cBhvr>
                                        <p:cTn id="186" dur="500" fill="hold"/>
                                        <p:tgtEl>
                                          <p:spTgt spid="62"/>
                                        </p:tgtEl>
                                        <p:attrNameLst>
                                          <p:attrName>ppt_w</p:attrName>
                                        </p:attrNameLst>
                                      </p:cBhvr>
                                      <p:tavLst>
                                        <p:tav tm="0">
                                          <p:val>
                                            <p:fltVal val="0"/>
                                          </p:val>
                                        </p:tav>
                                        <p:tav tm="100000">
                                          <p:val>
                                            <p:strVal val="#ppt_w"/>
                                          </p:val>
                                        </p:tav>
                                      </p:tavLst>
                                    </p:anim>
                                    <p:anim calcmode="lin" valueType="num">
                                      <p:cBhvr>
                                        <p:cTn id="187" dur="500" fill="hold"/>
                                        <p:tgtEl>
                                          <p:spTgt spid="62"/>
                                        </p:tgtEl>
                                        <p:attrNameLst>
                                          <p:attrName>ppt_h</p:attrName>
                                        </p:attrNameLst>
                                      </p:cBhvr>
                                      <p:tavLst>
                                        <p:tav tm="0">
                                          <p:val>
                                            <p:fltVal val="0"/>
                                          </p:val>
                                        </p:tav>
                                        <p:tav tm="100000">
                                          <p:val>
                                            <p:strVal val="#ppt_h"/>
                                          </p:val>
                                        </p:tav>
                                      </p:tavLst>
                                    </p:anim>
                                    <p:animEffect transition="in" filter="fade">
                                      <p:cBhvr>
                                        <p:cTn id="188"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8" grpId="0"/>
      <p:bldP spid="19" grpId="0"/>
      <p:bldP spid="27" grpId="0"/>
      <p:bldP spid="28" grpId="0"/>
      <p:bldP spid="30" grpId="0"/>
      <p:bldP spid="31" grpId="0"/>
      <p:bldP spid="35" grpId="0"/>
      <p:bldP spid="36" grpId="0"/>
      <p:bldP spid="43" grpId="0"/>
      <p:bldP spid="48" grpId="0"/>
      <p:bldP spid="49" grpId="0"/>
      <p:bldP spid="50" grpId="0"/>
      <p:bldP spid="54" grpId="0"/>
      <p:bldP spid="55" grpId="0"/>
      <p:bldP spid="65" grpId="0" animBg="1"/>
      <p:bldP spid="66" grpId="0" animBg="1"/>
      <p:bldP spid="67" grpId="0" animBg="1"/>
      <p:bldP spid="6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12" name="Rounded Rectangle 49">
            <a:extLst>
              <a:ext uri="{FF2B5EF4-FFF2-40B4-BE49-F238E27FC236}">
                <a16:creationId xmlns:a16="http://schemas.microsoft.com/office/drawing/2014/main" id="{1F9AECB5-A1A7-4702-8D81-2F294E9F7172}"/>
              </a:ext>
            </a:extLst>
          </p:cNvPr>
          <p:cNvSpPr/>
          <p:nvPr/>
        </p:nvSpPr>
        <p:spPr>
          <a:xfrm>
            <a:off x="436141" y="1437717"/>
            <a:ext cx="8697432" cy="5056621"/>
          </a:xfrm>
          <a:prstGeom prst="roundRect">
            <a:avLst>
              <a:gd name="adj" fmla="val 54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pitchFamily="34" charset="0"/>
              <a:cs typeface="Arial" pitchFamily="34" charset="0"/>
            </a:endParaRPr>
          </a:p>
        </p:txBody>
      </p:sp>
      <p:sp>
        <p:nvSpPr>
          <p:cNvPr id="13" name="TextBox 12">
            <a:extLst>
              <a:ext uri="{FF2B5EF4-FFF2-40B4-BE49-F238E27FC236}">
                <a16:creationId xmlns:a16="http://schemas.microsoft.com/office/drawing/2014/main" id="{2D95350E-FCFC-455D-AE07-73291E414235}"/>
              </a:ext>
            </a:extLst>
          </p:cNvPr>
          <p:cNvSpPr txBox="1"/>
          <p:nvPr/>
        </p:nvSpPr>
        <p:spPr>
          <a:xfrm>
            <a:off x="474346" y="1486782"/>
            <a:ext cx="3986661" cy="276999"/>
          </a:xfrm>
          <a:prstGeom prst="rect">
            <a:avLst/>
          </a:prstGeom>
          <a:noFill/>
        </p:spPr>
        <p:txBody>
          <a:bodyPr wrap="square" rtlCol="0">
            <a:spAutoFit/>
          </a:bodyPr>
          <a:lstStyle/>
          <a:p>
            <a:pPr algn="ctr"/>
            <a:r>
              <a:rPr lang="en-GB" sz="1200" b="1" dirty="0">
                <a:latin typeface="Arial" pitchFamily="34" charset="0"/>
                <a:cs typeface="Arial" pitchFamily="34" charset="0"/>
              </a:rPr>
              <a:t>Example 6:  Solve these simultaneous equations:</a:t>
            </a:r>
            <a:endParaRPr lang="en-GB" sz="1200" b="1" i="1" dirty="0">
              <a:latin typeface="Arial" pitchFamily="34" charset="0"/>
              <a:cs typeface="Arial" pitchFamily="34" charset="0"/>
            </a:endParaRPr>
          </a:p>
        </p:txBody>
      </p:sp>
      <p:sp>
        <p:nvSpPr>
          <p:cNvPr id="14" name="TextBox 13">
            <a:extLst>
              <a:ext uri="{FF2B5EF4-FFF2-40B4-BE49-F238E27FC236}">
                <a16:creationId xmlns:a16="http://schemas.microsoft.com/office/drawing/2014/main" id="{BC536AA6-2F73-4C32-A08E-CFB523352367}"/>
              </a:ext>
            </a:extLst>
          </p:cNvPr>
          <p:cNvSpPr txBox="1"/>
          <p:nvPr/>
        </p:nvSpPr>
        <p:spPr>
          <a:xfrm>
            <a:off x="862650" y="1841068"/>
            <a:ext cx="3062736" cy="400110"/>
          </a:xfrm>
          <a:prstGeom prst="rect">
            <a:avLst/>
          </a:prstGeom>
          <a:noFill/>
        </p:spPr>
        <p:txBody>
          <a:bodyPr wrap="square" rtlCol="0">
            <a:spAutoFit/>
          </a:bodyPr>
          <a:lstStyle/>
          <a:p>
            <a:r>
              <a:rPr lang="en-GB" sz="2000" b="1" dirty="0">
                <a:latin typeface="Arial" pitchFamily="34" charset="0"/>
                <a:cs typeface="Arial" pitchFamily="34" charset="0"/>
              </a:rPr>
              <a:t>14</a:t>
            </a:r>
            <a:r>
              <a:rPr lang="en-GB" sz="2000" b="1" i="1" dirty="0">
                <a:latin typeface="Arial" pitchFamily="34" charset="0"/>
                <a:cs typeface="Arial" pitchFamily="34" charset="0"/>
              </a:rPr>
              <a:t>x</a:t>
            </a:r>
            <a:r>
              <a:rPr lang="en-GB" sz="2000" b="1" dirty="0">
                <a:latin typeface="Arial" pitchFamily="34" charset="0"/>
                <a:cs typeface="Arial" pitchFamily="34" charset="0"/>
              </a:rPr>
              <a:t>  -  2</a:t>
            </a:r>
            <a:r>
              <a:rPr lang="en-GB" sz="2000" b="1" i="1" dirty="0">
                <a:latin typeface="Arial" pitchFamily="34" charset="0"/>
                <a:cs typeface="Arial" pitchFamily="34" charset="0"/>
              </a:rPr>
              <a:t>y</a:t>
            </a:r>
            <a:r>
              <a:rPr lang="en-GB" sz="2000" b="1" dirty="0">
                <a:latin typeface="Arial" pitchFamily="34" charset="0"/>
                <a:cs typeface="Arial" pitchFamily="34" charset="0"/>
              </a:rPr>
              <a:t>   =   21</a:t>
            </a:r>
          </a:p>
        </p:txBody>
      </p:sp>
      <p:sp>
        <p:nvSpPr>
          <p:cNvPr id="15" name="TextBox 14">
            <a:extLst>
              <a:ext uri="{FF2B5EF4-FFF2-40B4-BE49-F238E27FC236}">
                <a16:creationId xmlns:a16="http://schemas.microsoft.com/office/drawing/2014/main" id="{9CBE042C-C7EB-4278-A222-DA95D89FF0F7}"/>
              </a:ext>
            </a:extLst>
          </p:cNvPr>
          <p:cNvSpPr txBox="1"/>
          <p:nvPr/>
        </p:nvSpPr>
        <p:spPr>
          <a:xfrm>
            <a:off x="862650" y="2183477"/>
            <a:ext cx="3062736" cy="400110"/>
          </a:xfrm>
          <a:prstGeom prst="rect">
            <a:avLst/>
          </a:prstGeom>
          <a:noFill/>
        </p:spPr>
        <p:txBody>
          <a:bodyPr wrap="square" rtlCol="0">
            <a:spAutoFit/>
          </a:bodyPr>
          <a:lstStyle/>
          <a:p>
            <a:r>
              <a:rPr lang="en-GB" sz="2000" b="1" dirty="0">
                <a:latin typeface="Arial" pitchFamily="34" charset="0"/>
                <a:cs typeface="Arial" pitchFamily="34" charset="0"/>
              </a:rPr>
              <a:t> 6</a:t>
            </a:r>
            <a:r>
              <a:rPr lang="en-GB" sz="2000" b="1" i="1" dirty="0">
                <a:latin typeface="Arial" pitchFamily="34" charset="0"/>
                <a:cs typeface="Arial" pitchFamily="34" charset="0"/>
              </a:rPr>
              <a:t>x</a:t>
            </a:r>
            <a:r>
              <a:rPr lang="en-GB" sz="2000" b="1" dirty="0">
                <a:latin typeface="Arial" pitchFamily="34" charset="0"/>
                <a:cs typeface="Arial" pitchFamily="34" charset="0"/>
              </a:rPr>
              <a:t>  +  5</a:t>
            </a:r>
            <a:r>
              <a:rPr lang="en-GB" sz="2000" b="1" i="1" dirty="0">
                <a:latin typeface="Arial" pitchFamily="34" charset="0"/>
                <a:cs typeface="Arial" pitchFamily="34" charset="0"/>
              </a:rPr>
              <a:t>y</a:t>
            </a:r>
            <a:r>
              <a:rPr lang="en-GB" sz="2000" b="1" dirty="0">
                <a:latin typeface="Arial" pitchFamily="34" charset="0"/>
                <a:cs typeface="Arial" pitchFamily="34" charset="0"/>
              </a:rPr>
              <a:t>   =   50</a:t>
            </a:r>
          </a:p>
        </p:txBody>
      </p:sp>
      <p:grpSp>
        <p:nvGrpSpPr>
          <p:cNvPr id="16" name="Group 242">
            <a:extLst>
              <a:ext uri="{FF2B5EF4-FFF2-40B4-BE49-F238E27FC236}">
                <a16:creationId xmlns:a16="http://schemas.microsoft.com/office/drawing/2014/main" id="{B7F0AB77-C05A-4D32-8933-4281F3CC1C97}"/>
              </a:ext>
            </a:extLst>
          </p:cNvPr>
          <p:cNvGrpSpPr/>
          <p:nvPr/>
        </p:nvGrpSpPr>
        <p:grpSpPr>
          <a:xfrm>
            <a:off x="5574374" y="1568370"/>
            <a:ext cx="3372591" cy="318155"/>
            <a:chOff x="5474525" y="1938441"/>
            <a:chExt cx="3372591" cy="391879"/>
          </a:xfrm>
        </p:grpSpPr>
        <p:sp>
          <p:nvSpPr>
            <p:cNvPr id="17" name="Rounded Rectangle 219">
              <a:extLst>
                <a:ext uri="{FF2B5EF4-FFF2-40B4-BE49-F238E27FC236}">
                  <a16:creationId xmlns:a16="http://schemas.microsoft.com/office/drawing/2014/main" id="{AE0A69D7-188C-489E-915E-134097FCEAA4}"/>
                </a:ext>
              </a:extLst>
            </p:cNvPr>
            <p:cNvSpPr/>
            <p:nvPr/>
          </p:nvSpPr>
          <p:spPr>
            <a:xfrm>
              <a:off x="5474525" y="1938441"/>
              <a:ext cx="3372591" cy="39187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18" name="TextBox 17">
              <a:extLst>
                <a:ext uri="{FF2B5EF4-FFF2-40B4-BE49-F238E27FC236}">
                  <a16:creationId xmlns:a16="http://schemas.microsoft.com/office/drawing/2014/main" id="{CA055B05-D9F7-4F87-9876-3B6B7A52F7CA}"/>
                </a:ext>
              </a:extLst>
            </p:cNvPr>
            <p:cNvSpPr txBox="1"/>
            <p:nvPr/>
          </p:nvSpPr>
          <p:spPr>
            <a:xfrm>
              <a:off x="5594268" y="1963787"/>
              <a:ext cx="3146960" cy="341186"/>
            </a:xfrm>
            <a:prstGeom prst="rect">
              <a:avLst/>
            </a:prstGeom>
            <a:noFill/>
          </p:spPr>
          <p:txBody>
            <a:bodyPr wrap="square" rtlCol="0">
              <a:spAutoFit/>
            </a:bodyPr>
            <a:lstStyle/>
            <a:p>
              <a:pPr algn="ctr"/>
              <a:r>
                <a:rPr lang="en-GB" sz="1200" b="1" dirty="0">
                  <a:latin typeface="Arial" pitchFamily="34" charset="0"/>
                  <a:cs typeface="Arial" pitchFamily="34" charset="0"/>
                </a:rPr>
                <a:t>First we label the equations  (1) and (2)</a:t>
              </a:r>
              <a:endParaRPr lang="en-GB" sz="1200" b="1" i="1" dirty="0">
                <a:latin typeface="Arial" pitchFamily="34" charset="0"/>
                <a:cs typeface="Arial" pitchFamily="34" charset="0"/>
              </a:endParaRPr>
            </a:p>
          </p:txBody>
        </p:sp>
      </p:grpSp>
      <p:cxnSp>
        <p:nvCxnSpPr>
          <p:cNvPr id="19" name="Straight Connector 18">
            <a:extLst>
              <a:ext uri="{FF2B5EF4-FFF2-40B4-BE49-F238E27FC236}">
                <a16:creationId xmlns:a16="http://schemas.microsoft.com/office/drawing/2014/main" id="{210381BA-FDE3-443C-AF6D-F044A7812401}"/>
              </a:ext>
            </a:extLst>
          </p:cNvPr>
          <p:cNvCxnSpPr/>
          <p:nvPr/>
        </p:nvCxnSpPr>
        <p:spPr>
          <a:xfrm>
            <a:off x="873420" y="2605227"/>
            <a:ext cx="26363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07D316E-AC59-4F20-B3AE-833693E917B0}"/>
              </a:ext>
            </a:extLst>
          </p:cNvPr>
          <p:cNvSpPr txBox="1"/>
          <p:nvPr/>
        </p:nvSpPr>
        <p:spPr>
          <a:xfrm>
            <a:off x="3715703" y="1841068"/>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21" name="TextBox 20">
            <a:extLst>
              <a:ext uri="{FF2B5EF4-FFF2-40B4-BE49-F238E27FC236}">
                <a16:creationId xmlns:a16="http://schemas.microsoft.com/office/drawing/2014/main" id="{158DEF94-B8B9-4EB1-9F69-6D6CFE186C8C}"/>
              </a:ext>
            </a:extLst>
          </p:cNvPr>
          <p:cNvSpPr txBox="1"/>
          <p:nvPr/>
        </p:nvSpPr>
        <p:spPr>
          <a:xfrm>
            <a:off x="3715703" y="2183477"/>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(2)</a:t>
            </a:r>
          </a:p>
        </p:txBody>
      </p:sp>
      <p:grpSp>
        <p:nvGrpSpPr>
          <p:cNvPr id="22" name="Group 249">
            <a:extLst>
              <a:ext uri="{FF2B5EF4-FFF2-40B4-BE49-F238E27FC236}">
                <a16:creationId xmlns:a16="http://schemas.microsoft.com/office/drawing/2014/main" id="{4D164E9F-486F-4862-83DD-F61CA796C0B1}"/>
              </a:ext>
            </a:extLst>
          </p:cNvPr>
          <p:cNvGrpSpPr/>
          <p:nvPr/>
        </p:nvGrpSpPr>
        <p:grpSpPr>
          <a:xfrm>
            <a:off x="5574374" y="2001950"/>
            <a:ext cx="3372591" cy="461665"/>
            <a:chOff x="5474525" y="1996717"/>
            <a:chExt cx="3372591" cy="699811"/>
          </a:xfrm>
        </p:grpSpPr>
        <p:sp>
          <p:nvSpPr>
            <p:cNvPr id="23" name="Rounded Rectangle 251">
              <a:extLst>
                <a:ext uri="{FF2B5EF4-FFF2-40B4-BE49-F238E27FC236}">
                  <a16:creationId xmlns:a16="http://schemas.microsoft.com/office/drawing/2014/main" id="{6882F734-25CA-4BE5-B491-83DE277F926B}"/>
                </a:ext>
              </a:extLst>
            </p:cNvPr>
            <p:cNvSpPr/>
            <p:nvPr/>
          </p:nvSpPr>
          <p:spPr>
            <a:xfrm>
              <a:off x="5474525" y="2010227"/>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4" name="TextBox 23">
              <a:extLst>
                <a:ext uri="{FF2B5EF4-FFF2-40B4-BE49-F238E27FC236}">
                  <a16:creationId xmlns:a16="http://schemas.microsoft.com/office/drawing/2014/main" id="{7B9201A2-B952-49B9-9C10-7BC858584CAC}"/>
                </a:ext>
              </a:extLst>
            </p:cNvPr>
            <p:cNvSpPr txBox="1"/>
            <p:nvPr/>
          </p:nvSpPr>
          <p:spPr>
            <a:xfrm>
              <a:off x="5605153" y="1996717"/>
              <a:ext cx="3111335" cy="699811"/>
            </a:xfrm>
            <a:prstGeom prst="rect">
              <a:avLst/>
            </a:prstGeom>
            <a:noFill/>
          </p:spPr>
          <p:txBody>
            <a:bodyPr wrap="square" rtlCol="0">
              <a:spAutoFit/>
            </a:bodyPr>
            <a:lstStyle/>
            <a:p>
              <a:pPr algn="ctr"/>
              <a:r>
                <a:rPr lang="en-GB" sz="1200" b="1" dirty="0">
                  <a:latin typeface="Arial" pitchFamily="34" charset="0"/>
                  <a:cs typeface="Arial" pitchFamily="34" charset="0"/>
                </a:rPr>
                <a:t>Now we will make the numbers in front of </a:t>
              </a:r>
              <a:r>
                <a:rPr lang="en-GB" sz="1200" b="1" i="1" dirty="0">
                  <a:latin typeface="Arial" pitchFamily="34" charset="0"/>
                  <a:cs typeface="Arial" pitchFamily="34" charset="0"/>
                </a:rPr>
                <a:t>y</a:t>
              </a:r>
              <a:r>
                <a:rPr lang="en-GB" sz="1200" b="1" dirty="0">
                  <a:latin typeface="Arial" pitchFamily="34" charset="0"/>
                  <a:cs typeface="Arial" pitchFamily="34" charset="0"/>
                </a:rPr>
                <a:t> the same in both equations.</a:t>
              </a:r>
              <a:endParaRPr lang="en-GB" sz="1200" b="1" i="1" dirty="0">
                <a:latin typeface="Arial" pitchFamily="34" charset="0"/>
                <a:cs typeface="Arial" pitchFamily="34" charset="0"/>
              </a:endParaRPr>
            </a:p>
          </p:txBody>
        </p:sp>
      </p:grpSp>
      <p:grpSp>
        <p:nvGrpSpPr>
          <p:cNvPr id="26" name="Group 261">
            <a:extLst>
              <a:ext uri="{FF2B5EF4-FFF2-40B4-BE49-F238E27FC236}">
                <a16:creationId xmlns:a16="http://schemas.microsoft.com/office/drawing/2014/main" id="{5016DF98-2360-4ABC-90F0-7C4283427EFA}"/>
              </a:ext>
            </a:extLst>
          </p:cNvPr>
          <p:cNvGrpSpPr/>
          <p:nvPr/>
        </p:nvGrpSpPr>
        <p:grpSpPr>
          <a:xfrm>
            <a:off x="5574374" y="2578974"/>
            <a:ext cx="3372591" cy="728541"/>
            <a:chOff x="5474525" y="1951939"/>
            <a:chExt cx="3372591" cy="870848"/>
          </a:xfrm>
        </p:grpSpPr>
        <p:sp>
          <p:nvSpPr>
            <p:cNvPr id="27" name="Rounded Rectangle 262">
              <a:extLst>
                <a:ext uri="{FF2B5EF4-FFF2-40B4-BE49-F238E27FC236}">
                  <a16:creationId xmlns:a16="http://schemas.microsoft.com/office/drawing/2014/main" id="{3583981A-B279-4FF8-8E4E-ECA87E580DD0}"/>
                </a:ext>
              </a:extLst>
            </p:cNvPr>
            <p:cNvSpPr/>
            <p:nvPr/>
          </p:nvSpPr>
          <p:spPr>
            <a:xfrm>
              <a:off x="5474525" y="1951939"/>
              <a:ext cx="3372591" cy="870848"/>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8" name="TextBox 27">
              <a:extLst>
                <a:ext uri="{FF2B5EF4-FFF2-40B4-BE49-F238E27FC236}">
                  <a16:creationId xmlns:a16="http://schemas.microsoft.com/office/drawing/2014/main" id="{5408E829-CD91-46D8-879C-DDD223014EFB}"/>
                </a:ext>
              </a:extLst>
            </p:cNvPr>
            <p:cNvSpPr txBox="1"/>
            <p:nvPr/>
          </p:nvSpPr>
          <p:spPr>
            <a:xfrm>
              <a:off x="5605153" y="2001073"/>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To do this, first we multiply every term in equation (1) by </a:t>
              </a:r>
              <a:r>
                <a:rPr lang="en-GB" sz="1200" b="1" dirty="0">
                  <a:solidFill>
                    <a:srgbClr val="C00000"/>
                  </a:solidFill>
                  <a:latin typeface="Arial" pitchFamily="34" charset="0"/>
                  <a:cs typeface="Arial" pitchFamily="34" charset="0"/>
                </a:rPr>
                <a:t>5</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2).</a:t>
              </a:r>
              <a:endParaRPr lang="en-GB" sz="1200" b="1" i="1" dirty="0">
                <a:latin typeface="Arial" pitchFamily="34" charset="0"/>
                <a:cs typeface="Arial" pitchFamily="34" charset="0"/>
              </a:endParaRPr>
            </a:p>
          </p:txBody>
        </p:sp>
      </p:grpSp>
      <p:sp>
        <p:nvSpPr>
          <p:cNvPr id="29" name="TextBox 28">
            <a:extLst>
              <a:ext uri="{FF2B5EF4-FFF2-40B4-BE49-F238E27FC236}">
                <a16:creationId xmlns:a16="http://schemas.microsoft.com/office/drawing/2014/main" id="{A5061444-6BAA-4226-8E34-136CB05F6861}"/>
              </a:ext>
            </a:extLst>
          </p:cNvPr>
          <p:cNvSpPr txBox="1"/>
          <p:nvPr/>
        </p:nvSpPr>
        <p:spPr>
          <a:xfrm>
            <a:off x="872550" y="2632368"/>
            <a:ext cx="3062736" cy="400110"/>
          </a:xfrm>
          <a:prstGeom prst="rect">
            <a:avLst/>
          </a:prstGeom>
          <a:noFill/>
        </p:spPr>
        <p:txBody>
          <a:bodyPr wrap="square" rtlCol="0">
            <a:spAutoFit/>
          </a:bodyPr>
          <a:lstStyle/>
          <a:p>
            <a:r>
              <a:rPr lang="en-GB" sz="2000" b="1" dirty="0">
                <a:latin typeface="Arial" pitchFamily="34" charset="0"/>
                <a:cs typeface="Arial" pitchFamily="34" charset="0"/>
              </a:rPr>
              <a:t>70</a:t>
            </a:r>
            <a:r>
              <a:rPr lang="en-GB" sz="2000" b="1" i="1" dirty="0">
                <a:latin typeface="Arial" pitchFamily="34" charset="0"/>
                <a:cs typeface="Arial" pitchFamily="34" charset="0"/>
              </a:rPr>
              <a:t>x</a:t>
            </a:r>
            <a:r>
              <a:rPr lang="en-GB" sz="2000" b="1" dirty="0">
                <a:latin typeface="Arial" pitchFamily="34" charset="0"/>
                <a:cs typeface="Arial" pitchFamily="34" charset="0"/>
              </a:rPr>
              <a:t>    -   10</a:t>
            </a:r>
            <a:r>
              <a:rPr lang="en-GB" sz="2000" b="1" i="1" dirty="0">
                <a:latin typeface="Arial" pitchFamily="34" charset="0"/>
                <a:cs typeface="Arial" pitchFamily="34" charset="0"/>
              </a:rPr>
              <a:t>y</a:t>
            </a:r>
            <a:r>
              <a:rPr lang="en-GB" sz="2000" b="1" dirty="0">
                <a:latin typeface="Arial" pitchFamily="34" charset="0"/>
                <a:cs typeface="Arial" pitchFamily="34" charset="0"/>
              </a:rPr>
              <a:t>   =   105</a:t>
            </a:r>
          </a:p>
        </p:txBody>
      </p:sp>
      <p:sp>
        <p:nvSpPr>
          <p:cNvPr id="30" name="TextBox 29">
            <a:extLst>
              <a:ext uri="{FF2B5EF4-FFF2-40B4-BE49-F238E27FC236}">
                <a16:creationId xmlns:a16="http://schemas.microsoft.com/office/drawing/2014/main" id="{63D5D6C1-4387-4776-9613-B16A2DF67671}"/>
              </a:ext>
            </a:extLst>
          </p:cNvPr>
          <p:cNvSpPr txBox="1"/>
          <p:nvPr/>
        </p:nvSpPr>
        <p:spPr>
          <a:xfrm>
            <a:off x="918072" y="2974777"/>
            <a:ext cx="3062736" cy="400110"/>
          </a:xfrm>
          <a:prstGeom prst="rect">
            <a:avLst/>
          </a:prstGeom>
          <a:noFill/>
        </p:spPr>
        <p:txBody>
          <a:bodyPr wrap="square" rtlCol="0">
            <a:spAutoFit/>
          </a:bodyPr>
          <a:lstStyle/>
          <a:p>
            <a:r>
              <a:rPr lang="en-GB" sz="2000" b="1" dirty="0">
                <a:latin typeface="Arial" pitchFamily="34" charset="0"/>
                <a:cs typeface="Arial" pitchFamily="34" charset="0"/>
              </a:rPr>
              <a:t>12</a:t>
            </a:r>
            <a:r>
              <a:rPr lang="en-GB" sz="2000" b="1" i="1" dirty="0">
                <a:latin typeface="Arial" pitchFamily="34" charset="0"/>
                <a:cs typeface="Arial" pitchFamily="34" charset="0"/>
              </a:rPr>
              <a:t>x</a:t>
            </a:r>
            <a:r>
              <a:rPr lang="en-GB" sz="2000" b="1" dirty="0">
                <a:latin typeface="Arial" pitchFamily="34" charset="0"/>
                <a:cs typeface="Arial" pitchFamily="34" charset="0"/>
              </a:rPr>
              <a:t>   +  10</a:t>
            </a:r>
            <a:r>
              <a:rPr lang="en-GB" sz="2000" b="1" i="1" dirty="0">
                <a:latin typeface="Arial" pitchFamily="34" charset="0"/>
                <a:cs typeface="Arial" pitchFamily="34" charset="0"/>
              </a:rPr>
              <a:t>y</a:t>
            </a:r>
            <a:r>
              <a:rPr lang="en-GB" sz="2000" b="1" dirty="0">
                <a:latin typeface="Arial" pitchFamily="34" charset="0"/>
                <a:cs typeface="Arial" pitchFamily="34" charset="0"/>
              </a:rPr>
              <a:t>   =   100</a:t>
            </a:r>
          </a:p>
        </p:txBody>
      </p:sp>
      <p:cxnSp>
        <p:nvCxnSpPr>
          <p:cNvPr id="31" name="Straight Connector 30">
            <a:extLst>
              <a:ext uri="{FF2B5EF4-FFF2-40B4-BE49-F238E27FC236}">
                <a16:creationId xmlns:a16="http://schemas.microsoft.com/office/drawing/2014/main" id="{BF7D2A56-C88C-4C94-80A6-3CD5584CA028}"/>
              </a:ext>
            </a:extLst>
          </p:cNvPr>
          <p:cNvCxnSpPr/>
          <p:nvPr/>
        </p:nvCxnSpPr>
        <p:spPr>
          <a:xfrm>
            <a:off x="883320" y="3393773"/>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70BE3F1-F496-410D-B603-CE5D2070573B}"/>
              </a:ext>
            </a:extLst>
          </p:cNvPr>
          <p:cNvSpPr txBox="1"/>
          <p:nvPr/>
        </p:nvSpPr>
        <p:spPr>
          <a:xfrm>
            <a:off x="3715703" y="2632368"/>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C00000"/>
                </a:solidFill>
                <a:latin typeface="Arial" pitchFamily="34" charset="0"/>
                <a:cs typeface="Arial" pitchFamily="34" charset="0"/>
              </a:rPr>
              <a:t>5</a:t>
            </a:r>
            <a:r>
              <a:rPr lang="en-GB" sz="2000" b="1" dirty="0">
                <a:solidFill>
                  <a:srgbClr val="793905"/>
                </a:solidFill>
                <a:latin typeface="Arial" pitchFamily="34" charset="0"/>
                <a:cs typeface="Arial" pitchFamily="34" charset="0"/>
              </a:rPr>
              <a:t> x (1)</a:t>
            </a:r>
          </a:p>
        </p:txBody>
      </p:sp>
      <p:sp>
        <p:nvSpPr>
          <p:cNvPr id="33" name="TextBox 32">
            <a:extLst>
              <a:ext uri="{FF2B5EF4-FFF2-40B4-BE49-F238E27FC236}">
                <a16:creationId xmlns:a16="http://schemas.microsoft.com/office/drawing/2014/main" id="{4F789230-3D2D-4C66-8A2C-821E1171F0B7}"/>
              </a:ext>
            </a:extLst>
          </p:cNvPr>
          <p:cNvSpPr txBox="1"/>
          <p:nvPr/>
        </p:nvSpPr>
        <p:spPr>
          <a:xfrm>
            <a:off x="3715703" y="2974777"/>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7030A0"/>
                </a:solidFill>
                <a:latin typeface="Arial" pitchFamily="34" charset="0"/>
                <a:cs typeface="Arial" pitchFamily="34" charset="0"/>
              </a:rPr>
              <a:t>2</a:t>
            </a:r>
            <a:r>
              <a:rPr lang="en-GB" sz="2000" b="1" dirty="0">
                <a:solidFill>
                  <a:srgbClr val="793905"/>
                </a:solidFill>
                <a:latin typeface="Arial" pitchFamily="34" charset="0"/>
                <a:cs typeface="Arial" pitchFamily="34" charset="0"/>
              </a:rPr>
              <a:t> x (2)</a:t>
            </a:r>
          </a:p>
        </p:txBody>
      </p:sp>
      <p:grpSp>
        <p:nvGrpSpPr>
          <p:cNvPr id="34" name="Group 269">
            <a:extLst>
              <a:ext uri="{FF2B5EF4-FFF2-40B4-BE49-F238E27FC236}">
                <a16:creationId xmlns:a16="http://schemas.microsoft.com/office/drawing/2014/main" id="{71A3FFA2-5ED7-4BF2-843C-9A0D61AAE9D7}"/>
              </a:ext>
            </a:extLst>
          </p:cNvPr>
          <p:cNvGrpSpPr/>
          <p:nvPr/>
        </p:nvGrpSpPr>
        <p:grpSpPr>
          <a:xfrm>
            <a:off x="5574374" y="3399722"/>
            <a:ext cx="3372591" cy="728542"/>
            <a:chOff x="5474525" y="1951942"/>
            <a:chExt cx="3372591" cy="870849"/>
          </a:xfrm>
        </p:grpSpPr>
        <p:sp>
          <p:nvSpPr>
            <p:cNvPr id="35" name="Rounded Rectangle 270">
              <a:extLst>
                <a:ext uri="{FF2B5EF4-FFF2-40B4-BE49-F238E27FC236}">
                  <a16:creationId xmlns:a16="http://schemas.microsoft.com/office/drawing/2014/main" id="{3AD0B4B5-8C48-414F-8FC7-69B05EF6B84F}"/>
                </a:ext>
              </a:extLst>
            </p:cNvPr>
            <p:cNvSpPr/>
            <p:nvPr/>
          </p:nvSpPr>
          <p:spPr>
            <a:xfrm>
              <a:off x="5474525" y="1951942"/>
              <a:ext cx="3372591" cy="87084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6" name="TextBox 35">
              <a:extLst>
                <a:ext uri="{FF2B5EF4-FFF2-40B4-BE49-F238E27FC236}">
                  <a16:creationId xmlns:a16="http://schemas.microsoft.com/office/drawing/2014/main" id="{41790438-ED1C-44B8-BF8F-02F8415DC3DB}"/>
                </a:ext>
              </a:extLst>
            </p:cNvPr>
            <p:cNvSpPr txBox="1"/>
            <p:nvPr/>
          </p:nvSpPr>
          <p:spPr>
            <a:xfrm>
              <a:off x="5605153" y="2001077"/>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Next we multiply every term in equation (2) by </a:t>
              </a:r>
              <a:r>
                <a:rPr lang="en-GB" sz="1200" b="1" dirty="0">
                  <a:solidFill>
                    <a:srgbClr val="7030A0"/>
                  </a:solidFill>
                  <a:latin typeface="Arial" pitchFamily="34" charset="0"/>
                  <a:cs typeface="Arial" pitchFamily="34" charset="0"/>
                </a:rPr>
                <a:t>2</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1).</a:t>
              </a:r>
              <a:endParaRPr lang="en-GB" sz="1200" b="1" i="1" dirty="0">
                <a:latin typeface="Arial" pitchFamily="34" charset="0"/>
                <a:cs typeface="Arial" pitchFamily="34" charset="0"/>
              </a:endParaRPr>
            </a:p>
          </p:txBody>
        </p:sp>
      </p:grpSp>
      <p:sp>
        <p:nvSpPr>
          <p:cNvPr id="37" name="TextBox 36">
            <a:extLst>
              <a:ext uri="{FF2B5EF4-FFF2-40B4-BE49-F238E27FC236}">
                <a16:creationId xmlns:a16="http://schemas.microsoft.com/office/drawing/2014/main" id="{061EB63B-E02B-40F2-88E1-F72016471EB5}"/>
              </a:ext>
            </a:extLst>
          </p:cNvPr>
          <p:cNvSpPr txBox="1"/>
          <p:nvPr/>
        </p:nvSpPr>
        <p:spPr>
          <a:xfrm>
            <a:off x="892342" y="3402912"/>
            <a:ext cx="919231" cy="400110"/>
          </a:xfrm>
          <a:prstGeom prst="rect">
            <a:avLst/>
          </a:prstGeom>
          <a:noFill/>
        </p:spPr>
        <p:txBody>
          <a:bodyPr wrap="square" rtlCol="0">
            <a:spAutoFit/>
          </a:bodyPr>
          <a:lstStyle/>
          <a:p>
            <a:r>
              <a:rPr lang="en-GB" sz="2000" b="1" dirty="0">
                <a:latin typeface="Arial" pitchFamily="34" charset="0"/>
                <a:cs typeface="Arial" pitchFamily="34" charset="0"/>
              </a:rPr>
              <a:t>82</a:t>
            </a:r>
            <a:r>
              <a:rPr lang="en-GB" sz="2000" b="1" i="1" dirty="0">
                <a:latin typeface="Arial" pitchFamily="34" charset="0"/>
                <a:cs typeface="Arial" pitchFamily="34" charset="0"/>
              </a:rPr>
              <a:t>x</a:t>
            </a:r>
          </a:p>
        </p:txBody>
      </p:sp>
      <p:sp>
        <p:nvSpPr>
          <p:cNvPr id="38" name="TextBox 37">
            <a:extLst>
              <a:ext uri="{FF2B5EF4-FFF2-40B4-BE49-F238E27FC236}">
                <a16:creationId xmlns:a16="http://schemas.microsoft.com/office/drawing/2014/main" id="{240EAA73-77B0-43F1-BDB1-08D39732E463}"/>
              </a:ext>
            </a:extLst>
          </p:cNvPr>
          <p:cNvSpPr txBox="1"/>
          <p:nvPr/>
        </p:nvSpPr>
        <p:spPr>
          <a:xfrm>
            <a:off x="2321587" y="3402912"/>
            <a:ext cx="1360597" cy="400110"/>
          </a:xfrm>
          <a:prstGeom prst="rect">
            <a:avLst/>
          </a:prstGeom>
          <a:noFill/>
        </p:spPr>
        <p:txBody>
          <a:bodyPr wrap="square" rtlCol="0">
            <a:spAutoFit/>
          </a:bodyPr>
          <a:lstStyle/>
          <a:p>
            <a:r>
              <a:rPr lang="en-GB" sz="2000" b="1" dirty="0">
                <a:latin typeface="Arial" pitchFamily="34" charset="0"/>
                <a:cs typeface="Arial" pitchFamily="34" charset="0"/>
              </a:rPr>
              <a:t>=   205</a:t>
            </a:r>
          </a:p>
        </p:txBody>
      </p:sp>
      <p:grpSp>
        <p:nvGrpSpPr>
          <p:cNvPr id="39" name="Group 431">
            <a:extLst>
              <a:ext uri="{FF2B5EF4-FFF2-40B4-BE49-F238E27FC236}">
                <a16:creationId xmlns:a16="http://schemas.microsoft.com/office/drawing/2014/main" id="{ACC8D6D9-7A18-4FAA-B339-0C6FEDB61CDF}"/>
              </a:ext>
            </a:extLst>
          </p:cNvPr>
          <p:cNvGrpSpPr/>
          <p:nvPr/>
        </p:nvGrpSpPr>
        <p:grpSpPr>
          <a:xfrm>
            <a:off x="5732928" y="4258276"/>
            <a:ext cx="3055482" cy="461665"/>
            <a:chOff x="5474525" y="2011153"/>
            <a:chExt cx="3372591" cy="699809"/>
          </a:xfrm>
        </p:grpSpPr>
        <p:sp>
          <p:nvSpPr>
            <p:cNvPr id="40" name="Rounded Rectangle 432">
              <a:extLst>
                <a:ext uri="{FF2B5EF4-FFF2-40B4-BE49-F238E27FC236}">
                  <a16:creationId xmlns:a16="http://schemas.microsoft.com/office/drawing/2014/main" id="{0DE66620-5DAC-42AC-A126-354D8BA1C3B2}"/>
                </a:ext>
              </a:extLst>
            </p:cNvPr>
            <p:cNvSpPr/>
            <p:nvPr/>
          </p:nvSpPr>
          <p:spPr>
            <a:xfrm>
              <a:off x="5474525" y="2025460"/>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1" name="TextBox 40">
              <a:extLst>
                <a:ext uri="{FF2B5EF4-FFF2-40B4-BE49-F238E27FC236}">
                  <a16:creationId xmlns:a16="http://schemas.microsoft.com/office/drawing/2014/main" id="{50433EF4-2D9E-4B1C-8773-37F656F02145}"/>
                </a:ext>
              </a:extLst>
            </p:cNvPr>
            <p:cNvSpPr txBox="1"/>
            <p:nvPr/>
          </p:nvSpPr>
          <p:spPr>
            <a:xfrm>
              <a:off x="5594059" y="2011153"/>
              <a:ext cx="3133523" cy="699809"/>
            </a:xfrm>
            <a:prstGeom prst="rect">
              <a:avLst/>
            </a:prstGeom>
            <a:noFill/>
          </p:spPr>
          <p:txBody>
            <a:bodyPr wrap="square" rtlCol="0">
              <a:spAutoFit/>
            </a:bodyPr>
            <a:lstStyle/>
            <a:p>
              <a:pPr algn="ctr"/>
              <a:r>
                <a:rPr lang="en-GB" sz="1200" b="1" dirty="0">
                  <a:latin typeface="Arial" pitchFamily="34" charset="0"/>
                  <a:cs typeface="Arial" pitchFamily="34" charset="0"/>
                </a:rPr>
                <a:t>Now we ADD corresponding terms to eliminate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42" name="Group 434">
            <a:extLst>
              <a:ext uri="{FF2B5EF4-FFF2-40B4-BE49-F238E27FC236}">
                <a16:creationId xmlns:a16="http://schemas.microsoft.com/office/drawing/2014/main" id="{5EFEE5A7-4137-4FFF-833F-23E6FC988C3E}"/>
              </a:ext>
            </a:extLst>
          </p:cNvPr>
          <p:cNvGrpSpPr/>
          <p:nvPr/>
        </p:nvGrpSpPr>
        <p:grpSpPr>
          <a:xfrm>
            <a:off x="5732928" y="4840815"/>
            <a:ext cx="3055482" cy="330999"/>
            <a:chOff x="5474525" y="1935097"/>
            <a:chExt cx="3372591" cy="431236"/>
          </a:xfrm>
        </p:grpSpPr>
        <p:sp>
          <p:nvSpPr>
            <p:cNvPr id="43" name="Rounded Rectangle 435">
              <a:extLst>
                <a:ext uri="{FF2B5EF4-FFF2-40B4-BE49-F238E27FC236}">
                  <a16:creationId xmlns:a16="http://schemas.microsoft.com/office/drawing/2014/main" id="{B7AE41EF-9CA9-412D-B8F0-A4090A577C18}"/>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4" name="TextBox 43">
              <a:extLst>
                <a:ext uri="{FF2B5EF4-FFF2-40B4-BE49-F238E27FC236}">
                  <a16:creationId xmlns:a16="http://schemas.microsoft.com/office/drawing/2014/main" id="{B9F6D1C2-8DE8-457F-B38B-159920C001D2}"/>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Then divide both sides by 82.</a:t>
              </a:r>
              <a:endParaRPr lang="en-GB" sz="1200" b="1" i="1" dirty="0">
                <a:latin typeface="Arial" pitchFamily="34" charset="0"/>
                <a:cs typeface="Arial" pitchFamily="34" charset="0"/>
              </a:endParaRPr>
            </a:p>
          </p:txBody>
        </p:sp>
      </p:grpSp>
      <p:sp>
        <p:nvSpPr>
          <p:cNvPr id="45" name="TextBox 44">
            <a:extLst>
              <a:ext uri="{FF2B5EF4-FFF2-40B4-BE49-F238E27FC236}">
                <a16:creationId xmlns:a16="http://schemas.microsoft.com/office/drawing/2014/main" id="{63C9E437-2EDF-469F-BB9B-EF9C3DCB166D}"/>
              </a:ext>
            </a:extLst>
          </p:cNvPr>
          <p:cNvSpPr txBox="1"/>
          <p:nvPr/>
        </p:nvSpPr>
        <p:spPr>
          <a:xfrm>
            <a:off x="1258499" y="3709698"/>
            <a:ext cx="2697684" cy="400110"/>
          </a:xfrm>
          <a:prstGeom prst="rect">
            <a:avLst/>
          </a:prstGeom>
          <a:noFill/>
        </p:spPr>
        <p:txBody>
          <a:bodyPr wrap="square" rtlCol="0">
            <a:spAutoFit/>
          </a:bodyPr>
          <a:lstStyle/>
          <a:p>
            <a:r>
              <a:rPr lang="en-GB" sz="2000" b="1" i="1" dirty="0">
                <a:latin typeface="Arial" pitchFamily="34" charset="0"/>
                <a:cs typeface="Arial" pitchFamily="34" charset="0"/>
              </a:rPr>
              <a:t>x</a:t>
            </a:r>
            <a:r>
              <a:rPr lang="en-GB" sz="2000" b="1" dirty="0">
                <a:latin typeface="Arial" pitchFamily="34" charset="0"/>
                <a:cs typeface="Arial" pitchFamily="34" charset="0"/>
              </a:rPr>
              <a:t>    =    205  ÷  82</a:t>
            </a:r>
          </a:p>
        </p:txBody>
      </p:sp>
      <p:cxnSp>
        <p:nvCxnSpPr>
          <p:cNvPr id="46" name="Straight Connector 45">
            <a:extLst>
              <a:ext uri="{FF2B5EF4-FFF2-40B4-BE49-F238E27FC236}">
                <a16:creationId xmlns:a16="http://schemas.microsoft.com/office/drawing/2014/main" id="{D0806AC5-FE85-4BB3-B8F4-908BB2C2A1A0}"/>
              </a:ext>
            </a:extLst>
          </p:cNvPr>
          <p:cNvCxnSpPr/>
          <p:nvPr/>
        </p:nvCxnSpPr>
        <p:spPr>
          <a:xfrm>
            <a:off x="883320" y="4666569"/>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47" name="Group 440">
            <a:extLst>
              <a:ext uri="{FF2B5EF4-FFF2-40B4-BE49-F238E27FC236}">
                <a16:creationId xmlns:a16="http://schemas.microsoft.com/office/drawing/2014/main" id="{068AF8E6-66CA-4D39-B9B0-15198CF07110}"/>
              </a:ext>
            </a:extLst>
          </p:cNvPr>
          <p:cNvGrpSpPr/>
          <p:nvPr/>
        </p:nvGrpSpPr>
        <p:grpSpPr>
          <a:xfrm>
            <a:off x="5732928" y="5253898"/>
            <a:ext cx="3055482" cy="330999"/>
            <a:chOff x="5474525" y="1935097"/>
            <a:chExt cx="3372591" cy="431236"/>
          </a:xfrm>
        </p:grpSpPr>
        <p:sp>
          <p:nvSpPr>
            <p:cNvPr id="48" name="Rounded Rectangle 441">
              <a:extLst>
                <a:ext uri="{FF2B5EF4-FFF2-40B4-BE49-F238E27FC236}">
                  <a16:creationId xmlns:a16="http://schemas.microsoft.com/office/drawing/2014/main" id="{85342985-7CE9-43F2-8073-39FD79EE3B79}"/>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9" name="TextBox 48">
              <a:extLst>
                <a:ext uri="{FF2B5EF4-FFF2-40B4-BE49-F238E27FC236}">
                  <a16:creationId xmlns:a16="http://schemas.microsoft.com/office/drawing/2014/main" id="{44D5C250-1C8F-485F-B1AA-701EFC6375E0}"/>
                </a:ext>
              </a:extLst>
            </p:cNvPr>
            <p:cNvSpPr txBox="1"/>
            <p:nvPr/>
          </p:nvSpPr>
          <p:spPr>
            <a:xfrm>
              <a:off x="5599927" y="1970273"/>
              <a:ext cx="3121788" cy="360883"/>
            </a:xfrm>
            <a:prstGeom prst="rect">
              <a:avLst/>
            </a:prstGeom>
            <a:noFill/>
          </p:spPr>
          <p:txBody>
            <a:bodyPr wrap="square" rtlCol="0">
              <a:spAutoFit/>
            </a:bodyPr>
            <a:lstStyle/>
            <a:p>
              <a:pPr algn="ctr"/>
              <a:r>
                <a:rPr lang="en-GB" sz="1200" b="1" dirty="0">
                  <a:latin typeface="Arial" pitchFamily="34" charset="0"/>
                  <a:cs typeface="Arial" pitchFamily="34" charset="0"/>
                </a:rPr>
                <a:t>Now substitute for x = </a:t>
              </a:r>
              <a:r>
                <a:rPr lang="en-GB" sz="1200" b="1" dirty="0">
                  <a:solidFill>
                    <a:srgbClr val="C00000"/>
                  </a:solidFill>
                  <a:latin typeface="Arial" pitchFamily="34" charset="0"/>
                  <a:cs typeface="Arial" pitchFamily="34" charset="0"/>
                </a:rPr>
                <a:t>2.5</a:t>
              </a:r>
              <a:r>
                <a:rPr lang="en-GB" sz="1200" b="1" dirty="0">
                  <a:latin typeface="Arial" pitchFamily="34" charset="0"/>
                  <a:cs typeface="Arial" pitchFamily="34" charset="0"/>
                </a:rPr>
                <a:t> into (1).</a:t>
              </a:r>
              <a:endParaRPr lang="en-GB" sz="1200" b="1" i="1" dirty="0">
                <a:latin typeface="Arial" pitchFamily="34" charset="0"/>
                <a:cs typeface="Arial" pitchFamily="34" charset="0"/>
              </a:endParaRPr>
            </a:p>
          </p:txBody>
        </p:sp>
      </p:grpSp>
      <p:sp>
        <p:nvSpPr>
          <p:cNvPr id="50" name="TextBox 49">
            <a:extLst>
              <a:ext uri="{FF2B5EF4-FFF2-40B4-BE49-F238E27FC236}">
                <a16:creationId xmlns:a16="http://schemas.microsoft.com/office/drawing/2014/main" id="{03F6F4E0-A1E4-427E-B8EC-CCC211E5336B}"/>
              </a:ext>
            </a:extLst>
          </p:cNvPr>
          <p:cNvSpPr txBox="1"/>
          <p:nvPr/>
        </p:nvSpPr>
        <p:spPr>
          <a:xfrm>
            <a:off x="967549" y="4658637"/>
            <a:ext cx="3062736" cy="400110"/>
          </a:xfrm>
          <a:prstGeom prst="rect">
            <a:avLst/>
          </a:prstGeom>
          <a:noFill/>
        </p:spPr>
        <p:txBody>
          <a:bodyPr wrap="square" rtlCol="0">
            <a:spAutoFit/>
          </a:bodyPr>
          <a:lstStyle/>
          <a:p>
            <a:r>
              <a:rPr lang="en-GB" sz="2000" b="1" dirty="0">
                <a:latin typeface="Arial" pitchFamily="34" charset="0"/>
                <a:cs typeface="Arial" pitchFamily="34" charset="0"/>
              </a:rPr>
              <a:t>14 </a:t>
            </a:r>
            <a:r>
              <a:rPr lang="en-GB" sz="2000" dirty="0">
                <a:latin typeface="Arial" pitchFamily="34" charset="0"/>
                <a:cs typeface="Arial" pitchFamily="34" charset="0"/>
              </a:rPr>
              <a:t>x</a:t>
            </a:r>
            <a:r>
              <a:rPr lang="en-GB" sz="2000" b="1" dirty="0">
                <a:latin typeface="Arial" pitchFamily="34" charset="0"/>
                <a:cs typeface="Arial" pitchFamily="34" charset="0"/>
              </a:rPr>
              <a:t> </a:t>
            </a:r>
            <a:r>
              <a:rPr lang="en-GB" sz="2000" b="1" dirty="0">
                <a:solidFill>
                  <a:srgbClr val="C00000"/>
                </a:solidFill>
                <a:latin typeface="Arial" pitchFamily="34" charset="0"/>
                <a:cs typeface="Arial" pitchFamily="34" charset="0"/>
              </a:rPr>
              <a:t>2.5</a:t>
            </a:r>
            <a:r>
              <a:rPr lang="en-GB" sz="2000" b="1" dirty="0">
                <a:latin typeface="Arial" pitchFamily="34" charset="0"/>
                <a:cs typeface="Arial" pitchFamily="34" charset="0"/>
              </a:rPr>
              <a:t>  -  2</a:t>
            </a:r>
            <a:r>
              <a:rPr lang="en-GB" sz="2000" b="1" i="1" dirty="0">
                <a:latin typeface="Arial" pitchFamily="34" charset="0"/>
                <a:cs typeface="Arial" pitchFamily="34" charset="0"/>
              </a:rPr>
              <a:t>y</a:t>
            </a:r>
            <a:r>
              <a:rPr lang="en-GB" sz="2000" b="1" dirty="0">
                <a:latin typeface="Arial" pitchFamily="34" charset="0"/>
                <a:cs typeface="Arial" pitchFamily="34" charset="0"/>
              </a:rPr>
              <a:t>   =   21</a:t>
            </a:r>
          </a:p>
        </p:txBody>
      </p:sp>
      <p:sp>
        <p:nvSpPr>
          <p:cNvPr id="51" name="TextBox 50">
            <a:extLst>
              <a:ext uri="{FF2B5EF4-FFF2-40B4-BE49-F238E27FC236}">
                <a16:creationId xmlns:a16="http://schemas.microsoft.com/office/drawing/2014/main" id="{60C05549-A5E2-41B0-8773-73C4F2BC597B}"/>
              </a:ext>
            </a:extLst>
          </p:cNvPr>
          <p:cNvSpPr txBox="1"/>
          <p:nvPr/>
        </p:nvSpPr>
        <p:spPr>
          <a:xfrm>
            <a:off x="3715703" y="4658637"/>
            <a:ext cx="115487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52" name="TextBox 51">
            <a:extLst>
              <a:ext uri="{FF2B5EF4-FFF2-40B4-BE49-F238E27FC236}">
                <a16:creationId xmlns:a16="http://schemas.microsoft.com/office/drawing/2014/main" id="{EA1A049E-B6B6-4752-B88C-A6EBAC0BAB44}"/>
              </a:ext>
            </a:extLst>
          </p:cNvPr>
          <p:cNvSpPr txBox="1"/>
          <p:nvPr/>
        </p:nvSpPr>
        <p:spPr>
          <a:xfrm>
            <a:off x="1036822" y="4968880"/>
            <a:ext cx="3062736" cy="400110"/>
          </a:xfrm>
          <a:prstGeom prst="rect">
            <a:avLst/>
          </a:prstGeom>
          <a:noFill/>
        </p:spPr>
        <p:txBody>
          <a:bodyPr wrap="square" rtlCol="0">
            <a:spAutoFit/>
          </a:bodyPr>
          <a:lstStyle/>
          <a:p>
            <a:r>
              <a:rPr lang="en-GB" sz="2000" b="1" dirty="0">
                <a:latin typeface="Arial" pitchFamily="34" charset="0"/>
                <a:cs typeface="Arial" pitchFamily="34" charset="0"/>
              </a:rPr>
              <a:t>35  -  2</a:t>
            </a:r>
            <a:r>
              <a:rPr lang="en-GB" sz="2000" b="1" i="1" dirty="0">
                <a:latin typeface="Arial" pitchFamily="34" charset="0"/>
                <a:cs typeface="Arial" pitchFamily="34" charset="0"/>
              </a:rPr>
              <a:t>y</a:t>
            </a:r>
            <a:r>
              <a:rPr lang="en-GB" sz="2000" b="1" dirty="0">
                <a:latin typeface="Arial" pitchFamily="34" charset="0"/>
                <a:cs typeface="Arial" pitchFamily="34" charset="0"/>
              </a:rPr>
              <a:t>   =   21</a:t>
            </a:r>
          </a:p>
        </p:txBody>
      </p:sp>
      <p:grpSp>
        <p:nvGrpSpPr>
          <p:cNvPr id="53" name="Group 446">
            <a:extLst>
              <a:ext uri="{FF2B5EF4-FFF2-40B4-BE49-F238E27FC236}">
                <a16:creationId xmlns:a16="http://schemas.microsoft.com/office/drawing/2014/main" id="{C4067CFD-068E-4E2F-B2F9-76A75AA39651}"/>
              </a:ext>
            </a:extLst>
          </p:cNvPr>
          <p:cNvGrpSpPr/>
          <p:nvPr/>
        </p:nvGrpSpPr>
        <p:grpSpPr>
          <a:xfrm>
            <a:off x="5732928" y="5666981"/>
            <a:ext cx="3055482" cy="330999"/>
            <a:chOff x="5474525" y="1935097"/>
            <a:chExt cx="3372591" cy="431236"/>
          </a:xfrm>
        </p:grpSpPr>
        <p:sp>
          <p:nvSpPr>
            <p:cNvPr id="54" name="Rounded Rectangle 447">
              <a:extLst>
                <a:ext uri="{FF2B5EF4-FFF2-40B4-BE49-F238E27FC236}">
                  <a16:creationId xmlns:a16="http://schemas.microsoft.com/office/drawing/2014/main" id="{6EA30CA0-8F50-4E99-918F-AF43F229098C}"/>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55" name="TextBox 54">
              <a:extLst>
                <a:ext uri="{FF2B5EF4-FFF2-40B4-BE49-F238E27FC236}">
                  <a16:creationId xmlns:a16="http://schemas.microsoft.com/office/drawing/2014/main" id="{33349EEC-0866-420B-AC60-EC1BA77A83C6}"/>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Take 35 from both sides</a:t>
              </a:r>
              <a:endParaRPr lang="en-GB" sz="1200" b="1" i="1" dirty="0">
                <a:latin typeface="Arial" pitchFamily="34" charset="0"/>
                <a:cs typeface="Arial" pitchFamily="34" charset="0"/>
              </a:endParaRPr>
            </a:p>
          </p:txBody>
        </p:sp>
      </p:grpSp>
      <p:sp>
        <p:nvSpPr>
          <p:cNvPr id="56" name="TextBox 55">
            <a:extLst>
              <a:ext uri="{FF2B5EF4-FFF2-40B4-BE49-F238E27FC236}">
                <a16:creationId xmlns:a16="http://schemas.microsoft.com/office/drawing/2014/main" id="{B0B74164-BBEF-446D-A031-92ABA89915D2}"/>
              </a:ext>
            </a:extLst>
          </p:cNvPr>
          <p:cNvSpPr txBox="1"/>
          <p:nvPr/>
        </p:nvSpPr>
        <p:spPr>
          <a:xfrm>
            <a:off x="1129846" y="5279123"/>
            <a:ext cx="3062736" cy="400110"/>
          </a:xfrm>
          <a:prstGeom prst="rect">
            <a:avLst/>
          </a:prstGeom>
          <a:noFill/>
        </p:spPr>
        <p:txBody>
          <a:bodyPr wrap="square" rtlCol="0">
            <a:spAutoFit/>
          </a:bodyPr>
          <a:lstStyle/>
          <a:p>
            <a:r>
              <a:rPr lang="en-GB" sz="2000" b="1" dirty="0">
                <a:latin typeface="Arial" pitchFamily="34" charset="0"/>
                <a:cs typeface="Arial" pitchFamily="34" charset="0"/>
              </a:rPr>
              <a:t>-2</a:t>
            </a:r>
            <a:r>
              <a:rPr lang="en-GB" sz="2000" b="1" i="1" dirty="0">
                <a:latin typeface="Arial" pitchFamily="34" charset="0"/>
                <a:cs typeface="Arial" pitchFamily="34" charset="0"/>
              </a:rPr>
              <a:t>y</a:t>
            </a:r>
            <a:r>
              <a:rPr lang="en-GB" sz="2000" b="1" dirty="0">
                <a:latin typeface="Arial" pitchFamily="34" charset="0"/>
                <a:cs typeface="Arial" pitchFamily="34" charset="0"/>
              </a:rPr>
              <a:t>   =   -14</a:t>
            </a:r>
          </a:p>
        </p:txBody>
      </p:sp>
      <p:sp>
        <p:nvSpPr>
          <p:cNvPr id="57" name="TextBox 56">
            <a:extLst>
              <a:ext uri="{FF2B5EF4-FFF2-40B4-BE49-F238E27FC236}">
                <a16:creationId xmlns:a16="http://schemas.microsoft.com/office/drawing/2014/main" id="{B9C7E256-600F-48EB-A6F7-4AA0BFDB90D0}"/>
              </a:ext>
            </a:extLst>
          </p:cNvPr>
          <p:cNvSpPr txBox="1"/>
          <p:nvPr/>
        </p:nvSpPr>
        <p:spPr>
          <a:xfrm>
            <a:off x="1210994" y="5589366"/>
            <a:ext cx="3062736" cy="400110"/>
          </a:xfrm>
          <a:prstGeom prst="rect">
            <a:avLst/>
          </a:prstGeom>
          <a:noFill/>
        </p:spPr>
        <p:txBody>
          <a:bodyPr wrap="square" rtlCol="0">
            <a:spAutoFit/>
          </a:bodyPr>
          <a:lstStyle/>
          <a:p>
            <a:r>
              <a:rPr lang="en-GB" sz="2000" b="1" i="1" dirty="0">
                <a:latin typeface="Arial" pitchFamily="34" charset="0"/>
                <a:cs typeface="Arial" pitchFamily="34" charset="0"/>
              </a:rPr>
              <a:t> y</a:t>
            </a:r>
            <a:r>
              <a:rPr lang="en-GB" sz="2000" b="1" dirty="0">
                <a:latin typeface="Arial" pitchFamily="34" charset="0"/>
                <a:cs typeface="Arial" pitchFamily="34" charset="0"/>
              </a:rPr>
              <a:t>   =   -14  ÷  -2</a:t>
            </a:r>
          </a:p>
        </p:txBody>
      </p:sp>
      <p:grpSp>
        <p:nvGrpSpPr>
          <p:cNvPr id="58" name="Group 451">
            <a:extLst>
              <a:ext uri="{FF2B5EF4-FFF2-40B4-BE49-F238E27FC236}">
                <a16:creationId xmlns:a16="http://schemas.microsoft.com/office/drawing/2014/main" id="{12F21448-70AA-42D3-9817-5894027E7E32}"/>
              </a:ext>
            </a:extLst>
          </p:cNvPr>
          <p:cNvGrpSpPr/>
          <p:nvPr/>
        </p:nvGrpSpPr>
        <p:grpSpPr>
          <a:xfrm>
            <a:off x="5732928" y="6080065"/>
            <a:ext cx="3055482" cy="330999"/>
            <a:chOff x="5474525" y="1935097"/>
            <a:chExt cx="3372591" cy="431236"/>
          </a:xfrm>
        </p:grpSpPr>
        <p:sp>
          <p:nvSpPr>
            <p:cNvPr id="59" name="Rounded Rectangle 452">
              <a:extLst>
                <a:ext uri="{FF2B5EF4-FFF2-40B4-BE49-F238E27FC236}">
                  <a16:creationId xmlns:a16="http://schemas.microsoft.com/office/drawing/2014/main" id="{A216E35F-5633-4625-B05C-6F4E293350BD}"/>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60" name="TextBox 59">
              <a:extLst>
                <a:ext uri="{FF2B5EF4-FFF2-40B4-BE49-F238E27FC236}">
                  <a16:creationId xmlns:a16="http://schemas.microsoft.com/office/drawing/2014/main" id="{5B01B8A3-8620-428D-88C4-20211ADA6E94}"/>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Divide both sides by -2 to give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61" name="Group 458">
            <a:extLst>
              <a:ext uri="{FF2B5EF4-FFF2-40B4-BE49-F238E27FC236}">
                <a16:creationId xmlns:a16="http://schemas.microsoft.com/office/drawing/2014/main" id="{3743C0CB-40C1-4F38-B291-47330B46ADBA}"/>
              </a:ext>
            </a:extLst>
          </p:cNvPr>
          <p:cNvGrpSpPr/>
          <p:nvPr/>
        </p:nvGrpSpPr>
        <p:grpSpPr>
          <a:xfrm>
            <a:off x="993907" y="4131085"/>
            <a:ext cx="1962150" cy="400110"/>
            <a:chOff x="742950" y="3773899"/>
            <a:chExt cx="1962150" cy="400110"/>
          </a:xfrm>
        </p:grpSpPr>
        <p:sp>
          <p:nvSpPr>
            <p:cNvPr id="62" name="Rounded Rectangle 457">
              <a:extLst>
                <a:ext uri="{FF2B5EF4-FFF2-40B4-BE49-F238E27FC236}">
                  <a16:creationId xmlns:a16="http://schemas.microsoft.com/office/drawing/2014/main" id="{6891CC70-F7D2-44E7-B355-749FBAFC041C}"/>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3" name="TextBox 62">
              <a:extLst>
                <a:ext uri="{FF2B5EF4-FFF2-40B4-BE49-F238E27FC236}">
                  <a16:creationId xmlns:a16="http://schemas.microsoft.com/office/drawing/2014/main" id="{D8120A3F-2E02-4C0F-BF1F-EA7D140608E8}"/>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x</a:t>
              </a:r>
              <a:r>
                <a:rPr lang="en-GB" sz="2000" b="1" dirty="0">
                  <a:latin typeface="Arial" pitchFamily="34" charset="0"/>
                  <a:cs typeface="Arial" pitchFamily="34" charset="0"/>
                </a:rPr>
                <a:t>    =    2.5</a:t>
              </a:r>
            </a:p>
          </p:txBody>
        </p:sp>
      </p:grpSp>
      <p:grpSp>
        <p:nvGrpSpPr>
          <p:cNvPr id="64" name="Group 459">
            <a:extLst>
              <a:ext uri="{FF2B5EF4-FFF2-40B4-BE49-F238E27FC236}">
                <a16:creationId xmlns:a16="http://schemas.microsoft.com/office/drawing/2014/main" id="{43D43496-502A-462F-B737-689BD4EE5C53}"/>
              </a:ext>
            </a:extLst>
          </p:cNvPr>
          <p:cNvGrpSpPr/>
          <p:nvPr/>
        </p:nvGrpSpPr>
        <p:grpSpPr>
          <a:xfrm>
            <a:off x="993907" y="5979646"/>
            <a:ext cx="1962150" cy="400110"/>
            <a:chOff x="742950" y="3773899"/>
            <a:chExt cx="1962150" cy="400110"/>
          </a:xfrm>
        </p:grpSpPr>
        <p:sp>
          <p:nvSpPr>
            <p:cNvPr id="65" name="Rounded Rectangle 460">
              <a:extLst>
                <a:ext uri="{FF2B5EF4-FFF2-40B4-BE49-F238E27FC236}">
                  <a16:creationId xmlns:a16="http://schemas.microsoft.com/office/drawing/2014/main" id="{3173B027-3B35-4C65-B4CA-7BD8090BAF68}"/>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6" name="TextBox 65">
              <a:extLst>
                <a:ext uri="{FF2B5EF4-FFF2-40B4-BE49-F238E27FC236}">
                  <a16:creationId xmlns:a16="http://schemas.microsoft.com/office/drawing/2014/main" id="{40B98CB9-C665-4E09-9E0B-4DE2FE5DAB3B}"/>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y</a:t>
              </a:r>
              <a:r>
                <a:rPr lang="en-GB" sz="2000" b="1" dirty="0">
                  <a:latin typeface="Arial" pitchFamily="34" charset="0"/>
                  <a:cs typeface="Arial" pitchFamily="34" charset="0"/>
                </a:rPr>
                <a:t>    =    7</a:t>
              </a:r>
            </a:p>
          </p:txBody>
        </p:sp>
      </p:grpSp>
      <p:sp>
        <p:nvSpPr>
          <p:cNvPr id="67" name="Oval 66">
            <a:extLst>
              <a:ext uri="{FF2B5EF4-FFF2-40B4-BE49-F238E27FC236}">
                <a16:creationId xmlns:a16="http://schemas.microsoft.com/office/drawing/2014/main" id="{0BA7C85B-2A74-4D20-868B-4143CDA40829}"/>
              </a:ext>
            </a:extLst>
          </p:cNvPr>
          <p:cNvSpPr/>
          <p:nvPr/>
        </p:nvSpPr>
        <p:spPr>
          <a:xfrm>
            <a:off x="892690" y="2643186"/>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8" name="Oval 67">
            <a:extLst>
              <a:ext uri="{FF2B5EF4-FFF2-40B4-BE49-F238E27FC236}">
                <a16:creationId xmlns:a16="http://schemas.microsoft.com/office/drawing/2014/main" id="{1D9DB5B6-B1CA-433D-9192-D3A8BB227205}"/>
              </a:ext>
            </a:extLst>
          </p:cNvPr>
          <p:cNvSpPr/>
          <p:nvPr/>
        </p:nvSpPr>
        <p:spPr>
          <a:xfrm>
            <a:off x="892690" y="2988366"/>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9" name="Oval 68">
            <a:extLst>
              <a:ext uri="{FF2B5EF4-FFF2-40B4-BE49-F238E27FC236}">
                <a16:creationId xmlns:a16="http://schemas.microsoft.com/office/drawing/2014/main" id="{5706B7A9-B666-475C-8D79-18FB396026C8}"/>
              </a:ext>
            </a:extLst>
          </p:cNvPr>
          <p:cNvSpPr/>
          <p:nvPr/>
        </p:nvSpPr>
        <p:spPr>
          <a:xfrm>
            <a:off x="2831823" y="2643186"/>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70" name="Oval 69">
            <a:extLst>
              <a:ext uri="{FF2B5EF4-FFF2-40B4-BE49-F238E27FC236}">
                <a16:creationId xmlns:a16="http://schemas.microsoft.com/office/drawing/2014/main" id="{15272DC3-D615-418A-9A1D-0B66B7C7C293}"/>
              </a:ext>
            </a:extLst>
          </p:cNvPr>
          <p:cNvSpPr/>
          <p:nvPr/>
        </p:nvSpPr>
        <p:spPr>
          <a:xfrm>
            <a:off x="2831823" y="2988366"/>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Tree>
    <p:extLst>
      <p:ext uri="{BB962C8B-B14F-4D97-AF65-F5344CB8AC3E}">
        <p14:creationId xmlns:p14="http://schemas.microsoft.com/office/powerpoint/2010/main" val="231598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1000"/>
                                        <p:tgtEl>
                                          <p:spTgt spid="14"/>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1000"/>
                                        <p:tgtEl>
                                          <p:spTgt spid="15"/>
                                        </p:tgtEl>
                                      </p:cBhvr>
                                    </p:animEffect>
                                  </p:childTnLst>
                                </p:cTn>
                              </p:par>
                            </p:childTnLst>
                          </p:cTn>
                        </p:par>
                        <p:par>
                          <p:cTn id="18" fill="hold">
                            <p:stCondLst>
                              <p:cond delay="2500"/>
                            </p:stCondLst>
                            <p:childTnLst>
                              <p:par>
                                <p:cTn id="19" presetID="22" presetClass="entr" presetSubtype="8"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500" fill="hold"/>
                                        <p:tgtEl>
                                          <p:spTgt spid="16"/>
                                        </p:tgtEl>
                                        <p:attrNameLst>
                                          <p:attrName>ppt_w</p:attrName>
                                        </p:attrNameLst>
                                      </p:cBhvr>
                                      <p:tavLst>
                                        <p:tav tm="0">
                                          <p:val>
                                            <p:fltVal val="0"/>
                                          </p:val>
                                        </p:tav>
                                        <p:tav tm="100000">
                                          <p:val>
                                            <p:strVal val="#ppt_w"/>
                                          </p:val>
                                        </p:tav>
                                      </p:tavLst>
                                    </p:anim>
                                    <p:anim calcmode="lin" valueType="num">
                                      <p:cBhvr>
                                        <p:cTn id="27" dur="500" fill="hold"/>
                                        <p:tgtEl>
                                          <p:spTgt spid="16"/>
                                        </p:tgtEl>
                                        <p:attrNameLst>
                                          <p:attrName>ppt_h</p:attrName>
                                        </p:attrNameLst>
                                      </p:cBhvr>
                                      <p:tavLst>
                                        <p:tav tm="0">
                                          <p:val>
                                            <p:fltVal val="0"/>
                                          </p:val>
                                        </p:tav>
                                        <p:tav tm="100000">
                                          <p:val>
                                            <p:strVal val="#ppt_h"/>
                                          </p:val>
                                        </p:tav>
                                      </p:tavLst>
                                    </p:anim>
                                    <p:animEffect transition="in" filter="fade">
                                      <p:cBhvr>
                                        <p:cTn id="28" dur="500"/>
                                        <p:tgtEl>
                                          <p:spTgt spid="16"/>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p:cTn id="41" dur="500" fill="hold"/>
                                        <p:tgtEl>
                                          <p:spTgt spid="22"/>
                                        </p:tgtEl>
                                        <p:attrNameLst>
                                          <p:attrName>ppt_w</p:attrName>
                                        </p:attrNameLst>
                                      </p:cBhvr>
                                      <p:tavLst>
                                        <p:tav tm="0">
                                          <p:val>
                                            <p:fltVal val="0"/>
                                          </p:val>
                                        </p:tav>
                                        <p:tav tm="100000">
                                          <p:val>
                                            <p:strVal val="#ppt_w"/>
                                          </p:val>
                                        </p:tav>
                                      </p:tavLst>
                                    </p:anim>
                                    <p:anim calcmode="lin" valueType="num">
                                      <p:cBhvr>
                                        <p:cTn id="42" dur="500" fill="hold"/>
                                        <p:tgtEl>
                                          <p:spTgt spid="22"/>
                                        </p:tgtEl>
                                        <p:attrNameLst>
                                          <p:attrName>ppt_h</p:attrName>
                                        </p:attrNameLst>
                                      </p:cBhvr>
                                      <p:tavLst>
                                        <p:tav tm="0">
                                          <p:val>
                                            <p:fltVal val="0"/>
                                          </p:val>
                                        </p:tav>
                                        <p:tav tm="100000">
                                          <p:val>
                                            <p:strVal val="#ppt_h"/>
                                          </p:val>
                                        </p:tav>
                                      </p:tavLst>
                                    </p:anim>
                                    <p:animEffect transition="in" filter="fade">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1000"/>
                                        <p:tgtEl>
                                          <p:spTgt spid="29"/>
                                        </p:tgtEl>
                                      </p:cBhvr>
                                    </p:animEffect>
                                  </p:childTnLst>
                                </p:cTn>
                              </p:par>
                            </p:childTnLst>
                          </p:cTn>
                        </p:par>
                        <p:par>
                          <p:cTn id="55" fill="hold">
                            <p:stCondLst>
                              <p:cond delay="1500"/>
                            </p:stCondLst>
                            <p:childTnLst>
                              <p:par>
                                <p:cTn id="56" presetID="22" presetClass="entr" presetSubtype="8" fill="hold" grpId="0"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left)">
                                      <p:cBhvr>
                                        <p:cTn id="58" dur="10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anim calcmode="lin" valueType="num">
                                      <p:cBhvr>
                                        <p:cTn id="63" dur="500" fill="hold"/>
                                        <p:tgtEl>
                                          <p:spTgt spid="34"/>
                                        </p:tgtEl>
                                        <p:attrNameLst>
                                          <p:attrName>ppt_w</p:attrName>
                                        </p:attrNameLst>
                                      </p:cBhvr>
                                      <p:tavLst>
                                        <p:tav tm="0">
                                          <p:val>
                                            <p:fltVal val="0"/>
                                          </p:val>
                                        </p:tav>
                                        <p:tav tm="100000">
                                          <p:val>
                                            <p:strVal val="#ppt_w"/>
                                          </p:val>
                                        </p:tav>
                                      </p:tavLst>
                                    </p:anim>
                                    <p:anim calcmode="lin" valueType="num">
                                      <p:cBhvr>
                                        <p:cTn id="64" dur="500" fill="hold"/>
                                        <p:tgtEl>
                                          <p:spTgt spid="34"/>
                                        </p:tgtEl>
                                        <p:attrNameLst>
                                          <p:attrName>ppt_h</p:attrName>
                                        </p:attrNameLst>
                                      </p:cBhvr>
                                      <p:tavLst>
                                        <p:tav tm="0">
                                          <p:val>
                                            <p:fltVal val="0"/>
                                          </p:val>
                                        </p:tav>
                                        <p:tav tm="100000">
                                          <p:val>
                                            <p:strVal val="#ppt_h"/>
                                          </p:val>
                                        </p:tav>
                                      </p:tavLst>
                                    </p:anim>
                                    <p:animEffect transition="in" filter="fade">
                                      <p:cBhvr>
                                        <p:cTn id="65" dur="500"/>
                                        <p:tgtEl>
                                          <p:spTgt spid="34"/>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1000"/>
                                        <p:tgtEl>
                                          <p:spTgt spid="30"/>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left)">
                                      <p:cBhvr>
                                        <p:cTn id="73" dur="1000"/>
                                        <p:tgtEl>
                                          <p:spTgt spid="33"/>
                                        </p:tgtEl>
                                      </p:cBhvr>
                                    </p:animEffect>
                                  </p:childTnLst>
                                </p:cTn>
                              </p:par>
                            </p:childTnLst>
                          </p:cTn>
                        </p:par>
                        <p:par>
                          <p:cTn id="74" fill="hold">
                            <p:stCondLst>
                              <p:cond delay="2500"/>
                            </p:stCondLst>
                            <p:childTnLst>
                              <p:par>
                                <p:cTn id="75" presetID="22" presetClass="entr" presetSubtype="8" fill="hold" nodeType="after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0" fill="hold" nodeType="clickEffect">
                                  <p:stCondLst>
                                    <p:cond delay="0"/>
                                  </p:stCondLst>
                                  <p:childTnLst>
                                    <p:set>
                                      <p:cBhvr>
                                        <p:cTn id="81" dur="1" fill="hold">
                                          <p:stCondLst>
                                            <p:cond delay="0"/>
                                          </p:stCondLst>
                                        </p:cTn>
                                        <p:tgtEl>
                                          <p:spTgt spid="39"/>
                                        </p:tgtEl>
                                        <p:attrNameLst>
                                          <p:attrName>style.visibility</p:attrName>
                                        </p:attrNameLst>
                                      </p:cBhvr>
                                      <p:to>
                                        <p:strVal val="visible"/>
                                      </p:to>
                                    </p:set>
                                    <p:anim calcmode="lin" valueType="num">
                                      <p:cBhvr>
                                        <p:cTn id="82" dur="500" fill="hold"/>
                                        <p:tgtEl>
                                          <p:spTgt spid="39"/>
                                        </p:tgtEl>
                                        <p:attrNameLst>
                                          <p:attrName>ppt_w</p:attrName>
                                        </p:attrNameLst>
                                      </p:cBhvr>
                                      <p:tavLst>
                                        <p:tav tm="0">
                                          <p:val>
                                            <p:fltVal val="0"/>
                                          </p:val>
                                        </p:tav>
                                        <p:tav tm="100000">
                                          <p:val>
                                            <p:strVal val="#ppt_w"/>
                                          </p:val>
                                        </p:tav>
                                      </p:tavLst>
                                    </p:anim>
                                    <p:anim calcmode="lin" valueType="num">
                                      <p:cBhvr>
                                        <p:cTn id="83" dur="500" fill="hold"/>
                                        <p:tgtEl>
                                          <p:spTgt spid="39"/>
                                        </p:tgtEl>
                                        <p:attrNameLst>
                                          <p:attrName>ppt_h</p:attrName>
                                        </p:attrNameLst>
                                      </p:cBhvr>
                                      <p:tavLst>
                                        <p:tav tm="0">
                                          <p:val>
                                            <p:fltVal val="0"/>
                                          </p:val>
                                        </p:tav>
                                        <p:tav tm="100000">
                                          <p:val>
                                            <p:strVal val="#ppt_h"/>
                                          </p:val>
                                        </p:tav>
                                      </p:tavLst>
                                    </p:anim>
                                    <p:animEffect transition="in" filter="fade">
                                      <p:cBhvr>
                                        <p:cTn id="84" dur="500"/>
                                        <p:tgtEl>
                                          <p:spTgt spid="39"/>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0" fill="hold" grpId="0" nodeType="clickEffect">
                                  <p:stCondLst>
                                    <p:cond delay="0"/>
                                  </p:stCondLst>
                                  <p:childTnLst>
                                    <p:set>
                                      <p:cBhvr>
                                        <p:cTn id="88" dur="1" fill="hold">
                                          <p:stCondLst>
                                            <p:cond delay="0"/>
                                          </p:stCondLst>
                                        </p:cTn>
                                        <p:tgtEl>
                                          <p:spTgt spid="67"/>
                                        </p:tgtEl>
                                        <p:attrNameLst>
                                          <p:attrName>style.visibility</p:attrName>
                                        </p:attrNameLst>
                                      </p:cBhvr>
                                      <p:to>
                                        <p:strVal val="visible"/>
                                      </p:to>
                                    </p:set>
                                    <p:anim calcmode="lin" valueType="num">
                                      <p:cBhvr>
                                        <p:cTn id="89" dur="1000" fill="hold"/>
                                        <p:tgtEl>
                                          <p:spTgt spid="67"/>
                                        </p:tgtEl>
                                        <p:attrNameLst>
                                          <p:attrName>ppt_w</p:attrName>
                                        </p:attrNameLst>
                                      </p:cBhvr>
                                      <p:tavLst>
                                        <p:tav tm="0">
                                          <p:val>
                                            <p:fltVal val="0"/>
                                          </p:val>
                                        </p:tav>
                                        <p:tav tm="100000">
                                          <p:val>
                                            <p:strVal val="#ppt_w"/>
                                          </p:val>
                                        </p:tav>
                                      </p:tavLst>
                                    </p:anim>
                                    <p:anim calcmode="lin" valueType="num">
                                      <p:cBhvr>
                                        <p:cTn id="90" dur="1000" fill="hold"/>
                                        <p:tgtEl>
                                          <p:spTgt spid="67"/>
                                        </p:tgtEl>
                                        <p:attrNameLst>
                                          <p:attrName>ppt_h</p:attrName>
                                        </p:attrNameLst>
                                      </p:cBhvr>
                                      <p:tavLst>
                                        <p:tav tm="0">
                                          <p:val>
                                            <p:fltVal val="0"/>
                                          </p:val>
                                        </p:tav>
                                        <p:tav tm="100000">
                                          <p:val>
                                            <p:strVal val="#ppt_h"/>
                                          </p:val>
                                        </p:tav>
                                      </p:tavLst>
                                    </p:anim>
                                    <p:animEffect transition="in" filter="fade">
                                      <p:cBhvr>
                                        <p:cTn id="91" dur="1000"/>
                                        <p:tgtEl>
                                          <p:spTgt spid="67"/>
                                        </p:tgtEl>
                                      </p:cBhvr>
                                    </p:animEffect>
                                  </p:childTnLst>
                                </p:cTn>
                              </p:par>
                            </p:childTnLst>
                          </p:cTn>
                        </p:par>
                        <p:par>
                          <p:cTn id="92" fill="hold">
                            <p:stCondLst>
                              <p:cond delay="1000"/>
                            </p:stCondLst>
                            <p:childTnLst>
                              <p:par>
                                <p:cTn id="93" presetID="53" presetClass="entr" presetSubtype="0" fill="hold" grpId="0" nodeType="afterEffect">
                                  <p:stCondLst>
                                    <p:cond delay="0"/>
                                  </p:stCondLst>
                                  <p:childTnLst>
                                    <p:set>
                                      <p:cBhvr>
                                        <p:cTn id="94" dur="1" fill="hold">
                                          <p:stCondLst>
                                            <p:cond delay="0"/>
                                          </p:stCondLst>
                                        </p:cTn>
                                        <p:tgtEl>
                                          <p:spTgt spid="68"/>
                                        </p:tgtEl>
                                        <p:attrNameLst>
                                          <p:attrName>style.visibility</p:attrName>
                                        </p:attrNameLst>
                                      </p:cBhvr>
                                      <p:to>
                                        <p:strVal val="visible"/>
                                      </p:to>
                                    </p:set>
                                    <p:anim calcmode="lin" valueType="num">
                                      <p:cBhvr>
                                        <p:cTn id="95" dur="1000" fill="hold"/>
                                        <p:tgtEl>
                                          <p:spTgt spid="68"/>
                                        </p:tgtEl>
                                        <p:attrNameLst>
                                          <p:attrName>ppt_w</p:attrName>
                                        </p:attrNameLst>
                                      </p:cBhvr>
                                      <p:tavLst>
                                        <p:tav tm="0">
                                          <p:val>
                                            <p:fltVal val="0"/>
                                          </p:val>
                                        </p:tav>
                                        <p:tav tm="100000">
                                          <p:val>
                                            <p:strVal val="#ppt_w"/>
                                          </p:val>
                                        </p:tav>
                                      </p:tavLst>
                                    </p:anim>
                                    <p:anim calcmode="lin" valueType="num">
                                      <p:cBhvr>
                                        <p:cTn id="96" dur="1000" fill="hold"/>
                                        <p:tgtEl>
                                          <p:spTgt spid="68"/>
                                        </p:tgtEl>
                                        <p:attrNameLst>
                                          <p:attrName>ppt_h</p:attrName>
                                        </p:attrNameLst>
                                      </p:cBhvr>
                                      <p:tavLst>
                                        <p:tav tm="0">
                                          <p:val>
                                            <p:fltVal val="0"/>
                                          </p:val>
                                        </p:tav>
                                        <p:tav tm="100000">
                                          <p:val>
                                            <p:strVal val="#ppt_h"/>
                                          </p:val>
                                        </p:tav>
                                      </p:tavLst>
                                    </p:anim>
                                    <p:animEffect transition="in" filter="fade">
                                      <p:cBhvr>
                                        <p:cTn id="97" dur="1000"/>
                                        <p:tgtEl>
                                          <p:spTgt spid="6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wipe(left)">
                                      <p:cBhvr>
                                        <p:cTn id="102" dur="1000"/>
                                        <p:tgtEl>
                                          <p:spTgt spid="37"/>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0" fill="hold" grpId="0" nodeType="clickEffect">
                                  <p:stCondLst>
                                    <p:cond delay="0"/>
                                  </p:stCondLst>
                                  <p:childTnLst>
                                    <p:set>
                                      <p:cBhvr>
                                        <p:cTn id="106" dur="1" fill="hold">
                                          <p:stCondLst>
                                            <p:cond delay="0"/>
                                          </p:stCondLst>
                                        </p:cTn>
                                        <p:tgtEl>
                                          <p:spTgt spid="69"/>
                                        </p:tgtEl>
                                        <p:attrNameLst>
                                          <p:attrName>style.visibility</p:attrName>
                                        </p:attrNameLst>
                                      </p:cBhvr>
                                      <p:to>
                                        <p:strVal val="visible"/>
                                      </p:to>
                                    </p:set>
                                    <p:anim calcmode="lin" valueType="num">
                                      <p:cBhvr>
                                        <p:cTn id="107" dur="1000" fill="hold"/>
                                        <p:tgtEl>
                                          <p:spTgt spid="69"/>
                                        </p:tgtEl>
                                        <p:attrNameLst>
                                          <p:attrName>ppt_w</p:attrName>
                                        </p:attrNameLst>
                                      </p:cBhvr>
                                      <p:tavLst>
                                        <p:tav tm="0">
                                          <p:val>
                                            <p:fltVal val="0"/>
                                          </p:val>
                                        </p:tav>
                                        <p:tav tm="100000">
                                          <p:val>
                                            <p:strVal val="#ppt_w"/>
                                          </p:val>
                                        </p:tav>
                                      </p:tavLst>
                                    </p:anim>
                                    <p:anim calcmode="lin" valueType="num">
                                      <p:cBhvr>
                                        <p:cTn id="108" dur="1000" fill="hold"/>
                                        <p:tgtEl>
                                          <p:spTgt spid="69"/>
                                        </p:tgtEl>
                                        <p:attrNameLst>
                                          <p:attrName>ppt_h</p:attrName>
                                        </p:attrNameLst>
                                      </p:cBhvr>
                                      <p:tavLst>
                                        <p:tav tm="0">
                                          <p:val>
                                            <p:fltVal val="0"/>
                                          </p:val>
                                        </p:tav>
                                        <p:tav tm="100000">
                                          <p:val>
                                            <p:strVal val="#ppt_h"/>
                                          </p:val>
                                        </p:tav>
                                      </p:tavLst>
                                    </p:anim>
                                    <p:animEffect transition="in" filter="fade">
                                      <p:cBhvr>
                                        <p:cTn id="109" dur="1000"/>
                                        <p:tgtEl>
                                          <p:spTgt spid="69"/>
                                        </p:tgtEl>
                                      </p:cBhvr>
                                    </p:animEffect>
                                  </p:childTnLst>
                                </p:cTn>
                              </p:par>
                            </p:childTnLst>
                          </p:cTn>
                        </p:par>
                        <p:par>
                          <p:cTn id="110" fill="hold">
                            <p:stCondLst>
                              <p:cond delay="1000"/>
                            </p:stCondLst>
                            <p:childTnLst>
                              <p:par>
                                <p:cTn id="111" presetID="53" presetClass="entr" presetSubtype="0" fill="hold" grpId="0" nodeType="afterEffect">
                                  <p:stCondLst>
                                    <p:cond delay="0"/>
                                  </p:stCondLst>
                                  <p:childTnLst>
                                    <p:set>
                                      <p:cBhvr>
                                        <p:cTn id="112" dur="1" fill="hold">
                                          <p:stCondLst>
                                            <p:cond delay="0"/>
                                          </p:stCondLst>
                                        </p:cTn>
                                        <p:tgtEl>
                                          <p:spTgt spid="70"/>
                                        </p:tgtEl>
                                        <p:attrNameLst>
                                          <p:attrName>style.visibility</p:attrName>
                                        </p:attrNameLst>
                                      </p:cBhvr>
                                      <p:to>
                                        <p:strVal val="visible"/>
                                      </p:to>
                                    </p:set>
                                    <p:anim calcmode="lin" valueType="num">
                                      <p:cBhvr>
                                        <p:cTn id="113" dur="1000" fill="hold"/>
                                        <p:tgtEl>
                                          <p:spTgt spid="70"/>
                                        </p:tgtEl>
                                        <p:attrNameLst>
                                          <p:attrName>ppt_w</p:attrName>
                                        </p:attrNameLst>
                                      </p:cBhvr>
                                      <p:tavLst>
                                        <p:tav tm="0">
                                          <p:val>
                                            <p:fltVal val="0"/>
                                          </p:val>
                                        </p:tav>
                                        <p:tav tm="100000">
                                          <p:val>
                                            <p:strVal val="#ppt_w"/>
                                          </p:val>
                                        </p:tav>
                                      </p:tavLst>
                                    </p:anim>
                                    <p:anim calcmode="lin" valueType="num">
                                      <p:cBhvr>
                                        <p:cTn id="114" dur="1000" fill="hold"/>
                                        <p:tgtEl>
                                          <p:spTgt spid="70"/>
                                        </p:tgtEl>
                                        <p:attrNameLst>
                                          <p:attrName>ppt_h</p:attrName>
                                        </p:attrNameLst>
                                      </p:cBhvr>
                                      <p:tavLst>
                                        <p:tav tm="0">
                                          <p:val>
                                            <p:fltVal val="0"/>
                                          </p:val>
                                        </p:tav>
                                        <p:tav tm="100000">
                                          <p:val>
                                            <p:strVal val="#ppt_h"/>
                                          </p:val>
                                        </p:tav>
                                      </p:tavLst>
                                    </p:anim>
                                    <p:animEffect transition="in" filter="fade">
                                      <p:cBhvr>
                                        <p:cTn id="115" dur="1000"/>
                                        <p:tgtEl>
                                          <p:spTgt spid="70"/>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wipe(left)">
                                      <p:cBhvr>
                                        <p:cTn id="120" dur="1000"/>
                                        <p:tgtEl>
                                          <p:spTgt spid="38"/>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0" fill="hold" nodeType="clickEffect">
                                  <p:stCondLst>
                                    <p:cond delay="0"/>
                                  </p:stCondLst>
                                  <p:childTnLst>
                                    <p:set>
                                      <p:cBhvr>
                                        <p:cTn id="124" dur="1" fill="hold">
                                          <p:stCondLst>
                                            <p:cond delay="0"/>
                                          </p:stCondLst>
                                        </p:cTn>
                                        <p:tgtEl>
                                          <p:spTgt spid="42"/>
                                        </p:tgtEl>
                                        <p:attrNameLst>
                                          <p:attrName>style.visibility</p:attrName>
                                        </p:attrNameLst>
                                      </p:cBhvr>
                                      <p:to>
                                        <p:strVal val="visible"/>
                                      </p:to>
                                    </p:set>
                                    <p:anim calcmode="lin" valueType="num">
                                      <p:cBhvr>
                                        <p:cTn id="125" dur="500" fill="hold"/>
                                        <p:tgtEl>
                                          <p:spTgt spid="42"/>
                                        </p:tgtEl>
                                        <p:attrNameLst>
                                          <p:attrName>ppt_w</p:attrName>
                                        </p:attrNameLst>
                                      </p:cBhvr>
                                      <p:tavLst>
                                        <p:tav tm="0">
                                          <p:val>
                                            <p:fltVal val="0"/>
                                          </p:val>
                                        </p:tav>
                                        <p:tav tm="100000">
                                          <p:val>
                                            <p:strVal val="#ppt_w"/>
                                          </p:val>
                                        </p:tav>
                                      </p:tavLst>
                                    </p:anim>
                                    <p:anim calcmode="lin" valueType="num">
                                      <p:cBhvr>
                                        <p:cTn id="126" dur="500" fill="hold"/>
                                        <p:tgtEl>
                                          <p:spTgt spid="42"/>
                                        </p:tgtEl>
                                        <p:attrNameLst>
                                          <p:attrName>ppt_h</p:attrName>
                                        </p:attrNameLst>
                                      </p:cBhvr>
                                      <p:tavLst>
                                        <p:tav tm="0">
                                          <p:val>
                                            <p:fltVal val="0"/>
                                          </p:val>
                                        </p:tav>
                                        <p:tav tm="100000">
                                          <p:val>
                                            <p:strVal val="#ppt_h"/>
                                          </p:val>
                                        </p:tav>
                                      </p:tavLst>
                                    </p:anim>
                                    <p:animEffect transition="in" filter="fade">
                                      <p:cBhvr>
                                        <p:cTn id="127" dur="500"/>
                                        <p:tgtEl>
                                          <p:spTgt spid="42"/>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wipe(left)">
                                      <p:cBhvr>
                                        <p:cTn id="132" dur="1000"/>
                                        <p:tgtEl>
                                          <p:spTgt spid="45"/>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0" fill="hold" nodeType="clickEffect">
                                  <p:stCondLst>
                                    <p:cond delay="0"/>
                                  </p:stCondLst>
                                  <p:childTnLst>
                                    <p:set>
                                      <p:cBhvr>
                                        <p:cTn id="136" dur="1" fill="hold">
                                          <p:stCondLst>
                                            <p:cond delay="0"/>
                                          </p:stCondLst>
                                        </p:cTn>
                                        <p:tgtEl>
                                          <p:spTgt spid="61"/>
                                        </p:tgtEl>
                                        <p:attrNameLst>
                                          <p:attrName>style.visibility</p:attrName>
                                        </p:attrNameLst>
                                      </p:cBhvr>
                                      <p:to>
                                        <p:strVal val="visible"/>
                                      </p:to>
                                    </p:set>
                                    <p:anim calcmode="lin" valueType="num">
                                      <p:cBhvr>
                                        <p:cTn id="137" dur="500" fill="hold"/>
                                        <p:tgtEl>
                                          <p:spTgt spid="61"/>
                                        </p:tgtEl>
                                        <p:attrNameLst>
                                          <p:attrName>ppt_w</p:attrName>
                                        </p:attrNameLst>
                                      </p:cBhvr>
                                      <p:tavLst>
                                        <p:tav tm="0">
                                          <p:val>
                                            <p:fltVal val="0"/>
                                          </p:val>
                                        </p:tav>
                                        <p:tav tm="100000">
                                          <p:val>
                                            <p:strVal val="#ppt_w"/>
                                          </p:val>
                                        </p:tav>
                                      </p:tavLst>
                                    </p:anim>
                                    <p:anim calcmode="lin" valueType="num">
                                      <p:cBhvr>
                                        <p:cTn id="138" dur="500" fill="hold"/>
                                        <p:tgtEl>
                                          <p:spTgt spid="61"/>
                                        </p:tgtEl>
                                        <p:attrNameLst>
                                          <p:attrName>ppt_h</p:attrName>
                                        </p:attrNameLst>
                                      </p:cBhvr>
                                      <p:tavLst>
                                        <p:tav tm="0">
                                          <p:val>
                                            <p:fltVal val="0"/>
                                          </p:val>
                                        </p:tav>
                                        <p:tav tm="100000">
                                          <p:val>
                                            <p:strVal val="#ppt_h"/>
                                          </p:val>
                                        </p:tav>
                                      </p:tavLst>
                                    </p:anim>
                                    <p:animEffect transition="in" filter="fade">
                                      <p:cBhvr>
                                        <p:cTn id="139" dur="500"/>
                                        <p:tgtEl>
                                          <p:spTgt spid="61"/>
                                        </p:tgtEl>
                                      </p:cBhvr>
                                    </p:animEffect>
                                  </p:childTnLst>
                                </p:cTn>
                              </p:par>
                            </p:childTnLst>
                          </p:cTn>
                        </p:par>
                        <p:par>
                          <p:cTn id="140" fill="hold">
                            <p:stCondLst>
                              <p:cond delay="500"/>
                            </p:stCondLst>
                            <p:childTnLst>
                              <p:par>
                                <p:cTn id="141" presetID="22" presetClass="entr" presetSubtype="8" fill="hold" nodeType="afterEffect">
                                  <p:stCondLst>
                                    <p:cond delay="0"/>
                                  </p:stCondLst>
                                  <p:childTnLst>
                                    <p:set>
                                      <p:cBhvr>
                                        <p:cTn id="142" dur="1" fill="hold">
                                          <p:stCondLst>
                                            <p:cond delay="0"/>
                                          </p:stCondLst>
                                        </p:cTn>
                                        <p:tgtEl>
                                          <p:spTgt spid="46"/>
                                        </p:tgtEl>
                                        <p:attrNameLst>
                                          <p:attrName>style.visibility</p:attrName>
                                        </p:attrNameLst>
                                      </p:cBhvr>
                                      <p:to>
                                        <p:strVal val="visible"/>
                                      </p:to>
                                    </p:set>
                                    <p:animEffect transition="in" filter="wipe(left)">
                                      <p:cBhvr>
                                        <p:cTn id="143" dur="500"/>
                                        <p:tgtEl>
                                          <p:spTgt spid="46"/>
                                        </p:tgtEl>
                                      </p:cBhvr>
                                    </p:animEffect>
                                  </p:childTnLst>
                                </p:cTn>
                              </p:par>
                            </p:childTnLst>
                          </p:cTn>
                        </p:par>
                      </p:childTnLst>
                    </p:cTn>
                  </p:par>
                  <p:par>
                    <p:cTn id="144" fill="hold">
                      <p:stCondLst>
                        <p:cond delay="indefinite"/>
                      </p:stCondLst>
                      <p:childTnLst>
                        <p:par>
                          <p:cTn id="145" fill="hold">
                            <p:stCondLst>
                              <p:cond delay="0"/>
                            </p:stCondLst>
                            <p:childTnLst>
                              <p:par>
                                <p:cTn id="146" presetID="53" presetClass="entr" presetSubtype="0" fill="hold" nodeType="clickEffect">
                                  <p:stCondLst>
                                    <p:cond delay="0"/>
                                  </p:stCondLst>
                                  <p:childTnLst>
                                    <p:set>
                                      <p:cBhvr>
                                        <p:cTn id="147" dur="1" fill="hold">
                                          <p:stCondLst>
                                            <p:cond delay="0"/>
                                          </p:stCondLst>
                                        </p:cTn>
                                        <p:tgtEl>
                                          <p:spTgt spid="47"/>
                                        </p:tgtEl>
                                        <p:attrNameLst>
                                          <p:attrName>style.visibility</p:attrName>
                                        </p:attrNameLst>
                                      </p:cBhvr>
                                      <p:to>
                                        <p:strVal val="visible"/>
                                      </p:to>
                                    </p:set>
                                    <p:anim calcmode="lin" valueType="num">
                                      <p:cBhvr>
                                        <p:cTn id="148" dur="500" fill="hold"/>
                                        <p:tgtEl>
                                          <p:spTgt spid="47"/>
                                        </p:tgtEl>
                                        <p:attrNameLst>
                                          <p:attrName>ppt_w</p:attrName>
                                        </p:attrNameLst>
                                      </p:cBhvr>
                                      <p:tavLst>
                                        <p:tav tm="0">
                                          <p:val>
                                            <p:fltVal val="0"/>
                                          </p:val>
                                        </p:tav>
                                        <p:tav tm="100000">
                                          <p:val>
                                            <p:strVal val="#ppt_w"/>
                                          </p:val>
                                        </p:tav>
                                      </p:tavLst>
                                    </p:anim>
                                    <p:anim calcmode="lin" valueType="num">
                                      <p:cBhvr>
                                        <p:cTn id="149" dur="500" fill="hold"/>
                                        <p:tgtEl>
                                          <p:spTgt spid="47"/>
                                        </p:tgtEl>
                                        <p:attrNameLst>
                                          <p:attrName>ppt_h</p:attrName>
                                        </p:attrNameLst>
                                      </p:cBhvr>
                                      <p:tavLst>
                                        <p:tav tm="0">
                                          <p:val>
                                            <p:fltVal val="0"/>
                                          </p:val>
                                        </p:tav>
                                        <p:tav tm="100000">
                                          <p:val>
                                            <p:strVal val="#ppt_h"/>
                                          </p:val>
                                        </p:tav>
                                      </p:tavLst>
                                    </p:anim>
                                    <p:animEffect transition="in" filter="fade">
                                      <p:cBhvr>
                                        <p:cTn id="150" dur="500"/>
                                        <p:tgtEl>
                                          <p:spTgt spid="47"/>
                                        </p:tgtEl>
                                      </p:cBhvr>
                                    </p:animEffect>
                                  </p:childTnLst>
                                </p:cTn>
                              </p:par>
                            </p:childTnLst>
                          </p:cTn>
                        </p:par>
                        <p:par>
                          <p:cTn id="151" fill="hold">
                            <p:stCondLst>
                              <p:cond delay="500"/>
                            </p:stCondLst>
                            <p:childTnLst>
                              <p:par>
                                <p:cTn id="152" presetID="22" presetClass="entr" presetSubtype="8" fill="hold" grpId="0" nodeType="afterEffect">
                                  <p:stCondLst>
                                    <p:cond delay="0"/>
                                  </p:stCondLst>
                                  <p:childTnLst>
                                    <p:set>
                                      <p:cBhvr>
                                        <p:cTn id="153" dur="1" fill="hold">
                                          <p:stCondLst>
                                            <p:cond delay="0"/>
                                          </p:stCondLst>
                                        </p:cTn>
                                        <p:tgtEl>
                                          <p:spTgt spid="50"/>
                                        </p:tgtEl>
                                        <p:attrNameLst>
                                          <p:attrName>style.visibility</p:attrName>
                                        </p:attrNameLst>
                                      </p:cBhvr>
                                      <p:to>
                                        <p:strVal val="visible"/>
                                      </p:to>
                                    </p:set>
                                    <p:animEffect transition="in" filter="wipe(left)">
                                      <p:cBhvr>
                                        <p:cTn id="154" dur="1000"/>
                                        <p:tgtEl>
                                          <p:spTgt spid="50"/>
                                        </p:tgtEl>
                                      </p:cBhvr>
                                    </p:animEffect>
                                  </p:childTnLst>
                                </p:cTn>
                              </p:par>
                            </p:childTnLst>
                          </p:cTn>
                        </p:par>
                        <p:par>
                          <p:cTn id="155" fill="hold">
                            <p:stCondLst>
                              <p:cond delay="1500"/>
                            </p:stCondLst>
                            <p:childTnLst>
                              <p:par>
                                <p:cTn id="156" presetID="22" presetClass="entr" presetSubtype="8" fill="hold" grpId="0" nodeType="afterEffect">
                                  <p:stCondLst>
                                    <p:cond delay="0"/>
                                  </p:stCondLst>
                                  <p:childTnLst>
                                    <p:set>
                                      <p:cBhvr>
                                        <p:cTn id="157" dur="1" fill="hold">
                                          <p:stCondLst>
                                            <p:cond delay="0"/>
                                          </p:stCondLst>
                                        </p:cTn>
                                        <p:tgtEl>
                                          <p:spTgt spid="51"/>
                                        </p:tgtEl>
                                        <p:attrNameLst>
                                          <p:attrName>style.visibility</p:attrName>
                                        </p:attrNameLst>
                                      </p:cBhvr>
                                      <p:to>
                                        <p:strVal val="visible"/>
                                      </p:to>
                                    </p:set>
                                    <p:animEffect transition="in" filter="wipe(left)">
                                      <p:cBhvr>
                                        <p:cTn id="158" dur="1000"/>
                                        <p:tgtEl>
                                          <p:spTgt spid="51"/>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52"/>
                                        </p:tgtEl>
                                        <p:attrNameLst>
                                          <p:attrName>style.visibility</p:attrName>
                                        </p:attrNameLst>
                                      </p:cBhvr>
                                      <p:to>
                                        <p:strVal val="visible"/>
                                      </p:to>
                                    </p:set>
                                    <p:animEffect transition="in" filter="wipe(left)">
                                      <p:cBhvr>
                                        <p:cTn id="163" dur="1000"/>
                                        <p:tgtEl>
                                          <p:spTgt spid="52"/>
                                        </p:tgtEl>
                                      </p:cBhvr>
                                    </p:animEffect>
                                  </p:childTnLst>
                                </p:cTn>
                              </p:par>
                            </p:childTnLst>
                          </p:cTn>
                        </p:par>
                      </p:childTnLst>
                    </p:cTn>
                  </p:par>
                  <p:par>
                    <p:cTn id="164" fill="hold">
                      <p:stCondLst>
                        <p:cond delay="indefinite"/>
                      </p:stCondLst>
                      <p:childTnLst>
                        <p:par>
                          <p:cTn id="165" fill="hold">
                            <p:stCondLst>
                              <p:cond delay="0"/>
                            </p:stCondLst>
                            <p:childTnLst>
                              <p:par>
                                <p:cTn id="166" presetID="53" presetClass="entr" presetSubtype="0" fill="hold" nodeType="clickEffect">
                                  <p:stCondLst>
                                    <p:cond delay="0"/>
                                  </p:stCondLst>
                                  <p:childTnLst>
                                    <p:set>
                                      <p:cBhvr>
                                        <p:cTn id="167" dur="1" fill="hold">
                                          <p:stCondLst>
                                            <p:cond delay="0"/>
                                          </p:stCondLst>
                                        </p:cTn>
                                        <p:tgtEl>
                                          <p:spTgt spid="53"/>
                                        </p:tgtEl>
                                        <p:attrNameLst>
                                          <p:attrName>style.visibility</p:attrName>
                                        </p:attrNameLst>
                                      </p:cBhvr>
                                      <p:to>
                                        <p:strVal val="visible"/>
                                      </p:to>
                                    </p:set>
                                    <p:anim calcmode="lin" valueType="num">
                                      <p:cBhvr>
                                        <p:cTn id="168" dur="500" fill="hold"/>
                                        <p:tgtEl>
                                          <p:spTgt spid="53"/>
                                        </p:tgtEl>
                                        <p:attrNameLst>
                                          <p:attrName>ppt_w</p:attrName>
                                        </p:attrNameLst>
                                      </p:cBhvr>
                                      <p:tavLst>
                                        <p:tav tm="0">
                                          <p:val>
                                            <p:fltVal val="0"/>
                                          </p:val>
                                        </p:tav>
                                        <p:tav tm="100000">
                                          <p:val>
                                            <p:strVal val="#ppt_w"/>
                                          </p:val>
                                        </p:tav>
                                      </p:tavLst>
                                    </p:anim>
                                    <p:anim calcmode="lin" valueType="num">
                                      <p:cBhvr>
                                        <p:cTn id="169" dur="500" fill="hold"/>
                                        <p:tgtEl>
                                          <p:spTgt spid="53"/>
                                        </p:tgtEl>
                                        <p:attrNameLst>
                                          <p:attrName>ppt_h</p:attrName>
                                        </p:attrNameLst>
                                      </p:cBhvr>
                                      <p:tavLst>
                                        <p:tav tm="0">
                                          <p:val>
                                            <p:fltVal val="0"/>
                                          </p:val>
                                        </p:tav>
                                        <p:tav tm="100000">
                                          <p:val>
                                            <p:strVal val="#ppt_h"/>
                                          </p:val>
                                        </p:tav>
                                      </p:tavLst>
                                    </p:anim>
                                    <p:animEffect transition="in" filter="fade">
                                      <p:cBhvr>
                                        <p:cTn id="170" dur="500"/>
                                        <p:tgtEl>
                                          <p:spTgt spid="53"/>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56"/>
                                        </p:tgtEl>
                                        <p:attrNameLst>
                                          <p:attrName>style.visibility</p:attrName>
                                        </p:attrNameLst>
                                      </p:cBhvr>
                                      <p:to>
                                        <p:strVal val="visible"/>
                                      </p:to>
                                    </p:set>
                                    <p:animEffect transition="in" filter="wipe(left)">
                                      <p:cBhvr>
                                        <p:cTn id="175" dur="1000"/>
                                        <p:tgtEl>
                                          <p:spTgt spid="56"/>
                                        </p:tgtEl>
                                      </p:cBhvr>
                                    </p:animEffect>
                                  </p:childTnLst>
                                </p:cTn>
                              </p:par>
                            </p:childTnLst>
                          </p:cTn>
                        </p:par>
                      </p:childTnLst>
                    </p:cTn>
                  </p:par>
                  <p:par>
                    <p:cTn id="176" fill="hold">
                      <p:stCondLst>
                        <p:cond delay="indefinite"/>
                      </p:stCondLst>
                      <p:childTnLst>
                        <p:par>
                          <p:cTn id="177" fill="hold">
                            <p:stCondLst>
                              <p:cond delay="0"/>
                            </p:stCondLst>
                            <p:childTnLst>
                              <p:par>
                                <p:cTn id="178" presetID="53" presetClass="entr" presetSubtype="0" fill="hold" nodeType="clickEffect">
                                  <p:stCondLst>
                                    <p:cond delay="0"/>
                                  </p:stCondLst>
                                  <p:childTnLst>
                                    <p:set>
                                      <p:cBhvr>
                                        <p:cTn id="179" dur="1" fill="hold">
                                          <p:stCondLst>
                                            <p:cond delay="0"/>
                                          </p:stCondLst>
                                        </p:cTn>
                                        <p:tgtEl>
                                          <p:spTgt spid="58"/>
                                        </p:tgtEl>
                                        <p:attrNameLst>
                                          <p:attrName>style.visibility</p:attrName>
                                        </p:attrNameLst>
                                      </p:cBhvr>
                                      <p:to>
                                        <p:strVal val="visible"/>
                                      </p:to>
                                    </p:set>
                                    <p:anim calcmode="lin" valueType="num">
                                      <p:cBhvr>
                                        <p:cTn id="180" dur="500" fill="hold"/>
                                        <p:tgtEl>
                                          <p:spTgt spid="58"/>
                                        </p:tgtEl>
                                        <p:attrNameLst>
                                          <p:attrName>ppt_w</p:attrName>
                                        </p:attrNameLst>
                                      </p:cBhvr>
                                      <p:tavLst>
                                        <p:tav tm="0">
                                          <p:val>
                                            <p:fltVal val="0"/>
                                          </p:val>
                                        </p:tav>
                                        <p:tav tm="100000">
                                          <p:val>
                                            <p:strVal val="#ppt_w"/>
                                          </p:val>
                                        </p:tav>
                                      </p:tavLst>
                                    </p:anim>
                                    <p:anim calcmode="lin" valueType="num">
                                      <p:cBhvr>
                                        <p:cTn id="181" dur="500" fill="hold"/>
                                        <p:tgtEl>
                                          <p:spTgt spid="58"/>
                                        </p:tgtEl>
                                        <p:attrNameLst>
                                          <p:attrName>ppt_h</p:attrName>
                                        </p:attrNameLst>
                                      </p:cBhvr>
                                      <p:tavLst>
                                        <p:tav tm="0">
                                          <p:val>
                                            <p:fltVal val="0"/>
                                          </p:val>
                                        </p:tav>
                                        <p:tav tm="100000">
                                          <p:val>
                                            <p:strVal val="#ppt_h"/>
                                          </p:val>
                                        </p:tav>
                                      </p:tavLst>
                                    </p:anim>
                                    <p:animEffect transition="in" filter="fade">
                                      <p:cBhvr>
                                        <p:cTn id="182" dur="500"/>
                                        <p:tgtEl>
                                          <p:spTgt spid="58"/>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57"/>
                                        </p:tgtEl>
                                        <p:attrNameLst>
                                          <p:attrName>style.visibility</p:attrName>
                                        </p:attrNameLst>
                                      </p:cBhvr>
                                      <p:to>
                                        <p:strVal val="visible"/>
                                      </p:to>
                                    </p:set>
                                    <p:animEffect transition="in" filter="wipe(left)">
                                      <p:cBhvr>
                                        <p:cTn id="187" dur="1000"/>
                                        <p:tgtEl>
                                          <p:spTgt spid="57"/>
                                        </p:tgtEl>
                                      </p:cBhvr>
                                    </p:animEffect>
                                  </p:childTnLst>
                                </p:cTn>
                              </p:par>
                            </p:childTnLst>
                          </p:cTn>
                        </p:par>
                      </p:childTnLst>
                    </p:cTn>
                  </p:par>
                  <p:par>
                    <p:cTn id="188" fill="hold">
                      <p:stCondLst>
                        <p:cond delay="indefinite"/>
                      </p:stCondLst>
                      <p:childTnLst>
                        <p:par>
                          <p:cTn id="189" fill="hold">
                            <p:stCondLst>
                              <p:cond delay="0"/>
                            </p:stCondLst>
                            <p:childTnLst>
                              <p:par>
                                <p:cTn id="190" presetID="53" presetClass="entr" presetSubtype="0" fill="hold" nodeType="clickEffect">
                                  <p:stCondLst>
                                    <p:cond delay="0"/>
                                  </p:stCondLst>
                                  <p:childTnLst>
                                    <p:set>
                                      <p:cBhvr>
                                        <p:cTn id="191" dur="1" fill="hold">
                                          <p:stCondLst>
                                            <p:cond delay="0"/>
                                          </p:stCondLst>
                                        </p:cTn>
                                        <p:tgtEl>
                                          <p:spTgt spid="64"/>
                                        </p:tgtEl>
                                        <p:attrNameLst>
                                          <p:attrName>style.visibility</p:attrName>
                                        </p:attrNameLst>
                                      </p:cBhvr>
                                      <p:to>
                                        <p:strVal val="visible"/>
                                      </p:to>
                                    </p:set>
                                    <p:anim calcmode="lin" valueType="num">
                                      <p:cBhvr>
                                        <p:cTn id="192" dur="500" fill="hold"/>
                                        <p:tgtEl>
                                          <p:spTgt spid="64"/>
                                        </p:tgtEl>
                                        <p:attrNameLst>
                                          <p:attrName>ppt_w</p:attrName>
                                        </p:attrNameLst>
                                      </p:cBhvr>
                                      <p:tavLst>
                                        <p:tav tm="0">
                                          <p:val>
                                            <p:fltVal val="0"/>
                                          </p:val>
                                        </p:tav>
                                        <p:tav tm="100000">
                                          <p:val>
                                            <p:strVal val="#ppt_w"/>
                                          </p:val>
                                        </p:tav>
                                      </p:tavLst>
                                    </p:anim>
                                    <p:anim calcmode="lin" valueType="num">
                                      <p:cBhvr>
                                        <p:cTn id="193" dur="500" fill="hold"/>
                                        <p:tgtEl>
                                          <p:spTgt spid="64"/>
                                        </p:tgtEl>
                                        <p:attrNameLst>
                                          <p:attrName>ppt_h</p:attrName>
                                        </p:attrNameLst>
                                      </p:cBhvr>
                                      <p:tavLst>
                                        <p:tav tm="0">
                                          <p:val>
                                            <p:fltVal val="0"/>
                                          </p:val>
                                        </p:tav>
                                        <p:tav tm="100000">
                                          <p:val>
                                            <p:strVal val="#ppt_h"/>
                                          </p:val>
                                        </p:tav>
                                      </p:tavLst>
                                    </p:anim>
                                    <p:animEffect transition="in" filter="fade">
                                      <p:cBhvr>
                                        <p:cTn id="19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20" grpId="0"/>
      <p:bldP spid="21" grpId="0"/>
      <p:bldP spid="29" grpId="0"/>
      <p:bldP spid="30" grpId="0"/>
      <p:bldP spid="32" grpId="0"/>
      <p:bldP spid="33" grpId="0"/>
      <p:bldP spid="37" grpId="0"/>
      <p:bldP spid="38" grpId="0"/>
      <p:bldP spid="45" grpId="0"/>
      <p:bldP spid="50" grpId="0"/>
      <p:bldP spid="51" grpId="0"/>
      <p:bldP spid="52" grpId="0"/>
      <p:bldP spid="56" grpId="0"/>
      <p:bldP spid="57" grpId="0"/>
      <p:bldP spid="67" grpId="0" animBg="1"/>
      <p:bldP spid="68" grpId="0" animBg="1"/>
      <p:bldP spid="69" grpId="0" animBg="1"/>
      <p:bldP spid="7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0575" y="75150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25541" y="1277784"/>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88511"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55576" y="1277784"/>
            <a:ext cx="0" cy="5751616"/>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740352" y="0"/>
            <a:ext cx="1584176" cy="461665"/>
          </a:xfrm>
          <a:prstGeom prst="rect">
            <a:avLst/>
          </a:prstGeom>
          <a:noFill/>
        </p:spPr>
        <p:txBody>
          <a:bodyPr wrap="square" rtlCol="0">
            <a:spAutoFit/>
          </a:bodyPr>
          <a:lstStyle/>
          <a:p>
            <a:r>
              <a:rPr lang="en-AU" sz="2400" dirty="0"/>
              <a:t>Date</a:t>
            </a:r>
          </a:p>
        </p:txBody>
      </p:sp>
      <p:sp>
        <p:nvSpPr>
          <p:cNvPr id="10" name="Rectangle 9"/>
          <p:cNvSpPr/>
          <p:nvPr/>
        </p:nvSpPr>
        <p:spPr>
          <a:xfrm>
            <a:off x="97549" y="830997"/>
            <a:ext cx="9020910" cy="430887"/>
          </a:xfrm>
          <a:prstGeom prst="rect">
            <a:avLst/>
          </a:prstGeom>
        </p:spPr>
        <p:txBody>
          <a:bodyPr wrap="square">
            <a:spAutoFit/>
          </a:bodyPr>
          <a:lstStyle/>
          <a:p>
            <a:r>
              <a:rPr lang="en-AU" sz="2200" dirty="0"/>
              <a:t>EQ – How do I solve simultaneous equations using the elimination method? </a:t>
            </a:r>
          </a:p>
        </p:txBody>
      </p:sp>
      <p:sp>
        <p:nvSpPr>
          <p:cNvPr id="25" name="TextBox 24"/>
          <p:cNvSpPr txBox="1"/>
          <p:nvPr/>
        </p:nvSpPr>
        <p:spPr>
          <a:xfrm>
            <a:off x="950025" y="200055"/>
            <a:ext cx="6913944" cy="523220"/>
          </a:xfrm>
          <a:prstGeom prst="rect">
            <a:avLst/>
          </a:prstGeom>
          <a:noFill/>
        </p:spPr>
        <p:txBody>
          <a:bodyPr wrap="none" rtlCol="0">
            <a:spAutoFit/>
          </a:bodyPr>
          <a:lstStyle/>
          <a:p>
            <a:r>
              <a:rPr lang="en-AU" sz="2800" dirty="0"/>
              <a:t>Simultaneous equations – elimination method</a:t>
            </a:r>
          </a:p>
        </p:txBody>
      </p:sp>
      <p:sp>
        <p:nvSpPr>
          <p:cNvPr id="12" name="TextBox 11">
            <a:extLst>
              <a:ext uri="{FF2B5EF4-FFF2-40B4-BE49-F238E27FC236}">
                <a16:creationId xmlns:a16="http://schemas.microsoft.com/office/drawing/2014/main" id="{52288CA5-EC49-472D-9F4A-8111538F6AC0}"/>
              </a:ext>
            </a:extLst>
          </p:cNvPr>
          <p:cNvSpPr txBox="1"/>
          <p:nvPr/>
        </p:nvSpPr>
        <p:spPr>
          <a:xfrm>
            <a:off x="585339" y="1444000"/>
            <a:ext cx="3986661" cy="276999"/>
          </a:xfrm>
          <a:prstGeom prst="rect">
            <a:avLst/>
          </a:prstGeom>
          <a:noFill/>
        </p:spPr>
        <p:txBody>
          <a:bodyPr wrap="square" rtlCol="0">
            <a:spAutoFit/>
          </a:bodyPr>
          <a:lstStyle/>
          <a:p>
            <a:pPr algn="ctr"/>
            <a:r>
              <a:rPr lang="en-GB" sz="1200" b="1" dirty="0">
                <a:latin typeface="Arial" pitchFamily="34" charset="0"/>
                <a:cs typeface="Arial" pitchFamily="34" charset="0"/>
              </a:rPr>
              <a:t>Example 7:  Solve these simultaneous equations:</a:t>
            </a:r>
            <a:endParaRPr lang="en-GB" sz="1200" b="1" i="1" dirty="0">
              <a:latin typeface="Arial" pitchFamily="34" charset="0"/>
              <a:cs typeface="Arial" pitchFamily="34" charset="0"/>
            </a:endParaRPr>
          </a:p>
        </p:txBody>
      </p:sp>
      <p:sp>
        <p:nvSpPr>
          <p:cNvPr id="13" name="TextBox 12">
            <a:extLst>
              <a:ext uri="{FF2B5EF4-FFF2-40B4-BE49-F238E27FC236}">
                <a16:creationId xmlns:a16="http://schemas.microsoft.com/office/drawing/2014/main" id="{B967E927-216C-4204-9B57-4E7D64F265CC}"/>
              </a:ext>
            </a:extLst>
          </p:cNvPr>
          <p:cNvSpPr txBox="1"/>
          <p:nvPr/>
        </p:nvSpPr>
        <p:spPr>
          <a:xfrm>
            <a:off x="973643" y="1798286"/>
            <a:ext cx="3062736" cy="400110"/>
          </a:xfrm>
          <a:prstGeom prst="rect">
            <a:avLst/>
          </a:prstGeom>
          <a:noFill/>
        </p:spPr>
        <p:txBody>
          <a:bodyPr wrap="square" rtlCol="0">
            <a:spAutoFit/>
          </a:bodyPr>
          <a:lstStyle/>
          <a:p>
            <a:r>
              <a:rPr lang="en-GB" sz="2000" b="1" dirty="0">
                <a:latin typeface="Arial" pitchFamily="34" charset="0"/>
                <a:cs typeface="Arial" pitchFamily="34" charset="0"/>
              </a:rPr>
              <a:t>8</a:t>
            </a:r>
            <a:r>
              <a:rPr lang="en-GB" sz="2000" b="1" i="1" dirty="0">
                <a:latin typeface="Arial" pitchFamily="34" charset="0"/>
                <a:cs typeface="Arial" pitchFamily="34" charset="0"/>
              </a:rPr>
              <a:t>x</a:t>
            </a:r>
            <a:r>
              <a:rPr lang="en-GB" sz="2000" b="1" dirty="0">
                <a:latin typeface="Arial" pitchFamily="34" charset="0"/>
                <a:cs typeface="Arial" pitchFamily="34" charset="0"/>
              </a:rPr>
              <a:t>  -  5</a:t>
            </a:r>
            <a:r>
              <a:rPr lang="en-GB" sz="2000" b="1" i="1" dirty="0">
                <a:latin typeface="Arial" pitchFamily="34" charset="0"/>
                <a:cs typeface="Arial" pitchFamily="34" charset="0"/>
              </a:rPr>
              <a:t>y</a:t>
            </a:r>
            <a:r>
              <a:rPr lang="en-GB" sz="2000" b="1" dirty="0">
                <a:latin typeface="Arial" pitchFamily="34" charset="0"/>
                <a:cs typeface="Arial" pitchFamily="34" charset="0"/>
              </a:rPr>
              <a:t>   =   82</a:t>
            </a:r>
          </a:p>
        </p:txBody>
      </p:sp>
      <p:sp>
        <p:nvSpPr>
          <p:cNvPr id="14" name="TextBox 13">
            <a:extLst>
              <a:ext uri="{FF2B5EF4-FFF2-40B4-BE49-F238E27FC236}">
                <a16:creationId xmlns:a16="http://schemas.microsoft.com/office/drawing/2014/main" id="{EC430F6B-865B-4B68-84DF-2D9C808C9AEB}"/>
              </a:ext>
            </a:extLst>
          </p:cNvPr>
          <p:cNvSpPr txBox="1"/>
          <p:nvPr/>
        </p:nvSpPr>
        <p:spPr>
          <a:xfrm>
            <a:off x="973643" y="2140695"/>
            <a:ext cx="3062736" cy="400110"/>
          </a:xfrm>
          <a:prstGeom prst="rect">
            <a:avLst/>
          </a:prstGeom>
          <a:noFill/>
        </p:spPr>
        <p:txBody>
          <a:bodyPr wrap="square" rtlCol="0">
            <a:spAutoFit/>
          </a:bodyPr>
          <a:lstStyle/>
          <a:p>
            <a:r>
              <a:rPr lang="en-GB" sz="2000" b="1" dirty="0">
                <a:latin typeface="Arial" pitchFamily="34" charset="0"/>
                <a:cs typeface="Arial" pitchFamily="34" charset="0"/>
              </a:rPr>
              <a:t>5</a:t>
            </a:r>
            <a:r>
              <a:rPr lang="en-GB" sz="2000" b="1" i="1" dirty="0">
                <a:latin typeface="Arial" pitchFamily="34" charset="0"/>
                <a:cs typeface="Arial" pitchFamily="34" charset="0"/>
              </a:rPr>
              <a:t>x</a:t>
            </a:r>
            <a:r>
              <a:rPr lang="en-GB" sz="2000" b="1" dirty="0">
                <a:latin typeface="Arial" pitchFamily="34" charset="0"/>
                <a:cs typeface="Arial" pitchFamily="34" charset="0"/>
              </a:rPr>
              <a:t>  -  2</a:t>
            </a:r>
            <a:r>
              <a:rPr lang="en-GB" sz="2000" b="1" i="1" dirty="0">
                <a:latin typeface="Arial" pitchFamily="34" charset="0"/>
                <a:cs typeface="Arial" pitchFamily="34" charset="0"/>
              </a:rPr>
              <a:t>y</a:t>
            </a:r>
            <a:r>
              <a:rPr lang="en-GB" sz="2000" b="1" dirty="0">
                <a:latin typeface="Arial" pitchFamily="34" charset="0"/>
                <a:cs typeface="Arial" pitchFamily="34" charset="0"/>
              </a:rPr>
              <a:t>   =   49</a:t>
            </a:r>
          </a:p>
        </p:txBody>
      </p:sp>
      <p:grpSp>
        <p:nvGrpSpPr>
          <p:cNvPr id="15" name="Group 242">
            <a:extLst>
              <a:ext uri="{FF2B5EF4-FFF2-40B4-BE49-F238E27FC236}">
                <a16:creationId xmlns:a16="http://schemas.microsoft.com/office/drawing/2014/main" id="{95E30705-7C8F-4635-B828-B0D72B811668}"/>
              </a:ext>
            </a:extLst>
          </p:cNvPr>
          <p:cNvGrpSpPr/>
          <p:nvPr/>
        </p:nvGrpSpPr>
        <p:grpSpPr>
          <a:xfrm>
            <a:off x="5685367" y="1525588"/>
            <a:ext cx="3372591" cy="318155"/>
            <a:chOff x="5474525" y="1938441"/>
            <a:chExt cx="3372591" cy="391879"/>
          </a:xfrm>
        </p:grpSpPr>
        <p:sp>
          <p:nvSpPr>
            <p:cNvPr id="16" name="Rounded Rectangle 219">
              <a:extLst>
                <a:ext uri="{FF2B5EF4-FFF2-40B4-BE49-F238E27FC236}">
                  <a16:creationId xmlns:a16="http://schemas.microsoft.com/office/drawing/2014/main" id="{41B20375-F42E-4666-A5C5-31D4DA82F67E}"/>
                </a:ext>
              </a:extLst>
            </p:cNvPr>
            <p:cNvSpPr/>
            <p:nvPr/>
          </p:nvSpPr>
          <p:spPr>
            <a:xfrm>
              <a:off x="5474525" y="1938441"/>
              <a:ext cx="3372591" cy="39187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17" name="TextBox 16">
              <a:extLst>
                <a:ext uri="{FF2B5EF4-FFF2-40B4-BE49-F238E27FC236}">
                  <a16:creationId xmlns:a16="http://schemas.microsoft.com/office/drawing/2014/main" id="{D2C3A1CA-39DD-48C2-844C-5E1B3B46EB06}"/>
                </a:ext>
              </a:extLst>
            </p:cNvPr>
            <p:cNvSpPr txBox="1"/>
            <p:nvPr/>
          </p:nvSpPr>
          <p:spPr>
            <a:xfrm>
              <a:off x="5594268" y="1963787"/>
              <a:ext cx="3146960" cy="341186"/>
            </a:xfrm>
            <a:prstGeom prst="rect">
              <a:avLst/>
            </a:prstGeom>
            <a:noFill/>
          </p:spPr>
          <p:txBody>
            <a:bodyPr wrap="square" rtlCol="0">
              <a:spAutoFit/>
            </a:bodyPr>
            <a:lstStyle/>
            <a:p>
              <a:pPr algn="ctr"/>
              <a:r>
                <a:rPr lang="en-GB" sz="1200" b="1" dirty="0">
                  <a:latin typeface="Arial" pitchFamily="34" charset="0"/>
                  <a:cs typeface="Arial" pitchFamily="34" charset="0"/>
                </a:rPr>
                <a:t>First we label the equations  (1) and (2)</a:t>
              </a:r>
              <a:endParaRPr lang="en-GB" sz="1200" b="1" i="1" dirty="0">
                <a:latin typeface="Arial" pitchFamily="34" charset="0"/>
                <a:cs typeface="Arial" pitchFamily="34" charset="0"/>
              </a:endParaRPr>
            </a:p>
          </p:txBody>
        </p:sp>
      </p:grpSp>
      <p:cxnSp>
        <p:nvCxnSpPr>
          <p:cNvPr id="18" name="Straight Connector 17">
            <a:extLst>
              <a:ext uri="{FF2B5EF4-FFF2-40B4-BE49-F238E27FC236}">
                <a16:creationId xmlns:a16="http://schemas.microsoft.com/office/drawing/2014/main" id="{7F0D73F0-4AFA-4989-BAE5-3874D339464E}"/>
              </a:ext>
            </a:extLst>
          </p:cNvPr>
          <p:cNvCxnSpPr/>
          <p:nvPr/>
        </p:nvCxnSpPr>
        <p:spPr>
          <a:xfrm>
            <a:off x="984413" y="2562445"/>
            <a:ext cx="263632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8BEFADE-046B-4C69-8EF6-23FAFBA09CA9}"/>
              </a:ext>
            </a:extLst>
          </p:cNvPr>
          <p:cNvSpPr txBox="1"/>
          <p:nvPr/>
        </p:nvSpPr>
        <p:spPr>
          <a:xfrm>
            <a:off x="3826696" y="1798286"/>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20" name="TextBox 19">
            <a:extLst>
              <a:ext uri="{FF2B5EF4-FFF2-40B4-BE49-F238E27FC236}">
                <a16:creationId xmlns:a16="http://schemas.microsoft.com/office/drawing/2014/main" id="{90D41398-C866-4BE0-B837-1EE0DC256412}"/>
              </a:ext>
            </a:extLst>
          </p:cNvPr>
          <p:cNvSpPr txBox="1"/>
          <p:nvPr/>
        </p:nvSpPr>
        <p:spPr>
          <a:xfrm>
            <a:off x="3826696" y="2140695"/>
            <a:ext cx="1366544"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(2)</a:t>
            </a:r>
          </a:p>
        </p:txBody>
      </p:sp>
      <p:grpSp>
        <p:nvGrpSpPr>
          <p:cNvPr id="21" name="Group 249">
            <a:extLst>
              <a:ext uri="{FF2B5EF4-FFF2-40B4-BE49-F238E27FC236}">
                <a16:creationId xmlns:a16="http://schemas.microsoft.com/office/drawing/2014/main" id="{8C9B3A84-59C0-4482-81B6-4D0F01C0323A}"/>
              </a:ext>
            </a:extLst>
          </p:cNvPr>
          <p:cNvGrpSpPr/>
          <p:nvPr/>
        </p:nvGrpSpPr>
        <p:grpSpPr>
          <a:xfrm>
            <a:off x="5685367" y="1959168"/>
            <a:ext cx="3372591" cy="461665"/>
            <a:chOff x="5474525" y="1996717"/>
            <a:chExt cx="3372591" cy="699811"/>
          </a:xfrm>
        </p:grpSpPr>
        <p:sp>
          <p:nvSpPr>
            <p:cNvPr id="22" name="Rounded Rectangle 251">
              <a:extLst>
                <a:ext uri="{FF2B5EF4-FFF2-40B4-BE49-F238E27FC236}">
                  <a16:creationId xmlns:a16="http://schemas.microsoft.com/office/drawing/2014/main" id="{C7DC8FC5-849C-4A92-8F49-D6C097DD02A7}"/>
                </a:ext>
              </a:extLst>
            </p:cNvPr>
            <p:cNvSpPr/>
            <p:nvPr/>
          </p:nvSpPr>
          <p:spPr>
            <a:xfrm>
              <a:off x="5474525" y="2010227"/>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3" name="TextBox 22">
              <a:extLst>
                <a:ext uri="{FF2B5EF4-FFF2-40B4-BE49-F238E27FC236}">
                  <a16:creationId xmlns:a16="http://schemas.microsoft.com/office/drawing/2014/main" id="{3F94C751-D5DF-4910-9F6F-639BB14C6E59}"/>
                </a:ext>
              </a:extLst>
            </p:cNvPr>
            <p:cNvSpPr txBox="1"/>
            <p:nvPr/>
          </p:nvSpPr>
          <p:spPr>
            <a:xfrm>
              <a:off x="5605153" y="1996717"/>
              <a:ext cx="3111335" cy="699811"/>
            </a:xfrm>
            <a:prstGeom prst="rect">
              <a:avLst/>
            </a:prstGeom>
            <a:noFill/>
          </p:spPr>
          <p:txBody>
            <a:bodyPr wrap="square" rtlCol="0">
              <a:spAutoFit/>
            </a:bodyPr>
            <a:lstStyle/>
            <a:p>
              <a:pPr algn="ctr"/>
              <a:r>
                <a:rPr lang="en-GB" sz="1200" b="1" dirty="0">
                  <a:latin typeface="Arial" pitchFamily="34" charset="0"/>
                  <a:cs typeface="Arial" pitchFamily="34" charset="0"/>
                </a:rPr>
                <a:t>Now we will make the numbers in front of </a:t>
              </a:r>
              <a:r>
                <a:rPr lang="en-GB" sz="1200" b="1" i="1" dirty="0">
                  <a:latin typeface="Arial" pitchFamily="34" charset="0"/>
                  <a:cs typeface="Arial" pitchFamily="34" charset="0"/>
                </a:rPr>
                <a:t>y</a:t>
              </a:r>
              <a:r>
                <a:rPr lang="en-GB" sz="1200" b="1" dirty="0">
                  <a:latin typeface="Arial" pitchFamily="34" charset="0"/>
                  <a:cs typeface="Arial" pitchFamily="34" charset="0"/>
                </a:rPr>
                <a:t> the same in both equations.</a:t>
              </a:r>
              <a:endParaRPr lang="en-GB" sz="1200" b="1" i="1" dirty="0">
                <a:latin typeface="Arial" pitchFamily="34" charset="0"/>
                <a:cs typeface="Arial" pitchFamily="34" charset="0"/>
              </a:endParaRPr>
            </a:p>
          </p:txBody>
        </p:sp>
      </p:grpSp>
      <p:grpSp>
        <p:nvGrpSpPr>
          <p:cNvPr id="24" name="Group 261">
            <a:extLst>
              <a:ext uri="{FF2B5EF4-FFF2-40B4-BE49-F238E27FC236}">
                <a16:creationId xmlns:a16="http://schemas.microsoft.com/office/drawing/2014/main" id="{A70251C7-BB87-4199-A7F2-10B058E9CFCB}"/>
              </a:ext>
            </a:extLst>
          </p:cNvPr>
          <p:cNvGrpSpPr/>
          <p:nvPr/>
        </p:nvGrpSpPr>
        <p:grpSpPr>
          <a:xfrm>
            <a:off x="5685367" y="2536192"/>
            <a:ext cx="3372591" cy="728541"/>
            <a:chOff x="5474525" y="1951939"/>
            <a:chExt cx="3372591" cy="870848"/>
          </a:xfrm>
        </p:grpSpPr>
        <p:sp>
          <p:nvSpPr>
            <p:cNvPr id="26" name="Rounded Rectangle 262">
              <a:extLst>
                <a:ext uri="{FF2B5EF4-FFF2-40B4-BE49-F238E27FC236}">
                  <a16:creationId xmlns:a16="http://schemas.microsoft.com/office/drawing/2014/main" id="{4F953661-CE0A-4F3B-A5D6-17A8F69E69F7}"/>
                </a:ext>
              </a:extLst>
            </p:cNvPr>
            <p:cNvSpPr/>
            <p:nvPr/>
          </p:nvSpPr>
          <p:spPr>
            <a:xfrm>
              <a:off x="5474525" y="1951939"/>
              <a:ext cx="3372591" cy="870848"/>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27" name="TextBox 26">
              <a:extLst>
                <a:ext uri="{FF2B5EF4-FFF2-40B4-BE49-F238E27FC236}">
                  <a16:creationId xmlns:a16="http://schemas.microsoft.com/office/drawing/2014/main" id="{B0B10926-23A8-4EB8-9E2B-C7EB6E637F85}"/>
                </a:ext>
              </a:extLst>
            </p:cNvPr>
            <p:cNvSpPr txBox="1"/>
            <p:nvPr/>
          </p:nvSpPr>
          <p:spPr>
            <a:xfrm>
              <a:off x="5605153" y="2001073"/>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To do this, first we multiply every term in equation (1) by </a:t>
              </a:r>
              <a:r>
                <a:rPr lang="en-GB" sz="1200" b="1" dirty="0">
                  <a:solidFill>
                    <a:srgbClr val="C00000"/>
                  </a:solidFill>
                  <a:latin typeface="Arial" pitchFamily="34" charset="0"/>
                  <a:cs typeface="Arial" pitchFamily="34" charset="0"/>
                </a:rPr>
                <a:t>2</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2).</a:t>
              </a:r>
              <a:endParaRPr lang="en-GB" sz="1200" b="1" i="1" dirty="0">
                <a:latin typeface="Arial" pitchFamily="34" charset="0"/>
                <a:cs typeface="Arial" pitchFamily="34" charset="0"/>
              </a:endParaRPr>
            </a:p>
          </p:txBody>
        </p:sp>
      </p:grpSp>
      <p:sp>
        <p:nvSpPr>
          <p:cNvPr id="28" name="TextBox 27">
            <a:extLst>
              <a:ext uri="{FF2B5EF4-FFF2-40B4-BE49-F238E27FC236}">
                <a16:creationId xmlns:a16="http://schemas.microsoft.com/office/drawing/2014/main" id="{EF267B1D-5B2F-4C15-B202-EC460AC1FF4B}"/>
              </a:ext>
            </a:extLst>
          </p:cNvPr>
          <p:cNvSpPr txBox="1"/>
          <p:nvPr/>
        </p:nvSpPr>
        <p:spPr>
          <a:xfrm>
            <a:off x="983543" y="2589586"/>
            <a:ext cx="3062736" cy="400110"/>
          </a:xfrm>
          <a:prstGeom prst="rect">
            <a:avLst/>
          </a:prstGeom>
          <a:noFill/>
        </p:spPr>
        <p:txBody>
          <a:bodyPr wrap="square" rtlCol="0">
            <a:spAutoFit/>
          </a:bodyPr>
          <a:lstStyle/>
          <a:p>
            <a:r>
              <a:rPr lang="en-GB" sz="2000" b="1" dirty="0">
                <a:latin typeface="Arial" pitchFamily="34" charset="0"/>
                <a:cs typeface="Arial" pitchFamily="34" charset="0"/>
              </a:rPr>
              <a:t> 16</a:t>
            </a:r>
            <a:r>
              <a:rPr lang="en-GB" sz="2000" b="1" i="1" dirty="0">
                <a:latin typeface="Arial" pitchFamily="34" charset="0"/>
                <a:cs typeface="Arial" pitchFamily="34" charset="0"/>
              </a:rPr>
              <a:t>x</a:t>
            </a:r>
            <a:r>
              <a:rPr lang="en-GB" sz="2000" b="1" dirty="0">
                <a:latin typeface="Arial" pitchFamily="34" charset="0"/>
                <a:cs typeface="Arial" pitchFamily="34" charset="0"/>
              </a:rPr>
              <a:t>  -  10</a:t>
            </a:r>
            <a:r>
              <a:rPr lang="en-GB" sz="2000" b="1" i="1" dirty="0">
                <a:latin typeface="Arial" pitchFamily="34" charset="0"/>
                <a:cs typeface="Arial" pitchFamily="34" charset="0"/>
              </a:rPr>
              <a:t>y</a:t>
            </a:r>
            <a:r>
              <a:rPr lang="en-GB" sz="2000" b="1" dirty="0">
                <a:latin typeface="Arial" pitchFamily="34" charset="0"/>
                <a:cs typeface="Arial" pitchFamily="34" charset="0"/>
              </a:rPr>
              <a:t>   =   164</a:t>
            </a:r>
          </a:p>
        </p:txBody>
      </p:sp>
      <p:sp>
        <p:nvSpPr>
          <p:cNvPr id="29" name="TextBox 28">
            <a:extLst>
              <a:ext uri="{FF2B5EF4-FFF2-40B4-BE49-F238E27FC236}">
                <a16:creationId xmlns:a16="http://schemas.microsoft.com/office/drawing/2014/main" id="{26F44A06-B9F2-4EA3-A173-CAE0190FF0DF}"/>
              </a:ext>
            </a:extLst>
          </p:cNvPr>
          <p:cNvSpPr txBox="1"/>
          <p:nvPr/>
        </p:nvSpPr>
        <p:spPr>
          <a:xfrm>
            <a:off x="1029065" y="2931995"/>
            <a:ext cx="3062736" cy="400110"/>
          </a:xfrm>
          <a:prstGeom prst="rect">
            <a:avLst/>
          </a:prstGeom>
          <a:noFill/>
        </p:spPr>
        <p:txBody>
          <a:bodyPr wrap="square" rtlCol="0">
            <a:spAutoFit/>
          </a:bodyPr>
          <a:lstStyle/>
          <a:p>
            <a:r>
              <a:rPr lang="en-GB" sz="2000" b="1" dirty="0">
                <a:latin typeface="Arial" pitchFamily="34" charset="0"/>
                <a:cs typeface="Arial" pitchFamily="34" charset="0"/>
              </a:rPr>
              <a:t>25</a:t>
            </a:r>
            <a:r>
              <a:rPr lang="en-GB" sz="2000" b="1" i="1" dirty="0">
                <a:latin typeface="Arial" pitchFamily="34" charset="0"/>
                <a:cs typeface="Arial" pitchFamily="34" charset="0"/>
              </a:rPr>
              <a:t>x</a:t>
            </a:r>
            <a:r>
              <a:rPr lang="en-GB" sz="2000" b="1" dirty="0">
                <a:latin typeface="Arial" pitchFamily="34" charset="0"/>
                <a:cs typeface="Arial" pitchFamily="34" charset="0"/>
              </a:rPr>
              <a:t>  -  10</a:t>
            </a:r>
            <a:r>
              <a:rPr lang="en-GB" sz="2000" b="1" i="1" dirty="0">
                <a:latin typeface="Arial" pitchFamily="34" charset="0"/>
                <a:cs typeface="Arial" pitchFamily="34" charset="0"/>
              </a:rPr>
              <a:t>y</a:t>
            </a:r>
            <a:r>
              <a:rPr lang="en-GB" sz="2000" b="1" dirty="0">
                <a:latin typeface="Arial" pitchFamily="34" charset="0"/>
                <a:cs typeface="Arial" pitchFamily="34" charset="0"/>
              </a:rPr>
              <a:t>   =   245</a:t>
            </a:r>
          </a:p>
        </p:txBody>
      </p:sp>
      <p:cxnSp>
        <p:nvCxnSpPr>
          <p:cNvPr id="30" name="Straight Connector 29">
            <a:extLst>
              <a:ext uri="{FF2B5EF4-FFF2-40B4-BE49-F238E27FC236}">
                <a16:creationId xmlns:a16="http://schemas.microsoft.com/office/drawing/2014/main" id="{98B70BA2-07E3-4EBD-AC3C-EF5A17729C04}"/>
              </a:ext>
            </a:extLst>
          </p:cNvPr>
          <p:cNvCxnSpPr/>
          <p:nvPr/>
        </p:nvCxnSpPr>
        <p:spPr>
          <a:xfrm>
            <a:off x="994313" y="3350991"/>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0B2A769-8C34-4FE4-983C-A6FAF920EA6C}"/>
              </a:ext>
            </a:extLst>
          </p:cNvPr>
          <p:cNvSpPr txBox="1"/>
          <p:nvPr/>
        </p:nvSpPr>
        <p:spPr>
          <a:xfrm>
            <a:off x="3826696" y="2589586"/>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C00000"/>
                </a:solidFill>
                <a:latin typeface="Arial" pitchFamily="34" charset="0"/>
                <a:cs typeface="Arial" pitchFamily="34" charset="0"/>
              </a:rPr>
              <a:t>2 </a:t>
            </a:r>
            <a:r>
              <a:rPr lang="en-GB" sz="2000" b="1" dirty="0">
                <a:solidFill>
                  <a:srgbClr val="793905"/>
                </a:solidFill>
                <a:latin typeface="Arial" pitchFamily="34" charset="0"/>
                <a:cs typeface="Arial" pitchFamily="34" charset="0"/>
              </a:rPr>
              <a:t>x (1)</a:t>
            </a:r>
          </a:p>
        </p:txBody>
      </p:sp>
      <p:sp>
        <p:nvSpPr>
          <p:cNvPr id="32" name="TextBox 31">
            <a:extLst>
              <a:ext uri="{FF2B5EF4-FFF2-40B4-BE49-F238E27FC236}">
                <a16:creationId xmlns:a16="http://schemas.microsoft.com/office/drawing/2014/main" id="{09207751-6B22-4714-A614-BE470EFF720B}"/>
              </a:ext>
            </a:extLst>
          </p:cNvPr>
          <p:cNvSpPr txBox="1"/>
          <p:nvPr/>
        </p:nvSpPr>
        <p:spPr>
          <a:xfrm>
            <a:off x="3826696" y="2931995"/>
            <a:ext cx="140252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a:t>
            </a:r>
            <a:r>
              <a:rPr lang="en-GB" sz="2000" b="1" dirty="0">
                <a:solidFill>
                  <a:srgbClr val="7030A0"/>
                </a:solidFill>
                <a:latin typeface="Arial" pitchFamily="34" charset="0"/>
                <a:cs typeface="Arial" pitchFamily="34" charset="0"/>
              </a:rPr>
              <a:t>5</a:t>
            </a:r>
            <a:r>
              <a:rPr lang="en-GB" sz="2000" b="1" dirty="0">
                <a:solidFill>
                  <a:srgbClr val="793905"/>
                </a:solidFill>
                <a:latin typeface="Arial" pitchFamily="34" charset="0"/>
                <a:cs typeface="Arial" pitchFamily="34" charset="0"/>
              </a:rPr>
              <a:t> x (2)</a:t>
            </a:r>
          </a:p>
        </p:txBody>
      </p:sp>
      <p:grpSp>
        <p:nvGrpSpPr>
          <p:cNvPr id="33" name="Group 269">
            <a:extLst>
              <a:ext uri="{FF2B5EF4-FFF2-40B4-BE49-F238E27FC236}">
                <a16:creationId xmlns:a16="http://schemas.microsoft.com/office/drawing/2014/main" id="{9B293063-8FAD-4CFD-A22A-E3FCC1838642}"/>
              </a:ext>
            </a:extLst>
          </p:cNvPr>
          <p:cNvGrpSpPr/>
          <p:nvPr/>
        </p:nvGrpSpPr>
        <p:grpSpPr>
          <a:xfrm>
            <a:off x="5685367" y="3356940"/>
            <a:ext cx="3372591" cy="728542"/>
            <a:chOff x="5474525" y="1951942"/>
            <a:chExt cx="3372591" cy="870849"/>
          </a:xfrm>
        </p:grpSpPr>
        <p:sp>
          <p:nvSpPr>
            <p:cNvPr id="34" name="Rounded Rectangle 270">
              <a:extLst>
                <a:ext uri="{FF2B5EF4-FFF2-40B4-BE49-F238E27FC236}">
                  <a16:creationId xmlns:a16="http://schemas.microsoft.com/office/drawing/2014/main" id="{EE54751E-28E4-411D-AB62-A5706262E406}"/>
                </a:ext>
              </a:extLst>
            </p:cNvPr>
            <p:cNvSpPr/>
            <p:nvPr/>
          </p:nvSpPr>
          <p:spPr>
            <a:xfrm>
              <a:off x="5474525" y="1951942"/>
              <a:ext cx="3372591" cy="870849"/>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35" name="TextBox 34">
              <a:extLst>
                <a:ext uri="{FF2B5EF4-FFF2-40B4-BE49-F238E27FC236}">
                  <a16:creationId xmlns:a16="http://schemas.microsoft.com/office/drawing/2014/main" id="{262C369B-247F-4CEA-BC8D-CE0F0AFA7501}"/>
                </a:ext>
              </a:extLst>
            </p:cNvPr>
            <p:cNvSpPr txBox="1"/>
            <p:nvPr/>
          </p:nvSpPr>
          <p:spPr>
            <a:xfrm>
              <a:off x="5605153" y="2001077"/>
              <a:ext cx="3111335" cy="772580"/>
            </a:xfrm>
            <a:prstGeom prst="rect">
              <a:avLst/>
            </a:prstGeom>
            <a:noFill/>
          </p:spPr>
          <p:txBody>
            <a:bodyPr wrap="square" rtlCol="0">
              <a:spAutoFit/>
            </a:bodyPr>
            <a:lstStyle/>
            <a:p>
              <a:pPr algn="ctr"/>
              <a:r>
                <a:rPr lang="en-GB" sz="1200" b="1" dirty="0">
                  <a:latin typeface="Arial" pitchFamily="34" charset="0"/>
                  <a:cs typeface="Arial" pitchFamily="34" charset="0"/>
                </a:rPr>
                <a:t>Next we multiply every term in equation (2) by </a:t>
              </a:r>
              <a:r>
                <a:rPr lang="en-GB" sz="1200" b="1" dirty="0">
                  <a:solidFill>
                    <a:srgbClr val="7030A0"/>
                  </a:solidFill>
                  <a:latin typeface="Arial" pitchFamily="34" charset="0"/>
                  <a:cs typeface="Arial" pitchFamily="34" charset="0"/>
                </a:rPr>
                <a:t>5</a:t>
              </a:r>
              <a:r>
                <a:rPr lang="en-GB" sz="1200" b="1" dirty="0">
                  <a:latin typeface="Arial" pitchFamily="34" charset="0"/>
                  <a:cs typeface="Arial" pitchFamily="34" charset="0"/>
                </a:rPr>
                <a:t>, (because this is the number in front of the </a:t>
              </a:r>
              <a:r>
                <a:rPr lang="en-GB" sz="1200" b="1" i="1" dirty="0">
                  <a:latin typeface="Arial" pitchFamily="34" charset="0"/>
                  <a:cs typeface="Arial" pitchFamily="34" charset="0"/>
                </a:rPr>
                <a:t>y</a:t>
              </a:r>
              <a:r>
                <a:rPr lang="en-GB" sz="1200" b="1" dirty="0">
                  <a:latin typeface="Arial" pitchFamily="34" charset="0"/>
                  <a:cs typeface="Arial" pitchFamily="34" charset="0"/>
                </a:rPr>
                <a:t> in equation 1).</a:t>
              </a:r>
              <a:endParaRPr lang="en-GB" sz="1200" b="1" i="1" dirty="0">
                <a:latin typeface="Arial" pitchFamily="34" charset="0"/>
                <a:cs typeface="Arial" pitchFamily="34" charset="0"/>
              </a:endParaRPr>
            </a:p>
          </p:txBody>
        </p:sp>
      </p:grpSp>
      <p:sp>
        <p:nvSpPr>
          <p:cNvPr id="36" name="TextBox 35">
            <a:extLst>
              <a:ext uri="{FF2B5EF4-FFF2-40B4-BE49-F238E27FC236}">
                <a16:creationId xmlns:a16="http://schemas.microsoft.com/office/drawing/2014/main" id="{D9BDA244-1CB2-415A-A8D8-C3CBDE0DCAB5}"/>
              </a:ext>
            </a:extLst>
          </p:cNvPr>
          <p:cNvSpPr txBox="1"/>
          <p:nvPr/>
        </p:nvSpPr>
        <p:spPr>
          <a:xfrm>
            <a:off x="1003335" y="3360130"/>
            <a:ext cx="919231" cy="400110"/>
          </a:xfrm>
          <a:prstGeom prst="rect">
            <a:avLst/>
          </a:prstGeom>
          <a:noFill/>
        </p:spPr>
        <p:txBody>
          <a:bodyPr wrap="square" rtlCol="0">
            <a:spAutoFit/>
          </a:bodyPr>
          <a:lstStyle/>
          <a:p>
            <a:r>
              <a:rPr lang="en-GB" sz="2000" b="1" dirty="0">
                <a:latin typeface="Arial" pitchFamily="34" charset="0"/>
                <a:cs typeface="Arial" pitchFamily="34" charset="0"/>
              </a:rPr>
              <a:t>-9</a:t>
            </a:r>
            <a:r>
              <a:rPr lang="en-GB" sz="2000" b="1" i="1" dirty="0">
                <a:latin typeface="Arial" pitchFamily="34" charset="0"/>
                <a:cs typeface="Arial" pitchFamily="34" charset="0"/>
              </a:rPr>
              <a:t>x</a:t>
            </a:r>
          </a:p>
        </p:txBody>
      </p:sp>
      <p:sp>
        <p:nvSpPr>
          <p:cNvPr id="37" name="TextBox 36">
            <a:extLst>
              <a:ext uri="{FF2B5EF4-FFF2-40B4-BE49-F238E27FC236}">
                <a16:creationId xmlns:a16="http://schemas.microsoft.com/office/drawing/2014/main" id="{EE9F038F-6397-4BB2-944D-0DE1AB720CF9}"/>
              </a:ext>
            </a:extLst>
          </p:cNvPr>
          <p:cNvSpPr txBox="1"/>
          <p:nvPr/>
        </p:nvSpPr>
        <p:spPr>
          <a:xfrm>
            <a:off x="2432580" y="3360130"/>
            <a:ext cx="1360597" cy="400110"/>
          </a:xfrm>
          <a:prstGeom prst="rect">
            <a:avLst/>
          </a:prstGeom>
          <a:noFill/>
        </p:spPr>
        <p:txBody>
          <a:bodyPr wrap="square" rtlCol="0">
            <a:spAutoFit/>
          </a:bodyPr>
          <a:lstStyle/>
          <a:p>
            <a:r>
              <a:rPr lang="en-GB" sz="2000" b="1" dirty="0">
                <a:latin typeface="Arial" pitchFamily="34" charset="0"/>
                <a:cs typeface="Arial" pitchFamily="34" charset="0"/>
              </a:rPr>
              <a:t>=   -81</a:t>
            </a:r>
          </a:p>
        </p:txBody>
      </p:sp>
      <p:grpSp>
        <p:nvGrpSpPr>
          <p:cNvPr id="38" name="Group 431">
            <a:extLst>
              <a:ext uri="{FF2B5EF4-FFF2-40B4-BE49-F238E27FC236}">
                <a16:creationId xmlns:a16="http://schemas.microsoft.com/office/drawing/2014/main" id="{1DFEEFDD-7ED8-4501-8F99-2B39AA4A06CA}"/>
              </a:ext>
            </a:extLst>
          </p:cNvPr>
          <p:cNvGrpSpPr/>
          <p:nvPr/>
        </p:nvGrpSpPr>
        <p:grpSpPr>
          <a:xfrm>
            <a:off x="5843921" y="4215494"/>
            <a:ext cx="3055482" cy="461665"/>
            <a:chOff x="5474525" y="2011153"/>
            <a:chExt cx="3372591" cy="699809"/>
          </a:xfrm>
        </p:grpSpPr>
        <p:sp>
          <p:nvSpPr>
            <p:cNvPr id="39" name="Rounded Rectangle 432">
              <a:extLst>
                <a:ext uri="{FF2B5EF4-FFF2-40B4-BE49-F238E27FC236}">
                  <a16:creationId xmlns:a16="http://schemas.microsoft.com/office/drawing/2014/main" id="{4E44F30A-EE83-470F-9B2F-CC833CB41D3E}"/>
                </a:ext>
              </a:extLst>
            </p:cNvPr>
            <p:cNvSpPr/>
            <p:nvPr/>
          </p:nvSpPr>
          <p:spPr>
            <a:xfrm>
              <a:off x="5474525" y="2025460"/>
              <a:ext cx="3372591" cy="665017"/>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0" name="TextBox 39">
              <a:extLst>
                <a:ext uri="{FF2B5EF4-FFF2-40B4-BE49-F238E27FC236}">
                  <a16:creationId xmlns:a16="http://schemas.microsoft.com/office/drawing/2014/main" id="{79B6F5DE-5B13-424E-9F56-F307C481D396}"/>
                </a:ext>
              </a:extLst>
            </p:cNvPr>
            <p:cNvSpPr txBox="1"/>
            <p:nvPr/>
          </p:nvSpPr>
          <p:spPr>
            <a:xfrm>
              <a:off x="5594059" y="2011153"/>
              <a:ext cx="3133523" cy="699809"/>
            </a:xfrm>
            <a:prstGeom prst="rect">
              <a:avLst/>
            </a:prstGeom>
            <a:noFill/>
          </p:spPr>
          <p:txBody>
            <a:bodyPr wrap="square" rtlCol="0">
              <a:spAutoFit/>
            </a:bodyPr>
            <a:lstStyle/>
            <a:p>
              <a:pPr algn="ctr"/>
              <a:r>
                <a:rPr lang="en-GB" sz="1200" b="1" dirty="0">
                  <a:latin typeface="Arial" pitchFamily="34" charset="0"/>
                  <a:cs typeface="Arial" pitchFamily="34" charset="0"/>
                </a:rPr>
                <a:t>Now we SUBTRACT corresponding terms to eliminate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41" name="Group 434">
            <a:extLst>
              <a:ext uri="{FF2B5EF4-FFF2-40B4-BE49-F238E27FC236}">
                <a16:creationId xmlns:a16="http://schemas.microsoft.com/office/drawing/2014/main" id="{BAEECBC3-F3F8-470F-AAE8-C51B9CDAAFF8}"/>
              </a:ext>
            </a:extLst>
          </p:cNvPr>
          <p:cNvGrpSpPr/>
          <p:nvPr/>
        </p:nvGrpSpPr>
        <p:grpSpPr>
          <a:xfrm>
            <a:off x="5843921" y="4798033"/>
            <a:ext cx="3055482" cy="330999"/>
            <a:chOff x="5474525" y="1935097"/>
            <a:chExt cx="3372591" cy="431236"/>
          </a:xfrm>
        </p:grpSpPr>
        <p:sp>
          <p:nvSpPr>
            <p:cNvPr id="42" name="Rounded Rectangle 435">
              <a:extLst>
                <a:ext uri="{FF2B5EF4-FFF2-40B4-BE49-F238E27FC236}">
                  <a16:creationId xmlns:a16="http://schemas.microsoft.com/office/drawing/2014/main" id="{B62A7483-FCB7-43E2-BEDA-5312DC49DDCE}"/>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3" name="TextBox 42">
              <a:extLst>
                <a:ext uri="{FF2B5EF4-FFF2-40B4-BE49-F238E27FC236}">
                  <a16:creationId xmlns:a16="http://schemas.microsoft.com/office/drawing/2014/main" id="{31A1BDB4-8366-40D9-A523-C39BEED43ADB}"/>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Then divide both sides by -9.</a:t>
              </a:r>
              <a:endParaRPr lang="en-GB" sz="1200" b="1" i="1" dirty="0">
                <a:latin typeface="Arial" pitchFamily="34" charset="0"/>
                <a:cs typeface="Arial" pitchFamily="34" charset="0"/>
              </a:endParaRPr>
            </a:p>
          </p:txBody>
        </p:sp>
      </p:grpSp>
      <p:sp>
        <p:nvSpPr>
          <p:cNvPr id="44" name="TextBox 43">
            <a:extLst>
              <a:ext uri="{FF2B5EF4-FFF2-40B4-BE49-F238E27FC236}">
                <a16:creationId xmlns:a16="http://schemas.microsoft.com/office/drawing/2014/main" id="{A757F829-65E4-4336-889A-16973C5D2375}"/>
              </a:ext>
            </a:extLst>
          </p:cNvPr>
          <p:cNvSpPr txBox="1"/>
          <p:nvPr/>
        </p:nvSpPr>
        <p:spPr>
          <a:xfrm>
            <a:off x="1369492" y="3666916"/>
            <a:ext cx="2697684" cy="400110"/>
          </a:xfrm>
          <a:prstGeom prst="rect">
            <a:avLst/>
          </a:prstGeom>
          <a:noFill/>
        </p:spPr>
        <p:txBody>
          <a:bodyPr wrap="square" rtlCol="0">
            <a:spAutoFit/>
          </a:bodyPr>
          <a:lstStyle/>
          <a:p>
            <a:r>
              <a:rPr lang="en-GB" sz="2000" b="1" i="1" dirty="0">
                <a:latin typeface="Arial" pitchFamily="34" charset="0"/>
                <a:cs typeface="Arial" pitchFamily="34" charset="0"/>
              </a:rPr>
              <a:t>x</a:t>
            </a:r>
            <a:r>
              <a:rPr lang="en-GB" sz="2000" b="1" dirty="0">
                <a:latin typeface="Arial" pitchFamily="34" charset="0"/>
                <a:cs typeface="Arial" pitchFamily="34" charset="0"/>
              </a:rPr>
              <a:t>    =    -81  ÷  -9</a:t>
            </a:r>
          </a:p>
        </p:txBody>
      </p:sp>
      <p:cxnSp>
        <p:nvCxnSpPr>
          <p:cNvPr id="45" name="Straight Connector 44">
            <a:extLst>
              <a:ext uri="{FF2B5EF4-FFF2-40B4-BE49-F238E27FC236}">
                <a16:creationId xmlns:a16="http://schemas.microsoft.com/office/drawing/2014/main" id="{4A5116A1-D242-410F-87A0-6CDC766388CF}"/>
              </a:ext>
            </a:extLst>
          </p:cNvPr>
          <p:cNvCxnSpPr/>
          <p:nvPr/>
        </p:nvCxnSpPr>
        <p:spPr>
          <a:xfrm>
            <a:off x="994313" y="4623787"/>
            <a:ext cx="298268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46" name="Group 440">
            <a:extLst>
              <a:ext uri="{FF2B5EF4-FFF2-40B4-BE49-F238E27FC236}">
                <a16:creationId xmlns:a16="http://schemas.microsoft.com/office/drawing/2014/main" id="{CADD88EC-C3DF-4088-ABFF-F9CFC990533C}"/>
              </a:ext>
            </a:extLst>
          </p:cNvPr>
          <p:cNvGrpSpPr/>
          <p:nvPr/>
        </p:nvGrpSpPr>
        <p:grpSpPr>
          <a:xfrm>
            <a:off x="5843921" y="5211116"/>
            <a:ext cx="3055482" cy="330999"/>
            <a:chOff x="5474525" y="1935097"/>
            <a:chExt cx="3372591" cy="431236"/>
          </a:xfrm>
        </p:grpSpPr>
        <p:sp>
          <p:nvSpPr>
            <p:cNvPr id="47" name="Rounded Rectangle 441">
              <a:extLst>
                <a:ext uri="{FF2B5EF4-FFF2-40B4-BE49-F238E27FC236}">
                  <a16:creationId xmlns:a16="http://schemas.microsoft.com/office/drawing/2014/main" id="{54D3294E-A5A5-4CCE-973F-89DB64DCB6C7}"/>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48" name="TextBox 47">
              <a:extLst>
                <a:ext uri="{FF2B5EF4-FFF2-40B4-BE49-F238E27FC236}">
                  <a16:creationId xmlns:a16="http://schemas.microsoft.com/office/drawing/2014/main" id="{25B226BA-AC2C-4E77-8FBF-A086D68A91CB}"/>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Now substitute for x = </a:t>
              </a:r>
              <a:r>
                <a:rPr lang="en-GB" sz="1200" b="1" dirty="0">
                  <a:solidFill>
                    <a:srgbClr val="C00000"/>
                  </a:solidFill>
                  <a:latin typeface="Arial" pitchFamily="34" charset="0"/>
                  <a:cs typeface="Arial" pitchFamily="34" charset="0"/>
                </a:rPr>
                <a:t>9</a:t>
              </a:r>
              <a:r>
                <a:rPr lang="en-GB" sz="1200" b="1" dirty="0">
                  <a:latin typeface="Arial" pitchFamily="34" charset="0"/>
                  <a:cs typeface="Arial" pitchFamily="34" charset="0"/>
                </a:rPr>
                <a:t> into (1).</a:t>
              </a:r>
              <a:endParaRPr lang="en-GB" sz="1200" b="1" i="1" dirty="0">
                <a:latin typeface="Arial" pitchFamily="34" charset="0"/>
                <a:cs typeface="Arial" pitchFamily="34" charset="0"/>
              </a:endParaRPr>
            </a:p>
          </p:txBody>
        </p:sp>
      </p:grpSp>
      <p:sp>
        <p:nvSpPr>
          <p:cNvPr id="49" name="TextBox 48">
            <a:extLst>
              <a:ext uri="{FF2B5EF4-FFF2-40B4-BE49-F238E27FC236}">
                <a16:creationId xmlns:a16="http://schemas.microsoft.com/office/drawing/2014/main" id="{58AEB90A-6AA5-4533-BA09-4B42006D04D3}"/>
              </a:ext>
            </a:extLst>
          </p:cNvPr>
          <p:cNvSpPr txBox="1"/>
          <p:nvPr/>
        </p:nvSpPr>
        <p:spPr>
          <a:xfrm>
            <a:off x="1078542" y="4615855"/>
            <a:ext cx="3062736" cy="400110"/>
          </a:xfrm>
          <a:prstGeom prst="rect">
            <a:avLst/>
          </a:prstGeom>
          <a:noFill/>
        </p:spPr>
        <p:txBody>
          <a:bodyPr wrap="square" rtlCol="0">
            <a:spAutoFit/>
          </a:bodyPr>
          <a:lstStyle/>
          <a:p>
            <a:r>
              <a:rPr lang="en-GB" sz="2000" b="1" dirty="0">
                <a:latin typeface="Arial" pitchFamily="34" charset="0"/>
                <a:cs typeface="Arial" pitchFamily="34" charset="0"/>
              </a:rPr>
              <a:t>8 </a:t>
            </a:r>
            <a:r>
              <a:rPr lang="en-GB" sz="2000" dirty="0">
                <a:latin typeface="Arial" pitchFamily="34" charset="0"/>
                <a:cs typeface="Arial" pitchFamily="34" charset="0"/>
              </a:rPr>
              <a:t>x</a:t>
            </a:r>
            <a:r>
              <a:rPr lang="en-GB" sz="2000" b="1" dirty="0">
                <a:latin typeface="Arial" pitchFamily="34" charset="0"/>
                <a:cs typeface="Arial" pitchFamily="34" charset="0"/>
              </a:rPr>
              <a:t> </a:t>
            </a:r>
            <a:r>
              <a:rPr lang="en-GB" sz="2000" b="1" dirty="0">
                <a:solidFill>
                  <a:srgbClr val="C00000"/>
                </a:solidFill>
                <a:latin typeface="Arial" pitchFamily="34" charset="0"/>
                <a:cs typeface="Arial" pitchFamily="34" charset="0"/>
              </a:rPr>
              <a:t>9</a:t>
            </a:r>
            <a:r>
              <a:rPr lang="en-GB" sz="2000" b="1" dirty="0">
                <a:latin typeface="Arial" pitchFamily="34" charset="0"/>
                <a:cs typeface="Arial" pitchFamily="34" charset="0"/>
              </a:rPr>
              <a:t>  -  5</a:t>
            </a:r>
            <a:r>
              <a:rPr lang="en-GB" sz="2000" b="1" i="1" dirty="0">
                <a:latin typeface="Arial" pitchFamily="34" charset="0"/>
                <a:cs typeface="Arial" pitchFamily="34" charset="0"/>
              </a:rPr>
              <a:t>y</a:t>
            </a:r>
            <a:r>
              <a:rPr lang="en-GB" sz="2000" b="1" dirty="0">
                <a:latin typeface="Arial" pitchFamily="34" charset="0"/>
                <a:cs typeface="Arial" pitchFamily="34" charset="0"/>
              </a:rPr>
              <a:t>   =   82</a:t>
            </a:r>
          </a:p>
        </p:txBody>
      </p:sp>
      <p:sp>
        <p:nvSpPr>
          <p:cNvPr id="50" name="TextBox 49">
            <a:extLst>
              <a:ext uri="{FF2B5EF4-FFF2-40B4-BE49-F238E27FC236}">
                <a16:creationId xmlns:a16="http://schemas.microsoft.com/office/drawing/2014/main" id="{16AB0D79-634A-4780-BEAF-DBB2F6598BA1}"/>
              </a:ext>
            </a:extLst>
          </p:cNvPr>
          <p:cNvSpPr txBox="1"/>
          <p:nvPr/>
        </p:nvSpPr>
        <p:spPr>
          <a:xfrm>
            <a:off x="3826696" y="4615855"/>
            <a:ext cx="1154879" cy="400110"/>
          </a:xfrm>
          <a:prstGeom prst="rect">
            <a:avLst/>
          </a:prstGeom>
          <a:noFill/>
        </p:spPr>
        <p:txBody>
          <a:bodyPr wrap="square" rtlCol="0">
            <a:spAutoFit/>
          </a:bodyPr>
          <a:lstStyle/>
          <a:p>
            <a:r>
              <a:rPr lang="en-GB" sz="2000" b="1" dirty="0">
                <a:solidFill>
                  <a:srgbClr val="793905"/>
                </a:solidFill>
                <a:latin typeface="Arial" pitchFamily="34" charset="0"/>
                <a:cs typeface="Arial" pitchFamily="34" charset="0"/>
              </a:rPr>
              <a:t>...  (1)</a:t>
            </a:r>
          </a:p>
        </p:txBody>
      </p:sp>
      <p:sp>
        <p:nvSpPr>
          <p:cNvPr id="51" name="TextBox 50">
            <a:extLst>
              <a:ext uri="{FF2B5EF4-FFF2-40B4-BE49-F238E27FC236}">
                <a16:creationId xmlns:a16="http://schemas.microsoft.com/office/drawing/2014/main" id="{987C5BA8-DEFA-484A-A32C-D37802B61227}"/>
              </a:ext>
            </a:extLst>
          </p:cNvPr>
          <p:cNvSpPr txBox="1"/>
          <p:nvPr/>
        </p:nvSpPr>
        <p:spPr>
          <a:xfrm>
            <a:off x="1147815" y="4926098"/>
            <a:ext cx="3062736" cy="400110"/>
          </a:xfrm>
          <a:prstGeom prst="rect">
            <a:avLst/>
          </a:prstGeom>
          <a:noFill/>
        </p:spPr>
        <p:txBody>
          <a:bodyPr wrap="square" rtlCol="0">
            <a:spAutoFit/>
          </a:bodyPr>
          <a:lstStyle/>
          <a:p>
            <a:r>
              <a:rPr lang="en-GB" sz="2000" b="1" dirty="0">
                <a:latin typeface="Arial" pitchFamily="34" charset="0"/>
                <a:cs typeface="Arial" pitchFamily="34" charset="0"/>
              </a:rPr>
              <a:t>72  -  5</a:t>
            </a:r>
            <a:r>
              <a:rPr lang="en-GB" sz="2000" b="1" i="1" dirty="0">
                <a:latin typeface="Arial" pitchFamily="34" charset="0"/>
                <a:cs typeface="Arial" pitchFamily="34" charset="0"/>
              </a:rPr>
              <a:t>y</a:t>
            </a:r>
            <a:r>
              <a:rPr lang="en-GB" sz="2000" b="1" dirty="0">
                <a:latin typeface="Arial" pitchFamily="34" charset="0"/>
                <a:cs typeface="Arial" pitchFamily="34" charset="0"/>
              </a:rPr>
              <a:t>   =   82</a:t>
            </a:r>
          </a:p>
        </p:txBody>
      </p:sp>
      <p:grpSp>
        <p:nvGrpSpPr>
          <p:cNvPr id="52" name="Group 446">
            <a:extLst>
              <a:ext uri="{FF2B5EF4-FFF2-40B4-BE49-F238E27FC236}">
                <a16:creationId xmlns:a16="http://schemas.microsoft.com/office/drawing/2014/main" id="{31DBBDF4-D14C-41B0-BBB5-0BD7D39E9780}"/>
              </a:ext>
            </a:extLst>
          </p:cNvPr>
          <p:cNvGrpSpPr/>
          <p:nvPr/>
        </p:nvGrpSpPr>
        <p:grpSpPr>
          <a:xfrm>
            <a:off x="5843921" y="5624199"/>
            <a:ext cx="3055482" cy="330999"/>
            <a:chOff x="5474525" y="1935097"/>
            <a:chExt cx="3372591" cy="431236"/>
          </a:xfrm>
        </p:grpSpPr>
        <p:sp>
          <p:nvSpPr>
            <p:cNvPr id="53" name="Rounded Rectangle 447">
              <a:extLst>
                <a:ext uri="{FF2B5EF4-FFF2-40B4-BE49-F238E27FC236}">
                  <a16:creationId xmlns:a16="http://schemas.microsoft.com/office/drawing/2014/main" id="{E00BCE42-C543-416E-BD7A-85378333C8A2}"/>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54" name="TextBox 53">
              <a:extLst>
                <a:ext uri="{FF2B5EF4-FFF2-40B4-BE49-F238E27FC236}">
                  <a16:creationId xmlns:a16="http://schemas.microsoft.com/office/drawing/2014/main" id="{988AAF7B-E6F9-45A8-AB1A-472228A25FCB}"/>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Take 72 from both sides</a:t>
              </a:r>
              <a:endParaRPr lang="en-GB" sz="1200" b="1" i="1" dirty="0">
                <a:latin typeface="Arial" pitchFamily="34" charset="0"/>
                <a:cs typeface="Arial" pitchFamily="34" charset="0"/>
              </a:endParaRPr>
            </a:p>
          </p:txBody>
        </p:sp>
      </p:grpSp>
      <p:sp>
        <p:nvSpPr>
          <p:cNvPr id="55" name="TextBox 54">
            <a:extLst>
              <a:ext uri="{FF2B5EF4-FFF2-40B4-BE49-F238E27FC236}">
                <a16:creationId xmlns:a16="http://schemas.microsoft.com/office/drawing/2014/main" id="{A92CD351-0D80-48BA-86B8-677F16B70ADC}"/>
              </a:ext>
            </a:extLst>
          </p:cNvPr>
          <p:cNvSpPr txBox="1"/>
          <p:nvPr/>
        </p:nvSpPr>
        <p:spPr>
          <a:xfrm>
            <a:off x="1240839" y="5236341"/>
            <a:ext cx="3062736" cy="400110"/>
          </a:xfrm>
          <a:prstGeom prst="rect">
            <a:avLst/>
          </a:prstGeom>
          <a:noFill/>
        </p:spPr>
        <p:txBody>
          <a:bodyPr wrap="square" rtlCol="0">
            <a:spAutoFit/>
          </a:bodyPr>
          <a:lstStyle/>
          <a:p>
            <a:r>
              <a:rPr lang="en-GB" sz="2000" b="1" dirty="0">
                <a:latin typeface="Arial" pitchFamily="34" charset="0"/>
                <a:cs typeface="Arial" pitchFamily="34" charset="0"/>
              </a:rPr>
              <a:t>-5</a:t>
            </a:r>
            <a:r>
              <a:rPr lang="en-GB" sz="2000" b="1" i="1" dirty="0">
                <a:latin typeface="Arial" pitchFamily="34" charset="0"/>
                <a:cs typeface="Arial" pitchFamily="34" charset="0"/>
              </a:rPr>
              <a:t>y</a:t>
            </a:r>
            <a:r>
              <a:rPr lang="en-GB" sz="2000" b="1" dirty="0">
                <a:latin typeface="Arial" pitchFamily="34" charset="0"/>
                <a:cs typeface="Arial" pitchFamily="34" charset="0"/>
              </a:rPr>
              <a:t>   =   10</a:t>
            </a:r>
          </a:p>
        </p:txBody>
      </p:sp>
      <p:sp>
        <p:nvSpPr>
          <p:cNvPr id="56" name="TextBox 55">
            <a:extLst>
              <a:ext uri="{FF2B5EF4-FFF2-40B4-BE49-F238E27FC236}">
                <a16:creationId xmlns:a16="http://schemas.microsoft.com/office/drawing/2014/main" id="{3D5E0CBC-79E3-4534-BBE9-B40B0D53F684}"/>
              </a:ext>
            </a:extLst>
          </p:cNvPr>
          <p:cNvSpPr txBox="1"/>
          <p:nvPr/>
        </p:nvSpPr>
        <p:spPr>
          <a:xfrm>
            <a:off x="1321987" y="5546584"/>
            <a:ext cx="3062736" cy="400110"/>
          </a:xfrm>
          <a:prstGeom prst="rect">
            <a:avLst/>
          </a:prstGeom>
          <a:noFill/>
        </p:spPr>
        <p:txBody>
          <a:bodyPr wrap="square" rtlCol="0">
            <a:spAutoFit/>
          </a:bodyPr>
          <a:lstStyle/>
          <a:p>
            <a:r>
              <a:rPr lang="en-GB" sz="2000" b="1" i="1" dirty="0">
                <a:latin typeface="Arial" pitchFamily="34" charset="0"/>
                <a:cs typeface="Arial" pitchFamily="34" charset="0"/>
              </a:rPr>
              <a:t> y</a:t>
            </a:r>
            <a:r>
              <a:rPr lang="en-GB" sz="2000" b="1" dirty="0">
                <a:latin typeface="Arial" pitchFamily="34" charset="0"/>
                <a:cs typeface="Arial" pitchFamily="34" charset="0"/>
              </a:rPr>
              <a:t>   =   10  ÷  -5</a:t>
            </a:r>
          </a:p>
        </p:txBody>
      </p:sp>
      <p:grpSp>
        <p:nvGrpSpPr>
          <p:cNvPr id="57" name="Group 451">
            <a:extLst>
              <a:ext uri="{FF2B5EF4-FFF2-40B4-BE49-F238E27FC236}">
                <a16:creationId xmlns:a16="http://schemas.microsoft.com/office/drawing/2014/main" id="{475716F5-92DC-49CB-AA05-DDB59F2F0AE6}"/>
              </a:ext>
            </a:extLst>
          </p:cNvPr>
          <p:cNvGrpSpPr/>
          <p:nvPr/>
        </p:nvGrpSpPr>
        <p:grpSpPr>
          <a:xfrm>
            <a:off x="5843921" y="6037283"/>
            <a:ext cx="3055482" cy="330999"/>
            <a:chOff x="5474525" y="1935097"/>
            <a:chExt cx="3372591" cy="431236"/>
          </a:xfrm>
        </p:grpSpPr>
        <p:sp>
          <p:nvSpPr>
            <p:cNvPr id="58" name="Rounded Rectangle 452">
              <a:extLst>
                <a:ext uri="{FF2B5EF4-FFF2-40B4-BE49-F238E27FC236}">
                  <a16:creationId xmlns:a16="http://schemas.microsoft.com/office/drawing/2014/main" id="{26DA38A0-FF9E-4870-9EFD-E6B54E7958CB}"/>
                </a:ext>
              </a:extLst>
            </p:cNvPr>
            <p:cNvSpPr/>
            <p:nvPr/>
          </p:nvSpPr>
          <p:spPr>
            <a:xfrm>
              <a:off x="5474525" y="1935097"/>
              <a:ext cx="3372591" cy="431236"/>
            </a:xfrm>
            <a:prstGeom prst="roundRect">
              <a:avLst>
                <a:gd name="adj" fmla="val 36649"/>
              </a:avLst>
            </a:prstGeom>
            <a:solidFill>
              <a:srgbClr val="FFFFCC"/>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Arial" pitchFamily="34" charset="0"/>
                <a:cs typeface="Arial" pitchFamily="34" charset="0"/>
              </a:endParaRPr>
            </a:p>
          </p:txBody>
        </p:sp>
        <p:sp>
          <p:nvSpPr>
            <p:cNvPr id="59" name="TextBox 58">
              <a:extLst>
                <a:ext uri="{FF2B5EF4-FFF2-40B4-BE49-F238E27FC236}">
                  <a16:creationId xmlns:a16="http://schemas.microsoft.com/office/drawing/2014/main" id="{43D0B74F-899B-4404-9A46-9D1F70A6BC5F}"/>
                </a:ext>
              </a:extLst>
            </p:cNvPr>
            <p:cNvSpPr txBox="1"/>
            <p:nvPr/>
          </p:nvSpPr>
          <p:spPr>
            <a:xfrm>
              <a:off x="5735782" y="1970273"/>
              <a:ext cx="2850077" cy="360883"/>
            </a:xfrm>
            <a:prstGeom prst="rect">
              <a:avLst/>
            </a:prstGeom>
            <a:noFill/>
          </p:spPr>
          <p:txBody>
            <a:bodyPr wrap="square" rtlCol="0">
              <a:spAutoFit/>
            </a:bodyPr>
            <a:lstStyle/>
            <a:p>
              <a:pPr algn="ctr"/>
              <a:r>
                <a:rPr lang="en-GB" sz="1200" b="1" dirty="0">
                  <a:latin typeface="Arial" pitchFamily="34" charset="0"/>
                  <a:cs typeface="Arial" pitchFamily="34" charset="0"/>
                </a:rPr>
                <a:t>Divide both sides by -5 to give </a:t>
              </a:r>
              <a:r>
                <a:rPr lang="en-GB" sz="1200" b="1" i="1" dirty="0">
                  <a:latin typeface="Arial" pitchFamily="34" charset="0"/>
                  <a:cs typeface="Arial" pitchFamily="34" charset="0"/>
                </a:rPr>
                <a:t>y</a:t>
              </a:r>
              <a:r>
                <a:rPr lang="en-GB" sz="1200" b="1" dirty="0">
                  <a:latin typeface="Arial" pitchFamily="34" charset="0"/>
                  <a:cs typeface="Arial" pitchFamily="34" charset="0"/>
                </a:rPr>
                <a:t>.</a:t>
              </a:r>
              <a:endParaRPr lang="en-GB" sz="1200" b="1" i="1" dirty="0">
                <a:latin typeface="Arial" pitchFamily="34" charset="0"/>
                <a:cs typeface="Arial" pitchFamily="34" charset="0"/>
              </a:endParaRPr>
            </a:p>
          </p:txBody>
        </p:sp>
      </p:grpSp>
      <p:grpSp>
        <p:nvGrpSpPr>
          <p:cNvPr id="60" name="Group 458">
            <a:extLst>
              <a:ext uri="{FF2B5EF4-FFF2-40B4-BE49-F238E27FC236}">
                <a16:creationId xmlns:a16="http://schemas.microsoft.com/office/drawing/2014/main" id="{F7E148EB-EF6B-4B9E-AF49-8B6C7B5599A7}"/>
              </a:ext>
            </a:extLst>
          </p:cNvPr>
          <p:cNvGrpSpPr/>
          <p:nvPr/>
        </p:nvGrpSpPr>
        <p:grpSpPr>
          <a:xfrm>
            <a:off x="1104900" y="4092596"/>
            <a:ext cx="1962150" cy="400110"/>
            <a:chOff x="742950" y="3778192"/>
            <a:chExt cx="1962150" cy="400110"/>
          </a:xfrm>
        </p:grpSpPr>
        <p:sp>
          <p:nvSpPr>
            <p:cNvPr id="61" name="Rounded Rectangle 457">
              <a:extLst>
                <a:ext uri="{FF2B5EF4-FFF2-40B4-BE49-F238E27FC236}">
                  <a16:creationId xmlns:a16="http://schemas.microsoft.com/office/drawing/2014/main" id="{8D6B2CAF-6F2C-4B73-AC82-043279F10E81}"/>
                </a:ext>
              </a:extLst>
            </p:cNvPr>
            <p:cNvSpPr/>
            <p:nvPr/>
          </p:nvSpPr>
          <p:spPr>
            <a:xfrm>
              <a:off x="742950" y="3791799"/>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2" name="TextBox 61">
              <a:extLst>
                <a:ext uri="{FF2B5EF4-FFF2-40B4-BE49-F238E27FC236}">
                  <a16:creationId xmlns:a16="http://schemas.microsoft.com/office/drawing/2014/main" id="{6B8C5C90-E820-4778-AF30-C0BCF9FA8B81}"/>
                </a:ext>
              </a:extLst>
            </p:cNvPr>
            <p:cNvSpPr txBox="1"/>
            <p:nvPr/>
          </p:nvSpPr>
          <p:spPr>
            <a:xfrm>
              <a:off x="1007112" y="3778192"/>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x</a:t>
              </a:r>
              <a:r>
                <a:rPr lang="en-GB" sz="2000" b="1" dirty="0">
                  <a:latin typeface="Arial" pitchFamily="34" charset="0"/>
                  <a:cs typeface="Arial" pitchFamily="34" charset="0"/>
                </a:rPr>
                <a:t>    =    9</a:t>
              </a:r>
            </a:p>
          </p:txBody>
        </p:sp>
      </p:grpSp>
      <p:grpSp>
        <p:nvGrpSpPr>
          <p:cNvPr id="63" name="Group 459">
            <a:extLst>
              <a:ext uri="{FF2B5EF4-FFF2-40B4-BE49-F238E27FC236}">
                <a16:creationId xmlns:a16="http://schemas.microsoft.com/office/drawing/2014/main" id="{3F049561-ECB2-4126-BC6B-8460FED18E25}"/>
              </a:ext>
            </a:extLst>
          </p:cNvPr>
          <p:cNvGrpSpPr/>
          <p:nvPr/>
        </p:nvGrpSpPr>
        <p:grpSpPr>
          <a:xfrm>
            <a:off x="1104900" y="5936864"/>
            <a:ext cx="1962150" cy="400110"/>
            <a:chOff x="742950" y="3773899"/>
            <a:chExt cx="1962150" cy="400110"/>
          </a:xfrm>
        </p:grpSpPr>
        <p:sp>
          <p:nvSpPr>
            <p:cNvPr id="64" name="Rounded Rectangle 460">
              <a:extLst>
                <a:ext uri="{FF2B5EF4-FFF2-40B4-BE49-F238E27FC236}">
                  <a16:creationId xmlns:a16="http://schemas.microsoft.com/office/drawing/2014/main" id="{FA714E80-FDB0-4489-9D32-A56D7ED05B7F}"/>
                </a:ext>
              </a:extLst>
            </p:cNvPr>
            <p:cNvSpPr/>
            <p:nvPr/>
          </p:nvSpPr>
          <p:spPr>
            <a:xfrm>
              <a:off x="742950" y="3780703"/>
              <a:ext cx="1962150" cy="386503"/>
            </a:xfrm>
            <a:prstGeom prst="roundRect">
              <a:avLst>
                <a:gd name="adj" fmla="val 36649"/>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path path="circle">
                <a:fillToRect l="50000" t="50000" r="50000" b="50000"/>
              </a:path>
              <a:tileRect/>
            </a:gra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5" name="TextBox 64">
              <a:extLst>
                <a:ext uri="{FF2B5EF4-FFF2-40B4-BE49-F238E27FC236}">
                  <a16:creationId xmlns:a16="http://schemas.microsoft.com/office/drawing/2014/main" id="{C5FE63BB-5118-48CD-A515-64D7D0A8CECF}"/>
                </a:ext>
              </a:extLst>
            </p:cNvPr>
            <p:cNvSpPr txBox="1"/>
            <p:nvPr/>
          </p:nvSpPr>
          <p:spPr>
            <a:xfrm>
              <a:off x="1007112" y="3773899"/>
              <a:ext cx="1433827" cy="400110"/>
            </a:xfrm>
            <a:prstGeom prst="rect">
              <a:avLst/>
            </a:prstGeom>
            <a:noFill/>
          </p:spPr>
          <p:txBody>
            <a:bodyPr wrap="square" rtlCol="0">
              <a:spAutoFit/>
            </a:bodyPr>
            <a:lstStyle/>
            <a:p>
              <a:pPr algn="ctr"/>
              <a:r>
                <a:rPr lang="en-GB" sz="2000" b="1" i="1" dirty="0">
                  <a:latin typeface="Arial" pitchFamily="34" charset="0"/>
                  <a:cs typeface="Arial" pitchFamily="34" charset="0"/>
                </a:rPr>
                <a:t>y</a:t>
              </a:r>
              <a:r>
                <a:rPr lang="en-GB" sz="2000" b="1" dirty="0">
                  <a:latin typeface="Arial" pitchFamily="34" charset="0"/>
                  <a:cs typeface="Arial" pitchFamily="34" charset="0"/>
                </a:rPr>
                <a:t>    =    -2</a:t>
              </a:r>
            </a:p>
          </p:txBody>
        </p:sp>
      </p:grpSp>
      <p:sp>
        <p:nvSpPr>
          <p:cNvPr id="66" name="Oval 65">
            <a:extLst>
              <a:ext uri="{FF2B5EF4-FFF2-40B4-BE49-F238E27FC236}">
                <a16:creationId xmlns:a16="http://schemas.microsoft.com/office/drawing/2014/main" id="{3FC28726-6951-403E-AE9D-B3B3E1D45D26}"/>
              </a:ext>
            </a:extLst>
          </p:cNvPr>
          <p:cNvSpPr/>
          <p:nvPr/>
        </p:nvSpPr>
        <p:spPr>
          <a:xfrm>
            <a:off x="1003683" y="2600404"/>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7" name="Oval 66">
            <a:extLst>
              <a:ext uri="{FF2B5EF4-FFF2-40B4-BE49-F238E27FC236}">
                <a16:creationId xmlns:a16="http://schemas.microsoft.com/office/drawing/2014/main" id="{7BE7B111-7AC3-4D55-9FF1-E704934896F5}"/>
              </a:ext>
            </a:extLst>
          </p:cNvPr>
          <p:cNvSpPr/>
          <p:nvPr/>
        </p:nvSpPr>
        <p:spPr>
          <a:xfrm>
            <a:off x="1003683" y="2945584"/>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8" name="Oval 67">
            <a:extLst>
              <a:ext uri="{FF2B5EF4-FFF2-40B4-BE49-F238E27FC236}">
                <a16:creationId xmlns:a16="http://schemas.microsoft.com/office/drawing/2014/main" id="{B974AECF-9E28-4427-9C19-DE82F9485574}"/>
              </a:ext>
            </a:extLst>
          </p:cNvPr>
          <p:cNvSpPr/>
          <p:nvPr/>
        </p:nvSpPr>
        <p:spPr>
          <a:xfrm>
            <a:off x="2795893" y="2600404"/>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
        <p:nvSpPr>
          <p:cNvPr id="69" name="Oval 68">
            <a:extLst>
              <a:ext uri="{FF2B5EF4-FFF2-40B4-BE49-F238E27FC236}">
                <a16:creationId xmlns:a16="http://schemas.microsoft.com/office/drawing/2014/main" id="{2A2C3A83-42DC-4BA2-8198-D1DA1168229C}"/>
              </a:ext>
            </a:extLst>
          </p:cNvPr>
          <p:cNvSpPr/>
          <p:nvPr/>
        </p:nvSpPr>
        <p:spPr>
          <a:xfrm>
            <a:off x="2795893" y="2945584"/>
            <a:ext cx="603173" cy="379279"/>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a:latin typeface="Arial" pitchFamily="34" charset="0"/>
              <a:cs typeface="Arial" pitchFamily="34" charset="0"/>
            </a:endParaRPr>
          </a:p>
        </p:txBody>
      </p:sp>
    </p:spTree>
    <p:extLst>
      <p:ext uri="{BB962C8B-B14F-4D97-AF65-F5344CB8AC3E}">
        <p14:creationId xmlns:p14="http://schemas.microsoft.com/office/powerpoint/2010/main" val="415671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10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1000"/>
                                        <p:tgtEl>
                                          <p:spTgt spid="14"/>
                                        </p:tgtEl>
                                      </p:cBhvr>
                                    </p:animEffect>
                                  </p:childTnLst>
                                </p:cTn>
                              </p:par>
                            </p:childTnLst>
                          </p:cTn>
                        </p:par>
                        <p:par>
                          <p:cTn id="18" fill="hold">
                            <p:stCondLst>
                              <p:cond delay="2500"/>
                            </p:stCondLst>
                            <p:childTnLst>
                              <p:par>
                                <p:cTn id="19" presetID="22" presetClass="entr" presetSubtype="8" fill="hold"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p:cTn id="41" dur="500" fill="hold"/>
                                        <p:tgtEl>
                                          <p:spTgt spid="21"/>
                                        </p:tgtEl>
                                        <p:attrNameLst>
                                          <p:attrName>ppt_w</p:attrName>
                                        </p:attrNameLst>
                                      </p:cBhvr>
                                      <p:tavLst>
                                        <p:tav tm="0">
                                          <p:val>
                                            <p:fltVal val="0"/>
                                          </p:val>
                                        </p:tav>
                                        <p:tav tm="100000">
                                          <p:val>
                                            <p:strVal val="#ppt_w"/>
                                          </p:val>
                                        </p:tav>
                                      </p:tavLst>
                                    </p:anim>
                                    <p:anim calcmode="lin" valueType="num">
                                      <p:cBhvr>
                                        <p:cTn id="42" dur="500" fill="hold"/>
                                        <p:tgtEl>
                                          <p:spTgt spid="21"/>
                                        </p:tgtEl>
                                        <p:attrNameLst>
                                          <p:attrName>ppt_h</p:attrName>
                                        </p:attrNameLst>
                                      </p:cBhvr>
                                      <p:tavLst>
                                        <p:tav tm="0">
                                          <p:val>
                                            <p:fltVal val="0"/>
                                          </p:val>
                                        </p:tav>
                                        <p:tav tm="100000">
                                          <p:val>
                                            <p:strVal val="#ppt_h"/>
                                          </p:val>
                                        </p:tav>
                                      </p:tavLst>
                                    </p:anim>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0"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p:cTn id="48" dur="500" fill="hold"/>
                                        <p:tgtEl>
                                          <p:spTgt spid="24"/>
                                        </p:tgtEl>
                                        <p:attrNameLst>
                                          <p:attrName>ppt_w</p:attrName>
                                        </p:attrNameLst>
                                      </p:cBhvr>
                                      <p:tavLst>
                                        <p:tav tm="0">
                                          <p:val>
                                            <p:fltVal val="0"/>
                                          </p:val>
                                        </p:tav>
                                        <p:tav tm="100000">
                                          <p:val>
                                            <p:strVal val="#ppt_w"/>
                                          </p:val>
                                        </p:tav>
                                      </p:tavLst>
                                    </p:anim>
                                    <p:anim calcmode="lin" valueType="num">
                                      <p:cBhvr>
                                        <p:cTn id="49" dur="500" fill="hold"/>
                                        <p:tgtEl>
                                          <p:spTgt spid="24"/>
                                        </p:tgtEl>
                                        <p:attrNameLst>
                                          <p:attrName>ppt_h</p:attrName>
                                        </p:attrNameLst>
                                      </p:cBhvr>
                                      <p:tavLst>
                                        <p:tav tm="0">
                                          <p:val>
                                            <p:fltVal val="0"/>
                                          </p:val>
                                        </p:tav>
                                        <p:tav tm="100000">
                                          <p:val>
                                            <p:strVal val="#ppt_h"/>
                                          </p:val>
                                        </p:tav>
                                      </p:tavLst>
                                    </p:anim>
                                    <p:animEffect transition="in" filter="fade">
                                      <p:cBhvr>
                                        <p:cTn id="50" dur="500"/>
                                        <p:tgtEl>
                                          <p:spTgt spid="24"/>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left)">
                                      <p:cBhvr>
                                        <p:cTn id="54" dur="1000"/>
                                        <p:tgtEl>
                                          <p:spTgt spid="28"/>
                                        </p:tgtEl>
                                      </p:cBhvr>
                                    </p:animEffect>
                                  </p:childTnLst>
                                </p:cTn>
                              </p:par>
                            </p:childTnLst>
                          </p:cTn>
                        </p:par>
                        <p:par>
                          <p:cTn id="55" fill="hold">
                            <p:stCondLst>
                              <p:cond delay="1500"/>
                            </p:stCondLst>
                            <p:childTnLst>
                              <p:par>
                                <p:cTn id="56" presetID="22" presetClass="entr" presetSubtype="8"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wipe(left)">
                                      <p:cBhvr>
                                        <p:cTn id="58" dur="1000"/>
                                        <p:tgtEl>
                                          <p:spTgt spid="31"/>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nodeType="clickEffect">
                                  <p:stCondLst>
                                    <p:cond delay="0"/>
                                  </p:stCondLst>
                                  <p:childTnLst>
                                    <p:set>
                                      <p:cBhvr>
                                        <p:cTn id="62" dur="1" fill="hold">
                                          <p:stCondLst>
                                            <p:cond delay="0"/>
                                          </p:stCondLst>
                                        </p:cTn>
                                        <p:tgtEl>
                                          <p:spTgt spid="33"/>
                                        </p:tgtEl>
                                        <p:attrNameLst>
                                          <p:attrName>style.visibility</p:attrName>
                                        </p:attrNameLst>
                                      </p:cBhvr>
                                      <p:to>
                                        <p:strVal val="visible"/>
                                      </p:to>
                                    </p:set>
                                    <p:anim calcmode="lin" valueType="num">
                                      <p:cBhvr>
                                        <p:cTn id="63" dur="500" fill="hold"/>
                                        <p:tgtEl>
                                          <p:spTgt spid="33"/>
                                        </p:tgtEl>
                                        <p:attrNameLst>
                                          <p:attrName>ppt_w</p:attrName>
                                        </p:attrNameLst>
                                      </p:cBhvr>
                                      <p:tavLst>
                                        <p:tav tm="0">
                                          <p:val>
                                            <p:fltVal val="0"/>
                                          </p:val>
                                        </p:tav>
                                        <p:tav tm="100000">
                                          <p:val>
                                            <p:strVal val="#ppt_w"/>
                                          </p:val>
                                        </p:tav>
                                      </p:tavLst>
                                    </p:anim>
                                    <p:anim calcmode="lin" valueType="num">
                                      <p:cBhvr>
                                        <p:cTn id="64" dur="500" fill="hold"/>
                                        <p:tgtEl>
                                          <p:spTgt spid="33"/>
                                        </p:tgtEl>
                                        <p:attrNameLst>
                                          <p:attrName>ppt_h</p:attrName>
                                        </p:attrNameLst>
                                      </p:cBhvr>
                                      <p:tavLst>
                                        <p:tav tm="0">
                                          <p:val>
                                            <p:fltVal val="0"/>
                                          </p:val>
                                        </p:tav>
                                        <p:tav tm="100000">
                                          <p:val>
                                            <p:strVal val="#ppt_h"/>
                                          </p:val>
                                        </p:tav>
                                      </p:tavLst>
                                    </p:anim>
                                    <p:animEffect transition="in" filter="fade">
                                      <p:cBhvr>
                                        <p:cTn id="65" dur="500"/>
                                        <p:tgtEl>
                                          <p:spTgt spid="33"/>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left)">
                                      <p:cBhvr>
                                        <p:cTn id="69" dur="1000"/>
                                        <p:tgtEl>
                                          <p:spTgt spid="29"/>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wipe(left)">
                                      <p:cBhvr>
                                        <p:cTn id="73" dur="1000"/>
                                        <p:tgtEl>
                                          <p:spTgt spid="32"/>
                                        </p:tgtEl>
                                      </p:cBhvr>
                                    </p:animEffect>
                                  </p:childTnLst>
                                </p:cTn>
                              </p:par>
                            </p:childTnLst>
                          </p:cTn>
                        </p:par>
                        <p:par>
                          <p:cTn id="74" fill="hold">
                            <p:stCondLst>
                              <p:cond delay="2500"/>
                            </p:stCondLst>
                            <p:childTnLst>
                              <p:par>
                                <p:cTn id="75" presetID="22" presetClass="entr" presetSubtype="8" fill="hold" nodeType="after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left)">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0" fill="hold" nodeType="clickEffect">
                                  <p:stCondLst>
                                    <p:cond delay="0"/>
                                  </p:stCondLst>
                                  <p:childTnLst>
                                    <p:set>
                                      <p:cBhvr>
                                        <p:cTn id="81" dur="1" fill="hold">
                                          <p:stCondLst>
                                            <p:cond delay="0"/>
                                          </p:stCondLst>
                                        </p:cTn>
                                        <p:tgtEl>
                                          <p:spTgt spid="38"/>
                                        </p:tgtEl>
                                        <p:attrNameLst>
                                          <p:attrName>style.visibility</p:attrName>
                                        </p:attrNameLst>
                                      </p:cBhvr>
                                      <p:to>
                                        <p:strVal val="visible"/>
                                      </p:to>
                                    </p:set>
                                    <p:anim calcmode="lin" valueType="num">
                                      <p:cBhvr>
                                        <p:cTn id="82" dur="500" fill="hold"/>
                                        <p:tgtEl>
                                          <p:spTgt spid="38"/>
                                        </p:tgtEl>
                                        <p:attrNameLst>
                                          <p:attrName>ppt_w</p:attrName>
                                        </p:attrNameLst>
                                      </p:cBhvr>
                                      <p:tavLst>
                                        <p:tav tm="0">
                                          <p:val>
                                            <p:fltVal val="0"/>
                                          </p:val>
                                        </p:tav>
                                        <p:tav tm="100000">
                                          <p:val>
                                            <p:strVal val="#ppt_w"/>
                                          </p:val>
                                        </p:tav>
                                      </p:tavLst>
                                    </p:anim>
                                    <p:anim calcmode="lin" valueType="num">
                                      <p:cBhvr>
                                        <p:cTn id="83" dur="500" fill="hold"/>
                                        <p:tgtEl>
                                          <p:spTgt spid="38"/>
                                        </p:tgtEl>
                                        <p:attrNameLst>
                                          <p:attrName>ppt_h</p:attrName>
                                        </p:attrNameLst>
                                      </p:cBhvr>
                                      <p:tavLst>
                                        <p:tav tm="0">
                                          <p:val>
                                            <p:fltVal val="0"/>
                                          </p:val>
                                        </p:tav>
                                        <p:tav tm="100000">
                                          <p:val>
                                            <p:strVal val="#ppt_h"/>
                                          </p:val>
                                        </p:tav>
                                      </p:tavLst>
                                    </p:anim>
                                    <p:animEffect transition="in" filter="fade">
                                      <p:cBhvr>
                                        <p:cTn id="84" dur="500"/>
                                        <p:tgtEl>
                                          <p:spTgt spid="38"/>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0" fill="hold" grpId="0" nodeType="clickEffect">
                                  <p:stCondLst>
                                    <p:cond delay="0"/>
                                  </p:stCondLst>
                                  <p:childTnLst>
                                    <p:set>
                                      <p:cBhvr>
                                        <p:cTn id="88" dur="1" fill="hold">
                                          <p:stCondLst>
                                            <p:cond delay="0"/>
                                          </p:stCondLst>
                                        </p:cTn>
                                        <p:tgtEl>
                                          <p:spTgt spid="66"/>
                                        </p:tgtEl>
                                        <p:attrNameLst>
                                          <p:attrName>style.visibility</p:attrName>
                                        </p:attrNameLst>
                                      </p:cBhvr>
                                      <p:to>
                                        <p:strVal val="visible"/>
                                      </p:to>
                                    </p:set>
                                    <p:anim calcmode="lin" valueType="num">
                                      <p:cBhvr>
                                        <p:cTn id="89" dur="1000" fill="hold"/>
                                        <p:tgtEl>
                                          <p:spTgt spid="66"/>
                                        </p:tgtEl>
                                        <p:attrNameLst>
                                          <p:attrName>ppt_w</p:attrName>
                                        </p:attrNameLst>
                                      </p:cBhvr>
                                      <p:tavLst>
                                        <p:tav tm="0">
                                          <p:val>
                                            <p:fltVal val="0"/>
                                          </p:val>
                                        </p:tav>
                                        <p:tav tm="100000">
                                          <p:val>
                                            <p:strVal val="#ppt_w"/>
                                          </p:val>
                                        </p:tav>
                                      </p:tavLst>
                                    </p:anim>
                                    <p:anim calcmode="lin" valueType="num">
                                      <p:cBhvr>
                                        <p:cTn id="90" dur="1000" fill="hold"/>
                                        <p:tgtEl>
                                          <p:spTgt spid="66"/>
                                        </p:tgtEl>
                                        <p:attrNameLst>
                                          <p:attrName>ppt_h</p:attrName>
                                        </p:attrNameLst>
                                      </p:cBhvr>
                                      <p:tavLst>
                                        <p:tav tm="0">
                                          <p:val>
                                            <p:fltVal val="0"/>
                                          </p:val>
                                        </p:tav>
                                        <p:tav tm="100000">
                                          <p:val>
                                            <p:strVal val="#ppt_h"/>
                                          </p:val>
                                        </p:tav>
                                      </p:tavLst>
                                    </p:anim>
                                    <p:animEffect transition="in" filter="fade">
                                      <p:cBhvr>
                                        <p:cTn id="91" dur="1000"/>
                                        <p:tgtEl>
                                          <p:spTgt spid="66"/>
                                        </p:tgtEl>
                                      </p:cBhvr>
                                    </p:animEffect>
                                  </p:childTnLst>
                                </p:cTn>
                              </p:par>
                            </p:childTnLst>
                          </p:cTn>
                        </p:par>
                        <p:par>
                          <p:cTn id="92" fill="hold">
                            <p:stCondLst>
                              <p:cond delay="1000"/>
                            </p:stCondLst>
                            <p:childTnLst>
                              <p:par>
                                <p:cTn id="93" presetID="53" presetClass="entr" presetSubtype="0" fill="hold" grpId="0" nodeType="afterEffect">
                                  <p:stCondLst>
                                    <p:cond delay="0"/>
                                  </p:stCondLst>
                                  <p:childTnLst>
                                    <p:set>
                                      <p:cBhvr>
                                        <p:cTn id="94" dur="1" fill="hold">
                                          <p:stCondLst>
                                            <p:cond delay="0"/>
                                          </p:stCondLst>
                                        </p:cTn>
                                        <p:tgtEl>
                                          <p:spTgt spid="67"/>
                                        </p:tgtEl>
                                        <p:attrNameLst>
                                          <p:attrName>style.visibility</p:attrName>
                                        </p:attrNameLst>
                                      </p:cBhvr>
                                      <p:to>
                                        <p:strVal val="visible"/>
                                      </p:to>
                                    </p:set>
                                    <p:anim calcmode="lin" valueType="num">
                                      <p:cBhvr>
                                        <p:cTn id="95" dur="1000" fill="hold"/>
                                        <p:tgtEl>
                                          <p:spTgt spid="67"/>
                                        </p:tgtEl>
                                        <p:attrNameLst>
                                          <p:attrName>ppt_w</p:attrName>
                                        </p:attrNameLst>
                                      </p:cBhvr>
                                      <p:tavLst>
                                        <p:tav tm="0">
                                          <p:val>
                                            <p:fltVal val="0"/>
                                          </p:val>
                                        </p:tav>
                                        <p:tav tm="100000">
                                          <p:val>
                                            <p:strVal val="#ppt_w"/>
                                          </p:val>
                                        </p:tav>
                                      </p:tavLst>
                                    </p:anim>
                                    <p:anim calcmode="lin" valueType="num">
                                      <p:cBhvr>
                                        <p:cTn id="96" dur="1000" fill="hold"/>
                                        <p:tgtEl>
                                          <p:spTgt spid="67"/>
                                        </p:tgtEl>
                                        <p:attrNameLst>
                                          <p:attrName>ppt_h</p:attrName>
                                        </p:attrNameLst>
                                      </p:cBhvr>
                                      <p:tavLst>
                                        <p:tav tm="0">
                                          <p:val>
                                            <p:fltVal val="0"/>
                                          </p:val>
                                        </p:tav>
                                        <p:tav tm="100000">
                                          <p:val>
                                            <p:strVal val="#ppt_h"/>
                                          </p:val>
                                        </p:tav>
                                      </p:tavLst>
                                    </p:anim>
                                    <p:animEffect transition="in" filter="fade">
                                      <p:cBhvr>
                                        <p:cTn id="97" dur="1000"/>
                                        <p:tgtEl>
                                          <p:spTgt spid="6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wipe(left)">
                                      <p:cBhvr>
                                        <p:cTn id="102" dur="1000"/>
                                        <p:tgtEl>
                                          <p:spTgt spid="36"/>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0" fill="hold" grpId="0" nodeType="clickEffect">
                                  <p:stCondLst>
                                    <p:cond delay="0"/>
                                  </p:stCondLst>
                                  <p:childTnLst>
                                    <p:set>
                                      <p:cBhvr>
                                        <p:cTn id="106" dur="1" fill="hold">
                                          <p:stCondLst>
                                            <p:cond delay="0"/>
                                          </p:stCondLst>
                                        </p:cTn>
                                        <p:tgtEl>
                                          <p:spTgt spid="68"/>
                                        </p:tgtEl>
                                        <p:attrNameLst>
                                          <p:attrName>style.visibility</p:attrName>
                                        </p:attrNameLst>
                                      </p:cBhvr>
                                      <p:to>
                                        <p:strVal val="visible"/>
                                      </p:to>
                                    </p:set>
                                    <p:anim calcmode="lin" valueType="num">
                                      <p:cBhvr>
                                        <p:cTn id="107" dur="1000" fill="hold"/>
                                        <p:tgtEl>
                                          <p:spTgt spid="68"/>
                                        </p:tgtEl>
                                        <p:attrNameLst>
                                          <p:attrName>ppt_w</p:attrName>
                                        </p:attrNameLst>
                                      </p:cBhvr>
                                      <p:tavLst>
                                        <p:tav tm="0">
                                          <p:val>
                                            <p:fltVal val="0"/>
                                          </p:val>
                                        </p:tav>
                                        <p:tav tm="100000">
                                          <p:val>
                                            <p:strVal val="#ppt_w"/>
                                          </p:val>
                                        </p:tav>
                                      </p:tavLst>
                                    </p:anim>
                                    <p:anim calcmode="lin" valueType="num">
                                      <p:cBhvr>
                                        <p:cTn id="108" dur="1000" fill="hold"/>
                                        <p:tgtEl>
                                          <p:spTgt spid="68"/>
                                        </p:tgtEl>
                                        <p:attrNameLst>
                                          <p:attrName>ppt_h</p:attrName>
                                        </p:attrNameLst>
                                      </p:cBhvr>
                                      <p:tavLst>
                                        <p:tav tm="0">
                                          <p:val>
                                            <p:fltVal val="0"/>
                                          </p:val>
                                        </p:tav>
                                        <p:tav tm="100000">
                                          <p:val>
                                            <p:strVal val="#ppt_h"/>
                                          </p:val>
                                        </p:tav>
                                      </p:tavLst>
                                    </p:anim>
                                    <p:animEffect transition="in" filter="fade">
                                      <p:cBhvr>
                                        <p:cTn id="109" dur="1000"/>
                                        <p:tgtEl>
                                          <p:spTgt spid="68"/>
                                        </p:tgtEl>
                                      </p:cBhvr>
                                    </p:animEffect>
                                  </p:childTnLst>
                                </p:cTn>
                              </p:par>
                            </p:childTnLst>
                          </p:cTn>
                        </p:par>
                        <p:par>
                          <p:cTn id="110" fill="hold">
                            <p:stCondLst>
                              <p:cond delay="1000"/>
                            </p:stCondLst>
                            <p:childTnLst>
                              <p:par>
                                <p:cTn id="111" presetID="53" presetClass="entr" presetSubtype="0" fill="hold" grpId="0" nodeType="afterEffect">
                                  <p:stCondLst>
                                    <p:cond delay="0"/>
                                  </p:stCondLst>
                                  <p:childTnLst>
                                    <p:set>
                                      <p:cBhvr>
                                        <p:cTn id="112" dur="1" fill="hold">
                                          <p:stCondLst>
                                            <p:cond delay="0"/>
                                          </p:stCondLst>
                                        </p:cTn>
                                        <p:tgtEl>
                                          <p:spTgt spid="69"/>
                                        </p:tgtEl>
                                        <p:attrNameLst>
                                          <p:attrName>style.visibility</p:attrName>
                                        </p:attrNameLst>
                                      </p:cBhvr>
                                      <p:to>
                                        <p:strVal val="visible"/>
                                      </p:to>
                                    </p:set>
                                    <p:anim calcmode="lin" valueType="num">
                                      <p:cBhvr>
                                        <p:cTn id="113" dur="1000" fill="hold"/>
                                        <p:tgtEl>
                                          <p:spTgt spid="69"/>
                                        </p:tgtEl>
                                        <p:attrNameLst>
                                          <p:attrName>ppt_w</p:attrName>
                                        </p:attrNameLst>
                                      </p:cBhvr>
                                      <p:tavLst>
                                        <p:tav tm="0">
                                          <p:val>
                                            <p:fltVal val="0"/>
                                          </p:val>
                                        </p:tav>
                                        <p:tav tm="100000">
                                          <p:val>
                                            <p:strVal val="#ppt_w"/>
                                          </p:val>
                                        </p:tav>
                                      </p:tavLst>
                                    </p:anim>
                                    <p:anim calcmode="lin" valueType="num">
                                      <p:cBhvr>
                                        <p:cTn id="114" dur="1000" fill="hold"/>
                                        <p:tgtEl>
                                          <p:spTgt spid="69"/>
                                        </p:tgtEl>
                                        <p:attrNameLst>
                                          <p:attrName>ppt_h</p:attrName>
                                        </p:attrNameLst>
                                      </p:cBhvr>
                                      <p:tavLst>
                                        <p:tav tm="0">
                                          <p:val>
                                            <p:fltVal val="0"/>
                                          </p:val>
                                        </p:tav>
                                        <p:tav tm="100000">
                                          <p:val>
                                            <p:strVal val="#ppt_h"/>
                                          </p:val>
                                        </p:tav>
                                      </p:tavLst>
                                    </p:anim>
                                    <p:animEffect transition="in" filter="fade">
                                      <p:cBhvr>
                                        <p:cTn id="115" dur="1000"/>
                                        <p:tgtEl>
                                          <p:spTgt spid="69"/>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wipe(left)">
                                      <p:cBhvr>
                                        <p:cTn id="120" dur="1000"/>
                                        <p:tgtEl>
                                          <p:spTgt spid="37"/>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0" fill="hold" nodeType="clickEffect">
                                  <p:stCondLst>
                                    <p:cond delay="0"/>
                                  </p:stCondLst>
                                  <p:childTnLst>
                                    <p:set>
                                      <p:cBhvr>
                                        <p:cTn id="124" dur="1" fill="hold">
                                          <p:stCondLst>
                                            <p:cond delay="0"/>
                                          </p:stCondLst>
                                        </p:cTn>
                                        <p:tgtEl>
                                          <p:spTgt spid="41"/>
                                        </p:tgtEl>
                                        <p:attrNameLst>
                                          <p:attrName>style.visibility</p:attrName>
                                        </p:attrNameLst>
                                      </p:cBhvr>
                                      <p:to>
                                        <p:strVal val="visible"/>
                                      </p:to>
                                    </p:set>
                                    <p:anim calcmode="lin" valueType="num">
                                      <p:cBhvr>
                                        <p:cTn id="125" dur="500" fill="hold"/>
                                        <p:tgtEl>
                                          <p:spTgt spid="41"/>
                                        </p:tgtEl>
                                        <p:attrNameLst>
                                          <p:attrName>ppt_w</p:attrName>
                                        </p:attrNameLst>
                                      </p:cBhvr>
                                      <p:tavLst>
                                        <p:tav tm="0">
                                          <p:val>
                                            <p:fltVal val="0"/>
                                          </p:val>
                                        </p:tav>
                                        <p:tav tm="100000">
                                          <p:val>
                                            <p:strVal val="#ppt_w"/>
                                          </p:val>
                                        </p:tav>
                                      </p:tavLst>
                                    </p:anim>
                                    <p:anim calcmode="lin" valueType="num">
                                      <p:cBhvr>
                                        <p:cTn id="126" dur="500" fill="hold"/>
                                        <p:tgtEl>
                                          <p:spTgt spid="41"/>
                                        </p:tgtEl>
                                        <p:attrNameLst>
                                          <p:attrName>ppt_h</p:attrName>
                                        </p:attrNameLst>
                                      </p:cBhvr>
                                      <p:tavLst>
                                        <p:tav tm="0">
                                          <p:val>
                                            <p:fltVal val="0"/>
                                          </p:val>
                                        </p:tav>
                                        <p:tav tm="100000">
                                          <p:val>
                                            <p:strVal val="#ppt_h"/>
                                          </p:val>
                                        </p:tav>
                                      </p:tavLst>
                                    </p:anim>
                                    <p:animEffect transition="in" filter="fade">
                                      <p:cBhvr>
                                        <p:cTn id="127" dur="500"/>
                                        <p:tgtEl>
                                          <p:spTgt spid="4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44"/>
                                        </p:tgtEl>
                                        <p:attrNameLst>
                                          <p:attrName>style.visibility</p:attrName>
                                        </p:attrNameLst>
                                      </p:cBhvr>
                                      <p:to>
                                        <p:strVal val="visible"/>
                                      </p:to>
                                    </p:set>
                                    <p:animEffect transition="in" filter="wipe(left)">
                                      <p:cBhvr>
                                        <p:cTn id="132" dur="1000"/>
                                        <p:tgtEl>
                                          <p:spTgt spid="44"/>
                                        </p:tgtEl>
                                      </p:cBhvr>
                                    </p:animEffect>
                                  </p:childTnLst>
                                </p:cTn>
                              </p:par>
                            </p:childTnLst>
                          </p:cTn>
                        </p:par>
                      </p:childTnLst>
                    </p:cTn>
                  </p:par>
                  <p:par>
                    <p:cTn id="133" fill="hold">
                      <p:stCondLst>
                        <p:cond delay="indefinite"/>
                      </p:stCondLst>
                      <p:childTnLst>
                        <p:par>
                          <p:cTn id="134" fill="hold">
                            <p:stCondLst>
                              <p:cond delay="0"/>
                            </p:stCondLst>
                            <p:childTnLst>
                              <p:par>
                                <p:cTn id="135" presetID="53" presetClass="entr" presetSubtype="0" fill="hold" nodeType="clickEffect">
                                  <p:stCondLst>
                                    <p:cond delay="0"/>
                                  </p:stCondLst>
                                  <p:childTnLst>
                                    <p:set>
                                      <p:cBhvr>
                                        <p:cTn id="136" dur="1" fill="hold">
                                          <p:stCondLst>
                                            <p:cond delay="0"/>
                                          </p:stCondLst>
                                        </p:cTn>
                                        <p:tgtEl>
                                          <p:spTgt spid="60"/>
                                        </p:tgtEl>
                                        <p:attrNameLst>
                                          <p:attrName>style.visibility</p:attrName>
                                        </p:attrNameLst>
                                      </p:cBhvr>
                                      <p:to>
                                        <p:strVal val="visible"/>
                                      </p:to>
                                    </p:set>
                                    <p:anim calcmode="lin" valueType="num">
                                      <p:cBhvr>
                                        <p:cTn id="137" dur="500" fill="hold"/>
                                        <p:tgtEl>
                                          <p:spTgt spid="60"/>
                                        </p:tgtEl>
                                        <p:attrNameLst>
                                          <p:attrName>ppt_w</p:attrName>
                                        </p:attrNameLst>
                                      </p:cBhvr>
                                      <p:tavLst>
                                        <p:tav tm="0">
                                          <p:val>
                                            <p:fltVal val="0"/>
                                          </p:val>
                                        </p:tav>
                                        <p:tav tm="100000">
                                          <p:val>
                                            <p:strVal val="#ppt_w"/>
                                          </p:val>
                                        </p:tav>
                                      </p:tavLst>
                                    </p:anim>
                                    <p:anim calcmode="lin" valueType="num">
                                      <p:cBhvr>
                                        <p:cTn id="138" dur="500" fill="hold"/>
                                        <p:tgtEl>
                                          <p:spTgt spid="60"/>
                                        </p:tgtEl>
                                        <p:attrNameLst>
                                          <p:attrName>ppt_h</p:attrName>
                                        </p:attrNameLst>
                                      </p:cBhvr>
                                      <p:tavLst>
                                        <p:tav tm="0">
                                          <p:val>
                                            <p:fltVal val="0"/>
                                          </p:val>
                                        </p:tav>
                                        <p:tav tm="100000">
                                          <p:val>
                                            <p:strVal val="#ppt_h"/>
                                          </p:val>
                                        </p:tav>
                                      </p:tavLst>
                                    </p:anim>
                                    <p:animEffect transition="in" filter="fade">
                                      <p:cBhvr>
                                        <p:cTn id="139" dur="500"/>
                                        <p:tgtEl>
                                          <p:spTgt spid="60"/>
                                        </p:tgtEl>
                                      </p:cBhvr>
                                    </p:animEffect>
                                  </p:childTnLst>
                                </p:cTn>
                              </p:par>
                            </p:childTnLst>
                          </p:cTn>
                        </p:par>
                        <p:par>
                          <p:cTn id="140" fill="hold">
                            <p:stCondLst>
                              <p:cond delay="500"/>
                            </p:stCondLst>
                            <p:childTnLst>
                              <p:par>
                                <p:cTn id="141" presetID="22" presetClass="entr" presetSubtype="8" fill="hold" nodeType="afterEffect">
                                  <p:stCondLst>
                                    <p:cond delay="0"/>
                                  </p:stCondLst>
                                  <p:childTnLst>
                                    <p:set>
                                      <p:cBhvr>
                                        <p:cTn id="142" dur="1" fill="hold">
                                          <p:stCondLst>
                                            <p:cond delay="0"/>
                                          </p:stCondLst>
                                        </p:cTn>
                                        <p:tgtEl>
                                          <p:spTgt spid="45"/>
                                        </p:tgtEl>
                                        <p:attrNameLst>
                                          <p:attrName>style.visibility</p:attrName>
                                        </p:attrNameLst>
                                      </p:cBhvr>
                                      <p:to>
                                        <p:strVal val="visible"/>
                                      </p:to>
                                    </p:set>
                                    <p:animEffect transition="in" filter="wipe(left)">
                                      <p:cBhvr>
                                        <p:cTn id="143" dur="500"/>
                                        <p:tgtEl>
                                          <p:spTgt spid="45"/>
                                        </p:tgtEl>
                                      </p:cBhvr>
                                    </p:animEffect>
                                  </p:childTnLst>
                                </p:cTn>
                              </p:par>
                            </p:childTnLst>
                          </p:cTn>
                        </p:par>
                      </p:childTnLst>
                    </p:cTn>
                  </p:par>
                  <p:par>
                    <p:cTn id="144" fill="hold">
                      <p:stCondLst>
                        <p:cond delay="indefinite"/>
                      </p:stCondLst>
                      <p:childTnLst>
                        <p:par>
                          <p:cTn id="145" fill="hold">
                            <p:stCondLst>
                              <p:cond delay="0"/>
                            </p:stCondLst>
                            <p:childTnLst>
                              <p:par>
                                <p:cTn id="146" presetID="53" presetClass="entr" presetSubtype="0" fill="hold" nodeType="clickEffect">
                                  <p:stCondLst>
                                    <p:cond delay="0"/>
                                  </p:stCondLst>
                                  <p:childTnLst>
                                    <p:set>
                                      <p:cBhvr>
                                        <p:cTn id="147" dur="1" fill="hold">
                                          <p:stCondLst>
                                            <p:cond delay="0"/>
                                          </p:stCondLst>
                                        </p:cTn>
                                        <p:tgtEl>
                                          <p:spTgt spid="46"/>
                                        </p:tgtEl>
                                        <p:attrNameLst>
                                          <p:attrName>style.visibility</p:attrName>
                                        </p:attrNameLst>
                                      </p:cBhvr>
                                      <p:to>
                                        <p:strVal val="visible"/>
                                      </p:to>
                                    </p:set>
                                    <p:anim calcmode="lin" valueType="num">
                                      <p:cBhvr>
                                        <p:cTn id="148" dur="500" fill="hold"/>
                                        <p:tgtEl>
                                          <p:spTgt spid="46"/>
                                        </p:tgtEl>
                                        <p:attrNameLst>
                                          <p:attrName>ppt_w</p:attrName>
                                        </p:attrNameLst>
                                      </p:cBhvr>
                                      <p:tavLst>
                                        <p:tav tm="0">
                                          <p:val>
                                            <p:fltVal val="0"/>
                                          </p:val>
                                        </p:tav>
                                        <p:tav tm="100000">
                                          <p:val>
                                            <p:strVal val="#ppt_w"/>
                                          </p:val>
                                        </p:tav>
                                      </p:tavLst>
                                    </p:anim>
                                    <p:anim calcmode="lin" valueType="num">
                                      <p:cBhvr>
                                        <p:cTn id="149" dur="500" fill="hold"/>
                                        <p:tgtEl>
                                          <p:spTgt spid="46"/>
                                        </p:tgtEl>
                                        <p:attrNameLst>
                                          <p:attrName>ppt_h</p:attrName>
                                        </p:attrNameLst>
                                      </p:cBhvr>
                                      <p:tavLst>
                                        <p:tav tm="0">
                                          <p:val>
                                            <p:fltVal val="0"/>
                                          </p:val>
                                        </p:tav>
                                        <p:tav tm="100000">
                                          <p:val>
                                            <p:strVal val="#ppt_h"/>
                                          </p:val>
                                        </p:tav>
                                      </p:tavLst>
                                    </p:anim>
                                    <p:animEffect transition="in" filter="fade">
                                      <p:cBhvr>
                                        <p:cTn id="150" dur="500"/>
                                        <p:tgtEl>
                                          <p:spTgt spid="46"/>
                                        </p:tgtEl>
                                      </p:cBhvr>
                                    </p:animEffect>
                                  </p:childTnLst>
                                </p:cTn>
                              </p:par>
                            </p:childTnLst>
                          </p:cTn>
                        </p:par>
                        <p:par>
                          <p:cTn id="151" fill="hold">
                            <p:stCondLst>
                              <p:cond delay="500"/>
                            </p:stCondLst>
                            <p:childTnLst>
                              <p:par>
                                <p:cTn id="152" presetID="22" presetClass="entr" presetSubtype="8" fill="hold" grpId="0" nodeType="afterEffect">
                                  <p:stCondLst>
                                    <p:cond delay="0"/>
                                  </p:stCondLst>
                                  <p:childTnLst>
                                    <p:set>
                                      <p:cBhvr>
                                        <p:cTn id="153" dur="1" fill="hold">
                                          <p:stCondLst>
                                            <p:cond delay="0"/>
                                          </p:stCondLst>
                                        </p:cTn>
                                        <p:tgtEl>
                                          <p:spTgt spid="49"/>
                                        </p:tgtEl>
                                        <p:attrNameLst>
                                          <p:attrName>style.visibility</p:attrName>
                                        </p:attrNameLst>
                                      </p:cBhvr>
                                      <p:to>
                                        <p:strVal val="visible"/>
                                      </p:to>
                                    </p:set>
                                    <p:animEffect transition="in" filter="wipe(left)">
                                      <p:cBhvr>
                                        <p:cTn id="154" dur="1000"/>
                                        <p:tgtEl>
                                          <p:spTgt spid="49"/>
                                        </p:tgtEl>
                                      </p:cBhvr>
                                    </p:animEffect>
                                  </p:childTnLst>
                                </p:cTn>
                              </p:par>
                            </p:childTnLst>
                          </p:cTn>
                        </p:par>
                        <p:par>
                          <p:cTn id="155" fill="hold">
                            <p:stCondLst>
                              <p:cond delay="1500"/>
                            </p:stCondLst>
                            <p:childTnLst>
                              <p:par>
                                <p:cTn id="156" presetID="22" presetClass="entr" presetSubtype="8" fill="hold" grpId="0" nodeType="afterEffect">
                                  <p:stCondLst>
                                    <p:cond delay="0"/>
                                  </p:stCondLst>
                                  <p:childTnLst>
                                    <p:set>
                                      <p:cBhvr>
                                        <p:cTn id="157" dur="1" fill="hold">
                                          <p:stCondLst>
                                            <p:cond delay="0"/>
                                          </p:stCondLst>
                                        </p:cTn>
                                        <p:tgtEl>
                                          <p:spTgt spid="50"/>
                                        </p:tgtEl>
                                        <p:attrNameLst>
                                          <p:attrName>style.visibility</p:attrName>
                                        </p:attrNameLst>
                                      </p:cBhvr>
                                      <p:to>
                                        <p:strVal val="visible"/>
                                      </p:to>
                                    </p:set>
                                    <p:animEffect transition="in" filter="wipe(left)">
                                      <p:cBhvr>
                                        <p:cTn id="158" dur="1000"/>
                                        <p:tgtEl>
                                          <p:spTgt spid="50"/>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51"/>
                                        </p:tgtEl>
                                        <p:attrNameLst>
                                          <p:attrName>style.visibility</p:attrName>
                                        </p:attrNameLst>
                                      </p:cBhvr>
                                      <p:to>
                                        <p:strVal val="visible"/>
                                      </p:to>
                                    </p:set>
                                    <p:animEffect transition="in" filter="wipe(left)">
                                      <p:cBhvr>
                                        <p:cTn id="163" dur="1000"/>
                                        <p:tgtEl>
                                          <p:spTgt spid="51"/>
                                        </p:tgtEl>
                                      </p:cBhvr>
                                    </p:animEffect>
                                  </p:childTnLst>
                                </p:cTn>
                              </p:par>
                            </p:childTnLst>
                          </p:cTn>
                        </p:par>
                      </p:childTnLst>
                    </p:cTn>
                  </p:par>
                  <p:par>
                    <p:cTn id="164" fill="hold">
                      <p:stCondLst>
                        <p:cond delay="indefinite"/>
                      </p:stCondLst>
                      <p:childTnLst>
                        <p:par>
                          <p:cTn id="165" fill="hold">
                            <p:stCondLst>
                              <p:cond delay="0"/>
                            </p:stCondLst>
                            <p:childTnLst>
                              <p:par>
                                <p:cTn id="166" presetID="53" presetClass="entr" presetSubtype="0" fill="hold" nodeType="clickEffect">
                                  <p:stCondLst>
                                    <p:cond delay="0"/>
                                  </p:stCondLst>
                                  <p:childTnLst>
                                    <p:set>
                                      <p:cBhvr>
                                        <p:cTn id="167" dur="1" fill="hold">
                                          <p:stCondLst>
                                            <p:cond delay="0"/>
                                          </p:stCondLst>
                                        </p:cTn>
                                        <p:tgtEl>
                                          <p:spTgt spid="52"/>
                                        </p:tgtEl>
                                        <p:attrNameLst>
                                          <p:attrName>style.visibility</p:attrName>
                                        </p:attrNameLst>
                                      </p:cBhvr>
                                      <p:to>
                                        <p:strVal val="visible"/>
                                      </p:to>
                                    </p:set>
                                    <p:anim calcmode="lin" valueType="num">
                                      <p:cBhvr>
                                        <p:cTn id="168" dur="500" fill="hold"/>
                                        <p:tgtEl>
                                          <p:spTgt spid="52"/>
                                        </p:tgtEl>
                                        <p:attrNameLst>
                                          <p:attrName>ppt_w</p:attrName>
                                        </p:attrNameLst>
                                      </p:cBhvr>
                                      <p:tavLst>
                                        <p:tav tm="0">
                                          <p:val>
                                            <p:fltVal val="0"/>
                                          </p:val>
                                        </p:tav>
                                        <p:tav tm="100000">
                                          <p:val>
                                            <p:strVal val="#ppt_w"/>
                                          </p:val>
                                        </p:tav>
                                      </p:tavLst>
                                    </p:anim>
                                    <p:anim calcmode="lin" valueType="num">
                                      <p:cBhvr>
                                        <p:cTn id="169" dur="500" fill="hold"/>
                                        <p:tgtEl>
                                          <p:spTgt spid="52"/>
                                        </p:tgtEl>
                                        <p:attrNameLst>
                                          <p:attrName>ppt_h</p:attrName>
                                        </p:attrNameLst>
                                      </p:cBhvr>
                                      <p:tavLst>
                                        <p:tav tm="0">
                                          <p:val>
                                            <p:fltVal val="0"/>
                                          </p:val>
                                        </p:tav>
                                        <p:tav tm="100000">
                                          <p:val>
                                            <p:strVal val="#ppt_h"/>
                                          </p:val>
                                        </p:tav>
                                      </p:tavLst>
                                    </p:anim>
                                    <p:animEffect transition="in" filter="fade">
                                      <p:cBhvr>
                                        <p:cTn id="170" dur="500"/>
                                        <p:tgtEl>
                                          <p:spTgt spid="52"/>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55"/>
                                        </p:tgtEl>
                                        <p:attrNameLst>
                                          <p:attrName>style.visibility</p:attrName>
                                        </p:attrNameLst>
                                      </p:cBhvr>
                                      <p:to>
                                        <p:strVal val="visible"/>
                                      </p:to>
                                    </p:set>
                                    <p:animEffect transition="in" filter="wipe(left)">
                                      <p:cBhvr>
                                        <p:cTn id="175" dur="1000"/>
                                        <p:tgtEl>
                                          <p:spTgt spid="55"/>
                                        </p:tgtEl>
                                      </p:cBhvr>
                                    </p:animEffect>
                                  </p:childTnLst>
                                </p:cTn>
                              </p:par>
                            </p:childTnLst>
                          </p:cTn>
                        </p:par>
                      </p:childTnLst>
                    </p:cTn>
                  </p:par>
                  <p:par>
                    <p:cTn id="176" fill="hold">
                      <p:stCondLst>
                        <p:cond delay="indefinite"/>
                      </p:stCondLst>
                      <p:childTnLst>
                        <p:par>
                          <p:cTn id="177" fill="hold">
                            <p:stCondLst>
                              <p:cond delay="0"/>
                            </p:stCondLst>
                            <p:childTnLst>
                              <p:par>
                                <p:cTn id="178" presetID="53" presetClass="entr" presetSubtype="0" fill="hold" nodeType="clickEffect">
                                  <p:stCondLst>
                                    <p:cond delay="0"/>
                                  </p:stCondLst>
                                  <p:childTnLst>
                                    <p:set>
                                      <p:cBhvr>
                                        <p:cTn id="179" dur="1" fill="hold">
                                          <p:stCondLst>
                                            <p:cond delay="0"/>
                                          </p:stCondLst>
                                        </p:cTn>
                                        <p:tgtEl>
                                          <p:spTgt spid="57"/>
                                        </p:tgtEl>
                                        <p:attrNameLst>
                                          <p:attrName>style.visibility</p:attrName>
                                        </p:attrNameLst>
                                      </p:cBhvr>
                                      <p:to>
                                        <p:strVal val="visible"/>
                                      </p:to>
                                    </p:set>
                                    <p:anim calcmode="lin" valueType="num">
                                      <p:cBhvr>
                                        <p:cTn id="180" dur="500" fill="hold"/>
                                        <p:tgtEl>
                                          <p:spTgt spid="57"/>
                                        </p:tgtEl>
                                        <p:attrNameLst>
                                          <p:attrName>ppt_w</p:attrName>
                                        </p:attrNameLst>
                                      </p:cBhvr>
                                      <p:tavLst>
                                        <p:tav tm="0">
                                          <p:val>
                                            <p:fltVal val="0"/>
                                          </p:val>
                                        </p:tav>
                                        <p:tav tm="100000">
                                          <p:val>
                                            <p:strVal val="#ppt_w"/>
                                          </p:val>
                                        </p:tav>
                                      </p:tavLst>
                                    </p:anim>
                                    <p:anim calcmode="lin" valueType="num">
                                      <p:cBhvr>
                                        <p:cTn id="181" dur="500" fill="hold"/>
                                        <p:tgtEl>
                                          <p:spTgt spid="57"/>
                                        </p:tgtEl>
                                        <p:attrNameLst>
                                          <p:attrName>ppt_h</p:attrName>
                                        </p:attrNameLst>
                                      </p:cBhvr>
                                      <p:tavLst>
                                        <p:tav tm="0">
                                          <p:val>
                                            <p:fltVal val="0"/>
                                          </p:val>
                                        </p:tav>
                                        <p:tav tm="100000">
                                          <p:val>
                                            <p:strVal val="#ppt_h"/>
                                          </p:val>
                                        </p:tav>
                                      </p:tavLst>
                                    </p:anim>
                                    <p:animEffect transition="in" filter="fade">
                                      <p:cBhvr>
                                        <p:cTn id="182" dur="500"/>
                                        <p:tgtEl>
                                          <p:spTgt spid="57"/>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56"/>
                                        </p:tgtEl>
                                        <p:attrNameLst>
                                          <p:attrName>style.visibility</p:attrName>
                                        </p:attrNameLst>
                                      </p:cBhvr>
                                      <p:to>
                                        <p:strVal val="visible"/>
                                      </p:to>
                                    </p:set>
                                    <p:animEffect transition="in" filter="wipe(left)">
                                      <p:cBhvr>
                                        <p:cTn id="187" dur="1000"/>
                                        <p:tgtEl>
                                          <p:spTgt spid="56"/>
                                        </p:tgtEl>
                                      </p:cBhvr>
                                    </p:animEffect>
                                  </p:childTnLst>
                                </p:cTn>
                              </p:par>
                            </p:childTnLst>
                          </p:cTn>
                        </p:par>
                      </p:childTnLst>
                    </p:cTn>
                  </p:par>
                  <p:par>
                    <p:cTn id="188" fill="hold">
                      <p:stCondLst>
                        <p:cond delay="indefinite"/>
                      </p:stCondLst>
                      <p:childTnLst>
                        <p:par>
                          <p:cTn id="189" fill="hold">
                            <p:stCondLst>
                              <p:cond delay="0"/>
                            </p:stCondLst>
                            <p:childTnLst>
                              <p:par>
                                <p:cTn id="190" presetID="53" presetClass="entr" presetSubtype="0" fill="hold" nodeType="clickEffect">
                                  <p:stCondLst>
                                    <p:cond delay="0"/>
                                  </p:stCondLst>
                                  <p:childTnLst>
                                    <p:set>
                                      <p:cBhvr>
                                        <p:cTn id="191" dur="1" fill="hold">
                                          <p:stCondLst>
                                            <p:cond delay="0"/>
                                          </p:stCondLst>
                                        </p:cTn>
                                        <p:tgtEl>
                                          <p:spTgt spid="63"/>
                                        </p:tgtEl>
                                        <p:attrNameLst>
                                          <p:attrName>style.visibility</p:attrName>
                                        </p:attrNameLst>
                                      </p:cBhvr>
                                      <p:to>
                                        <p:strVal val="visible"/>
                                      </p:to>
                                    </p:set>
                                    <p:anim calcmode="lin" valueType="num">
                                      <p:cBhvr>
                                        <p:cTn id="192" dur="500" fill="hold"/>
                                        <p:tgtEl>
                                          <p:spTgt spid="63"/>
                                        </p:tgtEl>
                                        <p:attrNameLst>
                                          <p:attrName>ppt_w</p:attrName>
                                        </p:attrNameLst>
                                      </p:cBhvr>
                                      <p:tavLst>
                                        <p:tav tm="0">
                                          <p:val>
                                            <p:fltVal val="0"/>
                                          </p:val>
                                        </p:tav>
                                        <p:tav tm="100000">
                                          <p:val>
                                            <p:strVal val="#ppt_w"/>
                                          </p:val>
                                        </p:tav>
                                      </p:tavLst>
                                    </p:anim>
                                    <p:anim calcmode="lin" valueType="num">
                                      <p:cBhvr>
                                        <p:cTn id="193" dur="500" fill="hold"/>
                                        <p:tgtEl>
                                          <p:spTgt spid="63"/>
                                        </p:tgtEl>
                                        <p:attrNameLst>
                                          <p:attrName>ppt_h</p:attrName>
                                        </p:attrNameLst>
                                      </p:cBhvr>
                                      <p:tavLst>
                                        <p:tav tm="0">
                                          <p:val>
                                            <p:fltVal val="0"/>
                                          </p:val>
                                        </p:tav>
                                        <p:tav tm="100000">
                                          <p:val>
                                            <p:strVal val="#ppt_h"/>
                                          </p:val>
                                        </p:tav>
                                      </p:tavLst>
                                    </p:anim>
                                    <p:animEffect transition="in" filter="fade">
                                      <p:cBhvr>
                                        <p:cTn id="194"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9" grpId="0"/>
      <p:bldP spid="20" grpId="0"/>
      <p:bldP spid="28" grpId="0"/>
      <p:bldP spid="29" grpId="0"/>
      <p:bldP spid="31" grpId="0"/>
      <p:bldP spid="32" grpId="0"/>
      <p:bldP spid="36" grpId="0"/>
      <p:bldP spid="37" grpId="0"/>
      <p:bldP spid="44" grpId="0"/>
      <p:bldP spid="49" grpId="0"/>
      <p:bldP spid="50" grpId="0"/>
      <p:bldP spid="51" grpId="0"/>
      <p:bldP spid="55" grpId="0"/>
      <p:bldP spid="56" grpId="0"/>
      <p:bldP spid="66" grpId="0" animBg="1"/>
      <p:bldP spid="67" grpId="0" animBg="1"/>
      <p:bldP spid="68" grpId="0" animBg="1"/>
      <p:bldP spid="6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1579</TotalTime>
  <Words>2591</Words>
  <Application>Microsoft Office PowerPoint</Application>
  <PresentationFormat>On-screen Show (4:3)</PresentationFormat>
  <Paragraphs>404</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Hamilton Stott</cp:lastModifiedBy>
  <cp:revision>137</cp:revision>
  <dcterms:created xsi:type="dcterms:W3CDTF">2014-05-14T02:58:57Z</dcterms:created>
  <dcterms:modified xsi:type="dcterms:W3CDTF">2020-09-01T08:22:56Z</dcterms:modified>
</cp:coreProperties>
</file>
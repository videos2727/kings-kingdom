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2" r:id="rId2"/>
    <p:sldId id="340" r:id="rId3"/>
    <p:sldId id="341" r:id="rId4"/>
    <p:sldId id="342" r:id="rId5"/>
    <p:sldId id="345" r:id="rId6"/>
    <p:sldId id="346" r:id="rId7"/>
    <p:sldId id="292" r:id="rId8"/>
    <p:sldId id="343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98" d="100"/>
          <a:sy n="98" d="100"/>
        </p:scale>
        <p:origin x="128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B008E4F0-9789-4800-A4D5-464A1DDBBDA7}"/>
    <pc:docChg chg="delSld modSld delMainMaster">
      <pc:chgData name="Hamilton Stott" userId="e28223afab1f786a" providerId="LiveId" clId="{B008E4F0-9789-4800-A4D5-464A1DDBBDA7}" dt="2020-08-31T08:22:59.360" v="13" actId="20577"/>
      <pc:docMkLst>
        <pc:docMk/>
      </pc:docMkLst>
      <pc:sldChg chg="modSp mod">
        <pc:chgData name="Hamilton Stott" userId="e28223afab1f786a" providerId="LiveId" clId="{B008E4F0-9789-4800-A4D5-464A1DDBBDA7}" dt="2020-08-31T08:22:59.360" v="13" actId="20577"/>
        <pc:sldMkLst>
          <pc:docMk/>
          <pc:sldMk cId="3069921818" sldId="292"/>
        </pc:sldMkLst>
        <pc:spChg chg="mod">
          <ac:chgData name="Hamilton Stott" userId="e28223afab1f786a" providerId="LiveId" clId="{B008E4F0-9789-4800-A4D5-464A1DDBBDA7}" dt="2020-08-31T08:22:59.360" v="13" actId="20577"/>
          <ac:spMkLst>
            <pc:docMk/>
            <pc:sldMk cId="3069921818" sldId="292"/>
            <ac:spMk id="2" creationId="{00000000-0000-0000-0000-000000000000}"/>
          </ac:spMkLst>
        </pc:spChg>
      </pc:sldChg>
      <pc:sldChg chg="del">
        <pc:chgData name="Hamilton Stott" userId="e28223afab1f786a" providerId="LiveId" clId="{B008E4F0-9789-4800-A4D5-464A1DDBBDA7}" dt="2020-08-31T08:19:35.734" v="0" actId="47"/>
        <pc:sldMkLst>
          <pc:docMk/>
          <pc:sldMk cId="2516060080" sldId="339"/>
        </pc:sldMkLst>
      </pc:sldChg>
      <pc:sldChg chg="del">
        <pc:chgData name="Hamilton Stott" userId="e28223afab1f786a" providerId="LiveId" clId="{B008E4F0-9789-4800-A4D5-464A1DDBBDA7}" dt="2020-08-31T08:19:37.778" v="1" actId="47"/>
        <pc:sldMkLst>
          <pc:docMk/>
          <pc:sldMk cId="3405148166" sldId="344"/>
        </pc:sldMkLst>
      </pc:sldChg>
      <pc:sldMasterChg chg="del delSldLayout">
        <pc:chgData name="Hamilton Stott" userId="e28223afab1f786a" providerId="LiveId" clId="{B008E4F0-9789-4800-A4D5-464A1DDBBDA7}" dt="2020-08-31T08:19:37.778" v="1" actId="47"/>
        <pc:sldMasterMkLst>
          <pc:docMk/>
          <pc:sldMasterMk cId="3675257569" sldId="2147483660"/>
        </pc:sldMasterMkLst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1743604006" sldId="2147483661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698739026" sldId="2147483662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1767407912" sldId="2147483663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2676969812" sldId="2147483664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3581614366" sldId="2147483665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3842527050" sldId="2147483666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936829444" sldId="2147483667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782060433" sldId="2147483668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495013832" sldId="2147483669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3866960818" sldId="2147483670"/>
          </pc:sldLayoutMkLst>
        </pc:sldLayoutChg>
        <pc:sldLayoutChg chg="del">
          <pc:chgData name="Hamilton Stott" userId="e28223afab1f786a" providerId="LiveId" clId="{B008E4F0-9789-4800-A4D5-464A1DDBBDA7}" dt="2020-08-31T08:19:37.778" v="1" actId="47"/>
          <pc:sldLayoutMkLst>
            <pc:docMk/>
            <pc:sldMasterMk cId="3675257569" sldId="2147483660"/>
            <pc:sldLayoutMk cId="819253971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31/08/2020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31/08/2020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3096" y="2204864"/>
            <a:ext cx="7704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70C0"/>
                </a:solidFill>
              </a:rPr>
              <a:t>If two (or more) equations have the same variables and the same solutions then they are simultaneous equations.</a:t>
            </a:r>
          </a:p>
          <a:p>
            <a:endParaRPr lang="en-AU" sz="2800" dirty="0">
              <a:solidFill>
                <a:srgbClr val="0070C0"/>
              </a:solidFill>
            </a:endParaRPr>
          </a:p>
          <a:p>
            <a:r>
              <a:rPr lang="en-AU" sz="2800" dirty="0">
                <a:solidFill>
                  <a:srgbClr val="0070C0"/>
                </a:solidFill>
              </a:rPr>
              <a:t>'Solving' simultaneous equations means finding the values of 'x' and 'y' that make them true. The following steps will demonstrate how to solve simultaneous equations by the </a:t>
            </a:r>
            <a:r>
              <a:rPr lang="en-AU" sz="2800" b="1" dirty="0">
                <a:solidFill>
                  <a:srgbClr val="0070C0"/>
                </a:solidFill>
              </a:rPr>
              <a:t>substitution method</a:t>
            </a:r>
            <a:r>
              <a:rPr lang="en-AU" sz="2800" dirty="0">
                <a:solidFill>
                  <a:srgbClr val="0070C0"/>
                </a:solidFill>
              </a:rPr>
              <a:t>.  </a:t>
            </a:r>
            <a:r>
              <a:rPr lang="en-A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77626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81" y="1800796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Solve the following:</a:t>
            </a:r>
          </a:p>
          <a:p>
            <a:r>
              <a:rPr lang="es-ES" sz="2000" i="1" dirty="0"/>
              <a:t>x</a:t>
            </a:r>
            <a:r>
              <a:rPr lang="es-ES" sz="2000" dirty="0"/>
              <a:t> + </a:t>
            </a:r>
            <a:r>
              <a:rPr lang="es-ES" sz="2000" i="1" dirty="0"/>
              <a:t>y</a:t>
            </a:r>
            <a:r>
              <a:rPr lang="es-ES" sz="2000" dirty="0"/>
              <a:t> = 3 and</a:t>
            </a:r>
          </a:p>
          <a:p>
            <a:r>
              <a:rPr lang="es-ES" sz="2000" dirty="0"/>
              <a:t>2</a:t>
            </a:r>
            <a:r>
              <a:rPr lang="es-ES" sz="2000" i="1" dirty="0"/>
              <a:t>x</a:t>
            </a:r>
            <a:r>
              <a:rPr lang="es-ES" sz="2000" dirty="0"/>
              <a:t> + 3</a:t>
            </a:r>
            <a:r>
              <a:rPr lang="es-ES" sz="2000" i="1" dirty="0"/>
              <a:t>y</a:t>
            </a:r>
            <a:r>
              <a:rPr lang="es-ES" sz="2000" dirty="0"/>
              <a:t> = 8</a:t>
            </a:r>
          </a:p>
          <a:p>
            <a:endParaRPr lang="es-ES" sz="2000" dirty="0"/>
          </a:p>
          <a:p>
            <a:r>
              <a:rPr lang="en-AU" sz="2000" b="1" dirty="0">
                <a:solidFill>
                  <a:srgbClr val="0070C0"/>
                </a:solidFill>
              </a:rPr>
              <a:t>Step 1: Isolate one of the variables ( ‘</a:t>
            </a:r>
            <a:r>
              <a:rPr lang="en-AU" sz="2000" b="1" i="1" dirty="0">
                <a:solidFill>
                  <a:srgbClr val="0070C0"/>
                </a:solidFill>
              </a:rPr>
              <a:t>x</a:t>
            </a:r>
            <a:r>
              <a:rPr lang="en-AU" sz="2000" b="1" dirty="0">
                <a:solidFill>
                  <a:srgbClr val="0070C0"/>
                </a:solidFill>
              </a:rPr>
              <a:t>’ ) on one side of one of the equations: </a:t>
            </a:r>
            <a:endParaRPr lang="en-AU" sz="2000" dirty="0">
              <a:solidFill>
                <a:srgbClr val="0070C0"/>
              </a:solidFill>
            </a:endParaRPr>
          </a:p>
          <a:p>
            <a:r>
              <a:rPr lang="en-AU" sz="2000" i="1" dirty="0"/>
              <a:t>x</a:t>
            </a:r>
            <a:r>
              <a:rPr lang="en-AU" sz="2000" dirty="0"/>
              <a:t> + </a:t>
            </a:r>
            <a:r>
              <a:rPr lang="en-AU" sz="2000" i="1" dirty="0"/>
              <a:t>y</a:t>
            </a:r>
            <a:r>
              <a:rPr lang="en-AU" sz="2000" dirty="0"/>
              <a:t> = 3    (-y)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</a:t>
            </a:r>
          </a:p>
          <a:p>
            <a:endParaRPr lang="en-AU" sz="2000" dirty="0"/>
          </a:p>
          <a:p>
            <a:r>
              <a:rPr lang="en-AU" sz="2000" b="1" dirty="0">
                <a:solidFill>
                  <a:srgbClr val="0070C0"/>
                </a:solidFill>
              </a:rPr>
              <a:t>(2) Substitute for the isolated variable in the other equation: </a:t>
            </a:r>
            <a:endParaRPr lang="en-AU" sz="2000" dirty="0">
              <a:solidFill>
                <a:srgbClr val="0070C0"/>
              </a:solidFill>
            </a:endParaRPr>
          </a:p>
          <a:p>
            <a:r>
              <a:rPr lang="en-AU" sz="2000" dirty="0"/>
              <a:t>2</a:t>
            </a:r>
            <a:r>
              <a:rPr lang="en-AU" sz="2000" i="1" dirty="0"/>
              <a:t>x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         (Substituting 3 - y for ‘</a:t>
            </a:r>
            <a:r>
              <a:rPr lang="en-AU" sz="2000" i="1" dirty="0"/>
              <a:t>x</a:t>
            </a:r>
            <a:r>
              <a:rPr lang="en-AU" sz="2000" dirty="0"/>
              <a:t>’)</a:t>
            </a:r>
          </a:p>
          <a:p>
            <a:endParaRPr lang="en-AU" sz="2000" dirty="0"/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</a:t>
            </a:r>
          </a:p>
          <a:p>
            <a:endParaRPr lang="en-AU" sz="2000" dirty="0"/>
          </a:p>
          <a:p>
            <a:r>
              <a:rPr lang="en-AU" sz="2000" dirty="0"/>
              <a:t> This equation has only one variable, so we can solve it.</a:t>
            </a:r>
          </a:p>
        </p:txBody>
      </p:sp>
    </p:spTree>
    <p:extLst>
      <p:ext uri="{BB962C8B-B14F-4D97-AF65-F5344CB8AC3E}">
        <p14:creationId xmlns:p14="http://schemas.microsoft.com/office/powerpoint/2010/main" val="5882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70C0"/>
                </a:solidFill>
              </a:rPr>
              <a:t>Step 3: Solve this equation for the other variable, ‘</a:t>
            </a:r>
            <a:r>
              <a:rPr lang="en-AU" sz="2000" b="1" i="1" dirty="0">
                <a:solidFill>
                  <a:srgbClr val="0070C0"/>
                </a:solidFill>
              </a:rPr>
              <a:t>y</a:t>
            </a:r>
            <a:r>
              <a:rPr lang="en-AU" sz="2000" b="1" dirty="0">
                <a:solidFill>
                  <a:srgbClr val="0070C0"/>
                </a:solidFill>
              </a:rPr>
              <a:t>’: </a:t>
            </a:r>
            <a:endParaRPr lang="en-AU" sz="2000" dirty="0">
              <a:solidFill>
                <a:srgbClr val="0070C0"/>
              </a:solidFill>
            </a:endParaRPr>
          </a:p>
          <a:p>
            <a:r>
              <a:rPr lang="en-AU" sz="2000" dirty="0"/>
              <a:t>2(3 - </a:t>
            </a:r>
            <a:r>
              <a:rPr lang="en-AU" sz="2000" i="1" dirty="0"/>
              <a:t>y</a:t>
            </a:r>
            <a:r>
              <a:rPr lang="en-AU" sz="2000" dirty="0"/>
              <a:t>) + 3</a:t>
            </a:r>
            <a:r>
              <a:rPr lang="en-AU" sz="2000" i="1" dirty="0"/>
              <a:t>y</a:t>
            </a:r>
            <a:r>
              <a:rPr lang="en-AU" sz="2000" dirty="0"/>
              <a:t> = 8        (Expanding the brackets)</a:t>
            </a:r>
          </a:p>
          <a:p>
            <a:endParaRPr lang="en-AU" sz="2000" dirty="0"/>
          </a:p>
          <a:p>
            <a:r>
              <a:rPr lang="en-AU" sz="2000" dirty="0"/>
              <a:t>6 - 2</a:t>
            </a:r>
            <a:r>
              <a:rPr lang="en-AU" sz="2000" i="1" dirty="0"/>
              <a:t>y</a:t>
            </a:r>
            <a:r>
              <a:rPr lang="en-AU" sz="2000" dirty="0"/>
              <a:t> + 3</a:t>
            </a:r>
            <a:r>
              <a:rPr lang="en-AU" sz="2000" i="1" dirty="0"/>
              <a:t>y</a:t>
            </a:r>
            <a:r>
              <a:rPr lang="en-AU" sz="2000" dirty="0"/>
              <a:t> = 8           (Simplify)</a:t>
            </a:r>
          </a:p>
          <a:p>
            <a:endParaRPr lang="en-AU" sz="2000" dirty="0"/>
          </a:p>
          <a:p>
            <a:r>
              <a:rPr lang="en-AU" sz="2000" dirty="0"/>
              <a:t>6 + </a:t>
            </a:r>
            <a:r>
              <a:rPr lang="en-AU" sz="2000" i="1" dirty="0"/>
              <a:t>y</a:t>
            </a:r>
            <a:r>
              <a:rPr lang="en-AU" sz="2000" dirty="0"/>
              <a:t> = 8                     (-6)</a:t>
            </a:r>
          </a:p>
          <a:p>
            <a:endParaRPr lang="en-AU" sz="2000" dirty="0"/>
          </a:p>
          <a:p>
            <a:r>
              <a:rPr lang="en-AU" sz="2000" i="1" dirty="0"/>
              <a:t>y</a:t>
            </a:r>
            <a:r>
              <a:rPr lang="en-AU" sz="2000" dirty="0"/>
              <a:t> = 2 </a:t>
            </a:r>
          </a:p>
          <a:p>
            <a:endParaRPr lang="en-AU" sz="2000" dirty="0"/>
          </a:p>
          <a:p>
            <a:r>
              <a:rPr lang="en-AU" sz="2000" b="1" dirty="0"/>
              <a:t> </a:t>
            </a:r>
            <a:r>
              <a:rPr lang="en-AU" sz="2000" b="1" dirty="0">
                <a:solidFill>
                  <a:srgbClr val="0070C0"/>
                </a:solidFill>
              </a:rPr>
              <a:t>Step 4: Substitute the known value of ‘</a:t>
            </a:r>
            <a:r>
              <a:rPr lang="en-AU" sz="2000" b="1" i="1" dirty="0">
                <a:solidFill>
                  <a:srgbClr val="0070C0"/>
                </a:solidFill>
              </a:rPr>
              <a:t>y</a:t>
            </a:r>
            <a:r>
              <a:rPr lang="en-AU" sz="2000" b="1" dirty="0">
                <a:solidFill>
                  <a:srgbClr val="0070C0"/>
                </a:solidFill>
              </a:rPr>
              <a:t>’ into the equation for ‘</a:t>
            </a:r>
            <a:r>
              <a:rPr lang="en-AU" sz="2000" b="1" i="1" dirty="0">
                <a:solidFill>
                  <a:srgbClr val="0070C0"/>
                </a:solidFill>
              </a:rPr>
              <a:t>x</a:t>
            </a:r>
            <a:r>
              <a:rPr lang="en-AU" sz="2000" b="1" dirty="0">
                <a:solidFill>
                  <a:srgbClr val="0070C0"/>
                </a:solidFill>
              </a:rPr>
              <a:t>’ derived in step 1: </a:t>
            </a:r>
            <a:endParaRPr lang="en-AU" sz="2000" dirty="0">
              <a:solidFill>
                <a:srgbClr val="0070C0"/>
              </a:solidFill>
            </a:endParaRPr>
          </a:p>
          <a:p>
            <a:r>
              <a:rPr lang="en-AU" sz="2000" i="1" dirty="0"/>
              <a:t>x</a:t>
            </a:r>
            <a:r>
              <a:rPr lang="en-AU" sz="2000" dirty="0"/>
              <a:t>  = 3 - </a:t>
            </a:r>
            <a:r>
              <a:rPr lang="en-AU" sz="2000" i="1" dirty="0"/>
              <a:t>y</a:t>
            </a:r>
            <a:r>
              <a:rPr lang="en-AU" sz="2000" dirty="0"/>
              <a:t>                       (Substitute 2 for </a:t>
            </a:r>
            <a:r>
              <a:rPr lang="en-AU" sz="2000" b="1" dirty="0"/>
              <a:t>‘</a:t>
            </a:r>
            <a:r>
              <a:rPr lang="en-AU" sz="2000" b="1" i="1" dirty="0"/>
              <a:t>y</a:t>
            </a:r>
            <a:r>
              <a:rPr lang="en-AU" sz="2000" b="1" dirty="0"/>
              <a:t>’</a:t>
            </a:r>
            <a:r>
              <a:rPr lang="en-AU" sz="2000" dirty="0"/>
              <a:t>)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 = 3 - 2 </a:t>
            </a:r>
          </a:p>
          <a:p>
            <a:endParaRPr lang="en-AU" sz="2000" dirty="0"/>
          </a:p>
          <a:p>
            <a:r>
              <a:rPr lang="en-AU" sz="2000" i="1" dirty="0"/>
              <a:t>x</a:t>
            </a:r>
            <a:r>
              <a:rPr lang="en-AU" sz="2000" dirty="0"/>
              <a:t> = 1 </a:t>
            </a:r>
          </a:p>
        </p:txBody>
      </p:sp>
    </p:spTree>
    <p:extLst>
      <p:ext uri="{BB962C8B-B14F-4D97-AF65-F5344CB8AC3E}">
        <p14:creationId xmlns:p14="http://schemas.microsoft.com/office/powerpoint/2010/main" val="359567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Solution: </a:t>
            </a:r>
            <a:r>
              <a:rPr lang="en-AU" sz="2000" dirty="0"/>
              <a:t>x = 1, y = 2</a:t>
            </a:r>
            <a:endParaRPr lang="en-AU" sz="2000" b="1" dirty="0"/>
          </a:p>
          <a:p>
            <a:endParaRPr lang="en-AU" sz="2000" dirty="0"/>
          </a:p>
          <a:p>
            <a:r>
              <a:rPr lang="en-AU" sz="2000" b="1" dirty="0"/>
              <a:t>Check:</a:t>
            </a:r>
          </a:p>
          <a:p>
            <a:endParaRPr lang="en-AU" sz="2000" dirty="0"/>
          </a:p>
          <a:p>
            <a:r>
              <a:rPr lang="es-ES" sz="2000" i="1" dirty="0"/>
              <a:t>1</a:t>
            </a:r>
            <a:r>
              <a:rPr lang="es-ES" sz="2000" dirty="0"/>
              <a:t> + </a:t>
            </a:r>
            <a:r>
              <a:rPr lang="es-ES" sz="2000" i="1" dirty="0"/>
              <a:t>2</a:t>
            </a:r>
            <a:r>
              <a:rPr lang="es-ES" sz="2000" dirty="0"/>
              <a:t> = 3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</a:p>
          <a:p>
            <a:endParaRPr lang="es-ES" sz="2000" dirty="0">
              <a:solidFill>
                <a:srgbClr val="FF0000"/>
              </a:solidFill>
            </a:endParaRPr>
          </a:p>
          <a:p>
            <a:r>
              <a:rPr lang="es-ES" sz="2000" dirty="0"/>
              <a:t>2 </a:t>
            </a:r>
            <a:r>
              <a:rPr lang="es-ES" sz="2000" dirty="0">
                <a:sym typeface="Symbol"/>
              </a:rPr>
              <a:t> 1</a:t>
            </a:r>
            <a:r>
              <a:rPr lang="es-ES" sz="2000" dirty="0"/>
              <a:t> + 3 </a:t>
            </a:r>
            <a:r>
              <a:rPr lang="es-ES" sz="2000" dirty="0">
                <a:sym typeface="Symbol"/>
              </a:rPr>
              <a:t> 2</a:t>
            </a:r>
            <a:r>
              <a:rPr lang="es-ES" sz="2000" dirty="0"/>
              <a:t> = 8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  <a:endParaRPr lang="es-ES" sz="2000" dirty="0">
              <a:solidFill>
                <a:srgbClr val="FF0000"/>
              </a:solidFill>
            </a:endParaRPr>
          </a:p>
          <a:p>
            <a:endParaRPr lang="es-ES" sz="2000" dirty="0"/>
          </a:p>
          <a:p>
            <a:r>
              <a:rPr lang="en-AU" sz="2000" b="1" dirty="0"/>
              <a:t>Example </a:t>
            </a:r>
          </a:p>
          <a:p>
            <a:r>
              <a:rPr lang="en-AU" sz="2000" dirty="0"/>
              <a:t>Kristin spent $131 on shirts. Fancy shirts cost $28 and plain shirts cost $15. If she bought a total of 7 then how many of each kind did she buy?</a:t>
            </a:r>
          </a:p>
          <a:p>
            <a:endParaRPr lang="en-AU" sz="2000" dirty="0"/>
          </a:p>
          <a:p>
            <a:r>
              <a:rPr lang="en-AU" sz="2000" dirty="0"/>
              <a:t>Let f be </a:t>
            </a:r>
            <a:r>
              <a:rPr lang="en-AU" sz="2000" u="sng" dirty="0"/>
              <a:t>fancy shirts </a:t>
            </a:r>
            <a:r>
              <a:rPr lang="en-AU" sz="2000" dirty="0"/>
              <a:t>and let p be </a:t>
            </a:r>
            <a:r>
              <a:rPr lang="en-AU" sz="2000" u="sng" dirty="0"/>
              <a:t>plain shirts.</a:t>
            </a:r>
          </a:p>
          <a:p>
            <a:endParaRPr lang="en-AU" sz="2000" u="sng" dirty="0"/>
          </a:p>
          <a:p>
            <a:r>
              <a:rPr lang="en-AU" sz="2000" dirty="0"/>
              <a:t>Always be perfectly clear about what your variables represent!</a:t>
            </a:r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1959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  </a:t>
            </a:r>
            <a:r>
              <a:rPr lang="en-AU" sz="2000" i="1" dirty="0"/>
              <a:t>f</a:t>
            </a:r>
            <a:r>
              <a:rPr lang="en-AU" sz="2000" dirty="0"/>
              <a:t>  + p = 7</a:t>
            </a:r>
          </a:p>
          <a:p>
            <a:r>
              <a:rPr lang="en-AU" sz="2000" dirty="0"/>
              <a:t>  </a:t>
            </a:r>
            <a:r>
              <a:rPr lang="en-AU" sz="2000" i="1" dirty="0"/>
              <a:t>28f</a:t>
            </a:r>
            <a:r>
              <a:rPr lang="en-AU" sz="2000" dirty="0"/>
              <a:t> + 15p = 131</a:t>
            </a:r>
          </a:p>
          <a:p>
            <a:endParaRPr lang="en-AU" sz="2000" dirty="0"/>
          </a:p>
          <a:p>
            <a:r>
              <a:rPr lang="en-AU" sz="2000" dirty="0"/>
              <a:t>Step 1: find </a:t>
            </a:r>
            <a:r>
              <a:rPr lang="en-AU" sz="2000" i="1" dirty="0"/>
              <a:t>f</a:t>
            </a:r>
            <a:r>
              <a:rPr lang="en-AU" sz="2000" dirty="0"/>
              <a:t> (or </a:t>
            </a:r>
            <a:r>
              <a:rPr lang="en-AU" sz="2000" i="1" dirty="0"/>
              <a:t>p</a:t>
            </a:r>
            <a:r>
              <a:rPr lang="en-AU" sz="2000" dirty="0"/>
              <a:t>)</a:t>
            </a:r>
          </a:p>
          <a:p>
            <a:r>
              <a:rPr lang="en-AU" sz="2000" dirty="0"/>
              <a:t> </a:t>
            </a:r>
            <a:r>
              <a:rPr lang="en-AU" sz="2000" i="1" dirty="0"/>
              <a:t>f</a:t>
            </a:r>
            <a:r>
              <a:rPr lang="en-AU" sz="2000" dirty="0"/>
              <a:t>  + p = 7        (-p)</a:t>
            </a:r>
          </a:p>
          <a:p>
            <a:endParaRPr lang="en-AU" sz="2000" dirty="0"/>
          </a:p>
          <a:p>
            <a:r>
              <a:rPr lang="en-AU" sz="2000" i="1" dirty="0"/>
              <a:t>         f</a:t>
            </a:r>
            <a:r>
              <a:rPr lang="en-AU" sz="2000" dirty="0"/>
              <a:t> = 7 – p</a:t>
            </a:r>
          </a:p>
          <a:p>
            <a:endParaRPr lang="en-AU" sz="2000" i="1" dirty="0"/>
          </a:p>
          <a:p>
            <a:r>
              <a:rPr lang="en-AU" sz="2000" dirty="0"/>
              <a:t>Step 2: Substitute and Solve</a:t>
            </a:r>
          </a:p>
          <a:p>
            <a:endParaRPr lang="en-AU" sz="2000" dirty="0"/>
          </a:p>
          <a:p>
            <a:r>
              <a:rPr lang="en-AU" sz="2000" dirty="0"/>
              <a:t>    28(7-p) + 15p = 131        (expand brackets)</a:t>
            </a:r>
          </a:p>
          <a:p>
            <a:endParaRPr lang="en-AU" sz="2000" dirty="0"/>
          </a:p>
          <a:p>
            <a:r>
              <a:rPr lang="en-AU" sz="2000" dirty="0"/>
              <a:t>196 – 28p + 15p = 131       (simplify)</a:t>
            </a:r>
          </a:p>
          <a:p>
            <a:endParaRPr lang="en-AU" sz="2000" dirty="0"/>
          </a:p>
          <a:p>
            <a:r>
              <a:rPr lang="en-AU" sz="2000" dirty="0"/>
              <a:t>           196 – 13p = 131         (-196)</a:t>
            </a:r>
          </a:p>
          <a:p>
            <a:endParaRPr lang="en-AU" sz="2000" dirty="0"/>
          </a:p>
          <a:p>
            <a:r>
              <a:rPr lang="en-AU" sz="2000" dirty="0"/>
              <a:t>                     -13p = -65        (÷-13)</a:t>
            </a:r>
          </a:p>
        </p:txBody>
      </p:sp>
    </p:spTree>
    <p:extLst>
      <p:ext uri="{BB962C8B-B14F-4D97-AF65-F5344CB8AC3E}">
        <p14:creationId xmlns:p14="http://schemas.microsoft.com/office/powerpoint/2010/main" val="358205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84175" y="14836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1483623"/>
            <a:ext cx="0" cy="5545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90209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solve simultaneous equations using the substitution method?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7012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Simultaneous equations – substitution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117" y="1508155"/>
            <a:ext cx="77048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                       p = 5</a:t>
            </a:r>
          </a:p>
          <a:p>
            <a:endParaRPr lang="en-AU" sz="2000" dirty="0"/>
          </a:p>
          <a:p>
            <a:r>
              <a:rPr lang="en-AU" sz="2000" dirty="0"/>
              <a:t>Step 3: Substitute p = 5</a:t>
            </a:r>
          </a:p>
          <a:p>
            <a:endParaRPr lang="en-AU" sz="2000" dirty="0"/>
          </a:p>
          <a:p>
            <a:r>
              <a:rPr lang="en-AU" sz="2000" i="1" dirty="0"/>
              <a:t>f</a:t>
            </a:r>
            <a:r>
              <a:rPr lang="en-AU" sz="2000" dirty="0"/>
              <a:t> = 7 – 5</a:t>
            </a:r>
          </a:p>
          <a:p>
            <a:endParaRPr lang="en-AU" sz="2000" dirty="0"/>
          </a:p>
          <a:p>
            <a:r>
              <a:rPr lang="en-AU" sz="2000" i="1" dirty="0"/>
              <a:t>f</a:t>
            </a:r>
            <a:r>
              <a:rPr lang="en-AU" sz="2000" dirty="0"/>
              <a:t> = 2</a:t>
            </a:r>
          </a:p>
          <a:p>
            <a:endParaRPr lang="en-AU" sz="2000" dirty="0"/>
          </a:p>
          <a:p>
            <a:r>
              <a:rPr lang="en-AU" sz="2000" b="1" dirty="0"/>
              <a:t>Solution: </a:t>
            </a:r>
            <a:r>
              <a:rPr lang="en-AU" sz="2000" i="1" dirty="0"/>
              <a:t>f</a:t>
            </a:r>
            <a:r>
              <a:rPr lang="en-AU" sz="2000" dirty="0"/>
              <a:t> = 2, p = 5</a:t>
            </a:r>
            <a:endParaRPr lang="en-AU" sz="2000" b="1" dirty="0"/>
          </a:p>
          <a:p>
            <a:endParaRPr lang="en-AU" sz="2000" dirty="0"/>
          </a:p>
          <a:p>
            <a:r>
              <a:rPr lang="en-AU" sz="2000" b="1" dirty="0"/>
              <a:t>Check:</a:t>
            </a:r>
          </a:p>
          <a:p>
            <a:endParaRPr lang="en-AU" sz="2000" dirty="0"/>
          </a:p>
          <a:p>
            <a:r>
              <a:rPr lang="es-ES" sz="2000" i="1" dirty="0"/>
              <a:t>2</a:t>
            </a:r>
            <a:r>
              <a:rPr lang="es-ES" sz="2000" dirty="0"/>
              <a:t> + </a:t>
            </a:r>
            <a:r>
              <a:rPr lang="es-ES" sz="2000" i="1" dirty="0"/>
              <a:t>5</a:t>
            </a:r>
            <a:r>
              <a:rPr lang="es-ES" sz="2000" dirty="0"/>
              <a:t> = 7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</a:p>
          <a:p>
            <a:endParaRPr lang="es-ES" sz="2000" dirty="0">
              <a:solidFill>
                <a:srgbClr val="FF0000"/>
              </a:solidFill>
            </a:endParaRPr>
          </a:p>
          <a:p>
            <a:r>
              <a:rPr lang="es-ES" sz="2000" dirty="0"/>
              <a:t>28 </a:t>
            </a:r>
            <a:r>
              <a:rPr lang="es-ES" sz="2000" dirty="0">
                <a:sym typeface="Symbol"/>
              </a:rPr>
              <a:t> 2</a:t>
            </a:r>
            <a:r>
              <a:rPr lang="es-ES" sz="2000" dirty="0"/>
              <a:t> + 15 </a:t>
            </a:r>
            <a:r>
              <a:rPr lang="es-ES" sz="2000" dirty="0">
                <a:sym typeface="Symbol"/>
              </a:rPr>
              <a:t> 5</a:t>
            </a:r>
            <a:r>
              <a:rPr lang="es-ES" sz="2000" dirty="0"/>
              <a:t> = 131 </a:t>
            </a:r>
            <a:r>
              <a:rPr lang="es-ES" sz="2000" dirty="0">
                <a:solidFill>
                  <a:srgbClr val="FF0000"/>
                </a:solidFill>
                <a:sym typeface="Wingdings 2"/>
              </a:rPr>
              <a:t></a:t>
            </a:r>
            <a:endParaRPr lang="es-ES" sz="2000" dirty="0">
              <a:solidFill>
                <a:srgbClr val="FF0000"/>
              </a:solidFill>
            </a:endParaRP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92773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30626"/>
          </a:xfrm>
        </p:spPr>
        <p:txBody>
          <a:bodyPr>
            <a:normAutofit/>
          </a:bodyPr>
          <a:lstStyle/>
          <a:p>
            <a:r>
              <a:rPr lang="en-AU" dirty="0"/>
              <a:t>Questions:</a:t>
            </a:r>
            <a:br>
              <a:rPr lang="en-AU" dirty="0"/>
            </a:br>
            <a:r>
              <a:rPr lang="en-AU" dirty="0"/>
              <a:t>Dwyer Ex 2.7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35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665</Words>
  <Application>Microsoft Office PowerPoint</Application>
  <PresentationFormat>On-screen Show (4:3)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Questions: Dwyer Ex 2.7 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136</cp:revision>
  <dcterms:created xsi:type="dcterms:W3CDTF">2014-05-14T02:58:57Z</dcterms:created>
  <dcterms:modified xsi:type="dcterms:W3CDTF">2020-08-31T08:23:19Z</dcterms:modified>
</cp:coreProperties>
</file>
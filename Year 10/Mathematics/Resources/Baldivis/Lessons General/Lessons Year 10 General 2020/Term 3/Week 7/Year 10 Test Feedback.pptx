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94" r:id="rId2"/>
    <p:sldId id="307" r:id="rId3"/>
    <p:sldId id="308" r:id="rId4"/>
    <p:sldId id="302" r:id="rId5"/>
    <p:sldId id="303" r:id="rId6"/>
    <p:sldId id="310" r:id="rId7"/>
    <p:sldId id="312" r:id="rId8"/>
    <p:sldId id="304" r:id="rId9"/>
    <p:sldId id="306" r:id="rId10"/>
    <p:sldId id="313" r:id="rId11"/>
    <p:sldId id="314" r:id="rId12"/>
    <p:sldId id="305" r:id="rId13"/>
    <p:sldId id="315" r:id="rId14"/>
    <p:sldId id="316" r:id="rId15"/>
    <p:sldId id="317" r:id="rId16"/>
    <p:sldId id="318" r:id="rId17"/>
    <p:sldId id="319" r:id="rId18"/>
    <p:sldId id="320" r:id="rId19"/>
    <p:sldId id="321" r:id="rId20"/>
    <p:sldId id="322" r:id="rId21"/>
    <p:sldId id="30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38FC0-BF14-45CC-87DF-C4F6484477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A3ACBC1B-B26A-4BE5-8D5D-9B87E27C0C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04DB1CE-FDE7-454B-9E98-8C6C57076154}"/>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5" name="Footer Placeholder 4">
            <a:extLst>
              <a:ext uri="{FF2B5EF4-FFF2-40B4-BE49-F238E27FC236}">
                <a16:creationId xmlns:a16="http://schemas.microsoft.com/office/drawing/2014/main" id="{5B2848E7-3AB2-4233-BFD2-76FF9F87645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1BFA1C-ED76-4A45-B774-10682B9DBC9C}"/>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151832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2CF45-02BF-4067-86A7-4DC6DEADEBE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BA2F7F7-36DA-4910-8B7A-30D5C3D425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9454C2F-AC4D-442C-8A47-72EC5075A26C}"/>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5" name="Footer Placeholder 4">
            <a:extLst>
              <a:ext uri="{FF2B5EF4-FFF2-40B4-BE49-F238E27FC236}">
                <a16:creationId xmlns:a16="http://schemas.microsoft.com/office/drawing/2014/main" id="{F839E33C-5368-4EE3-B70B-6AD3489518D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F20C99B-9E73-474D-B743-D913C477DE99}"/>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3754433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1CCA-EC74-48D5-86AE-5768B77733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FAD1B943-7F0C-4CB2-806C-96278B8946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18231C-FF84-4063-A825-68B76CFFBEE7}"/>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5" name="Footer Placeholder 4">
            <a:extLst>
              <a:ext uri="{FF2B5EF4-FFF2-40B4-BE49-F238E27FC236}">
                <a16:creationId xmlns:a16="http://schemas.microsoft.com/office/drawing/2014/main" id="{AD954E51-C32E-4266-9C3D-1A333AD5B96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09339A8-EA94-4364-BA42-75748E552155}"/>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4286293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D8C6F-A693-45E6-96B9-3D63E0DC5FD5}"/>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33C1040-BD77-4B38-9F90-05674214A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44723A2-D661-4BFF-95AD-E6CDD60912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920A6B30-EA8F-4354-BE58-8D7389839615}"/>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6" name="Footer Placeholder 5">
            <a:extLst>
              <a:ext uri="{FF2B5EF4-FFF2-40B4-BE49-F238E27FC236}">
                <a16:creationId xmlns:a16="http://schemas.microsoft.com/office/drawing/2014/main" id="{A602FCE8-AD67-4032-93FB-4479F0EB753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D44E85F-28A4-42D5-8AE7-EDE4ED3D4BD4}"/>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2885918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7ABC2-35FB-455E-A3C1-8C09F703ADC8}"/>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E4DFB2-D2A4-4445-8152-EF66B345D2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430471-B3E6-45A6-A84E-24E037A486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13BB474-4F5C-4A41-874E-B86638B2F2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9843E2-9193-4C1B-BBD3-A1522DDBB9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8E0E3B7-4DF2-4636-9FBF-AB9715E66C69}"/>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8" name="Footer Placeholder 7">
            <a:extLst>
              <a:ext uri="{FF2B5EF4-FFF2-40B4-BE49-F238E27FC236}">
                <a16:creationId xmlns:a16="http://schemas.microsoft.com/office/drawing/2014/main" id="{75987542-0442-48AD-870A-6025360E92BB}"/>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B10FF9C-F46D-46C6-BF22-20B51D6FB60B}"/>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4151658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CFEED-E3C0-424C-9CFA-52A8C01F8C9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DF8C77FB-E258-481F-9A25-EB30D7ECEF8C}"/>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4" name="Footer Placeholder 3">
            <a:extLst>
              <a:ext uri="{FF2B5EF4-FFF2-40B4-BE49-F238E27FC236}">
                <a16:creationId xmlns:a16="http://schemas.microsoft.com/office/drawing/2014/main" id="{21C30417-E0E7-4EDD-A505-EC4267D6E9CF}"/>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BF151CDD-D9FF-42BF-9E03-43F14E29F28B}"/>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1067662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47EC1E-71BD-4D92-B45B-47A1CEE0E0CA}"/>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3" name="Footer Placeholder 2">
            <a:extLst>
              <a:ext uri="{FF2B5EF4-FFF2-40B4-BE49-F238E27FC236}">
                <a16:creationId xmlns:a16="http://schemas.microsoft.com/office/drawing/2014/main" id="{3947B126-5B23-4D7A-8179-77FB90A9A078}"/>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B00D4E0-1EC4-4FA9-8F49-56FF91453F72}"/>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1175271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3B80E-E783-4501-AB2E-7FC88D8318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861FC85-548A-4E21-AF17-7EC0404E58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85BF22CE-6147-433D-B877-F0277F24F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73DBB9-EF8B-4B3A-A98A-814D5C4A2104}"/>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6" name="Footer Placeholder 5">
            <a:extLst>
              <a:ext uri="{FF2B5EF4-FFF2-40B4-BE49-F238E27FC236}">
                <a16:creationId xmlns:a16="http://schemas.microsoft.com/office/drawing/2014/main" id="{B6D932CE-3C4B-4C05-8A3D-293F3DC988F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A97409F-3D25-4A15-AB1D-53ED74E9C6E3}"/>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3883769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802C1-6595-4BDB-8E7C-293BC41B20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6A4B71E6-6D22-4BF8-9B65-40D790DFA6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CE20CAB-9CDB-4C69-B172-82B3302028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F2A7A8-F882-4C69-9137-143923975342}"/>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6" name="Footer Placeholder 5">
            <a:extLst>
              <a:ext uri="{FF2B5EF4-FFF2-40B4-BE49-F238E27FC236}">
                <a16:creationId xmlns:a16="http://schemas.microsoft.com/office/drawing/2014/main" id="{888AD9E0-11E8-476A-84AA-FC9A8393021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8F984DB-95E0-4D1E-AA5E-307CB31527E2}"/>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4221657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FDA1D-EB86-44A3-8B90-D95B0551C10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810B007-80AA-4ACF-BF98-252643536E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DB71F1C-C457-4D39-B62A-4BAE250A7DAC}"/>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5" name="Footer Placeholder 4">
            <a:extLst>
              <a:ext uri="{FF2B5EF4-FFF2-40B4-BE49-F238E27FC236}">
                <a16:creationId xmlns:a16="http://schemas.microsoft.com/office/drawing/2014/main" id="{E1237AE7-7C02-4357-B158-8CD7C99D29A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DE6507C-67B8-4C6D-BE4B-8064FC187E3F}"/>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250897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D8B474-AF41-460F-885C-E2396E9E3C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4CFA597-BE28-4D65-9F96-314BB15451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02C050F-EA87-4614-A11C-561C993F8CE8}"/>
              </a:ext>
            </a:extLst>
          </p:cNvPr>
          <p:cNvSpPr>
            <a:spLocks noGrp="1"/>
          </p:cNvSpPr>
          <p:nvPr>
            <p:ph type="dt" sz="half" idx="10"/>
          </p:nvPr>
        </p:nvSpPr>
        <p:spPr/>
        <p:txBody>
          <a:bodyPr/>
          <a:lstStyle/>
          <a:p>
            <a:fld id="{FCD6BAFC-A56F-4310-95C1-8E570D81A9B5}" type="datetimeFigureOut">
              <a:rPr lang="en-AU" smtClean="0"/>
              <a:t>31/08/2020</a:t>
            </a:fld>
            <a:endParaRPr lang="en-AU"/>
          </a:p>
        </p:txBody>
      </p:sp>
      <p:sp>
        <p:nvSpPr>
          <p:cNvPr id="5" name="Footer Placeholder 4">
            <a:extLst>
              <a:ext uri="{FF2B5EF4-FFF2-40B4-BE49-F238E27FC236}">
                <a16:creationId xmlns:a16="http://schemas.microsoft.com/office/drawing/2014/main" id="{7FA79876-F976-4196-B70C-487B23B977F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193E591-F524-432C-A8DD-5D632E67BC0F}"/>
              </a:ext>
            </a:extLst>
          </p:cNvPr>
          <p:cNvSpPr>
            <a:spLocks noGrp="1"/>
          </p:cNvSpPr>
          <p:nvPr>
            <p:ph type="sldNum" sz="quarter" idx="12"/>
          </p:nvPr>
        </p:nvSpPr>
        <p:spPr/>
        <p:txBody>
          <a:bodyPr/>
          <a:lstStyle/>
          <a:p>
            <a:fld id="{ADE07C80-60ED-4687-8065-34CE52F30FD8}" type="slidenum">
              <a:rPr lang="en-AU" smtClean="0"/>
              <a:t>‹#›</a:t>
            </a:fld>
            <a:endParaRPr lang="en-AU"/>
          </a:p>
        </p:txBody>
      </p:sp>
    </p:spTree>
    <p:extLst>
      <p:ext uri="{BB962C8B-B14F-4D97-AF65-F5344CB8AC3E}">
        <p14:creationId xmlns:p14="http://schemas.microsoft.com/office/powerpoint/2010/main" val="2953266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30737D-25DB-43E3-AA2F-1803253DFA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F953DE4-3C9C-4285-ADBA-F23ED1BA74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0AD0B99-294D-47B9-B332-79AE791689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D6BAFC-A56F-4310-95C1-8E570D81A9B5}" type="datetimeFigureOut">
              <a:rPr lang="en-AU" smtClean="0"/>
              <a:t>31/08/2020</a:t>
            </a:fld>
            <a:endParaRPr lang="en-AU"/>
          </a:p>
        </p:txBody>
      </p:sp>
      <p:sp>
        <p:nvSpPr>
          <p:cNvPr id="5" name="Footer Placeholder 4">
            <a:extLst>
              <a:ext uri="{FF2B5EF4-FFF2-40B4-BE49-F238E27FC236}">
                <a16:creationId xmlns:a16="http://schemas.microsoft.com/office/drawing/2014/main" id="{81836AE8-460C-4558-9B6B-97C5A972D7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F5257E4D-78E2-46FC-95F1-8724E6A4D0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E07C80-60ED-4687-8065-34CE52F30FD8}" type="slidenum">
              <a:rPr lang="en-AU" smtClean="0"/>
              <a:t>‹#›</a:t>
            </a:fld>
            <a:endParaRPr lang="en-AU"/>
          </a:p>
        </p:txBody>
      </p:sp>
    </p:spTree>
    <p:extLst>
      <p:ext uri="{BB962C8B-B14F-4D97-AF65-F5344CB8AC3E}">
        <p14:creationId xmlns:p14="http://schemas.microsoft.com/office/powerpoint/2010/main" val="2229165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1311965" y="1126834"/>
            <a:ext cx="9144000" cy="984733"/>
          </a:xfrm>
        </p:spPr>
        <p:txBody>
          <a:bodyPr/>
          <a:lstStyle/>
          <a:p>
            <a:r>
              <a:rPr lang="en-AU" dirty="0"/>
              <a:t> 3x + 4 = 10</a:t>
            </a:r>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1524000" y="1826248"/>
            <a:ext cx="9144000" cy="1655762"/>
          </a:xfrm>
        </p:spPr>
        <p:txBody>
          <a:bodyPr/>
          <a:lstStyle/>
          <a:p>
            <a:endParaRPr lang="en-AU" dirty="0"/>
          </a:p>
          <a:p>
            <a:pPr algn="l"/>
            <a:r>
              <a:rPr lang="en-AU" sz="4000" dirty="0"/>
              <a:t>   </a:t>
            </a:r>
            <a:r>
              <a:rPr lang="en-AU" sz="4000" dirty="0">
                <a:highlight>
                  <a:srgbClr val="FFFF00"/>
                </a:highlight>
              </a:rPr>
              <a:t>(-4)</a:t>
            </a:r>
            <a:r>
              <a:rPr lang="en-AU" sz="4000" dirty="0"/>
              <a:t>							     </a:t>
            </a:r>
            <a:r>
              <a:rPr lang="en-AU" sz="4000" dirty="0">
                <a:highlight>
                  <a:srgbClr val="FFFF00"/>
                </a:highlight>
              </a:rPr>
              <a:t>(-4)</a:t>
            </a:r>
          </a:p>
        </p:txBody>
      </p:sp>
      <p:sp>
        <p:nvSpPr>
          <p:cNvPr id="4" name="Title 1">
            <a:extLst>
              <a:ext uri="{FF2B5EF4-FFF2-40B4-BE49-F238E27FC236}">
                <a16:creationId xmlns:a16="http://schemas.microsoft.com/office/drawing/2014/main" id="{7F125316-033B-4DD2-A128-A6196E8C37C4}"/>
              </a:ext>
            </a:extLst>
          </p:cNvPr>
          <p:cNvSpPr txBox="1">
            <a:spLocks/>
          </p:cNvSpPr>
          <p:nvPr/>
        </p:nvSpPr>
        <p:spPr>
          <a:xfrm>
            <a:off x="1517375" y="3169823"/>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3x = 6</a:t>
            </a:r>
          </a:p>
        </p:txBody>
      </p:sp>
      <p:sp>
        <p:nvSpPr>
          <p:cNvPr id="5" name="Title 1">
            <a:extLst>
              <a:ext uri="{FF2B5EF4-FFF2-40B4-BE49-F238E27FC236}">
                <a16:creationId xmlns:a16="http://schemas.microsoft.com/office/drawing/2014/main" id="{4BDA5D64-C72D-461E-B6E7-DBB7CC3D0BE4}"/>
              </a:ext>
            </a:extLst>
          </p:cNvPr>
          <p:cNvSpPr txBox="1">
            <a:spLocks/>
          </p:cNvSpPr>
          <p:nvPr/>
        </p:nvSpPr>
        <p:spPr>
          <a:xfrm>
            <a:off x="1543880" y="5243270"/>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x = 2</a:t>
            </a:r>
          </a:p>
        </p:txBody>
      </p:sp>
      <p:sp>
        <p:nvSpPr>
          <p:cNvPr id="6" name="Subtitle 2">
            <a:extLst>
              <a:ext uri="{FF2B5EF4-FFF2-40B4-BE49-F238E27FC236}">
                <a16:creationId xmlns:a16="http://schemas.microsoft.com/office/drawing/2014/main" id="{B1CD2E80-F1B6-4FE2-913F-6FF3B6473371}"/>
              </a:ext>
            </a:extLst>
          </p:cNvPr>
          <p:cNvSpPr txBox="1">
            <a:spLocks/>
          </p:cNvSpPr>
          <p:nvPr/>
        </p:nvSpPr>
        <p:spPr>
          <a:xfrm>
            <a:off x="1928193" y="399770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highlight>
                <a:srgbClr val="FFFF00"/>
              </a:highlight>
            </a:endParaRPr>
          </a:p>
          <a:p>
            <a:pPr algn="l"/>
            <a:r>
              <a:rPr lang="en-AU" sz="4000" dirty="0">
                <a:highlight>
                  <a:srgbClr val="FFFF00"/>
                </a:highlight>
              </a:rPr>
              <a:t>(÷3)</a:t>
            </a:r>
            <a:r>
              <a:rPr lang="en-AU" sz="4000" dirty="0"/>
              <a:t>							     </a:t>
            </a:r>
            <a:r>
              <a:rPr lang="en-AU" sz="4000" dirty="0">
                <a:highlight>
                  <a:srgbClr val="FFFF00"/>
                </a:highlight>
              </a:rPr>
              <a:t>(÷3)</a:t>
            </a:r>
          </a:p>
        </p:txBody>
      </p:sp>
    </p:spTree>
    <p:extLst>
      <p:ext uri="{BB962C8B-B14F-4D97-AF65-F5344CB8AC3E}">
        <p14:creationId xmlns:p14="http://schemas.microsoft.com/office/powerpoint/2010/main" val="840344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1311965" y="1126834"/>
            <a:ext cx="9144000" cy="984733"/>
          </a:xfrm>
        </p:spPr>
        <p:txBody>
          <a:bodyPr/>
          <a:lstStyle/>
          <a:p>
            <a:r>
              <a:rPr lang="en-AU" dirty="0"/>
              <a:t> -2x + 5 = 13</a:t>
            </a:r>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1524000" y="1826248"/>
            <a:ext cx="9144000" cy="1655762"/>
          </a:xfrm>
        </p:spPr>
        <p:txBody>
          <a:bodyPr/>
          <a:lstStyle/>
          <a:p>
            <a:endParaRPr lang="en-AU" dirty="0"/>
          </a:p>
          <a:p>
            <a:pPr algn="l"/>
            <a:r>
              <a:rPr lang="en-AU" sz="4000" dirty="0"/>
              <a:t>   </a:t>
            </a:r>
            <a:r>
              <a:rPr lang="en-AU" sz="4000" dirty="0">
                <a:highlight>
                  <a:srgbClr val="FFFF00"/>
                </a:highlight>
              </a:rPr>
              <a:t>(-5)</a:t>
            </a:r>
            <a:r>
              <a:rPr lang="en-AU" sz="4000" dirty="0"/>
              <a:t>							     </a:t>
            </a:r>
            <a:r>
              <a:rPr lang="en-AU" sz="4000" dirty="0">
                <a:highlight>
                  <a:srgbClr val="FFFF00"/>
                </a:highlight>
              </a:rPr>
              <a:t>(-5)</a:t>
            </a:r>
          </a:p>
        </p:txBody>
      </p:sp>
      <p:sp>
        <p:nvSpPr>
          <p:cNvPr id="4" name="Title 1">
            <a:extLst>
              <a:ext uri="{FF2B5EF4-FFF2-40B4-BE49-F238E27FC236}">
                <a16:creationId xmlns:a16="http://schemas.microsoft.com/office/drawing/2014/main" id="{7F125316-033B-4DD2-A128-A6196E8C37C4}"/>
              </a:ext>
            </a:extLst>
          </p:cNvPr>
          <p:cNvSpPr txBox="1">
            <a:spLocks/>
          </p:cNvSpPr>
          <p:nvPr/>
        </p:nvSpPr>
        <p:spPr>
          <a:xfrm>
            <a:off x="1610139" y="3169823"/>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-2x = 8</a:t>
            </a:r>
          </a:p>
        </p:txBody>
      </p:sp>
      <p:sp>
        <p:nvSpPr>
          <p:cNvPr id="5" name="Title 1">
            <a:extLst>
              <a:ext uri="{FF2B5EF4-FFF2-40B4-BE49-F238E27FC236}">
                <a16:creationId xmlns:a16="http://schemas.microsoft.com/office/drawing/2014/main" id="{4BDA5D64-C72D-461E-B6E7-DBB7CC3D0BE4}"/>
              </a:ext>
            </a:extLst>
          </p:cNvPr>
          <p:cNvSpPr txBox="1">
            <a:spLocks/>
          </p:cNvSpPr>
          <p:nvPr/>
        </p:nvSpPr>
        <p:spPr>
          <a:xfrm>
            <a:off x="1928193" y="5212812"/>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x = -4</a:t>
            </a:r>
          </a:p>
        </p:txBody>
      </p:sp>
      <p:sp>
        <p:nvSpPr>
          <p:cNvPr id="6" name="Subtitle 2">
            <a:extLst>
              <a:ext uri="{FF2B5EF4-FFF2-40B4-BE49-F238E27FC236}">
                <a16:creationId xmlns:a16="http://schemas.microsoft.com/office/drawing/2014/main" id="{B1CD2E80-F1B6-4FE2-913F-6FF3B6473371}"/>
              </a:ext>
            </a:extLst>
          </p:cNvPr>
          <p:cNvSpPr txBox="1">
            <a:spLocks/>
          </p:cNvSpPr>
          <p:nvPr/>
        </p:nvSpPr>
        <p:spPr>
          <a:xfrm>
            <a:off x="1928193" y="399770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highlight>
                <a:srgbClr val="FFFF00"/>
              </a:highlight>
            </a:endParaRPr>
          </a:p>
          <a:p>
            <a:pPr algn="l"/>
            <a:r>
              <a:rPr lang="en-AU" sz="4000" dirty="0">
                <a:highlight>
                  <a:srgbClr val="FFFF00"/>
                </a:highlight>
              </a:rPr>
              <a:t>(÷-2)</a:t>
            </a:r>
            <a:r>
              <a:rPr lang="en-AU" sz="4000" dirty="0"/>
              <a:t>							  </a:t>
            </a:r>
            <a:r>
              <a:rPr lang="en-AU" sz="4000" dirty="0">
                <a:highlight>
                  <a:srgbClr val="FFFF00"/>
                </a:highlight>
              </a:rPr>
              <a:t>(÷-2)</a:t>
            </a:r>
          </a:p>
        </p:txBody>
      </p:sp>
    </p:spTree>
    <p:extLst>
      <p:ext uri="{BB962C8B-B14F-4D97-AF65-F5344CB8AC3E}">
        <p14:creationId xmlns:p14="http://schemas.microsoft.com/office/powerpoint/2010/main" val="4096022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964095" y="1593849"/>
            <a:ext cx="9144000" cy="984733"/>
          </a:xfrm>
        </p:spPr>
        <p:txBody>
          <a:bodyPr>
            <a:normAutofit fontScale="90000"/>
          </a:bodyPr>
          <a:lstStyle/>
          <a:p>
            <a:r>
              <a:rPr lang="en-AU" dirty="0"/>
              <a:t>      3x = 6</a:t>
            </a:r>
            <a:br>
              <a:rPr lang="en-AU" dirty="0"/>
            </a:br>
            <a:r>
              <a:rPr lang="en-AU" dirty="0"/>
              <a:t>2</a:t>
            </a:r>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1524000" y="1826248"/>
            <a:ext cx="9144000" cy="1655762"/>
          </a:xfrm>
        </p:spPr>
        <p:txBody>
          <a:bodyPr/>
          <a:lstStyle/>
          <a:p>
            <a:endParaRPr lang="en-AU" dirty="0"/>
          </a:p>
          <a:p>
            <a:pPr algn="l"/>
            <a:r>
              <a:rPr lang="en-AU" sz="4000" dirty="0"/>
              <a:t>   </a:t>
            </a:r>
            <a:r>
              <a:rPr lang="en-AU" sz="4000" dirty="0">
                <a:highlight>
                  <a:srgbClr val="FFFF00"/>
                </a:highlight>
              </a:rPr>
              <a:t>(x2)</a:t>
            </a:r>
            <a:r>
              <a:rPr lang="en-AU" sz="4000" dirty="0"/>
              <a:t>							     </a:t>
            </a:r>
            <a:r>
              <a:rPr lang="en-AU" sz="4000" dirty="0">
                <a:highlight>
                  <a:srgbClr val="FFFF00"/>
                </a:highlight>
              </a:rPr>
              <a:t>(x2)</a:t>
            </a:r>
          </a:p>
        </p:txBody>
      </p:sp>
      <p:sp>
        <p:nvSpPr>
          <p:cNvPr id="4" name="Title 1">
            <a:extLst>
              <a:ext uri="{FF2B5EF4-FFF2-40B4-BE49-F238E27FC236}">
                <a16:creationId xmlns:a16="http://schemas.microsoft.com/office/drawing/2014/main" id="{7F125316-033B-4DD2-A128-A6196E8C37C4}"/>
              </a:ext>
            </a:extLst>
          </p:cNvPr>
          <p:cNvSpPr txBox="1">
            <a:spLocks/>
          </p:cNvSpPr>
          <p:nvPr/>
        </p:nvSpPr>
        <p:spPr>
          <a:xfrm>
            <a:off x="1490871" y="3169823"/>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3x = 12</a:t>
            </a:r>
          </a:p>
        </p:txBody>
      </p:sp>
      <p:sp>
        <p:nvSpPr>
          <p:cNvPr id="5" name="Title 1">
            <a:extLst>
              <a:ext uri="{FF2B5EF4-FFF2-40B4-BE49-F238E27FC236}">
                <a16:creationId xmlns:a16="http://schemas.microsoft.com/office/drawing/2014/main" id="{4BDA5D64-C72D-461E-B6E7-DBB7CC3D0BE4}"/>
              </a:ext>
            </a:extLst>
          </p:cNvPr>
          <p:cNvSpPr txBox="1">
            <a:spLocks/>
          </p:cNvSpPr>
          <p:nvPr/>
        </p:nvSpPr>
        <p:spPr>
          <a:xfrm>
            <a:off x="1590261" y="5161723"/>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x = 4</a:t>
            </a:r>
          </a:p>
        </p:txBody>
      </p:sp>
      <p:sp>
        <p:nvSpPr>
          <p:cNvPr id="6" name="Subtitle 2">
            <a:extLst>
              <a:ext uri="{FF2B5EF4-FFF2-40B4-BE49-F238E27FC236}">
                <a16:creationId xmlns:a16="http://schemas.microsoft.com/office/drawing/2014/main" id="{B1CD2E80-F1B6-4FE2-913F-6FF3B6473371}"/>
              </a:ext>
            </a:extLst>
          </p:cNvPr>
          <p:cNvSpPr txBox="1">
            <a:spLocks/>
          </p:cNvSpPr>
          <p:nvPr/>
        </p:nvSpPr>
        <p:spPr>
          <a:xfrm>
            <a:off x="2216427" y="3987361"/>
            <a:ext cx="7891668"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highlight>
                <a:srgbClr val="FFFF00"/>
              </a:highlight>
            </a:endParaRPr>
          </a:p>
          <a:p>
            <a:pPr algn="l"/>
            <a:r>
              <a:rPr lang="en-AU" sz="4000" dirty="0">
                <a:highlight>
                  <a:srgbClr val="FFFF00"/>
                </a:highlight>
              </a:rPr>
              <a:t>(÷3)</a:t>
            </a:r>
            <a:r>
              <a:rPr lang="en-AU" sz="4000" dirty="0"/>
              <a:t>							  </a:t>
            </a:r>
            <a:r>
              <a:rPr lang="en-AU" sz="4000" dirty="0">
                <a:highlight>
                  <a:srgbClr val="FFFF00"/>
                </a:highlight>
              </a:rPr>
              <a:t>(÷3)</a:t>
            </a:r>
          </a:p>
        </p:txBody>
      </p:sp>
      <p:cxnSp>
        <p:nvCxnSpPr>
          <p:cNvPr id="8" name="Straight Connector 7">
            <a:extLst>
              <a:ext uri="{FF2B5EF4-FFF2-40B4-BE49-F238E27FC236}">
                <a16:creationId xmlns:a16="http://schemas.microsoft.com/office/drawing/2014/main" id="{A13E22CE-4CF2-4A5D-B194-5DF999E6874B}"/>
              </a:ext>
            </a:extLst>
          </p:cNvPr>
          <p:cNvCxnSpPr/>
          <p:nvPr/>
        </p:nvCxnSpPr>
        <p:spPr>
          <a:xfrm>
            <a:off x="5115340" y="1736033"/>
            <a:ext cx="80838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003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404733" y="-107581"/>
            <a:ext cx="9144000" cy="1341391"/>
          </a:xfrm>
        </p:spPr>
        <p:txBody>
          <a:bodyPr>
            <a:normAutofit/>
          </a:bodyPr>
          <a:lstStyle/>
          <a:p>
            <a:r>
              <a:rPr lang="en-AU" dirty="0"/>
              <a:t>6(4x – 3) + 7(x + 1) = 9</a:t>
            </a:r>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3116979" y="2797212"/>
            <a:ext cx="7557431" cy="1080055"/>
          </a:xfrm>
        </p:spPr>
        <p:txBody>
          <a:bodyPr>
            <a:normAutofit lnSpcReduction="10000"/>
          </a:bodyPr>
          <a:lstStyle/>
          <a:p>
            <a:endParaRPr lang="en-AU" dirty="0">
              <a:highlight>
                <a:srgbClr val="FFFF00"/>
              </a:highlight>
            </a:endParaRPr>
          </a:p>
          <a:p>
            <a:pPr algn="l"/>
            <a:r>
              <a:rPr lang="en-AU" sz="4000" dirty="0">
                <a:highlight>
                  <a:srgbClr val="FFFF00"/>
                </a:highlight>
              </a:rPr>
              <a:t>(+11)</a:t>
            </a:r>
            <a:r>
              <a:rPr lang="en-AU" sz="4000" dirty="0"/>
              <a:t>			                    </a:t>
            </a:r>
            <a:r>
              <a:rPr lang="en-AU" sz="4000" dirty="0">
                <a:highlight>
                  <a:srgbClr val="FFFF00"/>
                </a:highlight>
              </a:rPr>
              <a:t>(+11)</a:t>
            </a:r>
          </a:p>
        </p:txBody>
      </p:sp>
      <p:sp>
        <p:nvSpPr>
          <p:cNvPr id="4" name="Title 1">
            <a:extLst>
              <a:ext uri="{FF2B5EF4-FFF2-40B4-BE49-F238E27FC236}">
                <a16:creationId xmlns:a16="http://schemas.microsoft.com/office/drawing/2014/main" id="{7F125316-033B-4DD2-A128-A6196E8C37C4}"/>
              </a:ext>
            </a:extLst>
          </p:cNvPr>
          <p:cNvSpPr txBox="1">
            <a:spLocks/>
          </p:cNvSpPr>
          <p:nvPr/>
        </p:nvSpPr>
        <p:spPr>
          <a:xfrm>
            <a:off x="2786757" y="3532835"/>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31x = 20</a:t>
            </a:r>
          </a:p>
        </p:txBody>
      </p:sp>
      <p:sp>
        <p:nvSpPr>
          <p:cNvPr id="5" name="Title 1">
            <a:extLst>
              <a:ext uri="{FF2B5EF4-FFF2-40B4-BE49-F238E27FC236}">
                <a16:creationId xmlns:a16="http://schemas.microsoft.com/office/drawing/2014/main" id="{4BDA5D64-C72D-461E-B6E7-DBB7CC3D0BE4}"/>
              </a:ext>
            </a:extLst>
          </p:cNvPr>
          <p:cNvSpPr txBox="1">
            <a:spLocks/>
          </p:cNvSpPr>
          <p:nvPr/>
        </p:nvSpPr>
        <p:spPr>
          <a:xfrm>
            <a:off x="3074504" y="4793224"/>
            <a:ext cx="9144000" cy="18593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x = 20</a:t>
            </a:r>
          </a:p>
          <a:p>
            <a:r>
              <a:rPr lang="en-AU" dirty="0"/>
              <a:t>       31</a:t>
            </a:r>
          </a:p>
        </p:txBody>
      </p:sp>
      <p:sp>
        <p:nvSpPr>
          <p:cNvPr id="6" name="Subtitle 2">
            <a:extLst>
              <a:ext uri="{FF2B5EF4-FFF2-40B4-BE49-F238E27FC236}">
                <a16:creationId xmlns:a16="http://schemas.microsoft.com/office/drawing/2014/main" id="{B1CD2E80-F1B6-4FE2-913F-6FF3B6473371}"/>
              </a:ext>
            </a:extLst>
          </p:cNvPr>
          <p:cNvSpPr txBox="1">
            <a:spLocks/>
          </p:cNvSpPr>
          <p:nvPr/>
        </p:nvSpPr>
        <p:spPr>
          <a:xfrm>
            <a:off x="2786757" y="3877267"/>
            <a:ext cx="7881243"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highlight>
                <a:srgbClr val="FFFF00"/>
              </a:highlight>
            </a:endParaRPr>
          </a:p>
          <a:p>
            <a:pPr algn="l"/>
            <a:r>
              <a:rPr lang="en-AU" sz="4000" dirty="0">
                <a:highlight>
                  <a:srgbClr val="FFFF00"/>
                </a:highlight>
              </a:rPr>
              <a:t>(÷31)</a:t>
            </a:r>
            <a:r>
              <a:rPr lang="en-AU" sz="4000" dirty="0"/>
              <a:t>						</a:t>
            </a:r>
            <a:r>
              <a:rPr lang="en-AU" sz="4000" dirty="0">
                <a:highlight>
                  <a:srgbClr val="FFFF00"/>
                </a:highlight>
              </a:rPr>
              <a:t>(÷31)</a:t>
            </a:r>
          </a:p>
        </p:txBody>
      </p:sp>
      <p:cxnSp>
        <p:nvCxnSpPr>
          <p:cNvPr id="9" name="Straight Connector 8">
            <a:extLst>
              <a:ext uri="{FF2B5EF4-FFF2-40B4-BE49-F238E27FC236}">
                <a16:creationId xmlns:a16="http://schemas.microsoft.com/office/drawing/2014/main" id="{553851F4-BFDE-4D06-8827-F46392CC521A}"/>
              </a:ext>
            </a:extLst>
          </p:cNvPr>
          <p:cNvCxnSpPr>
            <a:cxnSpLocks/>
          </p:cNvCxnSpPr>
          <p:nvPr/>
        </p:nvCxnSpPr>
        <p:spPr>
          <a:xfrm>
            <a:off x="7726020" y="5738192"/>
            <a:ext cx="99391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7702B659-8821-4D59-BBB4-F27C28DF2CFA}"/>
              </a:ext>
            </a:extLst>
          </p:cNvPr>
          <p:cNvSpPr txBox="1">
            <a:spLocks/>
          </p:cNvSpPr>
          <p:nvPr/>
        </p:nvSpPr>
        <p:spPr>
          <a:xfrm>
            <a:off x="680967" y="1315508"/>
            <a:ext cx="9144000" cy="9741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24x – 18 + 7x + 7 = 9</a:t>
            </a:r>
          </a:p>
        </p:txBody>
      </p:sp>
      <p:sp>
        <p:nvSpPr>
          <p:cNvPr id="12" name="Title 1">
            <a:extLst>
              <a:ext uri="{FF2B5EF4-FFF2-40B4-BE49-F238E27FC236}">
                <a16:creationId xmlns:a16="http://schemas.microsoft.com/office/drawing/2014/main" id="{6A99A937-4F6B-45EC-A823-E8003CF337BF}"/>
              </a:ext>
            </a:extLst>
          </p:cNvPr>
          <p:cNvSpPr txBox="1">
            <a:spLocks/>
          </p:cNvSpPr>
          <p:nvPr/>
        </p:nvSpPr>
        <p:spPr>
          <a:xfrm>
            <a:off x="3513777" y="2312667"/>
            <a:ext cx="6034956" cy="97416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31x – 11 = 9</a:t>
            </a:r>
          </a:p>
        </p:txBody>
      </p:sp>
    </p:spTree>
    <p:extLst>
      <p:ext uri="{BB962C8B-B14F-4D97-AF65-F5344CB8AC3E}">
        <p14:creationId xmlns:p14="http://schemas.microsoft.com/office/powerpoint/2010/main" val="354797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5" grpId="0"/>
      <p:bldP spid="6"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1524000" y="1122363"/>
            <a:ext cx="9144000" cy="984733"/>
          </a:xfrm>
        </p:spPr>
        <p:txBody>
          <a:bodyPr/>
          <a:lstStyle/>
          <a:p>
            <a:r>
              <a:rPr lang="en-AU" dirty="0"/>
              <a:t> 5x + 7 = 8x - 5</a:t>
            </a:r>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1524000" y="1466487"/>
            <a:ext cx="9144000" cy="1655762"/>
          </a:xfrm>
        </p:spPr>
        <p:txBody>
          <a:bodyPr/>
          <a:lstStyle/>
          <a:p>
            <a:endParaRPr lang="en-AU" dirty="0">
              <a:highlight>
                <a:srgbClr val="FFFF00"/>
              </a:highlight>
            </a:endParaRPr>
          </a:p>
          <a:p>
            <a:pPr algn="l"/>
            <a:r>
              <a:rPr lang="en-AU" sz="4000" dirty="0">
                <a:highlight>
                  <a:srgbClr val="FFFF00"/>
                </a:highlight>
              </a:rPr>
              <a:t>(-5x)</a:t>
            </a:r>
            <a:r>
              <a:rPr lang="en-AU" sz="4000" dirty="0"/>
              <a:t>							     </a:t>
            </a:r>
            <a:r>
              <a:rPr lang="en-AU" sz="4000" dirty="0">
                <a:highlight>
                  <a:srgbClr val="FFFF00"/>
                </a:highlight>
              </a:rPr>
              <a:t>(-5x)</a:t>
            </a:r>
          </a:p>
        </p:txBody>
      </p:sp>
      <p:sp>
        <p:nvSpPr>
          <p:cNvPr id="4" name="Title 1">
            <a:extLst>
              <a:ext uri="{FF2B5EF4-FFF2-40B4-BE49-F238E27FC236}">
                <a16:creationId xmlns:a16="http://schemas.microsoft.com/office/drawing/2014/main" id="{7F125316-033B-4DD2-A128-A6196E8C37C4}"/>
              </a:ext>
            </a:extLst>
          </p:cNvPr>
          <p:cNvSpPr txBox="1">
            <a:spLocks/>
          </p:cNvSpPr>
          <p:nvPr/>
        </p:nvSpPr>
        <p:spPr>
          <a:xfrm>
            <a:off x="2161951" y="2300397"/>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7 = 3x -5</a:t>
            </a:r>
          </a:p>
        </p:txBody>
      </p:sp>
      <p:sp>
        <p:nvSpPr>
          <p:cNvPr id="5" name="Title 1">
            <a:extLst>
              <a:ext uri="{FF2B5EF4-FFF2-40B4-BE49-F238E27FC236}">
                <a16:creationId xmlns:a16="http://schemas.microsoft.com/office/drawing/2014/main" id="{4BDA5D64-C72D-461E-B6E7-DBB7CC3D0BE4}"/>
              </a:ext>
            </a:extLst>
          </p:cNvPr>
          <p:cNvSpPr txBox="1">
            <a:spLocks/>
          </p:cNvSpPr>
          <p:nvPr/>
        </p:nvSpPr>
        <p:spPr>
          <a:xfrm>
            <a:off x="1634140" y="3596693"/>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12 = 3x</a:t>
            </a:r>
          </a:p>
        </p:txBody>
      </p:sp>
      <p:sp>
        <p:nvSpPr>
          <p:cNvPr id="6" name="Subtitle 2">
            <a:extLst>
              <a:ext uri="{FF2B5EF4-FFF2-40B4-BE49-F238E27FC236}">
                <a16:creationId xmlns:a16="http://schemas.microsoft.com/office/drawing/2014/main" id="{B1CD2E80-F1B6-4FE2-913F-6FF3B6473371}"/>
              </a:ext>
            </a:extLst>
          </p:cNvPr>
          <p:cNvSpPr txBox="1">
            <a:spLocks/>
          </p:cNvSpPr>
          <p:nvPr/>
        </p:nvSpPr>
        <p:spPr>
          <a:xfrm>
            <a:off x="2113502" y="269231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highlight>
                <a:srgbClr val="FFFF00"/>
              </a:highlight>
            </a:endParaRPr>
          </a:p>
          <a:p>
            <a:pPr algn="l"/>
            <a:r>
              <a:rPr lang="en-AU" sz="4000" dirty="0">
                <a:highlight>
                  <a:srgbClr val="FFFF00"/>
                </a:highlight>
              </a:rPr>
              <a:t>(+5)</a:t>
            </a:r>
            <a:r>
              <a:rPr lang="en-AU" sz="4000" dirty="0"/>
              <a:t>							       </a:t>
            </a:r>
            <a:r>
              <a:rPr lang="en-AU" sz="4000" dirty="0">
                <a:highlight>
                  <a:srgbClr val="FFFF00"/>
                </a:highlight>
              </a:rPr>
              <a:t>(+5)</a:t>
            </a:r>
          </a:p>
        </p:txBody>
      </p:sp>
      <p:sp>
        <p:nvSpPr>
          <p:cNvPr id="7" name="Subtitle 2">
            <a:extLst>
              <a:ext uri="{FF2B5EF4-FFF2-40B4-BE49-F238E27FC236}">
                <a16:creationId xmlns:a16="http://schemas.microsoft.com/office/drawing/2014/main" id="{D1403CF7-7614-4CCB-A2C2-6C308619692D}"/>
              </a:ext>
            </a:extLst>
          </p:cNvPr>
          <p:cNvSpPr txBox="1">
            <a:spLocks/>
          </p:cNvSpPr>
          <p:nvPr/>
        </p:nvSpPr>
        <p:spPr>
          <a:xfrm>
            <a:off x="1966101" y="390901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highlight>
                <a:srgbClr val="FFFF00"/>
              </a:highlight>
            </a:endParaRPr>
          </a:p>
          <a:p>
            <a:pPr algn="l"/>
            <a:r>
              <a:rPr lang="en-AU" sz="4000" dirty="0">
                <a:highlight>
                  <a:srgbClr val="FFFF00"/>
                </a:highlight>
              </a:rPr>
              <a:t>(÷3)</a:t>
            </a:r>
            <a:r>
              <a:rPr lang="en-AU" sz="4000" dirty="0"/>
              <a:t>							        </a:t>
            </a:r>
            <a:r>
              <a:rPr lang="en-AU" sz="4000" dirty="0">
                <a:highlight>
                  <a:srgbClr val="FFFF00"/>
                </a:highlight>
              </a:rPr>
              <a:t>(÷3)</a:t>
            </a:r>
          </a:p>
        </p:txBody>
      </p:sp>
      <p:sp>
        <p:nvSpPr>
          <p:cNvPr id="8" name="Title 1">
            <a:extLst>
              <a:ext uri="{FF2B5EF4-FFF2-40B4-BE49-F238E27FC236}">
                <a16:creationId xmlns:a16="http://schemas.microsoft.com/office/drawing/2014/main" id="{0024A352-F4F2-4A6E-904E-36D2D53B49B7}"/>
              </a:ext>
            </a:extLst>
          </p:cNvPr>
          <p:cNvSpPr txBox="1">
            <a:spLocks/>
          </p:cNvSpPr>
          <p:nvPr/>
        </p:nvSpPr>
        <p:spPr>
          <a:xfrm>
            <a:off x="1651629" y="4948305"/>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4 = x</a:t>
            </a:r>
          </a:p>
        </p:txBody>
      </p:sp>
    </p:spTree>
    <p:extLst>
      <p:ext uri="{BB962C8B-B14F-4D97-AF65-F5344CB8AC3E}">
        <p14:creationId xmlns:p14="http://schemas.microsoft.com/office/powerpoint/2010/main" val="201865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1524000" y="1122363"/>
            <a:ext cx="9144000" cy="984733"/>
          </a:xfrm>
        </p:spPr>
        <p:txBody>
          <a:bodyPr/>
          <a:lstStyle/>
          <a:p>
            <a:r>
              <a:rPr lang="en-AU" dirty="0"/>
              <a:t> 2x + 10 </a:t>
            </a:r>
            <a:r>
              <a:rPr lang="en-AU" dirty="0">
                <a:solidFill>
                  <a:prstClr val="black"/>
                </a:solidFill>
              </a:rPr>
              <a:t>≥ 16</a:t>
            </a:r>
            <a:endParaRPr lang="en-AU" dirty="0"/>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1783031" y="1509089"/>
            <a:ext cx="9144000" cy="1655762"/>
          </a:xfrm>
        </p:spPr>
        <p:txBody>
          <a:bodyPr/>
          <a:lstStyle/>
          <a:p>
            <a:endParaRPr lang="en-AU" dirty="0">
              <a:highlight>
                <a:srgbClr val="FFFF00"/>
              </a:highlight>
            </a:endParaRPr>
          </a:p>
          <a:p>
            <a:pPr algn="l"/>
            <a:r>
              <a:rPr lang="en-AU" sz="4000" dirty="0">
                <a:highlight>
                  <a:srgbClr val="FFFF00"/>
                </a:highlight>
              </a:rPr>
              <a:t>(-10)</a:t>
            </a:r>
            <a:r>
              <a:rPr lang="en-AU" sz="4000" dirty="0"/>
              <a:t>							     </a:t>
            </a:r>
            <a:r>
              <a:rPr lang="en-AU" sz="4000" dirty="0">
                <a:highlight>
                  <a:srgbClr val="FFFF00"/>
                </a:highlight>
              </a:rPr>
              <a:t>(-10)</a:t>
            </a:r>
          </a:p>
        </p:txBody>
      </p:sp>
      <p:sp>
        <p:nvSpPr>
          <p:cNvPr id="4" name="Title 1">
            <a:extLst>
              <a:ext uri="{FF2B5EF4-FFF2-40B4-BE49-F238E27FC236}">
                <a16:creationId xmlns:a16="http://schemas.microsoft.com/office/drawing/2014/main" id="{7F125316-033B-4DD2-A128-A6196E8C37C4}"/>
              </a:ext>
            </a:extLst>
          </p:cNvPr>
          <p:cNvSpPr txBox="1">
            <a:spLocks/>
          </p:cNvSpPr>
          <p:nvPr/>
        </p:nvSpPr>
        <p:spPr>
          <a:xfrm>
            <a:off x="1996286" y="2367210"/>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defRPr/>
            </a:pPr>
            <a:r>
              <a:rPr kumimoji="0" lang="en-AU" sz="6000" b="0"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lang="en-AU" dirty="0">
                <a:solidFill>
                  <a:prstClr val="black"/>
                </a:solidFill>
                <a:latin typeface="Calibri Light" panose="020F0302020204030204"/>
              </a:rPr>
              <a:t>2x </a:t>
            </a:r>
            <a:r>
              <a:rPr lang="en-AU" dirty="0">
                <a:solidFill>
                  <a:prstClr val="black"/>
                </a:solidFill>
              </a:rPr>
              <a:t>≥ 6</a:t>
            </a:r>
            <a:endParaRPr kumimoji="0" lang="en-AU" sz="60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
        <p:nvSpPr>
          <p:cNvPr id="5" name="Title 1">
            <a:extLst>
              <a:ext uri="{FF2B5EF4-FFF2-40B4-BE49-F238E27FC236}">
                <a16:creationId xmlns:a16="http://schemas.microsoft.com/office/drawing/2014/main" id="{4BDA5D64-C72D-461E-B6E7-DBB7CC3D0BE4}"/>
              </a:ext>
            </a:extLst>
          </p:cNvPr>
          <p:cNvSpPr txBox="1">
            <a:spLocks/>
          </p:cNvSpPr>
          <p:nvPr/>
        </p:nvSpPr>
        <p:spPr>
          <a:xfrm>
            <a:off x="2300169" y="3631512"/>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6000" b="0" i="0" u="none" strike="noStrike" kern="1200" cap="none" spc="0" normalizeH="0" baseline="0" noProof="0" dirty="0">
                <a:ln>
                  <a:noFill/>
                </a:ln>
                <a:solidFill>
                  <a:prstClr val="black"/>
                </a:solidFill>
                <a:effectLst/>
                <a:uLnTx/>
                <a:uFillTx/>
                <a:latin typeface="Calibri Light" panose="020F0302020204030204"/>
                <a:ea typeface="+mj-ea"/>
                <a:cs typeface="+mj-cs"/>
              </a:rPr>
              <a:t> x ≥ 3</a:t>
            </a:r>
          </a:p>
        </p:txBody>
      </p:sp>
      <p:sp>
        <p:nvSpPr>
          <p:cNvPr id="6" name="Subtitle 2">
            <a:extLst>
              <a:ext uri="{FF2B5EF4-FFF2-40B4-BE49-F238E27FC236}">
                <a16:creationId xmlns:a16="http://schemas.microsoft.com/office/drawing/2014/main" id="{B1CD2E80-F1B6-4FE2-913F-6FF3B6473371}"/>
              </a:ext>
            </a:extLst>
          </p:cNvPr>
          <p:cNvSpPr txBox="1">
            <a:spLocks/>
          </p:cNvSpPr>
          <p:nvPr/>
        </p:nvSpPr>
        <p:spPr>
          <a:xfrm>
            <a:off x="1754894" y="2766439"/>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U"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(÷2)</a:t>
            </a:r>
            <a:r>
              <a:rPr kumimoji="0" lang="en-AU" sz="4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AU"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(÷2)</a:t>
            </a:r>
          </a:p>
        </p:txBody>
      </p:sp>
      <p:sp>
        <p:nvSpPr>
          <p:cNvPr id="7" name="Rectangle 6">
            <a:extLst>
              <a:ext uri="{FF2B5EF4-FFF2-40B4-BE49-F238E27FC236}">
                <a16:creationId xmlns:a16="http://schemas.microsoft.com/office/drawing/2014/main" id="{8DBD98FC-443D-4370-BFD7-5525FE6F315C}"/>
              </a:ext>
            </a:extLst>
          </p:cNvPr>
          <p:cNvSpPr/>
          <p:nvPr/>
        </p:nvSpPr>
        <p:spPr>
          <a:xfrm>
            <a:off x="-278296" y="129335"/>
            <a:ext cx="12470296" cy="923330"/>
          </a:xfrm>
          <a:prstGeom prst="rect">
            <a:avLst/>
          </a:prstGeom>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AU" sz="6000" b="0" i="0" u="none" strike="noStrike" kern="1200" cap="none" spc="0" normalizeH="0" baseline="0" noProof="0" dirty="0">
                <a:ln>
                  <a:noFill/>
                </a:ln>
                <a:solidFill>
                  <a:prstClr val="black"/>
                </a:solidFill>
                <a:effectLst/>
                <a:uLnTx/>
                <a:uFillTx/>
                <a:latin typeface="Calibri" panose="020F0502020204030204"/>
                <a:ea typeface="+mn-ea"/>
                <a:cs typeface="+mn-cs"/>
              </a:rPr>
              <a:t>Draw this inequality on a number line</a:t>
            </a:r>
          </a:p>
        </p:txBody>
      </p:sp>
      <p:cxnSp>
        <p:nvCxnSpPr>
          <p:cNvPr id="10" name="Straight Connector 9">
            <a:extLst>
              <a:ext uri="{FF2B5EF4-FFF2-40B4-BE49-F238E27FC236}">
                <a16:creationId xmlns:a16="http://schemas.microsoft.com/office/drawing/2014/main" id="{DB7251DE-8204-4D7C-BDBD-5D928FCDD108}"/>
              </a:ext>
            </a:extLst>
          </p:cNvPr>
          <p:cNvCxnSpPr>
            <a:cxnSpLocks/>
          </p:cNvCxnSpPr>
          <p:nvPr/>
        </p:nvCxnSpPr>
        <p:spPr>
          <a:xfrm flipV="1">
            <a:off x="1674055" y="5710157"/>
            <a:ext cx="8759485" cy="7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F93DB1A-1D1D-45AC-9D90-3867CC77EC2E}"/>
              </a:ext>
            </a:extLst>
          </p:cNvPr>
          <p:cNvCxnSpPr>
            <a:cxnSpLocks/>
          </p:cNvCxnSpPr>
          <p:nvPr/>
        </p:nvCxnSpPr>
        <p:spPr>
          <a:xfrm>
            <a:off x="1688123" y="5698434"/>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8FD3E6A-CBC5-4C54-B380-AF134BAB90B4}"/>
              </a:ext>
            </a:extLst>
          </p:cNvPr>
          <p:cNvCxnSpPr>
            <a:cxnSpLocks/>
          </p:cNvCxnSpPr>
          <p:nvPr/>
        </p:nvCxnSpPr>
        <p:spPr>
          <a:xfrm>
            <a:off x="8944709" y="5698434"/>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A84EF48-37AA-4124-BB98-B61E26D32120}"/>
              </a:ext>
            </a:extLst>
          </p:cNvPr>
          <p:cNvCxnSpPr>
            <a:cxnSpLocks/>
          </p:cNvCxnSpPr>
          <p:nvPr/>
        </p:nvCxnSpPr>
        <p:spPr>
          <a:xfrm>
            <a:off x="7423051" y="5711687"/>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E3F6BD9-2472-415A-9D9F-A521EC6ED844}"/>
              </a:ext>
            </a:extLst>
          </p:cNvPr>
          <p:cNvCxnSpPr>
            <a:cxnSpLocks/>
          </p:cNvCxnSpPr>
          <p:nvPr/>
        </p:nvCxnSpPr>
        <p:spPr>
          <a:xfrm>
            <a:off x="5943598" y="5714134"/>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6C350C0-E9EC-4A09-A0DA-659FE6E67D26}"/>
              </a:ext>
            </a:extLst>
          </p:cNvPr>
          <p:cNvCxnSpPr>
            <a:cxnSpLocks/>
          </p:cNvCxnSpPr>
          <p:nvPr/>
        </p:nvCxnSpPr>
        <p:spPr>
          <a:xfrm>
            <a:off x="4534489" y="5717189"/>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43DE10A-273F-4B9C-B3F9-20EBE61B5407}"/>
              </a:ext>
            </a:extLst>
          </p:cNvPr>
          <p:cNvCxnSpPr>
            <a:cxnSpLocks/>
          </p:cNvCxnSpPr>
          <p:nvPr/>
        </p:nvCxnSpPr>
        <p:spPr>
          <a:xfrm>
            <a:off x="3139441" y="5700781"/>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2A785A-163B-4EE9-BC31-27B72B77C35A}"/>
              </a:ext>
            </a:extLst>
          </p:cNvPr>
          <p:cNvCxnSpPr>
            <a:cxnSpLocks/>
          </p:cNvCxnSpPr>
          <p:nvPr/>
        </p:nvCxnSpPr>
        <p:spPr>
          <a:xfrm>
            <a:off x="10433540" y="5710157"/>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FD1A060-11F8-4144-89D7-0965919480A3}"/>
              </a:ext>
            </a:extLst>
          </p:cNvPr>
          <p:cNvSpPr txBox="1"/>
          <p:nvPr/>
        </p:nvSpPr>
        <p:spPr>
          <a:xfrm>
            <a:off x="1391374" y="6029738"/>
            <a:ext cx="662493" cy="707886"/>
          </a:xfrm>
          <a:prstGeom prst="rect">
            <a:avLst/>
          </a:prstGeom>
          <a:noFill/>
        </p:spPr>
        <p:txBody>
          <a:bodyPr wrap="square" rtlCol="0">
            <a:spAutoFit/>
          </a:bodyPr>
          <a:lstStyle/>
          <a:p>
            <a:r>
              <a:rPr lang="en-AU" sz="4000" dirty="0"/>
              <a:t>-1</a:t>
            </a:r>
          </a:p>
        </p:txBody>
      </p:sp>
      <p:sp>
        <p:nvSpPr>
          <p:cNvPr id="18" name="TextBox 17">
            <a:extLst>
              <a:ext uri="{FF2B5EF4-FFF2-40B4-BE49-F238E27FC236}">
                <a16:creationId xmlns:a16="http://schemas.microsoft.com/office/drawing/2014/main" id="{931FECAE-5F0C-480F-8D15-68460F241BD1}"/>
              </a:ext>
            </a:extLst>
          </p:cNvPr>
          <p:cNvSpPr txBox="1"/>
          <p:nvPr/>
        </p:nvSpPr>
        <p:spPr>
          <a:xfrm>
            <a:off x="4294538" y="6020779"/>
            <a:ext cx="662493" cy="707886"/>
          </a:xfrm>
          <a:prstGeom prst="rect">
            <a:avLst/>
          </a:prstGeom>
          <a:noFill/>
        </p:spPr>
        <p:txBody>
          <a:bodyPr wrap="square" rtlCol="0">
            <a:spAutoFit/>
          </a:bodyPr>
          <a:lstStyle/>
          <a:p>
            <a:r>
              <a:rPr lang="en-AU" sz="4000" dirty="0"/>
              <a:t>1</a:t>
            </a:r>
          </a:p>
        </p:txBody>
      </p:sp>
      <p:sp>
        <p:nvSpPr>
          <p:cNvPr id="19" name="TextBox 18">
            <a:extLst>
              <a:ext uri="{FF2B5EF4-FFF2-40B4-BE49-F238E27FC236}">
                <a16:creationId xmlns:a16="http://schemas.microsoft.com/office/drawing/2014/main" id="{668F5AC8-5C23-4624-8DCA-C737D4ECF122}"/>
              </a:ext>
            </a:extLst>
          </p:cNvPr>
          <p:cNvSpPr txBox="1"/>
          <p:nvPr/>
        </p:nvSpPr>
        <p:spPr>
          <a:xfrm>
            <a:off x="5758374" y="6020779"/>
            <a:ext cx="662493" cy="707886"/>
          </a:xfrm>
          <a:prstGeom prst="rect">
            <a:avLst/>
          </a:prstGeom>
          <a:noFill/>
        </p:spPr>
        <p:txBody>
          <a:bodyPr wrap="square" rtlCol="0">
            <a:spAutoFit/>
          </a:bodyPr>
          <a:lstStyle/>
          <a:p>
            <a:r>
              <a:rPr lang="en-AU" sz="4000" dirty="0"/>
              <a:t>2</a:t>
            </a:r>
          </a:p>
        </p:txBody>
      </p:sp>
      <p:sp>
        <p:nvSpPr>
          <p:cNvPr id="20" name="TextBox 19">
            <a:extLst>
              <a:ext uri="{FF2B5EF4-FFF2-40B4-BE49-F238E27FC236}">
                <a16:creationId xmlns:a16="http://schemas.microsoft.com/office/drawing/2014/main" id="{8A5637B0-D77F-4212-883C-F96CBD69DB2F}"/>
              </a:ext>
            </a:extLst>
          </p:cNvPr>
          <p:cNvSpPr txBox="1"/>
          <p:nvPr/>
        </p:nvSpPr>
        <p:spPr>
          <a:xfrm>
            <a:off x="7216226" y="6020779"/>
            <a:ext cx="662493" cy="707886"/>
          </a:xfrm>
          <a:prstGeom prst="rect">
            <a:avLst/>
          </a:prstGeom>
          <a:noFill/>
        </p:spPr>
        <p:txBody>
          <a:bodyPr wrap="square" rtlCol="0">
            <a:spAutoFit/>
          </a:bodyPr>
          <a:lstStyle/>
          <a:p>
            <a:r>
              <a:rPr lang="en-AU" sz="4000" dirty="0"/>
              <a:t>3</a:t>
            </a:r>
          </a:p>
        </p:txBody>
      </p:sp>
      <p:sp>
        <p:nvSpPr>
          <p:cNvPr id="21" name="TextBox 20">
            <a:extLst>
              <a:ext uri="{FF2B5EF4-FFF2-40B4-BE49-F238E27FC236}">
                <a16:creationId xmlns:a16="http://schemas.microsoft.com/office/drawing/2014/main" id="{2B3DD1F9-10B2-4109-A35A-3B7A8C08F4C2}"/>
              </a:ext>
            </a:extLst>
          </p:cNvPr>
          <p:cNvSpPr txBox="1"/>
          <p:nvPr/>
        </p:nvSpPr>
        <p:spPr>
          <a:xfrm>
            <a:off x="8722231" y="5975809"/>
            <a:ext cx="662493" cy="707886"/>
          </a:xfrm>
          <a:prstGeom prst="rect">
            <a:avLst/>
          </a:prstGeom>
          <a:noFill/>
        </p:spPr>
        <p:txBody>
          <a:bodyPr wrap="square" rtlCol="0">
            <a:spAutoFit/>
          </a:bodyPr>
          <a:lstStyle/>
          <a:p>
            <a:r>
              <a:rPr lang="en-AU" sz="4000" dirty="0"/>
              <a:t>4</a:t>
            </a:r>
          </a:p>
        </p:txBody>
      </p:sp>
      <p:sp>
        <p:nvSpPr>
          <p:cNvPr id="22" name="TextBox 21">
            <a:extLst>
              <a:ext uri="{FF2B5EF4-FFF2-40B4-BE49-F238E27FC236}">
                <a16:creationId xmlns:a16="http://schemas.microsoft.com/office/drawing/2014/main" id="{E214DA9C-0A4A-4744-B05E-65052517D3FA}"/>
              </a:ext>
            </a:extLst>
          </p:cNvPr>
          <p:cNvSpPr txBox="1"/>
          <p:nvPr/>
        </p:nvSpPr>
        <p:spPr>
          <a:xfrm>
            <a:off x="10226445" y="5947673"/>
            <a:ext cx="662493" cy="707886"/>
          </a:xfrm>
          <a:prstGeom prst="rect">
            <a:avLst/>
          </a:prstGeom>
          <a:noFill/>
        </p:spPr>
        <p:txBody>
          <a:bodyPr wrap="square" rtlCol="0">
            <a:spAutoFit/>
          </a:bodyPr>
          <a:lstStyle/>
          <a:p>
            <a:r>
              <a:rPr lang="en-AU" sz="4000" dirty="0"/>
              <a:t>5</a:t>
            </a:r>
          </a:p>
        </p:txBody>
      </p:sp>
      <p:sp>
        <p:nvSpPr>
          <p:cNvPr id="23" name="TextBox 22">
            <a:extLst>
              <a:ext uri="{FF2B5EF4-FFF2-40B4-BE49-F238E27FC236}">
                <a16:creationId xmlns:a16="http://schemas.microsoft.com/office/drawing/2014/main" id="{6924A586-E08D-4A5F-B3FF-E93D229C03A4}"/>
              </a:ext>
            </a:extLst>
          </p:cNvPr>
          <p:cNvSpPr txBox="1"/>
          <p:nvPr/>
        </p:nvSpPr>
        <p:spPr>
          <a:xfrm>
            <a:off x="2913554" y="5990298"/>
            <a:ext cx="662493" cy="707886"/>
          </a:xfrm>
          <a:prstGeom prst="rect">
            <a:avLst/>
          </a:prstGeom>
          <a:noFill/>
        </p:spPr>
        <p:txBody>
          <a:bodyPr wrap="square" rtlCol="0">
            <a:spAutoFit/>
          </a:bodyPr>
          <a:lstStyle/>
          <a:p>
            <a:r>
              <a:rPr lang="en-AU" sz="4000" dirty="0"/>
              <a:t>0</a:t>
            </a:r>
          </a:p>
        </p:txBody>
      </p:sp>
      <p:sp>
        <p:nvSpPr>
          <p:cNvPr id="26" name="Oval 25">
            <a:extLst>
              <a:ext uri="{FF2B5EF4-FFF2-40B4-BE49-F238E27FC236}">
                <a16:creationId xmlns:a16="http://schemas.microsoft.com/office/drawing/2014/main" id="{B4936ABC-5440-4981-A5B9-6EC58439F1BC}"/>
              </a:ext>
            </a:extLst>
          </p:cNvPr>
          <p:cNvSpPr/>
          <p:nvPr/>
        </p:nvSpPr>
        <p:spPr>
          <a:xfrm>
            <a:off x="7216226" y="5247249"/>
            <a:ext cx="380328" cy="38789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0" name="Straight Arrow Connector 29">
            <a:extLst>
              <a:ext uri="{FF2B5EF4-FFF2-40B4-BE49-F238E27FC236}">
                <a16:creationId xmlns:a16="http://schemas.microsoft.com/office/drawing/2014/main" id="{BD0F7F10-678D-436A-A58B-869E78030603}"/>
              </a:ext>
            </a:extLst>
          </p:cNvPr>
          <p:cNvCxnSpPr/>
          <p:nvPr/>
        </p:nvCxnSpPr>
        <p:spPr>
          <a:xfrm>
            <a:off x="7451187" y="5444197"/>
            <a:ext cx="2508740" cy="0"/>
          </a:xfrm>
          <a:prstGeom prst="straightConnector1">
            <a:avLst/>
          </a:prstGeom>
          <a:ln w="857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05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1524000" y="1122363"/>
            <a:ext cx="9144000" cy="984733"/>
          </a:xfrm>
        </p:spPr>
        <p:txBody>
          <a:bodyPr/>
          <a:lstStyle/>
          <a:p>
            <a:r>
              <a:rPr lang="en-AU" dirty="0"/>
              <a:t> -4x + 2 </a:t>
            </a:r>
            <a:r>
              <a:rPr lang="en-AU" dirty="0">
                <a:solidFill>
                  <a:prstClr val="black"/>
                </a:solidFill>
              </a:rPr>
              <a:t>≤ -3</a:t>
            </a:r>
            <a:endParaRPr lang="en-AU" dirty="0"/>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1783031" y="1509089"/>
            <a:ext cx="9144000" cy="1655762"/>
          </a:xfrm>
        </p:spPr>
        <p:txBody>
          <a:bodyPr/>
          <a:lstStyle/>
          <a:p>
            <a:endParaRPr lang="en-AU" dirty="0">
              <a:highlight>
                <a:srgbClr val="FFFF00"/>
              </a:highlight>
            </a:endParaRPr>
          </a:p>
          <a:p>
            <a:pPr algn="l"/>
            <a:r>
              <a:rPr lang="en-AU" sz="4000" dirty="0">
                <a:highlight>
                  <a:srgbClr val="FFFF00"/>
                </a:highlight>
              </a:rPr>
              <a:t>(-2)</a:t>
            </a:r>
            <a:r>
              <a:rPr lang="en-AU" sz="4000" dirty="0"/>
              <a:t>							     </a:t>
            </a:r>
            <a:r>
              <a:rPr lang="en-AU" sz="4000" dirty="0">
                <a:highlight>
                  <a:srgbClr val="FFFF00"/>
                </a:highlight>
              </a:rPr>
              <a:t>(-2)</a:t>
            </a:r>
          </a:p>
        </p:txBody>
      </p:sp>
      <p:sp>
        <p:nvSpPr>
          <p:cNvPr id="4" name="Title 1">
            <a:extLst>
              <a:ext uri="{FF2B5EF4-FFF2-40B4-BE49-F238E27FC236}">
                <a16:creationId xmlns:a16="http://schemas.microsoft.com/office/drawing/2014/main" id="{7F125316-033B-4DD2-A128-A6196E8C37C4}"/>
              </a:ext>
            </a:extLst>
          </p:cNvPr>
          <p:cNvSpPr txBox="1">
            <a:spLocks/>
          </p:cNvSpPr>
          <p:nvPr/>
        </p:nvSpPr>
        <p:spPr>
          <a:xfrm>
            <a:off x="1996286" y="2367210"/>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lvl="0">
              <a:defRPr/>
            </a:pPr>
            <a:r>
              <a:rPr kumimoji="0" lang="en-AU" sz="6000" b="0"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lang="en-AU" noProof="0" dirty="0">
                <a:solidFill>
                  <a:prstClr val="black"/>
                </a:solidFill>
                <a:latin typeface="Calibri Light" panose="020F0302020204030204"/>
              </a:rPr>
              <a:t>-4</a:t>
            </a:r>
            <a:r>
              <a:rPr lang="en-AU" dirty="0">
                <a:solidFill>
                  <a:prstClr val="black"/>
                </a:solidFill>
                <a:latin typeface="Calibri Light" panose="020F0302020204030204"/>
              </a:rPr>
              <a:t>x </a:t>
            </a:r>
            <a:r>
              <a:rPr lang="en-AU" dirty="0">
                <a:solidFill>
                  <a:prstClr val="black"/>
                </a:solidFill>
              </a:rPr>
              <a:t>≤ -5</a:t>
            </a:r>
            <a:endParaRPr kumimoji="0" lang="en-AU" sz="60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
        <p:nvSpPr>
          <p:cNvPr id="5" name="Title 1">
            <a:extLst>
              <a:ext uri="{FF2B5EF4-FFF2-40B4-BE49-F238E27FC236}">
                <a16:creationId xmlns:a16="http://schemas.microsoft.com/office/drawing/2014/main" id="{4BDA5D64-C72D-461E-B6E7-DBB7CC3D0BE4}"/>
              </a:ext>
            </a:extLst>
          </p:cNvPr>
          <p:cNvSpPr txBox="1">
            <a:spLocks/>
          </p:cNvSpPr>
          <p:nvPr/>
        </p:nvSpPr>
        <p:spPr>
          <a:xfrm>
            <a:off x="2300169" y="3631512"/>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6000" b="0" i="0" u="none" strike="noStrike" kern="1200" cap="none" spc="0" normalizeH="0" baseline="0" noProof="0" dirty="0">
                <a:ln>
                  <a:noFill/>
                </a:ln>
                <a:solidFill>
                  <a:prstClr val="black"/>
                </a:solidFill>
                <a:effectLst/>
                <a:uLnTx/>
                <a:uFillTx/>
                <a:latin typeface="Calibri Light" panose="020F0302020204030204"/>
                <a:ea typeface="+mj-ea"/>
                <a:cs typeface="+mj-cs"/>
              </a:rPr>
              <a:t> x ≥ 1.25</a:t>
            </a:r>
          </a:p>
        </p:txBody>
      </p:sp>
      <p:sp>
        <p:nvSpPr>
          <p:cNvPr id="6" name="Subtitle 2">
            <a:extLst>
              <a:ext uri="{FF2B5EF4-FFF2-40B4-BE49-F238E27FC236}">
                <a16:creationId xmlns:a16="http://schemas.microsoft.com/office/drawing/2014/main" id="{B1CD2E80-F1B6-4FE2-913F-6FF3B6473371}"/>
              </a:ext>
            </a:extLst>
          </p:cNvPr>
          <p:cNvSpPr txBox="1">
            <a:spLocks/>
          </p:cNvSpPr>
          <p:nvPr/>
        </p:nvSpPr>
        <p:spPr>
          <a:xfrm>
            <a:off x="1754894" y="2766439"/>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U"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(÷-4)</a:t>
            </a:r>
            <a:r>
              <a:rPr kumimoji="0" lang="en-AU" sz="4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AU"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(÷-4)</a:t>
            </a:r>
          </a:p>
        </p:txBody>
      </p:sp>
      <p:sp>
        <p:nvSpPr>
          <p:cNvPr id="7" name="Rectangle 6">
            <a:extLst>
              <a:ext uri="{FF2B5EF4-FFF2-40B4-BE49-F238E27FC236}">
                <a16:creationId xmlns:a16="http://schemas.microsoft.com/office/drawing/2014/main" id="{8DBD98FC-443D-4370-BFD7-5525FE6F315C}"/>
              </a:ext>
            </a:extLst>
          </p:cNvPr>
          <p:cNvSpPr/>
          <p:nvPr/>
        </p:nvSpPr>
        <p:spPr>
          <a:xfrm>
            <a:off x="-278296" y="129335"/>
            <a:ext cx="12470296" cy="923330"/>
          </a:xfrm>
          <a:prstGeom prst="rect">
            <a:avLst/>
          </a:prstGeom>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AU" sz="6000" b="0" i="0" u="none" strike="noStrike" kern="1200" cap="none" spc="0" normalizeH="0" baseline="0" noProof="0" dirty="0">
                <a:ln>
                  <a:noFill/>
                </a:ln>
                <a:solidFill>
                  <a:prstClr val="black"/>
                </a:solidFill>
                <a:effectLst/>
                <a:uLnTx/>
                <a:uFillTx/>
                <a:latin typeface="Calibri" panose="020F0502020204030204"/>
                <a:ea typeface="+mn-ea"/>
                <a:cs typeface="+mn-cs"/>
              </a:rPr>
              <a:t>Draw this inequality on a number line</a:t>
            </a:r>
          </a:p>
        </p:txBody>
      </p:sp>
      <p:cxnSp>
        <p:nvCxnSpPr>
          <p:cNvPr id="10" name="Straight Connector 9">
            <a:extLst>
              <a:ext uri="{FF2B5EF4-FFF2-40B4-BE49-F238E27FC236}">
                <a16:creationId xmlns:a16="http://schemas.microsoft.com/office/drawing/2014/main" id="{DB7251DE-8204-4D7C-BDBD-5D928FCDD108}"/>
              </a:ext>
            </a:extLst>
          </p:cNvPr>
          <p:cNvCxnSpPr>
            <a:cxnSpLocks/>
          </p:cNvCxnSpPr>
          <p:nvPr/>
        </p:nvCxnSpPr>
        <p:spPr>
          <a:xfrm flipV="1">
            <a:off x="1674055" y="5710157"/>
            <a:ext cx="8759485" cy="703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F93DB1A-1D1D-45AC-9D90-3867CC77EC2E}"/>
              </a:ext>
            </a:extLst>
          </p:cNvPr>
          <p:cNvCxnSpPr>
            <a:cxnSpLocks/>
          </p:cNvCxnSpPr>
          <p:nvPr/>
        </p:nvCxnSpPr>
        <p:spPr>
          <a:xfrm>
            <a:off x="1688123" y="5698434"/>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8FD3E6A-CBC5-4C54-B380-AF134BAB90B4}"/>
              </a:ext>
            </a:extLst>
          </p:cNvPr>
          <p:cNvCxnSpPr>
            <a:cxnSpLocks/>
          </p:cNvCxnSpPr>
          <p:nvPr/>
        </p:nvCxnSpPr>
        <p:spPr>
          <a:xfrm>
            <a:off x="8944709" y="5698434"/>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A84EF48-37AA-4124-BB98-B61E26D32120}"/>
              </a:ext>
            </a:extLst>
          </p:cNvPr>
          <p:cNvCxnSpPr>
            <a:cxnSpLocks/>
          </p:cNvCxnSpPr>
          <p:nvPr/>
        </p:nvCxnSpPr>
        <p:spPr>
          <a:xfrm>
            <a:off x="7423051" y="5711687"/>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E3F6BD9-2472-415A-9D9F-A521EC6ED844}"/>
              </a:ext>
            </a:extLst>
          </p:cNvPr>
          <p:cNvCxnSpPr>
            <a:cxnSpLocks/>
          </p:cNvCxnSpPr>
          <p:nvPr/>
        </p:nvCxnSpPr>
        <p:spPr>
          <a:xfrm>
            <a:off x="5943598" y="5714134"/>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6C350C0-E9EC-4A09-A0DA-659FE6E67D26}"/>
              </a:ext>
            </a:extLst>
          </p:cNvPr>
          <p:cNvCxnSpPr>
            <a:cxnSpLocks/>
          </p:cNvCxnSpPr>
          <p:nvPr/>
        </p:nvCxnSpPr>
        <p:spPr>
          <a:xfrm>
            <a:off x="4534489" y="5717189"/>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43DE10A-273F-4B9C-B3F9-20EBE61B5407}"/>
              </a:ext>
            </a:extLst>
          </p:cNvPr>
          <p:cNvCxnSpPr>
            <a:cxnSpLocks/>
          </p:cNvCxnSpPr>
          <p:nvPr/>
        </p:nvCxnSpPr>
        <p:spPr>
          <a:xfrm>
            <a:off x="3139441" y="5700781"/>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2A785A-163B-4EE9-BC31-27B72B77C35A}"/>
              </a:ext>
            </a:extLst>
          </p:cNvPr>
          <p:cNvCxnSpPr>
            <a:cxnSpLocks/>
          </p:cNvCxnSpPr>
          <p:nvPr/>
        </p:nvCxnSpPr>
        <p:spPr>
          <a:xfrm>
            <a:off x="10433540" y="5710157"/>
            <a:ext cx="0" cy="3313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FD1A060-11F8-4144-89D7-0965919480A3}"/>
              </a:ext>
            </a:extLst>
          </p:cNvPr>
          <p:cNvSpPr txBox="1"/>
          <p:nvPr/>
        </p:nvSpPr>
        <p:spPr>
          <a:xfrm>
            <a:off x="1391374" y="6029738"/>
            <a:ext cx="662493" cy="707886"/>
          </a:xfrm>
          <a:prstGeom prst="rect">
            <a:avLst/>
          </a:prstGeom>
          <a:noFill/>
        </p:spPr>
        <p:txBody>
          <a:bodyPr wrap="square" rtlCol="0">
            <a:spAutoFit/>
          </a:bodyPr>
          <a:lstStyle/>
          <a:p>
            <a:r>
              <a:rPr lang="en-AU" sz="4000" dirty="0"/>
              <a:t>-1</a:t>
            </a:r>
          </a:p>
        </p:txBody>
      </p:sp>
      <p:sp>
        <p:nvSpPr>
          <p:cNvPr id="18" name="TextBox 17">
            <a:extLst>
              <a:ext uri="{FF2B5EF4-FFF2-40B4-BE49-F238E27FC236}">
                <a16:creationId xmlns:a16="http://schemas.microsoft.com/office/drawing/2014/main" id="{931FECAE-5F0C-480F-8D15-68460F241BD1}"/>
              </a:ext>
            </a:extLst>
          </p:cNvPr>
          <p:cNvSpPr txBox="1"/>
          <p:nvPr/>
        </p:nvSpPr>
        <p:spPr>
          <a:xfrm>
            <a:off x="4294538" y="6020779"/>
            <a:ext cx="662493" cy="707886"/>
          </a:xfrm>
          <a:prstGeom prst="rect">
            <a:avLst/>
          </a:prstGeom>
          <a:noFill/>
        </p:spPr>
        <p:txBody>
          <a:bodyPr wrap="square" rtlCol="0">
            <a:spAutoFit/>
          </a:bodyPr>
          <a:lstStyle/>
          <a:p>
            <a:r>
              <a:rPr lang="en-AU" sz="4000" dirty="0"/>
              <a:t>1</a:t>
            </a:r>
          </a:p>
        </p:txBody>
      </p:sp>
      <p:sp>
        <p:nvSpPr>
          <p:cNvPr id="19" name="TextBox 18">
            <a:extLst>
              <a:ext uri="{FF2B5EF4-FFF2-40B4-BE49-F238E27FC236}">
                <a16:creationId xmlns:a16="http://schemas.microsoft.com/office/drawing/2014/main" id="{668F5AC8-5C23-4624-8DCA-C737D4ECF122}"/>
              </a:ext>
            </a:extLst>
          </p:cNvPr>
          <p:cNvSpPr txBox="1"/>
          <p:nvPr/>
        </p:nvSpPr>
        <p:spPr>
          <a:xfrm>
            <a:off x="5758374" y="6020779"/>
            <a:ext cx="662493" cy="707886"/>
          </a:xfrm>
          <a:prstGeom prst="rect">
            <a:avLst/>
          </a:prstGeom>
          <a:noFill/>
        </p:spPr>
        <p:txBody>
          <a:bodyPr wrap="square" rtlCol="0">
            <a:spAutoFit/>
          </a:bodyPr>
          <a:lstStyle/>
          <a:p>
            <a:r>
              <a:rPr lang="en-AU" sz="4000" dirty="0"/>
              <a:t>2</a:t>
            </a:r>
          </a:p>
        </p:txBody>
      </p:sp>
      <p:sp>
        <p:nvSpPr>
          <p:cNvPr id="20" name="TextBox 19">
            <a:extLst>
              <a:ext uri="{FF2B5EF4-FFF2-40B4-BE49-F238E27FC236}">
                <a16:creationId xmlns:a16="http://schemas.microsoft.com/office/drawing/2014/main" id="{8A5637B0-D77F-4212-883C-F96CBD69DB2F}"/>
              </a:ext>
            </a:extLst>
          </p:cNvPr>
          <p:cNvSpPr txBox="1"/>
          <p:nvPr/>
        </p:nvSpPr>
        <p:spPr>
          <a:xfrm>
            <a:off x="7216226" y="6020779"/>
            <a:ext cx="662493" cy="707886"/>
          </a:xfrm>
          <a:prstGeom prst="rect">
            <a:avLst/>
          </a:prstGeom>
          <a:noFill/>
        </p:spPr>
        <p:txBody>
          <a:bodyPr wrap="square" rtlCol="0">
            <a:spAutoFit/>
          </a:bodyPr>
          <a:lstStyle/>
          <a:p>
            <a:r>
              <a:rPr lang="en-AU" sz="4000" dirty="0"/>
              <a:t>3</a:t>
            </a:r>
          </a:p>
        </p:txBody>
      </p:sp>
      <p:sp>
        <p:nvSpPr>
          <p:cNvPr id="21" name="TextBox 20">
            <a:extLst>
              <a:ext uri="{FF2B5EF4-FFF2-40B4-BE49-F238E27FC236}">
                <a16:creationId xmlns:a16="http://schemas.microsoft.com/office/drawing/2014/main" id="{2B3DD1F9-10B2-4109-A35A-3B7A8C08F4C2}"/>
              </a:ext>
            </a:extLst>
          </p:cNvPr>
          <p:cNvSpPr txBox="1"/>
          <p:nvPr/>
        </p:nvSpPr>
        <p:spPr>
          <a:xfrm>
            <a:off x="8722231" y="5975809"/>
            <a:ext cx="662493" cy="707886"/>
          </a:xfrm>
          <a:prstGeom prst="rect">
            <a:avLst/>
          </a:prstGeom>
          <a:noFill/>
        </p:spPr>
        <p:txBody>
          <a:bodyPr wrap="square" rtlCol="0">
            <a:spAutoFit/>
          </a:bodyPr>
          <a:lstStyle/>
          <a:p>
            <a:r>
              <a:rPr lang="en-AU" sz="4000" dirty="0"/>
              <a:t>4</a:t>
            </a:r>
          </a:p>
        </p:txBody>
      </p:sp>
      <p:sp>
        <p:nvSpPr>
          <p:cNvPr id="22" name="TextBox 21">
            <a:extLst>
              <a:ext uri="{FF2B5EF4-FFF2-40B4-BE49-F238E27FC236}">
                <a16:creationId xmlns:a16="http://schemas.microsoft.com/office/drawing/2014/main" id="{E214DA9C-0A4A-4744-B05E-65052517D3FA}"/>
              </a:ext>
            </a:extLst>
          </p:cNvPr>
          <p:cNvSpPr txBox="1"/>
          <p:nvPr/>
        </p:nvSpPr>
        <p:spPr>
          <a:xfrm>
            <a:off x="10226445" y="5947673"/>
            <a:ext cx="662493" cy="707886"/>
          </a:xfrm>
          <a:prstGeom prst="rect">
            <a:avLst/>
          </a:prstGeom>
          <a:noFill/>
        </p:spPr>
        <p:txBody>
          <a:bodyPr wrap="square" rtlCol="0">
            <a:spAutoFit/>
          </a:bodyPr>
          <a:lstStyle/>
          <a:p>
            <a:r>
              <a:rPr lang="en-AU" sz="4000" dirty="0"/>
              <a:t>5</a:t>
            </a:r>
          </a:p>
        </p:txBody>
      </p:sp>
      <p:sp>
        <p:nvSpPr>
          <p:cNvPr id="23" name="TextBox 22">
            <a:extLst>
              <a:ext uri="{FF2B5EF4-FFF2-40B4-BE49-F238E27FC236}">
                <a16:creationId xmlns:a16="http://schemas.microsoft.com/office/drawing/2014/main" id="{6924A586-E08D-4A5F-B3FF-E93D229C03A4}"/>
              </a:ext>
            </a:extLst>
          </p:cNvPr>
          <p:cNvSpPr txBox="1"/>
          <p:nvPr/>
        </p:nvSpPr>
        <p:spPr>
          <a:xfrm>
            <a:off x="2913554" y="5990298"/>
            <a:ext cx="662493" cy="707886"/>
          </a:xfrm>
          <a:prstGeom prst="rect">
            <a:avLst/>
          </a:prstGeom>
          <a:noFill/>
        </p:spPr>
        <p:txBody>
          <a:bodyPr wrap="square" rtlCol="0">
            <a:spAutoFit/>
          </a:bodyPr>
          <a:lstStyle/>
          <a:p>
            <a:r>
              <a:rPr lang="en-AU" sz="4000" dirty="0"/>
              <a:t>0</a:t>
            </a:r>
          </a:p>
        </p:txBody>
      </p:sp>
      <p:sp>
        <p:nvSpPr>
          <p:cNvPr id="26" name="Oval 25">
            <a:extLst>
              <a:ext uri="{FF2B5EF4-FFF2-40B4-BE49-F238E27FC236}">
                <a16:creationId xmlns:a16="http://schemas.microsoft.com/office/drawing/2014/main" id="{B4936ABC-5440-4981-A5B9-6EC58439F1BC}"/>
              </a:ext>
            </a:extLst>
          </p:cNvPr>
          <p:cNvSpPr/>
          <p:nvPr/>
        </p:nvSpPr>
        <p:spPr>
          <a:xfrm>
            <a:off x="4764570" y="5247249"/>
            <a:ext cx="380328" cy="38789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30" name="Straight Arrow Connector 29">
            <a:extLst>
              <a:ext uri="{FF2B5EF4-FFF2-40B4-BE49-F238E27FC236}">
                <a16:creationId xmlns:a16="http://schemas.microsoft.com/office/drawing/2014/main" id="{BD0F7F10-678D-436A-A58B-869E78030603}"/>
              </a:ext>
            </a:extLst>
          </p:cNvPr>
          <p:cNvCxnSpPr/>
          <p:nvPr/>
        </p:nvCxnSpPr>
        <p:spPr>
          <a:xfrm>
            <a:off x="4999531" y="5444197"/>
            <a:ext cx="2508740" cy="0"/>
          </a:xfrm>
          <a:prstGeom prst="straightConnector1">
            <a:avLst/>
          </a:prstGeom>
          <a:ln w="857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4560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1524000" y="1122363"/>
            <a:ext cx="9144000" cy="984733"/>
          </a:xfrm>
        </p:spPr>
        <p:txBody>
          <a:bodyPr/>
          <a:lstStyle/>
          <a:p>
            <a:r>
              <a:rPr lang="en-AU" dirty="0"/>
              <a:t>y = 2x + 2</a:t>
            </a:r>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2835965" y="1067758"/>
            <a:ext cx="9144000" cy="3666399"/>
          </a:xfrm>
        </p:spPr>
        <p:txBody>
          <a:bodyPr/>
          <a:lstStyle/>
          <a:p>
            <a:endParaRPr lang="en-AU" dirty="0"/>
          </a:p>
          <a:p>
            <a:pPr algn="l"/>
            <a:r>
              <a:rPr lang="en-AU" sz="4000" dirty="0">
                <a:solidFill>
                  <a:srgbClr val="FF0000"/>
                </a:solidFill>
              </a:rPr>
              <a:t>                        ….</a:t>
            </a:r>
          </a:p>
          <a:p>
            <a:pPr algn="l"/>
            <a:endParaRPr lang="en-AU" sz="4000" dirty="0">
              <a:solidFill>
                <a:srgbClr val="FF0000"/>
              </a:solidFill>
            </a:endParaRPr>
          </a:p>
          <a:p>
            <a:pPr algn="l"/>
            <a:r>
              <a:rPr lang="en-AU" sz="4000" dirty="0">
                <a:solidFill>
                  <a:srgbClr val="FF0000"/>
                </a:solidFill>
              </a:rPr>
              <a:t>Gradient = 2</a:t>
            </a:r>
          </a:p>
        </p:txBody>
      </p:sp>
      <p:sp>
        <p:nvSpPr>
          <p:cNvPr id="6" name="Subtitle 2">
            <a:extLst>
              <a:ext uri="{FF2B5EF4-FFF2-40B4-BE49-F238E27FC236}">
                <a16:creationId xmlns:a16="http://schemas.microsoft.com/office/drawing/2014/main" id="{B1CD2E80-F1B6-4FE2-913F-6FF3B6473371}"/>
              </a:ext>
            </a:extLst>
          </p:cNvPr>
          <p:cNvSpPr txBox="1">
            <a:spLocks/>
          </p:cNvSpPr>
          <p:nvPr/>
        </p:nvSpPr>
        <p:spPr>
          <a:xfrm>
            <a:off x="2835965" y="629474"/>
            <a:ext cx="9144000" cy="498447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p>
          <a:p>
            <a:endParaRPr lang="en-AU" dirty="0"/>
          </a:p>
          <a:p>
            <a:r>
              <a:rPr lang="en-AU" sz="4000" dirty="0">
                <a:solidFill>
                  <a:schemeClr val="accent1"/>
                </a:solidFill>
              </a:rPr>
              <a:t>….</a:t>
            </a:r>
          </a:p>
          <a:p>
            <a:endParaRPr lang="en-AU" sz="4000" dirty="0">
              <a:solidFill>
                <a:schemeClr val="accent1"/>
              </a:solidFill>
            </a:endParaRPr>
          </a:p>
          <a:p>
            <a:r>
              <a:rPr lang="en-AU" sz="4000" dirty="0">
                <a:solidFill>
                  <a:schemeClr val="accent1"/>
                </a:solidFill>
              </a:rPr>
              <a:t>Intercept = 2</a:t>
            </a:r>
          </a:p>
          <a:p>
            <a:endParaRPr lang="en-AU" dirty="0">
              <a:highlight>
                <a:srgbClr val="FFFF00"/>
              </a:highlight>
            </a:endParaRPr>
          </a:p>
        </p:txBody>
      </p:sp>
      <p:sp>
        <p:nvSpPr>
          <p:cNvPr id="7" name="Title 1">
            <a:extLst>
              <a:ext uri="{FF2B5EF4-FFF2-40B4-BE49-F238E27FC236}">
                <a16:creationId xmlns:a16="http://schemas.microsoft.com/office/drawing/2014/main" id="{C4DB0594-241F-4461-A5B4-06BDD76EEE67}"/>
              </a:ext>
            </a:extLst>
          </p:cNvPr>
          <p:cNvSpPr txBox="1">
            <a:spLocks/>
          </p:cNvSpPr>
          <p:nvPr/>
        </p:nvSpPr>
        <p:spPr>
          <a:xfrm>
            <a:off x="1676400" y="4373216"/>
            <a:ext cx="9144000" cy="1888439"/>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What is the gradient?</a:t>
            </a:r>
          </a:p>
          <a:p>
            <a:r>
              <a:rPr lang="en-AU" dirty="0"/>
              <a:t>What is the intercept?</a:t>
            </a:r>
          </a:p>
        </p:txBody>
      </p:sp>
    </p:spTree>
    <p:extLst>
      <p:ext uri="{BB962C8B-B14F-4D97-AF65-F5344CB8AC3E}">
        <p14:creationId xmlns:p14="http://schemas.microsoft.com/office/powerpoint/2010/main" val="20981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1524000" y="1095860"/>
            <a:ext cx="9144000" cy="984733"/>
          </a:xfrm>
        </p:spPr>
        <p:txBody>
          <a:bodyPr/>
          <a:lstStyle/>
          <a:p>
            <a:r>
              <a:rPr lang="en-AU" dirty="0"/>
              <a:t> 2y = 10 – 4x</a:t>
            </a:r>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1524000" y="1481690"/>
            <a:ext cx="9144000" cy="1655762"/>
          </a:xfrm>
        </p:spPr>
        <p:txBody>
          <a:bodyPr/>
          <a:lstStyle/>
          <a:p>
            <a:endParaRPr lang="en-AU" dirty="0">
              <a:highlight>
                <a:srgbClr val="FFFF00"/>
              </a:highlight>
            </a:endParaRPr>
          </a:p>
          <a:p>
            <a:pPr algn="l"/>
            <a:r>
              <a:rPr lang="en-AU" sz="4000" dirty="0">
                <a:highlight>
                  <a:srgbClr val="FFFF00"/>
                </a:highlight>
              </a:rPr>
              <a:t>(÷2)</a:t>
            </a:r>
            <a:r>
              <a:rPr lang="en-AU" sz="4000" dirty="0"/>
              <a:t>							         </a:t>
            </a:r>
            <a:r>
              <a:rPr lang="en-AU" sz="4000" dirty="0">
                <a:highlight>
                  <a:srgbClr val="FFFF00"/>
                </a:highlight>
              </a:rPr>
              <a:t>(÷2)</a:t>
            </a:r>
          </a:p>
        </p:txBody>
      </p:sp>
      <p:sp>
        <p:nvSpPr>
          <p:cNvPr id="5" name="Title 1">
            <a:extLst>
              <a:ext uri="{FF2B5EF4-FFF2-40B4-BE49-F238E27FC236}">
                <a16:creationId xmlns:a16="http://schemas.microsoft.com/office/drawing/2014/main" id="{4BDA5D64-C72D-461E-B6E7-DBB7CC3D0BE4}"/>
              </a:ext>
            </a:extLst>
          </p:cNvPr>
          <p:cNvSpPr txBox="1">
            <a:spLocks/>
          </p:cNvSpPr>
          <p:nvPr/>
        </p:nvSpPr>
        <p:spPr>
          <a:xfrm>
            <a:off x="1484244" y="2646365"/>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y = 5 – 2x</a:t>
            </a:r>
          </a:p>
        </p:txBody>
      </p:sp>
      <p:sp>
        <p:nvSpPr>
          <p:cNvPr id="8" name="Subtitle 2">
            <a:extLst>
              <a:ext uri="{FF2B5EF4-FFF2-40B4-BE49-F238E27FC236}">
                <a16:creationId xmlns:a16="http://schemas.microsoft.com/office/drawing/2014/main" id="{46B6E4C1-0458-4F74-A3A7-D9676556A129}"/>
              </a:ext>
            </a:extLst>
          </p:cNvPr>
          <p:cNvSpPr txBox="1">
            <a:spLocks/>
          </p:cNvSpPr>
          <p:nvPr/>
        </p:nvSpPr>
        <p:spPr>
          <a:xfrm>
            <a:off x="3538331" y="2646365"/>
            <a:ext cx="9144000" cy="366639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p>
          <a:p>
            <a:pPr algn="l"/>
            <a:r>
              <a:rPr lang="en-AU" sz="4000" dirty="0">
                <a:solidFill>
                  <a:srgbClr val="FF0000"/>
                </a:solidFill>
              </a:rPr>
              <a:t>                        ……..</a:t>
            </a:r>
          </a:p>
          <a:p>
            <a:pPr algn="l"/>
            <a:endParaRPr lang="en-AU" sz="4000" dirty="0">
              <a:solidFill>
                <a:srgbClr val="FF0000"/>
              </a:solidFill>
            </a:endParaRPr>
          </a:p>
          <a:p>
            <a:pPr algn="l"/>
            <a:r>
              <a:rPr lang="en-AU" sz="4000" dirty="0">
                <a:solidFill>
                  <a:srgbClr val="FF0000"/>
                </a:solidFill>
              </a:rPr>
              <a:t>                                     Gradient = -2</a:t>
            </a:r>
          </a:p>
        </p:txBody>
      </p:sp>
      <p:sp>
        <p:nvSpPr>
          <p:cNvPr id="9" name="Subtitle 2">
            <a:extLst>
              <a:ext uri="{FF2B5EF4-FFF2-40B4-BE49-F238E27FC236}">
                <a16:creationId xmlns:a16="http://schemas.microsoft.com/office/drawing/2014/main" id="{EF9D0F8B-4927-4540-898D-AE14D835412D}"/>
              </a:ext>
            </a:extLst>
          </p:cNvPr>
          <p:cNvSpPr txBox="1">
            <a:spLocks/>
          </p:cNvSpPr>
          <p:nvPr/>
        </p:nvSpPr>
        <p:spPr>
          <a:xfrm>
            <a:off x="1338470" y="3137452"/>
            <a:ext cx="9144000" cy="498447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4000" dirty="0">
                <a:solidFill>
                  <a:schemeClr val="accent1"/>
                </a:solidFill>
              </a:rPr>
              <a:t>….</a:t>
            </a:r>
          </a:p>
          <a:p>
            <a:endParaRPr lang="en-AU" sz="4000" dirty="0">
              <a:solidFill>
                <a:schemeClr val="accent1"/>
              </a:solidFill>
            </a:endParaRPr>
          </a:p>
          <a:p>
            <a:r>
              <a:rPr lang="en-AU" sz="4000" dirty="0">
                <a:solidFill>
                  <a:schemeClr val="accent1"/>
                </a:solidFill>
              </a:rPr>
              <a:t>Intercept = 5</a:t>
            </a:r>
          </a:p>
          <a:p>
            <a:endParaRPr lang="en-AU" dirty="0">
              <a:highlight>
                <a:srgbClr val="FFFF00"/>
              </a:highlight>
            </a:endParaRPr>
          </a:p>
        </p:txBody>
      </p:sp>
      <p:sp>
        <p:nvSpPr>
          <p:cNvPr id="10" name="Title 1">
            <a:extLst>
              <a:ext uri="{FF2B5EF4-FFF2-40B4-BE49-F238E27FC236}">
                <a16:creationId xmlns:a16="http://schemas.microsoft.com/office/drawing/2014/main" id="{57006D3A-DDCB-4920-945C-794BDC62AEC4}"/>
              </a:ext>
            </a:extLst>
          </p:cNvPr>
          <p:cNvSpPr txBox="1">
            <a:spLocks/>
          </p:cNvSpPr>
          <p:nvPr/>
        </p:nvSpPr>
        <p:spPr>
          <a:xfrm>
            <a:off x="1676400" y="5512905"/>
            <a:ext cx="9144000" cy="1133064"/>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What is the gradient?</a:t>
            </a:r>
          </a:p>
          <a:p>
            <a:r>
              <a:rPr lang="en-AU" dirty="0"/>
              <a:t>What is the intercept?</a:t>
            </a:r>
          </a:p>
        </p:txBody>
      </p:sp>
    </p:spTree>
    <p:extLst>
      <p:ext uri="{BB962C8B-B14F-4D97-AF65-F5344CB8AC3E}">
        <p14:creationId xmlns:p14="http://schemas.microsoft.com/office/powerpoint/2010/main" val="272037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1524000" y="103032"/>
            <a:ext cx="9144000" cy="984733"/>
          </a:xfrm>
        </p:spPr>
        <p:txBody>
          <a:bodyPr/>
          <a:lstStyle/>
          <a:p>
            <a:r>
              <a:rPr lang="en-AU" dirty="0"/>
              <a:t>-4x + 3y = 12 + 2x</a:t>
            </a:r>
          </a:p>
        </p:txBody>
      </p:sp>
      <p:sp>
        <p:nvSpPr>
          <p:cNvPr id="3" name="Subtitle 2">
            <a:extLst>
              <a:ext uri="{FF2B5EF4-FFF2-40B4-BE49-F238E27FC236}">
                <a16:creationId xmlns:a16="http://schemas.microsoft.com/office/drawing/2014/main" id="{61F4F420-102B-42C8-A5A7-F6084C341088}"/>
              </a:ext>
            </a:extLst>
          </p:cNvPr>
          <p:cNvSpPr>
            <a:spLocks noGrp="1"/>
          </p:cNvSpPr>
          <p:nvPr>
            <p:ph type="subTitle" idx="1"/>
          </p:nvPr>
        </p:nvSpPr>
        <p:spPr>
          <a:xfrm>
            <a:off x="1543880" y="324868"/>
            <a:ext cx="9144000" cy="1655762"/>
          </a:xfrm>
        </p:spPr>
        <p:txBody>
          <a:bodyPr/>
          <a:lstStyle/>
          <a:p>
            <a:endParaRPr lang="en-AU" dirty="0">
              <a:highlight>
                <a:srgbClr val="FFFF00"/>
              </a:highlight>
            </a:endParaRPr>
          </a:p>
          <a:p>
            <a:pPr algn="l"/>
            <a:r>
              <a:rPr lang="en-AU" sz="4000" dirty="0">
                <a:highlight>
                  <a:srgbClr val="FFFF00"/>
                </a:highlight>
              </a:rPr>
              <a:t>(+4x)</a:t>
            </a:r>
            <a:r>
              <a:rPr lang="en-AU" sz="4000" dirty="0"/>
              <a:t>							     </a:t>
            </a:r>
            <a:r>
              <a:rPr lang="en-AU" sz="4000" dirty="0">
                <a:highlight>
                  <a:srgbClr val="FFFF00"/>
                </a:highlight>
              </a:rPr>
              <a:t>(+4x)</a:t>
            </a:r>
          </a:p>
        </p:txBody>
      </p:sp>
      <p:sp>
        <p:nvSpPr>
          <p:cNvPr id="4" name="Title 1">
            <a:extLst>
              <a:ext uri="{FF2B5EF4-FFF2-40B4-BE49-F238E27FC236}">
                <a16:creationId xmlns:a16="http://schemas.microsoft.com/office/drawing/2014/main" id="{7F125316-033B-4DD2-A128-A6196E8C37C4}"/>
              </a:ext>
            </a:extLst>
          </p:cNvPr>
          <p:cNvSpPr txBox="1">
            <a:spLocks/>
          </p:cNvSpPr>
          <p:nvPr/>
        </p:nvSpPr>
        <p:spPr>
          <a:xfrm>
            <a:off x="1278837" y="979818"/>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6000" b="0"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lang="en-AU" dirty="0">
                <a:solidFill>
                  <a:prstClr val="black"/>
                </a:solidFill>
                <a:latin typeface="Calibri Light" panose="020F0302020204030204"/>
              </a:rPr>
              <a:t>3y</a:t>
            </a:r>
            <a:r>
              <a:rPr kumimoji="0" lang="en-AU" sz="6000" b="0"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lang="en-AU" dirty="0">
                <a:solidFill>
                  <a:prstClr val="black"/>
                </a:solidFill>
                <a:latin typeface="Calibri Light" panose="020F0302020204030204"/>
              </a:rPr>
              <a:t>=</a:t>
            </a:r>
            <a:r>
              <a:rPr kumimoji="0" lang="en-AU" sz="6000" b="0" i="0" u="none" strike="noStrike" kern="1200" cap="none" spc="0" normalizeH="0" baseline="0" noProof="0" dirty="0">
                <a:ln>
                  <a:noFill/>
                </a:ln>
                <a:solidFill>
                  <a:prstClr val="black"/>
                </a:solidFill>
                <a:effectLst/>
                <a:uLnTx/>
                <a:uFillTx/>
                <a:latin typeface="Calibri Light" panose="020F0302020204030204"/>
                <a:ea typeface="+mj-ea"/>
                <a:cs typeface="+mj-cs"/>
              </a:rPr>
              <a:t> 12 + 6x</a:t>
            </a:r>
          </a:p>
        </p:txBody>
      </p:sp>
      <p:sp>
        <p:nvSpPr>
          <p:cNvPr id="6" name="Subtitle 2">
            <a:extLst>
              <a:ext uri="{FF2B5EF4-FFF2-40B4-BE49-F238E27FC236}">
                <a16:creationId xmlns:a16="http://schemas.microsoft.com/office/drawing/2014/main" id="{B1CD2E80-F1B6-4FE2-913F-6FF3B6473371}"/>
              </a:ext>
            </a:extLst>
          </p:cNvPr>
          <p:cNvSpPr txBox="1">
            <a:spLocks/>
          </p:cNvSpPr>
          <p:nvPr/>
        </p:nvSpPr>
        <p:spPr>
          <a:xfrm>
            <a:off x="2008573" y="1184173"/>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AU" sz="24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(÷3)</a:t>
            </a:r>
            <a:r>
              <a:rPr kumimoji="0" lang="en-AU" sz="4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AU" sz="40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(÷3)</a:t>
            </a:r>
          </a:p>
        </p:txBody>
      </p:sp>
      <p:sp>
        <p:nvSpPr>
          <p:cNvPr id="9" name="Title 1">
            <a:extLst>
              <a:ext uri="{FF2B5EF4-FFF2-40B4-BE49-F238E27FC236}">
                <a16:creationId xmlns:a16="http://schemas.microsoft.com/office/drawing/2014/main" id="{4F241982-F102-42FF-A399-CAAF7E8B4759}"/>
              </a:ext>
            </a:extLst>
          </p:cNvPr>
          <p:cNvSpPr txBox="1">
            <a:spLocks/>
          </p:cNvSpPr>
          <p:nvPr/>
        </p:nvSpPr>
        <p:spPr>
          <a:xfrm>
            <a:off x="1676400" y="5512905"/>
            <a:ext cx="9144000" cy="1133064"/>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What is the gradient?</a:t>
            </a:r>
          </a:p>
          <a:p>
            <a:r>
              <a:rPr lang="en-AU" dirty="0"/>
              <a:t>What is the intercept?</a:t>
            </a:r>
          </a:p>
        </p:txBody>
      </p:sp>
      <p:sp>
        <p:nvSpPr>
          <p:cNvPr id="10" name="Title 1">
            <a:extLst>
              <a:ext uri="{FF2B5EF4-FFF2-40B4-BE49-F238E27FC236}">
                <a16:creationId xmlns:a16="http://schemas.microsoft.com/office/drawing/2014/main" id="{B5CCE127-05BB-4CBD-B9F6-93195591C5C4}"/>
              </a:ext>
            </a:extLst>
          </p:cNvPr>
          <p:cNvSpPr txBox="1">
            <a:spLocks/>
          </p:cNvSpPr>
          <p:nvPr/>
        </p:nvSpPr>
        <p:spPr>
          <a:xfrm>
            <a:off x="1524000" y="2171675"/>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y = 4 + 2x</a:t>
            </a:r>
          </a:p>
        </p:txBody>
      </p:sp>
      <p:sp>
        <p:nvSpPr>
          <p:cNvPr id="11" name="Subtitle 2">
            <a:extLst>
              <a:ext uri="{FF2B5EF4-FFF2-40B4-BE49-F238E27FC236}">
                <a16:creationId xmlns:a16="http://schemas.microsoft.com/office/drawing/2014/main" id="{4E352AD9-DB71-459A-A6AB-77165DB4CFF4}"/>
              </a:ext>
            </a:extLst>
          </p:cNvPr>
          <p:cNvSpPr txBox="1">
            <a:spLocks/>
          </p:cNvSpPr>
          <p:nvPr/>
        </p:nvSpPr>
        <p:spPr>
          <a:xfrm>
            <a:off x="3912433" y="2117070"/>
            <a:ext cx="6703425" cy="366639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p>
          <a:p>
            <a:pPr algn="l"/>
            <a:r>
              <a:rPr lang="en-AU" sz="4000" dirty="0">
                <a:solidFill>
                  <a:srgbClr val="FF0000"/>
                </a:solidFill>
              </a:rPr>
              <a:t>                        ….</a:t>
            </a:r>
          </a:p>
          <a:p>
            <a:pPr algn="l"/>
            <a:endParaRPr lang="en-AU" sz="4000" dirty="0">
              <a:solidFill>
                <a:srgbClr val="FF0000"/>
              </a:solidFill>
            </a:endParaRPr>
          </a:p>
          <a:p>
            <a:pPr algn="l"/>
            <a:r>
              <a:rPr lang="en-AU" sz="4000" dirty="0">
                <a:solidFill>
                  <a:srgbClr val="FF0000"/>
                </a:solidFill>
              </a:rPr>
              <a:t>                                 Gradient = 2</a:t>
            </a:r>
          </a:p>
        </p:txBody>
      </p:sp>
      <p:sp>
        <p:nvSpPr>
          <p:cNvPr id="12" name="Subtitle 2">
            <a:extLst>
              <a:ext uri="{FF2B5EF4-FFF2-40B4-BE49-F238E27FC236}">
                <a16:creationId xmlns:a16="http://schemas.microsoft.com/office/drawing/2014/main" id="{FE87A303-1511-4906-9970-A3C701656E48}"/>
              </a:ext>
            </a:extLst>
          </p:cNvPr>
          <p:cNvSpPr txBox="1">
            <a:spLocks/>
          </p:cNvSpPr>
          <p:nvPr/>
        </p:nvSpPr>
        <p:spPr>
          <a:xfrm>
            <a:off x="1366938" y="1678785"/>
            <a:ext cx="9144000" cy="498447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p>
          <a:p>
            <a:endParaRPr lang="en-AU" dirty="0"/>
          </a:p>
          <a:p>
            <a:r>
              <a:rPr lang="en-AU" sz="4000" dirty="0">
                <a:solidFill>
                  <a:schemeClr val="accent1"/>
                </a:solidFill>
              </a:rPr>
              <a:t>….</a:t>
            </a:r>
          </a:p>
          <a:p>
            <a:endParaRPr lang="en-AU" sz="4000" dirty="0">
              <a:solidFill>
                <a:schemeClr val="accent1"/>
              </a:solidFill>
            </a:endParaRPr>
          </a:p>
          <a:p>
            <a:r>
              <a:rPr lang="en-AU" sz="4000" dirty="0">
                <a:solidFill>
                  <a:schemeClr val="accent1"/>
                </a:solidFill>
              </a:rPr>
              <a:t>Intercept = 2</a:t>
            </a:r>
          </a:p>
          <a:p>
            <a:endParaRPr lang="en-AU" dirty="0">
              <a:highlight>
                <a:srgbClr val="FFFF00"/>
              </a:highlight>
            </a:endParaRPr>
          </a:p>
        </p:txBody>
      </p:sp>
    </p:spTree>
    <p:extLst>
      <p:ext uri="{BB962C8B-B14F-4D97-AF65-F5344CB8AC3E}">
        <p14:creationId xmlns:p14="http://schemas.microsoft.com/office/powerpoint/2010/main" val="1979038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10" grpId="0"/>
      <p:bldP spid="11" grpId="0" uiExpand="1" build="p"/>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234A3477-E8E2-4AE2-9F3B-64D5C2873ED7}"/>
                  </a:ext>
                </a:extLst>
              </p:cNvPr>
              <p:cNvGraphicFramePr>
                <a:graphicFrameLocks noGrp="1"/>
              </p:cNvGraphicFramePr>
              <p:nvPr>
                <p:extLst>
                  <p:ext uri="{D42A27DB-BD31-4B8C-83A1-F6EECF244321}">
                    <p14:modId xmlns:p14="http://schemas.microsoft.com/office/powerpoint/2010/main" val="2966198578"/>
                  </p:ext>
                </p:extLst>
              </p:nvPr>
            </p:nvGraphicFramePr>
            <p:xfrm>
              <a:off x="1849750" y="813657"/>
              <a:ext cx="8084968" cy="2557904"/>
            </p:xfrm>
            <a:graphic>
              <a:graphicData uri="http://schemas.openxmlformats.org/drawingml/2006/table">
                <a:tbl>
                  <a:tblPr firstRow="1" bandRow="1">
                    <a:tableStyleId>{5940675A-B579-460E-94D1-54222C63F5DA}</a:tableStyleId>
                  </a:tblPr>
                  <a:tblGrid>
                    <a:gridCol w="1010621">
                      <a:extLst>
                        <a:ext uri="{9D8B030D-6E8A-4147-A177-3AD203B41FA5}">
                          <a16:colId xmlns:a16="http://schemas.microsoft.com/office/drawing/2014/main" val="1265534055"/>
                        </a:ext>
                      </a:extLst>
                    </a:gridCol>
                    <a:gridCol w="1010621">
                      <a:extLst>
                        <a:ext uri="{9D8B030D-6E8A-4147-A177-3AD203B41FA5}">
                          <a16:colId xmlns:a16="http://schemas.microsoft.com/office/drawing/2014/main" val="1849813590"/>
                        </a:ext>
                      </a:extLst>
                    </a:gridCol>
                    <a:gridCol w="1010621">
                      <a:extLst>
                        <a:ext uri="{9D8B030D-6E8A-4147-A177-3AD203B41FA5}">
                          <a16:colId xmlns:a16="http://schemas.microsoft.com/office/drawing/2014/main" val="1564237064"/>
                        </a:ext>
                      </a:extLst>
                    </a:gridCol>
                    <a:gridCol w="1010621">
                      <a:extLst>
                        <a:ext uri="{9D8B030D-6E8A-4147-A177-3AD203B41FA5}">
                          <a16:colId xmlns:a16="http://schemas.microsoft.com/office/drawing/2014/main" val="3874331450"/>
                        </a:ext>
                      </a:extLst>
                    </a:gridCol>
                    <a:gridCol w="1010621">
                      <a:extLst>
                        <a:ext uri="{9D8B030D-6E8A-4147-A177-3AD203B41FA5}">
                          <a16:colId xmlns:a16="http://schemas.microsoft.com/office/drawing/2014/main" val="947499834"/>
                        </a:ext>
                      </a:extLst>
                    </a:gridCol>
                    <a:gridCol w="1010621">
                      <a:extLst>
                        <a:ext uri="{9D8B030D-6E8A-4147-A177-3AD203B41FA5}">
                          <a16:colId xmlns:a16="http://schemas.microsoft.com/office/drawing/2014/main" val="844281653"/>
                        </a:ext>
                      </a:extLst>
                    </a:gridCol>
                    <a:gridCol w="1010621">
                      <a:extLst>
                        <a:ext uri="{9D8B030D-6E8A-4147-A177-3AD203B41FA5}">
                          <a16:colId xmlns:a16="http://schemas.microsoft.com/office/drawing/2014/main" val="2140937466"/>
                        </a:ext>
                      </a:extLst>
                    </a:gridCol>
                    <a:gridCol w="1010621">
                      <a:extLst>
                        <a:ext uri="{9D8B030D-6E8A-4147-A177-3AD203B41FA5}">
                          <a16:colId xmlns:a16="http://schemas.microsoft.com/office/drawing/2014/main" val="3450636510"/>
                        </a:ext>
                      </a:extLst>
                    </a:gridCol>
                  </a:tblGrid>
                  <a:tr h="1278952">
                    <a:tc>
                      <a:txBody>
                        <a:bodyPr/>
                        <a:lstStyle/>
                        <a:p>
                          <a:pPr algn="ctr"/>
                          <a14:m>
                            <m:oMathPara xmlns:m="http://schemas.openxmlformats.org/officeDocument/2006/math">
                              <m:oMathParaPr>
                                <m:jc m:val="centerGroup"/>
                              </m:oMathParaPr>
                              <m:oMath xmlns:m="http://schemas.openxmlformats.org/officeDocument/2006/math">
                                <m:r>
                                  <a:rPr lang="en-AU" sz="3200" b="1" i="1" smtClean="0">
                                    <a:latin typeface="Cambria Math" panose="02040503050406030204" pitchFamily="18" charset="0"/>
                                  </a:rPr>
                                  <m:t>𝒙</m:t>
                                </m:r>
                              </m:oMath>
                            </m:oMathPara>
                          </a14:m>
                          <a:endParaRPr lang="en-AU" sz="3200" b="1" dirty="0"/>
                        </a:p>
                      </a:txBody>
                      <a:tcPr marL="109728" marR="109728" marT="54864" marB="54864" anchor="ctr">
                        <a:solidFill>
                          <a:schemeClr val="bg1"/>
                        </a:solidFill>
                      </a:tcPr>
                    </a:tc>
                    <a:tc>
                      <a:txBody>
                        <a:bodyPr/>
                        <a:lstStyle/>
                        <a:p>
                          <a:pPr algn="ctr"/>
                          <a:r>
                            <a:rPr lang="en-AU" sz="3200" b="1" dirty="0"/>
                            <a:t>-3</a:t>
                          </a:r>
                        </a:p>
                      </a:txBody>
                      <a:tcPr marL="109728" marR="109728" marT="54864" marB="54864" anchor="ctr">
                        <a:solidFill>
                          <a:schemeClr val="bg1"/>
                        </a:solidFill>
                      </a:tcPr>
                    </a:tc>
                    <a:tc>
                      <a:txBody>
                        <a:bodyPr/>
                        <a:lstStyle/>
                        <a:p>
                          <a:pPr algn="ctr"/>
                          <a:r>
                            <a:rPr lang="en-AU" sz="3200" b="1" dirty="0"/>
                            <a:t>-2</a:t>
                          </a:r>
                        </a:p>
                      </a:txBody>
                      <a:tcPr marL="109728" marR="109728" marT="54864" marB="54864" anchor="ctr">
                        <a:solidFill>
                          <a:schemeClr val="bg1"/>
                        </a:solidFill>
                      </a:tcPr>
                    </a:tc>
                    <a:tc>
                      <a:txBody>
                        <a:bodyPr/>
                        <a:lstStyle/>
                        <a:p>
                          <a:pPr algn="ctr"/>
                          <a:r>
                            <a:rPr lang="en-AU" sz="3200" b="1" dirty="0"/>
                            <a:t>-1</a:t>
                          </a:r>
                        </a:p>
                      </a:txBody>
                      <a:tcPr marL="109728" marR="109728" marT="54864" marB="54864" anchor="ctr">
                        <a:solidFill>
                          <a:schemeClr val="bg1"/>
                        </a:solidFill>
                      </a:tcPr>
                    </a:tc>
                    <a:tc>
                      <a:txBody>
                        <a:bodyPr/>
                        <a:lstStyle/>
                        <a:p>
                          <a:pPr algn="ctr"/>
                          <a:r>
                            <a:rPr lang="en-AU" sz="3200" b="1" dirty="0"/>
                            <a:t>0</a:t>
                          </a:r>
                        </a:p>
                      </a:txBody>
                      <a:tcPr marL="109728" marR="109728" marT="54864" marB="54864" anchor="ctr">
                        <a:solidFill>
                          <a:schemeClr val="bg1"/>
                        </a:solidFill>
                      </a:tcPr>
                    </a:tc>
                    <a:tc>
                      <a:txBody>
                        <a:bodyPr/>
                        <a:lstStyle/>
                        <a:p>
                          <a:pPr algn="ctr"/>
                          <a:r>
                            <a:rPr lang="en-AU" sz="3200" b="1" dirty="0"/>
                            <a:t>1</a:t>
                          </a:r>
                        </a:p>
                      </a:txBody>
                      <a:tcPr marL="109728" marR="109728" marT="54864" marB="54864" anchor="ctr">
                        <a:solidFill>
                          <a:schemeClr val="bg1"/>
                        </a:solidFill>
                      </a:tcPr>
                    </a:tc>
                    <a:tc>
                      <a:txBody>
                        <a:bodyPr/>
                        <a:lstStyle/>
                        <a:p>
                          <a:pPr algn="ctr"/>
                          <a:r>
                            <a:rPr lang="en-AU" sz="3200" b="1" dirty="0"/>
                            <a:t>2</a:t>
                          </a:r>
                        </a:p>
                      </a:txBody>
                      <a:tcPr marL="109728" marR="109728" marT="54864" marB="54864" anchor="ctr">
                        <a:solidFill>
                          <a:schemeClr val="bg1"/>
                        </a:solidFill>
                      </a:tcPr>
                    </a:tc>
                    <a:tc>
                      <a:txBody>
                        <a:bodyPr/>
                        <a:lstStyle/>
                        <a:p>
                          <a:pPr algn="ctr"/>
                          <a:r>
                            <a:rPr lang="en-AU" sz="3200" b="1" dirty="0"/>
                            <a:t>3</a:t>
                          </a:r>
                        </a:p>
                      </a:txBody>
                      <a:tcPr marL="109728" marR="109728" marT="54864" marB="54864" anchor="ctr">
                        <a:solidFill>
                          <a:schemeClr val="bg1"/>
                        </a:solidFill>
                      </a:tcPr>
                    </a:tc>
                    <a:extLst>
                      <a:ext uri="{0D108BD9-81ED-4DB2-BD59-A6C34878D82A}">
                        <a16:rowId xmlns:a16="http://schemas.microsoft.com/office/drawing/2014/main" val="499543246"/>
                      </a:ext>
                    </a:extLst>
                  </a:tr>
                  <a:tr h="1278952">
                    <a:tc>
                      <a:txBody>
                        <a:bodyPr/>
                        <a:lstStyle/>
                        <a:p>
                          <a:pPr algn="ctr"/>
                          <a14:m>
                            <m:oMathPara xmlns:m="http://schemas.openxmlformats.org/officeDocument/2006/math">
                              <m:oMathParaPr>
                                <m:jc m:val="centerGroup"/>
                              </m:oMathParaPr>
                              <m:oMath xmlns:m="http://schemas.openxmlformats.org/officeDocument/2006/math">
                                <m:r>
                                  <a:rPr lang="en-AU" sz="3200" b="1" i="1" smtClean="0">
                                    <a:latin typeface="Cambria Math" panose="02040503050406030204" pitchFamily="18" charset="0"/>
                                  </a:rPr>
                                  <m:t>𝒚</m:t>
                                </m:r>
                              </m:oMath>
                            </m:oMathPara>
                          </a14:m>
                          <a:endParaRPr lang="en-AU" sz="3200" b="1" dirty="0"/>
                        </a:p>
                      </a:txBody>
                      <a:tcPr marL="109728" marR="109728" marT="54864" marB="54864" anchor="ctr">
                        <a:solidFill>
                          <a:schemeClr val="bg1"/>
                        </a:solidFill>
                      </a:tcPr>
                    </a:tc>
                    <a:tc>
                      <a:txBody>
                        <a:bodyPr/>
                        <a:lstStyle/>
                        <a:p>
                          <a:pPr algn="ctr"/>
                          <a:r>
                            <a:rPr lang="en-AU" sz="3200" b="1" dirty="0"/>
                            <a:t>-11</a:t>
                          </a:r>
                        </a:p>
                      </a:txBody>
                      <a:tcPr marL="109728" marR="109728" marT="54864" marB="54864" anchor="ctr">
                        <a:solidFill>
                          <a:schemeClr val="bg1"/>
                        </a:solidFill>
                      </a:tcPr>
                    </a:tc>
                    <a:tc>
                      <a:txBody>
                        <a:bodyPr/>
                        <a:lstStyle/>
                        <a:p>
                          <a:pPr algn="ctr"/>
                          <a:r>
                            <a:rPr lang="en-AU" sz="3200" b="1" dirty="0"/>
                            <a:t>-9</a:t>
                          </a:r>
                        </a:p>
                      </a:txBody>
                      <a:tcPr marL="109728" marR="109728" marT="54864" marB="54864" anchor="ctr">
                        <a:solidFill>
                          <a:schemeClr val="bg1"/>
                        </a:solidFill>
                      </a:tcPr>
                    </a:tc>
                    <a:tc>
                      <a:txBody>
                        <a:bodyPr/>
                        <a:lstStyle/>
                        <a:p>
                          <a:pPr algn="ctr"/>
                          <a:r>
                            <a:rPr lang="en-AU" sz="3200" b="1" dirty="0"/>
                            <a:t>-7</a:t>
                          </a:r>
                        </a:p>
                      </a:txBody>
                      <a:tcPr marL="109728" marR="109728" marT="54864" marB="54864" anchor="ctr">
                        <a:solidFill>
                          <a:schemeClr val="bg1"/>
                        </a:solidFill>
                      </a:tcPr>
                    </a:tc>
                    <a:tc>
                      <a:txBody>
                        <a:bodyPr/>
                        <a:lstStyle/>
                        <a:p>
                          <a:pPr algn="ctr"/>
                          <a:r>
                            <a:rPr lang="en-AU" sz="3200" b="1" dirty="0"/>
                            <a:t>-5</a:t>
                          </a:r>
                        </a:p>
                      </a:txBody>
                      <a:tcPr marL="109728" marR="109728" marT="54864" marB="54864" anchor="ctr">
                        <a:solidFill>
                          <a:schemeClr val="bg1"/>
                        </a:solidFill>
                      </a:tcPr>
                    </a:tc>
                    <a:tc>
                      <a:txBody>
                        <a:bodyPr/>
                        <a:lstStyle/>
                        <a:p>
                          <a:pPr algn="ctr"/>
                          <a:r>
                            <a:rPr lang="en-AU" sz="3200" b="1" dirty="0"/>
                            <a:t>-3</a:t>
                          </a:r>
                        </a:p>
                      </a:txBody>
                      <a:tcPr marL="109728" marR="109728" marT="54864" marB="54864" anchor="ctr">
                        <a:solidFill>
                          <a:schemeClr val="bg1"/>
                        </a:solidFill>
                      </a:tcPr>
                    </a:tc>
                    <a:tc>
                      <a:txBody>
                        <a:bodyPr/>
                        <a:lstStyle/>
                        <a:p>
                          <a:pPr algn="ctr"/>
                          <a:r>
                            <a:rPr lang="en-AU" sz="3200" b="1" dirty="0"/>
                            <a:t>-1</a:t>
                          </a:r>
                        </a:p>
                      </a:txBody>
                      <a:tcPr marL="109728" marR="109728" marT="54864" marB="54864" anchor="ctr">
                        <a:solidFill>
                          <a:schemeClr val="bg1"/>
                        </a:solidFill>
                      </a:tcPr>
                    </a:tc>
                    <a:tc>
                      <a:txBody>
                        <a:bodyPr/>
                        <a:lstStyle/>
                        <a:p>
                          <a:pPr algn="ctr"/>
                          <a:r>
                            <a:rPr lang="en-AU" sz="3200" b="1" dirty="0"/>
                            <a:t>1</a:t>
                          </a:r>
                        </a:p>
                      </a:txBody>
                      <a:tcPr marL="109728" marR="109728" marT="54864" marB="54864" anchor="ctr">
                        <a:solidFill>
                          <a:schemeClr val="bg1"/>
                        </a:solidFill>
                      </a:tcPr>
                    </a:tc>
                    <a:extLst>
                      <a:ext uri="{0D108BD9-81ED-4DB2-BD59-A6C34878D82A}">
                        <a16:rowId xmlns:a16="http://schemas.microsoft.com/office/drawing/2014/main" val="3145834902"/>
                      </a:ext>
                    </a:extLst>
                  </a:tr>
                </a:tbl>
              </a:graphicData>
            </a:graphic>
          </p:graphicFrame>
        </mc:Choice>
        <mc:Fallback>
          <p:graphicFrame>
            <p:nvGraphicFramePr>
              <p:cNvPr id="4" name="Table 3">
                <a:extLst>
                  <a:ext uri="{FF2B5EF4-FFF2-40B4-BE49-F238E27FC236}">
                    <a16:creationId xmlns:a16="http://schemas.microsoft.com/office/drawing/2014/main" id="{234A3477-E8E2-4AE2-9F3B-64D5C2873ED7}"/>
                  </a:ext>
                </a:extLst>
              </p:cNvPr>
              <p:cNvGraphicFramePr>
                <a:graphicFrameLocks noGrp="1"/>
              </p:cNvGraphicFramePr>
              <p:nvPr>
                <p:extLst>
                  <p:ext uri="{D42A27DB-BD31-4B8C-83A1-F6EECF244321}">
                    <p14:modId xmlns:p14="http://schemas.microsoft.com/office/powerpoint/2010/main" val="2966198578"/>
                  </p:ext>
                </p:extLst>
              </p:nvPr>
            </p:nvGraphicFramePr>
            <p:xfrm>
              <a:off x="1849750" y="813657"/>
              <a:ext cx="8084968" cy="2557904"/>
            </p:xfrm>
            <a:graphic>
              <a:graphicData uri="http://schemas.openxmlformats.org/drawingml/2006/table">
                <a:tbl>
                  <a:tblPr firstRow="1" bandRow="1">
                    <a:tableStyleId>{5940675A-B579-460E-94D1-54222C63F5DA}</a:tableStyleId>
                  </a:tblPr>
                  <a:tblGrid>
                    <a:gridCol w="1010621">
                      <a:extLst>
                        <a:ext uri="{9D8B030D-6E8A-4147-A177-3AD203B41FA5}">
                          <a16:colId xmlns:a16="http://schemas.microsoft.com/office/drawing/2014/main" val="1265534055"/>
                        </a:ext>
                      </a:extLst>
                    </a:gridCol>
                    <a:gridCol w="1010621">
                      <a:extLst>
                        <a:ext uri="{9D8B030D-6E8A-4147-A177-3AD203B41FA5}">
                          <a16:colId xmlns:a16="http://schemas.microsoft.com/office/drawing/2014/main" val="1849813590"/>
                        </a:ext>
                      </a:extLst>
                    </a:gridCol>
                    <a:gridCol w="1010621">
                      <a:extLst>
                        <a:ext uri="{9D8B030D-6E8A-4147-A177-3AD203B41FA5}">
                          <a16:colId xmlns:a16="http://schemas.microsoft.com/office/drawing/2014/main" val="1564237064"/>
                        </a:ext>
                      </a:extLst>
                    </a:gridCol>
                    <a:gridCol w="1010621">
                      <a:extLst>
                        <a:ext uri="{9D8B030D-6E8A-4147-A177-3AD203B41FA5}">
                          <a16:colId xmlns:a16="http://schemas.microsoft.com/office/drawing/2014/main" val="3874331450"/>
                        </a:ext>
                      </a:extLst>
                    </a:gridCol>
                    <a:gridCol w="1010621">
                      <a:extLst>
                        <a:ext uri="{9D8B030D-6E8A-4147-A177-3AD203B41FA5}">
                          <a16:colId xmlns:a16="http://schemas.microsoft.com/office/drawing/2014/main" val="947499834"/>
                        </a:ext>
                      </a:extLst>
                    </a:gridCol>
                    <a:gridCol w="1010621">
                      <a:extLst>
                        <a:ext uri="{9D8B030D-6E8A-4147-A177-3AD203B41FA5}">
                          <a16:colId xmlns:a16="http://schemas.microsoft.com/office/drawing/2014/main" val="844281653"/>
                        </a:ext>
                      </a:extLst>
                    </a:gridCol>
                    <a:gridCol w="1010621">
                      <a:extLst>
                        <a:ext uri="{9D8B030D-6E8A-4147-A177-3AD203B41FA5}">
                          <a16:colId xmlns:a16="http://schemas.microsoft.com/office/drawing/2014/main" val="2140937466"/>
                        </a:ext>
                      </a:extLst>
                    </a:gridCol>
                    <a:gridCol w="1010621">
                      <a:extLst>
                        <a:ext uri="{9D8B030D-6E8A-4147-A177-3AD203B41FA5}">
                          <a16:colId xmlns:a16="http://schemas.microsoft.com/office/drawing/2014/main" val="3450636510"/>
                        </a:ext>
                      </a:extLst>
                    </a:gridCol>
                  </a:tblGrid>
                  <a:tr h="1278952">
                    <a:tc>
                      <a:txBody>
                        <a:bodyPr/>
                        <a:lstStyle/>
                        <a:p>
                          <a:endParaRPr lang="en-US"/>
                        </a:p>
                      </a:txBody>
                      <a:tcPr marL="109728" marR="109728" marT="54864" marB="54864" anchor="ctr">
                        <a:blipFill>
                          <a:blip r:embed="rId2"/>
                          <a:stretch>
                            <a:fillRect l="-602" t="-474" r="-700602" b="-100474"/>
                          </a:stretch>
                        </a:blipFill>
                      </a:tcPr>
                    </a:tc>
                    <a:tc>
                      <a:txBody>
                        <a:bodyPr/>
                        <a:lstStyle/>
                        <a:p>
                          <a:pPr algn="ctr"/>
                          <a:r>
                            <a:rPr lang="en-AU" sz="3200" b="1" dirty="0"/>
                            <a:t>-3</a:t>
                          </a:r>
                        </a:p>
                      </a:txBody>
                      <a:tcPr marL="109728" marR="109728" marT="54864" marB="54864" anchor="ctr">
                        <a:solidFill>
                          <a:schemeClr val="bg1"/>
                        </a:solidFill>
                      </a:tcPr>
                    </a:tc>
                    <a:tc>
                      <a:txBody>
                        <a:bodyPr/>
                        <a:lstStyle/>
                        <a:p>
                          <a:pPr algn="ctr"/>
                          <a:r>
                            <a:rPr lang="en-AU" sz="3200" b="1" dirty="0"/>
                            <a:t>-2</a:t>
                          </a:r>
                        </a:p>
                      </a:txBody>
                      <a:tcPr marL="109728" marR="109728" marT="54864" marB="54864" anchor="ctr">
                        <a:solidFill>
                          <a:schemeClr val="bg1"/>
                        </a:solidFill>
                      </a:tcPr>
                    </a:tc>
                    <a:tc>
                      <a:txBody>
                        <a:bodyPr/>
                        <a:lstStyle/>
                        <a:p>
                          <a:pPr algn="ctr"/>
                          <a:r>
                            <a:rPr lang="en-AU" sz="3200" b="1" dirty="0"/>
                            <a:t>-1</a:t>
                          </a:r>
                        </a:p>
                      </a:txBody>
                      <a:tcPr marL="109728" marR="109728" marT="54864" marB="54864" anchor="ctr">
                        <a:solidFill>
                          <a:schemeClr val="bg1"/>
                        </a:solidFill>
                      </a:tcPr>
                    </a:tc>
                    <a:tc>
                      <a:txBody>
                        <a:bodyPr/>
                        <a:lstStyle/>
                        <a:p>
                          <a:pPr algn="ctr"/>
                          <a:r>
                            <a:rPr lang="en-AU" sz="3200" b="1" dirty="0"/>
                            <a:t>0</a:t>
                          </a:r>
                        </a:p>
                      </a:txBody>
                      <a:tcPr marL="109728" marR="109728" marT="54864" marB="54864" anchor="ctr">
                        <a:solidFill>
                          <a:schemeClr val="bg1"/>
                        </a:solidFill>
                      </a:tcPr>
                    </a:tc>
                    <a:tc>
                      <a:txBody>
                        <a:bodyPr/>
                        <a:lstStyle/>
                        <a:p>
                          <a:pPr algn="ctr"/>
                          <a:r>
                            <a:rPr lang="en-AU" sz="3200" b="1" dirty="0"/>
                            <a:t>1</a:t>
                          </a:r>
                        </a:p>
                      </a:txBody>
                      <a:tcPr marL="109728" marR="109728" marT="54864" marB="54864" anchor="ctr">
                        <a:solidFill>
                          <a:schemeClr val="bg1"/>
                        </a:solidFill>
                      </a:tcPr>
                    </a:tc>
                    <a:tc>
                      <a:txBody>
                        <a:bodyPr/>
                        <a:lstStyle/>
                        <a:p>
                          <a:pPr algn="ctr"/>
                          <a:r>
                            <a:rPr lang="en-AU" sz="3200" b="1" dirty="0"/>
                            <a:t>2</a:t>
                          </a:r>
                        </a:p>
                      </a:txBody>
                      <a:tcPr marL="109728" marR="109728" marT="54864" marB="54864" anchor="ctr">
                        <a:solidFill>
                          <a:schemeClr val="bg1"/>
                        </a:solidFill>
                      </a:tcPr>
                    </a:tc>
                    <a:tc>
                      <a:txBody>
                        <a:bodyPr/>
                        <a:lstStyle/>
                        <a:p>
                          <a:pPr algn="ctr"/>
                          <a:r>
                            <a:rPr lang="en-AU" sz="3200" b="1" dirty="0"/>
                            <a:t>3</a:t>
                          </a:r>
                        </a:p>
                      </a:txBody>
                      <a:tcPr marL="109728" marR="109728" marT="54864" marB="54864" anchor="ctr">
                        <a:solidFill>
                          <a:schemeClr val="bg1"/>
                        </a:solidFill>
                      </a:tcPr>
                    </a:tc>
                    <a:extLst>
                      <a:ext uri="{0D108BD9-81ED-4DB2-BD59-A6C34878D82A}">
                        <a16:rowId xmlns:a16="http://schemas.microsoft.com/office/drawing/2014/main" val="499543246"/>
                      </a:ext>
                    </a:extLst>
                  </a:tr>
                  <a:tr h="1278952">
                    <a:tc>
                      <a:txBody>
                        <a:bodyPr/>
                        <a:lstStyle/>
                        <a:p>
                          <a:endParaRPr lang="en-US"/>
                        </a:p>
                      </a:txBody>
                      <a:tcPr marL="109728" marR="109728" marT="54864" marB="54864" anchor="ctr">
                        <a:blipFill>
                          <a:blip r:embed="rId2"/>
                          <a:stretch>
                            <a:fillRect l="-602" t="-100952" r="-700602" b="-952"/>
                          </a:stretch>
                        </a:blipFill>
                      </a:tcPr>
                    </a:tc>
                    <a:tc>
                      <a:txBody>
                        <a:bodyPr/>
                        <a:lstStyle/>
                        <a:p>
                          <a:pPr algn="ctr"/>
                          <a:r>
                            <a:rPr lang="en-AU" sz="3200" b="1" dirty="0"/>
                            <a:t>-11</a:t>
                          </a:r>
                        </a:p>
                      </a:txBody>
                      <a:tcPr marL="109728" marR="109728" marT="54864" marB="54864" anchor="ctr">
                        <a:solidFill>
                          <a:schemeClr val="bg1"/>
                        </a:solidFill>
                      </a:tcPr>
                    </a:tc>
                    <a:tc>
                      <a:txBody>
                        <a:bodyPr/>
                        <a:lstStyle/>
                        <a:p>
                          <a:pPr algn="ctr"/>
                          <a:r>
                            <a:rPr lang="en-AU" sz="3200" b="1" dirty="0"/>
                            <a:t>-9</a:t>
                          </a:r>
                        </a:p>
                      </a:txBody>
                      <a:tcPr marL="109728" marR="109728" marT="54864" marB="54864" anchor="ctr">
                        <a:solidFill>
                          <a:schemeClr val="bg1"/>
                        </a:solidFill>
                      </a:tcPr>
                    </a:tc>
                    <a:tc>
                      <a:txBody>
                        <a:bodyPr/>
                        <a:lstStyle/>
                        <a:p>
                          <a:pPr algn="ctr"/>
                          <a:r>
                            <a:rPr lang="en-AU" sz="3200" b="1" dirty="0"/>
                            <a:t>-7</a:t>
                          </a:r>
                        </a:p>
                      </a:txBody>
                      <a:tcPr marL="109728" marR="109728" marT="54864" marB="54864" anchor="ctr">
                        <a:solidFill>
                          <a:schemeClr val="bg1"/>
                        </a:solidFill>
                      </a:tcPr>
                    </a:tc>
                    <a:tc>
                      <a:txBody>
                        <a:bodyPr/>
                        <a:lstStyle/>
                        <a:p>
                          <a:pPr algn="ctr"/>
                          <a:r>
                            <a:rPr lang="en-AU" sz="3200" b="1" dirty="0"/>
                            <a:t>-5</a:t>
                          </a:r>
                        </a:p>
                      </a:txBody>
                      <a:tcPr marL="109728" marR="109728" marT="54864" marB="54864" anchor="ctr">
                        <a:solidFill>
                          <a:schemeClr val="bg1"/>
                        </a:solidFill>
                      </a:tcPr>
                    </a:tc>
                    <a:tc>
                      <a:txBody>
                        <a:bodyPr/>
                        <a:lstStyle/>
                        <a:p>
                          <a:pPr algn="ctr"/>
                          <a:r>
                            <a:rPr lang="en-AU" sz="3200" b="1" dirty="0"/>
                            <a:t>-3</a:t>
                          </a:r>
                        </a:p>
                      </a:txBody>
                      <a:tcPr marL="109728" marR="109728" marT="54864" marB="54864" anchor="ctr">
                        <a:solidFill>
                          <a:schemeClr val="bg1"/>
                        </a:solidFill>
                      </a:tcPr>
                    </a:tc>
                    <a:tc>
                      <a:txBody>
                        <a:bodyPr/>
                        <a:lstStyle/>
                        <a:p>
                          <a:pPr algn="ctr"/>
                          <a:r>
                            <a:rPr lang="en-AU" sz="3200" b="1" dirty="0"/>
                            <a:t>-1</a:t>
                          </a:r>
                        </a:p>
                      </a:txBody>
                      <a:tcPr marL="109728" marR="109728" marT="54864" marB="54864" anchor="ctr">
                        <a:solidFill>
                          <a:schemeClr val="bg1"/>
                        </a:solidFill>
                      </a:tcPr>
                    </a:tc>
                    <a:tc>
                      <a:txBody>
                        <a:bodyPr/>
                        <a:lstStyle/>
                        <a:p>
                          <a:pPr algn="ctr"/>
                          <a:r>
                            <a:rPr lang="en-AU" sz="3200" b="1" dirty="0"/>
                            <a:t>1</a:t>
                          </a:r>
                        </a:p>
                      </a:txBody>
                      <a:tcPr marL="109728" marR="109728" marT="54864" marB="54864" anchor="ctr">
                        <a:solidFill>
                          <a:schemeClr val="bg1"/>
                        </a:solidFill>
                      </a:tcPr>
                    </a:tc>
                    <a:extLst>
                      <a:ext uri="{0D108BD9-81ED-4DB2-BD59-A6C34878D82A}">
                        <a16:rowId xmlns:a16="http://schemas.microsoft.com/office/drawing/2014/main" val="3145834902"/>
                      </a:ext>
                    </a:extLst>
                  </a:tr>
                </a:tbl>
              </a:graphicData>
            </a:graphic>
          </p:graphicFrame>
        </mc:Fallback>
      </mc:AlternateContent>
      <p:sp>
        <p:nvSpPr>
          <p:cNvPr id="5" name="TextBox 4">
            <a:extLst>
              <a:ext uri="{FF2B5EF4-FFF2-40B4-BE49-F238E27FC236}">
                <a16:creationId xmlns:a16="http://schemas.microsoft.com/office/drawing/2014/main" id="{20C2500D-1ED0-4735-8C2B-8FF1BE53F004}"/>
              </a:ext>
            </a:extLst>
          </p:cNvPr>
          <p:cNvSpPr txBox="1"/>
          <p:nvPr/>
        </p:nvSpPr>
        <p:spPr>
          <a:xfrm>
            <a:off x="1904023" y="4894730"/>
            <a:ext cx="8611577" cy="144655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white"/>
                </a:solidFill>
                <a:effectLst/>
                <a:uLnTx/>
                <a:uFillTx/>
                <a:latin typeface="Calibri" panose="020F0502020204030204"/>
                <a:ea typeface="+mn-ea"/>
                <a:cs typeface="+mn-cs"/>
              </a:rPr>
              <a:t>On our table the gradient is the amount y increases by each time</a:t>
            </a:r>
          </a:p>
        </p:txBody>
      </p:sp>
      <p:cxnSp>
        <p:nvCxnSpPr>
          <p:cNvPr id="11" name="Straight Arrow Connector 10">
            <a:extLst>
              <a:ext uri="{FF2B5EF4-FFF2-40B4-BE49-F238E27FC236}">
                <a16:creationId xmlns:a16="http://schemas.microsoft.com/office/drawing/2014/main" id="{109B87E2-91DE-4B2D-B746-7B52C8759DB9}"/>
              </a:ext>
            </a:extLst>
          </p:cNvPr>
          <p:cNvCxnSpPr>
            <a:cxnSpLocks/>
          </p:cNvCxnSpPr>
          <p:nvPr/>
        </p:nvCxnSpPr>
        <p:spPr>
          <a:xfrm>
            <a:off x="3468042" y="3640615"/>
            <a:ext cx="721186" cy="9988"/>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33289080-0674-4A0F-B271-DAB11A0D9736}"/>
              </a:ext>
            </a:extLst>
          </p:cNvPr>
          <p:cNvSpPr txBox="1">
            <a:spLocks/>
          </p:cNvSpPr>
          <p:nvPr/>
        </p:nvSpPr>
        <p:spPr>
          <a:xfrm>
            <a:off x="1676400" y="5512905"/>
            <a:ext cx="9144000" cy="1133064"/>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What is the gradient?</a:t>
            </a:r>
          </a:p>
          <a:p>
            <a:r>
              <a:rPr lang="en-AU" dirty="0"/>
              <a:t>What is the intercept?</a:t>
            </a:r>
          </a:p>
        </p:txBody>
      </p:sp>
      <p:cxnSp>
        <p:nvCxnSpPr>
          <p:cNvPr id="23" name="Straight Arrow Connector 22">
            <a:extLst>
              <a:ext uri="{FF2B5EF4-FFF2-40B4-BE49-F238E27FC236}">
                <a16:creationId xmlns:a16="http://schemas.microsoft.com/office/drawing/2014/main" id="{5E50A3A0-6194-477F-8BDC-6290134A0CD7}"/>
              </a:ext>
            </a:extLst>
          </p:cNvPr>
          <p:cNvCxnSpPr>
            <a:cxnSpLocks/>
          </p:cNvCxnSpPr>
          <p:nvPr/>
        </p:nvCxnSpPr>
        <p:spPr>
          <a:xfrm>
            <a:off x="4513578" y="3622894"/>
            <a:ext cx="801147" cy="27709"/>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8FD2171-A357-4A45-9FF2-56E8E529CCDD}"/>
              </a:ext>
            </a:extLst>
          </p:cNvPr>
          <p:cNvCxnSpPr>
            <a:cxnSpLocks/>
          </p:cNvCxnSpPr>
          <p:nvPr/>
        </p:nvCxnSpPr>
        <p:spPr>
          <a:xfrm>
            <a:off x="6537307" y="3583905"/>
            <a:ext cx="801147" cy="27709"/>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2ED4695-33B8-4CE5-B309-1ADA0560648F}"/>
              </a:ext>
            </a:extLst>
          </p:cNvPr>
          <p:cNvCxnSpPr>
            <a:cxnSpLocks/>
          </p:cNvCxnSpPr>
          <p:nvPr/>
        </p:nvCxnSpPr>
        <p:spPr>
          <a:xfrm>
            <a:off x="5498863" y="3608719"/>
            <a:ext cx="801147" cy="27709"/>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FD2CAE4D-7EF6-479A-AB0B-FBF340D6ABEB}"/>
              </a:ext>
            </a:extLst>
          </p:cNvPr>
          <p:cNvCxnSpPr>
            <a:cxnSpLocks/>
          </p:cNvCxnSpPr>
          <p:nvPr/>
        </p:nvCxnSpPr>
        <p:spPr>
          <a:xfrm>
            <a:off x="7607648" y="3590996"/>
            <a:ext cx="801147" cy="27709"/>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99336E1-91B1-4F21-9038-556B523119EF}"/>
              </a:ext>
            </a:extLst>
          </p:cNvPr>
          <p:cNvCxnSpPr>
            <a:cxnSpLocks/>
          </p:cNvCxnSpPr>
          <p:nvPr/>
        </p:nvCxnSpPr>
        <p:spPr>
          <a:xfrm>
            <a:off x="8610654" y="3615804"/>
            <a:ext cx="801147" cy="27709"/>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3F4DC68-5E6E-461D-9897-BF1BC3799E38}"/>
              </a:ext>
            </a:extLst>
          </p:cNvPr>
          <p:cNvSpPr txBox="1"/>
          <p:nvPr/>
        </p:nvSpPr>
        <p:spPr>
          <a:xfrm>
            <a:off x="8638244" y="3657401"/>
            <a:ext cx="84389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panose="020F0502020204030204"/>
                <a:ea typeface="+mn-ea"/>
                <a:cs typeface="+mn-cs"/>
              </a:rPr>
              <a:t>+2</a:t>
            </a:r>
            <a:endPar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6CECBCC8-9E57-4930-BE56-02957616E67E}"/>
              </a:ext>
            </a:extLst>
          </p:cNvPr>
          <p:cNvSpPr txBox="1"/>
          <p:nvPr/>
        </p:nvSpPr>
        <p:spPr>
          <a:xfrm>
            <a:off x="7593257" y="3611541"/>
            <a:ext cx="84389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panose="020F0502020204030204"/>
                <a:ea typeface="+mn-ea"/>
                <a:cs typeface="+mn-cs"/>
              </a:rPr>
              <a:t>+2</a:t>
            </a:r>
            <a:endPar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B93C3446-D7E2-48E5-93CD-67DF4E26272D}"/>
              </a:ext>
            </a:extLst>
          </p:cNvPr>
          <p:cNvSpPr txBox="1"/>
          <p:nvPr/>
        </p:nvSpPr>
        <p:spPr>
          <a:xfrm>
            <a:off x="5470287" y="3629483"/>
            <a:ext cx="84389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panose="020F0502020204030204"/>
                <a:ea typeface="+mn-ea"/>
                <a:cs typeface="+mn-cs"/>
              </a:rPr>
              <a:t>+2</a:t>
            </a:r>
            <a:endPar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B352BC43-D243-4916-A192-A07470AD9FC3}"/>
              </a:ext>
            </a:extLst>
          </p:cNvPr>
          <p:cNvSpPr txBox="1"/>
          <p:nvPr/>
        </p:nvSpPr>
        <p:spPr>
          <a:xfrm>
            <a:off x="6537086" y="3632702"/>
            <a:ext cx="84389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panose="020F0502020204030204"/>
                <a:ea typeface="+mn-ea"/>
                <a:cs typeface="+mn-cs"/>
              </a:rPr>
              <a:t>+2</a:t>
            </a:r>
            <a:endPar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E5020ECB-2DC8-424B-BB34-0267B2A57725}"/>
              </a:ext>
            </a:extLst>
          </p:cNvPr>
          <p:cNvSpPr txBox="1"/>
          <p:nvPr/>
        </p:nvSpPr>
        <p:spPr>
          <a:xfrm>
            <a:off x="4562981" y="3657838"/>
            <a:ext cx="843895"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panose="020F0502020204030204"/>
                <a:ea typeface="+mn-ea"/>
                <a:cs typeface="+mn-cs"/>
              </a:rPr>
              <a:t>+2</a:t>
            </a:r>
            <a:endPar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Box 36">
            <a:extLst>
              <a:ext uri="{FF2B5EF4-FFF2-40B4-BE49-F238E27FC236}">
                <a16:creationId xmlns:a16="http://schemas.microsoft.com/office/drawing/2014/main" id="{C03B66E7-9389-49A6-81E2-2E566344925B}"/>
              </a:ext>
            </a:extLst>
          </p:cNvPr>
          <p:cNvSpPr txBox="1"/>
          <p:nvPr/>
        </p:nvSpPr>
        <p:spPr>
          <a:xfrm>
            <a:off x="3460736" y="3661381"/>
            <a:ext cx="877350" cy="76944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4400" b="0" i="0" u="none" strike="noStrike" kern="1200" cap="none" spc="0" normalizeH="0" baseline="0" noProof="0" dirty="0">
                <a:ln>
                  <a:noFill/>
                </a:ln>
                <a:solidFill>
                  <a:prstClr val="black"/>
                </a:solidFill>
                <a:effectLst/>
                <a:uLnTx/>
                <a:uFillTx/>
                <a:latin typeface="Calibri" panose="020F0502020204030204"/>
                <a:ea typeface="+mn-ea"/>
                <a:cs typeface="+mn-cs"/>
              </a:rPr>
              <a:t>+2</a:t>
            </a:r>
            <a:endParaRPr kumimoji="0" lang="en-AU"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Circle: Hollow 38">
            <a:extLst>
              <a:ext uri="{FF2B5EF4-FFF2-40B4-BE49-F238E27FC236}">
                <a16:creationId xmlns:a16="http://schemas.microsoft.com/office/drawing/2014/main" id="{157D7295-29F8-449D-9367-8D5A381B89C9}"/>
              </a:ext>
            </a:extLst>
          </p:cNvPr>
          <p:cNvSpPr/>
          <p:nvPr/>
        </p:nvSpPr>
        <p:spPr>
          <a:xfrm>
            <a:off x="5894364" y="1814732"/>
            <a:ext cx="1097280" cy="1801072"/>
          </a:xfrm>
          <a:prstGeom prst="donut">
            <a:avLst>
              <a:gd name="adj" fmla="val 133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40" name="TextBox 39">
            <a:extLst>
              <a:ext uri="{FF2B5EF4-FFF2-40B4-BE49-F238E27FC236}">
                <a16:creationId xmlns:a16="http://schemas.microsoft.com/office/drawing/2014/main" id="{082F631B-9451-4F0E-9D00-260AC8881101}"/>
              </a:ext>
            </a:extLst>
          </p:cNvPr>
          <p:cNvSpPr txBox="1"/>
          <p:nvPr/>
        </p:nvSpPr>
        <p:spPr>
          <a:xfrm>
            <a:off x="2293034" y="4380982"/>
            <a:ext cx="4995423" cy="1015663"/>
          </a:xfrm>
          <a:prstGeom prst="rect">
            <a:avLst/>
          </a:prstGeom>
          <a:noFill/>
        </p:spPr>
        <p:txBody>
          <a:bodyPr wrap="square" rtlCol="0">
            <a:spAutoFit/>
          </a:bodyPr>
          <a:lstStyle/>
          <a:p>
            <a:r>
              <a:rPr lang="en-AU" sz="6000" dirty="0">
                <a:solidFill>
                  <a:srgbClr val="FF0000"/>
                </a:solidFill>
              </a:rPr>
              <a:t>Gradient = 2</a:t>
            </a:r>
          </a:p>
        </p:txBody>
      </p:sp>
      <p:sp>
        <p:nvSpPr>
          <p:cNvPr id="41" name="TextBox 40">
            <a:extLst>
              <a:ext uri="{FF2B5EF4-FFF2-40B4-BE49-F238E27FC236}">
                <a16:creationId xmlns:a16="http://schemas.microsoft.com/office/drawing/2014/main" id="{7F46778C-4747-47E0-AEAC-B768F05A3AA2}"/>
              </a:ext>
            </a:extLst>
          </p:cNvPr>
          <p:cNvSpPr txBox="1"/>
          <p:nvPr/>
        </p:nvSpPr>
        <p:spPr>
          <a:xfrm>
            <a:off x="6736081" y="4434907"/>
            <a:ext cx="4995423" cy="1015663"/>
          </a:xfrm>
          <a:prstGeom prst="rect">
            <a:avLst/>
          </a:prstGeom>
          <a:noFill/>
        </p:spPr>
        <p:txBody>
          <a:bodyPr wrap="square" rtlCol="0">
            <a:spAutoFit/>
          </a:bodyPr>
          <a:lstStyle/>
          <a:p>
            <a:r>
              <a:rPr lang="en-AU" sz="6000" dirty="0">
                <a:solidFill>
                  <a:schemeClr val="accent1"/>
                </a:solidFill>
              </a:rPr>
              <a:t>Intercept = -5</a:t>
            </a:r>
          </a:p>
        </p:txBody>
      </p:sp>
    </p:spTree>
    <p:extLst>
      <p:ext uri="{BB962C8B-B14F-4D97-AF65-F5344CB8AC3E}">
        <p14:creationId xmlns:p14="http://schemas.microsoft.com/office/powerpoint/2010/main" val="364364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5"/>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21" grpId="0"/>
      <p:bldP spid="32" grpId="0"/>
      <p:bldP spid="33" grpId="0"/>
      <p:bldP spid="34" grpId="0"/>
      <p:bldP spid="35" grpId="0"/>
      <p:bldP spid="36" grpId="0"/>
      <p:bldP spid="37" grpId="0"/>
      <p:bldP spid="39" grpId="0" animBg="1"/>
      <p:bldP spid="40" grpId="0"/>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6573458" y="822779"/>
            <a:ext cx="5158842" cy="984733"/>
          </a:xfrm>
        </p:spPr>
        <p:txBody>
          <a:bodyPr>
            <a:normAutofit fontScale="90000"/>
          </a:bodyPr>
          <a:lstStyle/>
          <a:p>
            <a:r>
              <a:rPr lang="en-AU" dirty="0"/>
              <a:t>Find the equation of the line</a:t>
            </a:r>
          </a:p>
        </p:txBody>
      </p:sp>
      <p:pic>
        <p:nvPicPr>
          <p:cNvPr id="19" name="Picture 18">
            <a:extLst>
              <a:ext uri="{FF2B5EF4-FFF2-40B4-BE49-F238E27FC236}">
                <a16:creationId xmlns:a16="http://schemas.microsoft.com/office/drawing/2014/main" id="{1E14BF67-1446-45FB-BE43-75B4DE4CFB5C}"/>
              </a:ext>
            </a:extLst>
          </p:cNvPr>
          <p:cNvPicPr>
            <a:picLocks noChangeAspect="1"/>
          </p:cNvPicPr>
          <p:nvPr/>
        </p:nvPicPr>
        <p:blipFill>
          <a:blip r:embed="rId2"/>
          <a:stretch>
            <a:fillRect/>
          </a:stretch>
        </p:blipFill>
        <p:spPr>
          <a:xfrm>
            <a:off x="459700" y="822779"/>
            <a:ext cx="6258939" cy="5664515"/>
          </a:xfrm>
          <a:prstGeom prst="rect">
            <a:avLst/>
          </a:prstGeom>
        </p:spPr>
      </p:pic>
      <p:sp>
        <p:nvSpPr>
          <p:cNvPr id="20" name="TextBox 19">
            <a:extLst>
              <a:ext uri="{FF2B5EF4-FFF2-40B4-BE49-F238E27FC236}">
                <a16:creationId xmlns:a16="http://schemas.microsoft.com/office/drawing/2014/main" id="{DDD416BC-9775-4435-9BCD-2431DB1EC9FA}"/>
              </a:ext>
            </a:extLst>
          </p:cNvPr>
          <p:cNvSpPr txBox="1"/>
          <p:nvPr/>
        </p:nvSpPr>
        <p:spPr>
          <a:xfrm>
            <a:off x="6736081" y="2588909"/>
            <a:ext cx="4995423" cy="1015663"/>
          </a:xfrm>
          <a:prstGeom prst="rect">
            <a:avLst/>
          </a:prstGeom>
          <a:noFill/>
        </p:spPr>
        <p:txBody>
          <a:bodyPr wrap="square" rtlCol="0">
            <a:spAutoFit/>
          </a:bodyPr>
          <a:lstStyle/>
          <a:p>
            <a:r>
              <a:rPr lang="en-AU" sz="6000" dirty="0">
                <a:solidFill>
                  <a:srgbClr val="FF0000"/>
                </a:solidFill>
              </a:rPr>
              <a:t>Gradient = -2/5</a:t>
            </a:r>
          </a:p>
        </p:txBody>
      </p:sp>
      <p:sp>
        <p:nvSpPr>
          <p:cNvPr id="21" name="Circle: Hollow 20">
            <a:extLst>
              <a:ext uri="{FF2B5EF4-FFF2-40B4-BE49-F238E27FC236}">
                <a16:creationId xmlns:a16="http://schemas.microsoft.com/office/drawing/2014/main" id="{B33EE1C6-3263-4DD6-8852-80C4DAC2216A}"/>
              </a:ext>
            </a:extLst>
          </p:cNvPr>
          <p:cNvSpPr/>
          <p:nvPr/>
        </p:nvSpPr>
        <p:spPr>
          <a:xfrm>
            <a:off x="1403498" y="1814732"/>
            <a:ext cx="1462713" cy="1801072"/>
          </a:xfrm>
          <a:prstGeom prst="donut">
            <a:avLst>
              <a:gd name="adj" fmla="val 133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2" name="TextBox 21">
            <a:extLst>
              <a:ext uri="{FF2B5EF4-FFF2-40B4-BE49-F238E27FC236}">
                <a16:creationId xmlns:a16="http://schemas.microsoft.com/office/drawing/2014/main" id="{424749EF-B169-4DF7-BFD0-D4120E00AC13}"/>
              </a:ext>
            </a:extLst>
          </p:cNvPr>
          <p:cNvSpPr txBox="1"/>
          <p:nvPr/>
        </p:nvSpPr>
        <p:spPr>
          <a:xfrm>
            <a:off x="6807567" y="3604572"/>
            <a:ext cx="4995423" cy="1015663"/>
          </a:xfrm>
          <a:prstGeom prst="rect">
            <a:avLst/>
          </a:prstGeom>
          <a:noFill/>
        </p:spPr>
        <p:txBody>
          <a:bodyPr wrap="square" rtlCol="0">
            <a:spAutoFit/>
          </a:bodyPr>
          <a:lstStyle/>
          <a:p>
            <a:r>
              <a:rPr lang="en-AU" sz="6000" dirty="0">
                <a:solidFill>
                  <a:schemeClr val="accent1"/>
                </a:solidFill>
              </a:rPr>
              <a:t>Intercept = 2</a:t>
            </a:r>
          </a:p>
        </p:txBody>
      </p:sp>
      <p:sp>
        <p:nvSpPr>
          <p:cNvPr id="23" name="Title 1">
            <a:extLst>
              <a:ext uri="{FF2B5EF4-FFF2-40B4-BE49-F238E27FC236}">
                <a16:creationId xmlns:a16="http://schemas.microsoft.com/office/drawing/2014/main" id="{9BFCF987-64D2-476C-9D4D-26206C32BB8C}"/>
              </a:ext>
            </a:extLst>
          </p:cNvPr>
          <p:cNvSpPr txBox="1">
            <a:spLocks/>
          </p:cNvSpPr>
          <p:nvPr/>
        </p:nvSpPr>
        <p:spPr>
          <a:xfrm>
            <a:off x="6725858" y="5717298"/>
            <a:ext cx="5158842" cy="98473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y = -2/5x + 2</a:t>
            </a:r>
          </a:p>
        </p:txBody>
      </p:sp>
      <p:cxnSp>
        <p:nvCxnSpPr>
          <p:cNvPr id="24" name="Straight Arrow Connector 23">
            <a:extLst>
              <a:ext uri="{FF2B5EF4-FFF2-40B4-BE49-F238E27FC236}">
                <a16:creationId xmlns:a16="http://schemas.microsoft.com/office/drawing/2014/main" id="{2F211A8D-8ECF-4ABA-8A10-477FADF592F7}"/>
              </a:ext>
            </a:extLst>
          </p:cNvPr>
          <p:cNvCxnSpPr>
            <a:cxnSpLocks/>
          </p:cNvCxnSpPr>
          <p:nvPr/>
        </p:nvCxnSpPr>
        <p:spPr>
          <a:xfrm>
            <a:off x="2533338" y="3762531"/>
            <a:ext cx="2083632" cy="0"/>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954F6F8-4CBB-47A6-B9DE-CE20DF0D1B88}"/>
              </a:ext>
            </a:extLst>
          </p:cNvPr>
          <p:cNvCxnSpPr>
            <a:cxnSpLocks/>
          </p:cNvCxnSpPr>
          <p:nvPr/>
        </p:nvCxnSpPr>
        <p:spPr>
          <a:xfrm>
            <a:off x="2295993" y="2783656"/>
            <a:ext cx="0" cy="705304"/>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D9F698F-CDEB-4267-A5B4-AFB673AA18AB}"/>
              </a:ext>
            </a:extLst>
          </p:cNvPr>
          <p:cNvSpPr txBox="1"/>
          <p:nvPr/>
        </p:nvSpPr>
        <p:spPr>
          <a:xfrm>
            <a:off x="1403497" y="2572029"/>
            <a:ext cx="1026332" cy="1015663"/>
          </a:xfrm>
          <a:prstGeom prst="rect">
            <a:avLst/>
          </a:prstGeom>
          <a:noFill/>
        </p:spPr>
        <p:txBody>
          <a:bodyPr wrap="square" rtlCol="0">
            <a:spAutoFit/>
          </a:bodyPr>
          <a:lstStyle/>
          <a:p>
            <a:r>
              <a:rPr lang="en-AU" sz="6000" dirty="0">
                <a:solidFill>
                  <a:srgbClr val="FF0000"/>
                </a:solidFill>
              </a:rPr>
              <a:t>-2</a:t>
            </a:r>
          </a:p>
        </p:txBody>
      </p:sp>
      <p:sp>
        <p:nvSpPr>
          <p:cNvPr id="30" name="TextBox 29">
            <a:extLst>
              <a:ext uri="{FF2B5EF4-FFF2-40B4-BE49-F238E27FC236}">
                <a16:creationId xmlns:a16="http://schemas.microsoft.com/office/drawing/2014/main" id="{75742EFD-59E0-4066-99A4-A471611E6267}"/>
              </a:ext>
            </a:extLst>
          </p:cNvPr>
          <p:cNvSpPr txBox="1"/>
          <p:nvPr/>
        </p:nvSpPr>
        <p:spPr>
          <a:xfrm>
            <a:off x="3240893" y="3597641"/>
            <a:ext cx="1026332" cy="1015663"/>
          </a:xfrm>
          <a:prstGeom prst="rect">
            <a:avLst/>
          </a:prstGeom>
          <a:noFill/>
        </p:spPr>
        <p:txBody>
          <a:bodyPr wrap="square" rtlCol="0">
            <a:spAutoFit/>
          </a:bodyPr>
          <a:lstStyle/>
          <a:p>
            <a:r>
              <a:rPr lang="en-AU" sz="6000" dirty="0">
                <a:solidFill>
                  <a:srgbClr val="FF0000"/>
                </a:solidFill>
              </a:rPr>
              <a:t>5</a:t>
            </a:r>
          </a:p>
        </p:txBody>
      </p:sp>
    </p:spTree>
    <p:extLst>
      <p:ext uri="{BB962C8B-B14F-4D97-AF65-F5344CB8AC3E}">
        <p14:creationId xmlns:p14="http://schemas.microsoft.com/office/powerpoint/2010/main" val="214954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30"/>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4"/>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2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27"/>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2" grpId="0"/>
      <p:bldP spid="23" grpId="0"/>
      <p:bldP spid="29" grpId="0"/>
      <p:bldP spid="29" grpId="1"/>
      <p:bldP spid="30" grpId="0"/>
      <p:bldP spid="30"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4A8455-6099-45B4-B3A7-7A83C471B347}"/>
              </a:ext>
            </a:extLst>
          </p:cNvPr>
          <p:cNvPicPr>
            <a:picLocks noChangeAspect="1"/>
          </p:cNvPicPr>
          <p:nvPr/>
        </p:nvPicPr>
        <p:blipFill>
          <a:blip r:embed="rId2"/>
          <a:stretch>
            <a:fillRect/>
          </a:stretch>
        </p:blipFill>
        <p:spPr>
          <a:xfrm>
            <a:off x="152529" y="480254"/>
            <a:ext cx="6176728" cy="6377746"/>
          </a:xfrm>
          <a:prstGeom prst="rect">
            <a:avLst/>
          </a:prstGeom>
        </p:spPr>
      </p:pic>
      <p:sp>
        <p:nvSpPr>
          <p:cNvPr id="2" name="Title 1">
            <a:extLst>
              <a:ext uri="{FF2B5EF4-FFF2-40B4-BE49-F238E27FC236}">
                <a16:creationId xmlns:a16="http://schemas.microsoft.com/office/drawing/2014/main" id="{430BE944-3671-4EA4-96E5-C754F9CD70B0}"/>
              </a:ext>
            </a:extLst>
          </p:cNvPr>
          <p:cNvSpPr>
            <a:spLocks noGrp="1"/>
          </p:cNvSpPr>
          <p:nvPr>
            <p:ph type="ctrTitle"/>
          </p:nvPr>
        </p:nvSpPr>
        <p:spPr>
          <a:xfrm>
            <a:off x="6573458" y="822779"/>
            <a:ext cx="5158842" cy="984733"/>
          </a:xfrm>
        </p:spPr>
        <p:txBody>
          <a:bodyPr>
            <a:normAutofit fontScale="90000"/>
          </a:bodyPr>
          <a:lstStyle/>
          <a:p>
            <a:r>
              <a:rPr lang="en-AU" dirty="0"/>
              <a:t>Find the equation of the line</a:t>
            </a:r>
          </a:p>
        </p:txBody>
      </p:sp>
      <p:sp>
        <p:nvSpPr>
          <p:cNvPr id="20" name="TextBox 19">
            <a:extLst>
              <a:ext uri="{FF2B5EF4-FFF2-40B4-BE49-F238E27FC236}">
                <a16:creationId xmlns:a16="http://schemas.microsoft.com/office/drawing/2014/main" id="{DDD416BC-9775-4435-9BCD-2431DB1EC9FA}"/>
              </a:ext>
            </a:extLst>
          </p:cNvPr>
          <p:cNvSpPr txBox="1"/>
          <p:nvPr/>
        </p:nvSpPr>
        <p:spPr>
          <a:xfrm>
            <a:off x="6011058" y="1959324"/>
            <a:ext cx="5960288" cy="1015663"/>
          </a:xfrm>
          <a:prstGeom prst="rect">
            <a:avLst/>
          </a:prstGeom>
          <a:noFill/>
        </p:spPr>
        <p:txBody>
          <a:bodyPr wrap="square" rtlCol="0">
            <a:spAutoFit/>
          </a:bodyPr>
          <a:lstStyle/>
          <a:p>
            <a:r>
              <a:rPr lang="en-AU" sz="6000" dirty="0">
                <a:solidFill>
                  <a:srgbClr val="FF0000"/>
                </a:solidFill>
              </a:rPr>
              <a:t>Gradient = 6/2 = 3</a:t>
            </a:r>
          </a:p>
        </p:txBody>
      </p:sp>
      <p:sp>
        <p:nvSpPr>
          <p:cNvPr id="21" name="Circle: Hollow 20">
            <a:extLst>
              <a:ext uri="{FF2B5EF4-FFF2-40B4-BE49-F238E27FC236}">
                <a16:creationId xmlns:a16="http://schemas.microsoft.com/office/drawing/2014/main" id="{B33EE1C6-3263-4DD6-8852-80C4DAC2216A}"/>
              </a:ext>
            </a:extLst>
          </p:cNvPr>
          <p:cNvSpPr/>
          <p:nvPr/>
        </p:nvSpPr>
        <p:spPr>
          <a:xfrm>
            <a:off x="2005954" y="3360610"/>
            <a:ext cx="1462713" cy="1801072"/>
          </a:xfrm>
          <a:prstGeom prst="donut">
            <a:avLst>
              <a:gd name="adj" fmla="val 133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sp>
        <p:nvSpPr>
          <p:cNvPr id="22" name="TextBox 21">
            <a:extLst>
              <a:ext uri="{FF2B5EF4-FFF2-40B4-BE49-F238E27FC236}">
                <a16:creationId xmlns:a16="http://schemas.microsoft.com/office/drawing/2014/main" id="{424749EF-B169-4DF7-BFD0-D4120E00AC13}"/>
              </a:ext>
            </a:extLst>
          </p:cNvPr>
          <p:cNvSpPr txBox="1"/>
          <p:nvPr/>
        </p:nvSpPr>
        <p:spPr>
          <a:xfrm>
            <a:off x="6807567" y="2840073"/>
            <a:ext cx="4995423" cy="1015663"/>
          </a:xfrm>
          <a:prstGeom prst="rect">
            <a:avLst/>
          </a:prstGeom>
          <a:noFill/>
        </p:spPr>
        <p:txBody>
          <a:bodyPr wrap="square" rtlCol="0">
            <a:spAutoFit/>
          </a:bodyPr>
          <a:lstStyle/>
          <a:p>
            <a:r>
              <a:rPr lang="en-AU" sz="6000" dirty="0">
                <a:solidFill>
                  <a:schemeClr val="accent1"/>
                </a:solidFill>
              </a:rPr>
              <a:t>Intercept = -2</a:t>
            </a:r>
          </a:p>
        </p:txBody>
      </p:sp>
      <p:sp>
        <p:nvSpPr>
          <p:cNvPr id="23" name="Title 1">
            <a:extLst>
              <a:ext uri="{FF2B5EF4-FFF2-40B4-BE49-F238E27FC236}">
                <a16:creationId xmlns:a16="http://schemas.microsoft.com/office/drawing/2014/main" id="{9BFCF987-64D2-476C-9D4D-26206C32BB8C}"/>
              </a:ext>
            </a:extLst>
          </p:cNvPr>
          <p:cNvSpPr txBox="1">
            <a:spLocks/>
          </p:cNvSpPr>
          <p:nvPr/>
        </p:nvSpPr>
        <p:spPr>
          <a:xfrm>
            <a:off x="6630840" y="4429585"/>
            <a:ext cx="5158842" cy="98473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y = 3x - 2</a:t>
            </a:r>
          </a:p>
        </p:txBody>
      </p:sp>
      <p:cxnSp>
        <p:nvCxnSpPr>
          <p:cNvPr id="24" name="Straight Arrow Connector 23">
            <a:extLst>
              <a:ext uri="{FF2B5EF4-FFF2-40B4-BE49-F238E27FC236}">
                <a16:creationId xmlns:a16="http://schemas.microsoft.com/office/drawing/2014/main" id="{2F211A8D-8ECF-4ABA-8A10-477FADF592F7}"/>
              </a:ext>
            </a:extLst>
          </p:cNvPr>
          <p:cNvCxnSpPr>
            <a:cxnSpLocks/>
          </p:cNvCxnSpPr>
          <p:nvPr/>
        </p:nvCxnSpPr>
        <p:spPr>
          <a:xfrm flipV="1">
            <a:off x="3162923" y="4217336"/>
            <a:ext cx="981206" cy="7492"/>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954F6F8-4CBB-47A6-B9DE-CE20DF0D1B88}"/>
              </a:ext>
            </a:extLst>
          </p:cNvPr>
          <p:cNvCxnSpPr>
            <a:cxnSpLocks/>
          </p:cNvCxnSpPr>
          <p:nvPr/>
        </p:nvCxnSpPr>
        <p:spPr>
          <a:xfrm flipV="1">
            <a:off x="4071677" y="1598570"/>
            <a:ext cx="0" cy="2513833"/>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6D9F698F-CDEB-4267-A5B4-AFB673AA18AB}"/>
              </a:ext>
            </a:extLst>
          </p:cNvPr>
          <p:cNvSpPr txBox="1"/>
          <p:nvPr/>
        </p:nvSpPr>
        <p:spPr>
          <a:xfrm>
            <a:off x="4148929" y="2363852"/>
            <a:ext cx="1026332" cy="1015663"/>
          </a:xfrm>
          <a:prstGeom prst="rect">
            <a:avLst/>
          </a:prstGeom>
          <a:noFill/>
        </p:spPr>
        <p:txBody>
          <a:bodyPr wrap="square" rtlCol="0">
            <a:spAutoFit/>
          </a:bodyPr>
          <a:lstStyle/>
          <a:p>
            <a:r>
              <a:rPr lang="en-AU" sz="6000" dirty="0">
                <a:solidFill>
                  <a:srgbClr val="FF0000"/>
                </a:solidFill>
              </a:rPr>
              <a:t>6</a:t>
            </a:r>
          </a:p>
        </p:txBody>
      </p:sp>
      <p:sp>
        <p:nvSpPr>
          <p:cNvPr id="30" name="TextBox 29">
            <a:extLst>
              <a:ext uri="{FF2B5EF4-FFF2-40B4-BE49-F238E27FC236}">
                <a16:creationId xmlns:a16="http://schemas.microsoft.com/office/drawing/2014/main" id="{75742EFD-59E0-4066-99A4-A471611E6267}"/>
              </a:ext>
            </a:extLst>
          </p:cNvPr>
          <p:cNvSpPr txBox="1"/>
          <p:nvPr/>
        </p:nvSpPr>
        <p:spPr>
          <a:xfrm>
            <a:off x="3375803" y="4067434"/>
            <a:ext cx="1026332" cy="1015663"/>
          </a:xfrm>
          <a:prstGeom prst="rect">
            <a:avLst/>
          </a:prstGeom>
          <a:noFill/>
        </p:spPr>
        <p:txBody>
          <a:bodyPr wrap="square" rtlCol="0">
            <a:spAutoFit/>
          </a:bodyPr>
          <a:lstStyle/>
          <a:p>
            <a:r>
              <a:rPr lang="en-AU" sz="6000" dirty="0">
                <a:solidFill>
                  <a:srgbClr val="FF0000"/>
                </a:solidFill>
              </a:rPr>
              <a:t>2</a:t>
            </a:r>
          </a:p>
        </p:txBody>
      </p:sp>
    </p:spTree>
    <p:extLst>
      <p:ext uri="{BB962C8B-B14F-4D97-AF65-F5344CB8AC3E}">
        <p14:creationId xmlns:p14="http://schemas.microsoft.com/office/powerpoint/2010/main" val="3958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30"/>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4"/>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2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27"/>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animBg="1"/>
      <p:bldP spid="22" grpId="0"/>
      <p:bldP spid="23" grpId="0"/>
      <p:bldP spid="29" grpId="0"/>
      <p:bldP spid="29" grpId="1"/>
      <p:bldP spid="30" grpId="0"/>
      <p:bldP spid="30" grpId="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9ECF8E78-F3FD-4C6F-955D-7FB2A55DDBD8}"/>
              </a:ext>
            </a:extLst>
          </p:cNvPr>
          <p:cNvPicPr>
            <a:picLocks noGrp="1" noChangeAspect="1"/>
          </p:cNvPicPr>
          <p:nvPr>
            <p:ph idx="1"/>
          </p:nvPr>
        </p:nvPicPr>
        <p:blipFill rotWithShape="1">
          <a:blip r:embed="rId2"/>
          <a:srcRect l="2264" r="18145" b="67318"/>
          <a:stretch/>
        </p:blipFill>
        <p:spPr>
          <a:xfrm>
            <a:off x="318978" y="484458"/>
            <a:ext cx="11334306" cy="1620789"/>
          </a:xfrm>
          <a:prstGeom prst="rect">
            <a:avLst/>
          </a:prstGeom>
        </p:spPr>
      </p:pic>
      <p:cxnSp>
        <p:nvCxnSpPr>
          <p:cNvPr id="6" name="Straight Connector 5">
            <a:extLst>
              <a:ext uri="{FF2B5EF4-FFF2-40B4-BE49-F238E27FC236}">
                <a16:creationId xmlns:a16="http://schemas.microsoft.com/office/drawing/2014/main" id="{8A1C5EF0-719F-4069-9C1F-2A3B77FDB1F4}"/>
              </a:ext>
            </a:extLst>
          </p:cNvPr>
          <p:cNvCxnSpPr/>
          <p:nvPr/>
        </p:nvCxnSpPr>
        <p:spPr>
          <a:xfrm flipV="1">
            <a:off x="3251241" y="2367226"/>
            <a:ext cx="4848446" cy="3359888"/>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DF0447E-E5EF-4F6E-9882-BE8ADB0F03DA}"/>
              </a:ext>
            </a:extLst>
          </p:cNvPr>
          <p:cNvSpPr txBox="1"/>
          <p:nvPr/>
        </p:nvSpPr>
        <p:spPr>
          <a:xfrm>
            <a:off x="1723869" y="5606321"/>
            <a:ext cx="2368446" cy="923330"/>
          </a:xfrm>
          <a:prstGeom prst="rect">
            <a:avLst/>
          </a:prstGeom>
          <a:noFill/>
        </p:spPr>
        <p:txBody>
          <a:bodyPr wrap="square" rtlCol="0">
            <a:spAutoFit/>
          </a:bodyPr>
          <a:lstStyle/>
          <a:p>
            <a:r>
              <a:rPr lang="en-AU" sz="5400" dirty="0"/>
              <a:t>(2,5)</a:t>
            </a:r>
          </a:p>
        </p:txBody>
      </p:sp>
      <p:sp>
        <p:nvSpPr>
          <p:cNvPr id="10" name="TextBox 9">
            <a:extLst>
              <a:ext uri="{FF2B5EF4-FFF2-40B4-BE49-F238E27FC236}">
                <a16:creationId xmlns:a16="http://schemas.microsoft.com/office/drawing/2014/main" id="{F2014CE4-6043-4A1C-AA58-056493CD4234}"/>
              </a:ext>
            </a:extLst>
          </p:cNvPr>
          <p:cNvSpPr txBox="1"/>
          <p:nvPr/>
        </p:nvSpPr>
        <p:spPr>
          <a:xfrm>
            <a:off x="8368449" y="1905561"/>
            <a:ext cx="2368446" cy="923330"/>
          </a:xfrm>
          <a:prstGeom prst="rect">
            <a:avLst/>
          </a:prstGeom>
          <a:noFill/>
        </p:spPr>
        <p:txBody>
          <a:bodyPr wrap="square" rtlCol="0">
            <a:spAutoFit/>
          </a:bodyPr>
          <a:lstStyle/>
          <a:p>
            <a:r>
              <a:rPr lang="en-AU" sz="5400" dirty="0"/>
              <a:t>(4,12)</a:t>
            </a:r>
          </a:p>
        </p:txBody>
      </p:sp>
      <p:sp>
        <p:nvSpPr>
          <p:cNvPr id="11" name="TextBox 10">
            <a:extLst>
              <a:ext uri="{FF2B5EF4-FFF2-40B4-BE49-F238E27FC236}">
                <a16:creationId xmlns:a16="http://schemas.microsoft.com/office/drawing/2014/main" id="{9217A53A-6AE8-47D5-9DD0-48A5433F2BE8}"/>
              </a:ext>
            </a:extLst>
          </p:cNvPr>
          <p:cNvSpPr txBox="1"/>
          <p:nvPr/>
        </p:nvSpPr>
        <p:spPr>
          <a:xfrm>
            <a:off x="689548" y="1959238"/>
            <a:ext cx="6777712" cy="1015663"/>
          </a:xfrm>
          <a:prstGeom prst="rect">
            <a:avLst/>
          </a:prstGeom>
          <a:noFill/>
        </p:spPr>
        <p:txBody>
          <a:bodyPr wrap="square" rtlCol="0">
            <a:spAutoFit/>
          </a:bodyPr>
          <a:lstStyle/>
          <a:p>
            <a:r>
              <a:rPr lang="en-AU" sz="6000" dirty="0">
                <a:solidFill>
                  <a:srgbClr val="FF0000"/>
                </a:solidFill>
              </a:rPr>
              <a:t>Gradient = 7/2 = 3.5</a:t>
            </a:r>
          </a:p>
        </p:txBody>
      </p:sp>
      <p:cxnSp>
        <p:nvCxnSpPr>
          <p:cNvPr id="12" name="Straight Arrow Connector 11">
            <a:extLst>
              <a:ext uri="{FF2B5EF4-FFF2-40B4-BE49-F238E27FC236}">
                <a16:creationId xmlns:a16="http://schemas.microsoft.com/office/drawing/2014/main" id="{64C0985C-4341-498C-86FD-48942E4B9B95}"/>
              </a:ext>
            </a:extLst>
          </p:cNvPr>
          <p:cNvCxnSpPr>
            <a:cxnSpLocks/>
          </p:cNvCxnSpPr>
          <p:nvPr/>
        </p:nvCxnSpPr>
        <p:spPr>
          <a:xfrm flipV="1">
            <a:off x="3551570" y="5719327"/>
            <a:ext cx="4708010" cy="15279"/>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9F5A4D6-4985-41E3-B9BB-19F581C095B7}"/>
              </a:ext>
            </a:extLst>
          </p:cNvPr>
          <p:cNvCxnSpPr>
            <a:cxnSpLocks/>
          </p:cNvCxnSpPr>
          <p:nvPr/>
        </p:nvCxnSpPr>
        <p:spPr>
          <a:xfrm flipV="1">
            <a:off x="8142355" y="2408178"/>
            <a:ext cx="0" cy="3326428"/>
          </a:xfrm>
          <a:prstGeom prst="straightConnector1">
            <a:avLst/>
          </a:prstGeom>
          <a:ln w="984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B3C8A5C-FD74-4F79-B1E0-1BC1442A82CC}"/>
              </a:ext>
            </a:extLst>
          </p:cNvPr>
          <p:cNvSpPr txBox="1"/>
          <p:nvPr/>
        </p:nvSpPr>
        <p:spPr>
          <a:xfrm>
            <a:off x="8249586" y="3248409"/>
            <a:ext cx="3772521" cy="1015663"/>
          </a:xfrm>
          <a:prstGeom prst="rect">
            <a:avLst/>
          </a:prstGeom>
          <a:noFill/>
        </p:spPr>
        <p:txBody>
          <a:bodyPr wrap="square" rtlCol="0">
            <a:spAutoFit/>
          </a:bodyPr>
          <a:lstStyle/>
          <a:p>
            <a:r>
              <a:rPr lang="en-AU" sz="6000" dirty="0">
                <a:solidFill>
                  <a:srgbClr val="FF0000"/>
                </a:solidFill>
              </a:rPr>
              <a:t>12 – 5 = 7</a:t>
            </a:r>
          </a:p>
        </p:txBody>
      </p:sp>
      <p:sp>
        <p:nvSpPr>
          <p:cNvPr id="15" name="TextBox 14">
            <a:extLst>
              <a:ext uri="{FF2B5EF4-FFF2-40B4-BE49-F238E27FC236}">
                <a16:creationId xmlns:a16="http://schemas.microsoft.com/office/drawing/2014/main" id="{1D072032-E8A2-4BD1-AFB3-D6B928F7CE55}"/>
              </a:ext>
            </a:extLst>
          </p:cNvPr>
          <p:cNvSpPr txBox="1"/>
          <p:nvPr/>
        </p:nvSpPr>
        <p:spPr>
          <a:xfrm>
            <a:off x="4487116" y="5719327"/>
            <a:ext cx="5106585" cy="1015663"/>
          </a:xfrm>
          <a:prstGeom prst="rect">
            <a:avLst/>
          </a:prstGeom>
          <a:noFill/>
        </p:spPr>
        <p:txBody>
          <a:bodyPr wrap="square" rtlCol="0">
            <a:spAutoFit/>
          </a:bodyPr>
          <a:lstStyle/>
          <a:p>
            <a:r>
              <a:rPr lang="en-AU" sz="6000" dirty="0">
                <a:solidFill>
                  <a:srgbClr val="FF0000"/>
                </a:solidFill>
              </a:rPr>
              <a:t>4 – 2 = 2</a:t>
            </a:r>
          </a:p>
        </p:txBody>
      </p:sp>
      <p:sp>
        <p:nvSpPr>
          <p:cNvPr id="17" name="Title 1">
            <a:extLst>
              <a:ext uri="{FF2B5EF4-FFF2-40B4-BE49-F238E27FC236}">
                <a16:creationId xmlns:a16="http://schemas.microsoft.com/office/drawing/2014/main" id="{66DAB6BC-FBEE-4CCC-BFDF-70736799B411}"/>
              </a:ext>
            </a:extLst>
          </p:cNvPr>
          <p:cNvSpPr txBox="1">
            <a:spLocks/>
          </p:cNvSpPr>
          <p:nvPr/>
        </p:nvSpPr>
        <p:spPr>
          <a:xfrm>
            <a:off x="6094476" y="4431915"/>
            <a:ext cx="4566900" cy="98473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7200" dirty="0"/>
              <a:t>y = 3.5x + c</a:t>
            </a:r>
          </a:p>
        </p:txBody>
      </p:sp>
      <p:sp>
        <p:nvSpPr>
          <p:cNvPr id="18" name="Title 1">
            <a:extLst>
              <a:ext uri="{FF2B5EF4-FFF2-40B4-BE49-F238E27FC236}">
                <a16:creationId xmlns:a16="http://schemas.microsoft.com/office/drawing/2014/main" id="{B4E709FE-D9B8-4099-B467-1613FFC10023}"/>
              </a:ext>
            </a:extLst>
          </p:cNvPr>
          <p:cNvSpPr txBox="1">
            <a:spLocks/>
          </p:cNvSpPr>
          <p:nvPr/>
        </p:nvSpPr>
        <p:spPr>
          <a:xfrm>
            <a:off x="-278620" y="2929169"/>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12 = 3.5(4) + c</a:t>
            </a:r>
          </a:p>
        </p:txBody>
      </p:sp>
      <p:sp>
        <p:nvSpPr>
          <p:cNvPr id="19" name="Title 1">
            <a:extLst>
              <a:ext uri="{FF2B5EF4-FFF2-40B4-BE49-F238E27FC236}">
                <a16:creationId xmlns:a16="http://schemas.microsoft.com/office/drawing/2014/main" id="{92D06121-88FC-4B07-B7A5-C421DD64826E}"/>
              </a:ext>
            </a:extLst>
          </p:cNvPr>
          <p:cNvSpPr txBox="1">
            <a:spLocks/>
          </p:cNvSpPr>
          <p:nvPr/>
        </p:nvSpPr>
        <p:spPr>
          <a:xfrm>
            <a:off x="414191" y="4748119"/>
            <a:ext cx="6091538"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c = -2</a:t>
            </a:r>
          </a:p>
        </p:txBody>
      </p:sp>
      <p:sp>
        <p:nvSpPr>
          <p:cNvPr id="20" name="Subtitle 2">
            <a:extLst>
              <a:ext uri="{FF2B5EF4-FFF2-40B4-BE49-F238E27FC236}">
                <a16:creationId xmlns:a16="http://schemas.microsoft.com/office/drawing/2014/main" id="{71A07BDD-247C-47C2-ADAD-A0EB6D574955}"/>
              </a:ext>
            </a:extLst>
          </p:cNvPr>
          <p:cNvSpPr txBox="1">
            <a:spLocks/>
          </p:cNvSpPr>
          <p:nvPr/>
        </p:nvSpPr>
        <p:spPr>
          <a:xfrm>
            <a:off x="758962" y="3997704"/>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AU" dirty="0">
              <a:highlight>
                <a:srgbClr val="FFFF00"/>
              </a:highlight>
            </a:endParaRPr>
          </a:p>
          <a:p>
            <a:pPr algn="l"/>
            <a:r>
              <a:rPr lang="en-AU" sz="4000" dirty="0">
                <a:highlight>
                  <a:srgbClr val="FFFF00"/>
                </a:highlight>
              </a:rPr>
              <a:t>(-14)</a:t>
            </a:r>
            <a:r>
              <a:rPr lang="en-AU" sz="4000" dirty="0"/>
              <a:t>	                              </a:t>
            </a:r>
            <a:r>
              <a:rPr lang="en-AU" sz="4000" dirty="0">
                <a:highlight>
                  <a:srgbClr val="FFFF00"/>
                </a:highlight>
              </a:rPr>
              <a:t>(-14)</a:t>
            </a:r>
          </a:p>
        </p:txBody>
      </p:sp>
      <p:sp>
        <p:nvSpPr>
          <p:cNvPr id="21" name="Title 1">
            <a:extLst>
              <a:ext uri="{FF2B5EF4-FFF2-40B4-BE49-F238E27FC236}">
                <a16:creationId xmlns:a16="http://schemas.microsoft.com/office/drawing/2014/main" id="{5981EBE7-B469-488A-8D6A-A84D861DEDBD}"/>
              </a:ext>
            </a:extLst>
          </p:cNvPr>
          <p:cNvSpPr txBox="1">
            <a:spLocks/>
          </p:cNvSpPr>
          <p:nvPr/>
        </p:nvSpPr>
        <p:spPr>
          <a:xfrm>
            <a:off x="-775551" y="3742794"/>
            <a:ext cx="9144000" cy="98473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dirty="0"/>
              <a:t> 12 = 14 + c</a:t>
            </a:r>
          </a:p>
        </p:txBody>
      </p:sp>
      <p:sp>
        <p:nvSpPr>
          <p:cNvPr id="22" name="Title 1">
            <a:extLst>
              <a:ext uri="{FF2B5EF4-FFF2-40B4-BE49-F238E27FC236}">
                <a16:creationId xmlns:a16="http://schemas.microsoft.com/office/drawing/2014/main" id="{D7C60866-7C53-468E-9411-4DA465D4AF4F}"/>
              </a:ext>
            </a:extLst>
          </p:cNvPr>
          <p:cNvSpPr txBox="1">
            <a:spLocks/>
          </p:cNvSpPr>
          <p:nvPr/>
        </p:nvSpPr>
        <p:spPr>
          <a:xfrm>
            <a:off x="7264674" y="5573795"/>
            <a:ext cx="4566900" cy="98473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7200" dirty="0"/>
              <a:t>y = 3.5x - 2</a:t>
            </a:r>
          </a:p>
        </p:txBody>
      </p:sp>
    </p:spTree>
    <p:extLst>
      <p:ext uri="{BB962C8B-B14F-4D97-AF65-F5344CB8AC3E}">
        <p14:creationId xmlns:p14="http://schemas.microsoft.com/office/powerpoint/2010/main" val="1221320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5"/>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2"/>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3"/>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1"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7"/>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42" presetClass="path" presetSubtype="0" accel="50000" decel="50000" fill="hold" grpId="0" nodeType="clickEffect">
                                  <p:stCondLst>
                                    <p:cond delay="0"/>
                                  </p:stCondLst>
                                  <p:childTnLst>
                                    <p:animMotion origin="layout" path="M 6.25E-7 4.44444E-6 L -0.2974 -0.34769 " pathEditMode="relative" rAng="0" ptsTypes="AA">
                                      <p:cBhvr>
                                        <p:cTn id="60" dur="2000" fill="hold"/>
                                        <p:tgtEl>
                                          <p:spTgt spid="17"/>
                                        </p:tgtEl>
                                        <p:attrNameLst>
                                          <p:attrName>ppt_x</p:attrName>
                                          <p:attrName>ppt_y</p:attrName>
                                        </p:attrNameLst>
                                      </p:cBhvr>
                                      <p:rCtr x="-14870" y="-17384"/>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1" nodeType="click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0" grpId="0"/>
      <p:bldP spid="11" grpId="0"/>
      <p:bldP spid="11" grpId="1"/>
      <p:bldP spid="14" grpId="0"/>
      <p:bldP spid="14" grpId="1"/>
      <p:bldP spid="15" grpId="0"/>
      <p:bldP spid="15" grpId="1"/>
      <p:bldP spid="17" grpId="0"/>
      <p:bldP spid="17" grpId="1"/>
      <p:bldP spid="18" grpId="0"/>
      <p:bldP spid="19" grpId="0"/>
      <p:bldP spid="20" grpId="0"/>
      <p:bldP spid="21" grpId="0"/>
      <p:bldP spid="22"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26D53FA-7921-492E-B535-6044CA169600}"/>
              </a:ext>
            </a:extLst>
          </p:cNvPr>
          <p:cNvPicPr>
            <a:picLocks noChangeAspect="1"/>
          </p:cNvPicPr>
          <p:nvPr/>
        </p:nvPicPr>
        <p:blipFill>
          <a:blip r:embed="rId2"/>
          <a:stretch>
            <a:fillRect/>
          </a:stretch>
        </p:blipFill>
        <p:spPr>
          <a:xfrm>
            <a:off x="3999723" y="225270"/>
            <a:ext cx="8031451" cy="6409447"/>
          </a:xfrm>
          <a:prstGeom prst="rect">
            <a:avLst/>
          </a:prstGeom>
        </p:spPr>
      </p:pic>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728EBB72-3F4A-4BB5-BDB1-D3B701A84CD9}"/>
                  </a:ext>
                </a:extLst>
              </p:cNvPr>
              <p:cNvSpPr/>
              <p:nvPr/>
            </p:nvSpPr>
            <p:spPr>
              <a:xfrm>
                <a:off x="394741" y="753159"/>
                <a:ext cx="2993036" cy="2862322"/>
              </a:xfrm>
              <a:prstGeom prst="rect">
                <a:avLst/>
              </a:prstGeom>
            </p:spPr>
            <p:txBody>
              <a:bodyPr wrap="square">
                <a:spAutoFit/>
              </a:bodyPr>
              <a:lstStyle/>
              <a:p>
                <a:r>
                  <a:rPr lang="en-AU" sz="3600" dirty="0">
                    <a:latin typeface="Calibri" panose="020F0502020204030204" pitchFamily="34" charset="0"/>
                    <a:ea typeface="Calibri" panose="020F0502020204030204" pitchFamily="34" charset="0"/>
                  </a:rPr>
                  <a:t>Construct a line graph representing the equation </a:t>
                </a:r>
                <a14:m>
                  <m:oMath xmlns:m="http://schemas.openxmlformats.org/officeDocument/2006/math">
                    <m:r>
                      <a:rPr lang="en-AU" sz="3600" i="1">
                        <a:latin typeface="Cambria Math" panose="02040503050406030204" pitchFamily="18" charset="0"/>
                        <a:ea typeface="Calibri" panose="020F0502020204030204" pitchFamily="34" charset="0"/>
                        <a:cs typeface="Calibri" panose="020F0502020204030204" pitchFamily="34" charset="0"/>
                      </a:rPr>
                      <m:t>𝑦</m:t>
                    </m:r>
                    <m:r>
                      <a:rPr lang="en-AU" sz="3600" i="1">
                        <a:latin typeface="Cambria Math" panose="02040503050406030204" pitchFamily="18" charset="0"/>
                        <a:ea typeface="Calibri" panose="020F0502020204030204" pitchFamily="34" charset="0"/>
                        <a:cs typeface="Calibri" panose="020F0502020204030204" pitchFamily="34" charset="0"/>
                      </a:rPr>
                      <m:t>=−2</m:t>
                    </m:r>
                    <m:r>
                      <a:rPr lang="en-AU" sz="3600" i="1">
                        <a:latin typeface="Cambria Math" panose="02040503050406030204" pitchFamily="18" charset="0"/>
                        <a:ea typeface="Calibri" panose="020F0502020204030204" pitchFamily="34" charset="0"/>
                        <a:cs typeface="Calibri" panose="020F0502020204030204" pitchFamily="34" charset="0"/>
                      </a:rPr>
                      <m:t>𝑥</m:t>
                    </m:r>
                    <m:r>
                      <a:rPr lang="en-AU" sz="3600" i="1">
                        <a:latin typeface="Cambria Math" panose="02040503050406030204" pitchFamily="18" charset="0"/>
                        <a:ea typeface="Calibri" panose="020F0502020204030204" pitchFamily="34" charset="0"/>
                        <a:cs typeface="Calibri" panose="020F0502020204030204" pitchFamily="34" charset="0"/>
                      </a:rPr>
                      <m:t> +8</m:t>
                    </m:r>
                  </m:oMath>
                </a14:m>
                <a:r>
                  <a:rPr lang="en-AU" sz="3600" dirty="0">
                    <a:latin typeface="Calibri" panose="020F0502020204030204" pitchFamily="34" charset="0"/>
                    <a:ea typeface="Calibri" panose="020F0502020204030204" pitchFamily="34" charset="0"/>
                  </a:rPr>
                  <a:t>	</a:t>
                </a:r>
                <a:endParaRPr lang="en-AU" sz="3600" dirty="0"/>
              </a:p>
            </p:txBody>
          </p:sp>
        </mc:Choice>
        <mc:Fallback>
          <p:sp>
            <p:nvSpPr>
              <p:cNvPr id="6" name="Rectangle 5">
                <a:extLst>
                  <a:ext uri="{FF2B5EF4-FFF2-40B4-BE49-F238E27FC236}">
                    <a16:creationId xmlns:a16="http://schemas.microsoft.com/office/drawing/2014/main" id="{728EBB72-3F4A-4BB5-BDB1-D3B701A84CD9}"/>
                  </a:ext>
                </a:extLst>
              </p:cNvPr>
              <p:cNvSpPr>
                <a:spLocks noRot="1" noChangeAspect="1" noMove="1" noResize="1" noEditPoints="1" noAdjustHandles="1" noChangeArrowheads="1" noChangeShapeType="1" noTextEdit="1"/>
              </p:cNvSpPr>
              <p:nvPr/>
            </p:nvSpPr>
            <p:spPr>
              <a:xfrm>
                <a:off x="394741" y="753159"/>
                <a:ext cx="2993036" cy="2862322"/>
              </a:xfrm>
              <a:prstGeom prst="rect">
                <a:avLst/>
              </a:prstGeom>
              <a:blipFill>
                <a:blip r:embed="rId3"/>
                <a:stretch>
                  <a:fillRect l="-6314" t="-3412"/>
                </a:stretch>
              </a:blipFill>
            </p:spPr>
            <p:txBody>
              <a:bodyPr/>
              <a:lstStyle/>
              <a:p>
                <a:r>
                  <a:rPr lang="en-AU">
                    <a:noFill/>
                  </a:rPr>
                  <a:t> </a:t>
                </a:r>
              </a:p>
            </p:txBody>
          </p:sp>
        </mc:Fallback>
      </mc:AlternateContent>
      <p:sp>
        <p:nvSpPr>
          <p:cNvPr id="7" name="TextBox 6">
            <a:extLst>
              <a:ext uri="{FF2B5EF4-FFF2-40B4-BE49-F238E27FC236}">
                <a16:creationId xmlns:a16="http://schemas.microsoft.com/office/drawing/2014/main" id="{AABC7530-FE47-46DE-B0C0-0AA0A74F9FA9}"/>
              </a:ext>
            </a:extLst>
          </p:cNvPr>
          <p:cNvSpPr txBox="1"/>
          <p:nvPr/>
        </p:nvSpPr>
        <p:spPr>
          <a:xfrm>
            <a:off x="434980" y="3923033"/>
            <a:ext cx="4995423" cy="1015663"/>
          </a:xfrm>
          <a:prstGeom prst="rect">
            <a:avLst/>
          </a:prstGeom>
          <a:solidFill>
            <a:schemeClr val="bg1"/>
          </a:solidFill>
        </p:spPr>
        <p:txBody>
          <a:bodyPr wrap="square" rtlCol="0">
            <a:spAutoFit/>
          </a:bodyPr>
          <a:lstStyle/>
          <a:p>
            <a:r>
              <a:rPr lang="en-AU" sz="6000" dirty="0">
                <a:solidFill>
                  <a:srgbClr val="FF0000"/>
                </a:solidFill>
              </a:rPr>
              <a:t>Gradient = -2</a:t>
            </a:r>
          </a:p>
        </p:txBody>
      </p:sp>
      <p:sp>
        <p:nvSpPr>
          <p:cNvPr id="8" name="TextBox 7">
            <a:extLst>
              <a:ext uri="{FF2B5EF4-FFF2-40B4-BE49-F238E27FC236}">
                <a16:creationId xmlns:a16="http://schemas.microsoft.com/office/drawing/2014/main" id="{51AE218B-CCA2-4A7E-AB03-CE6EBFE4FFAB}"/>
              </a:ext>
            </a:extLst>
          </p:cNvPr>
          <p:cNvSpPr txBox="1"/>
          <p:nvPr/>
        </p:nvSpPr>
        <p:spPr>
          <a:xfrm>
            <a:off x="421406" y="4938696"/>
            <a:ext cx="4995423" cy="1015663"/>
          </a:xfrm>
          <a:prstGeom prst="rect">
            <a:avLst/>
          </a:prstGeom>
          <a:solidFill>
            <a:schemeClr val="bg1"/>
          </a:solidFill>
        </p:spPr>
        <p:txBody>
          <a:bodyPr wrap="square" rtlCol="0">
            <a:spAutoFit/>
          </a:bodyPr>
          <a:lstStyle/>
          <a:p>
            <a:r>
              <a:rPr lang="en-AU" sz="6000" dirty="0">
                <a:solidFill>
                  <a:schemeClr val="accent1"/>
                </a:solidFill>
              </a:rPr>
              <a:t>Intercept = 8</a:t>
            </a:r>
          </a:p>
        </p:txBody>
      </p:sp>
    </p:spTree>
    <p:extLst>
      <p:ext uri="{BB962C8B-B14F-4D97-AF65-F5344CB8AC3E}">
        <p14:creationId xmlns:p14="http://schemas.microsoft.com/office/powerpoint/2010/main" val="229176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82A96E-A9E4-4025-A05B-43E5F84AE83A}"/>
              </a:ext>
            </a:extLst>
          </p:cNvPr>
          <p:cNvSpPr/>
          <p:nvPr/>
        </p:nvSpPr>
        <p:spPr>
          <a:xfrm>
            <a:off x="464233" y="393894"/>
            <a:ext cx="11183815" cy="2677656"/>
          </a:xfrm>
          <a:prstGeom prst="rect">
            <a:avLst/>
          </a:prstGeom>
        </p:spPr>
        <p:txBody>
          <a:bodyPr wrap="square">
            <a:spAutoFit/>
          </a:bodyPr>
          <a:lstStyle/>
          <a:p>
            <a:r>
              <a:rPr lang="en-AU" sz="2800" b="1" dirty="0">
                <a:latin typeface="Calibri" panose="020F0502020204030204" pitchFamily="34" charset="0"/>
                <a:ea typeface="Times New Roman" panose="02020603050405020304" pitchFamily="18" charset="0"/>
              </a:rPr>
              <a:t>Q7) You are investigating prices for having business cards printed for your new games store. A local printing company charges a flat rate of $250 for the materials used and $40 per hour for labour. 	[2,2,2,2 = 8 Marks]</a:t>
            </a:r>
          </a:p>
          <a:p>
            <a:endParaRPr lang="en-AU" sz="2800" b="1" dirty="0">
              <a:latin typeface="Times New Roman" panose="02020603050405020304" pitchFamily="18" charset="0"/>
              <a:ea typeface="Times New Roman" panose="02020603050405020304" pitchFamily="18" charset="0"/>
            </a:endParaRPr>
          </a:p>
          <a:p>
            <a:pPr marL="342900" lvl="0" indent="-342900">
              <a:buFont typeface="Times New Roman" panose="02020603050405020304" pitchFamily="18" charset="0"/>
              <a:buAutoNum type="alphaLcPeriod"/>
              <a:tabLst>
                <a:tab pos="457200" algn="l"/>
              </a:tabLst>
            </a:pPr>
            <a:r>
              <a:rPr lang="en-AU" sz="2800" b="1" dirty="0">
                <a:latin typeface="Calibri" panose="020F0502020204030204" pitchFamily="34" charset="0"/>
                <a:ea typeface="Times New Roman" panose="02020603050405020304" pitchFamily="18" charset="0"/>
                <a:cs typeface="Calibri" panose="020F0502020204030204" pitchFamily="34" charset="0"/>
              </a:rPr>
              <a:t>If </a:t>
            </a:r>
            <a:r>
              <a:rPr lang="en-AU" sz="2800" b="1" i="1" dirty="0">
                <a:latin typeface="Calibri" panose="020F0502020204030204" pitchFamily="34" charset="0"/>
                <a:ea typeface="Times New Roman" panose="02020603050405020304" pitchFamily="18" charset="0"/>
                <a:cs typeface="Calibri" panose="020F0502020204030204" pitchFamily="34" charset="0"/>
              </a:rPr>
              <a:t>h </a:t>
            </a:r>
            <a:r>
              <a:rPr lang="en-AU" sz="2800" b="1" dirty="0">
                <a:latin typeface="Calibri" panose="020F0502020204030204" pitchFamily="34" charset="0"/>
                <a:ea typeface="Times New Roman" panose="02020603050405020304" pitchFamily="18" charset="0"/>
                <a:cs typeface="Calibri" panose="020F0502020204030204" pitchFamily="34" charset="0"/>
              </a:rPr>
              <a:t>is the number of hours of labour required to print the cards, construct an equation for the cost of the cards, C. </a:t>
            </a:r>
            <a:endParaRPr lang="en-AU" sz="2800" b="1" dirty="0">
              <a:effectLst/>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5107172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82A96E-A9E4-4025-A05B-43E5F84AE83A}"/>
              </a:ext>
            </a:extLst>
          </p:cNvPr>
          <p:cNvSpPr/>
          <p:nvPr/>
        </p:nvSpPr>
        <p:spPr>
          <a:xfrm>
            <a:off x="464233" y="393894"/>
            <a:ext cx="11183815" cy="954107"/>
          </a:xfrm>
          <a:prstGeom prst="rect">
            <a:avLst/>
          </a:prstGeom>
        </p:spPr>
        <p:txBody>
          <a:bodyPr wrap="square">
            <a:spAutoFit/>
          </a:bodyPr>
          <a:lstStyle/>
          <a:p>
            <a:pPr lvl="0"/>
            <a:r>
              <a:rPr lang="en-AU" sz="2800" b="1" dirty="0"/>
              <a:t>You have budgeted $1000 for the printing job. How many hours of labour can you afford? Give your answer to the nearest minute. </a:t>
            </a:r>
          </a:p>
        </p:txBody>
      </p:sp>
    </p:spTree>
    <p:extLst>
      <p:ext uri="{BB962C8B-B14F-4D97-AF65-F5344CB8AC3E}">
        <p14:creationId xmlns:p14="http://schemas.microsoft.com/office/powerpoint/2010/main" val="3957319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82A96E-A9E4-4025-A05B-43E5F84AE83A}"/>
              </a:ext>
            </a:extLst>
          </p:cNvPr>
          <p:cNvSpPr/>
          <p:nvPr/>
        </p:nvSpPr>
        <p:spPr>
          <a:xfrm>
            <a:off x="464233" y="393894"/>
            <a:ext cx="11183815" cy="1384995"/>
          </a:xfrm>
          <a:prstGeom prst="rect">
            <a:avLst/>
          </a:prstGeom>
        </p:spPr>
        <p:txBody>
          <a:bodyPr wrap="square">
            <a:spAutoFit/>
          </a:bodyPr>
          <a:lstStyle/>
          <a:p>
            <a:r>
              <a:rPr lang="en-AU" sz="2800" b="1" dirty="0">
                <a:latin typeface="Calibri" panose="020F0502020204030204" pitchFamily="34" charset="0"/>
                <a:ea typeface="Times New Roman" panose="02020603050405020304" pitchFamily="18" charset="0"/>
              </a:rPr>
              <a:t> </a:t>
            </a:r>
            <a:endParaRPr lang="en-AU" sz="3200" b="1" dirty="0">
              <a:latin typeface="Times New Roman" panose="02020603050405020304" pitchFamily="18" charset="0"/>
              <a:ea typeface="Times New Roman" panose="02020603050405020304" pitchFamily="18" charset="0"/>
            </a:endParaRPr>
          </a:p>
          <a:p>
            <a:pPr lvl="0">
              <a:tabLst>
                <a:tab pos="457200" algn="l"/>
              </a:tabLst>
            </a:pPr>
            <a:r>
              <a:rPr lang="en-AU" sz="2800" b="1" dirty="0">
                <a:latin typeface="Calibri" panose="020F0502020204030204" pitchFamily="34" charset="0"/>
                <a:ea typeface="Times New Roman" panose="02020603050405020304" pitchFamily="18" charset="0"/>
                <a:cs typeface="Calibri" panose="020F0502020204030204" pitchFamily="34" charset="0"/>
              </a:rPr>
              <a:t>The printer estimates that it can print 1000 cards per hour of labour. How many cards will be printed with your current budget? </a:t>
            </a:r>
            <a:endParaRPr lang="en-AU" sz="3200" b="1"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801155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82A96E-A9E4-4025-A05B-43E5F84AE83A}"/>
              </a:ext>
            </a:extLst>
          </p:cNvPr>
          <p:cNvSpPr/>
          <p:nvPr/>
        </p:nvSpPr>
        <p:spPr>
          <a:xfrm>
            <a:off x="464233" y="393894"/>
            <a:ext cx="11183815" cy="2246769"/>
          </a:xfrm>
          <a:prstGeom prst="rect">
            <a:avLst/>
          </a:prstGeom>
        </p:spPr>
        <p:txBody>
          <a:bodyPr wrap="square">
            <a:spAutoFit/>
          </a:bodyPr>
          <a:lstStyle/>
          <a:p>
            <a:r>
              <a:rPr lang="en-AU" sz="2800" b="1" dirty="0">
                <a:latin typeface="Calibri" panose="020F0502020204030204" pitchFamily="34" charset="0"/>
                <a:ea typeface="Times New Roman" panose="02020603050405020304" pitchFamily="18" charset="0"/>
              </a:rPr>
              <a:t> </a:t>
            </a:r>
            <a:endParaRPr lang="en-AU" sz="3200" b="1" dirty="0">
              <a:latin typeface="Times New Roman" panose="02020603050405020304" pitchFamily="18" charset="0"/>
              <a:ea typeface="Times New Roman" panose="02020603050405020304" pitchFamily="18" charset="0"/>
            </a:endParaRPr>
          </a:p>
          <a:p>
            <a:pPr lvl="0">
              <a:tabLst>
                <a:tab pos="457200" algn="l"/>
              </a:tabLst>
            </a:pPr>
            <a:r>
              <a:rPr lang="en-AU" sz="2800" b="1" dirty="0">
                <a:latin typeface="Calibri" panose="020F0502020204030204" pitchFamily="34" charset="0"/>
                <a:ea typeface="Times New Roman" panose="02020603050405020304" pitchFamily="18" charset="0"/>
                <a:cs typeface="Calibri" panose="020F0502020204030204" pitchFamily="34" charset="0"/>
              </a:rPr>
              <a:t>An alternative to printing is photocopying. The company charges 15 cents per side for the first 10 000 cards and then 10 cents per side for the remaining cards. Which is the cheaper option for 18 750 single-sided cards and by how much? </a:t>
            </a:r>
            <a:endParaRPr lang="en-AU" sz="3200" b="1"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1683742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82A96E-A9E4-4025-A05B-43E5F84AE83A}"/>
              </a:ext>
            </a:extLst>
          </p:cNvPr>
          <p:cNvSpPr/>
          <p:nvPr/>
        </p:nvSpPr>
        <p:spPr>
          <a:xfrm>
            <a:off x="464233" y="393894"/>
            <a:ext cx="11183815" cy="954107"/>
          </a:xfrm>
          <a:prstGeom prst="rect">
            <a:avLst/>
          </a:prstGeom>
        </p:spPr>
        <p:txBody>
          <a:bodyPr wrap="square">
            <a:spAutoFit/>
          </a:bodyPr>
          <a:lstStyle/>
          <a:p>
            <a:r>
              <a:rPr lang="en-AU" sz="2800" b="1" dirty="0">
                <a:latin typeface="Calibri" panose="020F0502020204030204" pitchFamily="34" charset="0"/>
                <a:ea typeface="Calibri" panose="020F0502020204030204" pitchFamily="34" charset="0"/>
              </a:rPr>
              <a:t>Q8) Does the point (6,10) lie on the line y = 3x-4? If not, supply a point that does lie on this line. </a:t>
            </a:r>
            <a:r>
              <a:rPr lang="en-AU" sz="2800" dirty="0">
                <a:latin typeface="Calibri" panose="020F0502020204030204" pitchFamily="34" charset="0"/>
                <a:ea typeface="Calibri" panose="020F0502020204030204" pitchFamily="34" charset="0"/>
              </a:rPr>
              <a:t>	</a:t>
            </a:r>
            <a:endParaRPr lang="en-AU" sz="3200" b="1" dirty="0">
              <a:latin typeface="Calibri" panose="020F0502020204030204" pitchFamily="34" charset="0"/>
              <a:ea typeface="Times New Roman" panose="02020603050405020304" pitchFamily="18" charset="0"/>
              <a:cs typeface="Calibri" panose="020F0502020204030204" pitchFamily="34" charset="0"/>
            </a:endParaRPr>
          </a:p>
        </p:txBody>
      </p:sp>
    </p:spTree>
    <p:extLst>
      <p:ext uri="{BB962C8B-B14F-4D97-AF65-F5344CB8AC3E}">
        <p14:creationId xmlns:p14="http://schemas.microsoft.com/office/powerpoint/2010/main" val="3879701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728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905</Words>
  <Application>Microsoft Office PowerPoint</Application>
  <PresentationFormat>Widescreen</PresentationFormat>
  <Paragraphs>177</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Cambria Math</vt:lpstr>
      <vt:lpstr>Times New Roman</vt:lpstr>
      <vt:lpstr>Office Theme</vt:lpstr>
      <vt:lpstr> 3x + 4 = 10</vt:lpstr>
      <vt:lpstr> -2x + 5 = 13</vt:lpstr>
      <vt:lpstr>      3x = 6 2</vt:lpstr>
      <vt:lpstr>6(4x – 3) + 7(x + 1) = 9</vt:lpstr>
      <vt:lpstr> 5x + 7 = 8x - 5</vt:lpstr>
      <vt:lpstr> 2x + 10 ≥ 16</vt:lpstr>
      <vt:lpstr> -4x + 2 ≤ -3</vt:lpstr>
      <vt:lpstr>y = 2x + 2</vt:lpstr>
      <vt:lpstr> 2y = 10 – 4x</vt:lpstr>
      <vt:lpstr>-4x + 3y = 12 + 2x</vt:lpstr>
      <vt:lpstr>PowerPoint Presentation</vt:lpstr>
      <vt:lpstr>Find the equation of the line</vt:lpstr>
      <vt:lpstr>Find the equation of the 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3x + 4 = 10</dc:title>
  <dc:creator>Martin Mansfield</dc:creator>
  <cp:lastModifiedBy>Martin Mansfield</cp:lastModifiedBy>
  <cp:revision>5</cp:revision>
  <dcterms:created xsi:type="dcterms:W3CDTF">2020-08-31T00:24:40Z</dcterms:created>
  <dcterms:modified xsi:type="dcterms:W3CDTF">2020-08-31T00:49:05Z</dcterms:modified>
</cp:coreProperties>
</file>
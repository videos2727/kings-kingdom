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3" r:id="rId2"/>
    <p:sldId id="293" r:id="rId3"/>
    <p:sldId id="298" r:id="rId4"/>
    <p:sldId id="299" r:id="rId5"/>
    <p:sldId id="300" r:id="rId6"/>
    <p:sldId id="296" r:id="rId7"/>
    <p:sldId id="29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5"/>
  </p:normalViewPr>
  <p:slideViewPr>
    <p:cSldViewPr>
      <p:cViewPr varScale="1">
        <p:scale>
          <a:sx n="100" d="100"/>
          <a:sy n="100" d="100"/>
        </p:scale>
        <p:origin x="270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25/02/2018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5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07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25/02/2018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25/02/2018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25/02/2018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25/02/2018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25/02/2018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25/02/2018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25/02/2018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25/02/2018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>
                <a:latin typeface="Martina" pitchFamily="2" charset="0"/>
              </a:rPr>
              <a:t>Warm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620689"/>
            <a:ext cx="8229600" cy="5030275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1">
            <a:normAutofit/>
          </a:bodyPr>
          <a:lstStyle/>
          <a:p>
            <a:pPr>
              <a:buNone/>
            </a:pPr>
            <a:r>
              <a:rPr lang="en-GB" dirty="0"/>
              <a:t>Find:</a:t>
            </a:r>
          </a:p>
          <a:p>
            <a:pPr marL="514350" indent="-514350">
              <a:buAutoNum type="arabicParenR"/>
            </a:pPr>
            <a:r>
              <a:rPr lang="en-GB" dirty="0"/>
              <a:t>A pair of numbers that add to 10 and multiply to 21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AutoNum type="arabicParenR"/>
            </a:pPr>
            <a:r>
              <a:rPr lang="en-GB" dirty="0"/>
              <a:t>A pair of numbers that add to 4 and multiply to negative 12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AutoNum type="arabicParenR"/>
            </a:pPr>
            <a:r>
              <a:rPr lang="en-GB" dirty="0"/>
              <a:t>A pair of numbers that add to zero and multiply to negative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5680" y="2852937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/>
          </a:p>
          <a:p>
            <a:r>
              <a:rPr lang="en-GB" sz="24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361" y="684974"/>
            <a:ext cx="12185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361" y="1244209"/>
            <a:ext cx="12185639" cy="47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525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8772" y="1248927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33403" y="-49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06" y="777829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factorise quadratic expressions?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1971" y="5090969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6" y="139195"/>
            <a:ext cx="1756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</a:t>
            </a:r>
          </a:p>
        </p:txBody>
      </p:sp>
      <p:sp>
        <p:nvSpPr>
          <p:cNvPr id="57" name="Rounded Rectangle 72">
            <a:extLst>
              <a:ext uri="{FF2B5EF4-FFF2-40B4-BE49-F238E27FC236}">
                <a16:creationId xmlns:a16="http://schemas.microsoft.com/office/drawing/2014/main" id="{8C7942EA-23B2-4405-B1A6-99A598833557}"/>
              </a:ext>
            </a:extLst>
          </p:cNvPr>
          <p:cNvSpPr/>
          <p:nvPr/>
        </p:nvSpPr>
        <p:spPr>
          <a:xfrm>
            <a:off x="7663848" y="3404512"/>
            <a:ext cx="3614786" cy="682831"/>
          </a:xfrm>
          <a:prstGeom prst="roundRect">
            <a:avLst>
              <a:gd name="adj" fmla="val 21605"/>
            </a:avLst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1B6BD42-F539-4E77-85E5-76A9F9FD3DA2}"/>
              </a:ext>
            </a:extLst>
          </p:cNvPr>
          <p:cNvSpPr txBox="1"/>
          <p:nvPr/>
        </p:nvSpPr>
        <p:spPr>
          <a:xfrm>
            <a:off x="3059256" y="2102707"/>
            <a:ext cx="8028892" cy="476726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>
                <a:latin typeface="Arial" pitchFamily="34" charset="0"/>
                <a:cs typeface="Arial" pitchFamily="34" charset="0"/>
              </a:rPr>
              <a:t>Factorising expressions of the form </a:t>
            </a:r>
            <a:r>
              <a:rPr lang="en-GB" sz="2200" b="1" i="1" dirty="0">
                <a:latin typeface="Arial" pitchFamily="34" charset="0"/>
                <a:cs typeface="Arial" pitchFamily="34" charset="0"/>
              </a:rPr>
              <a:t>x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² + </a:t>
            </a:r>
            <a:r>
              <a:rPr lang="en-GB" sz="2200" b="1" dirty="0" err="1">
                <a:latin typeface="Arial" pitchFamily="34" charset="0"/>
                <a:cs typeface="Arial" pitchFamily="34" charset="0"/>
              </a:rPr>
              <a:t>b</a:t>
            </a:r>
            <a:r>
              <a:rPr lang="en-GB" sz="2200" b="1" i="1" dirty="0" err="1">
                <a:latin typeface="Arial" pitchFamily="34" charset="0"/>
                <a:cs typeface="Arial" pitchFamily="34" charset="0"/>
              </a:rPr>
              <a:t>x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 + c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25087C-9877-4685-9812-1884608484A3}"/>
              </a:ext>
            </a:extLst>
          </p:cNvPr>
          <p:cNvSpPr txBox="1"/>
          <p:nvPr/>
        </p:nvSpPr>
        <p:spPr>
          <a:xfrm>
            <a:off x="3059256" y="1281291"/>
            <a:ext cx="8028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itchFamily="34" charset="0"/>
                <a:cs typeface="Arial" pitchFamily="34" charset="0"/>
              </a:rPr>
              <a:t>If the sign in front of 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c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 is a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 + 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sign, then both signs in the factorised answer are the same as the sign in front of 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b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65C467-7545-4298-ADE6-1E8B1A5BA4AD}"/>
              </a:ext>
            </a:extLst>
          </p:cNvPr>
          <p:cNvSpPr txBox="1"/>
          <p:nvPr/>
        </p:nvSpPr>
        <p:spPr>
          <a:xfrm>
            <a:off x="2871967" y="2808653"/>
            <a:ext cx="4714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itchFamily="34" charset="0"/>
                <a:cs typeface="Arial" pitchFamily="34" charset="0"/>
              </a:rPr>
              <a:t>Example 1:   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Factorise   </a:t>
            </a:r>
            <a:r>
              <a:rPr lang="en-GB" sz="2000" b="1" i="1" dirty="0">
                <a:latin typeface="Arial" pitchFamily="34" charset="0"/>
                <a:cs typeface="Arial" pitchFamily="34" charset="0"/>
              </a:rPr>
              <a:t>x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² + 10</a:t>
            </a:r>
            <a:r>
              <a:rPr lang="en-GB" sz="2000" b="1" i="1" dirty="0">
                <a:latin typeface="Arial" pitchFamily="34" charset="0"/>
                <a:cs typeface="Arial" pitchFamily="34" charset="0"/>
              </a:rPr>
              <a:t>x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 + 24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F88AB11-ED63-4E2C-BC41-0A8B75B5EAD2}"/>
              </a:ext>
            </a:extLst>
          </p:cNvPr>
          <p:cNvSpPr txBox="1"/>
          <p:nvPr/>
        </p:nvSpPr>
        <p:spPr>
          <a:xfrm>
            <a:off x="7475345" y="3477196"/>
            <a:ext cx="40164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b="1" dirty="0">
                <a:latin typeface="Arial" pitchFamily="34" charset="0"/>
                <a:cs typeface="Arial" pitchFamily="34" charset="0"/>
              </a:rPr>
              <a:t>(              ) (              )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2FC1BC0-DA94-4004-BCEE-93919D086154}"/>
              </a:ext>
            </a:extLst>
          </p:cNvPr>
          <p:cNvGrpSpPr/>
          <p:nvPr/>
        </p:nvGrpSpPr>
        <p:grpSpPr>
          <a:xfrm>
            <a:off x="2838195" y="3517079"/>
            <a:ext cx="4783202" cy="438156"/>
            <a:chOff x="482544" y="2321373"/>
            <a:chExt cx="4052943" cy="438156"/>
          </a:xfrm>
        </p:grpSpPr>
        <p:sp>
          <p:nvSpPr>
            <p:cNvPr id="63" name="Rounded Rectangle 48">
              <a:extLst>
                <a:ext uri="{FF2B5EF4-FFF2-40B4-BE49-F238E27FC236}">
                  <a16:creationId xmlns:a16="http://schemas.microsoft.com/office/drawing/2014/main" id="{0BE4C19C-BE3D-4364-9648-9C1CE9FCFFB3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1079945-890A-4519-B6B3-568B87023406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First draw brackets</a:t>
              </a:r>
              <a:endParaRPr lang="en-GB" sz="16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C2D479C3-CFC6-4B2E-9DBF-751D772061B3}"/>
              </a:ext>
            </a:extLst>
          </p:cNvPr>
          <p:cNvSpPr/>
          <p:nvPr/>
        </p:nvSpPr>
        <p:spPr>
          <a:xfrm>
            <a:off x="7801189" y="3465321"/>
            <a:ext cx="4381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i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x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5AC0C7F-9311-4638-A79C-F7AFD548ADE5}"/>
              </a:ext>
            </a:extLst>
          </p:cNvPr>
          <p:cNvSpPr/>
          <p:nvPr/>
        </p:nvSpPr>
        <p:spPr>
          <a:xfrm>
            <a:off x="8312371" y="3465321"/>
            <a:ext cx="3651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+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E01F665-FBDF-45E0-910B-A68D3CBD1B05}"/>
              </a:ext>
            </a:extLst>
          </p:cNvPr>
          <p:cNvSpPr/>
          <p:nvPr/>
        </p:nvSpPr>
        <p:spPr>
          <a:xfrm>
            <a:off x="8605295" y="3465321"/>
            <a:ext cx="76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967297B-C563-42B1-84FA-913C8061E843}"/>
              </a:ext>
            </a:extLst>
          </p:cNvPr>
          <p:cNvSpPr/>
          <p:nvPr/>
        </p:nvSpPr>
        <p:spPr>
          <a:xfrm>
            <a:off x="9626839" y="3465321"/>
            <a:ext cx="4381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i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x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18D8F60-DA86-4EBD-A233-1F101FC81CFC}"/>
              </a:ext>
            </a:extLst>
          </p:cNvPr>
          <p:cNvSpPr/>
          <p:nvPr/>
        </p:nvSpPr>
        <p:spPr>
          <a:xfrm>
            <a:off x="10138021" y="3465321"/>
            <a:ext cx="3651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+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18E8D94-914E-40E1-81FA-F20674D7DE16}"/>
              </a:ext>
            </a:extLst>
          </p:cNvPr>
          <p:cNvSpPr/>
          <p:nvPr/>
        </p:nvSpPr>
        <p:spPr>
          <a:xfrm>
            <a:off x="10430945" y="3465321"/>
            <a:ext cx="76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CE8AF1F-A6BC-467B-AFFC-572AF1A06098}"/>
              </a:ext>
            </a:extLst>
          </p:cNvPr>
          <p:cNvGrpSpPr/>
          <p:nvPr/>
        </p:nvGrpSpPr>
        <p:grpSpPr>
          <a:xfrm>
            <a:off x="2838195" y="4221317"/>
            <a:ext cx="4783202" cy="438156"/>
            <a:chOff x="482544" y="2321373"/>
            <a:chExt cx="4052943" cy="438156"/>
          </a:xfrm>
        </p:grpSpPr>
        <p:sp>
          <p:nvSpPr>
            <p:cNvPr id="72" name="Rounded Rectangle 52">
              <a:extLst>
                <a:ext uri="{FF2B5EF4-FFF2-40B4-BE49-F238E27FC236}">
                  <a16:creationId xmlns:a16="http://schemas.microsoft.com/office/drawing/2014/main" id="{17610610-5B49-4118-A547-8880FB851280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30AFE74-AAA3-40A9-ADC7-4189ABACA64C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So the first term in each bracket must be </a:t>
              </a:r>
              <a:r>
                <a:rPr lang="en-GB" sz="1600" b="1" i="1" dirty="0">
                  <a:latin typeface="Arial" pitchFamily="34" charset="0"/>
                  <a:cs typeface="Arial" pitchFamily="34" charset="0"/>
                </a:rPr>
                <a:t>x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3471110-34C5-4084-875F-9D20D7BAF55E}"/>
              </a:ext>
            </a:extLst>
          </p:cNvPr>
          <p:cNvGrpSpPr/>
          <p:nvPr/>
        </p:nvGrpSpPr>
        <p:grpSpPr>
          <a:xfrm>
            <a:off x="2838195" y="4925555"/>
            <a:ext cx="4783202" cy="438156"/>
            <a:chOff x="482544" y="2321373"/>
            <a:chExt cx="4052943" cy="438156"/>
          </a:xfrm>
        </p:grpSpPr>
        <p:sp>
          <p:nvSpPr>
            <p:cNvPr id="75" name="Rounded Rectangle 55">
              <a:extLst>
                <a:ext uri="{FF2B5EF4-FFF2-40B4-BE49-F238E27FC236}">
                  <a16:creationId xmlns:a16="http://schemas.microsoft.com/office/drawing/2014/main" id="{D090400E-4D6A-43DB-AB5C-FC348E3E27AF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C40D075-0C81-46D8-AEDA-1CD10E33A0F5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Signs are both 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plus</a:t>
              </a:r>
              <a:endParaRPr lang="en-GB" sz="1600" b="1" i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A9B140C-874C-4EC9-A943-F8394C1D2475}"/>
              </a:ext>
            </a:extLst>
          </p:cNvPr>
          <p:cNvGrpSpPr/>
          <p:nvPr/>
        </p:nvGrpSpPr>
        <p:grpSpPr>
          <a:xfrm>
            <a:off x="2838195" y="6334032"/>
            <a:ext cx="4783202" cy="438156"/>
            <a:chOff x="482544" y="2321373"/>
            <a:chExt cx="4052943" cy="438156"/>
          </a:xfrm>
        </p:grpSpPr>
        <p:sp>
          <p:nvSpPr>
            <p:cNvPr id="78" name="Rounded Rectangle 58">
              <a:extLst>
                <a:ext uri="{FF2B5EF4-FFF2-40B4-BE49-F238E27FC236}">
                  <a16:creationId xmlns:a16="http://schemas.microsoft.com/office/drawing/2014/main" id="{1045F8B5-7429-4260-AD13-A00E9739183A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14EF3C6-83FC-4F8E-B39A-20A3FCF9C301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Then we choose the pair which add up to 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10</a:t>
              </a:r>
              <a:endParaRPr lang="en-GB" sz="1600" b="1" i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03A96BB-7B60-42F1-8A0C-8F96CAF2621C}"/>
              </a:ext>
            </a:extLst>
          </p:cNvPr>
          <p:cNvGrpSpPr/>
          <p:nvPr/>
        </p:nvGrpSpPr>
        <p:grpSpPr>
          <a:xfrm>
            <a:off x="2838195" y="5629793"/>
            <a:ext cx="4783202" cy="438156"/>
            <a:chOff x="482544" y="2321373"/>
            <a:chExt cx="4052943" cy="438156"/>
          </a:xfrm>
        </p:grpSpPr>
        <p:sp>
          <p:nvSpPr>
            <p:cNvPr id="81" name="Rounded Rectangle 64">
              <a:extLst>
                <a:ext uri="{FF2B5EF4-FFF2-40B4-BE49-F238E27FC236}">
                  <a16:creationId xmlns:a16="http://schemas.microsoft.com/office/drawing/2014/main" id="{9CB53395-A771-403F-98F8-D9F6B346275D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09CC460-C136-460A-BE18-8B75DF0DF8BF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So we list pairs of factors of 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24</a:t>
              </a:r>
              <a:endParaRPr lang="en-GB" sz="1600" b="1" i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83" name="Rounded Rectangle 70">
            <a:extLst>
              <a:ext uri="{FF2B5EF4-FFF2-40B4-BE49-F238E27FC236}">
                <a16:creationId xmlns:a16="http://schemas.microsoft.com/office/drawing/2014/main" id="{ED4E229C-9FF8-407D-B948-C859D9EEFA86}"/>
              </a:ext>
            </a:extLst>
          </p:cNvPr>
          <p:cNvSpPr/>
          <p:nvPr/>
        </p:nvSpPr>
        <p:spPr>
          <a:xfrm>
            <a:off x="8716787" y="6112179"/>
            <a:ext cx="1533546" cy="401643"/>
          </a:xfrm>
          <a:prstGeom prst="roundRect">
            <a:avLst>
              <a:gd name="adj" fmla="val 37867"/>
            </a:avLst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4390A1-3B05-41C3-B503-E0CCFCA942DF}"/>
              </a:ext>
            </a:extLst>
          </p:cNvPr>
          <p:cNvSpPr txBox="1"/>
          <p:nvPr/>
        </p:nvSpPr>
        <p:spPr>
          <a:xfrm>
            <a:off x="8570735" y="4980276"/>
            <a:ext cx="1825650" cy="156966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1  x  24</a:t>
            </a:r>
          </a:p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2  x  12</a:t>
            </a:r>
          </a:p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3  x  8</a:t>
            </a:r>
          </a:p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4  x  6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A6767ED-6084-4863-ACBC-148B6A544351}"/>
              </a:ext>
            </a:extLst>
          </p:cNvPr>
          <p:cNvGrpSpPr/>
          <p:nvPr/>
        </p:nvGrpSpPr>
        <p:grpSpPr>
          <a:xfrm>
            <a:off x="7953177" y="2643385"/>
            <a:ext cx="3138780" cy="935504"/>
            <a:chOff x="5449649" y="1827326"/>
            <a:chExt cx="3138780" cy="935504"/>
          </a:xfrm>
        </p:grpSpPr>
        <p:sp>
          <p:nvSpPr>
            <p:cNvPr id="86" name="Curved Down Arrow 35">
              <a:extLst>
                <a:ext uri="{FF2B5EF4-FFF2-40B4-BE49-F238E27FC236}">
                  <a16:creationId xmlns:a16="http://schemas.microsoft.com/office/drawing/2014/main" id="{59548B70-AD12-474B-B756-FEEE3174DC61}"/>
                </a:ext>
              </a:extLst>
            </p:cNvPr>
            <p:cNvSpPr/>
            <p:nvPr/>
          </p:nvSpPr>
          <p:spPr>
            <a:xfrm>
              <a:off x="5449649" y="2361188"/>
              <a:ext cx="1971703" cy="401642"/>
            </a:xfrm>
            <a:prstGeom prst="curvedDownArrow">
              <a:avLst>
                <a:gd name="adj1" fmla="val 24576"/>
                <a:gd name="adj2" fmla="val 69563"/>
                <a:gd name="adj3" fmla="val 45237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E0D75068-087F-4615-82CA-89D89BBA8B9D}"/>
                </a:ext>
              </a:extLst>
            </p:cNvPr>
            <p:cNvGrpSpPr/>
            <p:nvPr/>
          </p:nvGrpSpPr>
          <p:grpSpPr>
            <a:xfrm>
              <a:off x="6178572" y="1827326"/>
              <a:ext cx="2409857" cy="521341"/>
              <a:chOff x="6178572" y="1827326"/>
              <a:chExt cx="2409857" cy="521341"/>
            </a:xfrm>
          </p:grpSpPr>
          <p:sp>
            <p:nvSpPr>
              <p:cNvPr id="88" name="Rounded Rectangle 40">
                <a:extLst>
                  <a:ext uri="{FF2B5EF4-FFF2-40B4-BE49-F238E27FC236}">
                    <a16:creationId xmlns:a16="http://schemas.microsoft.com/office/drawing/2014/main" id="{6D6DD03E-8DB0-4054-9FAB-647856AB654D}"/>
                  </a:ext>
                </a:extLst>
              </p:cNvPr>
              <p:cNvSpPr/>
              <p:nvPr/>
            </p:nvSpPr>
            <p:spPr>
              <a:xfrm>
                <a:off x="6178572" y="1827326"/>
                <a:ext cx="2409857" cy="503629"/>
              </a:xfrm>
              <a:prstGeom prst="roundRect">
                <a:avLst>
                  <a:gd name="adj" fmla="val 37802"/>
                </a:avLst>
              </a:prstGeom>
              <a:gradFill flip="none" rotWithShape="1">
                <a:gsLst>
                  <a:gs pos="0">
                    <a:srgbClr val="FFC000">
                      <a:tint val="66000"/>
                      <a:satMod val="160000"/>
                    </a:srgbClr>
                  </a:gs>
                  <a:gs pos="50000">
                    <a:srgbClr val="FFC000">
                      <a:tint val="44500"/>
                      <a:satMod val="160000"/>
                    </a:srgbClr>
                  </a:gs>
                  <a:gs pos="100000">
                    <a:srgbClr val="FFC0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7FCAEC3-57BF-4F03-B7A8-078E92E49916}"/>
                  </a:ext>
                </a:extLst>
              </p:cNvPr>
              <p:cNvSpPr txBox="1"/>
              <p:nvPr/>
            </p:nvSpPr>
            <p:spPr>
              <a:xfrm>
                <a:off x="6320346" y="1887002"/>
                <a:ext cx="22095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0066"/>
                    </a:solidFill>
                    <a:latin typeface="Arial" pitchFamily="34" charset="0"/>
                    <a:cs typeface="Arial" pitchFamily="34" charset="0"/>
                  </a:rPr>
                  <a:t>The first terms have to multiply to give the </a:t>
                </a:r>
                <a:r>
                  <a:rPr lang="en-GB" sz="1200" b="1" dirty="0">
                    <a:latin typeface="Arial" pitchFamily="34" charset="0"/>
                    <a:cs typeface="Arial" pitchFamily="34" charset="0"/>
                  </a:rPr>
                  <a:t>x²</a:t>
                </a:r>
                <a:r>
                  <a:rPr lang="en-GB" sz="1200" b="1" dirty="0">
                    <a:solidFill>
                      <a:srgbClr val="000066"/>
                    </a:solidFill>
                    <a:latin typeface="Arial" pitchFamily="34" charset="0"/>
                    <a:cs typeface="Arial" pitchFamily="34" charset="0"/>
                  </a:rPr>
                  <a:t> term</a:t>
                </a:r>
                <a:endParaRPr lang="en-GB" sz="1200" b="1" i="1" dirty="0">
                  <a:solidFill>
                    <a:srgbClr val="000066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00ECBCF-B5CA-4120-8840-6DBD746B5415}"/>
              </a:ext>
            </a:extLst>
          </p:cNvPr>
          <p:cNvGrpSpPr/>
          <p:nvPr/>
        </p:nvGrpSpPr>
        <p:grpSpPr>
          <a:xfrm>
            <a:off x="7913501" y="3978280"/>
            <a:ext cx="3030580" cy="827489"/>
            <a:chOff x="5411799" y="3183064"/>
            <a:chExt cx="3030580" cy="827489"/>
          </a:xfrm>
        </p:grpSpPr>
        <p:sp>
          <p:nvSpPr>
            <p:cNvPr id="91" name="Curved Down Arrow 37">
              <a:extLst>
                <a:ext uri="{FF2B5EF4-FFF2-40B4-BE49-F238E27FC236}">
                  <a16:creationId xmlns:a16="http://schemas.microsoft.com/office/drawing/2014/main" id="{4CFB130A-44AE-4595-A671-14950EF3F41E}"/>
                </a:ext>
              </a:extLst>
            </p:cNvPr>
            <p:cNvSpPr/>
            <p:nvPr/>
          </p:nvSpPr>
          <p:spPr>
            <a:xfrm flipV="1">
              <a:off x="6470676" y="3183064"/>
              <a:ext cx="1971703" cy="401642"/>
            </a:xfrm>
            <a:prstGeom prst="curvedDownArrow">
              <a:avLst>
                <a:gd name="adj1" fmla="val 24576"/>
                <a:gd name="adj2" fmla="val 69563"/>
                <a:gd name="adj3" fmla="val 45237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0FB99AE9-9D61-46E6-A853-BCF81D8E3DCE}"/>
                </a:ext>
              </a:extLst>
            </p:cNvPr>
            <p:cNvGrpSpPr/>
            <p:nvPr/>
          </p:nvGrpSpPr>
          <p:grpSpPr>
            <a:xfrm>
              <a:off x="5411799" y="3506924"/>
              <a:ext cx="2409857" cy="503629"/>
              <a:chOff x="5229234" y="2903408"/>
              <a:chExt cx="2409857" cy="503629"/>
            </a:xfrm>
          </p:grpSpPr>
          <p:sp>
            <p:nvSpPr>
              <p:cNvPr id="93" name="Rounded Rectangle 61">
                <a:extLst>
                  <a:ext uri="{FF2B5EF4-FFF2-40B4-BE49-F238E27FC236}">
                    <a16:creationId xmlns:a16="http://schemas.microsoft.com/office/drawing/2014/main" id="{0938737E-EC3E-41B5-8209-D8B8A1879C6E}"/>
                  </a:ext>
                </a:extLst>
              </p:cNvPr>
              <p:cNvSpPr/>
              <p:nvPr/>
            </p:nvSpPr>
            <p:spPr>
              <a:xfrm>
                <a:off x="5229234" y="2903408"/>
                <a:ext cx="2409857" cy="503629"/>
              </a:xfrm>
              <a:prstGeom prst="roundRect">
                <a:avLst>
                  <a:gd name="adj" fmla="val 37802"/>
                </a:avLst>
              </a:prstGeom>
              <a:gradFill flip="none" rotWithShape="1">
                <a:gsLst>
                  <a:gs pos="0">
                    <a:srgbClr val="FFC000">
                      <a:tint val="66000"/>
                      <a:satMod val="160000"/>
                    </a:srgbClr>
                  </a:gs>
                  <a:gs pos="50000">
                    <a:srgbClr val="FFC000">
                      <a:tint val="44500"/>
                      <a:satMod val="160000"/>
                    </a:srgbClr>
                  </a:gs>
                  <a:gs pos="100000">
                    <a:srgbClr val="FFC0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94C8BCE-FBE1-470A-8726-7CF038D25BE8}"/>
                  </a:ext>
                </a:extLst>
              </p:cNvPr>
              <p:cNvSpPr txBox="1"/>
              <p:nvPr/>
            </p:nvSpPr>
            <p:spPr>
              <a:xfrm>
                <a:off x="5329398" y="2924390"/>
                <a:ext cx="22095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0066"/>
                    </a:solidFill>
                    <a:latin typeface="Arial" pitchFamily="34" charset="0"/>
                    <a:cs typeface="Arial" pitchFamily="34" charset="0"/>
                  </a:rPr>
                  <a:t>The last terms have to multiply to give the </a:t>
                </a:r>
                <a:r>
                  <a:rPr lang="en-GB" sz="1200" b="1" dirty="0">
                    <a:latin typeface="Arial" pitchFamily="34" charset="0"/>
                    <a:cs typeface="Arial" pitchFamily="34" charset="0"/>
                  </a:rPr>
                  <a:t>24</a:t>
                </a:r>
                <a:endParaRPr lang="en-GB" sz="1200" b="1" i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BDABA214-070B-4646-880D-E0815F37F864}"/>
              </a:ext>
            </a:extLst>
          </p:cNvPr>
          <p:cNvSpPr/>
          <p:nvPr/>
        </p:nvSpPr>
        <p:spPr>
          <a:xfrm>
            <a:off x="6293261" y="2783345"/>
            <a:ext cx="438156" cy="438156"/>
          </a:xfrm>
          <a:prstGeom prst="ellipse">
            <a:avLst/>
          </a:prstGeom>
          <a:noFill/>
          <a:ln w="57150">
            <a:solidFill>
              <a:srgbClr val="FF0000">
                <a:alpha val="6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30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0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100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0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/>
      <p:bldP spid="59" grpId="1"/>
      <p:bldP spid="60" grpId="0"/>
      <p:bldP spid="61" grpId="0"/>
      <p:bldP spid="65" grpId="0"/>
      <p:bldP spid="66" grpId="0"/>
      <p:bldP spid="67" grpId="0"/>
      <p:bldP spid="68" grpId="0"/>
      <p:bldP spid="69" grpId="0"/>
      <p:bldP spid="70" grpId="0"/>
      <p:bldP spid="83" grpId="0" animBg="1"/>
      <p:bldP spid="84" grpId="0" animBg="1"/>
      <p:bldP spid="9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361" y="684974"/>
            <a:ext cx="12185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361" y="1244209"/>
            <a:ext cx="12185639" cy="47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525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8772" y="1248927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33403" y="-49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25" y="757992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factorise quadratic expressions?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6" y="139195"/>
            <a:ext cx="1756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</a:t>
            </a:r>
          </a:p>
        </p:txBody>
      </p:sp>
      <p:sp>
        <p:nvSpPr>
          <p:cNvPr id="49" name="Rounded Rectangle 72">
            <a:extLst>
              <a:ext uri="{FF2B5EF4-FFF2-40B4-BE49-F238E27FC236}">
                <a16:creationId xmlns:a16="http://schemas.microsoft.com/office/drawing/2014/main" id="{B0011593-A511-434A-A9CE-1BEAC7FD397A}"/>
              </a:ext>
            </a:extLst>
          </p:cNvPr>
          <p:cNvSpPr/>
          <p:nvPr/>
        </p:nvSpPr>
        <p:spPr>
          <a:xfrm>
            <a:off x="7609103" y="3438616"/>
            <a:ext cx="3614786" cy="682831"/>
          </a:xfrm>
          <a:prstGeom prst="roundRect">
            <a:avLst>
              <a:gd name="adj" fmla="val 21605"/>
            </a:avLst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0241D7-EC61-4F3A-97CA-C2937E99A455}"/>
              </a:ext>
            </a:extLst>
          </p:cNvPr>
          <p:cNvSpPr txBox="1"/>
          <p:nvPr/>
        </p:nvSpPr>
        <p:spPr>
          <a:xfrm>
            <a:off x="3004511" y="2099356"/>
            <a:ext cx="8028892" cy="476726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>
                <a:latin typeface="Arial" pitchFamily="34" charset="0"/>
                <a:cs typeface="Arial" pitchFamily="34" charset="0"/>
              </a:rPr>
              <a:t>Factorising expressions of the form </a:t>
            </a:r>
            <a:r>
              <a:rPr lang="en-GB" sz="2200" b="1" i="1" dirty="0">
                <a:latin typeface="Arial" pitchFamily="34" charset="0"/>
                <a:cs typeface="Arial" pitchFamily="34" charset="0"/>
              </a:rPr>
              <a:t>x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² - </a:t>
            </a:r>
            <a:r>
              <a:rPr lang="en-GB" sz="2200" b="1" dirty="0" err="1">
                <a:latin typeface="Arial" pitchFamily="34" charset="0"/>
                <a:cs typeface="Arial" pitchFamily="34" charset="0"/>
              </a:rPr>
              <a:t>b</a:t>
            </a:r>
            <a:r>
              <a:rPr lang="en-GB" sz="2200" b="1" i="1" dirty="0" err="1">
                <a:latin typeface="Arial" pitchFamily="34" charset="0"/>
                <a:cs typeface="Arial" pitchFamily="34" charset="0"/>
              </a:rPr>
              <a:t>x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 + c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56CA63-49F8-42E8-B394-081B1A13F826}"/>
              </a:ext>
            </a:extLst>
          </p:cNvPr>
          <p:cNvSpPr txBox="1"/>
          <p:nvPr/>
        </p:nvSpPr>
        <p:spPr>
          <a:xfrm>
            <a:off x="3004511" y="1307161"/>
            <a:ext cx="8028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itchFamily="34" charset="0"/>
                <a:cs typeface="Arial" pitchFamily="34" charset="0"/>
              </a:rPr>
              <a:t>If the sign in front of 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c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 is a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 + 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sign, then both signs in the factorised answer are the same as the sign in front of 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b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831123-FC4A-475F-A762-7DBA432B1623}"/>
              </a:ext>
            </a:extLst>
          </p:cNvPr>
          <p:cNvSpPr txBox="1"/>
          <p:nvPr/>
        </p:nvSpPr>
        <p:spPr>
          <a:xfrm>
            <a:off x="2817798" y="2877437"/>
            <a:ext cx="4714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itchFamily="34" charset="0"/>
                <a:cs typeface="Arial" pitchFamily="34" charset="0"/>
              </a:rPr>
              <a:t>Example 2:   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Factorise   </a:t>
            </a:r>
            <a:r>
              <a:rPr lang="en-GB" sz="2000" b="1" i="1" dirty="0">
                <a:latin typeface="Arial" pitchFamily="34" charset="0"/>
                <a:cs typeface="Arial" pitchFamily="34" charset="0"/>
              </a:rPr>
              <a:t>x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² - 12</a:t>
            </a:r>
            <a:r>
              <a:rPr lang="en-GB" sz="2000" b="1" i="1" dirty="0">
                <a:latin typeface="Arial" pitchFamily="34" charset="0"/>
                <a:cs typeface="Arial" pitchFamily="34" charset="0"/>
              </a:rPr>
              <a:t>x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 + 20</a:t>
            </a:r>
          </a:p>
        </p:txBody>
      </p:sp>
      <p:grpSp>
        <p:nvGrpSpPr>
          <p:cNvPr id="53" name="Group 50">
            <a:extLst>
              <a:ext uri="{FF2B5EF4-FFF2-40B4-BE49-F238E27FC236}">
                <a16:creationId xmlns:a16="http://schemas.microsoft.com/office/drawing/2014/main" id="{1730FC4C-DA90-4C19-8ED9-60446A45B826}"/>
              </a:ext>
            </a:extLst>
          </p:cNvPr>
          <p:cNvGrpSpPr/>
          <p:nvPr/>
        </p:nvGrpSpPr>
        <p:grpSpPr>
          <a:xfrm>
            <a:off x="2783450" y="3551183"/>
            <a:ext cx="4783202" cy="438156"/>
            <a:chOff x="482544" y="2321373"/>
            <a:chExt cx="4052943" cy="438156"/>
          </a:xfrm>
        </p:grpSpPr>
        <p:sp>
          <p:nvSpPr>
            <p:cNvPr id="54" name="Rounded Rectangle 48">
              <a:extLst>
                <a:ext uri="{FF2B5EF4-FFF2-40B4-BE49-F238E27FC236}">
                  <a16:creationId xmlns:a16="http://schemas.microsoft.com/office/drawing/2014/main" id="{DFF207B5-59AD-49A2-89D7-4F8987B6DF6D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BD83CED-01A1-4C25-9204-9B822D981CF4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First draw brackets</a:t>
              </a:r>
              <a:endParaRPr lang="en-GB" sz="16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727D0364-68DB-4792-892A-1562440B6F55}"/>
              </a:ext>
            </a:extLst>
          </p:cNvPr>
          <p:cNvSpPr/>
          <p:nvPr/>
        </p:nvSpPr>
        <p:spPr>
          <a:xfrm>
            <a:off x="7746444" y="3499425"/>
            <a:ext cx="4381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i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x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752BCAA-F83A-4950-B449-A3E83E763F42}"/>
              </a:ext>
            </a:extLst>
          </p:cNvPr>
          <p:cNvSpPr/>
          <p:nvPr/>
        </p:nvSpPr>
        <p:spPr>
          <a:xfrm>
            <a:off x="8257626" y="3499425"/>
            <a:ext cx="3651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-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590F14D-897E-47C0-AC89-677A0A44852D}"/>
              </a:ext>
            </a:extLst>
          </p:cNvPr>
          <p:cNvSpPr/>
          <p:nvPr/>
        </p:nvSpPr>
        <p:spPr>
          <a:xfrm>
            <a:off x="8550550" y="3499425"/>
            <a:ext cx="76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38B17ED-BD78-440D-B4D2-6CDEC40DEF1F}"/>
              </a:ext>
            </a:extLst>
          </p:cNvPr>
          <p:cNvSpPr/>
          <p:nvPr/>
        </p:nvSpPr>
        <p:spPr>
          <a:xfrm>
            <a:off x="9572094" y="3499425"/>
            <a:ext cx="4381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i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x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D04CE42-0446-4425-A163-05A989200783}"/>
              </a:ext>
            </a:extLst>
          </p:cNvPr>
          <p:cNvSpPr/>
          <p:nvPr/>
        </p:nvSpPr>
        <p:spPr>
          <a:xfrm>
            <a:off x="10083276" y="3499425"/>
            <a:ext cx="3651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-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388B648-5DFB-4C23-A93C-529C08FA22EC}"/>
              </a:ext>
            </a:extLst>
          </p:cNvPr>
          <p:cNvSpPr/>
          <p:nvPr/>
        </p:nvSpPr>
        <p:spPr>
          <a:xfrm>
            <a:off x="10376200" y="3499425"/>
            <a:ext cx="76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10</a:t>
            </a:r>
          </a:p>
        </p:txBody>
      </p:sp>
      <p:grpSp>
        <p:nvGrpSpPr>
          <p:cNvPr id="101" name="Group 51">
            <a:extLst>
              <a:ext uri="{FF2B5EF4-FFF2-40B4-BE49-F238E27FC236}">
                <a16:creationId xmlns:a16="http://schemas.microsoft.com/office/drawing/2014/main" id="{A47A5D35-E70F-4598-A2FF-26DD32644020}"/>
              </a:ext>
            </a:extLst>
          </p:cNvPr>
          <p:cNvGrpSpPr/>
          <p:nvPr/>
        </p:nvGrpSpPr>
        <p:grpSpPr>
          <a:xfrm>
            <a:off x="2783450" y="4255421"/>
            <a:ext cx="4783202" cy="438156"/>
            <a:chOff x="482544" y="2321373"/>
            <a:chExt cx="4052943" cy="438156"/>
          </a:xfrm>
        </p:grpSpPr>
        <p:sp>
          <p:nvSpPr>
            <p:cNvPr id="102" name="Rounded Rectangle 52">
              <a:extLst>
                <a:ext uri="{FF2B5EF4-FFF2-40B4-BE49-F238E27FC236}">
                  <a16:creationId xmlns:a16="http://schemas.microsoft.com/office/drawing/2014/main" id="{E7B4CAD7-A912-413A-9926-F2A4D3836958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DE61872-1CFF-4635-B621-0B3AA1C8B624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So the first term in each bracket must be </a:t>
              </a:r>
              <a:r>
                <a:rPr lang="en-GB" sz="1600" b="1" i="1" dirty="0">
                  <a:latin typeface="Arial" pitchFamily="34" charset="0"/>
                  <a:cs typeface="Arial" pitchFamily="34" charset="0"/>
                </a:rPr>
                <a:t>x</a:t>
              </a:r>
            </a:p>
          </p:txBody>
        </p:sp>
      </p:grpSp>
      <p:grpSp>
        <p:nvGrpSpPr>
          <p:cNvPr id="104" name="Group 54">
            <a:extLst>
              <a:ext uri="{FF2B5EF4-FFF2-40B4-BE49-F238E27FC236}">
                <a16:creationId xmlns:a16="http://schemas.microsoft.com/office/drawing/2014/main" id="{811E4B49-0B6F-4D7F-8E3C-4BED659C971F}"/>
              </a:ext>
            </a:extLst>
          </p:cNvPr>
          <p:cNvGrpSpPr/>
          <p:nvPr/>
        </p:nvGrpSpPr>
        <p:grpSpPr>
          <a:xfrm>
            <a:off x="2783450" y="4959659"/>
            <a:ext cx="4783202" cy="438156"/>
            <a:chOff x="482544" y="2321373"/>
            <a:chExt cx="4052943" cy="438156"/>
          </a:xfrm>
        </p:grpSpPr>
        <p:sp>
          <p:nvSpPr>
            <p:cNvPr id="105" name="Rounded Rectangle 55">
              <a:extLst>
                <a:ext uri="{FF2B5EF4-FFF2-40B4-BE49-F238E27FC236}">
                  <a16:creationId xmlns:a16="http://schemas.microsoft.com/office/drawing/2014/main" id="{FD979BC6-6938-4500-A1BC-A454672E3EA2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91FCF46-FCBF-44EC-A4B2-51531743B972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Signs are both 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minus</a:t>
              </a:r>
              <a:endParaRPr lang="en-GB" sz="1600" b="1" i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7" name="Group 57">
            <a:extLst>
              <a:ext uri="{FF2B5EF4-FFF2-40B4-BE49-F238E27FC236}">
                <a16:creationId xmlns:a16="http://schemas.microsoft.com/office/drawing/2014/main" id="{75F0947F-3D1E-48FF-A4B1-D32AB94A899F}"/>
              </a:ext>
            </a:extLst>
          </p:cNvPr>
          <p:cNvGrpSpPr/>
          <p:nvPr/>
        </p:nvGrpSpPr>
        <p:grpSpPr>
          <a:xfrm>
            <a:off x="2783450" y="6368136"/>
            <a:ext cx="4783202" cy="438156"/>
            <a:chOff x="482544" y="2321373"/>
            <a:chExt cx="4052943" cy="438156"/>
          </a:xfrm>
        </p:grpSpPr>
        <p:sp>
          <p:nvSpPr>
            <p:cNvPr id="108" name="Rounded Rectangle 58">
              <a:extLst>
                <a:ext uri="{FF2B5EF4-FFF2-40B4-BE49-F238E27FC236}">
                  <a16:creationId xmlns:a16="http://schemas.microsoft.com/office/drawing/2014/main" id="{05135A8D-BE18-491F-AD82-F441D12AFC4B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1DB3F3C-3751-4572-B3BD-9572C6891447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Then we choose the pair which add up to 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12</a:t>
              </a:r>
              <a:endParaRPr lang="en-GB" sz="1600" b="1" i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0" name="Group 63">
            <a:extLst>
              <a:ext uri="{FF2B5EF4-FFF2-40B4-BE49-F238E27FC236}">
                <a16:creationId xmlns:a16="http://schemas.microsoft.com/office/drawing/2014/main" id="{C165F2D4-42CB-4DFA-933E-6C0BE6C86124}"/>
              </a:ext>
            </a:extLst>
          </p:cNvPr>
          <p:cNvGrpSpPr/>
          <p:nvPr/>
        </p:nvGrpSpPr>
        <p:grpSpPr>
          <a:xfrm>
            <a:off x="2783450" y="5663897"/>
            <a:ext cx="4783202" cy="438156"/>
            <a:chOff x="482544" y="2321373"/>
            <a:chExt cx="4052943" cy="438156"/>
          </a:xfrm>
        </p:grpSpPr>
        <p:sp>
          <p:nvSpPr>
            <p:cNvPr id="111" name="Rounded Rectangle 64">
              <a:extLst>
                <a:ext uri="{FF2B5EF4-FFF2-40B4-BE49-F238E27FC236}">
                  <a16:creationId xmlns:a16="http://schemas.microsoft.com/office/drawing/2014/main" id="{57912EF7-DA9A-4FE1-AE72-0338B00086D7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5CA23048-D44D-4792-87EB-CF40F40F41D0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So we list pairs of factors of 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20</a:t>
              </a:r>
              <a:endParaRPr lang="en-GB" sz="1600" b="1" i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3" name="Rounded Rectangle 70">
            <a:extLst>
              <a:ext uri="{FF2B5EF4-FFF2-40B4-BE49-F238E27FC236}">
                <a16:creationId xmlns:a16="http://schemas.microsoft.com/office/drawing/2014/main" id="{85D9FCED-2A67-436A-81AB-7C45B86DF3CB}"/>
              </a:ext>
            </a:extLst>
          </p:cNvPr>
          <p:cNvSpPr/>
          <p:nvPr/>
        </p:nvSpPr>
        <p:spPr>
          <a:xfrm>
            <a:off x="8662042" y="5706908"/>
            <a:ext cx="1533546" cy="401643"/>
          </a:xfrm>
          <a:prstGeom prst="roundRect">
            <a:avLst>
              <a:gd name="adj" fmla="val 37867"/>
            </a:avLst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CAE41BE-91EC-4588-9A19-5A03F8671878}"/>
              </a:ext>
            </a:extLst>
          </p:cNvPr>
          <p:cNvSpPr txBox="1"/>
          <p:nvPr/>
        </p:nvSpPr>
        <p:spPr>
          <a:xfrm>
            <a:off x="8515990" y="5299380"/>
            <a:ext cx="1825650" cy="120032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1  x  20</a:t>
            </a:r>
          </a:p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2  x  10</a:t>
            </a:r>
          </a:p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4  x  5</a:t>
            </a:r>
          </a:p>
        </p:txBody>
      </p:sp>
      <p:grpSp>
        <p:nvGrpSpPr>
          <p:cNvPr id="115" name="Group 67">
            <a:extLst>
              <a:ext uri="{FF2B5EF4-FFF2-40B4-BE49-F238E27FC236}">
                <a16:creationId xmlns:a16="http://schemas.microsoft.com/office/drawing/2014/main" id="{E8A8ADDA-9DC5-40ED-B11D-5BCB6F303813}"/>
              </a:ext>
            </a:extLst>
          </p:cNvPr>
          <p:cNvGrpSpPr/>
          <p:nvPr/>
        </p:nvGrpSpPr>
        <p:grpSpPr>
          <a:xfrm>
            <a:off x="7931781" y="2656646"/>
            <a:ext cx="3103605" cy="929155"/>
            <a:chOff x="5484824" y="1827326"/>
            <a:chExt cx="3103605" cy="929155"/>
          </a:xfrm>
        </p:grpSpPr>
        <p:sp>
          <p:nvSpPr>
            <p:cNvPr id="116" name="Curved Down Arrow 35">
              <a:extLst>
                <a:ext uri="{FF2B5EF4-FFF2-40B4-BE49-F238E27FC236}">
                  <a16:creationId xmlns:a16="http://schemas.microsoft.com/office/drawing/2014/main" id="{A1FA3A0B-5201-411F-A839-43EC21049167}"/>
                </a:ext>
              </a:extLst>
            </p:cNvPr>
            <p:cNvSpPr/>
            <p:nvPr/>
          </p:nvSpPr>
          <p:spPr>
            <a:xfrm>
              <a:off x="5484824" y="2354839"/>
              <a:ext cx="1971703" cy="401642"/>
            </a:xfrm>
            <a:prstGeom prst="curvedDownArrow">
              <a:avLst>
                <a:gd name="adj1" fmla="val 24576"/>
                <a:gd name="adj2" fmla="val 69563"/>
                <a:gd name="adj3" fmla="val 45237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17" name="Group 66">
              <a:extLst>
                <a:ext uri="{FF2B5EF4-FFF2-40B4-BE49-F238E27FC236}">
                  <a16:creationId xmlns:a16="http://schemas.microsoft.com/office/drawing/2014/main" id="{5C357D33-0605-4B85-B9BD-B356337414FF}"/>
                </a:ext>
              </a:extLst>
            </p:cNvPr>
            <p:cNvGrpSpPr/>
            <p:nvPr/>
          </p:nvGrpSpPr>
          <p:grpSpPr>
            <a:xfrm>
              <a:off x="6178572" y="1827326"/>
              <a:ext cx="2409857" cy="550643"/>
              <a:chOff x="6178572" y="1827326"/>
              <a:chExt cx="2409857" cy="550643"/>
            </a:xfrm>
          </p:grpSpPr>
          <p:sp>
            <p:nvSpPr>
              <p:cNvPr id="118" name="Rounded Rectangle 40">
                <a:extLst>
                  <a:ext uri="{FF2B5EF4-FFF2-40B4-BE49-F238E27FC236}">
                    <a16:creationId xmlns:a16="http://schemas.microsoft.com/office/drawing/2014/main" id="{18B374FF-A992-43B2-94D4-EEFC78319519}"/>
                  </a:ext>
                </a:extLst>
              </p:cNvPr>
              <p:cNvSpPr/>
              <p:nvPr/>
            </p:nvSpPr>
            <p:spPr>
              <a:xfrm>
                <a:off x="6178572" y="1827326"/>
                <a:ext cx="2409857" cy="503629"/>
              </a:xfrm>
              <a:prstGeom prst="roundRect">
                <a:avLst>
                  <a:gd name="adj" fmla="val 37802"/>
                </a:avLst>
              </a:prstGeom>
              <a:gradFill flip="none" rotWithShape="1">
                <a:gsLst>
                  <a:gs pos="0">
                    <a:srgbClr val="FFC000">
                      <a:tint val="66000"/>
                      <a:satMod val="160000"/>
                    </a:srgbClr>
                  </a:gs>
                  <a:gs pos="50000">
                    <a:srgbClr val="FFC000">
                      <a:tint val="44500"/>
                      <a:satMod val="160000"/>
                    </a:srgbClr>
                  </a:gs>
                  <a:gs pos="100000">
                    <a:srgbClr val="FFC0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BAEB6FF8-57F0-4116-BCE5-F5C3FB322553}"/>
                  </a:ext>
                </a:extLst>
              </p:cNvPr>
              <p:cNvSpPr txBox="1"/>
              <p:nvPr/>
            </p:nvSpPr>
            <p:spPr>
              <a:xfrm>
                <a:off x="6278735" y="1916304"/>
                <a:ext cx="22095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0066"/>
                    </a:solidFill>
                    <a:latin typeface="Arial" pitchFamily="34" charset="0"/>
                    <a:cs typeface="Arial" pitchFamily="34" charset="0"/>
                  </a:rPr>
                  <a:t>The first terms have to multiply to give the </a:t>
                </a:r>
                <a:r>
                  <a:rPr lang="en-GB" sz="1200" b="1" dirty="0">
                    <a:latin typeface="Arial" pitchFamily="34" charset="0"/>
                    <a:cs typeface="Arial" pitchFamily="34" charset="0"/>
                  </a:rPr>
                  <a:t>x²</a:t>
                </a:r>
                <a:r>
                  <a:rPr lang="en-GB" sz="1200" b="1" dirty="0">
                    <a:solidFill>
                      <a:srgbClr val="000066"/>
                    </a:solidFill>
                    <a:latin typeface="Arial" pitchFamily="34" charset="0"/>
                    <a:cs typeface="Arial" pitchFamily="34" charset="0"/>
                  </a:rPr>
                  <a:t> term</a:t>
                </a:r>
                <a:endParaRPr lang="en-GB" sz="1200" b="1" i="1" dirty="0">
                  <a:solidFill>
                    <a:srgbClr val="000066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120" name="Group 68">
            <a:extLst>
              <a:ext uri="{FF2B5EF4-FFF2-40B4-BE49-F238E27FC236}">
                <a16:creationId xmlns:a16="http://schemas.microsoft.com/office/drawing/2014/main" id="{6F55E52D-6523-470A-A2E4-E405B192E1D9}"/>
              </a:ext>
            </a:extLst>
          </p:cNvPr>
          <p:cNvGrpSpPr/>
          <p:nvPr/>
        </p:nvGrpSpPr>
        <p:grpSpPr>
          <a:xfrm>
            <a:off x="7858756" y="4012384"/>
            <a:ext cx="3030580" cy="827489"/>
            <a:chOff x="5411799" y="3183064"/>
            <a:chExt cx="3030580" cy="827489"/>
          </a:xfrm>
        </p:grpSpPr>
        <p:sp>
          <p:nvSpPr>
            <p:cNvPr id="121" name="Curved Down Arrow 37">
              <a:extLst>
                <a:ext uri="{FF2B5EF4-FFF2-40B4-BE49-F238E27FC236}">
                  <a16:creationId xmlns:a16="http://schemas.microsoft.com/office/drawing/2014/main" id="{29669F75-5A1F-433C-B4BE-1F5DCED4645F}"/>
                </a:ext>
              </a:extLst>
            </p:cNvPr>
            <p:cNvSpPr/>
            <p:nvPr/>
          </p:nvSpPr>
          <p:spPr>
            <a:xfrm flipV="1">
              <a:off x="6470676" y="3183064"/>
              <a:ext cx="1971703" cy="401642"/>
            </a:xfrm>
            <a:prstGeom prst="curvedDownArrow">
              <a:avLst>
                <a:gd name="adj1" fmla="val 24576"/>
                <a:gd name="adj2" fmla="val 69563"/>
                <a:gd name="adj3" fmla="val 45237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22" name="Group 60">
              <a:extLst>
                <a:ext uri="{FF2B5EF4-FFF2-40B4-BE49-F238E27FC236}">
                  <a16:creationId xmlns:a16="http://schemas.microsoft.com/office/drawing/2014/main" id="{5FD0AFE5-0AAC-4BF4-8B26-DAEF9FD740F5}"/>
                </a:ext>
              </a:extLst>
            </p:cNvPr>
            <p:cNvGrpSpPr/>
            <p:nvPr/>
          </p:nvGrpSpPr>
          <p:grpSpPr>
            <a:xfrm>
              <a:off x="5411799" y="3506924"/>
              <a:ext cx="2409857" cy="503629"/>
              <a:chOff x="5229234" y="2903408"/>
              <a:chExt cx="2409857" cy="503629"/>
            </a:xfrm>
          </p:grpSpPr>
          <p:sp>
            <p:nvSpPr>
              <p:cNvPr id="123" name="Rounded Rectangle 61">
                <a:extLst>
                  <a:ext uri="{FF2B5EF4-FFF2-40B4-BE49-F238E27FC236}">
                    <a16:creationId xmlns:a16="http://schemas.microsoft.com/office/drawing/2014/main" id="{7B199E84-72B8-4777-9BA2-54BB799A581B}"/>
                  </a:ext>
                </a:extLst>
              </p:cNvPr>
              <p:cNvSpPr/>
              <p:nvPr/>
            </p:nvSpPr>
            <p:spPr>
              <a:xfrm>
                <a:off x="5229234" y="2903408"/>
                <a:ext cx="2409857" cy="503629"/>
              </a:xfrm>
              <a:prstGeom prst="roundRect">
                <a:avLst>
                  <a:gd name="adj" fmla="val 37802"/>
                </a:avLst>
              </a:prstGeom>
              <a:gradFill flip="none" rotWithShape="1">
                <a:gsLst>
                  <a:gs pos="0">
                    <a:srgbClr val="FFC000">
                      <a:tint val="66000"/>
                      <a:satMod val="160000"/>
                    </a:srgbClr>
                  </a:gs>
                  <a:gs pos="50000">
                    <a:srgbClr val="FFC000">
                      <a:tint val="44500"/>
                      <a:satMod val="160000"/>
                    </a:srgbClr>
                  </a:gs>
                  <a:gs pos="100000">
                    <a:srgbClr val="FFC0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B054A224-AFAD-46C7-B7E7-7D00D7BC31CC}"/>
                  </a:ext>
                </a:extLst>
              </p:cNvPr>
              <p:cNvSpPr txBox="1"/>
              <p:nvPr/>
            </p:nvSpPr>
            <p:spPr>
              <a:xfrm>
                <a:off x="5329398" y="2924390"/>
                <a:ext cx="22095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0066"/>
                    </a:solidFill>
                    <a:latin typeface="Arial" pitchFamily="34" charset="0"/>
                    <a:cs typeface="Arial" pitchFamily="34" charset="0"/>
                  </a:rPr>
                  <a:t>The last terms have to multiply to give the </a:t>
                </a:r>
                <a:r>
                  <a:rPr lang="en-GB" sz="1200" b="1" dirty="0">
                    <a:latin typeface="Arial" pitchFamily="34" charset="0"/>
                    <a:cs typeface="Arial" pitchFamily="34" charset="0"/>
                  </a:rPr>
                  <a:t>20</a:t>
                </a:r>
                <a:endParaRPr lang="en-GB" sz="1200" b="1" i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125" name="Oval 124">
            <a:extLst>
              <a:ext uri="{FF2B5EF4-FFF2-40B4-BE49-F238E27FC236}">
                <a16:creationId xmlns:a16="http://schemas.microsoft.com/office/drawing/2014/main" id="{C9311CAE-0C24-46C7-A331-E621585468A2}"/>
              </a:ext>
            </a:extLst>
          </p:cNvPr>
          <p:cNvSpPr/>
          <p:nvPr/>
        </p:nvSpPr>
        <p:spPr>
          <a:xfrm>
            <a:off x="6240016" y="2868661"/>
            <a:ext cx="438156" cy="438156"/>
          </a:xfrm>
          <a:prstGeom prst="ellipse">
            <a:avLst/>
          </a:prstGeom>
          <a:noFill/>
          <a:ln w="57150">
            <a:solidFill>
              <a:srgbClr val="FF0000">
                <a:alpha val="6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A4FD09D-B802-4679-B39F-243FA7FF0C61}"/>
              </a:ext>
            </a:extLst>
          </p:cNvPr>
          <p:cNvSpPr txBox="1"/>
          <p:nvPr/>
        </p:nvSpPr>
        <p:spPr>
          <a:xfrm>
            <a:off x="7458921" y="3503032"/>
            <a:ext cx="40164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b="1" dirty="0">
                <a:latin typeface="Arial" pitchFamily="34" charset="0"/>
                <a:cs typeface="Arial" pitchFamily="34" charset="0"/>
              </a:rPr>
              <a:t>(              ) (              )</a:t>
            </a:r>
          </a:p>
        </p:txBody>
      </p:sp>
    </p:spTree>
    <p:extLst>
      <p:ext uri="{BB962C8B-B14F-4D97-AF65-F5344CB8AC3E}">
        <p14:creationId xmlns:p14="http://schemas.microsoft.com/office/powerpoint/2010/main" val="155384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20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100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000"/>
                            </p:stCondLst>
                            <p:childTnLst>
                              <p:par>
                                <p:cTn id="9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/>
      <p:bldP spid="52" grpId="0"/>
      <p:bldP spid="56" grpId="0"/>
      <p:bldP spid="96" grpId="0"/>
      <p:bldP spid="97" grpId="0"/>
      <p:bldP spid="98" grpId="0"/>
      <p:bldP spid="99" grpId="0"/>
      <p:bldP spid="100" grpId="0"/>
      <p:bldP spid="113" grpId="0" animBg="1"/>
      <p:bldP spid="114" grpId="0" animBg="1"/>
      <p:bldP spid="125" grpId="0" animBg="1"/>
      <p:bldP spid="1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361" y="684974"/>
            <a:ext cx="12185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361" y="1244209"/>
            <a:ext cx="12185639" cy="47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525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8772" y="1248927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33403" y="-49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25" y="757992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factorise quadratic expressions?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6" y="139195"/>
            <a:ext cx="1756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</a:t>
            </a:r>
          </a:p>
        </p:txBody>
      </p:sp>
      <p:sp>
        <p:nvSpPr>
          <p:cNvPr id="48" name="Rounded Rectangle 14">
            <a:extLst>
              <a:ext uri="{FF2B5EF4-FFF2-40B4-BE49-F238E27FC236}">
                <a16:creationId xmlns:a16="http://schemas.microsoft.com/office/drawing/2014/main" id="{D281EE04-2F2A-4198-BA37-B34D27DC9572}"/>
              </a:ext>
            </a:extLst>
          </p:cNvPr>
          <p:cNvSpPr/>
          <p:nvPr/>
        </p:nvSpPr>
        <p:spPr>
          <a:xfrm>
            <a:off x="2515696" y="2342458"/>
            <a:ext cx="8517707" cy="4663352"/>
          </a:xfrm>
          <a:prstGeom prst="roundRect">
            <a:avLst>
              <a:gd name="adj" fmla="val 9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Rounded Rectangle 72">
            <a:extLst>
              <a:ext uri="{FF2B5EF4-FFF2-40B4-BE49-F238E27FC236}">
                <a16:creationId xmlns:a16="http://schemas.microsoft.com/office/drawing/2014/main" id="{535A0EA8-5C97-4533-A2B9-2A987106236B}"/>
              </a:ext>
            </a:extLst>
          </p:cNvPr>
          <p:cNvSpPr/>
          <p:nvPr/>
        </p:nvSpPr>
        <p:spPr>
          <a:xfrm>
            <a:off x="7390318" y="3125875"/>
            <a:ext cx="3614786" cy="682831"/>
          </a:xfrm>
          <a:prstGeom prst="roundRect">
            <a:avLst>
              <a:gd name="adj" fmla="val 21605"/>
            </a:avLst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3ABF17-2909-449F-9639-F1452B6C0E83}"/>
              </a:ext>
            </a:extLst>
          </p:cNvPr>
          <p:cNvSpPr txBox="1"/>
          <p:nvPr/>
        </p:nvSpPr>
        <p:spPr>
          <a:xfrm>
            <a:off x="2808199" y="1871616"/>
            <a:ext cx="8028892" cy="476726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>
                <a:latin typeface="Arial" pitchFamily="34" charset="0"/>
                <a:cs typeface="Arial" pitchFamily="34" charset="0"/>
              </a:rPr>
              <a:t>Factorising expressions of the form </a:t>
            </a:r>
            <a:r>
              <a:rPr lang="en-GB" sz="2200" b="1" i="1" dirty="0">
                <a:latin typeface="Arial" pitchFamily="34" charset="0"/>
                <a:cs typeface="Arial" pitchFamily="34" charset="0"/>
              </a:rPr>
              <a:t>x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² + </a:t>
            </a:r>
            <a:r>
              <a:rPr lang="en-GB" sz="2200" b="1" dirty="0" err="1">
                <a:latin typeface="Arial" pitchFamily="34" charset="0"/>
                <a:cs typeface="Arial" pitchFamily="34" charset="0"/>
              </a:rPr>
              <a:t>b</a:t>
            </a:r>
            <a:r>
              <a:rPr lang="en-GB" sz="2200" b="1" i="1" dirty="0" err="1">
                <a:latin typeface="Arial" pitchFamily="34" charset="0"/>
                <a:cs typeface="Arial" pitchFamily="34" charset="0"/>
              </a:rPr>
              <a:t>x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 - c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825652-EF3F-4E92-A9E5-043C624E4184}"/>
              </a:ext>
            </a:extLst>
          </p:cNvPr>
          <p:cNvSpPr txBox="1"/>
          <p:nvPr/>
        </p:nvSpPr>
        <p:spPr>
          <a:xfrm>
            <a:off x="2808199" y="1214459"/>
            <a:ext cx="8028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itchFamily="34" charset="0"/>
                <a:cs typeface="Arial" pitchFamily="34" charset="0"/>
              </a:rPr>
              <a:t>If the sign in front of 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c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 is a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 - 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sign, then both signs in the factorised answer are different.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9259407-2791-4AAD-A686-0DB4021483C4}"/>
              </a:ext>
            </a:extLst>
          </p:cNvPr>
          <p:cNvSpPr txBox="1"/>
          <p:nvPr/>
        </p:nvSpPr>
        <p:spPr>
          <a:xfrm>
            <a:off x="2633364" y="2634311"/>
            <a:ext cx="4714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itchFamily="34" charset="0"/>
                <a:cs typeface="Arial" pitchFamily="34" charset="0"/>
              </a:rPr>
              <a:t>Example 3:   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Factorise   </a:t>
            </a:r>
            <a:r>
              <a:rPr lang="en-GB" sz="2000" b="1" i="1" dirty="0">
                <a:latin typeface="Arial" pitchFamily="34" charset="0"/>
                <a:cs typeface="Arial" pitchFamily="34" charset="0"/>
              </a:rPr>
              <a:t>x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² + 3</a:t>
            </a:r>
            <a:r>
              <a:rPr lang="en-GB" sz="2000" b="1" i="1" dirty="0">
                <a:latin typeface="Arial" pitchFamily="34" charset="0"/>
                <a:cs typeface="Arial" pitchFamily="34" charset="0"/>
              </a:rPr>
              <a:t>x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 - 40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954DAE-FDFB-4CB6-B854-36BB967CF889}"/>
              </a:ext>
            </a:extLst>
          </p:cNvPr>
          <p:cNvSpPr txBox="1"/>
          <p:nvPr/>
        </p:nvSpPr>
        <p:spPr>
          <a:xfrm>
            <a:off x="7201815" y="3186684"/>
            <a:ext cx="40164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b="1" dirty="0">
                <a:latin typeface="Arial" pitchFamily="34" charset="0"/>
                <a:cs typeface="Arial" pitchFamily="34" charset="0"/>
              </a:rPr>
              <a:t>(              ) (              )</a:t>
            </a:r>
          </a:p>
        </p:txBody>
      </p:sp>
      <p:grpSp>
        <p:nvGrpSpPr>
          <p:cNvPr id="62" name="Group 50">
            <a:extLst>
              <a:ext uri="{FF2B5EF4-FFF2-40B4-BE49-F238E27FC236}">
                <a16:creationId xmlns:a16="http://schemas.microsoft.com/office/drawing/2014/main" id="{BD461C45-3CD7-41B8-8BF5-D0AD7BCDEDF1}"/>
              </a:ext>
            </a:extLst>
          </p:cNvPr>
          <p:cNvGrpSpPr/>
          <p:nvPr/>
        </p:nvGrpSpPr>
        <p:grpSpPr>
          <a:xfrm>
            <a:off x="2564665" y="3238442"/>
            <a:ext cx="4783202" cy="438156"/>
            <a:chOff x="482544" y="2321373"/>
            <a:chExt cx="4052943" cy="438156"/>
          </a:xfrm>
        </p:grpSpPr>
        <p:sp>
          <p:nvSpPr>
            <p:cNvPr id="63" name="Rounded Rectangle 48">
              <a:extLst>
                <a:ext uri="{FF2B5EF4-FFF2-40B4-BE49-F238E27FC236}">
                  <a16:creationId xmlns:a16="http://schemas.microsoft.com/office/drawing/2014/main" id="{6F0F8536-4953-4F95-9734-9847F3C6EC8F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5A32929-56D2-4176-8781-E0EF55E0341B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First draw brackets</a:t>
              </a:r>
              <a:endParaRPr lang="en-GB" sz="16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9CF22BC8-68A5-41D1-9319-C682F8D8AF3F}"/>
              </a:ext>
            </a:extLst>
          </p:cNvPr>
          <p:cNvSpPr/>
          <p:nvPr/>
        </p:nvSpPr>
        <p:spPr>
          <a:xfrm>
            <a:off x="7527659" y="3186684"/>
            <a:ext cx="4381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i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x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BFB42D2-682B-4475-AB83-8D9FEBF8B1EF}"/>
              </a:ext>
            </a:extLst>
          </p:cNvPr>
          <p:cNvSpPr/>
          <p:nvPr/>
        </p:nvSpPr>
        <p:spPr>
          <a:xfrm>
            <a:off x="8038841" y="3186684"/>
            <a:ext cx="3651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+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432EA73-5E71-48BA-AA2A-1FCB616FABBE}"/>
              </a:ext>
            </a:extLst>
          </p:cNvPr>
          <p:cNvSpPr/>
          <p:nvPr/>
        </p:nvSpPr>
        <p:spPr>
          <a:xfrm>
            <a:off x="8331765" y="3186684"/>
            <a:ext cx="76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8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34D6C0B-D1D4-4B8A-938F-39E6C9915EBA}"/>
              </a:ext>
            </a:extLst>
          </p:cNvPr>
          <p:cNvSpPr/>
          <p:nvPr/>
        </p:nvSpPr>
        <p:spPr>
          <a:xfrm>
            <a:off x="9353309" y="3186684"/>
            <a:ext cx="4381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i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x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F9957B0-57DB-4200-99DB-87EE681DD358}"/>
              </a:ext>
            </a:extLst>
          </p:cNvPr>
          <p:cNvSpPr/>
          <p:nvPr/>
        </p:nvSpPr>
        <p:spPr>
          <a:xfrm>
            <a:off x="9864491" y="3186684"/>
            <a:ext cx="3651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-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45AEDA2-A1FF-4346-B702-FEE81FD98BA0}"/>
              </a:ext>
            </a:extLst>
          </p:cNvPr>
          <p:cNvSpPr/>
          <p:nvPr/>
        </p:nvSpPr>
        <p:spPr>
          <a:xfrm>
            <a:off x="10157415" y="3186684"/>
            <a:ext cx="76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grpSp>
        <p:nvGrpSpPr>
          <p:cNvPr id="71" name="Group 51">
            <a:extLst>
              <a:ext uri="{FF2B5EF4-FFF2-40B4-BE49-F238E27FC236}">
                <a16:creationId xmlns:a16="http://schemas.microsoft.com/office/drawing/2014/main" id="{68D96FA2-CFAF-421F-BE1F-B8918F6BEC6C}"/>
              </a:ext>
            </a:extLst>
          </p:cNvPr>
          <p:cNvGrpSpPr/>
          <p:nvPr/>
        </p:nvGrpSpPr>
        <p:grpSpPr>
          <a:xfrm>
            <a:off x="2564665" y="3883305"/>
            <a:ext cx="4783202" cy="438156"/>
            <a:chOff x="482544" y="2321373"/>
            <a:chExt cx="4052943" cy="438156"/>
          </a:xfrm>
        </p:grpSpPr>
        <p:sp>
          <p:nvSpPr>
            <p:cNvPr id="72" name="Rounded Rectangle 52">
              <a:extLst>
                <a:ext uri="{FF2B5EF4-FFF2-40B4-BE49-F238E27FC236}">
                  <a16:creationId xmlns:a16="http://schemas.microsoft.com/office/drawing/2014/main" id="{E14AACC7-0189-42BD-8F34-07ACAB3E5F0C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905974B-61FA-4EB5-9B06-A1F9F9E969A9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So the first term in each bracket must be </a:t>
              </a:r>
              <a:r>
                <a:rPr lang="en-GB" sz="1600" b="1" i="1" dirty="0">
                  <a:latin typeface="Arial" pitchFamily="34" charset="0"/>
                  <a:cs typeface="Arial" pitchFamily="34" charset="0"/>
                </a:rPr>
                <a:t>x</a:t>
              </a:r>
            </a:p>
          </p:txBody>
        </p:sp>
      </p:grpSp>
      <p:grpSp>
        <p:nvGrpSpPr>
          <p:cNvPr id="74" name="Group 54">
            <a:extLst>
              <a:ext uri="{FF2B5EF4-FFF2-40B4-BE49-F238E27FC236}">
                <a16:creationId xmlns:a16="http://schemas.microsoft.com/office/drawing/2014/main" id="{19A68B0F-D676-4D11-AF19-BAB10B6C100C}"/>
              </a:ext>
            </a:extLst>
          </p:cNvPr>
          <p:cNvGrpSpPr/>
          <p:nvPr/>
        </p:nvGrpSpPr>
        <p:grpSpPr>
          <a:xfrm>
            <a:off x="2564665" y="4528168"/>
            <a:ext cx="4783202" cy="438156"/>
            <a:chOff x="482544" y="2321373"/>
            <a:chExt cx="4052943" cy="438156"/>
          </a:xfrm>
        </p:grpSpPr>
        <p:sp>
          <p:nvSpPr>
            <p:cNvPr id="75" name="Rounded Rectangle 55">
              <a:extLst>
                <a:ext uri="{FF2B5EF4-FFF2-40B4-BE49-F238E27FC236}">
                  <a16:creationId xmlns:a16="http://schemas.microsoft.com/office/drawing/2014/main" id="{F18B3635-5197-49B9-A97C-3F06735885C6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9D028663-FD61-4F7E-BBC7-9F6D6F898ECB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Signs are 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different</a:t>
              </a:r>
              <a:endParaRPr lang="en-GB" sz="1600" b="1" i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77" name="Group 57">
            <a:extLst>
              <a:ext uri="{FF2B5EF4-FFF2-40B4-BE49-F238E27FC236}">
                <a16:creationId xmlns:a16="http://schemas.microsoft.com/office/drawing/2014/main" id="{F7C0F21F-1A91-47B7-8361-FFC86685CED9}"/>
              </a:ext>
            </a:extLst>
          </p:cNvPr>
          <p:cNvGrpSpPr/>
          <p:nvPr/>
        </p:nvGrpSpPr>
        <p:grpSpPr>
          <a:xfrm>
            <a:off x="2564665" y="5817895"/>
            <a:ext cx="4783202" cy="952590"/>
            <a:chOff x="482544" y="2321373"/>
            <a:chExt cx="4052943" cy="952590"/>
          </a:xfrm>
        </p:grpSpPr>
        <p:sp>
          <p:nvSpPr>
            <p:cNvPr id="78" name="Rounded Rectangle 58">
              <a:extLst>
                <a:ext uri="{FF2B5EF4-FFF2-40B4-BE49-F238E27FC236}">
                  <a16:creationId xmlns:a16="http://schemas.microsoft.com/office/drawing/2014/main" id="{1D326B46-FFE9-4001-9DFD-7BB58E0208FF}"/>
                </a:ext>
              </a:extLst>
            </p:cNvPr>
            <p:cNvSpPr/>
            <p:nvPr/>
          </p:nvSpPr>
          <p:spPr>
            <a:xfrm>
              <a:off x="482544" y="2321373"/>
              <a:ext cx="4052943" cy="952590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4D18733-B857-4689-BD1D-56A1B74BB9C5}"/>
                </a:ext>
              </a:extLst>
            </p:cNvPr>
            <p:cNvSpPr txBox="1"/>
            <p:nvPr/>
          </p:nvSpPr>
          <p:spPr>
            <a:xfrm>
              <a:off x="573826" y="2382170"/>
              <a:ext cx="387037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Then we choose the pair which subtract</a:t>
              </a:r>
            </a:p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 to give 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3.   </a:t>
              </a:r>
              <a:r>
                <a:rPr lang="en-GB" sz="1600" dirty="0">
                  <a:latin typeface="Arial" pitchFamily="34" charset="0"/>
                  <a:cs typeface="Arial" pitchFamily="34" charset="0"/>
                </a:rPr>
                <a:t>As it’s +3, the biggest number</a:t>
              </a:r>
            </a:p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must go with the + sign</a:t>
              </a:r>
              <a:endParaRPr lang="en-GB" sz="1600" i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80" name="Group 63">
            <a:extLst>
              <a:ext uri="{FF2B5EF4-FFF2-40B4-BE49-F238E27FC236}">
                <a16:creationId xmlns:a16="http://schemas.microsoft.com/office/drawing/2014/main" id="{0BECCA44-CF9D-43E8-9F64-B9E4EE519B6C}"/>
              </a:ext>
            </a:extLst>
          </p:cNvPr>
          <p:cNvGrpSpPr/>
          <p:nvPr/>
        </p:nvGrpSpPr>
        <p:grpSpPr>
          <a:xfrm>
            <a:off x="2564665" y="5173031"/>
            <a:ext cx="4783202" cy="438156"/>
            <a:chOff x="482544" y="2321373"/>
            <a:chExt cx="4052943" cy="438156"/>
          </a:xfrm>
        </p:grpSpPr>
        <p:sp>
          <p:nvSpPr>
            <p:cNvPr id="81" name="Rounded Rectangle 64">
              <a:extLst>
                <a:ext uri="{FF2B5EF4-FFF2-40B4-BE49-F238E27FC236}">
                  <a16:creationId xmlns:a16="http://schemas.microsoft.com/office/drawing/2014/main" id="{1C16F1EF-0049-4DE3-9FC5-E0C82089820D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F2DEC6D-BA78-42A5-94F0-CF777C226C84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So we list pairs of factors of 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40</a:t>
              </a:r>
              <a:endParaRPr lang="en-GB" sz="1600" b="1" i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83" name="Rounded Rectangle 70">
            <a:extLst>
              <a:ext uri="{FF2B5EF4-FFF2-40B4-BE49-F238E27FC236}">
                <a16:creationId xmlns:a16="http://schemas.microsoft.com/office/drawing/2014/main" id="{C0466CA5-08B0-494B-A7C2-AC5493F2A54A}"/>
              </a:ext>
            </a:extLst>
          </p:cNvPr>
          <p:cNvSpPr/>
          <p:nvPr/>
        </p:nvSpPr>
        <p:spPr>
          <a:xfrm>
            <a:off x="8443257" y="5833542"/>
            <a:ext cx="1533546" cy="401643"/>
          </a:xfrm>
          <a:prstGeom prst="roundRect">
            <a:avLst>
              <a:gd name="adj" fmla="val 37867"/>
            </a:avLst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DB99897-4F68-455D-892B-5B539865451B}"/>
              </a:ext>
            </a:extLst>
          </p:cNvPr>
          <p:cNvSpPr txBox="1"/>
          <p:nvPr/>
        </p:nvSpPr>
        <p:spPr>
          <a:xfrm>
            <a:off x="8297205" y="4701639"/>
            <a:ext cx="1825650" cy="156966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1  x  40</a:t>
            </a:r>
          </a:p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2  x  20</a:t>
            </a:r>
          </a:p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4  x  10</a:t>
            </a:r>
          </a:p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5  x  8</a:t>
            </a:r>
          </a:p>
        </p:txBody>
      </p:sp>
      <p:grpSp>
        <p:nvGrpSpPr>
          <p:cNvPr id="85" name="Group 67">
            <a:extLst>
              <a:ext uri="{FF2B5EF4-FFF2-40B4-BE49-F238E27FC236}">
                <a16:creationId xmlns:a16="http://schemas.microsoft.com/office/drawing/2014/main" id="{51441BE5-57D4-4C5D-9F7A-7BE394CD2268}"/>
              </a:ext>
            </a:extLst>
          </p:cNvPr>
          <p:cNvGrpSpPr/>
          <p:nvPr/>
        </p:nvGrpSpPr>
        <p:grpSpPr>
          <a:xfrm>
            <a:off x="7720310" y="2401724"/>
            <a:ext cx="3103605" cy="881068"/>
            <a:chOff x="5484824" y="1827326"/>
            <a:chExt cx="3103605" cy="881068"/>
          </a:xfrm>
        </p:grpSpPr>
        <p:sp>
          <p:nvSpPr>
            <p:cNvPr id="86" name="Curved Down Arrow 35">
              <a:extLst>
                <a:ext uri="{FF2B5EF4-FFF2-40B4-BE49-F238E27FC236}">
                  <a16:creationId xmlns:a16="http://schemas.microsoft.com/office/drawing/2014/main" id="{8222881B-ECBF-4CA3-BE45-37107F1DACA0}"/>
                </a:ext>
              </a:extLst>
            </p:cNvPr>
            <p:cNvSpPr/>
            <p:nvPr/>
          </p:nvSpPr>
          <p:spPr>
            <a:xfrm>
              <a:off x="5484824" y="2306752"/>
              <a:ext cx="1971703" cy="401642"/>
            </a:xfrm>
            <a:prstGeom prst="curvedDownArrow">
              <a:avLst>
                <a:gd name="adj1" fmla="val 24576"/>
                <a:gd name="adj2" fmla="val 69563"/>
                <a:gd name="adj3" fmla="val 45237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87" name="Group 66">
              <a:extLst>
                <a:ext uri="{FF2B5EF4-FFF2-40B4-BE49-F238E27FC236}">
                  <a16:creationId xmlns:a16="http://schemas.microsoft.com/office/drawing/2014/main" id="{18780D41-FCE8-4D47-ABCF-D2E97E944E5C}"/>
                </a:ext>
              </a:extLst>
            </p:cNvPr>
            <p:cNvGrpSpPr/>
            <p:nvPr/>
          </p:nvGrpSpPr>
          <p:grpSpPr>
            <a:xfrm>
              <a:off x="6178572" y="1827326"/>
              <a:ext cx="2409857" cy="503629"/>
              <a:chOff x="6178572" y="1827326"/>
              <a:chExt cx="2409857" cy="503629"/>
            </a:xfrm>
          </p:grpSpPr>
          <p:sp>
            <p:nvSpPr>
              <p:cNvPr id="88" name="Rounded Rectangle 40">
                <a:extLst>
                  <a:ext uri="{FF2B5EF4-FFF2-40B4-BE49-F238E27FC236}">
                    <a16:creationId xmlns:a16="http://schemas.microsoft.com/office/drawing/2014/main" id="{14DB8FA5-606C-402B-9AF3-644785C67DC6}"/>
                  </a:ext>
                </a:extLst>
              </p:cNvPr>
              <p:cNvSpPr/>
              <p:nvPr/>
            </p:nvSpPr>
            <p:spPr>
              <a:xfrm>
                <a:off x="6178572" y="1827326"/>
                <a:ext cx="2409857" cy="503629"/>
              </a:xfrm>
              <a:prstGeom prst="roundRect">
                <a:avLst>
                  <a:gd name="adj" fmla="val 37802"/>
                </a:avLst>
              </a:prstGeom>
              <a:gradFill flip="none" rotWithShape="1">
                <a:gsLst>
                  <a:gs pos="0">
                    <a:srgbClr val="FFC000">
                      <a:tint val="66000"/>
                      <a:satMod val="160000"/>
                    </a:srgbClr>
                  </a:gs>
                  <a:gs pos="50000">
                    <a:srgbClr val="FFC000">
                      <a:tint val="44500"/>
                      <a:satMod val="160000"/>
                    </a:srgbClr>
                  </a:gs>
                  <a:gs pos="100000">
                    <a:srgbClr val="FFC0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515805D-C1C0-4317-9586-4802F29F24CB}"/>
                  </a:ext>
                </a:extLst>
              </p:cNvPr>
              <p:cNvSpPr txBox="1"/>
              <p:nvPr/>
            </p:nvSpPr>
            <p:spPr>
              <a:xfrm>
                <a:off x="6278735" y="1829080"/>
                <a:ext cx="22095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0066"/>
                    </a:solidFill>
                    <a:latin typeface="Arial" pitchFamily="34" charset="0"/>
                    <a:cs typeface="Arial" pitchFamily="34" charset="0"/>
                  </a:rPr>
                  <a:t>The first terms have to multiply to give the </a:t>
                </a:r>
                <a:r>
                  <a:rPr lang="en-GB" sz="1200" b="1" dirty="0">
                    <a:latin typeface="Arial" pitchFamily="34" charset="0"/>
                    <a:cs typeface="Arial" pitchFamily="34" charset="0"/>
                  </a:rPr>
                  <a:t>x²</a:t>
                </a:r>
                <a:r>
                  <a:rPr lang="en-GB" sz="1200" b="1" dirty="0">
                    <a:solidFill>
                      <a:srgbClr val="000066"/>
                    </a:solidFill>
                    <a:latin typeface="Arial" pitchFamily="34" charset="0"/>
                    <a:cs typeface="Arial" pitchFamily="34" charset="0"/>
                  </a:rPr>
                  <a:t> term</a:t>
                </a:r>
                <a:endParaRPr lang="en-GB" sz="1200" b="1" i="1" dirty="0">
                  <a:solidFill>
                    <a:srgbClr val="000066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90" name="Group 68">
            <a:extLst>
              <a:ext uri="{FF2B5EF4-FFF2-40B4-BE49-F238E27FC236}">
                <a16:creationId xmlns:a16="http://schemas.microsoft.com/office/drawing/2014/main" id="{EB749847-476C-4104-AD53-26B91DB5B0A6}"/>
              </a:ext>
            </a:extLst>
          </p:cNvPr>
          <p:cNvGrpSpPr/>
          <p:nvPr/>
        </p:nvGrpSpPr>
        <p:grpSpPr>
          <a:xfrm>
            <a:off x="7639971" y="3699643"/>
            <a:ext cx="3030580" cy="827489"/>
            <a:chOff x="5411799" y="3183064"/>
            <a:chExt cx="3030580" cy="827489"/>
          </a:xfrm>
        </p:grpSpPr>
        <p:sp>
          <p:nvSpPr>
            <p:cNvPr id="91" name="Curved Down Arrow 37">
              <a:extLst>
                <a:ext uri="{FF2B5EF4-FFF2-40B4-BE49-F238E27FC236}">
                  <a16:creationId xmlns:a16="http://schemas.microsoft.com/office/drawing/2014/main" id="{B7838797-5098-4878-8939-6B66A982B5B8}"/>
                </a:ext>
              </a:extLst>
            </p:cNvPr>
            <p:cNvSpPr/>
            <p:nvPr/>
          </p:nvSpPr>
          <p:spPr>
            <a:xfrm flipV="1">
              <a:off x="6470676" y="3183064"/>
              <a:ext cx="1971703" cy="401642"/>
            </a:xfrm>
            <a:prstGeom prst="curvedDownArrow">
              <a:avLst>
                <a:gd name="adj1" fmla="val 24576"/>
                <a:gd name="adj2" fmla="val 69563"/>
                <a:gd name="adj3" fmla="val 45237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2" name="Group 60">
              <a:extLst>
                <a:ext uri="{FF2B5EF4-FFF2-40B4-BE49-F238E27FC236}">
                  <a16:creationId xmlns:a16="http://schemas.microsoft.com/office/drawing/2014/main" id="{30E3E489-4C2C-46D7-A43D-7887DBA0013E}"/>
                </a:ext>
              </a:extLst>
            </p:cNvPr>
            <p:cNvGrpSpPr/>
            <p:nvPr/>
          </p:nvGrpSpPr>
          <p:grpSpPr>
            <a:xfrm>
              <a:off x="5411799" y="3506924"/>
              <a:ext cx="2409857" cy="503629"/>
              <a:chOff x="5229234" y="2903408"/>
              <a:chExt cx="2409857" cy="503629"/>
            </a:xfrm>
          </p:grpSpPr>
          <p:sp>
            <p:nvSpPr>
              <p:cNvPr id="93" name="Rounded Rectangle 61">
                <a:extLst>
                  <a:ext uri="{FF2B5EF4-FFF2-40B4-BE49-F238E27FC236}">
                    <a16:creationId xmlns:a16="http://schemas.microsoft.com/office/drawing/2014/main" id="{D7435A78-07A7-48F7-AEB9-0E8718925F2A}"/>
                  </a:ext>
                </a:extLst>
              </p:cNvPr>
              <p:cNvSpPr/>
              <p:nvPr/>
            </p:nvSpPr>
            <p:spPr>
              <a:xfrm>
                <a:off x="5229234" y="2903408"/>
                <a:ext cx="2409857" cy="503629"/>
              </a:xfrm>
              <a:prstGeom prst="roundRect">
                <a:avLst>
                  <a:gd name="adj" fmla="val 37802"/>
                </a:avLst>
              </a:prstGeom>
              <a:gradFill flip="none" rotWithShape="1">
                <a:gsLst>
                  <a:gs pos="0">
                    <a:srgbClr val="FFC000">
                      <a:tint val="66000"/>
                      <a:satMod val="160000"/>
                    </a:srgbClr>
                  </a:gs>
                  <a:gs pos="50000">
                    <a:srgbClr val="FFC000">
                      <a:tint val="44500"/>
                      <a:satMod val="160000"/>
                    </a:srgbClr>
                  </a:gs>
                  <a:gs pos="100000">
                    <a:srgbClr val="FFC0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CCB7484-A49C-4970-969E-C38F06B33860}"/>
                  </a:ext>
                </a:extLst>
              </p:cNvPr>
              <p:cNvSpPr txBox="1"/>
              <p:nvPr/>
            </p:nvSpPr>
            <p:spPr>
              <a:xfrm>
                <a:off x="5329398" y="2924390"/>
                <a:ext cx="22095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0066"/>
                    </a:solidFill>
                    <a:latin typeface="Arial" pitchFamily="34" charset="0"/>
                    <a:cs typeface="Arial" pitchFamily="34" charset="0"/>
                  </a:rPr>
                  <a:t>The last terms have to multiply to give the </a:t>
                </a:r>
                <a:r>
                  <a:rPr lang="en-GB" sz="1200" b="1" dirty="0">
                    <a:latin typeface="Arial" pitchFamily="34" charset="0"/>
                    <a:cs typeface="Arial" pitchFamily="34" charset="0"/>
                  </a:rPr>
                  <a:t>-40</a:t>
                </a:r>
                <a:endParaRPr lang="en-GB" sz="1200" b="1" i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95" name="Oval 94">
            <a:extLst>
              <a:ext uri="{FF2B5EF4-FFF2-40B4-BE49-F238E27FC236}">
                <a16:creationId xmlns:a16="http://schemas.microsoft.com/office/drawing/2014/main" id="{92F4059C-17B8-4A48-8DAB-D693956AA9AE}"/>
              </a:ext>
            </a:extLst>
          </p:cNvPr>
          <p:cNvSpPr/>
          <p:nvPr/>
        </p:nvSpPr>
        <p:spPr>
          <a:xfrm>
            <a:off x="6078091" y="2598194"/>
            <a:ext cx="438156" cy="438156"/>
          </a:xfrm>
          <a:prstGeom prst="ellipse">
            <a:avLst/>
          </a:prstGeom>
          <a:noFill/>
          <a:ln w="57150">
            <a:solidFill>
              <a:srgbClr val="FF0000">
                <a:alpha val="6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15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0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100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0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"/>
                            </p:stCondLst>
                            <p:childTnLst>
                              <p:par>
                                <p:cTn id="10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7" grpId="0" animBg="1"/>
      <p:bldP spid="58" grpId="0" animBg="1"/>
      <p:bldP spid="59" grpId="0"/>
      <p:bldP spid="59" grpId="1"/>
      <p:bldP spid="60" grpId="0"/>
      <p:bldP spid="61" grpId="0"/>
      <p:bldP spid="65" grpId="0"/>
      <p:bldP spid="66" grpId="0"/>
      <p:bldP spid="67" grpId="0"/>
      <p:bldP spid="68" grpId="0"/>
      <p:bldP spid="69" grpId="0"/>
      <p:bldP spid="70" grpId="0"/>
      <p:bldP spid="83" grpId="0" animBg="1"/>
      <p:bldP spid="84" grpId="0" animBg="1"/>
      <p:bldP spid="9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6361" y="684974"/>
            <a:ext cx="121856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6361" y="1244209"/>
            <a:ext cx="12185639" cy="47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525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8772" y="1248927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33403" y="-493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25" y="757992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factorise quadratic expressions?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6" y="139195"/>
            <a:ext cx="17568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</a:t>
            </a:r>
          </a:p>
        </p:txBody>
      </p:sp>
      <p:sp>
        <p:nvSpPr>
          <p:cNvPr id="49" name="Rounded Rectangle 14">
            <a:extLst>
              <a:ext uri="{FF2B5EF4-FFF2-40B4-BE49-F238E27FC236}">
                <a16:creationId xmlns:a16="http://schemas.microsoft.com/office/drawing/2014/main" id="{7DD6B717-3C70-4289-BF6A-F0ADFC6B0825}"/>
              </a:ext>
            </a:extLst>
          </p:cNvPr>
          <p:cNvSpPr/>
          <p:nvPr/>
        </p:nvSpPr>
        <p:spPr>
          <a:xfrm>
            <a:off x="2639337" y="2121838"/>
            <a:ext cx="8568952" cy="4634472"/>
          </a:xfrm>
          <a:prstGeom prst="roundRect">
            <a:avLst>
              <a:gd name="adj" fmla="val 91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Rounded Rectangle 72">
            <a:extLst>
              <a:ext uri="{FF2B5EF4-FFF2-40B4-BE49-F238E27FC236}">
                <a16:creationId xmlns:a16="http://schemas.microsoft.com/office/drawing/2014/main" id="{848CECE7-BF90-4070-BB4E-CA7890E4BF7D}"/>
              </a:ext>
            </a:extLst>
          </p:cNvPr>
          <p:cNvSpPr/>
          <p:nvPr/>
        </p:nvSpPr>
        <p:spPr>
          <a:xfrm>
            <a:off x="7513959" y="3026183"/>
            <a:ext cx="3614786" cy="682831"/>
          </a:xfrm>
          <a:prstGeom prst="roundRect">
            <a:avLst>
              <a:gd name="adj" fmla="val 21605"/>
            </a:avLst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5BA8E4-CBA0-42F0-9DAC-DF8B82DD86B7}"/>
              </a:ext>
            </a:extLst>
          </p:cNvPr>
          <p:cNvSpPr txBox="1"/>
          <p:nvPr/>
        </p:nvSpPr>
        <p:spPr>
          <a:xfrm>
            <a:off x="2909367" y="1819455"/>
            <a:ext cx="8028892" cy="476726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>
                <a:latin typeface="Arial" pitchFamily="34" charset="0"/>
                <a:cs typeface="Arial" pitchFamily="34" charset="0"/>
              </a:rPr>
              <a:t>Factorising expressions of the form </a:t>
            </a:r>
            <a:r>
              <a:rPr lang="en-GB" sz="2200" b="1" i="1" dirty="0">
                <a:latin typeface="Arial" pitchFamily="34" charset="0"/>
                <a:cs typeface="Arial" pitchFamily="34" charset="0"/>
              </a:rPr>
              <a:t>x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² - </a:t>
            </a:r>
            <a:r>
              <a:rPr lang="en-GB" sz="2200" b="1" dirty="0" err="1">
                <a:latin typeface="Arial" pitchFamily="34" charset="0"/>
                <a:cs typeface="Arial" pitchFamily="34" charset="0"/>
              </a:rPr>
              <a:t>b</a:t>
            </a:r>
            <a:r>
              <a:rPr lang="en-GB" sz="2200" b="1" i="1" dirty="0" err="1">
                <a:latin typeface="Arial" pitchFamily="34" charset="0"/>
                <a:cs typeface="Arial" pitchFamily="34" charset="0"/>
              </a:rPr>
              <a:t>x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 - c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4C1E19-BE36-4E5A-829C-6B6C8A68C77B}"/>
              </a:ext>
            </a:extLst>
          </p:cNvPr>
          <p:cNvSpPr txBox="1"/>
          <p:nvPr/>
        </p:nvSpPr>
        <p:spPr>
          <a:xfrm>
            <a:off x="2909367" y="1168865"/>
            <a:ext cx="8028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itchFamily="34" charset="0"/>
                <a:cs typeface="Arial" pitchFamily="34" charset="0"/>
              </a:rPr>
              <a:t>If the sign in front of 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c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 is a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 - </a:t>
            </a:r>
            <a:r>
              <a:rPr lang="en-GB" sz="2000" dirty="0">
                <a:latin typeface="Arial" pitchFamily="34" charset="0"/>
                <a:cs typeface="Arial" pitchFamily="34" charset="0"/>
              </a:rPr>
              <a:t>sign, then both signs in the factorised answer are different.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7600B3-1182-4115-9FB6-F59E5E30E2F6}"/>
              </a:ext>
            </a:extLst>
          </p:cNvPr>
          <p:cNvSpPr txBox="1"/>
          <p:nvPr/>
        </p:nvSpPr>
        <p:spPr>
          <a:xfrm>
            <a:off x="2645452" y="2596816"/>
            <a:ext cx="4714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Arial" pitchFamily="34" charset="0"/>
                <a:cs typeface="Arial" pitchFamily="34" charset="0"/>
              </a:rPr>
              <a:t>Example 4:   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Factorise   </a:t>
            </a:r>
            <a:r>
              <a:rPr lang="en-GB" sz="2000" b="1" i="1" dirty="0">
                <a:latin typeface="Arial" pitchFamily="34" charset="0"/>
                <a:cs typeface="Arial" pitchFamily="34" charset="0"/>
              </a:rPr>
              <a:t>x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² - 6</a:t>
            </a:r>
            <a:r>
              <a:rPr lang="en-GB" sz="2000" b="1" i="1" dirty="0">
                <a:latin typeface="Arial" pitchFamily="34" charset="0"/>
                <a:cs typeface="Arial" pitchFamily="34" charset="0"/>
              </a:rPr>
              <a:t>x</a:t>
            </a:r>
            <a:r>
              <a:rPr lang="en-GB" sz="2000" b="1" dirty="0">
                <a:latin typeface="Arial" pitchFamily="34" charset="0"/>
                <a:cs typeface="Arial" pitchFamily="34" charset="0"/>
              </a:rPr>
              <a:t> - 16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1CA5C4-5AFA-4552-AE7A-E28F232CCA04}"/>
              </a:ext>
            </a:extLst>
          </p:cNvPr>
          <p:cNvSpPr txBox="1"/>
          <p:nvPr/>
        </p:nvSpPr>
        <p:spPr>
          <a:xfrm>
            <a:off x="7325456" y="3086992"/>
            <a:ext cx="40164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b="1" dirty="0">
                <a:latin typeface="Arial" pitchFamily="34" charset="0"/>
                <a:cs typeface="Arial" pitchFamily="34" charset="0"/>
              </a:rPr>
              <a:t>(              ) (              )</a:t>
            </a:r>
          </a:p>
        </p:txBody>
      </p:sp>
      <p:grpSp>
        <p:nvGrpSpPr>
          <p:cNvPr id="55" name="Group 50">
            <a:extLst>
              <a:ext uri="{FF2B5EF4-FFF2-40B4-BE49-F238E27FC236}">
                <a16:creationId xmlns:a16="http://schemas.microsoft.com/office/drawing/2014/main" id="{F55B7BD7-D70B-4531-B853-9418D43DA41A}"/>
              </a:ext>
            </a:extLst>
          </p:cNvPr>
          <p:cNvGrpSpPr/>
          <p:nvPr/>
        </p:nvGrpSpPr>
        <p:grpSpPr>
          <a:xfrm>
            <a:off x="2688306" y="3138750"/>
            <a:ext cx="4783202" cy="438156"/>
            <a:chOff x="482544" y="2321373"/>
            <a:chExt cx="4052943" cy="438156"/>
          </a:xfrm>
        </p:grpSpPr>
        <p:sp>
          <p:nvSpPr>
            <p:cNvPr id="56" name="Rounded Rectangle 48">
              <a:extLst>
                <a:ext uri="{FF2B5EF4-FFF2-40B4-BE49-F238E27FC236}">
                  <a16:creationId xmlns:a16="http://schemas.microsoft.com/office/drawing/2014/main" id="{AF539F2B-F4C7-4A69-90D0-F0D34AC869C0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D1E9C3E-76B8-4A02-92D3-1A4B31E3442E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First draw brackets</a:t>
              </a:r>
              <a:endParaRPr lang="en-GB" sz="16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97" name="Rectangle 96">
            <a:extLst>
              <a:ext uri="{FF2B5EF4-FFF2-40B4-BE49-F238E27FC236}">
                <a16:creationId xmlns:a16="http://schemas.microsoft.com/office/drawing/2014/main" id="{23815154-C5E6-446E-9CAC-D0DBF464DA36}"/>
              </a:ext>
            </a:extLst>
          </p:cNvPr>
          <p:cNvSpPr/>
          <p:nvPr/>
        </p:nvSpPr>
        <p:spPr>
          <a:xfrm>
            <a:off x="7651300" y="3086992"/>
            <a:ext cx="4381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i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x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AC68242-A38C-4EA8-BA13-3122C2B9625E}"/>
              </a:ext>
            </a:extLst>
          </p:cNvPr>
          <p:cNvSpPr/>
          <p:nvPr/>
        </p:nvSpPr>
        <p:spPr>
          <a:xfrm>
            <a:off x="8162482" y="3086992"/>
            <a:ext cx="3651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+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4C03818-DC4A-4080-899C-663A80606624}"/>
              </a:ext>
            </a:extLst>
          </p:cNvPr>
          <p:cNvSpPr/>
          <p:nvPr/>
        </p:nvSpPr>
        <p:spPr>
          <a:xfrm>
            <a:off x="8455406" y="3086992"/>
            <a:ext cx="76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6FA355-8E72-4829-AD94-927D9FED7B03}"/>
              </a:ext>
            </a:extLst>
          </p:cNvPr>
          <p:cNvSpPr/>
          <p:nvPr/>
        </p:nvSpPr>
        <p:spPr>
          <a:xfrm>
            <a:off x="9476950" y="3086992"/>
            <a:ext cx="4381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i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x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DD3C018-F939-42E6-8C72-75580E91A321}"/>
              </a:ext>
            </a:extLst>
          </p:cNvPr>
          <p:cNvSpPr/>
          <p:nvPr/>
        </p:nvSpPr>
        <p:spPr>
          <a:xfrm>
            <a:off x="9988132" y="3086992"/>
            <a:ext cx="3651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-</a:t>
            </a:r>
            <a:endParaRPr lang="en-GB" sz="3200" dirty="0">
              <a:solidFill>
                <a:srgbClr val="33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6096A17-5845-4A58-81D5-0FADD79F11BA}"/>
              </a:ext>
            </a:extLst>
          </p:cNvPr>
          <p:cNvSpPr/>
          <p:nvPr/>
        </p:nvSpPr>
        <p:spPr>
          <a:xfrm>
            <a:off x="10281056" y="3086992"/>
            <a:ext cx="7659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3333CC"/>
                </a:solidFill>
                <a:latin typeface="Arial" pitchFamily="34" charset="0"/>
                <a:cs typeface="Arial" pitchFamily="34" charset="0"/>
              </a:rPr>
              <a:t>8</a:t>
            </a:r>
          </a:p>
        </p:txBody>
      </p:sp>
      <p:grpSp>
        <p:nvGrpSpPr>
          <p:cNvPr id="103" name="Group 51">
            <a:extLst>
              <a:ext uri="{FF2B5EF4-FFF2-40B4-BE49-F238E27FC236}">
                <a16:creationId xmlns:a16="http://schemas.microsoft.com/office/drawing/2014/main" id="{F6DDB7A3-ADE3-4698-AC46-1CC3B676E2F6}"/>
              </a:ext>
            </a:extLst>
          </p:cNvPr>
          <p:cNvGrpSpPr/>
          <p:nvPr/>
        </p:nvGrpSpPr>
        <p:grpSpPr>
          <a:xfrm>
            <a:off x="2688306" y="3783613"/>
            <a:ext cx="4783202" cy="438156"/>
            <a:chOff x="482544" y="2321373"/>
            <a:chExt cx="4052943" cy="438156"/>
          </a:xfrm>
        </p:grpSpPr>
        <p:sp>
          <p:nvSpPr>
            <p:cNvPr id="104" name="Rounded Rectangle 52">
              <a:extLst>
                <a:ext uri="{FF2B5EF4-FFF2-40B4-BE49-F238E27FC236}">
                  <a16:creationId xmlns:a16="http://schemas.microsoft.com/office/drawing/2014/main" id="{B983333F-D8E0-4753-82F4-015E414779FC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4A9A158-D06B-4C3B-83E0-8A502A89A6A8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So the first term in each bracket must be </a:t>
              </a:r>
              <a:r>
                <a:rPr lang="en-GB" sz="1600" b="1" i="1" dirty="0">
                  <a:latin typeface="Arial" pitchFamily="34" charset="0"/>
                  <a:cs typeface="Arial" pitchFamily="34" charset="0"/>
                </a:rPr>
                <a:t>x</a:t>
              </a:r>
            </a:p>
          </p:txBody>
        </p:sp>
      </p:grpSp>
      <p:grpSp>
        <p:nvGrpSpPr>
          <p:cNvPr id="106" name="Group 54">
            <a:extLst>
              <a:ext uri="{FF2B5EF4-FFF2-40B4-BE49-F238E27FC236}">
                <a16:creationId xmlns:a16="http://schemas.microsoft.com/office/drawing/2014/main" id="{7C8B94D7-4075-4363-B828-C2F436A04E3F}"/>
              </a:ext>
            </a:extLst>
          </p:cNvPr>
          <p:cNvGrpSpPr/>
          <p:nvPr/>
        </p:nvGrpSpPr>
        <p:grpSpPr>
          <a:xfrm>
            <a:off x="2688306" y="4428476"/>
            <a:ext cx="4783202" cy="438156"/>
            <a:chOff x="482544" y="2321373"/>
            <a:chExt cx="4052943" cy="438156"/>
          </a:xfrm>
        </p:grpSpPr>
        <p:sp>
          <p:nvSpPr>
            <p:cNvPr id="107" name="Rounded Rectangle 55">
              <a:extLst>
                <a:ext uri="{FF2B5EF4-FFF2-40B4-BE49-F238E27FC236}">
                  <a16:creationId xmlns:a16="http://schemas.microsoft.com/office/drawing/2014/main" id="{BC4F17E8-9A1E-451F-B0F4-E1B89F166B64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0099D0F-50C9-47A8-85BD-EFD704D27635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Signs are 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different</a:t>
              </a:r>
              <a:endParaRPr lang="en-GB" sz="1600" b="1" i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9" name="Group 57">
            <a:extLst>
              <a:ext uri="{FF2B5EF4-FFF2-40B4-BE49-F238E27FC236}">
                <a16:creationId xmlns:a16="http://schemas.microsoft.com/office/drawing/2014/main" id="{E91092F2-3A6E-4AF0-A8CE-34ECCA3726E5}"/>
              </a:ext>
            </a:extLst>
          </p:cNvPr>
          <p:cNvGrpSpPr/>
          <p:nvPr/>
        </p:nvGrpSpPr>
        <p:grpSpPr>
          <a:xfrm>
            <a:off x="2688306" y="5718203"/>
            <a:ext cx="4783202" cy="952590"/>
            <a:chOff x="482544" y="2321373"/>
            <a:chExt cx="4052943" cy="952590"/>
          </a:xfrm>
        </p:grpSpPr>
        <p:sp>
          <p:nvSpPr>
            <p:cNvPr id="110" name="Rounded Rectangle 58">
              <a:extLst>
                <a:ext uri="{FF2B5EF4-FFF2-40B4-BE49-F238E27FC236}">
                  <a16:creationId xmlns:a16="http://schemas.microsoft.com/office/drawing/2014/main" id="{2C781B97-4CBA-4DD2-94AD-CA665395081F}"/>
                </a:ext>
              </a:extLst>
            </p:cNvPr>
            <p:cNvSpPr/>
            <p:nvPr/>
          </p:nvSpPr>
          <p:spPr>
            <a:xfrm>
              <a:off x="482544" y="2321373"/>
              <a:ext cx="4052943" cy="952590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D0563BB-C27C-4A98-8CC7-559E9486AD94}"/>
                </a:ext>
              </a:extLst>
            </p:cNvPr>
            <p:cNvSpPr txBox="1"/>
            <p:nvPr/>
          </p:nvSpPr>
          <p:spPr>
            <a:xfrm>
              <a:off x="573826" y="2382170"/>
              <a:ext cx="387037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Then we choose the pair which subtract</a:t>
              </a:r>
            </a:p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 to give 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-6.   </a:t>
              </a:r>
              <a:r>
                <a:rPr lang="en-GB" sz="1600" dirty="0">
                  <a:latin typeface="Arial" pitchFamily="34" charset="0"/>
                  <a:cs typeface="Arial" pitchFamily="34" charset="0"/>
                </a:rPr>
                <a:t>As it’s -6, the biggest number</a:t>
              </a:r>
            </a:p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must go with the - sign</a:t>
              </a:r>
              <a:endParaRPr lang="en-GB" sz="1600" i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12" name="Group 63">
            <a:extLst>
              <a:ext uri="{FF2B5EF4-FFF2-40B4-BE49-F238E27FC236}">
                <a16:creationId xmlns:a16="http://schemas.microsoft.com/office/drawing/2014/main" id="{AF01A01F-E380-4A71-BD98-B67B8946A8FB}"/>
              </a:ext>
            </a:extLst>
          </p:cNvPr>
          <p:cNvGrpSpPr/>
          <p:nvPr/>
        </p:nvGrpSpPr>
        <p:grpSpPr>
          <a:xfrm>
            <a:off x="2688306" y="5073339"/>
            <a:ext cx="4783202" cy="438156"/>
            <a:chOff x="482544" y="2321373"/>
            <a:chExt cx="4052943" cy="438156"/>
          </a:xfrm>
        </p:grpSpPr>
        <p:sp>
          <p:nvSpPr>
            <p:cNvPr id="113" name="Rounded Rectangle 64">
              <a:extLst>
                <a:ext uri="{FF2B5EF4-FFF2-40B4-BE49-F238E27FC236}">
                  <a16:creationId xmlns:a16="http://schemas.microsoft.com/office/drawing/2014/main" id="{8C72DDB5-2291-4610-A4C2-C9382626C26D}"/>
                </a:ext>
              </a:extLst>
            </p:cNvPr>
            <p:cNvSpPr/>
            <p:nvPr/>
          </p:nvSpPr>
          <p:spPr>
            <a:xfrm>
              <a:off x="482544" y="2321373"/>
              <a:ext cx="4052943" cy="438156"/>
            </a:xfrm>
            <a:prstGeom prst="roundRect">
              <a:avLst>
                <a:gd name="adj" fmla="val 37802"/>
              </a:avLst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F8EE434-0083-4556-BF99-42BF7C45C3AD}"/>
                </a:ext>
              </a:extLst>
            </p:cNvPr>
            <p:cNvSpPr txBox="1"/>
            <p:nvPr/>
          </p:nvSpPr>
          <p:spPr>
            <a:xfrm>
              <a:off x="573826" y="2371174"/>
              <a:ext cx="38703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Arial" pitchFamily="34" charset="0"/>
                  <a:cs typeface="Arial" pitchFamily="34" charset="0"/>
                </a:rPr>
                <a:t>So we list pairs of factors of </a:t>
              </a:r>
              <a:r>
                <a:rPr lang="en-GB" sz="1600" b="1" dirty="0">
                  <a:latin typeface="Arial" pitchFamily="34" charset="0"/>
                  <a:cs typeface="Arial" pitchFamily="34" charset="0"/>
                </a:rPr>
                <a:t>16</a:t>
              </a:r>
              <a:endParaRPr lang="en-GB" sz="1600" b="1" i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5" name="Rounded Rectangle 70">
            <a:extLst>
              <a:ext uri="{FF2B5EF4-FFF2-40B4-BE49-F238E27FC236}">
                <a16:creationId xmlns:a16="http://schemas.microsoft.com/office/drawing/2014/main" id="{81B917F2-78FA-40EA-932C-C9BAA4CABB10}"/>
              </a:ext>
            </a:extLst>
          </p:cNvPr>
          <p:cNvSpPr/>
          <p:nvPr/>
        </p:nvSpPr>
        <p:spPr>
          <a:xfrm>
            <a:off x="8566898" y="5128225"/>
            <a:ext cx="1533546" cy="401643"/>
          </a:xfrm>
          <a:prstGeom prst="roundRect">
            <a:avLst>
              <a:gd name="adj" fmla="val 37867"/>
            </a:avLst>
          </a:pr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A04B03A-AD3A-4FB6-9E99-27F4B25AE649}"/>
              </a:ext>
            </a:extLst>
          </p:cNvPr>
          <p:cNvSpPr txBox="1"/>
          <p:nvPr/>
        </p:nvSpPr>
        <p:spPr>
          <a:xfrm>
            <a:off x="8420846" y="4696947"/>
            <a:ext cx="1825650" cy="1200329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1  x  16</a:t>
            </a:r>
          </a:p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2  x  8</a:t>
            </a:r>
          </a:p>
          <a:p>
            <a:pPr algn="ctr"/>
            <a:r>
              <a:rPr lang="en-GB" sz="2400" b="1" dirty="0">
                <a:latin typeface="Arial" pitchFamily="34" charset="0"/>
                <a:cs typeface="Arial" pitchFamily="34" charset="0"/>
              </a:rPr>
              <a:t>4  x  4</a:t>
            </a:r>
          </a:p>
        </p:txBody>
      </p:sp>
      <p:grpSp>
        <p:nvGrpSpPr>
          <p:cNvPr id="117" name="Group 67">
            <a:extLst>
              <a:ext uri="{FF2B5EF4-FFF2-40B4-BE49-F238E27FC236}">
                <a16:creationId xmlns:a16="http://schemas.microsoft.com/office/drawing/2014/main" id="{D4947457-F10C-4F09-A368-18677E823365}"/>
              </a:ext>
            </a:extLst>
          </p:cNvPr>
          <p:cNvGrpSpPr/>
          <p:nvPr/>
        </p:nvGrpSpPr>
        <p:grpSpPr>
          <a:xfrm>
            <a:off x="7834654" y="2322060"/>
            <a:ext cx="3103605" cy="881068"/>
            <a:chOff x="5484824" y="1827326"/>
            <a:chExt cx="3103605" cy="881068"/>
          </a:xfrm>
        </p:grpSpPr>
        <p:sp>
          <p:nvSpPr>
            <p:cNvPr id="118" name="Curved Down Arrow 35">
              <a:extLst>
                <a:ext uri="{FF2B5EF4-FFF2-40B4-BE49-F238E27FC236}">
                  <a16:creationId xmlns:a16="http://schemas.microsoft.com/office/drawing/2014/main" id="{F5CE98D0-D624-49A0-B2FE-3DF984FC09D9}"/>
                </a:ext>
              </a:extLst>
            </p:cNvPr>
            <p:cNvSpPr/>
            <p:nvPr/>
          </p:nvSpPr>
          <p:spPr>
            <a:xfrm>
              <a:off x="5484824" y="2306752"/>
              <a:ext cx="1971703" cy="401642"/>
            </a:xfrm>
            <a:prstGeom prst="curvedDownArrow">
              <a:avLst>
                <a:gd name="adj1" fmla="val 24576"/>
                <a:gd name="adj2" fmla="val 69563"/>
                <a:gd name="adj3" fmla="val 45237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19" name="Group 66">
              <a:extLst>
                <a:ext uri="{FF2B5EF4-FFF2-40B4-BE49-F238E27FC236}">
                  <a16:creationId xmlns:a16="http://schemas.microsoft.com/office/drawing/2014/main" id="{A54EE51E-3118-43DA-A51E-44B4940CF03E}"/>
                </a:ext>
              </a:extLst>
            </p:cNvPr>
            <p:cNvGrpSpPr/>
            <p:nvPr/>
          </p:nvGrpSpPr>
          <p:grpSpPr>
            <a:xfrm>
              <a:off x="6178572" y="1827326"/>
              <a:ext cx="2409857" cy="503629"/>
              <a:chOff x="6178572" y="1827326"/>
              <a:chExt cx="2409857" cy="503629"/>
            </a:xfrm>
          </p:grpSpPr>
          <p:sp>
            <p:nvSpPr>
              <p:cNvPr id="120" name="Rounded Rectangle 40">
                <a:extLst>
                  <a:ext uri="{FF2B5EF4-FFF2-40B4-BE49-F238E27FC236}">
                    <a16:creationId xmlns:a16="http://schemas.microsoft.com/office/drawing/2014/main" id="{57028997-DA53-44E2-8C7F-9CEE34B1CBB4}"/>
                  </a:ext>
                </a:extLst>
              </p:cNvPr>
              <p:cNvSpPr/>
              <p:nvPr/>
            </p:nvSpPr>
            <p:spPr>
              <a:xfrm>
                <a:off x="6178572" y="1827326"/>
                <a:ext cx="2409857" cy="503629"/>
              </a:xfrm>
              <a:prstGeom prst="roundRect">
                <a:avLst>
                  <a:gd name="adj" fmla="val 37802"/>
                </a:avLst>
              </a:prstGeom>
              <a:gradFill flip="none" rotWithShape="1">
                <a:gsLst>
                  <a:gs pos="0">
                    <a:srgbClr val="FFC000">
                      <a:tint val="66000"/>
                      <a:satMod val="160000"/>
                    </a:srgbClr>
                  </a:gs>
                  <a:gs pos="50000">
                    <a:srgbClr val="FFC000">
                      <a:tint val="44500"/>
                      <a:satMod val="160000"/>
                    </a:srgbClr>
                  </a:gs>
                  <a:gs pos="100000">
                    <a:srgbClr val="FFC0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5E7E5B6-DD07-49E5-9EFC-3D4D47BE46F6}"/>
                  </a:ext>
                </a:extLst>
              </p:cNvPr>
              <p:cNvSpPr txBox="1"/>
              <p:nvPr/>
            </p:nvSpPr>
            <p:spPr>
              <a:xfrm>
                <a:off x="6278735" y="1855720"/>
                <a:ext cx="22095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0066"/>
                    </a:solidFill>
                    <a:latin typeface="Arial" pitchFamily="34" charset="0"/>
                    <a:cs typeface="Arial" pitchFamily="34" charset="0"/>
                  </a:rPr>
                  <a:t>The first terms have to multiply to give the </a:t>
                </a:r>
                <a:r>
                  <a:rPr lang="en-GB" sz="1200" b="1" dirty="0">
                    <a:latin typeface="Arial" pitchFamily="34" charset="0"/>
                    <a:cs typeface="Arial" pitchFamily="34" charset="0"/>
                  </a:rPr>
                  <a:t>x²</a:t>
                </a:r>
                <a:r>
                  <a:rPr lang="en-GB" sz="1200" b="1" dirty="0">
                    <a:solidFill>
                      <a:srgbClr val="000066"/>
                    </a:solidFill>
                    <a:latin typeface="Arial" pitchFamily="34" charset="0"/>
                    <a:cs typeface="Arial" pitchFamily="34" charset="0"/>
                  </a:rPr>
                  <a:t> term</a:t>
                </a:r>
                <a:endParaRPr lang="en-GB" sz="1200" b="1" i="1" dirty="0">
                  <a:solidFill>
                    <a:srgbClr val="000066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122" name="Group 68">
            <a:extLst>
              <a:ext uri="{FF2B5EF4-FFF2-40B4-BE49-F238E27FC236}">
                <a16:creationId xmlns:a16="http://schemas.microsoft.com/office/drawing/2014/main" id="{31AA337F-C146-4804-A550-6BCD34D12EF7}"/>
              </a:ext>
            </a:extLst>
          </p:cNvPr>
          <p:cNvGrpSpPr/>
          <p:nvPr/>
        </p:nvGrpSpPr>
        <p:grpSpPr>
          <a:xfrm>
            <a:off x="7763612" y="3599951"/>
            <a:ext cx="3030580" cy="827489"/>
            <a:chOff x="5411799" y="3183064"/>
            <a:chExt cx="3030580" cy="827489"/>
          </a:xfrm>
        </p:grpSpPr>
        <p:sp>
          <p:nvSpPr>
            <p:cNvPr id="123" name="Curved Down Arrow 37">
              <a:extLst>
                <a:ext uri="{FF2B5EF4-FFF2-40B4-BE49-F238E27FC236}">
                  <a16:creationId xmlns:a16="http://schemas.microsoft.com/office/drawing/2014/main" id="{0FF95FB8-D463-4223-A2BB-0BDC19DE8C93}"/>
                </a:ext>
              </a:extLst>
            </p:cNvPr>
            <p:cNvSpPr/>
            <p:nvPr/>
          </p:nvSpPr>
          <p:spPr>
            <a:xfrm flipV="1">
              <a:off x="6470676" y="3183064"/>
              <a:ext cx="1971703" cy="401642"/>
            </a:xfrm>
            <a:prstGeom prst="curvedDownArrow">
              <a:avLst>
                <a:gd name="adj1" fmla="val 24576"/>
                <a:gd name="adj2" fmla="val 69563"/>
                <a:gd name="adj3" fmla="val 45237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24" name="Group 60">
              <a:extLst>
                <a:ext uri="{FF2B5EF4-FFF2-40B4-BE49-F238E27FC236}">
                  <a16:creationId xmlns:a16="http://schemas.microsoft.com/office/drawing/2014/main" id="{00C2B675-4C74-46F9-8552-25A7EDCB2AC3}"/>
                </a:ext>
              </a:extLst>
            </p:cNvPr>
            <p:cNvGrpSpPr/>
            <p:nvPr/>
          </p:nvGrpSpPr>
          <p:grpSpPr>
            <a:xfrm>
              <a:off x="5411799" y="3506924"/>
              <a:ext cx="2409857" cy="503629"/>
              <a:chOff x="5229234" y="2903408"/>
              <a:chExt cx="2409857" cy="503629"/>
            </a:xfrm>
          </p:grpSpPr>
          <p:sp>
            <p:nvSpPr>
              <p:cNvPr id="125" name="Rounded Rectangle 61">
                <a:extLst>
                  <a:ext uri="{FF2B5EF4-FFF2-40B4-BE49-F238E27FC236}">
                    <a16:creationId xmlns:a16="http://schemas.microsoft.com/office/drawing/2014/main" id="{03E5DDF2-AABF-4548-96FC-66A6CAC3B97C}"/>
                  </a:ext>
                </a:extLst>
              </p:cNvPr>
              <p:cNvSpPr/>
              <p:nvPr/>
            </p:nvSpPr>
            <p:spPr>
              <a:xfrm>
                <a:off x="5229234" y="2903408"/>
                <a:ext cx="2409857" cy="503629"/>
              </a:xfrm>
              <a:prstGeom prst="roundRect">
                <a:avLst>
                  <a:gd name="adj" fmla="val 37802"/>
                </a:avLst>
              </a:prstGeom>
              <a:gradFill flip="none" rotWithShape="1">
                <a:gsLst>
                  <a:gs pos="0">
                    <a:srgbClr val="FFC000">
                      <a:tint val="66000"/>
                      <a:satMod val="160000"/>
                    </a:srgbClr>
                  </a:gs>
                  <a:gs pos="50000">
                    <a:srgbClr val="FFC000">
                      <a:tint val="44500"/>
                      <a:satMod val="160000"/>
                    </a:srgbClr>
                  </a:gs>
                  <a:gs pos="100000">
                    <a:srgbClr val="FFC00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5F89299B-CD43-4038-9977-8A306AB067A4}"/>
                  </a:ext>
                </a:extLst>
              </p:cNvPr>
              <p:cNvSpPr txBox="1"/>
              <p:nvPr/>
            </p:nvSpPr>
            <p:spPr>
              <a:xfrm>
                <a:off x="5329398" y="2924390"/>
                <a:ext cx="220952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rgbClr val="000066"/>
                    </a:solidFill>
                    <a:latin typeface="Arial" pitchFamily="34" charset="0"/>
                    <a:cs typeface="Arial" pitchFamily="34" charset="0"/>
                  </a:rPr>
                  <a:t>The last terms have to multiply to give the </a:t>
                </a:r>
                <a:r>
                  <a:rPr lang="en-GB" sz="1200" b="1" dirty="0">
                    <a:latin typeface="Arial" pitchFamily="34" charset="0"/>
                    <a:cs typeface="Arial" pitchFamily="34" charset="0"/>
                  </a:rPr>
                  <a:t>-16</a:t>
                </a:r>
                <a:endParaRPr lang="en-GB" sz="1200" b="1" i="1" dirty="0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127" name="Oval 126">
            <a:extLst>
              <a:ext uri="{FF2B5EF4-FFF2-40B4-BE49-F238E27FC236}">
                <a16:creationId xmlns:a16="http://schemas.microsoft.com/office/drawing/2014/main" id="{6A65B777-1AC8-4F80-B1B4-8CE2FC7F148D}"/>
              </a:ext>
            </a:extLst>
          </p:cNvPr>
          <p:cNvSpPr/>
          <p:nvPr/>
        </p:nvSpPr>
        <p:spPr>
          <a:xfrm>
            <a:off x="6112027" y="2573874"/>
            <a:ext cx="438156" cy="438156"/>
          </a:xfrm>
          <a:prstGeom prst="ellipse">
            <a:avLst/>
          </a:prstGeom>
          <a:noFill/>
          <a:ln w="57150">
            <a:solidFill>
              <a:srgbClr val="FF0000">
                <a:alpha val="65098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9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0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100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000"/>
                            </p:stCondLst>
                            <p:childTnLst>
                              <p:par>
                                <p:cTn id="9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2" grpId="0"/>
      <p:bldP spid="53" grpId="0"/>
      <p:bldP spid="54" grpId="0"/>
      <p:bldP spid="97" grpId="0"/>
      <p:bldP spid="98" grpId="0"/>
      <p:bldP spid="99" grpId="0"/>
      <p:bldP spid="100" grpId="0"/>
      <p:bldP spid="101" grpId="0"/>
      <p:bldP spid="102" grpId="0"/>
      <p:bldP spid="115" grpId="0" animBg="1"/>
      <p:bldP spid="116" grpId="0" animBg="1"/>
      <p:bldP spid="1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18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Have a go at page Ex 6.4 pg. 75 in your textbook</a:t>
            </a:r>
            <a:endParaRPr lang="en-AU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8" y="2348880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2384632" y="3671699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2135560" y="2749422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02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</TotalTime>
  <Words>649</Words>
  <Application>Microsoft Office PowerPoint</Application>
  <PresentationFormat>Widescreen</PresentationFormat>
  <Paragraphs>126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Impact</vt:lpstr>
      <vt:lpstr>Martina</vt:lpstr>
      <vt:lpstr>Office Theme</vt:lpstr>
      <vt:lpstr>Warm up</vt:lpstr>
      <vt:lpstr>PowerPoint Presentation</vt:lpstr>
      <vt:lpstr>PowerPoint Presentation</vt:lpstr>
      <vt:lpstr>PowerPoint Presentation</vt:lpstr>
      <vt:lpstr>PowerPoint Presentation</vt:lpstr>
      <vt:lpstr>Do you understand? Fists of Five</vt:lpstr>
      <vt:lpstr>Now 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Hamilton Stott</cp:lastModifiedBy>
  <cp:revision>54</cp:revision>
  <dcterms:created xsi:type="dcterms:W3CDTF">2013-03-25T14:33:20Z</dcterms:created>
  <dcterms:modified xsi:type="dcterms:W3CDTF">2018-02-25T13:14:53Z</dcterms:modified>
</cp:coreProperties>
</file>